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7" r:id="rId5"/>
    <p:sldId id="258" r:id="rId6"/>
  </p:sldIdLst>
  <p:sldSz cx="6858000" cy="9906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31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rown (Astrea Central)" userId="e4577f1c-a0ea-4eef-9851-9bdbe8619e58" providerId="ADAL" clId="{8DF79BB4-3CDA-4414-BA1D-0B5700CDDC63}"/>
    <pc:docChg chg="delSld modSld">
      <pc:chgData name="Adam Brown (Astrea Central)" userId="e4577f1c-a0ea-4eef-9851-9bdbe8619e58" providerId="ADAL" clId="{8DF79BB4-3CDA-4414-BA1D-0B5700CDDC63}" dt="2025-07-25T11:55:02.839" v="2" actId="47"/>
      <pc:docMkLst>
        <pc:docMk/>
      </pc:docMkLst>
      <pc:sldChg chg="modSp mod">
        <pc:chgData name="Adam Brown (Astrea Central)" userId="e4577f1c-a0ea-4eef-9851-9bdbe8619e58" providerId="ADAL" clId="{8DF79BB4-3CDA-4414-BA1D-0B5700CDDC63}" dt="2025-07-25T11:54:35.612" v="1" actId="13926"/>
        <pc:sldMkLst>
          <pc:docMk/>
          <pc:sldMk cId="1005434100" sldId="258"/>
        </pc:sldMkLst>
        <pc:graphicFrameChg chg="modGraphic">
          <ac:chgData name="Adam Brown (Astrea Central)" userId="e4577f1c-a0ea-4eef-9851-9bdbe8619e58" providerId="ADAL" clId="{8DF79BB4-3CDA-4414-BA1D-0B5700CDDC63}" dt="2025-07-25T11:54:35.612" v="1" actId="13926"/>
          <ac:graphicFrameMkLst>
            <pc:docMk/>
            <pc:sldMk cId="1005434100" sldId="258"/>
            <ac:graphicFrameMk id="22" creationId="{00000000-0000-0000-0000-000000000000}"/>
          </ac:graphicFrameMkLst>
        </pc:graphicFrameChg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544988901" sldId="26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298809760" sldId="26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535812588" sldId="26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14270034" sldId="26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71837948" sldId="26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580091344" sldId="26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414722630" sldId="26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426703939" sldId="26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937638385" sldId="26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931845994" sldId="26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814084658" sldId="27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023999436" sldId="27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555687156" sldId="27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88137902" sldId="27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57951128" sldId="27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889196625" sldId="27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672236804" sldId="28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868544672" sldId="28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971028310" sldId="28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733324030" sldId="28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917533864" sldId="28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859692058" sldId="28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926886564" sldId="28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337681295" sldId="28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141734747" sldId="29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777180378" sldId="29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706008046" sldId="29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905413640" sldId="29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324741368" sldId="29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92328800" sldId="29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43795690" sldId="30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007828501" sldId="30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55295819" sldId="30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815565918" sldId="30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216146809" sldId="31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844880138" sldId="31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826102320" sldId="32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304709194" sldId="32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969948017" sldId="32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032890790" sldId="32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502521823" sldId="32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767051523" sldId="32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281584568" sldId="32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219975397" sldId="32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599370368" sldId="33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962353856" sldId="33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908346100" sldId="33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525067124" sldId="33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724810248" sldId="33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629160325" sldId="34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174300119" sldId="34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29431369" sldId="34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542520032" sldId="34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042596037" sldId="34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186429579" sldId="34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856237109" sldId="35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190930630" sldId="35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096746058" sldId="35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479034719" sldId="35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900685508" sldId="35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657856763" sldId="35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954170452" sldId="35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983773756" sldId="36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254798350" sldId="36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035092262" sldId="36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784817808" sldId="37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919084134" sldId="37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144469883" sldId="37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627169086" sldId="37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692886486" sldId="37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508847688" sldId="37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688274044" sldId="37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21593374" sldId="37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063108936" sldId="95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587464780" sldId="95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51953142" sldId="96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651128130" sldId="96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962015683" sldId="96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8561353" sldId="96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956224976" sldId="97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031722019" sldId="97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96356508" sldId="97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752120071" sldId="97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195919322" sldId="98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599061422" sldId="98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696658123" sldId="98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328723957" sldId="98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206986322" sldId="98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594028101" sldId="98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219029894" sldId="99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135025790" sldId="116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863086105" sldId="116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779407553" sldId="117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71517831" sldId="269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380726865" sldId="269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343043793" sldId="270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301299181" sldId="270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757623286" sldId="270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911472027" sldId="270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845416459" sldId="270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886488787" sldId="270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400159256" sldId="270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664751948" sldId="270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722714943" sldId="271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752550148" sldId="271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615378340" sldId="271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217025205" sldId="271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572306068" sldId="271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685474441" sldId="271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538578330" sldId="271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813454950" sldId="272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422141095" sldId="272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905767127" sldId="272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509849628" sldId="272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675915942" sldId="272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096353866" sldId="272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40355490" sldId="272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967788092" sldId="2727"/>
        </pc:sldMkLst>
      </pc:sldChg>
      <pc:sldChg chg="del">
        <pc:chgData name="Adam Brown (Astrea Central)" userId="e4577f1c-a0ea-4eef-9851-9bdbe8619e58" providerId="ADAL" clId="{8DF79BB4-3CDA-4414-BA1D-0B5700CDDC63}" dt="2025-07-25T11:54:28.115" v="0" actId="47"/>
        <pc:sldMkLst>
          <pc:docMk/>
          <pc:sldMk cId="933153135" sldId="272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290489478" sldId="272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894790025" sldId="273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800818377" sldId="273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522769965" sldId="273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710446999" sldId="273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556719208" sldId="273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087637966" sldId="273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083040939" sldId="274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874314852" sldId="274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623754354" sldId="274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953605078" sldId="274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123673023" sldId="274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554891542" sldId="274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48444291" sldId="274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759071522" sldId="275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546075972" sldId="275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552589205" sldId="275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566927058" sldId="275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594926883" sldId="275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50469358" sldId="275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755945383" sldId="275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625410266" sldId="275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102929360" sldId="275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389947671" sldId="275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290734628" sldId="276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729915234" sldId="276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135394857" sldId="276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000600415" sldId="276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547779968" sldId="2764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649580854" sldId="2765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109098751" sldId="2766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673872755" sldId="2767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276921759" sldId="2768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4072467659" sldId="2769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116641321" sldId="2770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503684853" sldId="2771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2628843454" sldId="2772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3901821836" sldId="2773"/>
        </pc:sldMkLst>
      </pc:sldChg>
      <pc:sldChg chg="del">
        <pc:chgData name="Adam Brown (Astrea Central)" userId="e4577f1c-a0ea-4eef-9851-9bdbe8619e58" providerId="ADAL" clId="{8DF79BB4-3CDA-4414-BA1D-0B5700CDDC63}" dt="2025-07-25T11:55:02.839" v="2" actId="47"/>
        <pc:sldMkLst>
          <pc:docMk/>
          <pc:sldMk cId="1180888511" sldId="27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87872-9236-460B-BC2A-E44A8AC6C1EB}" type="datetimeFigureOut">
              <a:rPr lang="en-GB" smtClean="0"/>
              <a:t>25/07/2025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AC23A-D8C2-4808-8C51-A2299E24B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72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531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45BB-F530-4C6B-ABAE-E32F8A251980}" type="datetime1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69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DB0C-8CB1-4E4B-A7D2-72D1E989F74F}" type="datetime1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73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B7CF-AD3A-412E-A236-AD334123F5DC}" type="datetime1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24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8CF75-DE73-4975-8438-DCC60FF5A9C7}" type="datetime1">
              <a:rPr lang="en-GB" smtClean="0"/>
              <a:t>25/07/2025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25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33DA-9DCC-4C1C-BE87-1B843446F1E2}" type="datetime1">
              <a:rPr lang="en-GB" smtClean="0"/>
              <a:t>25/07/2025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26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6B931-B1B4-4301-9FA3-4AC76251F969}" type="datetime1">
              <a:rPr lang="en-GB" smtClean="0"/>
              <a:t>25/07/2025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73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B317-EAB0-4C19-A195-2782EA19078C}" type="datetime1">
              <a:rPr lang="en-GB" smtClean="0"/>
              <a:t>25/07/2025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90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F5A2-2F3B-430C-BD43-6D2323C7CD6A}" type="datetime1">
              <a:rPr lang="en-GB" smtClean="0"/>
              <a:t>25/07/2025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42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AD09F-1297-4193-9BA9-680759B76EE0}" type="datetime1">
              <a:rPr lang="en-GB" smtClean="0"/>
              <a:t>25/07/2025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88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873-3A83-4840-BD06-EB3A5B53B6DA}" type="datetime1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27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7EED6-F9AB-4871-A4A9-4EB7B43E5F99}" type="datetime1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89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18337-BCAC-4A6B-9508-65A0DEBA7F58}" type="datetime1">
              <a:rPr lang="en-GB" smtClean="0"/>
              <a:t>25/07/2025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75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/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AutoShape 6" descr="Image result for expression fun maths"/>
          <p:cNvSpPr>
            <a:spLocks noChangeAspect="1" noChangeArrowheads="1"/>
          </p:cNvSpPr>
          <p:nvPr/>
        </p:nvSpPr>
        <p:spPr bwMode="auto">
          <a:xfrm>
            <a:off x="155575" y="-623888"/>
            <a:ext cx="19240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489201"/>
              </p:ext>
            </p:extLst>
          </p:nvPr>
        </p:nvGraphicFramePr>
        <p:xfrm>
          <a:off x="524173" y="2057401"/>
          <a:ext cx="5862340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594104">
                <a:tc>
                  <a:txBody>
                    <a:bodyPr/>
                    <a:lstStyle/>
                    <a:p>
                      <a:pPr algn="ctr"/>
                      <a:r>
                        <a:rPr lang="en-GB" sz="4000" b="0" noProof="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YEAR 11 MATHEMATICS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59410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baseline="0" noProof="0" dirty="0"/>
                        <a:t>Unit 1: Further Algebra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0" b="1" baseline="0" noProof="0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baseline="0" noProof="0" dirty="0">
                          <a:latin typeface="+mn-lt"/>
                        </a:rPr>
                        <a:t>Rearranging Formulae, Quadratic Simultaneous Equations, Algebraic Fractions,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baseline="0" noProof="0" dirty="0">
                          <a:latin typeface="+mn-lt"/>
                        </a:rPr>
                        <a:t>Functions, Iteration, Proof</a:t>
                      </a:r>
                      <a:endParaRPr lang="en-GB" sz="2000" b="1" noProof="0" dirty="0"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366272">
                <a:tc>
                  <a:txBody>
                    <a:bodyPr/>
                    <a:lstStyle/>
                    <a:p>
                      <a:pPr algn="ctr"/>
                      <a:endParaRPr lang="en-GB" sz="2000" noProof="0" dirty="0"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313148"/>
              </p:ext>
            </p:extLst>
          </p:nvPr>
        </p:nvGraphicFramePr>
        <p:xfrm>
          <a:off x="3440212" y="393970"/>
          <a:ext cx="29727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861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  <a:gridCol w="1971931">
                  <a:extLst>
                    <a:ext uri="{9D8B030D-6E8A-4147-A177-3AD203B41FA5}">
                      <a16:colId xmlns:a16="http://schemas.microsoft.com/office/drawing/2014/main" val="31253493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GB" sz="1400" b="0" noProof="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noProof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GB" sz="1400" b="0" noProof="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Class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noProof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58375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GB" sz="1400" b="0" noProof="0" dirty="0">
                          <a:solidFill>
                            <a:sysClr val="windowText" lastClr="000000"/>
                          </a:solidFill>
                          <a:latin typeface="+mj-lt"/>
                        </a:rPr>
                        <a:t>Tutor Group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noProof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8080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B4B40E0-2FC5-2646-9739-124F7623AC2B}"/>
              </a:ext>
            </a:extLst>
          </p:cNvPr>
          <p:cNvSpPr txBox="1"/>
          <p:nvPr/>
        </p:nvSpPr>
        <p:spPr>
          <a:xfrm>
            <a:off x="2459472" y="6885789"/>
            <a:ext cx="174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7E234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9F4FE82-4863-834C-ABBC-12E9AD9BCA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663029"/>
                  </p:ext>
                </p:extLst>
              </p:nvPr>
            </p:nvGraphicFramePr>
            <p:xfrm>
              <a:off x="445936" y="5468177"/>
              <a:ext cx="6026121" cy="4043853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650231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4375890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290034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noProof="0" dirty="0">
                              <a:solidFill>
                                <a:schemeClr val="bg1"/>
                              </a:solidFill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ABAB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29003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latin typeface="+mn-lt"/>
                            </a:rPr>
                            <a:t>Fraction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Fractions represent equal parts of a whole or a collection.</a:t>
                          </a:r>
                          <a:endParaRPr lang="en-GB" sz="1200" b="0" noProof="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31751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Numerator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effectLst/>
                              <a:latin typeface="+mn-lt"/>
                            </a:rPr>
                            <a:t>The top number</a:t>
                          </a:r>
                          <a:r>
                            <a:rPr lang="en-GB" sz="1200" b="0" baseline="0" noProof="0" dirty="0">
                              <a:effectLst/>
                              <a:latin typeface="+mn-lt"/>
                            </a:rPr>
                            <a:t> in a fraction, represents the parts. </a:t>
                          </a:r>
                          <a:endParaRPr lang="en-GB" sz="1200" b="0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2487135"/>
                      </a:ext>
                    </a:extLst>
                  </a:tr>
                  <a:tr h="31420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Denominator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effectLst/>
                              <a:latin typeface="+mn-lt"/>
                            </a:rPr>
                            <a:t>The bottom number in</a:t>
                          </a:r>
                          <a:r>
                            <a:rPr lang="en-GB" sz="1200" b="0" baseline="0" noProof="0" dirty="0">
                              <a:effectLst/>
                              <a:latin typeface="+mn-lt"/>
                            </a:rPr>
                            <a:t> a fraction, represents the whole. </a:t>
                          </a:r>
                          <a:endParaRPr lang="en-GB" sz="1200" b="0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3676052"/>
                      </a:ext>
                    </a:extLst>
                  </a:tr>
                  <a:tr h="414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Function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i="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special relationship where each input has a single output,</a:t>
                          </a:r>
                          <a:r>
                            <a:rPr lang="en-GB" sz="1200" b="0" i="0" kern="1200" baseline="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usually written as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kern="1200" baseline="0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  <m:r>
                                <a:rPr lang="en-GB" sz="1200" b="0" i="1" kern="1200" baseline="0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lang="en-GB" sz="1200" b="0" i="1" kern="1200" baseline="0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  <m:r>
                                <a:rPr lang="en-GB" sz="1200" b="0" i="1" kern="1200" baseline="0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r>
                            <a:rPr lang="en-GB" sz="1200" b="0" i="0" kern="1200" baseline="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 </a:t>
                          </a:r>
                          <a:endParaRPr lang="en-GB" sz="1200" b="0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0977367"/>
                      </a:ext>
                    </a:extLst>
                  </a:tr>
                  <a:tr h="75431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Inverse Function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i="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An inverse function is a function that undoes the action of the original function.</a:t>
                          </a:r>
                          <a:endParaRPr lang="en-GB" sz="1200" b="0" u="none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4850777"/>
                      </a:ext>
                    </a:extLst>
                  </a:tr>
                  <a:tr h="48338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Composite Function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i="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Composite functions are where more than one function is applied to an input, in a specific order.</a:t>
                          </a:r>
                          <a:endParaRPr lang="en-GB" sz="1200" b="0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7968051"/>
                      </a:ext>
                    </a:extLst>
                  </a:tr>
                  <a:tr h="31420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i="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formula is special equation that links two or more variables.</a:t>
                          </a:r>
                          <a:endParaRPr lang="en-GB" sz="1200" b="0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58179897"/>
                      </a:ext>
                    </a:extLst>
                  </a:tr>
                  <a:tr h="31420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Iteration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i="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Iteration means repeatedly carrying out a process. In this unit, start with an initial value and substitute this into the iteration formula to obtain a new value, then use the new value for the next substitution, and so on.</a:t>
                          </a:r>
                          <a:endParaRPr lang="en-GB" sz="1200" b="0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08040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79F4FE82-4863-834C-ABBC-12E9AD9BCA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663029"/>
                  </p:ext>
                </p:extLst>
              </p:nvPr>
            </p:nvGraphicFramePr>
            <p:xfrm>
              <a:off x="445936" y="5468177"/>
              <a:ext cx="6026121" cy="4043853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650231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4375890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290034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noProof="0" dirty="0">
                              <a:solidFill>
                                <a:schemeClr val="bg1"/>
                              </a:solidFill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FABAB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29003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latin typeface="+mn-lt"/>
                            </a:rPr>
                            <a:t>Fraction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Fractions represent equal parts of a whole or a collection.</a:t>
                          </a:r>
                          <a:endParaRPr lang="en-GB" sz="1200" b="0" noProof="0" dirty="0">
                            <a:latin typeface="+mn-lt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31751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Numerator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effectLst/>
                              <a:latin typeface="+mn-lt"/>
                            </a:rPr>
                            <a:t>The top number</a:t>
                          </a:r>
                          <a:r>
                            <a:rPr lang="en-GB" sz="1200" b="0" baseline="0" noProof="0" dirty="0">
                              <a:effectLst/>
                              <a:latin typeface="+mn-lt"/>
                            </a:rPr>
                            <a:t> in a fraction, represents the parts. </a:t>
                          </a:r>
                          <a:endParaRPr lang="en-GB" sz="1200" b="0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2487135"/>
                      </a:ext>
                    </a:extLst>
                  </a:tr>
                  <a:tr h="31420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Denominator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effectLst/>
                              <a:latin typeface="+mn-lt"/>
                            </a:rPr>
                            <a:t>The bottom number in</a:t>
                          </a:r>
                          <a:r>
                            <a:rPr lang="en-GB" sz="1200" b="0" baseline="0" noProof="0" dirty="0">
                              <a:effectLst/>
                              <a:latin typeface="+mn-lt"/>
                            </a:rPr>
                            <a:t> a fraction, represents the whole. </a:t>
                          </a:r>
                          <a:endParaRPr lang="en-GB" sz="1200" b="0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367605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Function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883" t="-268000" r="-279" b="-5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0977367"/>
                      </a:ext>
                    </a:extLst>
                  </a:tr>
                  <a:tr h="75431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Inverse Function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i="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An inverse function is a function that undoes the action of the original function.</a:t>
                          </a:r>
                          <a:endParaRPr lang="en-GB" sz="1200" b="0" u="none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4850777"/>
                      </a:ext>
                    </a:extLst>
                  </a:tr>
                  <a:tr h="48338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Composite Function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i="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Composite functions are where more than one function is applied to an input, in a specific order.</a:t>
                          </a:r>
                          <a:endParaRPr lang="en-GB" sz="1200" b="0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97968051"/>
                      </a:ext>
                    </a:extLst>
                  </a:tr>
                  <a:tr h="314203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i="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A formula is special equation that links two or more variables.</a:t>
                          </a:r>
                          <a:endParaRPr lang="en-GB" sz="1200" b="0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5817989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sz="1200" b="1" noProof="0" dirty="0">
                              <a:effectLst/>
                              <a:latin typeface="+mn-lt"/>
                            </a:rPr>
                            <a:t>Iteration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i="0" kern="1200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Iteration means repeatedly carrying out a process. In this unit, start with an initial value and substitute this into the iteration formula to obtain a new value, then use the new value for the next substitution, and so on.</a:t>
                          </a:r>
                          <a:endParaRPr lang="en-GB" sz="1200" b="0" noProof="0" dirty="0">
                            <a:effectLst/>
                            <a:latin typeface="+mn-lt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080408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73" y="4459020"/>
            <a:ext cx="1384365" cy="769092"/>
          </a:xfrm>
          <a:prstGeom prst="rect">
            <a:avLst/>
          </a:prstGeom>
        </p:spPr>
      </p:pic>
      <p:pic>
        <p:nvPicPr>
          <p:cNvPr id="6" name="Picture 2" descr="GCSE 9-1 Inverse Functions | Teaching Resource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90" t="3557" r="21254" b="62026"/>
          <a:stretch/>
        </p:blipFill>
        <p:spPr bwMode="auto">
          <a:xfrm>
            <a:off x="4335645" y="4438809"/>
            <a:ext cx="2136412" cy="961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5339" y="4837737"/>
            <a:ext cx="1874317" cy="559100"/>
          </a:xfrm>
          <a:prstGeom prst="rect">
            <a:avLst/>
          </a:prstGeom>
        </p:spPr>
      </p:pic>
      <p:pic>
        <p:nvPicPr>
          <p:cNvPr id="13" name="Picture 4" descr="Astrea Academy Trust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0" t="10183" r="18353" b="17160"/>
          <a:stretch/>
        </p:blipFill>
        <p:spPr bwMode="auto">
          <a:xfrm>
            <a:off x="411234" y="393186"/>
            <a:ext cx="1979272" cy="118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72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889985"/>
              </p:ext>
            </p:extLst>
          </p:nvPr>
        </p:nvGraphicFramePr>
        <p:xfrm>
          <a:off x="415186" y="398891"/>
          <a:ext cx="6049393" cy="6309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73980">
                  <a:extLst>
                    <a:ext uri="{9D8B030D-6E8A-4147-A177-3AD203B41FA5}">
                      <a16:colId xmlns:a16="http://schemas.microsoft.com/office/drawing/2014/main" val="3563799444"/>
                    </a:ext>
                  </a:extLst>
                </a:gridCol>
                <a:gridCol w="4397283">
                  <a:extLst>
                    <a:ext uri="{9D8B030D-6E8A-4147-A177-3AD203B41FA5}">
                      <a16:colId xmlns:a16="http://schemas.microsoft.com/office/drawing/2014/main" val="2581643566"/>
                    </a:ext>
                  </a:extLst>
                </a:gridCol>
                <a:gridCol w="578130">
                  <a:extLst>
                    <a:ext uri="{9D8B030D-6E8A-4147-A177-3AD203B41FA5}">
                      <a16:colId xmlns:a16="http://schemas.microsoft.com/office/drawing/2014/main" val="1859878977"/>
                    </a:ext>
                  </a:extLst>
                </a:gridCol>
              </a:tblGrid>
              <a:tr h="26448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>
                          <a:solidFill>
                            <a:schemeClr val="bg1"/>
                          </a:solidFill>
                        </a:rPr>
                        <a:t>CONTENTS  </a:t>
                      </a:r>
                      <a:endParaRPr lang="en-GB" sz="1200" b="1" noProof="0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solidFill>
                      <a:srgbClr val="7E23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>
                          <a:solidFill>
                            <a:schemeClr val="bg1"/>
                          </a:solidFill>
                        </a:rPr>
                        <a:t>PAGE</a:t>
                      </a:r>
                      <a:endParaRPr lang="en-GB" sz="1600" b="1" noProof="0" dirty="0">
                        <a:solidFill>
                          <a:schemeClr val="bg1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826269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noProof="0" dirty="0">
                          <a:solidFill>
                            <a:srgbClr val="000000"/>
                          </a:solidFill>
                          <a:effectLst/>
                        </a:rPr>
                        <a:t>SUBTOPIC</a:t>
                      </a:r>
                      <a:r>
                        <a:rPr lang="en-GB" sz="1200" b="0" baseline="0" noProof="0" dirty="0">
                          <a:solidFill>
                            <a:srgbClr val="000000"/>
                          </a:solidFill>
                          <a:effectLst/>
                        </a:rPr>
                        <a:t> 1</a:t>
                      </a:r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/>
                        <a:t>Rearranging Formulae/ Changing the Subject</a:t>
                      </a:r>
                      <a:endParaRPr lang="en-GB" sz="12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320498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GCSE QUESTIONS</a:t>
                      </a:r>
                      <a:endParaRPr lang="en-GB" sz="1200" b="1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006052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noProof="0" dirty="0">
                          <a:solidFill>
                            <a:srgbClr val="000000"/>
                          </a:solidFill>
                          <a:effectLst/>
                        </a:rPr>
                        <a:t>SUBTOPIC</a:t>
                      </a:r>
                      <a:r>
                        <a:rPr lang="en-GB" sz="1200" b="0" baseline="0" noProof="0" dirty="0">
                          <a:solidFill>
                            <a:srgbClr val="000000"/>
                          </a:solidFill>
                          <a:effectLst/>
                        </a:rPr>
                        <a:t> 2</a:t>
                      </a:r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Recap/ Prior Knowledge Quiz: Solving Quadratic Equations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815257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noProof="0" dirty="0">
                          <a:solidFill>
                            <a:srgbClr val="000000"/>
                          </a:solidFill>
                          <a:effectLst/>
                        </a:rPr>
                        <a:t>SUBTOPIC</a:t>
                      </a:r>
                      <a:r>
                        <a:rPr lang="en-GB" sz="1200" b="0" baseline="0" noProof="0" dirty="0">
                          <a:solidFill>
                            <a:srgbClr val="000000"/>
                          </a:solidFill>
                          <a:effectLst/>
                        </a:rPr>
                        <a:t> 3a</a:t>
                      </a:r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/>
                        <a:t>Simultaneous Equations – elimination and graphical solving</a:t>
                      </a:r>
                      <a:endParaRPr lang="en-GB" sz="12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399566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noProof="0" dirty="0">
                          <a:solidFill>
                            <a:srgbClr val="000000"/>
                          </a:solidFill>
                          <a:effectLst/>
                        </a:rPr>
                        <a:t>SUBTOPIC</a:t>
                      </a:r>
                      <a:r>
                        <a:rPr lang="en-GB" sz="1200" b="0" baseline="0" noProof="0" dirty="0">
                          <a:solidFill>
                            <a:srgbClr val="000000"/>
                          </a:solidFill>
                          <a:effectLst/>
                        </a:rPr>
                        <a:t> 3b</a:t>
                      </a:r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Recap: Solving Simultaneous Equations by Elimination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891299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noProof="0" dirty="0">
                          <a:solidFill>
                            <a:srgbClr val="000000"/>
                          </a:solidFill>
                          <a:effectLst/>
                        </a:rPr>
                        <a:t>SUBTOPIC</a:t>
                      </a:r>
                      <a:r>
                        <a:rPr lang="en-GB" sz="1200" b="0" baseline="0" noProof="0" dirty="0">
                          <a:solidFill>
                            <a:srgbClr val="000000"/>
                          </a:solidFill>
                          <a:effectLst/>
                        </a:rPr>
                        <a:t> 3c</a:t>
                      </a:r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Worded Simultaneous Equations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580398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GCSE QUESTIONS</a:t>
                      </a:r>
                      <a:endParaRPr lang="en-GB" sz="1200" b="1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4808750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noProof="0" dirty="0">
                          <a:solidFill>
                            <a:srgbClr val="000000"/>
                          </a:solidFill>
                          <a:effectLst/>
                        </a:rPr>
                        <a:t>SUBTOPIC</a:t>
                      </a:r>
                      <a:r>
                        <a:rPr lang="en-GB" sz="1200" b="0" baseline="0" noProof="0" dirty="0">
                          <a:solidFill>
                            <a:srgbClr val="000000"/>
                          </a:solidFill>
                          <a:effectLst/>
                        </a:rPr>
                        <a:t> 3d</a:t>
                      </a:r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Solving Simultaneous Equations using Substitution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569616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SUBTOPIC 3e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Quadratic Simultaneous Equations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303212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GCSE QUESTIONS</a:t>
                      </a:r>
                      <a:endParaRPr lang="en-GB" sz="1200" b="1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335505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noProof="0" dirty="0">
                          <a:solidFill>
                            <a:srgbClr val="000000"/>
                          </a:solidFill>
                          <a:effectLst/>
                        </a:rPr>
                        <a:t>SUBTOPIC 4a</a:t>
                      </a:r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/>
                        <a:t>Algebraic Fractions – Manipulation and Simplifying</a:t>
                      </a:r>
                      <a:endParaRPr lang="en-GB" sz="12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8475363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GCSE QUESTIONS</a:t>
                      </a:r>
                      <a:endParaRPr lang="en-GB" sz="1200" b="1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888622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SUBTOPIC 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Algebraic Fractions – Solving (including Quadratics)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880812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GCSE QUESTIONS</a:t>
                      </a:r>
                      <a:endParaRPr lang="en-GB" sz="1200" b="1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8847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noProof="0" dirty="0">
                          <a:solidFill>
                            <a:srgbClr val="000000"/>
                          </a:solidFill>
                          <a:effectLst/>
                        </a:rPr>
                        <a:t>SUBTOPIC 5</a:t>
                      </a:r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/>
                        <a:t>Functions</a:t>
                      </a:r>
                      <a:endParaRPr lang="en-GB" sz="12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873933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GCSE QUESTIONS</a:t>
                      </a:r>
                      <a:endParaRPr lang="en-GB" sz="1200" b="1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078180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noProof="0" dirty="0">
                          <a:solidFill>
                            <a:srgbClr val="000000"/>
                          </a:solidFill>
                          <a:effectLst/>
                        </a:rPr>
                        <a:t>SUBTOPIC</a:t>
                      </a:r>
                      <a:r>
                        <a:rPr lang="en-GB" sz="1200" b="0" baseline="0" noProof="0" dirty="0">
                          <a:solidFill>
                            <a:srgbClr val="000000"/>
                          </a:solidFill>
                          <a:effectLst/>
                        </a:rPr>
                        <a:t> 6a</a:t>
                      </a:r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/>
                        <a:t>Iteration 1: Recurrence Relationships</a:t>
                      </a:r>
                      <a:endParaRPr lang="en-GB" sz="12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564557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GCSE QUESTIONS</a:t>
                      </a:r>
                      <a:endParaRPr lang="en-GB" sz="1200" b="1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855155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noProof="0" dirty="0">
                          <a:solidFill>
                            <a:srgbClr val="000000"/>
                          </a:solidFill>
                          <a:effectLst/>
                        </a:rPr>
                        <a:t>SUBTOPIC</a:t>
                      </a:r>
                      <a:r>
                        <a:rPr lang="en-GB" sz="1200" b="0" baseline="0" noProof="0" dirty="0">
                          <a:solidFill>
                            <a:srgbClr val="000000"/>
                          </a:solidFill>
                          <a:effectLst/>
                        </a:rPr>
                        <a:t> 6b</a:t>
                      </a:r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/>
                        <a:t>Iteration 2: Estimating Solutions</a:t>
                      </a:r>
                      <a:endParaRPr lang="en-GB" sz="12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825702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GCSE QUESTIONS</a:t>
                      </a:r>
                      <a:endParaRPr lang="en-GB" sz="1200" b="1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016720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noProof="0" dirty="0">
                          <a:solidFill>
                            <a:srgbClr val="000000"/>
                          </a:solidFill>
                          <a:effectLst/>
                        </a:rPr>
                        <a:t>SUBTOPIC 6</a:t>
                      </a:r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/>
                        <a:t>Algebraic Proof</a:t>
                      </a:r>
                      <a:endParaRPr lang="en-GB" sz="1200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517490"/>
                  </a:ext>
                </a:extLst>
              </a:tr>
              <a:tr h="264484">
                <a:tc>
                  <a:txBody>
                    <a:bodyPr/>
                    <a:lstStyle/>
                    <a:p>
                      <a:pPr algn="l" rtl="0" fontAlgn="base"/>
                      <a:endParaRPr lang="en-GB" sz="12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 dirty="0"/>
                        <a:t>GCSE QUESTIONS</a:t>
                      </a:r>
                      <a:endParaRPr lang="en-GB" sz="1200" b="1" noProof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noProof="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511353"/>
                  </a:ext>
                </a:extLst>
              </a:tr>
            </a:tbl>
          </a:graphicData>
        </a:graphic>
      </p:graphicFrame>
      <p:sp>
        <p:nvSpPr>
          <p:cNvPr id="36" name="Frame 3">
            <a:extLst>
              <a:ext uri="{FF2B5EF4-FFF2-40B4-BE49-F238E27FC236}">
                <a16:creationId xmlns:a16="http://schemas.microsoft.com/office/drawing/2014/main" id="{3117BEEC-0E58-1341-A11D-9DBDBB61BE29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93433" y="9658352"/>
            <a:ext cx="376738" cy="33474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F1D9CC-7119-45EC-A96C-D8C0660F3AAB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3D5DE-9CB0-D39B-52D5-3BD330AEEF90}"/>
              </a:ext>
            </a:extLst>
          </p:cNvPr>
          <p:cNvSpPr txBox="1"/>
          <p:nvPr/>
        </p:nvSpPr>
        <p:spPr>
          <a:xfrm>
            <a:off x="461639" y="7209952"/>
            <a:ext cx="60029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Start of subtopic:</a:t>
            </a:r>
            <a:endParaRPr kumimoji="0" lang="en-GB" sz="12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noProof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  and annotate the information in the Frayer model or introduction text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 do (teacher led example).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noProof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do (teacher and scholar led example).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kumimoji="0" lang="en-GB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You do (independent scholar example).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baseline="0" noProof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Whiteboard</a:t>
            </a:r>
            <a:r>
              <a:rPr lang="en-GB" sz="1200" noProof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check.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kumimoji="0" lang="en-GB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Independent</a:t>
            </a:r>
            <a:r>
              <a:rPr kumimoji="0" lang="en-GB" sz="120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practice and mixed practice.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1" noProof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 of subtopic:</a:t>
            </a:r>
            <a:r>
              <a:rPr kumimoji="0" lang="en-GB" sz="1200" b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baseline="0" noProof="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GCSE questions – to ensure you are confident with the style you will encounter in your exams</a:t>
            </a:r>
            <a:endParaRPr kumimoji="0" lang="en-GB" sz="120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7D4097-6D68-B5AB-7F97-1990F73B0961}"/>
              </a:ext>
            </a:extLst>
          </p:cNvPr>
          <p:cNvSpPr/>
          <p:nvPr/>
        </p:nvSpPr>
        <p:spPr>
          <a:xfrm>
            <a:off x="390015" y="6916998"/>
            <a:ext cx="6074564" cy="258839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1EB924-471F-4BFC-6F4A-EFE903C7E4BC}"/>
              </a:ext>
            </a:extLst>
          </p:cNvPr>
          <p:cNvSpPr txBox="1"/>
          <p:nvPr/>
        </p:nvSpPr>
        <p:spPr>
          <a:xfrm>
            <a:off x="1715348" y="6880176"/>
            <a:ext cx="3383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BOOKLET STRUCTURE</a:t>
            </a:r>
          </a:p>
        </p:txBody>
      </p:sp>
    </p:spTree>
    <p:extLst>
      <p:ext uri="{BB962C8B-B14F-4D97-AF65-F5344CB8AC3E}">
        <p14:creationId xmlns:p14="http://schemas.microsoft.com/office/powerpoint/2010/main" val="1005434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4" ma:contentTypeDescription="Create a new document." ma:contentTypeScope="" ma:versionID="d122bacdc6e0e52b1daab86e5e474f38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c50e756327527929f9f40a94500ed9ef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53D74A-5336-454B-8D4D-7A76286864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F551DF-02B3-45E2-A83E-993D28DAF02D}">
  <ds:schemaRefs>
    <ds:schemaRef ds:uri="608ebbb4-e88b-4c99-b506-21d9362781c6"/>
    <ds:schemaRef ds:uri="e30b71df-48f4-4db7-95c3-a9033c265cb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8993FAD-BC98-4BC4-9AAA-9B0B2AFC55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0b71df-48f4-4db7-95c3-a9033c265cb9"/>
    <ds:schemaRef ds:uri="608ebbb4-e88b-4c99-b506-21d9362781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369</Words>
  <Application>Microsoft Office PowerPoint</Application>
  <PresentationFormat>A4 Paper (210x297 mm)</PresentationFormat>
  <Paragraphs>78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Marcus Lindley (Staff, Astrea Academy Sheffield)</dc:creator>
  <cp:lastModifiedBy>Adam Brown (Astrea Central)</cp:lastModifiedBy>
  <cp:revision>7</cp:revision>
  <cp:lastPrinted>2023-02-02T08:32:36Z</cp:lastPrinted>
  <dcterms:created xsi:type="dcterms:W3CDTF">2022-06-06T15:50:05Z</dcterms:created>
  <dcterms:modified xsi:type="dcterms:W3CDTF">2025-07-25T11:55:13Z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</Properties>
</file>