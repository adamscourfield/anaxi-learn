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75"/>
  </p:notesMasterIdLst>
  <p:sldIdLst>
    <p:sldId id="257" r:id="rId5"/>
    <p:sldId id="2728" r:id="rId6"/>
    <p:sldId id="258" r:id="rId7"/>
    <p:sldId id="2696" r:id="rId8"/>
    <p:sldId id="2698" r:id="rId9"/>
    <p:sldId id="2700" r:id="rId10"/>
    <p:sldId id="2701" r:id="rId11"/>
    <p:sldId id="2702" r:id="rId12"/>
    <p:sldId id="2704" r:id="rId13"/>
    <p:sldId id="2706" r:id="rId14"/>
    <p:sldId id="2705" r:id="rId15"/>
    <p:sldId id="2707" r:id="rId16"/>
    <p:sldId id="2709" r:id="rId17"/>
    <p:sldId id="2714" r:id="rId18"/>
    <p:sldId id="2711" r:id="rId19"/>
    <p:sldId id="2715" r:id="rId20"/>
    <p:sldId id="2716" r:id="rId21"/>
    <p:sldId id="2717" r:id="rId22"/>
    <p:sldId id="2718" r:id="rId23"/>
    <p:sldId id="263" r:id="rId24"/>
    <p:sldId id="2730" r:id="rId25"/>
    <p:sldId id="1162" r:id="rId26"/>
    <p:sldId id="1163" r:id="rId27"/>
    <p:sldId id="1173" r:id="rId28"/>
    <p:sldId id="260" r:id="rId29"/>
    <p:sldId id="261" r:id="rId30"/>
    <p:sldId id="262" r:id="rId31"/>
    <p:sldId id="2731" r:id="rId32"/>
    <p:sldId id="2732" r:id="rId33"/>
    <p:sldId id="2733" r:id="rId34"/>
    <p:sldId id="2734" r:id="rId35"/>
    <p:sldId id="270" r:id="rId36"/>
    <p:sldId id="272" r:id="rId37"/>
    <p:sldId id="273" r:id="rId38"/>
    <p:sldId id="275" r:id="rId39"/>
    <p:sldId id="2738" r:id="rId40"/>
    <p:sldId id="279" r:id="rId41"/>
    <p:sldId id="280" r:id="rId42"/>
    <p:sldId id="281" r:id="rId43"/>
    <p:sldId id="284" r:id="rId44"/>
    <p:sldId id="285" r:id="rId45"/>
    <p:sldId id="2740" r:id="rId46"/>
    <p:sldId id="2742" r:id="rId47"/>
    <p:sldId id="2743" r:id="rId48"/>
    <p:sldId id="2745" r:id="rId49"/>
    <p:sldId id="2747" r:id="rId50"/>
    <p:sldId id="981" r:id="rId51"/>
    <p:sldId id="982" r:id="rId52"/>
    <p:sldId id="964" r:id="rId53"/>
    <p:sldId id="967" r:id="rId54"/>
    <p:sldId id="963" r:id="rId55"/>
    <p:sldId id="2748" r:id="rId56"/>
    <p:sldId id="2754" r:id="rId57"/>
    <p:sldId id="2755" r:id="rId58"/>
    <p:sldId id="2756" r:id="rId59"/>
    <p:sldId id="952" r:id="rId60"/>
    <p:sldId id="957" r:id="rId61"/>
    <p:sldId id="968" r:id="rId62"/>
    <p:sldId id="971" r:id="rId63"/>
    <p:sldId id="985" r:id="rId64"/>
    <p:sldId id="972" r:id="rId65"/>
    <p:sldId id="987" r:id="rId66"/>
    <p:sldId id="974" r:id="rId67"/>
    <p:sldId id="989" r:id="rId68"/>
    <p:sldId id="990" r:id="rId69"/>
    <p:sldId id="988" r:id="rId70"/>
    <p:sldId id="979" r:id="rId71"/>
    <p:sldId id="2749" r:id="rId72"/>
    <p:sldId id="2757" r:id="rId73"/>
    <p:sldId id="2758" r:id="rId74"/>
  </p:sldIdLst>
  <p:sldSz cx="6858000" cy="9906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98" autoAdjust="0"/>
    <p:restoredTop sz="94660"/>
  </p:normalViewPr>
  <p:slideViewPr>
    <p:cSldViewPr snapToGrid="0">
      <p:cViewPr varScale="1">
        <p:scale>
          <a:sx n="77" d="100"/>
          <a:sy n="77" d="100"/>
        </p:scale>
        <p:origin x="3252"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Brown (Astrea Central)" userId="e4577f1c-a0ea-4eef-9851-9bdbe8619e58" providerId="ADAL" clId="{9DF17B53-ECFA-422A-9189-36AF61870973}"/>
    <pc:docChg chg="custSel delSld modSld">
      <pc:chgData name="Adam Brown (Astrea Central)" userId="e4577f1c-a0ea-4eef-9851-9bdbe8619e58" providerId="ADAL" clId="{9DF17B53-ECFA-422A-9189-36AF61870973}" dt="2025-08-06T13:12:19.911" v="100" actId="47"/>
      <pc:docMkLst>
        <pc:docMk/>
      </pc:docMkLst>
      <pc:sldChg chg="modSp mod">
        <pc:chgData name="Adam Brown (Astrea Central)" userId="e4577f1c-a0ea-4eef-9851-9bdbe8619e58" providerId="ADAL" clId="{9DF17B53-ECFA-422A-9189-36AF61870973}" dt="2025-08-06T13:11:15.868" v="97" actId="20577"/>
        <pc:sldMkLst>
          <pc:docMk/>
          <pc:sldMk cId="2420724009" sldId="257"/>
        </pc:sldMkLst>
        <pc:graphicFrameChg chg="modGraphic">
          <ac:chgData name="Adam Brown (Astrea Central)" userId="e4577f1c-a0ea-4eef-9851-9bdbe8619e58" providerId="ADAL" clId="{9DF17B53-ECFA-422A-9189-36AF61870973}" dt="2025-08-06T13:11:15.868" v="97" actId="20577"/>
          <ac:graphicFrameMkLst>
            <pc:docMk/>
            <pc:sldMk cId="2420724009" sldId="257"/>
            <ac:graphicFrameMk id="3" creationId="{00000000-0000-0000-0000-000000000000}"/>
          </ac:graphicFrameMkLst>
        </pc:graphicFrameChg>
      </pc:sldChg>
      <pc:sldChg chg="modSp mod">
        <pc:chgData name="Adam Brown (Astrea Central)" userId="e4577f1c-a0ea-4eef-9851-9bdbe8619e58" providerId="ADAL" clId="{9DF17B53-ECFA-422A-9189-36AF61870973}" dt="2025-08-06T13:11:37.567" v="99" actId="6549"/>
        <pc:sldMkLst>
          <pc:docMk/>
          <pc:sldMk cId="1005434100" sldId="258"/>
        </pc:sldMkLst>
        <pc:graphicFrameChg chg="modGraphic">
          <ac:chgData name="Adam Brown (Astrea Central)" userId="e4577f1c-a0ea-4eef-9851-9bdbe8619e58" providerId="ADAL" clId="{9DF17B53-ECFA-422A-9189-36AF61870973}" dt="2025-08-06T13:11:37.567" v="99" actId="6549"/>
          <ac:graphicFrameMkLst>
            <pc:docMk/>
            <pc:sldMk cId="1005434100" sldId="258"/>
            <ac:graphicFrameMk id="22" creationId="{00000000-0000-0000-0000-000000000000}"/>
          </ac:graphicFrameMkLst>
        </pc:graphicFrameChg>
      </pc:sldChg>
      <pc:sldChg chg="del">
        <pc:chgData name="Adam Brown (Astrea Central)" userId="e4577f1c-a0ea-4eef-9851-9bdbe8619e58" providerId="ADAL" clId="{9DF17B53-ECFA-422A-9189-36AF61870973}" dt="2025-08-06T13:12:19.911" v="100" actId="47"/>
        <pc:sldMkLst>
          <pc:docMk/>
          <pc:sldMk cId="171837948" sldId="264"/>
        </pc:sldMkLst>
      </pc:sldChg>
      <pc:sldChg chg="del">
        <pc:chgData name="Adam Brown (Astrea Central)" userId="e4577f1c-a0ea-4eef-9851-9bdbe8619e58" providerId="ADAL" clId="{9DF17B53-ECFA-422A-9189-36AF61870973}" dt="2025-08-06T13:12:19.911" v="100" actId="47"/>
        <pc:sldMkLst>
          <pc:docMk/>
          <pc:sldMk cId="1580091344" sldId="265"/>
        </pc:sldMkLst>
      </pc:sldChg>
      <pc:sldChg chg="del">
        <pc:chgData name="Adam Brown (Astrea Central)" userId="e4577f1c-a0ea-4eef-9851-9bdbe8619e58" providerId="ADAL" clId="{9DF17B53-ECFA-422A-9189-36AF61870973}" dt="2025-08-06T13:12:19.911" v="100" actId="47"/>
        <pc:sldMkLst>
          <pc:docMk/>
          <pc:sldMk cId="2414722630" sldId="266"/>
        </pc:sldMkLst>
      </pc:sldChg>
      <pc:sldChg chg="del">
        <pc:chgData name="Adam Brown (Astrea Central)" userId="e4577f1c-a0ea-4eef-9851-9bdbe8619e58" providerId="ADAL" clId="{9DF17B53-ECFA-422A-9189-36AF61870973}" dt="2025-08-06T13:12:19.911" v="100" actId="47"/>
        <pc:sldMkLst>
          <pc:docMk/>
          <pc:sldMk cId="3426703939" sldId="267"/>
        </pc:sldMkLst>
      </pc:sldChg>
      <pc:sldChg chg="del">
        <pc:chgData name="Adam Brown (Astrea Central)" userId="e4577f1c-a0ea-4eef-9851-9bdbe8619e58" providerId="ADAL" clId="{9DF17B53-ECFA-422A-9189-36AF61870973}" dt="2025-08-06T13:12:19.911" v="100" actId="47"/>
        <pc:sldMkLst>
          <pc:docMk/>
          <pc:sldMk cId="937638385" sldId="268"/>
        </pc:sldMkLst>
      </pc:sldChg>
      <pc:sldChg chg="del">
        <pc:chgData name="Adam Brown (Astrea Central)" userId="e4577f1c-a0ea-4eef-9851-9bdbe8619e58" providerId="ADAL" clId="{9DF17B53-ECFA-422A-9189-36AF61870973}" dt="2025-08-06T13:12:19.911" v="100" actId="47"/>
        <pc:sldMkLst>
          <pc:docMk/>
          <pc:sldMk cId="2931845994" sldId="269"/>
        </pc:sldMkLst>
      </pc:sldChg>
      <pc:sldChg chg="del">
        <pc:chgData name="Adam Brown (Astrea Central)" userId="e4577f1c-a0ea-4eef-9851-9bdbe8619e58" providerId="ADAL" clId="{9DF17B53-ECFA-422A-9189-36AF61870973}" dt="2025-08-06T13:12:19.911" v="100" actId="47"/>
        <pc:sldMkLst>
          <pc:docMk/>
          <pc:sldMk cId="57951128" sldId="277"/>
        </pc:sldMkLst>
      </pc:sldChg>
      <pc:sldChg chg="del">
        <pc:chgData name="Adam Brown (Astrea Central)" userId="e4577f1c-a0ea-4eef-9851-9bdbe8619e58" providerId="ADAL" clId="{9DF17B53-ECFA-422A-9189-36AF61870973}" dt="2025-08-06T13:12:19.911" v="100" actId="47"/>
        <pc:sldMkLst>
          <pc:docMk/>
          <pc:sldMk cId="2917533864" sldId="286"/>
        </pc:sldMkLst>
      </pc:sldChg>
      <pc:sldChg chg="del">
        <pc:chgData name="Adam Brown (Astrea Central)" userId="e4577f1c-a0ea-4eef-9851-9bdbe8619e58" providerId="ADAL" clId="{9DF17B53-ECFA-422A-9189-36AF61870973}" dt="2025-08-06T13:12:19.911" v="100" actId="47"/>
        <pc:sldMkLst>
          <pc:docMk/>
          <pc:sldMk cId="1859692058" sldId="287"/>
        </pc:sldMkLst>
      </pc:sldChg>
      <pc:sldChg chg="del">
        <pc:chgData name="Adam Brown (Astrea Central)" userId="e4577f1c-a0ea-4eef-9851-9bdbe8619e58" providerId="ADAL" clId="{9DF17B53-ECFA-422A-9189-36AF61870973}" dt="2025-08-06T13:12:19.911" v="100" actId="47"/>
        <pc:sldMkLst>
          <pc:docMk/>
          <pc:sldMk cId="1926886564" sldId="288"/>
        </pc:sldMkLst>
      </pc:sldChg>
      <pc:sldChg chg="del">
        <pc:chgData name="Adam Brown (Astrea Central)" userId="e4577f1c-a0ea-4eef-9851-9bdbe8619e58" providerId="ADAL" clId="{9DF17B53-ECFA-422A-9189-36AF61870973}" dt="2025-08-06T13:12:19.911" v="100" actId="47"/>
        <pc:sldMkLst>
          <pc:docMk/>
          <pc:sldMk cId="1337681295" sldId="289"/>
        </pc:sldMkLst>
      </pc:sldChg>
      <pc:sldChg chg="del">
        <pc:chgData name="Adam Brown (Astrea Central)" userId="e4577f1c-a0ea-4eef-9851-9bdbe8619e58" providerId="ADAL" clId="{9DF17B53-ECFA-422A-9189-36AF61870973}" dt="2025-08-06T13:12:19.911" v="100" actId="47"/>
        <pc:sldMkLst>
          <pc:docMk/>
          <pc:sldMk cId="2141734747" sldId="290"/>
        </pc:sldMkLst>
      </pc:sldChg>
      <pc:sldChg chg="del">
        <pc:chgData name="Adam Brown (Astrea Central)" userId="e4577f1c-a0ea-4eef-9851-9bdbe8619e58" providerId="ADAL" clId="{9DF17B53-ECFA-422A-9189-36AF61870973}" dt="2025-08-06T13:12:19.911" v="100" actId="47"/>
        <pc:sldMkLst>
          <pc:docMk/>
          <pc:sldMk cId="3777180378" sldId="291"/>
        </pc:sldMkLst>
      </pc:sldChg>
      <pc:sldChg chg="del">
        <pc:chgData name="Adam Brown (Astrea Central)" userId="e4577f1c-a0ea-4eef-9851-9bdbe8619e58" providerId="ADAL" clId="{9DF17B53-ECFA-422A-9189-36AF61870973}" dt="2025-08-06T13:12:19.911" v="100" actId="47"/>
        <pc:sldMkLst>
          <pc:docMk/>
          <pc:sldMk cId="706008046" sldId="292"/>
        </pc:sldMkLst>
      </pc:sldChg>
      <pc:sldChg chg="del">
        <pc:chgData name="Adam Brown (Astrea Central)" userId="e4577f1c-a0ea-4eef-9851-9bdbe8619e58" providerId="ADAL" clId="{9DF17B53-ECFA-422A-9189-36AF61870973}" dt="2025-08-06T13:12:19.911" v="100" actId="47"/>
        <pc:sldMkLst>
          <pc:docMk/>
          <pc:sldMk cId="2905413640" sldId="293"/>
        </pc:sldMkLst>
      </pc:sldChg>
      <pc:sldChg chg="del">
        <pc:chgData name="Adam Brown (Astrea Central)" userId="e4577f1c-a0ea-4eef-9851-9bdbe8619e58" providerId="ADAL" clId="{9DF17B53-ECFA-422A-9189-36AF61870973}" dt="2025-08-06T13:12:19.911" v="100" actId="47"/>
        <pc:sldMkLst>
          <pc:docMk/>
          <pc:sldMk cId="2324741368" sldId="294"/>
        </pc:sldMkLst>
      </pc:sldChg>
      <pc:sldChg chg="del">
        <pc:chgData name="Adam Brown (Astrea Central)" userId="e4577f1c-a0ea-4eef-9851-9bdbe8619e58" providerId="ADAL" clId="{9DF17B53-ECFA-422A-9189-36AF61870973}" dt="2025-08-06T13:12:19.911" v="100" actId="47"/>
        <pc:sldMkLst>
          <pc:docMk/>
          <pc:sldMk cId="92328800" sldId="296"/>
        </pc:sldMkLst>
      </pc:sldChg>
      <pc:sldChg chg="del">
        <pc:chgData name="Adam Brown (Astrea Central)" userId="e4577f1c-a0ea-4eef-9851-9bdbe8619e58" providerId="ADAL" clId="{9DF17B53-ECFA-422A-9189-36AF61870973}" dt="2025-08-06T13:12:19.911" v="100" actId="47"/>
        <pc:sldMkLst>
          <pc:docMk/>
          <pc:sldMk cId="2815565918" sldId="303"/>
        </pc:sldMkLst>
      </pc:sldChg>
      <pc:sldChg chg="del">
        <pc:chgData name="Adam Brown (Astrea Central)" userId="e4577f1c-a0ea-4eef-9851-9bdbe8619e58" providerId="ADAL" clId="{9DF17B53-ECFA-422A-9189-36AF61870973}" dt="2025-08-06T13:12:19.911" v="100" actId="47"/>
        <pc:sldMkLst>
          <pc:docMk/>
          <pc:sldMk cId="4216146809" sldId="313"/>
        </pc:sldMkLst>
      </pc:sldChg>
      <pc:sldChg chg="del">
        <pc:chgData name="Adam Brown (Astrea Central)" userId="e4577f1c-a0ea-4eef-9851-9bdbe8619e58" providerId="ADAL" clId="{9DF17B53-ECFA-422A-9189-36AF61870973}" dt="2025-08-06T13:12:19.911" v="100" actId="47"/>
        <pc:sldMkLst>
          <pc:docMk/>
          <pc:sldMk cId="1844880138" sldId="314"/>
        </pc:sldMkLst>
      </pc:sldChg>
      <pc:sldChg chg="del">
        <pc:chgData name="Adam Brown (Astrea Central)" userId="e4577f1c-a0ea-4eef-9851-9bdbe8619e58" providerId="ADAL" clId="{9DF17B53-ECFA-422A-9189-36AF61870973}" dt="2025-08-06T13:12:19.911" v="100" actId="47"/>
        <pc:sldMkLst>
          <pc:docMk/>
          <pc:sldMk cId="826102320" sldId="322"/>
        </pc:sldMkLst>
      </pc:sldChg>
      <pc:sldChg chg="del">
        <pc:chgData name="Adam Brown (Astrea Central)" userId="e4577f1c-a0ea-4eef-9851-9bdbe8619e58" providerId="ADAL" clId="{9DF17B53-ECFA-422A-9189-36AF61870973}" dt="2025-08-06T13:12:19.911" v="100" actId="47"/>
        <pc:sldMkLst>
          <pc:docMk/>
          <pc:sldMk cId="2304709194" sldId="323"/>
        </pc:sldMkLst>
      </pc:sldChg>
      <pc:sldChg chg="del">
        <pc:chgData name="Adam Brown (Astrea Central)" userId="e4577f1c-a0ea-4eef-9851-9bdbe8619e58" providerId="ADAL" clId="{9DF17B53-ECFA-422A-9189-36AF61870973}" dt="2025-08-06T13:12:19.911" v="100" actId="47"/>
        <pc:sldMkLst>
          <pc:docMk/>
          <pc:sldMk cId="969948017" sldId="324"/>
        </pc:sldMkLst>
      </pc:sldChg>
      <pc:sldChg chg="del">
        <pc:chgData name="Adam Brown (Astrea Central)" userId="e4577f1c-a0ea-4eef-9851-9bdbe8619e58" providerId="ADAL" clId="{9DF17B53-ECFA-422A-9189-36AF61870973}" dt="2025-08-06T13:12:19.911" v="100" actId="47"/>
        <pc:sldMkLst>
          <pc:docMk/>
          <pc:sldMk cId="4032890790" sldId="325"/>
        </pc:sldMkLst>
      </pc:sldChg>
      <pc:sldChg chg="del">
        <pc:chgData name="Adam Brown (Astrea Central)" userId="e4577f1c-a0ea-4eef-9851-9bdbe8619e58" providerId="ADAL" clId="{9DF17B53-ECFA-422A-9189-36AF61870973}" dt="2025-08-06T13:12:19.911" v="100" actId="47"/>
        <pc:sldMkLst>
          <pc:docMk/>
          <pc:sldMk cId="2502521823" sldId="326"/>
        </pc:sldMkLst>
      </pc:sldChg>
      <pc:sldChg chg="del">
        <pc:chgData name="Adam Brown (Astrea Central)" userId="e4577f1c-a0ea-4eef-9851-9bdbe8619e58" providerId="ADAL" clId="{9DF17B53-ECFA-422A-9189-36AF61870973}" dt="2025-08-06T13:12:19.911" v="100" actId="47"/>
        <pc:sldMkLst>
          <pc:docMk/>
          <pc:sldMk cId="3767051523" sldId="327"/>
        </pc:sldMkLst>
      </pc:sldChg>
      <pc:sldChg chg="del">
        <pc:chgData name="Adam Brown (Astrea Central)" userId="e4577f1c-a0ea-4eef-9851-9bdbe8619e58" providerId="ADAL" clId="{9DF17B53-ECFA-422A-9189-36AF61870973}" dt="2025-08-06T13:12:19.911" v="100" actId="47"/>
        <pc:sldMkLst>
          <pc:docMk/>
          <pc:sldMk cId="4281584568" sldId="328"/>
        </pc:sldMkLst>
      </pc:sldChg>
      <pc:sldChg chg="del">
        <pc:chgData name="Adam Brown (Astrea Central)" userId="e4577f1c-a0ea-4eef-9851-9bdbe8619e58" providerId="ADAL" clId="{9DF17B53-ECFA-422A-9189-36AF61870973}" dt="2025-08-06T13:12:19.911" v="100" actId="47"/>
        <pc:sldMkLst>
          <pc:docMk/>
          <pc:sldMk cId="2219975397" sldId="329"/>
        </pc:sldMkLst>
      </pc:sldChg>
      <pc:sldChg chg="del">
        <pc:chgData name="Adam Brown (Astrea Central)" userId="e4577f1c-a0ea-4eef-9851-9bdbe8619e58" providerId="ADAL" clId="{9DF17B53-ECFA-422A-9189-36AF61870973}" dt="2025-08-06T13:12:19.911" v="100" actId="47"/>
        <pc:sldMkLst>
          <pc:docMk/>
          <pc:sldMk cId="2599370368" sldId="330"/>
        </pc:sldMkLst>
      </pc:sldChg>
      <pc:sldChg chg="del">
        <pc:chgData name="Adam Brown (Astrea Central)" userId="e4577f1c-a0ea-4eef-9851-9bdbe8619e58" providerId="ADAL" clId="{9DF17B53-ECFA-422A-9189-36AF61870973}" dt="2025-08-06T13:12:19.911" v="100" actId="47"/>
        <pc:sldMkLst>
          <pc:docMk/>
          <pc:sldMk cId="962353856" sldId="331"/>
        </pc:sldMkLst>
      </pc:sldChg>
      <pc:sldChg chg="del">
        <pc:chgData name="Adam Brown (Astrea Central)" userId="e4577f1c-a0ea-4eef-9851-9bdbe8619e58" providerId="ADAL" clId="{9DF17B53-ECFA-422A-9189-36AF61870973}" dt="2025-08-06T13:12:19.911" v="100" actId="47"/>
        <pc:sldMkLst>
          <pc:docMk/>
          <pc:sldMk cId="1908346100" sldId="334"/>
        </pc:sldMkLst>
      </pc:sldChg>
      <pc:sldChg chg="del">
        <pc:chgData name="Adam Brown (Astrea Central)" userId="e4577f1c-a0ea-4eef-9851-9bdbe8619e58" providerId="ADAL" clId="{9DF17B53-ECFA-422A-9189-36AF61870973}" dt="2025-08-06T13:12:19.911" v="100" actId="47"/>
        <pc:sldMkLst>
          <pc:docMk/>
          <pc:sldMk cId="3525067124" sldId="335"/>
        </pc:sldMkLst>
      </pc:sldChg>
      <pc:sldChg chg="del">
        <pc:chgData name="Adam Brown (Astrea Central)" userId="e4577f1c-a0ea-4eef-9851-9bdbe8619e58" providerId="ADAL" clId="{9DF17B53-ECFA-422A-9189-36AF61870973}" dt="2025-08-06T13:12:19.911" v="100" actId="47"/>
        <pc:sldMkLst>
          <pc:docMk/>
          <pc:sldMk cId="724810248" sldId="336"/>
        </pc:sldMkLst>
      </pc:sldChg>
      <pc:sldChg chg="del">
        <pc:chgData name="Adam Brown (Astrea Central)" userId="e4577f1c-a0ea-4eef-9851-9bdbe8619e58" providerId="ADAL" clId="{9DF17B53-ECFA-422A-9189-36AF61870973}" dt="2025-08-06T13:12:19.911" v="100" actId="47"/>
        <pc:sldMkLst>
          <pc:docMk/>
          <pc:sldMk cId="1629160325" sldId="344"/>
        </pc:sldMkLst>
      </pc:sldChg>
      <pc:sldChg chg="del">
        <pc:chgData name="Adam Brown (Astrea Central)" userId="e4577f1c-a0ea-4eef-9851-9bdbe8619e58" providerId="ADAL" clId="{9DF17B53-ECFA-422A-9189-36AF61870973}" dt="2025-08-06T13:12:19.911" v="100" actId="47"/>
        <pc:sldMkLst>
          <pc:docMk/>
          <pc:sldMk cId="4174300119" sldId="345"/>
        </pc:sldMkLst>
      </pc:sldChg>
      <pc:sldChg chg="del">
        <pc:chgData name="Adam Brown (Astrea Central)" userId="e4577f1c-a0ea-4eef-9851-9bdbe8619e58" providerId="ADAL" clId="{9DF17B53-ECFA-422A-9189-36AF61870973}" dt="2025-08-06T13:12:19.911" v="100" actId="47"/>
        <pc:sldMkLst>
          <pc:docMk/>
          <pc:sldMk cId="329431369" sldId="346"/>
        </pc:sldMkLst>
      </pc:sldChg>
      <pc:sldChg chg="del">
        <pc:chgData name="Adam Brown (Astrea Central)" userId="e4577f1c-a0ea-4eef-9851-9bdbe8619e58" providerId="ADAL" clId="{9DF17B53-ECFA-422A-9189-36AF61870973}" dt="2025-08-06T13:12:19.911" v="100" actId="47"/>
        <pc:sldMkLst>
          <pc:docMk/>
          <pc:sldMk cId="542520032" sldId="347"/>
        </pc:sldMkLst>
      </pc:sldChg>
      <pc:sldChg chg="del">
        <pc:chgData name="Adam Brown (Astrea Central)" userId="e4577f1c-a0ea-4eef-9851-9bdbe8619e58" providerId="ADAL" clId="{9DF17B53-ECFA-422A-9189-36AF61870973}" dt="2025-08-06T13:12:19.911" v="100" actId="47"/>
        <pc:sldMkLst>
          <pc:docMk/>
          <pc:sldMk cId="1042596037" sldId="348"/>
        </pc:sldMkLst>
      </pc:sldChg>
      <pc:sldChg chg="del">
        <pc:chgData name="Adam Brown (Astrea Central)" userId="e4577f1c-a0ea-4eef-9851-9bdbe8619e58" providerId="ADAL" clId="{9DF17B53-ECFA-422A-9189-36AF61870973}" dt="2025-08-06T13:12:19.911" v="100" actId="47"/>
        <pc:sldMkLst>
          <pc:docMk/>
          <pc:sldMk cId="3186429579" sldId="349"/>
        </pc:sldMkLst>
      </pc:sldChg>
      <pc:sldChg chg="del">
        <pc:chgData name="Adam Brown (Astrea Central)" userId="e4577f1c-a0ea-4eef-9851-9bdbe8619e58" providerId="ADAL" clId="{9DF17B53-ECFA-422A-9189-36AF61870973}" dt="2025-08-06T13:12:19.911" v="100" actId="47"/>
        <pc:sldMkLst>
          <pc:docMk/>
          <pc:sldMk cId="1856237109" sldId="350"/>
        </pc:sldMkLst>
      </pc:sldChg>
      <pc:sldChg chg="del">
        <pc:chgData name="Adam Brown (Astrea Central)" userId="e4577f1c-a0ea-4eef-9851-9bdbe8619e58" providerId="ADAL" clId="{9DF17B53-ECFA-422A-9189-36AF61870973}" dt="2025-08-06T13:12:19.911" v="100" actId="47"/>
        <pc:sldMkLst>
          <pc:docMk/>
          <pc:sldMk cId="1190930630" sldId="353"/>
        </pc:sldMkLst>
      </pc:sldChg>
      <pc:sldChg chg="del">
        <pc:chgData name="Adam Brown (Astrea Central)" userId="e4577f1c-a0ea-4eef-9851-9bdbe8619e58" providerId="ADAL" clId="{9DF17B53-ECFA-422A-9189-36AF61870973}" dt="2025-08-06T13:12:19.911" v="100" actId="47"/>
        <pc:sldMkLst>
          <pc:docMk/>
          <pc:sldMk cId="4096746058" sldId="355"/>
        </pc:sldMkLst>
      </pc:sldChg>
      <pc:sldChg chg="del">
        <pc:chgData name="Adam Brown (Astrea Central)" userId="e4577f1c-a0ea-4eef-9851-9bdbe8619e58" providerId="ADAL" clId="{9DF17B53-ECFA-422A-9189-36AF61870973}" dt="2025-08-06T13:12:19.911" v="100" actId="47"/>
        <pc:sldMkLst>
          <pc:docMk/>
          <pc:sldMk cId="3479034719" sldId="356"/>
        </pc:sldMkLst>
      </pc:sldChg>
      <pc:sldChg chg="del">
        <pc:chgData name="Adam Brown (Astrea Central)" userId="e4577f1c-a0ea-4eef-9851-9bdbe8619e58" providerId="ADAL" clId="{9DF17B53-ECFA-422A-9189-36AF61870973}" dt="2025-08-06T13:12:19.911" v="100" actId="47"/>
        <pc:sldMkLst>
          <pc:docMk/>
          <pc:sldMk cId="900685508" sldId="357"/>
        </pc:sldMkLst>
      </pc:sldChg>
      <pc:sldChg chg="del">
        <pc:chgData name="Adam Brown (Astrea Central)" userId="e4577f1c-a0ea-4eef-9851-9bdbe8619e58" providerId="ADAL" clId="{9DF17B53-ECFA-422A-9189-36AF61870973}" dt="2025-08-06T13:12:19.911" v="100" actId="47"/>
        <pc:sldMkLst>
          <pc:docMk/>
          <pc:sldMk cId="3657856763" sldId="358"/>
        </pc:sldMkLst>
      </pc:sldChg>
      <pc:sldChg chg="del">
        <pc:chgData name="Adam Brown (Astrea Central)" userId="e4577f1c-a0ea-4eef-9851-9bdbe8619e58" providerId="ADAL" clId="{9DF17B53-ECFA-422A-9189-36AF61870973}" dt="2025-08-06T13:12:19.911" v="100" actId="47"/>
        <pc:sldMkLst>
          <pc:docMk/>
          <pc:sldMk cId="1784817808" sldId="372"/>
        </pc:sldMkLst>
      </pc:sldChg>
      <pc:sldChg chg="del">
        <pc:chgData name="Adam Brown (Astrea Central)" userId="e4577f1c-a0ea-4eef-9851-9bdbe8619e58" providerId="ADAL" clId="{9DF17B53-ECFA-422A-9189-36AF61870973}" dt="2025-08-06T13:12:19.911" v="100" actId="47"/>
        <pc:sldMkLst>
          <pc:docMk/>
          <pc:sldMk cId="1919084134" sldId="373"/>
        </pc:sldMkLst>
      </pc:sldChg>
      <pc:sldChg chg="del">
        <pc:chgData name="Adam Brown (Astrea Central)" userId="e4577f1c-a0ea-4eef-9851-9bdbe8619e58" providerId="ADAL" clId="{9DF17B53-ECFA-422A-9189-36AF61870973}" dt="2025-08-06T13:12:19.911" v="100" actId="47"/>
        <pc:sldMkLst>
          <pc:docMk/>
          <pc:sldMk cId="4144469883" sldId="374"/>
        </pc:sldMkLst>
      </pc:sldChg>
      <pc:sldChg chg="del">
        <pc:chgData name="Adam Brown (Astrea Central)" userId="e4577f1c-a0ea-4eef-9851-9bdbe8619e58" providerId="ADAL" clId="{9DF17B53-ECFA-422A-9189-36AF61870973}" dt="2025-08-06T13:12:19.911" v="100" actId="47"/>
        <pc:sldMkLst>
          <pc:docMk/>
          <pc:sldMk cId="1627169086" sldId="375"/>
        </pc:sldMkLst>
      </pc:sldChg>
      <pc:sldChg chg="del">
        <pc:chgData name="Adam Brown (Astrea Central)" userId="e4577f1c-a0ea-4eef-9851-9bdbe8619e58" providerId="ADAL" clId="{9DF17B53-ECFA-422A-9189-36AF61870973}" dt="2025-08-06T13:12:19.911" v="100" actId="47"/>
        <pc:sldMkLst>
          <pc:docMk/>
          <pc:sldMk cId="3692886486" sldId="376"/>
        </pc:sldMkLst>
      </pc:sldChg>
      <pc:sldChg chg="del">
        <pc:chgData name="Adam Brown (Astrea Central)" userId="e4577f1c-a0ea-4eef-9851-9bdbe8619e58" providerId="ADAL" clId="{9DF17B53-ECFA-422A-9189-36AF61870973}" dt="2025-08-06T13:12:19.911" v="100" actId="47"/>
        <pc:sldMkLst>
          <pc:docMk/>
          <pc:sldMk cId="508847688" sldId="377"/>
        </pc:sldMkLst>
      </pc:sldChg>
      <pc:sldChg chg="del">
        <pc:chgData name="Adam Brown (Astrea Central)" userId="e4577f1c-a0ea-4eef-9851-9bdbe8619e58" providerId="ADAL" clId="{9DF17B53-ECFA-422A-9189-36AF61870973}" dt="2025-08-06T13:12:19.911" v="100" actId="47"/>
        <pc:sldMkLst>
          <pc:docMk/>
          <pc:sldMk cId="688274044" sldId="378"/>
        </pc:sldMkLst>
      </pc:sldChg>
      <pc:sldChg chg="del">
        <pc:chgData name="Adam Brown (Astrea Central)" userId="e4577f1c-a0ea-4eef-9851-9bdbe8619e58" providerId="ADAL" clId="{9DF17B53-ECFA-422A-9189-36AF61870973}" dt="2025-08-06T13:12:19.911" v="100" actId="47"/>
        <pc:sldMkLst>
          <pc:docMk/>
          <pc:sldMk cId="421593374" sldId="379"/>
        </pc:sldMkLst>
      </pc:sldChg>
      <pc:sldChg chg="del">
        <pc:chgData name="Adam Brown (Astrea Central)" userId="e4577f1c-a0ea-4eef-9851-9bdbe8619e58" providerId="ADAL" clId="{9DF17B53-ECFA-422A-9189-36AF61870973}" dt="2025-08-06T13:12:19.911" v="100" actId="47"/>
        <pc:sldMkLst>
          <pc:docMk/>
          <pc:sldMk cId="2538578330" sldId="2719"/>
        </pc:sldMkLst>
      </pc:sldChg>
      <pc:sldChg chg="del">
        <pc:chgData name="Adam Brown (Astrea Central)" userId="e4577f1c-a0ea-4eef-9851-9bdbe8619e58" providerId="ADAL" clId="{9DF17B53-ECFA-422A-9189-36AF61870973}" dt="2025-08-06T13:12:19.911" v="100" actId="47"/>
        <pc:sldMkLst>
          <pc:docMk/>
          <pc:sldMk cId="1813454950" sldId="2720"/>
        </pc:sldMkLst>
      </pc:sldChg>
      <pc:sldChg chg="del">
        <pc:chgData name="Adam Brown (Astrea Central)" userId="e4577f1c-a0ea-4eef-9851-9bdbe8619e58" providerId="ADAL" clId="{9DF17B53-ECFA-422A-9189-36AF61870973}" dt="2025-08-06T13:12:19.911" v="100" actId="47"/>
        <pc:sldMkLst>
          <pc:docMk/>
          <pc:sldMk cId="3422141095" sldId="2721"/>
        </pc:sldMkLst>
      </pc:sldChg>
      <pc:sldChg chg="del">
        <pc:chgData name="Adam Brown (Astrea Central)" userId="e4577f1c-a0ea-4eef-9851-9bdbe8619e58" providerId="ADAL" clId="{9DF17B53-ECFA-422A-9189-36AF61870973}" dt="2025-08-06T13:12:19.911" v="100" actId="47"/>
        <pc:sldMkLst>
          <pc:docMk/>
          <pc:sldMk cId="905767127" sldId="2722"/>
        </pc:sldMkLst>
      </pc:sldChg>
      <pc:sldChg chg="del">
        <pc:chgData name="Adam Brown (Astrea Central)" userId="e4577f1c-a0ea-4eef-9851-9bdbe8619e58" providerId="ADAL" clId="{9DF17B53-ECFA-422A-9189-36AF61870973}" dt="2025-08-06T13:12:19.911" v="100" actId="47"/>
        <pc:sldMkLst>
          <pc:docMk/>
          <pc:sldMk cId="509849628" sldId="2723"/>
        </pc:sldMkLst>
      </pc:sldChg>
      <pc:sldChg chg="del">
        <pc:chgData name="Adam Brown (Astrea Central)" userId="e4577f1c-a0ea-4eef-9851-9bdbe8619e58" providerId="ADAL" clId="{9DF17B53-ECFA-422A-9189-36AF61870973}" dt="2025-08-06T13:12:19.911" v="100" actId="47"/>
        <pc:sldMkLst>
          <pc:docMk/>
          <pc:sldMk cId="675915942" sldId="2724"/>
        </pc:sldMkLst>
      </pc:sldChg>
      <pc:sldChg chg="del">
        <pc:chgData name="Adam Brown (Astrea Central)" userId="e4577f1c-a0ea-4eef-9851-9bdbe8619e58" providerId="ADAL" clId="{9DF17B53-ECFA-422A-9189-36AF61870973}" dt="2025-08-06T13:12:19.911" v="100" actId="47"/>
        <pc:sldMkLst>
          <pc:docMk/>
          <pc:sldMk cId="1096353866" sldId="2725"/>
        </pc:sldMkLst>
      </pc:sldChg>
      <pc:sldChg chg="del">
        <pc:chgData name="Adam Brown (Astrea Central)" userId="e4577f1c-a0ea-4eef-9851-9bdbe8619e58" providerId="ADAL" clId="{9DF17B53-ECFA-422A-9189-36AF61870973}" dt="2025-08-06T13:12:19.911" v="100" actId="47"/>
        <pc:sldMkLst>
          <pc:docMk/>
          <pc:sldMk cId="240355490" sldId="2726"/>
        </pc:sldMkLst>
      </pc:sldChg>
      <pc:sldChg chg="del">
        <pc:chgData name="Adam Brown (Astrea Central)" userId="e4577f1c-a0ea-4eef-9851-9bdbe8619e58" providerId="ADAL" clId="{9DF17B53-ECFA-422A-9189-36AF61870973}" dt="2025-08-06T13:12:19.911" v="100" actId="47"/>
        <pc:sldMkLst>
          <pc:docMk/>
          <pc:sldMk cId="967788092" sldId="2727"/>
        </pc:sldMkLst>
      </pc:sldChg>
      <pc:sldChg chg="del">
        <pc:chgData name="Adam Brown (Astrea Central)" userId="e4577f1c-a0ea-4eef-9851-9bdbe8619e58" providerId="ADAL" clId="{9DF17B53-ECFA-422A-9189-36AF61870973}" dt="2025-08-06T13:12:19.911" v="100" actId="47"/>
        <pc:sldMkLst>
          <pc:docMk/>
          <pc:sldMk cId="1290489478" sldId="2729"/>
        </pc:sldMkLst>
      </pc:sldChg>
      <pc:sldChg chg="del">
        <pc:chgData name="Adam Brown (Astrea Central)" userId="e4577f1c-a0ea-4eef-9851-9bdbe8619e58" providerId="ADAL" clId="{9DF17B53-ECFA-422A-9189-36AF61870973}" dt="2025-08-06T13:12:19.911" v="100" actId="47"/>
        <pc:sldMkLst>
          <pc:docMk/>
          <pc:sldMk cId="759071522" sldId="2750"/>
        </pc:sldMkLst>
      </pc:sldChg>
      <pc:sldChg chg="del">
        <pc:chgData name="Adam Brown (Astrea Central)" userId="e4577f1c-a0ea-4eef-9851-9bdbe8619e58" providerId="ADAL" clId="{9DF17B53-ECFA-422A-9189-36AF61870973}" dt="2025-08-06T13:12:19.911" v="100" actId="47"/>
        <pc:sldMkLst>
          <pc:docMk/>
          <pc:sldMk cId="1546075972" sldId="2751"/>
        </pc:sldMkLst>
      </pc:sldChg>
      <pc:sldChg chg="del">
        <pc:chgData name="Adam Brown (Astrea Central)" userId="e4577f1c-a0ea-4eef-9851-9bdbe8619e58" providerId="ADAL" clId="{9DF17B53-ECFA-422A-9189-36AF61870973}" dt="2025-08-06T13:12:19.911" v="100" actId="47"/>
        <pc:sldMkLst>
          <pc:docMk/>
          <pc:sldMk cId="3552589205" sldId="2752"/>
        </pc:sldMkLst>
      </pc:sldChg>
      <pc:sldChg chg="del">
        <pc:chgData name="Adam Brown (Astrea Central)" userId="e4577f1c-a0ea-4eef-9851-9bdbe8619e58" providerId="ADAL" clId="{9DF17B53-ECFA-422A-9189-36AF61870973}" dt="2025-08-06T13:12:19.911" v="100" actId="47"/>
        <pc:sldMkLst>
          <pc:docMk/>
          <pc:sldMk cId="2566927058" sldId="2753"/>
        </pc:sldMkLst>
      </pc:sldChg>
      <pc:sldChg chg="del">
        <pc:chgData name="Adam Brown (Astrea Central)" userId="e4577f1c-a0ea-4eef-9851-9bdbe8619e58" providerId="ADAL" clId="{9DF17B53-ECFA-422A-9189-36AF61870973}" dt="2025-08-06T13:12:19.911" v="100" actId="47"/>
        <pc:sldMkLst>
          <pc:docMk/>
          <pc:sldMk cId="1389947671" sldId="2759"/>
        </pc:sldMkLst>
      </pc:sldChg>
      <pc:sldChg chg="del">
        <pc:chgData name="Adam Brown (Astrea Central)" userId="e4577f1c-a0ea-4eef-9851-9bdbe8619e58" providerId="ADAL" clId="{9DF17B53-ECFA-422A-9189-36AF61870973}" dt="2025-08-06T13:12:19.911" v="100" actId="47"/>
        <pc:sldMkLst>
          <pc:docMk/>
          <pc:sldMk cId="2290734628" sldId="2760"/>
        </pc:sldMkLst>
      </pc:sldChg>
      <pc:sldChg chg="del">
        <pc:chgData name="Adam Brown (Astrea Central)" userId="e4577f1c-a0ea-4eef-9851-9bdbe8619e58" providerId="ADAL" clId="{9DF17B53-ECFA-422A-9189-36AF61870973}" dt="2025-08-06T13:12:19.911" v="100" actId="47"/>
        <pc:sldMkLst>
          <pc:docMk/>
          <pc:sldMk cId="1729915234" sldId="2761"/>
        </pc:sldMkLst>
      </pc:sldChg>
      <pc:sldChg chg="del">
        <pc:chgData name="Adam Brown (Astrea Central)" userId="e4577f1c-a0ea-4eef-9851-9bdbe8619e58" providerId="ADAL" clId="{9DF17B53-ECFA-422A-9189-36AF61870973}" dt="2025-08-06T13:12:19.911" v="100" actId="47"/>
        <pc:sldMkLst>
          <pc:docMk/>
          <pc:sldMk cId="3135394857" sldId="2762"/>
        </pc:sldMkLst>
      </pc:sldChg>
      <pc:sldChg chg="del">
        <pc:chgData name="Adam Brown (Astrea Central)" userId="e4577f1c-a0ea-4eef-9851-9bdbe8619e58" providerId="ADAL" clId="{9DF17B53-ECFA-422A-9189-36AF61870973}" dt="2025-08-06T13:12:19.911" v="100" actId="47"/>
        <pc:sldMkLst>
          <pc:docMk/>
          <pc:sldMk cId="2000600415" sldId="2763"/>
        </pc:sldMkLst>
      </pc:sldChg>
      <pc:sldChg chg="del">
        <pc:chgData name="Adam Brown (Astrea Central)" userId="e4577f1c-a0ea-4eef-9851-9bdbe8619e58" providerId="ADAL" clId="{9DF17B53-ECFA-422A-9189-36AF61870973}" dt="2025-08-06T13:12:19.911" v="100" actId="47"/>
        <pc:sldMkLst>
          <pc:docMk/>
          <pc:sldMk cId="2547779968" sldId="2764"/>
        </pc:sldMkLst>
      </pc:sldChg>
      <pc:sldChg chg="del">
        <pc:chgData name="Adam Brown (Astrea Central)" userId="e4577f1c-a0ea-4eef-9851-9bdbe8619e58" providerId="ADAL" clId="{9DF17B53-ECFA-422A-9189-36AF61870973}" dt="2025-08-06T13:12:19.911" v="100" actId="47"/>
        <pc:sldMkLst>
          <pc:docMk/>
          <pc:sldMk cId="649580854" sldId="2765"/>
        </pc:sldMkLst>
      </pc:sldChg>
      <pc:sldChg chg="del">
        <pc:chgData name="Adam Brown (Astrea Central)" userId="e4577f1c-a0ea-4eef-9851-9bdbe8619e58" providerId="ADAL" clId="{9DF17B53-ECFA-422A-9189-36AF61870973}" dt="2025-08-06T13:12:19.911" v="100" actId="47"/>
        <pc:sldMkLst>
          <pc:docMk/>
          <pc:sldMk cId="2109098751" sldId="2766"/>
        </pc:sldMkLst>
      </pc:sldChg>
      <pc:sldChg chg="del">
        <pc:chgData name="Adam Brown (Astrea Central)" userId="e4577f1c-a0ea-4eef-9851-9bdbe8619e58" providerId="ADAL" clId="{9DF17B53-ECFA-422A-9189-36AF61870973}" dt="2025-08-06T13:12:19.911" v="100" actId="47"/>
        <pc:sldMkLst>
          <pc:docMk/>
          <pc:sldMk cId="2673872755" sldId="2767"/>
        </pc:sldMkLst>
      </pc:sldChg>
      <pc:sldChg chg="del">
        <pc:chgData name="Adam Brown (Astrea Central)" userId="e4577f1c-a0ea-4eef-9851-9bdbe8619e58" providerId="ADAL" clId="{9DF17B53-ECFA-422A-9189-36AF61870973}" dt="2025-08-06T13:12:19.911" v="100" actId="47"/>
        <pc:sldMkLst>
          <pc:docMk/>
          <pc:sldMk cId="4276921759" sldId="2768"/>
        </pc:sldMkLst>
      </pc:sldChg>
      <pc:sldChg chg="del">
        <pc:chgData name="Adam Brown (Astrea Central)" userId="e4577f1c-a0ea-4eef-9851-9bdbe8619e58" providerId="ADAL" clId="{9DF17B53-ECFA-422A-9189-36AF61870973}" dt="2025-08-06T13:12:19.911" v="100" actId="47"/>
        <pc:sldMkLst>
          <pc:docMk/>
          <pc:sldMk cId="4072467659" sldId="2769"/>
        </pc:sldMkLst>
      </pc:sldChg>
      <pc:sldChg chg="del">
        <pc:chgData name="Adam Brown (Astrea Central)" userId="e4577f1c-a0ea-4eef-9851-9bdbe8619e58" providerId="ADAL" clId="{9DF17B53-ECFA-422A-9189-36AF61870973}" dt="2025-08-06T13:12:19.911" v="100" actId="47"/>
        <pc:sldMkLst>
          <pc:docMk/>
          <pc:sldMk cId="2116641321" sldId="2770"/>
        </pc:sldMkLst>
      </pc:sldChg>
      <pc:sldChg chg="del">
        <pc:chgData name="Adam Brown (Astrea Central)" userId="e4577f1c-a0ea-4eef-9851-9bdbe8619e58" providerId="ADAL" clId="{9DF17B53-ECFA-422A-9189-36AF61870973}" dt="2025-08-06T13:12:19.911" v="100" actId="47"/>
        <pc:sldMkLst>
          <pc:docMk/>
          <pc:sldMk cId="3503684853" sldId="2771"/>
        </pc:sldMkLst>
      </pc:sldChg>
      <pc:sldChg chg="del">
        <pc:chgData name="Adam Brown (Astrea Central)" userId="e4577f1c-a0ea-4eef-9851-9bdbe8619e58" providerId="ADAL" clId="{9DF17B53-ECFA-422A-9189-36AF61870973}" dt="2025-08-06T13:12:19.911" v="100" actId="47"/>
        <pc:sldMkLst>
          <pc:docMk/>
          <pc:sldMk cId="2628843454" sldId="2772"/>
        </pc:sldMkLst>
      </pc:sldChg>
      <pc:sldChg chg="del">
        <pc:chgData name="Adam Brown (Astrea Central)" userId="e4577f1c-a0ea-4eef-9851-9bdbe8619e58" providerId="ADAL" clId="{9DF17B53-ECFA-422A-9189-36AF61870973}" dt="2025-08-06T13:12:19.911" v="100" actId="47"/>
        <pc:sldMkLst>
          <pc:docMk/>
          <pc:sldMk cId="3901821836" sldId="2773"/>
        </pc:sldMkLst>
      </pc:sldChg>
      <pc:sldChg chg="del">
        <pc:chgData name="Adam Brown (Astrea Central)" userId="e4577f1c-a0ea-4eef-9851-9bdbe8619e58" providerId="ADAL" clId="{9DF17B53-ECFA-422A-9189-36AF61870973}" dt="2025-08-06T13:12:19.911" v="100" actId="47"/>
        <pc:sldMkLst>
          <pc:docMk/>
          <pc:sldMk cId="1180888511" sldId="27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BD887872-9236-460B-BC2A-E44A8AC6C1EB}" type="datetimeFigureOut">
              <a:rPr lang="en-GB" smtClean="0"/>
              <a:t>06/08/2025</a:t>
            </a:fld>
            <a:endParaRPr lang="en-GB"/>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A65AC23A-D8C2-4808-8C51-A2299E24BAA4}" type="slidenum">
              <a:rPr lang="en-GB" smtClean="0"/>
              <a:t>‹#›</a:t>
            </a:fld>
            <a:endParaRPr lang="en-GB"/>
          </a:p>
        </p:txBody>
      </p:sp>
    </p:spTree>
    <p:extLst>
      <p:ext uri="{BB962C8B-B14F-4D97-AF65-F5344CB8AC3E}">
        <p14:creationId xmlns:p14="http://schemas.microsoft.com/office/powerpoint/2010/main" val="3461726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1</a:t>
            </a:fld>
            <a:endParaRPr lang="en-GB"/>
          </a:p>
        </p:txBody>
      </p:sp>
    </p:spTree>
    <p:extLst>
      <p:ext uri="{BB962C8B-B14F-4D97-AF65-F5344CB8AC3E}">
        <p14:creationId xmlns:p14="http://schemas.microsoft.com/office/powerpoint/2010/main" val="3950531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75E70-0397-97F5-E3BC-DE882E31D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DE30F0-0CA6-6717-75E8-BECA90740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8B1BF4-89C5-F2C3-B855-18858756DA76}"/>
              </a:ext>
            </a:extLst>
          </p:cNvPr>
          <p:cNvSpPr>
            <a:spLocks noGrp="1"/>
          </p:cNvSpPr>
          <p:nvPr>
            <p:ph type="body" idx="1"/>
          </p:nvPr>
        </p:nvSpPr>
        <p:spPr/>
        <p:txBody>
          <a:bodyPr/>
          <a:lstStyle/>
          <a:p>
            <a:endParaRPr lang="en-US"/>
          </a:p>
          <a:p>
            <a:endParaRPr lang="en-US"/>
          </a:p>
          <a:p>
            <a:endParaRPr lang="en-GB"/>
          </a:p>
        </p:txBody>
      </p:sp>
      <p:sp>
        <p:nvSpPr>
          <p:cNvPr id="4" name="Slide Number Placeholder 3">
            <a:extLst>
              <a:ext uri="{FF2B5EF4-FFF2-40B4-BE49-F238E27FC236}">
                <a16:creationId xmlns:a16="http://schemas.microsoft.com/office/drawing/2014/main" id="{77B341FF-7058-F59B-4D43-F9C81ADB260B}"/>
              </a:ext>
            </a:extLst>
          </p:cNvPr>
          <p:cNvSpPr>
            <a:spLocks noGrp="1"/>
          </p:cNvSpPr>
          <p:nvPr>
            <p:ph type="sldNum" sz="quarter" idx="10"/>
          </p:nvPr>
        </p:nvSpPr>
        <p:spPr/>
        <p:txBody>
          <a:bodyPr/>
          <a:lstStyle/>
          <a:p>
            <a:fld id="{6C24A783-C653-C444-A1FE-7D3BC73388DB}" type="slidenum">
              <a:rPr lang="en-GB" smtClean="0"/>
              <a:t>2</a:t>
            </a:fld>
            <a:endParaRPr lang="en-GB"/>
          </a:p>
        </p:txBody>
      </p:sp>
    </p:spTree>
    <p:extLst>
      <p:ext uri="{BB962C8B-B14F-4D97-AF65-F5344CB8AC3E}">
        <p14:creationId xmlns:p14="http://schemas.microsoft.com/office/powerpoint/2010/main" val="3186478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68538" y="1243013"/>
            <a:ext cx="2320925" cy="33559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C24A783-C653-C444-A1FE-7D3BC73388DB}" type="slidenum">
              <a:rPr lang="en-GB" smtClean="0">
                <a:solidFill>
                  <a:prstClr val="black"/>
                </a:solidFill>
              </a:rPr>
              <a:pPr/>
              <a:t>20</a:t>
            </a:fld>
            <a:endParaRPr lang="en-GB">
              <a:solidFill>
                <a:prstClr val="black"/>
              </a:solidFill>
            </a:endParaRPr>
          </a:p>
        </p:txBody>
      </p:sp>
    </p:spTree>
    <p:extLst>
      <p:ext uri="{BB962C8B-B14F-4D97-AF65-F5344CB8AC3E}">
        <p14:creationId xmlns:p14="http://schemas.microsoft.com/office/powerpoint/2010/main" val="3419967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409CD-2F0A-CCCD-E61A-0CF4B734D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FF181-7B11-1072-24EA-AB351C56F5C7}"/>
              </a:ext>
            </a:extLst>
          </p:cNvPr>
          <p:cNvSpPr>
            <a:spLocks noGrp="1" noRot="1" noChangeAspect="1"/>
          </p:cNvSpPr>
          <p:nvPr>
            <p:ph type="sldImg"/>
          </p:nvPr>
        </p:nvSpPr>
        <p:spPr>
          <a:xfrm>
            <a:off x="2268538" y="1243013"/>
            <a:ext cx="2320925" cy="3355975"/>
          </a:xfrm>
        </p:spPr>
      </p:sp>
      <p:sp>
        <p:nvSpPr>
          <p:cNvPr id="3" name="Notes Placeholder 2">
            <a:extLst>
              <a:ext uri="{FF2B5EF4-FFF2-40B4-BE49-F238E27FC236}">
                <a16:creationId xmlns:a16="http://schemas.microsoft.com/office/drawing/2014/main" id="{F2B41CD9-AA47-CFAB-3926-164F298C929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1329C30-F030-F1E9-2EAE-0C098E2D7974}"/>
              </a:ext>
            </a:extLst>
          </p:cNvPr>
          <p:cNvSpPr>
            <a:spLocks noGrp="1"/>
          </p:cNvSpPr>
          <p:nvPr>
            <p:ph type="sldNum" sz="quarter" idx="5"/>
          </p:nvPr>
        </p:nvSpPr>
        <p:spPr/>
        <p:txBody>
          <a:bodyPr/>
          <a:lstStyle/>
          <a:p>
            <a:fld id="{6C24A783-C653-C444-A1FE-7D3BC73388DB}" type="slidenum">
              <a:rPr lang="en-GB" smtClean="0">
                <a:solidFill>
                  <a:prstClr val="black"/>
                </a:solidFill>
              </a:rPr>
              <a:pPr/>
              <a:t>21</a:t>
            </a:fld>
            <a:endParaRPr lang="en-GB">
              <a:solidFill>
                <a:prstClr val="black"/>
              </a:solidFill>
            </a:endParaRPr>
          </a:p>
        </p:txBody>
      </p:sp>
    </p:spTree>
    <p:extLst>
      <p:ext uri="{BB962C8B-B14F-4D97-AF65-F5344CB8AC3E}">
        <p14:creationId xmlns:p14="http://schemas.microsoft.com/office/powerpoint/2010/main" val="6363664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C24A783-C653-C444-A1FE-7D3BC73388DB}" type="slidenum">
              <a:rPr lang="en-GB" smtClean="0"/>
              <a:t>32</a:t>
            </a:fld>
            <a:endParaRPr lang="en-GB"/>
          </a:p>
        </p:txBody>
      </p:sp>
    </p:spTree>
    <p:extLst>
      <p:ext uri="{BB962C8B-B14F-4D97-AF65-F5344CB8AC3E}">
        <p14:creationId xmlns:p14="http://schemas.microsoft.com/office/powerpoint/2010/main" val="1556459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C24A783-C653-C444-A1FE-7D3BC73388DB}" type="slidenum">
              <a:rPr lang="en-GB" smtClean="0"/>
              <a:t>33</a:t>
            </a:fld>
            <a:endParaRPr lang="en-GB"/>
          </a:p>
        </p:txBody>
      </p:sp>
    </p:spTree>
    <p:extLst>
      <p:ext uri="{BB962C8B-B14F-4D97-AF65-F5344CB8AC3E}">
        <p14:creationId xmlns:p14="http://schemas.microsoft.com/office/powerpoint/2010/main" val="18281231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C24A783-C653-C444-A1FE-7D3BC73388DB}" type="slidenum">
              <a:rPr lang="en-GB" smtClean="0"/>
              <a:t>34</a:t>
            </a:fld>
            <a:endParaRPr lang="en-GB"/>
          </a:p>
        </p:txBody>
      </p:sp>
    </p:spTree>
    <p:extLst>
      <p:ext uri="{BB962C8B-B14F-4D97-AF65-F5344CB8AC3E}">
        <p14:creationId xmlns:p14="http://schemas.microsoft.com/office/powerpoint/2010/main" val="260559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C24A783-C653-C444-A1FE-7D3BC73388DB}" type="slidenum">
              <a:rPr lang="en-GB" smtClean="0"/>
              <a:t>35</a:t>
            </a:fld>
            <a:endParaRPr lang="en-GB"/>
          </a:p>
        </p:txBody>
      </p:sp>
    </p:spTree>
    <p:extLst>
      <p:ext uri="{BB962C8B-B14F-4D97-AF65-F5344CB8AC3E}">
        <p14:creationId xmlns:p14="http://schemas.microsoft.com/office/powerpoint/2010/main" val="2144715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C24A783-C653-C444-A1FE-7D3BC73388DB}" type="slidenum">
              <a:rPr lang="en-GB" smtClean="0"/>
              <a:t>40</a:t>
            </a:fld>
            <a:endParaRPr lang="en-GB"/>
          </a:p>
        </p:txBody>
      </p:sp>
    </p:spTree>
    <p:extLst>
      <p:ext uri="{BB962C8B-B14F-4D97-AF65-F5344CB8AC3E}">
        <p14:creationId xmlns:p14="http://schemas.microsoft.com/office/powerpoint/2010/main" val="2583270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7B8FF-B760-F4C5-C688-B424198558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34416C-EEEA-2BCC-EDA9-47BC08AADC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FCD5A9-6ACD-DE19-764E-8AFE4940110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7A60386-9C34-06D7-DA6B-C45019F6F971}"/>
              </a:ext>
            </a:extLst>
          </p:cNvPr>
          <p:cNvSpPr>
            <a:spLocks noGrp="1"/>
          </p:cNvSpPr>
          <p:nvPr>
            <p:ph type="sldNum" sz="quarter" idx="5"/>
          </p:nvPr>
        </p:nvSpPr>
        <p:spPr/>
        <p:txBody>
          <a:bodyPr/>
          <a:lstStyle/>
          <a:p>
            <a:fld id="{6C24A783-C653-C444-A1FE-7D3BC73388DB}" type="slidenum">
              <a:rPr lang="en-GB" smtClean="0"/>
              <a:t>47</a:t>
            </a:fld>
            <a:endParaRPr lang="en-GB"/>
          </a:p>
        </p:txBody>
      </p:sp>
    </p:spTree>
    <p:extLst>
      <p:ext uri="{BB962C8B-B14F-4D97-AF65-F5344CB8AC3E}">
        <p14:creationId xmlns:p14="http://schemas.microsoft.com/office/powerpoint/2010/main" val="4072456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C24A783-C653-C444-A1FE-7D3BC73388DB}" type="slidenum">
              <a:rPr lang="en-GB" smtClean="0"/>
              <a:t>56</a:t>
            </a:fld>
            <a:endParaRPr lang="en-GB"/>
          </a:p>
        </p:txBody>
      </p:sp>
    </p:spTree>
    <p:extLst>
      <p:ext uri="{BB962C8B-B14F-4D97-AF65-F5344CB8AC3E}">
        <p14:creationId xmlns:p14="http://schemas.microsoft.com/office/powerpoint/2010/main" val="2714476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C24A783-C653-C444-A1FE-7D3BC73388DB}" type="slidenum">
              <a:rPr lang="en-GB" smtClean="0"/>
              <a:t>58</a:t>
            </a:fld>
            <a:endParaRPr lang="en-GB"/>
          </a:p>
        </p:txBody>
      </p:sp>
    </p:spTree>
    <p:extLst>
      <p:ext uri="{BB962C8B-B14F-4D97-AF65-F5344CB8AC3E}">
        <p14:creationId xmlns:p14="http://schemas.microsoft.com/office/powerpoint/2010/main" val="1582202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36645BB-F530-4C6B-ABAE-E32F8A251980}"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868696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EDB0C-8CB1-4E4B-A7D2-72D1E989F74F}"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628738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418B7CF-AD3A-412E-A236-AD334123F5DC}"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965247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5F8CF75-DE73-4975-8438-DCC60FF5A9C7}"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642259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D433DA-9DCC-4C1C-BE87-1B843446F1E2}" type="datetime1">
              <a:rPr lang="en-GB" smtClean="0"/>
              <a:t>06/08/2025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66026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036B931-B1B4-4301-9FA3-4AC76251F969}" type="datetime1">
              <a:rPr lang="en-GB" smtClean="0"/>
              <a:t>06/08/2025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416073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4EB317-EAB0-4C19-A195-2782EA19078C}" type="datetime1">
              <a:rPr lang="en-GB" smtClean="0"/>
              <a:t>06/08/2025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77690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EEE7F5A2-2F3B-430C-BD43-6D2323C7CD6A}"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032427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D6AD09F-1297-4193-9BA9-680759B76EE0}"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235885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ED7873-3A83-4840-BD06-EB3A5B53B6DA}"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130277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E7EED6-F9AB-4871-A4A9-4EB7B43E5F99}"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883891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80118337-BCAC-4A6B-9508-65A0DEBA7F58}" type="datetime1">
              <a:rPr lang="en-GB" smtClean="0"/>
              <a:t>06/08/2025</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9BD3B4A0-BFF9-422C-B253-48BA94BE2F5B}" type="slidenum">
              <a:rPr lang="en-GB" smtClean="0"/>
              <a:t>‹#›</a:t>
            </a:fld>
            <a:endParaRPr lang="en-GB"/>
          </a:p>
        </p:txBody>
      </p:sp>
    </p:spTree>
    <p:extLst>
      <p:ext uri="{BB962C8B-B14F-4D97-AF65-F5344CB8AC3E}">
        <p14:creationId xmlns:p14="http://schemas.microsoft.com/office/powerpoint/2010/main" val="28197563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13" Type="http://schemas.openxmlformats.org/officeDocument/2006/relationships/image" Target="../media/image34.png"/><Relationship Id="rId3" Type="http://schemas.openxmlformats.org/officeDocument/2006/relationships/image" Target="../media/image24.png"/><Relationship Id="rId12"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7.xml"/><Relationship Id="rId14" Type="http://schemas.openxmlformats.org/officeDocument/2006/relationships/image" Target="../media/image35.png"/></Relationships>
</file>

<file path=ppt/slides/_rels/slide6.xml.rels><?xml version="1.0" encoding="UTF-8" standalone="yes"?>
<Relationships xmlns="http://schemas.openxmlformats.org/package/2006/relationships"><Relationship Id="rId2" Type="http://schemas.openxmlformats.org/officeDocument/2006/relationships/image" Target="../media/image40.png"/><Relationship Id="rId20" Type="http://schemas.openxmlformats.org/officeDocument/2006/relationships/image" Target="../media/image58.png"/><Relationship Id="rId1" Type="http://schemas.openxmlformats.org/officeDocument/2006/relationships/slideLayout" Target="../slideLayouts/slideLayout7.xml"/><Relationship Id="rId15" Type="http://schemas.openxmlformats.org/officeDocument/2006/relationships/image" Target="../media/image53.png"/><Relationship Id="rId19" Type="http://schemas.openxmlformats.org/officeDocument/2006/relationships/image" Target="../media/image57.png"/></Relationships>
</file>

<file path=ppt/slides/_rels/slide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 Id="rId11" Type="http://schemas.openxmlformats.org/officeDocument/2006/relationships/image" Target="../media/image72.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7.xml"/><Relationship Id="rId4" Type="http://schemas.openxmlformats.org/officeDocument/2006/relationships/image" Target="../media/image95.png"/></Relationships>
</file>

<file path=ppt/slides/_rels/slide1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5.xml"/><Relationship Id="rId4" Type="http://schemas.openxmlformats.org/officeDocument/2006/relationships/image" Target="../media/image120.png"/></Relationships>
</file>

<file path=ppt/slides/_rels/slide12.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7.xml"/><Relationship Id="rId4" Type="http://schemas.openxmlformats.org/officeDocument/2006/relationships/image" Target="../media/image133.png"/></Relationships>
</file>

<file path=ppt/slides/_rels/slide13.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7.xml"/><Relationship Id="rId4" Type="http://schemas.openxmlformats.org/officeDocument/2006/relationships/image" Target="../media/image143.png"/></Relationships>
</file>

<file path=ppt/slides/_rels/slide14.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7.xml"/><Relationship Id="rId6" Type="http://schemas.openxmlformats.org/officeDocument/2006/relationships/image" Target="../media/image155.png"/><Relationship Id="rId10" Type="http://schemas.openxmlformats.org/officeDocument/2006/relationships/image" Target="../media/image159.png"/></Relationships>
</file>

<file path=ppt/slides/_rels/slide15.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7.xml"/><Relationship Id="rId4" Type="http://schemas.openxmlformats.org/officeDocument/2006/relationships/image" Target="../media/image16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0.png"/><Relationship Id="rId12" Type="http://schemas.openxmlformats.org/officeDocument/2006/relationships/image" Target="../media/image199.png"/><Relationship Id="rId2" Type="http://schemas.openxmlformats.org/officeDocument/2006/relationships/notesSlide" Target="../notesSlides/notesSlide3.xml"/><Relationship Id="rId16" Type="http://schemas.openxmlformats.org/officeDocument/2006/relationships/image" Target="../media/image203.png"/><Relationship Id="rId1" Type="http://schemas.openxmlformats.org/officeDocument/2006/relationships/slideLayout" Target="../slideLayouts/slideLayout7.xml"/><Relationship Id="rId6" Type="http://schemas.openxmlformats.org/officeDocument/2006/relationships/image" Target="../media/image193.png"/><Relationship Id="rId11" Type="http://schemas.openxmlformats.org/officeDocument/2006/relationships/image" Target="../media/image198.png"/><Relationship Id="rId5" Type="http://schemas.openxmlformats.org/officeDocument/2006/relationships/image" Target="../media/image192.png"/><Relationship Id="rId10" Type="http://schemas.openxmlformats.org/officeDocument/2006/relationships/image" Target="../media/image197.png"/><Relationship Id="rId4" Type="http://schemas.openxmlformats.org/officeDocument/2006/relationships/image" Target="../media/image191.png"/></Relationships>
</file>

<file path=ppt/slides/_rels/slide2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14.png"/><Relationship Id="rId3" Type="http://schemas.openxmlformats.org/officeDocument/2006/relationships/image" Target="../media/image204.png"/><Relationship Id="rId7" Type="http://schemas.openxmlformats.org/officeDocument/2006/relationships/image" Target="../media/image21.png"/><Relationship Id="rId2" Type="http://schemas.openxmlformats.org/officeDocument/2006/relationships/notesSlide" Target="../notesSlides/notesSlide4.xml"/><Relationship Id="rId16" Type="http://schemas.openxmlformats.org/officeDocument/2006/relationships/image" Target="../media/image217.png"/><Relationship Id="rId1" Type="http://schemas.openxmlformats.org/officeDocument/2006/relationships/slideLayout" Target="../slideLayouts/slideLayout7.xml"/><Relationship Id="rId6" Type="http://schemas.openxmlformats.org/officeDocument/2006/relationships/image" Target="../media/image207.png"/><Relationship Id="rId5" Type="http://schemas.openxmlformats.org/officeDocument/2006/relationships/image" Target="../media/image206.png"/><Relationship Id="rId15" Type="http://schemas.openxmlformats.org/officeDocument/2006/relationships/image" Target="../media/image27.png"/><Relationship Id="rId4" Type="http://schemas.openxmlformats.org/officeDocument/2006/relationships/image" Target="../media/image205.png"/><Relationship Id="rId9" Type="http://schemas.openxmlformats.org/officeDocument/2006/relationships/image" Target="../media/image25.png"/><Relationship Id="rId1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6.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8.png"/><Relationship Id="rId7" Type="http://schemas.openxmlformats.org/officeDocument/2006/relationships/image" Target="../media/image43.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4.png"/></Relationships>
</file>

<file path=ppt/slides/_rels/slide26.xml.rels><?xml version="1.0" encoding="UTF-8" standalone="yes"?>
<Relationships xmlns="http://schemas.openxmlformats.org/package/2006/relationships"><Relationship Id="rId8" Type="http://schemas.openxmlformats.org/officeDocument/2006/relationships/image" Target="../media/image248.png"/><Relationship Id="rId13" Type="http://schemas.openxmlformats.org/officeDocument/2006/relationships/image" Target="../media/image253.png"/><Relationship Id="rId3" Type="http://schemas.openxmlformats.org/officeDocument/2006/relationships/image" Target="../media/image243.png"/><Relationship Id="rId7" Type="http://schemas.openxmlformats.org/officeDocument/2006/relationships/image" Target="../media/image247.png"/><Relationship Id="rId12" Type="http://schemas.openxmlformats.org/officeDocument/2006/relationships/image" Target="../media/image252.png"/><Relationship Id="rId2" Type="http://schemas.openxmlformats.org/officeDocument/2006/relationships/image" Target="../media/image242.png"/><Relationship Id="rId1" Type="http://schemas.openxmlformats.org/officeDocument/2006/relationships/slideLayout" Target="../slideLayouts/slideLayout7.xml"/><Relationship Id="rId6" Type="http://schemas.openxmlformats.org/officeDocument/2006/relationships/image" Target="../media/image246.png"/><Relationship Id="rId11" Type="http://schemas.openxmlformats.org/officeDocument/2006/relationships/image" Target="../media/image251.png"/><Relationship Id="rId5" Type="http://schemas.openxmlformats.org/officeDocument/2006/relationships/image" Target="../media/image245.png"/><Relationship Id="rId10"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249.png"/></Relationships>
</file>

<file path=ppt/slides/_rels/slide27.xml.rels><?xml version="1.0" encoding="UTF-8" standalone="yes"?>
<Relationships xmlns="http://schemas.openxmlformats.org/package/2006/relationships"><Relationship Id="rId8" Type="http://schemas.openxmlformats.org/officeDocument/2006/relationships/image" Target="../media/image249.png"/><Relationship Id="rId13" Type="http://schemas.openxmlformats.org/officeDocument/2006/relationships/image" Target="../media/image59.png"/><Relationship Id="rId3" Type="http://schemas.openxmlformats.org/officeDocument/2006/relationships/image" Target="../media/image255.png"/><Relationship Id="rId7" Type="http://schemas.openxmlformats.org/officeDocument/2006/relationships/image" Target="../media/image252.png"/><Relationship Id="rId12" Type="http://schemas.openxmlformats.org/officeDocument/2006/relationships/image" Target="../media/image46.png"/><Relationship Id="rId2" Type="http://schemas.openxmlformats.org/officeDocument/2006/relationships/image" Target="../media/image254.png"/><Relationship Id="rId1" Type="http://schemas.openxmlformats.org/officeDocument/2006/relationships/slideLayout" Target="../slideLayouts/slideLayout7.xml"/><Relationship Id="rId6" Type="http://schemas.openxmlformats.org/officeDocument/2006/relationships/image" Target="../media/image247.png"/><Relationship Id="rId11" Type="http://schemas.openxmlformats.org/officeDocument/2006/relationships/image" Target="../media/image253.png"/><Relationship Id="rId5" Type="http://schemas.openxmlformats.org/officeDocument/2006/relationships/image" Target="../media/image257.png"/><Relationship Id="rId10" Type="http://schemas.openxmlformats.org/officeDocument/2006/relationships/image" Target="../media/image248.png"/><Relationship Id="rId4" Type="http://schemas.openxmlformats.org/officeDocument/2006/relationships/image" Target="../media/image256.png"/><Relationship Id="rId9" Type="http://schemas.openxmlformats.org/officeDocument/2006/relationships/image" Target="../media/image258.png"/></Relationships>
</file>

<file path=ppt/slides/_rels/slide28.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252.png"/><Relationship Id="rId7" Type="http://schemas.openxmlformats.org/officeDocument/2006/relationships/image" Target="../media/image62.png"/><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248.png"/><Relationship Id="rId11" Type="http://schemas.openxmlformats.org/officeDocument/2006/relationships/image" Target="../media/image267.png"/><Relationship Id="rId5" Type="http://schemas.openxmlformats.org/officeDocument/2006/relationships/image" Target="../media/image61.png"/><Relationship Id="rId10" Type="http://schemas.openxmlformats.org/officeDocument/2006/relationships/image" Target="../media/image266.png"/><Relationship Id="rId4" Type="http://schemas.openxmlformats.org/officeDocument/2006/relationships/image" Target="../media/image261.png"/><Relationship Id="rId9" Type="http://schemas.openxmlformats.org/officeDocument/2006/relationships/image" Target="../media/image65.png"/></Relationships>
</file>

<file path=ppt/slides/_rels/slide29.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275.png"/><Relationship Id="rId3" Type="http://schemas.openxmlformats.org/officeDocument/2006/relationships/image" Target="../media/image269.png"/><Relationship Id="rId7" Type="http://schemas.openxmlformats.org/officeDocument/2006/relationships/image" Target="../media/image253.png"/><Relationship Id="rId12" Type="http://schemas.openxmlformats.org/officeDocument/2006/relationships/image" Target="../media/image274.png"/><Relationship Id="rId2" Type="http://schemas.openxmlformats.org/officeDocument/2006/relationships/image" Target="../media/image268.png"/><Relationship Id="rId1" Type="http://schemas.openxmlformats.org/officeDocument/2006/relationships/slideLayout" Target="../slideLayouts/slideLayout7.xml"/><Relationship Id="rId6" Type="http://schemas.openxmlformats.org/officeDocument/2006/relationships/image" Target="../media/image252.png"/><Relationship Id="rId11" Type="http://schemas.openxmlformats.org/officeDocument/2006/relationships/image" Target="../media/image67.png"/><Relationship Id="rId5" Type="http://schemas.openxmlformats.org/officeDocument/2006/relationships/image" Target="../media/image249.png"/><Relationship Id="rId15" Type="http://schemas.openxmlformats.org/officeDocument/2006/relationships/image" Target="../media/image277.png"/><Relationship Id="rId10" Type="http://schemas.openxmlformats.org/officeDocument/2006/relationships/image" Target="../media/image272.png"/><Relationship Id="rId4" Type="http://schemas.openxmlformats.org/officeDocument/2006/relationships/image" Target="../media/image248.png"/><Relationship Id="rId9" Type="http://schemas.openxmlformats.org/officeDocument/2006/relationships/image" Target="../media/image271.png"/><Relationship Id="rId14" Type="http://schemas.openxmlformats.org/officeDocument/2006/relationships/image" Target="../media/image276.png"/></Relationships>
</file>

<file path=ppt/slides/_rels/slide30.xml.rels><?xml version="1.0" encoding="UTF-8" standalone="yes"?>
<Relationships xmlns="http://schemas.openxmlformats.org/package/2006/relationships"><Relationship Id="rId8" Type="http://schemas.openxmlformats.org/officeDocument/2006/relationships/image" Target="../media/image280.png"/><Relationship Id="rId13" Type="http://schemas.openxmlformats.org/officeDocument/2006/relationships/image" Target="../media/image285.png"/><Relationship Id="rId3" Type="http://schemas.openxmlformats.org/officeDocument/2006/relationships/image" Target="../media/image279.png"/><Relationship Id="rId7" Type="http://schemas.openxmlformats.org/officeDocument/2006/relationships/image" Target="../media/image253.png"/><Relationship Id="rId12" Type="http://schemas.openxmlformats.org/officeDocument/2006/relationships/image" Target="../media/image284.png"/><Relationship Id="rId2" Type="http://schemas.openxmlformats.org/officeDocument/2006/relationships/image" Target="../media/image278.png"/><Relationship Id="rId1" Type="http://schemas.openxmlformats.org/officeDocument/2006/relationships/slideLayout" Target="../slideLayouts/slideLayout7.xml"/><Relationship Id="rId6" Type="http://schemas.openxmlformats.org/officeDocument/2006/relationships/image" Target="../media/image252.png"/><Relationship Id="rId11" Type="http://schemas.openxmlformats.org/officeDocument/2006/relationships/image" Target="../media/image283.png"/><Relationship Id="rId5" Type="http://schemas.openxmlformats.org/officeDocument/2006/relationships/image" Target="../media/image249.png"/><Relationship Id="rId15" Type="http://schemas.openxmlformats.org/officeDocument/2006/relationships/image" Target="../media/image69.png"/><Relationship Id="rId10" Type="http://schemas.openxmlformats.org/officeDocument/2006/relationships/image" Target="../media/image282.png"/><Relationship Id="rId4" Type="http://schemas.openxmlformats.org/officeDocument/2006/relationships/image" Target="../media/image248.png"/><Relationship Id="rId9" Type="http://schemas.openxmlformats.org/officeDocument/2006/relationships/image" Target="../media/image281.png"/><Relationship Id="rId14" Type="http://schemas.openxmlformats.org/officeDocument/2006/relationships/image" Target="../media/image68.png"/></Relationships>
</file>

<file path=ppt/slides/_rels/slide31.xml.rels><?xml version="1.0" encoding="UTF-8" standalone="yes"?>
<Relationships xmlns="http://schemas.openxmlformats.org/package/2006/relationships"><Relationship Id="rId8" Type="http://schemas.openxmlformats.org/officeDocument/2006/relationships/image" Target="../media/image248.png"/><Relationship Id="rId3" Type="http://schemas.openxmlformats.org/officeDocument/2006/relationships/image" Target="../media/image70.png"/><Relationship Id="rId7" Type="http://schemas.openxmlformats.org/officeDocument/2006/relationships/image" Target="../media/image293.png"/><Relationship Id="rId2" Type="http://schemas.openxmlformats.org/officeDocument/2006/relationships/image" Target="../media/image288.png"/><Relationship Id="rId1" Type="http://schemas.openxmlformats.org/officeDocument/2006/relationships/slideLayout" Target="../slideLayouts/slideLayout7.xml"/><Relationship Id="rId6" Type="http://schemas.openxmlformats.org/officeDocument/2006/relationships/image" Target="../media/image292.png"/><Relationship Id="rId11" Type="http://schemas.openxmlformats.org/officeDocument/2006/relationships/image" Target="../media/image295.png"/><Relationship Id="rId5" Type="http://schemas.openxmlformats.org/officeDocument/2006/relationships/image" Target="../media/image291.png"/><Relationship Id="rId10" Type="http://schemas.openxmlformats.org/officeDocument/2006/relationships/image" Target="../media/image71.png"/><Relationship Id="rId4" Type="http://schemas.openxmlformats.org/officeDocument/2006/relationships/image" Target="../media/image290.png"/><Relationship Id="rId9" Type="http://schemas.openxmlformats.org/officeDocument/2006/relationships/image" Target="../media/image249.png"/></Relationships>
</file>

<file path=ppt/slides/_rels/slide32.xml.rels><?xml version="1.0" encoding="UTF-8" standalone="yes"?>
<Relationships xmlns="http://schemas.openxmlformats.org/package/2006/relationships"><Relationship Id="rId8" Type="http://schemas.openxmlformats.org/officeDocument/2006/relationships/image" Target="../media/image301.png"/><Relationship Id="rId13" Type="http://schemas.openxmlformats.org/officeDocument/2006/relationships/image" Target="../media/image306.png"/><Relationship Id="rId18" Type="http://schemas.openxmlformats.org/officeDocument/2006/relationships/image" Target="../media/image311.png"/><Relationship Id="rId3" Type="http://schemas.openxmlformats.org/officeDocument/2006/relationships/image" Target="../media/image296.png"/><Relationship Id="rId21" Type="http://schemas.openxmlformats.org/officeDocument/2006/relationships/image" Target="../media/image314.png"/><Relationship Id="rId7" Type="http://schemas.openxmlformats.org/officeDocument/2006/relationships/image" Target="../media/image300.png"/><Relationship Id="rId12" Type="http://schemas.openxmlformats.org/officeDocument/2006/relationships/image" Target="../media/image305.png"/><Relationship Id="rId17" Type="http://schemas.openxmlformats.org/officeDocument/2006/relationships/image" Target="../media/image310.png"/><Relationship Id="rId2" Type="http://schemas.openxmlformats.org/officeDocument/2006/relationships/notesSlide" Target="../notesSlides/notesSlide5.xml"/><Relationship Id="rId16" Type="http://schemas.openxmlformats.org/officeDocument/2006/relationships/image" Target="../media/image309.png"/><Relationship Id="rId20" Type="http://schemas.openxmlformats.org/officeDocument/2006/relationships/image" Target="../media/image313.png"/><Relationship Id="rId1" Type="http://schemas.openxmlformats.org/officeDocument/2006/relationships/slideLayout" Target="../slideLayouts/slideLayout7.xml"/><Relationship Id="rId6" Type="http://schemas.openxmlformats.org/officeDocument/2006/relationships/image" Target="../media/image299.png"/><Relationship Id="rId11" Type="http://schemas.openxmlformats.org/officeDocument/2006/relationships/image" Target="../media/image304.png"/><Relationship Id="rId5" Type="http://schemas.openxmlformats.org/officeDocument/2006/relationships/image" Target="../media/image298.png"/><Relationship Id="rId15" Type="http://schemas.openxmlformats.org/officeDocument/2006/relationships/image" Target="../media/image308.png"/><Relationship Id="rId10" Type="http://schemas.openxmlformats.org/officeDocument/2006/relationships/image" Target="../media/image303.png"/><Relationship Id="rId19" Type="http://schemas.openxmlformats.org/officeDocument/2006/relationships/image" Target="../media/image312.png"/><Relationship Id="rId4" Type="http://schemas.openxmlformats.org/officeDocument/2006/relationships/image" Target="../media/image297.png"/><Relationship Id="rId9" Type="http://schemas.openxmlformats.org/officeDocument/2006/relationships/image" Target="../media/image302.png"/><Relationship Id="rId14" Type="http://schemas.openxmlformats.org/officeDocument/2006/relationships/image" Target="../media/image307.png"/></Relationships>
</file>

<file path=ppt/slides/_rels/slide3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315.png"/><Relationship Id="rId7" Type="http://schemas.openxmlformats.org/officeDocument/2006/relationships/image" Target="../media/image31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18.png"/><Relationship Id="rId11" Type="http://schemas.openxmlformats.org/officeDocument/2006/relationships/image" Target="../media/image323.png"/><Relationship Id="rId5" Type="http://schemas.openxmlformats.org/officeDocument/2006/relationships/image" Target="../media/image317.png"/><Relationship Id="rId10" Type="http://schemas.openxmlformats.org/officeDocument/2006/relationships/image" Target="../media/image322.png"/><Relationship Id="rId4" Type="http://schemas.openxmlformats.org/officeDocument/2006/relationships/image" Target="../media/image316.png"/><Relationship Id="rId9" Type="http://schemas.openxmlformats.org/officeDocument/2006/relationships/image" Target="../media/image321.png"/></Relationships>
</file>

<file path=ppt/slides/_rels/slide34.xml.rels><?xml version="1.0" encoding="UTF-8" standalone="yes"?>
<Relationships xmlns="http://schemas.openxmlformats.org/package/2006/relationships"><Relationship Id="rId8" Type="http://schemas.openxmlformats.org/officeDocument/2006/relationships/image" Target="../media/image328.png"/><Relationship Id="rId3" Type="http://schemas.openxmlformats.org/officeDocument/2006/relationships/image" Target="../media/image324.png"/><Relationship Id="rId7" Type="http://schemas.openxmlformats.org/officeDocument/2006/relationships/image" Target="../media/image32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27.png"/><Relationship Id="rId5" Type="http://schemas.openxmlformats.org/officeDocument/2006/relationships/image" Target="../media/image326.png"/><Relationship Id="rId4" Type="http://schemas.openxmlformats.org/officeDocument/2006/relationships/image" Target="../media/image325.png"/><Relationship Id="rId9" Type="http://schemas.openxmlformats.org/officeDocument/2006/relationships/image" Target="../media/image322.png"/></Relationships>
</file>

<file path=ppt/slides/_rels/slide35.xml.rels><?xml version="1.0" encoding="UTF-8" standalone="yes"?>
<Relationships xmlns="http://schemas.openxmlformats.org/package/2006/relationships"><Relationship Id="rId3" Type="http://schemas.openxmlformats.org/officeDocument/2006/relationships/image" Target="../media/image329.png"/><Relationship Id="rId7" Type="http://schemas.openxmlformats.org/officeDocument/2006/relationships/image" Target="../media/image32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32.png"/><Relationship Id="rId5" Type="http://schemas.openxmlformats.org/officeDocument/2006/relationships/image" Target="../media/image331.png"/><Relationship Id="rId4" Type="http://schemas.openxmlformats.org/officeDocument/2006/relationships/image" Target="../media/image330.png"/></Relationships>
</file>

<file path=ppt/slides/_rels/slide36.xml.rels><?xml version="1.0" encoding="UTF-8" standalone="yes"?>
<Relationships xmlns="http://schemas.openxmlformats.org/package/2006/relationships"><Relationship Id="rId8" Type="http://schemas.openxmlformats.org/officeDocument/2006/relationships/image" Target="../media/image339.png"/><Relationship Id="rId13" Type="http://schemas.openxmlformats.org/officeDocument/2006/relationships/image" Target="../media/image344.png"/><Relationship Id="rId3" Type="http://schemas.openxmlformats.org/officeDocument/2006/relationships/image" Target="../media/image334.png"/><Relationship Id="rId7" Type="http://schemas.openxmlformats.org/officeDocument/2006/relationships/image" Target="../media/image338.png"/><Relationship Id="rId12" Type="http://schemas.openxmlformats.org/officeDocument/2006/relationships/image" Target="../media/image343.png"/><Relationship Id="rId2" Type="http://schemas.openxmlformats.org/officeDocument/2006/relationships/image" Target="../media/image333.png"/><Relationship Id="rId1" Type="http://schemas.openxmlformats.org/officeDocument/2006/relationships/slideLayout" Target="../slideLayouts/slideLayout7.xml"/><Relationship Id="rId6" Type="http://schemas.openxmlformats.org/officeDocument/2006/relationships/image" Target="../media/image337.png"/><Relationship Id="rId11" Type="http://schemas.openxmlformats.org/officeDocument/2006/relationships/image" Target="../media/image342.png"/><Relationship Id="rId5" Type="http://schemas.openxmlformats.org/officeDocument/2006/relationships/image" Target="../media/image336.png"/><Relationship Id="rId15" Type="http://schemas.openxmlformats.org/officeDocument/2006/relationships/image" Target="../media/image346.png"/><Relationship Id="rId10" Type="http://schemas.openxmlformats.org/officeDocument/2006/relationships/image" Target="../media/image341.png"/><Relationship Id="rId4" Type="http://schemas.openxmlformats.org/officeDocument/2006/relationships/image" Target="../media/image335.png"/><Relationship Id="rId9" Type="http://schemas.openxmlformats.org/officeDocument/2006/relationships/image" Target="../media/image340.png"/><Relationship Id="rId14" Type="http://schemas.openxmlformats.org/officeDocument/2006/relationships/image" Target="../media/image345.png"/></Relationships>
</file>

<file path=ppt/slides/_rels/slide37.xml.rels><?xml version="1.0" encoding="UTF-8" standalone="yes"?>
<Relationships xmlns="http://schemas.openxmlformats.org/package/2006/relationships"><Relationship Id="rId8" Type="http://schemas.openxmlformats.org/officeDocument/2006/relationships/image" Target="../media/image322.png"/><Relationship Id="rId3" Type="http://schemas.openxmlformats.org/officeDocument/2006/relationships/image" Target="../media/image348.png"/><Relationship Id="rId7" Type="http://schemas.openxmlformats.org/officeDocument/2006/relationships/image" Target="../media/image352.png"/><Relationship Id="rId2" Type="http://schemas.openxmlformats.org/officeDocument/2006/relationships/image" Target="../media/image347.png"/><Relationship Id="rId1" Type="http://schemas.openxmlformats.org/officeDocument/2006/relationships/slideLayout" Target="../slideLayouts/slideLayout7.xml"/><Relationship Id="rId6" Type="http://schemas.openxmlformats.org/officeDocument/2006/relationships/image" Target="../media/image351.png"/><Relationship Id="rId5" Type="http://schemas.openxmlformats.org/officeDocument/2006/relationships/image" Target="../media/image350.png"/><Relationship Id="rId4" Type="http://schemas.openxmlformats.org/officeDocument/2006/relationships/image" Target="../media/image349.png"/><Relationship Id="rId9" Type="http://schemas.openxmlformats.org/officeDocument/2006/relationships/image" Target="../media/image323.png"/></Relationships>
</file>

<file path=ppt/slides/_rels/slide38.xml.rels><?xml version="1.0" encoding="UTF-8" standalone="yes"?>
<Relationships xmlns="http://schemas.openxmlformats.org/package/2006/relationships"><Relationship Id="rId3" Type="http://schemas.openxmlformats.org/officeDocument/2006/relationships/image" Target="../media/image354.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356.png"/><Relationship Id="rId4" Type="http://schemas.openxmlformats.org/officeDocument/2006/relationships/image" Target="../media/image355.png"/></Relationships>
</file>

<file path=ppt/slides/_rels/slide39.xml.rels><?xml version="1.0" encoding="UTF-8" standalone="yes"?>
<Relationships xmlns="http://schemas.openxmlformats.org/package/2006/relationships"><Relationship Id="rId8" Type="http://schemas.openxmlformats.org/officeDocument/2006/relationships/image" Target="../media/image363.png"/><Relationship Id="rId3" Type="http://schemas.openxmlformats.org/officeDocument/2006/relationships/image" Target="../media/image358.png"/><Relationship Id="rId7" Type="http://schemas.openxmlformats.org/officeDocument/2006/relationships/image" Target="../media/image362.png"/><Relationship Id="rId2" Type="http://schemas.openxmlformats.org/officeDocument/2006/relationships/image" Target="../media/image74.png"/><Relationship Id="rId1" Type="http://schemas.openxmlformats.org/officeDocument/2006/relationships/slideLayout" Target="../slideLayouts/slideLayout7.xml"/><Relationship Id="rId6" Type="http://schemas.openxmlformats.org/officeDocument/2006/relationships/image" Target="../media/image361.png"/><Relationship Id="rId5" Type="http://schemas.openxmlformats.org/officeDocument/2006/relationships/image" Target="../media/image360.png"/><Relationship Id="rId4" Type="http://schemas.openxmlformats.org/officeDocument/2006/relationships/image" Target="../media/image359.pn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64.png"/><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8" Type="http://schemas.openxmlformats.org/officeDocument/2006/relationships/image" Target="../media/image371.png"/><Relationship Id="rId3" Type="http://schemas.openxmlformats.org/officeDocument/2006/relationships/image" Target="../media/image366.png"/><Relationship Id="rId7" Type="http://schemas.openxmlformats.org/officeDocument/2006/relationships/image" Target="../media/image370.png"/><Relationship Id="rId2" Type="http://schemas.openxmlformats.org/officeDocument/2006/relationships/image" Target="../media/image365.png"/><Relationship Id="rId1" Type="http://schemas.openxmlformats.org/officeDocument/2006/relationships/slideLayout" Target="../slideLayouts/slideLayout7.xml"/><Relationship Id="rId6" Type="http://schemas.openxmlformats.org/officeDocument/2006/relationships/image" Target="../media/image369.png"/><Relationship Id="rId5" Type="http://schemas.openxmlformats.org/officeDocument/2006/relationships/image" Target="../media/image368.png"/><Relationship Id="rId4" Type="http://schemas.openxmlformats.org/officeDocument/2006/relationships/image" Target="../media/image367.png"/></Relationships>
</file>

<file path=ppt/slides/_rels/slide42.xml.rels><?xml version="1.0" encoding="UTF-8" standalone="yes"?>
<Relationships xmlns="http://schemas.openxmlformats.org/package/2006/relationships"><Relationship Id="rId3" Type="http://schemas.openxmlformats.org/officeDocument/2006/relationships/image" Target="../media/image373.png"/><Relationship Id="rId2" Type="http://schemas.openxmlformats.org/officeDocument/2006/relationships/image" Target="../media/image372.png"/><Relationship Id="rId1" Type="http://schemas.openxmlformats.org/officeDocument/2006/relationships/slideLayout" Target="../slideLayouts/slideLayout7.xml"/><Relationship Id="rId6" Type="http://schemas.openxmlformats.org/officeDocument/2006/relationships/image" Target="../media/image376.png"/><Relationship Id="rId5" Type="http://schemas.openxmlformats.org/officeDocument/2006/relationships/image" Target="../media/image375.png"/><Relationship Id="rId4" Type="http://schemas.openxmlformats.org/officeDocument/2006/relationships/image" Target="../media/image374.png"/></Relationships>
</file>

<file path=ppt/slides/_rels/slide43.xml.rels><?xml version="1.0" encoding="UTF-8" standalone="yes"?>
<Relationships xmlns="http://schemas.openxmlformats.org/package/2006/relationships"><Relationship Id="rId8" Type="http://schemas.openxmlformats.org/officeDocument/2006/relationships/image" Target="../media/image383.png"/><Relationship Id="rId3" Type="http://schemas.openxmlformats.org/officeDocument/2006/relationships/image" Target="../media/image378.png"/><Relationship Id="rId7" Type="http://schemas.openxmlformats.org/officeDocument/2006/relationships/image" Target="../media/image382.png"/><Relationship Id="rId2" Type="http://schemas.openxmlformats.org/officeDocument/2006/relationships/image" Target="../media/image377.png"/><Relationship Id="rId1" Type="http://schemas.openxmlformats.org/officeDocument/2006/relationships/slideLayout" Target="../slideLayouts/slideLayout7.xml"/><Relationship Id="rId6" Type="http://schemas.openxmlformats.org/officeDocument/2006/relationships/image" Target="../media/image381.png"/><Relationship Id="rId5" Type="http://schemas.openxmlformats.org/officeDocument/2006/relationships/image" Target="../media/image380.png"/><Relationship Id="rId4" Type="http://schemas.openxmlformats.org/officeDocument/2006/relationships/image" Target="../media/image379.png"/><Relationship Id="rId9" Type="http://schemas.openxmlformats.org/officeDocument/2006/relationships/image" Target="../media/image376.png"/></Relationships>
</file>

<file path=ppt/slides/_rels/slide44.xml.rels><?xml version="1.0" encoding="UTF-8" standalone="yes"?>
<Relationships xmlns="http://schemas.openxmlformats.org/package/2006/relationships"><Relationship Id="rId3" Type="http://schemas.openxmlformats.org/officeDocument/2006/relationships/image" Target="../media/image386.png"/><Relationship Id="rId2" Type="http://schemas.openxmlformats.org/officeDocument/2006/relationships/image" Target="../media/image385.png"/><Relationship Id="rId1" Type="http://schemas.openxmlformats.org/officeDocument/2006/relationships/slideLayout" Target="../slideLayouts/slideLayout7.xml"/><Relationship Id="rId5" Type="http://schemas.openxmlformats.org/officeDocument/2006/relationships/image" Target="../media/image388.png"/><Relationship Id="rId4" Type="http://schemas.openxmlformats.org/officeDocument/2006/relationships/image" Target="../media/image387.png"/></Relationships>
</file>

<file path=ppt/slides/_rels/slide45.xml.rels><?xml version="1.0" encoding="UTF-8" standalone="yes"?>
<Relationships xmlns="http://schemas.openxmlformats.org/package/2006/relationships"><Relationship Id="rId8" Type="http://schemas.openxmlformats.org/officeDocument/2006/relationships/image" Target="../media/image376.png"/><Relationship Id="rId3" Type="http://schemas.openxmlformats.org/officeDocument/2006/relationships/image" Target="../media/image390.png"/><Relationship Id="rId7" Type="http://schemas.openxmlformats.org/officeDocument/2006/relationships/image" Target="../media/image394.png"/><Relationship Id="rId2" Type="http://schemas.openxmlformats.org/officeDocument/2006/relationships/image" Target="../media/image389.png"/><Relationship Id="rId1" Type="http://schemas.openxmlformats.org/officeDocument/2006/relationships/slideLayout" Target="../slideLayouts/slideLayout7.xml"/><Relationship Id="rId6" Type="http://schemas.openxmlformats.org/officeDocument/2006/relationships/image" Target="../media/image393.png"/><Relationship Id="rId5" Type="http://schemas.openxmlformats.org/officeDocument/2006/relationships/image" Target="../media/image392.png"/><Relationship Id="rId4" Type="http://schemas.openxmlformats.org/officeDocument/2006/relationships/image" Target="../media/image391.png"/><Relationship Id="rId9" Type="http://schemas.openxmlformats.org/officeDocument/2006/relationships/image" Target="../media/image383.png"/></Relationships>
</file>

<file path=ppt/slides/_rels/slide46.xml.rels><?xml version="1.0" encoding="UTF-8" standalone="yes"?>
<Relationships xmlns="http://schemas.openxmlformats.org/package/2006/relationships"><Relationship Id="rId3" Type="http://schemas.openxmlformats.org/officeDocument/2006/relationships/image" Target="../media/image396.png"/><Relationship Id="rId2" Type="http://schemas.openxmlformats.org/officeDocument/2006/relationships/image" Target="../media/image395.png"/><Relationship Id="rId1" Type="http://schemas.openxmlformats.org/officeDocument/2006/relationships/slideLayout" Target="../slideLayouts/slideLayout7.xml"/><Relationship Id="rId6" Type="http://schemas.openxmlformats.org/officeDocument/2006/relationships/image" Target="../media/image383.png"/><Relationship Id="rId5" Type="http://schemas.openxmlformats.org/officeDocument/2006/relationships/image" Target="../media/image376.png"/><Relationship Id="rId4" Type="http://schemas.openxmlformats.org/officeDocument/2006/relationships/image" Target="../media/image397.png"/></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40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5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5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5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56.xml.rels><?xml version="1.0" encoding="UTF-8" standalone="yes"?>
<Relationships xmlns="http://schemas.openxmlformats.org/package/2006/relationships"><Relationship Id="rId3" Type="http://schemas.openxmlformats.org/officeDocument/2006/relationships/image" Target="../media/image42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28.png"/><Relationship Id="rId5" Type="http://schemas.openxmlformats.org/officeDocument/2006/relationships/image" Target="../media/image427.png"/><Relationship Id="rId4" Type="http://schemas.openxmlformats.org/officeDocument/2006/relationships/image" Target="../media/image426.png"/></Relationships>
</file>

<file path=ppt/slides/_rels/slide57.xml.rels><?xml version="1.0" encoding="UTF-8" standalone="yes"?>
<Relationships xmlns="http://schemas.openxmlformats.org/package/2006/relationships"><Relationship Id="rId8" Type="http://schemas.openxmlformats.org/officeDocument/2006/relationships/image" Target="../media/image433.png"/><Relationship Id="rId3" Type="http://schemas.openxmlformats.org/officeDocument/2006/relationships/image" Target="../media/image430.png"/><Relationship Id="rId7" Type="http://schemas.openxmlformats.org/officeDocument/2006/relationships/image" Target="../media/image383.png"/><Relationship Id="rId2" Type="http://schemas.openxmlformats.org/officeDocument/2006/relationships/image" Target="../media/image429.png"/><Relationship Id="rId1" Type="http://schemas.openxmlformats.org/officeDocument/2006/relationships/slideLayout" Target="../slideLayouts/slideLayout7.xml"/><Relationship Id="rId6" Type="http://schemas.openxmlformats.org/officeDocument/2006/relationships/image" Target="../media/image376.png"/><Relationship Id="rId5" Type="http://schemas.openxmlformats.org/officeDocument/2006/relationships/image" Target="../media/image432.png"/><Relationship Id="rId4" Type="http://schemas.openxmlformats.org/officeDocument/2006/relationships/image" Target="../media/image431.png"/><Relationship Id="rId9" Type="http://schemas.openxmlformats.org/officeDocument/2006/relationships/image" Target="../media/image434.png"/></Relationships>
</file>

<file path=ppt/slides/_rels/slide58.xml.rels><?xml version="1.0" encoding="UTF-8" standalone="yes"?>
<Relationships xmlns="http://schemas.openxmlformats.org/package/2006/relationships"><Relationship Id="rId3" Type="http://schemas.openxmlformats.org/officeDocument/2006/relationships/image" Target="../media/image43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36.png"/></Relationships>
</file>

<file path=ppt/slides/_rels/slide59.xml.rels><?xml version="1.0" encoding="UTF-8" standalone="yes"?>
<Relationships xmlns="http://schemas.openxmlformats.org/package/2006/relationships"><Relationship Id="rId3" Type="http://schemas.openxmlformats.org/officeDocument/2006/relationships/image" Target="../media/image438.png"/><Relationship Id="rId7" Type="http://schemas.openxmlformats.org/officeDocument/2006/relationships/image" Target="../media/image383.png"/><Relationship Id="rId2" Type="http://schemas.openxmlformats.org/officeDocument/2006/relationships/image" Target="../media/image437.png"/><Relationship Id="rId1" Type="http://schemas.openxmlformats.org/officeDocument/2006/relationships/slideLayout" Target="../slideLayouts/slideLayout7.xml"/><Relationship Id="rId6" Type="http://schemas.openxmlformats.org/officeDocument/2006/relationships/image" Target="../media/image376.png"/><Relationship Id="rId5" Type="http://schemas.openxmlformats.org/officeDocument/2006/relationships/image" Target="../media/image440.png"/><Relationship Id="rId4" Type="http://schemas.openxmlformats.org/officeDocument/2006/relationships/image" Target="../media/image439.png"/></Relationships>
</file>

<file path=ppt/slides/_rels/slide60.xml.rels><?xml version="1.0" encoding="UTF-8" standalone="yes"?>
<Relationships xmlns="http://schemas.openxmlformats.org/package/2006/relationships"><Relationship Id="rId3" Type="http://schemas.openxmlformats.org/officeDocument/2006/relationships/image" Target="../media/image444.png"/><Relationship Id="rId7" Type="http://schemas.openxmlformats.org/officeDocument/2006/relationships/image" Target="../media/image383.png"/><Relationship Id="rId2" Type="http://schemas.openxmlformats.org/officeDocument/2006/relationships/image" Target="../media/image443.png"/><Relationship Id="rId1" Type="http://schemas.openxmlformats.org/officeDocument/2006/relationships/slideLayout" Target="../slideLayouts/slideLayout7.xml"/><Relationship Id="rId6" Type="http://schemas.openxmlformats.org/officeDocument/2006/relationships/image" Target="../media/image376.png"/><Relationship Id="rId5" Type="http://schemas.openxmlformats.org/officeDocument/2006/relationships/image" Target="../media/image446.png"/><Relationship Id="rId4" Type="http://schemas.openxmlformats.org/officeDocument/2006/relationships/image" Target="../media/image445.png"/></Relationships>
</file>

<file path=ppt/slides/_rels/slide61.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image" Target="../media/image449.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52.png"/><Relationship Id="rId7" Type="http://schemas.openxmlformats.org/officeDocument/2006/relationships/image" Target="../media/image383.png"/><Relationship Id="rId2" Type="http://schemas.openxmlformats.org/officeDocument/2006/relationships/image" Target="../media/image451.png"/><Relationship Id="rId1" Type="http://schemas.openxmlformats.org/officeDocument/2006/relationships/slideLayout" Target="../slideLayouts/slideLayout7.xml"/><Relationship Id="rId6" Type="http://schemas.openxmlformats.org/officeDocument/2006/relationships/image" Target="../media/image376.png"/><Relationship Id="rId5" Type="http://schemas.openxmlformats.org/officeDocument/2006/relationships/image" Target="../media/image454.png"/><Relationship Id="rId4" Type="http://schemas.openxmlformats.org/officeDocument/2006/relationships/image" Target="../media/image453.png"/></Relationships>
</file>

<file path=ppt/slides/_rels/slide63.xml.rels><?xml version="1.0" encoding="UTF-8" standalone="yes"?>
<Relationships xmlns="http://schemas.openxmlformats.org/package/2006/relationships"><Relationship Id="rId3" Type="http://schemas.openxmlformats.org/officeDocument/2006/relationships/image" Target="../media/image456.png"/><Relationship Id="rId2" Type="http://schemas.openxmlformats.org/officeDocument/2006/relationships/image" Target="../media/image455.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83.png"/><Relationship Id="rId7" Type="http://schemas.openxmlformats.org/officeDocument/2006/relationships/image" Target="../media/image460.png"/><Relationship Id="rId2" Type="http://schemas.openxmlformats.org/officeDocument/2006/relationships/image" Target="../media/image376.png"/><Relationship Id="rId1" Type="http://schemas.openxmlformats.org/officeDocument/2006/relationships/slideLayout" Target="../slideLayouts/slideLayout7.xml"/><Relationship Id="rId6" Type="http://schemas.openxmlformats.org/officeDocument/2006/relationships/image" Target="../media/image459.png"/><Relationship Id="rId5" Type="http://schemas.openxmlformats.org/officeDocument/2006/relationships/image" Target="../media/image458.png"/><Relationship Id="rId4" Type="http://schemas.openxmlformats.org/officeDocument/2006/relationships/image" Target="../media/image457.png"/></Relationships>
</file>

<file path=ppt/slides/_rels/slide65.xml.rels><?xml version="1.0" encoding="UTF-8" standalone="yes"?>
<Relationships xmlns="http://schemas.openxmlformats.org/package/2006/relationships"><Relationship Id="rId3" Type="http://schemas.openxmlformats.org/officeDocument/2006/relationships/image" Target="../media/image383.png"/><Relationship Id="rId7" Type="http://schemas.openxmlformats.org/officeDocument/2006/relationships/image" Target="../media/image464.png"/><Relationship Id="rId2" Type="http://schemas.openxmlformats.org/officeDocument/2006/relationships/image" Target="../media/image376.png"/><Relationship Id="rId1" Type="http://schemas.openxmlformats.org/officeDocument/2006/relationships/slideLayout" Target="../slideLayouts/slideLayout7.xml"/><Relationship Id="rId6" Type="http://schemas.openxmlformats.org/officeDocument/2006/relationships/image" Target="../media/image463.png"/><Relationship Id="rId5" Type="http://schemas.openxmlformats.org/officeDocument/2006/relationships/image" Target="../media/image462.png"/><Relationship Id="rId4" Type="http://schemas.openxmlformats.org/officeDocument/2006/relationships/image" Target="../media/image461.png"/></Relationships>
</file>

<file path=ppt/slides/_rels/slide66.xml.rels><?xml version="1.0" encoding="UTF-8" standalone="yes"?>
<Relationships xmlns="http://schemas.openxmlformats.org/package/2006/relationships"><Relationship Id="rId3" Type="http://schemas.openxmlformats.org/officeDocument/2006/relationships/image" Target="../media/image466.png"/><Relationship Id="rId7" Type="http://schemas.openxmlformats.org/officeDocument/2006/relationships/image" Target="../media/image383.png"/><Relationship Id="rId2" Type="http://schemas.openxmlformats.org/officeDocument/2006/relationships/image" Target="../media/image465.png"/><Relationship Id="rId1" Type="http://schemas.openxmlformats.org/officeDocument/2006/relationships/slideLayout" Target="../slideLayouts/slideLayout7.xml"/><Relationship Id="rId6" Type="http://schemas.openxmlformats.org/officeDocument/2006/relationships/image" Target="../media/image376.png"/><Relationship Id="rId5" Type="http://schemas.openxmlformats.org/officeDocument/2006/relationships/image" Target="../media/image468.png"/><Relationship Id="rId4" Type="http://schemas.openxmlformats.org/officeDocument/2006/relationships/image" Target="../media/image467.png"/></Relationships>
</file>

<file path=ppt/slides/_rels/slide67.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470.png"/><Relationship Id="rId7" Type="http://schemas.openxmlformats.org/officeDocument/2006/relationships/image" Target="../media/image89.png"/><Relationship Id="rId2" Type="http://schemas.openxmlformats.org/officeDocument/2006/relationships/image" Target="../media/image469.png"/><Relationship Id="rId1" Type="http://schemas.openxmlformats.org/officeDocument/2006/relationships/slideLayout" Target="../slideLayouts/slideLayout7.xml"/><Relationship Id="rId6" Type="http://schemas.openxmlformats.org/officeDocument/2006/relationships/image" Target="../media/image383.png"/><Relationship Id="rId5" Type="http://schemas.openxmlformats.org/officeDocument/2006/relationships/image" Target="../media/image376.png"/><Relationship Id="rId10" Type="http://schemas.openxmlformats.org/officeDocument/2006/relationships/image" Target="../media/image92.png"/><Relationship Id="rId4" Type="http://schemas.openxmlformats.org/officeDocument/2006/relationships/image" Target="../media/image471.png"/><Relationship Id="rId9" Type="http://schemas.openxmlformats.org/officeDocument/2006/relationships/image" Target="../media/image91.png"/></Relationships>
</file>

<file path=ppt/slides/_rels/slide6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7.xml"/><Relationship Id="rId4" Type="http://schemas.openxmlformats.org/officeDocument/2006/relationships/image" Target="../media/image102.png"/></Relationships>
</file>

<file path=ppt/slides/_rels/slide7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7.xml"/><Relationship Id="rId4" Type="http://schemas.openxmlformats.org/officeDocument/2006/relationships/image" Target="../media/image10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0" y="0"/>
            <a:ext cx="6858000" cy="9906000"/>
          </a:xfrm>
          <a:custGeom>
            <a:avLst/>
            <a:gdLst>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811060 w 6488483"/>
              <a:gd name="connsiteY5" fmla="*/ 811060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811060 w 6488483"/>
              <a:gd name="connsiteY9" fmla="*/ 811060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6228568 w 6488483"/>
              <a:gd name="connsiteY8" fmla="*/ 272441 h 9394520"/>
              <a:gd name="connsiteX9" fmla="*/ 284967 w 6488483"/>
              <a:gd name="connsiteY9" fmla="*/ 272441 h 939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88483" h="9394520">
                <a:moveTo>
                  <a:pt x="0" y="0"/>
                </a:moveTo>
                <a:lnTo>
                  <a:pt x="6488483" y="0"/>
                </a:lnTo>
                <a:lnTo>
                  <a:pt x="6488483" y="9394520"/>
                </a:lnTo>
                <a:lnTo>
                  <a:pt x="0" y="9394520"/>
                </a:lnTo>
                <a:lnTo>
                  <a:pt x="0" y="0"/>
                </a:lnTo>
                <a:close/>
                <a:moveTo>
                  <a:pt x="284967" y="272441"/>
                </a:moveTo>
                <a:cubicBezTo>
                  <a:pt x="280792" y="3226496"/>
                  <a:pt x="276616" y="6180550"/>
                  <a:pt x="272441" y="9134605"/>
                </a:cubicBezTo>
                <a:lnTo>
                  <a:pt x="6216042" y="9134606"/>
                </a:lnTo>
                <a:cubicBezTo>
                  <a:pt x="6220217" y="6180551"/>
                  <a:pt x="6224393" y="3226496"/>
                  <a:pt x="6228568" y="272441"/>
                </a:cubicBezTo>
                <a:lnTo>
                  <a:pt x="284967" y="272441"/>
                </a:lnTo>
                <a:close/>
              </a:path>
            </a:pathLst>
          </a:custGeom>
          <a:solidFill>
            <a:schemeClr val="bg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AutoShape 6" descr="Image result for expression fun maths"/>
          <p:cNvSpPr>
            <a:spLocks noChangeAspect="1" noChangeArrowheads="1"/>
          </p:cNvSpPr>
          <p:nvPr/>
        </p:nvSpPr>
        <p:spPr bwMode="auto">
          <a:xfrm>
            <a:off x="155575" y="-623888"/>
            <a:ext cx="1924050" cy="13144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 name="Table 2"/>
          <p:cNvGraphicFramePr>
            <a:graphicFrameLocks noGrp="1"/>
          </p:cNvGraphicFramePr>
          <p:nvPr>
            <p:extLst>
              <p:ext uri="{D42A27DB-BD31-4B8C-83A1-F6EECF244321}">
                <p14:modId xmlns:p14="http://schemas.microsoft.com/office/powerpoint/2010/main" val="4114783744"/>
              </p:ext>
            </p:extLst>
          </p:nvPr>
        </p:nvGraphicFramePr>
        <p:xfrm>
          <a:off x="524173" y="2057401"/>
          <a:ext cx="5862340" cy="2712720"/>
        </p:xfrm>
        <a:graphic>
          <a:graphicData uri="http://schemas.openxmlformats.org/drawingml/2006/table">
            <a:tbl>
              <a:tblPr firstRow="1" bandRow="1">
                <a:tableStyleId>{5C22544A-7EE6-4342-B048-85BDC9FD1C3A}</a:tableStyleId>
              </a:tblPr>
              <a:tblGrid>
                <a:gridCol w="5862340">
                  <a:extLst>
                    <a:ext uri="{9D8B030D-6E8A-4147-A177-3AD203B41FA5}">
                      <a16:colId xmlns:a16="http://schemas.microsoft.com/office/drawing/2014/main" val="3141629024"/>
                    </a:ext>
                  </a:extLst>
                </a:gridCol>
              </a:tblGrid>
              <a:tr h="594104">
                <a:tc>
                  <a:txBody>
                    <a:bodyPr/>
                    <a:lstStyle/>
                    <a:p>
                      <a:pPr algn="ctr"/>
                      <a:r>
                        <a:rPr lang="en-GB" sz="4000" b="0" noProof="0" dirty="0">
                          <a:solidFill>
                            <a:sysClr val="windowText" lastClr="000000"/>
                          </a:solidFill>
                          <a:latin typeface="+mn-lt"/>
                        </a:rPr>
                        <a:t>YEAR 11 MATHEMATICS</a:t>
                      </a:r>
                    </a:p>
                  </a:txBody>
                  <a:tcPr anchor="ctr">
                    <a:lnB w="12700" cap="flat" cmpd="sng" algn="ctr">
                      <a:solidFill>
                        <a:schemeClr val="tx1"/>
                      </a:solidFill>
                      <a:prstDash val="dot"/>
                      <a:round/>
                      <a:headEnd type="none" w="med" len="med"/>
                      <a:tailEnd type="none" w="med" len="med"/>
                    </a:lnB>
                    <a:solidFill>
                      <a:schemeClr val="bg1"/>
                    </a:solidFill>
                  </a:tcPr>
                </a:tc>
                <a:extLst>
                  <a:ext uri="{0D108BD9-81ED-4DB2-BD59-A6C34878D82A}">
                    <a16:rowId xmlns:a16="http://schemas.microsoft.com/office/drawing/2014/main" val="2360724906"/>
                  </a:ext>
                </a:extLst>
              </a:tr>
              <a:tr h="59410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2000" b="1" baseline="0" noProof="0" dirty="0"/>
                        <a:t>Unit 1: Further Algebra (PART 1)</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2000" b="1" baseline="0" noProof="0" dirty="0">
                        <a:latin typeface="+mn-lt"/>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2000" b="1" baseline="0" noProof="0" dirty="0">
                          <a:latin typeface="+mn-lt"/>
                        </a:rPr>
                        <a:t>PART 1: Rearranging Formulae, Simultaneous Equations (including Quadratic Simultaneous Equations)</a:t>
                      </a:r>
                      <a:endParaRPr lang="en-GB" sz="2000" b="1" noProof="0" dirty="0">
                        <a:latin typeface="+mn-lt"/>
                      </a:endParaRPr>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chemeClr val="bg1"/>
                    </a:solidFill>
                  </a:tcPr>
                </a:tc>
                <a:extLst>
                  <a:ext uri="{0D108BD9-81ED-4DB2-BD59-A6C34878D82A}">
                    <a16:rowId xmlns:a16="http://schemas.microsoft.com/office/drawing/2014/main" val="1410125024"/>
                  </a:ext>
                </a:extLst>
              </a:tr>
              <a:tr h="366272">
                <a:tc>
                  <a:txBody>
                    <a:bodyPr/>
                    <a:lstStyle/>
                    <a:p>
                      <a:pPr algn="ctr"/>
                      <a:endParaRPr lang="en-GB" sz="2000" noProof="0" dirty="0">
                        <a:solidFill>
                          <a:sysClr val="windowText" lastClr="000000"/>
                        </a:solidFill>
                        <a:latin typeface="+mj-lt"/>
                      </a:endParaRPr>
                    </a:p>
                  </a:txBody>
                  <a:tcPr anchor="ctr">
                    <a:lnT w="12700" cap="flat" cmpd="sng" algn="ctr">
                      <a:solidFill>
                        <a:schemeClr val="tx1"/>
                      </a:solidFill>
                      <a:prstDash val="dot"/>
                      <a:round/>
                      <a:headEnd type="none" w="med" len="med"/>
                      <a:tailEnd type="none" w="med" len="med"/>
                    </a:lnT>
                    <a:solidFill>
                      <a:schemeClr val="bg1"/>
                    </a:solidFill>
                  </a:tcPr>
                </a:tc>
                <a:extLst>
                  <a:ext uri="{0D108BD9-81ED-4DB2-BD59-A6C34878D82A}">
                    <a16:rowId xmlns:a16="http://schemas.microsoft.com/office/drawing/2014/main" val="4079067449"/>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408313148"/>
              </p:ext>
            </p:extLst>
          </p:nvPr>
        </p:nvGraphicFramePr>
        <p:xfrm>
          <a:off x="3440212" y="393970"/>
          <a:ext cx="2972792" cy="1554480"/>
        </p:xfrm>
        <a:graphic>
          <a:graphicData uri="http://schemas.openxmlformats.org/drawingml/2006/table">
            <a:tbl>
              <a:tblPr firstRow="1" bandRow="1">
                <a:tableStyleId>{5C22544A-7EE6-4342-B048-85BDC9FD1C3A}</a:tableStyleId>
              </a:tblPr>
              <a:tblGrid>
                <a:gridCol w="1000861">
                  <a:extLst>
                    <a:ext uri="{9D8B030D-6E8A-4147-A177-3AD203B41FA5}">
                      <a16:colId xmlns:a16="http://schemas.microsoft.com/office/drawing/2014/main" val="3141629024"/>
                    </a:ext>
                  </a:extLst>
                </a:gridCol>
                <a:gridCol w="1971931">
                  <a:extLst>
                    <a:ext uri="{9D8B030D-6E8A-4147-A177-3AD203B41FA5}">
                      <a16:colId xmlns:a16="http://schemas.microsoft.com/office/drawing/2014/main" val="312534935"/>
                    </a:ext>
                  </a:extLst>
                </a:gridCol>
              </a:tblGrid>
              <a:tr h="518160">
                <a:tc>
                  <a:txBody>
                    <a:bodyPr/>
                    <a:lstStyle/>
                    <a:p>
                      <a:pPr algn="ctr"/>
                      <a:r>
                        <a:rPr lang="en-GB" sz="1400" b="0" noProof="0" dirty="0">
                          <a:solidFill>
                            <a:sysClr val="windowText" lastClr="000000"/>
                          </a:solidFill>
                          <a:latin typeface="+mj-lt"/>
                        </a:rPr>
                        <a:t>Name</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1400" b="1" noProof="0" dirty="0">
                        <a:solidFill>
                          <a:sysClr val="windowText" lastClr="000000"/>
                        </a:solidFill>
                      </a:endParaRP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0724906"/>
                  </a:ext>
                </a:extLst>
              </a:tr>
              <a:tr h="518160">
                <a:tc>
                  <a:txBody>
                    <a:bodyPr/>
                    <a:lstStyle/>
                    <a:p>
                      <a:pPr algn="ctr"/>
                      <a:r>
                        <a:rPr lang="en-GB" sz="1400" b="0" noProof="0" dirty="0">
                          <a:solidFill>
                            <a:sysClr val="windowText" lastClr="000000"/>
                          </a:solidFill>
                          <a:latin typeface="+mj-lt"/>
                        </a:rPr>
                        <a:t>Class</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1400" b="1" noProof="0" dirty="0">
                        <a:solidFill>
                          <a:sysClr val="windowText" lastClr="000000"/>
                        </a:solidFill>
                      </a:endParaRP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83583755"/>
                  </a:ext>
                </a:extLst>
              </a:tr>
              <a:tr h="518160">
                <a:tc>
                  <a:txBody>
                    <a:bodyPr/>
                    <a:lstStyle/>
                    <a:p>
                      <a:pPr algn="ctr"/>
                      <a:r>
                        <a:rPr lang="en-GB" sz="1400" b="0" noProof="0" dirty="0">
                          <a:solidFill>
                            <a:sysClr val="windowText" lastClr="000000"/>
                          </a:solidFill>
                          <a:latin typeface="+mj-lt"/>
                        </a:rPr>
                        <a:t>Tutor Group</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1400" b="1" noProof="0" dirty="0">
                        <a:solidFill>
                          <a:sysClr val="windowText" lastClr="000000"/>
                        </a:solidFill>
                      </a:endParaRP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9808098"/>
                  </a:ext>
                </a:extLst>
              </a:tr>
            </a:tbl>
          </a:graphicData>
        </a:graphic>
      </p:graphicFrame>
      <p:sp>
        <p:nvSpPr>
          <p:cNvPr id="8" name="TextBox 7">
            <a:extLst>
              <a:ext uri="{FF2B5EF4-FFF2-40B4-BE49-F238E27FC236}">
                <a16:creationId xmlns:a16="http://schemas.microsoft.com/office/drawing/2014/main" id="{9B4B40E0-2FC5-2646-9739-124F7623AC2B}"/>
              </a:ext>
            </a:extLst>
          </p:cNvPr>
          <p:cNvSpPr txBox="1"/>
          <p:nvPr/>
        </p:nvSpPr>
        <p:spPr>
          <a:xfrm>
            <a:off x="2459472" y="6885789"/>
            <a:ext cx="174018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7E2341"/>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79F4FE82-4863-834C-ABBC-12E9AD9BCA20}"/>
                  </a:ext>
                </a:extLst>
              </p:cNvPr>
              <p:cNvGraphicFramePr>
                <a:graphicFrameLocks noGrp="1"/>
              </p:cNvGraphicFramePr>
              <p:nvPr>
                <p:extLst>
                  <p:ext uri="{D42A27DB-BD31-4B8C-83A1-F6EECF244321}">
                    <p14:modId xmlns:p14="http://schemas.microsoft.com/office/powerpoint/2010/main" val="2728663029"/>
                  </p:ext>
                </p:extLst>
              </p:nvPr>
            </p:nvGraphicFramePr>
            <p:xfrm>
              <a:off x="445936" y="5468177"/>
              <a:ext cx="6026121" cy="4043853"/>
            </p:xfrm>
            <a:graphic>
              <a:graphicData uri="http://schemas.openxmlformats.org/drawingml/2006/table">
                <a:tbl>
                  <a:tblPr firstRow="1" bandRow="1">
                    <a:tableStyleId>{7E9639D4-E3E2-4D34-9284-5A2195B3D0D7}</a:tableStyleId>
                  </a:tblPr>
                  <a:tblGrid>
                    <a:gridCol w="1650231">
                      <a:extLst>
                        <a:ext uri="{9D8B030D-6E8A-4147-A177-3AD203B41FA5}">
                          <a16:colId xmlns:a16="http://schemas.microsoft.com/office/drawing/2014/main" val="3563799444"/>
                        </a:ext>
                      </a:extLst>
                    </a:gridCol>
                    <a:gridCol w="4375890">
                      <a:extLst>
                        <a:ext uri="{9D8B030D-6E8A-4147-A177-3AD203B41FA5}">
                          <a16:colId xmlns:a16="http://schemas.microsoft.com/office/drawing/2014/main" val="2581643566"/>
                        </a:ext>
                      </a:extLst>
                    </a:gridCol>
                  </a:tblGrid>
                  <a:tr h="290034">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noProof="0" dirty="0">
                              <a:solidFill>
                                <a:schemeClr val="bg1"/>
                              </a:solidFill>
                            </a:rPr>
                            <a:t>KEY VOCABULARY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FABAB"/>
                        </a:solidFill>
                      </a:tcPr>
                    </a:tc>
                    <a:tc hMerge="1">
                      <a:txBody>
                        <a:bodyPr/>
                        <a:lstStyle/>
                        <a:p>
                          <a:endParaRPr lang="en-GB"/>
                        </a:p>
                      </a:txBody>
                      <a:tcPr>
                        <a:solidFill>
                          <a:srgbClr val="7E2341"/>
                        </a:solidFill>
                      </a:tcPr>
                    </a:tc>
                    <a:extLst>
                      <a:ext uri="{0D108BD9-81ED-4DB2-BD59-A6C34878D82A}">
                        <a16:rowId xmlns:a16="http://schemas.microsoft.com/office/drawing/2014/main" val="163826269"/>
                      </a:ext>
                    </a:extLst>
                  </a:tr>
                  <a:tr h="290034">
                    <a:tc>
                      <a:txBody>
                        <a:bodyPr/>
                        <a:lstStyle/>
                        <a:p>
                          <a:pPr algn="l"/>
                          <a:r>
                            <a:rPr lang="en-GB" sz="1200" b="1" noProof="0" dirty="0">
                              <a:latin typeface="+mn-lt"/>
                            </a:rPr>
                            <a:t>Fraction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GB" sz="1200" b="0" i="0" kern="1200" noProof="0" dirty="0">
                              <a:solidFill>
                                <a:schemeClr val="tx1"/>
                              </a:solidFill>
                              <a:effectLst/>
                              <a:latin typeface="+mn-lt"/>
                              <a:ea typeface="+mn-ea"/>
                              <a:cs typeface="+mn-cs"/>
                            </a:rPr>
                            <a:t>Fractions represent equal parts of a whole or a collection.</a:t>
                          </a:r>
                          <a:endParaRPr lang="en-GB" sz="1200" b="0"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320498"/>
                      </a:ext>
                    </a:extLst>
                  </a:tr>
                  <a:tr h="317517">
                    <a:tc>
                      <a:txBody>
                        <a:bodyPr/>
                        <a:lstStyle/>
                        <a:p>
                          <a:pPr algn="l"/>
                          <a:r>
                            <a:rPr lang="en-GB" sz="1200" b="1" noProof="0" dirty="0">
                              <a:effectLst/>
                              <a:latin typeface="+mn-lt"/>
                            </a:rPr>
                            <a:t>Numerator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noProof="0" dirty="0">
                              <a:effectLst/>
                              <a:latin typeface="+mn-lt"/>
                            </a:rPr>
                            <a:t>The top number</a:t>
                          </a:r>
                          <a:r>
                            <a:rPr lang="en-GB" sz="1200" b="0" baseline="0" noProof="0" dirty="0">
                              <a:effectLst/>
                              <a:latin typeface="+mn-lt"/>
                            </a:rPr>
                            <a:t> in a fraction, represents the parts. </a:t>
                          </a:r>
                          <a:endParaRPr lang="en-GB" sz="1200" b="0" noProof="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2487135"/>
                      </a:ext>
                    </a:extLst>
                  </a:tr>
                  <a:tr h="314203">
                    <a:tc>
                      <a:txBody>
                        <a:bodyPr/>
                        <a:lstStyle/>
                        <a:p>
                          <a:pPr algn="l"/>
                          <a:r>
                            <a:rPr lang="en-GB" sz="1200" b="1" noProof="0" dirty="0">
                              <a:effectLst/>
                              <a:latin typeface="+mn-lt"/>
                            </a:rPr>
                            <a:t>Denominator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noProof="0" dirty="0">
                              <a:effectLst/>
                              <a:latin typeface="+mn-lt"/>
                            </a:rPr>
                            <a:t>The bottom number in</a:t>
                          </a:r>
                          <a:r>
                            <a:rPr lang="en-GB" sz="1200" b="0" baseline="0" noProof="0" dirty="0">
                              <a:effectLst/>
                              <a:latin typeface="+mn-lt"/>
                            </a:rPr>
                            <a:t> a fraction, represents the whole. </a:t>
                          </a:r>
                          <a:endParaRPr lang="en-GB" sz="1200" b="0" noProof="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3676052"/>
                      </a:ext>
                    </a:extLst>
                  </a:tr>
                  <a:tr h="414872">
                    <a:tc>
                      <a:txBody>
                        <a:bodyPr/>
                        <a:lstStyle/>
                        <a:p>
                          <a:pPr algn="l"/>
                          <a:r>
                            <a:rPr lang="en-GB" sz="1200" b="1" noProof="0" dirty="0">
                              <a:effectLst/>
                              <a:latin typeface="+mn-lt"/>
                            </a:rPr>
                            <a:t>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dirty="0">
                              <a:solidFill>
                                <a:schemeClr val="tx1"/>
                              </a:solidFill>
                              <a:effectLst/>
                              <a:latin typeface="+mn-lt"/>
                              <a:ea typeface="+mn-ea"/>
                              <a:cs typeface="+mn-cs"/>
                            </a:rPr>
                            <a:t>A special relationship where each input has a single output,</a:t>
                          </a:r>
                          <a:r>
                            <a:rPr lang="en-GB" sz="1200" b="0" i="0" kern="1200" baseline="0" noProof="0" dirty="0">
                              <a:solidFill>
                                <a:schemeClr val="tx1"/>
                              </a:solidFill>
                              <a:effectLst/>
                              <a:latin typeface="+mn-lt"/>
                              <a:ea typeface="+mn-ea"/>
                              <a:cs typeface="+mn-cs"/>
                            </a:rPr>
                            <a:t> usually written as </a:t>
                          </a:r>
                          <a14:m>
                            <m:oMath xmlns:m="http://schemas.openxmlformats.org/officeDocument/2006/math">
                              <m:r>
                                <a:rPr lang="en-GB" sz="1200" b="0" i="1" kern="1200" baseline="0" noProof="0" smtClean="0">
                                  <a:solidFill>
                                    <a:schemeClr val="tx1"/>
                                  </a:solidFill>
                                  <a:effectLst/>
                                  <a:latin typeface="Cambria Math" panose="02040503050406030204" pitchFamily="18" charset="0"/>
                                  <a:ea typeface="+mn-ea"/>
                                  <a:cs typeface="+mn-cs"/>
                                </a:rPr>
                                <m:t>𝑓</m:t>
                              </m:r>
                              <m:r>
                                <a:rPr lang="en-GB" sz="1200" b="0" i="1" kern="1200" baseline="0" noProof="0" smtClean="0">
                                  <a:solidFill>
                                    <a:schemeClr val="tx1"/>
                                  </a:solidFill>
                                  <a:effectLst/>
                                  <a:latin typeface="Cambria Math" panose="02040503050406030204" pitchFamily="18" charset="0"/>
                                  <a:ea typeface="+mn-ea"/>
                                  <a:cs typeface="+mn-cs"/>
                                </a:rPr>
                                <m:t>(</m:t>
                              </m:r>
                              <m:r>
                                <a:rPr lang="en-GB" sz="1200" b="0" i="1" kern="1200" baseline="0" noProof="0" smtClean="0">
                                  <a:solidFill>
                                    <a:schemeClr val="tx1"/>
                                  </a:solidFill>
                                  <a:effectLst/>
                                  <a:latin typeface="Cambria Math" panose="02040503050406030204" pitchFamily="18" charset="0"/>
                                  <a:ea typeface="+mn-ea"/>
                                  <a:cs typeface="+mn-cs"/>
                                </a:rPr>
                                <m:t>𝑥</m:t>
                              </m:r>
                              <m:r>
                                <a:rPr lang="en-GB" sz="1200" b="0" i="1" kern="1200" baseline="0" noProof="0" smtClean="0">
                                  <a:solidFill>
                                    <a:schemeClr val="tx1"/>
                                  </a:solidFill>
                                  <a:effectLst/>
                                  <a:latin typeface="Cambria Math" panose="02040503050406030204" pitchFamily="18" charset="0"/>
                                  <a:ea typeface="+mn-ea"/>
                                  <a:cs typeface="+mn-cs"/>
                                </a:rPr>
                                <m:t>)</m:t>
                              </m:r>
                            </m:oMath>
                          </a14:m>
                          <a:r>
                            <a:rPr lang="en-GB" sz="1200" b="0" i="0" kern="1200" baseline="0" noProof="0" dirty="0">
                              <a:solidFill>
                                <a:schemeClr val="tx1"/>
                              </a:solidFill>
                              <a:effectLst/>
                              <a:latin typeface="+mn-lt"/>
                              <a:ea typeface="+mn-ea"/>
                              <a:cs typeface="+mn-cs"/>
                            </a:rPr>
                            <a:t>. </a:t>
                          </a:r>
                          <a:endParaRPr lang="en-GB" sz="1200" b="0" noProof="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0977367"/>
                      </a:ext>
                    </a:extLst>
                  </a:tr>
                  <a:tr h="754313">
                    <a:tc>
                      <a:txBody>
                        <a:bodyPr/>
                        <a:lstStyle/>
                        <a:p>
                          <a:pPr algn="l"/>
                          <a:r>
                            <a:rPr lang="en-GB" sz="1200" b="1" noProof="0" dirty="0">
                              <a:effectLst/>
                              <a:latin typeface="+mn-lt"/>
                            </a:rPr>
                            <a:t>Inverse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dirty="0">
                              <a:solidFill>
                                <a:schemeClr val="tx1"/>
                              </a:solidFill>
                              <a:effectLst/>
                              <a:latin typeface="+mn-lt"/>
                              <a:ea typeface="+mn-ea"/>
                              <a:cs typeface="+mn-cs"/>
                            </a:rPr>
                            <a:t>An inverse function is a function that undoes the action of the original function.</a:t>
                          </a:r>
                          <a:endParaRPr lang="en-GB" sz="1200" b="0" u="none" noProof="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4850777"/>
                      </a:ext>
                    </a:extLst>
                  </a:tr>
                  <a:tr h="483389">
                    <a:tc>
                      <a:txBody>
                        <a:bodyPr/>
                        <a:lstStyle/>
                        <a:p>
                          <a:pPr algn="l"/>
                          <a:r>
                            <a:rPr lang="en-GB" sz="1200" b="1" noProof="0" dirty="0">
                              <a:effectLst/>
                              <a:latin typeface="+mn-lt"/>
                            </a:rPr>
                            <a:t>Composite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dirty="0">
                              <a:solidFill>
                                <a:schemeClr val="tx1"/>
                              </a:solidFill>
                              <a:effectLst/>
                              <a:latin typeface="+mn-lt"/>
                              <a:ea typeface="+mn-ea"/>
                              <a:cs typeface="+mn-cs"/>
                            </a:rPr>
                            <a:t>Composite functions are where more than one function is applied to an input, in a specific order.</a:t>
                          </a:r>
                          <a:endParaRPr lang="en-GB" sz="1200" b="0" noProof="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7968051"/>
                      </a:ext>
                    </a:extLst>
                  </a:tr>
                  <a:tr h="314203">
                    <a:tc>
                      <a:txBody>
                        <a:bodyPr/>
                        <a:lstStyle/>
                        <a:p>
                          <a:pPr algn="l"/>
                          <a:r>
                            <a:rPr lang="en-GB" sz="1200" b="1" noProof="0" dirty="0">
                              <a:effectLst/>
                              <a:latin typeface="+mn-lt"/>
                            </a:rPr>
                            <a:t>Formula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dirty="0">
                              <a:solidFill>
                                <a:schemeClr val="tx1"/>
                              </a:solidFill>
                              <a:effectLst/>
                              <a:latin typeface="+mn-lt"/>
                              <a:ea typeface="+mn-ea"/>
                              <a:cs typeface="+mn-cs"/>
                            </a:rPr>
                            <a:t>A formula is special equation that links two or more variables.</a:t>
                          </a:r>
                          <a:endParaRPr lang="en-GB" sz="1200" b="0" noProof="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8179897"/>
                      </a:ext>
                    </a:extLst>
                  </a:tr>
                  <a:tr h="314203">
                    <a:tc>
                      <a:txBody>
                        <a:bodyPr/>
                        <a:lstStyle/>
                        <a:p>
                          <a:pPr algn="l"/>
                          <a:r>
                            <a:rPr lang="en-GB" sz="1200" b="1" noProof="0" dirty="0">
                              <a:effectLst/>
                              <a:latin typeface="+mn-lt"/>
                            </a:rPr>
                            <a:t>Iteration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dirty="0">
                              <a:solidFill>
                                <a:schemeClr val="tx1"/>
                              </a:solidFill>
                              <a:effectLst/>
                              <a:latin typeface="+mn-lt"/>
                              <a:ea typeface="+mn-ea"/>
                              <a:cs typeface="+mn-cs"/>
                            </a:rPr>
                            <a:t>Iteration means repeatedly carrying out a process. In this unit, start with an initial value and substitute this into the iteration formula to obtain a new value, then use the new value for the next substitution, and so on.</a:t>
                          </a:r>
                          <a:endParaRPr lang="en-GB" sz="1200" b="0" noProof="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0804088"/>
                      </a:ext>
                    </a:extLst>
                  </a:tr>
                </a:tbl>
              </a:graphicData>
            </a:graphic>
          </p:graphicFrame>
        </mc:Choice>
        <mc:Fallback xmlns="">
          <p:graphicFrame>
            <p:nvGraphicFramePr>
              <p:cNvPr id="10" name="Table 9">
                <a:extLst>
                  <a:ext uri="{FF2B5EF4-FFF2-40B4-BE49-F238E27FC236}">
                    <a16:creationId xmlns:a16="http://schemas.microsoft.com/office/drawing/2014/main" id="{79F4FE82-4863-834C-ABBC-12E9AD9BCA20}"/>
                  </a:ext>
                </a:extLst>
              </p:cNvPr>
              <p:cNvGraphicFramePr>
                <a:graphicFrameLocks noGrp="1"/>
              </p:cNvGraphicFramePr>
              <p:nvPr>
                <p:extLst>
                  <p:ext uri="{D42A27DB-BD31-4B8C-83A1-F6EECF244321}">
                    <p14:modId xmlns:p14="http://schemas.microsoft.com/office/powerpoint/2010/main" val="2728663029"/>
                  </p:ext>
                </p:extLst>
              </p:nvPr>
            </p:nvGraphicFramePr>
            <p:xfrm>
              <a:off x="445936" y="5468177"/>
              <a:ext cx="6026121" cy="4043853"/>
            </p:xfrm>
            <a:graphic>
              <a:graphicData uri="http://schemas.openxmlformats.org/drawingml/2006/table">
                <a:tbl>
                  <a:tblPr firstRow="1" bandRow="1">
                    <a:tableStyleId>{7E9639D4-E3E2-4D34-9284-5A2195B3D0D7}</a:tableStyleId>
                  </a:tblPr>
                  <a:tblGrid>
                    <a:gridCol w="1650231">
                      <a:extLst>
                        <a:ext uri="{9D8B030D-6E8A-4147-A177-3AD203B41FA5}">
                          <a16:colId xmlns:a16="http://schemas.microsoft.com/office/drawing/2014/main" val="3563799444"/>
                        </a:ext>
                      </a:extLst>
                    </a:gridCol>
                    <a:gridCol w="4375890">
                      <a:extLst>
                        <a:ext uri="{9D8B030D-6E8A-4147-A177-3AD203B41FA5}">
                          <a16:colId xmlns:a16="http://schemas.microsoft.com/office/drawing/2014/main" val="2581643566"/>
                        </a:ext>
                      </a:extLst>
                    </a:gridCol>
                  </a:tblGrid>
                  <a:tr h="290034">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noProof="0">
                              <a:solidFill>
                                <a:schemeClr val="bg1"/>
                              </a:solidFill>
                            </a:rPr>
                            <a:t>KEY VOCABULARY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FABAB"/>
                        </a:solidFill>
                      </a:tcPr>
                    </a:tc>
                    <a:tc hMerge="1">
                      <a:txBody>
                        <a:bodyPr/>
                        <a:lstStyle/>
                        <a:p>
                          <a:endParaRPr lang="en-GB"/>
                        </a:p>
                      </a:txBody>
                      <a:tcPr>
                        <a:solidFill>
                          <a:srgbClr val="7E2341"/>
                        </a:solidFill>
                      </a:tcPr>
                    </a:tc>
                    <a:extLst>
                      <a:ext uri="{0D108BD9-81ED-4DB2-BD59-A6C34878D82A}">
                        <a16:rowId xmlns:a16="http://schemas.microsoft.com/office/drawing/2014/main" val="163826269"/>
                      </a:ext>
                    </a:extLst>
                  </a:tr>
                  <a:tr h="290034">
                    <a:tc>
                      <a:txBody>
                        <a:bodyPr/>
                        <a:lstStyle/>
                        <a:p>
                          <a:pPr algn="l"/>
                          <a:r>
                            <a:rPr lang="en-GB" sz="1200" b="1" noProof="0">
                              <a:latin typeface="+mn-lt"/>
                            </a:rPr>
                            <a:t>Fraction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GB" sz="1200" b="0" i="0" kern="1200" noProof="0">
                              <a:solidFill>
                                <a:schemeClr val="tx1"/>
                              </a:solidFill>
                              <a:effectLst/>
                              <a:latin typeface="+mn-lt"/>
                              <a:ea typeface="+mn-ea"/>
                              <a:cs typeface="+mn-cs"/>
                            </a:rPr>
                            <a:t>Fractions represent equal parts of a whole or a collection.</a:t>
                          </a:r>
                          <a:endParaRPr lang="en-GB" sz="1200" b="0" noProof="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320498"/>
                      </a:ext>
                    </a:extLst>
                  </a:tr>
                  <a:tr h="317517">
                    <a:tc>
                      <a:txBody>
                        <a:bodyPr/>
                        <a:lstStyle/>
                        <a:p>
                          <a:pPr algn="l"/>
                          <a:r>
                            <a:rPr lang="en-GB" sz="1200" b="1" noProof="0">
                              <a:effectLst/>
                              <a:latin typeface="+mn-lt"/>
                            </a:rPr>
                            <a:t>Numerator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noProof="0">
                              <a:effectLst/>
                              <a:latin typeface="+mn-lt"/>
                            </a:rPr>
                            <a:t>The top number</a:t>
                          </a:r>
                          <a:r>
                            <a:rPr lang="en-GB" sz="1200" b="0" baseline="0" noProof="0">
                              <a:effectLst/>
                              <a:latin typeface="+mn-lt"/>
                            </a:rPr>
                            <a:t> in a fraction, represents the parts. </a:t>
                          </a:r>
                          <a:endParaRPr lang="en-GB" sz="1200" b="0" noProof="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2487135"/>
                      </a:ext>
                    </a:extLst>
                  </a:tr>
                  <a:tr h="314203">
                    <a:tc>
                      <a:txBody>
                        <a:bodyPr/>
                        <a:lstStyle/>
                        <a:p>
                          <a:pPr algn="l"/>
                          <a:r>
                            <a:rPr lang="en-GB" sz="1200" b="1" noProof="0">
                              <a:effectLst/>
                              <a:latin typeface="+mn-lt"/>
                            </a:rPr>
                            <a:t>Denominator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noProof="0">
                              <a:effectLst/>
                              <a:latin typeface="+mn-lt"/>
                            </a:rPr>
                            <a:t>The bottom number in</a:t>
                          </a:r>
                          <a:r>
                            <a:rPr lang="en-GB" sz="1200" b="0" baseline="0" noProof="0">
                              <a:effectLst/>
                              <a:latin typeface="+mn-lt"/>
                            </a:rPr>
                            <a:t> a fraction, represents the whole. </a:t>
                          </a:r>
                          <a:endParaRPr lang="en-GB" sz="1200" b="0" noProof="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3676052"/>
                      </a:ext>
                    </a:extLst>
                  </a:tr>
                  <a:tr h="457200">
                    <a:tc>
                      <a:txBody>
                        <a:bodyPr/>
                        <a:lstStyle/>
                        <a:p>
                          <a:pPr algn="l"/>
                          <a:r>
                            <a:rPr lang="en-GB" sz="1200" b="1" noProof="0">
                              <a:effectLst/>
                              <a:latin typeface="+mn-lt"/>
                            </a:rPr>
                            <a:t>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7883" t="-268000" r="-279" b="-529333"/>
                          </a:stretch>
                        </a:blipFill>
                      </a:tcPr>
                    </a:tc>
                    <a:extLst>
                      <a:ext uri="{0D108BD9-81ED-4DB2-BD59-A6C34878D82A}">
                        <a16:rowId xmlns:a16="http://schemas.microsoft.com/office/drawing/2014/main" val="1390977367"/>
                      </a:ext>
                    </a:extLst>
                  </a:tr>
                  <a:tr h="754313">
                    <a:tc>
                      <a:txBody>
                        <a:bodyPr/>
                        <a:lstStyle/>
                        <a:p>
                          <a:pPr algn="l"/>
                          <a:r>
                            <a:rPr lang="en-GB" sz="1200" b="1" noProof="0">
                              <a:effectLst/>
                              <a:latin typeface="+mn-lt"/>
                            </a:rPr>
                            <a:t>Inverse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a:solidFill>
                                <a:schemeClr val="tx1"/>
                              </a:solidFill>
                              <a:effectLst/>
                              <a:latin typeface="+mn-lt"/>
                              <a:ea typeface="+mn-ea"/>
                              <a:cs typeface="+mn-cs"/>
                            </a:rPr>
                            <a:t>An inverse function is a function that undoes the action of the original function.</a:t>
                          </a:r>
                          <a:endParaRPr lang="en-GB" sz="1200" b="0" u="none" noProof="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4850777"/>
                      </a:ext>
                    </a:extLst>
                  </a:tr>
                  <a:tr h="483389">
                    <a:tc>
                      <a:txBody>
                        <a:bodyPr/>
                        <a:lstStyle/>
                        <a:p>
                          <a:pPr algn="l"/>
                          <a:r>
                            <a:rPr lang="en-GB" sz="1200" b="1" noProof="0">
                              <a:effectLst/>
                              <a:latin typeface="+mn-lt"/>
                            </a:rPr>
                            <a:t>Composite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a:solidFill>
                                <a:schemeClr val="tx1"/>
                              </a:solidFill>
                              <a:effectLst/>
                              <a:latin typeface="+mn-lt"/>
                              <a:ea typeface="+mn-ea"/>
                              <a:cs typeface="+mn-cs"/>
                            </a:rPr>
                            <a:t>Composite functions are where more than one function is applied to an input, in a specific order.</a:t>
                          </a:r>
                          <a:endParaRPr lang="en-GB" sz="1200" b="0" noProof="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7968051"/>
                      </a:ext>
                    </a:extLst>
                  </a:tr>
                  <a:tr h="314203">
                    <a:tc>
                      <a:txBody>
                        <a:bodyPr/>
                        <a:lstStyle/>
                        <a:p>
                          <a:pPr algn="l"/>
                          <a:r>
                            <a:rPr lang="en-GB" sz="1200" b="1" noProof="0">
                              <a:effectLst/>
                              <a:latin typeface="+mn-lt"/>
                            </a:rPr>
                            <a:t>Formula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a:solidFill>
                                <a:schemeClr val="tx1"/>
                              </a:solidFill>
                              <a:effectLst/>
                              <a:latin typeface="+mn-lt"/>
                              <a:ea typeface="+mn-ea"/>
                              <a:cs typeface="+mn-cs"/>
                            </a:rPr>
                            <a:t>A formula is special equation that links two or more variables.</a:t>
                          </a:r>
                          <a:endParaRPr lang="en-GB" sz="1200" b="0" noProof="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8179897"/>
                      </a:ext>
                    </a:extLst>
                  </a:tr>
                  <a:tr h="822960">
                    <a:tc>
                      <a:txBody>
                        <a:bodyPr/>
                        <a:lstStyle/>
                        <a:p>
                          <a:pPr algn="l"/>
                          <a:r>
                            <a:rPr lang="en-GB" sz="1200" b="1" noProof="0">
                              <a:effectLst/>
                              <a:latin typeface="+mn-lt"/>
                            </a:rPr>
                            <a:t>Iteration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a:solidFill>
                                <a:schemeClr val="tx1"/>
                              </a:solidFill>
                              <a:effectLst/>
                              <a:latin typeface="+mn-lt"/>
                              <a:ea typeface="+mn-ea"/>
                              <a:cs typeface="+mn-cs"/>
                            </a:rPr>
                            <a:t>Iteration means repeatedly carrying out a process. In this unit, start with an initial value and substitute this into the iteration formula to obtain a new value, then use the new value for the next substitution, and so on.</a:t>
                          </a:r>
                          <a:endParaRPr lang="en-GB" sz="1200" b="0" noProof="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0804088"/>
                      </a:ext>
                    </a:extLst>
                  </a:tr>
                </a:tbl>
              </a:graphicData>
            </a:graphic>
          </p:graphicFrame>
        </mc:Fallback>
      </mc:AlternateContent>
      <p:pic>
        <p:nvPicPr>
          <p:cNvPr id="5" name="Picture 4"/>
          <p:cNvPicPr>
            <a:picLocks noChangeAspect="1"/>
          </p:cNvPicPr>
          <p:nvPr/>
        </p:nvPicPr>
        <p:blipFill>
          <a:blip r:embed="rId4"/>
          <a:stretch>
            <a:fillRect/>
          </a:stretch>
        </p:blipFill>
        <p:spPr>
          <a:xfrm>
            <a:off x="524173" y="4459020"/>
            <a:ext cx="1384365" cy="769092"/>
          </a:xfrm>
          <a:prstGeom prst="rect">
            <a:avLst/>
          </a:prstGeom>
        </p:spPr>
      </p:pic>
      <p:pic>
        <p:nvPicPr>
          <p:cNvPr id="6" name="Picture 2" descr="GCSE 9-1 Inverse Functions | Teaching Resources"/>
          <p:cNvPicPr>
            <a:picLocks noChangeAspect="1" noChangeArrowheads="1"/>
          </p:cNvPicPr>
          <p:nvPr/>
        </p:nvPicPr>
        <p:blipFill rotWithShape="1">
          <a:blip r:embed="rId5">
            <a:extLst>
              <a:ext uri="{28A0092B-C50C-407E-A947-70E740481C1C}">
                <a14:useLocalDpi xmlns:a14="http://schemas.microsoft.com/office/drawing/2010/main" val="0"/>
              </a:ext>
            </a:extLst>
          </a:blip>
          <a:srcRect l="37390" t="3557" r="21254" b="62026"/>
          <a:stretch/>
        </p:blipFill>
        <p:spPr bwMode="auto">
          <a:xfrm>
            <a:off x="4335645" y="4438809"/>
            <a:ext cx="2136412" cy="9617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2325339" y="4837737"/>
            <a:ext cx="1874317" cy="559100"/>
          </a:xfrm>
          <a:prstGeom prst="rect">
            <a:avLst/>
          </a:prstGeom>
        </p:spPr>
      </p:pic>
      <p:pic>
        <p:nvPicPr>
          <p:cNvPr id="13" name="Picture 4" descr="Astrea Academy Trust"/>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8030" t="10183" r="18353" b="17160"/>
          <a:stretch/>
        </p:blipFill>
        <p:spPr bwMode="auto">
          <a:xfrm>
            <a:off x="411234" y="393186"/>
            <a:ext cx="1979272" cy="1186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0724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24263-3AAA-9B51-FD43-2284072AD704}"/>
            </a:ext>
          </a:extLst>
        </p:cNvPr>
        <p:cNvGrpSpPr/>
        <p:nvPr/>
      </p:nvGrpSpPr>
      <p:grpSpPr>
        <a:xfrm>
          <a:off x="0" y="0"/>
          <a:ext cx="0" cy="0"/>
          <a:chOff x="0" y="0"/>
          <a:chExt cx="0" cy="0"/>
        </a:xfrm>
      </p:grpSpPr>
      <p:sp>
        <p:nvSpPr>
          <p:cNvPr id="4" name="Frame 3">
            <a:extLst>
              <a:ext uri="{FF2B5EF4-FFF2-40B4-BE49-F238E27FC236}">
                <a16:creationId xmlns:a16="http://schemas.microsoft.com/office/drawing/2014/main" id="{9F4EB9C8-94AD-CB87-95ED-8DAB4ACC244A}"/>
              </a:ext>
            </a:extLst>
          </p:cNvPr>
          <p:cNvSpPr/>
          <p:nvPr/>
        </p:nvSpPr>
        <p:spPr>
          <a:xfrm>
            <a:off x="0" y="0"/>
            <a:ext cx="6858000" cy="9906000"/>
          </a:xfrm>
          <a:custGeom>
            <a:avLst/>
            <a:gdLst>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811060 w 6488483"/>
              <a:gd name="connsiteY5" fmla="*/ 811060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811060 w 6488483"/>
              <a:gd name="connsiteY9" fmla="*/ 811060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6228568 w 6488483"/>
              <a:gd name="connsiteY8" fmla="*/ 272441 h 9394520"/>
              <a:gd name="connsiteX9" fmla="*/ 284967 w 6488483"/>
              <a:gd name="connsiteY9" fmla="*/ 272441 h 939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88483" h="9394520">
                <a:moveTo>
                  <a:pt x="0" y="0"/>
                </a:moveTo>
                <a:lnTo>
                  <a:pt x="6488483" y="0"/>
                </a:lnTo>
                <a:lnTo>
                  <a:pt x="6488483" y="9394520"/>
                </a:lnTo>
                <a:lnTo>
                  <a:pt x="0" y="9394520"/>
                </a:lnTo>
                <a:lnTo>
                  <a:pt x="0" y="0"/>
                </a:lnTo>
                <a:close/>
                <a:moveTo>
                  <a:pt x="284967" y="272441"/>
                </a:moveTo>
                <a:cubicBezTo>
                  <a:pt x="280792" y="3226496"/>
                  <a:pt x="276616" y="6180550"/>
                  <a:pt x="272441" y="9134605"/>
                </a:cubicBezTo>
                <a:lnTo>
                  <a:pt x="6216042" y="9134606"/>
                </a:lnTo>
                <a:cubicBezTo>
                  <a:pt x="6220217" y="6180551"/>
                  <a:pt x="6224393" y="3226496"/>
                  <a:pt x="6228568" y="272441"/>
                </a:cubicBezTo>
                <a:lnTo>
                  <a:pt x="284967" y="272441"/>
                </a:lnTo>
                <a:close/>
              </a:path>
            </a:pathLst>
          </a:custGeom>
          <a:solidFill>
            <a:schemeClr val="bg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AutoShape 6" descr="Image result for expression fun maths">
            <a:extLst>
              <a:ext uri="{FF2B5EF4-FFF2-40B4-BE49-F238E27FC236}">
                <a16:creationId xmlns:a16="http://schemas.microsoft.com/office/drawing/2014/main" id="{1F66249B-5918-B58B-6741-CFCFAC076D39}"/>
              </a:ext>
            </a:extLst>
          </p:cNvPr>
          <p:cNvSpPr>
            <a:spLocks noChangeAspect="1" noChangeArrowheads="1"/>
          </p:cNvSpPr>
          <p:nvPr/>
        </p:nvSpPr>
        <p:spPr bwMode="auto">
          <a:xfrm>
            <a:off x="155575" y="-623888"/>
            <a:ext cx="1924050" cy="13144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7548EBE0-5A64-B498-3664-8298FCB34EE2}"/>
                  </a:ext>
                </a:extLst>
              </p:cNvPr>
              <p:cNvGraphicFramePr>
                <a:graphicFrameLocks noGrp="1"/>
              </p:cNvGraphicFramePr>
              <p:nvPr>
                <p:extLst>
                  <p:ext uri="{D42A27DB-BD31-4B8C-83A1-F6EECF244321}">
                    <p14:modId xmlns:p14="http://schemas.microsoft.com/office/powerpoint/2010/main" val="716392135"/>
                  </p:ext>
                </p:extLst>
              </p:nvPr>
            </p:nvGraphicFramePr>
            <p:xfrm>
              <a:off x="350715" y="346554"/>
              <a:ext cx="6156570" cy="5059680"/>
            </p:xfrm>
            <a:graphic>
              <a:graphicData uri="http://schemas.openxmlformats.org/drawingml/2006/table">
                <a:tbl>
                  <a:tblPr firstRow="1" bandRow="1">
                    <a:tableStyleId>{7E9639D4-E3E2-4D34-9284-5A2195B3D0D7}</a:tableStyleId>
                  </a:tblPr>
                  <a:tblGrid>
                    <a:gridCol w="1595651">
                      <a:extLst>
                        <a:ext uri="{9D8B030D-6E8A-4147-A177-3AD203B41FA5}">
                          <a16:colId xmlns:a16="http://schemas.microsoft.com/office/drawing/2014/main" val="3563799444"/>
                        </a:ext>
                      </a:extLst>
                    </a:gridCol>
                    <a:gridCol w="4560919">
                      <a:extLst>
                        <a:ext uri="{9D8B030D-6E8A-4147-A177-3AD203B41FA5}">
                          <a16:colId xmlns:a16="http://schemas.microsoft.com/office/drawing/2014/main" val="2581643566"/>
                        </a:ext>
                      </a:extLst>
                    </a:gridCol>
                  </a:tblGrid>
                  <a:tr h="288034">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600" b="1" noProof="0" dirty="0">
                              <a:solidFill>
                                <a:schemeClr val="bg1"/>
                              </a:solidFill>
                              <a:latin typeface="+mn-lt"/>
                              <a:cs typeface="Calibri Light" panose="020F0302020204030204" pitchFamily="34" charset="0"/>
                            </a:rPr>
                            <a:t>KEY VOCABULARY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hMerge="1">
                      <a:txBody>
                        <a:bodyPr/>
                        <a:lstStyle/>
                        <a:p>
                          <a:endParaRPr lang="en-GB" dirty="0"/>
                        </a:p>
                      </a:txBody>
                      <a:tcPr>
                        <a:solidFill>
                          <a:srgbClr val="7E2341"/>
                        </a:solidFill>
                      </a:tcPr>
                    </a:tc>
                    <a:extLst>
                      <a:ext uri="{0D108BD9-81ED-4DB2-BD59-A6C34878D82A}">
                        <a16:rowId xmlns:a16="http://schemas.microsoft.com/office/drawing/2014/main" val="163826269"/>
                      </a:ext>
                    </a:extLst>
                  </a:tr>
                  <a:tr h="366589">
                    <a:tc>
                      <a:txBody>
                        <a:bodyPr/>
                        <a:lstStyle/>
                        <a:p>
                          <a:pPr algn="l"/>
                          <a:r>
                            <a:rPr lang="en-GB" sz="1000" b="1" noProof="0" dirty="0"/>
                            <a:t>Solve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GB" sz="1100" i="0" noProof="0" dirty="0"/>
                            <a:t>To solve means to find</a:t>
                          </a:r>
                          <a:r>
                            <a:rPr lang="en-GB" sz="1100" i="0" baseline="0" noProof="0" dirty="0"/>
                            <a:t> a solution. Simultaneous equations have </a:t>
                          </a:r>
                          <a:r>
                            <a:rPr lang="en-GB" sz="1100" b="1" i="0" baseline="0" noProof="0" dirty="0"/>
                            <a:t>two</a:t>
                          </a:r>
                          <a:r>
                            <a:rPr lang="en-GB" sz="1100" i="0" baseline="0" noProof="0" dirty="0"/>
                            <a:t> solutions. </a:t>
                          </a:r>
                          <a:endParaRPr lang="en-GB" sz="1100" i="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7817825"/>
                      </a:ext>
                    </a:extLst>
                  </a:tr>
                  <a:tr h="36658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dirty="0"/>
                            <a:t>Quadratic simultaneous equations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GB" sz="1000" noProof="0" dirty="0"/>
                            <a:t>Quadratic simultaneous</a:t>
                          </a:r>
                          <a:r>
                            <a:rPr lang="en-GB" sz="1000" baseline="0" noProof="0" dirty="0"/>
                            <a:t> equations are two or more equations that share variables which include </a:t>
                          </a:r>
                          <a14:m>
                            <m:oMath xmlns:m="http://schemas.openxmlformats.org/officeDocument/2006/math">
                              <m:sSup>
                                <m:sSupPr>
                                  <m:ctrlPr>
                                    <a:rPr lang="en-GB" sz="1000" i="1" baseline="0" noProof="0" smtClean="0">
                                      <a:latin typeface="Cambria Math" panose="02040503050406030204" pitchFamily="18" charset="0"/>
                                    </a:rPr>
                                  </m:ctrlPr>
                                </m:sSupPr>
                                <m:e>
                                  <m:r>
                                    <a:rPr lang="en-GB" sz="1000" b="0" i="1" baseline="0" noProof="0" smtClean="0">
                                      <a:latin typeface="Cambria Math" panose="02040503050406030204" pitchFamily="18" charset="0"/>
                                    </a:rPr>
                                    <m:t>𝑥</m:t>
                                  </m:r>
                                </m:e>
                                <m:sup>
                                  <m:r>
                                    <a:rPr lang="en-GB" sz="1000" b="0" i="1" baseline="0" noProof="0" smtClean="0">
                                      <a:latin typeface="Cambria Math" panose="02040503050406030204" pitchFamily="18" charset="0"/>
                                    </a:rPr>
                                    <m:t>2</m:t>
                                  </m:r>
                                </m:sup>
                              </m:sSup>
                            </m:oMath>
                          </a14:m>
                          <a:r>
                            <a:rPr lang="en-GB" sz="1000" noProof="0" dirty="0"/>
                            <a:t> and </a:t>
                          </a:r>
                          <a14:m>
                            <m:oMath xmlns:m="http://schemas.openxmlformats.org/officeDocument/2006/math">
                              <m:sSup>
                                <m:sSupPr>
                                  <m:ctrlPr>
                                    <a:rPr lang="en-GB" sz="1000" i="1" noProof="0" smtClean="0">
                                      <a:latin typeface="Cambria Math" panose="02040503050406030204" pitchFamily="18" charset="0"/>
                                    </a:rPr>
                                  </m:ctrlPr>
                                </m:sSupPr>
                                <m:e>
                                  <m:r>
                                    <a:rPr lang="en-GB" sz="1000" b="0" i="1" noProof="0" smtClean="0">
                                      <a:latin typeface="Cambria Math" panose="02040503050406030204" pitchFamily="18" charset="0"/>
                                    </a:rPr>
                                    <m:t>𝑦</m:t>
                                  </m:r>
                                </m:e>
                                <m:sup>
                                  <m:r>
                                    <a:rPr lang="en-GB" sz="1000" b="0" i="1" noProof="0" smtClean="0">
                                      <a:latin typeface="Cambria Math" panose="02040503050406030204" pitchFamily="18" charset="0"/>
                                    </a:rPr>
                                    <m:t>2</m:t>
                                  </m:r>
                                </m:sup>
                              </m:sSup>
                            </m:oMath>
                          </a14:m>
                          <a:endParaRPr lang="en-GB" sz="10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320498"/>
                      </a:ext>
                    </a:extLst>
                  </a:tr>
                  <a:tr h="36658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dirty="0">
                              <a:solidFill>
                                <a:schemeClr val="tx1"/>
                              </a:solidFill>
                              <a:effectLst/>
                              <a:latin typeface="+mn-lt"/>
                              <a:ea typeface="Calibri" panose="020F0502020204030204" pitchFamily="34" charset="0"/>
                              <a:cs typeface="Times New Roman" panose="02020603050405020304" pitchFamily="18" charset="0"/>
                            </a:rPr>
                            <a:t>Constant</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000" b="1"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effectLst/>
                              <a:latin typeface="Calibri" panose="020F0502020204030204" pitchFamily="34" charset="0"/>
                              <a:cs typeface="Times New Roman" panose="02020603050405020304" pitchFamily="18" charset="0"/>
                            </a:rPr>
                            <a:t>In algebra, a constant is a number on its own, or sometimes a letter such as a, b or c that stands for a fixed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9412819"/>
                      </a:ext>
                    </a:extLst>
                  </a:tr>
                  <a:tr h="36658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dirty="0">
                              <a:latin typeface="+mn-lt"/>
                            </a:rPr>
                            <a:t>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dirty="0">
                              <a:solidFill>
                                <a:schemeClr val="tx1"/>
                              </a:solidFill>
                            </a:rPr>
                            <a:t>Variable, in algebra, a symbol (usually a letter) standing in for an unknown numerical value in an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315645"/>
                      </a:ext>
                    </a:extLst>
                  </a:tr>
                  <a:tr h="65462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dirty="0">
                              <a:latin typeface="+mn-lt"/>
                            </a:rPr>
                            <a:t>Linear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sz="1100" b="0" baseline="0" noProof="0" dirty="0">
                              <a:solidFill>
                                <a:schemeClr val="tx1"/>
                              </a:solidFill>
                            </a:rPr>
                            <a:t>those whose graph is a straight line.</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sz="1100" b="0" baseline="0" noProof="0" dirty="0">
                              <a:solidFill>
                                <a:schemeClr val="tx1"/>
                              </a:solidFill>
                            </a:rPr>
                            <a:t>has the following form. y = mx + c.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sz="1100" b="0" baseline="0" noProof="0" dirty="0">
                              <a:solidFill>
                                <a:schemeClr val="tx1"/>
                              </a:solidFill>
                            </a:rPr>
                            <a:t>has one independent variable and one dependent variable. The independent variable is x and the dependent variable is 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4030373"/>
                      </a:ext>
                    </a:extLst>
                  </a:tr>
                  <a:tr h="65462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dirty="0">
                              <a:latin typeface="+mn-lt"/>
                            </a:rPr>
                            <a:t>Simultaneous Equations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dirty="0">
                              <a:solidFill>
                                <a:schemeClr val="tx1"/>
                              </a:solidFill>
                            </a:rPr>
                            <a:t>Two or more equations that share variables.</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dirty="0">
                              <a:solidFill>
                                <a:schemeClr val="tx1"/>
                              </a:solidFill>
                            </a:rPr>
                            <a:t>Example: two equations that share the variables x and y:</a:t>
                          </a:r>
                          <a:br>
                            <a:rPr lang="en-GB" sz="1100" b="0" baseline="0" noProof="0" dirty="0">
                              <a:solidFill>
                                <a:schemeClr val="tx1"/>
                              </a:solidFill>
                            </a:rPr>
                          </a:br>
                          <a:r>
                            <a:rPr lang="en-GB" sz="1100" b="0" baseline="0" noProof="0" dirty="0">
                              <a:solidFill>
                                <a:schemeClr val="tx1"/>
                              </a:solidFill>
                            </a:rPr>
                            <a:t>x + y = 6</a:t>
                          </a:r>
                          <a:br>
                            <a:rPr lang="en-GB" sz="1100" b="0" baseline="0" noProof="0" dirty="0">
                              <a:solidFill>
                                <a:schemeClr val="tx1"/>
                              </a:solidFill>
                            </a:rPr>
                          </a:br>
                          <a:r>
                            <a:rPr lang="en-GB" sz="1100" b="0" baseline="0" noProof="0" dirty="0">
                              <a:solidFill>
                                <a:schemeClr val="tx1"/>
                              </a:solidFill>
                            </a:rPr>
                            <a:t>−3x + y =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5153645"/>
                      </a:ext>
                    </a:extLst>
                  </a:tr>
                  <a:tr h="65462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dirty="0">
                              <a:latin typeface="+mn-lt"/>
                            </a:rPr>
                            <a:t>Elimination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dirty="0">
                              <a:solidFill>
                                <a:schemeClr val="tx1"/>
                              </a:solidFill>
                            </a:rPr>
                            <a:t>Eliminate" means to remove: this method works by removing variables until there is just one left.</a:t>
                          </a:r>
                        </a:p>
                        <a:p>
                          <a:r>
                            <a:rPr lang="en-GB" sz="1100" b="0" i="0" kern="1200" noProof="0" dirty="0">
                              <a:solidFill>
                                <a:schemeClr val="tx1"/>
                              </a:solidFill>
                              <a:effectLst/>
                              <a:latin typeface="+mn-lt"/>
                              <a:ea typeface="+mn-ea"/>
                              <a:cs typeface="+mn-cs"/>
                            </a:rPr>
                            <a:t>The idea is that we </a:t>
                          </a:r>
                          <a:r>
                            <a:rPr lang="en-GB" sz="1100" b="1" i="0" kern="1200" noProof="0" dirty="0">
                              <a:solidFill>
                                <a:schemeClr val="tx1"/>
                              </a:solidFill>
                              <a:effectLst/>
                              <a:latin typeface="+mn-lt"/>
                              <a:ea typeface="+mn-ea"/>
                              <a:cs typeface="+mn-cs"/>
                            </a:rPr>
                            <a:t>can safely</a:t>
                          </a:r>
                          <a:r>
                            <a:rPr lang="en-GB" sz="1100" b="0" i="0" kern="1200" noProof="0" dirty="0">
                              <a:solidFill>
                                <a:schemeClr val="tx1"/>
                              </a:solidFill>
                              <a:effectLst/>
                              <a:latin typeface="+mn-lt"/>
                              <a:ea typeface="+mn-ea"/>
                              <a:cs typeface="+mn-cs"/>
                            </a:rPr>
                            <a:t>: </a:t>
                          </a:r>
                          <a:r>
                            <a:rPr lang="en-GB" sz="1100" b="1" i="0" kern="1200" noProof="0" dirty="0">
                              <a:solidFill>
                                <a:schemeClr val="tx1"/>
                              </a:solidFill>
                              <a:effectLst/>
                              <a:latin typeface="+mn-lt"/>
                              <a:ea typeface="+mn-ea"/>
                              <a:cs typeface="+mn-cs"/>
                            </a:rPr>
                            <a:t>multiply</a:t>
                          </a:r>
                          <a:r>
                            <a:rPr lang="en-GB" sz="1100" b="0" i="0" kern="1200" noProof="0" dirty="0">
                              <a:solidFill>
                                <a:schemeClr val="tx1"/>
                              </a:solidFill>
                              <a:effectLst/>
                              <a:latin typeface="+mn-lt"/>
                              <a:ea typeface="+mn-ea"/>
                              <a:cs typeface="+mn-cs"/>
                            </a:rPr>
                            <a:t> an equation by a constant (except zero), </a:t>
                          </a:r>
                          <a:r>
                            <a:rPr lang="en-GB" sz="1100" b="1" i="0" kern="1200" noProof="0" dirty="0">
                              <a:solidFill>
                                <a:schemeClr val="tx1"/>
                              </a:solidFill>
                              <a:effectLst/>
                              <a:latin typeface="+mn-lt"/>
                              <a:ea typeface="+mn-ea"/>
                              <a:cs typeface="+mn-cs"/>
                            </a:rPr>
                            <a:t>add</a:t>
                          </a:r>
                          <a:r>
                            <a:rPr lang="en-GB" sz="1100" b="0" i="0" kern="1200" noProof="0" dirty="0">
                              <a:solidFill>
                                <a:schemeClr val="tx1"/>
                              </a:solidFill>
                              <a:effectLst/>
                              <a:latin typeface="+mn-lt"/>
                              <a:ea typeface="+mn-ea"/>
                              <a:cs typeface="+mn-cs"/>
                            </a:rPr>
                            <a:t> (or subtract) an equation on to another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9520429"/>
                      </a:ext>
                    </a:extLst>
                  </a:tr>
                  <a:tr h="65462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dirty="0">
                              <a:latin typeface="+mn-lt"/>
                            </a:rPr>
                            <a:t>Substitution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dirty="0">
                              <a:solidFill>
                                <a:schemeClr val="tx1"/>
                              </a:solidFill>
                            </a:rPr>
                            <a:t>These are the steps:</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dirty="0">
                              <a:solidFill>
                                <a:schemeClr val="tx1"/>
                              </a:solidFill>
                            </a:rPr>
                            <a:t>Write one of the equations so it is in the style "variable = ..."</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dirty="0">
                              <a:solidFill>
                                <a:schemeClr val="tx1"/>
                              </a:solidFill>
                            </a:rPr>
                            <a:t>Replace (i.e. substitute) that variable in the other equation(s). Solve the other equation(s)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4645289"/>
                      </a:ext>
                    </a:extLst>
                  </a:tr>
                </a:tbl>
              </a:graphicData>
            </a:graphic>
          </p:graphicFrame>
        </mc:Choice>
        <mc:Fallback xmlns="">
          <p:graphicFrame>
            <p:nvGraphicFramePr>
              <p:cNvPr id="2" name="Table 1">
                <a:extLst>
                  <a:ext uri="{FF2B5EF4-FFF2-40B4-BE49-F238E27FC236}">
                    <a16:creationId xmlns:a16="http://schemas.microsoft.com/office/drawing/2014/main" id="{7548EBE0-5A64-B498-3664-8298FCB34EE2}"/>
                  </a:ext>
                </a:extLst>
              </p:cNvPr>
              <p:cNvGraphicFramePr>
                <a:graphicFrameLocks noGrp="1"/>
              </p:cNvGraphicFramePr>
              <p:nvPr>
                <p:extLst>
                  <p:ext uri="{D42A27DB-BD31-4B8C-83A1-F6EECF244321}">
                    <p14:modId xmlns:p14="http://schemas.microsoft.com/office/powerpoint/2010/main" val="716392135"/>
                  </p:ext>
                </p:extLst>
              </p:nvPr>
            </p:nvGraphicFramePr>
            <p:xfrm>
              <a:off x="350715" y="346554"/>
              <a:ext cx="6156570" cy="5059680"/>
            </p:xfrm>
            <a:graphic>
              <a:graphicData uri="http://schemas.openxmlformats.org/drawingml/2006/table">
                <a:tbl>
                  <a:tblPr firstRow="1" bandRow="1">
                    <a:tableStyleId>{7E9639D4-E3E2-4D34-9284-5A2195B3D0D7}</a:tableStyleId>
                  </a:tblPr>
                  <a:tblGrid>
                    <a:gridCol w="1595651">
                      <a:extLst>
                        <a:ext uri="{9D8B030D-6E8A-4147-A177-3AD203B41FA5}">
                          <a16:colId xmlns:a16="http://schemas.microsoft.com/office/drawing/2014/main" val="3563799444"/>
                        </a:ext>
                      </a:extLst>
                    </a:gridCol>
                    <a:gridCol w="4560919">
                      <a:extLst>
                        <a:ext uri="{9D8B030D-6E8A-4147-A177-3AD203B41FA5}">
                          <a16:colId xmlns:a16="http://schemas.microsoft.com/office/drawing/2014/main" val="2581643566"/>
                        </a:ext>
                      </a:extLst>
                    </a:gridCol>
                  </a:tblGrid>
                  <a:tr h="335280">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600" b="1" noProof="0">
                              <a:solidFill>
                                <a:schemeClr val="bg1"/>
                              </a:solidFill>
                              <a:latin typeface="+mn-lt"/>
                              <a:cs typeface="Calibri Light" panose="020F0302020204030204" pitchFamily="34" charset="0"/>
                            </a:rPr>
                            <a:t>KEY VOCABULARY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hMerge="1">
                      <a:txBody>
                        <a:bodyPr/>
                        <a:lstStyle/>
                        <a:p>
                          <a:endParaRPr lang="en-GB"/>
                        </a:p>
                      </a:txBody>
                      <a:tcPr>
                        <a:solidFill>
                          <a:srgbClr val="7E2341"/>
                        </a:solidFill>
                      </a:tcPr>
                    </a:tc>
                    <a:extLst>
                      <a:ext uri="{0D108BD9-81ED-4DB2-BD59-A6C34878D82A}">
                        <a16:rowId xmlns:a16="http://schemas.microsoft.com/office/drawing/2014/main" val="163826269"/>
                      </a:ext>
                    </a:extLst>
                  </a:tr>
                  <a:tr h="426720">
                    <a:tc>
                      <a:txBody>
                        <a:bodyPr/>
                        <a:lstStyle/>
                        <a:p>
                          <a:pPr algn="l"/>
                          <a:r>
                            <a:rPr lang="en-GB" sz="1000" b="1" noProof="0"/>
                            <a:t>Solve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GB" sz="1100" i="0" noProof="0"/>
                            <a:t>To solve means to find</a:t>
                          </a:r>
                          <a:r>
                            <a:rPr lang="en-GB" sz="1100" i="0" baseline="0" noProof="0"/>
                            <a:t> a solution. Simultaneous equations have </a:t>
                          </a:r>
                          <a:r>
                            <a:rPr lang="en-GB" sz="1100" b="1" i="0" baseline="0" noProof="0"/>
                            <a:t>two</a:t>
                          </a:r>
                          <a:r>
                            <a:rPr lang="en-GB" sz="1100" i="0" baseline="0" noProof="0"/>
                            <a:t> solutions. </a:t>
                          </a:r>
                          <a:endParaRPr lang="en-GB" sz="1100" i="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7817825"/>
                      </a:ext>
                    </a:extLst>
                  </a:tr>
                  <a:tr h="3962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a:t>Quadratic simultaneous equations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5113" t="-195385" r="-267" b="-996923"/>
                          </a:stretch>
                        </a:blipFill>
                      </a:tcPr>
                    </a:tc>
                    <a:extLst>
                      <a:ext uri="{0D108BD9-81ED-4DB2-BD59-A6C34878D82A}">
                        <a16:rowId xmlns:a16="http://schemas.microsoft.com/office/drawing/2014/main" val="2294320498"/>
                      </a:ext>
                    </a:extLst>
                  </a:tr>
                  <a:tr h="4267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a:solidFill>
                                <a:schemeClr val="tx1"/>
                              </a:solidFill>
                              <a:effectLst/>
                              <a:latin typeface="+mn-lt"/>
                              <a:ea typeface="Calibri" panose="020F0502020204030204" pitchFamily="34" charset="0"/>
                              <a:cs typeface="Times New Roman" panose="02020603050405020304" pitchFamily="18" charset="0"/>
                            </a:rPr>
                            <a:t>Constant</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000" b="1" noProof="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a:solidFill>
                                <a:schemeClr val="tx1"/>
                              </a:solidFill>
                              <a:effectLst/>
                              <a:latin typeface="Calibri" panose="020F0502020204030204" pitchFamily="34" charset="0"/>
                              <a:cs typeface="Times New Roman" panose="02020603050405020304" pitchFamily="18" charset="0"/>
                            </a:rPr>
                            <a:t>In algebra, a constant is a number on its own, or sometimes a letter such as a, b or c that stands for a fixed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9412819"/>
                      </a:ext>
                    </a:extLst>
                  </a:tr>
                  <a:tr h="4267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a:latin typeface="+mn-lt"/>
                            </a:rPr>
                            <a:t>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a:solidFill>
                                <a:schemeClr val="tx1"/>
                              </a:solidFill>
                            </a:rPr>
                            <a:t>Variable, in algebra, a symbol (usually a letter) standing in for an unknown numerical value in an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315645"/>
                      </a:ext>
                    </a:extLst>
                  </a:tr>
                  <a:tr h="762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a:latin typeface="+mn-lt"/>
                            </a:rPr>
                            <a:t>Linear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sz="1100" b="0" baseline="0" noProof="0">
                              <a:solidFill>
                                <a:schemeClr val="tx1"/>
                              </a:solidFill>
                            </a:rPr>
                            <a:t>those whose graph is a straight line.</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sz="1100" b="0" baseline="0" noProof="0">
                              <a:solidFill>
                                <a:schemeClr val="tx1"/>
                              </a:solidFill>
                            </a:rPr>
                            <a:t>has the following form. y = mx + c.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sz="1100" b="0" baseline="0" noProof="0">
                              <a:solidFill>
                                <a:schemeClr val="tx1"/>
                              </a:solidFill>
                            </a:rPr>
                            <a:t>has one independent variable and one dependent variable. The independent variable is x and the dependent variable is 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4030373"/>
                      </a:ext>
                    </a:extLst>
                  </a:tr>
                  <a:tr h="762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a:latin typeface="+mn-lt"/>
                            </a:rPr>
                            <a:t>Simultaneous Equations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a:solidFill>
                                <a:schemeClr val="tx1"/>
                              </a:solidFill>
                            </a:rPr>
                            <a:t>Two or more equations that share variables.</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a:solidFill>
                                <a:schemeClr val="tx1"/>
                              </a:solidFill>
                            </a:rPr>
                            <a:t>Example: two equations that share the variables x and y:</a:t>
                          </a:r>
                          <a:br>
                            <a:rPr lang="en-GB" sz="1100" b="0" baseline="0" noProof="0">
                              <a:solidFill>
                                <a:schemeClr val="tx1"/>
                              </a:solidFill>
                            </a:rPr>
                          </a:br>
                          <a:r>
                            <a:rPr lang="en-GB" sz="1100" b="0" baseline="0" noProof="0">
                              <a:solidFill>
                                <a:schemeClr val="tx1"/>
                              </a:solidFill>
                            </a:rPr>
                            <a:t>x + y = 6</a:t>
                          </a:r>
                          <a:br>
                            <a:rPr lang="en-GB" sz="1100" b="0" baseline="0" noProof="0">
                              <a:solidFill>
                                <a:schemeClr val="tx1"/>
                              </a:solidFill>
                            </a:rPr>
                          </a:br>
                          <a:r>
                            <a:rPr lang="en-GB" sz="1100" b="0" baseline="0" noProof="0">
                              <a:solidFill>
                                <a:schemeClr val="tx1"/>
                              </a:solidFill>
                            </a:rPr>
                            <a:t>−3x + y =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5153645"/>
                      </a:ext>
                    </a:extLst>
                  </a:tr>
                  <a:tr h="762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a:latin typeface="+mn-lt"/>
                            </a:rPr>
                            <a:t>Elimination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a:solidFill>
                                <a:schemeClr val="tx1"/>
                              </a:solidFill>
                            </a:rPr>
                            <a:t>Eliminate" means to remove: this method works by removing variables until there is just one left.</a:t>
                          </a:r>
                        </a:p>
                        <a:p>
                          <a:r>
                            <a:rPr lang="en-GB" sz="1100" b="0" i="0" kern="1200" noProof="0">
                              <a:solidFill>
                                <a:schemeClr val="tx1"/>
                              </a:solidFill>
                              <a:effectLst/>
                              <a:latin typeface="+mn-lt"/>
                              <a:ea typeface="+mn-ea"/>
                              <a:cs typeface="+mn-cs"/>
                            </a:rPr>
                            <a:t>The idea is that we </a:t>
                          </a:r>
                          <a:r>
                            <a:rPr lang="en-GB" sz="1100" b="1" i="0" kern="1200" noProof="0">
                              <a:solidFill>
                                <a:schemeClr val="tx1"/>
                              </a:solidFill>
                              <a:effectLst/>
                              <a:latin typeface="+mn-lt"/>
                              <a:ea typeface="+mn-ea"/>
                              <a:cs typeface="+mn-cs"/>
                            </a:rPr>
                            <a:t>can safely</a:t>
                          </a:r>
                          <a:r>
                            <a:rPr lang="en-GB" sz="1100" b="0" i="0" kern="1200" noProof="0">
                              <a:solidFill>
                                <a:schemeClr val="tx1"/>
                              </a:solidFill>
                              <a:effectLst/>
                              <a:latin typeface="+mn-lt"/>
                              <a:ea typeface="+mn-ea"/>
                              <a:cs typeface="+mn-cs"/>
                            </a:rPr>
                            <a:t>: </a:t>
                          </a:r>
                          <a:r>
                            <a:rPr lang="en-GB" sz="1100" b="1" i="0" kern="1200" noProof="0">
                              <a:solidFill>
                                <a:schemeClr val="tx1"/>
                              </a:solidFill>
                              <a:effectLst/>
                              <a:latin typeface="+mn-lt"/>
                              <a:ea typeface="+mn-ea"/>
                              <a:cs typeface="+mn-cs"/>
                            </a:rPr>
                            <a:t>multiply</a:t>
                          </a:r>
                          <a:r>
                            <a:rPr lang="en-GB" sz="1100" b="0" i="0" kern="1200" noProof="0">
                              <a:solidFill>
                                <a:schemeClr val="tx1"/>
                              </a:solidFill>
                              <a:effectLst/>
                              <a:latin typeface="+mn-lt"/>
                              <a:ea typeface="+mn-ea"/>
                              <a:cs typeface="+mn-cs"/>
                            </a:rPr>
                            <a:t> an equation by a constant (except zero), </a:t>
                          </a:r>
                          <a:r>
                            <a:rPr lang="en-GB" sz="1100" b="1" i="0" kern="1200" noProof="0">
                              <a:solidFill>
                                <a:schemeClr val="tx1"/>
                              </a:solidFill>
                              <a:effectLst/>
                              <a:latin typeface="+mn-lt"/>
                              <a:ea typeface="+mn-ea"/>
                              <a:cs typeface="+mn-cs"/>
                            </a:rPr>
                            <a:t>add</a:t>
                          </a:r>
                          <a:r>
                            <a:rPr lang="en-GB" sz="1100" b="0" i="0" kern="1200" noProof="0">
                              <a:solidFill>
                                <a:schemeClr val="tx1"/>
                              </a:solidFill>
                              <a:effectLst/>
                              <a:latin typeface="+mn-lt"/>
                              <a:ea typeface="+mn-ea"/>
                              <a:cs typeface="+mn-cs"/>
                            </a:rPr>
                            <a:t> (or subtract) an equation on to another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9520429"/>
                      </a:ext>
                    </a:extLst>
                  </a:tr>
                  <a:tr h="762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a:latin typeface="+mn-lt"/>
                            </a:rPr>
                            <a:t>Substitution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a:solidFill>
                                <a:schemeClr val="tx1"/>
                              </a:solidFill>
                            </a:rPr>
                            <a:t>These are the steps:</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a:solidFill>
                                <a:schemeClr val="tx1"/>
                              </a:solidFill>
                            </a:rPr>
                            <a:t>Write one of the equations so it is in the style "variable = ..."</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a:solidFill>
                                <a:schemeClr val="tx1"/>
                              </a:solidFill>
                            </a:rPr>
                            <a:t>Replace (i.e. substitute) that variable in the other equation(s). Solve the other equation(s)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4645289"/>
                      </a:ext>
                    </a:extLst>
                  </a:tr>
                </a:tbl>
              </a:graphicData>
            </a:graphic>
          </p:graphicFrame>
        </mc:Fallback>
      </mc:AlternateContent>
    </p:spTree>
    <p:extLst>
      <p:ext uri="{BB962C8B-B14F-4D97-AF65-F5344CB8AC3E}">
        <p14:creationId xmlns:p14="http://schemas.microsoft.com/office/powerpoint/2010/main" val="933153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able 21"/>
          <p:cNvGraphicFramePr>
            <a:graphicFrameLocks noGrp="1"/>
          </p:cNvGraphicFramePr>
          <p:nvPr>
            <p:extLst>
              <p:ext uri="{D42A27DB-BD31-4B8C-83A1-F6EECF244321}">
                <p14:modId xmlns:p14="http://schemas.microsoft.com/office/powerpoint/2010/main" val="965812145"/>
              </p:ext>
            </p:extLst>
          </p:nvPr>
        </p:nvGraphicFramePr>
        <p:xfrm>
          <a:off x="415186" y="398891"/>
          <a:ext cx="6049393" cy="6309360"/>
        </p:xfrm>
        <a:graphic>
          <a:graphicData uri="http://schemas.openxmlformats.org/drawingml/2006/table">
            <a:tbl>
              <a:tblPr firstRow="1" bandRow="1">
                <a:tableStyleId>{7E9639D4-E3E2-4D34-9284-5A2195B3D0D7}</a:tableStyleId>
              </a:tblPr>
              <a:tblGrid>
                <a:gridCol w="1073980">
                  <a:extLst>
                    <a:ext uri="{9D8B030D-6E8A-4147-A177-3AD203B41FA5}">
                      <a16:colId xmlns:a16="http://schemas.microsoft.com/office/drawing/2014/main" val="3563799444"/>
                    </a:ext>
                  </a:extLst>
                </a:gridCol>
                <a:gridCol w="4397283">
                  <a:extLst>
                    <a:ext uri="{9D8B030D-6E8A-4147-A177-3AD203B41FA5}">
                      <a16:colId xmlns:a16="http://schemas.microsoft.com/office/drawing/2014/main" val="2581643566"/>
                    </a:ext>
                  </a:extLst>
                </a:gridCol>
                <a:gridCol w="578130">
                  <a:extLst>
                    <a:ext uri="{9D8B030D-6E8A-4147-A177-3AD203B41FA5}">
                      <a16:colId xmlns:a16="http://schemas.microsoft.com/office/drawing/2014/main" val="1859878977"/>
                    </a:ext>
                  </a:extLst>
                </a:gridCol>
              </a:tblGrid>
              <a:tr h="264484">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noProof="0" dirty="0">
                          <a:solidFill>
                            <a:schemeClr val="bg1"/>
                          </a:solidFill>
                        </a:rPr>
                        <a:t>CONTENTS  </a:t>
                      </a:r>
                      <a:endParaRPr lang="en-GB" sz="1200" b="1" noProof="0" dirty="0">
                        <a:solidFill>
                          <a:schemeClr val="bg1"/>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GB"/>
                    </a:p>
                  </a:txBody>
                  <a:tcPr>
                    <a:lnL w="12700" cap="flat" cmpd="sng" algn="ctr">
                      <a:solidFill>
                        <a:schemeClr val="tx1"/>
                      </a:solidFill>
                      <a:prstDash val="dot"/>
                      <a:round/>
                      <a:headEnd type="none" w="med" len="med"/>
                      <a:tailEnd type="none" w="med" len="med"/>
                    </a:lnL>
                    <a:solidFill>
                      <a:srgbClr val="7E234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noProof="0" dirty="0">
                          <a:solidFill>
                            <a:schemeClr val="bg1"/>
                          </a:solidFill>
                        </a:rPr>
                        <a:t>PAGE</a:t>
                      </a:r>
                      <a:endParaRPr lang="en-GB" sz="1600" b="1" noProof="0" dirty="0">
                        <a:solidFill>
                          <a:schemeClr val="bg1"/>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826269"/>
                  </a:ext>
                </a:extLst>
              </a:tr>
              <a:tr h="264484">
                <a:tc>
                  <a:txBody>
                    <a:bodyPr/>
                    <a:lstStyle/>
                    <a:p>
                      <a:pPr algn="l" rtl="0" fontAlgn="base"/>
                      <a:r>
                        <a:rPr lang="en-GB" sz="1200" b="0" noProof="0" dirty="0">
                          <a:solidFill>
                            <a:srgbClr val="000000"/>
                          </a:solidFill>
                          <a:effectLst/>
                        </a:rPr>
                        <a:t>SUBTOPIC</a:t>
                      </a:r>
                      <a:r>
                        <a:rPr lang="en-GB" sz="1200" b="0" baseline="0" noProof="0" dirty="0">
                          <a:solidFill>
                            <a:srgbClr val="000000"/>
                          </a:solidFill>
                          <a:effectLst/>
                        </a:rPr>
                        <a:t> 1</a:t>
                      </a:r>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t>Rearranging Formulae/ Changing the Subject</a:t>
                      </a:r>
                      <a:endParaRPr lang="en-GB" sz="1200"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320498"/>
                  </a:ext>
                </a:extLst>
              </a:tr>
              <a:tr h="264484">
                <a:tc>
                  <a:txBody>
                    <a:bodyPr/>
                    <a:lstStyle/>
                    <a:p>
                      <a:pPr algn="l" rtl="0" fontAlgn="base"/>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1" noProof="0" dirty="0"/>
                        <a:t>GCSE QUESTIONS</a:t>
                      </a:r>
                      <a:endParaRPr lang="en-GB" sz="1200" b="1"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4006052"/>
                  </a:ext>
                </a:extLst>
              </a:tr>
              <a:tr h="264484">
                <a:tc>
                  <a:txBody>
                    <a:bodyPr/>
                    <a:lstStyle/>
                    <a:p>
                      <a:pPr algn="l" rtl="0" fontAlgn="base"/>
                      <a:r>
                        <a:rPr lang="en-GB" sz="1200" b="0" noProof="0" dirty="0">
                          <a:solidFill>
                            <a:srgbClr val="000000"/>
                          </a:solidFill>
                          <a:effectLst/>
                        </a:rPr>
                        <a:t>SUBTOPIC</a:t>
                      </a:r>
                      <a:r>
                        <a:rPr lang="en-GB" sz="1200" b="0" baseline="0" noProof="0" dirty="0">
                          <a:solidFill>
                            <a:srgbClr val="000000"/>
                          </a:solidFill>
                          <a:effectLst/>
                        </a:rPr>
                        <a:t> 2</a:t>
                      </a:r>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latin typeface="Calibri" panose="020F0502020204030204" pitchFamily="34" charset="0"/>
                          <a:cs typeface="Calibri" panose="020F0502020204030204" pitchFamily="34" charset="0"/>
                        </a:rPr>
                        <a:t>Recap/ Prior Knowledge Quiz: Solving Quadratic Equations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0815257"/>
                  </a:ext>
                </a:extLst>
              </a:tr>
              <a:tr h="264484">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0" noProof="0" dirty="0">
                          <a:solidFill>
                            <a:srgbClr val="000000"/>
                          </a:solidFill>
                          <a:effectLst/>
                        </a:rPr>
                        <a:t>SUBTOPIC</a:t>
                      </a:r>
                      <a:r>
                        <a:rPr lang="en-GB" sz="1200" b="0" baseline="0" noProof="0" dirty="0">
                          <a:solidFill>
                            <a:srgbClr val="000000"/>
                          </a:solidFill>
                          <a:effectLst/>
                        </a:rPr>
                        <a:t> 3a</a:t>
                      </a:r>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noProof="0" dirty="0"/>
                        <a:t>Simultaneous Equations – elimination and graphical solving</a:t>
                      </a:r>
                      <a:endParaRPr lang="en-GB" sz="1200"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399566"/>
                  </a:ext>
                </a:extLst>
              </a:tr>
              <a:tr h="264484">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0" noProof="0" dirty="0">
                          <a:solidFill>
                            <a:srgbClr val="000000"/>
                          </a:solidFill>
                          <a:effectLst/>
                        </a:rPr>
                        <a:t>SUBTOPIC</a:t>
                      </a:r>
                      <a:r>
                        <a:rPr lang="en-GB" sz="1200" b="0" baseline="0" noProof="0" dirty="0">
                          <a:solidFill>
                            <a:srgbClr val="000000"/>
                          </a:solidFill>
                          <a:effectLst/>
                        </a:rPr>
                        <a:t> 3b</a:t>
                      </a:r>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noProof="0" dirty="0">
                          <a:latin typeface="Calibri" panose="020F0502020204030204" pitchFamily="34" charset="0"/>
                          <a:cs typeface="Calibri" panose="020F0502020204030204" pitchFamily="34" charset="0"/>
                        </a:rPr>
                        <a:t>Recap: Solving Simultaneous Equations by Elimination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0891299"/>
                  </a:ext>
                </a:extLst>
              </a:tr>
              <a:tr h="264484">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0" noProof="0" dirty="0">
                          <a:solidFill>
                            <a:srgbClr val="000000"/>
                          </a:solidFill>
                          <a:effectLst/>
                        </a:rPr>
                        <a:t>SUBTOPIC</a:t>
                      </a:r>
                      <a:r>
                        <a:rPr lang="en-GB" sz="1200" b="0" baseline="0" noProof="0" dirty="0">
                          <a:solidFill>
                            <a:srgbClr val="000000"/>
                          </a:solidFill>
                          <a:effectLst/>
                        </a:rPr>
                        <a:t> 3c</a:t>
                      </a:r>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noProof="0" dirty="0">
                          <a:latin typeface="Calibri" panose="020F0502020204030204" pitchFamily="34" charset="0"/>
                          <a:cs typeface="Calibri" panose="020F0502020204030204" pitchFamily="34" charset="0"/>
                        </a:rPr>
                        <a:t>Worded Simultaneous Equations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9580398"/>
                  </a:ext>
                </a:extLst>
              </a:tr>
              <a:tr h="264484">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t>GCSE QUESTIONS</a:t>
                      </a:r>
                      <a:endParaRPr lang="en-GB" sz="1200" b="1"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4808750"/>
                  </a:ext>
                </a:extLst>
              </a:tr>
              <a:tr h="264484">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0" noProof="0" dirty="0">
                          <a:solidFill>
                            <a:srgbClr val="000000"/>
                          </a:solidFill>
                          <a:effectLst/>
                        </a:rPr>
                        <a:t>SUBTOPIC</a:t>
                      </a:r>
                      <a:r>
                        <a:rPr lang="en-GB" sz="1200" b="0" baseline="0" noProof="0" dirty="0">
                          <a:solidFill>
                            <a:srgbClr val="000000"/>
                          </a:solidFill>
                          <a:effectLst/>
                        </a:rPr>
                        <a:t> 3d</a:t>
                      </a:r>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noProof="0" dirty="0">
                          <a:latin typeface="Calibri" panose="020F0502020204030204" pitchFamily="34" charset="0"/>
                          <a:cs typeface="Calibri" panose="020F0502020204030204" pitchFamily="34" charset="0"/>
                        </a:rPr>
                        <a:t>Solving Simultaneous Equations using Substitution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9569616"/>
                  </a:ext>
                </a:extLst>
              </a:tr>
              <a:tr h="264484">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0" i="0" noProof="0" dirty="0">
                          <a:solidFill>
                            <a:srgbClr val="000000"/>
                          </a:solidFill>
                          <a:effectLst/>
                          <a:latin typeface="Calibri" panose="020F0502020204030204" pitchFamily="34" charset="0"/>
                          <a:cs typeface="Calibri" panose="020F0502020204030204" pitchFamily="34" charset="0"/>
                        </a:rPr>
                        <a:t>SUBTOPIC 3e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noProof="0" dirty="0">
                          <a:latin typeface="Calibri" panose="020F0502020204030204" pitchFamily="34" charset="0"/>
                          <a:cs typeface="Calibri" panose="020F0502020204030204" pitchFamily="34" charset="0"/>
                        </a:rPr>
                        <a:t>Quadratic Simultaneous Equations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3303212"/>
                  </a:ext>
                </a:extLst>
              </a:tr>
              <a:tr h="264484">
                <a:tc>
                  <a:txBody>
                    <a:bodyPr/>
                    <a:lstStyle/>
                    <a:p>
                      <a:pPr algn="l" rtl="0" fontAlgn="base"/>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t>GCSE QUESTIONS</a:t>
                      </a:r>
                      <a:endParaRPr lang="en-GB" sz="1200" b="1"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5335505"/>
                  </a:ext>
                </a:extLst>
              </a:tr>
              <a:tr h="264484">
                <a:tc>
                  <a:txBody>
                    <a:bodyPr/>
                    <a:lstStyle/>
                    <a:p>
                      <a:pPr algn="l" rtl="0" fontAlgn="base"/>
                      <a:r>
                        <a:rPr lang="en-GB" sz="1200" b="0" noProof="0" dirty="0">
                          <a:solidFill>
                            <a:schemeClr val="bg1">
                              <a:lumMod val="85000"/>
                            </a:schemeClr>
                          </a:solidFill>
                          <a:effectLst/>
                        </a:rPr>
                        <a:t>SUBTOPIC 4a</a:t>
                      </a:r>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solidFill>
                            <a:schemeClr val="bg1">
                              <a:lumMod val="85000"/>
                            </a:schemeClr>
                          </a:solidFill>
                        </a:rPr>
                        <a:t>Algebraic Fractions – Manipulation and Simplifying</a:t>
                      </a:r>
                      <a:endParaRPr lang="en-GB" sz="1200"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8475363"/>
                  </a:ext>
                </a:extLst>
              </a:tr>
              <a:tr h="264484">
                <a:tc>
                  <a:txBody>
                    <a:bodyPr/>
                    <a:lstStyle/>
                    <a:p>
                      <a:pPr algn="l" rtl="0" fontAlgn="base"/>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solidFill>
                            <a:schemeClr val="bg1">
                              <a:lumMod val="85000"/>
                            </a:schemeClr>
                          </a:solidFill>
                        </a:rPr>
                        <a:t>GCSE QUESTIONS</a:t>
                      </a:r>
                      <a:endParaRPr lang="en-GB" sz="1200" b="1"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5888622"/>
                  </a:ext>
                </a:extLst>
              </a:tr>
              <a:tr h="264484">
                <a:tc>
                  <a:txBody>
                    <a:bodyPr/>
                    <a:lstStyle/>
                    <a:p>
                      <a:pPr algn="l" rtl="0" fontAlgn="base"/>
                      <a:r>
                        <a:rPr lang="en-GB" sz="1200" b="0" i="0" noProof="0" dirty="0">
                          <a:solidFill>
                            <a:schemeClr val="bg1">
                              <a:lumMod val="85000"/>
                            </a:schemeClr>
                          </a:solidFill>
                          <a:effectLst/>
                          <a:latin typeface="Calibri" panose="020F0502020204030204" pitchFamily="34" charset="0"/>
                          <a:cs typeface="Calibri" panose="020F0502020204030204" pitchFamily="34" charset="0"/>
                        </a:rPr>
                        <a:t>SUBTOPIC 4b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solidFill>
                            <a:schemeClr val="bg1">
                              <a:lumMod val="85000"/>
                            </a:schemeClr>
                          </a:solidFill>
                          <a:latin typeface="Calibri" panose="020F0502020204030204" pitchFamily="34" charset="0"/>
                          <a:cs typeface="Calibri" panose="020F0502020204030204" pitchFamily="34" charset="0"/>
                        </a:rPr>
                        <a:t>Algebraic Fractions – Solving (including Quadratics)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1880812"/>
                  </a:ext>
                </a:extLst>
              </a:tr>
              <a:tr h="264484">
                <a:tc>
                  <a:txBody>
                    <a:bodyPr/>
                    <a:lstStyle/>
                    <a:p>
                      <a:pPr algn="l" rtl="0" fontAlgn="base"/>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solidFill>
                            <a:schemeClr val="bg1">
                              <a:lumMod val="85000"/>
                            </a:schemeClr>
                          </a:solidFill>
                        </a:rPr>
                        <a:t>GCSE QUESTIONS</a:t>
                      </a:r>
                      <a:endParaRPr lang="en-GB" sz="1200" b="1"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48847"/>
                  </a:ext>
                </a:extLst>
              </a:tr>
              <a:tr h="264484">
                <a:tc>
                  <a:txBody>
                    <a:bodyPr/>
                    <a:lstStyle/>
                    <a:p>
                      <a:pPr algn="l" rtl="0" fontAlgn="base"/>
                      <a:r>
                        <a:rPr lang="en-GB" sz="1200" b="0" noProof="0" dirty="0">
                          <a:solidFill>
                            <a:schemeClr val="bg1">
                              <a:lumMod val="85000"/>
                            </a:schemeClr>
                          </a:solidFill>
                          <a:effectLst/>
                        </a:rPr>
                        <a:t>SUBTOPIC 5</a:t>
                      </a:r>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solidFill>
                            <a:schemeClr val="bg1">
                              <a:lumMod val="85000"/>
                            </a:schemeClr>
                          </a:solidFill>
                        </a:rPr>
                        <a:t>Functions</a:t>
                      </a:r>
                      <a:endParaRPr lang="en-GB" sz="1200"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5873933"/>
                  </a:ext>
                </a:extLst>
              </a:tr>
              <a:tr h="264484">
                <a:tc>
                  <a:txBody>
                    <a:bodyPr/>
                    <a:lstStyle/>
                    <a:p>
                      <a:pPr algn="l" rtl="0" fontAlgn="base"/>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solidFill>
                            <a:schemeClr val="bg1">
                              <a:lumMod val="85000"/>
                            </a:schemeClr>
                          </a:solidFill>
                        </a:rPr>
                        <a:t>GCSE QUESTIONS</a:t>
                      </a:r>
                      <a:endParaRPr lang="en-GB" sz="1200" b="1"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5078180"/>
                  </a:ext>
                </a:extLst>
              </a:tr>
              <a:tr h="264484">
                <a:tc>
                  <a:txBody>
                    <a:bodyPr/>
                    <a:lstStyle/>
                    <a:p>
                      <a:pPr algn="l" rtl="0" fontAlgn="base"/>
                      <a:r>
                        <a:rPr lang="en-GB" sz="1200" b="0" noProof="0" dirty="0">
                          <a:solidFill>
                            <a:schemeClr val="bg1">
                              <a:lumMod val="85000"/>
                            </a:schemeClr>
                          </a:solidFill>
                          <a:effectLst/>
                        </a:rPr>
                        <a:t>SUBTOPIC</a:t>
                      </a:r>
                      <a:r>
                        <a:rPr lang="en-GB" sz="1200" b="0" baseline="0" noProof="0" dirty="0">
                          <a:solidFill>
                            <a:schemeClr val="bg1">
                              <a:lumMod val="85000"/>
                            </a:schemeClr>
                          </a:solidFill>
                          <a:effectLst/>
                        </a:rPr>
                        <a:t> 6a</a:t>
                      </a:r>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solidFill>
                            <a:schemeClr val="bg1">
                              <a:lumMod val="85000"/>
                            </a:schemeClr>
                          </a:solidFill>
                        </a:rPr>
                        <a:t>Iteration 1: Recurrence Relationships</a:t>
                      </a:r>
                      <a:endParaRPr lang="en-GB" sz="1200"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0564557"/>
                  </a:ext>
                </a:extLst>
              </a:tr>
              <a:tr h="264484">
                <a:tc>
                  <a:txBody>
                    <a:bodyPr/>
                    <a:lstStyle/>
                    <a:p>
                      <a:pPr algn="l" rtl="0" fontAlgn="base"/>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solidFill>
                            <a:schemeClr val="bg1">
                              <a:lumMod val="85000"/>
                            </a:schemeClr>
                          </a:solidFill>
                        </a:rPr>
                        <a:t>GCSE QUESTIONS</a:t>
                      </a:r>
                      <a:endParaRPr lang="en-GB" sz="1200" b="1"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855155"/>
                  </a:ext>
                </a:extLst>
              </a:tr>
              <a:tr h="264484">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0" noProof="0" dirty="0">
                          <a:solidFill>
                            <a:schemeClr val="bg1">
                              <a:lumMod val="85000"/>
                            </a:schemeClr>
                          </a:solidFill>
                          <a:effectLst/>
                        </a:rPr>
                        <a:t>SUBTOPIC</a:t>
                      </a:r>
                      <a:r>
                        <a:rPr lang="en-GB" sz="1200" b="0" baseline="0" noProof="0" dirty="0">
                          <a:solidFill>
                            <a:schemeClr val="bg1">
                              <a:lumMod val="85000"/>
                            </a:schemeClr>
                          </a:solidFill>
                          <a:effectLst/>
                        </a:rPr>
                        <a:t> 6b</a:t>
                      </a:r>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solidFill>
                            <a:schemeClr val="bg1">
                              <a:lumMod val="85000"/>
                            </a:schemeClr>
                          </a:solidFill>
                        </a:rPr>
                        <a:t>Iteration 2: Estimating Solutions</a:t>
                      </a:r>
                      <a:endParaRPr lang="en-GB" sz="1200"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2825702"/>
                  </a:ext>
                </a:extLst>
              </a:tr>
              <a:tr h="264484">
                <a:tc>
                  <a:txBody>
                    <a:bodyPr/>
                    <a:lstStyle/>
                    <a:p>
                      <a:pPr algn="l" rtl="0" fontAlgn="base"/>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solidFill>
                            <a:schemeClr val="bg1">
                              <a:lumMod val="85000"/>
                            </a:schemeClr>
                          </a:solidFill>
                        </a:rPr>
                        <a:t>GCSE QUESTIONS</a:t>
                      </a:r>
                      <a:endParaRPr lang="en-GB" sz="1200" b="1"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1016720"/>
                  </a:ext>
                </a:extLst>
              </a:tr>
              <a:tr h="264484">
                <a:tc>
                  <a:txBody>
                    <a:bodyPr/>
                    <a:lstStyle/>
                    <a:p>
                      <a:pPr algn="l" rtl="0" fontAlgn="base"/>
                      <a:r>
                        <a:rPr lang="en-GB" sz="1200" b="0" noProof="0" dirty="0">
                          <a:solidFill>
                            <a:schemeClr val="bg1">
                              <a:lumMod val="85000"/>
                            </a:schemeClr>
                          </a:solidFill>
                          <a:effectLst/>
                        </a:rPr>
                        <a:t>SUBTOPIC 7</a:t>
                      </a:r>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solidFill>
                            <a:schemeClr val="bg1">
                              <a:lumMod val="85000"/>
                            </a:schemeClr>
                          </a:solidFill>
                        </a:rPr>
                        <a:t>Algebraic Proof</a:t>
                      </a:r>
                      <a:endParaRPr lang="en-GB" sz="1200"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2517490"/>
                  </a:ext>
                </a:extLst>
              </a:tr>
              <a:tr h="264484">
                <a:tc>
                  <a:txBody>
                    <a:bodyPr/>
                    <a:lstStyle/>
                    <a:p>
                      <a:pPr algn="l" rtl="0" fontAlgn="base"/>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solidFill>
                            <a:schemeClr val="bg1">
                              <a:lumMod val="85000"/>
                            </a:schemeClr>
                          </a:solidFill>
                        </a:rPr>
                        <a:t>GCSE QUESTIONS</a:t>
                      </a:r>
                      <a:endParaRPr lang="en-GB" sz="1200" b="1"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3511353"/>
                  </a:ext>
                </a:extLst>
              </a:tr>
            </a:tbl>
          </a:graphicData>
        </a:graphic>
      </p:graphicFrame>
      <p:sp>
        <p:nvSpPr>
          <p:cNvPr id="36" name="Frame 3">
            <a:extLst>
              <a:ext uri="{FF2B5EF4-FFF2-40B4-BE49-F238E27FC236}">
                <a16:creationId xmlns:a16="http://schemas.microsoft.com/office/drawing/2014/main" id="{3117BEEC-0E58-1341-A11D-9DBDBB61BE29}"/>
              </a:ext>
            </a:extLst>
          </p:cNvPr>
          <p:cNvSpPr/>
          <p:nvPr/>
        </p:nvSpPr>
        <p:spPr>
          <a:xfrm>
            <a:off x="0" y="0"/>
            <a:ext cx="6858000" cy="9906000"/>
          </a:xfrm>
          <a:custGeom>
            <a:avLst/>
            <a:gdLst>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811060 w 6488483"/>
              <a:gd name="connsiteY5" fmla="*/ 811060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811060 w 6488483"/>
              <a:gd name="connsiteY9" fmla="*/ 811060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6228568 w 6488483"/>
              <a:gd name="connsiteY8" fmla="*/ 272441 h 9394520"/>
              <a:gd name="connsiteX9" fmla="*/ 284967 w 6488483"/>
              <a:gd name="connsiteY9" fmla="*/ 272441 h 939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88483" h="9394520">
                <a:moveTo>
                  <a:pt x="0" y="0"/>
                </a:moveTo>
                <a:lnTo>
                  <a:pt x="6488483" y="0"/>
                </a:lnTo>
                <a:lnTo>
                  <a:pt x="6488483" y="9394520"/>
                </a:lnTo>
                <a:lnTo>
                  <a:pt x="0" y="9394520"/>
                </a:lnTo>
                <a:lnTo>
                  <a:pt x="0" y="0"/>
                </a:lnTo>
                <a:close/>
                <a:moveTo>
                  <a:pt x="284967" y="272441"/>
                </a:moveTo>
                <a:cubicBezTo>
                  <a:pt x="280792" y="3226496"/>
                  <a:pt x="276616" y="6180550"/>
                  <a:pt x="272441" y="9134605"/>
                </a:cubicBezTo>
                <a:lnTo>
                  <a:pt x="6216042" y="9134606"/>
                </a:lnTo>
                <a:cubicBezTo>
                  <a:pt x="6220217" y="6180551"/>
                  <a:pt x="6224393" y="3226496"/>
                  <a:pt x="6228568" y="272441"/>
                </a:cubicBezTo>
                <a:lnTo>
                  <a:pt x="284967" y="272441"/>
                </a:lnTo>
                <a:close/>
              </a:path>
            </a:pathLst>
          </a:custGeom>
          <a:solidFill>
            <a:schemeClr val="bg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lide Number Placeholder 1"/>
          <p:cNvSpPr>
            <a:spLocks noGrp="1"/>
          </p:cNvSpPr>
          <p:nvPr>
            <p:ph type="sldNum" sz="quarter" idx="12"/>
          </p:nvPr>
        </p:nvSpPr>
        <p:spPr>
          <a:xfrm>
            <a:off x="6593433" y="9658352"/>
            <a:ext cx="376738" cy="33474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1000" b="0" i="0" u="none" strike="noStrike" kern="1200" cap="none" spc="0" normalizeH="0" baseline="0" noProof="0" smtClean="0">
                <a:ln>
                  <a:noFill/>
                </a:ln>
                <a:solidFill>
                  <a:schemeClr val="bg1"/>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GB" sz="5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EC73D5DE-9CB0-D39B-52D5-3BD330AEEF90}"/>
              </a:ext>
            </a:extLst>
          </p:cNvPr>
          <p:cNvSpPr txBox="1"/>
          <p:nvPr/>
        </p:nvSpPr>
        <p:spPr>
          <a:xfrm>
            <a:off x="461639" y="7209952"/>
            <a:ext cx="6002939" cy="230832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Start of subtopic:</a:t>
            </a:r>
            <a:endParaRPr kumimoji="0" lang="en-GB" sz="1200" b="1" i="0" u="none" strike="noStrike" kern="1200" cap="none" spc="0" normalizeH="0" noProof="0" dirty="0">
              <a:ln>
                <a:noFill/>
              </a:ln>
              <a:solidFill>
                <a:prstClr val="black"/>
              </a:solidFill>
              <a:effectLst/>
              <a:uLnTx/>
              <a:uFillTx/>
              <a:latin typeface="Calibri" panose="020F0502020204030204" pitchFamily="34" charset="0"/>
              <a:cs typeface="Calibri" panose="020F0502020204030204" pitchFamily="34" charset="0"/>
            </a:endParaRPr>
          </a:p>
          <a:p>
            <a:pPr marL="628650" lvl="1" indent="-171450">
              <a:buFont typeface="Arial" panose="020B0604020202020204" pitchFamily="34" charset="0"/>
              <a:buChar char="•"/>
              <a:defRPr/>
            </a:pPr>
            <a:r>
              <a:rPr lang="en-GB" sz="1200" noProof="0" dirty="0">
                <a:solidFill>
                  <a:prstClr val="black"/>
                </a:solidFill>
                <a:latin typeface="Calibri" panose="020F0502020204030204" pitchFamily="34" charset="0"/>
                <a:cs typeface="Calibri" panose="020F0502020204030204" pitchFamily="34" charset="0"/>
              </a:rPr>
              <a:t>Read  and annotate the information in the Frayer model or introduction text</a:t>
            </a:r>
          </a:p>
          <a:p>
            <a:pPr marL="628650" lvl="1" indent="-171450">
              <a:buFont typeface="Arial" panose="020B0604020202020204" pitchFamily="34" charset="0"/>
              <a:buChar char="•"/>
              <a:defRPr/>
            </a:pPr>
            <a:r>
              <a:rPr kumimoji="0" lang="en-GB" sz="1200" i="0" u="none" strike="noStrike" kern="1200" cap="none" spc="0" normalizeH="0" noProof="0" dirty="0">
                <a:ln>
                  <a:noFill/>
                </a:ln>
                <a:solidFill>
                  <a:prstClr val="black"/>
                </a:solidFill>
                <a:effectLst/>
                <a:uLnTx/>
                <a:uFillTx/>
                <a:latin typeface="Calibri" panose="020F0502020204030204" pitchFamily="34" charset="0"/>
                <a:cs typeface="Calibri" panose="020F0502020204030204" pitchFamily="34" charset="0"/>
              </a:rPr>
              <a:t>I do (teacher led example).</a:t>
            </a:r>
          </a:p>
          <a:p>
            <a:pPr marL="628650" lvl="1" indent="-171450">
              <a:buFont typeface="Arial" panose="020B0604020202020204" pitchFamily="34" charset="0"/>
              <a:buChar char="•"/>
              <a:defRPr/>
            </a:pPr>
            <a:r>
              <a:rPr lang="en-GB" sz="1200" noProof="0" dirty="0">
                <a:solidFill>
                  <a:prstClr val="black"/>
                </a:solidFill>
                <a:latin typeface="Calibri" panose="020F0502020204030204" pitchFamily="34" charset="0"/>
                <a:cs typeface="Calibri" panose="020F0502020204030204" pitchFamily="34" charset="0"/>
              </a:rPr>
              <a:t>We do (teacher and scholar led example).</a:t>
            </a:r>
          </a:p>
          <a:p>
            <a:pPr marL="628650" lvl="1" indent="-171450">
              <a:buFont typeface="Arial" panose="020B0604020202020204" pitchFamily="34" charset="0"/>
              <a:buChar char="•"/>
              <a:defRPr/>
            </a:pPr>
            <a:r>
              <a:rPr kumimoji="0" lang="en-GB" sz="1200" i="0" u="none" strike="noStrike" kern="1200" cap="none" spc="0" normalizeH="0" noProof="0" dirty="0">
                <a:ln>
                  <a:noFill/>
                </a:ln>
                <a:solidFill>
                  <a:prstClr val="black"/>
                </a:solidFill>
                <a:effectLst/>
                <a:uLnTx/>
                <a:uFillTx/>
                <a:latin typeface="Calibri" panose="020F0502020204030204" pitchFamily="34" charset="0"/>
                <a:cs typeface="Calibri" panose="020F0502020204030204" pitchFamily="34" charset="0"/>
              </a:rPr>
              <a:t>You do (independent scholar example).</a:t>
            </a:r>
          </a:p>
          <a:p>
            <a:pPr marL="628650" lvl="1" indent="-171450">
              <a:buFont typeface="Arial" panose="020B0604020202020204" pitchFamily="34" charset="0"/>
              <a:buChar char="•"/>
              <a:defRPr/>
            </a:pPr>
            <a:r>
              <a:rPr lang="en-GB" sz="1200" baseline="0" noProof="0" dirty="0">
                <a:solidFill>
                  <a:prstClr val="black"/>
                </a:solidFill>
                <a:latin typeface="Calibri" panose="020F0502020204030204" pitchFamily="34" charset="0"/>
                <a:cs typeface="Calibri" panose="020F0502020204030204" pitchFamily="34" charset="0"/>
              </a:rPr>
              <a:t>Whiteboard</a:t>
            </a:r>
            <a:r>
              <a:rPr lang="en-GB" sz="1200" noProof="0" dirty="0">
                <a:solidFill>
                  <a:prstClr val="black"/>
                </a:solidFill>
                <a:latin typeface="Calibri" panose="020F0502020204030204" pitchFamily="34" charset="0"/>
                <a:cs typeface="Calibri" panose="020F0502020204030204" pitchFamily="34" charset="0"/>
              </a:rPr>
              <a:t> check.</a:t>
            </a:r>
          </a:p>
          <a:p>
            <a:pPr marL="628650" lvl="1" indent="-171450">
              <a:buFont typeface="Arial" panose="020B0604020202020204" pitchFamily="34" charset="0"/>
              <a:buChar char="•"/>
              <a:defRPr/>
            </a:pPr>
            <a:r>
              <a:rPr kumimoji="0" lang="en-GB" sz="120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Independent</a:t>
            </a:r>
            <a:r>
              <a:rPr kumimoji="0" lang="en-GB" sz="1200" u="none" strike="noStrike" kern="1200" cap="none" spc="0" normalizeH="0" noProof="0" dirty="0">
                <a:ln>
                  <a:noFill/>
                </a:ln>
                <a:solidFill>
                  <a:prstClr val="black"/>
                </a:solidFill>
                <a:effectLst/>
                <a:uLnTx/>
                <a:uFillTx/>
                <a:latin typeface="Calibri" panose="020F0502020204030204" pitchFamily="34" charset="0"/>
                <a:cs typeface="Calibri" panose="020F0502020204030204" pitchFamily="34" charset="0"/>
              </a:rPr>
              <a:t> practice and mixed practice.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u="none" strike="noStrike" kern="1200" cap="none" spc="0" normalizeH="0" noProof="0" dirty="0">
              <a:ln>
                <a:noFill/>
              </a:ln>
              <a:solidFill>
                <a:prstClr val="black"/>
              </a:solidFill>
              <a:effectLst/>
              <a:uLnTx/>
              <a:uFillTx/>
              <a:latin typeface="Calibri" panose="020F0502020204030204" pitchFamily="34" charset="0"/>
              <a:cs typeface="Calibri" panose="020F0502020204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1" noProof="0" dirty="0">
                <a:solidFill>
                  <a:prstClr val="black"/>
                </a:solidFill>
                <a:latin typeface="Calibri" panose="020F0502020204030204" pitchFamily="34" charset="0"/>
                <a:cs typeface="Calibri" panose="020F0502020204030204" pitchFamily="34" charset="0"/>
              </a:rPr>
              <a:t>End of subtopic:</a:t>
            </a:r>
            <a:r>
              <a:rPr kumimoji="0" lang="en-GB" sz="1200" b="1" u="none" strike="noStrike" kern="1200" cap="none" spc="0" normalizeH="0" noProof="0" dirty="0">
                <a:ln>
                  <a:noFill/>
                </a:ln>
                <a:solidFill>
                  <a:prstClr val="black"/>
                </a:solidFill>
                <a:effectLst/>
                <a:uLnTx/>
                <a:uFillTx/>
                <a:latin typeface="Calibri" panose="020F0502020204030204" pitchFamily="34" charset="0"/>
                <a:cs typeface="Calibri" panose="020F0502020204030204" pitchFamily="34" charset="0"/>
              </a:rPr>
              <a:t> </a:t>
            </a:r>
          </a:p>
          <a:p>
            <a:pPr marL="628650" lvl="1" indent="-171450">
              <a:buFont typeface="Arial" panose="020B0604020202020204" pitchFamily="34" charset="0"/>
              <a:buChar char="•"/>
              <a:defRPr/>
            </a:pPr>
            <a:r>
              <a:rPr lang="en-GB" sz="1200" baseline="0" noProof="0" dirty="0">
                <a:solidFill>
                  <a:prstClr val="black"/>
                </a:solidFill>
                <a:latin typeface="Calibri" panose="020F0502020204030204" pitchFamily="34" charset="0"/>
                <a:cs typeface="Calibri" panose="020F0502020204030204" pitchFamily="34" charset="0"/>
              </a:rPr>
              <a:t>GCSE questions – to ensure you are confident with the style you will encounter in your exams</a:t>
            </a:r>
            <a:endParaRPr kumimoji="0" lang="en-GB" sz="1200" u="none" strike="noStrike" kern="1200" cap="none" spc="0" normalizeH="0" noProof="0" dirty="0">
              <a:ln>
                <a:noFill/>
              </a:ln>
              <a:solidFill>
                <a:prstClr val="black"/>
              </a:solidFill>
              <a:effectLst/>
              <a:uLnTx/>
              <a:uFillTx/>
              <a:latin typeface="Calibri" panose="020F0502020204030204" pitchFamily="34" charset="0"/>
              <a:cs typeface="Calibri" panose="020F0502020204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F77D4097-6D68-B5AB-7F97-1990F73B0961}"/>
              </a:ext>
            </a:extLst>
          </p:cNvPr>
          <p:cNvSpPr/>
          <p:nvPr/>
        </p:nvSpPr>
        <p:spPr>
          <a:xfrm>
            <a:off x="390015" y="6916998"/>
            <a:ext cx="6074564" cy="258839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F11EB924-471F-4BFC-6F4A-EFE903C7E4BC}"/>
              </a:ext>
            </a:extLst>
          </p:cNvPr>
          <p:cNvSpPr txBox="1"/>
          <p:nvPr/>
        </p:nvSpPr>
        <p:spPr>
          <a:xfrm>
            <a:off x="1715348" y="6880176"/>
            <a:ext cx="338376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BOOKLET STRUCTURE</a:t>
            </a:r>
          </a:p>
        </p:txBody>
      </p:sp>
    </p:spTree>
    <p:extLst>
      <p:ext uri="{BB962C8B-B14F-4D97-AF65-F5344CB8AC3E}">
        <p14:creationId xmlns:p14="http://schemas.microsoft.com/office/powerpoint/2010/main" val="1005434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85E66D-A82A-5E65-6FB9-B9726ACE0E17}"/>
              </a:ext>
            </a:extLst>
          </p:cNvPr>
          <p:cNvSpPr>
            <a:spLocks noGrp="1"/>
          </p:cNvSpPr>
          <p:nvPr>
            <p:ph type="sldNum" sz="quarter" idx="12"/>
          </p:nvPr>
        </p:nvSpPr>
        <p:spPr>
          <a:xfrm>
            <a:off x="5281613" y="9476672"/>
            <a:ext cx="1543050" cy="527403"/>
          </a:xfrm>
        </p:spPr>
        <p:txBody>
          <a:bodyPr/>
          <a:lstStyle/>
          <a:p>
            <a:fld id="{086C3A38-D272-42AA-9C88-F1FBEAE20D2C}" type="slidenum">
              <a:rPr lang="en-GB" noProof="0" smtClean="0"/>
              <a:t>4</a:t>
            </a:fld>
            <a:endParaRPr lang="en-GB" noProof="0" dirty="0"/>
          </a:p>
        </p:txBody>
      </p:sp>
      <p:sp>
        <p:nvSpPr>
          <p:cNvPr id="3" name="Rectangle 2">
            <a:extLst>
              <a:ext uri="{FF2B5EF4-FFF2-40B4-BE49-F238E27FC236}">
                <a16:creationId xmlns:a16="http://schemas.microsoft.com/office/drawing/2014/main" id="{352D07C6-173E-D017-2186-3A6FB8D99170}"/>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solidFill>
                  <a:schemeClr val="bg1"/>
                </a:solidFill>
              </a:rPr>
              <a:t>Subtopic 1 – </a:t>
            </a:r>
            <a:r>
              <a:rPr lang="en-GB" sz="1800" noProof="0" dirty="0">
                <a:effectLst/>
                <a:latin typeface="Calibri" panose="020F0502020204030204" pitchFamily="34" charset="0"/>
                <a:ea typeface="Calibri" panose="020F0502020204030204" pitchFamily="34" charset="0"/>
                <a:cs typeface="Times New Roman" panose="02020603050405020304" pitchFamily="18" charset="0"/>
              </a:rPr>
              <a:t>Rearranging </a:t>
            </a:r>
            <a:r>
              <a:rPr lang="en-GB" noProof="0" dirty="0">
                <a:latin typeface="Calibri" panose="020F0502020204030204" pitchFamily="34" charset="0"/>
                <a:ea typeface="Calibri" panose="020F0502020204030204" pitchFamily="34" charset="0"/>
                <a:cs typeface="Times New Roman" panose="02020603050405020304" pitchFamily="18" charset="0"/>
              </a:rPr>
              <a:t>Formulae/ Changing the Subject</a:t>
            </a:r>
            <a:endParaRPr lang="en-GB" sz="1800" b="0" i="0" noProof="0" dirty="0">
              <a:solidFill>
                <a:schemeClr val="bg1"/>
              </a:solidFill>
              <a:effectLst/>
              <a:latin typeface="Calibri Light" panose="020F0302020204030204" pitchFamily="34" charset="0"/>
              <a:cs typeface="Calibri Light" panose="020F0302020204030204" pitchFamily="34" charset="0"/>
            </a:endParaRPr>
          </a:p>
        </p:txBody>
      </p:sp>
      <p:sp>
        <p:nvSpPr>
          <p:cNvPr id="4" name="Rectangle 3">
            <a:extLst>
              <a:ext uri="{FF2B5EF4-FFF2-40B4-BE49-F238E27FC236}">
                <a16:creationId xmlns:a16="http://schemas.microsoft.com/office/drawing/2014/main" id="{C1A8C59C-55BB-4195-CEE0-9534A7797FB8}"/>
              </a:ext>
            </a:extLst>
          </p:cNvPr>
          <p:cNvSpPr/>
          <p:nvPr/>
        </p:nvSpPr>
        <p:spPr>
          <a:xfrm>
            <a:off x="86108" y="309496"/>
            <a:ext cx="6679742" cy="14353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noProof="0" dirty="0">
              <a:solidFill>
                <a:sysClr val="windowText" lastClr="000000"/>
              </a:solidFill>
            </a:endParaRPr>
          </a:p>
        </p:txBody>
      </p:sp>
      <p:sp>
        <p:nvSpPr>
          <p:cNvPr id="5" name="TextBox 4">
            <a:extLst>
              <a:ext uri="{FF2B5EF4-FFF2-40B4-BE49-F238E27FC236}">
                <a16:creationId xmlns:a16="http://schemas.microsoft.com/office/drawing/2014/main" id="{B2555FA6-7DE2-09C2-0879-F83E13C021EC}"/>
              </a:ext>
            </a:extLst>
          </p:cNvPr>
          <p:cNvSpPr txBox="1"/>
          <p:nvPr/>
        </p:nvSpPr>
        <p:spPr>
          <a:xfrm>
            <a:off x="72062" y="662545"/>
            <a:ext cx="1399768" cy="276999"/>
          </a:xfrm>
          <a:prstGeom prst="rect">
            <a:avLst/>
          </a:prstGeom>
          <a:noFill/>
        </p:spPr>
        <p:txBody>
          <a:bodyPr wrap="square" rtlCol="0">
            <a:spAutoFit/>
          </a:bodyPr>
          <a:lstStyle/>
          <a:p>
            <a:r>
              <a:rPr lang="en-GB" sz="1200" b="1" noProof="0" dirty="0"/>
              <a:t>Objectives:</a:t>
            </a:r>
          </a:p>
        </p:txBody>
      </p:sp>
      <p:sp>
        <p:nvSpPr>
          <p:cNvPr id="6" name="TextBox 5">
            <a:extLst>
              <a:ext uri="{FF2B5EF4-FFF2-40B4-BE49-F238E27FC236}">
                <a16:creationId xmlns:a16="http://schemas.microsoft.com/office/drawing/2014/main" id="{770F93AD-300C-2E56-A8E5-24FACB27BC40}"/>
              </a:ext>
            </a:extLst>
          </p:cNvPr>
          <p:cNvSpPr txBox="1"/>
          <p:nvPr/>
        </p:nvSpPr>
        <p:spPr>
          <a:xfrm>
            <a:off x="85040" y="892150"/>
            <a:ext cx="4667990" cy="646331"/>
          </a:xfrm>
          <a:prstGeom prst="rect">
            <a:avLst/>
          </a:prstGeom>
          <a:noFill/>
        </p:spPr>
        <p:txBody>
          <a:bodyPr wrap="square" rtlCol="0">
            <a:spAutoFit/>
          </a:bodyPr>
          <a:lstStyle/>
          <a:p>
            <a:pPr marL="342900" indent="-342900">
              <a:buFont typeface="+mj-lt"/>
              <a:buAutoNum type="arabicPeriod"/>
            </a:pPr>
            <a:r>
              <a:rPr lang="en-GB" sz="1200" noProof="0" dirty="0"/>
              <a:t>To be able to rearrange formulae with one-step</a:t>
            </a:r>
          </a:p>
          <a:p>
            <a:pPr marL="342900" indent="-342900">
              <a:buFont typeface="+mj-lt"/>
              <a:buAutoNum type="arabicPeriod"/>
            </a:pPr>
            <a:r>
              <a:rPr lang="en-GB" sz="1200" noProof="0" dirty="0"/>
              <a:t>To be able to rearrange formulae with two-steps</a:t>
            </a:r>
          </a:p>
          <a:p>
            <a:pPr marL="342900" indent="-342900">
              <a:buFont typeface="+mj-lt"/>
              <a:buAutoNum type="arabicPeriod"/>
            </a:pPr>
            <a:r>
              <a:rPr lang="en-GB" sz="1200" noProof="0" dirty="0"/>
              <a:t>To be able to rearrange formulae requiring many-steps</a:t>
            </a:r>
          </a:p>
        </p:txBody>
      </p:sp>
      <p:sp>
        <p:nvSpPr>
          <p:cNvPr id="7" name="TextBox 6">
            <a:extLst>
              <a:ext uri="{FF2B5EF4-FFF2-40B4-BE49-F238E27FC236}">
                <a16:creationId xmlns:a16="http://schemas.microsoft.com/office/drawing/2014/main" id="{A5B73CF7-4C62-83DC-56C0-001CE515D437}"/>
              </a:ext>
            </a:extLst>
          </p:cNvPr>
          <p:cNvSpPr txBox="1"/>
          <p:nvPr/>
        </p:nvSpPr>
        <p:spPr>
          <a:xfrm>
            <a:off x="142969" y="356923"/>
            <a:ext cx="6534707" cy="276999"/>
          </a:xfrm>
          <a:prstGeom prst="rect">
            <a:avLst/>
          </a:prstGeom>
          <a:noFill/>
          <a:ln>
            <a:solidFill>
              <a:schemeClr val="tx1"/>
            </a:solidFill>
          </a:ln>
        </p:spPr>
        <p:txBody>
          <a:bodyPr wrap="square" lIns="91440" tIns="45720" rIns="91440" bIns="45720" rtlCol="0" anchor="t">
            <a:spAutoFit/>
          </a:bodyPr>
          <a:lstStyle/>
          <a:p>
            <a:pPr algn="ctr"/>
            <a:r>
              <a:rPr lang="en-GB" sz="1200" noProof="0" dirty="0"/>
              <a:t>LEARNING OUTCOME: To be fluent when rearranging formulae/ changing the subject</a:t>
            </a:r>
          </a:p>
        </p:txBody>
      </p:sp>
      <p:sp>
        <p:nvSpPr>
          <p:cNvPr id="8" name="TextBox 7">
            <a:extLst>
              <a:ext uri="{FF2B5EF4-FFF2-40B4-BE49-F238E27FC236}">
                <a16:creationId xmlns:a16="http://schemas.microsoft.com/office/drawing/2014/main" id="{4656C853-B49D-CF98-B63A-94EA22F60E00}"/>
              </a:ext>
            </a:extLst>
          </p:cNvPr>
          <p:cNvSpPr txBox="1"/>
          <p:nvPr/>
        </p:nvSpPr>
        <p:spPr>
          <a:xfrm>
            <a:off x="5684384" y="671871"/>
            <a:ext cx="986253" cy="1015663"/>
          </a:xfrm>
          <a:prstGeom prst="rect">
            <a:avLst/>
          </a:prstGeom>
          <a:noFill/>
          <a:ln w="12700">
            <a:solidFill>
              <a:schemeClr val="tx1"/>
            </a:solidFill>
          </a:ln>
        </p:spPr>
        <p:txBody>
          <a:bodyPr wrap="square" rtlCol="0">
            <a:spAutoFit/>
          </a:bodyPr>
          <a:lstStyle/>
          <a:p>
            <a:r>
              <a:rPr lang="en-GB" sz="1200" b="1" u="sng" noProof="0" dirty="0"/>
              <a:t>Keywords:</a:t>
            </a:r>
            <a:endParaRPr lang="en-GB" sz="1200" noProof="0" dirty="0"/>
          </a:p>
          <a:p>
            <a:pPr marL="171450" indent="-171450">
              <a:buFontTx/>
              <a:buChar char="-"/>
            </a:pPr>
            <a:r>
              <a:rPr lang="en-GB" sz="1200" noProof="0" dirty="0"/>
              <a:t>Equation</a:t>
            </a:r>
          </a:p>
          <a:p>
            <a:pPr marL="171450" indent="-171450">
              <a:buFontTx/>
              <a:buChar char="-"/>
            </a:pPr>
            <a:r>
              <a:rPr lang="en-GB" sz="1200" noProof="0" dirty="0"/>
              <a:t>Subject</a:t>
            </a:r>
          </a:p>
          <a:p>
            <a:pPr marL="171450" indent="-171450">
              <a:buFontTx/>
              <a:buChar char="-"/>
            </a:pPr>
            <a:r>
              <a:rPr lang="en-GB" sz="1200" noProof="0" dirty="0"/>
              <a:t>Inverse</a:t>
            </a:r>
          </a:p>
          <a:p>
            <a:pPr marL="171450" indent="-171450">
              <a:buFontTx/>
              <a:buChar char="-"/>
            </a:pPr>
            <a:r>
              <a:rPr lang="en-GB" sz="1200" noProof="0" dirty="0"/>
              <a:t>Formulae</a:t>
            </a:r>
          </a:p>
        </p:txBody>
      </p:sp>
      <p:sp>
        <p:nvSpPr>
          <p:cNvPr id="22" name="Rectangle 21">
            <a:extLst>
              <a:ext uri="{FF2B5EF4-FFF2-40B4-BE49-F238E27FC236}">
                <a16:creationId xmlns:a16="http://schemas.microsoft.com/office/drawing/2014/main" id="{D059E010-4849-81D7-F453-10DD73E17728}"/>
              </a:ext>
            </a:extLst>
          </p:cNvPr>
          <p:cNvSpPr/>
          <p:nvPr/>
        </p:nvSpPr>
        <p:spPr>
          <a:xfrm>
            <a:off x="86109" y="1819625"/>
            <a:ext cx="6679742" cy="12498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200" b="1" noProof="0" dirty="0">
                <a:solidFill>
                  <a:schemeClr val="tx1"/>
                </a:solidFill>
              </a:rPr>
              <a:t>Introduction/Recap </a:t>
            </a:r>
          </a:p>
          <a:p>
            <a:pPr marL="228600" indent="-228600">
              <a:buFont typeface="+mj-lt"/>
              <a:buAutoNum type="arabicPeriod"/>
            </a:pPr>
            <a:r>
              <a:rPr lang="en-GB" sz="1200" noProof="0" dirty="0">
                <a:solidFill>
                  <a:schemeClr val="tx1"/>
                </a:solidFill>
              </a:rPr>
              <a:t>Rearranging formulae is a lot like solving equations—you still use inverse operations on both sides to</a:t>
            </a:r>
          </a:p>
          <a:p>
            <a:pPr marL="228600" indent="-228600">
              <a:buFont typeface="+mj-lt"/>
              <a:buAutoNum type="arabicPeriod"/>
            </a:pPr>
            <a:r>
              <a:rPr lang="en-GB" sz="1200" noProof="0" dirty="0">
                <a:solidFill>
                  <a:schemeClr val="tx1"/>
                </a:solidFill>
              </a:rPr>
              <a:t>keep things balanced. The difference is, instead of finding a number, you're working to make a</a:t>
            </a:r>
          </a:p>
          <a:p>
            <a:pPr marL="228600" indent="-228600">
              <a:buFont typeface="+mj-lt"/>
              <a:buAutoNum type="arabicPeriod"/>
            </a:pPr>
            <a:r>
              <a:rPr lang="en-GB" sz="1200" noProof="0" dirty="0">
                <a:solidFill>
                  <a:schemeClr val="tx1"/>
                </a:solidFill>
              </a:rPr>
              <a:t>specific variable (called the </a:t>
            </a:r>
            <a:r>
              <a:rPr lang="en-GB" sz="1200" i="1" noProof="0" dirty="0">
                <a:solidFill>
                  <a:schemeClr val="tx1"/>
                </a:solidFill>
              </a:rPr>
              <a:t>subject</a:t>
            </a:r>
            <a:r>
              <a:rPr lang="en-GB" sz="1200" noProof="0" dirty="0">
                <a:solidFill>
                  <a:schemeClr val="tx1"/>
                </a:solidFill>
              </a:rPr>
              <a:t>) stand alone. Making a variable the subject means rewriting the</a:t>
            </a:r>
          </a:p>
          <a:p>
            <a:pPr marL="228600" indent="-228600">
              <a:buFont typeface="+mj-lt"/>
              <a:buAutoNum type="arabicPeriod"/>
            </a:pPr>
            <a:r>
              <a:rPr lang="en-GB" sz="1200" noProof="0" dirty="0">
                <a:solidFill>
                  <a:schemeClr val="tx1"/>
                </a:solidFill>
              </a:rPr>
              <a:t>equation so that it’s isolated on one side, usually the left. This lets you express that variable in terms</a:t>
            </a:r>
          </a:p>
          <a:p>
            <a:pPr marL="228600" indent="-228600">
              <a:buFont typeface="+mj-lt"/>
              <a:buAutoNum type="arabicPeriod"/>
            </a:pPr>
            <a:r>
              <a:rPr lang="en-GB" sz="1200" noProof="0" dirty="0">
                <a:solidFill>
                  <a:schemeClr val="tx1"/>
                </a:solidFill>
              </a:rPr>
              <a:t>of the others. This is sometimes called </a:t>
            </a:r>
            <a:r>
              <a:rPr lang="en-GB" sz="1200" b="1" noProof="0" dirty="0">
                <a:solidFill>
                  <a:schemeClr val="tx1"/>
                </a:solidFill>
              </a:rPr>
              <a:t>changing the subject.</a:t>
            </a:r>
            <a:endParaRPr lang="en-GB" sz="1200" noProof="0" dirty="0">
              <a:solidFill>
                <a:schemeClr val="tx1"/>
              </a:solidFill>
            </a:endParaRPr>
          </a:p>
        </p:txBody>
      </p:sp>
      <p:sp>
        <p:nvSpPr>
          <p:cNvPr id="15" name="Rectangle 14">
            <a:extLst>
              <a:ext uri="{FF2B5EF4-FFF2-40B4-BE49-F238E27FC236}">
                <a16:creationId xmlns:a16="http://schemas.microsoft.com/office/drawing/2014/main" id="{9546560C-03EE-FB7F-947F-F83BE792D7C5}"/>
              </a:ext>
            </a:extLst>
          </p:cNvPr>
          <p:cNvSpPr/>
          <p:nvPr/>
        </p:nvSpPr>
        <p:spPr>
          <a:xfrm>
            <a:off x="86108" y="3144195"/>
            <a:ext cx="6679742" cy="107510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200" b="1" noProof="0" dirty="0">
                <a:solidFill>
                  <a:schemeClr val="tx1"/>
                </a:solidFill>
              </a:rPr>
              <a:t>Prior Knowledge Quiz – One Step Rearranging</a:t>
            </a:r>
          </a:p>
          <a:p>
            <a:r>
              <a:rPr lang="en-GB" sz="1200" noProof="0" dirty="0">
                <a:solidFill>
                  <a:schemeClr val="tx1"/>
                </a:solidFill>
              </a:rPr>
              <a:t>There are many types of ‘rearranging’ and ‘changing the subject’ questions – they can be simple or get very challenging. The Quiz  on the pages below should be attempted individually, and your teacher will assess how much recapping is needed before you move on to more advanced algebra topics. The later topics generally rely on you being able to rearrange formulae fluently.</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042B01D-59FB-D374-D810-688C53AC78F4}"/>
                  </a:ext>
                </a:extLst>
              </p:cNvPr>
              <p:cNvSpPr txBox="1"/>
              <p:nvPr/>
            </p:nvSpPr>
            <p:spPr>
              <a:xfrm>
                <a:off x="-235732" y="4256768"/>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1.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16" name="TextBox 15">
                <a:extLst>
                  <a:ext uri="{FF2B5EF4-FFF2-40B4-BE49-F238E27FC236}">
                    <a16:creationId xmlns:a16="http://schemas.microsoft.com/office/drawing/2014/main" id="{8042B01D-59FB-D374-D810-688C53AC78F4}"/>
                  </a:ext>
                </a:extLst>
              </p:cNvPr>
              <p:cNvSpPr txBox="1">
                <a:spLocks noRot="1" noChangeAspect="1" noMove="1" noResize="1" noEditPoints="1" noAdjustHandles="1" noChangeArrowheads="1" noChangeShapeType="1" noTextEdit="1"/>
              </p:cNvSpPr>
              <p:nvPr/>
            </p:nvSpPr>
            <p:spPr>
              <a:xfrm>
                <a:off x="-235732" y="4256768"/>
                <a:ext cx="3646054" cy="276999"/>
              </a:xfrm>
              <a:prstGeom prst="rect">
                <a:avLst/>
              </a:prstGeom>
              <a:blipFill>
                <a:blip r:embed="rId2"/>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6FBE5AC2-90AA-1FC0-ADF6-ACA5BF09F159}"/>
                  </a:ext>
                </a:extLst>
              </p:cNvPr>
              <p:cNvGraphicFramePr>
                <a:graphicFrameLocks noGrp="1"/>
              </p:cNvGraphicFramePr>
              <p:nvPr>
                <p:extLst>
                  <p:ext uri="{D42A27DB-BD31-4B8C-83A1-F6EECF244321}">
                    <p14:modId xmlns:p14="http://schemas.microsoft.com/office/powerpoint/2010/main" val="145065972"/>
                  </p:ext>
                </p:extLst>
              </p:nvPr>
            </p:nvGraphicFramePr>
            <p:xfrm>
              <a:off x="69366" y="4533767"/>
              <a:ext cx="6681912" cy="140400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1404000">
                    <a:tc>
                      <a:txBody>
                        <a:bodyPr/>
                        <a:lstStyle/>
                        <a:p>
                          <a:r>
                            <a:rPr lang="en-GB" sz="1200" b="0" noProof="0" dirty="0">
                              <a:solidFill>
                                <a:schemeClr val="tx1"/>
                              </a:solidFill>
                            </a:rPr>
                            <a:t>a)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𝑝</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𝑘</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b)</a:t>
                          </a:r>
                          <a14:m>
                            <m:oMath xmlns:m="http://schemas.openxmlformats.org/officeDocument/2006/math">
                              <m: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𝑦</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c)</a:t>
                          </a:r>
                          <a:r>
                            <a:rPr lang="en-GB" sz="1200" b="0" baseline="0" noProof="0" dirty="0">
                              <a:solidFill>
                                <a:schemeClr val="tx1"/>
                              </a:solidFill>
                            </a:rPr>
                            <a:t>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d) </a:t>
                          </a:r>
                          <a14:m>
                            <m:oMath xmlns:m="http://schemas.openxmlformats.org/officeDocument/2006/math">
                              <m:f>
                                <m:f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𝑏</m:t>
                                  </m:r>
                                </m:num>
                                <m:den>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den>
                              </m:f>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4583780"/>
                      </a:ext>
                    </a:extLst>
                  </a:tr>
                </a:tbl>
              </a:graphicData>
            </a:graphic>
          </p:graphicFrame>
        </mc:Choice>
        <mc:Fallback xmlns="">
          <p:graphicFrame>
            <p:nvGraphicFramePr>
              <p:cNvPr id="18" name="Table 17">
                <a:extLst>
                  <a:ext uri="{FF2B5EF4-FFF2-40B4-BE49-F238E27FC236}">
                    <a16:creationId xmlns:a16="http://schemas.microsoft.com/office/drawing/2014/main" id="{6FBE5AC2-90AA-1FC0-ADF6-ACA5BF09F159}"/>
                  </a:ext>
                </a:extLst>
              </p:cNvPr>
              <p:cNvGraphicFramePr>
                <a:graphicFrameLocks noGrp="1"/>
              </p:cNvGraphicFramePr>
              <p:nvPr>
                <p:extLst>
                  <p:ext uri="{D42A27DB-BD31-4B8C-83A1-F6EECF244321}">
                    <p14:modId xmlns:p14="http://schemas.microsoft.com/office/powerpoint/2010/main" val="145065972"/>
                  </p:ext>
                </p:extLst>
              </p:nvPr>
            </p:nvGraphicFramePr>
            <p:xfrm>
              <a:off x="69366" y="4533767"/>
              <a:ext cx="6681912" cy="140400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1404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5" t="-431" r="-301095" b="-86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431" r="-200000" b="-86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730" t="-431" r="-100730" b="-86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730" t="-431" r="-730" b="-862"/>
                          </a:stretch>
                        </a:blipFill>
                      </a:tcPr>
                    </a:tc>
                    <a:extLst>
                      <a:ext uri="{0D108BD9-81ED-4DB2-BD59-A6C34878D82A}">
                        <a16:rowId xmlns:a16="http://schemas.microsoft.com/office/drawing/2014/main" val="289458378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6" name="Table 35">
                <a:extLst>
                  <a:ext uri="{FF2B5EF4-FFF2-40B4-BE49-F238E27FC236}">
                    <a16:creationId xmlns:a16="http://schemas.microsoft.com/office/drawing/2014/main" id="{325563D0-6FE8-F033-5BD9-AF2F93CC60D0}"/>
                  </a:ext>
                </a:extLst>
              </p:cNvPr>
              <p:cNvGraphicFramePr>
                <a:graphicFrameLocks noGrp="1"/>
              </p:cNvGraphicFramePr>
              <p:nvPr>
                <p:extLst>
                  <p:ext uri="{D42A27DB-BD31-4B8C-83A1-F6EECF244321}">
                    <p14:modId xmlns:p14="http://schemas.microsoft.com/office/powerpoint/2010/main" val="3157636022"/>
                  </p:ext>
                </p:extLst>
              </p:nvPr>
            </p:nvGraphicFramePr>
            <p:xfrm>
              <a:off x="99615" y="6436490"/>
              <a:ext cx="6681912" cy="3040182"/>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873491915"/>
                        </a:ext>
                      </a:extLst>
                    </a:gridCol>
                    <a:gridCol w="1670478">
                      <a:extLst>
                        <a:ext uri="{9D8B030D-6E8A-4147-A177-3AD203B41FA5}">
                          <a16:colId xmlns:a16="http://schemas.microsoft.com/office/drawing/2014/main" val="2475474767"/>
                        </a:ext>
                      </a:extLst>
                    </a:gridCol>
                    <a:gridCol w="1670478">
                      <a:extLst>
                        <a:ext uri="{9D8B030D-6E8A-4147-A177-3AD203B41FA5}">
                          <a16:colId xmlns:a16="http://schemas.microsoft.com/office/drawing/2014/main" val="1424946353"/>
                        </a:ext>
                      </a:extLst>
                    </a:gridCol>
                    <a:gridCol w="1670478">
                      <a:extLst>
                        <a:ext uri="{9D8B030D-6E8A-4147-A177-3AD203B41FA5}">
                          <a16:colId xmlns:a16="http://schemas.microsoft.com/office/drawing/2014/main" val="3283084615"/>
                        </a:ext>
                      </a:extLst>
                    </a:gridCol>
                  </a:tblGrid>
                  <a:tr h="1520091">
                    <a:tc>
                      <a:txBody>
                        <a:bodyPr/>
                        <a:lstStyle/>
                        <a:p>
                          <a:r>
                            <a:rPr lang="en-GB" sz="1200" b="0" noProof="0" dirty="0">
                              <a:solidFill>
                                <a:schemeClr val="tx1"/>
                              </a:solidFill>
                            </a:rPr>
                            <a:t>a) </a:t>
                          </a:r>
                          <a14:m>
                            <m:oMath xmlns:m="http://schemas.openxmlformats.org/officeDocument/2006/math">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b)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2</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c)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𝑐</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d) </a:t>
                          </a:r>
                          <a14:m>
                            <m:oMath xmlns:m="http://schemas.openxmlformats.org/officeDocument/2006/math">
                              <m:r>
                                <a:rPr lang="en-GB" sz="1200" b="0" i="1" noProof="0" smtClean="0">
                                  <a:solidFill>
                                    <a:schemeClr val="tx1"/>
                                  </a:solidFill>
                                  <a:latin typeface="Cambria Math" panose="02040503050406030204" pitchFamily="18" charset="0"/>
                                </a:rPr>
                                <m:t>𝑥𝑐</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5669354"/>
                      </a:ext>
                    </a:extLst>
                  </a:tr>
                  <a:tr h="1520091">
                    <a:tc>
                      <a:txBody>
                        <a:bodyPr/>
                        <a:lstStyle/>
                        <a:p>
                          <a:r>
                            <a:rPr lang="en-GB" sz="1200" b="0" noProof="0" dirty="0"/>
                            <a:t>e) </a:t>
                          </a:r>
                          <a14:m>
                            <m:oMath xmlns:m="http://schemas.openxmlformats.org/officeDocument/2006/math">
                              <m:r>
                                <a:rPr lang="en-GB" sz="1200" b="0" i="1" noProof="0" smtClean="0">
                                  <a:latin typeface="Cambria Math" panose="02040503050406030204" pitchFamily="18" charset="0"/>
                                </a:rPr>
                                <m:t>𝑎𝑏</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𝑐𝑥</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f) </a:t>
                          </a:r>
                          <a14:m>
                            <m:oMath xmlns:m="http://schemas.openxmlformats.org/officeDocument/2006/math">
                              <m:r>
                                <a:rPr lang="en-GB" sz="1200" b="0" i="1" noProof="0" smtClean="0">
                                  <a:latin typeface="Cambria Math" panose="02040503050406030204" pitchFamily="18" charset="0"/>
                                </a:rPr>
                                <m:t>𝑎𝑏</m:t>
                              </m:r>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𝑑</m:t>
                                  </m:r>
                                </m:den>
                              </m:f>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g)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𝑏𝑐</m:t>
                                  </m:r>
                                </m:den>
                              </m:f>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h) </a:t>
                          </a:r>
                          <a14:m>
                            <m:oMath xmlns:m="http://schemas.openxmlformats.org/officeDocument/2006/math">
                              <m:r>
                                <a:rPr lang="en-GB" sz="1200" b="0" i="1" noProof="0" smtClean="0">
                                  <a:latin typeface="Cambria Math" panose="02040503050406030204" pitchFamily="18" charset="0"/>
                                </a:rPr>
                                <m:t>𝑚𝑥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𝑤</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𝑞</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9249069"/>
                      </a:ext>
                    </a:extLst>
                  </a:tr>
                </a:tbl>
              </a:graphicData>
            </a:graphic>
          </p:graphicFrame>
        </mc:Choice>
        <mc:Fallback xmlns="">
          <p:graphicFrame>
            <p:nvGraphicFramePr>
              <p:cNvPr id="36" name="Table 35">
                <a:extLst>
                  <a:ext uri="{FF2B5EF4-FFF2-40B4-BE49-F238E27FC236}">
                    <a16:creationId xmlns:a16="http://schemas.microsoft.com/office/drawing/2014/main" id="{325563D0-6FE8-F033-5BD9-AF2F93CC60D0}"/>
                  </a:ext>
                </a:extLst>
              </p:cNvPr>
              <p:cNvGraphicFramePr>
                <a:graphicFrameLocks noGrp="1"/>
              </p:cNvGraphicFramePr>
              <p:nvPr>
                <p:extLst>
                  <p:ext uri="{D42A27DB-BD31-4B8C-83A1-F6EECF244321}">
                    <p14:modId xmlns:p14="http://schemas.microsoft.com/office/powerpoint/2010/main" val="3157636022"/>
                  </p:ext>
                </p:extLst>
              </p:nvPr>
            </p:nvGraphicFramePr>
            <p:xfrm>
              <a:off x="99615" y="6436490"/>
              <a:ext cx="6681912" cy="3040182"/>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873491915"/>
                        </a:ext>
                      </a:extLst>
                    </a:gridCol>
                    <a:gridCol w="1670478">
                      <a:extLst>
                        <a:ext uri="{9D8B030D-6E8A-4147-A177-3AD203B41FA5}">
                          <a16:colId xmlns:a16="http://schemas.microsoft.com/office/drawing/2014/main" val="2475474767"/>
                        </a:ext>
                      </a:extLst>
                    </a:gridCol>
                    <a:gridCol w="1670478">
                      <a:extLst>
                        <a:ext uri="{9D8B030D-6E8A-4147-A177-3AD203B41FA5}">
                          <a16:colId xmlns:a16="http://schemas.microsoft.com/office/drawing/2014/main" val="1424946353"/>
                        </a:ext>
                      </a:extLst>
                    </a:gridCol>
                    <a:gridCol w="1670478">
                      <a:extLst>
                        <a:ext uri="{9D8B030D-6E8A-4147-A177-3AD203B41FA5}">
                          <a16:colId xmlns:a16="http://schemas.microsoft.com/office/drawing/2014/main" val="3283084615"/>
                        </a:ext>
                      </a:extLst>
                    </a:gridCol>
                  </a:tblGrid>
                  <a:tr h="152009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65" t="-400" r="-301095" b="-1008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000" t="-400" r="-200000" b="-1008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730" t="-400" r="-100730" b="-1008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0730" t="-400" r="-730" b="-100800"/>
                          </a:stretch>
                        </a:blipFill>
                      </a:tcPr>
                    </a:tc>
                    <a:extLst>
                      <a:ext uri="{0D108BD9-81ED-4DB2-BD59-A6C34878D82A}">
                        <a16:rowId xmlns:a16="http://schemas.microsoft.com/office/drawing/2014/main" val="495669354"/>
                      </a:ext>
                    </a:extLst>
                  </a:tr>
                  <a:tr h="152009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65" t="-100400" r="-301095" b="-8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000" t="-100400" r="-200000" b="-8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730" t="-100400" r="-100730" b="-8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0730" t="-100400" r="-730" b="-800"/>
                          </a:stretch>
                        </a:blipFill>
                      </a:tcPr>
                    </a:tc>
                    <a:extLst>
                      <a:ext uri="{0D108BD9-81ED-4DB2-BD59-A6C34878D82A}">
                        <a16:rowId xmlns:a16="http://schemas.microsoft.com/office/drawing/2014/main" val="449249069"/>
                      </a:ext>
                    </a:extLst>
                  </a:tr>
                </a:tbl>
              </a:graphicData>
            </a:graphic>
          </p:graphicFrame>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34B110D-5E3E-4BC5-50FC-3A3CB287BAD6}"/>
                  </a:ext>
                </a:extLst>
              </p:cNvPr>
              <p:cNvSpPr txBox="1"/>
              <p:nvPr/>
            </p:nvSpPr>
            <p:spPr>
              <a:xfrm>
                <a:off x="-220075" y="6126721"/>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2.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38" name="TextBox 37">
                <a:extLst>
                  <a:ext uri="{FF2B5EF4-FFF2-40B4-BE49-F238E27FC236}">
                    <a16:creationId xmlns:a16="http://schemas.microsoft.com/office/drawing/2014/main" id="{834B110D-5E3E-4BC5-50FC-3A3CB287BAD6}"/>
                  </a:ext>
                </a:extLst>
              </p:cNvPr>
              <p:cNvSpPr txBox="1">
                <a:spLocks noRot="1" noChangeAspect="1" noMove="1" noResize="1" noEditPoints="1" noAdjustHandles="1" noChangeArrowheads="1" noChangeShapeType="1" noTextEdit="1"/>
              </p:cNvSpPr>
              <p:nvPr/>
            </p:nvSpPr>
            <p:spPr>
              <a:xfrm>
                <a:off x="-220075" y="6126721"/>
                <a:ext cx="3646054" cy="276999"/>
              </a:xfrm>
              <a:prstGeom prst="rect">
                <a:avLst/>
              </a:prstGeom>
              <a:blipFill>
                <a:blip r:embed="rId9"/>
                <a:stretch>
                  <a:fillRect b="-17778"/>
                </a:stretch>
              </a:blipFill>
            </p:spPr>
            <p:txBody>
              <a:bodyPr/>
              <a:lstStyle/>
              <a:p>
                <a:r>
                  <a:rPr lang="en-US">
                    <a:noFill/>
                  </a:rPr>
                  <a:t> </a:t>
                </a:r>
              </a:p>
            </p:txBody>
          </p:sp>
        </mc:Fallback>
      </mc:AlternateContent>
    </p:spTree>
    <p:extLst>
      <p:ext uri="{BB962C8B-B14F-4D97-AF65-F5344CB8AC3E}">
        <p14:creationId xmlns:p14="http://schemas.microsoft.com/office/powerpoint/2010/main" val="271517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7BA6A5-ED37-C20B-70BA-C270B85E74EC}"/>
              </a:ext>
            </a:extLst>
          </p:cNvPr>
          <p:cNvSpPr>
            <a:spLocks noGrp="1"/>
          </p:cNvSpPr>
          <p:nvPr>
            <p:ph type="sldNum" sz="quarter" idx="12"/>
          </p:nvPr>
        </p:nvSpPr>
        <p:spPr>
          <a:xfrm>
            <a:off x="5314950" y="9493607"/>
            <a:ext cx="1543050" cy="527403"/>
          </a:xfrm>
        </p:spPr>
        <p:txBody>
          <a:bodyPr/>
          <a:lstStyle/>
          <a:p>
            <a:fld id="{086C3A38-D272-42AA-9C88-F1FBEAE20D2C}" type="slidenum">
              <a:rPr lang="en-GB" noProof="0" smtClean="0"/>
              <a:t>5</a:t>
            </a:fld>
            <a:endParaRPr lang="en-GB" noProof="0"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D630E05-B610-4197-6120-2B6BE949A3CA}"/>
                  </a:ext>
                </a:extLst>
              </p:cNvPr>
              <p:cNvSpPr txBox="1"/>
              <p:nvPr/>
            </p:nvSpPr>
            <p:spPr>
              <a:xfrm>
                <a:off x="-176298" y="117672"/>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3.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16" name="TextBox 15">
                <a:extLst>
                  <a:ext uri="{FF2B5EF4-FFF2-40B4-BE49-F238E27FC236}">
                    <a16:creationId xmlns:a16="http://schemas.microsoft.com/office/drawing/2014/main" id="{3D630E05-B610-4197-6120-2B6BE949A3CA}"/>
                  </a:ext>
                </a:extLst>
              </p:cNvPr>
              <p:cNvSpPr txBox="1">
                <a:spLocks noRot="1" noChangeAspect="1" noMove="1" noResize="1" noEditPoints="1" noAdjustHandles="1" noChangeArrowheads="1" noChangeShapeType="1" noTextEdit="1"/>
              </p:cNvSpPr>
              <p:nvPr/>
            </p:nvSpPr>
            <p:spPr>
              <a:xfrm>
                <a:off x="-176298" y="117672"/>
                <a:ext cx="3646054" cy="276999"/>
              </a:xfrm>
              <a:prstGeom prst="rect">
                <a:avLst/>
              </a:prstGeom>
              <a:blipFill>
                <a:blip r:embed="rId2"/>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05A1A7EB-9212-705A-A88C-1554F7E18874}"/>
                  </a:ext>
                </a:extLst>
              </p:cNvPr>
              <p:cNvGraphicFramePr>
                <a:graphicFrameLocks noGrp="1"/>
              </p:cNvGraphicFramePr>
              <p:nvPr>
                <p:extLst>
                  <p:ext uri="{D42A27DB-BD31-4B8C-83A1-F6EECF244321}">
                    <p14:modId xmlns:p14="http://schemas.microsoft.com/office/powerpoint/2010/main" val="301732012"/>
                  </p:ext>
                </p:extLst>
              </p:nvPr>
            </p:nvGraphicFramePr>
            <p:xfrm>
              <a:off x="88044" y="441297"/>
              <a:ext cx="6681912" cy="2994234"/>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2173404643"/>
                        </a:ext>
                      </a:extLst>
                    </a:gridCol>
                    <a:gridCol w="1670478">
                      <a:extLst>
                        <a:ext uri="{9D8B030D-6E8A-4147-A177-3AD203B41FA5}">
                          <a16:colId xmlns:a16="http://schemas.microsoft.com/office/drawing/2014/main" val="3012951211"/>
                        </a:ext>
                      </a:extLst>
                    </a:gridCol>
                    <a:gridCol w="1670478">
                      <a:extLst>
                        <a:ext uri="{9D8B030D-6E8A-4147-A177-3AD203B41FA5}">
                          <a16:colId xmlns:a16="http://schemas.microsoft.com/office/drawing/2014/main" val="3671613065"/>
                        </a:ext>
                      </a:extLst>
                    </a:gridCol>
                    <a:gridCol w="1670478">
                      <a:extLst>
                        <a:ext uri="{9D8B030D-6E8A-4147-A177-3AD203B41FA5}">
                          <a16:colId xmlns:a16="http://schemas.microsoft.com/office/drawing/2014/main" val="1554076239"/>
                        </a:ext>
                      </a:extLst>
                    </a:gridCol>
                  </a:tblGrid>
                  <a:tr h="1497117">
                    <a:tc>
                      <a:txBody>
                        <a:bodyPr/>
                        <a:lstStyle/>
                        <a:p>
                          <a:r>
                            <a:rPr lang="en-GB" sz="1200" b="0" noProof="0" dirty="0">
                              <a:solidFill>
                                <a:schemeClr val="tx1"/>
                              </a:solidFill>
                            </a:rPr>
                            <a:t>a) </a:t>
                          </a:r>
                          <a14:m>
                            <m:oMath xmlns:m="http://schemas.openxmlformats.org/officeDocument/2006/math">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b) </a:t>
                          </a:r>
                          <a14:m>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c) </a:t>
                          </a:r>
                          <a14:m>
                            <m:oMath xmlns:m="http://schemas.openxmlformats.org/officeDocument/2006/math">
                              <m:rad>
                                <m:radPr>
                                  <m:degHide m:val="on"/>
                                  <m:ctrlPr>
                                    <a:rPr lang="en-GB" sz="1200" b="0" i="1" noProof="0" smtClean="0">
                                      <a:solidFill>
                                        <a:schemeClr val="tx1"/>
                                      </a:solidFill>
                                      <a:latin typeface="Cambria Math" panose="02040503050406030204" pitchFamily="18" charset="0"/>
                                    </a:rPr>
                                  </m:ctrlPr>
                                </m:radPr>
                                <m:deg/>
                                <m:e>
                                  <m:r>
                                    <a:rPr lang="en-GB" sz="1200" b="0" i="1" noProof="0" smtClean="0">
                                      <a:solidFill>
                                        <a:schemeClr val="tx1"/>
                                      </a:solidFill>
                                      <a:latin typeface="Cambria Math" panose="02040503050406030204" pitchFamily="18" charset="0"/>
                                    </a:rPr>
                                    <m:t>𝑥</m:t>
                                  </m:r>
                                </m:e>
                              </m:ra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d) </a:t>
                          </a:r>
                          <a14:m>
                            <m:oMath xmlns:m="http://schemas.openxmlformats.org/officeDocument/2006/math">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+5</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6429053"/>
                      </a:ext>
                    </a:extLst>
                  </a:tr>
                  <a:tr h="1497117">
                    <a:tc>
                      <a:txBody>
                        <a:bodyPr/>
                        <a:lstStyle/>
                        <a:p>
                          <a:r>
                            <a:rPr lang="en-GB" sz="1200" b="0" noProof="0" dirty="0"/>
                            <a:t>e)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=2</m:t>
                              </m:r>
                              <m:r>
                                <a:rPr lang="en-GB" sz="1200" b="0" i="1" noProof="0" smtClean="0">
                                  <a:latin typeface="Cambria Math" panose="02040503050406030204" pitchFamily="18" charset="0"/>
                                </a:rPr>
                                <m:t>𝑦</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f) </a:t>
                          </a:r>
                          <a14:m>
                            <m:oMath xmlns:m="http://schemas.openxmlformats.org/officeDocument/2006/math">
                              <m:rad>
                                <m:radPr>
                                  <m:degHide m:val="on"/>
                                  <m:ctrlPr>
                                    <a:rPr lang="en-GB" sz="1200" b="0" i="1" noProof="0" smtClean="0">
                                      <a:latin typeface="Cambria Math" panose="02040503050406030204" pitchFamily="18" charset="0"/>
                                    </a:rPr>
                                  </m:ctrlPr>
                                </m:radPr>
                                <m:deg/>
                                <m:e>
                                  <m:r>
                                    <a:rPr lang="en-GB" sz="1200" b="0" i="1" noProof="0" smtClean="0">
                                      <a:latin typeface="Cambria Math" panose="02040503050406030204" pitchFamily="18" charset="0"/>
                                    </a:rPr>
                                    <m:t>𝑥</m:t>
                                  </m:r>
                                </m:e>
                              </m:rad>
                              <m:r>
                                <a:rPr lang="en-GB" sz="1200" b="0" i="1" noProof="0" smtClean="0">
                                  <a:latin typeface="Cambria Math" panose="02040503050406030204" pitchFamily="18" charset="0"/>
                                </a:rPr>
                                <m:t>=</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+1</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g)</a:t>
                          </a:r>
                          <a14:m>
                            <m:oMath xmlns:m="http://schemas.openxmlformats.org/officeDocument/2006/math">
                              <m:r>
                                <a:rPr lang="en-GB" sz="1200" b="0" i="0" noProof="0" smtClean="0">
                                  <a:latin typeface="Cambria Math" panose="02040503050406030204" pitchFamily="18" charset="0"/>
                                </a:rPr>
                                <m:t> </m:t>
                              </m:r>
                              <m:rad>
                                <m:radPr>
                                  <m:degHide m:val="on"/>
                                  <m:ctrlPr>
                                    <a:rPr lang="en-GB" sz="1200" b="0" i="1" noProof="0" smtClean="0">
                                      <a:latin typeface="Cambria Math" panose="02040503050406030204" pitchFamily="18" charset="0"/>
                                    </a:rPr>
                                  </m:ctrlPr>
                                </m:radPr>
                                <m:deg/>
                                <m:e>
                                  <m:r>
                                    <a:rPr lang="en-GB" sz="1200" b="0" i="1" noProof="0" smtClean="0">
                                      <a:latin typeface="Cambria Math" panose="02040503050406030204" pitchFamily="18" charset="0"/>
                                    </a:rPr>
                                    <m:t>𝑥</m:t>
                                  </m:r>
                                </m:e>
                              </m:ra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𝑦</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+1</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h)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𝑦</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+1</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2428231"/>
                      </a:ext>
                    </a:extLst>
                  </a:tr>
                </a:tbl>
              </a:graphicData>
            </a:graphic>
          </p:graphicFrame>
        </mc:Choice>
        <mc:Fallback xmlns="">
          <p:graphicFrame>
            <p:nvGraphicFramePr>
              <p:cNvPr id="17" name="Table 16">
                <a:extLst>
                  <a:ext uri="{FF2B5EF4-FFF2-40B4-BE49-F238E27FC236}">
                    <a16:creationId xmlns:a16="http://schemas.microsoft.com/office/drawing/2014/main" id="{05A1A7EB-9212-705A-A88C-1554F7E18874}"/>
                  </a:ext>
                </a:extLst>
              </p:cNvPr>
              <p:cNvGraphicFramePr>
                <a:graphicFrameLocks noGrp="1"/>
              </p:cNvGraphicFramePr>
              <p:nvPr>
                <p:extLst>
                  <p:ext uri="{D42A27DB-BD31-4B8C-83A1-F6EECF244321}">
                    <p14:modId xmlns:p14="http://schemas.microsoft.com/office/powerpoint/2010/main" val="301732012"/>
                  </p:ext>
                </p:extLst>
              </p:nvPr>
            </p:nvGraphicFramePr>
            <p:xfrm>
              <a:off x="88044" y="441297"/>
              <a:ext cx="6681912" cy="2994234"/>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2173404643"/>
                        </a:ext>
                      </a:extLst>
                    </a:gridCol>
                    <a:gridCol w="1670478">
                      <a:extLst>
                        <a:ext uri="{9D8B030D-6E8A-4147-A177-3AD203B41FA5}">
                          <a16:colId xmlns:a16="http://schemas.microsoft.com/office/drawing/2014/main" val="3012951211"/>
                        </a:ext>
                      </a:extLst>
                    </a:gridCol>
                    <a:gridCol w="1670478">
                      <a:extLst>
                        <a:ext uri="{9D8B030D-6E8A-4147-A177-3AD203B41FA5}">
                          <a16:colId xmlns:a16="http://schemas.microsoft.com/office/drawing/2014/main" val="3671613065"/>
                        </a:ext>
                      </a:extLst>
                    </a:gridCol>
                    <a:gridCol w="1670478">
                      <a:extLst>
                        <a:ext uri="{9D8B030D-6E8A-4147-A177-3AD203B41FA5}">
                          <a16:colId xmlns:a16="http://schemas.microsoft.com/office/drawing/2014/main" val="1554076239"/>
                        </a:ext>
                      </a:extLst>
                    </a:gridCol>
                  </a:tblGrid>
                  <a:tr h="149711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5" t="-407" r="-301095" b="-1008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407" r="-200000" b="-1008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730" t="-407" r="-100730" b="-1008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730" t="-407" r="-730" b="-100813"/>
                          </a:stretch>
                        </a:blipFill>
                      </a:tcPr>
                    </a:tc>
                    <a:extLst>
                      <a:ext uri="{0D108BD9-81ED-4DB2-BD59-A6C34878D82A}">
                        <a16:rowId xmlns:a16="http://schemas.microsoft.com/office/drawing/2014/main" val="1846429053"/>
                      </a:ext>
                    </a:extLst>
                  </a:tr>
                  <a:tr h="149711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5" t="-100407" r="-301095" b="-8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100407" r="-200000" b="-8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730" t="-100407" r="-100730" b="-8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730" t="-100407" r="-730" b="-813"/>
                          </a:stretch>
                        </a:blipFill>
                      </a:tcPr>
                    </a:tc>
                    <a:extLst>
                      <a:ext uri="{0D108BD9-81ED-4DB2-BD59-A6C34878D82A}">
                        <a16:rowId xmlns:a16="http://schemas.microsoft.com/office/drawing/2014/main" val="2742428231"/>
                      </a:ext>
                    </a:extLst>
                  </a:tr>
                </a:tbl>
              </a:graphicData>
            </a:graphic>
          </p:graphicFrame>
        </mc:Fallback>
      </mc:AlternateContent>
      <p:sp>
        <p:nvSpPr>
          <p:cNvPr id="24" name="Rectangle 23">
            <a:extLst>
              <a:ext uri="{FF2B5EF4-FFF2-40B4-BE49-F238E27FC236}">
                <a16:creationId xmlns:a16="http://schemas.microsoft.com/office/drawing/2014/main" id="{1B3BA55E-141B-A2AD-9D41-E73EC0C2FE78}"/>
              </a:ext>
            </a:extLst>
          </p:cNvPr>
          <p:cNvSpPr/>
          <p:nvPr/>
        </p:nvSpPr>
        <p:spPr>
          <a:xfrm>
            <a:off x="118331" y="3636927"/>
            <a:ext cx="3782786" cy="24830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bg1"/>
                </a:solidFill>
              </a:rPr>
              <a:t>Two step rearranging (addition/ subtraction with division)</a:t>
            </a:r>
          </a:p>
        </p:txBody>
      </p:sp>
      <mc:AlternateContent xmlns:mc="http://schemas.openxmlformats.org/markup-compatibility/2006" xmlns:a14="http://schemas.microsoft.com/office/drawing/2010/main">
        <mc:Choice Requires="a14">
          <p:graphicFrame>
            <p:nvGraphicFramePr>
              <p:cNvPr id="25" name="Table 24">
                <a:extLst>
                  <a:ext uri="{FF2B5EF4-FFF2-40B4-BE49-F238E27FC236}">
                    <a16:creationId xmlns:a16="http://schemas.microsoft.com/office/drawing/2014/main" id="{0EE0D704-CDE3-7EAF-23D7-7E2BF29F7990}"/>
                  </a:ext>
                </a:extLst>
              </p:cNvPr>
              <p:cNvGraphicFramePr>
                <a:graphicFrameLocks noGrp="1"/>
              </p:cNvGraphicFramePr>
              <p:nvPr>
                <p:extLst>
                  <p:ext uri="{D42A27DB-BD31-4B8C-83A1-F6EECF244321}">
                    <p14:modId xmlns:p14="http://schemas.microsoft.com/office/powerpoint/2010/main" val="1718452925"/>
                  </p:ext>
                </p:extLst>
              </p:nvPr>
            </p:nvGraphicFramePr>
            <p:xfrm>
              <a:off x="118331" y="3885231"/>
              <a:ext cx="6681913" cy="2886473"/>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362337">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3 -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603896">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902033">
                    <a:tc>
                      <a:txBody>
                        <a:bodyPr/>
                        <a:lstStyle/>
                        <a:p>
                          <a:pPr marL="0" indent="0">
                            <a:buNone/>
                          </a:pPr>
                          <a:r>
                            <a:rPr lang="en-GB" sz="1200" noProof="0" dirty="0">
                              <a:solidFill>
                                <a:schemeClr val="tx1"/>
                              </a:solidFill>
                            </a:rPr>
                            <a:t>1) Circle the variable you want to make the subject.</a:t>
                          </a:r>
                        </a:p>
                        <a:p>
                          <a:pPr marL="0" indent="0">
                            <a:buNone/>
                          </a:pPr>
                          <a:endParaRPr lang="en-GB" sz="1200" noProof="0" dirty="0">
                            <a:solidFill>
                              <a:schemeClr val="tx1"/>
                            </a:solidFill>
                          </a:endParaRPr>
                        </a:p>
                        <a:p>
                          <a:pPr marL="0" indent="0">
                            <a:buNone/>
                          </a:pPr>
                          <a:r>
                            <a:rPr lang="en-GB" sz="1200" noProof="0" dirty="0">
                              <a:solidFill>
                                <a:schemeClr val="tx1"/>
                              </a:solidFill>
                            </a:rPr>
                            <a:t>2) Use inverse operation</a:t>
                          </a:r>
                          <a:r>
                            <a:rPr lang="en-GB" sz="1200" b="1" u="sng" noProof="0" dirty="0">
                              <a:solidFill>
                                <a:schemeClr val="tx1"/>
                              </a:solidFill>
                            </a:rPr>
                            <a:t>s</a:t>
                          </a:r>
                          <a:r>
                            <a:rPr lang="en-GB" sz="1200" noProof="0" dirty="0">
                              <a:solidFill>
                                <a:schemeClr val="tx1"/>
                              </a:solidFill>
                            </a:rPr>
                            <a:t> to isolate the variable. Be careful about the order you do things 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𝑎𝑏𝑥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oMath>
                            </m:oMathPara>
                          </a14:m>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25" name="Table 24">
                <a:extLst>
                  <a:ext uri="{FF2B5EF4-FFF2-40B4-BE49-F238E27FC236}">
                    <a16:creationId xmlns:a16="http://schemas.microsoft.com/office/drawing/2014/main" id="{0EE0D704-CDE3-7EAF-23D7-7E2BF29F7990}"/>
                  </a:ext>
                </a:extLst>
              </p:cNvPr>
              <p:cNvGraphicFramePr>
                <a:graphicFrameLocks noGrp="1"/>
              </p:cNvGraphicFramePr>
              <p:nvPr>
                <p:extLst>
                  <p:ext uri="{D42A27DB-BD31-4B8C-83A1-F6EECF244321}">
                    <p14:modId xmlns:p14="http://schemas.microsoft.com/office/powerpoint/2010/main" val="1718452925"/>
                  </p:ext>
                </p:extLst>
              </p:nvPr>
            </p:nvGraphicFramePr>
            <p:xfrm>
              <a:off x="118331" y="3885231"/>
              <a:ext cx="6681913" cy="2886473"/>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362337">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1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2 -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3 -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603896">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86713" t="-60606" r="-197902" b="-3262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189362" t="-60606" r="-100709" b="-3262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289362" t="-60606" r="-709" b="-326263"/>
                          </a:stretch>
                        </a:blipFill>
                      </a:tcPr>
                    </a:tc>
                    <a:extLst>
                      <a:ext uri="{0D108BD9-81ED-4DB2-BD59-A6C34878D82A}">
                        <a16:rowId xmlns:a16="http://schemas.microsoft.com/office/drawing/2014/main" val="2357201933"/>
                      </a:ext>
                    </a:extLst>
                  </a:tr>
                  <a:tr h="1920240">
                    <a:tc>
                      <a:txBody>
                        <a:bodyPr/>
                        <a:lstStyle/>
                        <a:p>
                          <a:pPr marL="0" indent="0">
                            <a:buNone/>
                          </a:pPr>
                          <a:r>
                            <a:rPr lang="en-GB" sz="1200" noProof="0">
                              <a:solidFill>
                                <a:schemeClr val="tx1"/>
                              </a:solidFill>
                            </a:rPr>
                            <a:t>1) Circle the variable you want to make the subject.</a:t>
                          </a:r>
                        </a:p>
                        <a:p>
                          <a:pPr marL="0" indent="0">
                            <a:buNone/>
                          </a:pPr>
                          <a:endParaRPr lang="en-GB" sz="1200" noProof="0">
                            <a:solidFill>
                              <a:schemeClr val="tx1"/>
                            </a:solidFill>
                          </a:endParaRPr>
                        </a:p>
                        <a:p>
                          <a:pPr marL="0" indent="0">
                            <a:buNone/>
                          </a:pPr>
                          <a:r>
                            <a:rPr lang="en-GB" sz="1200" noProof="0">
                              <a:solidFill>
                                <a:schemeClr val="tx1"/>
                              </a:solidFill>
                            </a:rPr>
                            <a:t>2) Use inverse operation</a:t>
                          </a:r>
                          <a:r>
                            <a:rPr lang="en-GB" sz="1200" b="1" u="sng" noProof="0">
                              <a:solidFill>
                                <a:schemeClr val="tx1"/>
                              </a:solidFill>
                            </a:rPr>
                            <a:t>s</a:t>
                          </a:r>
                          <a:r>
                            <a:rPr lang="en-GB" sz="1200" noProof="0">
                              <a:solidFill>
                                <a:schemeClr val="tx1"/>
                              </a:solidFill>
                            </a:rPr>
                            <a:t> to isolate the variable. Be careful about the order you do things 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86713" t="-50476" r="-197902" b="-254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189362" t="-50476" r="-100709" b="-254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289362" t="-50476" r="-709" b="-2540"/>
                          </a:stretch>
                        </a:blipFill>
                      </a:tcPr>
                    </a:tc>
                    <a:extLst>
                      <a:ext uri="{0D108BD9-81ED-4DB2-BD59-A6C34878D82A}">
                        <a16:rowId xmlns:a16="http://schemas.microsoft.com/office/drawing/2014/main" val="3293625240"/>
                      </a:ext>
                    </a:extLst>
                  </a:tr>
                </a:tbl>
              </a:graphicData>
            </a:graphic>
          </p:graphicFrame>
        </mc:Fallback>
      </mc:AlternateContent>
      <p:sp>
        <p:nvSpPr>
          <p:cNvPr id="29" name="Rectangle 28">
            <a:extLst>
              <a:ext uri="{FF2B5EF4-FFF2-40B4-BE49-F238E27FC236}">
                <a16:creationId xmlns:a16="http://schemas.microsoft.com/office/drawing/2014/main" id="{C394120C-6472-A667-696A-0077690D31C4}"/>
              </a:ext>
            </a:extLst>
          </p:cNvPr>
          <p:cNvSpPr/>
          <p:nvPr/>
        </p:nvSpPr>
        <p:spPr>
          <a:xfrm>
            <a:off x="88044" y="6881508"/>
            <a:ext cx="2005410" cy="236794"/>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C023E9B-61C7-359A-4D45-2BEFA8D03480}"/>
                  </a:ext>
                </a:extLst>
              </p:cNvPr>
              <p:cNvSpPr txBox="1"/>
              <p:nvPr/>
            </p:nvSpPr>
            <p:spPr>
              <a:xfrm>
                <a:off x="1879685" y="6881508"/>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1.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30" name="TextBox 29">
                <a:extLst>
                  <a:ext uri="{FF2B5EF4-FFF2-40B4-BE49-F238E27FC236}">
                    <a16:creationId xmlns:a16="http://schemas.microsoft.com/office/drawing/2014/main" id="{3C023E9B-61C7-359A-4D45-2BEFA8D03480}"/>
                  </a:ext>
                </a:extLst>
              </p:cNvPr>
              <p:cNvSpPr txBox="1">
                <a:spLocks noRot="1" noChangeAspect="1" noMove="1" noResize="1" noEditPoints="1" noAdjustHandles="1" noChangeArrowheads="1" noChangeShapeType="1" noTextEdit="1"/>
              </p:cNvSpPr>
              <p:nvPr/>
            </p:nvSpPr>
            <p:spPr>
              <a:xfrm>
                <a:off x="1879685" y="6881508"/>
                <a:ext cx="3646054" cy="276999"/>
              </a:xfrm>
              <a:prstGeom prst="rect">
                <a:avLst/>
              </a:prstGeom>
              <a:blipFill>
                <a:blip r:embed="rId13"/>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1" name="Table 30">
                <a:extLst>
                  <a:ext uri="{FF2B5EF4-FFF2-40B4-BE49-F238E27FC236}">
                    <a16:creationId xmlns:a16="http://schemas.microsoft.com/office/drawing/2014/main" id="{9796CC27-CC67-C547-CD37-A76CAAD8F380}"/>
                  </a:ext>
                </a:extLst>
              </p:cNvPr>
              <p:cNvGraphicFramePr>
                <a:graphicFrameLocks noGrp="1"/>
              </p:cNvGraphicFramePr>
              <p:nvPr>
                <p:extLst>
                  <p:ext uri="{D42A27DB-BD31-4B8C-83A1-F6EECF244321}">
                    <p14:modId xmlns:p14="http://schemas.microsoft.com/office/powerpoint/2010/main" val="870216596"/>
                  </p:ext>
                </p:extLst>
              </p:nvPr>
            </p:nvGraphicFramePr>
            <p:xfrm>
              <a:off x="118331" y="7434379"/>
              <a:ext cx="6681912" cy="2059228"/>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2855717783"/>
                        </a:ext>
                      </a:extLst>
                    </a:gridCol>
                    <a:gridCol w="1670478">
                      <a:extLst>
                        <a:ext uri="{9D8B030D-6E8A-4147-A177-3AD203B41FA5}">
                          <a16:colId xmlns:a16="http://schemas.microsoft.com/office/drawing/2014/main" val="3367264508"/>
                        </a:ext>
                      </a:extLst>
                    </a:gridCol>
                    <a:gridCol w="1670478">
                      <a:extLst>
                        <a:ext uri="{9D8B030D-6E8A-4147-A177-3AD203B41FA5}">
                          <a16:colId xmlns:a16="http://schemas.microsoft.com/office/drawing/2014/main" val="2199484341"/>
                        </a:ext>
                      </a:extLst>
                    </a:gridCol>
                    <a:gridCol w="1670478">
                      <a:extLst>
                        <a:ext uri="{9D8B030D-6E8A-4147-A177-3AD203B41FA5}">
                          <a16:colId xmlns:a16="http://schemas.microsoft.com/office/drawing/2014/main" val="705017797"/>
                        </a:ext>
                      </a:extLst>
                    </a:gridCol>
                  </a:tblGrid>
                  <a:tr h="2059228">
                    <a:tc>
                      <a:txBody>
                        <a:bodyPr/>
                        <a:lstStyle/>
                        <a:p>
                          <a:r>
                            <a:rPr lang="en-GB" sz="1200" b="0" noProof="0" dirty="0">
                              <a:solidFill>
                                <a:schemeClr val="tx1"/>
                              </a:solidFill>
                            </a:rPr>
                            <a:t>a) </a:t>
                          </a:r>
                          <a14:m>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b)</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c) </a:t>
                          </a:r>
                          <a14:m>
                            <m:oMath xmlns:m="http://schemas.openxmlformats.org/officeDocument/2006/math">
                              <m:r>
                                <a:rPr lang="en-GB" sz="1200" b="0" i="1" noProof="0" smtClean="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𝑤</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d) </a:t>
                          </a:r>
                          <a14:m>
                            <m:oMath xmlns:m="http://schemas.openxmlformats.org/officeDocument/2006/math">
                              <m:r>
                                <a:rPr lang="en-GB" sz="1200" b="0" i="1" noProof="0" smtClean="0">
                                  <a:solidFill>
                                    <a:schemeClr val="tx1"/>
                                  </a:solidFill>
                                  <a:latin typeface="Cambria Math" panose="02040503050406030204" pitchFamily="18" charset="0"/>
                                </a:rPr>
                                <m:t>7</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=9</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7881400"/>
                      </a:ext>
                    </a:extLst>
                  </a:tr>
                </a:tbl>
              </a:graphicData>
            </a:graphic>
          </p:graphicFrame>
        </mc:Choice>
        <mc:Fallback xmlns="">
          <p:graphicFrame>
            <p:nvGraphicFramePr>
              <p:cNvPr id="31" name="Table 30">
                <a:extLst>
                  <a:ext uri="{FF2B5EF4-FFF2-40B4-BE49-F238E27FC236}">
                    <a16:creationId xmlns:a16="http://schemas.microsoft.com/office/drawing/2014/main" id="{9796CC27-CC67-C547-CD37-A76CAAD8F380}"/>
                  </a:ext>
                </a:extLst>
              </p:cNvPr>
              <p:cNvGraphicFramePr>
                <a:graphicFrameLocks noGrp="1"/>
              </p:cNvGraphicFramePr>
              <p:nvPr>
                <p:extLst>
                  <p:ext uri="{D42A27DB-BD31-4B8C-83A1-F6EECF244321}">
                    <p14:modId xmlns:p14="http://schemas.microsoft.com/office/powerpoint/2010/main" val="870216596"/>
                  </p:ext>
                </p:extLst>
              </p:nvPr>
            </p:nvGraphicFramePr>
            <p:xfrm>
              <a:off x="118331" y="7434379"/>
              <a:ext cx="6681912" cy="2059228"/>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2855717783"/>
                        </a:ext>
                      </a:extLst>
                    </a:gridCol>
                    <a:gridCol w="1670478">
                      <a:extLst>
                        <a:ext uri="{9D8B030D-6E8A-4147-A177-3AD203B41FA5}">
                          <a16:colId xmlns:a16="http://schemas.microsoft.com/office/drawing/2014/main" val="3367264508"/>
                        </a:ext>
                      </a:extLst>
                    </a:gridCol>
                    <a:gridCol w="1670478">
                      <a:extLst>
                        <a:ext uri="{9D8B030D-6E8A-4147-A177-3AD203B41FA5}">
                          <a16:colId xmlns:a16="http://schemas.microsoft.com/office/drawing/2014/main" val="2199484341"/>
                        </a:ext>
                      </a:extLst>
                    </a:gridCol>
                    <a:gridCol w="1670478">
                      <a:extLst>
                        <a:ext uri="{9D8B030D-6E8A-4147-A177-3AD203B41FA5}">
                          <a16:colId xmlns:a16="http://schemas.microsoft.com/office/drawing/2014/main" val="705017797"/>
                        </a:ext>
                      </a:extLst>
                    </a:gridCol>
                  </a:tblGrid>
                  <a:tr h="20592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365" t="-295" r="-301095" b="-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100000" t="-295" r="-200000" b="-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200730" t="-295" r="-100730" b="-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300730" t="-295" r="-730" b="-590"/>
                          </a:stretch>
                        </a:blipFill>
                      </a:tcPr>
                    </a:tc>
                    <a:extLst>
                      <a:ext uri="{0D108BD9-81ED-4DB2-BD59-A6C34878D82A}">
                        <a16:rowId xmlns:a16="http://schemas.microsoft.com/office/drawing/2014/main" val="3247881400"/>
                      </a:ext>
                    </a:extLst>
                  </a:tr>
                </a:tbl>
              </a:graphicData>
            </a:graphic>
          </p:graphicFrame>
        </mc:Fallback>
      </mc:AlternateContent>
    </p:spTree>
    <p:extLst>
      <p:ext uri="{BB962C8B-B14F-4D97-AF65-F5344CB8AC3E}">
        <p14:creationId xmlns:p14="http://schemas.microsoft.com/office/powerpoint/2010/main" val="1380726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36E924-F09A-E00C-48E2-CFB092F79A08}"/>
              </a:ext>
            </a:extLst>
          </p:cNvPr>
          <p:cNvSpPr>
            <a:spLocks noGrp="1"/>
          </p:cNvSpPr>
          <p:nvPr>
            <p:ph type="sldNum" sz="quarter" idx="12"/>
          </p:nvPr>
        </p:nvSpPr>
        <p:spPr>
          <a:xfrm>
            <a:off x="5257800" y="9429021"/>
            <a:ext cx="1543050" cy="527403"/>
          </a:xfrm>
        </p:spPr>
        <p:txBody>
          <a:bodyPr/>
          <a:lstStyle/>
          <a:p>
            <a:fld id="{086C3A38-D272-42AA-9C88-F1FBEAE20D2C}" type="slidenum">
              <a:rPr lang="en-GB" noProof="0" smtClean="0"/>
              <a:t>6</a:t>
            </a:fld>
            <a:endParaRPr lang="en-GB" noProof="0" dirty="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60CB6826-64A4-CD26-7118-9A5AFED907EA}"/>
                  </a:ext>
                </a:extLst>
              </p:cNvPr>
              <p:cNvGraphicFramePr>
                <a:graphicFrameLocks noGrp="1"/>
              </p:cNvGraphicFramePr>
              <p:nvPr>
                <p:extLst>
                  <p:ext uri="{D42A27DB-BD31-4B8C-83A1-F6EECF244321}">
                    <p14:modId xmlns:p14="http://schemas.microsoft.com/office/powerpoint/2010/main" val="3851951945"/>
                  </p:ext>
                </p:extLst>
              </p:nvPr>
            </p:nvGraphicFramePr>
            <p:xfrm>
              <a:off x="88044" y="97457"/>
              <a:ext cx="6681912" cy="486000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1620000">
                    <a:tc>
                      <a:txBody>
                        <a:bodyPr/>
                        <a:lstStyle/>
                        <a:p>
                          <a:r>
                            <a:rPr lang="en-GB" sz="1200" b="0" noProof="0" dirty="0">
                              <a:solidFill>
                                <a:schemeClr val="tx1"/>
                              </a:solidFill>
                            </a:rPr>
                            <a:t>e) </a:t>
                          </a:r>
                          <a14:m>
                            <m:oMath xmlns:m="http://schemas.openxmlformats.org/officeDocument/2006/math">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+6</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𝑞</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f) </a:t>
                          </a:r>
                          <a14:m>
                            <m:oMath xmlns:m="http://schemas.openxmlformats.org/officeDocument/2006/math">
                              <m:r>
                                <a:rPr lang="en-GB" sz="1200" b="0" i="1" noProof="0" smtClean="0">
                                  <a:solidFill>
                                    <a:schemeClr val="tx1"/>
                                  </a:solidFill>
                                  <a:latin typeface="Cambria Math" panose="02040503050406030204" pitchFamily="18" charset="0"/>
                                </a:rPr>
                                <m:t>5</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g) </a:t>
                          </a:r>
                          <a14:m>
                            <m:oMath xmlns:m="http://schemas.openxmlformats.org/officeDocument/2006/math">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h) </a:t>
                          </a:r>
                          <a14:m>
                            <m:oMath xmlns:m="http://schemas.openxmlformats.org/officeDocument/2006/math">
                              <m:r>
                                <a:rPr lang="en-GB" sz="1200" b="0" i="1" noProof="0" smtClean="0">
                                  <a:solidFill>
                                    <a:schemeClr val="tx1"/>
                                  </a:solidFill>
                                  <a:latin typeface="Cambria Math" panose="02040503050406030204" pitchFamily="18" charset="0"/>
                                </a:rPr>
                                <m:t>𝑑𝑥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𝑡</m:t>
                              </m:r>
                              <m:r>
                                <a:rPr lang="en-GB" sz="1200" b="0" i="1" noProof="0" smtClean="0">
                                  <a:solidFill>
                                    <a:schemeClr val="tx1"/>
                                  </a:solidFill>
                                  <a:latin typeface="Cambria Math" panose="02040503050406030204" pitchFamily="18" charset="0"/>
                                </a:rPr>
                                <m:t>=8</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8045507"/>
                      </a:ext>
                    </a:extLst>
                  </a:tr>
                  <a:tr h="1620000">
                    <a:tc>
                      <a:txBody>
                        <a:bodyPr/>
                        <a:lstStyle/>
                        <a:p>
                          <a:r>
                            <a:rPr lang="en-GB" sz="1200" b="0" noProof="0" dirty="0" err="1"/>
                            <a:t>i</a:t>
                          </a:r>
                          <a:r>
                            <a:rPr lang="en-GB" sz="1200" b="0" noProof="0" dirty="0"/>
                            <a:t>)</a:t>
                          </a:r>
                          <a:r>
                            <a:rPr lang="en-GB" sz="1200" b="0" noProof="0" dirty="0">
                              <a:solidFill>
                                <a:schemeClr val="tx1"/>
                              </a:solidFill>
                            </a:rPr>
                            <a:t> </a:t>
                          </a:r>
                          <a14:m>
                            <m:oMath xmlns:m="http://schemas.openxmlformats.org/officeDocument/2006/math">
                              <m:r>
                                <a:rPr lang="en-GB" sz="1200" b="0" i="1" noProof="0" smtClean="0">
                                  <a:solidFill>
                                    <a:schemeClr val="tx1"/>
                                  </a:solidFill>
                                  <a:latin typeface="Cambria Math" panose="02040503050406030204" pitchFamily="18" charset="0"/>
                                </a:rPr>
                                <m:t>𝑠</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𝑡𝑥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𝑑</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j)</a:t>
                          </a:r>
                          <a:r>
                            <a:rPr lang="en-GB" sz="1200" b="0" noProof="0" dirty="0">
                              <a:solidFill>
                                <a:schemeClr val="tx1"/>
                              </a:solidFill>
                            </a:rPr>
                            <a:t> </a:t>
                          </a:r>
                          <a14:m>
                            <m:oMath xmlns:m="http://schemas.openxmlformats.org/officeDocument/2006/math">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𝑝</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k)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𝑏</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l)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𝑏𝑐</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5854048"/>
                      </a:ext>
                    </a:extLst>
                  </a:tr>
                  <a:tr h="1620000">
                    <a:tc>
                      <a:txBody>
                        <a:bodyPr/>
                        <a:lstStyle/>
                        <a:p>
                          <a:r>
                            <a:rPr lang="en-GB" sz="1200" b="0" noProof="0" dirty="0"/>
                            <a:t>m)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𝑏𝑐𝑑</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n)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𝑏𝑐𝑑</m:t>
                              </m:r>
                            </m:oMath>
                          </a14:m>
                          <a:endParaRPr lang="en-GB" sz="1200" noProof="0" dirty="0"/>
                        </a:p>
                        <a:p>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o)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𝑑</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𝑒𝑓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𝑎𝑥</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p)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ad>
                                <m:radPr>
                                  <m:degHide m:val="on"/>
                                  <m:ctrlPr>
                                    <a:rPr lang="en-GB" sz="1200" b="0" i="1" noProof="0" smtClean="0">
                                      <a:latin typeface="Cambria Math" panose="02040503050406030204" pitchFamily="18" charset="0"/>
                                    </a:rPr>
                                  </m:ctrlPr>
                                </m:radPr>
                                <m:deg/>
                                <m:e>
                                  <m:r>
                                    <a:rPr lang="en-GB" sz="1200" b="0" i="1" noProof="0" smtClean="0">
                                      <a:latin typeface="Cambria Math" panose="02040503050406030204" pitchFamily="18" charset="0"/>
                                    </a:rPr>
                                    <m:t>𝑏</m:t>
                                  </m:r>
                                </m:e>
                              </m:rad>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𝑎𝑥</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4132893"/>
                      </a:ext>
                    </a:extLst>
                  </a:tr>
                </a:tbl>
              </a:graphicData>
            </a:graphic>
          </p:graphicFrame>
        </mc:Choice>
        <mc:Fallback xmlns="">
          <p:graphicFrame>
            <p:nvGraphicFramePr>
              <p:cNvPr id="6" name="Table 5">
                <a:extLst>
                  <a:ext uri="{FF2B5EF4-FFF2-40B4-BE49-F238E27FC236}">
                    <a16:creationId xmlns:a16="http://schemas.microsoft.com/office/drawing/2014/main" id="{60CB6826-64A4-CD26-7118-9A5AFED907EA}"/>
                  </a:ext>
                </a:extLst>
              </p:cNvPr>
              <p:cNvGraphicFramePr>
                <a:graphicFrameLocks noGrp="1"/>
              </p:cNvGraphicFramePr>
              <p:nvPr>
                <p:extLst>
                  <p:ext uri="{D42A27DB-BD31-4B8C-83A1-F6EECF244321}">
                    <p14:modId xmlns:p14="http://schemas.microsoft.com/office/powerpoint/2010/main" val="3851951945"/>
                  </p:ext>
                </p:extLst>
              </p:nvPr>
            </p:nvGraphicFramePr>
            <p:xfrm>
              <a:off x="88044" y="97457"/>
              <a:ext cx="6681912" cy="486000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16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5" t="-376" r="-301095" b="-20112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376" r="-200000" b="-20112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730" t="-376" r="-100730" b="-20112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730" t="-376" r="-730" b="-201128"/>
                          </a:stretch>
                        </a:blipFill>
                      </a:tcPr>
                    </a:tc>
                    <a:extLst>
                      <a:ext uri="{0D108BD9-81ED-4DB2-BD59-A6C34878D82A}">
                        <a16:rowId xmlns:a16="http://schemas.microsoft.com/office/drawing/2014/main" val="3558045507"/>
                      </a:ext>
                    </a:extLst>
                  </a:tr>
                  <a:tr h="16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5" t="-100000" r="-301095" b="-10037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100000" r="-200000" b="-10037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730" t="-100000" r="-100730" b="-10037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730" t="-100000" r="-730" b="-100375"/>
                          </a:stretch>
                        </a:blipFill>
                      </a:tcPr>
                    </a:tc>
                    <a:extLst>
                      <a:ext uri="{0D108BD9-81ED-4DB2-BD59-A6C34878D82A}">
                        <a16:rowId xmlns:a16="http://schemas.microsoft.com/office/drawing/2014/main" val="3205854048"/>
                      </a:ext>
                    </a:extLst>
                  </a:tr>
                  <a:tr h="16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5" t="-200752" r="-301095" b="-7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200752" r="-200000" b="-7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730" t="-200752" r="-100730" b="-7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730" t="-200752" r="-730" b="-752"/>
                          </a:stretch>
                        </a:blipFill>
                      </a:tcPr>
                    </a:tc>
                    <a:extLst>
                      <a:ext uri="{0D108BD9-81ED-4DB2-BD59-A6C34878D82A}">
                        <a16:rowId xmlns:a16="http://schemas.microsoft.com/office/drawing/2014/main" val="2314132893"/>
                      </a:ext>
                    </a:extLst>
                  </a:tr>
                </a:tbl>
              </a:graphicData>
            </a:graphic>
          </p:graphicFrame>
        </mc:Fallback>
      </mc:AlternateContent>
      <p:sp>
        <p:nvSpPr>
          <p:cNvPr id="27" name="Rectangle 26">
            <a:extLst>
              <a:ext uri="{FF2B5EF4-FFF2-40B4-BE49-F238E27FC236}">
                <a16:creationId xmlns:a16="http://schemas.microsoft.com/office/drawing/2014/main" id="{D27E1FFF-CFAF-07D0-66D4-5FCC5BD7E961}"/>
              </a:ext>
            </a:extLst>
          </p:cNvPr>
          <p:cNvSpPr/>
          <p:nvPr/>
        </p:nvSpPr>
        <p:spPr>
          <a:xfrm>
            <a:off x="88043" y="5077527"/>
            <a:ext cx="4237700" cy="24830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bg1"/>
                </a:solidFill>
              </a:rPr>
              <a:t>Two step rearranging (addition/ subtraction with multiplication)</a:t>
            </a:r>
          </a:p>
        </p:txBody>
      </p:sp>
      <mc:AlternateContent xmlns:mc="http://schemas.openxmlformats.org/markup-compatibility/2006" xmlns:a14="http://schemas.microsoft.com/office/drawing/2010/main">
        <mc:Choice Requires="a14">
          <p:graphicFrame>
            <p:nvGraphicFramePr>
              <p:cNvPr id="28" name="Table 27">
                <a:extLst>
                  <a:ext uri="{FF2B5EF4-FFF2-40B4-BE49-F238E27FC236}">
                    <a16:creationId xmlns:a16="http://schemas.microsoft.com/office/drawing/2014/main" id="{9871A7B5-DA2E-CDBA-52DA-8438260F2DCF}"/>
                  </a:ext>
                </a:extLst>
              </p:cNvPr>
              <p:cNvGraphicFramePr>
                <a:graphicFrameLocks noGrp="1"/>
              </p:cNvGraphicFramePr>
              <p:nvPr>
                <p:extLst>
                  <p:ext uri="{D42A27DB-BD31-4B8C-83A1-F6EECF244321}">
                    <p14:modId xmlns:p14="http://schemas.microsoft.com/office/powerpoint/2010/main" val="1962215747"/>
                  </p:ext>
                </p:extLst>
              </p:nvPr>
            </p:nvGraphicFramePr>
            <p:xfrm>
              <a:off x="88043" y="5358489"/>
              <a:ext cx="6681913" cy="217152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0">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302332">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𝑦</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𝑦</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𝑑</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440000">
                    <a:tc>
                      <a:txBody>
                        <a:bodyPr/>
                        <a:lstStyle/>
                        <a:p>
                          <a:pPr marL="0" indent="0">
                            <a:buNone/>
                          </a:pPr>
                          <a:r>
                            <a:rPr lang="en-GB" sz="1200" noProof="0" dirty="0">
                              <a:solidFill>
                                <a:schemeClr val="tx1"/>
                              </a:solidFill>
                            </a:rPr>
                            <a:t>1) Circle the variable you want to make the subject.</a:t>
                          </a:r>
                        </a:p>
                        <a:p>
                          <a:pPr marL="0" indent="0">
                            <a:buNone/>
                          </a:pPr>
                          <a:endParaRPr lang="en-GB" sz="1200" noProof="0" dirty="0">
                            <a:solidFill>
                              <a:schemeClr val="tx1"/>
                            </a:solidFill>
                          </a:endParaRPr>
                        </a:p>
                        <a:p>
                          <a:pPr marL="0" indent="0">
                            <a:buNone/>
                          </a:pPr>
                          <a:r>
                            <a:rPr lang="en-GB" sz="1200" noProof="0" dirty="0">
                              <a:solidFill>
                                <a:schemeClr val="tx1"/>
                              </a:solidFill>
                            </a:rPr>
                            <a:t>2) Use inverse operation</a:t>
                          </a:r>
                          <a:r>
                            <a:rPr lang="en-GB" sz="1200" b="1" u="sng" noProof="0" dirty="0">
                              <a:solidFill>
                                <a:schemeClr val="tx1"/>
                              </a:solidFill>
                            </a:rPr>
                            <a:t>s</a:t>
                          </a:r>
                          <a:r>
                            <a:rPr lang="en-GB" sz="1200" noProof="0" dirty="0">
                              <a:solidFill>
                                <a:schemeClr val="tx1"/>
                              </a:solidFill>
                            </a:rPr>
                            <a:t> to isolate the variable.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i="1" noProof="0" smtClean="0">
                                        <a:solidFill>
                                          <a:schemeClr val="tx1"/>
                                        </a:solidFill>
                                        <a:latin typeface="Cambria Math" panose="02040503050406030204" pitchFamily="18" charset="0"/>
                                      </a:rPr>
                                    </m:ctrlPr>
                                  </m:fPr>
                                  <m:num>
                                    <m:r>
                                      <a:rPr lang="en-GB" sz="1200" i="1" noProof="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𝑎</m:t>
                                    </m:r>
                                  </m:num>
                                  <m:den>
                                    <m:r>
                                      <a:rPr lang="en-GB" sz="1200" i="1" noProof="0">
                                        <a:solidFill>
                                          <a:schemeClr val="tx1"/>
                                        </a:solidFill>
                                        <a:latin typeface="Cambria Math" panose="02040503050406030204" pitchFamily="18" charset="0"/>
                                      </a:rPr>
                                      <m:t>5</m:t>
                                    </m:r>
                                  </m:den>
                                </m:f>
                                <m:r>
                                  <a:rPr lang="en-GB" sz="1200" i="1" noProof="0">
                                    <a:solidFill>
                                      <a:schemeClr val="tx1"/>
                                    </a:solidFill>
                                    <a:latin typeface="Cambria Math" panose="02040503050406030204" pitchFamily="18" charset="0"/>
                                  </a:rPr>
                                  <m:t>=</m:t>
                                </m:r>
                                <m:r>
                                  <a:rPr lang="en-GB" sz="1200" i="1" noProof="0">
                                    <a:solidFill>
                                      <a:schemeClr val="tx1"/>
                                    </a:solidFill>
                                    <a:latin typeface="Cambria Math" panose="02040503050406030204" pitchFamily="18" charset="0"/>
                                  </a:rPr>
                                  <m:t>𝑚</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𝑦</m:t>
                                    </m:r>
                                  </m:num>
                                  <m:den>
                                    <m:r>
                                      <a:rPr lang="en-GB" sz="1200" b="0" i="1" noProof="0" smtClean="0">
                                        <a:solidFill>
                                          <a:schemeClr val="tx1"/>
                                        </a:solidFill>
                                        <a:latin typeface="Cambria Math" panose="02040503050406030204" pitchFamily="18" charset="0"/>
                                      </a:rPr>
                                      <m:t>5</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𝑑</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num>
                                  <m:den>
                                    <m:r>
                                      <a:rPr lang="en-GB" sz="1200" b="0" i="1" noProof="0" smtClean="0">
                                        <a:solidFill>
                                          <a:schemeClr val="tx1"/>
                                        </a:solidFill>
                                        <a:latin typeface="Cambria Math" panose="02040503050406030204" pitchFamily="18" charset="0"/>
                                      </a:rPr>
                                      <m:t>4</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𝑠</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28" name="Table 27">
                <a:extLst>
                  <a:ext uri="{FF2B5EF4-FFF2-40B4-BE49-F238E27FC236}">
                    <a16:creationId xmlns:a16="http://schemas.microsoft.com/office/drawing/2014/main" id="{9871A7B5-DA2E-CDBA-52DA-8438260F2DCF}"/>
                  </a:ext>
                </a:extLst>
              </p:cNvPr>
              <p:cNvGraphicFramePr>
                <a:graphicFrameLocks noGrp="1"/>
              </p:cNvGraphicFramePr>
              <p:nvPr>
                <p:extLst>
                  <p:ext uri="{D42A27DB-BD31-4B8C-83A1-F6EECF244321}">
                    <p14:modId xmlns:p14="http://schemas.microsoft.com/office/powerpoint/2010/main" val="1962215747"/>
                  </p:ext>
                </p:extLst>
              </p:nvPr>
            </p:nvGraphicFramePr>
            <p:xfrm>
              <a:off x="88043" y="5358489"/>
              <a:ext cx="6681913" cy="217152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274320">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4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5 -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6 -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457200">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86713" t="-60000" r="-197902" b="-318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189362" t="-60000" r="-100709" b="-318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289362" t="-60000" r="-709" b="-318667"/>
                          </a:stretch>
                        </a:blipFill>
                      </a:tcPr>
                    </a:tc>
                    <a:extLst>
                      <a:ext uri="{0D108BD9-81ED-4DB2-BD59-A6C34878D82A}">
                        <a16:rowId xmlns:a16="http://schemas.microsoft.com/office/drawing/2014/main" val="2357201933"/>
                      </a:ext>
                    </a:extLst>
                  </a:tr>
                  <a:tr h="1440000">
                    <a:tc>
                      <a:txBody>
                        <a:bodyPr/>
                        <a:lstStyle/>
                        <a:p>
                          <a:pPr marL="0" indent="0">
                            <a:buNone/>
                          </a:pPr>
                          <a:r>
                            <a:rPr lang="en-GB" sz="1200" noProof="0">
                              <a:solidFill>
                                <a:schemeClr val="tx1"/>
                              </a:solidFill>
                            </a:rPr>
                            <a:t>1) Circle the variable you want to make the subject.</a:t>
                          </a:r>
                        </a:p>
                        <a:p>
                          <a:pPr marL="0" indent="0">
                            <a:buNone/>
                          </a:pPr>
                          <a:endParaRPr lang="en-GB" sz="1200" noProof="0">
                            <a:solidFill>
                              <a:schemeClr val="tx1"/>
                            </a:solidFill>
                          </a:endParaRPr>
                        </a:p>
                        <a:p>
                          <a:pPr marL="0" indent="0">
                            <a:buNone/>
                          </a:pPr>
                          <a:r>
                            <a:rPr lang="en-GB" sz="1200" noProof="0">
                              <a:solidFill>
                                <a:schemeClr val="tx1"/>
                              </a:solidFill>
                            </a:rPr>
                            <a:t>2) Use inverse operation</a:t>
                          </a:r>
                          <a:r>
                            <a:rPr lang="en-GB" sz="1200" b="1" u="sng" noProof="0">
                              <a:solidFill>
                                <a:schemeClr val="tx1"/>
                              </a:solidFill>
                            </a:rPr>
                            <a:t>s</a:t>
                          </a:r>
                          <a:r>
                            <a:rPr lang="en-GB" sz="1200" noProof="0">
                              <a:solidFill>
                                <a:schemeClr val="tx1"/>
                              </a:solidFill>
                            </a:rPr>
                            <a:t> to isolate the variable.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86713" t="-50633" r="-197902" b="-84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189362" t="-50633" r="-100709" b="-84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289362" t="-50633" r="-709" b="-844"/>
                          </a:stretch>
                        </a:blipFill>
                      </a:tcPr>
                    </a:tc>
                    <a:extLst>
                      <a:ext uri="{0D108BD9-81ED-4DB2-BD59-A6C34878D82A}">
                        <a16:rowId xmlns:a16="http://schemas.microsoft.com/office/drawing/2014/main" val="3293625240"/>
                      </a:ext>
                    </a:extLst>
                  </a:tr>
                </a:tbl>
              </a:graphicData>
            </a:graphic>
          </p:graphicFrame>
        </mc:Fallback>
      </mc:AlternateContent>
      <p:sp>
        <p:nvSpPr>
          <p:cNvPr id="32" name="Rectangle 31">
            <a:extLst>
              <a:ext uri="{FF2B5EF4-FFF2-40B4-BE49-F238E27FC236}">
                <a16:creationId xmlns:a16="http://schemas.microsoft.com/office/drawing/2014/main" id="{BF4E70C8-4B13-D3DA-535F-C96D997083CF}"/>
              </a:ext>
            </a:extLst>
          </p:cNvPr>
          <p:cNvSpPr/>
          <p:nvPr/>
        </p:nvSpPr>
        <p:spPr>
          <a:xfrm>
            <a:off x="0" y="7562667"/>
            <a:ext cx="1959430" cy="248304"/>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A8915FD-871F-DB01-A4EC-A2E1A88796AD}"/>
                  </a:ext>
                </a:extLst>
              </p:cNvPr>
              <p:cNvSpPr txBox="1"/>
              <p:nvPr/>
            </p:nvSpPr>
            <p:spPr>
              <a:xfrm>
                <a:off x="1714355" y="7562667"/>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2.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33" name="TextBox 32">
                <a:extLst>
                  <a:ext uri="{FF2B5EF4-FFF2-40B4-BE49-F238E27FC236}">
                    <a16:creationId xmlns:a16="http://schemas.microsoft.com/office/drawing/2014/main" id="{CA8915FD-871F-DB01-A4EC-A2E1A88796AD}"/>
                  </a:ext>
                </a:extLst>
              </p:cNvPr>
              <p:cNvSpPr txBox="1">
                <a:spLocks noRot="1" noChangeAspect="1" noMove="1" noResize="1" noEditPoints="1" noAdjustHandles="1" noChangeArrowheads="1" noChangeShapeType="1" noTextEdit="1"/>
              </p:cNvSpPr>
              <p:nvPr/>
            </p:nvSpPr>
            <p:spPr>
              <a:xfrm>
                <a:off x="1714355" y="7562667"/>
                <a:ext cx="3646054" cy="276999"/>
              </a:xfrm>
              <a:prstGeom prst="rect">
                <a:avLst/>
              </a:prstGeom>
              <a:blipFill>
                <a:blip r:embed="rId19"/>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4" name="Table 33">
                <a:extLst>
                  <a:ext uri="{FF2B5EF4-FFF2-40B4-BE49-F238E27FC236}">
                    <a16:creationId xmlns:a16="http://schemas.microsoft.com/office/drawing/2014/main" id="{36113B6F-E74D-F63E-BB4E-C34AF028DF94}"/>
                  </a:ext>
                </a:extLst>
              </p:cNvPr>
              <p:cNvGraphicFramePr>
                <a:graphicFrameLocks noGrp="1"/>
              </p:cNvGraphicFramePr>
              <p:nvPr>
                <p:extLst>
                  <p:ext uri="{D42A27DB-BD31-4B8C-83A1-F6EECF244321}">
                    <p14:modId xmlns:p14="http://schemas.microsoft.com/office/powerpoint/2010/main" val="3039983864"/>
                  </p:ext>
                </p:extLst>
              </p:nvPr>
            </p:nvGraphicFramePr>
            <p:xfrm>
              <a:off x="88044" y="7985806"/>
              <a:ext cx="6681912" cy="162000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178689366"/>
                        </a:ext>
                      </a:extLst>
                    </a:gridCol>
                    <a:gridCol w="1670478">
                      <a:extLst>
                        <a:ext uri="{9D8B030D-6E8A-4147-A177-3AD203B41FA5}">
                          <a16:colId xmlns:a16="http://schemas.microsoft.com/office/drawing/2014/main" val="3483665526"/>
                        </a:ext>
                      </a:extLst>
                    </a:gridCol>
                    <a:gridCol w="1670478">
                      <a:extLst>
                        <a:ext uri="{9D8B030D-6E8A-4147-A177-3AD203B41FA5}">
                          <a16:colId xmlns:a16="http://schemas.microsoft.com/office/drawing/2014/main" val="3288622662"/>
                        </a:ext>
                      </a:extLst>
                    </a:gridCol>
                    <a:gridCol w="1670478">
                      <a:extLst>
                        <a:ext uri="{9D8B030D-6E8A-4147-A177-3AD203B41FA5}">
                          <a16:colId xmlns:a16="http://schemas.microsoft.com/office/drawing/2014/main" val="2195074609"/>
                        </a:ext>
                      </a:extLst>
                    </a:gridCol>
                  </a:tblGrid>
                  <a:tr h="1620000">
                    <a:tc>
                      <a:txBody>
                        <a:bodyPr/>
                        <a:lstStyle/>
                        <a:p>
                          <a:r>
                            <a:rPr lang="en-GB" sz="1200" b="0" noProof="0" dirty="0">
                              <a:solidFill>
                                <a:schemeClr val="tx1"/>
                              </a:solidFill>
                            </a:rPr>
                            <a:t>a)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+ 4</m:t>
                                  </m:r>
                                </m:num>
                                <m:den>
                                  <m:r>
                                    <a:rPr lang="en-GB" sz="1200" b="0" i="1" noProof="0" smtClean="0">
                                      <a:solidFill>
                                        <a:schemeClr val="tx1"/>
                                      </a:solidFill>
                                      <a:latin typeface="Cambria Math" panose="02040503050406030204" pitchFamily="18" charset="0"/>
                                    </a:rPr>
                                    <m:t>3</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b)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+ 3</m:t>
                                  </m:r>
                                </m:num>
                                <m:den>
                                  <m:r>
                                    <a:rPr lang="en-GB" sz="1200" b="0" i="1" noProof="0" smtClean="0">
                                      <a:solidFill>
                                        <a:schemeClr val="tx1"/>
                                      </a:solidFill>
                                      <a:latin typeface="Cambria Math" panose="02040503050406030204" pitchFamily="18" charset="0"/>
                                    </a:rPr>
                                    <m:t>5</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h</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c) </a:t>
                          </a:r>
                          <a14:m>
                            <m:oMath xmlns:m="http://schemas.openxmlformats.org/officeDocument/2006/math">
                              <m:r>
                                <a:rPr lang="en-GB" sz="1200" b="0" i="1" noProof="0" smtClean="0">
                                  <a:solidFill>
                                    <a:schemeClr val="tx1"/>
                                  </a:solidFill>
                                  <a:latin typeface="Cambria Math" panose="02040503050406030204" pitchFamily="18" charset="0"/>
                                </a:rPr>
                                <m:t>𝑡</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𝑣</m:t>
                                  </m:r>
                                </m:num>
                                <m:den>
                                  <m:r>
                                    <a:rPr lang="en-GB" sz="1200" b="0" i="1" noProof="0" smtClean="0">
                                      <a:solidFill>
                                        <a:schemeClr val="tx1"/>
                                      </a:solidFill>
                                      <a:latin typeface="Cambria Math" panose="02040503050406030204" pitchFamily="18" charset="0"/>
                                    </a:rPr>
                                    <m:t>4</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d)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num>
                                <m:den>
                                  <m:r>
                                    <a:rPr lang="en-GB" sz="1200" b="0" i="1" noProof="0" smtClean="0">
                                      <a:solidFill>
                                        <a:schemeClr val="tx1"/>
                                      </a:solidFill>
                                      <a:latin typeface="Cambria Math" panose="02040503050406030204" pitchFamily="18" charset="0"/>
                                    </a:rPr>
                                    <m:t>𝑎</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𝑟</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6427893"/>
                      </a:ext>
                    </a:extLst>
                  </a:tr>
                </a:tbl>
              </a:graphicData>
            </a:graphic>
          </p:graphicFrame>
        </mc:Choice>
        <mc:Fallback xmlns="">
          <p:graphicFrame>
            <p:nvGraphicFramePr>
              <p:cNvPr id="34" name="Table 33">
                <a:extLst>
                  <a:ext uri="{FF2B5EF4-FFF2-40B4-BE49-F238E27FC236}">
                    <a16:creationId xmlns:a16="http://schemas.microsoft.com/office/drawing/2014/main" id="{36113B6F-E74D-F63E-BB4E-C34AF028DF94}"/>
                  </a:ext>
                </a:extLst>
              </p:cNvPr>
              <p:cNvGraphicFramePr>
                <a:graphicFrameLocks noGrp="1"/>
              </p:cNvGraphicFramePr>
              <p:nvPr>
                <p:extLst>
                  <p:ext uri="{D42A27DB-BD31-4B8C-83A1-F6EECF244321}">
                    <p14:modId xmlns:p14="http://schemas.microsoft.com/office/powerpoint/2010/main" val="3039983864"/>
                  </p:ext>
                </p:extLst>
              </p:nvPr>
            </p:nvGraphicFramePr>
            <p:xfrm>
              <a:off x="88044" y="7985806"/>
              <a:ext cx="6681912" cy="162000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178689366"/>
                        </a:ext>
                      </a:extLst>
                    </a:gridCol>
                    <a:gridCol w="1670478">
                      <a:extLst>
                        <a:ext uri="{9D8B030D-6E8A-4147-A177-3AD203B41FA5}">
                          <a16:colId xmlns:a16="http://schemas.microsoft.com/office/drawing/2014/main" val="3483665526"/>
                        </a:ext>
                      </a:extLst>
                    </a:gridCol>
                    <a:gridCol w="1670478">
                      <a:extLst>
                        <a:ext uri="{9D8B030D-6E8A-4147-A177-3AD203B41FA5}">
                          <a16:colId xmlns:a16="http://schemas.microsoft.com/office/drawing/2014/main" val="3288622662"/>
                        </a:ext>
                      </a:extLst>
                    </a:gridCol>
                    <a:gridCol w="1670478">
                      <a:extLst>
                        <a:ext uri="{9D8B030D-6E8A-4147-A177-3AD203B41FA5}">
                          <a16:colId xmlns:a16="http://schemas.microsoft.com/office/drawing/2014/main" val="2195074609"/>
                        </a:ext>
                      </a:extLst>
                    </a:gridCol>
                  </a:tblGrid>
                  <a:tr h="16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0"/>
                          <a:stretch>
                            <a:fillRect l="-365" t="-752" r="-301095" b="-7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0"/>
                          <a:stretch>
                            <a:fillRect l="-100000" t="-752" r="-200000" b="-7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0"/>
                          <a:stretch>
                            <a:fillRect l="-200730" t="-752" r="-100730" b="-7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0"/>
                          <a:stretch>
                            <a:fillRect l="-300730" t="-752" r="-730" b="-752"/>
                          </a:stretch>
                        </a:blipFill>
                      </a:tcPr>
                    </a:tc>
                    <a:extLst>
                      <a:ext uri="{0D108BD9-81ED-4DB2-BD59-A6C34878D82A}">
                        <a16:rowId xmlns:a16="http://schemas.microsoft.com/office/drawing/2014/main" val="2606427893"/>
                      </a:ext>
                    </a:extLst>
                  </a:tr>
                </a:tbl>
              </a:graphicData>
            </a:graphic>
          </p:graphicFrame>
        </mc:Fallback>
      </mc:AlternateContent>
    </p:spTree>
    <p:extLst>
      <p:ext uri="{BB962C8B-B14F-4D97-AF65-F5344CB8AC3E}">
        <p14:creationId xmlns:p14="http://schemas.microsoft.com/office/powerpoint/2010/main" val="1343043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C5751-1545-41CC-36AC-CB3C1BC8B9F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27FE58-6F90-C4A7-952B-D99101E79304}"/>
              </a:ext>
            </a:extLst>
          </p:cNvPr>
          <p:cNvSpPr>
            <a:spLocks noGrp="1"/>
          </p:cNvSpPr>
          <p:nvPr>
            <p:ph type="sldNum" sz="quarter" idx="12"/>
          </p:nvPr>
        </p:nvSpPr>
        <p:spPr>
          <a:xfrm>
            <a:off x="5257800" y="9429021"/>
            <a:ext cx="1543050" cy="527403"/>
          </a:xfrm>
        </p:spPr>
        <p:txBody>
          <a:bodyPr/>
          <a:lstStyle/>
          <a:p>
            <a:fld id="{086C3A38-D272-42AA-9C88-F1FBEAE20D2C}" type="slidenum">
              <a:rPr lang="en-GB" noProof="0" smtClean="0"/>
              <a:t>7</a:t>
            </a:fld>
            <a:endParaRPr lang="en-GB" noProof="0" dirty="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5FC1A8D-B098-76C5-F990-4F21EF86AED2}"/>
                  </a:ext>
                </a:extLst>
              </p:cNvPr>
              <p:cNvGraphicFramePr>
                <a:graphicFrameLocks noGrp="1"/>
              </p:cNvGraphicFramePr>
              <p:nvPr>
                <p:extLst>
                  <p:ext uri="{D42A27DB-BD31-4B8C-83A1-F6EECF244321}">
                    <p14:modId xmlns:p14="http://schemas.microsoft.com/office/powerpoint/2010/main" val="2956727814"/>
                  </p:ext>
                </p:extLst>
              </p:nvPr>
            </p:nvGraphicFramePr>
            <p:xfrm>
              <a:off x="88044" y="144198"/>
              <a:ext cx="6681912" cy="4178218"/>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2089109">
                    <a:tc>
                      <a:txBody>
                        <a:bodyPr/>
                        <a:lstStyle/>
                        <a:p>
                          <a:r>
                            <a:rPr lang="en-GB" sz="1200" b="0" noProof="0" dirty="0">
                              <a:solidFill>
                                <a:schemeClr val="tx1"/>
                              </a:solidFill>
                            </a:rPr>
                            <a:t>e)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+ 3</m:t>
                                  </m:r>
                                </m:num>
                                <m:den>
                                  <m:r>
                                    <a:rPr lang="en-GB" sz="1200" b="0" i="1" noProof="0" smtClean="0">
                                      <a:solidFill>
                                        <a:schemeClr val="tx1"/>
                                      </a:solidFill>
                                      <a:latin typeface="Cambria Math" panose="02040503050406030204" pitchFamily="18" charset="0"/>
                                    </a:rPr>
                                    <m:t>𝑐</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h</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f)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𝑤</m:t>
                                  </m:r>
                                  <m:r>
                                    <a:rPr lang="en-GB" sz="1200" b="0" i="1" noProof="0" smtClean="0">
                                      <a:solidFill>
                                        <a:schemeClr val="tx1"/>
                                      </a:solidFill>
                                      <a:latin typeface="Cambria Math" panose="02040503050406030204" pitchFamily="18" charset="0"/>
                                    </a:rPr>
                                    <m:t> + </m:t>
                                  </m:r>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𝑢</m:t>
                                  </m:r>
                                </m:den>
                              </m:f>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𝑧</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g)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 </m:t>
                                  </m:r>
                                  <m:r>
                                    <a:rPr lang="en-GB" sz="1200" b="0" i="1" noProof="0" smtClean="0">
                                      <a:solidFill>
                                        <a:schemeClr val="tx1"/>
                                      </a:solidFill>
                                      <a:latin typeface="Cambria Math" panose="02040503050406030204" pitchFamily="18" charset="0"/>
                                    </a:rPr>
                                    <m:t>𝑡</m:t>
                                  </m:r>
                                </m:num>
                                <m:den>
                                  <m:r>
                                    <a:rPr lang="en-GB" sz="1200" b="0" i="1" noProof="0" smtClean="0">
                                      <a:solidFill>
                                        <a:schemeClr val="tx1"/>
                                      </a:solidFill>
                                      <a:latin typeface="Cambria Math" panose="02040503050406030204" pitchFamily="18" charset="0"/>
                                    </a:rPr>
                                    <m:t>𝑚</m:t>
                                  </m:r>
                                </m:den>
                              </m:f>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𝑐</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h)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 </m:t>
                                  </m:r>
                                  <m:r>
                                    <a:rPr lang="en-GB" sz="1200" b="0" i="1" noProof="0" smtClean="0">
                                      <a:solidFill>
                                        <a:schemeClr val="tx1"/>
                                      </a:solidFill>
                                      <a:latin typeface="Cambria Math" panose="02040503050406030204" pitchFamily="18" charset="0"/>
                                    </a:rPr>
                                    <m:t>𝑞</m:t>
                                  </m:r>
                                </m:num>
                                <m:den>
                                  <m:r>
                                    <a:rPr lang="en-GB" sz="1200" b="0" i="1" noProof="0" smtClean="0">
                                      <a:solidFill>
                                        <a:schemeClr val="tx1"/>
                                      </a:solidFill>
                                      <a:latin typeface="Cambria Math" panose="02040503050406030204" pitchFamily="18" charset="0"/>
                                    </a:rPr>
                                    <m:t>𝑝</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𝑝</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8045507"/>
                      </a:ext>
                    </a:extLst>
                  </a:tr>
                  <a:tr h="2089109">
                    <a:tc>
                      <a:txBody>
                        <a:bodyPr/>
                        <a:lstStyle/>
                        <a:p>
                          <a:r>
                            <a:rPr lang="en-GB" sz="1200" b="0" noProof="0" dirty="0" err="1"/>
                            <a:t>i</a:t>
                          </a:r>
                          <a:r>
                            <a:rPr lang="en-GB" sz="1200" b="0" noProof="0" dirty="0"/>
                            <a:t>) </a:t>
                          </a:r>
                          <a14:m>
                            <m:oMath xmlns:m="http://schemas.openxmlformats.org/officeDocument/2006/math">
                              <m:r>
                                <a:rPr lang="en-GB" sz="1200" b="0" i="1" noProof="0" smtClean="0">
                                  <a:latin typeface="Cambria Math" panose="02040503050406030204" pitchFamily="18" charset="0"/>
                                </a:rPr>
                                <m:t>h</m:t>
                              </m:r>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r>
                                <a:rPr lang="en-GB" sz="1200" b="0" i="1" noProof="0" smtClean="0">
                                  <a:latin typeface="Cambria Math" panose="02040503050406030204" pitchFamily="18" charset="0"/>
                                </a:rPr>
                                <m:t>𝑓</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j)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6</m:t>
                                  </m:r>
                                </m:den>
                              </m:f>
                              <m:r>
                                <a:rPr lang="en-GB" sz="1200" b="0" i="1" noProof="0" smtClean="0">
                                  <a:latin typeface="Cambria Math" panose="02040503050406030204" pitchFamily="18" charset="0"/>
                                </a:rPr>
                                <m:t>−5=</m:t>
                              </m:r>
                              <m:r>
                                <a:rPr lang="en-GB" sz="1200" b="0" i="1" noProof="0" smtClean="0">
                                  <a:latin typeface="Cambria Math" panose="02040503050406030204" pitchFamily="18" charset="0"/>
                                </a:rPr>
                                <m:t>𝑤</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k) </a:t>
                          </a:r>
                          <a14:m>
                            <m:oMath xmlns:m="http://schemas.openxmlformats.org/officeDocument/2006/math">
                              <m:r>
                                <a:rPr lang="en-GB" sz="1200" b="0" i="1" noProof="0" smtClean="0">
                                  <a:solidFill>
                                    <a:schemeClr val="tx1"/>
                                  </a:solidFill>
                                  <a:latin typeface="Cambria Math" panose="02040503050406030204" pitchFamily="18" charset="0"/>
                                </a:rPr>
                                <m:t>𝑡</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4</m:t>
                                  </m:r>
                                </m:den>
                              </m:f>
                              <m:r>
                                <a:rPr lang="en-GB" sz="1200" b="0" i="1" noProof="0" smtClean="0">
                                  <a:solidFill>
                                    <a:schemeClr val="tx1"/>
                                  </a:solidFill>
                                  <a:latin typeface="Cambria Math" panose="02040503050406030204" pitchFamily="18" charset="0"/>
                                </a:rPr>
                                <m:t>+1</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l)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3</m:t>
                                  </m:r>
                                </m:den>
                              </m:f>
                              <m:r>
                                <a:rPr lang="en-GB" sz="1200" b="0" i="1" noProof="0" smtClean="0">
                                  <a:latin typeface="Cambria Math" panose="02040503050406030204" pitchFamily="18" charset="0"/>
                                </a:rPr>
                                <m:t>−7</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5854048"/>
                      </a:ext>
                    </a:extLst>
                  </a:tr>
                </a:tbl>
              </a:graphicData>
            </a:graphic>
          </p:graphicFrame>
        </mc:Choice>
        <mc:Fallback xmlns="">
          <p:graphicFrame>
            <p:nvGraphicFramePr>
              <p:cNvPr id="6" name="Table 5">
                <a:extLst>
                  <a:ext uri="{FF2B5EF4-FFF2-40B4-BE49-F238E27FC236}">
                    <a16:creationId xmlns:a16="http://schemas.microsoft.com/office/drawing/2014/main" id="{75FC1A8D-B098-76C5-F990-4F21EF86AED2}"/>
                  </a:ext>
                </a:extLst>
              </p:cNvPr>
              <p:cNvGraphicFramePr>
                <a:graphicFrameLocks noGrp="1"/>
              </p:cNvGraphicFramePr>
              <p:nvPr>
                <p:extLst>
                  <p:ext uri="{D42A27DB-BD31-4B8C-83A1-F6EECF244321}">
                    <p14:modId xmlns:p14="http://schemas.microsoft.com/office/powerpoint/2010/main" val="2956727814"/>
                  </p:ext>
                </p:extLst>
              </p:nvPr>
            </p:nvGraphicFramePr>
            <p:xfrm>
              <a:off x="88044" y="144198"/>
              <a:ext cx="6681912" cy="4178218"/>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208910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5" t="-291" r="-301095" b="-10029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291" r="-200000" b="-10029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730" t="-291" r="-100730" b="-10029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730" t="-291" r="-730" b="-100291"/>
                          </a:stretch>
                        </a:blipFill>
                      </a:tcPr>
                    </a:tc>
                    <a:extLst>
                      <a:ext uri="{0D108BD9-81ED-4DB2-BD59-A6C34878D82A}">
                        <a16:rowId xmlns:a16="http://schemas.microsoft.com/office/drawing/2014/main" val="3558045507"/>
                      </a:ext>
                    </a:extLst>
                  </a:tr>
                  <a:tr h="208910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5" t="-100583" r="-301095" b="-5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100583" r="-200000" b="-5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730" t="-100583" r="-100730" b="-5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730" t="-100583" r="-730" b="-583"/>
                          </a:stretch>
                        </a:blipFill>
                      </a:tcPr>
                    </a:tc>
                    <a:extLst>
                      <a:ext uri="{0D108BD9-81ED-4DB2-BD59-A6C34878D82A}">
                        <a16:rowId xmlns:a16="http://schemas.microsoft.com/office/drawing/2014/main" val="3205854048"/>
                      </a:ext>
                    </a:extLst>
                  </a:tr>
                </a:tbl>
              </a:graphicData>
            </a:graphic>
          </p:graphicFrame>
        </mc:Fallback>
      </mc:AlternateContent>
      <p:sp>
        <p:nvSpPr>
          <p:cNvPr id="27" name="Rectangle 26">
            <a:extLst>
              <a:ext uri="{FF2B5EF4-FFF2-40B4-BE49-F238E27FC236}">
                <a16:creationId xmlns:a16="http://schemas.microsoft.com/office/drawing/2014/main" id="{C6233564-6EB6-2C31-C596-D07DA6F84D43}"/>
              </a:ext>
            </a:extLst>
          </p:cNvPr>
          <p:cNvSpPr/>
          <p:nvPr/>
        </p:nvSpPr>
        <p:spPr>
          <a:xfrm>
            <a:off x="88043" y="4422681"/>
            <a:ext cx="2698733" cy="28096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bg1"/>
                </a:solidFill>
              </a:rPr>
              <a:t>Multi-step rearranging </a:t>
            </a:r>
          </a:p>
        </p:txBody>
      </p:sp>
      <mc:AlternateContent xmlns:mc="http://schemas.openxmlformats.org/markup-compatibility/2006" xmlns:a14="http://schemas.microsoft.com/office/drawing/2010/main">
        <mc:Choice Requires="a14">
          <p:graphicFrame>
            <p:nvGraphicFramePr>
              <p:cNvPr id="28" name="Table 27">
                <a:extLst>
                  <a:ext uri="{FF2B5EF4-FFF2-40B4-BE49-F238E27FC236}">
                    <a16:creationId xmlns:a16="http://schemas.microsoft.com/office/drawing/2014/main" id="{B4F40624-1C9F-93CD-9D28-1857204E5C16}"/>
                  </a:ext>
                </a:extLst>
              </p:cNvPr>
              <p:cNvGraphicFramePr>
                <a:graphicFrameLocks noGrp="1"/>
              </p:cNvGraphicFramePr>
              <p:nvPr>
                <p:extLst>
                  <p:ext uri="{D42A27DB-BD31-4B8C-83A1-F6EECF244321}">
                    <p14:modId xmlns:p14="http://schemas.microsoft.com/office/powerpoint/2010/main" val="3329306703"/>
                  </p:ext>
                </p:extLst>
              </p:nvPr>
            </p:nvGraphicFramePr>
            <p:xfrm>
              <a:off x="88044" y="4703643"/>
              <a:ext cx="6681913" cy="4879211"/>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364746">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7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8 -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9 -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582545">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𝑦</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3109564">
                    <a:tc>
                      <a:txBody>
                        <a:bodyPr/>
                        <a:lstStyle/>
                        <a:p>
                          <a:pPr marL="0" indent="0">
                            <a:buNone/>
                          </a:pPr>
                          <a:r>
                            <a:rPr lang="en-GB" sz="1200" noProof="0" dirty="0">
                              <a:solidFill>
                                <a:schemeClr val="tx1"/>
                              </a:solidFill>
                            </a:rPr>
                            <a:t>1) Circle the variable you want to make the subject.</a:t>
                          </a:r>
                        </a:p>
                        <a:p>
                          <a:pPr marL="0" indent="0">
                            <a:buNone/>
                          </a:pPr>
                          <a:endParaRPr lang="en-GB" sz="1200" noProof="0" dirty="0">
                            <a:solidFill>
                              <a:schemeClr val="tx1"/>
                            </a:solidFill>
                          </a:endParaRPr>
                        </a:p>
                        <a:p>
                          <a:pPr marL="0" indent="0">
                            <a:buNone/>
                          </a:pPr>
                          <a:r>
                            <a:rPr lang="en-GB" sz="1200" noProof="0" dirty="0">
                              <a:solidFill>
                                <a:schemeClr val="tx1"/>
                              </a:solidFill>
                            </a:rPr>
                            <a:t>2) Use inverse operation</a:t>
                          </a:r>
                          <a:r>
                            <a:rPr lang="en-GB" sz="1200" b="1" u="sng" noProof="0" dirty="0">
                              <a:solidFill>
                                <a:schemeClr val="tx1"/>
                              </a:solidFill>
                            </a:rPr>
                            <a:t>s</a:t>
                          </a:r>
                          <a:r>
                            <a:rPr lang="en-GB" sz="1200" noProof="0" dirty="0">
                              <a:solidFill>
                                <a:schemeClr val="tx1"/>
                              </a:solidFill>
                            </a:rPr>
                            <a:t> to isolate the variable.</a:t>
                          </a: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7</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num>
                                  <m:den>
                                    <m:r>
                                      <a:rPr lang="en-GB" sz="1200" b="0" i="1" noProof="0" smtClean="0">
                                        <a:solidFill>
                                          <a:schemeClr val="tx1"/>
                                        </a:solidFill>
                                        <a:latin typeface="Cambria Math" panose="02040503050406030204" pitchFamily="18" charset="0"/>
                                      </a:rPr>
                                      <m:t>3</m:t>
                                    </m:r>
                                  </m:den>
                                </m:f>
                                <m:r>
                                  <a:rPr lang="en-GB" sz="1200" b="0" i="1" noProof="0" smtClean="0">
                                    <a:solidFill>
                                      <a:schemeClr val="tx1"/>
                                    </a:solidFill>
                                    <a:latin typeface="Cambria Math" panose="02040503050406030204" pitchFamily="18" charset="0"/>
                                  </a:rPr>
                                  <m:t>=9</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i="1" noProof="0" smtClean="0">
                                    <a:solidFill>
                                      <a:schemeClr val="tx1"/>
                                    </a:solidFill>
                                    <a:latin typeface="Cambria Math" panose="02040503050406030204" pitchFamily="18" charset="0"/>
                                  </a:rPr>
                                  <m:t>2</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𝑦</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m:oMathPara>
                          </a14:m>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ad>
                                    <m:radPr>
                                      <m:degHide m:val="on"/>
                                      <m:ctrlPr>
                                        <a:rPr lang="en-GB" sz="1200" b="0" i="1" noProof="0" smtClean="0">
                                          <a:solidFill>
                                            <a:schemeClr val="tx1"/>
                                          </a:solidFill>
                                          <a:latin typeface="Cambria Math" panose="02040503050406030204" pitchFamily="18" charset="0"/>
                                        </a:rPr>
                                      </m:ctrlPr>
                                    </m:radPr>
                                    <m:deg/>
                                    <m:e>
                                      <m:r>
                                        <a:rPr lang="en-GB" sz="1200" b="0" i="1" noProof="0" smtClean="0">
                                          <a:solidFill>
                                            <a:schemeClr val="tx1"/>
                                          </a:solidFill>
                                          <a:latin typeface="Cambria Math" panose="02040503050406030204" pitchFamily="18" charset="0"/>
                                        </a:rPr>
                                        <m:t>𝑥</m:t>
                                      </m:r>
                                    </m:e>
                                  </m:rad>
                                </m:num>
                                <m:den>
                                  <m:r>
                                    <a:rPr lang="en-GB" sz="1200" b="0" i="0" noProof="0" smtClean="0">
                                      <a:solidFill>
                                        <a:schemeClr val="tx1"/>
                                      </a:solidFill>
                                      <a:latin typeface="Cambria Math" panose="02040503050406030204" pitchFamily="18" charset="0"/>
                                    </a:rPr>
                                    <m:t>3</m:t>
                                  </m:r>
                                </m:den>
                              </m:f>
                              <m:r>
                                <a:rPr lang="en-GB" sz="1200" b="0" i="0" noProof="0" smtClean="0">
                                  <a:solidFill>
                                    <a:schemeClr val="tx1"/>
                                  </a:solidFill>
                                  <a:latin typeface="Cambria Math" panose="02040503050406030204" pitchFamily="18" charset="0"/>
                                </a:rPr>
                                <m:t>+9=</m:t>
                              </m:r>
                              <m:r>
                                <m:rPr>
                                  <m:sty m:val="p"/>
                                </m:rPr>
                                <a:rPr lang="en-GB" sz="1200" b="0" i="0" noProof="0" smtClean="0">
                                  <a:solidFill>
                                    <a:schemeClr val="tx1"/>
                                  </a:solidFill>
                                  <a:latin typeface="Cambria Math" panose="02040503050406030204" pitchFamily="18" charset="0"/>
                                </a:rPr>
                                <m:t>r</m:t>
                              </m:r>
                            </m:oMath>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28" name="Table 27">
                <a:extLst>
                  <a:ext uri="{FF2B5EF4-FFF2-40B4-BE49-F238E27FC236}">
                    <a16:creationId xmlns:a16="http://schemas.microsoft.com/office/drawing/2014/main" id="{B4F40624-1C9F-93CD-9D28-1857204E5C16}"/>
                  </a:ext>
                </a:extLst>
              </p:cNvPr>
              <p:cNvGraphicFramePr>
                <a:graphicFrameLocks noGrp="1"/>
              </p:cNvGraphicFramePr>
              <p:nvPr>
                <p:extLst>
                  <p:ext uri="{D42A27DB-BD31-4B8C-83A1-F6EECF244321}">
                    <p14:modId xmlns:p14="http://schemas.microsoft.com/office/powerpoint/2010/main" val="3329306703"/>
                  </p:ext>
                </p:extLst>
              </p:nvPr>
            </p:nvGraphicFramePr>
            <p:xfrm>
              <a:off x="88044" y="4703643"/>
              <a:ext cx="6681913" cy="4879211"/>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364746">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7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8 -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9 -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582545">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86713" t="-62500" r="-197902" b="-675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189362" t="-62500" r="-100709" b="-675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289362" t="-62500" r="-709" b="-675000"/>
                          </a:stretch>
                        </a:blipFill>
                      </a:tcPr>
                    </a:tc>
                    <a:extLst>
                      <a:ext uri="{0D108BD9-81ED-4DB2-BD59-A6C34878D82A}">
                        <a16:rowId xmlns:a16="http://schemas.microsoft.com/office/drawing/2014/main" val="2357201933"/>
                      </a:ext>
                    </a:extLst>
                  </a:tr>
                  <a:tr h="3931920">
                    <a:tc>
                      <a:txBody>
                        <a:bodyPr/>
                        <a:lstStyle/>
                        <a:p>
                          <a:pPr marL="0" indent="0">
                            <a:buNone/>
                          </a:pPr>
                          <a:r>
                            <a:rPr lang="en-GB" sz="1200" noProof="0">
                              <a:solidFill>
                                <a:schemeClr val="tx1"/>
                              </a:solidFill>
                            </a:rPr>
                            <a:t>1) Circle the variable you want to make the subject.</a:t>
                          </a:r>
                        </a:p>
                        <a:p>
                          <a:pPr marL="0" indent="0">
                            <a:buNone/>
                          </a:pPr>
                          <a:endParaRPr lang="en-GB" sz="1200" noProof="0">
                            <a:solidFill>
                              <a:schemeClr val="tx1"/>
                            </a:solidFill>
                          </a:endParaRPr>
                        </a:p>
                        <a:p>
                          <a:pPr marL="0" indent="0">
                            <a:buNone/>
                          </a:pPr>
                          <a:r>
                            <a:rPr lang="en-GB" sz="1200" noProof="0">
                              <a:solidFill>
                                <a:schemeClr val="tx1"/>
                              </a:solidFill>
                            </a:rPr>
                            <a:t>2) Use inverse operation</a:t>
                          </a:r>
                          <a:r>
                            <a:rPr lang="en-GB" sz="1200" b="1" u="sng" noProof="0">
                              <a:solidFill>
                                <a:schemeClr val="tx1"/>
                              </a:solidFill>
                            </a:rPr>
                            <a:t>s</a:t>
                          </a:r>
                          <a:r>
                            <a:rPr lang="en-GB" sz="1200" noProof="0">
                              <a:solidFill>
                                <a:schemeClr val="tx1"/>
                              </a:solidFill>
                            </a:rPr>
                            <a:t> to isolate the variable.</a:t>
                          </a: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86713" t="-24186" r="-197902" b="-46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189362" t="-24186" r="-100709" b="-46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289362" t="-24186" r="-709" b="-465"/>
                          </a:stretch>
                        </a:blipFill>
                      </a:tcPr>
                    </a:tc>
                    <a:extLst>
                      <a:ext uri="{0D108BD9-81ED-4DB2-BD59-A6C34878D82A}">
                        <a16:rowId xmlns:a16="http://schemas.microsoft.com/office/drawing/2014/main" val="3293625240"/>
                      </a:ext>
                    </a:extLst>
                  </a:tr>
                </a:tbl>
              </a:graphicData>
            </a:graphic>
          </p:graphicFrame>
        </mc:Fallback>
      </mc:AlternateContent>
    </p:spTree>
    <p:extLst>
      <p:ext uri="{BB962C8B-B14F-4D97-AF65-F5344CB8AC3E}">
        <p14:creationId xmlns:p14="http://schemas.microsoft.com/office/powerpoint/2010/main" val="3301299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D8D70-ABAC-628E-4978-8145C8BA6A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6CB760-881C-730E-E678-FE24DF7563C8}"/>
              </a:ext>
            </a:extLst>
          </p:cNvPr>
          <p:cNvSpPr>
            <a:spLocks noGrp="1"/>
          </p:cNvSpPr>
          <p:nvPr>
            <p:ph type="sldNum" sz="quarter" idx="12"/>
          </p:nvPr>
        </p:nvSpPr>
        <p:spPr>
          <a:xfrm>
            <a:off x="5257800" y="9429021"/>
            <a:ext cx="1543050" cy="527403"/>
          </a:xfrm>
        </p:spPr>
        <p:txBody>
          <a:bodyPr/>
          <a:lstStyle/>
          <a:p>
            <a:fld id="{086C3A38-D272-42AA-9C88-F1FBEAE20D2C}" type="slidenum">
              <a:rPr lang="en-GB" noProof="0" smtClean="0"/>
              <a:t>8</a:t>
            </a:fld>
            <a:endParaRPr lang="en-GB" noProof="0" dirty="0"/>
          </a:p>
        </p:txBody>
      </p:sp>
      <p:sp>
        <p:nvSpPr>
          <p:cNvPr id="5" name="Rectangle 4">
            <a:extLst>
              <a:ext uri="{FF2B5EF4-FFF2-40B4-BE49-F238E27FC236}">
                <a16:creationId xmlns:a16="http://schemas.microsoft.com/office/drawing/2014/main" id="{E70E09A3-1550-AB76-51D0-318359E2A1A3}"/>
              </a:ext>
            </a:extLst>
          </p:cNvPr>
          <p:cNvSpPr/>
          <p:nvPr/>
        </p:nvSpPr>
        <p:spPr>
          <a:xfrm>
            <a:off x="29695" y="51519"/>
            <a:ext cx="1702821" cy="27699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42D9E58-3D9D-0920-CCE1-A9E3E3D513D7}"/>
                  </a:ext>
                </a:extLst>
              </p:cNvPr>
              <p:cNvGraphicFramePr>
                <a:graphicFrameLocks noGrp="1"/>
              </p:cNvGraphicFramePr>
              <p:nvPr>
                <p:extLst>
                  <p:ext uri="{D42A27DB-BD31-4B8C-83A1-F6EECF244321}">
                    <p14:modId xmlns:p14="http://schemas.microsoft.com/office/powerpoint/2010/main" val="291305383"/>
                  </p:ext>
                </p:extLst>
              </p:nvPr>
            </p:nvGraphicFramePr>
            <p:xfrm>
              <a:off x="60589" y="537161"/>
              <a:ext cx="6681912" cy="9024848"/>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2256212">
                    <a:tc>
                      <a:txBody>
                        <a:bodyPr/>
                        <a:lstStyle/>
                        <a:p>
                          <a:r>
                            <a:rPr lang="en-GB" sz="1200" b="0" noProof="0" dirty="0">
                              <a:solidFill>
                                <a:schemeClr val="tx1"/>
                              </a:solidFill>
                            </a:rPr>
                            <a:t>a)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7</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 </m:t>
                                  </m:r>
                                  <m:r>
                                    <a:rPr lang="en-GB" sz="1200" b="0" i="1" noProof="0" smtClean="0">
                                      <a:solidFill>
                                        <a:schemeClr val="tx1"/>
                                      </a:solidFill>
                                      <a:latin typeface="Cambria Math" panose="02040503050406030204" pitchFamily="18" charset="0"/>
                                    </a:rPr>
                                    <m:t>𝑚</m:t>
                                  </m:r>
                                </m:num>
                                <m:den>
                                  <m:r>
                                    <a:rPr lang="en-GB" sz="1200" b="0" i="1" noProof="0" smtClean="0">
                                      <a:solidFill>
                                        <a:schemeClr val="tx1"/>
                                      </a:solidFill>
                                      <a:latin typeface="Cambria Math" panose="02040503050406030204" pitchFamily="18" charset="0"/>
                                    </a:rPr>
                                    <m:t>11</m:t>
                                  </m:r>
                                </m:den>
                              </m:f>
                              <m:r>
                                <a:rPr lang="en-GB" sz="1200" b="0" i="1" noProof="0" smtClean="0">
                                  <a:solidFill>
                                    <a:schemeClr val="tx1"/>
                                  </a:solidFill>
                                  <a:latin typeface="Cambria Math" panose="02040503050406030204" pitchFamily="18" charset="0"/>
                                </a:rPr>
                                <m:t>=1</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b)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7</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 + </m:t>
                                  </m:r>
                                  <m:r>
                                    <a:rPr lang="en-GB" sz="1200" b="0" i="1" noProof="0" smtClean="0">
                                      <a:solidFill>
                                        <a:schemeClr val="tx1"/>
                                      </a:solidFill>
                                      <a:latin typeface="Cambria Math" panose="02040503050406030204" pitchFamily="18" charset="0"/>
                                    </a:rPr>
                                    <m:t>𝑚</m:t>
                                  </m:r>
                                </m:num>
                                <m:den>
                                  <m:r>
                                    <a:rPr lang="en-GB" sz="1200" b="0" i="1" noProof="0" smtClean="0">
                                      <a:solidFill>
                                        <a:schemeClr val="tx1"/>
                                      </a:solidFill>
                                      <a:latin typeface="Cambria Math" panose="02040503050406030204" pitchFamily="18" charset="0"/>
                                    </a:rPr>
                                    <m:t>11</m:t>
                                  </m:r>
                                </m:den>
                              </m:f>
                              <m:r>
                                <a:rPr lang="en-GB" sz="1200" b="0" i="1" noProof="0" smtClean="0">
                                  <a:solidFill>
                                    <a:schemeClr val="tx1"/>
                                  </a:solidFill>
                                  <a:latin typeface="Cambria Math" panose="02040503050406030204" pitchFamily="18" charset="0"/>
                                </a:rPr>
                                <m:t>=1</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c) </a:t>
                          </a:r>
                          <a14:m>
                            <m:oMath xmlns:m="http://schemas.openxmlformats.org/officeDocument/2006/math">
                              <m:r>
                                <a:rPr lang="en-GB" sz="1200" b="0" i="1" noProof="0" smtClean="0">
                                  <a:solidFill>
                                    <a:schemeClr val="tx1"/>
                                  </a:solidFill>
                                  <a:latin typeface="Cambria Math" panose="02040503050406030204" pitchFamily="18" charset="0"/>
                                </a:rPr>
                                <m:t>5</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d) </a:t>
                          </a:r>
                          <a14:m>
                            <m:oMath xmlns:m="http://schemas.openxmlformats.org/officeDocument/2006/math">
                              <m:r>
                                <a:rPr lang="en-GB" sz="1200" b="0" i="1" noProof="0" smtClean="0">
                                  <a:solidFill>
                                    <a:schemeClr val="tx1"/>
                                  </a:solidFill>
                                  <a:latin typeface="Cambria Math" panose="02040503050406030204" pitchFamily="18" charset="0"/>
                                </a:rPr>
                                <m:t>5</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4583780"/>
                      </a:ext>
                    </a:extLst>
                  </a:tr>
                  <a:tr h="225621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e)</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i="1" noProof="0" smtClean="0">
                                  <a:solidFill>
                                    <a:schemeClr val="tx1"/>
                                  </a:solidFill>
                                  <a:latin typeface="Cambria Math" panose="02040503050406030204" pitchFamily="18" charset="0"/>
                                </a:rPr>
                                <m:t>7</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=9</m:t>
                              </m:r>
                            </m:oMath>
                          </a14:m>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f) </a:t>
                          </a:r>
                          <a14:m>
                            <m:oMath xmlns:m="http://schemas.openxmlformats.org/officeDocument/2006/math">
                              <m:f>
                                <m:fPr>
                                  <m:ctrlPr>
                                    <a:rPr lang="en-GB" sz="1200" i="1" noProof="0" smtClean="0">
                                      <a:solidFill>
                                        <a:schemeClr val="tx1"/>
                                      </a:solidFill>
                                      <a:latin typeface="Cambria Math" panose="02040503050406030204" pitchFamily="18" charset="0"/>
                                    </a:rPr>
                                  </m:ctrlPr>
                                </m:fPr>
                                <m:num>
                                  <m:r>
                                    <a:rPr lang="en-GB" sz="1200" i="1" noProof="0">
                                      <a:solidFill>
                                        <a:schemeClr val="tx1"/>
                                      </a:solidFill>
                                      <a:latin typeface="Cambria Math" panose="02040503050406030204" pitchFamily="18" charset="0"/>
                                    </a:rPr>
                                    <m:t>𝑝</m:t>
                                  </m:r>
                                  <m:r>
                                    <a:rPr lang="en-GB" sz="1200" b="0" i="1" noProof="0" smtClean="0">
                                      <a:solidFill>
                                        <a:schemeClr val="tx1"/>
                                      </a:solidFill>
                                      <a:latin typeface="Cambria Math" panose="02040503050406030204" pitchFamily="18" charset="0"/>
                                    </a:rPr>
                                    <m:t> </m:t>
                                  </m:r>
                                  <m:r>
                                    <a:rPr lang="en-GB" sz="1200" i="1" noProof="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 </m:t>
                                  </m:r>
                                  <m:r>
                                    <a:rPr lang="en-GB" sz="1200" i="1" noProof="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rPr>
                                    <m:t> </m:t>
                                  </m:r>
                                  <m:r>
                                    <a:rPr lang="en-GB" sz="1200" i="1" noProof="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 </m:t>
                                  </m:r>
                                  <m:r>
                                    <a:rPr lang="en-GB" sz="1200" i="1" noProof="0">
                                      <a:solidFill>
                                        <a:schemeClr val="tx1"/>
                                      </a:solidFill>
                                      <a:latin typeface="Cambria Math" panose="02040503050406030204" pitchFamily="18" charset="0"/>
                                    </a:rPr>
                                    <m:t>2</m:t>
                                  </m:r>
                                  <m:r>
                                    <a:rPr lang="en-GB" sz="1200" i="1" noProof="0">
                                      <a:solidFill>
                                        <a:schemeClr val="tx1"/>
                                      </a:solidFill>
                                      <a:latin typeface="Cambria Math" panose="02040503050406030204" pitchFamily="18" charset="0"/>
                                    </a:rPr>
                                    <m:t>𝑥</m:t>
                                  </m:r>
                                </m:num>
                                <m:den>
                                  <m:r>
                                    <a:rPr lang="en-GB" sz="1200" i="1" noProof="0">
                                      <a:solidFill>
                                        <a:schemeClr val="tx1"/>
                                      </a:solidFill>
                                      <a:latin typeface="Cambria Math" panose="02040503050406030204" pitchFamily="18" charset="0"/>
                                    </a:rPr>
                                    <m:t>𝑚</m:t>
                                  </m:r>
                                </m:den>
                              </m:f>
                              <m:r>
                                <a:rPr lang="en-GB" sz="1200" i="1" noProof="0">
                                  <a:solidFill>
                                    <a:schemeClr val="tx1"/>
                                  </a:solidFill>
                                  <a:latin typeface="Cambria Math" panose="02040503050406030204" pitchFamily="18" charset="0"/>
                                </a:rPr>
                                <m:t>=</m:t>
                              </m:r>
                              <m:r>
                                <a:rPr lang="en-GB" sz="1200" i="1" noProof="0">
                                  <a:solidFill>
                                    <a:schemeClr val="tx1"/>
                                  </a:solidFill>
                                  <a:latin typeface="Cambria Math" panose="02040503050406030204" pitchFamily="18" charset="0"/>
                                </a:rPr>
                                <m:t>𝑚</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g)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 </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num>
                                <m:den>
                                  <m:r>
                                    <a:rPr lang="en-GB" sz="1200" b="0" i="1" noProof="0" smtClean="0">
                                      <a:solidFill>
                                        <a:schemeClr val="tx1"/>
                                      </a:solidFill>
                                      <a:latin typeface="Cambria Math" panose="02040503050406030204" pitchFamily="18" charset="0"/>
                                    </a:rPr>
                                    <m:t>3</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𝑔</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h)</a:t>
                          </a:r>
                          <a14:m>
                            <m:oMath xmlns:m="http://schemas.openxmlformats.org/officeDocument/2006/math">
                              <m:r>
                                <a:rPr lang="en-GB" sz="1200" b="0" i="0" noProof="0" smtClean="0">
                                  <a:solidFill>
                                    <a:schemeClr val="tx1"/>
                                  </a:solidFill>
                                  <a:latin typeface="Cambria Math" panose="02040503050406030204" pitchFamily="18" charset="0"/>
                                </a:rPr>
                                <m:t> </m:t>
                              </m:r>
                              <m:f>
                                <m:fPr>
                                  <m:ctrlPr>
                                    <a:rPr lang="en-GB" sz="1200" b="0" i="1" noProof="0" smtClean="0">
                                      <a:solidFill>
                                        <a:schemeClr val="tx1"/>
                                      </a:solidFill>
                                      <a:latin typeface="Cambria Math" panose="02040503050406030204" pitchFamily="18" charset="0"/>
                                    </a:rPr>
                                  </m:ctrlPr>
                                </m:fPr>
                                <m:num>
                                  <m:rad>
                                    <m:radPr>
                                      <m:degHide m:val="on"/>
                                      <m:ctrlPr>
                                        <a:rPr lang="en-GB" sz="1200" b="0" i="1" noProof="0" smtClean="0">
                                          <a:solidFill>
                                            <a:schemeClr val="tx1"/>
                                          </a:solidFill>
                                          <a:latin typeface="Cambria Math" panose="02040503050406030204" pitchFamily="18" charset="0"/>
                                        </a:rPr>
                                      </m:ctrlPr>
                                    </m:radPr>
                                    <m:deg/>
                                    <m:e>
                                      <m:r>
                                        <a:rPr lang="en-GB" sz="1200" b="0" i="1" noProof="0" smtClean="0">
                                          <a:solidFill>
                                            <a:schemeClr val="tx1"/>
                                          </a:solidFill>
                                          <a:latin typeface="Cambria Math" panose="02040503050406030204" pitchFamily="18" charset="0"/>
                                        </a:rPr>
                                        <m:t>𝑥</m:t>
                                      </m:r>
                                    </m:e>
                                  </m:rad>
                                </m:num>
                                <m:den>
                                  <m:r>
                                    <a:rPr lang="en-GB" sz="1200" b="0" i="1" noProof="0" smtClean="0">
                                      <a:solidFill>
                                        <a:schemeClr val="tx1"/>
                                      </a:solidFill>
                                      <a:latin typeface="Cambria Math" panose="02040503050406030204" pitchFamily="18" charset="0"/>
                                    </a:rPr>
                                    <m:t>𝑎</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𝑑</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𝑓</m:t>
                              </m:r>
                            </m:oMath>
                          </a14:m>
                          <a:endParaRPr lang="en-GB" sz="1200" noProof="0" dirty="0">
                            <a:solidFill>
                              <a:schemeClr val="tx1"/>
                            </a:solidFill>
                          </a:endParaRPr>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8045507"/>
                      </a:ext>
                    </a:extLst>
                  </a:tr>
                  <a:tr h="225621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err="1"/>
                            <a:t>i</a:t>
                          </a:r>
                          <a:r>
                            <a:rPr lang="en-GB" sz="1200" b="0" noProof="0" dirty="0"/>
                            <a:t>)</a:t>
                          </a:r>
                          <a14:m>
                            <m:oMath xmlns:m="http://schemas.openxmlformats.org/officeDocument/2006/math">
                              <m:r>
                                <a:rPr lang="en-GB" sz="1200" b="0" i="0" noProof="0" smtClean="0">
                                  <a:solidFill>
                                    <a:schemeClr val="tx1"/>
                                  </a:solidFill>
                                  <a:latin typeface="Cambria Math" panose="02040503050406030204" pitchFamily="18" charset="0"/>
                                </a:rPr>
                                <m:t> </m:t>
                              </m:r>
                              <m:f>
                                <m:fPr>
                                  <m:ctrlPr>
                                    <a:rPr lang="en-GB" sz="1200" b="0" i="1" noProof="0" smtClean="0">
                                      <a:solidFill>
                                        <a:schemeClr val="tx1"/>
                                      </a:solidFill>
                                      <a:latin typeface="Cambria Math" panose="02040503050406030204" pitchFamily="18" charset="0"/>
                                    </a:rPr>
                                  </m:ctrlPr>
                                </m:fPr>
                                <m:num>
                                  <m:rad>
                                    <m:radPr>
                                      <m:ctrlPr>
                                        <a:rPr lang="en-GB" sz="1200" b="0" i="1" noProof="0" smtClean="0">
                                          <a:solidFill>
                                            <a:schemeClr val="tx1"/>
                                          </a:solidFill>
                                          <a:latin typeface="Cambria Math" panose="02040503050406030204" pitchFamily="18" charset="0"/>
                                        </a:rPr>
                                      </m:ctrlPr>
                                    </m:radPr>
                                    <m:deg>
                                      <m:r>
                                        <a:rPr lang="en-GB" sz="1200" b="0" i="1" noProof="0" smtClean="0">
                                          <a:solidFill>
                                            <a:schemeClr val="tx1"/>
                                          </a:solidFill>
                                          <a:latin typeface="Cambria Math" panose="02040503050406030204" pitchFamily="18" charset="0"/>
                                        </a:rPr>
                                        <m:t>3</m:t>
                                      </m:r>
                                    </m:deg>
                                    <m:e>
                                      <m:r>
                                        <a:rPr lang="en-GB" sz="1200" b="0" i="1" noProof="0" smtClean="0">
                                          <a:solidFill>
                                            <a:schemeClr val="tx1"/>
                                          </a:solidFill>
                                          <a:latin typeface="Cambria Math" panose="02040503050406030204" pitchFamily="18" charset="0"/>
                                        </a:rPr>
                                        <m:t>𝑥</m:t>
                                      </m:r>
                                    </m:e>
                                  </m:rad>
                                </m:num>
                                <m:den>
                                  <m:r>
                                    <a:rPr lang="en-GB" sz="1200" b="0" i="1" noProof="0" smtClean="0">
                                      <a:solidFill>
                                        <a:schemeClr val="tx1"/>
                                      </a:solidFill>
                                      <a:latin typeface="Cambria Math" panose="02040503050406030204" pitchFamily="18" charset="0"/>
                                    </a:rPr>
                                    <m:t>𝑎</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𝑑</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𝑓</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j)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ad>
                                    <m:radPr>
                                      <m:degHide m:val="on"/>
                                      <m:ctrlPr>
                                        <a:rPr lang="en-GB" sz="1200" i="1" noProof="0" smtClean="0">
                                          <a:solidFill>
                                            <a:schemeClr val="tx1"/>
                                          </a:solidFill>
                                          <a:latin typeface="Cambria Math" panose="02040503050406030204" pitchFamily="18" charset="0"/>
                                        </a:rPr>
                                      </m:ctrlPr>
                                    </m:radPr>
                                    <m:deg/>
                                    <m:e>
                                      <m:r>
                                        <a:rPr lang="en-GB" sz="1200" b="0" i="1" noProof="0" smtClean="0">
                                          <a:solidFill>
                                            <a:schemeClr val="tx1"/>
                                          </a:solidFill>
                                          <a:latin typeface="Cambria Math" panose="02040503050406030204" pitchFamily="18" charset="0"/>
                                        </a:rPr>
                                        <m:t>𝑥</m:t>
                                      </m:r>
                                    </m:e>
                                  </m:rad>
                                </m:num>
                                <m:den>
                                  <m:r>
                                    <a:rPr lang="en-GB" sz="1200" b="0" i="1" noProof="0" smtClean="0">
                                      <a:solidFill>
                                        <a:schemeClr val="tx1"/>
                                      </a:solidFill>
                                      <a:latin typeface="Cambria Math" panose="02040503050406030204" pitchFamily="18" charset="0"/>
                                    </a:rPr>
                                    <m:t>𝑔</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i="1" noProof="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k) </a:t>
                          </a:r>
                          <a14:m>
                            <m:oMath xmlns:m="http://schemas.openxmlformats.org/officeDocument/2006/math">
                              <m:f>
                                <m:fPr>
                                  <m:ctrlPr>
                                    <a:rPr lang="en-GB" sz="1200" i="1" noProof="0" smtClean="0">
                                      <a:solidFill>
                                        <a:schemeClr val="tx1"/>
                                      </a:solidFill>
                                      <a:latin typeface="Cambria Math" panose="02040503050406030204" pitchFamily="18" charset="0"/>
                                    </a:rPr>
                                  </m:ctrlPr>
                                </m:fPr>
                                <m:num>
                                  <m:sSup>
                                    <m:sSupPr>
                                      <m:ctrlPr>
                                        <a:rPr lang="en-GB" sz="1200" i="1" noProof="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i="1" noProof="0">
                                          <a:solidFill>
                                            <a:schemeClr val="tx1"/>
                                          </a:solidFill>
                                          <a:latin typeface="Cambria Math" panose="02040503050406030204" pitchFamily="18" charset="0"/>
                                        </a:rPr>
                                        <m:t>3</m:t>
                                      </m:r>
                                    </m:sup>
                                  </m:sSup>
                                </m:num>
                                <m:den>
                                  <m:r>
                                    <a:rPr lang="en-GB" sz="1200" i="1" noProof="0">
                                      <a:solidFill>
                                        <a:schemeClr val="tx1"/>
                                      </a:solidFill>
                                      <a:latin typeface="Cambria Math" panose="02040503050406030204" pitchFamily="18" charset="0"/>
                                    </a:rPr>
                                    <m:t>2</m:t>
                                  </m:r>
                                </m:den>
                              </m:f>
                              <m:r>
                                <a:rPr lang="en-GB" sz="1200" i="1" noProof="0">
                                  <a:solidFill>
                                    <a:schemeClr val="tx1"/>
                                  </a:solidFill>
                                  <a:latin typeface="Cambria Math" panose="02040503050406030204" pitchFamily="18" charset="0"/>
                                </a:rPr>
                                <m:t>=</m:t>
                              </m:r>
                              <m:r>
                                <a:rPr lang="en-GB" sz="1200" i="1" noProof="0">
                                  <a:solidFill>
                                    <a:schemeClr val="tx1"/>
                                  </a:solidFill>
                                  <a:latin typeface="Cambria Math" panose="02040503050406030204" pitchFamily="18" charset="0"/>
                                </a:rPr>
                                <m:t>𝑔</m:t>
                              </m:r>
                              <m:r>
                                <a:rPr lang="en-GB" sz="1200" i="1" noProof="0">
                                  <a:solidFill>
                                    <a:schemeClr val="tx1"/>
                                  </a:solidFill>
                                  <a:latin typeface="Cambria Math" panose="02040503050406030204" pitchFamily="18" charset="0"/>
                                </a:rPr>
                                <m:t>+5</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l) </a:t>
                          </a:r>
                          <a14:m>
                            <m:oMath xmlns:m="http://schemas.openxmlformats.org/officeDocument/2006/math">
                              <m:f>
                                <m:fPr>
                                  <m:ctrlPr>
                                    <a:rPr lang="en-GB" sz="1200" b="0" i="1" noProof="0" smtClean="0">
                                      <a:latin typeface="Cambria Math" panose="02040503050406030204" pitchFamily="18" charset="0"/>
                                    </a:rPr>
                                  </m:ctrlPr>
                                </m:fPr>
                                <m:num>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10</m:t>
                                  </m:r>
                                </m:den>
                              </m:f>
                              <m:r>
                                <a:rPr lang="en-GB" sz="1200" b="0" i="1" noProof="0" smtClean="0">
                                  <a:latin typeface="Cambria Math" panose="02040503050406030204" pitchFamily="18" charset="0"/>
                                </a:rPr>
                                <m:t>+</m:t>
                              </m:r>
                              <m:r>
                                <a:rPr lang="en-GB" sz="1200" b="0" i="1" noProof="0" smtClean="0">
                                  <a:latin typeface="Cambria Math" panose="02040503050406030204" pitchFamily="18" charset="0"/>
                                </a:rPr>
                                <m:t>𝑏</m:t>
                              </m:r>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𝑎</m:t>
                                  </m:r>
                                </m:e>
                                <m:sup>
                                  <m:r>
                                    <a:rPr lang="en-GB" sz="1200" b="0" i="1" noProof="0" smtClean="0">
                                      <a:latin typeface="Cambria Math" panose="02040503050406030204" pitchFamily="18" charset="0"/>
                                    </a:rPr>
                                    <m:t>2</m:t>
                                  </m:r>
                                </m:sup>
                              </m:sSup>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5854048"/>
                      </a:ext>
                    </a:extLst>
                  </a:tr>
                  <a:tr h="225621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m) </a:t>
                          </a:r>
                          <a14:m>
                            <m:oMath xmlns:m="http://schemas.openxmlformats.org/officeDocument/2006/math">
                              <m:f>
                                <m:fPr>
                                  <m:ctrlPr>
                                    <a:rPr lang="en-GB" sz="1200" b="0" i="1" noProof="0" smtClean="0">
                                      <a:latin typeface="Cambria Math" panose="02040503050406030204" pitchFamily="18" charset="0"/>
                                    </a:rPr>
                                  </m:ctrlPr>
                                </m:fPr>
                                <m:num>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𝑎𝑏</m:t>
                              </m:r>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𝑎</m:t>
                                  </m:r>
                                </m:e>
                                <m:sup>
                                  <m:r>
                                    <a:rPr lang="en-GB" sz="1200" b="0" i="1" noProof="0" smtClean="0">
                                      <a:latin typeface="Cambria Math" panose="02040503050406030204" pitchFamily="18" charset="0"/>
                                    </a:rPr>
                                    <m:t>2</m:t>
                                  </m:r>
                                </m:sup>
                              </m:sSup>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n)</a:t>
                          </a:r>
                          <a14:m>
                            <m:oMath xmlns:m="http://schemas.openxmlformats.org/officeDocument/2006/math">
                              <m:r>
                                <a:rPr lang="en-GB" sz="1200" b="0" i="0" noProof="0" smtClean="0">
                                  <a:latin typeface="Cambria Math" panose="02040503050406030204" pitchFamily="18" charset="0"/>
                                </a:rPr>
                                <m:t> </m:t>
                              </m:r>
                              <m:f>
                                <m:fPr>
                                  <m:ctrlPr>
                                    <a:rPr lang="en-GB" sz="1200" b="0" i="1" noProof="0" smtClean="0">
                                      <a:latin typeface="Cambria Math" panose="02040503050406030204" pitchFamily="18" charset="0"/>
                                    </a:rPr>
                                  </m:ctrlPr>
                                </m:fPr>
                                <m:num>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3</m:t>
                                      </m:r>
                                    </m:sup>
                                  </m:sSup>
                                </m:num>
                                <m:den>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𝑎𝑏</m:t>
                              </m:r>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𝑎</m:t>
                                  </m:r>
                                </m:e>
                                <m:sup>
                                  <m:r>
                                    <a:rPr lang="en-GB" sz="1200" b="0" i="1" noProof="0" smtClean="0">
                                      <a:latin typeface="Cambria Math" panose="02040503050406030204" pitchFamily="18" charset="0"/>
                                    </a:rPr>
                                    <m:t>2</m:t>
                                  </m:r>
                                </m:sup>
                              </m:sSup>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o) </a:t>
                          </a:r>
                          <a14:m>
                            <m:oMath xmlns:m="http://schemas.openxmlformats.org/officeDocument/2006/math">
                              <m:r>
                                <a:rPr lang="en-GB" sz="1200" i="1" noProof="0" smtClean="0">
                                  <a:solidFill>
                                    <a:schemeClr val="tx1"/>
                                  </a:solidFill>
                                  <a:latin typeface="Cambria Math" panose="02040503050406030204" pitchFamily="18" charset="0"/>
                                </a:rPr>
                                <m:t>(</m:t>
                              </m:r>
                              <m:r>
                                <a:rPr lang="en-GB" sz="1200" i="1" noProof="0" smtClean="0">
                                  <a:solidFill>
                                    <a:schemeClr val="tx1"/>
                                  </a:solidFill>
                                  <a:latin typeface="Cambria Math" panose="02040503050406030204" pitchFamily="18" charset="0"/>
                                </a:rPr>
                                <m:t>𝑚</m:t>
                              </m:r>
                              <m:r>
                                <a:rPr lang="en-GB" sz="1200" i="1" noProof="0" smtClean="0">
                                  <a:solidFill>
                                    <a:schemeClr val="tx1"/>
                                  </a:solidFill>
                                  <a:latin typeface="Cambria Math" panose="02040503050406030204" pitchFamily="18" charset="0"/>
                                </a:rPr>
                                <m:t>−3)</m:t>
                              </m:r>
                              <m:sSup>
                                <m:sSupPr>
                                  <m:ctrlPr>
                                    <a:rPr lang="en-GB" sz="1200" i="1" noProof="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i="1" noProof="0">
                                      <a:solidFill>
                                        <a:schemeClr val="tx1"/>
                                      </a:solidFill>
                                      <a:latin typeface="Cambria Math" panose="02040503050406030204" pitchFamily="18" charset="0"/>
                                    </a:rPr>
                                    <m:t>2</m:t>
                                  </m:r>
                                </m:sup>
                              </m:sSup>
                              <m:r>
                                <a:rPr lang="en-GB" sz="1200" i="1" noProof="0">
                                  <a:solidFill>
                                    <a:schemeClr val="tx1"/>
                                  </a:solidFill>
                                  <a:latin typeface="Cambria Math" panose="02040503050406030204" pitchFamily="18" charset="0"/>
                                </a:rPr>
                                <m:t>=</m:t>
                              </m:r>
                              <m:r>
                                <a:rPr lang="en-GB" sz="1200" i="1" noProof="0">
                                  <a:solidFill>
                                    <a:schemeClr val="tx1"/>
                                  </a:solidFill>
                                  <a:latin typeface="Cambria Math" panose="02040503050406030204" pitchFamily="18" charset="0"/>
                                </a:rPr>
                                <m:t>𝑔</m:t>
                              </m:r>
                            </m:oMath>
                          </a14:m>
                          <a:endParaRPr lang="en-GB" sz="1200" noProof="0" dirty="0">
                            <a:solidFill>
                              <a:schemeClr val="tx1"/>
                            </a:solidFill>
                          </a:endParaRPr>
                        </a:p>
                        <a:p>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p)</a:t>
                          </a:r>
                          <a14:m>
                            <m:oMath xmlns:m="http://schemas.openxmlformats.org/officeDocument/2006/math">
                              <m:d>
                                <m:dPr>
                                  <m:ctrlPr>
                                    <a:rPr lang="en-GB" sz="1200" i="1" noProof="0" smtClean="0">
                                      <a:solidFill>
                                        <a:schemeClr val="tx1"/>
                                      </a:solidFill>
                                      <a:latin typeface="Cambria Math" panose="02040503050406030204" pitchFamily="18" charset="0"/>
                                    </a:rPr>
                                  </m:ctrlPr>
                                </m:dPr>
                                <m:e>
                                  <m:r>
                                    <a:rPr lang="en-GB" sz="1200" i="1" noProof="0" smtClean="0">
                                      <a:solidFill>
                                        <a:schemeClr val="tx1"/>
                                      </a:solidFill>
                                      <a:latin typeface="Cambria Math" panose="02040503050406030204" pitchFamily="18" charset="0"/>
                                    </a:rPr>
                                    <m:t>𝑚</m:t>
                                  </m:r>
                                  <m:r>
                                    <a:rPr lang="en-GB" sz="120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𝑛</m:t>
                                  </m:r>
                                </m:e>
                              </m:d>
                              <m:sSup>
                                <m:sSupPr>
                                  <m:ctrlPr>
                                    <a:rPr lang="en-GB" sz="1200" b="0" i="1" noProof="0" smtClean="0">
                                      <a:solidFill>
                                        <a:schemeClr val="tx1"/>
                                      </a:solidFill>
                                      <a:latin typeface="Cambria Math" panose="02040503050406030204" pitchFamily="18" charset="0"/>
                                    </a:rPr>
                                  </m:ctrlPr>
                                </m:sSupPr>
                                <m:e>
                                  <m:r>
                                    <a:rPr lang="en-GB" sz="120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i="1" noProof="0">
                                  <a:solidFill>
                                    <a:schemeClr val="tx1"/>
                                  </a:solidFill>
                                  <a:latin typeface="Cambria Math" panose="02040503050406030204" pitchFamily="18" charset="0"/>
                                </a:rPr>
                                <m:t>=</m:t>
                              </m:r>
                              <m:r>
                                <a:rPr lang="en-GB" sz="1200" i="1" noProof="0">
                                  <a:solidFill>
                                    <a:schemeClr val="tx1"/>
                                  </a:solidFill>
                                  <a:latin typeface="Cambria Math" panose="02040503050406030204" pitchFamily="18" charset="0"/>
                                </a:rPr>
                                <m:t>𝑔</m:t>
                              </m:r>
                            </m:oMath>
                          </a14:m>
                          <a:endParaRPr lang="en-GB" sz="1200" noProof="0" dirty="0">
                            <a:solidFill>
                              <a:schemeClr val="tx1"/>
                            </a:solidFill>
                          </a:endParaRPr>
                        </a:p>
                        <a:p>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4132893"/>
                      </a:ext>
                    </a:extLst>
                  </a:tr>
                </a:tbl>
              </a:graphicData>
            </a:graphic>
          </p:graphicFrame>
        </mc:Choice>
        <mc:Fallback xmlns="">
          <p:graphicFrame>
            <p:nvGraphicFramePr>
              <p:cNvPr id="6" name="Table 5">
                <a:extLst>
                  <a:ext uri="{FF2B5EF4-FFF2-40B4-BE49-F238E27FC236}">
                    <a16:creationId xmlns:a16="http://schemas.microsoft.com/office/drawing/2014/main" id="{742D9E58-3D9D-0920-CCE1-A9E3E3D513D7}"/>
                  </a:ext>
                </a:extLst>
              </p:cNvPr>
              <p:cNvGraphicFramePr>
                <a:graphicFrameLocks noGrp="1"/>
              </p:cNvGraphicFramePr>
              <p:nvPr>
                <p:extLst>
                  <p:ext uri="{D42A27DB-BD31-4B8C-83A1-F6EECF244321}">
                    <p14:modId xmlns:p14="http://schemas.microsoft.com/office/powerpoint/2010/main" val="291305383"/>
                  </p:ext>
                </p:extLst>
              </p:nvPr>
            </p:nvGraphicFramePr>
            <p:xfrm>
              <a:off x="60589" y="537161"/>
              <a:ext cx="6681912" cy="9024848"/>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22562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270" r="-300000" b="-3008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730" t="-270" r="-201095" b="-3008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270" r="-100364" b="-3008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095" t="-270" r="-730" b="-300811"/>
                          </a:stretch>
                        </a:blipFill>
                      </a:tcPr>
                    </a:tc>
                    <a:extLst>
                      <a:ext uri="{0D108BD9-81ED-4DB2-BD59-A6C34878D82A}">
                        <a16:rowId xmlns:a16="http://schemas.microsoft.com/office/drawing/2014/main" val="2894583780"/>
                      </a:ext>
                    </a:extLst>
                  </a:tr>
                  <a:tr h="22562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100000" r="-300000" b="-2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730" t="-100000" r="-201095" b="-2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100000" r="-100364" b="-2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095" t="-100000" r="-730" b="-200000"/>
                          </a:stretch>
                        </a:blipFill>
                      </a:tcPr>
                    </a:tc>
                    <a:extLst>
                      <a:ext uri="{0D108BD9-81ED-4DB2-BD59-A6C34878D82A}">
                        <a16:rowId xmlns:a16="http://schemas.microsoft.com/office/drawing/2014/main" val="3558045507"/>
                      </a:ext>
                    </a:extLst>
                  </a:tr>
                  <a:tr h="22562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200541" r="-300000" b="-10054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730" t="-200541" r="-201095" b="-10054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200541" r="-100364" b="-10054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095" t="-200541" r="-730" b="-100541"/>
                          </a:stretch>
                        </a:blipFill>
                      </a:tcPr>
                    </a:tc>
                    <a:extLst>
                      <a:ext uri="{0D108BD9-81ED-4DB2-BD59-A6C34878D82A}">
                        <a16:rowId xmlns:a16="http://schemas.microsoft.com/office/drawing/2014/main" val="3205854048"/>
                      </a:ext>
                    </a:extLst>
                  </a:tr>
                  <a:tr h="22562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300541" r="-300000" b="-54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730" t="-300541" r="-201095" b="-54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300541" r="-100364" b="-54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095" t="-300541" r="-730" b="-541"/>
                          </a:stretch>
                        </a:blipFill>
                      </a:tcPr>
                    </a:tc>
                    <a:extLst>
                      <a:ext uri="{0D108BD9-81ED-4DB2-BD59-A6C34878D82A}">
                        <a16:rowId xmlns:a16="http://schemas.microsoft.com/office/drawing/2014/main" val="2314132893"/>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2A2CD6C-261B-1E38-B989-96F7D713B239}"/>
                  </a:ext>
                </a:extLst>
              </p:cNvPr>
              <p:cNvSpPr txBox="1"/>
              <p:nvPr/>
            </p:nvSpPr>
            <p:spPr>
              <a:xfrm>
                <a:off x="1732517" y="51519"/>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a:t>
                </a:r>
                <a:r>
                  <a:rPr lang="en-GB" sz="1200" noProof="0" dirty="0">
                    <a:solidFill>
                      <a:prstClr val="black"/>
                    </a:solidFill>
                    <a:latin typeface="Calibri" panose="020F0502020204030204"/>
                  </a:rPr>
                  <a:t>3</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7" name="TextBox 6">
                <a:extLst>
                  <a:ext uri="{FF2B5EF4-FFF2-40B4-BE49-F238E27FC236}">
                    <a16:creationId xmlns:a16="http://schemas.microsoft.com/office/drawing/2014/main" id="{12A2CD6C-261B-1E38-B989-96F7D713B239}"/>
                  </a:ext>
                </a:extLst>
              </p:cNvPr>
              <p:cNvSpPr txBox="1">
                <a:spLocks noRot="1" noChangeAspect="1" noMove="1" noResize="1" noEditPoints="1" noAdjustHandles="1" noChangeArrowheads="1" noChangeShapeType="1" noTextEdit="1"/>
              </p:cNvSpPr>
              <p:nvPr/>
            </p:nvSpPr>
            <p:spPr>
              <a:xfrm>
                <a:off x="1732517" y="51519"/>
                <a:ext cx="3646054" cy="276999"/>
              </a:xfrm>
              <a:prstGeom prst="rect">
                <a:avLst/>
              </a:prstGeom>
              <a:blipFill>
                <a:blip r:embed="rId3"/>
                <a:stretch>
                  <a:fillRect b="-15217"/>
                </a:stretch>
              </a:blipFill>
            </p:spPr>
            <p:txBody>
              <a:bodyPr/>
              <a:lstStyle/>
              <a:p>
                <a:r>
                  <a:rPr lang="en-US">
                    <a:noFill/>
                  </a:rPr>
                  <a:t> </a:t>
                </a:r>
              </a:p>
            </p:txBody>
          </p:sp>
        </mc:Fallback>
      </mc:AlternateContent>
    </p:spTree>
    <p:extLst>
      <p:ext uri="{BB962C8B-B14F-4D97-AF65-F5344CB8AC3E}">
        <p14:creationId xmlns:p14="http://schemas.microsoft.com/office/powerpoint/2010/main" val="3757623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16BDC-B2CF-189B-C93E-6C0D70C9CA4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4FB84D-3AAC-75A5-167D-56C8E6F5ACF1}"/>
              </a:ext>
            </a:extLst>
          </p:cNvPr>
          <p:cNvSpPr>
            <a:spLocks noGrp="1"/>
          </p:cNvSpPr>
          <p:nvPr>
            <p:ph type="sldNum" sz="quarter" idx="12"/>
          </p:nvPr>
        </p:nvSpPr>
        <p:spPr>
          <a:xfrm>
            <a:off x="5134626" y="9376815"/>
            <a:ext cx="1543050" cy="527403"/>
          </a:xfrm>
        </p:spPr>
        <p:txBody>
          <a:bodyPr/>
          <a:lstStyle/>
          <a:p>
            <a:fld id="{086C3A38-D272-42AA-9C88-F1FBEAE20D2C}" type="slidenum">
              <a:rPr lang="en-GB" noProof="0" smtClean="0"/>
              <a:t>9</a:t>
            </a:fld>
            <a:endParaRPr lang="en-GB" noProof="0" dirty="0"/>
          </a:p>
        </p:txBody>
      </p:sp>
      <p:sp>
        <p:nvSpPr>
          <p:cNvPr id="3" name="Rectangle 2">
            <a:extLst>
              <a:ext uri="{FF2B5EF4-FFF2-40B4-BE49-F238E27FC236}">
                <a16:creationId xmlns:a16="http://schemas.microsoft.com/office/drawing/2014/main" id="{8698C8D9-4080-7DEB-9013-B8571ADB70B1}"/>
              </a:ext>
            </a:extLst>
          </p:cNvPr>
          <p:cNvSpPr/>
          <p:nvPr/>
        </p:nvSpPr>
        <p:spPr>
          <a:xfrm>
            <a:off x="0" y="0"/>
            <a:ext cx="6858000" cy="2919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800" noProof="0" dirty="0">
                <a:effectLst/>
                <a:latin typeface="Calibri" panose="020F0502020204030204" pitchFamily="34" charset="0"/>
                <a:ea typeface="Calibri" panose="020F0502020204030204" pitchFamily="34" charset="0"/>
                <a:cs typeface="Times New Roman" panose="02020603050405020304" pitchFamily="18" charset="0"/>
              </a:rPr>
              <a:t>Rearranging More Complex Formulae</a:t>
            </a:r>
            <a:endParaRPr lang="en-GB" sz="1800" b="0" i="0" noProof="0" dirty="0">
              <a:solidFill>
                <a:schemeClr val="bg1"/>
              </a:solidFill>
              <a:effectLst/>
              <a:latin typeface="Calibri Light" panose="020F0302020204030204" pitchFamily="34" charset="0"/>
              <a:cs typeface="Calibri Light" panose="020F0302020204030204" pitchFamily="34" charset="0"/>
            </a:endParaRPr>
          </a:p>
        </p:txBody>
      </p:sp>
      <p:sp>
        <p:nvSpPr>
          <p:cNvPr id="4" name="Rectangle 3">
            <a:extLst>
              <a:ext uri="{FF2B5EF4-FFF2-40B4-BE49-F238E27FC236}">
                <a16:creationId xmlns:a16="http://schemas.microsoft.com/office/drawing/2014/main" id="{65F4647A-621F-2852-8D82-D1A7172333AB}"/>
              </a:ext>
            </a:extLst>
          </p:cNvPr>
          <p:cNvSpPr/>
          <p:nvPr/>
        </p:nvSpPr>
        <p:spPr>
          <a:xfrm>
            <a:off x="86108" y="309496"/>
            <a:ext cx="6679742" cy="14353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noProof="0" dirty="0">
              <a:solidFill>
                <a:sysClr val="windowText" lastClr="000000"/>
              </a:solidFill>
            </a:endParaRPr>
          </a:p>
        </p:txBody>
      </p:sp>
      <p:sp>
        <p:nvSpPr>
          <p:cNvPr id="5" name="TextBox 4">
            <a:extLst>
              <a:ext uri="{FF2B5EF4-FFF2-40B4-BE49-F238E27FC236}">
                <a16:creationId xmlns:a16="http://schemas.microsoft.com/office/drawing/2014/main" id="{17691CE3-9571-5625-D31D-E5D5D87EE8D4}"/>
              </a:ext>
            </a:extLst>
          </p:cNvPr>
          <p:cNvSpPr txBox="1"/>
          <p:nvPr/>
        </p:nvSpPr>
        <p:spPr>
          <a:xfrm>
            <a:off x="72062" y="662545"/>
            <a:ext cx="1399768" cy="276999"/>
          </a:xfrm>
          <a:prstGeom prst="rect">
            <a:avLst/>
          </a:prstGeom>
          <a:noFill/>
        </p:spPr>
        <p:txBody>
          <a:bodyPr wrap="square" rtlCol="0">
            <a:spAutoFit/>
          </a:bodyPr>
          <a:lstStyle/>
          <a:p>
            <a:r>
              <a:rPr lang="en-GB" sz="1200" b="1" noProof="0" dirty="0"/>
              <a:t>Objectives:</a:t>
            </a:r>
          </a:p>
        </p:txBody>
      </p:sp>
      <p:sp>
        <p:nvSpPr>
          <p:cNvPr id="6" name="TextBox 5">
            <a:extLst>
              <a:ext uri="{FF2B5EF4-FFF2-40B4-BE49-F238E27FC236}">
                <a16:creationId xmlns:a16="http://schemas.microsoft.com/office/drawing/2014/main" id="{9F4DB661-4FFB-F8F1-BADF-7E3E33BA5015}"/>
              </a:ext>
            </a:extLst>
          </p:cNvPr>
          <p:cNvSpPr txBox="1"/>
          <p:nvPr/>
        </p:nvSpPr>
        <p:spPr>
          <a:xfrm>
            <a:off x="85039" y="892150"/>
            <a:ext cx="5644429" cy="646331"/>
          </a:xfrm>
          <a:prstGeom prst="rect">
            <a:avLst/>
          </a:prstGeom>
          <a:noFill/>
        </p:spPr>
        <p:txBody>
          <a:bodyPr wrap="square" rtlCol="0">
            <a:spAutoFit/>
          </a:bodyPr>
          <a:lstStyle/>
          <a:p>
            <a:pPr marL="342900" indent="-342900">
              <a:buFont typeface="+mj-lt"/>
              <a:buAutoNum type="arabicPeriod"/>
            </a:pPr>
            <a:r>
              <a:rPr lang="en-GB" sz="1200" noProof="0" dirty="0"/>
              <a:t>To be able to rearrange equations with negative unknowns</a:t>
            </a:r>
          </a:p>
          <a:p>
            <a:pPr marL="342900" indent="-342900">
              <a:buFont typeface="+mj-lt"/>
              <a:buAutoNum type="arabicPeriod"/>
            </a:pPr>
            <a:r>
              <a:rPr lang="en-GB" sz="1200" noProof="0" dirty="0"/>
              <a:t>To be able to rearrange equations with the subject in the denominator</a:t>
            </a:r>
          </a:p>
          <a:p>
            <a:pPr marL="342900" indent="-342900">
              <a:buFont typeface="+mj-lt"/>
              <a:buAutoNum type="arabicPeriod"/>
            </a:pPr>
            <a:r>
              <a:rPr lang="en-GB" sz="1200" noProof="0" dirty="0"/>
              <a:t>To be able to rearrange equations where the subject appears more than once</a:t>
            </a:r>
          </a:p>
        </p:txBody>
      </p:sp>
      <p:sp>
        <p:nvSpPr>
          <p:cNvPr id="7" name="TextBox 6">
            <a:extLst>
              <a:ext uri="{FF2B5EF4-FFF2-40B4-BE49-F238E27FC236}">
                <a16:creationId xmlns:a16="http://schemas.microsoft.com/office/drawing/2014/main" id="{BFD91EE6-0F98-BB6E-550B-F60BD51F0F4F}"/>
              </a:ext>
            </a:extLst>
          </p:cNvPr>
          <p:cNvSpPr txBox="1"/>
          <p:nvPr/>
        </p:nvSpPr>
        <p:spPr>
          <a:xfrm>
            <a:off x="142969" y="356923"/>
            <a:ext cx="6534707" cy="276999"/>
          </a:xfrm>
          <a:prstGeom prst="rect">
            <a:avLst/>
          </a:prstGeom>
          <a:noFill/>
          <a:ln>
            <a:solidFill>
              <a:schemeClr val="tx1"/>
            </a:solidFill>
          </a:ln>
        </p:spPr>
        <p:txBody>
          <a:bodyPr wrap="square" lIns="91440" tIns="45720" rIns="91440" bIns="45720" rtlCol="0" anchor="t">
            <a:spAutoFit/>
          </a:bodyPr>
          <a:lstStyle/>
          <a:p>
            <a:pPr algn="ctr"/>
            <a:r>
              <a:rPr lang="en-GB" sz="1200" noProof="0" dirty="0"/>
              <a:t>LEARNING OUTCOME: To be able to rearrange more complex formulae</a:t>
            </a:r>
          </a:p>
        </p:txBody>
      </p:sp>
      <p:sp>
        <p:nvSpPr>
          <p:cNvPr id="8" name="TextBox 7">
            <a:extLst>
              <a:ext uri="{FF2B5EF4-FFF2-40B4-BE49-F238E27FC236}">
                <a16:creationId xmlns:a16="http://schemas.microsoft.com/office/drawing/2014/main" id="{E2B2DF55-ED8E-C65F-AEC9-8F339C567EFE}"/>
              </a:ext>
            </a:extLst>
          </p:cNvPr>
          <p:cNvSpPr txBox="1"/>
          <p:nvPr/>
        </p:nvSpPr>
        <p:spPr>
          <a:xfrm>
            <a:off x="5684384" y="671871"/>
            <a:ext cx="986253" cy="1015663"/>
          </a:xfrm>
          <a:prstGeom prst="rect">
            <a:avLst/>
          </a:prstGeom>
          <a:noFill/>
          <a:ln w="12700">
            <a:solidFill>
              <a:schemeClr val="tx1"/>
            </a:solidFill>
          </a:ln>
        </p:spPr>
        <p:txBody>
          <a:bodyPr wrap="square" rtlCol="0">
            <a:spAutoFit/>
          </a:bodyPr>
          <a:lstStyle/>
          <a:p>
            <a:r>
              <a:rPr lang="en-GB" sz="1200" b="1" u="sng" noProof="0" dirty="0"/>
              <a:t>Keywords:</a:t>
            </a:r>
            <a:endParaRPr lang="en-GB" sz="1200" noProof="0" dirty="0"/>
          </a:p>
          <a:p>
            <a:pPr marL="171450" indent="-171450">
              <a:buFontTx/>
              <a:buChar char="-"/>
            </a:pPr>
            <a:r>
              <a:rPr lang="en-GB" sz="1200" noProof="0" dirty="0"/>
              <a:t>Equation</a:t>
            </a:r>
          </a:p>
          <a:p>
            <a:pPr marL="171450" indent="-171450">
              <a:buFontTx/>
              <a:buChar char="-"/>
            </a:pPr>
            <a:r>
              <a:rPr lang="en-GB" sz="1200" noProof="0" dirty="0"/>
              <a:t>Subject</a:t>
            </a:r>
          </a:p>
          <a:p>
            <a:pPr marL="171450" indent="-171450">
              <a:buFontTx/>
              <a:buChar char="-"/>
            </a:pPr>
            <a:r>
              <a:rPr lang="en-GB" sz="1200" noProof="0" dirty="0"/>
              <a:t>Inverse</a:t>
            </a:r>
          </a:p>
          <a:p>
            <a:pPr marL="171450" indent="-171450">
              <a:buFontTx/>
              <a:buChar char="-"/>
            </a:pPr>
            <a:r>
              <a:rPr lang="en-GB" sz="1200" noProof="0" dirty="0"/>
              <a:t>Formulae</a:t>
            </a:r>
          </a:p>
        </p:txBody>
      </p:sp>
      <p:cxnSp>
        <p:nvCxnSpPr>
          <p:cNvPr id="9" name="Straight Connector 8">
            <a:extLst>
              <a:ext uri="{FF2B5EF4-FFF2-40B4-BE49-F238E27FC236}">
                <a16:creationId xmlns:a16="http://schemas.microsoft.com/office/drawing/2014/main" id="{93AA4CEE-CF6D-99A3-9B16-2F59E964240C}"/>
              </a:ext>
            </a:extLst>
          </p:cNvPr>
          <p:cNvCxnSpPr/>
          <p:nvPr/>
        </p:nvCxnSpPr>
        <p:spPr>
          <a:xfrm flipV="1">
            <a:off x="914747" y="4854887"/>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81DCFED-B8D6-4C13-A73F-926686908DCF}"/>
              </a:ext>
            </a:extLst>
          </p:cNvPr>
          <p:cNvSpPr/>
          <p:nvPr/>
        </p:nvSpPr>
        <p:spPr>
          <a:xfrm>
            <a:off x="87955" y="3085691"/>
            <a:ext cx="6696000" cy="2592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cxnSp>
        <p:nvCxnSpPr>
          <p:cNvPr id="11" name="Straight Connector 10">
            <a:extLst>
              <a:ext uri="{FF2B5EF4-FFF2-40B4-BE49-F238E27FC236}">
                <a16:creationId xmlns:a16="http://schemas.microsoft.com/office/drawing/2014/main" id="{06BBC3D5-DE28-F273-B728-185AE5C97277}"/>
              </a:ext>
            </a:extLst>
          </p:cNvPr>
          <p:cNvCxnSpPr>
            <a:cxnSpLocks/>
          </p:cNvCxnSpPr>
          <p:nvPr/>
        </p:nvCxnSpPr>
        <p:spPr>
          <a:xfrm>
            <a:off x="87955" y="4507794"/>
            <a:ext cx="6696000"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D445EE3-4234-F5F0-67E5-4A59C82C090C}"/>
              </a:ext>
            </a:extLst>
          </p:cNvPr>
          <p:cNvCxnSpPr>
            <a:cxnSpLocks/>
            <a:stCxn id="10" idx="2"/>
            <a:endCxn id="10" idx="0"/>
          </p:cNvCxnSpPr>
          <p:nvPr/>
        </p:nvCxnSpPr>
        <p:spPr>
          <a:xfrm flipV="1">
            <a:off x="3435955" y="3085691"/>
            <a:ext cx="0" cy="2592000"/>
          </a:xfrm>
          <a:prstGeom prst="line">
            <a:avLst/>
          </a:prstGeom>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795A5E5F-8E6E-2072-7086-7F0EBC101BC9}"/>
              </a:ext>
            </a:extLst>
          </p:cNvPr>
          <p:cNvSpPr txBox="1"/>
          <p:nvPr/>
        </p:nvSpPr>
        <p:spPr>
          <a:xfrm>
            <a:off x="69419" y="3097063"/>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14" name="TextBox 13">
            <a:extLst>
              <a:ext uri="{FF2B5EF4-FFF2-40B4-BE49-F238E27FC236}">
                <a16:creationId xmlns:a16="http://schemas.microsoft.com/office/drawing/2014/main" id="{A4CE06CB-BFB8-B5B2-3F49-A7BB8CDC46E7}"/>
              </a:ext>
            </a:extLst>
          </p:cNvPr>
          <p:cNvSpPr txBox="1"/>
          <p:nvPr/>
        </p:nvSpPr>
        <p:spPr>
          <a:xfrm>
            <a:off x="5729468" y="3065512"/>
            <a:ext cx="1112228" cy="276999"/>
          </a:xfrm>
          <a:prstGeom prst="rect">
            <a:avLst/>
          </a:prstGeom>
          <a:noFill/>
        </p:spPr>
        <p:txBody>
          <a:bodyPr wrap="none" rtlCol="0">
            <a:spAutoFit/>
          </a:bodyPr>
          <a:lstStyle/>
          <a:p>
            <a:r>
              <a:rPr lang="en-GB" sz="1200" b="1" noProof="0" dirty="0"/>
              <a:t>Characteristics</a:t>
            </a:r>
          </a:p>
        </p:txBody>
      </p:sp>
      <p:sp>
        <p:nvSpPr>
          <p:cNvPr id="15" name="TextBox 14">
            <a:extLst>
              <a:ext uri="{FF2B5EF4-FFF2-40B4-BE49-F238E27FC236}">
                <a16:creationId xmlns:a16="http://schemas.microsoft.com/office/drawing/2014/main" id="{BD85E3FC-1AE1-CB57-C66B-54A941930CC1}"/>
              </a:ext>
            </a:extLst>
          </p:cNvPr>
          <p:cNvSpPr txBox="1"/>
          <p:nvPr/>
        </p:nvSpPr>
        <p:spPr>
          <a:xfrm>
            <a:off x="66107" y="4479171"/>
            <a:ext cx="788164" cy="276999"/>
          </a:xfrm>
          <a:prstGeom prst="rect">
            <a:avLst/>
          </a:prstGeom>
          <a:noFill/>
        </p:spPr>
        <p:txBody>
          <a:bodyPr wrap="none" rtlCol="0">
            <a:spAutoFit/>
          </a:bodyPr>
          <a:lstStyle/>
          <a:p>
            <a:r>
              <a:rPr lang="en-GB" sz="1200" b="1" noProof="0" dirty="0"/>
              <a:t>Examples</a:t>
            </a:r>
          </a:p>
        </p:txBody>
      </p:sp>
      <p:sp>
        <p:nvSpPr>
          <p:cNvPr id="16" name="TextBox 15">
            <a:extLst>
              <a:ext uri="{FF2B5EF4-FFF2-40B4-BE49-F238E27FC236}">
                <a16:creationId xmlns:a16="http://schemas.microsoft.com/office/drawing/2014/main" id="{C63EB935-6A21-5F51-F533-1045720F75A5}"/>
              </a:ext>
            </a:extLst>
          </p:cNvPr>
          <p:cNvSpPr txBox="1"/>
          <p:nvPr/>
        </p:nvSpPr>
        <p:spPr>
          <a:xfrm>
            <a:off x="5685115" y="4491688"/>
            <a:ext cx="1172885" cy="276999"/>
          </a:xfrm>
          <a:prstGeom prst="rect">
            <a:avLst/>
          </a:prstGeom>
          <a:noFill/>
        </p:spPr>
        <p:txBody>
          <a:bodyPr wrap="none" rtlCol="0">
            <a:spAutoFit/>
          </a:bodyPr>
          <a:lstStyle/>
          <a:p>
            <a:r>
              <a:rPr lang="en-GB" sz="1200" b="1" noProof="0" dirty="0"/>
              <a:t>Non - Examples</a:t>
            </a:r>
          </a:p>
        </p:txBody>
      </p:sp>
      <p:sp>
        <p:nvSpPr>
          <p:cNvPr id="17" name="TextBox 16">
            <a:extLst>
              <a:ext uri="{FF2B5EF4-FFF2-40B4-BE49-F238E27FC236}">
                <a16:creationId xmlns:a16="http://schemas.microsoft.com/office/drawing/2014/main" id="{EDC00A7F-CE1E-C40B-4CD7-5465C3EDDDD7}"/>
              </a:ext>
            </a:extLst>
          </p:cNvPr>
          <p:cNvSpPr txBox="1"/>
          <p:nvPr/>
        </p:nvSpPr>
        <p:spPr>
          <a:xfrm>
            <a:off x="2291019" y="4353590"/>
            <a:ext cx="2153154" cy="369332"/>
          </a:xfrm>
          <a:prstGeom prst="rect">
            <a:avLst/>
          </a:prstGeom>
          <a:solidFill>
            <a:schemeClr val="bg1"/>
          </a:solidFill>
          <a:ln>
            <a:solidFill>
              <a:schemeClr val="tx1"/>
            </a:solidFill>
          </a:ln>
        </p:spPr>
        <p:txBody>
          <a:bodyPr wrap="none" rtlCol="0">
            <a:spAutoFit/>
          </a:bodyPr>
          <a:lstStyle/>
          <a:p>
            <a:r>
              <a:rPr lang="en-GB" noProof="0" dirty="0"/>
              <a:t>Changing the subject</a:t>
            </a:r>
          </a:p>
        </p:txBody>
      </p:sp>
      <p:sp>
        <p:nvSpPr>
          <p:cNvPr id="18" name="TextBox 17">
            <a:extLst>
              <a:ext uri="{FF2B5EF4-FFF2-40B4-BE49-F238E27FC236}">
                <a16:creationId xmlns:a16="http://schemas.microsoft.com/office/drawing/2014/main" id="{343C7215-8FCE-AB04-66FE-6A354091326E}"/>
              </a:ext>
            </a:extLst>
          </p:cNvPr>
          <p:cNvSpPr txBox="1"/>
          <p:nvPr/>
        </p:nvSpPr>
        <p:spPr>
          <a:xfrm>
            <a:off x="103077" y="3341693"/>
            <a:ext cx="3230335" cy="830997"/>
          </a:xfrm>
          <a:prstGeom prst="rect">
            <a:avLst/>
          </a:prstGeom>
          <a:noFill/>
        </p:spPr>
        <p:txBody>
          <a:bodyPr wrap="square" rtlCol="0">
            <a:spAutoFit/>
          </a:bodyPr>
          <a:lstStyle/>
          <a:p>
            <a:r>
              <a:rPr lang="en-GB" sz="1200" noProof="0" dirty="0"/>
              <a:t>Changing the subject of a formula means rearranging the formula to make a different variable the subject (i.e., on its own on one side of the equals sign). </a:t>
            </a:r>
            <a:endParaRPr lang="en-GB" sz="1200" noProof="0" dirty="0">
              <a:solidFill>
                <a:srgbClr val="FF0000"/>
              </a:solidFill>
            </a:endParaRPr>
          </a:p>
        </p:txBody>
      </p:sp>
      <p:sp>
        <p:nvSpPr>
          <p:cNvPr id="19" name="TextBox 18">
            <a:extLst>
              <a:ext uri="{FF2B5EF4-FFF2-40B4-BE49-F238E27FC236}">
                <a16:creationId xmlns:a16="http://schemas.microsoft.com/office/drawing/2014/main" id="{9329556E-2FCD-BC6C-4672-68B40FFF2244}"/>
              </a:ext>
            </a:extLst>
          </p:cNvPr>
          <p:cNvSpPr txBox="1"/>
          <p:nvPr/>
        </p:nvSpPr>
        <p:spPr>
          <a:xfrm>
            <a:off x="3407456" y="3247732"/>
            <a:ext cx="3434239" cy="1015663"/>
          </a:xfrm>
          <a:prstGeom prst="rect">
            <a:avLst/>
          </a:prstGeom>
          <a:noFill/>
        </p:spPr>
        <p:txBody>
          <a:bodyPr wrap="square" rtlCol="0">
            <a:spAutoFit/>
          </a:bodyPr>
          <a:lstStyle/>
          <a:p>
            <a:pPr marL="171450" indent="-171450">
              <a:buFont typeface="Arial" panose="020B0604020202020204" pitchFamily="34" charset="0"/>
              <a:buChar char="•"/>
            </a:pPr>
            <a:r>
              <a:rPr lang="en-GB" sz="1200" noProof="0" dirty="0"/>
              <a:t>Involves inverse operations (e.g., undoing addition with subtraction) and works step-by-step like solving an equation, keeping the equation balanced on both sides.</a:t>
            </a:r>
          </a:p>
          <a:p>
            <a:pPr marL="171450" indent="-171450">
              <a:buFont typeface="Arial" panose="020B0604020202020204" pitchFamily="34" charset="0"/>
              <a:buChar char="•"/>
            </a:pPr>
            <a:r>
              <a:rPr lang="en-GB" sz="1200" noProof="0" dirty="0"/>
              <a:t>The subject is the variable you’re isolating.</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1329E91-D19B-F964-D54E-0CDB9DF1EAA7}"/>
                  </a:ext>
                </a:extLst>
              </p:cNvPr>
              <p:cNvSpPr txBox="1"/>
              <p:nvPr/>
            </p:nvSpPr>
            <p:spPr>
              <a:xfrm>
                <a:off x="74045" y="4751658"/>
                <a:ext cx="3375432" cy="971869"/>
              </a:xfrm>
              <a:prstGeom prst="rect">
                <a:avLst/>
              </a:prstGeom>
              <a:noFill/>
            </p:spPr>
            <p:txBody>
              <a:bodyPr wrap="square" rtlCol="0">
                <a:spAutoFit/>
              </a:bodyPr>
              <a:lstStyle/>
              <a:p>
                <a14:m>
                  <m:oMath xmlns:m="http://schemas.openxmlformats.org/officeDocument/2006/math">
                    <m:r>
                      <a:rPr lang="en-GB" sz="1200" i="1" noProof="0" smtClean="0">
                        <a:solidFill>
                          <a:schemeClr val="tx1"/>
                        </a:solidFill>
                        <a:latin typeface="Cambria Math" panose="02040503050406030204" pitchFamily="18" charset="0"/>
                      </a:rPr>
                      <m:t>𝐴</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𝑙𝑤</m:t>
                    </m:r>
                  </m:oMath>
                </a14:m>
                <a:r>
                  <a:rPr lang="en-GB" sz="1200" noProof="0" dirty="0">
                    <a:solidFill>
                      <a:schemeClr val="tx1"/>
                    </a:solidFill>
                  </a:rPr>
                  <a:t> has been rearranged to </a:t>
                </a:r>
                <a14:m>
                  <m:oMath xmlns:m="http://schemas.openxmlformats.org/officeDocument/2006/math">
                    <m:r>
                      <a:rPr lang="en-GB" sz="1200" b="0" i="1" noProof="0" smtClean="0">
                        <a:solidFill>
                          <a:schemeClr val="tx1"/>
                        </a:solidFill>
                        <a:latin typeface="Cambria Math" panose="02040503050406030204" pitchFamily="18" charset="0"/>
                      </a:rPr>
                      <m:t>𝑙</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𝐴</m:t>
                        </m:r>
                      </m:num>
                      <m:den>
                        <m:r>
                          <a:rPr lang="en-GB" sz="1200" b="0" i="1" noProof="0" smtClean="0">
                            <a:solidFill>
                              <a:schemeClr val="tx1"/>
                            </a:solidFill>
                            <a:latin typeface="Cambria Math" panose="02040503050406030204" pitchFamily="18" charset="0"/>
                          </a:rPr>
                          <m:t>𝑤</m:t>
                        </m:r>
                      </m:den>
                    </m:f>
                  </m:oMath>
                </a14:m>
                <a:r>
                  <a:rPr lang="en-GB" sz="1200" noProof="0" dirty="0">
                    <a:solidFill>
                      <a:schemeClr val="tx1"/>
                    </a:solidFill>
                  </a:rPr>
                  <a:t> to make </a:t>
                </a:r>
                <a14:m>
                  <m:oMath xmlns:m="http://schemas.openxmlformats.org/officeDocument/2006/math">
                    <m:r>
                      <a:rPr lang="en-GB" sz="1200" b="0" i="1" noProof="0" smtClean="0">
                        <a:solidFill>
                          <a:schemeClr val="tx1"/>
                        </a:solidFill>
                        <a:latin typeface="Cambria Math" panose="02040503050406030204" pitchFamily="18" charset="0"/>
                      </a:rPr>
                      <m:t>𝑙</m:t>
                    </m:r>
                  </m:oMath>
                </a14:m>
                <a:r>
                  <a:rPr lang="en-GB" sz="1200" noProof="0" dirty="0">
                    <a:solidFill>
                      <a:schemeClr val="tx1"/>
                    </a:solidFill>
                  </a:rPr>
                  <a:t> the subject.</a:t>
                </a:r>
              </a:p>
              <a:p>
                <a14:m>
                  <m:oMath xmlns:m="http://schemas.openxmlformats.org/officeDocument/2006/math">
                    <m:r>
                      <a:rPr lang="en-GB" sz="1200" b="0" i="1" noProof="0" smtClean="0">
                        <a:solidFill>
                          <a:schemeClr val="tx1"/>
                        </a:solidFill>
                        <a:latin typeface="Cambria Math" panose="02040503050406030204" pitchFamily="18" charset="0"/>
                      </a:rPr>
                      <m:t>𝑣</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𝑢</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𝑎𝑡</m:t>
                    </m:r>
                  </m:oMath>
                </a14:m>
                <a:r>
                  <a:rPr lang="en-GB" sz="1200" noProof="0" dirty="0">
                    <a:solidFill>
                      <a:schemeClr val="tx1"/>
                    </a:solidFill>
                  </a:rPr>
                  <a:t> has been rearranged to </a:t>
                </a:r>
                <a14:m>
                  <m:oMath xmlns:m="http://schemas.openxmlformats.org/officeDocument/2006/math">
                    <m:r>
                      <a:rPr lang="en-GB" sz="1200" b="0" i="1" noProof="0" smtClean="0">
                        <a:solidFill>
                          <a:schemeClr val="tx1"/>
                        </a:solidFill>
                        <a:latin typeface="Cambria Math" panose="02040503050406030204" pitchFamily="18" charset="0"/>
                      </a:rPr>
                      <m:t>𝑡</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𝑣</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𝑢</m:t>
                        </m:r>
                      </m:num>
                      <m:den>
                        <m:r>
                          <a:rPr lang="en-GB" sz="1200" b="0" i="1" noProof="0" smtClean="0">
                            <a:solidFill>
                              <a:schemeClr val="tx1"/>
                            </a:solidFill>
                            <a:latin typeface="Cambria Math" panose="02040503050406030204" pitchFamily="18" charset="0"/>
                          </a:rPr>
                          <m:t>𝑎</m:t>
                        </m:r>
                      </m:den>
                    </m:f>
                  </m:oMath>
                </a14:m>
                <a:r>
                  <a:rPr lang="en-GB" sz="1200" noProof="0" dirty="0">
                    <a:solidFill>
                      <a:schemeClr val="tx1"/>
                    </a:solidFill>
                  </a:rPr>
                  <a:t>  to make t the subject.</a:t>
                </a:r>
              </a:p>
            </p:txBody>
          </p:sp>
        </mc:Choice>
        <mc:Fallback xmlns="">
          <p:sp>
            <p:nvSpPr>
              <p:cNvPr id="20" name="TextBox 19">
                <a:extLst>
                  <a:ext uri="{FF2B5EF4-FFF2-40B4-BE49-F238E27FC236}">
                    <a16:creationId xmlns:a16="http://schemas.microsoft.com/office/drawing/2014/main" id="{31329E91-D19B-F964-D54E-0CDB9DF1EAA7}"/>
                  </a:ext>
                </a:extLst>
              </p:cNvPr>
              <p:cNvSpPr txBox="1">
                <a:spLocks noRot="1" noChangeAspect="1" noMove="1" noResize="1" noEditPoints="1" noAdjustHandles="1" noChangeArrowheads="1" noChangeShapeType="1" noTextEdit="1"/>
              </p:cNvSpPr>
              <p:nvPr/>
            </p:nvSpPr>
            <p:spPr>
              <a:xfrm>
                <a:off x="74045" y="4751658"/>
                <a:ext cx="3375432" cy="971869"/>
              </a:xfrm>
              <a:prstGeom prst="rect">
                <a:avLst/>
              </a:prstGeom>
              <a:blipFill>
                <a:blip r:embed="rId2"/>
                <a:stretch>
                  <a:fillRect r="-903" b="-3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79C5616-EFA5-166E-1632-FB9CFA954900}"/>
                  </a:ext>
                </a:extLst>
              </p:cNvPr>
              <p:cNvSpPr txBox="1"/>
              <p:nvPr/>
            </p:nvSpPr>
            <p:spPr>
              <a:xfrm>
                <a:off x="3477976" y="4825109"/>
                <a:ext cx="3230335" cy="830997"/>
              </a:xfrm>
              <a:prstGeom prst="rect">
                <a:avLst/>
              </a:prstGeom>
              <a:noFill/>
            </p:spPr>
            <p:txBody>
              <a:bodyPr wrap="square" rtlCol="0">
                <a:spAutoFit/>
              </a:bodyPr>
              <a:lstStyle/>
              <a:p>
                <a:r>
                  <a:rPr lang="en-GB" sz="1200" noProof="0" dirty="0"/>
                  <a:t>“Solve </a:t>
                </a:r>
                <a14:m>
                  <m:oMath xmlns:m="http://schemas.openxmlformats.org/officeDocument/2006/math">
                    <m:r>
                      <a:rPr lang="en-GB" sz="1200" i="1" noProof="0" smtClean="0">
                        <a:latin typeface="Cambria Math" panose="02040503050406030204" pitchFamily="18" charset="0"/>
                      </a:rPr>
                      <m:t>3</m:t>
                    </m:r>
                    <m:r>
                      <a:rPr lang="en-GB" sz="1200" i="1" noProof="0" smtClean="0">
                        <a:latin typeface="Cambria Math" panose="02040503050406030204" pitchFamily="18" charset="0"/>
                      </a:rPr>
                      <m:t>𝑥</m:t>
                    </m:r>
                    <m:r>
                      <a:rPr lang="en-GB" sz="1200" i="1" noProof="0" smtClean="0">
                        <a:latin typeface="Cambria Math" panose="02040503050406030204" pitchFamily="18" charset="0"/>
                      </a:rPr>
                      <m:t>+2=11“</m:t>
                    </m:r>
                  </m:oMath>
                </a14:m>
                <a:endParaRPr lang="en-GB" sz="1200" b="0" noProof="0" dirty="0"/>
              </a:p>
              <a:p>
                <a:br>
                  <a:rPr lang="en-GB" sz="1200" noProof="0" dirty="0"/>
                </a:br>
                <a:r>
                  <a:rPr lang="en-GB" sz="1200" noProof="0" dirty="0"/>
                  <a:t>This is solving, not changing the subject of a formula.</a:t>
                </a:r>
              </a:p>
            </p:txBody>
          </p:sp>
        </mc:Choice>
        <mc:Fallback xmlns="">
          <p:sp>
            <p:nvSpPr>
              <p:cNvPr id="21" name="TextBox 20">
                <a:extLst>
                  <a:ext uri="{FF2B5EF4-FFF2-40B4-BE49-F238E27FC236}">
                    <a16:creationId xmlns:a16="http://schemas.microsoft.com/office/drawing/2014/main" id="{D79C5616-EFA5-166E-1632-FB9CFA954900}"/>
                  </a:ext>
                </a:extLst>
              </p:cNvPr>
              <p:cNvSpPr txBox="1">
                <a:spLocks noRot="1" noChangeAspect="1" noMove="1" noResize="1" noEditPoints="1" noAdjustHandles="1" noChangeArrowheads="1" noChangeShapeType="1" noTextEdit="1"/>
              </p:cNvSpPr>
              <p:nvPr/>
            </p:nvSpPr>
            <p:spPr>
              <a:xfrm>
                <a:off x="3477976" y="4825109"/>
                <a:ext cx="3230335" cy="830997"/>
              </a:xfrm>
              <a:prstGeom prst="rect">
                <a:avLst/>
              </a:prstGeom>
              <a:blipFill>
                <a:blip r:embed="rId3"/>
                <a:stretch>
                  <a:fillRect l="-189" t="-735" b="-5147"/>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9D572817-0797-8366-A6BD-D7C81A5386B9}"/>
              </a:ext>
            </a:extLst>
          </p:cNvPr>
          <p:cNvSpPr/>
          <p:nvPr/>
        </p:nvSpPr>
        <p:spPr>
          <a:xfrm>
            <a:off x="86109" y="1789145"/>
            <a:ext cx="6679742" cy="12498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200" b="1" noProof="0" dirty="0">
                <a:solidFill>
                  <a:schemeClr val="tx1"/>
                </a:solidFill>
              </a:rPr>
              <a:t>Introduction  </a:t>
            </a:r>
          </a:p>
          <a:p>
            <a:pPr marL="228600" indent="-228600">
              <a:buFont typeface="+mj-lt"/>
              <a:buAutoNum type="arabicPeriod"/>
            </a:pPr>
            <a:r>
              <a:rPr lang="en-GB" sz="1200" noProof="0" dirty="0">
                <a:solidFill>
                  <a:schemeClr val="tx1"/>
                </a:solidFill>
              </a:rPr>
              <a:t>When rearranging more complex equations, you’ll use the same basic steps, but things can get a bit</a:t>
            </a:r>
          </a:p>
          <a:p>
            <a:pPr marL="228600" indent="-228600">
              <a:buFont typeface="+mj-lt"/>
              <a:buAutoNum type="arabicPeriod"/>
            </a:pPr>
            <a:r>
              <a:rPr lang="en-GB" sz="1200" noProof="0" dirty="0">
                <a:solidFill>
                  <a:schemeClr val="tx1"/>
                </a:solidFill>
              </a:rPr>
              <a:t>trickier. You might have to deal with negative variables, variables in the denominator, or even the</a:t>
            </a:r>
          </a:p>
          <a:p>
            <a:pPr marL="228600" indent="-228600">
              <a:buFont typeface="+mj-lt"/>
              <a:buAutoNum type="arabicPeriod"/>
            </a:pPr>
            <a:r>
              <a:rPr lang="en-GB" sz="1200" noProof="0" dirty="0">
                <a:solidFill>
                  <a:schemeClr val="tx1"/>
                </a:solidFill>
              </a:rPr>
              <a:t>subject appearing more than once. In these cases, you may need to multiply both sides to eliminate</a:t>
            </a:r>
          </a:p>
          <a:p>
            <a:pPr marL="228600" indent="-228600">
              <a:buFont typeface="+mj-lt"/>
              <a:buAutoNum type="arabicPeriod"/>
            </a:pPr>
            <a:r>
              <a:rPr lang="en-GB" sz="1200" noProof="0" dirty="0">
                <a:solidFill>
                  <a:schemeClr val="tx1"/>
                </a:solidFill>
              </a:rPr>
              <a:t>fractions, move terms carefully, and sometimes factorise expressions to get the subject on its own. It</a:t>
            </a:r>
          </a:p>
          <a:p>
            <a:pPr marL="228600" indent="-228600">
              <a:buFont typeface="+mj-lt"/>
              <a:buAutoNum type="arabicPeriod"/>
            </a:pPr>
            <a:r>
              <a:rPr lang="en-GB" sz="1200" noProof="0" dirty="0">
                <a:solidFill>
                  <a:schemeClr val="tx1"/>
                </a:solidFill>
              </a:rPr>
              <a:t>takes a few more steps, but the key is still to use inverse operations and keep both sides balanced.</a:t>
            </a:r>
          </a:p>
        </p:txBody>
      </p:sp>
      <p:sp>
        <p:nvSpPr>
          <p:cNvPr id="28" name="Rectangle 27">
            <a:extLst>
              <a:ext uri="{FF2B5EF4-FFF2-40B4-BE49-F238E27FC236}">
                <a16:creationId xmlns:a16="http://schemas.microsoft.com/office/drawing/2014/main" id="{611C2A7B-F4C7-F6D3-1687-4CB4C55DB712}"/>
              </a:ext>
            </a:extLst>
          </p:cNvPr>
          <p:cNvSpPr/>
          <p:nvPr/>
        </p:nvSpPr>
        <p:spPr>
          <a:xfrm>
            <a:off x="87837" y="5737439"/>
            <a:ext cx="4237700" cy="24830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bg1"/>
                </a:solidFill>
              </a:rPr>
              <a:t>Rearranging with negative unknowns</a:t>
            </a:r>
          </a:p>
        </p:txBody>
      </p:sp>
      <mc:AlternateContent xmlns:mc="http://schemas.openxmlformats.org/markup-compatibility/2006" xmlns:a14="http://schemas.microsoft.com/office/drawing/2010/main">
        <mc:Choice Requires="a14">
          <p:graphicFrame>
            <p:nvGraphicFramePr>
              <p:cNvPr id="29" name="Table 28">
                <a:extLst>
                  <a:ext uri="{FF2B5EF4-FFF2-40B4-BE49-F238E27FC236}">
                    <a16:creationId xmlns:a16="http://schemas.microsoft.com/office/drawing/2014/main" id="{C258ED5A-A0A6-7B07-460B-9940A28696DE}"/>
                  </a:ext>
                </a:extLst>
              </p:cNvPr>
              <p:cNvGraphicFramePr>
                <a:graphicFrameLocks noGrp="1"/>
              </p:cNvGraphicFramePr>
              <p:nvPr>
                <p:extLst>
                  <p:ext uri="{D42A27DB-BD31-4B8C-83A1-F6EECF244321}">
                    <p14:modId xmlns:p14="http://schemas.microsoft.com/office/powerpoint/2010/main" val="4235358570"/>
                  </p:ext>
                </p:extLst>
              </p:nvPr>
            </p:nvGraphicFramePr>
            <p:xfrm>
              <a:off x="83937" y="5982349"/>
              <a:ext cx="6681913" cy="356616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251176">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3 -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418627">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𝑦</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318511">
                    <a:tc rowSpan="2">
                      <a:txBody>
                        <a:bodyPr/>
                        <a:lstStyle/>
                        <a:p>
                          <a:pPr marL="0" indent="0">
                            <a:buNone/>
                          </a:pPr>
                          <a:r>
                            <a:rPr lang="en-GB" sz="1200" noProof="0" dirty="0">
                              <a:solidFill>
                                <a:schemeClr val="tx1"/>
                              </a:solidFill>
                            </a:rPr>
                            <a:t>1) Circle the variable you want to make the subject.</a:t>
                          </a:r>
                        </a:p>
                        <a:p>
                          <a:pPr marL="0" indent="0">
                            <a:buNone/>
                          </a:pPr>
                          <a:endParaRPr lang="en-GB" sz="1200" noProof="0" dirty="0">
                            <a:solidFill>
                              <a:schemeClr val="tx1"/>
                            </a:solidFill>
                          </a:endParaRPr>
                        </a:p>
                        <a:p>
                          <a:pPr marL="0" indent="0">
                            <a:buNone/>
                          </a:pPr>
                          <a:r>
                            <a:rPr lang="en-GB" sz="1200" noProof="0" dirty="0">
                              <a:solidFill>
                                <a:schemeClr val="tx1"/>
                              </a:solidFill>
                            </a:rPr>
                            <a:t>2) Use inverse operation</a:t>
                          </a:r>
                          <a:r>
                            <a:rPr lang="en-GB" sz="1200" b="1" u="sng" noProof="0" dirty="0">
                              <a:solidFill>
                                <a:schemeClr val="tx1"/>
                              </a:solidFill>
                            </a:rPr>
                            <a:t>s</a:t>
                          </a:r>
                          <a:r>
                            <a:rPr lang="en-GB" sz="1200" noProof="0" dirty="0">
                              <a:solidFill>
                                <a:schemeClr val="tx1"/>
                              </a:solidFill>
                            </a:rPr>
                            <a:t> to isolate the variable.</a:t>
                          </a:r>
                        </a:p>
                        <a:p>
                          <a:pPr marL="0" indent="0">
                            <a:buNone/>
                          </a:pPr>
                          <a:endParaRPr lang="en-GB" sz="1200" noProof="0" dirty="0">
                            <a:solidFill>
                              <a:schemeClr val="tx1"/>
                            </a:solidFill>
                          </a:endParaRPr>
                        </a:p>
                        <a:p>
                          <a:pPr marL="0" indent="0">
                            <a:buNone/>
                          </a:pPr>
                          <a:r>
                            <a:rPr lang="en-GB" sz="1200" noProof="0" dirty="0">
                              <a:solidFill>
                                <a:schemeClr val="tx1"/>
                              </a:solidFill>
                            </a:rPr>
                            <a:t>3) Remember to divide by the coefficient of the subject (this will mean you are dividing by a negative).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𝑦</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𝑢</m:t>
                                </m:r>
                                <m:r>
                                  <a:rPr lang="en-GB" sz="1200" b="0" i="1" noProof="0" smtClean="0">
                                    <a:solidFill>
                                      <a:schemeClr val="tx1"/>
                                    </a:solidFill>
                                    <a:latin typeface="Cambria Math" panose="02040503050406030204" pitchFamily="18" charset="0"/>
                                  </a:rPr>
                                  <m:t>=</m:t>
                                </m:r>
                                <m:f>
                                  <m:fPr>
                                    <m:ctrlPr>
                                      <a:rPr lang="en-GB" sz="1200" i="1" noProof="0">
                                        <a:solidFill>
                                          <a:schemeClr val="tx1"/>
                                        </a:solidFill>
                                        <a:latin typeface="Cambria Math" panose="02040503050406030204" pitchFamily="18" charset="0"/>
                                      </a:rPr>
                                    </m:ctrlPr>
                                  </m:fPr>
                                  <m:num>
                                    <m:r>
                                      <a:rPr lang="en-GB" sz="1200" b="0" i="1" noProof="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𝑣</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𝑤</m:t>
                                    </m:r>
                                  </m:den>
                                </m:f>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5</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oMath>
                            </m:oMathPara>
                          </a14:m>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318511">
                    <a:tc vMerge="1">
                      <a:txBody>
                        <a:bodyPr/>
                        <a:lstStyle/>
                        <a:p>
                          <a:pPr marL="0" indent="0">
                            <a:buNone/>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𝑦</m:t>
                                    </m:r>
                                  </m:num>
                                  <m:den>
                                    <m:r>
                                      <a:rPr lang="en-GB" sz="1200" b="0" i="1" noProof="0" smtClean="0">
                                        <a:solidFill>
                                          <a:schemeClr val="tx1"/>
                                        </a:solidFill>
                                        <a:latin typeface="Cambria Math" panose="02040503050406030204" pitchFamily="18" charset="0"/>
                                      </a:rPr>
                                      <m:t>𝑎</m:t>
                                    </m:r>
                                  </m:den>
                                </m:f>
                                <m:r>
                                  <a:rPr lang="en-GB" sz="1200" b="0" i="1" noProof="0" smtClean="0">
                                    <a:solidFill>
                                      <a:schemeClr val="tx1"/>
                                    </a:solidFill>
                                    <a:latin typeface="Cambria Math" panose="02040503050406030204" pitchFamily="18" charset="0"/>
                                  </a:rPr>
                                  <m:t>−4</m:t>
                                </m:r>
                              </m:oMath>
                            </m:oMathPara>
                          </a14:m>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0386360"/>
                      </a:ext>
                    </a:extLst>
                  </a:tr>
                </a:tbl>
              </a:graphicData>
            </a:graphic>
          </p:graphicFrame>
        </mc:Choice>
        <mc:Fallback xmlns="">
          <p:graphicFrame>
            <p:nvGraphicFramePr>
              <p:cNvPr id="29" name="Table 28">
                <a:extLst>
                  <a:ext uri="{FF2B5EF4-FFF2-40B4-BE49-F238E27FC236}">
                    <a16:creationId xmlns:a16="http://schemas.microsoft.com/office/drawing/2014/main" id="{C258ED5A-A0A6-7B07-460B-9940A28696DE}"/>
                  </a:ext>
                </a:extLst>
              </p:cNvPr>
              <p:cNvGraphicFramePr>
                <a:graphicFrameLocks noGrp="1"/>
              </p:cNvGraphicFramePr>
              <p:nvPr>
                <p:extLst>
                  <p:ext uri="{D42A27DB-BD31-4B8C-83A1-F6EECF244321}">
                    <p14:modId xmlns:p14="http://schemas.microsoft.com/office/powerpoint/2010/main" val="4235358570"/>
                  </p:ext>
                </p:extLst>
              </p:nvPr>
            </p:nvGraphicFramePr>
            <p:xfrm>
              <a:off x="83937" y="5982349"/>
              <a:ext cx="6681913" cy="356616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274320">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1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2 -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3 -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457200">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6713" t="-60000" r="-197902" b="-630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9362" t="-60000" r="-100709" b="-630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9362" t="-60000" r="-709" b="-630667"/>
                          </a:stretch>
                        </a:blipFill>
                      </a:tcPr>
                    </a:tc>
                    <a:extLst>
                      <a:ext uri="{0D108BD9-81ED-4DB2-BD59-A6C34878D82A}">
                        <a16:rowId xmlns:a16="http://schemas.microsoft.com/office/drawing/2014/main" val="2357201933"/>
                      </a:ext>
                    </a:extLst>
                  </a:tr>
                  <a:tr h="1318511">
                    <a:tc rowSpan="2">
                      <a:txBody>
                        <a:bodyPr/>
                        <a:lstStyle/>
                        <a:p>
                          <a:pPr marL="0" indent="0">
                            <a:buNone/>
                          </a:pPr>
                          <a:r>
                            <a:rPr lang="en-GB" sz="1200" noProof="0">
                              <a:solidFill>
                                <a:schemeClr val="tx1"/>
                              </a:solidFill>
                            </a:rPr>
                            <a:t>1) Circle the variable you want to make the subject.</a:t>
                          </a:r>
                        </a:p>
                        <a:p>
                          <a:pPr marL="0" indent="0">
                            <a:buNone/>
                          </a:pPr>
                          <a:endParaRPr lang="en-GB" sz="1200" noProof="0">
                            <a:solidFill>
                              <a:schemeClr val="tx1"/>
                            </a:solidFill>
                          </a:endParaRPr>
                        </a:p>
                        <a:p>
                          <a:pPr marL="0" indent="0">
                            <a:buNone/>
                          </a:pPr>
                          <a:r>
                            <a:rPr lang="en-GB" sz="1200" noProof="0">
                              <a:solidFill>
                                <a:schemeClr val="tx1"/>
                              </a:solidFill>
                            </a:rPr>
                            <a:t>2) Use inverse operation</a:t>
                          </a:r>
                          <a:r>
                            <a:rPr lang="en-GB" sz="1200" b="1" u="sng" noProof="0">
                              <a:solidFill>
                                <a:schemeClr val="tx1"/>
                              </a:solidFill>
                            </a:rPr>
                            <a:t>s</a:t>
                          </a:r>
                          <a:r>
                            <a:rPr lang="en-GB" sz="1200" noProof="0">
                              <a:solidFill>
                                <a:schemeClr val="tx1"/>
                              </a:solidFill>
                            </a:rPr>
                            <a:t> to isolate the variable.</a:t>
                          </a:r>
                        </a:p>
                        <a:p>
                          <a:pPr marL="0" indent="0">
                            <a:buNone/>
                          </a:pPr>
                          <a:endParaRPr lang="en-GB" sz="1200" noProof="0">
                            <a:solidFill>
                              <a:schemeClr val="tx1"/>
                            </a:solidFill>
                          </a:endParaRPr>
                        </a:p>
                        <a:p>
                          <a:pPr marL="0" indent="0">
                            <a:buNone/>
                          </a:pPr>
                          <a:r>
                            <a:rPr lang="en-GB" sz="1200" noProof="0">
                              <a:solidFill>
                                <a:schemeClr val="tx1"/>
                              </a:solidFill>
                            </a:rPr>
                            <a:t>3) Remember to divide by the coefficient of the subject (this will mean you are dividing by a negative).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6713" t="-25751" r="-197902" b="-1502"/>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9362" t="-25751" r="-100709" b="-150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9362" t="-55300" r="-709" b="-117972"/>
                          </a:stretch>
                        </a:blipFill>
                      </a:tcPr>
                    </a:tc>
                    <a:extLst>
                      <a:ext uri="{0D108BD9-81ED-4DB2-BD59-A6C34878D82A}">
                        <a16:rowId xmlns:a16="http://schemas.microsoft.com/office/drawing/2014/main" val="3293625240"/>
                      </a:ext>
                    </a:extLst>
                  </a:tr>
                  <a:tr h="1516129">
                    <a:tc vMerge="1">
                      <a:txBody>
                        <a:bodyPr/>
                        <a:lstStyle/>
                        <a:p>
                          <a:pPr marL="0" indent="0">
                            <a:buNone/>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9362" t="-135341" r="-709" b="-2811"/>
                          </a:stretch>
                        </a:blipFill>
                      </a:tcPr>
                    </a:tc>
                    <a:extLst>
                      <a:ext uri="{0D108BD9-81ED-4DB2-BD59-A6C34878D82A}">
                        <a16:rowId xmlns:a16="http://schemas.microsoft.com/office/drawing/2014/main" val="1740386360"/>
                      </a:ext>
                    </a:extLst>
                  </a:tr>
                </a:tbl>
              </a:graphicData>
            </a:graphic>
          </p:graphicFrame>
        </mc:Fallback>
      </mc:AlternateContent>
    </p:spTree>
    <p:extLst>
      <p:ext uri="{BB962C8B-B14F-4D97-AF65-F5344CB8AC3E}">
        <p14:creationId xmlns:p14="http://schemas.microsoft.com/office/powerpoint/2010/main" val="3911472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218097-4C28-C12F-F3F0-F636CB91512B}"/>
              </a:ext>
            </a:extLst>
          </p:cNvPr>
          <p:cNvSpPr>
            <a:spLocks noGrp="1"/>
          </p:cNvSpPr>
          <p:nvPr>
            <p:ph type="sldNum" sz="quarter" idx="12"/>
          </p:nvPr>
        </p:nvSpPr>
        <p:spPr>
          <a:xfrm>
            <a:off x="5147311" y="9323871"/>
            <a:ext cx="1543050" cy="527403"/>
          </a:xfrm>
        </p:spPr>
        <p:txBody>
          <a:bodyPr/>
          <a:lstStyle/>
          <a:p>
            <a:fld id="{086C3A38-D272-42AA-9C88-F1FBEAE20D2C}" type="slidenum">
              <a:rPr lang="en-GB" noProof="0" smtClean="0"/>
              <a:t>10</a:t>
            </a:fld>
            <a:endParaRPr lang="en-GB" noProof="0" dirty="0"/>
          </a:p>
        </p:txBody>
      </p:sp>
      <p:sp>
        <p:nvSpPr>
          <p:cNvPr id="3" name="Rectangle 2">
            <a:extLst>
              <a:ext uri="{FF2B5EF4-FFF2-40B4-BE49-F238E27FC236}">
                <a16:creationId xmlns:a16="http://schemas.microsoft.com/office/drawing/2014/main" id="{58243CA3-0B58-25B0-A4C3-F6FE43075C3C}"/>
              </a:ext>
            </a:extLst>
          </p:cNvPr>
          <p:cNvSpPr/>
          <p:nvPr/>
        </p:nvSpPr>
        <p:spPr>
          <a:xfrm>
            <a:off x="128560" y="61495"/>
            <a:ext cx="1715480" cy="324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23AF303-0795-9839-9570-0C02D580EEFF}"/>
                  </a:ext>
                </a:extLst>
              </p:cNvPr>
              <p:cNvSpPr txBox="1"/>
              <p:nvPr/>
            </p:nvSpPr>
            <p:spPr>
              <a:xfrm>
                <a:off x="1605973" y="179055"/>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1.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4" name="TextBox 3">
                <a:extLst>
                  <a:ext uri="{FF2B5EF4-FFF2-40B4-BE49-F238E27FC236}">
                    <a16:creationId xmlns:a16="http://schemas.microsoft.com/office/drawing/2014/main" id="{623AF303-0795-9839-9570-0C02D580EEFF}"/>
                  </a:ext>
                </a:extLst>
              </p:cNvPr>
              <p:cNvSpPr txBox="1">
                <a:spLocks noRot="1" noChangeAspect="1" noMove="1" noResize="1" noEditPoints="1" noAdjustHandles="1" noChangeArrowheads="1" noChangeShapeType="1" noTextEdit="1"/>
              </p:cNvSpPr>
              <p:nvPr/>
            </p:nvSpPr>
            <p:spPr>
              <a:xfrm>
                <a:off x="1605973" y="179055"/>
                <a:ext cx="3646054" cy="276999"/>
              </a:xfrm>
              <a:prstGeom prst="rect">
                <a:avLst/>
              </a:prstGeom>
              <a:blipFill>
                <a:blip r:embed="rId2"/>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29FE6A91-D5D3-351C-4F0A-B483AD0B2342}"/>
                  </a:ext>
                </a:extLst>
              </p:cNvPr>
              <p:cNvGraphicFramePr>
                <a:graphicFrameLocks noGrp="1"/>
              </p:cNvGraphicFramePr>
              <p:nvPr>
                <p:extLst>
                  <p:ext uri="{D42A27DB-BD31-4B8C-83A1-F6EECF244321}">
                    <p14:modId xmlns:p14="http://schemas.microsoft.com/office/powerpoint/2010/main" val="415104452"/>
                  </p:ext>
                </p:extLst>
              </p:nvPr>
            </p:nvGraphicFramePr>
            <p:xfrm>
              <a:off x="128560" y="456054"/>
              <a:ext cx="6561801" cy="9000000"/>
            </p:xfrm>
            <a:graphic>
              <a:graphicData uri="http://schemas.openxmlformats.org/drawingml/2006/table">
                <a:tbl>
                  <a:tblPr firstRow="1" bandRow="1">
                    <a:tableStyleId>{5C22544A-7EE6-4342-B048-85BDC9FD1C3A}</a:tableStyleId>
                  </a:tblPr>
                  <a:tblGrid>
                    <a:gridCol w="2187267">
                      <a:extLst>
                        <a:ext uri="{9D8B030D-6E8A-4147-A177-3AD203B41FA5}">
                          <a16:colId xmlns:a16="http://schemas.microsoft.com/office/drawing/2014/main" val="1464315968"/>
                        </a:ext>
                      </a:extLst>
                    </a:gridCol>
                    <a:gridCol w="2187267">
                      <a:extLst>
                        <a:ext uri="{9D8B030D-6E8A-4147-A177-3AD203B41FA5}">
                          <a16:colId xmlns:a16="http://schemas.microsoft.com/office/drawing/2014/main" val="3455001627"/>
                        </a:ext>
                      </a:extLst>
                    </a:gridCol>
                    <a:gridCol w="2187267">
                      <a:extLst>
                        <a:ext uri="{9D8B030D-6E8A-4147-A177-3AD203B41FA5}">
                          <a16:colId xmlns:a16="http://schemas.microsoft.com/office/drawing/2014/main" val="175147489"/>
                        </a:ext>
                      </a:extLst>
                    </a:gridCol>
                  </a:tblGrid>
                  <a:tr h="1800000">
                    <a:tc>
                      <a:txBody>
                        <a:bodyPr/>
                        <a:lstStyle/>
                        <a:p>
                          <a:r>
                            <a:rPr lang="en-GB" sz="1200" b="0" noProof="0" dirty="0">
                              <a:solidFill>
                                <a:schemeClr val="tx1"/>
                              </a:solidFill>
                            </a:rPr>
                            <a:t>a) </a:t>
                          </a:r>
                          <a14:m>
                            <m:oMath xmlns:m="http://schemas.openxmlformats.org/officeDocument/2006/math">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14:m>
                            <m:oMath xmlns:m="http://schemas.openxmlformats.org/officeDocument/2006/math">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a:t>
                          </a:r>
                          <a14:m>
                            <m:oMath xmlns:m="http://schemas.openxmlformats.org/officeDocument/2006/math">
                              <m:r>
                                <a:rPr lang="en-GB" sz="1200" b="0" i="0" noProof="0" smtClean="0">
                                  <a:solidFill>
                                    <a:schemeClr val="tx1"/>
                                  </a:solidFill>
                                  <a:latin typeface="Cambria Math" panose="02040503050406030204" pitchFamily="18" charset="0"/>
                                </a:rPr>
                                <m:t> </m:t>
                              </m:r>
                              <m:r>
                                <m:rPr>
                                  <m:sty m:val="p"/>
                                </m:rPr>
                                <a:rPr lang="en-GB" sz="1200" b="0" i="0" noProof="0" smtClean="0">
                                  <a:solidFill>
                                    <a:schemeClr val="tx1"/>
                                  </a:solidFill>
                                  <a:latin typeface="Cambria Math" panose="02040503050406030204" pitchFamily="18" charset="0"/>
                                </a:rPr>
                                <m:t>y</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𝑎</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2947647"/>
                      </a:ext>
                    </a:extLst>
                  </a:tr>
                  <a:tr h="1800000">
                    <a:tc>
                      <a:txBody>
                        <a:bodyPr/>
                        <a:lstStyle/>
                        <a:p>
                          <a:r>
                            <a:rPr lang="en-GB" sz="1200" b="0" noProof="0" dirty="0">
                              <a:solidFill>
                                <a:schemeClr val="tx1"/>
                              </a:solidFill>
                            </a:rPr>
                            <a:t>d)</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𝑚</m:t>
                                  </m:r>
                                </m:den>
                              </m:f>
                              <m:r>
                                <a:rPr lang="en-GB" sz="1200" b="0" i="0" noProof="0" smtClean="0">
                                  <a:solidFill>
                                    <a:schemeClr val="tx1"/>
                                  </a:solidFill>
                                  <a:latin typeface="Cambria Math" panose="02040503050406030204" pitchFamily="18" charset="0"/>
                                </a:rPr>
                                <m:t>=</m:t>
                              </m:r>
                              <m:r>
                                <m:rPr>
                                  <m:sty m:val="p"/>
                                </m:rPr>
                                <a:rPr lang="en-GB" sz="1200" b="0" i="0" noProof="0" smtClean="0">
                                  <a:solidFill>
                                    <a:schemeClr val="tx1"/>
                                  </a:solidFill>
                                  <a:latin typeface="Cambria Math" panose="02040503050406030204" pitchFamily="18" charset="0"/>
                                </a:rPr>
                                <m:t>k</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e)</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𝑚</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𝑎</m:t>
                                      </m:r>
                                    </m:e>
                                    <m:sup>
                                      <m:r>
                                        <a:rPr lang="en-GB" sz="1200" b="0" i="1" noProof="0" smtClean="0">
                                          <a:solidFill>
                                            <a:schemeClr val="tx1"/>
                                          </a:solidFill>
                                          <a:latin typeface="Cambria Math" panose="02040503050406030204" pitchFamily="18" charset="0"/>
                                        </a:rPr>
                                        <m:t>2</m:t>
                                      </m:r>
                                    </m:sup>
                                  </m:sSup>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f)</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−10</m:t>
                              </m:r>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8342804"/>
                      </a:ext>
                    </a:extLst>
                  </a:tr>
                  <a:tr h="1800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g) </a:t>
                          </a:r>
                          <a14:m>
                            <m:oMath xmlns:m="http://schemas.openxmlformats.org/officeDocument/2006/math">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0" noProof="0" smtClean="0">
                                      <a:solidFill>
                                        <a:schemeClr val="tx1"/>
                                      </a:solidFill>
                                      <a:latin typeface="Cambria Math" panose="02040503050406030204" pitchFamily="18" charset="0"/>
                                    </a:rPr>
                                    <m:t>5</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a14:m>
                          <a:endParaRPr lang="en-GB" sz="1200" noProof="0" dirty="0"/>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h)</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3</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err="1">
                              <a:solidFill>
                                <a:schemeClr val="tx1"/>
                              </a:solidFill>
                            </a:rPr>
                            <a:t>i</a:t>
                          </a:r>
                          <a:r>
                            <a:rPr lang="en-GB" sz="1200" b="0" noProof="0" dirty="0">
                              <a:solidFill>
                                <a:schemeClr val="tx1"/>
                              </a:solidFill>
                            </a:rPr>
                            <a:t>) </a:t>
                          </a:r>
                          <a14:m>
                            <m:oMath xmlns:m="http://schemas.openxmlformats.org/officeDocument/2006/math">
                              <m:r>
                                <a:rPr lang="en-GB" sz="1200" b="0" i="1" noProof="0" smtClean="0">
                                  <a:solidFill>
                                    <a:schemeClr val="tx1"/>
                                  </a:solidFill>
                                  <a:latin typeface="Cambria Math" panose="02040503050406030204" pitchFamily="18" charset="0"/>
                                </a:rPr>
                                <m:t>𝑓</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𝑐</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𝑞</m:t>
                              </m:r>
                            </m:oMath>
                          </a14:m>
                          <a:endParaRPr lang="en-GB" sz="1200" noProof="0" dirty="0"/>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522312"/>
                      </a:ext>
                    </a:extLst>
                  </a:tr>
                  <a:tr h="1800000">
                    <a:tc>
                      <a:txBody>
                        <a:bodyPr/>
                        <a:lstStyle/>
                        <a:p>
                          <a:r>
                            <a:rPr lang="en-GB" sz="1200" b="0" noProof="0" dirty="0">
                              <a:solidFill>
                                <a:schemeClr val="tx1"/>
                              </a:solidFill>
                            </a:rPr>
                            <a:t>j)</a:t>
                          </a:r>
                          <a14:m>
                            <m:oMath xmlns:m="http://schemas.openxmlformats.org/officeDocument/2006/math">
                              <m:r>
                                <a:rPr lang="en-GB" sz="1200" b="0" i="0" noProof="0" smtClean="0">
                                  <a:solidFill>
                                    <a:schemeClr val="tx1"/>
                                  </a:solidFill>
                                  <a:latin typeface="Cambria Math" panose="02040503050406030204" pitchFamily="18" charset="0"/>
                                </a:rPr>
                                <m:t>  </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5</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k) </a:t>
                          </a:r>
                          <a14:m>
                            <m:oMath xmlns:m="http://schemas.openxmlformats.org/officeDocument/2006/math">
                              <m:r>
                                <a:rPr lang="en-GB" sz="1200" b="0" i="1" noProof="0" smtClean="0">
                                  <a:solidFill>
                                    <a:schemeClr val="tx1"/>
                                  </a:solidFill>
                                  <a:latin typeface="Cambria Math" panose="02040503050406030204" pitchFamily="18" charset="0"/>
                                </a:rPr>
                                <m:t>−5</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a14:m>
                          <a:endParaRPr lang="en-GB" sz="1200" b="0" noProof="0" dirty="0">
                            <a:solidFill>
                              <a:schemeClr val="tx1"/>
                            </a:solidFill>
                          </a:endParaRPr>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l)</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𝑝𝑥</m:t>
                              </m:r>
                              <m:r>
                                <a:rPr lang="en-GB" sz="1200" b="0" i="1"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𝑒</m:t>
                              </m:r>
                              <m:r>
                                <a:rPr lang="en-GB" sz="1200" b="0" i="1" noProof="0" smtClean="0">
                                  <a:solidFill>
                                    <a:schemeClr val="tx1"/>
                                  </a:solidFill>
                                  <a:latin typeface="Cambria Math" panose="02040503050406030204" pitchFamily="18" charset="0"/>
                                </a:rPr>
                                <m:t>=5</m:t>
                              </m:r>
                              <m:r>
                                <a:rPr lang="en-GB" sz="1200" b="0" i="1" noProof="0" smtClean="0">
                                  <a:solidFill>
                                    <a:schemeClr val="tx1"/>
                                  </a:solidFill>
                                  <a:latin typeface="Cambria Math" panose="02040503050406030204" pitchFamily="18" charset="0"/>
                                </a:rPr>
                                <m:t>𝑡</m:t>
                              </m:r>
                            </m:oMath>
                          </a14:m>
                          <a:endParaRPr lang="en-GB" sz="1200" noProof="0" dirty="0"/>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2900370"/>
                      </a:ext>
                    </a:extLst>
                  </a:tr>
                  <a:tr h="1800000">
                    <a:tc>
                      <a:txBody>
                        <a:bodyPr/>
                        <a:lstStyle/>
                        <a:p>
                          <a:r>
                            <a:rPr lang="en-GB" sz="1200" b="0" noProof="0" dirty="0">
                              <a:solidFill>
                                <a:schemeClr val="tx1"/>
                              </a:solidFill>
                            </a:rPr>
                            <a:t>m) </a:t>
                          </a:r>
                          <a14:m>
                            <m:oMath xmlns:m="http://schemas.openxmlformats.org/officeDocument/2006/math">
                              <m:r>
                                <a:rPr lang="en-GB" sz="1200" b="0" i="1" noProof="0" smtClean="0">
                                  <a:solidFill>
                                    <a:schemeClr val="tx1"/>
                                  </a:solidFill>
                                  <a:latin typeface="Cambria Math" panose="02040503050406030204" pitchFamily="18" charset="0"/>
                                </a:rPr>
                                <m:t>𝑡</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3</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n) </a:t>
                          </a:r>
                          <a14:m>
                            <m:oMath xmlns:m="http://schemas.openxmlformats.org/officeDocument/2006/math">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𝑟</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o) </a:t>
                          </a:r>
                          <a14:m>
                            <m:oMath xmlns:m="http://schemas.openxmlformats.org/officeDocument/2006/math">
                              <m:r>
                                <a:rPr lang="en-GB" sz="1200" b="0" i="1" noProof="0" smtClean="0">
                                  <a:solidFill>
                                    <a:schemeClr val="tx1"/>
                                  </a:solidFill>
                                  <a:latin typeface="Cambria Math" panose="02040503050406030204" pitchFamily="18" charset="0"/>
                                </a:rPr>
                                <m:t>−7</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3</m:t>
                                  </m:r>
                                </m:sup>
                              </m:sSup>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=9</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6786827"/>
                      </a:ext>
                    </a:extLst>
                  </a:tr>
                </a:tbl>
              </a:graphicData>
            </a:graphic>
          </p:graphicFrame>
        </mc:Choice>
        <mc:Fallback xmlns="">
          <p:graphicFrame>
            <p:nvGraphicFramePr>
              <p:cNvPr id="7" name="Table 6">
                <a:extLst>
                  <a:ext uri="{FF2B5EF4-FFF2-40B4-BE49-F238E27FC236}">
                    <a16:creationId xmlns:a16="http://schemas.microsoft.com/office/drawing/2014/main" id="{29FE6A91-D5D3-351C-4F0A-B483AD0B2342}"/>
                  </a:ext>
                </a:extLst>
              </p:cNvPr>
              <p:cNvGraphicFramePr>
                <a:graphicFrameLocks noGrp="1"/>
              </p:cNvGraphicFramePr>
              <p:nvPr>
                <p:extLst>
                  <p:ext uri="{D42A27DB-BD31-4B8C-83A1-F6EECF244321}">
                    <p14:modId xmlns:p14="http://schemas.microsoft.com/office/powerpoint/2010/main" val="415104452"/>
                  </p:ext>
                </p:extLst>
              </p:nvPr>
            </p:nvGraphicFramePr>
            <p:xfrm>
              <a:off x="128560" y="456054"/>
              <a:ext cx="6561801" cy="9000000"/>
            </p:xfrm>
            <a:graphic>
              <a:graphicData uri="http://schemas.openxmlformats.org/drawingml/2006/table">
                <a:tbl>
                  <a:tblPr firstRow="1" bandRow="1">
                    <a:tableStyleId>{5C22544A-7EE6-4342-B048-85BDC9FD1C3A}</a:tableStyleId>
                  </a:tblPr>
                  <a:tblGrid>
                    <a:gridCol w="2187267">
                      <a:extLst>
                        <a:ext uri="{9D8B030D-6E8A-4147-A177-3AD203B41FA5}">
                          <a16:colId xmlns:a16="http://schemas.microsoft.com/office/drawing/2014/main" val="1464315968"/>
                        </a:ext>
                      </a:extLst>
                    </a:gridCol>
                    <a:gridCol w="2187267">
                      <a:extLst>
                        <a:ext uri="{9D8B030D-6E8A-4147-A177-3AD203B41FA5}">
                          <a16:colId xmlns:a16="http://schemas.microsoft.com/office/drawing/2014/main" val="3455001627"/>
                        </a:ext>
                      </a:extLst>
                    </a:gridCol>
                    <a:gridCol w="2187267">
                      <a:extLst>
                        <a:ext uri="{9D8B030D-6E8A-4147-A177-3AD203B41FA5}">
                          <a16:colId xmlns:a16="http://schemas.microsoft.com/office/drawing/2014/main" val="175147489"/>
                        </a:ext>
                      </a:extLst>
                    </a:gridCol>
                  </a:tblGrid>
                  <a:tr h="180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9" t="-338" r="-200557" b="-4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9" t="-338" r="-100557" b="-4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9" t="-338" r="-557" b="-400000"/>
                          </a:stretch>
                        </a:blipFill>
                      </a:tcPr>
                    </a:tc>
                    <a:extLst>
                      <a:ext uri="{0D108BD9-81ED-4DB2-BD59-A6C34878D82A}">
                        <a16:rowId xmlns:a16="http://schemas.microsoft.com/office/drawing/2014/main" val="2332947647"/>
                      </a:ext>
                    </a:extLst>
                  </a:tr>
                  <a:tr h="180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9" t="-100678" r="-200557" b="-3013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9" t="-100678" r="-100557" b="-3013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9" t="-100678" r="-557" b="-301356"/>
                          </a:stretch>
                        </a:blipFill>
                      </a:tcPr>
                    </a:tc>
                    <a:extLst>
                      <a:ext uri="{0D108BD9-81ED-4DB2-BD59-A6C34878D82A}">
                        <a16:rowId xmlns:a16="http://schemas.microsoft.com/office/drawing/2014/main" val="1648342804"/>
                      </a:ext>
                    </a:extLst>
                  </a:tr>
                  <a:tr h="180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9" t="-200000" r="-200557" b="-20033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9" t="-200000" r="-100557" b="-20033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9" t="-200000" r="-557" b="-200338"/>
                          </a:stretch>
                        </a:blipFill>
                      </a:tcPr>
                    </a:tc>
                    <a:extLst>
                      <a:ext uri="{0D108BD9-81ED-4DB2-BD59-A6C34878D82A}">
                        <a16:rowId xmlns:a16="http://schemas.microsoft.com/office/drawing/2014/main" val="277522312"/>
                      </a:ext>
                    </a:extLst>
                  </a:tr>
                  <a:tr h="180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9" t="-301017" r="-200557" b="-1010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9" t="-301017" r="-100557" b="-1010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9" t="-301017" r="-557" b="-101017"/>
                          </a:stretch>
                        </a:blipFill>
                      </a:tcPr>
                    </a:tc>
                    <a:extLst>
                      <a:ext uri="{0D108BD9-81ED-4DB2-BD59-A6C34878D82A}">
                        <a16:rowId xmlns:a16="http://schemas.microsoft.com/office/drawing/2014/main" val="2502900370"/>
                      </a:ext>
                    </a:extLst>
                  </a:tr>
                  <a:tr h="180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9" t="-399662" r="-200557" b="-67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9" t="-399662" r="-100557" b="-67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9" t="-399662" r="-557" b="-676"/>
                          </a:stretch>
                        </a:blipFill>
                      </a:tcPr>
                    </a:tc>
                    <a:extLst>
                      <a:ext uri="{0D108BD9-81ED-4DB2-BD59-A6C34878D82A}">
                        <a16:rowId xmlns:a16="http://schemas.microsoft.com/office/drawing/2014/main" val="2876786827"/>
                      </a:ext>
                    </a:extLst>
                  </a:tr>
                </a:tbl>
              </a:graphicData>
            </a:graphic>
          </p:graphicFrame>
        </mc:Fallback>
      </mc:AlternateContent>
    </p:spTree>
    <p:extLst>
      <p:ext uri="{BB962C8B-B14F-4D97-AF65-F5344CB8AC3E}">
        <p14:creationId xmlns:p14="http://schemas.microsoft.com/office/powerpoint/2010/main" val="1886488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0491DD0-F06D-E3BA-9F5E-E134312DFD05}"/>
              </a:ext>
            </a:extLst>
          </p:cNvPr>
          <p:cNvSpPr>
            <a:spLocks noGrp="1"/>
          </p:cNvSpPr>
          <p:nvPr>
            <p:ph type="sldNum" sz="quarter" idx="12"/>
          </p:nvPr>
        </p:nvSpPr>
        <p:spPr>
          <a:xfrm>
            <a:off x="5226905" y="9289617"/>
            <a:ext cx="1543050" cy="527403"/>
          </a:xfrm>
        </p:spPr>
        <p:txBody>
          <a:bodyPr/>
          <a:lstStyle/>
          <a:p>
            <a:fld id="{086C3A38-D272-42AA-9C88-F1FBEAE20D2C}" type="slidenum">
              <a:rPr lang="en-GB" noProof="0" smtClean="0"/>
              <a:t>11</a:t>
            </a:fld>
            <a:endParaRPr lang="en-GB" noProof="0" dirty="0"/>
          </a:p>
        </p:txBody>
      </p:sp>
      <p:sp>
        <p:nvSpPr>
          <p:cNvPr id="8" name="Rectangle 7">
            <a:extLst>
              <a:ext uri="{FF2B5EF4-FFF2-40B4-BE49-F238E27FC236}">
                <a16:creationId xmlns:a16="http://schemas.microsoft.com/office/drawing/2014/main" id="{12A35E13-2583-7B6E-DE07-E4550CB73FBD}"/>
              </a:ext>
            </a:extLst>
          </p:cNvPr>
          <p:cNvSpPr/>
          <p:nvPr/>
        </p:nvSpPr>
        <p:spPr>
          <a:xfrm>
            <a:off x="91943" y="197200"/>
            <a:ext cx="4237700" cy="24830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bg1"/>
                </a:solidFill>
              </a:rPr>
              <a:t>Rearranging with the subject in the denominator</a:t>
            </a:r>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DDE39AC3-E9DE-B826-97E9-2990913C1F7B}"/>
                  </a:ext>
                </a:extLst>
              </p:cNvPr>
              <p:cNvGraphicFramePr>
                <a:graphicFrameLocks noGrp="1"/>
              </p:cNvGraphicFramePr>
              <p:nvPr>
                <p:extLst>
                  <p:ext uri="{D42A27DB-BD31-4B8C-83A1-F6EECF244321}">
                    <p14:modId xmlns:p14="http://schemas.microsoft.com/office/powerpoint/2010/main" val="964303264"/>
                  </p:ext>
                </p:extLst>
              </p:nvPr>
            </p:nvGraphicFramePr>
            <p:xfrm>
              <a:off x="88043" y="472590"/>
              <a:ext cx="6681913" cy="361152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0">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302332">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𝑦</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𝑦</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m:t>
                              </m:r>
                            </m:oMath>
                          </a14:m>
                          <a:r>
                            <a:rPr lang="en-GB" sz="1200" b="0" noProof="0" dirty="0">
                              <a:solidFill>
                                <a:schemeClr val="tx1"/>
                              </a:solidFill>
                            </a:rPr>
                            <a:t>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440000">
                    <a:tc rowSpan="2">
                      <a:txBody>
                        <a:bodyPr/>
                        <a:lstStyle/>
                        <a:p>
                          <a:pPr marL="0" indent="0">
                            <a:buNone/>
                          </a:pPr>
                          <a:r>
                            <a:rPr lang="en-GB" sz="1200" noProof="0" dirty="0">
                              <a:solidFill>
                                <a:schemeClr val="tx1"/>
                              </a:solidFill>
                            </a:rPr>
                            <a:t>1) Circle the variable you want to make the subject.</a:t>
                          </a:r>
                        </a:p>
                        <a:p>
                          <a:pPr marL="0" indent="0">
                            <a:buNone/>
                          </a:pPr>
                          <a:endParaRPr lang="en-GB" sz="1200" noProof="0" dirty="0">
                            <a:solidFill>
                              <a:schemeClr val="tx1"/>
                            </a:solidFill>
                          </a:endParaRPr>
                        </a:p>
                        <a:p>
                          <a:pPr marL="0" indent="0">
                            <a:buNone/>
                          </a:pPr>
                          <a:r>
                            <a:rPr lang="en-GB" sz="1200" noProof="0" dirty="0">
                              <a:solidFill>
                                <a:schemeClr val="tx1"/>
                              </a:solidFill>
                            </a:rPr>
                            <a:t>2) Multiply both sides by the denominator (subject).</a:t>
                          </a:r>
                        </a:p>
                        <a:p>
                          <a:pPr marL="0" indent="0">
                            <a:buNone/>
                          </a:pPr>
                          <a:endParaRPr lang="en-GB" sz="1200" noProof="0" dirty="0">
                            <a:solidFill>
                              <a:schemeClr val="tx1"/>
                            </a:solidFill>
                          </a:endParaRPr>
                        </a:p>
                        <a:p>
                          <a:pPr marL="0" indent="0">
                            <a:buNone/>
                          </a:pPr>
                          <a:r>
                            <a:rPr lang="en-GB" sz="1200" noProof="0" dirty="0">
                              <a:solidFill>
                                <a:schemeClr val="tx1"/>
                              </a:solidFill>
                            </a:rPr>
                            <a:t>3) Use inverse operation</a:t>
                          </a:r>
                          <a:r>
                            <a:rPr lang="en-GB" sz="1200" b="1" u="sng" noProof="0" dirty="0">
                              <a:solidFill>
                                <a:schemeClr val="tx1"/>
                              </a:solidFill>
                            </a:rPr>
                            <a:t>s</a:t>
                          </a:r>
                          <a:r>
                            <a:rPr lang="en-GB" sz="1200" noProof="0" dirty="0">
                              <a:solidFill>
                                <a:schemeClr val="tx1"/>
                              </a:solidFill>
                            </a:rPr>
                            <a:t> to isolate the variable.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𝑝</m:t>
                                    </m:r>
                                  </m:num>
                                  <m:den>
                                    <m:r>
                                      <a:rPr lang="en-GB" sz="1200" b="0" i="1" noProof="0" smtClean="0">
                                        <a:solidFill>
                                          <a:schemeClr val="tx1"/>
                                        </a:solidFill>
                                        <a:latin typeface="Cambria Math" panose="02040503050406030204" pitchFamily="18" charset="0"/>
                                      </a:rPr>
                                      <m:t>𝑦</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𝑚</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𝑤</m:t>
                                    </m:r>
                                  </m:num>
                                  <m:den>
                                    <m:r>
                                      <a:rPr lang="en-GB" sz="1200" b="0" i="1" noProof="0" smtClean="0">
                                        <a:solidFill>
                                          <a:schemeClr val="tx1"/>
                                        </a:solidFill>
                                        <a:latin typeface="Cambria Math" panose="02040503050406030204" pitchFamily="18" charset="0"/>
                                      </a:rPr>
                                      <m:t>𝑦</m:t>
                                    </m:r>
                                  </m:den>
                                </m:f>
                                <m:r>
                                  <a:rPr lang="en-GB" sz="1200" b="0" i="1" noProof="0" smtClean="0">
                                    <a:solidFill>
                                      <a:schemeClr val="tx1"/>
                                    </a:solidFill>
                                    <a:latin typeface="Cambria Math" panose="02040503050406030204" pitchFamily="18" charset="0"/>
                                  </a:rPr>
                                  <m:t>=</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𝑎</m:t>
                                    </m:r>
                                  </m:e>
                                  <m:sup>
                                    <m:r>
                                      <a:rPr lang="en-GB" sz="1200" b="0" i="1" noProof="0" smtClean="0">
                                        <a:solidFill>
                                          <a:schemeClr val="tx1"/>
                                        </a:solidFill>
                                        <a:latin typeface="Cambria Math" panose="02040503050406030204" pitchFamily="18" charset="0"/>
                                      </a:rPr>
                                      <m:t>2</m:t>
                                    </m:r>
                                  </m:sup>
                                </m:sSup>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𝑟</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𝑝</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𝑞</m:t>
                                    </m:r>
                                  </m:num>
                                  <m:den>
                                    <m:r>
                                      <a:rPr lang="en-GB" sz="1200" b="0" i="1" noProof="0" smtClean="0">
                                        <a:solidFill>
                                          <a:schemeClr val="tx1"/>
                                        </a:solidFill>
                                        <a:latin typeface="Cambria Math" panose="02040503050406030204" pitchFamily="18" charset="0"/>
                                      </a:rPr>
                                      <m:t>𝑥</m:t>
                                    </m:r>
                                  </m:den>
                                </m:f>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440000">
                    <a:tc vMerge="1">
                      <a:txBody>
                        <a:bodyPr/>
                        <a:lstStyle/>
                        <a:p>
                          <a:pPr marL="0" indent="0">
                            <a:buNone/>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𝑎</m:t>
                                    </m:r>
                                  </m:num>
                                  <m:den>
                                    <m:r>
                                      <a:rPr lang="en-GB" sz="1200" b="0" i="1" noProof="0" smtClean="0">
                                        <a:solidFill>
                                          <a:schemeClr val="tx1"/>
                                        </a:solidFill>
                                        <a:latin typeface="Cambria Math" panose="02040503050406030204" pitchFamily="18" charset="0"/>
                                      </a:rPr>
                                      <m:t>𝑥</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+2</m:t>
                                </m:r>
                              </m:oMath>
                            </m:oMathPara>
                          </a14:m>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2223375"/>
                      </a:ext>
                    </a:extLst>
                  </a:tr>
                </a:tbl>
              </a:graphicData>
            </a:graphic>
          </p:graphicFrame>
        </mc:Choice>
        <mc:Fallback xmlns="">
          <p:graphicFrame>
            <p:nvGraphicFramePr>
              <p:cNvPr id="9" name="Table 8">
                <a:extLst>
                  <a:ext uri="{FF2B5EF4-FFF2-40B4-BE49-F238E27FC236}">
                    <a16:creationId xmlns:a16="http://schemas.microsoft.com/office/drawing/2014/main" id="{DDE39AC3-E9DE-B826-97E9-2990913C1F7B}"/>
                  </a:ext>
                </a:extLst>
              </p:cNvPr>
              <p:cNvGraphicFramePr>
                <a:graphicFrameLocks noGrp="1"/>
              </p:cNvGraphicFramePr>
              <p:nvPr>
                <p:extLst>
                  <p:ext uri="{D42A27DB-BD31-4B8C-83A1-F6EECF244321}">
                    <p14:modId xmlns:p14="http://schemas.microsoft.com/office/powerpoint/2010/main" val="964303264"/>
                  </p:ext>
                </p:extLst>
              </p:nvPr>
            </p:nvGraphicFramePr>
            <p:xfrm>
              <a:off x="88043" y="472590"/>
              <a:ext cx="6681913" cy="361152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274320">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4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5 -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6 -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457200">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6713" t="-60000" r="-197902" b="-634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9362" t="-60000" r="-100709" b="-634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9362" t="-60000" r="-709" b="-634667"/>
                          </a:stretch>
                        </a:blipFill>
                      </a:tcPr>
                    </a:tc>
                    <a:extLst>
                      <a:ext uri="{0D108BD9-81ED-4DB2-BD59-A6C34878D82A}">
                        <a16:rowId xmlns:a16="http://schemas.microsoft.com/office/drawing/2014/main" val="2357201933"/>
                      </a:ext>
                    </a:extLst>
                  </a:tr>
                  <a:tr h="1440000">
                    <a:tc rowSpan="2">
                      <a:txBody>
                        <a:bodyPr/>
                        <a:lstStyle/>
                        <a:p>
                          <a:pPr marL="0" indent="0">
                            <a:buNone/>
                          </a:pPr>
                          <a:r>
                            <a:rPr lang="en-GB" sz="1200" noProof="0">
                              <a:solidFill>
                                <a:schemeClr val="tx1"/>
                              </a:solidFill>
                            </a:rPr>
                            <a:t>1) Circle the variable you want to make the subject.</a:t>
                          </a:r>
                        </a:p>
                        <a:p>
                          <a:pPr marL="0" indent="0">
                            <a:buNone/>
                          </a:pPr>
                          <a:endParaRPr lang="en-GB" sz="1200" noProof="0">
                            <a:solidFill>
                              <a:schemeClr val="tx1"/>
                            </a:solidFill>
                          </a:endParaRPr>
                        </a:p>
                        <a:p>
                          <a:pPr marL="0" indent="0">
                            <a:buNone/>
                          </a:pPr>
                          <a:r>
                            <a:rPr lang="en-GB" sz="1200" noProof="0">
                              <a:solidFill>
                                <a:schemeClr val="tx1"/>
                              </a:solidFill>
                            </a:rPr>
                            <a:t>2) Multiply both sides by the denominator (subject).</a:t>
                          </a:r>
                        </a:p>
                        <a:p>
                          <a:pPr marL="0" indent="0">
                            <a:buNone/>
                          </a:pPr>
                          <a:endParaRPr lang="en-GB" sz="1200" noProof="0">
                            <a:solidFill>
                              <a:schemeClr val="tx1"/>
                            </a:solidFill>
                          </a:endParaRPr>
                        </a:p>
                        <a:p>
                          <a:pPr marL="0" indent="0">
                            <a:buNone/>
                          </a:pPr>
                          <a:r>
                            <a:rPr lang="en-GB" sz="1200" noProof="0">
                              <a:solidFill>
                                <a:schemeClr val="tx1"/>
                              </a:solidFill>
                            </a:rPr>
                            <a:t>3) Use inverse operation</a:t>
                          </a:r>
                          <a:r>
                            <a:rPr lang="en-GB" sz="1200" b="1" u="sng" noProof="0">
                              <a:solidFill>
                                <a:schemeClr val="tx1"/>
                              </a:solidFill>
                            </a:rPr>
                            <a:t>s</a:t>
                          </a:r>
                          <a:r>
                            <a:rPr lang="en-GB" sz="1200" noProof="0">
                              <a:solidFill>
                                <a:schemeClr val="tx1"/>
                              </a:solidFill>
                            </a:rPr>
                            <a:t> to isolate the variable.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6713" t="-25370" r="-197902" b="-634"/>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9362" t="-25370" r="-100709" b="-63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9362" t="-50633" r="-709" b="-100844"/>
                          </a:stretch>
                        </a:blipFill>
                      </a:tcPr>
                    </a:tc>
                    <a:extLst>
                      <a:ext uri="{0D108BD9-81ED-4DB2-BD59-A6C34878D82A}">
                        <a16:rowId xmlns:a16="http://schemas.microsoft.com/office/drawing/2014/main" val="3293625240"/>
                      </a:ext>
                    </a:extLst>
                  </a:tr>
                  <a:tr h="1440000">
                    <a:tc vMerge="1">
                      <a:txBody>
                        <a:bodyPr/>
                        <a:lstStyle/>
                        <a:p>
                          <a:pPr marL="0" indent="0">
                            <a:buNone/>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9362" t="-151271" r="-709" b="-1271"/>
                          </a:stretch>
                        </a:blipFill>
                      </a:tcPr>
                    </a:tc>
                    <a:extLst>
                      <a:ext uri="{0D108BD9-81ED-4DB2-BD59-A6C34878D82A}">
                        <a16:rowId xmlns:a16="http://schemas.microsoft.com/office/drawing/2014/main" val="4092223375"/>
                      </a:ext>
                    </a:extLst>
                  </a:tr>
                </a:tbl>
              </a:graphicData>
            </a:graphic>
          </p:graphicFrame>
        </mc:Fallback>
      </mc:AlternateContent>
      <p:sp>
        <p:nvSpPr>
          <p:cNvPr id="12" name="Rectangle 11">
            <a:extLst>
              <a:ext uri="{FF2B5EF4-FFF2-40B4-BE49-F238E27FC236}">
                <a16:creationId xmlns:a16="http://schemas.microsoft.com/office/drawing/2014/main" id="{6C033025-BF0F-31BA-77C3-D0C52466DCFD}"/>
              </a:ext>
            </a:extLst>
          </p:cNvPr>
          <p:cNvSpPr/>
          <p:nvPr/>
        </p:nvSpPr>
        <p:spPr>
          <a:xfrm>
            <a:off x="88043" y="4190575"/>
            <a:ext cx="1715480" cy="356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7ED9494-9B0C-3474-6BFE-4292706BF858}"/>
                  </a:ext>
                </a:extLst>
              </p:cNvPr>
              <p:cNvSpPr txBox="1"/>
              <p:nvPr/>
            </p:nvSpPr>
            <p:spPr>
              <a:xfrm>
                <a:off x="1565456" y="4310485"/>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a:t>
                </a:r>
                <a:r>
                  <a:rPr lang="en-GB" sz="1200" noProof="0" dirty="0">
                    <a:solidFill>
                      <a:prstClr val="black"/>
                    </a:solidFill>
                    <a:latin typeface="Calibri" panose="020F0502020204030204"/>
                  </a:rPr>
                  <a:t>2</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Make </a:t>
                </a:r>
                <a14:m>
                  <m:oMath xmlns:m="http://schemas.openxmlformats.org/officeDocument/2006/math">
                    <m:r>
                      <m:rPr>
                        <m:sty m:val="p"/>
                      </m:rP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w</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13" name="TextBox 12">
                <a:extLst>
                  <a:ext uri="{FF2B5EF4-FFF2-40B4-BE49-F238E27FC236}">
                    <a16:creationId xmlns:a16="http://schemas.microsoft.com/office/drawing/2014/main" id="{C7ED9494-9B0C-3474-6BFE-4292706BF858}"/>
                  </a:ext>
                </a:extLst>
              </p:cNvPr>
              <p:cNvSpPr txBox="1">
                <a:spLocks noRot="1" noChangeAspect="1" noMove="1" noResize="1" noEditPoints="1" noAdjustHandles="1" noChangeArrowheads="1" noChangeShapeType="1" noTextEdit="1"/>
              </p:cNvSpPr>
              <p:nvPr/>
            </p:nvSpPr>
            <p:spPr>
              <a:xfrm>
                <a:off x="1565456" y="4310485"/>
                <a:ext cx="3646054" cy="276999"/>
              </a:xfrm>
              <a:prstGeom prst="rect">
                <a:avLst/>
              </a:prstGeom>
              <a:blipFill>
                <a:blip r:embed="rId3"/>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F389B125-0745-23E0-27EC-445CB473C468}"/>
                  </a:ext>
                </a:extLst>
              </p:cNvPr>
              <p:cNvGraphicFramePr>
                <a:graphicFrameLocks noGrp="1"/>
              </p:cNvGraphicFramePr>
              <p:nvPr>
                <p:extLst>
                  <p:ext uri="{D42A27DB-BD31-4B8C-83A1-F6EECF244321}">
                    <p14:modId xmlns:p14="http://schemas.microsoft.com/office/powerpoint/2010/main" val="1121734169"/>
                  </p:ext>
                </p:extLst>
              </p:nvPr>
            </p:nvGraphicFramePr>
            <p:xfrm>
              <a:off x="88043" y="4666884"/>
              <a:ext cx="6681912" cy="4766526"/>
            </p:xfrm>
            <a:graphic>
              <a:graphicData uri="http://schemas.openxmlformats.org/drawingml/2006/table">
                <a:tbl>
                  <a:tblPr firstRow="1" bandRow="1">
                    <a:tableStyleId>{5C22544A-7EE6-4342-B048-85BDC9FD1C3A}</a:tableStyleId>
                  </a:tblPr>
                  <a:tblGrid>
                    <a:gridCol w="2227304">
                      <a:extLst>
                        <a:ext uri="{9D8B030D-6E8A-4147-A177-3AD203B41FA5}">
                          <a16:colId xmlns:a16="http://schemas.microsoft.com/office/drawing/2014/main" val="1633894357"/>
                        </a:ext>
                      </a:extLst>
                    </a:gridCol>
                    <a:gridCol w="2227304">
                      <a:extLst>
                        <a:ext uri="{9D8B030D-6E8A-4147-A177-3AD203B41FA5}">
                          <a16:colId xmlns:a16="http://schemas.microsoft.com/office/drawing/2014/main" val="2791324813"/>
                        </a:ext>
                      </a:extLst>
                    </a:gridCol>
                    <a:gridCol w="2227304">
                      <a:extLst>
                        <a:ext uri="{9D8B030D-6E8A-4147-A177-3AD203B41FA5}">
                          <a16:colId xmlns:a16="http://schemas.microsoft.com/office/drawing/2014/main" val="1086199984"/>
                        </a:ext>
                      </a:extLst>
                    </a:gridCol>
                  </a:tblGrid>
                  <a:tr h="2383263">
                    <a:tc>
                      <a:txBody>
                        <a:bodyPr/>
                        <a:lstStyle/>
                        <a:p>
                          <a:r>
                            <a:rPr lang="en-GB" sz="1200" b="0" noProof="0" dirty="0">
                              <a:solidFill>
                                <a:schemeClr val="tx1"/>
                              </a:solidFill>
                            </a:rPr>
                            <a:t>a)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𝑔</m:t>
                                  </m:r>
                                </m:num>
                                <m:den>
                                  <m:r>
                                    <a:rPr lang="en-GB" sz="1200" b="0" i="1" noProof="0" smtClean="0">
                                      <a:solidFill>
                                        <a:schemeClr val="tx1"/>
                                      </a:solidFill>
                                      <a:latin typeface="Cambria Math" panose="02040503050406030204" pitchFamily="18" charset="0"/>
                                    </a:rPr>
                                    <m:t>𝑤</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14:m>
                            <m:oMath xmlns:m="http://schemas.openxmlformats.org/officeDocument/2006/math">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𝑎</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𝑝</m:t>
                                  </m:r>
                                </m:num>
                                <m:den>
                                  <m:r>
                                    <a:rPr lang="en-GB" sz="1200" b="0" i="1" noProof="0" smtClean="0">
                                      <a:solidFill>
                                        <a:schemeClr val="tx1"/>
                                      </a:solidFill>
                                      <a:latin typeface="Cambria Math" panose="02040503050406030204" pitchFamily="18" charset="0"/>
                                    </a:rPr>
                                    <m:t>𝑤</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 </a:t>
                          </a:r>
                          <a14:m>
                            <m:oMath xmlns:m="http://schemas.openxmlformats.org/officeDocument/2006/math">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𝑎</m:t>
                                  </m:r>
                                </m:num>
                                <m:den>
                                  <m:r>
                                    <a:rPr lang="en-GB" sz="1200" b="0" i="1" noProof="0" smtClean="0">
                                      <a:solidFill>
                                        <a:schemeClr val="tx1"/>
                                      </a:solidFill>
                                      <a:latin typeface="Cambria Math" panose="02040503050406030204" pitchFamily="18" charset="0"/>
                                    </a:rPr>
                                    <m:t>𝑤</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6516027"/>
                      </a:ext>
                    </a:extLst>
                  </a:tr>
                  <a:tr h="2383263">
                    <a:tc>
                      <a:txBody>
                        <a:bodyPr/>
                        <a:lstStyle/>
                        <a:p>
                          <a:r>
                            <a:rPr lang="en-GB" sz="1200" b="0" noProof="0" dirty="0">
                              <a:solidFill>
                                <a:schemeClr val="tx1"/>
                              </a:solidFill>
                            </a:rPr>
                            <a:t>d)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+ 2</m:t>
                                  </m:r>
                                </m:num>
                                <m:den>
                                  <m:r>
                                    <a:rPr lang="en-GB" sz="1200" b="0" i="1" noProof="0" smtClean="0">
                                      <a:solidFill>
                                        <a:schemeClr val="tx1"/>
                                      </a:solidFill>
                                      <a:latin typeface="Cambria Math" panose="02040503050406030204" pitchFamily="18" charset="0"/>
                                    </a:rPr>
                                    <m:t>𝑤</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𝑘</m:t>
                              </m:r>
                              <m:r>
                                <a:rPr lang="en-GB" sz="1200" b="0" i="1" noProof="0" smtClean="0">
                                  <a:solidFill>
                                    <a:schemeClr val="tx1"/>
                                  </a:solidFill>
                                  <a:latin typeface="Cambria Math" panose="02040503050406030204" pitchFamily="18" charset="0"/>
                                </a:rPr>
                                <m:t>−4</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e)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 + </m:t>
                                  </m:r>
                                  <m:r>
                                    <a:rPr lang="en-GB" sz="1200" b="0" i="1" noProof="0" smtClean="0">
                                      <a:solidFill>
                                        <a:schemeClr val="tx1"/>
                                      </a:solidFill>
                                      <a:latin typeface="Cambria Math" panose="02040503050406030204" pitchFamily="18" charset="0"/>
                                    </a:rPr>
                                    <m:t>𝑏</m:t>
                                  </m:r>
                                </m:num>
                                <m:den>
                                  <m:r>
                                    <a:rPr lang="en-GB" sz="1200" b="0" i="1" noProof="0" smtClean="0">
                                      <a:solidFill>
                                        <a:schemeClr val="tx1"/>
                                      </a:solidFill>
                                      <a:latin typeface="Cambria Math" panose="02040503050406030204" pitchFamily="18" charset="0"/>
                                    </a:rPr>
                                    <m:t>𝑤</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f)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𝑐</m:t>
                                  </m:r>
                                  <m:r>
                                    <a:rPr lang="en-GB" sz="1200" b="0" i="1" noProof="0" smtClean="0">
                                      <a:solidFill>
                                        <a:schemeClr val="tx1"/>
                                      </a:solidFill>
                                      <a:latin typeface="Cambria Math" panose="02040503050406030204" pitchFamily="18" charset="0"/>
                                    </a:rPr>
                                    <m:t> − </m:t>
                                  </m:r>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𝑤</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𝑛</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4248807"/>
                      </a:ext>
                    </a:extLst>
                  </a:tr>
                </a:tbl>
              </a:graphicData>
            </a:graphic>
          </p:graphicFrame>
        </mc:Choice>
        <mc:Fallback xmlns="">
          <p:graphicFrame>
            <p:nvGraphicFramePr>
              <p:cNvPr id="15" name="Table 14">
                <a:extLst>
                  <a:ext uri="{FF2B5EF4-FFF2-40B4-BE49-F238E27FC236}">
                    <a16:creationId xmlns:a16="http://schemas.microsoft.com/office/drawing/2014/main" id="{F389B125-0745-23E0-27EC-445CB473C468}"/>
                  </a:ext>
                </a:extLst>
              </p:cNvPr>
              <p:cNvGraphicFramePr>
                <a:graphicFrameLocks noGrp="1"/>
              </p:cNvGraphicFramePr>
              <p:nvPr>
                <p:extLst>
                  <p:ext uri="{D42A27DB-BD31-4B8C-83A1-F6EECF244321}">
                    <p14:modId xmlns:p14="http://schemas.microsoft.com/office/powerpoint/2010/main" val="1121734169"/>
                  </p:ext>
                </p:extLst>
              </p:nvPr>
            </p:nvGraphicFramePr>
            <p:xfrm>
              <a:off x="88043" y="4666884"/>
              <a:ext cx="6681912" cy="4766526"/>
            </p:xfrm>
            <a:graphic>
              <a:graphicData uri="http://schemas.openxmlformats.org/drawingml/2006/table">
                <a:tbl>
                  <a:tblPr firstRow="1" bandRow="1">
                    <a:tableStyleId>{5C22544A-7EE6-4342-B048-85BDC9FD1C3A}</a:tableStyleId>
                  </a:tblPr>
                  <a:tblGrid>
                    <a:gridCol w="2227304">
                      <a:extLst>
                        <a:ext uri="{9D8B030D-6E8A-4147-A177-3AD203B41FA5}">
                          <a16:colId xmlns:a16="http://schemas.microsoft.com/office/drawing/2014/main" val="1633894357"/>
                        </a:ext>
                      </a:extLst>
                    </a:gridCol>
                    <a:gridCol w="2227304">
                      <a:extLst>
                        <a:ext uri="{9D8B030D-6E8A-4147-A177-3AD203B41FA5}">
                          <a16:colId xmlns:a16="http://schemas.microsoft.com/office/drawing/2014/main" val="2791324813"/>
                        </a:ext>
                      </a:extLst>
                    </a:gridCol>
                    <a:gridCol w="2227304">
                      <a:extLst>
                        <a:ext uri="{9D8B030D-6E8A-4147-A177-3AD203B41FA5}">
                          <a16:colId xmlns:a16="http://schemas.microsoft.com/office/drawing/2014/main" val="1086199984"/>
                        </a:ext>
                      </a:extLst>
                    </a:gridCol>
                  </a:tblGrid>
                  <a:tr h="23832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3" t="-255" r="-200273" b="-10025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548" t="-255" r="-100822" b="-10025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000" t="-255" r="-546" b="-100255"/>
                          </a:stretch>
                        </a:blipFill>
                      </a:tcPr>
                    </a:tc>
                    <a:extLst>
                      <a:ext uri="{0D108BD9-81ED-4DB2-BD59-A6C34878D82A}">
                        <a16:rowId xmlns:a16="http://schemas.microsoft.com/office/drawing/2014/main" val="1956516027"/>
                      </a:ext>
                    </a:extLst>
                  </a:tr>
                  <a:tr h="23832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3" t="-100512" r="-200273" b="-51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548" t="-100512" r="-100822" b="-51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000" t="-100512" r="-546" b="-512"/>
                          </a:stretch>
                        </a:blipFill>
                      </a:tcPr>
                    </a:tc>
                    <a:extLst>
                      <a:ext uri="{0D108BD9-81ED-4DB2-BD59-A6C34878D82A}">
                        <a16:rowId xmlns:a16="http://schemas.microsoft.com/office/drawing/2014/main" val="3634248807"/>
                      </a:ext>
                    </a:extLst>
                  </a:tr>
                </a:tbl>
              </a:graphicData>
            </a:graphic>
          </p:graphicFrame>
        </mc:Fallback>
      </mc:AlternateContent>
    </p:spTree>
    <p:extLst>
      <p:ext uri="{BB962C8B-B14F-4D97-AF65-F5344CB8AC3E}">
        <p14:creationId xmlns:p14="http://schemas.microsoft.com/office/powerpoint/2010/main" val="1845416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6A793C-1A61-98D1-A7C0-2E10D027362F}"/>
              </a:ext>
            </a:extLst>
          </p:cNvPr>
          <p:cNvSpPr>
            <a:spLocks noGrp="1"/>
          </p:cNvSpPr>
          <p:nvPr>
            <p:ph type="sldNum" sz="quarter" idx="12"/>
          </p:nvPr>
        </p:nvSpPr>
        <p:spPr>
          <a:xfrm>
            <a:off x="5254020" y="9206148"/>
            <a:ext cx="1543050" cy="527403"/>
          </a:xfrm>
        </p:spPr>
        <p:txBody>
          <a:bodyPr/>
          <a:lstStyle/>
          <a:p>
            <a:fld id="{086C3A38-D272-42AA-9C88-F1FBEAE20D2C}" type="slidenum">
              <a:rPr lang="en-GB" noProof="0" smtClean="0"/>
              <a:t>12</a:t>
            </a:fld>
            <a:endParaRPr lang="en-GB" noProof="0" dirty="0"/>
          </a:p>
        </p:txBody>
      </p:sp>
      <p:sp>
        <p:nvSpPr>
          <p:cNvPr id="10" name="Rectangle 9">
            <a:extLst>
              <a:ext uri="{FF2B5EF4-FFF2-40B4-BE49-F238E27FC236}">
                <a16:creationId xmlns:a16="http://schemas.microsoft.com/office/drawing/2014/main" id="{DECF40D1-1A44-4507-6203-0DEF1B49B87E}"/>
              </a:ext>
            </a:extLst>
          </p:cNvPr>
          <p:cNvSpPr/>
          <p:nvPr/>
        </p:nvSpPr>
        <p:spPr>
          <a:xfrm>
            <a:off x="72803" y="11233"/>
            <a:ext cx="4237700" cy="324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bg1"/>
                </a:solidFill>
              </a:rPr>
              <a:t>Rearranging where the subject appears twice</a:t>
            </a:r>
          </a:p>
        </p:txBody>
      </p:sp>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C84B3C5B-EA80-8F87-A8D7-3EF7C5BCEEA5}"/>
                  </a:ext>
                </a:extLst>
              </p:cNvPr>
              <p:cNvGraphicFramePr>
                <a:graphicFrameLocks noGrp="1"/>
              </p:cNvGraphicFramePr>
              <p:nvPr>
                <p:extLst>
                  <p:ext uri="{D42A27DB-BD31-4B8C-83A1-F6EECF244321}">
                    <p14:modId xmlns:p14="http://schemas.microsoft.com/office/powerpoint/2010/main" val="3067238899"/>
                  </p:ext>
                </p:extLst>
              </p:nvPr>
            </p:nvGraphicFramePr>
            <p:xfrm>
              <a:off x="88043" y="2145569"/>
              <a:ext cx="6681913" cy="3606579"/>
            </p:xfrm>
            <a:graphic>
              <a:graphicData uri="http://schemas.openxmlformats.org/drawingml/2006/table">
                <a:tbl>
                  <a:tblPr firstRow="1" bandRow="1">
                    <a:tableStyleId>{5C22544A-7EE6-4342-B048-85BDC9FD1C3A}</a:tableStyleId>
                  </a:tblPr>
                  <a:tblGrid>
                    <a:gridCol w="1053871">
                      <a:extLst>
                        <a:ext uri="{9D8B030D-6E8A-4147-A177-3AD203B41FA5}">
                          <a16:colId xmlns:a16="http://schemas.microsoft.com/office/drawing/2014/main" val="1568142362"/>
                        </a:ext>
                      </a:extLst>
                    </a:gridCol>
                    <a:gridCol w="1876014">
                      <a:extLst>
                        <a:ext uri="{9D8B030D-6E8A-4147-A177-3AD203B41FA5}">
                          <a16:colId xmlns:a16="http://schemas.microsoft.com/office/drawing/2014/main" val="3551711160"/>
                        </a:ext>
                      </a:extLst>
                    </a:gridCol>
                    <a:gridCol w="1876014">
                      <a:extLst>
                        <a:ext uri="{9D8B030D-6E8A-4147-A177-3AD203B41FA5}">
                          <a16:colId xmlns:a16="http://schemas.microsoft.com/office/drawing/2014/main" val="1712497518"/>
                        </a:ext>
                      </a:extLst>
                    </a:gridCol>
                    <a:gridCol w="1876014">
                      <a:extLst>
                        <a:ext uri="{9D8B030D-6E8A-4147-A177-3AD203B41FA5}">
                          <a16:colId xmlns:a16="http://schemas.microsoft.com/office/drawing/2014/main" val="886122921"/>
                        </a:ext>
                      </a:extLst>
                    </a:gridCol>
                  </a:tblGrid>
                  <a:tr h="304275">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7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8 -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9 -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507125">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79517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noProof="0" dirty="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2) Factorise</a:t>
                          </a:r>
                          <a:r>
                            <a:rPr lang="en-GB" sz="1200" baseline="0" noProof="0" dirty="0">
                              <a:solidFill>
                                <a:schemeClr val="tx1"/>
                              </a:solidFill>
                            </a:rPr>
                            <a:t> the subject. </a:t>
                          </a:r>
                          <a:endParaRPr lang="en-GB" sz="1200" noProof="0" dirty="0">
                            <a:solidFill>
                              <a:schemeClr val="tx1"/>
                            </a:solidFill>
                          </a:endParaRP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3) Divide both sides of the equation. </a:t>
                          </a:r>
                        </a:p>
                        <a:p>
                          <a:pPr marL="0" indent="0">
                            <a:buNone/>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𝑏𝑥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11" name="Table 10">
                <a:extLst>
                  <a:ext uri="{FF2B5EF4-FFF2-40B4-BE49-F238E27FC236}">
                    <a16:creationId xmlns:a16="http://schemas.microsoft.com/office/drawing/2014/main" id="{C84B3C5B-EA80-8F87-A8D7-3EF7C5BCEEA5}"/>
                  </a:ext>
                </a:extLst>
              </p:cNvPr>
              <p:cNvGraphicFramePr>
                <a:graphicFrameLocks noGrp="1"/>
              </p:cNvGraphicFramePr>
              <p:nvPr>
                <p:extLst>
                  <p:ext uri="{D42A27DB-BD31-4B8C-83A1-F6EECF244321}">
                    <p14:modId xmlns:p14="http://schemas.microsoft.com/office/powerpoint/2010/main" val="3067238899"/>
                  </p:ext>
                </p:extLst>
              </p:nvPr>
            </p:nvGraphicFramePr>
            <p:xfrm>
              <a:off x="88043" y="2145569"/>
              <a:ext cx="6681913" cy="3606579"/>
            </p:xfrm>
            <a:graphic>
              <a:graphicData uri="http://schemas.openxmlformats.org/drawingml/2006/table">
                <a:tbl>
                  <a:tblPr firstRow="1" bandRow="1">
                    <a:tableStyleId>{5C22544A-7EE6-4342-B048-85BDC9FD1C3A}</a:tableStyleId>
                  </a:tblPr>
                  <a:tblGrid>
                    <a:gridCol w="1053871">
                      <a:extLst>
                        <a:ext uri="{9D8B030D-6E8A-4147-A177-3AD203B41FA5}">
                          <a16:colId xmlns:a16="http://schemas.microsoft.com/office/drawing/2014/main" val="1568142362"/>
                        </a:ext>
                      </a:extLst>
                    </a:gridCol>
                    <a:gridCol w="1876014">
                      <a:extLst>
                        <a:ext uri="{9D8B030D-6E8A-4147-A177-3AD203B41FA5}">
                          <a16:colId xmlns:a16="http://schemas.microsoft.com/office/drawing/2014/main" val="3551711160"/>
                        </a:ext>
                      </a:extLst>
                    </a:gridCol>
                    <a:gridCol w="1876014">
                      <a:extLst>
                        <a:ext uri="{9D8B030D-6E8A-4147-A177-3AD203B41FA5}">
                          <a16:colId xmlns:a16="http://schemas.microsoft.com/office/drawing/2014/main" val="1712497518"/>
                        </a:ext>
                      </a:extLst>
                    </a:gridCol>
                    <a:gridCol w="1876014">
                      <a:extLst>
                        <a:ext uri="{9D8B030D-6E8A-4147-A177-3AD203B41FA5}">
                          <a16:colId xmlns:a16="http://schemas.microsoft.com/office/drawing/2014/main" val="886122921"/>
                        </a:ext>
                      </a:extLst>
                    </a:gridCol>
                  </a:tblGrid>
                  <a:tr h="304275">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7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8 -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9 -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507125">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6494" t="-60241" r="-200649" b="-55662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56494" t="-60241" r="-100649" b="-55662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6494" t="-60241" r="-649" b="-556627"/>
                          </a:stretch>
                        </a:blipFill>
                      </a:tcPr>
                    </a:tc>
                    <a:extLst>
                      <a:ext uri="{0D108BD9-81ED-4DB2-BD59-A6C34878D82A}">
                        <a16:rowId xmlns:a16="http://schemas.microsoft.com/office/drawing/2014/main" val="2357201933"/>
                      </a:ext>
                    </a:extLst>
                  </a:tr>
                  <a:tr h="279517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1) </a:t>
                          </a:r>
                          <a:r>
                            <a:rPr lang="en-GB" sz="1200" noProof="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2) Factorise</a:t>
                          </a:r>
                          <a:r>
                            <a:rPr lang="en-GB" sz="1200" baseline="0" noProof="0">
                              <a:solidFill>
                                <a:schemeClr val="tx1"/>
                              </a:solidFill>
                            </a:rPr>
                            <a:t> the subject. </a:t>
                          </a:r>
                          <a:endParaRPr lang="en-GB" sz="1200" noProof="0">
                            <a:solidFill>
                              <a:schemeClr val="tx1"/>
                            </a:solidFill>
                          </a:endParaRPr>
                        </a:p>
                        <a:p>
                          <a:pPr marL="0" indent="0">
                            <a:buNone/>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3) Divide both sides of the equation. </a:t>
                          </a:r>
                        </a:p>
                        <a:p>
                          <a:pPr marL="0" indent="0">
                            <a:buNone/>
                          </a:pPr>
                          <a:endParaRPr lang="en-GB" sz="12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6494" t="-28913" r="-200649" b="-4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56494" t="-28913" r="-100649" b="-4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6494" t="-28913" r="-649" b="-435"/>
                          </a:stretch>
                        </a:blipFill>
                      </a:tcPr>
                    </a:tc>
                    <a:extLst>
                      <a:ext uri="{0D108BD9-81ED-4DB2-BD59-A6C34878D82A}">
                        <a16:rowId xmlns:a16="http://schemas.microsoft.com/office/drawing/2014/main" val="329362524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99652523-4CBA-9D43-E6C5-BDB971D7A896}"/>
                  </a:ext>
                </a:extLst>
              </p:cNvPr>
              <p:cNvGraphicFramePr>
                <a:graphicFrameLocks noGrp="1"/>
              </p:cNvGraphicFramePr>
              <p:nvPr>
                <p:extLst>
                  <p:ext uri="{D42A27DB-BD31-4B8C-83A1-F6EECF244321}">
                    <p14:modId xmlns:p14="http://schemas.microsoft.com/office/powerpoint/2010/main" val="2446722207"/>
                  </p:ext>
                </p:extLst>
              </p:nvPr>
            </p:nvGraphicFramePr>
            <p:xfrm>
              <a:off x="89129" y="6321335"/>
              <a:ext cx="6681912" cy="3412215"/>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535141662"/>
                        </a:ext>
                      </a:extLst>
                    </a:gridCol>
                    <a:gridCol w="1670478">
                      <a:extLst>
                        <a:ext uri="{9D8B030D-6E8A-4147-A177-3AD203B41FA5}">
                          <a16:colId xmlns:a16="http://schemas.microsoft.com/office/drawing/2014/main" val="1060476510"/>
                        </a:ext>
                      </a:extLst>
                    </a:gridCol>
                    <a:gridCol w="1670478">
                      <a:extLst>
                        <a:ext uri="{9D8B030D-6E8A-4147-A177-3AD203B41FA5}">
                          <a16:colId xmlns:a16="http://schemas.microsoft.com/office/drawing/2014/main" val="2030626714"/>
                        </a:ext>
                      </a:extLst>
                    </a:gridCol>
                    <a:gridCol w="1670478">
                      <a:extLst>
                        <a:ext uri="{9D8B030D-6E8A-4147-A177-3AD203B41FA5}">
                          <a16:colId xmlns:a16="http://schemas.microsoft.com/office/drawing/2014/main" val="1072173642"/>
                        </a:ext>
                      </a:extLst>
                    </a:gridCol>
                  </a:tblGrid>
                  <a:tr h="3412215">
                    <a:tc>
                      <a:txBody>
                        <a:bodyPr/>
                        <a:lstStyle/>
                        <a:p>
                          <a:r>
                            <a:rPr lang="en-GB" sz="1200" b="0" noProof="0" dirty="0">
                              <a:solidFill>
                                <a:schemeClr val="tx1"/>
                              </a:solidFill>
                            </a:rPr>
                            <a:t>a) </a:t>
                          </a:r>
                          <a14:m>
                            <m:oMath xmlns:m="http://schemas.openxmlformats.org/officeDocument/2006/math">
                              <m:r>
                                <a:rPr lang="en-GB" sz="1200" b="0" i="1" noProof="0" smtClean="0">
                                  <a:solidFill>
                                    <a:schemeClr val="tx1"/>
                                  </a:solidFill>
                                  <a:latin typeface="Cambria Math" panose="02040503050406030204" pitchFamily="18" charset="0"/>
                                </a:rPr>
                                <m:t>𝑏h</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𝑎𝑏</m:t>
                              </m:r>
                              <m:r>
                                <a:rPr lang="en-GB" sz="1200" b="0" i="1" noProof="0" smtClean="0">
                                  <a:solidFill>
                                    <a:schemeClr val="tx1"/>
                                  </a:solidFill>
                                  <a:latin typeface="Cambria Math" panose="02040503050406030204" pitchFamily="18" charset="0"/>
                                </a:rPr>
                                <m:t>=9</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14:m>
                            <m:oMath xmlns:m="http://schemas.openxmlformats.org/officeDocument/2006/math">
                              <m:r>
                                <a:rPr lang="en-GB" sz="1200" b="0" i="1" noProof="0" smtClean="0">
                                  <a:solidFill>
                                    <a:schemeClr val="tx1"/>
                                  </a:solidFill>
                                  <a:latin typeface="Cambria Math" panose="02040503050406030204" pitchFamily="18" charset="0"/>
                                </a:rPr>
                                <m:t>5</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𝑎𝑏</m:t>
                              </m:r>
                              <m:r>
                                <a:rPr lang="en-GB" sz="1200" b="0" i="1" noProof="0" smtClean="0">
                                  <a:solidFill>
                                    <a:schemeClr val="tx1"/>
                                  </a:solidFill>
                                  <a:latin typeface="Cambria Math" panose="02040503050406030204" pitchFamily="18" charset="0"/>
                                </a:rPr>
                                <m:t>=9</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 </a:t>
                          </a:r>
                          <a14:m>
                            <m:oMath xmlns:m="http://schemas.openxmlformats.org/officeDocument/2006/math">
                              <m:r>
                                <a:rPr lang="en-GB" sz="1200" b="0" i="1" noProof="0" smtClean="0">
                                  <a:solidFill>
                                    <a:schemeClr val="tx1"/>
                                  </a:solidFill>
                                  <a:latin typeface="Cambria Math" panose="02040503050406030204" pitchFamily="18" charset="0"/>
                                </a:rPr>
                                <m:t>𝑏h</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𝑎𝑏</m:t>
                              </m:r>
                              <m:r>
                                <a:rPr lang="en-GB" sz="1200" b="0" i="1" noProof="0" smtClean="0">
                                  <a:solidFill>
                                    <a:schemeClr val="tx1"/>
                                  </a:solidFill>
                                  <a:latin typeface="Cambria Math" panose="02040503050406030204" pitchFamily="18" charset="0"/>
                                </a:rPr>
                                <m:t>=9</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d) </a:t>
                          </a:r>
                          <a14:m>
                            <m:oMath xmlns:m="http://schemas.openxmlformats.org/officeDocument/2006/math">
                              <m:r>
                                <a:rPr lang="en-GB" sz="1200" b="0" i="1" noProof="0" smtClean="0">
                                  <a:solidFill>
                                    <a:schemeClr val="tx1"/>
                                  </a:solidFill>
                                  <a:latin typeface="Cambria Math" panose="02040503050406030204" pitchFamily="18" charset="0"/>
                                </a:rPr>
                                <m:t>6</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𝑎𝑏</m:t>
                              </m:r>
                              <m:r>
                                <a:rPr lang="en-GB" sz="1200" b="0" i="1" noProof="0" smtClean="0">
                                  <a:solidFill>
                                    <a:schemeClr val="tx1"/>
                                  </a:solidFill>
                                  <a:latin typeface="Cambria Math" panose="02040503050406030204" pitchFamily="18" charset="0"/>
                                </a:rPr>
                                <m:t>=9</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8309160"/>
                      </a:ext>
                    </a:extLst>
                  </a:tr>
                </a:tbl>
              </a:graphicData>
            </a:graphic>
          </p:graphicFrame>
        </mc:Choice>
        <mc:Fallback xmlns="">
          <p:graphicFrame>
            <p:nvGraphicFramePr>
              <p:cNvPr id="3" name="Table 2">
                <a:extLst>
                  <a:ext uri="{FF2B5EF4-FFF2-40B4-BE49-F238E27FC236}">
                    <a16:creationId xmlns:a16="http://schemas.microsoft.com/office/drawing/2014/main" id="{99652523-4CBA-9D43-E6C5-BDB971D7A896}"/>
                  </a:ext>
                </a:extLst>
              </p:cNvPr>
              <p:cNvGraphicFramePr>
                <a:graphicFrameLocks noGrp="1"/>
              </p:cNvGraphicFramePr>
              <p:nvPr>
                <p:extLst>
                  <p:ext uri="{D42A27DB-BD31-4B8C-83A1-F6EECF244321}">
                    <p14:modId xmlns:p14="http://schemas.microsoft.com/office/powerpoint/2010/main" val="2446722207"/>
                  </p:ext>
                </p:extLst>
              </p:nvPr>
            </p:nvGraphicFramePr>
            <p:xfrm>
              <a:off x="89129" y="6321335"/>
              <a:ext cx="6681912" cy="3412215"/>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535141662"/>
                        </a:ext>
                      </a:extLst>
                    </a:gridCol>
                    <a:gridCol w="1670478">
                      <a:extLst>
                        <a:ext uri="{9D8B030D-6E8A-4147-A177-3AD203B41FA5}">
                          <a16:colId xmlns:a16="http://schemas.microsoft.com/office/drawing/2014/main" val="1060476510"/>
                        </a:ext>
                      </a:extLst>
                    </a:gridCol>
                    <a:gridCol w="1670478">
                      <a:extLst>
                        <a:ext uri="{9D8B030D-6E8A-4147-A177-3AD203B41FA5}">
                          <a16:colId xmlns:a16="http://schemas.microsoft.com/office/drawing/2014/main" val="2030626714"/>
                        </a:ext>
                      </a:extLst>
                    </a:gridCol>
                    <a:gridCol w="1670478">
                      <a:extLst>
                        <a:ext uri="{9D8B030D-6E8A-4147-A177-3AD203B41FA5}">
                          <a16:colId xmlns:a16="http://schemas.microsoft.com/office/drawing/2014/main" val="1072173642"/>
                        </a:ext>
                      </a:extLst>
                    </a:gridCol>
                  </a:tblGrid>
                  <a:tr h="341221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5" t="-178" r="-301095" b="-3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178" r="-200000" b="-3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730" t="-178" r="-100730" b="-3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730" t="-178" r="-730" b="-357"/>
                          </a:stretch>
                        </a:blipFill>
                      </a:tcPr>
                    </a:tc>
                    <a:extLst>
                      <a:ext uri="{0D108BD9-81ED-4DB2-BD59-A6C34878D82A}">
                        <a16:rowId xmlns:a16="http://schemas.microsoft.com/office/drawing/2014/main" val="1988309160"/>
                      </a:ext>
                    </a:extLst>
                  </a:tr>
                </a:tbl>
              </a:graphicData>
            </a:graphic>
          </p:graphicFrame>
        </mc:Fallback>
      </mc:AlternateContent>
      <p:sp>
        <p:nvSpPr>
          <p:cNvPr id="4" name="Rectangle 3">
            <a:extLst>
              <a:ext uri="{FF2B5EF4-FFF2-40B4-BE49-F238E27FC236}">
                <a16:creationId xmlns:a16="http://schemas.microsoft.com/office/drawing/2014/main" id="{14F1CB77-5876-1C25-0C64-BBE185449EE7}"/>
              </a:ext>
            </a:extLst>
          </p:cNvPr>
          <p:cNvSpPr/>
          <p:nvPr/>
        </p:nvSpPr>
        <p:spPr>
          <a:xfrm>
            <a:off x="89129" y="5858542"/>
            <a:ext cx="1715480" cy="356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BB9D678-9701-FC58-0D09-950ABF2548D1}"/>
                  </a:ext>
                </a:extLst>
              </p:cNvPr>
              <p:cNvSpPr txBox="1"/>
              <p:nvPr/>
            </p:nvSpPr>
            <p:spPr>
              <a:xfrm>
                <a:off x="1566542" y="5978452"/>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3.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𝑏</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5" name="TextBox 4">
                <a:extLst>
                  <a:ext uri="{FF2B5EF4-FFF2-40B4-BE49-F238E27FC236}">
                    <a16:creationId xmlns:a16="http://schemas.microsoft.com/office/drawing/2014/main" id="{1BB9D678-9701-FC58-0D09-950ABF2548D1}"/>
                  </a:ext>
                </a:extLst>
              </p:cNvPr>
              <p:cNvSpPr txBox="1">
                <a:spLocks noRot="1" noChangeAspect="1" noMove="1" noResize="1" noEditPoints="1" noAdjustHandles="1" noChangeArrowheads="1" noChangeShapeType="1" noTextEdit="1"/>
              </p:cNvSpPr>
              <p:nvPr/>
            </p:nvSpPr>
            <p:spPr>
              <a:xfrm>
                <a:off x="1566542" y="5978452"/>
                <a:ext cx="3646054" cy="276999"/>
              </a:xfrm>
              <a:prstGeom prst="rect">
                <a:avLst/>
              </a:prstGeom>
              <a:blipFill>
                <a:blip r:embed="rId4"/>
                <a:stretch>
                  <a:fillRect t="-2222" b="-17778"/>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7217D695-79CB-D365-DE2B-6A65D576E374}"/>
              </a:ext>
            </a:extLst>
          </p:cNvPr>
          <p:cNvSpPr/>
          <p:nvPr/>
        </p:nvSpPr>
        <p:spPr>
          <a:xfrm>
            <a:off x="72803" y="407831"/>
            <a:ext cx="6679742" cy="16158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200" b="1" u="sng" noProof="0" dirty="0">
                <a:solidFill>
                  <a:schemeClr val="tx1"/>
                </a:solidFill>
              </a:rPr>
              <a:t>Introduction </a:t>
            </a:r>
            <a:endParaRPr lang="en-GB" sz="1200" noProof="0" dirty="0">
              <a:solidFill>
                <a:schemeClr val="tx1"/>
              </a:solidFill>
            </a:endParaRPr>
          </a:p>
          <a:p>
            <a:pPr marL="228600" indent="-228600">
              <a:buFont typeface="+mj-lt"/>
              <a:buAutoNum type="arabicPeriod"/>
            </a:pPr>
            <a:r>
              <a:rPr lang="en-GB" sz="1200" noProof="0" dirty="0">
                <a:solidFill>
                  <a:schemeClr val="tx1"/>
                </a:solidFill>
              </a:rPr>
              <a:t>Sometimes, when rearranging a formula, the variable you want to make the subject appears more</a:t>
            </a:r>
          </a:p>
          <a:p>
            <a:pPr marL="228600" indent="-228600">
              <a:buFont typeface="+mj-lt"/>
              <a:buAutoNum type="arabicPeriod"/>
            </a:pPr>
            <a:r>
              <a:rPr lang="en-GB" sz="1200" noProof="0" dirty="0">
                <a:solidFill>
                  <a:schemeClr val="tx1"/>
                </a:solidFill>
              </a:rPr>
              <a:t>than once. In this case, you can’t isolate it right away—you first need to collect all the terms</a:t>
            </a:r>
          </a:p>
          <a:p>
            <a:pPr marL="228600" indent="-228600">
              <a:buFont typeface="+mj-lt"/>
              <a:buAutoNum type="arabicPeriod"/>
            </a:pPr>
            <a:r>
              <a:rPr lang="en-GB" sz="1200" noProof="0" dirty="0">
                <a:solidFill>
                  <a:schemeClr val="tx1"/>
                </a:solidFill>
              </a:rPr>
              <a:t>containing that variable on one side of the formula. Then, you factorise by taking the variable out,</a:t>
            </a:r>
          </a:p>
          <a:p>
            <a:pPr marL="228600" indent="-228600">
              <a:buFont typeface="+mj-lt"/>
              <a:buAutoNum type="arabicPeriod"/>
            </a:pPr>
            <a:r>
              <a:rPr lang="en-GB" sz="1200" noProof="0" dirty="0">
                <a:solidFill>
                  <a:schemeClr val="tx1"/>
                </a:solidFill>
              </a:rPr>
              <a:t>which means writing it once, multiplied by a bracket. This makes it possible to divide and fully isolate</a:t>
            </a:r>
          </a:p>
          <a:p>
            <a:pPr marL="228600" indent="-228600">
              <a:buFont typeface="+mj-lt"/>
              <a:buAutoNum type="arabicPeriod"/>
            </a:pPr>
            <a:r>
              <a:rPr lang="en-GB" sz="1200" noProof="0" dirty="0">
                <a:solidFill>
                  <a:schemeClr val="tx1"/>
                </a:solidFill>
              </a:rPr>
              <a:t>the subject. It’s an extra step, but it follows the same logic: work step by step to get the subject by</a:t>
            </a:r>
          </a:p>
          <a:p>
            <a:pPr marL="228600" indent="-228600">
              <a:buFont typeface="+mj-lt"/>
              <a:buAutoNum type="arabicPeriod"/>
            </a:pPr>
            <a:r>
              <a:rPr lang="en-GB" sz="1200" noProof="0" dirty="0">
                <a:solidFill>
                  <a:schemeClr val="tx1"/>
                </a:solidFill>
              </a:rPr>
              <a:t>itself. In this section you will practice a series of increasingly difficult question types that involve</a:t>
            </a:r>
          </a:p>
          <a:p>
            <a:pPr marL="228600" indent="-228600">
              <a:buFont typeface="+mj-lt"/>
              <a:buAutoNum type="arabicPeriod"/>
            </a:pPr>
            <a:r>
              <a:rPr lang="en-GB" sz="1200" noProof="0" dirty="0">
                <a:solidFill>
                  <a:schemeClr val="tx1"/>
                </a:solidFill>
              </a:rPr>
              <a:t>factorising, while incorporating all of the previous rearranging knowledge you have acquired.</a:t>
            </a:r>
          </a:p>
        </p:txBody>
      </p:sp>
    </p:spTree>
    <p:extLst>
      <p:ext uri="{BB962C8B-B14F-4D97-AF65-F5344CB8AC3E}">
        <p14:creationId xmlns:p14="http://schemas.microsoft.com/office/powerpoint/2010/main" val="3400159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D367CB-794A-DAA1-0E67-04A675EFAE3E}"/>
              </a:ext>
            </a:extLst>
          </p:cNvPr>
          <p:cNvSpPr>
            <a:spLocks noGrp="1"/>
          </p:cNvSpPr>
          <p:nvPr>
            <p:ph type="sldNum" sz="quarter" idx="12"/>
          </p:nvPr>
        </p:nvSpPr>
        <p:spPr>
          <a:xfrm>
            <a:off x="5253990" y="9383182"/>
            <a:ext cx="1543050" cy="527403"/>
          </a:xfrm>
        </p:spPr>
        <p:txBody>
          <a:bodyPr/>
          <a:lstStyle/>
          <a:p>
            <a:fld id="{086C3A38-D272-42AA-9C88-F1FBEAE20D2C}" type="slidenum">
              <a:rPr lang="en-GB" noProof="0" smtClean="0"/>
              <a:t>13</a:t>
            </a:fld>
            <a:endParaRPr lang="en-GB" noProof="0" dirty="0"/>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ADA8B71-A07C-C5C9-4C35-7244B033FE48}"/>
                  </a:ext>
                </a:extLst>
              </p:cNvPr>
              <p:cNvGraphicFramePr>
                <a:graphicFrameLocks noGrp="1"/>
              </p:cNvGraphicFramePr>
              <p:nvPr>
                <p:extLst>
                  <p:ext uri="{D42A27DB-BD31-4B8C-83A1-F6EECF244321}">
                    <p14:modId xmlns:p14="http://schemas.microsoft.com/office/powerpoint/2010/main" val="66564880"/>
                  </p:ext>
                </p:extLst>
              </p:nvPr>
            </p:nvGraphicFramePr>
            <p:xfrm>
              <a:off x="88044" y="5776853"/>
              <a:ext cx="6681912" cy="374904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535141662"/>
                        </a:ext>
                      </a:extLst>
                    </a:gridCol>
                    <a:gridCol w="1670478">
                      <a:extLst>
                        <a:ext uri="{9D8B030D-6E8A-4147-A177-3AD203B41FA5}">
                          <a16:colId xmlns:a16="http://schemas.microsoft.com/office/drawing/2014/main" val="1060476510"/>
                        </a:ext>
                      </a:extLst>
                    </a:gridCol>
                    <a:gridCol w="1670478">
                      <a:extLst>
                        <a:ext uri="{9D8B030D-6E8A-4147-A177-3AD203B41FA5}">
                          <a16:colId xmlns:a16="http://schemas.microsoft.com/office/drawing/2014/main" val="2030626714"/>
                        </a:ext>
                      </a:extLst>
                    </a:gridCol>
                    <a:gridCol w="1670478">
                      <a:extLst>
                        <a:ext uri="{9D8B030D-6E8A-4147-A177-3AD203B41FA5}">
                          <a16:colId xmlns:a16="http://schemas.microsoft.com/office/drawing/2014/main" val="1072173642"/>
                        </a:ext>
                      </a:extLst>
                    </a:gridCol>
                  </a:tblGrid>
                  <a:tr h="2412000">
                    <a:tc>
                      <a:txBody>
                        <a:bodyPr/>
                        <a:lstStyle/>
                        <a:p>
                          <a:pPr marL="228600" indent="-228600">
                            <a:buAutoNum type="alphaLcParenR"/>
                          </a:pP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oMath>
                          </a14:m>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a:t>
                          </a:r>
                          <a14:m>
                            <m:oMath xmlns:m="http://schemas.openxmlformats.org/officeDocument/2006/math">
                              <m: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𝑎𝑚</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a:t>
                          </a:r>
                          <a14:m>
                            <m:oMath xmlns:m="http://schemas.openxmlformats.org/officeDocument/2006/math">
                              <m: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𝑎𝑚</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d)</a:t>
                          </a:r>
                          <a14:m>
                            <m:oMath xmlns:m="http://schemas.openxmlformats.org/officeDocument/2006/math">
                              <m: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𝑎𝑚</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8309160"/>
                      </a:ext>
                    </a:extLst>
                  </a:tr>
                </a:tbl>
              </a:graphicData>
            </a:graphic>
          </p:graphicFrame>
        </mc:Choice>
        <mc:Fallback xmlns="">
          <p:graphicFrame>
            <p:nvGraphicFramePr>
              <p:cNvPr id="3" name="Table 2">
                <a:extLst>
                  <a:ext uri="{FF2B5EF4-FFF2-40B4-BE49-F238E27FC236}">
                    <a16:creationId xmlns:a16="http://schemas.microsoft.com/office/drawing/2014/main" id="{7ADA8B71-A07C-C5C9-4C35-7244B033FE48}"/>
                  </a:ext>
                </a:extLst>
              </p:cNvPr>
              <p:cNvGraphicFramePr>
                <a:graphicFrameLocks noGrp="1"/>
              </p:cNvGraphicFramePr>
              <p:nvPr>
                <p:extLst>
                  <p:ext uri="{D42A27DB-BD31-4B8C-83A1-F6EECF244321}">
                    <p14:modId xmlns:p14="http://schemas.microsoft.com/office/powerpoint/2010/main" val="66564880"/>
                  </p:ext>
                </p:extLst>
              </p:nvPr>
            </p:nvGraphicFramePr>
            <p:xfrm>
              <a:off x="88044" y="5776853"/>
              <a:ext cx="6681912" cy="374904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535141662"/>
                        </a:ext>
                      </a:extLst>
                    </a:gridCol>
                    <a:gridCol w="1670478">
                      <a:extLst>
                        <a:ext uri="{9D8B030D-6E8A-4147-A177-3AD203B41FA5}">
                          <a16:colId xmlns:a16="http://schemas.microsoft.com/office/drawing/2014/main" val="1060476510"/>
                        </a:ext>
                      </a:extLst>
                    </a:gridCol>
                    <a:gridCol w="1670478">
                      <a:extLst>
                        <a:ext uri="{9D8B030D-6E8A-4147-A177-3AD203B41FA5}">
                          <a16:colId xmlns:a16="http://schemas.microsoft.com/office/drawing/2014/main" val="2030626714"/>
                        </a:ext>
                      </a:extLst>
                    </a:gridCol>
                    <a:gridCol w="1670478">
                      <a:extLst>
                        <a:ext uri="{9D8B030D-6E8A-4147-A177-3AD203B41FA5}">
                          <a16:colId xmlns:a16="http://schemas.microsoft.com/office/drawing/2014/main" val="1072173642"/>
                        </a:ext>
                      </a:extLst>
                    </a:gridCol>
                  </a:tblGrid>
                  <a:tr h="37490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5" t="-162" r="-301095" b="-32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162" r="-200000" b="-32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730" t="-162" r="-100730" b="-32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730" t="-162" r="-730" b="-325"/>
                          </a:stretch>
                        </a:blipFill>
                      </a:tcPr>
                    </a:tc>
                    <a:extLst>
                      <a:ext uri="{0D108BD9-81ED-4DB2-BD59-A6C34878D82A}">
                        <a16:rowId xmlns:a16="http://schemas.microsoft.com/office/drawing/2014/main" val="1988309160"/>
                      </a:ext>
                    </a:extLst>
                  </a:tr>
                </a:tbl>
              </a:graphicData>
            </a:graphic>
          </p:graphicFrame>
        </mc:Fallback>
      </mc:AlternateContent>
      <p:sp>
        <p:nvSpPr>
          <p:cNvPr id="4" name="Rectangle 3">
            <a:extLst>
              <a:ext uri="{FF2B5EF4-FFF2-40B4-BE49-F238E27FC236}">
                <a16:creationId xmlns:a16="http://schemas.microsoft.com/office/drawing/2014/main" id="{C876FE40-28A8-B926-7393-3EE5AA2D6EF7}"/>
              </a:ext>
            </a:extLst>
          </p:cNvPr>
          <p:cNvSpPr/>
          <p:nvPr/>
        </p:nvSpPr>
        <p:spPr>
          <a:xfrm>
            <a:off x="88044" y="5329299"/>
            <a:ext cx="1715480" cy="356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CBA7769-5CD1-93CC-61E8-9D8F83B31E68}"/>
                  </a:ext>
                </a:extLst>
              </p:cNvPr>
              <p:cNvSpPr txBox="1"/>
              <p:nvPr/>
            </p:nvSpPr>
            <p:spPr>
              <a:xfrm>
                <a:off x="1565457" y="5449209"/>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4.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the subject of the following:</a:t>
                </a:r>
              </a:p>
            </p:txBody>
          </p:sp>
        </mc:Choice>
        <mc:Fallback xmlns="">
          <p:sp>
            <p:nvSpPr>
              <p:cNvPr id="5" name="TextBox 4">
                <a:extLst>
                  <a:ext uri="{FF2B5EF4-FFF2-40B4-BE49-F238E27FC236}">
                    <a16:creationId xmlns:a16="http://schemas.microsoft.com/office/drawing/2014/main" id="{6CBA7769-5CD1-93CC-61E8-9D8F83B31E68}"/>
                  </a:ext>
                </a:extLst>
              </p:cNvPr>
              <p:cNvSpPr txBox="1">
                <a:spLocks noRot="1" noChangeAspect="1" noMove="1" noResize="1" noEditPoints="1" noAdjustHandles="1" noChangeArrowheads="1" noChangeShapeType="1" noTextEdit="1"/>
              </p:cNvSpPr>
              <p:nvPr/>
            </p:nvSpPr>
            <p:spPr>
              <a:xfrm>
                <a:off x="1565457" y="5449209"/>
                <a:ext cx="3646054" cy="276999"/>
              </a:xfrm>
              <a:prstGeom prst="rect">
                <a:avLst/>
              </a:prstGeom>
              <a:blipFill>
                <a:blip r:embed="rId3"/>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F4C2BCC7-7C8B-329F-8F85-FF3415A00352}"/>
                  </a:ext>
                </a:extLst>
              </p:cNvPr>
              <p:cNvGraphicFramePr>
                <a:graphicFrameLocks noGrp="1"/>
              </p:cNvGraphicFramePr>
              <p:nvPr>
                <p:extLst>
                  <p:ext uri="{D42A27DB-BD31-4B8C-83A1-F6EECF244321}">
                    <p14:modId xmlns:p14="http://schemas.microsoft.com/office/powerpoint/2010/main" val="3863973326"/>
                  </p:ext>
                </p:extLst>
              </p:nvPr>
            </p:nvGraphicFramePr>
            <p:xfrm>
              <a:off x="115128" y="94218"/>
              <a:ext cx="6681913" cy="521208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0">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10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11 -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12 -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302332">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 </m:t>
                              </m:r>
                            </m:oMath>
                          </a14:m>
                          <a:r>
                            <a:rPr lang="en-GB" sz="1200" b="0" noProof="0" dirty="0">
                              <a:solidFill>
                                <a:schemeClr val="tx1"/>
                              </a:solidFill>
                            </a:rPr>
                            <a:t>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𝑎</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𝑎</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412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noProof="0" dirty="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cs typeface="Calibri" panose="020F0502020204030204" pitchFamily="34" charset="0"/>
                            </a:rPr>
                            <a:t>2) Rearrange to get the subject on </a:t>
                          </a:r>
                          <a:r>
                            <a:rPr lang="en-GB" sz="1200" b="1" noProof="0" dirty="0">
                              <a:cs typeface="Calibri" panose="020F0502020204030204" pitchFamily="34" charset="0"/>
                            </a:rPr>
                            <a:t>one side.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3) Factorise</a:t>
                          </a:r>
                          <a:r>
                            <a:rPr lang="en-GB" sz="1200" baseline="0" noProof="0" dirty="0">
                              <a:solidFill>
                                <a:schemeClr val="tx1"/>
                              </a:solidFill>
                            </a:rPr>
                            <a:t> the subject. </a:t>
                          </a:r>
                          <a:endParaRPr lang="en-GB" sz="1200" noProof="0" dirty="0">
                            <a:solidFill>
                              <a:schemeClr val="tx1"/>
                            </a:solidFill>
                          </a:endParaRP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4) Divide both sides of the equation. </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=5+</m:t>
                                </m:r>
                                <m:r>
                                  <a:rPr lang="en-GB" sz="1200" b="0" i="1" noProof="0" smtClean="0">
                                    <a:solidFill>
                                      <a:schemeClr val="tx1"/>
                                    </a:solidFill>
                                    <a:latin typeface="Cambria Math" panose="02040503050406030204" pitchFamily="18" charset="0"/>
                                  </a:rPr>
                                  <m:t>𝑎𝑚</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𝑎𝑏</m:t>
                                </m:r>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=7</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𝑎𝑘</m:t>
                                </m:r>
                              </m:oMath>
                            </m:oMathPara>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=9</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12" name="Table 11">
                <a:extLst>
                  <a:ext uri="{FF2B5EF4-FFF2-40B4-BE49-F238E27FC236}">
                    <a16:creationId xmlns:a16="http://schemas.microsoft.com/office/drawing/2014/main" id="{F4C2BCC7-7C8B-329F-8F85-FF3415A00352}"/>
                  </a:ext>
                </a:extLst>
              </p:cNvPr>
              <p:cNvGraphicFramePr>
                <a:graphicFrameLocks noGrp="1"/>
              </p:cNvGraphicFramePr>
              <p:nvPr>
                <p:extLst>
                  <p:ext uri="{D42A27DB-BD31-4B8C-83A1-F6EECF244321}">
                    <p14:modId xmlns:p14="http://schemas.microsoft.com/office/powerpoint/2010/main" val="3863973326"/>
                  </p:ext>
                </p:extLst>
              </p:nvPr>
            </p:nvGraphicFramePr>
            <p:xfrm>
              <a:off x="115128" y="94218"/>
              <a:ext cx="6681913" cy="521208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274320">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10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11 -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12 -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457200">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6713" t="-60000" r="-198252" b="-984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8693" t="-60000" r="-100353" b="-984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9716" t="-60000" r="-709" b="-984000"/>
                          </a:stretch>
                        </a:blipFill>
                      </a:tcPr>
                    </a:tc>
                    <a:extLst>
                      <a:ext uri="{0D108BD9-81ED-4DB2-BD59-A6C34878D82A}">
                        <a16:rowId xmlns:a16="http://schemas.microsoft.com/office/drawing/2014/main" val="2357201933"/>
                      </a:ext>
                    </a:extLst>
                  </a:tr>
                  <a:tr h="448056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1) </a:t>
                          </a:r>
                          <a:r>
                            <a:rPr lang="en-GB" sz="1200" noProof="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cs typeface="Calibri" panose="020F0502020204030204" pitchFamily="34" charset="0"/>
                            </a:rPr>
                            <a:t>2) Rearrange to get the subject on </a:t>
                          </a:r>
                          <a:r>
                            <a:rPr lang="en-GB" sz="1200" b="1" noProof="0">
                              <a:cs typeface="Calibri" panose="020F0502020204030204" pitchFamily="34" charset="0"/>
                            </a:rPr>
                            <a:t>one side.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3) Factorise</a:t>
                          </a:r>
                          <a:r>
                            <a:rPr lang="en-GB" sz="1200" baseline="0" noProof="0">
                              <a:solidFill>
                                <a:schemeClr val="tx1"/>
                              </a:solidFill>
                            </a:rPr>
                            <a:t> the subject. </a:t>
                          </a:r>
                          <a:endParaRPr lang="en-GB" sz="1200" noProof="0">
                            <a:solidFill>
                              <a:schemeClr val="tx1"/>
                            </a:solidFill>
                          </a:endParaRPr>
                        </a:p>
                        <a:p>
                          <a:pPr marL="0" indent="0">
                            <a:buNone/>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4) Divide both sides of the equation. </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6713" t="-16304" r="-198252" b="-27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8693" t="-16304" r="-100353" b="-27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9716" t="-16304" r="-709" b="-272"/>
                          </a:stretch>
                        </a:blipFill>
                      </a:tcPr>
                    </a:tc>
                    <a:extLst>
                      <a:ext uri="{0D108BD9-81ED-4DB2-BD59-A6C34878D82A}">
                        <a16:rowId xmlns:a16="http://schemas.microsoft.com/office/drawing/2014/main" val="3293625240"/>
                      </a:ext>
                    </a:extLst>
                  </a:tr>
                </a:tbl>
              </a:graphicData>
            </a:graphic>
          </p:graphicFrame>
        </mc:Fallback>
      </mc:AlternateContent>
    </p:spTree>
    <p:extLst>
      <p:ext uri="{BB962C8B-B14F-4D97-AF65-F5344CB8AC3E}">
        <p14:creationId xmlns:p14="http://schemas.microsoft.com/office/powerpoint/2010/main" val="2664751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D66FB2-1AFC-A9F5-381B-31F2BF01421A}"/>
              </a:ext>
            </a:extLst>
          </p:cNvPr>
          <p:cNvSpPr>
            <a:spLocks noGrp="1"/>
          </p:cNvSpPr>
          <p:nvPr>
            <p:ph type="sldNum" sz="quarter" idx="12"/>
          </p:nvPr>
        </p:nvSpPr>
        <p:spPr>
          <a:xfrm>
            <a:off x="5299710" y="9424317"/>
            <a:ext cx="1543050" cy="527403"/>
          </a:xfrm>
        </p:spPr>
        <p:txBody>
          <a:bodyPr/>
          <a:lstStyle/>
          <a:p>
            <a:fld id="{086C3A38-D272-42AA-9C88-F1FBEAE20D2C}" type="slidenum">
              <a:rPr lang="en-GB" noProof="0" smtClean="0"/>
              <a:t>14</a:t>
            </a:fld>
            <a:endParaRPr lang="en-GB" noProof="0" dirty="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745EC0F-EDE8-8330-DD82-2EA60BBC9E0A}"/>
                  </a:ext>
                </a:extLst>
              </p:cNvPr>
              <p:cNvGraphicFramePr>
                <a:graphicFrameLocks noGrp="1"/>
              </p:cNvGraphicFramePr>
              <p:nvPr>
                <p:extLst>
                  <p:ext uri="{D42A27DB-BD31-4B8C-83A1-F6EECF244321}">
                    <p14:modId xmlns:p14="http://schemas.microsoft.com/office/powerpoint/2010/main" val="780260710"/>
                  </p:ext>
                </p:extLst>
              </p:nvPr>
            </p:nvGraphicFramePr>
            <p:xfrm>
              <a:off x="88043" y="0"/>
              <a:ext cx="6681914" cy="5760720"/>
            </p:xfrm>
            <a:graphic>
              <a:graphicData uri="http://schemas.openxmlformats.org/drawingml/2006/table">
                <a:tbl>
                  <a:tblPr firstRow="1" bandRow="1">
                    <a:tableStyleId>{5C22544A-7EE6-4342-B048-85BDC9FD1C3A}</a:tableStyleId>
                  </a:tblPr>
                  <a:tblGrid>
                    <a:gridCol w="1115060">
                      <a:extLst>
                        <a:ext uri="{9D8B030D-6E8A-4147-A177-3AD203B41FA5}">
                          <a16:colId xmlns:a16="http://schemas.microsoft.com/office/drawing/2014/main" val="1568142362"/>
                        </a:ext>
                      </a:extLst>
                    </a:gridCol>
                    <a:gridCol w="1855618">
                      <a:extLst>
                        <a:ext uri="{9D8B030D-6E8A-4147-A177-3AD203B41FA5}">
                          <a16:colId xmlns:a16="http://schemas.microsoft.com/office/drawing/2014/main" val="3551711160"/>
                        </a:ext>
                      </a:extLst>
                    </a:gridCol>
                    <a:gridCol w="1855618">
                      <a:extLst>
                        <a:ext uri="{9D8B030D-6E8A-4147-A177-3AD203B41FA5}">
                          <a16:colId xmlns:a16="http://schemas.microsoft.com/office/drawing/2014/main" val="1712497518"/>
                        </a:ext>
                      </a:extLst>
                    </a:gridCol>
                    <a:gridCol w="1855618">
                      <a:extLst>
                        <a:ext uri="{9D8B030D-6E8A-4147-A177-3AD203B41FA5}">
                          <a16:colId xmlns:a16="http://schemas.microsoft.com/office/drawing/2014/main" val="886122921"/>
                        </a:ext>
                      </a:extLst>
                    </a:gridCol>
                  </a:tblGrid>
                  <a:tr h="222379">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13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14 -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15 -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370631">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 </m:t>
                              </m:r>
                            </m:oMath>
                          </a14:m>
                          <a:r>
                            <a:rPr lang="en-GB" sz="1200" b="0" noProof="0" dirty="0">
                              <a:solidFill>
                                <a:schemeClr val="tx1"/>
                              </a:solidFill>
                            </a:rPr>
                            <a:t>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𝑎</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𝑎</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318743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noProof="0" dirty="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cs typeface="Calibri" panose="020F0502020204030204" pitchFamily="34" charset="0"/>
                            </a:rPr>
                            <a:t>2) Expand and simplify the brackets.</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cs typeface="Calibri" panose="020F0502020204030204" pitchFamily="34" charset="0"/>
                            </a:rPr>
                            <a:t>3) Rearrange to get the subject on </a:t>
                          </a:r>
                          <a:r>
                            <a:rPr lang="en-GB" sz="1200" b="1" noProof="0" dirty="0">
                              <a:cs typeface="Calibri" panose="020F0502020204030204" pitchFamily="34" charset="0"/>
                            </a:rPr>
                            <a:t>one side.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4) Factorise</a:t>
                          </a:r>
                          <a:r>
                            <a:rPr lang="en-GB" sz="1200" baseline="0" noProof="0" dirty="0">
                              <a:solidFill>
                                <a:schemeClr val="tx1"/>
                              </a:solidFill>
                            </a:rPr>
                            <a:t> the subject. </a:t>
                          </a:r>
                          <a:endParaRPr lang="en-GB" sz="1200" noProof="0" dirty="0">
                            <a:solidFill>
                              <a:schemeClr val="tx1"/>
                            </a:solidFill>
                          </a:endParaRP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5) Divide both sides of the equation.</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𝑚</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3</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𝑚</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6" name="Table 5">
                <a:extLst>
                  <a:ext uri="{FF2B5EF4-FFF2-40B4-BE49-F238E27FC236}">
                    <a16:creationId xmlns:a16="http://schemas.microsoft.com/office/drawing/2014/main" id="{E745EC0F-EDE8-8330-DD82-2EA60BBC9E0A}"/>
                  </a:ext>
                </a:extLst>
              </p:cNvPr>
              <p:cNvGraphicFramePr>
                <a:graphicFrameLocks noGrp="1"/>
              </p:cNvGraphicFramePr>
              <p:nvPr>
                <p:extLst>
                  <p:ext uri="{D42A27DB-BD31-4B8C-83A1-F6EECF244321}">
                    <p14:modId xmlns:p14="http://schemas.microsoft.com/office/powerpoint/2010/main" val="780260710"/>
                  </p:ext>
                </p:extLst>
              </p:nvPr>
            </p:nvGraphicFramePr>
            <p:xfrm>
              <a:off x="88043" y="0"/>
              <a:ext cx="6681914" cy="5760720"/>
            </p:xfrm>
            <a:graphic>
              <a:graphicData uri="http://schemas.openxmlformats.org/drawingml/2006/table">
                <a:tbl>
                  <a:tblPr firstRow="1" bandRow="1">
                    <a:tableStyleId>{5C22544A-7EE6-4342-B048-85BDC9FD1C3A}</a:tableStyleId>
                  </a:tblPr>
                  <a:tblGrid>
                    <a:gridCol w="1115060">
                      <a:extLst>
                        <a:ext uri="{9D8B030D-6E8A-4147-A177-3AD203B41FA5}">
                          <a16:colId xmlns:a16="http://schemas.microsoft.com/office/drawing/2014/main" val="1568142362"/>
                        </a:ext>
                      </a:extLst>
                    </a:gridCol>
                    <a:gridCol w="1855618">
                      <a:extLst>
                        <a:ext uri="{9D8B030D-6E8A-4147-A177-3AD203B41FA5}">
                          <a16:colId xmlns:a16="http://schemas.microsoft.com/office/drawing/2014/main" val="3551711160"/>
                        </a:ext>
                      </a:extLst>
                    </a:gridCol>
                    <a:gridCol w="1855618">
                      <a:extLst>
                        <a:ext uri="{9D8B030D-6E8A-4147-A177-3AD203B41FA5}">
                          <a16:colId xmlns:a16="http://schemas.microsoft.com/office/drawing/2014/main" val="1712497518"/>
                        </a:ext>
                      </a:extLst>
                    </a:gridCol>
                    <a:gridCol w="1855618">
                      <a:extLst>
                        <a:ext uri="{9D8B030D-6E8A-4147-A177-3AD203B41FA5}">
                          <a16:colId xmlns:a16="http://schemas.microsoft.com/office/drawing/2014/main" val="886122921"/>
                        </a:ext>
                      </a:extLst>
                    </a:gridCol>
                  </a:tblGrid>
                  <a:tr h="274320">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13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14 -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15 -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457200">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0328" t="-60000" r="-200328" b="-1104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0855" t="-60000" r="-100987" b="-1104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0000" t="-60000" r="-656" b="-1104000"/>
                          </a:stretch>
                        </a:blipFill>
                      </a:tcPr>
                    </a:tc>
                    <a:extLst>
                      <a:ext uri="{0D108BD9-81ED-4DB2-BD59-A6C34878D82A}">
                        <a16:rowId xmlns:a16="http://schemas.microsoft.com/office/drawing/2014/main" val="2357201933"/>
                      </a:ext>
                    </a:extLst>
                  </a:tr>
                  <a:tr h="5029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1) </a:t>
                          </a:r>
                          <a:r>
                            <a:rPr lang="en-GB" sz="1200" noProof="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cs typeface="Calibri" panose="020F0502020204030204" pitchFamily="34" charset="0"/>
                            </a:rPr>
                            <a:t>2) Expand and simplify the brackets.</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cs typeface="Calibri" panose="020F0502020204030204" pitchFamily="34" charset="0"/>
                            </a:rPr>
                            <a:t>3) Rearrange to get the subject on </a:t>
                          </a:r>
                          <a:r>
                            <a:rPr lang="en-GB" sz="1200" b="1" noProof="0">
                              <a:cs typeface="Calibri" panose="020F0502020204030204" pitchFamily="34" charset="0"/>
                            </a:rPr>
                            <a:t>one side.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4) Factorise</a:t>
                          </a:r>
                          <a:r>
                            <a:rPr lang="en-GB" sz="1200" baseline="0" noProof="0">
                              <a:solidFill>
                                <a:schemeClr val="tx1"/>
                              </a:solidFill>
                            </a:rPr>
                            <a:t> the subject. </a:t>
                          </a:r>
                          <a:endParaRPr lang="en-GB" sz="1200" noProof="0">
                            <a:solidFill>
                              <a:schemeClr val="tx1"/>
                            </a:solidFill>
                          </a:endParaRPr>
                        </a:p>
                        <a:p>
                          <a:pPr marL="0" indent="0">
                            <a:buNone/>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5) Divide both sides of the equation.</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0328" t="-14545" r="-200328" b="-36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0855" t="-14545" r="-100987" b="-36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0000" t="-14545" r="-656" b="-364"/>
                          </a:stretch>
                        </a:blipFill>
                      </a:tcPr>
                    </a:tc>
                    <a:extLst>
                      <a:ext uri="{0D108BD9-81ED-4DB2-BD59-A6C34878D82A}">
                        <a16:rowId xmlns:a16="http://schemas.microsoft.com/office/drawing/2014/main" val="329362524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3A5FAC56-4C9B-57A6-8FE7-32B284F87E46}"/>
                  </a:ext>
                </a:extLst>
              </p:cNvPr>
              <p:cNvGraphicFramePr>
                <a:graphicFrameLocks noGrp="1"/>
              </p:cNvGraphicFramePr>
              <p:nvPr>
                <p:extLst>
                  <p:ext uri="{D42A27DB-BD31-4B8C-83A1-F6EECF244321}">
                    <p14:modId xmlns:p14="http://schemas.microsoft.com/office/powerpoint/2010/main" val="3069348514"/>
                  </p:ext>
                </p:extLst>
              </p:nvPr>
            </p:nvGraphicFramePr>
            <p:xfrm>
              <a:off x="88044" y="6276753"/>
              <a:ext cx="6681915" cy="3411265"/>
            </p:xfrm>
            <a:graphic>
              <a:graphicData uri="http://schemas.openxmlformats.org/drawingml/2006/table">
                <a:tbl>
                  <a:tblPr firstRow="1" bandRow="1">
                    <a:tableStyleId>{5C22544A-7EE6-4342-B048-85BDC9FD1C3A}</a:tableStyleId>
                  </a:tblPr>
                  <a:tblGrid>
                    <a:gridCol w="2227305">
                      <a:extLst>
                        <a:ext uri="{9D8B030D-6E8A-4147-A177-3AD203B41FA5}">
                          <a16:colId xmlns:a16="http://schemas.microsoft.com/office/drawing/2014/main" val="2271296087"/>
                        </a:ext>
                      </a:extLst>
                    </a:gridCol>
                    <a:gridCol w="2227305">
                      <a:extLst>
                        <a:ext uri="{9D8B030D-6E8A-4147-A177-3AD203B41FA5}">
                          <a16:colId xmlns:a16="http://schemas.microsoft.com/office/drawing/2014/main" val="928498006"/>
                        </a:ext>
                      </a:extLst>
                    </a:gridCol>
                    <a:gridCol w="2227305">
                      <a:extLst>
                        <a:ext uri="{9D8B030D-6E8A-4147-A177-3AD203B41FA5}">
                          <a16:colId xmlns:a16="http://schemas.microsoft.com/office/drawing/2014/main" val="3609384367"/>
                        </a:ext>
                      </a:extLst>
                    </a:gridCol>
                  </a:tblGrid>
                  <a:tr h="3411265">
                    <a:tc>
                      <a:txBody>
                        <a:bodyPr/>
                        <a:lstStyle/>
                        <a:p>
                          <a:r>
                            <a:rPr lang="en-GB" sz="1200" b="0" noProof="0" dirty="0">
                              <a:solidFill>
                                <a:schemeClr val="tx1"/>
                              </a:solidFill>
                            </a:rPr>
                            <a:t>a)</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7</m:t>
                              </m:r>
                              <m:d>
                                <m:dPr>
                                  <m:ctrlP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d>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r>
                            <a:rPr kumimoji="0" lang="en-GB" sz="1200" b="0" i="0" u="none" strike="noStrike" kern="1200" cap="none" spc="0" normalizeH="0" baseline="0" noProof="0" dirty="0">
                              <a:ln>
                                <a:noFill/>
                              </a:ln>
                              <a:solidFill>
                                <a:prstClr val="black"/>
                              </a:solidFill>
                              <a:effectLst/>
                              <a:uLnTx/>
                              <a:uFillTx/>
                              <a:latin typeface="+mn-lt"/>
                              <a:ea typeface="+mn-ea"/>
                              <a:cs typeface="+mn-cs"/>
                            </a:rPr>
                            <a:t>5</a:t>
                          </a:r>
                          <a14:m>
                            <m:oMath xmlns:m="http://schemas.openxmlformats.org/officeDocument/2006/math">
                              <m:d>
                                <m:dPr>
                                  <m:ctrlP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d>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m:t>
                              </m:r>
                              <m:d>
                                <m:dPr>
                                  <m:ctrlP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d>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1162609"/>
                      </a:ext>
                    </a:extLst>
                  </a:tr>
                </a:tbl>
              </a:graphicData>
            </a:graphic>
          </p:graphicFrame>
        </mc:Choice>
        <mc:Fallback xmlns="">
          <p:graphicFrame>
            <p:nvGraphicFramePr>
              <p:cNvPr id="10" name="Table 9">
                <a:extLst>
                  <a:ext uri="{FF2B5EF4-FFF2-40B4-BE49-F238E27FC236}">
                    <a16:creationId xmlns:a16="http://schemas.microsoft.com/office/drawing/2014/main" id="{3A5FAC56-4C9B-57A6-8FE7-32B284F87E46}"/>
                  </a:ext>
                </a:extLst>
              </p:cNvPr>
              <p:cNvGraphicFramePr>
                <a:graphicFrameLocks noGrp="1"/>
              </p:cNvGraphicFramePr>
              <p:nvPr>
                <p:extLst>
                  <p:ext uri="{D42A27DB-BD31-4B8C-83A1-F6EECF244321}">
                    <p14:modId xmlns:p14="http://schemas.microsoft.com/office/powerpoint/2010/main" val="3069348514"/>
                  </p:ext>
                </p:extLst>
              </p:nvPr>
            </p:nvGraphicFramePr>
            <p:xfrm>
              <a:off x="88044" y="6276753"/>
              <a:ext cx="6681915" cy="3411265"/>
            </p:xfrm>
            <a:graphic>
              <a:graphicData uri="http://schemas.openxmlformats.org/drawingml/2006/table">
                <a:tbl>
                  <a:tblPr firstRow="1" bandRow="1">
                    <a:tableStyleId>{5C22544A-7EE6-4342-B048-85BDC9FD1C3A}</a:tableStyleId>
                  </a:tblPr>
                  <a:tblGrid>
                    <a:gridCol w="2227305">
                      <a:extLst>
                        <a:ext uri="{9D8B030D-6E8A-4147-A177-3AD203B41FA5}">
                          <a16:colId xmlns:a16="http://schemas.microsoft.com/office/drawing/2014/main" val="2271296087"/>
                        </a:ext>
                      </a:extLst>
                    </a:gridCol>
                    <a:gridCol w="2227305">
                      <a:extLst>
                        <a:ext uri="{9D8B030D-6E8A-4147-A177-3AD203B41FA5}">
                          <a16:colId xmlns:a16="http://schemas.microsoft.com/office/drawing/2014/main" val="928498006"/>
                        </a:ext>
                      </a:extLst>
                    </a:gridCol>
                    <a:gridCol w="2227305">
                      <a:extLst>
                        <a:ext uri="{9D8B030D-6E8A-4147-A177-3AD203B41FA5}">
                          <a16:colId xmlns:a16="http://schemas.microsoft.com/office/drawing/2014/main" val="3609384367"/>
                        </a:ext>
                      </a:extLst>
                    </a:gridCol>
                  </a:tblGrid>
                  <a:tr h="341126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73" t="-178" r="-200273" b="-3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548" t="-178" r="-100822" b="-3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0000" t="-178" r="-546" b="-357"/>
                          </a:stretch>
                        </a:blipFill>
                      </a:tcPr>
                    </a:tc>
                    <a:extLst>
                      <a:ext uri="{0D108BD9-81ED-4DB2-BD59-A6C34878D82A}">
                        <a16:rowId xmlns:a16="http://schemas.microsoft.com/office/drawing/2014/main" val="521162609"/>
                      </a:ext>
                    </a:extLst>
                  </a:tr>
                </a:tbl>
              </a:graphicData>
            </a:graphic>
          </p:graphicFrame>
        </mc:Fallback>
      </mc:AlternateContent>
      <p:sp>
        <p:nvSpPr>
          <p:cNvPr id="14" name="Rectangle 13">
            <a:extLst>
              <a:ext uri="{FF2B5EF4-FFF2-40B4-BE49-F238E27FC236}">
                <a16:creationId xmlns:a16="http://schemas.microsoft.com/office/drawing/2014/main" id="{AACE39D6-99ED-21D9-E7D4-E52882616DBB}"/>
              </a:ext>
            </a:extLst>
          </p:cNvPr>
          <p:cNvSpPr/>
          <p:nvPr/>
        </p:nvSpPr>
        <p:spPr>
          <a:xfrm>
            <a:off x="88043" y="5834851"/>
            <a:ext cx="1715480" cy="356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AA8C9CD-48A2-B4BB-06AF-A7E7E93E2C64}"/>
                  </a:ext>
                </a:extLst>
              </p:cNvPr>
              <p:cNvSpPr txBox="1"/>
              <p:nvPr/>
            </p:nvSpPr>
            <p:spPr>
              <a:xfrm>
                <a:off x="1565456" y="5954761"/>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6.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15" name="TextBox 14">
                <a:extLst>
                  <a:ext uri="{FF2B5EF4-FFF2-40B4-BE49-F238E27FC236}">
                    <a16:creationId xmlns:a16="http://schemas.microsoft.com/office/drawing/2014/main" id="{2AA8C9CD-48A2-B4BB-06AF-A7E7E93E2C64}"/>
                  </a:ext>
                </a:extLst>
              </p:cNvPr>
              <p:cNvSpPr txBox="1">
                <a:spLocks noRot="1" noChangeAspect="1" noMove="1" noResize="1" noEditPoints="1" noAdjustHandles="1" noChangeArrowheads="1" noChangeShapeType="1" noTextEdit="1"/>
              </p:cNvSpPr>
              <p:nvPr/>
            </p:nvSpPr>
            <p:spPr>
              <a:xfrm>
                <a:off x="1565456" y="5954761"/>
                <a:ext cx="3646054" cy="276999"/>
              </a:xfrm>
              <a:prstGeom prst="rect">
                <a:avLst/>
              </a:prstGeom>
              <a:blipFill>
                <a:blip r:embed="rId10"/>
                <a:stretch>
                  <a:fillRect t="-2222" b="-17778"/>
                </a:stretch>
              </a:blipFill>
            </p:spPr>
            <p:txBody>
              <a:bodyPr/>
              <a:lstStyle/>
              <a:p>
                <a:r>
                  <a:rPr lang="en-US">
                    <a:noFill/>
                  </a:rPr>
                  <a:t> </a:t>
                </a:r>
              </a:p>
            </p:txBody>
          </p:sp>
        </mc:Fallback>
      </mc:AlternateContent>
    </p:spTree>
    <p:extLst>
      <p:ext uri="{BB962C8B-B14F-4D97-AF65-F5344CB8AC3E}">
        <p14:creationId xmlns:p14="http://schemas.microsoft.com/office/powerpoint/2010/main" val="2752550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015305-3083-1457-26CB-2B014617E7DE}"/>
              </a:ext>
            </a:extLst>
          </p:cNvPr>
          <p:cNvSpPr>
            <a:spLocks noGrp="1"/>
          </p:cNvSpPr>
          <p:nvPr>
            <p:ph type="sldNum" sz="quarter" idx="12"/>
          </p:nvPr>
        </p:nvSpPr>
        <p:spPr>
          <a:xfrm>
            <a:off x="5299710" y="9467098"/>
            <a:ext cx="1543050" cy="527403"/>
          </a:xfrm>
        </p:spPr>
        <p:txBody>
          <a:bodyPr/>
          <a:lstStyle/>
          <a:p>
            <a:fld id="{086C3A38-D272-42AA-9C88-F1FBEAE20D2C}" type="slidenum">
              <a:rPr lang="en-GB" noProof="0" smtClean="0"/>
              <a:t>15</a:t>
            </a:fld>
            <a:endParaRPr lang="en-GB" noProof="0" dirty="0"/>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3E4673A6-5922-4791-866E-EC558881B3CE}"/>
                  </a:ext>
                </a:extLst>
              </p:cNvPr>
              <p:cNvGraphicFramePr>
                <a:graphicFrameLocks noGrp="1"/>
              </p:cNvGraphicFramePr>
              <p:nvPr>
                <p:extLst>
                  <p:ext uri="{D42A27DB-BD31-4B8C-83A1-F6EECF244321}">
                    <p14:modId xmlns:p14="http://schemas.microsoft.com/office/powerpoint/2010/main" val="878938659"/>
                  </p:ext>
                </p:extLst>
              </p:nvPr>
            </p:nvGraphicFramePr>
            <p:xfrm>
              <a:off x="72803" y="4809"/>
              <a:ext cx="6697152" cy="5029200"/>
            </p:xfrm>
            <a:graphic>
              <a:graphicData uri="http://schemas.openxmlformats.org/drawingml/2006/table">
                <a:tbl>
                  <a:tblPr firstRow="1" bandRow="1">
                    <a:tableStyleId>{5C22544A-7EE6-4342-B048-85BDC9FD1C3A}</a:tableStyleId>
                  </a:tblPr>
                  <a:tblGrid>
                    <a:gridCol w="1507455">
                      <a:extLst>
                        <a:ext uri="{9D8B030D-6E8A-4147-A177-3AD203B41FA5}">
                          <a16:colId xmlns:a16="http://schemas.microsoft.com/office/drawing/2014/main" val="1568142362"/>
                        </a:ext>
                      </a:extLst>
                    </a:gridCol>
                    <a:gridCol w="1745349">
                      <a:extLst>
                        <a:ext uri="{9D8B030D-6E8A-4147-A177-3AD203B41FA5}">
                          <a16:colId xmlns:a16="http://schemas.microsoft.com/office/drawing/2014/main" val="3551711160"/>
                        </a:ext>
                      </a:extLst>
                    </a:gridCol>
                    <a:gridCol w="1722174">
                      <a:extLst>
                        <a:ext uri="{9D8B030D-6E8A-4147-A177-3AD203B41FA5}">
                          <a16:colId xmlns:a16="http://schemas.microsoft.com/office/drawing/2014/main" val="1712497518"/>
                        </a:ext>
                      </a:extLst>
                    </a:gridCol>
                    <a:gridCol w="1722174">
                      <a:extLst>
                        <a:ext uri="{9D8B030D-6E8A-4147-A177-3AD203B41FA5}">
                          <a16:colId xmlns:a16="http://schemas.microsoft.com/office/drawing/2014/main" val="886122921"/>
                        </a:ext>
                      </a:extLst>
                    </a:gridCol>
                  </a:tblGrid>
                  <a:tr h="0">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16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17 -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18 -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302332">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m:t>
                              </m:r>
                            </m:oMath>
                          </a14:m>
                          <a:r>
                            <a:rPr lang="en-GB" sz="1200" b="0" noProof="0" dirty="0">
                              <a:solidFill>
                                <a:schemeClr val="tx1"/>
                              </a:solidFill>
                            </a:rPr>
                            <a:t>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4140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noProof="0" dirty="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br>
                            <a:rPr lang="en-GB" sz="1200" noProof="0" dirty="0">
                              <a:cs typeface="Calibri" panose="020F0502020204030204" pitchFamily="34" charset="0"/>
                            </a:rPr>
                          </a:br>
                          <a:r>
                            <a:rPr lang="en-GB" sz="1200" noProof="0" dirty="0">
                              <a:cs typeface="Calibri" panose="020F0502020204030204" pitchFamily="34" charset="0"/>
                            </a:rPr>
                            <a:t>2) Multiply both sides by the denominator.</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cs typeface="Calibri" panose="020F0502020204030204" pitchFamily="34" charset="0"/>
                            </a:rPr>
                            <a:t>3) Expand and simplify the brackets.</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cs typeface="Calibri" panose="020F0502020204030204" pitchFamily="34" charset="0"/>
                            </a:rPr>
                            <a:t>4) Rearrange to get the subject on </a:t>
                          </a:r>
                          <a:r>
                            <a:rPr lang="en-GB" sz="1200" b="1" noProof="0" dirty="0">
                              <a:cs typeface="Calibri" panose="020F0502020204030204" pitchFamily="34" charset="0"/>
                            </a:rPr>
                            <a:t>one side.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5) Factorise</a:t>
                          </a:r>
                          <a:r>
                            <a:rPr lang="en-GB" sz="1200" baseline="0" noProof="0" dirty="0">
                              <a:solidFill>
                                <a:schemeClr val="tx1"/>
                              </a:solidFill>
                            </a:rPr>
                            <a:t> the subject. </a:t>
                          </a:r>
                          <a:endParaRPr lang="en-GB" sz="1200" noProof="0" dirty="0">
                            <a:solidFill>
                              <a:schemeClr val="tx1"/>
                            </a:solidFill>
                          </a:endParaRP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6) Divide both sides of the equation. </a:t>
                          </a: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num>
                                  <m:den>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den>
                                </m:f>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num>
                                  <m:den>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m:t>
                                    </m:r>
                                  </m:den>
                                </m:f>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num>
                                  <m:den>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den>
                                </m:f>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3" name="Table 2">
                <a:extLst>
                  <a:ext uri="{FF2B5EF4-FFF2-40B4-BE49-F238E27FC236}">
                    <a16:creationId xmlns:a16="http://schemas.microsoft.com/office/drawing/2014/main" id="{3E4673A6-5922-4791-866E-EC558881B3CE}"/>
                  </a:ext>
                </a:extLst>
              </p:cNvPr>
              <p:cNvGraphicFramePr>
                <a:graphicFrameLocks noGrp="1"/>
              </p:cNvGraphicFramePr>
              <p:nvPr>
                <p:extLst>
                  <p:ext uri="{D42A27DB-BD31-4B8C-83A1-F6EECF244321}">
                    <p14:modId xmlns:p14="http://schemas.microsoft.com/office/powerpoint/2010/main" val="878938659"/>
                  </p:ext>
                </p:extLst>
              </p:nvPr>
            </p:nvGraphicFramePr>
            <p:xfrm>
              <a:off x="72803" y="4809"/>
              <a:ext cx="6697152" cy="5029200"/>
            </p:xfrm>
            <a:graphic>
              <a:graphicData uri="http://schemas.openxmlformats.org/drawingml/2006/table">
                <a:tbl>
                  <a:tblPr firstRow="1" bandRow="1">
                    <a:tableStyleId>{5C22544A-7EE6-4342-B048-85BDC9FD1C3A}</a:tableStyleId>
                  </a:tblPr>
                  <a:tblGrid>
                    <a:gridCol w="1507455">
                      <a:extLst>
                        <a:ext uri="{9D8B030D-6E8A-4147-A177-3AD203B41FA5}">
                          <a16:colId xmlns:a16="http://schemas.microsoft.com/office/drawing/2014/main" val="1568142362"/>
                        </a:ext>
                      </a:extLst>
                    </a:gridCol>
                    <a:gridCol w="1745349">
                      <a:extLst>
                        <a:ext uri="{9D8B030D-6E8A-4147-A177-3AD203B41FA5}">
                          <a16:colId xmlns:a16="http://schemas.microsoft.com/office/drawing/2014/main" val="3551711160"/>
                        </a:ext>
                      </a:extLst>
                    </a:gridCol>
                    <a:gridCol w="1722174">
                      <a:extLst>
                        <a:ext uri="{9D8B030D-6E8A-4147-A177-3AD203B41FA5}">
                          <a16:colId xmlns:a16="http://schemas.microsoft.com/office/drawing/2014/main" val="1712497518"/>
                        </a:ext>
                      </a:extLst>
                    </a:gridCol>
                    <a:gridCol w="1722174">
                      <a:extLst>
                        <a:ext uri="{9D8B030D-6E8A-4147-A177-3AD203B41FA5}">
                          <a16:colId xmlns:a16="http://schemas.microsoft.com/office/drawing/2014/main" val="886122921"/>
                        </a:ext>
                      </a:extLst>
                    </a:gridCol>
                  </a:tblGrid>
                  <a:tr h="274320">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16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17 -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18 -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457200">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063" t="-60000" r="-198601" b="-944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9046" t="-60000" r="-100707" b="-944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9046" t="-60000" r="-707" b="-944000"/>
                          </a:stretch>
                        </a:blipFill>
                      </a:tcPr>
                    </a:tc>
                    <a:extLst>
                      <a:ext uri="{0D108BD9-81ED-4DB2-BD59-A6C34878D82A}">
                        <a16:rowId xmlns:a16="http://schemas.microsoft.com/office/drawing/2014/main" val="2357201933"/>
                      </a:ext>
                    </a:extLst>
                  </a:tr>
                  <a:tr h="42976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1) </a:t>
                          </a:r>
                          <a:r>
                            <a:rPr lang="en-GB" sz="1200" noProof="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br>
                            <a:rPr lang="en-GB" sz="1200" noProof="0">
                              <a:cs typeface="Calibri" panose="020F0502020204030204" pitchFamily="34" charset="0"/>
                            </a:rPr>
                          </a:br>
                          <a:r>
                            <a:rPr lang="en-GB" sz="1200" noProof="0">
                              <a:cs typeface="Calibri" panose="020F0502020204030204" pitchFamily="34" charset="0"/>
                            </a:rPr>
                            <a:t>2) Multiply both sides by the denominator.</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cs typeface="Calibri" panose="020F0502020204030204" pitchFamily="34" charset="0"/>
                            </a:rPr>
                            <a:t>3) Expand and simplify the brackets.</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cs typeface="Calibri" panose="020F0502020204030204" pitchFamily="34" charset="0"/>
                            </a:rPr>
                            <a:t>4) Rearrange to get the subject on </a:t>
                          </a:r>
                          <a:r>
                            <a:rPr lang="en-GB" sz="1200" b="1" noProof="0">
                              <a:cs typeface="Calibri" panose="020F0502020204030204" pitchFamily="34" charset="0"/>
                            </a:rPr>
                            <a:t>one side.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5) Factorise</a:t>
                          </a:r>
                          <a:r>
                            <a:rPr lang="en-GB" sz="1200" baseline="0" noProof="0">
                              <a:solidFill>
                                <a:schemeClr val="tx1"/>
                              </a:solidFill>
                            </a:rPr>
                            <a:t> the subject. </a:t>
                          </a:r>
                          <a:endParaRPr lang="en-GB" sz="1200" noProof="0">
                            <a:solidFill>
                              <a:schemeClr val="tx1"/>
                            </a:solidFill>
                          </a:endParaRPr>
                        </a:p>
                        <a:p>
                          <a:pPr marL="0" indent="0">
                            <a:buNone/>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6) Divide both sides of the equation. </a:t>
                          </a: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063" t="-16997" r="-198601" b="-2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9046" t="-16997" r="-100707" b="-2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9046" t="-16997" r="-707" b="-283"/>
                          </a:stretch>
                        </a:blipFill>
                      </a:tcPr>
                    </a:tc>
                    <a:extLst>
                      <a:ext uri="{0D108BD9-81ED-4DB2-BD59-A6C34878D82A}">
                        <a16:rowId xmlns:a16="http://schemas.microsoft.com/office/drawing/2014/main" val="3293625240"/>
                      </a:ext>
                    </a:extLst>
                  </a:tr>
                </a:tbl>
              </a:graphicData>
            </a:graphic>
          </p:graphicFrame>
        </mc:Fallback>
      </mc:AlternateContent>
      <p:sp>
        <p:nvSpPr>
          <p:cNvPr id="4" name="Rectangle 3">
            <a:extLst>
              <a:ext uri="{FF2B5EF4-FFF2-40B4-BE49-F238E27FC236}">
                <a16:creationId xmlns:a16="http://schemas.microsoft.com/office/drawing/2014/main" id="{20935722-A04D-8A48-44E6-5ED95DA5F81C}"/>
              </a:ext>
            </a:extLst>
          </p:cNvPr>
          <p:cNvSpPr/>
          <p:nvPr/>
        </p:nvSpPr>
        <p:spPr>
          <a:xfrm>
            <a:off x="72803" y="5066760"/>
            <a:ext cx="1715480" cy="356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640AC88-A471-6221-B465-90AC58CC9A97}"/>
                  </a:ext>
                </a:extLst>
              </p:cNvPr>
              <p:cNvSpPr txBox="1"/>
              <p:nvPr/>
            </p:nvSpPr>
            <p:spPr>
              <a:xfrm>
                <a:off x="1519736" y="5186670"/>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7.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the subject of the following:</a:t>
                </a:r>
              </a:p>
            </p:txBody>
          </p:sp>
        </mc:Choice>
        <mc:Fallback xmlns="">
          <p:sp>
            <p:nvSpPr>
              <p:cNvPr id="5" name="TextBox 4">
                <a:extLst>
                  <a:ext uri="{FF2B5EF4-FFF2-40B4-BE49-F238E27FC236}">
                    <a16:creationId xmlns:a16="http://schemas.microsoft.com/office/drawing/2014/main" id="{D640AC88-A471-6221-B465-90AC58CC9A97}"/>
                  </a:ext>
                </a:extLst>
              </p:cNvPr>
              <p:cNvSpPr txBox="1">
                <a:spLocks noRot="1" noChangeAspect="1" noMove="1" noResize="1" noEditPoints="1" noAdjustHandles="1" noChangeArrowheads="1" noChangeShapeType="1" noTextEdit="1"/>
              </p:cNvSpPr>
              <p:nvPr/>
            </p:nvSpPr>
            <p:spPr>
              <a:xfrm>
                <a:off x="1519736" y="5186670"/>
                <a:ext cx="3646054" cy="276999"/>
              </a:xfrm>
              <a:prstGeom prst="rect">
                <a:avLst/>
              </a:prstGeom>
              <a:blipFill>
                <a:blip r:embed="rId3"/>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F2E16823-3B36-59B2-E36B-AA36AC0E5019}"/>
                  </a:ext>
                </a:extLst>
              </p:cNvPr>
              <p:cNvGraphicFramePr>
                <a:graphicFrameLocks noGrp="1"/>
              </p:cNvGraphicFramePr>
              <p:nvPr>
                <p:extLst>
                  <p:ext uri="{D42A27DB-BD31-4B8C-83A1-F6EECF244321}">
                    <p14:modId xmlns:p14="http://schemas.microsoft.com/office/powerpoint/2010/main" val="2069126677"/>
                  </p:ext>
                </p:extLst>
              </p:nvPr>
            </p:nvGraphicFramePr>
            <p:xfrm>
              <a:off x="72803" y="5484120"/>
              <a:ext cx="6697152" cy="4374452"/>
            </p:xfrm>
            <a:graphic>
              <a:graphicData uri="http://schemas.openxmlformats.org/drawingml/2006/table">
                <a:tbl>
                  <a:tblPr firstRow="1" bandRow="1">
                    <a:tableStyleId>{5C22544A-7EE6-4342-B048-85BDC9FD1C3A}</a:tableStyleId>
                  </a:tblPr>
                  <a:tblGrid>
                    <a:gridCol w="2232384">
                      <a:extLst>
                        <a:ext uri="{9D8B030D-6E8A-4147-A177-3AD203B41FA5}">
                          <a16:colId xmlns:a16="http://schemas.microsoft.com/office/drawing/2014/main" val="2392575474"/>
                        </a:ext>
                      </a:extLst>
                    </a:gridCol>
                    <a:gridCol w="2232384">
                      <a:extLst>
                        <a:ext uri="{9D8B030D-6E8A-4147-A177-3AD203B41FA5}">
                          <a16:colId xmlns:a16="http://schemas.microsoft.com/office/drawing/2014/main" val="3679908865"/>
                        </a:ext>
                      </a:extLst>
                    </a:gridCol>
                    <a:gridCol w="2232384">
                      <a:extLst>
                        <a:ext uri="{9D8B030D-6E8A-4147-A177-3AD203B41FA5}">
                          <a16:colId xmlns:a16="http://schemas.microsoft.com/office/drawing/2014/main" val="1925052908"/>
                        </a:ext>
                      </a:extLst>
                    </a:gridCol>
                  </a:tblGrid>
                  <a:tr h="4140000">
                    <a:tc>
                      <a:txBody>
                        <a:bodyPr/>
                        <a:lstStyle/>
                        <a:p>
                          <a:pPr marL="228600" indent="-228600">
                            <a:buAutoNum type="alphaLcParenR"/>
                          </a:pP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+ 3</m:t>
                                  </m:r>
                                </m:num>
                                <m:den>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− 2</m:t>
                                  </m:r>
                                </m:den>
                              </m:f>
                            </m:oMath>
                          </a14:m>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− 3</m:t>
                                  </m:r>
                                </m:num>
                                <m:den>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+ 2</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a:t>
                          </a:r>
                          <a14:m>
                            <m:oMath xmlns:m="http://schemas.openxmlformats.org/officeDocument/2006/math">
                              <m: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+ 5</m:t>
                                  </m:r>
                                </m:num>
                                <m:den>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− 2</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7051138"/>
                      </a:ext>
                    </a:extLst>
                  </a:tr>
                </a:tbl>
              </a:graphicData>
            </a:graphic>
          </p:graphicFrame>
        </mc:Choice>
        <mc:Fallback xmlns="">
          <p:graphicFrame>
            <p:nvGraphicFramePr>
              <p:cNvPr id="6" name="Table 5">
                <a:extLst>
                  <a:ext uri="{FF2B5EF4-FFF2-40B4-BE49-F238E27FC236}">
                    <a16:creationId xmlns:a16="http://schemas.microsoft.com/office/drawing/2014/main" id="{F2E16823-3B36-59B2-E36B-AA36AC0E5019}"/>
                  </a:ext>
                </a:extLst>
              </p:cNvPr>
              <p:cNvGraphicFramePr>
                <a:graphicFrameLocks noGrp="1"/>
              </p:cNvGraphicFramePr>
              <p:nvPr>
                <p:extLst>
                  <p:ext uri="{D42A27DB-BD31-4B8C-83A1-F6EECF244321}">
                    <p14:modId xmlns:p14="http://schemas.microsoft.com/office/powerpoint/2010/main" val="2069126677"/>
                  </p:ext>
                </p:extLst>
              </p:nvPr>
            </p:nvGraphicFramePr>
            <p:xfrm>
              <a:off x="72803" y="5484120"/>
              <a:ext cx="6697152" cy="4374452"/>
            </p:xfrm>
            <a:graphic>
              <a:graphicData uri="http://schemas.openxmlformats.org/drawingml/2006/table">
                <a:tbl>
                  <a:tblPr firstRow="1" bandRow="1">
                    <a:tableStyleId>{5C22544A-7EE6-4342-B048-85BDC9FD1C3A}</a:tableStyleId>
                  </a:tblPr>
                  <a:tblGrid>
                    <a:gridCol w="2232384">
                      <a:extLst>
                        <a:ext uri="{9D8B030D-6E8A-4147-A177-3AD203B41FA5}">
                          <a16:colId xmlns:a16="http://schemas.microsoft.com/office/drawing/2014/main" val="2392575474"/>
                        </a:ext>
                      </a:extLst>
                    </a:gridCol>
                    <a:gridCol w="2232384">
                      <a:extLst>
                        <a:ext uri="{9D8B030D-6E8A-4147-A177-3AD203B41FA5}">
                          <a16:colId xmlns:a16="http://schemas.microsoft.com/office/drawing/2014/main" val="3679908865"/>
                        </a:ext>
                      </a:extLst>
                    </a:gridCol>
                    <a:gridCol w="2232384">
                      <a:extLst>
                        <a:ext uri="{9D8B030D-6E8A-4147-A177-3AD203B41FA5}">
                          <a16:colId xmlns:a16="http://schemas.microsoft.com/office/drawing/2014/main" val="1925052908"/>
                        </a:ext>
                      </a:extLst>
                    </a:gridCol>
                  </a:tblGrid>
                  <a:tr h="437445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2" t="-139" r="-200272" b="-2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546" t="-139" r="-100820" b="-2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000" t="-139" r="-545" b="-278"/>
                          </a:stretch>
                        </a:blipFill>
                      </a:tcPr>
                    </a:tc>
                    <a:extLst>
                      <a:ext uri="{0D108BD9-81ED-4DB2-BD59-A6C34878D82A}">
                        <a16:rowId xmlns:a16="http://schemas.microsoft.com/office/drawing/2014/main" val="3837051138"/>
                      </a:ext>
                    </a:extLst>
                  </a:tr>
                </a:tbl>
              </a:graphicData>
            </a:graphic>
          </p:graphicFrame>
        </mc:Fallback>
      </mc:AlternateContent>
    </p:spTree>
    <p:extLst>
      <p:ext uri="{BB962C8B-B14F-4D97-AF65-F5344CB8AC3E}">
        <p14:creationId xmlns:p14="http://schemas.microsoft.com/office/powerpoint/2010/main" val="3722714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2963EA-949C-CDAA-34B6-BFDFF13ECC82}"/>
              </a:ext>
            </a:extLst>
          </p:cNvPr>
          <p:cNvSpPr>
            <a:spLocks noGrp="1"/>
          </p:cNvSpPr>
          <p:nvPr>
            <p:ph type="sldNum" sz="quarter" idx="12"/>
          </p:nvPr>
        </p:nvSpPr>
        <p:spPr/>
        <p:txBody>
          <a:bodyPr/>
          <a:lstStyle/>
          <a:p>
            <a:fld id="{9BD3B4A0-BFF9-422C-B253-48BA94BE2F5B}" type="slidenum">
              <a:rPr lang="en-GB" noProof="0" smtClean="0"/>
              <a:t>16</a:t>
            </a:fld>
            <a:endParaRPr lang="en-GB" noProof="0" dirty="0"/>
          </a:p>
        </p:txBody>
      </p:sp>
      <p:sp>
        <p:nvSpPr>
          <p:cNvPr id="3" name="Rectangle 2">
            <a:extLst>
              <a:ext uri="{FF2B5EF4-FFF2-40B4-BE49-F238E27FC236}">
                <a16:creationId xmlns:a16="http://schemas.microsoft.com/office/drawing/2014/main" id="{428C430B-6FB9-4821-B616-401851518AD1}"/>
              </a:ext>
            </a:extLst>
          </p:cNvPr>
          <p:cNvSpPr/>
          <p:nvPr/>
        </p:nvSpPr>
        <p:spPr>
          <a:xfrm>
            <a:off x="-1" y="0"/>
            <a:ext cx="3069771" cy="26125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GCSE Past Paper Questions</a:t>
            </a:r>
          </a:p>
        </p:txBody>
      </p:sp>
      <p:pic>
        <p:nvPicPr>
          <p:cNvPr id="5" name="Picture 4" descr="A white background with black text&#10;&#10;AI-generated content may be incorrect.">
            <a:extLst>
              <a:ext uri="{FF2B5EF4-FFF2-40B4-BE49-F238E27FC236}">
                <a16:creationId xmlns:a16="http://schemas.microsoft.com/office/drawing/2014/main" id="{22CC129E-BFF0-3441-86A9-1545F4D8D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302625"/>
            <a:ext cx="5969727" cy="1627644"/>
          </a:xfrm>
          <a:prstGeom prst="rect">
            <a:avLst/>
          </a:prstGeom>
        </p:spPr>
      </p:pic>
      <p:cxnSp>
        <p:nvCxnSpPr>
          <p:cNvPr id="7" name="Straight Connector 6">
            <a:extLst>
              <a:ext uri="{FF2B5EF4-FFF2-40B4-BE49-F238E27FC236}">
                <a16:creationId xmlns:a16="http://schemas.microsoft.com/office/drawing/2014/main" id="{367143A0-C318-866A-AC11-2CA95725CC6A}"/>
              </a:ext>
            </a:extLst>
          </p:cNvPr>
          <p:cNvCxnSpPr/>
          <p:nvPr/>
        </p:nvCxnSpPr>
        <p:spPr>
          <a:xfrm>
            <a:off x="-1" y="2024743"/>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9" name="Picture 8" descr="A white sheet of paper with black text&#10;&#10;AI-generated content may be incorrect.">
            <a:extLst>
              <a:ext uri="{FF2B5EF4-FFF2-40B4-BE49-F238E27FC236}">
                <a16:creationId xmlns:a16="http://schemas.microsoft.com/office/drawing/2014/main" id="{9C0FEF5B-922F-5527-A614-B9AA191846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45366"/>
            <a:ext cx="5969726" cy="3755788"/>
          </a:xfrm>
          <a:prstGeom prst="rect">
            <a:avLst/>
          </a:prstGeom>
        </p:spPr>
      </p:pic>
      <p:cxnSp>
        <p:nvCxnSpPr>
          <p:cNvPr id="10" name="Straight Connector 9">
            <a:extLst>
              <a:ext uri="{FF2B5EF4-FFF2-40B4-BE49-F238E27FC236}">
                <a16:creationId xmlns:a16="http://schemas.microsoft.com/office/drawing/2014/main" id="{47FAFBBB-5088-2937-BCBF-9025F405E1B7}"/>
              </a:ext>
            </a:extLst>
          </p:cNvPr>
          <p:cNvCxnSpPr/>
          <p:nvPr/>
        </p:nvCxnSpPr>
        <p:spPr>
          <a:xfrm>
            <a:off x="-1" y="5901154"/>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12" name="Picture 11" descr="A two math equations&#10;&#10;AI-generated content may be incorrect.">
            <a:extLst>
              <a:ext uri="{FF2B5EF4-FFF2-40B4-BE49-F238E27FC236}">
                <a16:creationId xmlns:a16="http://schemas.microsoft.com/office/drawing/2014/main" id="{60431BC4-0665-AC0E-C9A0-338F0E022F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031482"/>
            <a:ext cx="5985298" cy="3334586"/>
          </a:xfrm>
          <a:prstGeom prst="rect">
            <a:avLst/>
          </a:prstGeom>
        </p:spPr>
      </p:pic>
    </p:spTree>
    <p:extLst>
      <p:ext uri="{BB962C8B-B14F-4D97-AF65-F5344CB8AC3E}">
        <p14:creationId xmlns:p14="http://schemas.microsoft.com/office/powerpoint/2010/main" val="3615378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A5A87-F31C-E04C-597E-F465940D798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8C4B30-1282-EFA9-55C6-1989E32A1B4C}"/>
              </a:ext>
            </a:extLst>
          </p:cNvPr>
          <p:cNvSpPr>
            <a:spLocks noGrp="1"/>
          </p:cNvSpPr>
          <p:nvPr>
            <p:ph type="sldNum" sz="quarter" idx="12"/>
          </p:nvPr>
        </p:nvSpPr>
        <p:spPr/>
        <p:txBody>
          <a:bodyPr/>
          <a:lstStyle/>
          <a:p>
            <a:fld id="{9BD3B4A0-BFF9-422C-B253-48BA94BE2F5B}" type="slidenum">
              <a:rPr lang="en-GB" noProof="0" smtClean="0"/>
              <a:t>17</a:t>
            </a:fld>
            <a:endParaRPr lang="en-GB" noProof="0" dirty="0"/>
          </a:p>
        </p:txBody>
      </p:sp>
      <p:cxnSp>
        <p:nvCxnSpPr>
          <p:cNvPr id="7" name="Straight Connector 6">
            <a:extLst>
              <a:ext uri="{FF2B5EF4-FFF2-40B4-BE49-F238E27FC236}">
                <a16:creationId xmlns:a16="http://schemas.microsoft.com/office/drawing/2014/main" id="{972C7508-A81A-4761-184E-673A90DDD0CE}"/>
              </a:ext>
            </a:extLst>
          </p:cNvPr>
          <p:cNvCxnSpPr/>
          <p:nvPr/>
        </p:nvCxnSpPr>
        <p:spPr>
          <a:xfrm>
            <a:off x="0" y="2664823"/>
            <a:ext cx="6858000"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E1183BA9-3075-9EB6-8284-E792FD3C057F}"/>
              </a:ext>
            </a:extLst>
          </p:cNvPr>
          <p:cNvCxnSpPr/>
          <p:nvPr/>
        </p:nvCxnSpPr>
        <p:spPr>
          <a:xfrm>
            <a:off x="0" y="5469354"/>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6" name="Picture 5" descr="A white background with black text&#10;&#10;AI-generated content may be incorrect.">
            <a:extLst>
              <a:ext uri="{FF2B5EF4-FFF2-40B4-BE49-F238E27FC236}">
                <a16:creationId xmlns:a16="http://schemas.microsoft.com/office/drawing/2014/main" id="{EBC9B5EA-0645-D49E-AAD3-4AC2D2BA82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6769448" cy="2533780"/>
          </a:xfrm>
          <a:prstGeom prst="rect">
            <a:avLst/>
          </a:prstGeom>
        </p:spPr>
      </p:pic>
      <p:pic>
        <p:nvPicPr>
          <p:cNvPr id="11" name="Picture 10" descr="A white background with black dots&#10;&#10;AI-generated content may be incorrect.">
            <a:extLst>
              <a:ext uri="{FF2B5EF4-FFF2-40B4-BE49-F238E27FC236}">
                <a16:creationId xmlns:a16="http://schemas.microsoft.com/office/drawing/2014/main" id="{4321C204-BA9C-A6CD-AD2B-751BB4DCFF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2795867"/>
            <a:ext cx="6769448" cy="2673487"/>
          </a:xfrm>
          <a:prstGeom prst="rect">
            <a:avLst/>
          </a:prstGeom>
        </p:spPr>
      </p:pic>
      <p:pic>
        <p:nvPicPr>
          <p:cNvPr id="14" name="Picture 13" descr="A white paper with black text&#10;&#10;AI-generated content may be incorrect.">
            <a:extLst>
              <a:ext uri="{FF2B5EF4-FFF2-40B4-BE49-F238E27FC236}">
                <a16:creationId xmlns:a16="http://schemas.microsoft.com/office/drawing/2014/main" id="{846311F5-C9DE-A69E-720D-825D4E21E6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721917"/>
            <a:ext cx="6769448" cy="3206915"/>
          </a:xfrm>
          <a:prstGeom prst="rect">
            <a:avLst/>
          </a:prstGeom>
        </p:spPr>
      </p:pic>
    </p:spTree>
    <p:extLst>
      <p:ext uri="{BB962C8B-B14F-4D97-AF65-F5344CB8AC3E}">
        <p14:creationId xmlns:p14="http://schemas.microsoft.com/office/powerpoint/2010/main" val="2217025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607876-0972-9113-91DA-1A0D8B0588A2}"/>
              </a:ext>
            </a:extLst>
          </p:cNvPr>
          <p:cNvSpPr>
            <a:spLocks noGrp="1"/>
          </p:cNvSpPr>
          <p:nvPr>
            <p:ph type="sldNum" sz="quarter" idx="12"/>
          </p:nvPr>
        </p:nvSpPr>
        <p:spPr/>
        <p:txBody>
          <a:bodyPr/>
          <a:lstStyle/>
          <a:p>
            <a:fld id="{9BD3B4A0-BFF9-422C-B253-48BA94BE2F5B}" type="slidenum">
              <a:rPr lang="en-GB" noProof="0" smtClean="0"/>
              <a:t>18</a:t>
            </a:fld>
            <a:endParaRPr lang="en-GB" noProof="0" dirty="0"/>
          </a:p>
        </p:txBody>
      </p:sp>
      <p:pic>
        <p:nvPicPr>
          <p:cNvPr id="4" name="Picture 3" descr="A white background with black text&#10;&#10;AI-generated content may be incorrect.">
            <a:extLst>
              <a:ext uri="{FF2B5EF4-FFF2-40B4-BE49-F238E27FC236}">
                <a16:creationId xmlns:a16="http://schemas.microsoft.com/office/drawing/2014/main" id="{9505B72A-517D-3568-B4F3-2659811EEE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731346" cy="3391074"/>
          </a:xfrm>
          <a:prstGeom prst="rect">
            <a:avLst/>
          </a:prstGeom>
        </p:spPr>
      </p:pic>
      <p:pic>
        <p:nvPicPr>
          <p:cNvPr id="6" name="Picture 5" descr="A white background with black text&#10;&#10;AI-generated content may be incorrect.">
            <a:extLst>
              <a:ext uri="{FF2B5EF4-FFF2-40B4-BE49-F238E27FC236}">
                <a16:creationId xmlns:a16="http://schemas.microsoft.com/office/drawing/2014/main" id="{28A20D0C-3532-A1E4-F8F1-C89E614FB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260481"/>
            <a:ext cx="6655142" cy="4051508"/>
          </a:xfrm>
          <a:prstGeom prst="rect">
            <a:avLst/>
          </a:prstGeom>
        </p:spPr>
      </p:pic>
      <p:cxnSp>
        <p:nvCxnSpPr>
          <p:cNvPr id="7" name="Straight Connector 6">
            <a:extLst>
              <a:ext uri="{FF2B5EF4-FFF2-40B4-BE49-F238E27FC236}">
                <a16:creationId xmlns:a16="http://schemas.microsoft.com/office/drawing/2014/main" id="{DD9A9FA4-4C32-7D15-1976-E8830C47BFC4}"/>
              </a:ext>
            </a:extLst>
          </p:cNvPr>
          <p:cNvCxnSpPr/>
          <p:nvPr/>
        </p:nvCxnSpPr>
        <p:spPr>
          <a:xfrm>
            <a:off x="0" y="4140926"/>
            <a:ext cx="6858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72306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3C8E02-77B0-E044-F481-FC289E30251F}"/>
              </a:ext>
            </a:extLst>
          </p:cNvPr>
          <p:cNvSpPr>
            <a:spLocks noGrp="1"/>
          </p:cNvSpPr>
          <p:nvPr>
            <p:ph type="sldNum" sz="quarter" idx="12"/>
          </p:nvPr>
        </p:nvSpPr>
        <p:spPr/>
        <p:txBody>
          <a:bodyPr/>
          <a:lstStyle/>
          <a:p>
            <a:fld id="{9BD3B4A0-BFF9-422C-B253-48BA94BE2F5B}" type="slidenum">
              <a:rPr lang="en-GB" noProof="0" smtClean="0"/>
              <a:t>19</a:t>
            </a:fld>
            <a:endParaRPr lang="en-GB" noProof="0" dirty="0"/>
          </a:p>
        </p:txBody>
      </p:sp>
      <p:pic>
        <p:nvPicPr>
          <p:cNvPr id="4" name="Picture 3" descr="A white background with black text&#10;&#10;AI-generated content may be incorrect.">
            <a:extLst>
              <a:ext uri="{FF2B5EF4-FFF2-40B4-BE49-F238E27FC236}">
                <a16:creationId xmlns:a16="http://schemas.microsoft.com/office/drawing/2014/main" id="{EBFFDA9B-9484-EE19-6ADF-183AD95EE9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604" y="67491"/>
            <a:ext cx="6648792" cy="4210266"/>
          </a:xfrm>
          <a:prstGeom prst="rect">
            <a:avLst/>
          </a:prstGeom>
        </p:spPr>
      </p:pic>
      <p:pic>
        <p:nvPicPr>
          <p:cNvPr id="6" name="Picture 5" descr="A white background with black text&#10;&#10;AI-generated content may be incorrect.">
            <a:extLst>
              <a:ext uri="{FF2B5EF4-FFF2-40B4-BE49-F238E27FC236}">
                <a16:creationId xmlns:a16="http://schemas.microsoft.com/office/drawing/2014/main" id="{FC351AAF-A612-DC46-EA65-A20CED5079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51" y="4913982"/>
            <a:ext cx="6763098" cy="4191215"/>
          </a:xfrm>
          <a:prstGeom prst="rect">
            <a:avLst/>
          </a:prstGeom>
        </p:spPr>
      </p:pic>
      <p:cxnSp>
        <p:nvCxnSpPr>
          <p:cNvPr id="7" name="Straight Connector 6">
            <a:extLst>
              <a:ext uri="{FF2B5EF4-FFF2-40B4-BE49-F238E27FC236}">
                <a16:creationId xmlns:a16="http://schemas.microsoft.com/office/drawing/2014/main" id="{3DCEDB9A-44DA-A5FF-E0D6-71CD990E03E5}"/>
              </a:ext>
            </a:extLst>
          </p:cNvPr>
          <p:cNvCxnSpPr/>
          <p:nvPr/>
        </p:nvCxnSpPr>
        <p:spPr>
          <a:xfrm>
            <a:off x="0" y="4927045"/>
            <a:ext cx="6858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5474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554F5C1-D21B-4CDE-B4FD-998FDBB2B0D6}"/>
              </a:ext>
            </a:extLst>
          </p:cNvPr>
          <p:cNvSpPr/>
          <p:nvPr/>
        </p:nvSpPr>
        <p:spPr>
          <a:xfrm>
            <a:off x="-9365" y="6061"/>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solidFill>
                  <a:prstClr val="white"/>
                </a:solidFill>
              </a:rPr>
              <a:t>Subtopic 2 – Recap: Solving Quadratic Equations</a:t>
            </a:r>
            <a:endParaRPr lang="en-GB" b="1" noProof="0" dirty="0">
              <a:solidFill>
                <a:prstClr val="white"/>
              </a:solidFill>
            </a:endParaRPr>
          </a:p>
        </p:txBody>
      </p:sp>
      <p:sp>
        <p:nvSpPr>
          <p:cNvPr id="18" name="Slide Number Placeholder 17"/>
          <p:cNvSpPr>
            <a:spLocks noGrp="1"/>
          </p:cNvSpPr>
          <p:nvPr>
            <p:ph type="sldNum" sz="quarter" idx="12"/>
          </p:nvPr>
        </p:nvSpPr>
        <p:spPr>
          <a:xfrm>
            <a:off x="5370231" y="9548817"/>
            <a:ext cx="1543050" cy="527403"/>
          </a:xfrm>
        </p:spPr>
        <p:txBody>
          <a:bodyPr/>
          <a:lstStyle/>
          <a:p>
            <a:fld id="{19F1D9CC-7119-45EC-A96C-D8C0660F3AAB}" type="slidenum">
              <a:rPr lang="en-GB" noProof="0" smtClean="0">
                <a:solidFill>
                  <a:schemeClr val="bg1"/>
                </a:solidFill>
              </a:rPr>
              <a:t>20</a:t>
            </a:fld>
            <a:endParaRPr lang="en-GB" noProof="0" dirty="0">
              <a:solidFill>
                <a:schemeClr val="bg1"/>
              </a:solidFill>
            </a:endParaRPr>
          </a:p>
        </p:txBody>
      </p:sp>
      <p:sp>
        <p:nvSpPr>
          <p:cNvPr id="65" name="Slide Number Placeholder 16"/>
          <p:cNvSpPr txBox="1">
            <a:spLocks/>
          </p:cNvSpPr>
          <p:nvPr/>
        </p:nvSpPr>
        <p:spPr>
          <a:xfrm>
            <a:off x="5257814" y="9488376"/>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20</a:t>
            </a:fld>
            <a:endParaRPr lang="en-GB" noProof="0" dirty="0"/>
          </a:p>
        </p:txBody>
      </p:sp>
      <p:sp>
        <p:nvSpPr>
          <p:cNvPr id="4" name="Rectangle 3">
            <a:extLst>
              <a:ext uri="{FF2B5EF4-FFF2-40B4-BE49-F238E27FC236}">
                <a16:creationId xmlns:a16="http://schemas.microsoft.com/office/drawing/2014/main" id="{ED8558F4-BAD0-6F6A-64B7-E8D8DBB46328}"/>
              </a:ext>
            </a:extLst>
          </p:cNvPr>
          <p:cNvSpPr/>
          <p:nvPr/>
        </p:nvSpPr>
        <p:spPr>
          <a:xfrm>
            <a:off x="102618" y="317360"/>
            <a:ext cx="6647773" cy="14852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ysClr val="windowText" lastClr="000000"/>
              </a:solidFill>
            </a:endParaRPr>
          </a:p>
        </p:txBody>
      </p:sp>
      <p:sp>
        <p:nvSpPr>
          <p:cNvPr id="5" name="TextBox 4">
            <a:extLst>
              <a:ext uri="{FF2B5EF4-FFF2-40B4-BE49-F238E27FC236}">
                <a16:creationId xmlns:a16="http://schemas.microsoft.com/office/drawing/2014/main" id="{015AC15F-A645-233E-443A-F26000AB545F}"/>
              </a:ext>
            </a:extLst>
          </p:cNvPr>
          <p:cNvSpPr txBox="1"/>
          <p:nvPr/>
        </p:nvSpPr>
        <p:spPr>
          <a:xfrm>
            <a:off x="186511" y="742084"/>
            <a:ext cx="2647189" cy="307777"/>
          </a:xfrm>
          <a:prstGeom prst="rect">
            <a:avLst/>
          </a:prstGeom>
          <a:noFill/>
        </p:spPr>
        <p:txBody>
          <a:bodyPr wrap="square" rtlCol="0">
            <a:spAutoFit/>
          </a:bodyPr>
          <a:lstStyle/>
          <a:p>
            <a:r>
              <a:rPr lang="en-GB" sz="1400" b="1" noProof="0" dirty="0"/>
              <a:t>Objectives:</a:t>
            </a:r>
          </a:p>
        </p:txBody>
      </p:sp>
      <p:sp>
        <p:nvSpPr>
          <p:cNvPr id="7" name="TextBox 6">
            <a:extLst>
              <a:ext uri="{FF2B5EF4-FFF2-40B4-BE49-F238E27FC236}">
                <a16:creationId xmlns:a16="http://schemas.microsoft.com/office/drawing/2014/main" id="{22C9CE5C-0232-262F-3F2F-0289DC3B81CE}"/>
              </a:ext>
            </a:extLst>
          </p:cNvPr>
          <p:cNvSpPr txBox="1"/>
          <p:nvPr/>
        </p:nvSpPr>
        <p:spPr>
          <a:xfrm>
            <a:off x="377041" y="974013"/>
            <a:ext cx="3888646" cy="830997"/>
          </a:xfrm>
          <a:prstGeom prst="rect">
            <a:avLst/>
          </a:prstGeom>
          <a:noFill/>
        </p:spPr>
        <p:txBody>
          <a:bodyPr wrap="square" rtlCol="0">
            <a:spAutoFit/>
          </a:bodyPr>
          <a:lstStyle/>
          <a:p>
            <a:pPr marL="228600" indent="-228600">
              <a:buFont typeface="+mj-lt"/>
              <a:buAutoNum type="arabicPeriod"/>
              <a:defRPr/>
            </a:pPr>
            <a:r>
              <a:rPr lang="en-GB" sz="1200" noProof="0" dirty="0"/>
              <a:t>To recap the three main methods of solving quadratics:</a:t>
            </a:r>
          </a:p>
          <a:p>
            <a:pPr marL="685800" lvl="1" indent="-228600">
              <a:buFont typeface="Arial" panose="020B0604020202020204" pitchFamily="34" charset="0"/>
              <a:buChar char="•"/>
              <a:defRPr/>
            </a:pPr>
            <a:r>
              <a:rPr lang="en-GB" sz="1200" noProof="0" dirty="0"/>
              <a:t>Factorise</a:t>
            </a:r>
          </a:p>
          <a:p>
            <a:pPr marL="685800" lvl="1" indent="-228600">
              <a:buFont typeface="Arial" panose="020B0604020202020204" pitchFamily="34" charset="0"/>
              <a:buChar char="•"/>
              <a:defRPr/>
            </a:pPr>
            <a:r>
              <a:rPr lang="en-GB" sz="1200" noProof="0" dirty="0"/>
              <a:t>Use the quadratic formula</a:t>
            </a:r>
          </a:p>
          <a:p>
            <a:pPr marL="685800" lvl="1" indent="-228600">
              <a:buFont typeface="Arial" panose="020B0604020202020204" pitchFamily="34" charset="0"/>
              <a:buChar char="•"/>
              <a:defRPr/>
            </a:pPr>
            <a:r>
              <a:rPr lang="en-GB" sz="1200" noProof="0" dirty="0"/>
              <a:t>Complete the square</a:t>
            </a:r>
          </a:p>
        </p:txBody>
      </p:sp>
      <p:sp>
        <p:nvSpPr>
          <p:cNvPr id="8" name="TextBox 7">
            <a:extLst>
              <a:ext uri="{FF2B5EF4-FFF2-40B4-BE49-F238E27FC236}">
                <a16:creationId xmlns:a16="http://schemas.microsoft.com/office/drawing/2014/main" id="{8E43949C-A322-81DD-DC5C-4C6E22D4DF6A}"/>
              </a:ext>
            </a:extLst>
          </p:cNvPr>
          <p:cNvSpPr txBox="1"/>
          <p:nvPr/>
        </p:nvSpPr>
        <p:spPr>
          <a:xfrm>
            <a:off x="957393" y="403530"/>
            <a:ext cx="4991042" cy="276999"/>
          </a:xfrm>
          <a:prstGeom prst="rect">
            <a:avLst/>
          </a:prstGeom>
          <a:noFill/>
          <a:ln>
            <a:solidFill>
              <a:schemeClr val="tx1"/>
            </a:solidFill>
          </a:ln>
        </p:spPr>
        <p:txBody>
          <a:bodyPr wrap="square" rtlCol="0">
            <a:spAutoFit/>
          </a:bodyPr>
          <a:lstStyle/>
          <a:p>
            <a:pPr algn="ctr"/>
            <a:r>
              <a:rPr lang="en-GB" sz="1200" noProof="0" dirty="0"/>
              <a:t>LEARNING OUTCOME:  Recap the core skill of solving quadratics. </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AE8E6F9-27CE-FAC5-41B9-8FF8130679E6}"/>
                  </a:ext>
                </a:extLst>
              </p:cNvPr>
              <p:cNvSpPr txBox="1"/>
              <p:nvPr/>
            </p:nvSpPr>
            <p:spPr>
              <a:xfrm>
                <a:off x="88506" y="1880182"/>
                <a:ext cx="6654034" cy="3586495"/>
              </a:xfrm>
              <a:prstGeom prst="rect">
                <a:avLst/>
              </a:prstGeom>
              <a:noFill/>
              <a:ln>
                <a:solidFill>
                  <a:schemeClr val="tx1"/>
                </a:solidFill>
              </a:ln>
            </p:spPr>
            <p:txBody>
              <a:bodyPr wrap="square" rtlCol="0">
                <a:spAutoFit/>
              </a:bodyPr>
              <a:lstStyle/>
              <a:p>
                <a:pPr>
                  <a:lnSpc>
                    <a:spcPct val="107000"/>
                  </a:lnSpc>
                  <a:spcBef>
                    <a:spcPts val="200"/>
                  </a:spcBef>
                </a:pPr>
                <a:r>
                  <a:rPr lang="en-GB" sz="1200" b="1" noProof="0" dirty="0">
                    <a:effectLst/>
                    <a:latin typeface="Calibri Light" panose="020F0302020204030204" pitchFamily="34" charset="0"/>
                    <a:ea typeface="Times New Roman" panose="02020603050405020304" pitchFamily="18" charset="0"/>
                    <a:cs typeface="Times New Roman" panose="02020603050405020304" pitchFamily="18" charset="0"/>
                  </a:rPr>
                  <a:t>Recap: What is a Quadratic and why are they so important in GCSE maths?</a:t>
                </a:r>
              </a:p>
              <a:p>
                <a:pPr>
                  <a:lnSpc>
                    <a:spcPct val="107000"/>
                  </a:lnSpc>
                  <a:spcBef>
                    <a:spcPts val="200"/>
                  </a:spcBef>
                </a:pPr>
                <a:endParaRPr lang="en-GB" sz="1200" b="1" noProof="0" dirty="0">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GB" sz="1200" noProof="0" dirty="0">
                    <a:effectLst/>
                    <a:latin typeface="Calibri" panose="020F0502020204030204" pitchFamily="34" charset="0"/>
                    <a:ea typeface="Calibri" panose="020F0502020204030204" pitchFamily="34" charset="0"/>
                    <a:cs typeface="Times New Roman" panose="02020603050405020304" pitchFamily="18" charset="0"/>
                  </a:rPr>
                  <a:t>A quadratic expression has the form,</a:t>
                </a:r>
              </a:p>
              <a:p>
                <a:pPr>
                  <a:lnSpc>
                    <a:spcPct val="107000"/>
                  </a:lnSpc>
                  <a:spcAft>
                    <a:spcPts val="800"/>
                  </a:spcAft>
                </a:pPr>
                <a14:m>
                  <m:oMathPara xmlns:m="http://schemas.openxmlformats.org/officeDocument/2006/math">
                    <m:oMathParaPr>
                      <m:jc m:val="centerGroup"/>
                    </m:oMathParaPr>
                    <m:oMath xmlns:m="http://schemas.openxmlformats.org/officeDocument/2006/math">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𝑎</m:t>
                      </m:r>
                      <m:sSup>
                        <m:sSupPr>
                          <m:ctrlPr>
                            <a:rPr lang="en-GB" sz="1200" i="1" noProof="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2</m:t>
                          </m:r>
                        </m:sup>
                      </m:sSup>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m:t>
                      </m:r>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𝑏𝑥</m:t>
                      </m:r>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m:t>
                      </m:r>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𝑐</m:t>
                      </m:r>
                      <m:r>
                        <a:rPr lang="en-GB" sz="1200" i="1" noProof="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GB" sz="1200" noProof="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200" noProof="0" dirty="0">
                    <a:effectLst/>
                    <a:latin typeface="Calibri" panose="020F0502020204030204" pitchFamily="34" charset="0"/>
                    <a:ea typeface="Times New Roman" panose="02020603050405020304" pitchFamily="18" charset="0"/>
                    <a:cs typeface="Times New Roman" panose="02020603050405020304" pitchFamily="18" charset="0"/>
                  </a:rPr>
                  <a:t>where </a:t>
                </a:r>
                <a14:m>
                  <m:oMath xmlns:m="http://schemas.openxmlformats.org/officeDocument/2006/math">
                    <m:r>
                      <a:rPr lang="en-GB" sz="1200" i="1" noProof="0">
                        <a:effectLst/>
                        <a:latin typeface="Cambria Math" panose="02040503050406030204" pitchFamily="18" charset="0"/>
                        <a:ea typeface="Times New Roman" panose="02020603050405020304" pitchFamily="18" charset="0"/>
                        <a:cs typeface="Times New Roman" panose="02020603050405020304" pitchFamily="18" charset="0"/>
                      </a:rPr>
                      <m:t>𝑎</m:t>
                    </m:r>
                    <m:r>
                      <a:rPr lang="en-GB" sz="1200" i="1" noProof="0">
                        <a:effectLst/>
                        <a:latin typeface="Cambria Math" panose="02040503050406030204" pitchFamily="18" charset="0"/>
                        <a:ea typeface="Times New Roman" panose="02020603050405020304" pitchFamily="18" charset="0"/>
                        <a:cs typeface="Times New Roman" panose="02020603050405020304" pitchFamily="18" charset="0"/>
                      </a:rPr>
                      <m:t>, </m:t>
                    </m:r>
                    <m:r>
                      <a:rPr lang="en-GB" sz="1200" i="1" noProof="0">
                        <a:effectLst/>
                        <a:latin typeface="Cambria Math" panose="02040503050406030204" pitchFamily="18" charset="0"/>
                        <a:ea typeface="Times New Roman" panose="02020603050405020304" pitchFamily="18" charset="0"/>
                        <a:cs typeface="Times New Roman" panose="02020603050405020304" pitchFamily="18" charset="0"/>
                      </a:rPr>
                      <m:t>𝑏</m:t>
                    </m:r>
                  </m:oMath>
                </a14:m>
                <a:r>
                  <a:rPr lang="en-GB" sz="1200" noProof="0" dirty="0">
                    <a:effectLst/>
                    <a:latin typeface="Calibri" panose="020F050202020403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GB" sz="1200" i="1" noProof="0">
                        <a:effectLst/>
                        <a:latin typeface="Cambria Math" panose="02040503050406030204" pitchFamily="18" charset="0"/>
                        <a:ea typeface="Times New Roman" panose="02020603050405020304" pitchFamily="18" charset="0"/>
                        <a:cs typeface="Times New Roman" panose="02020603050405020304" pitchFamily="18" charset="0"/>
                      </a:rPr>
                      <m:t>𝑐</m:t>
                    </m:r>
                  </m:oMath>
                </a14:m>
                <a:r>
                  <a:rPr lang="en-GB" sz="1200" noProof="0" dirty="0">
                    <a:effectLst/>
                    <a:latin typeface="Calibri" panose="020F0502020204030204" pitchFamily="34" charset="0"/>
                    <a:ea typeface="Times New Roman" panose="02020603050405020304" pitchFamily="18" charset="0"/>
                    <a:cs typeface="Times New Roman" panose="02020603050405020304" pitchFamily="18" charset="0"/>
                  </a:rPr>
                  <a:t> are constants.</a:t>
                </a:r>
                <a:endParaRPr lang="en-GB" sz="1200" noProof="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200" noProof="0" dirty="0">
                    <a:effectLst/>
                    <a:latin typeface="Calibri" panose="020F0502020204030204" pitchFamily="34" charset="0"/>
                    <a:ea typeface="Calibri" panose="020F0502020204030204" pitchFamily="34" charset="0"/>
                    <a:cs typeface="Times New Roman" panose="02020603050405020304" pitchFamily="18" charset="0"/>
                  </a:rPr>
                  <a:t>Any expression is called quadratic if there is only one algebraic variable in the expression, the highest power of that variable is </a:t>
                </a:r>
                <a14:m>
                  <m:oMath xmlns:m="http://schemas.openxmlformats.org/officeDocument/2006/math">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2</m:t>
                    </m:r>
                  </m:oMath>
                </a14:m>
                <a:r>
                  <a:rPr lang="en-GB" sz="1200" noProof="0" dirty="0">
                    <a:effectLst/>
                    <a:latin typeface="Calibri" panose="020F0502020204030204" pitchFamily="34" charset="0"/>
                    <a:ea typeface="Calibri" panose="020F0502020204030204" pitchFamily="34" charset="0"/>
                    <a:cs typeface="Times New Roman" panose="02020603050405020304" pitchFamily="18" charset="0"/>
                  </a:rPr>
                  <a:t> and there are no variables to powers below 0 (i.e. </a:t>
                </a:r>
                <a14:m>
                  <m:oMath xmlns:m="http://schemas.openxmlformats.org/officeDocument/2006/math">
                    <m:sSup>
                      <m:sSupPr>
                        <m:ctrlPr>
                          <a:rPr lang="en-GB" sz="1200" i="1" noProof="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−1</m:t>
                        </m:r>
                      </m:sup>
                    </m:sSup>
                  </m:oMath>
                </a14:m>
                <a:r>
                  <a:rPr lang="en-GB" sz="1200" noProof="0" dirty="0">
                    <a:effectLst/>
                    <a:latin typeface="Calibri" panose="020F0502020204030204" pitchFamily="34" charset="0"/>
                    <a:ea typeface="Times New Roman" panose="02020603050405020304" pitchFamily="18" charset="0"/>
                    <a:cs typeface="Times New Roman" panose="02020603050405020304" pitchFamily="18" charset="0"/>
                  </a:rPr>
                  <a:t>).</a:t>
                </a:r>
              </a:p>
              <a:p>
                <a:pPr>
                  <a:lnSpc>
                    <a:spcPct val="107000"/>
                  </a:lnSpc>
                  <a:spcAft>
                    <a:spcPts val="800"/>
                  </a:spcAft>
                </a:pPr>
                <a:r>
                  <a:rPr lang="en-GB" sz="1200" noProof="0" dirty="0">
                    <a:latin typeface="Calibri" panose="020F0502020204030204" pitchFamily="34" charset="0"/>
                    <a:ea typeface="Times New Roman" panose="02020603050405020304" pitchFamily="18" charset="0"/>
                    <a:cs typeface="Times New Roman" panose="02020603050405020304" pitchFamily="18" charset="0"/>
                  </a:rPr>
                  <a:t>Quadratic equations are where expressions are set to a value, and to solve them means to find the value(s) that make the equation true. Quadratic equations are special in that they may have 2 solutions (or sometimes 1, or sometimes even none).</a:t>
                </a:r>
                <a:endParaRPr lang="en-GB" sz="1200" noProof="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GB" sz="1200" noProof="0" dirty="0">
                    <a:latin typeface="Calibri" panose="020F0502020204030204" pitchFamily="34" charset="0"/>
                    <a:ea typeface="Calibri" panose="020F0502020204030204" pitchFamily="34" charset="0"/>
                    <a:cs typeface="Times New Roman" panose="02020603050405020304" pitchFamily="18" charset="0"/>
                  </a:rPr>
                  <a:t>For the ‘further algebra’ topics at Higher tier GCSE – such as ‘Algebraic fractions’, ‘Functions’ and ‘Simultaneous equations’, you will often construct a quadratic equation that eventually needs solving. For that reason, it is crucial that you are fluent in the main methods of solving equations, especially factorising and using the quadratic formula. (You may also have been shown how to solve by completing the square).</a:t>
                </a:r>
                <a:endParaRPr lang="en-GB" noProof="0" dirty="0"/>
              </a:p>
            </p:txBody>
          </p:sp>
        </mc:Choice>
        <mc:Fallback xmlns="">
          <p:sp>
            <p:nvSpPr>
              <p:cNvPr id="9" name="TextBox 8">
                <a:extLst>
                  <a:ext uri="{FF2B5EF4-FFF2-40B4-BE49-F238E27FC236}">
                    <a16:creationId xmlns:a16="http://schemas.microsoft.com/office/drawing/2014/main" id="{AAE8E6F9-27CE-FAC5-41B9-8FF8130679E6}"/>
                  </a:ext>
                </a:extLst>
              </p:cNvPr>
              <p:cNvSpPr txBox="1">
                <a:spLocks noRot="1" noChangeAspect="1" noMove="1" noResize="1" noEditPoints="1" noAdjustHandles="1" noChangeArrowheads="1" noChangeShapeType="1" noTextEdit="1"/>
              </p:cNvSpPr>
              <p:nvPr/>
            </p:nvSpPr>
            <p:spPr>
              <a:xfrm>
                <a:off x="88506" y="1880182"/>
                <a:ext cx="6654034" cy="3586495"/>
              </a:xfrm>
              <a:prstGeom prst="rect">
                <a:avLst/>
              </a:prstGeom>
              <a:blipFill>
                <a:blip r:embed="rId3"/>
                <a:stretch>
                  <a:fillRect b="-169"/>
                </a:stretch>
              </a:blipFill>
              <a:ln>
                <a:solidFill>
                  <a:schemeClr val="tx1"/>
                </a:solidFill>
              </a:ln>
            </p:spPr>
            <p:txBody>
              <a:bodyPr/>
              <a:lstStyle/>
              <a:p>
                <a:r>
                  <a:rPr lang="en-US">
                    <a:noFill/>
                  </a:rPr>
                  <a:t> </a:t>
                </a:r>
              </a:p>
            </p:txBody>
          </p:sp>
        </mc:Fallback>
      </mc:AlternateContent>
      <p:sp>
        <p:nvSpPr>
          <p:cNvPr id="12" name="TextBox 11">
            <a:extLst>
              <a:ext uri="{FF2B5EF4-FFF2-40B4-BE49-F238E27FC236}">
                <a16:creationId xmlns:a16="http://schemas.microsoft.com/office/drawing/2014/main" id="{66F96D0D-C689-9DFA-905A-E5C5B1BD285A}"/>
              </a:ext>
            </a:extLst>
          </p:cNvPr>
          <p:cNvSpPr txBox="1"/>
          <p:nvPr/>
        </p:nvSpPr>
        <p:spPr>
          <a:xfrm>
            <a:off x="33234" y="5507015"/>
            <a:ext cx="1817870" cy="276999"/>
          </a:xfrm>
          <a:prstGeom prst="rect">
            <a:avLst/>
          </a:prstGeom>
          <a:solidFill>
            <a:srgbClr val="0070C0"/>
          </a:solidFill>
        </p:spPr>
        <p:txBody>
          <a:bodyPr wrap="none" rtlCol="0" anchor="ctr">
            <a:spAutoFit/>
          </a:bodyPr>
          <a:lstStyle/>
          <a:p>
            <a:pPr algn="r"/>
            <a:r>
              <a:rPr lang="en-GB" sz="1200" b="1" noProof="0" dirty="0">
                <a:solidFill>
                  <a:schemeClr val="bg1"/>
                </a:solidFill>
              </a:rPr>
              <a:t>PRIOR KNOWLEDGE QUIZ</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4E86A81-6FB6-0CBB-DDE4-E2F08F28C9B4}"/>
                  </a:ext>
                </a:extLst>
              </p:cNvPr>
              <p:cNvSpPr txBox="1"/>
              <p:nvPr/>
            </p:nvSpPr>
            <p:spPr>
              <a:xfrm>
                <a:off x="562389" y="5955453"/>
                <a:ext cx="1184363" cy="184666"/>
              </a:xfrm>
              <a:prstGeom prst="rect">
                <a:avLst/>
              </a:prstGeom>
              <a:noFill/>
            </p:spPr>
            <p:txBody>
              <a:bodyPr wrap="none" lIns="0" tIns="0" rIns="0" bIns="0" rtlCol="0">
                <a:spAutoFit/>
              </a:bodyPr>
              <a:lstStyle/>
              <a:p>
                <a:pPr defTabSz="685800">
                  <a:defRPr/>
                </a:pPr>
                <a:r>
                  <a:rPr kumimoji="0" lang="en-GB" sz="1200" b="0" u="none" strike="noStrike" kern="1200" cap="none" spc="0" normalizeH="0" baseline="0" noProof="0" dirty="0">
                    <a:ln>
                      <a:noFill/>
                    </a:ln>
                    <a:solidFill>
                      <a:schemeClr val="tx1"/>
                    </a:solidFill>
                    <a:effectLst/>
                    <a:uLnTx/>
                    <a:uFillTx/>
                    <a:ea typeface="+mn-ea"/>
                    <a:cs typeface="+mn-cs"/>
                  </a:rPr>
                  <a:t>a.</a:t>
                </a:r>
                <a14:m>
                  <m:oMath xmlns:m="http://schemas.openxmlformats.org/officeDocument/2006/math">
                    <m:sSup>
                      <m:sSupPr>
                        <m:ctrlPr>
                          <a:rPr lang="en-GB" sz="1200" i="1" noProof="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+4</m:t>
                    </m:r>
                    <m:r>
                      <a:rPr lang="en-GB" sz="1200" i="1" noProof="0" smtClean="0">
                        <a:latin typeface="Cambria Math" panose="02040503050406030204" pitchFamily="18" charset="0"/>
                      </a:rPr>
                      <m:t>𝑥</m:t>
                    </m:r>
                    <m:r>
                      <a:rPr lang="en-GB" sz="1200" i="1" noProof="0" smtClean="0">
                        <a:latin typeface="Cambria Math" panose="02040503050406030204" pitchFamily="18" charset="0"/>
                      </a:rPr>
                      <m:t>+4=0</m:t>
                    </m:r>
                  </m:oMath>
                </a14:m>
                <a:endParaRPr lang="en-GB" sz="1200" noProof="0" dirty="0"/>
              </a:p>
            </p:txBody>
          </p:sp>
        </mc:Choice>
        <mc:Fallback xmlns="">
          <p:sp>
            <p:nvSpPr>
              <p:cNvPr id="14" name="TextBox 13">
                <a:extLst>
                  <a:ext uri="{FF2B5EF4-FFF2-40B4-BE49-F238E27FC236}">
                    <a16:creationId xmlns:a16="http://schemas.microsoft.com/office/drawing/2014/main" id="{24E86A81-6FB6-0CBB-DDE4-E2F08F28C9B4}"/>
                  </a:ext>
                </a:extLst>
              </p:cNvPr>
              <p:cNvSpPr txBox="1">
                <a:spLocks noRot="1" noChangeAspect="1" noMove="1" noResize="1" noEditPoints="1" noAdjustHandles="1" noChangeArrowheads="1" noChangeShapeType="1" noTextEdit="1"/>
              </p:cNvSpPr>
              <p:nvPr/>
            </p:nvSpPr>
            <p:spPr>
              <a:xfrm>
                <a:off x="562389" y="5955453"/>
                <a:ext cx="1184363" cy="184666"/>
              </a:xfrm>
              <a:prstGeom prst="rect">
                <a:avLst/>
              </a:prstGeom>
              <a:blipFill>
                <a:blip r:embed="rId4"/>
                <a:stretch>
                  <a:fillRect l="-7692" t="-23333" r="-3590" b="-5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6A908F0-2C11-7730-20A0-C90A3ED86849}"/>
                  </a:ext>
                </a:extLst>
              </p:cNvPr>
              <p:cNvSpPr txBox="1"/>
              <p:nvPr/>
            </p:nvSpPr>
            <p:spPr>
              <a:xfrm>
                <a:off x="2800210" y="5950152"/>
                <a:ext cx="1226041" cy="369332"/>
              </a:xfrm>
              <a:prstGeom prst="rect">
                <a:avLst/>
              </a:prstGeom>
              <a:noFill/>
            </p:spPr>
            <p:txBody>
              <a:bodyPr wrap="none" lIns="0" tIns="0" rIns="0" bIns="0" rtlCol="0">
                <a:spAutoFit/>
              </a:bodyPr>
              <a:lstStyle/>
              <a:p>
                <a:pPr defTabSz="457200">
                  <a:defRPr/>
                </a:pPr>
                <a:r>
                  <a:rPr kumimoji="0" lang="en-GB" sz="1200" b="0" u="none" strike="noStrike" kern="1200" cap="none" spc="0" normalizeH="0" baseline="0" noProof="0" dirty="0">
                    <a:ln>
                      <a:noFill/>
                    </a:ln>
                    <a:solidFill>
                      <a:schemeClr val="tx1"/>
                    </a:solidFill>
                    <a:effectLst/>
                    <a:uLnTx/>
                    <a:uFillTx/>
                    <a:ea typeface="+mn-ea"/>
                    <a:cs typeface="+mn-cs"/>
                  </a:rPr>
                  <a:t>b. </a:t>
                </a:r>
                <a14:m>
                  <m:oMath xmlns:m="http://schemas.openxmlformats.org/officeDocument/2006/math">
                    <m:sSup>
                      <m:sSupPr>
                        <m:ctrlPr>
                          <a:rPr lang="en-GB" sz="1200" i="1" noProof="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+5</m:t>
                    </m:r>
                    <m:r>
                      <a:rPr lang="en-GB" sz="1200" i="1" noProof="0" smtClean="0">
                        <a:latin typeface="Cambria Math" panose="02040503050406030204" pitchFamily="18" charset="0"/>
                      </a:rPr>
                      <m:t>𝑥</m:t>
                    </m:r>
                    <m:r>
                      <a:rPr lang="en-GB" sz="1200" i="1" noProof="0" smtClean="0">
                        <a:latin typeface="Cambria Math" panose="02040503050406030204" pitchFamily="18" charset="0"/>
                      </a:rPr>
                      <m:t>+6=0</m:t>
                    </m:r>
                  </m:oMath>
                </a14:m>
                <a:endParaRPr lang="en-GB" sz="1200" noProof="0" dirty="0"/>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mc:Choice>
        <mc:Fallback xmlns="">
          <p:sp>
            <p:nvSpPr>
              <p:cNvPr id="15" name="TextBox 14">
                <a:extLst>
                  <a:ext uri="{FF2B5EF4-FFF2-40B4-BE49-F238E27FC236}">
                    <a16:creationId xmlns:a16="http://schemas.microsoft.com/office/drawing/2014/main" id="{D6A908F0-2C11-7730-20A0-C90A3ED86849}"/>
                  </a:ext>
                </a:extLst>
              </p:cNvPr>
              <p:cNvSpPr txBox="1">
                <a:spLocks noRot="1" noChangeAspect="1" noMove="1" noResize="1" noEditPoints="1" noAdjustHandles="1" noChangeArrowheads="1" noChangeShapeType="1" noTextEdit="1"/>
              </p:cNvSpPr>
              <p:nvPr/>
            </p:nvSpPr>
            <p:spPr>
              <a:xfrm>
                <a:off x="2800210" y="5950152"/>
                <a:ext cx="1226041" cy="369332"/>
              </a:xfrm>
              <a:prstGeom prst="rect">
                <a:avLst/>
              </a:prstGeom>
              <a:blipFill>
                <a:blip r:embed="rId5"/>
                <a:stretch>
                  <a:fillRect l="-7463" t="-11475" r="-34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2759810-0798-B432-4F1C-FA1865113A52}"/>
                  </a:ext>
                </a:extLst>
              </p:cNvPr>
              <p:cNvSpPr txBox="1"/>
              <p:nvPr/>
            </p:nvSpPr>
            <p:spPr>
              <a:xfrm>
                <a:off x="4909534" y="6011657"/>
                <a:ext cx="1381532" cy="184666"/>
              </a:xfrm>
              <a:prstGeom prst="rect">
                <a:avLst/>
              </a:prstGeom>
              <a:noFill/>
            </p:spPr>
            <p:txBody>
              <a:bodyPr wrap="none" lIns="0" tIns="0" rIns="0" bIns="0" rtlCol="0">
                <a:spAutoFit/>
              </a:bodyPr>
              <a:lstStyle/>
              <a:p>
                <a:pPr defTabSz="685800">
                  <a:defRPr/>
                </a:pPr>
                <a:r>
                  <a:rPr lang="en-GB" sz="1200" noProof="0" dirty="0"/>
                  <a:t>c. </a:t>
                </a:r>
                <a14:m>
                  <m:oMath xmlns:m="http://schemas.openxmlformats.org/officeDocument/2006/math">
                    <m:sSup>
                      <m:sSupPr>
                        <m:ctrlPr>
                          <a:rPr lang="en-GB" sz="1200" i="1" noProof="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+10</m:t>
                    </m:r>
                    <m:r>
                      <a:rPr lang="en-GB" sz="1200" i="1" noProof="0" smtClean="0">
                        <a:latin typeface="Cambria Math" panose="02040503050406030204" pitchFamily="18" charset="0"/>
                      </a:rPr>
                      <m:t>𝑥</m:t>
                    </m:r>
                    <m:r>
                      <a:rPr lang="en-GB" sz="1200" i="1" noProof="0" smtClean="0">
                        <a:latin typeface="Cambria Math" panose="02040503050406030204" pitchFamily="18" charset="0"/>
                      </a:rPr>
                      <m:t>+24=0</m:t>
                    </m:r>
                  </m:oMath>
                </a14:m>
                <a:endParaRPr lang="en-GB" sz="1200" noProof="0" dirty="0"/>
              </a:p>
            </p:txBody>
          </p:sp>
        </mc:Choice>
        <mc:Fallback xmlns="">
          <p:sp>
            <p:nvSpPr>
              <p:cNvPr id="16" name="TextBox 15">
                <a:extLst>
                  <a:ext uri="{FF2B5EF4-FFF2-40B4-BE49-F238E27FC236}">
                    <a16:creationId xmlns:a16="http://schemas.microsoft.com/office/drawing/2014/main" id="{02759810-0798-B432-4F1C-FA1865113A52}"/>
                  </a:ext>
                </a:extLst>
              </p:cNvPr>
              <p:cNvSpPr txBox="1">
                <a:spLocks noRot="1" noChangeAspect="1" noMove="1" noResize="1" noEditPoints="1" noAdjustHandles="1" noChangeArrowheads="1" noChangeShapeType="1" noTextEdit="1"/>
              </p:cNvSpPr>
              <p:nvPr/>
            </p:nvSpPr>
            <p:spPr>
              <a:xfrm>
                <a:off x="4909534" y="6011657"/>
                <a:ext cx="1381532" cy="184666"/>
              </a:xfrm>
              <a:prstGeom prst="rect">
                <a:avLst/>
              </a:prstGeom>
              <a:blipFill>
                <a:blip r:embed="rId6"/>
                <a:stretch>
                  <a:fillRect l="-6608" t="-23333" r="-3084" b="-5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77CBE5E6-94D8-B634-6B33-4D5818F155CF}"/>
                  </a:ext>
                </a:extLst>
              </p:cNvPr>
              <p:cNvSpPr txBox="1"/>
              <p:nvPr/>
            </p:nvSpPr>
            <p:spPr>
              <a:xfrm>
                <a:off x="562389" y="7867358"/>
                <a:ext cx="1115729" cy="247119"/>
              </a:xfrm>
              <a:prstGeom prst="rect">
                <a:avLst/>
              </a:prstGeom>
              <a:noFill/>
            </p:spPr>
            <p:txBody>
              <a:bodyPr wrap="square" lIns="0" tIns="0" rIns="0" bIns="0" rtlCol="0">
                <a:spAutoFit/>
              </a:bodyPr>
              <a:lstStyle/>
              <a:p>
                <a:pPr>
                  <a:lnSpc>
                    <a:spcPct val="150000"/>
                  </a:lnSpc>
                </a:pPr>
                <a:r>
                  <a:rPr lang="en-GB" sz="1200" noProof="0" dirty="0"/>
                  <a:t>d. </a:t>
                </a:r>
                <a14:m>
                  <m:oMath xmlns:m="http://schemas.openxmlformats.org/officeDocument/2006/math">
                    <m:sSup>
                      <m:sSupPr>
                        <m:ctrlPr>
                          <a:rPr lang="en-GB" sz="1200" i="1" noProof="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r>
                      <a:rPr lang="en-GB" sz="1200" i="1" noProof="0">
                        <a:latin typeface="Cambria Math" panose="02040503050406030204" pitchFamily="18" charset="0"/>
                      </a:rPr>
                      <m:t>+20=9</m:t>
                    </m:r>
                    <m:r>
                      <a:rPr lang="en-GB" sz="1200" i="1" noProof="0">
                        <a:latin typeface="Cambria Math" panose="02040503050406030204" pitchFamily="18" charset="0"/>
                      </a:rPr>
                      <m:t>𝑥</m:t>
                    </m:r>
                  </m:oMath>
                </a14:m>
                <a:r>
                  <a:rPr lang="en-GB" sz="1200" noProof="0" dirty="0"/>
                  <a:t> </a:t>
                </a:r>
              </a:p>
            </p:txBody>
          </p:sp>
        </mc:Choice>
        <mc:Fallback xmlns="">
          <p:sp>
            <p:nvSpPr>
              <p:cNvPr id="68" name="TextBox 67">
                <a:extLst>
                  <a:ext uri="{FF2B5EF4-FFF2-40B4-BE49-F238E27FC236}">
                    <a16:creationId xmlns:a16="http://schemas.microsoft.com/office/drawing/2014/main" id="{77CBE5E6-94D8-B634-6B33-4D5818F155CF}"/>
                  </a:ext>
                </a:extLst>
              </p:cNvPr>
              <p:cNvSpPr txBox="1">
                <a:spLocks noRot="1" noChangeAspect="1" noMove="1" noResize="1" noEditPoints="1" noAdjustHandles="1" noChangeArrowheads="1" noChangeShapeType="1" noTextEdit="1"/>
              </p:cNvSpPr>
              <p:nvPr/>
            </p:nvSpPr>
            <p:spPr>
              <a:xfrm>
                <a:off x="562389" y="7867358"/>
                <a:ext cx="1115729" cy="247119"/>
              </a:xfrm>
              <a:prstGeom prst="rect">
                <a:avLst/>
              </a:prstGeom>
              <a:blipFill>
                <a:blip r:embed="rId10"/>
                <a:stretch>
                  <a:fillRect l="-8197" b="-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55C524BF-1684-E8E1-E687-EB8DA22F6263}"/>
                  </a:ext>
                </a:extLst>
              </p:cNvPr>
              <p:cNvSpPr txBox="1"/>
              <p:nvPr/>
            </p:nvSpPr>
            <p:spPr>
              <a:xfrm>
                <a:off x="2731826" y="7911759"/>
                <a:ext cx="1198719" cy="525400"/>
              </a:xfrm>
              <a:prstGeom prst="rect">
                <a:avLst/>
              </a:prstGeom>
              <a:noFill/>
            </p:spPr>
            <p:txBody>
              <a:bodyPr wrap="square" lIns="0" tIns="0" rIns="0" bIns="0" rtlCol="0">
                <a:spAutoFit/>
              </a:bodyPr>
              <a:lstStyle/>
              <a:p>
                <a:pPr>
                  <a:lnSpc>
                    <a:spcPct val="150000"/>
                  </a:lnSpc>
                </a:pPr>
                <a:r>
                  <a:rPr lang="en-GB" sz="1200" noProof="0" dirty="0"/>
                  <a:t>e. </a:t>
                </a:r>
                <a14:m>
                  <m:oMath xmlns:m="http://schemas.openxmlformats.org/officeDocument/2006/math">
                    <m:sSup>
                      <m:sSupPr>
                        <m:ctrlPr>
                          <a:rPr lang="en-GB" sz="1200" i="1" noProof="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r>
                      <a:rPr lang="en-GB" sz="1200" i="1" noProof="0">
                        <a:latin typeface="Cambria Math" panose="02040503050406030204" pitchFamily="18" charset="0"/>
                      </a:rPr>
                      <m:t>=12</m:t>
                    </m:r>
                    <m:r>
                      <a:rPr lang="en-GB" sz="1200" i="1" noProof="0">
                        <a:latin typeface="Cambria Math" panose="02040503050406030204" pitchFamily="18" charset="0"/>
                      </a:rPr>
                      <m:t>𝑥</m:t>
                    </m:r>
                    <m:r>
                      <a:rPr lang="en-GB" sz="1200" i="1" noProof="0">
                        <a:latin typeface="Cambria Math" panose="02040503050406030204" pitchFamily="18" charset="0"/>
                      </a:rPr>
                      <m:t> −20</m:t>
                    </m:r>
                  </m:oMath>
                </a14:m>
                <a:endParaRPr lang="en-GB" sz="1200" noProof="0" dirty="0"/>
              </a:p>
              <a:p>
                <a:pPr>
                  <a:lnSpc>
                    <a:spcPct val="150000"/>
                  </a:lnSpc>
                </a:pPr>
                <a:endParaRPr lang="en-GB" sz="1200" noProof="0" dirty="0"/>
              </a:p>
            </p:txBody>
          </p:sp>
        </mc:Choice>
        <mc:Fallback xmlns="">
          <p:sp>
            <p:nvSpPr>
              <p:cNvPr id="69" name="TextBox 68">
                <a:extLst>
                  <a:ext uri="{FF2B5EF4-FFF2-40B4-BE49-F238E27FC236}">
                    <a16:creationId xmlns:a16="http://schemas.microsoft.com/office/drawing/2014/main" id="{55C524BF-1684-E8E1-E687-EB8DA22F6263}"/>
                  </a:ext>
                </a:extLst>
              </p:cNvPr>
              <p:cNvSpPr txBox="1">
                <a:spLocks noRot="1" noChangeAspect="1" noMove="1" noResize="1" noEditPoints="1" noAdjustHandles="1" noChangeArrowheads="1" noChangeShapeType="1" noTextEdit="1"/>
              </p:cNvSpPr>
              <p:nvPr/>
            </p:nvSpPr>
            <p:spPr>
              <a:xfrm>
                <a:off x="2731826" y="7911759"/>
                <a:ext cx="1198719" cy="525400"/>
              </a:xfrm>
              <a:prstGeom prst="rect">
                <a:avLst/>
              </a:prstGeom>
              <a:blipFill>
                <a:blip r:embed="rId11"/>
                <a:stretch>
                  <a:fillRect l="-76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D1F4667-31D3-1178-E28A-F9E003546E2A}"/>
                  </a:ext>
                </a:extLst>
              </p:cNvPr>
              <p:cNvSpPr txBox="1"/>
              <p:nvPr/>
            </p:nvSpPr>
            <p:spPr>
              <a:xfrm>
                <a:off x="4969299" y="7911759"/>
                <a:ext cx="998412" cy="184666"/>
              </a:xfrm>
              <a:prstGeom prst="rect">
                <a:avLst/>
              </a:prstGeom>
              <a:noFill/>
            </p:spPr>
            <p:txBody>
              <a:bodyPr wrap="square" lIns="0" tIns="0" rIns="0" bIns="0" rtlCol="0">
                <a:spAutoFit/>
              </a:bodyPr>
              <a:lstStyle/>
              <a:p>
                <a:pPr defTabSz="685800">
                  <a:defRPr/>
                </a:pPr>
                <a:r>
                  <a:rPr lang="en-GB" sz="1200" noProof="0" dirty="0"/>
                  <a:t>f. </a:t>
                </a:r>
                <a14:m>
                  <m:oMath xmlns:m="http://schemas.openxmlformats.org/officeDocument/2006/math">
                    <m:r>
                      <a:rPr lang="en-GB" sz="1200" i="1" noProof="0">
                        <a:latin typeface="Cambria Math" panose="02040503050406030204" pitchFamily="18" charset="0"/>
                      </a:rPr>
                      <m:t>1</m:t>
                    </m:r>
                    <m:r>
                      <a:rPr lang="en-GB" sz="1200" b="0" i="1" noProof="0" smtClean="0">
                        <a:latin typeface="Cambria Math" panose="02040503050406030204" pitchFamily="18" charset="0"/>
                      </a:rPr>
                      <m:t>5</m:t>
                    </m:r>
                    <m:r>
                      <a:rPr lang="en-GB" sz="1200" i="1" noProof="0">
                        <a:latin typeface="Cambria Math" panose="02040503050406030204" pitchFamily="18" charset="0"/>
                      </a:rPr>
                      <m:t>=</m:t>
                    </m:r>
                    <m:r>
                      <a:rPr lang="en-GB" sz="1200" b="0" i="1" noProof="0" smtClean="0">
                        <a:latin typeface="Cambria Math" panose="02040503050406030204" pitchFamily="18" charset="0"/>
                      </a:rPr>
                      <m:t>8</m:t>
                    </m:r>
                    <m:r>
                      <a:rPr lang="en-GB" sz="1200" b="0" i="1" noProof="0" smtClean="0">
                        <a:latin typeface="Cambria Math" panose="02040503050406030204" pitchFamily="18" charset="0"/>
                      </a:rPr>
                      <m:t>𝑥</m:t>
                    </m:r>
                    <m:sSup>
                      <m:sSupPr>
                        <m:ctrlPr>
                          <a:rPr lang="en-GB" sz="1200" i="1" noProof="0">
                            <a:latin typeface="Cambria Math" panose="02040503050406030204" pitchFamily="18" charset="0"/>
                          </a:rPr>
                        </m:ctrlPr>
                      </m:sSupPr>
                      <m:e>
                        <m:r>
                          <a:rPr lang="en-GB" sz="1200" i="1" noProof="0">
                            <a:latin typeface="Cambria Math" panose="02040503050406030204" pitchFamily="18" charset="0"/>
                          </a:rPr>
                          <m:t>−</m:t>
                        </m:r>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oMath>
                </a14:m>
                <a:endParaRPr lang="en-GB" sz="1200" noProof="0" dirty="0"/>
              </a:p>
            </p:txBody>
          </p:sp>
        </mc:Choice>
        <mc:Fallback xmlns="">
          <p:sp>
            <p:nvSpPr>
              <p:cNvPr id="70" name="TextBox 69">
                <a:extLst>
                  <a:ext uri="{FF2B5EF4-FFF2-40B4-BE49-F238E27FC236}">
                    <a16:creationId xmlns:a16="http://schemas.microsoft.com/office/drawing/2014/main" id="{ED1F4667-31D3-1178-E28A-F9E003546E2A}"/>
                  </a:ext>
                </a:extLst>
              </p:cNvPr>
              <p:cNvSpPr txBox="1">
                <a:spLocks noRot="1" noChangeAspect="1" noMove="1" noResize="1" noEditPoints="1" noAdjustHandles="1" noChangeArrowheads="1" noChangeShapeType="1" noTextEdit="1"/>
              </p:cNvSpPr>
              <p:nvPr/>
            </p:nvSpPr>
            <p:spPr>
              <a:xfrm>
                <a:off x="4969299" y="7911759"/>
                <a:ext cx="998412" cy="184666"/>
              </a:xfrm>
              <a:prstGeom prst="rect">
                <a:avLst/>
              </a:prstGeom>
              <a:blipFill>
                <a:blip r:embed="rId12"/>
                <a:stretch>
                  <a:fillRect l="-9146" t="-23333" b="-5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B47D7412-33E6-803A-1F82-9469CD2BF092}"/>
                  </a:ext>
                </a:extLst>
              </p:cNvPr>
              <p:cNvSpPr txBox="1"/>
              <p:nvPr/>
            </p:nvSpPr>
            <p:spPr>
              <a:xfrm>
                <a:off x="2026583" y="5458266"/>
                <a:ext cx="4886698" cy="461665"/>
              </a:xfrm>
              <a:prstGeom prst="rect">
                <a:avLst/>
              </a:prstGeom>
              <a:noFill/>
            </p:spPr>
            <p:txBody>
              <a:bodyPr wrap="square" rtlCol="0">
                <a:spAutoFit/>
              </a:bodyPr>
              <a:lstStyle/>
              <a:p>
                <a:r>
                  <a:rPr lang="en-GB" sz="1200" noProof="0" dirty="0">
                    <a:latin typeface="Calibri" panose="020F0502020204030204" pitchFamily="34" charset="0"/>
                    <a:cs typeface="Calibri" panose="020F0502020204030204" pitchFamily="34" charset="0"/>
                  </a:rPr>
                  <a:t>1. Solve each equation </a:t>
                </a:r>
                <a:r>
                  <a:rPr lang="en-GB" sz="1200" b="1" noProof="0" dirty="0">
                    <a:latin typeface="Calibri" panose="020F0502020204030204" pitchFamily="34" charset="0"/>
                    <a:cs typeface="Calibri" panose="020F0502020204030204" pitchFamily="34" charset="0"/>
                  </a:rPr>
                  <a:t>by factorising first</a:t>
                </a:r>
                <a:r>
                  <a:rPr lang="en-GB" sz="1200" noProof="0" dirty="0">
                    <a:latin typeface="Calibri" panose="020F0502020204030204" pitchFamily="34" charset="0"/>
                    <a:cs typeface="Calibri" panose="020F0502020204030204" pitchFamily="34" charset="0"/>
                  </a:rPr>
                  <a:t>.</a:t>
                </a:r>
              </a:p>
              <a:p>
                <a:r>
                  <a:rPr lang="en-GB" sz="1200" noProof="0" dirty="0">
                    <a:latin typeface="Calibri" panose="020F0502020204030204" pitchFamily="34" charset="0"/>
                    <a:cs typeface="Calibri" panose="020F0502020204030204" pitchFamily="34" charset="0"/>
                  </a:rPr>
                  <a:t>You will have to check the equation is in the form </a:t>
                </a:r>
                <a14:m>
                  <m:oMath xmlns:m="http://schemas.openxmlformats.org/officeDocument/2006/math">
                    <m:sSup>
                      <m:sSupPr>
                        <m:ctrlPr>
                          <a:rPr lang="en-GB" sz="1200" b="0" i="1" noProof="0" smtClean="0">
                            <a:latin typeface="Cambria Math" panose="02040503050406030204" pitchFamily="18" charset="0"/>
                            <a:cs typeface="Calibri" panose="020F0502020204030204" pitchFamily="34" charset="0"/>
                          </a:rPr>
                        </m:ctrlPr>
                      </m:sSupPr>
                      <m:e>
                        <m:r>
                          <a:rPr lang="en-GB" sz="1200" b="0" i="1" noProof="0" smtClean="0">
                            <a:latin typeface="Cambria Math" panose="02040503050406030204" pitchFamily="18" charset="0"/>
                            <a:cs typeface="Calibri" panose="020F0502020204030204" pitchFamily="34" charset="0"/>
                          </a:rPr>
                          <m:t>𝑥</m:t>
                        </m:r>
                      </m:e>
                      <m:sup>
                        <m:r>
                          <a:rPr lang="en-GB" sz="1200" b="0" i="1" noProof="0" smtClean="0">
                            <a:latin typeface="Cambria Math" panose="02040503050406030204" pitchFamily="18" charset="0"/>
                            <a:cs typeface="Calibri" panose="020F0502020204030204" pitchFamily="34" charset="0"/>
                          </a:rPr>
                          <m:t>2</m:t>
                        </m:r>
                      </m:sup>
                    </m:sSup>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𝑏𝑥</m:t>
                    </m:r>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𝑐</m:t>
                    </m:r>
                    <m:r>
                      <a:rPr lang="en-GB" sz="1200" b="0" i="1" noProof="0" smtClean="0">
                        <a:latin typeface="Cambria Math" panose="02040503050406030204" pitchFamily="18" charset="0"/>
                        <a:cs typeface="Calibri" panose="020F0502020204030204" pitchFamily="34" charset="0"/>
                      </a:rPr>
                      <m:t>=0</m:t>
                    </m:r>
                  </m:oMath>
                </a14:m>
                <a:r>
                  <a:rPr lang="en-GB" sz="1200" noProof="0" dirty="0">
                    <a:latin typeface="Calibri" panose="020F0502020204030204" pitchFamily="34" charset="0"/>
                    <a:cs typeface="Calibri" panose="020F0502020204030204" pitchFamily="34" charset="0"/>
                  </a:rPr>
                  <a:t> </a:t>
                </a:r>
              </a:p>
            </p:txBody>
          </p:sp>
        </mc:Choice>
        <mc:Fallback xmlns="">
          <p:sp>
            <p:nvSpPr>
              <p:cNvPr id="79" name="TextBox 78">
                <a:extLst>
                  <a:ext uri="{FF2B5EF4-FFF2-40B4-BE49-F238E27FC236}">
                    <a16:creationId xmlns:a16="http://schemas.microsoft.com/office/drawing/2014/main" id="{B47D7412-33E6-803A-1F82-9469CD2BF092}"/>
                  </a:ext>
                </a:extLst>
              </p:cNvPr>
              <p:cNvSpPr txBox="1">
                <a:spLocks noRot="1" noChangeAspect="1" noMove="1" noResize="1" noEditPoints="1" noAdjustHandles="1" noChangeArrowheads="1" noChangeShapeType="1" noTextEdit="1"/>
              </p:cNvSpPr>
              <p:nvPr/>
            </p:nvSpPr>
            <p:spPr>
              <a:xfrm>
                <a:off x="2026583" y="5458266"/>
                <a:ext cx="4886698" cy="461665"/>
              </a:xfrm>
              <a:prstGeom prst="rect">
                <a:avLst/>
              </a:prstGeom>
              <a:blipFill>
                <a:blip r:embed="rId16"/>
                <a:stretch>
                  <a:fillRect b="-10526"/>
                </a:stretch>
              </a:blipFill>
            </p:spPr>
            <p:txBody>
              <a:bodyPr/>
              <a:lstStyle/>
              <a:p>
                <a:r>
                  <a:rPr lang="en-US">
                    <a:noFill/>
                  </a:rPr>
                  <a:t> </a:t>
                </a:r>
              </a:p>
            </p:txBody>
          </p:sp>
        </mc:Fallback>
      </mc:AlternateContent>
      <p:graphicFrame>
        <p:nvGraphicFramePr>
          <p:cNvPr id="80" name="Table 79">
            <a:extLst>
              <a:ext uri="{FF2B5EF4-FFF2-40B4-BE49-F238E27FC236}">
                <a16:creationId xmlns:a16="http://schemas.microsoft.com/office/drawing/2014/main" id="{0BB656B7-CEAD-54D5-ABA2-1BCA6968816D}"/>
              </a:ext>
            </a:extLst>
          </p:cNvPr>
          <p:cNvGraphicFramePr>
            <a:graphicFrameLocks noGrp="1"/>
          </p:cNvGraphicFramePr>
          <p:nvPr>
            <p:extLst>
              <p:ext uri="{D42A27DB-BD31-4B8C-83A1-F6EECF244321}">
                <p14:modId xmlns:p14="http://schemas.microsoft.com/office/powerpoint/2010/main" val="3766679235"/>
              </p:ext>
            </p:extLst>
          </p:nvPr>
        </p:nvGraphicFramePr>
        <p:xfrm>
          <a:off x="115459" y="5900967"/>
          <a:ext cx="6654033" cy="3870050"/>
        </p:xfrm>
        <a:graphic>
          <a:graphicData uri="http://schemas.openxmlformats.org/drawingml/2006/table">
            <a:tbl>
              <a:tblPr firstRow="1" bandRow="1">
                <a:tableStyleId>{5C22544A-7EE6-4342-B048-85BDC9FD1C3A}</a:tableStyleId>
              </a:tblPr>
              <a:tblGrid>
                <a:gridCol w="2218011">
                  <a:extLst>
                    <a:ext uri="{9D8B030D-6E8A-4147-A177-3AD203B41FA5}">
                      <a16:colId xmlns:a16="http://schemas.microsoft.com/office/drawing/2014/main" val="3416969453"/>
                    </a:ext>
                  </a:extLst>
                </a:gridCol>
                <a:gridCol w="2218011">
                  <a:extLst>
                    <a:ext uri="{9D8B030D-6E8A-4147-A177-3AD203B41FA5}">
                      <a16:colId xmlns:a16="http://schemas.microsoft.com/office/drawing/2014/main" val="452260287"/>
                    </a:ext>
                  </a:extLst>
                </a:gridCol>
                <a:gridCol w="2218011">
                  <a:extLst>
                    <a:ext uri="{9D8B030D-6E8A-4147-A177-3AD203B41FA5}">
                      <a16:colId xmlns:a16="http://schemas.microsoft.com/office/drawing/2014/main" val="587074754"/>
                    </a:ext>
                  </a:extLst>
                </a:gridCol>
              </a:tblGrid>
              <a:tr h="1935025">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2197759"/>
                  </a:ext>
                </a:extLst>
              </a:tr>
              <a:tr h="1935025">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1877346"/>
                  </a:ext>
                </a:extLst>
              </a:tr>
            </a:tbl>
          </a:graphicData>
        </a:graphic>
      </p:graphicFrame>
    </p:spTree>
    <p:extLst>
      <p:ext uri="{BB962C8B-B14F-4D97-AF65-F5344CB8AC3E}">
        <p14:creationId xmlns:p14="http://schemas.microsoft.com/office/powerpoint/2010/main" val="314270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FAD8D-44E6-FA6C-D0A4-5E01FB3F6256}"/>
            </a:ext>
          </a:extLst>
        </p:cNvPr>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4CA61342-E9CF-E17F-77B9-CB9777DA905F}"/>
              </a:ext>
            </a:extLst>
          </p:cNvPr>
          <p:cNvGraphicFramePr>
            <a:graphicFrameLocks noGrp="1"/>
          </p:cNvGraphicFramePr>
          <p:nvPr>
            <p:extLst>
              <p:ext uri="{D42A27DB-BD31-4B8C-83A1-F6EECF244321}">
                <p14:modId xmlns:p14="http://schemas.microsoft.com/office/powerpoint/2010/main" val="1589787343"/>
              </p:ext>
            </p:extLst>
          </p:nvPr>
        </p:nvGraphicFramePr>
        <p:xfrm>
          <a:off x="119700" y="6304663"/>
          <a:ext cx="6649791" cy="3350862"/>
        </p:xfrm>
        <a:graphic>
          <a:graphicData uri="http://schemas.openxmlformats.org/drawingml/2006/table">
            <a:tbl>
              <a:tblPr firstRow="1" bandRow="1">
                <a:tableStyleId>{5C22544A-7EE6-4342-B048-85BDC9FD1C3A}</a:tableStyleId>
              </a:tblPr>
              <a:tblGrid>
                <a:gridCol w="2216597">
                  <a:extLst>
                    <a:ext uri="{9D8B030D-6E8A-4147-A177-3AD203B41FA5}">
                      <a16:colId xmlns:a16="http://schemas.microsoft.com/office/drawing/2014/main" val="2782121649"/>
                    </a:ext>
                  </a:extLst>
                </a:gridCol>
                <a:gridCol w="2216597">
                  <a:extLst>
                    <a:ext uri="{9D8B030D-6E8A-4147-A177-3AD203B41FA5}">
                      <a16:colId xmlns:a16="http://schemas.microsoft.com/office/drawing/2014/main" val="2706371298"/>
                    </a:ext>
                  </a:extLst>
                </a:gridCol>
                <a:gridCol w="2216597">
                  <a:extLst>
                    <a:ext uri="{9D8B030D-6E8A-4147-A177-3AD203B41FA5}">
                      <a16:colId xmlns:a16="http://schemas.microsoft.com/office/drawing/2014/main" val="1860225894"/>
                    </a:ext>
                  </a:extLst>
                </a:gridCol>
              </a:tblGrid>
              <a:tr h="3350862">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7668064"/>
                  </a:ext>
                </a:extLst>
              </a:tr>
            </a:tbl>
          </a:graphicData>
        </a:graphic>
      </p:graphicFrame>
      <p:graphicFrame>
        <p:nvGraphicFramePr>
          <p:cNvPr id="80" name="Table 79">
            <a:extLst>
              <a:ext uri="{FF2B5EF4-FFF2-40B4-BE49-F238E27FC236}">
                <a16:creationId xmlns:a16="http://schemas.microsoft.com/office/drawing/2014/main" id="{9370F338-1C3B-3B4D-E2F4-CAC85BCAA218}"/>
              </a:ext>
            </a:extLst>
          </p:cNvPr>
          <p:cNvGraphicFramePr>
            <a:graphicFrameLocks noGrp="1"/>
          </p:cNvGraphicFramePr>
          <p:nvPr>
            <p:extLst>
              <p:ext uri="{D42A27DB-BD31-4B8C-83A1-F6EECF244321}">
                <p14:modId xmlns:p14="http://schemas.microsoft.com/office/powerpoint/2010/main" val="2730899454"/>
              </p:ext>
            </p:extLst>
          </p:nvPr>
        </p:nvGraphicFramePr>
        <p:xfrm>
          <a:off x="115459" y="442701"/>
          <a:ext cx="6654033" cy="5260762"/>
        </p:xfrm>
        <a:graphic>
          <a:graphicData uri="http://schemas.openxmlformats.org/drawingml/2006/table">
            <a:tbl>
              <a:tblPr firstRow="1" bandRow="1">
                <a:tableStyleId>{5C22544A-7EE6-4342-B048-85BDC9FD1C3A}</a:tableStyleId>
              </a:tblPr>
              <a:tblGrid>
                <a:gridCol w="2218011">
                  <a:extLst>
                    <a:ext uri="{9D8B030D-6E8A-4147-A177-3AD203B41FA5}">
                      <a16:colId xmlns:a16="http://schemas.microsoft.com/office/drawing/2014/main" val="3416969453"/>
                    </a:ext>
                  </a:extLst>
                </a:gridCol>
                <a:gridCol w="2218011">
                  <a:extLst>
                    <a:ext uri="{9D8B030D-6E8A-4147-A177-3AD203B41FA5}">
                      <a16:colId xmlns:a16="http://schemas.microsoft.com/office/drawing/2014/main" val="452260287"/>
                    </a:ext>
                  </a:extLst>
                </a:gridCol>
                <a:gridCol w="2218011">
                  <a:extLst>
                    <a:ext uri="{9D8B030D-6E8A-4147-A177-3AD203B41FA5}">
                      <a16:colId xmlns:a16="http://schemas.microsoft.com/office/drawing/2014/main" val="587074754"/>
                    </a:ext>
                  </a:extLst>
                </a:gridCol>
              </a:tblGrid>
              <a:tr h="2630381">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2197759"/>
                  </a:ext>
                </a:extLst>
              </a:tr>
              <a:tr h="2630381">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1877346"/>
                  </a:ext>
                </a:extLst>
              </a:tr>
            </a:tbl>
          </a:graphicData>
        </a:graphic>
      </p:graphicFrame>
      <p:sp>
        <p:nvSpPr>
          <p:cNvPr id="18" name="Slide Number Placeholder 17">
            <a:extLst>
              <a:ext uri="{FF2B5EF4-FFF2-40B4-BE49-F238E27FC236}">
                <a16:creationId xmlns:a16="http://schemas.microsoft.com/office/drawing/2014/main" id="{32D7914E-3668-E850-8FB9-4CCCF4545546}"/>
              </a:ext>
            </a:extLst>
          </p:cNvPr>
          <p:cNvSpPr>
            <a:spLocks noGrp="1"/>
          </p:cNvSpPr>
          <p:nvPr>
            <p:ph type="sldNum" sz="quarter" idx="12"/>
          </p:nvPr>
        </p:nvSpPr>
        <p:spPr>
          <a:xfrm>
            <a:off x="5370231" y="9548817"/>
            <a:ext cx="1543050" cy="527403"/>
          </a:xfrm>
        </p:spPr>
        <p:txBody>
          <a:bodyPr/>
          <a:lstStyle/>
          <a:p>
            <a:fld id="{19F1D9CC-7119-45EC-A96C-D8C0660F3AAB}" type="slidenum">
              <a:rPr lang="en-GB" noProof="0" smtClean="0">
                <a:solidFill>
                  <a:schemeClr val="bg1"/>
                </a:solidFill>
              </a:rPr>
              <a:t>21</a:t>
            </a:fld>
            <a:endParaRPr lang="en-GB" noProof="0" dirty="0">
              <a:solidFill>
                <a:schemeClr val="bg1"/>
              </a:solidFill>
            </a:endParaRPr>
          </a:p>
        </p:txBody>
      </p:sp>
      <p:sp>
        <p:nvSpPr>
          <p:cNvPr id="65" name="Slide Number Placeholder 16">
            <a:extLst>
              <a:ext uri="{FF2B5EF4-FFF2-40B4-BE49-F238E27FC236}">
                <a16:creationId xmlns:a16="http://schemas.microsoft.com/office/drawing/2014/main" id="{626FD065-B39A-F862-5D0A-EF2C27FEBE0C}"/>
              </a:ext>
            </a:extLst>
          </p:cNvPr>
          <p:cNvSpPr txBox="1">
            <a:spLocks/>
          </p:cNvSpPr>
          <p:nvPr/>
        </p:nvSpPr>
        <p:spPr>
          <a:xfrm>
            <a:off x="5257814" y="9488376"/>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21</a:t>
            </a:fld>
            <a:endParaRPr lang="en-GB" noProof="0" dirty="0"/>
          </a:p>
        </p:txBody>
      </p:sp>
      <p:sp>
        <p:nvSpPr>
          <p:cNvPr id="12" name="TextBox 11">
            <a:extLst>
              <a:ext uri="{FF2B5EF4-FFF2-40B4-BE49-F238E27FC236}">
                <a16:creationId xmlns:a16="http://schemas.microsoft.com/office/drawing/2014/main" id="{22A23C3C-B104-5663-A721-B8E44273DB10}"/>
              </a:ext>
            </a:extLst>
          </p:cNvPr>
          <p:cNvSpPr txBox="1"/>
          <p:nvPr/>
        </p:nvSpPr>
        <p:spPr>
          <a:xfrm>
            <a:off x="6079" y="-3018"/>
            <a:ext cx="2340898" cy="276999"/>
          </a:xfrm>
          <a:prstGeom prst="rect">
            <a:avLst/>
          </a:prstGeom>
          <a:solidFill>
            <a:srgbClr val="0070C0"/>
          </a:solidFill>
        </p:spPr>
        <p:txBody>
          <a:bodyPr wrap="none" rtlCol="0" anchor="ctr">
            <a:spAutoFit/>
          </a:bodyPr>
          <a:lstStyle/>
          <a:p>
            <a:pPr algn="r"/>
            <a:r>
              <a:rPr lang="en-GB" sz="1200" b="1" noProof="0" dirty="0">
                <a:solidFill>
                  <a:schemeClr val="bg1"/>
                </a:solidFill>
              </a:rPr>
              <a:t>PRIOR KNOWLEDGE QUIZ (CONT.)</a:t>
            </a:r>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1BACE82E-20EB-B9AA-A605-9A9D21D5522E}"/>
                  </a:ext>
                </a:extLst>
              </p:cNvPr>
              <p:cNvSpPr txBox="1"/>
              <p:nvPr/>
            </p:nvSpPr>
            <p:spPr>
              <a:xfrm>
                <a:off x="2346730" y="0"/>
                <a:ext cx="4886698" cy="461665"/>
              </a:xfrm>
              <a:prstGeom prst="rect">
                <a:avLst/>
              </a:prstGeom>
              <a:noFill/>
            </p:spPr>
            <p:txBody>
              <a:bodyPr wrap="square" rtlCol="0">
                <a:spAutoFit/>
              </a:bodyPr>
              <a:lstStyle/>
              <a:p>
                <a:r>
                  <a:rPr lang="en-GB" sz="1200" noProof="0" dirty="0">
                    <a:latin typeface="Calibri" panose="020F0502020204030204" pitchFamily="34" charset="0"/>
                    <a:cs typeface="Calibri" panose="020F0502020204030204" pitchFamily="34" charset="0"/>
                  </a:rPr>
                  <a:t>2. Solve each equation, </a:t>
                </a:r>
                <a:r>
                  <a:rPr lang="en-GB" sz="1200" b="1" noProof="0" dirty="0">
                    <a:latin typeface="Calibri" panose="020F0502020204030204" pitchFamily="34" charset="0"/>
                    <a:cs typeface="Calibri" panose="020F0502020204030204" pitchFamily="34" charset="0"/>
                  </a:rPr>
                  <a:t>by factorising first</a:t>
                </a:r>
                <a:r>
                  <a:rPr lang="en-GB" sz="1200" noProof="0" dirty="0">
                    <a:latin typeface="Calibri" panose="020F0502020204030204" pitchFamily="34" charset="0"/>
                    <a:cs typeface="Calibri" panose="020F0502020204030204" pitchFamily="34" charset="0"/>
                  </a:rPr>
                  <a:t>.</a:t>
                </a:r>
              </a:p>
              <a:p>
                <a:r>
                  <a:rPr lang="en-GB" sz="1200" noProof="0" dirty="0">
                    <a:latin typeface="Calibri" panose="020F0502020204030204" pitchFamily="34" charset="0"/>
                    <a:cs typeface="Calibri" panose="020F0502020204030204" pitchFamily="34" charset="0"/>
                  </a:rPr>
                  <a:t>You will have to check the equation is in the form </a:t>
                </a:r>
                <a14:m>
                  <m:oMath xmlns:m="http://schemas.openxmlformats.org/officeDocument/2006/math">
                    <m:sSup>
                      <m:sSupPr>
                        <m:ctrlPr>
                          <a:rPr lang="en-GB" sz="1200" b="0" i="1" noProof="0" smtClean="0">
                            <a:latin typeface="Cambria Math" panose="02040503050406030204" pitchFamily="18" charset="0"/>
                            <a:cs typeface="Calibri" panose="020F0502020204030204" pitchFamily="34" charset="0"/>
                          </a:rPr>
                        </m:ctrlPr>
                      </m:sSupPr>
                      <m:e>
                        <m:r>
                          <a:rPr lang="en-GB" sz="1200" b="0" i="1" noProof="0" smtClean="0">
                            <a:latin typeface="Cambria Math" panose="02040503050406030204" pitchFamily="18" charset="0"/>
                            <a:cs typeface="Calibri" panose="020F0502020204030204" pitchFamily="34" charset="0"/>
                          </a:rPr>
                          <m:t>𝑎𝑥</m:t>
                        </m:r>
                      </m:e>
                      <m:sup>
                        <m:r>
                          <a:rPr lang="en-GB" sz="1200" b="0" i="1" noProof="0" smtClean="0">
                            <a:latin typeface="Cambria Math" panose="02040503050406030204" pitchFamily="18" charset="0"/>
                            <a:cs typeface="Calibri" panose="020F0502020204030204" pitchFamily="34" charset="0"/>
                          </a:rPr>
                          <m:t>2</m:t>
                        </m:r>
                      </m:sup>
                    </m:sSup>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𝑏𝑥</m:t>
                    </m:r>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𝑐</m:t>
                    </m:r>
                    <m:r>
                      <a:rPr lang="en-GB" sz="1200" b="0" i="1" noProof="0" smtClean="0">
                        <a:latin typeface="Cambria Math" panose="02040503050406030204" pitchFamily="18" charset="0"/>
                        <a:cs typeface="Calibri" panose="020F0502020204030204" pitchFamily="34" charset="0"/>
                      </a:rPr>
                      <m:t>=0</m:t>
                    </m:r>
                  </m:oMath>
                </a14:m>
                <a:r>
                  <a:rPr lang="en-GB" sz="1200" noProof="0" dirty="0">
                    <a:latin typeface="Calibri" panose="020F0502020204030204" pitchFamily="34" charset="0"/>
                    <a:cs typeface="Calibri" panose="020F0502020204030204" pitchFamily="34" charset="0"/>
                  </a:rPr>
                  <a:t> </a:t>
                </a:r>
              </a:p>
            </p:txBody>
          </p:sp>
        </mc:Choice>
        <mc:Fallback xmlns="">
          <p:sp>
            <p:nvSpPr>
              <p:cNvPr id="79" name="TextBox 78">
                <a:extLst>
                  <a:ext uri="{FF2B5EF4-FFF2-40B4-BE49-F238E27FC236}">
                    <a16:creationId xmlns:a16="http://schemas.microsoft.com/office/drawing/2014/main" id="{1BACE82E-20EB-B9AA-A605-9A9D21D5522E}"/>
                  </a:ext>
                </a:extLst>
              </p:cNvPr>
              <p:cNvSpPr txBox="1">
                <a:spLocks noRot="1" noChangeAspect="1" noMove="1" noResize="1" noEditPoints="1" noAdjustHandles="1" noChangeArrowheads="1" noChangeShapeType="1" noTextEdit="1"/>
              </p:cNvSpPr>
              <p:nvPr/>
            </p:nvSpPr>
            <p:spPr>
              <a:xfrm>
                <a:off x="2346730" y="0"/>
                <a:ext cx="4886698" cy="461665"/>
              </a:xfrm>
              <a:prstGeom prst="rect">
                <a:avLst/>
              </a:prstGeom>
              <a:blipFill>
                <a:blip r:embed="rId3"/>
                <a:stretch>
                  <a:fillRect l="-125"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1C84082-1F9B-8310-C39C-0220DE133904}"/>
                  </a:ext>
                </a:extLst>
              </p:cNvPr>
              <p:cNvSpPr txBox="1"/>
              <p:nvPr/>
            </p:nvSpPr>
            <p:spPr>
              <a:xfrm>
                <a:off x="181266" y="444148"/>
                <a:ext cx="1322221" cy="184666"/>
              </a:xfrm>
              <a:prstGeom prst="rect">
                <a:avLst/>
              </a:prstGeom>
              <a:noFill/>
            </p:spPr>
            <p:txBody>
              <a:bodyPr wrap="none" lIns="0" tIns="0" rIns="0" bIns="0" rtlCol="0">
                <a:spAutoFit/>
              </a:bodyPr>
              <a:lstStyle/>
              <a:p>
                <a:pPr>
                  <a:defRPr/>
                </a:pPr>
                <a:r>
                  <a:rPr lang="en-GB" sz="1200" noProof="0" dirty="0"/>
                  <a:t>a) 2</a:t>
                </a:r>
                <a14:m>
                  <m:oMath xmlns:m="http://schemas.openxmlformats.org/officeDocument/2006/math">
                    <m:r>
                      <a:rPr lang="en-GB" sz="1200" i="1" noProof="0">
                        <a:latin typeface="Cambria Math" panose="02040503050406030204" pitchFamily="18" charset="0"/>
                      </a:rPr>
                      <m:t>𝑥</m:t>
                    </m:r>
                  </m:oMath>
                </a14:m>
                <a:r>
                  <a:rPr lang="en-GB" sz="1200" baseline="30000" noProof="0" dirty="0"/>
                  <a:t>2</a:t>
                </a:r>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3</a:t>
                </a:r>
                <a14:m>
                  <m:oMath xmlns:m="http://schemas.openxmlformats.org/officeDocument/2006/math">
                    <m:r>
                      <a:rPr lang="en-GB" sz="1200" i="1" noProof="0">
                        <a:latin typeface="Cambria Math" panose="02040503050406030204" pitchFamily="18" charset="0"/>
                      </a:rPr>
                      <m:t>𝑥</m:t>
                    </m:r>
                  </m:oMath>
                </a14:m>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35 </a:t>
                </a:r>
                <a14:m>
                  <m:oMath xmlns:m="http://schemas.openxmlformats.org/officeDocument/2006/math">
                    <m:r>
                      <a:rPr lang="en-GB" sz="1200" i="1" noProof="0">
                        <a:latin typeface="Cambria Math" panose="02040503050406030204" pitchFamily="18" charset="0"/>
                      </a:rPr>
                      <m:t>=</m:t>
                    </m:r>
                  </m:oMath>
                </a14:m>
                <a:r>
                  <a:rPr lang="en-GB" sz="1200" noProof="0" dirty="0"/>
                  <a:t> 0</a:t>
                </a:r>
              </a:p>
            </p:txBody>
          </p:sp>
        </mc:Choice>
        <mc:Fallback xmlns="">
          <p:sp>
            <p:nvSpPr>
              <p:cNvPr id="2" name="TextBox 1">
                <a:extLst>
                  <a:ext uri="{FF2B5EF4-FFF2-40B4-BE49-F238E27FC236}">
                    <a16:creationId xmlns:a16="http://schemas.microsoft.com/office/drawing/2014/main" id="{01C84082-1F9B-8310-C39C-0220DE133904}"/>
                  </a:ext>
                </a:extLst>
              </p:cNvPr>
              <p:cNvSpPr txBox="1">
                <a:spLocks noRot="1" noChangeAspect="1" noMove="1" noResize="1" noEditPoints="1" noAdjustHandles="1" noChangeArrowheads="1" noChangeShapeType="1" noTextEdit="1"/>
              </p:cNvSpPr>
              <p:nvPr/>
            </p:nvSpPr>
            <p:spPr>
              <a:xfrm>
                <a:off x="181266" y="444148"/>
                <a:ext cx="1322221" cy="184666"/>
              </a:xfrm>
              <a:prstGeom prst="rect">
                <a:avLst/>
              </a:prstGeom>
              <a:blipFill>
                <a:blip r:embed="rId4"/>
                <a:stretch>
                  <a:fillRect l="-7373" t="-26667" r="-6912"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8FD5CBF-C7E4-DB9D-95C8-FA2C041A1E2F}"/>
                  </a:ext>
                </a:extLst>
              </p:cNvPr>
              <p:cNvSpPr txBox="1"/>
              <p:nvPr/>
            </p:nvSpPr>
            <p:spPr>
              <a:xfrm>
                <a:off x="2431358" y="416398"/>
                <a:ext cx="1328633" cy="525400"/>
              </a:xfrm>
              <a:prstGeom prst="rect">
                <a:avLst/>
              </a:prstGeom>
              <a:noFill/>
            </p:spPr>
            <p:txBody>
              <a:bodyPr wrap="none" lIns="0" tIns="0" rIns="0" bIns="0" rtlCol="0">
                <a:spAutoFit/>
              </a:bodyPr>
              <a:lstStyle/>
              <a:p>
                <a:pPr>
                  <a:lnSpc>
                    <a:spcPct val="150000"/>
                  </a:lnSpc>
                </a:pPr>
                <a:r>
                  <a:rPr lang="en-GB" sz="1200" noProof="0" dirty="0"/>
                  <a:t>b) 4</a:t>
                </a:r>
                <a14:m>
                  <m:oMath xmlns:m="http://schemas.openxmlformats.org/officeDocument/2006/math">
                    <m:r>
                      <a:rPr lang="en-GB" sz="1200" i="1" noProof="0">
                        <a:latin typeface="Cambria Math" panose="02040503050406030204" pitchFamily="18" charset="0"/>
                      </a:rPr>
                      <m:t>𝑥</m:t>
                    </m:r>
                  </m:oMath>
                </a14:m>
                <a:r>
                  <a:rPr lang="en-GB" sz="1200" baseline="30000" noProof="0" dirty="0"/>
                  <a:t>2</a:t>
                </a:r>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3</a:t>
                </a:r>
                <a14:m>
                  <m:oMath xmlns:m="http://schemas.openxmlformats.org/officeDocument/2006/math">
                    <m:r>
                      <a:rPr lang="en-GB" sz="1200" i="1" noProof="0">
                        <a:latin typeface="Cambria Math" panose="02040503050406030204" pitchFamily="18" charset="0"/>
                      </a:rPr>
                      <m:t>𝑥</m:t>
                    </m:r>
                  </m:oMath>
                </a14:m>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22 </a:t>
                </a:r>
                <a14:m>
                  <m:oMath xmlns:m="http://schemas.openxmlformats.org/officeDocument/2006/math">
                    <m:r>
                      <a:rPr lang="en-GB" sz="1200" i="1" noProof="0">
                        <a:latin typeface="Cambria Math" panose="02040503050406030204" pitchFamily="18" charset="0"/>
                      </a:rPr>
                      <m:t>=</m:t>
                    </m:r>
                  </m:oMath>
                </a14:m>
                <a:r>
                  <a:rPr lang="en-GB" sz="1200" noProof="0" dirty="0"/>
                  <a:t> 0</a:t>
                </a:r>
              </a:p>
              <a:p>
                <a:pPr>
                  <a:lnSpc>
                    <a:spcPct val="150000"/>
                  </a:lnSpc>
                </a:pPr>
                <a:endParaRPr lang="en-GB" sz="1200" noProof="0" dirty="0"/>
              </a:p>
            </p:txBody>
          </p:sp>
        </mc:Choice>
        <mc:Fallback xmlns="">
          <p:sp>
            <p:nvSpPr>
              <p:cNvPr id="3" name="TextBox 2">
                <a:extLst>
                  <a:ext uri="{FF2B5EF4-FFF2-40B4-BE49-F238E27FC236}">
                    <a16:creationId xmlns:a16="http://schemas.microsoft.com/office/drawing/2014/main" id="{38FD5CBF-C7E4-DB9D-95C8-FA2C041A1E2F}"/>
                  </a:ext>
                </a:extLst>
              </p:cNvPr>
              <p:cNvSpPr txBox="1">
                <a:spLocks noRot="1" noChangeAspect="1" noMove="1" noResize="1" noEditPoints="1" noAdjustHandles="1" noChangeArrowheads="1" noChangeShapeType="1" noTextEdit="1"/>
              </p:cNvSpPr>
              <p:nvPr/>
            </p:nvSpPr>
            <p:spPr>
              <a:xfrm>
                <a:off x="2431358" y="416398"/>
                <a:ext cx="1328633" cy="525400"/>
              </a:xfrm>
              <a:prstGeom prst="rect">
                <a:avLst/>
              </a:prstGeom>
              <a:blipFill>
                <a:blip r:embed="rId5"/>
                <a:stretch>
                  <a:fillRect l="-7339" r="-68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CB3B435-1DAE-6BD1-1083-396088B97F9B}"/>
                  </a:ext>
                </a:extLst>
              </p:cNvPr>
              <p:cNvSpPr txBox="1"/>
              <p:nvPr/>
            </p:nvSpPr>
            <p:spPr>
              <a:xfrm>
                <a:off x="4684077" y="444148"/>
                <a:ext cx="1243674" cy="184666"/>
              </a:xfrm>
              <a:prstGeom prst="rect">
                <a:avLst/>
              </a:prstGeom>
              <a:noFill/>
            </p:spPr>
            <p:txBody>
              <a:bodyPr wrap="none" lIns="0" tIns="0" rIns="0" bIns="0" rtlCol="0">
                <a:spAutoFit/>
              </a:bodyPr>
              <a:lstStyle/>
              <a:p>
                <a:pPr>
                  <a:defRPr/>
                </a:pPr>
                <a:r>
                  <a:rPr lang="en-GB" sz="1200" noProof="0" dirty="0"/>
                  <a:t>c) 3</a:t>
                </a:r>
                <a14:m>
                  <m:oMath xmlns:m="http://schemas.openxmlformats.org/officeDocument/2006/math">
                    <m:r>
                      <a:rPr lang="en-GB" sz="1200" i="1" noProof="0">
                        <a:latin typeface="Cambria Math" panose="02040503050406030204" pitchFamily="18" charset="0"/>
                      </a:rPr>
                      <m:t>𝑥</m:t>
                    </m:r>
                  </m:oMath>
                </a14:m>
                <a:r>
                  <a:rPr lang="en-GB" sz="1200" baseline="30000" noProof="0" dirty="0"/>
                  <a:t>2</a:t>
                </a:r>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4</a:t>
                </a:r>
                <a14:m>
                  <m:oMath xmlns:m="http://schemas.openxmlformats.org/officeDocument/2006/math">
                    <m:r>
                      <a:rPr lang="en-GB" sz="1200" i="1" noProof="0">
                        <a:latin typeface="Cambria Math" panose="02040503050406030204" pitchFamily="18" charset="0"/>
                      </a:rPr>
                      <m:t>𝑥</m:t>
                    </m:r>
                  </m:oMath>
                </a14:m>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4 </a:t>
                </a:r>
                <a14:m>
                  <m:oMath xmlns:m="http://schemas.openxmlformats.org/officeDocument/2006/math">
                    <m:r>
                      <a:rPr lang="en-GB" sz="1200" i="1" noProof="0">
                        <a:latin typeface="Cambria Math" panose="02040503050406030204" pitchFamily="18" charset="0"/>
                      </a:rPr>
                      <m:t>=</m:t>
                    </m:r>
                  </m:oMath>
                </a14:m>
                <a:r>
                  <a:rPr lang="en-GB" sz="1200" noProof="0" dirty="0"/>
                  <a:t> 0</a:t>
                </a:r>
              </a:p>
            </p:txBody>
          </p:sp>
        </mc:Choice>
        <mc:Fallback xmlns="">
          <p:sp>
            <p:nvSpPr>
              <p:cNvPr id="6" name="TextBox 5">
                <a:extLst>
                  <a:ext uri="{FF2B5EF4-FFF2-40B4-BE49-F238E27FC236}">
                    <a16:creationId xmlns:a16="http://schemas.microsoft.com/office/drawing/2014/main" id="{1CB3B435-1DAE-6BD1-1083-396088B97F9B}"/>
                  </a:ext>
                </a:extLst>
              </p:cNvPr>
              <p:cNvSpPr txBox="1">
                <a:spLocks noRot="1" noChangeAspect="1" noMove="1" noResize="1" noEditPoints="1" noAdjustHandles="1" noChangeArrowheads="1" noChangeShapeType="1" noTextEdit="1"/>
              </p:cNvSpPr>
              <p:nvPr/>
            </p:nvSpPr>
            <p:spPr>
              <a:xfrm>
                <a:off x="4684077" y="444148"/>
                <a:ext cx="1243674" cy="184666"/>
              </a:xfrm>
              <a:prstGeom prst="rect">
                <a:avLst/>
              </a:prstGeom>
              <a:blipFill>
                <a:blip r:embed="rId6"/>
                <a:stretch>
                  <a:fillRect l="-7353" t="-26667" r="-7353"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58C9712-C1A0-5837-F5A9-ACEA95AD44BC}"/>
                  </a:ext>
                </a:extLst>
              </p:cNvPr>
              <p:cNvSpPr txBox="1"/>
              <p:nvPr/>
            </p:nvSpPr>
            <p:spPr>
              <a:xfrm>
                <a:off x="265476" y="3163948"/>
                <a:ext cx="1672068" cy="553998"/>
              </a:xfrm>
              <a:prstGeom prst="rect">
                <a:avLst/>
              </a:prstGeom>
              <a:noFill/>
            </p:spPr>
            <p:txBody>
              <a:bodyPr wrap="square" lIns="0" tIns="0" rIns="0" bIns="0" rtlCol="0">
                <a:spAutoFit/>
              </a:bodyPr>
              <a:lstStyle/>
              <a:p>
                <a:pPr>
                  <a:defRPr/>
                </a:pPr>
                <a:r>
                  <a:rPr lang="en-GB" sz="1200" noProof="0" dirty="0"/>
                  <a:t>d)     2</a:t>
                </a:r>
                <a14:m>
                  <m:oMath xmlns:m="http://schemas.openxmlformats.org/officeDocument/2006/math">
                    <m:r>
                      <a:rPr lang="en-GB" sz="1200" i="1" noProof="0">
                        <a:latin typeface="Cambria Math" panose="02040503050406030204" pitchFamily="18" charset="0"/>
                      </a:rPr>
                      <m:t>𝑥</m:t>
                    </m:r>
                  </m:oMath>
                </a14:m>
                <a:r>
                  <a:rPr lang="en-GB" sz="1200" baseline="30000" noProof="0" dirty="0"/>
                  <a:t>2</a:t>
                </a:r>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3</a:t>
                </a:r>
                <a14:m>
                  <m:oMath xmlns:m="http://schemas.openxmlformats.org/officeDocument/2006/math">
                    <m:r>
                      <a:rPr lang="en-GB" sz="1200" i="1" noProof="0">
                        <a:latin typeface="Cambria Math" panose="02040503050406030204" pitchFamily="18" charset="0"/>
                      </a:rPr>
                      <m:t>𝑥</m:t>
                    </m:r>
                  </m:oMath>
                </a14:m>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5</a:t>
                </a:r>
              </a:p>
              <a:p>
                <a:pPr>
                  <a:defRPr/>
                </a:pPr>
                <a:endParaRPr lang="en-GB" sz="1200" noProof="0" dirty="0"/>
              </a:p>
              <a:p>
                <a:pPr>
                  <a:defRPr/>
                </a:pPr>
                <a:endParaRPr lang="en-GB" sz="1200" noProof="0" dirty="0"/>
              </a:p>
            </p:txBody>
          </p:sp>
        </mc:Choice>
        <mc:Fallback xmlns="">
          <p:sp>
            <p:nvSpPr>
              <p:cNvPr id="19" name="TextBox 18">
                <a:extLst>
                  <a:ext uri="{FF2B5EF4-FFF2-40B4-BE49-F238E27FC236}">
                    <a16:creationId xmlns:a16="http://schemas.microsoft.com/office/drawing/2014/main" id="{F58C9712-C1A0-5837-F5A9-ACEA95AD44BC}"/>
                  </a:ext>
                </a:extLst>
              </p:cNvPr>
              <p:cNvSpPr txBox="1">
                <a:spLocks noRot="1" noChangeAspect="1" noMove="1" noResize="1" noEditPoints="1" noAdjustHandles="1" noChangeArrowheads="1" noChangeShapeType="1" noTextEdit="1"/>
              </p:cNvSpPr>
              <p:nvPr/>
            </p:nvSpPr>
            <p:spPr>
              <a:xfrm>
                <a:off x="265476" y="3163948"/>
                <a:ext cx="1672068" cy="553998"/>
              </a:xfrm>
              <a:prstGeom prst="rect">
                <a:avLst/>
              </a:prstGeom>
              <a:blipFill>
                <a:blip r:embed="rId7"/>
                <a:stretch>
                  <a:fillRect l="-5839" t="-87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8E9820C-E629-7A0E-AF77-4F902A5105D1}"/>
                  </a:ext>
                </a:extLst>
              </p:cNvPr>
              <p:cNvSpPr txBox="1"/>
              <p:nvPr/>
            </p:nvSpPr>
            <p:spPr>
              <a:xfrm>
                <a:off x="2625530" y="3270570"/>
                <a:ext cx="1807730" cy="369332"/>
              </a:xfrm>
              <a:prstGeom prst="rect">
                <a:avLst/>
              </a:prstGeom>
              <a:noFill/>
            </p:spPr>
            <p:txBody>
              <a:bodyPr wrap="square" lIns="0" tIns="0" rIns="0" bIns="0" rtlCol="0">
                <a:spAutoFit/>
              </a:bodyPr>
              <a:lstStyle/>
              <a:p>
                <a:pPr>
                  <a:defRPr/>
                </a:pPr>
                <a:r>
                  <a:rPr lang="en-GB" sz="1200" noProof="0" dirty="0"/>
                  <a:t>e)     2</a:t>
                </a:r>
                <a14:m>
                  <m:oMath xmlns:m="http://schemas.openxmlformats.org/officeDocument/2006/math">
                    <m:r>
                      <a:rPr lang="en-GB" sz="1200" i="1" noProof="0">
                        <a:latin typeface="Cambria Math" panose="02040503050406030204" pitchFamily="18" charset="0"/>
                      </a:rPr>
                      <m:t>𝑥</m:t>
                    </m:r>
                  </m:oMath>
                </a14:m>
                <a:r>
                  <a:rPr lang="en-GB" sz="1200" baseline="30000" noProof="0" dirty="0"/>
                  <a:t>2</a:t>
                </a:r>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1 </a:t>
                </a:r>
                <a14:m>
                  <m:oMath xmlns:m="http://schemas.openxmlformats.org/officeDocument/2006/math">
                    <m:r>
                      <a:rPr lang="en-GB" sz="1200" i="1" noProof="0">
                        <a:latin typeface="Cambria Math" panose="02040503050406030204" pitchFamily="18" charset="0"/>
                      </a:rPr>
                      <m:t>=</m:t>
                    </m:r>
                  </m:oMath>
                </a14:m>
                <a:r>
                  <a:rPr lang="en-GB" sz="1200" noProof="0" dirty="0"/>
                  <a:t> 3</a:t>
                </a:r>
                <a14:m>
                  <m:oMath xmlns:m="http://schemas.openxmlformats.org/officeDocument/2006/math">
                    <m:r>
                      <a:rPr lang="en-GB" sz="1200" i="1" noProof="0">
                        <a:latin typeface="Cambria Math" panose="02040503050406030204" pitchFamily="18" charset="0"/>
                      </a:rPr>
                      <m:t>𝑥</m:t>
                    </m:r>
                  </m:oMath>
                </a14:m>
                <a:endParaRPr lang="en-GB" sz="1200" noProof="0" dirty="0"/>
              </a:p>
              <a:p>
                <a:pPr defTabSz="685800">
                  <a:defRPr/>
                </a:pPr>
                <a:endParaRPr lang="en-GB" sz="1200" noProof="0" dirty="0"/>
              </a:p>
            </p:txBody>
          </p:sp>
        </mc:Choice>
        <mc:Fallback xmlns="">
          <p:sp>
            <p:nvSpPr>
              <p:cNvPr id="20" name="TextBox 19">
                <a:extLst>
                  <a:ext uri="{FF2B5EF4-FFF2-40B4-BE49-F238E27FC236}">
                    <a16:creationId xmlns:a16="http://schemas.microsoft.com/office/drawing/2014/main" id="{D8E9820C-E629-7A0E-AF77-4F902A5105D1}"/>
                  </a:ext>
                </a:extLst>
              </p:cNvPr>
              <p:cNvSpPr txBox="1">
                <a:spLocks noRot="1" noChangeAspect="1" noMove="1" noResize="1" noEditPoints="1" noAdjustHandles="1" noChangeArrowheads="1" noChangeShapeType="1" noTextEdit="1"/>
              </p:cNvSpPr>
              <p:nvPr/>
            </p:nvSpPr>
            <p:spPr>
              <a:xfrm>
                <a:off x="2625530" y="3270570"/>
                <a:ext cx="1807730" cy="369332"/>
              </a:xfrm>
              <a:prstGeom prst="rect">
                <a:avLst/>
              </a:prstGeom>
              <a:blipFill>
                <a:blip r:embed="rId8"/>
                <a:stretch>
                  <a:fillRect l="-5405" t="-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98B44B4-9CB4-0731-75C1-F053BE86775D}"/>
                  </a:ext>
                </a:extLst>
              </p:cNvPr>
              <p:cNvSpPr txBox="1"/>
              <p:nvPr/>
            </p:nvSpPr>
            <p:spPr>
              <a:xfrm>
                <a:off x="4871022" y="3218569"/>
                <a:ext cx="1292277" cy="738664"/>
              </a:xfrm>
              <a:prstGeom prst="rect">
                <a:avLst/>
              </a:prstGeom>
              <a:noFill/>
            </p:spPr>
            <p:txBody>
              <a:bodyPr wrap="none" lIns="0" tIns="0" rIns="0" bIns="0" rtlCol="0">
                <a:spAutoFit/>
              </a:bodyPr>
              <a:lstStyle/>
              <a:p>
                <a:pPr>
                  <a:defRPr/>
                </a:pPr>
                <a:r>
                  <a:rPr lang="en-GB" sz="1200" noProof="0" dirty="0"/>
                  <a:t>f)   3</a:t>
                </a:r>
                <a14:m>
                  <m:oMath xmlns:m="http://schemas.openxmlformats.org/officeDocument/2006/math">
                    <m:r>
                      <a:rPr lang="en-GB" sz="1200" i="1" noProof="0">
                        <a:latin typeface="Cambria Math" panose="02040503050406030204" pitchFamily="18" charset="0"/>
                      </a:rPr>
                      <m:t>𝑥</m:t>
                    </m:r>
                  </m:oMath>
                </a14:m>
                <a:r>
                  <a:rPr lang="en-GB" sz="1200" baseline="30000" noProof="0" dirty="0"/>
                  <a:t>2 </a:t>
                </a:r>
                <a14:m>
                  <m:oMath xmlns:m="http://schemas.openxmlformats.org/officeDocument/2006/math">
                    <m:r>
                      <a:rPr lang="en-GB" sz="1200" i="1" noProof="0">
                        <a:latin typeface="Cambria Math" panose="02040503050406030204" pitchFamily="18" charset="0"/>
                      </a:rPr>
                      <m:t>+</m:t>
                    </m:r>
                  </m:oMath>
                </a14:m>
                <a:r>
                  <a:rPr lang="en-GB" sz="1200" noProof="0" dirty="0"/>
                  <a:t> 6</a:t>
                </a:r>
                <a14:m>
                  <m:oMath xmlns:m="http://schemas.openxmlformats.org/officeDocument/2006/math">
                    <m:r>
                      <a:rPr lang="en-GB" sz="1200" i="1" noProof="0">
                        <a:latin typeface="Cambria Math" panose="02040503050406030204" pitchFamily="18" charset="0"/>
                      </a:rPr>
                      <m:t>𝑥</m:t>
                    </m:r>
                  </m:oMath>
                </a14:m>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a:t>
                </a:r>
                <a14:m>
                  <m:oMath xmlns:m="http://schemas.openxmlformats.org/officeDocument/2006/math">
                    <m:r>
                      <a:rPr lang="en-GB" sz="1200" i="1" noProof="0">
                        <a:latin typeface="Cambria Math" panose="02040503050406030204" pitchFamily="18" charset="0"/>
                      </a:rPr>
                      <m:t>𝑥</m:t>
                    </m:r>
                  </m:oMath>
                </a14:m>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2</a:t>
                </a:r>
              </a:p>
              <a:p>
                <a:pPr>
                  <a:defRPr/>
                </a:pPr>
                <a:endParaRPr lang="en-GB" sz="1200" noProof="0" dirty="0"/>
              </a:p>
              <a:p>
                <a:pPr>
                  <a:defRPr/>
                </a:pPr>
                <a:r>
                  <a:rPr lang="en-GB" sz="1200" noProof="0" dirty="0">
                    <a:solidFill>
                      <a:srgbClr val="FF0000"/>
                    </a:solidFill>
                  </a:rPr>
                  <a:t> </a:t>
                </a:r>
                <a:endParaRPr lang="en-GB" sz="1200" noProof="0" dirty="0"/>
              </a:p>
              <a:p>
                <a:pPr>
                  <a:defRPr/>
                </a:pPr>
                <a:endParaRPr lang="en-GB" sz="1200" noProof="0" dirty="0"/>
              </a:p>
            </p:txBody>
          </p:sp>
        </mc:Choice>
        <mc:Fallback xmlns="">
          <p:sp>
            <p:nvSpPr>
              <p:cNvPr id="21" name="TextBox 20">
                <a:extLst>
                  <a:ext uri="{FF2B5EF4-FFF2-40B4-BE49-F238E27FC236}">
                    <a16:creationId xmlns:a16="http://schemas.microsoft.com/office/drawing/2014/main" id="{E98B44B4-9CB4-0731-75C1-F053BE86775D}"/>
                  </a:ext>
                </a:extLst>
              </p:cNvPr>
              <p:cNvSpPr txBox="1">
                <a:spLocks noRot="1" noChangeAspect="1" noMove="1" noResize="1" noEditPoints="1" noAdjustHandles="1" noChangeArrowheads="1" noChangeShapeType="1" noTextEdit="1"/>
              </p:cNvSpPr>
              <p:nvPr/>
            </p:nvSpPr>
            <p:spPr>
              <a:xfrm>
                <a:off x="4871022" y="3218569"/>
                <a:ext cx="1292277" cy="738664"/>
              </a:xfrm>
              <a:prstGeom prst="rect">
                <a:avLst/>
              </a:prstGeom>
              <a:blipFill>
                <a:blip r:embed="rId9"/>
                <a:stretch>
                  <a:fillRect l="-7075" t="-6612" r="-70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DB1E2F1-CE79-36ED-3DE3-CFEF44AE724E}"/>
                  </a:ext>
                </a:extLst>
              </p:cNvPr>
              <p:cNvSpPr txBox="1"/>
              <p:nvPr/>
            </p:nvSpPr>
            <p:spPr>
              <a:xfrm>
                <a:off x="129979" y="5763904"/>
                <a:ext cx="4886698" cy="461665"/>
              </a:xfrm>
              <a:prstGeom prst="rect">
                <a:avLst/>
              </a:prstGeom>
              <a:noFill/>
            </p:spPr>
            <p:txBody>
              <a:bodyPr wrap="square" rtlCol="0">
                <a:spAutoFit/>
              </a:bodyPr>
              <a:lstStyle/>
              <a:p>
                <a:r>
                  <a:rPr lang="en-GB" sz="1200" noProof="0" dirty="0">
                    <a:latin typeface="Calibri" panose="020F0502020204030204" pitchFamily="34" charset="0"/>
                    <a:cs typeface="Calibri" panose="020F0502020204030204" pitchFamily="34" charset="0"/>
                  </a:rPr>
                  <a:t>3. Solve each equation </a:t>
                </a:r>
                <a:r>
                  <a:rPr lang="en-GB" sz="1200" b="1" noProof="0" dirty="0">
                    <a:latin typeface="Calibri" panose="020F0502020204030204" pitchFamily="34" charset="0"/>
                    <a:cs typeface="Calibri" panose="020F0502020204030204" pitchFamily="34" charset="0"/>
                  </a:rPr>
                  <a:t>using the quadratic formula</a:t>
                </a:r>
                <a:r>
                  <a:rPr lang="en-GB" sz="1200" noProof="0" dirty="0">
                    <a:latin typeface="Calibri" panose="020F0502020204030204" pitchFamily="34" charset="0"/>
                    <a:cs typeface="Calibri" panose="020F0502020204030204" pitchFamily="34" charset="0"/>
                  </a:rPr>
                  <a:t>.</a:t>
                </a:r>
              </a:p>
              <a:p>
                <a:r>
                  <a:rPr lang="en-GB" sz="1200" noProof="0" dirty="0">
                    <a:latin typeface="Calibri" panose="020F0502020204030204" pitchFamily="34" charset="0"/>
                    <a:cs typeface="Calibri" panose="020F0502020204030204" pitchFamily="34" charset="0"/>
                  </a:rPr>
                  <a:t>You will have to check the equation is in the form </a:t>
                </a:r>
                <a14:m>
                  <m:oMath xmlns:m="http://schemas.openxmlformats.org/officeDocument/2006/math">
                    <m:sSup>
                      <m:sSupPr>
                        <m:ctrlPr>
                          <a:rPr lang="en-GB" sz="1200" b="0" i="1" noProof="0" smtClean="0">
                            <a:latin typeface="Cambria Math" panose="02040503050406030204" pitchFamily="18" charset="0"/>
                            <a:cs typeface="Calibri" panose="020F0502020204030204" pitchFamily="34" charset="0"/>
                          </a:rPr>
                        </m:ctrlPr>
                      </m:sSupPr>
                      <m:e>
                        <m:r>
                          <a:rPr lang="en-GB" sz="1200" b="0" i="1" noProof="0" smtClean="0">
                            <a:latin typeface="Cambria Math" panose="02040503050406030204" pitchFamily="18" charset="0"/>
                            <a:cs typeface="Calibri" panose="020F0502020204030204" pitchFamily="34" charset="0"/>
                          </a:rPr>
                          <m:t>𝑎𝑥</m:t>
                        </m:r>
                      </m:e>
                      <m:sup>
                        <m:r>
                          <a:rPr lang="en-GB" sz="1200" b="0" i="1" noProof="0" smtClean="0">
                            <a:latin typeface="Cambria Math" panose="02040503050406030204" pitchFamily="18" charset="0"/>
                            <a:cs typeface="Calibri" panose="020F0502020204030204" pitchFamily="34" charset="0"/>
                          </a:rPr>
                          <m:t>2</m:t>
                        </m:r>
                      </m:sup>
                    </m:sSup>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𝑏𝑥</m:t>
                    </m:r>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𝑐</m:t>
                    </m:r>
                    <m:r>
                      <a:rPr lang="en-GB" sz="1200" b="0" i="1" noProof="0" smtClean="0">
                        <a:latin typeface="Cambria Math" panose="02040503050406030204" pitchFamily="18" charset="0"/>
                        <a:cs typeface="Calibri" panose="020F0502020204030204" pitchFamily="34" charset="0"/>
                      </a:rPr>
                      <m:t>=0</m:t>
                    </m:r>
                  </m:oMath>
                </a14:m>
                <a:r>
                  <a:rPr lang="en-GB" sz="1200" noProof="0" dirty="0">
                    <a:latin typeface="Calibri" panose="020F0502020204030204" pitchFamily="34" charset="0"/>
                    <a:cs typeface="Calibri" panose="020F0502020204030204" pitchFamily="34" charset="0"/>
                  </a:rPr>
                  <a:t> </a:t>
                </a:r>
              </a:p>
            </p:txBody>
          </p:sp>
        </mc:Choice>
        <mc:Fallback xmlns="">
          <p:sp>
            <p:nvSpPr>
              <p:cNvPr id="22" name="TextBox 21">
                <a:extLst>
                  <a:ext uri="{FF2B5EF4-FFF2-40B4-BE49-F238E27FC236}">
                    <a16:creationId xmlns:a16="http://schemas.microsoft.com/office/drawing/2014/main" id="{CDB1E2F1-CE79-36ED-3DE3-CFEF44AE724E}"/>
                  </a:ext>
                </a:extLst>
              </p:cNvPr>
              <p:cNvSpPr txBox="1">
                <a:spLocks noRot="1" noChangeAspect="1" noMove="1" noResize="1" noEditPoints="1" noAdjustHandles="1" noChangeArrowheads="1" noChangeShapeType="1" noTextEdit="1"/>
              </p:cNvSpPr>
              <p:nvPr/>
            </p:nvSpPr>
            <p:spPr>
              <a:xfrm>
                <a:off x="129979" y="5763904"/>
                <a:ext cx="4886698" cy="461665"/>
              </a:xfrm>
              <a:prstGeom prst="rect">
                <a:avLst/>
              </a:prstGeom>
              <a:blipFill>
                <a:blip r:embed="rId13"/>
                <a:stretch>
                  <a:fillRect t="-1333"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FA5C837-3439-0F87-638B-E63E174A769E}"/>
                  </a:ext>
                </a:extLst>
              </p:cNvPr>
              <p:cNvSpPr txBox="1"/>
              <p:nvPr/>
            </p:nvSpPr>
            <p:spPr>
              <a:xfrm>
                <a:off x="75793" y="6386533"/>
                <a:ext cx="1487651" cy="1754326"/>
              </a:xfrm>
              <a:prstGeom prst="rect">
                <a:avLst/>
              </a:prstGeom>
              <a:noFill/>
            </p:spPr>
            <p:txBody>
              <a:bodyPr wrap="none" rtlCol="0">
                <a:spAutoFit/>
              </a:bodyPr>
              <a:lstStyle/>
              <a:p>
                <a:pPr marL="228600" indent="-228600">
                  <a:buAutoNum type="alphaLcParenR"/>
                </a:pP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+6</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+3=0</m:t>
                    </m:r>
                  </m:oMath>
                </a14:m>
                <a:endParaRPr lang="en-GB" sz="1200" noProof="0" dirty="0"/>
              </a:p>
              <a:p>
                <a:pPr marL="228600" indent="-228600">
                  <a:buAutoNum type="alphaLcParenR"/>
                </a:pPr>
                <a:endParaRPr lang="en-GB" sz="1200" noProof="0" dirty="0"/>
              </a:p>
              <a:p>
                <a:pPr marL="228600" indent="-228600">
                  <a:buAutoNum type="alphaLcParenR"/>
                </a:pPr>
                <a:endParaRPr lang="en-GB" sz="1200" noProof="0" dirty="0"/>
              </a:p>
              <a:p>
                <a:endParaRPr lang="en-GB" sz="1200" noProof="0" dirty="0"/>
              </a:p>
              <a:p>
                <a:endParaRPr lang="en-GB" sz="1200" noProof="0" dirty="0"/>
              </a:p>
              <a:p>
                <a:endParaRPr lang="en-GB" sz="1200" noProof="0" dirty="0"/>
              </a:p>
              <a:p>
                <a:endParaRPr lang="en-GB" sz="1200" noProof="0" dirty="0"/>
              </a:p>
              <a:p>
                <a:r>
                  <a:rPr lang="en-GB" sz="1200" noProof="0" dirty="0"/>
                  <a:t>                 </a:t>
                </a:r>
                <a:endParaRPr lang="en-GB" sz="1200" baseline="0" noProof="0" dirty="0">
                  <a:solidFill>
                    <a:srgbClr val="FF0000"/>
                  </a:solidFill>
                </a:endParaRPr>
              </a:p>
              <a:p>
                <a:endParaRPr lang="en-GB" sz="1200" noProof="0" dirty="0"/>
              </a:p>
            </p:txBody>
          </p:sp>
        </mc:Choice>
        <mc:Fallback xmlns="">
          <p:sp>
            <p:nvSpPr>
              <p:cNvPr id="23" name="TextBox 22">
                <a:extLst>
                  <a:ext uri="{FF2B5EF4-FFF2-40B4-BE49-F238E27FC236}">
                    <a16:creationId xmlns:a16="http://schemas.microsoft.com/office/drawing/2014/main" id="{EFA5C837-3439-0F87-638B-E63E174A769E}"/>
                  </a:ext>
                </a:extLst>
              </p:cNvPr>
              <p:cNvSpPr txBox="1">
                <a:spLocks noRot="1" noChangeAspect="1" noMove="1" noResize="1" noEditPoints="1" noAdjustHandles="1" noChangeArrowheads="1" noChangeShapeType="1" noTextEdit="1"/>
              </p:cNvSpPr>
              <p:nvPr/>
            </p:nvSpPr>
            <p:spPr>
              <a:xfrm>
                <a:off x="75793" y="6386533"/>
                <a:ext cx="1487651" cy="1754326"/>
              </a:xfrm>
              <a:prstGeom prst="rect">
                <a:avLst/>
              </a:prstGeom>
              <a:blipFill>
                <a:blip r:embed="rId14"/>
                <a:stretch>
                  <a:fillRect t="-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F1FECB7-8DC8-99DA-6F23-64E37370DD86}"/>
                  </a:ext>
                </a:extLst>
              </p:cNvPr>
              <p:cNvSpPr txBox="1"/>
              <p:nvPr/>
            </p:nvSpPr>
            <p:spPr>
              <a:xfrm>
                <a:off x="2626020" y="6386533"/>
                <a:ext cx="1503681" cy="1569660"/>
              </a:xfrm>
              <a:prstGeom prst="rect">
                <a:avLst/>
              </a:prstGeom>
              <a:noFill/>
            </p:spPr>
            <p:txBody>
              <a:bodyPr wrap="none" rtlCol="0">
                <a:spAutoFit/>
              </a:bodyPr>
              <a:lstStyle/>
              <a:p>
                <a:r>
                  <a:rPr lang="en-GB" sz="1200" noProof="0" dirty="0"/>
                  <a:t>b)</a:t>
                </a:r>
                <a:r>
                  <a:rPr lang="en-GB" sz="1200" b="1" noProof="0" dirty="0"/>
                  <a:t> </a:t>
                </a:r>
                <a14:m>
                  <m:oMath xmlns:m="http://schemas.openxmlformats.org/officeDocument/2006/math">
                    <m:r>
                      <a:rPr lang="en-GB" sz="1200" b="0" i="1" noProof="0" smtClean="0">
                        <a:latin typeface="Cambria Math" panose="02040503050406030204" pitchFamily="18" charset="0"/>
                      </a:rPr>
                      <m:t>2</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+7</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+1=0</m:t>
                    </m:r>
                  </m:oMath>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r>
                  <a:rPr lang="en-GB" sz="1200" noProof="0" dirty="0"/>
                  <a:t> </a:t>
                </a:r>
              </a:p>
            </p:txBody>
          </p:sp>
        </mc:Choice>
        <mc:Fallback xmlns="">
          <p:sp>
            <p:nvSpPr>
              <p:cNvPr id="24" name="TextBox 23">
                <a:extLst>
                  <a:ext uri="{FF2B5EF4-FFF2-40B4-BE49-F238E27FC236}">
                    <a16:creationId xmlns:a16="http://schemas.microsoft.com/office/drawing/2014/main" id="{BF1FECB7-8DC8-99DA-6F23-64E37370DD86}"/>
                  </a:ext>
                </a:extLst>
              </p:cNvPr>
              <p:cNvSpPr txBox="1">
                <a:spLocks noRot="1" noChangeAspect="1" noMove="1" noResize="1" noEditPoints="1" noAdjustHandles="1" noChangeArrowheads="1" noChangeShapeType="1" noTextEdit="1"/>
              </p:cNvSpPr>
              <p:nvPr/>
            </p:nvSpPr>
            <p:spPr>
              <a:xfrm>
                <a:off x="2626020" y="6386533"/>
                <a:ext cx="1503681" cy="1569660"/>
              </a:xfrm>
              <a:prstGeom prst="rect">
                <a:avLst/>
              </a:prstGeom>
              <a:blipFill>
                <a:blip r:embed="rId15"/>
                <a:stretch>
                  <a:fillRect l="-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359FE2D-5254-46B4-EF2C-75EAB895625A}"/>
                  </a:ext>
                </a:extLst>
              </p:cNvPr>
              <p:cNvSpPr txBox="1"/>
              <p:nvPr/>
            </p:nvSpPr>
            <p:spPr>
              <a:xfrm>
                <a:off x="4687201" y="6379769"/>
                <a:ext cx="1455591" cy="276999"/>
              </a:xfrm>
              <a:prstGeom prst="rect">
                <a:avLst/>
              </a:prstGeom>
              <a:noFill/>
            </p:spPr>
            <p:txBody>
              <a:bodyPr wrap="none" rtlCol="0">
                <a:spAutoFit/>
              </a:bodyPr>
              <a:lstStyle/>
              <a:p>
                <a:r>
                  <a:rPr lang="en-GB" sz="1200" noProof="0" dirty="0"/>
                  <a:t>c</a:t>
                </a:r>
                <a14:m>
                  <m:oMath xmlns:m="http://schemas.openxmlformats.org/officeDocument/2006/math">
                    <m:r>
                      <a:rPr lang="en-GB" sz="1200" b="0" i="0" noProof="0" smtClean="0">
                        <a:latin typeface="Cambria Math" panose="02040503050406030204" pitchFamily="18" charset="0"/>
                      </a:rPr>
                      <m:t>) </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−7</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+1=0</m:t>
                    </m:r>
                  </m:oMath>
                </a14:m>
                <a:r>
                  <a:rPr lang="en-GB" sz="1200" noProof="0" dirty="0"/>
                  <a:t> </a:t>
                </a:r>
              </a:p>
            </p:txBody>
          </p:sp>
        </mc:Choice>
        <mc:Fallback xmlns="">
          <p:sp>
            <p:nvSpPr>
              <p:cNvPr id="25" name="TextBox 24">
                <a:extLst>
                  <a:ext uri="{FF2B5EF4-FFF2-40B4-BE49-F238E27FC236}">
                    <a16:creationId xmlns:a16="http://schemas.microsoft.com/office/drawing/2014/main" id="{2359FE2D-5254-46B4-EF2C-75EAB895625A}"/>
                  </a:ext>
                </a:extLst>
              </p:cNvPr>
              <p:cNvSpPr txBox="1">
                <a:spLocks noRot="1" noChangeAspect="1" noMove="1" noResize="1" noEditPoints="1" noAdjustHandles="1" noChangeArrowheads="1" noChangeShapeType="1" noTextEdit="1"/>
              </p:cNvSpPr>
              <p:nvPr/>
            </p:nvSpPr>
            <p:spPr>
              <a:xfrm>
                <a:off x="4687201" y="6379769"/>
                <a:ext cx="1455591" cy="276999"/>
              </a:xfrm>
              <a:prstGeom prst="rect">
                <a:avLst/>
              </a:prstGeom>
              <a:blipFill>
                <a:blip r:embed="rId16"/>
                <a:stretch>
                  <a:fillRect l="-418" b="-20000"/>
                </a:stretch>
              </a:blipFill>
            </p:spPr>
            <p:txBody>
              <a:bodyPr/>
              <a:lstStyle/>
              <a:p>
                <a:r>
                  <a:rPr lang="en-US">
                    <a:noFill/>
                  </a:rPr>
                  <a:t> </a:t>
                </a:r>
              </a:p>
            </p:txBody>
          </p:sp>
        </mc:Fallback>
      </mc:AlternateContent>
    </p:spTree>
    <p:extLst>
      <p:ext uri="{BB962C8B-B14F-4D97-AF65-F5344CB8AC3E}">
        <p14:creationId xmlns:p14="http://schemas.microsoft.com/office/powerpoint/2010/main" val="1894790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0A43FB48-50D6-4CC7-A52A-C169E8D044E0}"/>
              </a:ext>
            </a:extLst>
          </p:cNvPr>
          <p:cNvSpPr/>
          <p:nvPr/>
        </p:nvSpPr>
        <p:spPr>
          <a:xfrm>
            <a:off x="3395822" y="4713765"/>
            <a:ext cx="3314356" cy="48596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0A43FB48-50D6-4CC7-A52A-C169E8D044E0}"/>
              </a:ext>
            </a:extLst>
          </p:cNvPr>
          <p:cNvSpPr/>
          <p:nvPr/>
        </p:nvSpPr>
        <p:spPr>
          <a:xfrm>
            <a:off x="3383122" y="332563"/>
            <a:ext cx="3314356" cy="41378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Calibri" panose="020F0502020204030204" pitchFamily="34" charset="0"/>
              <a:cs typeface="Calibri" panose="020F0502020204030204" pitchFamily="34" charset="0"/>
            </a:endParaRPr>
          </a:p>
        </p:txBody>
      </p:sp>
      <p:sp>
        <p:nvSpPr>
          <p:cNvPr id="30" name="Slide Number Placeholder 29"/>
          <p:cNvSpPr>
            <a:spLocks noGrp="1"/>
          </p:cNvSpPr>
          <p:nvPr>
            <p:ph type="sldNum" sz="quarter" idx="12"/>
          </p:nvPr>
        </p:nvSpPr>
        <p:spPr>
          <a:xfrm>
            <a:off x="5254760" y="9436102"/>
            <a:ext cx="1543050" cy="527403"/>
          </a:xfrm>
        </p:spPr>
        <p:txBody>
          <a:bodyPr/>
          <a:lstStyle/>
          <a:p>
            <a:fld id="{FBAE39DB-50DA-415B-9DF6-5539075545AD}" type="slidenum">
              <a:rPr lang="en-GB" noProof="0" smtClean="0"/>
              <a:t>22</a:t>
            </a:fld>
            <a:endParaRPr lang="en-GB" noProof="0" dirty="0"/>
          </a:p>
        </p:txBody>
      </p:sp>
      <p:pic>
        <p:nvPicPr>
          <p:cNvPr id="7" name="Picture 6"/>
          <p:cNvPicPr>
            <a:picLocks noChangeAspect="1"/>
          </p:cNvPicPr>
          <p:nvPr/>
        </p:nvPicPr>
        <p:blipFill>
          <a:blip r:embed="rId2"/>
          <a:stretch>
            <a:fillRect/>
          </a:stretch>
        </p:blipFill>
        <p:spPr>
          <a:xfrm>
            <a:off x="464978" y="566533"/>
            <a:ext cx="2426124" cy="1143430"/>
          </a:xfrm>
          <a:prstGeom prst="rect">
            <a:avLst/>
          </a:prstGeom>
        </p:spPr>
      </p:pic>
      <p:sp>
        <p:nvSpPr>
          <p:cNvPr id="8" name="Rectangle 7">
            <a:extLst>
              <a:ext uri="{FF2B5EF4-FFF2-40B4-BE49-F238E27FC236}">
                <a16:creationId xmlns:a16="http://schemas.microsoft.com/office/drawing/2014/main" id="{0A43FB48-50D6-4CC7-A52A-C169E8D044E0}"/>
              </a:ext>
            </a:extLst>
          </p:cNvPr>
          <p:cNvSpPr/>
          <p:nvPr/>
        </p:nvSpPr>
        <p:spPr>
          <a:xfrm>
            <a:off x="160522" y="332563"/>
            <a:ext cx="3135518" cy="41378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9" name="TextBox 8"/>
              <p:cNvSpPr txBox="1"/>
              <p:nvPr/>
            </p:nvSpPr>
            <p:spPr>
              <a:xfrm>
                <a:off x="149272" y="332563"/>
                <a:ext cx="2020040" cy="2492990"/>
              </a:xfrm>
              <a:prstGeom prst="rect">
                <a:avLst/>
              </a:prstGeom>
              <a:noFill/>
            </p:spPr>
            <p:txBody>
              <a:bodyPr wrap="none" rtlCol="0">
                <a:spAutoFit/>
              </a:bodyPr>
              <a:lstStyle/>
              <a:p>
                <a:pPr marL="228600" indent="-228600">
                  <a:buAutoNum type="alphaLcParenR"/>
                </a:pPr>
                <a:r>
                  <a:rPr lang="en-GB" sz="1200" noProof="0" dirty="0"/>
                  <a:t>Determine the value of </a:t>
                </a:r>
                <a14:m>
                  <m:oMath xmlns:m="http://schemas.openxmlformats.org/officeDocument/2006/math">
                    <m:r>
                      <a:rPr lang="en-GB" sz="1200" b="0" i="1" noProof="0" smtClean="0">
                        <a:latin typeface="Cambria Math" panose="02040503050406030204" pitchFamily="18" charset="0"/>
                      </a:rPr>
                      <m:t>𝑥</m:t>
                    </m:r>
                  </m:oMath>
                </a14:m>
                <a:r>
                  <a:rPr lang="en-GB" sz="1200" noProof="0" dirty="0"/>
                  <a:t>:</a:t>
                </a:r>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endParaRPr lang="en-GB" sz="1100" noProof="0" dirty="0"/>
              </a:p>
              <a:p>
                <a:pPr marL="228600" indent="-228600">
                  <a:buAutoNum type="alphaLcParenR"/>
                </a:pPr>
                <a:endParaRPr lang="en-GB" sz="1200" noProof="0" dirty="0"/>
              </a:p>
            </p:txBody>
          </p:sp>
        </mc:Choice>
        <mc:Fallback xmlns="">
          <p:sp>
            <p:nvSpPr>
              <p:cNvPr id="9" name="TextBox 8"/>
              <p:cNvSpPr txBox="1">
                <a:spLocks noRot="1" noChangeAspect="1" noMove="1" noResize="1" noEditPoints="1" noAdjustHandles="1" noChangeArrowheads="1" noChangeShapeType="1" noTextEdit="1"/>
              </p:cNvSpPr>
              <p:nvPr/>
            </p:nvSpPr>
            <p:spPr>
              <a:xfrm>
                <a:off x="149272" y="332563"/>
                <a:ext cx="2020040" cy="2492990"/>
              </a:xfrm>
              <a:prstGeom prst="rect">
                <a:avLst/>
              </a:prstGeom>
              <a:blipFill>
                <a:blip r:embed="rId3"/>
                <a:stretch>
                  <a:fillRect l="-301" t="-489"/>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0A43FB48-50D6-4CC7-A52A-C169E8D044E0}"/>
              </a:ext>
            </a:extLst>
          </p:cNvPr>
          <p:cNvSpPr/>
          <p:nvPr/>
        </p:nvSpPr>
        <p:spPr>
          <a:xfrm>
            <a:off x="160522" y="4713765"/>
            <a:ext cx="3135518" cy="48596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1" name="TextBox 10"/>
              <p:cNvSpPr txBox="1"/>
              <p:nvPr/>
            </p:nvSpPr>
            <p:spPr>
              <a:xfrm>
                <a:off x="195943" y="4763271"/>
                <a:ext cx="1895006" cy="2677656"/>
              </a:xfrm>
              <a:prstGeom prst="rect">
                <a:avLst/>
              </a:prstGeom>
              <a:noFill/>
            </p:spPr>
            <p:txBody>
              <a:bodyPr wrap="none" rtlCol="0">
                <a:spAutoFit/>
              </a:bodyPr>
              <a:lstStyle/>
              <a:p>
                <a:r>
                  <a:rPr lang="en-GB" sz="1200" noProof="0" dirty="0"/>
                  <a:t>c) Determine the value of </a:t>
                </a:r>
                <a14:m>
                  <m:oMath xmlns:m="http://schemas.openxmlformats.org/officeDocument/2006/math">
                    <m:r>
                      <a:rPr lang="en-GB" sz="1200" b="0" i="1" noProof="0" smtClean="0">
                        <a:latin typeface="Cambria Math" panose="02040503050406030204" pitchFamily="18" charset="0"/>
                      </a:rPr>
                      <m:t>𝑥</m:t>
                    </m:r>
                  </m:oMath>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p:txBody>
          </p:sp>
        </mc:Choice>
        <mc:Fallback xmlns="">
          <p:sp>
            <p:nvSpPr>
              <p:cNvPr id="11" name="TextBox 10"/>
              <p:cNvSpPr txBox="1">
                <a:spLocks noRot="1" noChangeAspect="1" noMove="1" noResize="1" noEditPoints="1" noAdjustHandles="1" noChangeArrowheads="1" noChangeShapeType="1" noTextEdit="1"/>
              </p:cNvSpPr>
              <p:nvPr/>
            </p:nvSpPr>
            <p:spPr>
              <a:xfrm>
                <a:off x="195943" y="4763271"/>
                <a:ext cx="1895006" cy="2677656"/>
              </a:xfrm>
              <a:prstGeom prst="rect">
                <a:avLst/>
              </a:prstGeom>
              <a:blipFill>
                <a:blip r:embed="rId4"/>
                <a:stretch>
                  <a:fillRect/>
                </a:stretch>
              </a:blipFill>
            </p:spPr>
            <p:txBody>
              <a:bodyPr/>
              <a:lstStyle/>
              <a:p>
                <a:r>
                  <a:rPr lang="en-US">
                    <a:noFill/>
                  </a:rPr>
                  <a:t> </a:t>
                </a:r>
              </a:p>
            </p:txBody>
          </p:sp>
        </mc:Fallback>
      </mc:AlternateContent>
      <p:pic>
        <p:nvPicPr>
          <p:cNvPr id="12" name="Picture 11"/>
          <p:cNvPicPr>
            <a:picLocks noChangeAspect="1"/>
          </p:cNvPicPr>
          <p:nvPr/>
        </p:nvPicPr>
        <p:blipFill>
          <a:blip r:embed="rId5"/>
          <a:stretch>
            <a:fillRect/>
          </a:stretch>
        </p:blipFill>
        <p:spPr>
          <a:xfrm>
            <a:off x="810468" y="5195313"/>
            <a:ext cx="1979124" cy="1427565"/>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554BDD9-CBEC-B4D8-F242-24B89659AA88}"/>
                  </a:ext>
                </a:extLst>
              </p:cNvPr>
              <p:cNvSpPr txBox="1"/>
              <p:nvPr/>
            </p:nvSpPr>
            <p:spPr>
              <a:xfrm>
                <a:off x="3677735" y="4901309"/>
                <a:ext cx="1880515" cy="1536511"/>
              </a:xfrm>
              <a:prstGeom prst="rect">
                <a:avLst/>
              </a:prstGeom>
              <a:noFill/>
            </p:spPr>
            <p:txBody>
              <a:bodyPr wrap="none" rtlCol="0">
                <a:spAutoFit/>
              </a:bodyPr>
              <a:lstStyle/>
              <a:p>
                <a:r>
                  <a:rPr lang="en-GB" sz="1200" noProof="0" dirty="0"/>
                  <a:t>Solve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5</m:t>
                        </m:r>
                        <m:sSup>
                          <m:sSupPr>
                            <m:ctrlPr>
                              <a:rPr lang="en-GB" sz="1400" b="0" i="1" noProof="0" smtClean="0">
                                <a:latin typeface="Cambria Math" panose="02040503050406030204" pitchFamily="18" charset="0"/>
                              </a:rPr>
                            </m:ctrlPr>
                          </m:sSupPr>
                          <m:e>
                            <m:d>
                              <m:dPr>
                                <m:ctrlPr>
                                  <a:rPr lang="en-GB" sz="1400" b="0" i="1" noProof="0" smtClean="0">
                                    <a:latin typeface="Cambria Math" panose="02040503050406030204" pitchFamily="18" charset="0"/>
                                  </a:rPr>
                                </m:ctrlPr>
                              </m:dPr>
                              <m:e>
                                <m:r>
                                  <a:rPr lang="en-GB" sz="1400" b="0" i="1" noProof="0" smtClean="0">
                                    <a:latin typeface="Cambria Math" panose="02040503050406030204" pitchFamily="18" charset="0"/>
                                  </a:rPr>
                                  <m:t>2</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e>
                            </m:d>
                          </m:e>
                          <m:sup>
                            <m:r>
                              <a:rPr lang="en-GB" sz="1400" b="0" i="1" noProof="0" smtClean="0">
                                <a:latin typeface="Cambria Math" panose="02040503050406030204" pitchFamily="18" charset="0"/>
                              </a:rPr>
                              <m:t>2</m:t>
                            </m:r>
                          </m:sup>
                        </m:sSup>
                      </m:num>
                      <m:den>
                        <m:r>
                          <a:rPr lang="en-GB" sz="1400" b="0" i="1" noProof="0" smtClean="0">
                            <a:latin typeface="Cambria Math" panose="02040503050406030204" pitchFamily="18" charset="0"/>
                          </a:rPr>
                          <m:t>4</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+5</m:t>
                        </m:r>
                      </m:den>
                    </m:f>
                    <m:r>
                      <a:rPr lang="en-GB" sz="1400" b="0" i="1" noProof="0" smtClean="0">
                        <a:latin typeface="Cambria Math" panose="02040503050406030204" pitchFamily="18" charset="0"/>
                      </a:rPr>
                      <m:t>=5</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oMath>
                </a14:m>
                <a:endParaRPr lang="en-GB" sz="1200" noProof="0" dirty="0"/>
              </a:p>
              <a:p>
                <a:pPr marL="228600" indent="-228600">
                  <a:buAutoNum type="alphaLcParenR" startAt="7"/>
                </a:pPr>
                <a:endParaRPr lang="en-GB" sz="1200" noProof="0" dirty="0"/>
              </a:p>
              <a:p>
                <a:pPr marL="228600" indent="-228600">
                  <a:buAutoNum type="alphaLcParenR" startAt="7"/>
                </a:pPr>
                <a:endParaRPr lang="en-GB" sz="1200" noProof="0" dirty="0"/>
              </a:p>
              <a:p>
                <a:pPr marL="228600" indent="-228600">
                  <a:buAutoNum type="alphaLcParenR" startAt="7"/>
                </a:pPr>
                <a:endParaRPr lang="en-GB" sz="1200" noProof="0" dirty="0"/>
              </a:p>
              <a:p>
                <a:endParaRPr lang="en-GB" sz="1200" noProof="0" dirty="0"/>
              </a:p>
              <a:p>
                <a:endParaRPr lang="en-GB" sz="1200" noProof="0" dirty="0"/>
              </a:p>
              <a:p>
                <a:endParaRPr lang="en-GB" sz="1200" noProof="0" dirty="0"/>
              </a:p>
            </p:txBody>
          </p:sp>
        </mc:Choice>
        <mc:Fallback xmlns="">
          <p:sp>
            <p:nvSpPr>
              <p:cNvPr id="2" name="TextBox 1">
                <a:extLst>
                  <a:ext uri="{FF2B5EF4-FFF2-40B4-BE49-F238E27FC236}">
                    <a16:creationId xmlns:a16="http://schemas.microsoft.com/office/drawing/2014/main" id="{E554BDD9-CBEC-B4D8-F242-24B89659AA88}"/>
                  </a:ext>
                </a:extLst>
              </p:cNvPr>
              <p:cNvSpPr txBox="1">
                <a:spLocks noRot="1" noChangeAspect="1" noMove="1" noResize="1" noEditPoints="1" noAdjustHandles="1" noChangeArrowheads="1" noChangeShapeType="1" noTextEdit="1"/>
              </p:cNvSpPr>
              <p:nvPr/>
            </p:nvSpPr>
            <p:spPr>
              <a:xfrm>
                <a:off x="3677735" y="4901309"/>
                <a:ext cx="1880515" cy="1536511"/>
              </a:xfrm>
              <a:prstGeom prst="rect">
                <a:avLst/>
              </a:prstGeom>
              <a:blipFill>
                <a:blip r:embed="rId6"/>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8D16503-9218-F363-9C27-2BFFB2E0705C}"/>
              </a:ext>
            </a:extLst>
          </p:cNvPr>
          <p:cNvSpPr txBox="1"/>
          <p:nvPr/>
        </p:nvSpPr>
        <p:spPr>
          <a:xfrm>
            <a:off x="6079" y="-3018"/>
            <a:ext cx="2340898" cy="276999"/>
          </a:xfrm>
          <a:prstGeom prst="rect">
            <a:avLst/>
          </a:prstGeom>
          <a:solidFill>
            <a:srgbClr val="0070C0"/>
          </a:solidFill>
        </p:spPr>
        <p:txBody>
          <a:bodyPr wrap="none" rtlCol="0" anchor="ctr">
            <a:spAutoFit/>
          </a:bodyPr>
          <a:lstStyle/>
          <a:p>
            <a:pPr algn="r"/>
            <a:r>
              <a:rPr lang="en-GB" sz="1200" b="1" noProof="0" dirty="0">
                <a:solidFill>
                  <a:schemeClr val="bg1"/>
                </a:solidFill>
              </a:rPr>
              <a:t>PRIOR KNOWLEDGE QUIZ (CONT.)</a:t>
            </a:r>
          </a:p>
        </p:txBody>
      </p:sp>
      <p:pic>
        <p:nvPicPr>
          <p:cNvPr id="14" name="Picture 2">
            <a:extLst>
              <a:ext uri="{FF2B5EF4-FFF2-40B4-BE49-F238E27FC236}">
                <a16:creationId xmlns:a16="http://schemas.microsoft.com/office/drawing/2014/main" id="{082F16D4-A8A8-1273-AD75-2AB4FAD3FBC1}"/>
              </a:ext>
            </a:extLst>
          </p:cNvPr>
          <p:cNvPicPr>
            <a:picLocks noChangeAspect="1" noChangeArrowheads="1"/>
          </p:cNvPicPr>
          <p:nvPr/>
        </p:nvPicPr>
        <p:blipFill rotWithShape="1">
          <a:blip r:embed="rId7" cstate="print"/>
          <a:srcRect l="5630" t="732" b="4584"/>
          <a:stretch/>
        </p:blipFill>
        <p:spPr bwMode="auto">
          <a:xfrm>
            <a:off x="3490847" y="398771"/>
            <a:ext cx="3047499" cy="2631812"/>
          </a:xfrm>
          <a:prstGeom prst="rect">
            <a:avLst/>
          </a:prstGeom>
          <a:noFill/>
          <a:ln w="9525">
            <a:noFill/>
            <a:miter lim="800000"/>
            <a:headEnd/>
            <a:tailEnd/>
          </a:ln>
        </p:spPr>
      </p:pic>
    </p:spTree>
    <p:extLst>
      <p:ext uri="{BB962C8B-B14F-4D97-AF65-F5344CB8AC3E}">
        <p14:creationId xmlns:p14="http://schemas.microsoft.com/office/powerpoint/2010/main" val="1135025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9BED3C-14E5-47E7-69B0-6B1FF7F1191B}"/>
              </a:ext>
            </a:extLst>
          </p:cNvPr>
          <p:cNvSpPr>
            <a:spLocks noGrp="1"/>
          </p:cNvSpPr>
          <p:nvPr>
            <p:ph type="sldNum" sz="quarter" idx="12"/>
          </p:nvPr>
        </p:nvSpPr>
        <p:spPr/>
        <p:txBody>
          <a:bodyPr/>
          <a:lstStyle/>
          <a:p>
            <a:fld id="{FBAE39DB-50DA-415B-9DF6-5539075545AD}" type="slidenum">
              <a:rPr lang="en-GB" noProof="0" smtClean="0"/>
              <a:t>23</a:t>
            </a:fld>
            <a:endParaRPr lang="en-GB" noProof="0" dirty="0"/>
          </a:p>
        </p:txBody>
      </p:sp>
      <p:pic>
        <p:nvPicPr>
          <p:cNvPr id="4" name="Picture 3">
            <a:extLst>
              <a:ext uri="{FF2B5EF4-FFF2-40B4-BE49-F238E27FC236}">
                <a16:creationId xmlns:a16="http://schemas.microsoft.com/office/drawing/2014/main" id="{11EFB05D-C7A0-82A0-51E3-D9BBA50596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606" y="858374"/>
            <a:ext cx="4585018" cy="2193334"/>
          </a:xfrm>
          <a:prstGeom prst="rect">
            <a:avLst/>
          </a:prstGeom>
        </p:spPr>
      </p:pic>
      <p:pic>
        <p:nvPicPr>
          <p:cNvPr id="5" name="Picture 4">
            <a:extLst>
              <a:ext uri="{FF2B5EF4-FFF2-40B4-BE49-F238E27FC236}">
                <a16:creationId xmlns:a16="http://schemas.microsoft.com/office/drawing/2014/main" id="{B3E9E3B2-6F0B-B707-70B7-1A1CA942226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0159" t="29973" r="21496" b="27991"/>
          <a:stretch/>
        </p:blipFill>
        <p:spPr bwMode="auto">
          <a:xfrm>
            <a:off x="31432" y="3200332"/>
            <a:ext cx="6336030" cy="2566670"/>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C0860536-D341-6BC9-B451-ED69AD32867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0745" t="25150" r="22457" b="22479"/>
          <a:stretch/>
        </p:blipFill>
        <p:spPr bwMode="auto">
          <a:xfrm>
            <a:off x="156606" y="5915806"/>
            <a:ext cx="6040120" cy="3131820"/>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4D82223D-E1A4-F3B5-5FC7-10B2EEFCC9D2}"/>
              </a:ext>
            </a:extLst>
          </p:cNvPr>
          <p:cNvSpPr txBox="1"/>
          <p:nvPr/>
        </p:nvSpPr>
        <p:spPr>
          <a:xfrm>
            <a:off x="-1" y="-11541"/>
            <a:ext cx="2120901" cy="276999"/>
          </a:xfrm>
          <a:prstGeom prst="rect">
            <a:avLst/>
          </a:prstGeom>
          <a:solidFill>
            <a:srgbClr val="0070C0"/>
          </a:solidFill>
        </p:spPr>
        <p:txBody>
          <a:bodyPr wrap="square" lIns="91440" tIns="45720" rIns="91440" bIns="45720" rtlCol="0" anchor="ctr">
            <a:spAutoFit/>
          </a:bodyPr>
          <a:lstStyle/>
          <a:p>
            <a:r>
              <a:rPr lang="en-GB" sz="1200" b="1" noProof="0" dirty="0">
                <a:solidFill>
                  <a:schemeClr val="bg1"/>
                </a:solidFill>
              </a:rPr>
              <a:t>MIXED PRACTICE (SLOP)</a:t>
            </a:r>
          </a:p>
        </p:txBody>
      </p:sp>
      <p:sp>
        <p:nvSpPr>
          <p:cNvPr id="8" name="TextBox 7">
            <a:extLst>
              <a:ext uri="{FF2B5EF4-FFF2-40B4-BE49-F238E27FC236}">
                <a16:creationId xmlns:a16="http://schemas.microsoft.com/office/drawing/2014/main" id="{1A819BA4-534B-40F1-85D1-6F10721675C2}"/>
              </a:ext>
            </a:extLst>
          </p:cNvPr>
          <p:cNvSpPr txBox="1"/>
          <p:nvPr/>
        </p:nvSpPr>
        <p:spPr>
          <a:xfrm>
            <a:off x="67706" y="495300"/>
            <a:ext cx="5012294" cy="276999"/>
          </a:xfrm>
          <a:prstGeom prst="rect">
            <a:avLst/>
          </a:prstGeom>
          <a:noFill/>
        </p:spPr>
        <p:txBody>
          <a:bodyPr wrap="square" rtlCol="0">
            <a:spAutoFit/>
          </a:bodyPr>
          <a:lstStyle/>
          <a:p>
            <a:r>
              <a:rPr lang="en-GB" sz="1200" noProof="0" dirty="0"/>
              <a:t>Question 1: Solve these </a:t>
            </a:r>
            <a:r>
              <a:rPr lang="en-GB" sz="1200" b="1" noProof="0" dirty="0"/>
              <a:t>increasingly difficult </a:t>
            </a:r>
            <a:r>
              <a:rPr lang="en-GB" sz="1200" noProof="0" dirty="0"/>
              <a:t>quadratic equations:</a:t>
            </a:r>
            <a:endParaRPr lang="en-GB" sz="1200" b="1" noProof="0" dirty="0"/>
          </a:p>
        </p:txBody>
      </p:sp>
      <p:sp>
        <p:nvSpPr>
          <p:cNvPr id="9" name="Rectangle 8">
            <a:extLst>
              <a:ext uri="{FF2B5EF4-FFF2-40B4-BE49-F238E27FC236}">
                <a16:creationId xmlns:a16="http://schemas.microsoft.com/office/drawing/2014/main" id="{97B4499F-0A0F-2B8B-606C-B902D8AABEFA}"/>
              </a:ext>
            </a:extLst>
          </p:cNvPr>
          <p:cNvSpPr/>
          <p:nvPr/>
        </p:nvSpPr>
        <p:spPr>
          <a:xfrm>
            <a:off x="88900" y="338172"/>
            <a:ext cx="6612494" cy="93706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60FFEDFB-65E9-226D-831F-1911DD9C8179}"/>
              </a:ext>
            </a:extLst>
          </p:cNvPr>
          <p:cNvPicPr>
            <a:picLocks noChangeAspect="1"/>
          </p:cNvPicPr>
          <p:nvPr/>
        </p:nvPicPr>
        <p:blipFill>
          <a:blip r:embed="rId5"/>
          <a:stretch>
            <a:fillRect/>
          </a:stretch>
        </p:blipFill>
        <p:spPr>
          <a:xfrm>
            <a:off x="122238" y="764059"/>
            <a:ext cx="4903230" cy="2436273"/>
          </a:xfrm>
          <a:prstGeom prst="rect">
            <a:avLst/>
          </a:prstGeom>
        </p:spPr>
      </p:pic>
      <p:pic>
        <p:nvPicPr>
          <p:cNvPr id="12" name="Picture 11">
            <a:extLst>
              <a:ext uri="{FF2B5EF4-FFF2-40B4-BE49-F238E27FC236}">
                <a16:creationId xmlns:a16="http://schemas.microsoft.com/office/drawing/2014/main" id="{71C2868E-C691-BA23-E2FC-06A9AD2184D5}"/>
              </a:ext>
            </a:extLst>
          </p:cNvPr>
          <p:cNvPicPr>
            <a:picLocks noChangeAspect="1"/>
          </p:cNvPicPr>
          <p:nvPr/>
        </p:nvPicPr>
        <p:blipFill>
          <a:blip r:embed="rId6"/>
          <a:stretch>
            <a:fillRect/>
          </a:stretch>
        </p:blipFill>
        <p:spPr>
          <a:xfrm>
            <a:off x="156606" y="3477245"/>
            <a:ext cx="3686345" cy="2353117"/>
          </a:xfrm>
          <a:prstGeom prst="rect">
            <a:avLst/>
          </a:prstGeom>
          <a:ln>
            <a:solidFill>
              <a:schemeClr val="tx1"/>
            </a:solidFill>
          </a:ln>
        </p:spPr>
      </p:pic>
      <p:pic>
        <p:nvPicPr>
          <p:cNvPr id="14" name="Picture 13">
            <a:extLst>
              <a:ext uri="{FF2B5EF4-FFF2-40B4-BE49-F238E27FC236}">
                <a16:creationId xmlns:a16="http://schemas.microsoft.com/office/drawing/2014/main" id="{AEC5716A-8422-CAF5-3BC2-37C929447008}"/>
              </a:ext>
            </a:extLst>
          </p:cNvPr>
          <p:cNvPicPr>
            <a:picLocks noChangeAspect="1"/>
          </p:cNvPicPr>
          <p:nvPr/>
        </p:nvPicPr>
        <p:blipFill>
          <a:blip r:embed="rId7"/>
          <a:stretch>
            <a:fillRect/>
          </a:stretch>
        </p:blipFill>
        <p:spPr>
          <a:xfrm>
            <a:off x="173532" y="6213688"/>
            <a:ext cx="3879484" cy="2025179"/>
          </a:xfrm>
          <a:prstGeom prst="rect">
            <a:avLst/>
          </a:prstGeom>
          <a:ln>
            <a:solidFill>
              <a:schemeClr val="tx1"/>
            </a:solidFill>
          </a:ln>
        </p:spPr>
      </p:pic>
      <p:pic>
        <p:nvPicPr>
          <p:cNvPr id="16" name="Picture 15">
            <a:extLst>
              <a:ext uri="{FF2B5EF4-FFF2-40B4-BE49-F238E27FC236}">
                <a16:creationId xmlns:a16="http://schemas.microsoft.com/office/drawing/2014/main" id="{BF1B0108-440C-CA78-A33B-E1602E1FAFEE}"/>
              </a:ext>
            </a:extLst>
          </p:cNvPr>
          <p:cNvPicPr>
            <a:picLocks noChangeAspect="1"/>
          </p:cNvPicPr>
          <p:nvPr/>
        </p:nvPicPr>
        <p:blipFill>
          <a:blip r:embed="rId8"/>
          <a:stretch>
            <a:fillRect/>
          </a:stretch>
        </p:blipFill>
        <p:spPr>
          <a:xfrm>
            <a:off x="173532" y="8443085"/>
            <a:ext cx="5611008" cy="704948"/>
          </a:xfrm>
          <a:prstGeom prst="rect">
            <a:avLst/>
          </a:prstGeom>
          <a:ln>
            <a:solidFill>
              <a:schemeClr val="tx1"/>
            </a:solidFill>
          </a:ln>
        </p:spPr>
      </p:pic>
    </p:spTree>
    <p:extLst>
      <p:ext uri="{BB962C8B-B14F-4D97-AF65-F5344CB8AC3E}">
        <p14:creationId xmlns:p14="http://schemas.microsoft.com/office/powerpoint/2010/main" val="8630861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2C16681-67B0-7494-A909-C0D90FE4FC19}"/>
              </a:ext>
            </a:extLst>
          </p:cNvPr>
          <p:cNvGrpSpPr/>
          <p:nvPr/>
        </p:nvGrpSpPr>
        <p:grpSpPr>
          <a:xfrm>
            <a:off x="0" y="0"/>
            <a:ext cx="6779619" cy="9591040"/>
            <a:chOff x="0" y="0"/>
            <a:chExt cx="6779619" cy="9591040"/>
          </a:xfrm>
        </p:grpSpPr>
        <p:grpSp>
          <p:nvGrpSpPr>
            <p:cNvPr id="6" name="Group 5">
              <a:extLst>
                <a:ext uri="{FF2B5EF4-FFF2-40B4-BE49-F238E27FC236}">
                  <a16:creationId xmlns:a16="http://schemas.microsoft.com/office/drawing/2014/main" id="{1C12CC40-C4A0-276F-1144-38ABA8F869A5}"/>
                </a:ext>
              </a:extLst>
            </p:cNvPr>
            <p:cNvGrpSpPr/>
            <p:nvPr/>
          </p:nvGrpSpPr>
          <p:grpSpPr>
            <a:xfrm>
              <a:off x="0" y="0"/>
              <a:ext cx="6779619" cy="9591040"/>
              <a:chOff x="0" y="0"/>
              <a:chExt cx="6779619" cy="9591040"/>
            </a:xfrm>
          </p:grpSpPr>
          <p:pic>
            <p:nvPicPr>
              <p:cNvPr id="10" name="Picture 9">
                <a:extLst>
                  <a:ext uri="{FF2B5EF4-FFF2-40B4-BE49-F238E27FC236}">
                    <a16:creationId xmlns:a16="http://schemas.microsoft.com/office/drawing/2014/main" id="{4AA15FDE-47CC-060F-9458-14DF0333DBE1}"/>
                  </a:ext>
                </a:extLst>
              </p:cNvPr>
              <p:cNvPicPr>
                <a:picLocks noChangeAspect="1"/>
              </p:cNvPicPr>
              <p:nvPr/>
            </p:nvPicPr>
            <p:blipFill rotWithShape="1">
              <a:blip r:embed="rId2"/>
              <a:srcRect l="3025" t="4979" r="4130" b="3452"/>
              <a:stretch/>
            </p:blipFill>
            <p:spPr>
              <a:xfrm>
                <a:off x="0" y="0"/>
                <a:ext cx="4984291" cy="6353298"/>
              </a:xfrm>
              <a:prstGeom prst="rect">
                <a:avLst/>
              </a:prstGeom>
            </p:spPr>
          </p:pic>
          <p:pic>
            <p:nvPicPr>
              <p:cNvPr id="11" name="Picture 10">
                <a:extLst>
                  <a:ext uri="{FF2B5EF4-FFF2-40B4-BE49-F238E27FC236}">
                    <a16:creationId xmlns:a16="http://schemas.microsoft.com/office/drawing/2014/main" id="{098695C5-9443-21E7-AD37-CD77E679E596}"/>
                  </a:ext>
                </a:extLst>
              </p:cNvPr>
              <p:cNvPicPr>
                <a:picLocks noChangeAspect="1"/>
              </p:cNvPicPr>
              <p:nvPr/>
            </p:nvPicPr>
            <p:blipFill rotWithShape="1">
              <a:blip r:embed="rId2"/>
              <a:srcRect l="3025" t="5293" r="4130" b="47240"/>
              <a:stretch/>
            </p:blipFill>
            <p:spPr>
              <a:xfrm>
                <a:off x="0" y="6297642"/>
                <a:ext cx="4984291" cy="3293398"/>
              </a:xfrm>
              <a:prstGeom prst="rect">
                <a:avLst/>
              </a:prstGeom>
            </p:spPr>
          </p:pic>
          <p:pic>
            <p:nvPicPr>
              <p:cNvPr id="12" name="Picture 11">
                <a:extLst>
                  <a:ext uri="{FF2B5EF4-FFF2-40B4-BE49-F238E27FC236}">
                    <a16:creationId xmlns:a16="http://schemas.microsoft.com/office/drawing/2014/main" id="{32CEE58D-7F72-CC55-BBD2-2CFF61039E32}"/>
                  </a:ext>
                </a:extLst>
              </p:cNvPr>
              <p:cNvPicPr>
                <a:picLocks noChangeAspect="1"/>
              </p:cNvPicPr>
              <p:nvPr/>
            </p:nvPicPr>
            <p:blipFill rotWithShape="1">
              <a:blip r:embed="rId2"/>
              <a:srcRect l="7910" t="4980" r="58113" b="43762"/>
              <a:stretch/>
            </p:blipFill>
            <p:spPr>
              <a:xfrm>
                <a:off x="4955623" y="6024363"/>
                <a:ext cx="1823994" cy="3556517"/>
              </a:xfrm>
              <a:prstGeom prst="rect">
                <a:avLst/>
              </a:prstGeom>
            </p:spPr>
          </p:pic>
          <p:pic>
            <p:nvPicPr>
              <p:cNvPr id="13" name="Picture 12">
                <a:extLst>
                  <a:ext uri="{FF2B5EF4-FFF2-40B4-BE49-F238E27FC236}">
                    <a16:creationId xmlns:a16="http://schemas.microsoft.com/office/drawing/2014/main" id="{81579FF3-1EF6-E26D-1955-9F5584A2C965}"/>
                  </a:ext>
                </a:extLst>
              </p:cNvPr>
              <p:cNvPicPr>
                <a:picLocks noChangeAspect="1"/>
              </p:cNvPicPr>
              <p:nvPr/>
            </p:nvPicPr>
            <p:blipFill rotWithShape="1">
              <a:blip r:embed="rId2"/>
              <a:srcRect l="7910" t="5294" r="58113" b="5410"/>
              <a:stretch/>
            </p:blipFill>
            <p:spPr>
              <a:xfrm>
                <a:off x="4955623" y="21772"/>
                <a:ext cx="1823996" cy="6195686"/>
              </a:xfrm>
              <a:prstGeom prst="rect">
                <a:avLst/>
              </a:prstGeom>
            </p:spPr>
          </p:pic>
        </p:grpSp>
        <p:cxnSp>
          <p:nvCxnSpPr>
            <p:cNvPr id="7" name="Straight Connector 6">
              <a:extLst>
                <a:ext uri="{FF2B5EF4-FFF2-40B4-BE49-F238E27FC236}">
                  <a16:creationId xmlns:a16="http://schemas.microsoft.com/office/drawing/2014/main" id="{586BE151-C2D2-E3FF-76EF-8405D00FC0CE}"/>
                </a:ext>
              </a:extLst>
            </p:cNvPr>
            <p:cNvCxnSpPr>
              <a:cxnSpLocks/>
            </p:cNvCxnSpPr>
            <p:nvPr/>
          </p:nvCxnSpPr>
          <p:spPr>
            <a:xfrm flipH="1">
              <a:off x="3749040" y="16476"/>
              <a:ext cx="3175" cy="956440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49E9BD9-625C-C685-5F84-8CCC1C4D37D5}"/>
                </a:ext>
              </a:extLst>
            </p:cNvPr>
            <p:cNvCxnSpPr>
              <a:cxnSpLocks/>
            </p:cNvCxnSpPr>
            <p:nvPr/>
          </p:nvCxnSpPr>
          <p:spPr>
            <a:xfrm flipH="1">
              <a:off x="3474720" y="16476"/>
              <a:ext cx="17897" cy="957456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8E55157-4E6B-27F5-1FBC-1BE818A92F47}"/>
                </a:ext>
              </a:extLst>
            </p:cNvPr>
            <p:cNvCxnSpPr>
              <a:cxnSpLocks/>
            </p:cNvCxnSpPr>
            <p:nvPr/>
          </p:nvCxnSpPr>
          <p:spPr>
            <a:xfrm>
              <a:off x="289103" y="24219"/>
              <a:ext cx="5537" cy="9566821"/>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2" name="Slide Number Placeholder 2">
            <a:extLst>
              <a:ext uri="{FF2B5EF4-FFF2-40B4-BE49-F238E27FC236}">
                <a16:creationId xmlns:a16="http://schemas.microsoft.com/office/drawing/2014/main" id="{F65E5999-2CED-C416-FB36-E0E3B5D0C91A}"/>
              </a:ext>
            </a:extLst>
          </p:cNvPr>
          <p:cNvSpPr>
            <a:spLocks noGrp="1"/>
          </p:cNvSpPr>
          <p:nvPr>
            <p:ph type="sldNum" sz="quarter" idx="12"/>
          </p:nvPr>
        </p:nvSpPr>
        <p:spPr>
          <a:xfrm>
            <a:off x="5357813" y="9580120"/>
            <a:ext cx="1543050" cy="527403"/>
          </a:xfrm>
        </p:spPr>
        <p:txBody>
          <a:bodyPr/>
          <a:lstStyle/>
          <a:p>
            <a:fld id="{19F1D9CC-7119-45EC-A96C-D8C0660F3AAB}" type="slidenum">
              <a:rPr lang="en-GB" noProof="0" smtClean="0"/>
              <a:t>24</a:t>
            </a:fld>
            <a:endParaRPr lang="en-GB" noProof="0" dirty="0"/>
          </a:p>
        </p:txBody>
      </p:sp>
    </p:spTree>
    <p:extLst>
      <p:ext uri="{BB962C8B-B14F-4D97-AF65-F5344CB8AC3E}">
        <p14:creationId xmlns:p14="http://schemas.microsoft.com/office/powerpoint/2010/main" val="17794075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80492" y="9581953"/>
            <a:ext cx="1543050" cy="527403"/>
          </a:xfrm>
        </p:spPr>
        <p:txBody>
          <a:bodyPr/>
          <a:lstStyle/>
          <a:p>
            <a:fld id="{19F1D9CC-7119-45EC-A96C-D8C0660F3AAB}" type="slidenum">
              <a:rPr lang="en-GB" noProof="0" smtClean="0"/>
              <a:t>25</a:t>
            </a:fld>
            <a:endParaRPr lang="en-GB" noProof="0" dirty="0"/>
          </a:p>
        </p:txBody>
      </p:sp>
      <p:sp>
        <p:nvSpPr>
          <p:cNvPr id="3" name="Rectangle 2">
            <a:extLst>
              <a:ext uri="{FF2B5EF4-FFF2-40B4-BE49-F238E27FC236}">
                <a16:creationId xmlns:a16="http://schemas.microsoft.com/office/drawing/2014/main" id="{AD560AD6-3CF0-A34E-9B5F-733AD85673F7}"/>
              </a:ext>
            </a:extLst>
          </p:cNvPr>
          <p:cNvSpPr/>
          <p:nvPr/>
        </p:nvSpPr>
        <p:spPr>
          <a:xfrm>
            <a:off x="113128" y="406971"/>
            <a:ext cx="6647773" cy="19024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5" name="TextBox 4">
            <a:extLst>
              <a:ext uri="{FF2B5EF4-FFF2-40B4-BE49-F238E27FC236}">
                <a16:creationId xmlns:a16="http://schemas.microsoft.com/office/drawing/2014/main" id="{745758D2-640B-DA4E-81A5-49FF2457E689}"/>
              </a:ext>
            </a:extLst>
          </p:cNvPr>
          <p:cNvSpPr txBox="1"/>
          <p:nvPr/>
        </p:nvSpPr>
        <p:spPr>
          <a:xfrm>
            <a:off x="69812" y="883818"/>
            <a:ext cx="2237579" cy="369332"/>
          </a:xfrm>
          <a:prstGeom prst="rect">
            <a:avLst/>
          </a:prstGeom>
          <a:noFill/>
        </p:spPr>
        <p:txBody>
          <a:bodyPr wrap="square" rtlCol="0">
            <a:spAutoFit/>
          </a:bodyPr>
          <a:lstStyle/>
          <a:p>
            <a:r>
              <a:rPr lang="en-GB" b="1" noProof="0" dirty="0"/>
              <a:t>Objectives:</a:t>
            </a:r>
          </a:p>
        </p:txBody>
      </p:sp>
      <p:sp>
        <p:nvSpPr>
          <p:cNvPr id="6" name="TextBox 5">
            <a:extLst>
              <a:ext uri="{FF2B5EF4-FFF2-40B4-BE49-F238E27FC236}">
                <a16:creationId xmlns:a16="http://schemas.microsoft.com/office/drawing/2014/main" id="{76C824E3-7CEF-6546-88A4-4D0EBF16757A}"/>
              </a:ext>
            </a:extLst>
          </p:cNvPr>
          <p:cNvSpPr txBox="1"/>
          <p:nvPr/>
        </p:nvSpPr>
        <p:spPr>
          <a:xfrm>
            <a:off x="288420" y="1299047"/>
            <a:ext cx="4486037" cy="646331"/>
          </a:xfrm>
          <a:prstGeom prst="rect">
            <a:avLst/>
          </a:prstGeom>
          <a:noFill/>
        </p:spPr>
        <p:txBody>
          <a:bodyPr wrap="square" rtlCol="0">
            <a:spAutoFit/>
          </a:bodyPr>
          <a:lstStyle/>
          <a:p>
            <a:pPr marL="342900" indent="-342900">
              <a:buFont typeface="+mj-lt"/>
              <a:buAutoNum type="arabicPeriod"/>
              <a:defRPr/>
            </a:pPr>
            <a:r>
              <a:rPr lang="en-GB" sz="1200" noProof="0" dirty="0"/>
              <a:t>Solve graphical simultaneous equations from a given graph. </a:t>
            </a:r>
          </a:p>
          <a:p>
            <a:pPr marL="342900" indent="-342900">
              <a:buFont typeface="+mj-lt"/>
              <a:buAutoNum type="arabicPeriod"/>
              <a:defRPr/>
            </a:pPr>
            <a:r>
              <a:rPr lang="en-GB" sz="1200" noProof="0" dirty="0"/>
              <a:t>Solve graphical simultaneous equations by plotting one or both lines. </a:t>
            </a:r>
          </a:p>
        </p:txBody>
      </p:sp>
      <p:sp>
        <p:nvSpPr>
          <p:cNvPr id="7" name="TextBox 6">
            <a:extLst>
              <a:ext uri="{FF2B5EF4-FFF2-40B4-BE49-F238E27FC236}">
                <a16:creationId xmlns:a16="http://schemas.microsoft.com/office/drawing/2014/main" id="{20EE3977-CCB5-4846-991E-D705D7E45252}"/>
              </a:ext>
            </a:extLst>
          </p:cNvPr>
          <p:cNvSpPr txBox="1"/>
          <p:nvPr/>
        </p:nvSpPr>
        <p:spPr>
          <a:xfrm>
            <a:off x="226912" y="524735"/>
            <a:ext cx="6411256" cy="276999"/>
          </a:xfrm>
          <a:prstGeom prst="rect">
            <a:avLst/>
          </a:prstGeom>
          <a:noFill/>
          <a:ln>
            <a:solidFill>
              <a:schemeClr val="tx1"/>
            </a:solidFill>
          </a:ln>
        </p:spPr>
        <p:txBody>
          <a:bodyPr wrap="square" rtlCol="0">
            <a:spAutoFit/>
          </a:bodyPr>
          <a:lstStyle/>
          <a:p>
            <a:pPr algn="ctr"/>
            <a:r>
              <a:rPr lang="en-GB" sz="1200" b="1" noProof="0" dirty="0"/>
              <a:t>LEARNING OUTCOME: Solve simultaneous equations in two variables by the graphical method</a:t>
            </a:r>
            <a:endParaRPr lang="en-GB" sz="1200" noProof="0" dirty="0"/>
          </a:p>
        </p:txBody>
      </p:sp>
      <p:sp>
        <p:nvSpPr>
          <p:cNvPr id="8" name="TextBox 7">
            <a:extLst>
              <a:ext uri="{FF2B5EF4-FFF2-40B4-BE49-F238E27FC236}">
                <a16:creationId xmlns:a16="http://schemas.microsoft.com/office/drawing/2014/main" id="{0A52FFC7-E557-AE4C-8709-C2EEFD934428}"/>
              </a:ext>
            </a:extLst>
          </p:cNvPr>
          <p:cNvSpPr txBox="1"/>
          <p:nvPr/>
        </p:nvSpPr>
        <p:spPr>
          <a:xfrm>
            <a:off x="4774457" y="973661"/>
            <a:ext cx="1874201" cy="1200329"/>
          </a:xfrm>
          <a:prstGeom prst="rect">
            <a:avLst/>
          </a:prstGeom>
          <a:noFill/>
          <a:ln w="12700">
            <a:solidFill>
              <a:schemeClr val="tx1"/>
            </a:solidFill>
          </a:ln>
        </p:spPr>
        <p:txBody>
          <a:bodyPr wrap="square" rtlCol="0">
            <a:spAutoFit/>
          </a:bodyPr>
          <a:lstStyle/>
          <a:p>
            <a:r>
              <a:rPr lang="en-GB" sz="1200" b="1" u="sng" noProof="0" dirty="0"/>
              <a:t>Keywords:</a:t>
            </a:r>
            <a:endParaRPr lang="en-GB" sz="1200" noProof="0" dirty="0"/>
          </a:p>
          <a:p>
            <a:pPr marL="285750" indent="-285750">
              <a:buFont typeface=".AppleSystemUIFont" charset="-120"/>
              <a:buChar char="-"/>
            </a:pPr>
            <a:r>
              <a:rPr lang="en-GB" sz="1200" noProof="0" dirty="0"/>
              <a:t>Simultaneous equations</a:t>
            </a:r>
          </a:p>
          <a:p>
            <a:pPr marL="285750" indent="-285750">
              <a:buFont typeface=".AppleSystemUIFont" charset="-120"/>
              <a:buChar char="-"/>
            </a:pPr>
            <a:r>
              <a:rPr lang="en-GB" sz="1200" noProof="0" dirty="0"/>
              <a:t>Linear equations</a:t>
            </a:r>
          </a:p>
          <a:p>
            <a:pPr marL="285750" indent="-285750">
              <a:buFont typeface=".AppleSystemUIFont" charset="-120"/>
              <a:buChar char="-"/>
            </a:pPr>
            <a:r>
              <a:rPr lang="en-GB" sz="1200" noProof="0" dirty="0"/>
              <a:t>Equivalent equations</a:t>
            </a:r>
          </a:p>
          <a:p>
            <a:pPr marL="285750" indent="-285750">
              <a:buFont typeface=".AppleSystemUIFont" charset="-120"/>
              <a:buChar char="-"/>
            </a:pPr>
            <a:r>
              <a:rPr lang="en-GB" sz="1200" noProof="0" dirty="0"/>
              <a:t>Intersection</a:t>
            </a:r>
          </a:p>
        </p:txBody>
      </p:sp>
      <p:sp>
        <p:nvSpPr>
          <p:cNvPr id="9" name="Rectangle 8">
            <a:extLst>
              <a:ext uri="{FF2B5EF4-FFF2-40B4-BE49-F238E27FC236}">
                <a16:creationId xmlns:a16="http://schemas.microsoft.com/office/drawing/2014/main" id="{A5F25803-561A-2D43-A1CA-783BAAA7D792}"/>
              </a:ext>
            </a:extLst>
          </p:cNvPr>
          <p:cNvSpPr/>
          <p:nvPr/>
        </p:nvSpPr>
        <p:spPr>
          <a:xfrm>
            <a:off x="3540" y="-1"/>
            <a:ext cx="6858000" cy="319619"/>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t>Subtopic 3a – Solving simultaneous equations graphically</a:t>
            </a:r>
          </a:p>
        </p:txBody>
      </p:sp>
      <p:cxnSp>
        <p:nvCxnSpPr>
          <p:cNvPr id="26" name="Straight Connector 25">
            <a:extLst>
              <a:ext uri="{FF2B5EF4-FFF2-40B4-BE49-F238E27FC236}">
                <a16:creationId xmlns:a16="http://schemas.microsoft.com/office/drawing/2014/main" id="{FE7EDCC2-ABAA-434F-8C0E-6C3A1F76BAE7}"/>
              </a:ext>
            </a:extLst>
          </p:cNvPr>
          <p:cNvCxnSpPr/>
          <p:nvPr/>
        </p:nvCxnSpPr>
        <p:spPr>
          <a:xfrm flipV="1">
            <a:off x="950054" y="4157391"/>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133908" y="2397043"/>
            <a:ext cx="6645064" cy="242768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29" name="Straight Connector 28"/>
          <p:cNvCxnSpPr/>
          <p:nvPr/>
        </p:nvCxnSpPr>
        <p:spPr>
          <a:xfrm>
            <a:off x="128275" y="3484803"/>
            <a:ext cx="6672688" cy="15941"/>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p:cNvCxnSpPr>
            <a:stCxn id="28" idx="2"/>
            <a:endCxn id="28" idx="0"/>
          </p:cNvCxnSpPr>
          <p:nvPr/>
        </p:nvCxnSpPr>
        <p:spPr>
          <a:xfrm flipV="1">
            <a:off x="3456440" y="2397043"/>
            <a:ext cx="0" cy="2427683"/>
          </a:xfrm>
          <a:prstGeom prst="line">
            <a:avLst/>
          </a:prstGeom>
        </p:spPr>
        <p:style>
          <a:lnRef idx="1">
            <a:schemeClr val="dk1"/>
          </a:lnRef>
          <a:fillRef idx="0">
            <a:schemeClr val="dk1"/>
          </a:fillRef>
          <a:effectRef idx="0">
            <a:schemeClr val="dk1"/>
          </a:effectRef>
          <a:fontRef idx="minor">
            <a:schemeClr val="tx1"/>
          </a:fontRef>
        </p:style>
      </p:cxnSp>
      <p:sp>
        <p:nvSpPr>
          <p:cNvPr id="31" name="TextBox 30"/>
          <p:cNvSpPr txBox="1"/>
          <p:nvPr/>
        </p:nvSpPr>
        <p:spPr>
          <a:xfrm>
            <a:off x="113128" y="2387665"/>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32" name="TextBox 31"/>
          <p:cNvSpPr txBox="1"/>
          <p:nvPr/>
        </p:nvSpPr>
        <p:spPr>
          <a:xfrm>
            <a:off x="5637179" y="2355279"/>
            <a:ext cx="1112228" cy="276999"/>
          </a:xfrm>
          <a:prstGeom prst="rect">
            <a:avLst/>
          </a:prstGeom>
          <a:noFill/>
        </p:spPr>
        <p:txBody>
          <a:bodyPr wrap="none" rtlCol="0">
            <a:spAutoFit/>
          </a:bodyPr>
          <a:lstStyle/>
          <a:p>
            <a:r>
              <a:rPr lang="en-GB" sz="1200" b="1" noProof="0" dirty="0"/>
              <a:t>Characteristics</a:t>
            </a:r>
          </a:p>
        </p:txBody>
      </p:sp>
      <p:sp>
        <p:nvSpPr>
          <p:cNvPr id="33" name="TextBox 32"/>
          <p:cNvSpPr txBox="1"/>
          <p:nvPr/>
        </p:nvSpPr>
        <p:spPr>
          <a:xfrm>
            <a:off x="128275" y="3484803"/>
            <a:ext cx="788164" cy="276999"/>
          </a:xfrm>
          <a:prstGeom prst="rect">
            <a:avLst/>
          </a:prstGeom>
          <a:noFill/>
        </p:spPr>
        <p:txBody>
          <a:bodyPr wrap="none" rtlCol="0">
            <a:spAutoFit/>
          </a:bodyPr>
          <a:lstStyle/>
          <a:p>
            <a:r>
              <a:rPr lang="en-GB" sz="1200" b="1" noProof="0" dirty="0"/>
              <a:t>Examples</a:t>
            </a:r>
          </a:p>
        </p:txBody>
      </p:sp>
      <p:sp>
        <p:nvSpPr>
          <p:cNvPr id="34" name="TextBox 33"/>
          <p:cNvSpPr txBox="1"/>
          <p:nvPr/>
        </p:nvSpPr>
        <p:spPr>
          <a:xfrm>
            <a:off x="5565692" y="3460422"/>
            <a:ext cx="1172885" cy="276999"/>
          </a:xfrm>
          <a:prstGeom prst="rect">
            <a:avLst/>
          </a:prstGeom>
          <a:noFill/>
        </p:spPr>
        <p:txBody>
          <a:bodyPr wrap="none" rtlCol="0">
            <a:spAutoFit/>
          </a:bodyPr>
          <a:lstStyle/>
          <a:p>
            <a:r>
              <a:rPr lang="en-GB" sz="1200" b="1" noProof="0" dirty="0"/>
              <a:t>Non - Examples</a:t>
            </a:r>
          </a:p>
        </p:txBody>
      </p:sp>
      <p:sp>
        <p:nvSpPr>
          <p:cNvPr id="35" name="TextBox 34"/>
          <p:cNvSpPr txBox="1"/>
          <p:nvPr/>
        </p:nvSpPr>
        <p:spPr>
          <a:xfrm>
            <a:off x="133907" y="2628722"/>
            <a:ext cx="3230335" cy="461665"/>
          </a:xfrm>
          <a:prstGeom prst="rect">
            <a:avLst/>
          </a:prstGeom>
          <a:noFill/>
        </p:spPr>
        <p:txBody>
          <a:bodyPr wrap="square" rtlCol="0">
            <a:spAutoFit/>
          </a:bodyPr>
          <a:lstStyle/>
          <a:p>
            <a:r>
              <a:rPr lang="en-GB" sz="1200" noProof="0" dirty="0"/>
              <a:t>Two equations that form straight lines that </a:t>
            </a:r>
            <a:r>
              <a:rPr lang="en-GB" sz="1200" b="1" noProof="0" dirty="0"/>
              <a:t>intersect at one point. </a:t>
            </a:r>
          </a:p>
        </p:txBody>
      </p:sp>
      <p:sp>
        <p:nvSpPr>
          <p:cNvPr id="36" name="TextBox 35"/>
          <p:cNvSpPr txBox="1"/>
          <p:nvPr/>
        </p:nvSpPr>
        <p:spPr>
          <a:xfrm>
            <a:off x="3508242" y="2557360"/>
            <a:ext cx="3230335" cy="646331"/>
          </a:xfrm>
          <a:prstGeom prst="rect">
            <a:avLst/>
          </a:prstGeom>
          <a:noFill/>
        </p:spPr>
        <p:txBody>
          <a:bodyPr wrap="square" rtlCol="0">
            <a:spAutoFit/>
          </a:bodyPr>
          <a:lstStyle/>
          <a:p>
            <a:r>
              <a:rPr lang="en-GB" sz="1200" noProof="0" dirty="0"/>
              <a:t>Linear simultaneous equations are two straight line equations that have an intersection point (this means they cross on the graph). </a:t>
            </a:r>
          </a:p>
        </p:txBody>
      </p:sp>
      <p:sp>
        <p:nvSpPr>
          <p:cNvPr id="37" name="TextBox 36"/>
          <p:cNvSpPr txBox="1"/>
          <p:nvPr/>
        </p:nvSpPr>
        <p:spPr>
          <a:xfrm>
            <a:off x="1770155" y="3340373"/>
            <a:ext cx="3366243" cy="369332"/>
          </a:xfrm>
          <a:prstGeom prst="rect">
            <a:avLst/>
          </a:prstGeom>
          <a:solidFill>
            <a:schemeClr val="bg1"/>
          </a:solidFill>
          <a:ln>
            <a:solidFill>
              <a:schemeClr val="tx1"/>
            </a:solidFill>
          </a:ln>
        </p:spPr>
        <p:txBody>
          <a:bodyPr wrap="none" rtlCol="0">
            <a:spAutoFit/>
          </a:bodyPr>
          <a:lstStyle/>
          <a:p>
            <a:r>
              <a:rPr lang="en-GB" noProof="0" dirty="0"/>
              <a:t>Graphical simultaneous equations</a:t>
            </a:r>
          </a:p>
        </p:txBody>
      </p:sp>
      <p:pic>
        <p:nvPicPr>
          <p:cNvPr id="40" name="Picture 39"/>
          <p:cNvPicPr>
            <a:picLocks noChangeAspect="1"/>
          </p:cNvPicPr>
          <p:nvPr/>
        </p:nvPicPr>
        <p:blipFill>
          <a:blip r:embed="rId2"/>
          <a:stretch>
            <a:fillRect/>
          </a:stretch>
        </p:blipFill>
        <p:spPr>
          <a:xfrm>
            <a:off x="160800" y="3810639"/>
            <a:ext cx="1275899" cy="881468"/>
          </a:xfrm>
          <a:prstGeom prst="rect">
            <a:avLst/>
          </a:prstGeom>
        </p:spPr>
      </p:pic>
      <p:sp>
        <p:nvSpPr>
          <p:cNvPr id="41" name="TextBox 40"/>
          <p:cNvSpPr txBox="1"/>
          <p:nvPr/>
        </p:nvSpPr>
        <p:spPr>
          <a:xfrm>
            <a:off x="1462206" y="3910645"/>
            <a:ext cx="2201286" cy="646331"/>
          </a:xfrm>
          <a:prstGeom prst="rect">
            <a:avLst/>
          </a:prstGeom>
          <a:noFill/>
        </p:spPr>
        <p:txBody>
          <a:bodyPr wrap="square" rtlCol="0">
            <a:spAutoFit/>
          </a:bodyPr>
          <a:lstStyle/>
          <a:p>
            <a:r>
              <a:rPr lang="en-GB" sz="1200" noProof="0" dirty="0"/>
              <a:t>These are simultaneous equations because they </a:t>
            </a:r>
            <a:r>
              <a:rPr lang="en-GB" sz="1200" b="1" noProof="0" dirty="0"/>
              <a:t>intersect</a:t>
            </a:r>
            <a:r>
              <a:rPr lang="en-GB" sz="1200" noProof="0" dirty="0"/>
              <a:t> at a point. </a:t>
            </a:r>
            <a:endParaRPr lang="en-GB" sz="1200" b="1" noProof="0" dirty="0"/>
          </a:p>
        </p:txBody>
      </p:sp>
      <p:pic>
        <p:nvPicPr>
          <p:cNvPr id="4" name="Picture 3"/>
          <p:cNvPicPr>
            <a:picLocks noChangeAspect="1"/>
          </p:cNvPicPr>
          <p:nvPr/>
        </p:nvPicPr>
        <p:blipFill>
          <a:blip r:embed="rId3"/>
          <a:stretch>
            <a:fillRect/>
          </a:stretch>
        </p:blipFill>
        <p:spPr>
          <a:xfrm>
            <a:off x="3581436" y="3845944"/>
            <a:ext cx="1136681" cy="809410"/>
          </a:xfrm>
          <a:prstGeom prst="rect">
            <a:avLst/>
          </a:prstGeom>
        </p:spPr>
      </p:pic>
      <p:sp>
        <p:nvSpPr>
          <p:cNvPr id="42" name="TextBox 41"/>
          <p:cNvSpPr txBox="1"/>
          <p:nvPr/>
        </p:nvSpPr>
        <p:spPr>
          <a:xfrm>
            <a:off x="4707104" y="3711308"/>
            <a:ext cx="1928165" cy="646331"/>
          </a:xfrm>
          <a:prstGeom prst="rect">
            <a:avLst/>
          </a:prstGeom>
          <a:noFill/>
        </p:spPr>
        <p:txBody>
          <a:bodyPr wrap="square" rtlCol="0">
            <a:spAutoFit/>
          </a:bodyPr>
          <a:lstStyle/>
          <a:p>
            <a:r>
              <a:rPr lang="en-GB" sz="1200" noProof="0" dirty="0"/>
              <a:t>These equations do not intersect, therefore they are not simultaneous. </a:t>
            </a:r>
            <a:endParaRPr lang="en-GB" sz="1200" b="1" noProof="0" dirty="0"/>
          </a:p>
        </p:txBody>
      </p:sp>
      <p:sp>
        <p:nvSpPr>
          <p:cNvPr id="49" name="TextBox 48">
            <a:extLst>
              <a:ext uri="{FF2B5EF4-FFF2-40B4-BE49-F238E27FC236}">
                <a16:creationId xmlns:a16="http://schemas.microsoft.com/office/drawing/2014/main" id="{BE92CEED-D091-5C4B-AF95-DCA6005E5DED}"/>
              </a:ext>
            </a:extLst>
          </p:cNvPr>
          <p:cNvSpPr txBox="1"/>
          <p:nvPr/>
        </p:nvSpPr>
        <p:spPr>
          <a:xfrm>
            <a:off x="128275" y="4891486"/>
            <a:ext cx="1316387" cy="253916"/>
          </a:xfrm>
          <a:prstGeom prst="rect">
            <a:avLst/>
          </a:prstGeom>
          <a:solidFill>
            <a:srgbClr val="0070C0"/>
          </a:solidFill>
        </p:spPr>
        <p:txBody>
          <a:bodyPr wrap="none" rtlCol="0" anchor="ctr">
            <a:spAutoFit/>
          </a:bodyPr>
          <a:lstStyle/>
          <a:p>
            <a:pPr algn="r"/>
            <a:r>
              <a:rPr lang="en-GB" sz="1050" b="1" noProof="0" dirty="0">
                <a:solidFill>
                  <a:schemeClr val="bg1"/>
                </a:solidFill>
              </a:rPr>
              <a:t>KNOWLEDGE CHECK</a:t>
            </a:r>
          </a:p>
        </p:txBody>
      </p:sp>
      <p:sp>
        <p:nvSpPr>
          <p:cNvPr id="50" name="TextBox 49"/>
          <p:cNvSpPr txBox="1"/>
          <p:nvPr/>
        </p:nvSpPr>
        <p:spPr>
          <a:xfrm>
            <a:off x="2562849" y="4913100"/>
            <a:ext cx="1846146" cy="276999"/>
          </a:xfrm>
          <a:prstGeom prst="rect">
            <a:avLst/>
          </a:prstGeom>
          <a:noFill/>
        </p:spPr>
        <p:txBody>
          <a:bodyPr wrap="none" rtlCol="0">
            <a:spAutoFit/>
          </a:bodyPr>
          <a:lstStyle/>
          <a:p>
            <a:r>
              <a:rPr lang="en-GB" sz="1200" noProof="0" dirty="0"/>
              <a:t>Do these graphs intersect?</a:t>
            </a:r>
          </a:p>
        </p:txBody>
      </p:sp>
      <p:pic>
        <p:nvPicPr>
          <p:cNvPr id="51" name="Picture 50"/>
          <p:cNvPicPr>
            <a:picLocks noChangeAspect="1"/>
          </p:cNvPicPr>
          <p:nvPr/>
        </p:nvPicPr>
        <p:blipFill rotWithShape="1">
          <a:blip r:embed="rId4"/>
          <a:srcRect r="11976" b="16748"/>
          <a:stretch/>
        </p:blipFill>
        <p:spPr>
          <a:xfrm>
            <a:off x="288420" y="5331855"/>
            <a:ext cx="1831325" cy="1470727"/>
          </a:xfrm>
          <a:prstGeom prst="rect">
            <a:avLst/>
          </a:prstGeom>
          <a:ln w="19050">
            <a:solidFill>
              <a:schemeClr val="tx1"/>
            </a:solidFill>
          </a:ln>
        </p:spPr>
      </p:pic>
      <p:sp>
        <p:nvSpPr>
          <p:cNvPr id="52" name="TextBox 51"/>
          <p:cNvSpPr txBox="1"/>
          <p:nvPr/>
        </p:nvSpPr>
        <p:spPr>
          <a:xfrm>
            <a:off x="243750" y="6942000"/>
            <a:ext cx="1239442" cy="369332"/>
          </a:xfrm>
          <a:prstGeom prst="rect">
            <a:avLst/>
          </a:prstGeom>
          <a:noFill/>
        </p:spPr>
        <p:txBody>
          <a:bodyPr wrap="none" rtlCol="0">
            <a:spAutoFit/>
          </a:bodyPr>
          <a:lstStyle/>
          <a:p>
            <a:r>
              <a:rPr lang="en-GB" noProof="0" dirty="0"/>
              <a:t>Y               N</a:t>
            </a:r>
          </a:p>
        </p:txBody>
      </p:sp>
      <p:sp>
        <p:nvSpPr>
          <p:cNvPr id="53" name="Rectangle 52"/>
          <p:cNvSpPr/>
          <p:nvPr/>
        </p:nvSpPr>
        <p:spPr>
          <a:xfrm>
            <a:off x="603333" y="6989035"/>
            <a:ext cx="390832" cy="2764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4" name="Rectangle 53"/>
          <p:cNvSpPr/>
          <p:nvPr/>
        </p:nvSpPr>
        <p:spPr>
          <a:xfrm>
            <a:off x="1553658" y="6988433"/>
            <a:ext cx="390832" cy="2764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5" name="TextBox 54"/>
          <p:cNvSpPr txBox="1"/>
          <p:nvPr/>
        </p:nvSpPr>
        <p:spPr>
          <a:xfrm>
            <a:off x="2575470" y="6967595"/>
            <a:ext cx="1239442" cy="369332"/>
          </a:xfrm>
          <a:prstGeom prst="rect">
            <a:avLst/>
          </a:prstGeom>
          <a:noFill/>
        </p:spPr>
        <p:txBody>
          <a:bodyPr wrap="none" rtlCol="0">
            <a:spAutoFit/>
          </a:bodyPr>
          <a:lstStyle/>
          <a:p>
            <a:r>
              <a:rPr lang="en-GB" noProof="0" dirty="0"/>
              <a:t>Y               N</a:t>
            </a:r>
          </a:p>
        </p:txBody>
      </p:sp>
      <p:sp>
        <p:nvSpPr>
          <p:cNvPr id="56" name="Rectangle 55"/>
          <p:cNvSpPr/>
          <p:nvPr/>
        </p:nvSpPr>
        <p:spPr>
          <a:xfrm>
            <a:off x="2935053" y="7014630"/>
            <a:ext cx="390832" cy="2764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7" name="Rectangle 56"/>
          <p:cNvSpPr/>
          <p:nvPr/>
        </p:nvSpPr>
        <p:spPr>
          <a:xfrm>
            <a:off x="3885378" y="7014028"/>
            <a:ext cx="390832" cy="2764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8" name="TextBox 57"/>
          <p:cNvSpPr txBox="1"/>
          <p:nvPr/>
        </p:nvSpPr>
        <p:spPr>
          <a:xfrm>
            <a:off x="4790827" y="6967595"/>
            <a:ext cx="1239442" cy="369332"/>
          </a:xfrm>
          <a:prstGeom prst="rect">
            <a:avLst/>
          </a:prstGeom>
          <a:noFill/>
        </p:spPr>
        <p:txBody>
          <a:bodyPr wrap="none" rtlCol="0">
            <a:spAutoFit/>
          </a:bodyPr>
          <a:lstStyle/>
          <a:p>
            <a:r>
              <a:rPr lang="en-GB" noProof="0" dirty="0"/>
              <a:t>Y               N</a:t>
            </a:r>
          </a:p>
        </p:txBody>
      </p:sp>
      <p:sp>
        <p:nvSpPr>
          <p:cNvPr id="59" name="Rectangle 58"/>
          <p:cNvSpPr/>
          <p:nvPr/>
        </p:nvSpPr>
        <p:spPr>
          <a:xfrm>
            <a:off x="5150410" y="7014630"/>
            <a:ext cx="390832" cy="2764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0" name="Rectangle 59"/>
          <p:cNvSpPr/>
          <p:nvPr/>
        </p:nvSpPr>
        <p:spPr>
          <a:xfrm>
            <a:off x="6100735" y="7014028"/>
            <a:ext cx="390832" cy="2764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1" name="TextBox 60"/>
          <p:cNvSpPr txBox="1"/>
          <p:nvPr/>
        </p:nvSpPr>
        <p:spPr>
          <a:xfrm>
            <a:off x="243750" y="9315968"/>
            <a:ext cx="1239442" cy="369332"/>
          </a:xfrm>
          <a:prstGeom prst="rect">
            <a:avLst/>
          </a:prstGeom>
          <a:noFill/>
        </p:spPr>
        <p:txBody>
          <a:bodyPr wrap="none" rtlCol="0">
            <a:spAutoFit/>
          </a:bodyPr>
          <a:lstStyle/>
          <a:p>
            <a:r>
              <a:rPr lang="en-GB" noProof="0" dirty="0"/>
              <a:t>Y               N</a:t>
            </a:r>
          </a:p>
        </p:txBody>
      </p:sp>
      <p:sp>
        <p:nvSpPr>
          <p:cNvPr id="62" name="Rectangle 61"/>
          <p:cNvSpPr/>
          <p:nvPr/>
        </p:nvSpPr>
        <p:spPr>
          <a:xfrm>
            <a:off x="603333" y="9363003"/>
            <a:ext cx="390832" cy="2764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3" name="Rectangle 62"/>
          <p:cNvSpPr/>
          <p:nvPr/>
        </p:nvSpPr>
        <p:spPr>
          <a:xfrm>
            <a:off x="1553658" y="9362401"/>
            <a:ext cx="390832" cy="2764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4" name="TextBox 63"/>
          <p:cNvSpPr txBox="1"/>
          <p:nvPr/>
        </p:nvSpPr>
        <p:spPr>
          <a:xfrm>
            <a:off x="2575470" y="9341563"/>
            <a:ext cx="1239442" cy="369332"/>
          </a:xfrm>
          <a:prstGeom prst="rect">
            <a:avLst/>
          </a:prstGeom>
          <a:noFill/>
        </p:spPr>
        <p:txBody>
          <a:bodyPr wrap="none" rtlCol="0">
            <a:spAutoFit/>
          </a:bodyPr>
          <a:lstStyle/>
          <a:p>
            <a:r>
              <a:rPr lang="en-GB" noProof="0" dirty="0"/>
              <a:t>Y               N</a:t>
            </a:r>
          </a:p>
        </p:txBody>
      </p:sp>
      <p:sp>
        <p:nvSpPr>
          <p:cNvPr id="65" name="Rectangle 64"/>
          <p:cNvSpPr/>
          <p:nvPr/>
        </p:nvSpPr>
        <p:spPr>
          <a:xfrm>
            <a:off x="2935053" y="9388598"/>
            <a:ext cx="390832" cy="2764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6" name="Rectangle 65"/>
          <p:cNvSpPr/>
          <p:nvPr/>
        </p:nvSpPr>
        <p:spPr>
          <a:xfrm>
            <a:off x="3885378" y="9387996"/>
            <a:ext cx="390832" cy="2764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7" name="TextBox 66"/>
          <p:cNvSpPr txBox="1"/>
          <p:nvPr/>
        </p:nvSpPr>
        <p:spPr>
          <a:xfrm>
            <a:off x="4790827" y="9341563"/>
            <a:ext cx="1239442" cy="369332"/>
          </a:xfrm>
          <a:prstGeom prst="rect">
            <a:avLst/>
          </a:prstGeom>
          <a:noFill/>
        </p:spPr>
        <p:txBody>
          <a:bodyPr wrap="none" rtlCol="0">
            <a:spAutoFit/>
          </a:bodyPr>
          <a:lstStyle/>
          <a:p>
            <a:r>
              <a:rPr lang="en-GB" noProof="0" dirty="0"/>
              <a:t>Y               N</a:t>
            </a:r>
          </a:p>
        </p:txBody>
      </p:sp>
      <p:sp>
        <p:nvSpPr>
          <p:cNvPr id="68" name="Rectangle 67"/>
          <p:cNvSpPr/>
          <p:nvPr/>
        </p:nvSpPr>
        <p:spPr>
          <a:xfrm>
            <a:off x="5150410" y="9388598"/>
            <a:ext cx="390832" cy="2764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9" name="Rectangle 68"/>
          <p:cNvSpPr/>
          <p:nvPr/>
        </p:nvSpPr>
        <p:spPr>
          <a:xfrm>
            <a:off x="6100735" y="9387996"/>
            <a:ext cx="390832" cy="2764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70" name="Picture 69"/>
          <p:cNvPicPr>
            <a:picLocks noChangeAspect="1"/>
          </p:cNvPicPr>
          <p:nvPr/>
        </p:nvPicPr>
        <p:blipFill>
          <a:blip r:embed="rId5"/>
          <a:stretch>
            <a:fillRect/>
          </a:stretch>
        </p:blipFill>
        <p:spPr>
          <a:xfrm>
            <a:off x="2718321" y="5331855"/>
            <a:ext cx="1665740" cy="1470727"/>
          </a:xfrm>
          <a:prstGeom prst="rect">
            <a:avLst/>
          </a:prstGeom>
          <a:ln w="19050">
            <a:solidFill>
              <a:schemeClr val="tx1"/>
            </a:solidFill>
          </a:ln>
        </p:spPr>
      </p:pic>
      <p:pic>
        <p:nvPicPr>
          <p:cNvPr id="71" name="Picture 70"/>
          <p:cNvPicPr>
            <a:picLocks noChangeAspect="1"/>
          </p:cNvPicPr>
          <p:nvPr/>
        </p:nvPicPr>
        <p:blipFill>
          <a:blip r:embed="rId6"/>
          <a:stretch>
            <a:fillRect/>
          </a:stretch>
        </p:blipFill>
        <p:spPr>
          <a:xfrm>
            <a:off x="288420" y="7450749"/>
            <a:ext cx="1827114" cy="1698331"/>
          </a:xfrm>
          <a:prstGeom prst="rect">
            <a:avLst/>
          </a:prstGeom>
          <a:ln w="19050">
            <a:solidFill>
              <a:schemeClr val="tx1"/>
            </a:solidFill>
          </a:ln>
        </p:spPr>
      </p:pic>
      <p:pic>
        <p:nvPicPr>
          <p:cNvPr id="72" name="Picture 71"/>
          <p:cNvPicPr>
            <a:picLocks noChangeAspect="1"/>
          </p:cNvPicPr>
          <p:nvPr/>
        </p:nvPicPr>
        <p:blipFill>
          <a:blip r:embed="rId7"/>
          <a:stretch>
            <a:fillRect/>
          </a:stretch>
        </p:blipFill>
        <p:spPr>
          <a:xfrm>
            <a:off x="5073328" y="5097319"/>
            <a:ext cx="1418239" cy="1705263"/>
          </a:xfrm>
          <a:prstGeom prst="rect">
            <a:avLst/>
          </a:prstGeom>
          <a:ln w="19050">
            <a:solidFill>
              <a:schemeClr val="tx1"/>
            </a:solidFill>
          </a:ln>
        </p:spPr>
      </p:pic>
      <p:pic>
        <p:nvPicPr>
          <p:cNvPr id="73" name="Picture 72"/>
          <p:cNvPicPr>
            <a:picLocks noChangeAspect="1"/>
          </p:cNvPicPr>
          <p:nvPr/>
        </p:nvPicPr>
        <p:blipFill>
          <a:blip r:embed="rId8"/>
          <a:stretch>
            <a:fillRect/>
          </a:stretch>
        </p:blipFill>
        <p:spPr>
          <a:xfrm>
            <a:off x="2743108" y="7501939"/>
            <a:ext cx="1616166" cy="1692967"/>
          </a:xfrm>
          <a:prstGeom prst="rect">
            <a:avLst/>
          </a:prstGeom>
          <a:ln w="19050">
            <a:solidFill>
              <a:schemeClr val="tx1"/>
            </a:solidFill>
          </a:ln>
        </p:spPr>
      </p:pic>
      <p:pic>
        <p:nvPicPr>
          <p:cNvPr id="74" name="Picture 73"/>
          <p:cNvPicPr>
            <a:picLocks noChangeAspect="1"/>
          </p:cNvPicPr>
          <p:nvPr/>
        </p:nvPicPr>
        <p:blipFill>
          <a:blip r:embed="rId9"/>
          <a:stretch>
            <a:fillRect/>
          </a:stretch>
        </p:blipFill>
        <p:spPr>
          <a:xfrm>
            <a:off x="4836167" y="7515419"/>
            <a:ext cx="1750780" cy="1666005"/>
          </a:xfrm>
          <a:prstGeom prst="rect">
            <a:avLst/>
          </a:prstGeom>
          <a:ln w="19050">
            <a:solidFill>
              <a:schemeClr val="tx1"/>
            </a:solidFill>
          </a:ln>
        </p:spPr>
      </p:pic>
    </p:spTree>
    <p:extLst>
      <p:ext uri="{BB962C8B-B14F-4D97-AF65-F5344CB8AC3E}">
        <p14:creationId xmlns:p14="http://schemas.microsoft.com/office/powerpoint/2010/main" val="1544988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276789" y="9403131"/>
            <a:ext cx="1543050" cy="527403"/>
          </a:xfrm>
        </p:spPr>
        <p:txBody>
          <a:bodyPr/>
          <a:lstStyle/>
          <a:p>
            <a:fld id="{19F1D9CC-7119-45EC-A96C-D8C0660F3AAB}" type="slidenum">
              <a:rPr lang="en-GB" noProof="0" smtClean="0"/>
              <a:t>26</a:t>
            </a:fld>
            <a:endParaRPr lang="en-GB" noProof="0" dirty="0"/>
          </a:p>
        </p:txBody>
      </p:sp>
      <p:sp>
        <p:nvSpPr>
          <p:cNvPr id="3" name="Rectangle 2">
            <a:extLst>
              <a:ext uri="{FF2B5EF4-FFF2-40B4-BE49-F238E27FC236}">
                <a16:creationId xmlns:a16="http://schemas.microsoft.com/office/drawing/2014/main" id="{98D6CC47-5E02-5040-8389-C36B03A95D91}"/>
              </a:ext>
            </a:extLst>
          </p:cNvPr>
          <p:cNvSpPr/>
          <p:nvPr/>
        </p:nvSpPr>
        <p:spPr>
          <a:xfrm>
            <a:off x="122801" y="270389"/>
            <a:ext cx="3265813" cy="92600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p:sp>
        <p:nvSpPr>
          <p:cNvPr id="4" name="TextBox 3">
            <a:extLst>
              <a:ext uri="{FF2B5EF4-FFF2-40B4-BE49-F238E27FC236}">
                <a16:creationId xmlns:a16="http://schemas.microsoft.com/office/drawing/2014/main" id="{1E912342-8EE7-5749-AAB3-11321C962F00}"/>
              </a:ext>
            </a:extLst>
          </p:cNvPr>
          <p:cNvSpPr txBox="1"/>
          <p:nvPr/>
        </p:nvSpPr>
        <p:spPr>
          <a:xfrm>
            <a:off x="29497" y="0"/>
            <a:ext cx="1212191" cy="261610"/>
          </a:xfrm>
          <a:prstGeom prst="rect">
            <a:avLst/>
          </a:prstGeom>
          <a:noFill/>
          <a:ln>
            <a:noFill/>
          </a:ln>
        </p:spPr>
        <p:txBody>
          <a:bodyPr wrap="none" rtlCol="0">
            <a:spAutoFit/>
          </a:bodyPr>
          <a:lstStyle/>
          <a:p>
            <a:r>
              <a:rPr lang="en-GB" sz="1100" b="1" i="1" noProof="0" dirty="0">
                <a:solidFill>
                  <a:srgbClr val="FF0000"/>
                </a:solidFill>
              </a:rPr>
              <a:t>Example 1 - I do…</a:t>
            </a:r>
          </a:p>
        </p:txBody>
      </p:sp>
      <p:sp>
        <p:nvSpPr>
          <p:cNvPr id="5" name="Rectangle 4">
            <a:extLst>
              <a:ext uri="{FF2B5EF4-FFF2-40B4-BE49-F238E27FC236}">
                <a16:creationId xmlns:a16="http://schemas.microsoft.com/office/drawing/2014/main" id="{FB9E1DD0-E9EF-6A40-A2E8-902404649FEC}"/>
              </a:ext>
            </a:extLst>
          </p:cNvPr>
          <p:cNvSpPr/>
          <p:nvPr/>
        </p:nvSpPr>
        <p:spPr>
          <a:xfrm>
            <a:off x="3490902" y="278427"/>
            <a:ext cx="3265813" cy="9253500"/>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p:sp>
        <p:nvSpPr>
          <p:cNvPr id="6" name="TextBox 5">
            <a:extLst>
              <a:ext uri="{FF2B5EF4-FFF2-40B4-BE49-F238E27FC236}">
                <a16:creationId xmlns:a16="http://schemas.microsoft.com/office/drawing/2014/main" id="{66114F50-871E-7548-B273-2025562F7625}"/>
              </a:ext>
            </a:extLst>
          </p:cNvPr>
          <p:cNvSpPr txBox="1"/>
          <p:nvPr/>
        </p:nvSpPr>
        <p:spPr>
          <a:xfrm>
            <a:off x="3409790" y="53008"/>
            <a:ext cx="1399742" cy="261610"/>
          </a:xfrm>
          <a:prstGeom prst="rect">
            <a:avLst/>
          </a:prstGeom>
          <a:noFill/>
          <a:ln>
            <a:noFill/>
          </a:ln>
        </p:spPr>
        <p:txBody>
          <a:bodyPr wrap="none" rtlCol="0">
            <a:spAutoFit/>
          </a:bodyPr>
          <a:lstStyle/>
          <a:p>
            <a:r>
              <a:rPr lang="en-GB" sz="1100" b="1" i="1" noProof="0" dirty="0">
                <a:solidFill>
                  <a:schemeClr val="accent2"/>
                </a:solidFill>
              </a:rPr>
              <a:t>Example 2 – We do…</a:t>
            </a:r>
          </a:p>
        </p:txBody>
      </p:sp>
      <mc:AlternateContent xmlns:mc="http://schemas.openxmlformats.org/markup-compatibility/2006" xmlns:a14="http://schemas.microsoft.com/office/drawing/2010/main">
        <mc:Choice Requires="a14">
          <p:sp>
            <p:nvSpPr>
              <p:cNvPr id="7" name="Rectangle 6"/>
              <p:cNvSpPr/>
              <p:nvPr/>
            </p:nvSpPr>
            <p:spPr>
              <a:xfrm>
                <a:off x="122801" y="314618"/>
                <a:ext cx="3265813" cy="646331"/>
              </a:xfrm>
              <a:prstGeom prst="rect">
                <a:avLst/>
              </a:prstGeom>
            </p:spPr>
            <p:txBody>
              <a:bodyPr wrap="square">
                <a:spAutoFit/>
              </a:bodyPr>
              <a:lstStyle/>
              <a:p>
                <a:pPr algn="ctr"/>
                <a:r>
                  <a:rPr lang="en-GB" sz="1200" noProof="0" dirty="0"/>
                  <a:t>The graphs of the straight lines with equations </a:t>
                </a:r>
              </a:p>
              <a:p>
                <a:pPr algn="ctr"/>
                <a14:m>
                  <m:oMath xmlns:m="http://schemas.openxmlformats.org/officeDocument/2006/math">
                    <m:r>
                      <a:rPr lang="en-GB" sz="1200" i="1" noProof="0" smtClean="0">
                        <a:latin typeface="Cambria Math" panose="02040503050406030204" pitchFamily="18" charset="0"/>
                      </a:rPr>
                      <m:t>3</m:t>
                    </m:r>
                    <m:r>
                      <a:rPr lang="en-GB" sz="1200" i="1" noProof="0" smtClean="0">
                        <a:latin typeface="Cambria Math" panose="02040503050406030204" pitchFamily="18" charset="0"/>
                      </a:rPr>
                      <m:t>𝑦</m:t>
                    </m:r>
                    <m:r>
                      <a:rPr lang="en-GB" sz="1200" i="1" noProof="0" smtClean="0">
                        <a:latin typeface="Cambria Math" panose="02040503050406030204" pitchFamily="18" charset="0"/>
                      </a:rPr>
                      <m:t>+2</m:t>
                    </m:r>
                    <m:r>
                      <a:rPr lang="en-GB" sz="1200" i="1" noProof="0" smtClean="0">
                        <a:latin typeface="Cambria Math" panose="02040503050406030204" pitchFamily="18" charset="0"/>
                      </a:rPr>
                      <m:t>𝑥</m:t>
                    </m:r>
                    <m:r>
                      <a:rPr lang="en-GB" sz="1200" i="1" noProof="0" smtClean="0">
                        <a:latin typeface="Cambria Math" panose="02040503050406030204" pitchFamily="18" charset="0"/>
                      </a:rPr>
                      <m:t>=12 </m:t>
                    </m:r>
                  </m:oMath>
                </a14:m>
                <a:r>
                  <a:rPr lang="en-GB" sz="1200" noProof="0" dirty="0"/>
                  <a:t>and </a:t>
                </a:r>
                <a14:m>
                  <m:oMath xmlns:m="http://schemas.openxmlformats.org/officeDocument/2006/math">
                    <m:r>
                      <a:rPr lang="en-GB" sz="1200" i="1" noProof="0" smtClean="0">
                        <a:latin typeface="Cambria Math" panose="02040503050406030204" pitchFamily="18" charset="0"/>
                      </a:rPr>
                      <m:t>𝑦</m:t>
                    </m:r>
                    <m:r>
                      <a:rPr lang="en-GB" sz="1200" i="1" noProof="0" smtClean="0">
                        <a:latin typeface="Cambria Math" panose="02040503050406030204" pitchFamily="18" charset="0"/>
                      </a:rPr>
                      <m:t>=</m:t>
                    </m:r>
                    <m:r>
                      <a:rPr lang="en-GB" sz="1200" i="1" noProof="0" smtClean="0">
                        <a:latin typeface="Cambria Math" panose="02040503050406030204" pitchFamily="18" charset="0"/>
                      </a:rPr>
                      <m:t>𝑥</m:t>
                    </m:r>
                    <m:r>
                      <a:rPr lang="en-GB" sz="1200" i="1" noProof="0" smtClean="0">
                        <a:latin typeface="Cambria Math" panose="02040503050406030204" pitchFamily="18" charset="0"/>
                      </a:rPr>
                      <m:t> –1 </m:t>
                    </m:r>
                  </m:oMath>
                </a14:m>
                <a:r>
                  <a:rPr lang="en-GB" sz="1200" noProof="0" dirty="0"/>
                  <a:t>have been drawn on the grid.</a:t>
                </a:r>
              </a:p>
            </p:txBody>
          </p:sp>
        </mc:Choice>
        <mc:Fallback xmlns="">
          <p:sp>
            <p:nvSpPr>
              <p:cNvPr id="7" name="Rectangle 6"/>
              <p:cNvSpPr>
                <a:spLocks noRot="1" noChangeAspect="1" noMove="1" noResize="1" noEditPoints="1" noAdjustHandles="1" noChangeArrowheads="1" noChangeShapeType="1" noTextEdit="1"/>
              </p:cNvSpPr>
              <p:nvPr/>
            </p:nvSpPr>
            <p:spPr>
              <a:xfrm>
                <a:off x="122801" y="314618"/>
                <a:ext cx="3265813" cy="646331"/>
              </a:xfrm>
              <a:prstGeom prst="rect">
                <a:avLst/>
              </a:prstGeom>
              <a:blipFill>
                <a:blip r:embed="rId2"/>
                <a:stretch>
                  <a:fillRect t="-943" r="-1119" b="-66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490901" y="314618"/>
                <a:ext cx="3265813" cy="722442"/>
              </a:xfrm>
              <a:prstGeom prst="rect">
                <a:avLst/>
              </a:prstGeom>
            </p:spPr>
            <p:txBody>
              <a:bodyPr wrap="square">
                <a:spAutoFit/>
              </a:bodyPr>
              <a:lstStyle/>
              <a:p>
                <a:pPr algn="ctr"/>
                <a:r>
                  <a:rPr lang="en-GB" sz="1200" noProof="0" dirty="0"/>
                  <a:t>The graphs of the straight lines with equations </a:t>
                </a:r>
              </a:p>
              <a:p>
                <a:pPr algn="ctr"/>
                <a14:m>
                  <m:oMath xmlns:m="http://schemas.openxmlformats.org/officeDocument/2006/math">
                    <m:r>
                      <a:rPr lang="en-GB" sz="1200" i="1" noProof="0" smtClean="0">
                        <a:latin typeface="Cambria Math" panose="02040503050406030204" pitchFamily="18" charset="0"/>
                      </a:rPr>
                      <m:t>𝑦</m:t>
                    </m:r>
                    <m:r>
                      <a:rPr lang="en-GB" sz="120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2</m:t>
                        </m:r>
                      </m:den>
                    </m:f>
                    <m:r>
                      <a:rPr lang="en-GB" sz="1200" i="1" noProof="0" smtClean="0">
                        <a:latin typeface="Cambria Math" panose="02040503050406030204" pitchFamily="18" charset="0"/>
                      </a:rPr>
                      <m:t>𝑥</m:t>
                    </m:r>
                    <m:r>
                      <a:rPr lang="en-GB" sz="1200" b="0" i="1" noProof="0" smtClean="0">
                        <a:latin typeface="Cambria Math" panose="02040503050406030204" pitchFamily="18" charset="0"/>
                      </a:rPr>
                      <m:t>+2</m:t>
                    </m:r>
                    <m:r>
                      <a:rPr lang="en-GB" sz="1200" i="1" noProof="0" smtClean="0">
                        <a:latin typeface="Cambria Math" panose="02040503050406030204" pitchFamily="18" charset="0"/>
                      </a:rPr>
                      <m:t> </m:t>
                    </m:r>
                  </m:oMath>
                </a14:m>
                <a:r>
                  <a:rPr lang="en-GB" sz="1200" noProof="0" dirty="0"/>
                  <a:t>and </a:t>
                </a:r>
                <a14:m>
                  <m:oMath xmlns:m="http://schemas.openxmlformats.org/officeDocument/2006/math">
                    <m:r>
                      <a:rPr lang="en-GB" sz="1200" b="0" i="0" noProof="0" smtClean="0">
                        <a:latin typeface="Cambria Math" panose="02040503050406030204" pitchFamily="18" charset="0"/>
                      </a:rPr>
                      <m:t>2</m:t>
                    </m:r>
                    <m:r>
                      <a:rPr lang="en-GB" sz="1200" i="1" noProof="0" smtClean="0">
                        <a:latin typeface="Cambria Math" panose="02040503050406030204" pitchFamily="18" charset="0"/>
                      </a:rPr>
                      <m:t>𝑦</m:t>
                    </m:r>
                    <m:r>
                      <a:rPr lang="en-GB" sz="1200" b="0" i="1" noProof="0" smtClean="0">
                        <a:latin typeface="Cambria Math" panose="02040503050406030204" pitchFamily="18" charset="0"/>
                      </a:rPr>
                      <m:t>+3</m:t>
                    </m:r>
                    <m:r>
                      <a:rPr lang="en-GB" sz="1200" i="1" noProof="0" smtClean="0">
                        <a:latin typeface="Cambria Math" panose="02040503050406030204" pitchFamily="18" charset="0"/>
                      </a:rPr>
                      <m:t>𝑥</m:t>
                    </m:r>
                    <m:r>
                      <a:rPr lang="en-GB" sz="1200" b="0" i="1" noProof="0" smtClean="0">
                        <a:latin typeface="Cambria Math" panose="02040503050406030204" pitchFamily="18" charset="0"/>
                      </a:rPr>
                      <m:t>=12</m:t>
                    </m:r>
                    <m:r>
                      <a:rPr lang="en-GB" sz="1200" i="1" noProof="0" smtClean="0">
                        <a:latin typeface="Cambria Math" panose="02040503050406030204" pitchFamily="18" charset="0"/>
                      </a:rPr>
                      <m:t> </m:t>
                    </m:r>
                  </m:oMath>
                </a14:m>
                <a:r>
                  <a:rPr lang="en-GB" sz="1200" noProof="0" dirty="0"/>
                  <a:t>have been drawn on the grid.</a:t>
                </a:r>
              </a:p>
            </p:txBody>
          </p:sp>
        </mc:Choice>
        <mc:Fallback xmlns="">
          <p:sp>
            <p:nvSpPr>
              <p:cNvPr id="8" name="Rectangle 7"/>
              <p:cNvSpPr>
                <a:spLocks noRot="1" noChangeAspect="1" noMove="1" noResize="1" noEditPoints="1" noAdjustHandles="1" noChangeArrowheads="1" noChangeShapeType="1" noTextEdit="1"/>
              </p:cNvSpPr>
              <p:nvPr/>
            </p:nvSpPr>
            <p:spPr>
              <a:xfrm>
                <a:off x="3490901" y="314618"/>
                <a:ext cx="3265813" cy="722442"/>
              </a:xfrm>
              <a:prstGeom prst="rect">
                <a:avLst/>
              </a:prstGeom>
              <a:blipFill>
                <a:blip r:embed="rId3"/>
                <a:stretch>
                  <a:fillRect t="-847" b="-6780"/>
                </a:stretch>
              </a:blipFill>
            </p:spPr>
            <p:txBody>
              <a:bodyPr/>
              <a:lstStyle/>
              <a:p>
                <a:r>
                  <a:rPr lang="en-US">
                    <a:noFill/>
                  </a:rPr>
                  <a:t> </a:t>
                </a:r>
              </a:p>
            </p:txBody>
          </p:sp>
        </mc:Fallback>
      </mc:AlternateContent>
      <p:pic>
        <p:nvPicPr>
          <p:cNvPr id="9" name="Picture 8"/>
          <p:cNvPicPr>
            <a:picLocks noChangeAspect="1"/>
          </p:cNvPicPr>
          <p:nvPr/>
        </p:nvPicPr>
        <p:blipFill>
          <a:blip r:embed="rId4"/>
          <a:stretch>
            <a:fillRect/>
          </a:stretch>
        </p:blipFill>
        <p:spPr>
          <a:xfrm>
            <a:off x="265733" y="902017"/>
            <a:ext cx="2979947" cy="2938463"/>
          </a:xfrm>
          <a:prstGeom prst="rect">
            <a:avLst/>
          </a:prstGeom>
        </p:spPr>
      </p:pic>
      <mc:AlternateContent xmlns:mc="http://schemas.openxmlformats.org/markup-compatibility/2006" xmlns:a14="http://schemas.microsoft.com/office/drawing/2010/main">
        <mc:Choice Requires="a14">
          <p:sp>
            <p:nvSpPr>
              <p:cNvPr id="11" name="Rectangle 10"/>
              <p:cNvSpPr/>
              <p:nvPr/>
            </p:nvSpPr>
            <p:spPr>
              <a:xfrm>
                <a:off x="122799" y="3739959"/>
                <a:ext cx="3265813" cy="646331"/>
              </a:xfrm>
              <a:prstGeom prst="rect">
                <a:avLst/>
              </a:prstGeom>
            </p:spPr>
            <p:txBody>
              <a:bodyPr wrap="square">
                <a:spAutoFit/>
              </a:bodyPr>
              <a:lstStyle/>
              <a:p>
                <a:pPr algn="ctr"/>
                <a:r>
                  <a:rPr lang="en-GB" sz="1200" noProof="0" dirty="0"/>
                  <a:t>Use the graph to solve the simultaneous equations</a:t>
                </a:r>
              </a:p>
              <a:p>
                <a:pPr algn="ctr"/>
                <a14:m>
                  <m:oMath xmlns:m="http://schemas.openxmlformats.org/officeDocument/2006/math">
                    <m:r>
                      <a:rPr lang="en-GB" sz="1200" i="1" noProof="0" smtClean="0">
                        <a:latin typeface="Cambria Math" panose="02040503050406030204" pitchFamily="18" charset="0"/>
                      </a:rPr>
                      <m:t>3</m:t>
                    </m:r>
                    <m:r>
                      <a:rPr lang="en-GB" sz="1200" i="1" noProof="0" smtClean="0">
                        <a:latin typeface="Cambria Math" panose="02040503050406030204" pitchFamily="18" charset="0"/>
                      </a:rPr>
                      <m:t>𝑦</m:t>
                    </m:r>
                    <m:r>
                      <a:rPr lang="en-GB" sz="1200" i="1" noProof="0" smtClean="0">
                        <a:latin typeface="Cambria Math" panose="02040503050406030204" pitchFamily="18" charset="0"/>
                      </a:rPr>
                      <m:t>+2</m:t>
                    </m:r>
                    <m:r>
                      <a:rPr lang="en-GB" sz="1200" i="1" noProof="0" smtClean="0">
                        <a:latin typeface="Cambria Math" panose="02040503050406030204" pitchFamily="18" charset="0"/>
                      </a:rPr>
                      <m:t>𝑥</m:t>
                    </m:r>
                    <m:r>
                      <a:rPr lang="en-GB" sz="1200" i="1" noProof="0" smtClean="0">
                        <a:latin typeface="Cambria Math" panose="02040503050406030204" pitchFamily="18" charset="0"/>
                      </a:rPr>
                      <m:t>=12 </m:t>
                    </m:r>
                  </m:oMath>
                </a14:m>
                <a:r>
                  <a:rPr lang="en-GB" sz="1200" noProof="0" dirty="0"/>
                  <a:t>and </a:t>
                </a:r>
                <a14:m>
                  <m:oMath xmlns:m="http://schemas.openxmlformats.org/officeDocument/2006/math">
                    <m:r>
                      <a:rPr lang="en-GB" sz="1200" i="1" noProof="0" smtClean="0">
                        <a:latin typeface="Cambria Math" panose="02040503050406030204" pitchFamily="18" charset="0"/>
                      </a:rPr>
                      <m:t>𝑦</m:t>
                    </m:r>
                    <m:r>
                      <a:rPr lang="en-GB" sz="1200" i="1" noProof="0" smtClean="0">
                        <a:latin typeface="Cambria Math" panose="02040503050406030204" pitchFamily="18" charset="0"/>
                      </a:rPr>
                      <m:t>=</m:t>
                    </m:r>
                    <m:r>
                      <a:rPr lang="en-GB" sz="1200" i="1" noProof="0" smtClean="0">
                        <a:latin typeface="Cambria Math" panose="02040503050406030204" pitchFamily="18" charset="0"/>
                      </a:rPr>
                      <m:t>𝑥</m:t>
                    </m:r>
                    <m:r>
                      <a:rPr lang="en-GB" sz="1200" i="1" noProof="0" smtClean="0">
                        <a:latin typeface="Cambria Math" panose="02040503050406030204" pitchFamily="18" charset="0"/>
                      </a:rPr>
                      <m:t> –1</m:t>
                    </m:r>
                  </m:oMath>
                </a14:m>
                <a:endParaRPr lang="en-GB" sz="1200" noProof="0" dirty="0"/>
              </a:p>
            </p:txBody>
          </p:sp>
        </mc:Choice>
        <mc:Fallback xmlns="">
          <p:sp>
            <p:nvSpPr>
              <p:cNvPr id="11" name="Rectangle 10"/>
              <p:cNvSpPr>
                <a:spLocks noRot="1" noChangeAspect="1" noMove="1" noResize="1" noEditPoints="1" noAdjustHandles="1" noChangeArrowheads="1" noChangeShapeType="1" noTextEdit="1"/>
              </p:cNvSpPr>
              <p:nvPr/>
            </p:nvSpPr>
            <p:spPr>
              <a:xfrm>
                <a:off x="122799" y="3739959"/>
                <a:ext cx="3265813" cy="646331"/>
              </a:xfrm>
              <a:prstGeom prst="rect">
                <a:avLst/>
              </a:prstGeom>
              <a:blipFill>
                <a:blip r:embed="rId5"/>
                <a:stretch>
                  <a:fillRect t="-943" b="-6604"/>
                </a:stretch>
              </a:blipFill>
            </p:spPr>
            <p:txBody>
              <a:bodyPr/>
              <a:lstStyle/>
              <a:p>
                <a:r>
                  <a:rPr lang="en-US">
                    <a:noFill/>
                  </a:rPr>
                  <a:t> </a:t>
                </a:r>
              </a:p>
            </p:txBody>
          </p:sp>
        </mc:Fallback>
      </mc:AlternateContent>
      <p:cxnSp>
        <p:nvCxnSpPr>
          <p:cNvPr id="13" name="Straight Connector 12"/>
          <p:cNvCxnSpPr/>
          <p:nvPr/>
        </p:nvCxnSpPr>
        <p:spPr>
          <a:xfrm>
            <a:off x="1574800" y="2794000"/>
            <a:ext cx="5080" cy="57912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767080" y="2804160"/>
            <a:ext cx="820848" cy="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265733" y="4710550"/>
                <a:ext cx="2863547" cy="3416320"/>
              </a:xfrm>
              <a:prstGeom prst="rect">
                <a:avLst/>
              </a:prstGeom>
              <a:noFill/>
            </p:spPr>
            <p:txBody>
              <a:bodyPr wrap="square" rtlCol="0">
                <a:spAutoFit/>
              </a:bodyPr>
              <a:lstStyle/>
              <a:p>
                <a:r>
                  <a:rPr lang="en-GB" sz="1200" b="1" noProof="0" dirty="0"/>
                  <a:t>Step 1:</a:t>
                </a:r>
              </a:p>
              <a:p>
                <a:br>
                  <a:rPr lang="en-GB" sz="1200" noProof="0" dirty="0"/>
                </a:br>
                <a:r>
                  <a:rPr lang="en-GB" sz="1200" noProof="0" dirty="0"/>
                  <a:t>Find the </a:t>
                </a:r>
                <a:r>
                  <a:rPr lang="en-GB" sz="1200" b="1" noProof="0" dirty="0"/>
                  <a:t>intersection</a:t>
                </a:r>
                <a:r>
                  <a:rPr lang="en-GB" sz="1200" noProof="0" dirty="0"/>
                  <a:t> point. </a:t>
                </a:r>
              </a:p>
              <a:p>
                <a:endParaRPr lang="en-GB" sz="1200" noProof="0" dirty="0"/>
              </a:p>
              <a:p>
                <a:r>
                  <a:rPr lang="en-GB" sz="1200" b="1" noProof="0" dirty="0"/>
                  <a:t>Step 2:</a:t>
                </a:r>
              </a:p>
              <a:p>
                <a:endParaRPr lang="en-GB" sz="1200" noProof="0" dirty="0"/>
              </a:p>
              <a:p>
                <a:r>
                  <a:rPr lang="en-GB" sz="1200" noProof="0" dirty="0"/>
                  <a:t>Draw a line from the intersection point to the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axis.</a:t>
                </a:r>
              </a:p>
              <a:p>
                <a:endParaRPr lang="en-GB" sz="1200" noProof="0" dirty="0"/>
              </a:p>
              <a:p>
                <a:r>
                  <a:rPr lang="en-GB" sz="1200" b="1" noProof="0" dirty="0"/>
                  <a:t>Step 3: </a:t>
                </a:r>
              </a:p>
              <a:p>
                <a:endParaRPr lang="en-GB" sz="1200" noProof="0" dirty="0"/>
              </a:p>
              <a:p>
                <a:r>
                  <a:rPr lang="en-GB" sz="1200" noProof="0" dirty="0"/>
                  <a:t>Draw a line from the intersection point to the </a:t>
                </a:r>
                <a14:m>
                  <m:oMath xmlns:m="http://schemas.openxmlformats.org/officeDocument/2006/math">
                    <m:r>
                      <a:rPr lang="en-GB" sz="1200" b="0" i="1" noProof="0" smtClean="0">
                        <a:latin typeface="Cambria Math" panose="02040503050406030204" pitchFamily="18" charset="0"/>
                      </a:rPr>
                      <m:t>𝑦</m:t>
                    </m:r>
                  </m:oMath>
                </a14:m>
                <a:r>
                  <a:rPr lang="en-GB" sz="1200" noProof="0" dirty="0"/>
                  <a:t>-axis.</a:t>
                </a:r>
              </a:p>
              <a:p>
                <a:endParaRPr lang="en-GB" sz="1200" noProof="0" dirty="0"/>
              </a:p>
              <a:p>
                <a:r>
                  <a:rPr lang="en-GB" sz="1200" b="1" noProof="0" dirty="0"/>
                  <a:t>Step 4:</a:t>
                </a:r>
              </a:p>
              <a:p>
                <a:endParaRPr lang="en-GB" sz="1200" noProof="0" dirty="0"/>
              </a:p>
              <a:p>
                <a:r>
                  <a:rPr lang="en-GB" sz="1200" noProof="0" dirty="0"/>
                  <a:t>Write the </a:t>
                </a:r>
                <a14:m>
                  <m:oMath xmlns:m="http://schemas.openxmlformats.org/officeDocument/2006/math">
                    <m:r>
                      <a:rPr lang="en-GB" sz="1200" i="1" noProof="0" smtClean="0">
                        <a:latin typeface="Cambria Math" panose="02040503050406030204" pitchFamily="18" charset="0"/>
                      </a:rPr>
                      <m:t>𝑥</m:t>
                    </m:r>
                  </m:oMath>
                </a14:m>
                <a:r>
                  <a:rPr lang="en-GB" sz="1200" noProof="0" dirty="0"/>
                  <a:t> and </a:t>
                </a:r>
                <a14:m>
                  <m:oMath xmlns:m="http://schemas.openxmlformats.org/officeDocument/2006/math">
                    <m:r>
                      <a:rPr lang="en-GB" sz="1200" i="1" noProof="0" smtClean="0">
                        <a:latin typeface="Cambria Math" panose="02040503050406030204" pitchFamily="18" charset="0"/>
                      </a:rPr>
                      <m:t>𝑦</m:t>
                    </m:r>
                  </m:oMath>
                </a14:m>
                <a:r>
                  <a:rPr lang="en-GB" sz="1200" noProof="0" dirty="0"/>
                  <a:t> coordinates as the solution. </a:t>
                </a:r>
              </a:p>
            </p:txBody>
          </p:sp>
        </mc:Choice>
        <mc:Fallback xmlns="">
          <p:sp>
            <p:nvSpPr>
              <p:cNvPr id="16" name="TextBox 15"/>
              <p:cNvSpPr txBox="1">
                <a:spLocks noRot="1" noChangeAspect="1" noMove="1" noResize="1" noEditPoints="1" noAdjustHandles="1" noChangeArrowheads="1" noChangeShapeType="1" noTextEdit="1"/>
              </p:cNvSpPr>
              <p:nvPr/>
            </p:nvSpPr>
            <p:spPr>
              <a:xfrm>
                <a:off x="265733" y="4710550"/>
                <a:ext cx="2863547" cy="3416320"/>
              </a:xfrm>
              <a:prstGeom prst="rect">
                <a:avLst/>
              </a:prstGeom>
              <a:blipFill>
                <a:blip r:embed="rId6"/>
                <a:stretch>
                  <a:fillRect l="-213" t="-179" b="-5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3781891" y="4629270"/>
                <a:ext cx="2863547" cy="3416320"/>
              </a:xfrm>
              <a:prstGeom prst="rect">
                <a:avLst/>
              </a:prstGeom>
              <a:noFill/>
            </p:spPr>
            <p:txBody>
              <a:bodyPr wrap="square" rtlCol="0">
                <a:spAutoFit/>
              </a:bodyPr>
              <a:lstStyle/>
              <a:p>
                <a:r>
                  <a:rPr lang="en-GB" sz="1200" b="1" noProof="0" dirty="0"/>
                  <a:t>Step 1:</a:t>
                </a:r>
              </a:p>
              <a:p>
                <a:br>
                  <a:rPr lang="en-GB" sz="1200" noProof="0" dirty="0"/>
                </a:br>
                <a:r>
                  <a:rPr lang="en-GB" sz="1200" noProof="0" dirty="0"/>
                  <a:t>Find the </a:t>
                </a:r>
                <a:r>
                  <a:rPr lang="en-GB" sz="1200" b="1" noProof="0" dirty="0"/>
                  <a:t>intersection</a:t>
                </a:r>
                <a:r>
                  <a:rPr lang="en-GB" sz="1200" noProof="0" dirty="0"/>
                  <a:t> point. </a:t>
                </a:r>
              </a:p>
              <a:p>
                <a:endParaRPr lang="en-GB" sz="1200" noProof="0" dirty="0"/>
              </a:p>
              <a:p>
                <a:r>
                  <a:rPr lang="en-GB" sz="1200" b="1" noProof="0" dirty="0"/>
                  <a:t>Step 2:</a:t>
                </a:r>
              </a:p>
              <a:p>
                <a:endParaRPr lang="en-GB" sz="1200" noProof="0" dirty="0"/>
              </a:p>
              <a:p>
                <a:r>
                  <a:rPr lang="en-GB" sz="1200" noProof="0" dirty="0"/>
                  <a:t>Draw a line from the intersection point to the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axis.</a:t>
                </a:r>
              </a:p>
              <a:p>
                <a:endParaRPr lang="en-GB" sz="1200" noProof="0" dirty="0"/>
              </a:p>
              <a:p>
                <a:r>
                  <a:rPr lang="en-GB" sz="1200" b="1" noProof="0" dirty="0"/>
                  <a:t>Step 3: </a:t>
                </a:r>
              </a:p>
              <a:p>
                <a:endParaRPr lang="en-GB" sz="1200" noProof="0" dirty="0"/>
              </a:p>
              <a:p>
                <a:r>
                  <a:rPr lang="en-GB" sz="1200" noProof="0" dirty="0"/>
                  <a:t>Draw a line from the intersection point to the </a:t>
                </a:r>
                <a14:m>
                  <m:oMath xmlns:m="http://schemas.openxmlformats.org/officeDocument/2006/math">
                    <m:r>
                      <a:rPr lang="en-GB" sz="1200" b="0" i="1" noProof="0" smtClean="0">
                        <a:latin typeface="Cambria Math" panose="02040503050406030204" pitchFamily="18" charset="0"/>
                      </a:rPr>
                      <m:t>𝑦</m:t>
                    </m:r>
                  </m:oMath>
                </a14:m>
                <a:r>
                  <a:rPr lang="en-GB" sz="1200" noProof="0" dirty="0"/>
                  <a:t>-axis.</a:t>
                </a:r>
              </a:p>
              <a:p>
                <a:endParaRPr lang="en-GB" sz="1200" noProof="0" dirty="0"/>
              </a:p>
              <a:p>
                <a:r>
                  <a:rPr lang="en-GB" sz="1200" b="1" noProof="0" dirty="0"/>
                  <a:t>Step 4:</a:t>
                </a:r>
              </a:p>
              <a:p>
                <a:endParaRPr lang="en-GB" sz="1200" noProof="0" dirty="0"/>
              </a:p>
              <a:p>
                <a:r>
                  <a:rPr lang="en-GB" sz="1200" noProof="0" dirty="0"/>
                  <a:t>Write the </a:t>
                </a:r>
                <a14:m>
                  <m:oMath xmlns:m="http://schemas.openxmlformats.org/officeDocument/2006/math">
                    <m:r>
                      <a:rPr lang="en-GB" sz="1200" i="1" noProof="0" smtClean="0">
                        <a:latin typeface="Cambria Math" panose="02040503050406030204" pitchFamily="18" charset="0"/>
                      </a:rPr>
                      <m:t>𝑥</m:t>
                    </m:r>
                  </m:oMath>
                </a14:m>
                <a:r>
                  <a:rPr lang="en-GB" sz="1200" noProof="0" dirty="0"/>
                  <a:t> and </a:t>
                </a:r>
                <a14:m>
                  <m:oMath xmlns:m="http://schemas.openxmlformats.org/officeDocument/2006/math">
                    <m:r>
                      <a:rPr lang="en-GB" sz="1200" i="1" noProof="0" smtClean="0">
                        <a:latin typeface="Cambria Math" panose="02040503050406030204" pitchFamily="18" charset="0"/>
                      </a:rPr>
                      <m:t>𝑦</m:t>
                    </m:r>
                  </m:oMath>
                </a14:m>
                <a:r>
                  <a:rPr lang="en-GB" sz="1200" noProof="0" dirty="0"/>
                  <a:t> coordinates as the solution. </a:t>
                </a:r>
              </a:p>
            </p:txBody>
          </p:sp>
        </mc:Choice>
        <mc:Fallback xmlns="">
          <p:sp>
            <p:nvSpPr>
              <p:cNvPr id="17" name="TextBox 16"/>
              <p:cNvSpPr txBox="1">
                <a:spLocks noRot="1" noChangeAspect="1" noMove="1" noResize="1" noEditPoints="1" noAdjustHandles="1" noChangeArrowheads="1" noChangeShapeType="1" noTextEdit="1"/>
              </p:cNvSpPr>
              <p:nvPr/>
            </p:nvSpPr>
            <p:spPr>
              <a:xfrm>
                <a:off x="3781891" y="4629270"/>
                <a:ext cx="2863547" cy="3416320"/>
              </a:xfrm>
              <a:prstGeom prst="rect">
                <a:avLst/>
              </a:prstGeom>
              <a:blipFill>
                <a:blip r:embed="rId7"/>
                <a:stretch>
                  <a:fillRect b="-3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06373" y="8322367"/>
                <a:ext cx="383310"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oMath>
                </a14:m>
                <a:r>
                  <a:rPr lang="en-GB" sz="1200" noProof="0" dirty="0"/>
                  <a:t> =</a:t>
                </a:r>
              </a:p>
            </p:txBody>
          </p:sp>
        </mc:Choice>
        <mc:Fallback xmlns="">
          <p:sp>
            <p:nvSpPr>
              <p:cNvPr id="18" name="TextBox 17"/>
              <p:cNvSpPr txBox="1">
                <a:spLocks noRot="1" noChangeAspect="1" noMove="1" noResize="1" noEditPoints="1" noAdjustHandles="1" noChangeArrowheads="1" noChangeShapeType="1" noTextEdit="1"/>
              </p:cNvSpPr>
              <p:nvPr/>
            </p:nvSpPr>
            <p:spPr>
              <a:xfrm>
                <a:off x="306373" y="8322367"/>
                <a:ext cx="383310" cy="276999"/>
              </a:xfrm>
              <a:prstGeom prst="rect">
                <a:avLst/>
              </a:prstGeom>
              <a:blipFill>
                <a:blip r:embed="rId8"/>
                <a:stretch>
                  <a:fillRect b="-15217"/>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16B1ECA1-094F-FE4A-8AFE-E48C67064BBB}"/>
              </a:ext>
            </a:extLst>
          </p:cNvPr>
          <p:cNvSpPr/>
          <p:nvPr/>
        </p:nvSpPr>
        <p:spPr>
          <a:xfrm>
            <a:off x="698339" y="8312580"/>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21" name="Rectangle 20">
            <a:extLst>
              <a:ext uri="{FF2B5EF4-FFF2-40B4-BE49-F238E27FC236}">
                <a16:creationId xmlns:a16="http://schemas.microsoft.com/office/drawing/2014/main" id="{16B1ECA1-094F-FE4A-8AFE-E48C67064BBB}"/>
              </a:ext>
            </a:extLst>
          </p:cNvPr>
          <p:cNvSpPr/>
          <p:nvPr/>
        </p:nvSpPr>
        <p:spPr>
          <a:xfrm>
            <a:off x="698339" y="8686358"/>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22" name="TextBox 21"/>
              <p:cNvSpPr txBox="1"/>
              <p:nvPr/>
            </p:nvSpPr>
            <p:spPr>
              <a:xfrm>
                <a:off x="306373" y="8686217"/>
                <a:ext cx="386068"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𝑦</m:t>
                    </m:r>
                  </m:oMath>
                </a14:m>
                <a:r>
                  <a:rPr lang="en-GB" sz="1200" noProof="0" dirty="0"/>
                  <a:t> =</a:t>
                </a:r>
              </a:p>
            </p:txBody>
          </p:sp>
        </mc:Choice>
        <mc:Fallback xmlns="">
          <p:sp>
            <p:nvSpPr>
              <p:cNvPr id="22" name="TextBox 21"/>
              <p:cNvSpPr txBox="1">
                <a:spLocks noRot="1" noChangeAspect="1" noMove="1" noResize="1" noEditPoints="1" noAdjustHandles="1" noChangeArrowheads="1" noChangeShapeType="1" noTextEdit="1"/>
              </p:cNvSpPr>
              <p:nvPr/>
            </p:nvSpPr>
            <p:spPr>
              <a:xfrm>
                <a:off x="306373" y="8686217"/>
                <a:ext cx="386068" cy="276999"/>
              </a:xfrm>
              <a:prstGeom prst="rect">
                <a:avLst/>
              </a:prstGeom>
              <a:blipFill>
                <a:blip r:embed="rId9"/>
                <a:stretch>
                  <a:fillRect t="-2222" b="-17778"/>
                </a:stretch>
              </a:blipFill>
            </p:spPr>
            <p:txBody>
              <a:bodyPr/>
              <a:lstStyle/>
              <a:p>
                <a:r>
                  <a:rPr lang="en-US">
                    <a:noFill/>
                  </a:rPr>
                  <a:t> </a:t>
                </a:r>
              </a:p>
            </p:txBody>
          </p:sp>
        </mc:Fallback>
      </mc:AlternateContent>
      <p:pic>
        <p:nvPicPr>
          <p:cNvPr id="23" name="Picture 22"/>
          <p:cNvPicPr>
            <a:picLocks noChangeAspect="1"/>
          </p:cNvPicPr>
          <p:nvPr/>
        </p:nvPicPr>
        <p:blipFill>
          <a:blip r:embed="rId10"/>
          <a:stretch>
            <a:fillRect/>
          </a:stretch>
        </p:blipFill>
        <p:spPr>
          <a:xfrm>
            <a:off x="3747027" y="960949"/>
            <a:ext cx="2881387" cy="2893887"/>
          </a:xfrm>
          <a:prstGeom prst="rect">
            <a:avLst/>
          </a:prstGeom>
        </p:spPr>
      </p:pic>
      <mc:AlternateContent xmlns:mc="http://schemas.openxmlformats.org/markup-compatibility/2006" xmlns:a14="http://schemas.microsoft.com/office/drawing/2010/main">
        <mc:Choice Requires="a14">
          <p:sp>
            <p:nvSpPr>
              <p:cNvPr id="26" name="Rectangle 25"/>
              <p:cNvSpPr/>
              <p:nvPr/>
            </p:nvSpPr>
            <p:spPr>
              <a:xfrm>
                <a:off x="3409790" y="3685555"/>
                <a:ext cx="3265813" cy="1091774"/>
              </a:xfrm>
              <a:prstGeom prst="rect">
                <a:avLst/>
              </a:prstGeom>
            </p:spPr>
            <p:txBody>
              <a:bodyPr wrap="square">
                <a:spAutoFit/>
              </a:bodyPr>
              <a:lstStyle/>
              <a:p>
                <a:pPr algn="ctr"/>
                <a:r>
                  <a:rPr lang="en-GB" sz="1200" noProof="0" dirty="0"/>
                  <a:t>Use the graph to solve the simultaneous equations</a:t>
                </a:r>
              </a:p>
              <a:p>
                <a:pPr algn="ctr"/>
                <a14:m>
                  <m:oMath xmlns:m="http://schemas.openxmlformats.org/officeDocument/2006/math">
                    <m:r>
                      <a:rPr lang="en-GB" sz="1200" i="1" noProof="0" smtClean="0">
                        <a:latin typeface="Cambria Math" panose="02040503050406030204" pitchFamily="18" charset="0"/>
                      </a:rPr>
                      <m:t>𝑦</m:t>
                    </m:r>
                    <m:r>
                      <a:rPr lang="en-GB" sz="120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i="1" noProof="0" smtClean="0">
                            <a:latin typeface="Cambria Math" panose="02040503050406030204" pitchFamily="18" charset="0"/>
                          </a:rPr>
                          <m:t>1</m:t>
                        </m:r>
                      </m:num>
                      <m:den>
                        <m:r>
                          <a:rPr lang="en-GB" sz="1200" i="1" noProof="0" smtClean="0">
                            <a:latin typeface="Cambria Math" panose="02040503050406030204" pitchFamily="18" charset="0"/>
                          </a:rPr>
                          <m:t>2</m:t>
                        </m:r>
                      </m:den>
                    </m:f>
                    <m:r>
                      <a:rPr lang="en-GB" sz="1200" i="1" noProof="0" smtClean="0">
                        <a:latin typeface="Cambria Math" panose="02040503050406030204" pitchFamily="18" charset="0"/>
                      </a:rPr>
                      <m:t>𝑥</m:t>
                    </m:r>
                    <m:r>
                      <a:rPr lang="en-GB" sz="1200" i="1" noProof="0" smtClean="0">
                        <a:latin typeface="Cambria Math" panose="02040503050406030204" pitchFamily="18" charset="0"/>
                      </a:rPr>
                      <m:t>+2 </m:t>
                    </m:r>
                  </m:oMath>
                </a14:m>
                <a:r>
                  <a:rPr lang="en-GB" sz="1200" noProof="0" dirty="0"/>
                  <a:t>and </a:t>
                </a:r>
                <a14:m>
                  <m:oMath xmlns:m="http://schemas.openxmlformats.org/officeDocument/2006/math">
                    <m:r>
                      <a:rPr lang="en-GB" sz="1200" noProof="0" smtClean="0">
                        <a:latin typeface="Cambria Math" panose="02040503050406030204" pitchFamily="18" charset="0"/>
                      </a:rPr>
                      <m:t>2</m:t>
                    </m:r>
                    <m:r>
                      <a:rPr lang="en-GB" sz="1200" i="1" noProof="0" smtClean="0">
                        <a:latin typeface="Cambria Math" panose="02040503050406030204" pitchFamily="18" charset="0"/>
                      </a:rPr>
                      <m:t>𝑦</m:t>
                    </m:r>
                    <m:r>
                      <a:rPr lang="en-GB" sz="1200" i="1" noProof="0" smtClean="0">
                        <a:latin typeface="Cambria Math" panose="02040503050406030204" pitchFamily="18" charset="0"/>
                      </a:rPr>
                      <m:t>+3</m:t>
                    </m:r>
                    <m:r>
                      <a:rPr lang="en-GB" sz="1200" i="1" noProof="0" smtClean="0">
                        <a:latin typeface="Cambria Math" panose="02040503050406030204" pitchFamily="18" charset="0"/>
                      </a:rPr>
                      <m:t>𝑥</m:t>
                    </m:r>
                    <m:r>
                      <a:rPr lang="en-GB" sz="1200" i="1" noProof="0" smtClean="0">
                        <a:latin typeface="Cambria Math" panose="02040503050406030204" pitchFamily="18" charset="0"/>
                      </a:rPr>
                      <m:t>=12 </m:t>
                    </m:r>
                  </m:oMath>
                </a14:m>
                <a:endParaRPr lang="en-GB" sz="1200" noProof="0" dirty="0"/>
              </a:p>
              <a:p>
                <a:pPr algn="ctr"/>
                <a:endParaRPr lang="en-GB" sz="1200" noProof="0" dirty="0"/>
              </a:p>
              <a:p>
                <a:pPr algn="ctr"/>
                <a:endParaRPr lang="en-GB" sz="1200" noProof="0" dirty="0"/>
              </a:p>
            </p:txBody>
          </p:sp>
        </mc:Choice>
        <mc:Fallback xmlns="">
          <p:sp>
            <p:nvSpPr>
              <p:cNvPr id="26" name="Rectangle 25"/>
              <p:cNvSpPr>
                <a:spLocks noRot="1" noChangeAspect="1" noMove="1" noResize="1" noEditPoints="1" noAdjustHandles="1" noChangeArrowheads="1" noChangeShapeType="1" noTextEdit="1"/>
              </p:cNvSpPr>
              <p:nvPr/>
            </p:nvSpPr>
            <p:spPr>
              <a:xfrm>
                <a:off x="3409790" y="3685555"/>
                <a:ext cx="3265813" cy="1091774"/>
              </a:xfrm>
              <a:prstGeom prst="rect">
                <a:avLst/>
              </a:prstGeom>
              <a:blipFill>
                <a:blip r:embed="rId11"/>
                <a:stretch>
                  <a:fillRect t="-5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3586493" y="8325188"/>
                <a:ext cx="383310"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oMath>
                </a14:m>
                <a:r>
                  <a:rPr lang="en-GB" sz="1200" noProof="0" dirty="0"/>
                  <a:t> =</a:t>
                </a:r>
              </a:p>
            </p:txBody>
          </p:sp>
        </mc:Choice>
        <mc:Fallback xmlns="">
          <p:sp>
            <p:nvSpPr>
              <p:cNvPr id="27" name="TextBox 26"/>
              <p:cNvSpPr txBox="1">
                <a:spLocks noRot="1" noChangeAspect="1" noMove="1" noResize="1" noEditPoints="1" noAdjustHandles="1" noChangeArrowheads="1" noChangeShapeType="1" noTextEdit="1"/>
              </p:cNvSpPr>
              <p:nvPr/>
            </p:nvSpPr>
            <p:spPr>
              <a:xfrm>
                <a:off x="3586493" y="8325188"/>
                <a:ext cx="383310" cy="276999"/>
              </a:xfrm>
              <a:prstGeom prst="rect">
                <a:avLst/>
              </a:prstGeom>
              <a:blipFill>
                <a:blip r:embed="rId12"/>
                <a:stretch>
                  <a:fillRect t="-2222" b="-17778"/>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16B1ECA1-094F-FE4A-8AFE-E48C67064BBB}"/>
              </a:ext>
            </a:extLst>
          </p:cNvPr>
          <p:cNvSpPr/>
          <p:nvPr/>
        </p:nvSpPr>
        <p:spPr>
          <a:xfrm>
            <a:off x="3978459" y="8315401"/>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29" name="Rectangle 28">
            <a:extLst>
              <a:ext uri="{FF2B5EF4-FFF2-40B4-BE49-F238E27FC236}">
                <a16:creationId xmlns:a16="http://schemas.microsoft.com/office/drawing/2014/main" id="{16B1ECA1-094F-FE4A-8AFE-E48C67064BBB}"/>
              </a:ext>
            </a:extLst>
          </p:cNvPr>
          <p:cNvSpPr/>
          <p:nvPr/>
        </p:nvSpPr>
        <p:spPr>
          <a:xfrm>
            <a:off x="3978459" y="8689179"/>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30" name="TextBox 29"/>
              <p:cNvSpPr txBox="1"/>
              <p:nvPr/>
            </p:nvSpPr>
            <p:spPr>
              <a:xfrm>
                <a:off x="3586493" y="8689038"/>
                <a:ext cx="386068"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𝑦</m:t>
                    </m:r>
                  </m:oMath>
                </a14:m>
                <a:r>
                  <a:rPr lang="en-GB" sz="1200" noProof="0" dirty="0"/>
                  <a:t> =</a:t>
                </a:r>
              </a:p>
            </p:txBody>
          </p:sp>
        </mc:Choice>
        <mc:Fallback xmlns="">
          <p:sp>
            <p:nvSpPr>
              <p:cNvPr id="30" name="TextBox 29"/>
              <p:cNvSpPr txBox="1">
                <a:spLocks noRot="1" noChangeAspect="1" noMove="1" noResize="1" noEditPoints="1" noAdjustHandles="1" noChangeArrowheads="1" noChangeShapeType="1" noTextEdit="1"/>
              </p:cNvSpPr>
              <p:nvPr/>
            </p:nvSpPr>
            <p:spPr>
              <a:xfrm>
                <a:off x="3586493" y="8689038"/>
                <a:ext cx="386068" cy="276999"/>
              </a:xfrm>
              <a:prstGeom prst="rect">
                <a:avLst/>
              </a:prstGeom>
              <a:blipFill>
                <a:blip r:embed="rId13"/>
                <a:stretch>
                  <a:fillRect b="-15217"/>
                </a:stretch>
              </a:blipFill>
            </p:spPr>
            <p:txBody>
              <a:bodyPr/>
              <a:lstStyle/>
              <a:p>
                <a:r>
                  <a:rPr lang="en-US">
                    <a:noFill/>
                  </a:rPr>
                  <a:t> </a:t>
                </a:r>
              </a:p>
            </p:txBody>
          </p:sp>
        </mc:Fallback>
      </mc:AlternateContent>
    </p:spTree>
    <p:extLst>
      <p:ext uri="{BB962C8B-B14F-4D97-AF65-F5344CB8AC3E}">
        <p14:creationId xmlns:p14="http://schemas.microsoft.com/office/powerpoint/2010/main" val="1298809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213665" y="9378597"/>
            <a:ext cx="1543050" cy="527403"/>
          </a:xfrm>
        </p:spPr>
        <p:txBody>
          <a:bodyPr/>
          <a:lstStyle/>
          <a:p>
            <a:fld id="{19F1D9CC-7119-45EC-A96C-D8C0660F3AAB}" type="slidenum">
              <a:rPr lang="en-GB" noProof="0" smtClean="0"/>
              <a:t>27</a:t>
            </a:fld>
            <a:endParaRPr lang="en-GB" noProof="0" dirty="0"/>
          </a:p>
        </p:txBody>
      </p:sp>
      <p:sp>
        <p:nvSpPr>
          <p:cNvPr id="3" name="Rectangle 2">
            <a:extLst>
              <a:ext uri="{FF2B5EF4-FFF2-40B4-BE49-F238E27FC236}">
                <a16:creationId xmlns:a16="http://schemas.microsoft.com/office/drawing/2014/main" id="{98D6CC47-5E02-5040-8389-C36B03A95D91}"/>
              </a:ext>
            </a:extLst>
          </p:cNvPr>
          <p:cNvSpPr/>
          <p:nvPr/>
        </p:nvSpPr>
        <p:spPr>
          <a:xfrm>
            <a:off x="122801" y="270388"/>
            <a:ext cx="3265813" cy="9275393"/>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p:sp>
        <p:nvSpPr>
          <p:cNvPr id="4" name="TextBox 3">
            <a:extLst>
              <a:ext uri="{FF2B5EF4-FFF2-40B4-BE49-F238E27FC236}">
                <a16:creationId xmlns:a16="http://schemas.microsoft.com/office/drawing/2014/main" id="{1E912342-8EE7-5749-AAB3-11321C962F00}"/>
              </a:ext>
            </a:extLst>
          </p:cNvPr>
          <p:cNvSpPr txBox="1"/>
          <p:nvPr/>
        </p:nvSpPr>
        <p:spPr>
          <a:xfrm>
            <a:off x="29497" y="0"/>
            <a:ext cx="1396536" cy="261610"/>
          </a:xfrm>
          <a:prstGeom prst="rect">
            <a:avLst/>
          </a:prstGeom>
          <a:noFill/>
          <a:ln>
            <a:noFill/>
          </a:ln>
        </p:spPr>
        <p:txBody>
          <a:bodyPr wrap="none" rtlCol="0">
            <a:spAutoFit/>
          </a:bodyPr>
          <a:lstStyle/>
          <a:p>
            <a:r>
              <a:rPr lang="en-GB" sz="1100" b="1" i="1" noProof="0" dirty="0">
                <a:solidFill>
                  <a:srgbClr val="00B050"/>
                </a:solidFill>
              </a:rPr>
              <a:t>Example 3 - You do…</a:t>
            </a:r>
          </a:p>
        </p:txBody>
      </p:sp>
      <p:sp>
        <p:nvSpPr>
          <p:cNvPr id="5" name="Rectangle 4">
            <a:extLst>
              <a:ext uri="{FF2B5EF4-FFF2-40B4-BE49-F238E27FC236}">
                <a16:creationId xmlns:a16="http://schemas.microsoft.com/office/drawing/2014/main" id="{FB9E1DD0-E9EF-6A40-A2E8-902404649FEC}"/>
              </a:ext>
            </a:extLst>
          </p:cNvPr>
          <p:cNvSpPr/>
          <p:nvPr/>
        </p:nvSpPr>
        <p:spPr>
          <a:xfrm>
            <a:off x="3490902" y="278427"/>
            <a:ext cx="3265813" cy="9268786"/>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p:sp>
        <p:nvSpPr>
          <p:cNvPr id="6" name="TextBox 5">
            <a:extLst>
              <a:ext uri="{FF2B5EF4-FFF2-40B4-BE49-F238E27FC236}">
                <a16:creationId xmlns:a16="http://schemas.microsoft.com/office/drawing/2014/main" id="{66114F50-871E-7548-B273-2025562F7625}"/>
              </a:ext>
            </a:extLst>
          </p:cNvPr>
          <p:cNvSpPr txBox="1"/>
          <p:nvPr/>
        </p:nvSpPr>
        <p:spPr>
          <a:xfrm>
            <a:off x="3409790" y="11443"/>
            <a:ext cx="1423788" cy="261610"/>
          </a:xfrm>
          <a:prstGeom prst="rect">
            <a:avLst/>
          </a:prstGeom>
          <a:noFill/>
          <a:ln>
            <a:noFill/>
          </a:ln>
        </p:spPr>
        <p:txBody>
          <a:bodyPr wrap="none" rtlCol="0">
            <a:spAutoFit/>
          </a:bodyPr>
          <a:lstStyle/>
          <a:p>
            <a:r>
              <a:rPr lang="en-GB" sz="1100" b="1" i="1" noProof="0" dirty="0">
                <a:solidFill>
                  <a:srgbClr val="00B050"/>
                </a:solidFill>
              </a:rPr>
              <a:t>Example 4 – You do…</a:t>
            </a:r>
          </a:p>
        </p:txBody>
      </p:sp>
      <mc:AlternateContent xmlns:mc="http://schemas.openxmlformats.org/markup-compatibility/2006" xmlns:a14="http://schemas.microsoft.com/office/drawing/2010/main">
        <mc:Choice Requires="a14">
          <p:sp>
            <p:nvSpPr>
              <p:cNvPr id="7" name="Rectangle 6"/>
              <p:cNvSpPr/>
              <p:nvPr/>
            </p:nvSpPr>
            <p:spPr>
              <a:xfrm>
                <a:off x="122801" y="314618"/>
                <a:ext cx="3265813" cy="646331"/>
              </a:xfrm>
              <a:prstGeom prst="rect">
                <a:avLst/>
              </a:prstGeom>
            </p:spPr>
            <p:txBody>
              <a:bodyPr wrap="square">
                <a:spAutoFit/>
              </a:bodyPr>
              <a:lstStyle/>
              <a:p>
                <a:pPr algn="ctr"/>
                <a:r>
                  <a:rPr lang="en-GB" sz="1200" noProof="0" dirty="0"/>
                  <a:t>The graphs of the straight lines with equations </a:t>
                </a:r>
              </a:p>
              <a:p>
                <a:pPr algn="ct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+4 </m:t>
                    </m:r>
                  </m:oMath>
                </a14:m>
                <a:r>
                  <a:rPr lang="en-GB" sz="1200" noProof="0" dirty="0"/>
                  <a:t>and </a:t>
                </a:r>
                <a14:m>
                  <m:oMath xmlns:m="http://schemas.openxmlformats.org/officeDocument/2006/math">
                    <m:r>
                      <a:rPr lang="en-GB" sz="1200" i="1" noProof="0" smtClean="0">
                        <a:latin typeface="Cambria Math" panose="02040503050406030204" pitchFamily="18" charset="0"/>
                      </a:rPr>
                      <m:t>𝑦</m:t>
                    </m:r>
                    <m:r>
                      <a:rPr lang="en-GB" sz="1200" i="1" noProof="0" smtClean="0">
                        <a:latin typeface="Cambria Math" panose="02040503050406030204" pitchFamily="18" charset="0"/>
                      </a:rPr>
                      <m:t>=</m:t>
                    </m:r>
                    <m:r>
                      <a:rPr lang="en-GB" sz="1200" i="1" noProof="0" smtClean="0">
                        <a:latin typeface="Cambria Math" panose="02040503050406030204" pitchFamily="18" charset="0"/>
                      </a:rPr>
                      <m:t>𝑥</m:t>
                    </m:r>
                    <m:r>
                      <a:rPr lang="en-GB" sz="1200" i="1" noProof="0" smtClean="0">
                        <a:latin typeface="Cambria Math" panose="02040503050406030204" pitchFamily="18" charset="0"/>
                      </a:rPr>
                      <m:t> –2 </m:t>
                    </m:r>
                  </m:oMath>
                </a14:m>
                <a:r>
                  <a:rPr lang="en-GB" sz="1200" noProof="0" dirty="0"/>
                  <a:t>have been drawn on the grid.</a:t>
                </a:r>
              </a:p>
            </p:txBody>
          </p:sp>
        </mc:Choice>
        <mc:Fallback xmlns="">
          <p:sp>
            <p:nvSpPr>
              <p:cNvPr id="7" name="Rectangle 6"/>
              <p:cNvSpPr>
                <a:spLocks noRot="1" noChangeAspect="1" noMove="1" noResize="1" noEditPoints="1" noAdjustHandles="1" noChangeArrowheads="1" noChangeShapeType="1" noTextEdit="1"/>
              </p:cNvSpPr>
              <p:nvPr/>
            </p:nvSpPr>
            <p:spPr>
              <a:xfrm>
                <a:off x="122801" y="314618"/>
                <a:ext cx="3265813" cy="646331"/>
              </a:xfrm>
              <a:prstGeom prst="rect">
                <a:avLst/>
              </a:prstGeom>
              <a:blipFill>
                <a:blip r:embed="rId2"/>
                <a:stretch>
                  <a:fillRect t="-943" b="-66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490901" y="314618"/>
                <a:ext cx="3265813" cy="646331"/>
              </a:xfrm>
              <a:prstGeom prst="rect">
                <a:avLst/>
              </a:prstGeom>
            </p:spPr>
            <p:txBody>
              <a:bodyPr wrap="square">
                <a:spAutoFit/>
              </a:bodyPr>
              <a:lstStyle/>
              <a:p>
                <a:pPr algn="ctr"/>
                <a:r>
                  <a:rPr lang="en-GB" sz="1200" noProof="0" dirty="0"/>
                  <a:t>The graphs of the straight lines with equations </a:t>
                </a:r>
              </a:p>
              <a:p>
                <a:pPr algn="ctr"/>
                <a14:m>
                  <m:oMath xmlns:m="http://schemas.openxmlformats.org/officeDocument/2006/math">
                    <m:r>
                      <a:rPr lang="en-GB" sz="1200" i="1" noProof="0" smtClean="0">
                        <a:latin typeface="Cambria Math" panose="02040503050406030204" pitchFamily="18" charset="0"/>
                      </a:rPr>
                      <m:t>6</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−9=0 </m:t>
                    </m:r>
                  </m:oMath>
                </a14:m>
                <a:r>
                  <a:rPr lang="en-GB" sz="1200" noProof="0" dirty="0"/>
                  <a:t>and </a:t>
                </a:r>
                <a14:m>
                  <m:oMath xmlns:m="http://schemas.openxmlformats.org/officeDocument/2006/math">
                    <m:r>
                      <a:rPr lang="en-GB" sz="1200" i="1" noProof="0" smtClean="0">
                        <a:latin typeface="Cambria Math" panose="02040503050406030204" pitchFamily="18" charset="0"/>
                      </a:rPr>
                      <m:t>𝑦</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−3 </m:t>
                    </m:r>
                  </m:oMath>
                </a14:m>
                <a:r>
                  <a:rPr lang="en-GB" sz="1200" noProof="0" dirty="0"/>
                  <a:t>have been drawn on the grid.</a:t>
                </a:r>
              </a:p>
            </p:txBody>
          </p:sp>
        </mc:Choice>
        <mc:Fallback xmlns="">
          <p:sp>
            <p:nvSpPr>
              <p:cNvPr id="8" name="Rectangle 7"/>
              <p:cNvSpPr>
                <a:spLocks noRot="1" noChangeAspect="1" noMove="1" noResize="1" noEditPoints="1" noAdjustHandles="1" noChangeArrowheads="1" noChangeShapeType="1" noTextEdit="1"/>
              </p:cNvSpPr>
              <p:nvPr/>
            </p:nvSpPr>
            <p:spPr>
              <a:xfrm>
                <a:off x="3490901" y="314618"/>
                <a:ext cx="3265813" cy="646331"/>
              </a:xfrm>
              <a:prstGeom prst="rect">
                <a:avLst/>
              </a:prstGeom>
              <a:blipFill>
                <a:blip r:embed="rId3"/>
                <a:stretch>
                  <a:fillRect t="-943" b="-66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122799" y="3739959"/>
                <a:ext cx="3265813" cy="646331"/>
              </a:xfrm>
              <a:prstGeom prst="rect">
                <a:avLst/>
              </a:prstGeom>
            </p:spPr>
            <p:txBody>
              <a:bodyPr wrap="square">
                <a:spAutoFit/>
              </a:bodyPr>
              <a:lstStyle/>
              <a:p>
                <a:pPr algn="ctr"/>
                <a:r>
                  <a:rPr lang="en-GB" sz="1200" noProof="0" dirty="0"/>
                  <a:t>Use the graph to solve the simultaneous equations</a:t>
                </a:r>
              </a:p>
              <a:p>
                <a:pPr algn="ctr"/>
                <a14:m>
                  <m:oMath xmlns:m="http://schemas.openxmlformats.org/officeDocument/2006/math">
                    <m:r>
                      <a:rPr lang="en-GB" sz="1200" i="1" noProof="0" smtClean="0">
                        <a:latin typeface="Cambria Math" panose="02040503050406030204" pitchFamily="18" charset="0"/>
                      </a:rPr>
                      <m:t>𝑦</m:t>
                    </m:r>
                    <m:r>
                      <a:rPr lang="en-GB" sz="1200" i="1" noProof="0" smtClean="0">
                        <a:latin typeface="Cambria Math" panose="02040503050406030204" pitchFamily="18" charset="0"/>
                      </a:rPr>
                      <m:t>=−</m:t>
                    </m:r>
                    <m:r>
                      <a:rPr lang="en-GB" sz="1200" i="1" noProof="0" smtClean="0">
                        <a:latin typeface="Cambria Math" panose="02040503050406030204" pitchFamily="18" charset="0"/>
                      </a:rPr>
                      <m:t>𝑥</m:t>
                    </m:r>
                    <m:r>
                      <a:rPr lang="en-GB" sz="1200" i="1" noProof="0" smtClean="0">
                        <a:latin typeface="Cambria Math" panose="02040503050406030204" pitchFamily="18" charset="0"/>
                      </a:rPr>
                      <m:t>+4 </m:t>
                    </m:r>
                  </m:oMath>
                </a14:m>
                <a:r>
                  <a:rPr lang="en-GB" sz="1200" noProof="0" dirty="0"/>
                  <a:t>and </a:t>
                </a:r>
                <a14:m>
                  <m:oMath xmlns:m="http://schemas.openxmlformats.org/officeDocument/2006/math">
                    <m:r>
                      <a:rPr lang="en-GB" sz="1200" i="1" noProof="0" smtClean="0">
                        <a:latin typeface="Cambria Math" panose="02040503050406030204" pitchFamily="18" charset="0"/>
                      </a:rPr>
                      <m:t>𝑦</m:t>
                    </m:r>
                    <m:r>
                      <a:rPr lang="en-GB" sz="1200" i="1" noProof="0" smtClean="0">
                        <a:latin typeface="Cambria Math" panose="02040503050406030204" pitchFamily="18" charset="0"/>
                      </a:rPr>
                      <m:t>=</m:t>
                    </m:r>
                    <m:r>
                      <a:rPr lang="en-GB" sz="1200" i="1" noProof="0" smtClean="0">
                        <a:latin typeface="Cambria Math" panose="02040503050406030204" pitchFamily="18" charset="0"/>
                      </a:rPr>
                      <m:t>𝑥</m:t>
                    </m:r>
                    <m:r>
                      <a:rPr lang="en-GB" sz="1200" i="1" noProof="0" smtClean="0">
                        <a:latin typeface="Cambria Math" panose="02040503050406030204" pitchFamily="18" charset="0"/>
                      </a:rPr>
                      <m:t> –2</m:t>
                    </m:r>
                  </m:oMath>
                </a14:m>
                <a:endParaRPr lang="en-GB" sz="1200" noProof="0" dirty="0"/>
              </a:p>
            </p:txBody>
          </p:sp>
        </mc:Choice>
        <mc:Fallback xmlns="">
          <p:sp>
            <p:nvSpPr>
              <p:cNvPr id="11" name="Rectangle 10"/>
              <p:cNvSpPr>
                <a:spLocks noRot="1" noChangeAspect="1" noMove="1" noResize="1" noEditPoints="1" noAdjustHandles="1" noChangeArrowheads="1" noChangeShapeType="1" noTextEdit="1"/>
              </p:cNvSpPr>
              <p:nvPr/>
            </p:nvSpPr>
            <p:spPr>
              <a:xfrm>
                <a:off x="122799" y="3739959"/>
                <a:ext cx="3265813" cy="646331"/>
              </a:xfrm>
              <a:prstGeom prst="rect">
                <a:avLst/>
              </a:prstGeom>
              <a:blipFill>
                <a:blip r:embed="rId4"/>
                <a:stretch>
                  <a:fillRect t="-943" b="-66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265733" y="4696695"/>
                <a:ext cx="2863547" cy="3416320"/>
              </a:xfrm>
              <a:prstGeom prst="rect">
                <a:avLst/>
              </a:prstGeom>
              <a:noFill/>
            </p:spPr>
            <p:txBody>
              <a:bodyPr wrap="square" rtlCol="0">
                <a:spAutoFit/>
              </a:bodyPr>
              <a:lstStyle/>
              <a:p>
                <a:r>
                  <a:rPr lang="en-GB" sz="1200" b="1" noProof="0" dirty="0"/>
                  <a:t>Step 1:</a:t>
                </a:r>
              </a:p>
              <a:p>
                <a:br>
                  <a:rPr lang="en-GB" sz="1200" noProof="0" dirty="0"/>
                </a:br>
                <a:r>
                  <a:rPr lang="en-GB" sz="1200" noProof="0" dirty="0"/>
                  <a:t>Find the </a:t>
                </a:r>
                <a:r>
                  <a:rPr lang="en-GB" sz="1200" b="1" noProof="0" dirty="0"/>
                  <a:t>intersection</a:t>
                </a:r>
                <a:r>
                  <a:rPr lang="en-GB" sz="1200" noProof="0" dirty="0"/>
                  <a:t> point. </a:t>
                </a:r>
              </a:p>
              <a:p>
                <a:endParaRPr lang="en-GB" sz="1200" noProof="0" dirty="0"/>
              </a:p>
              <a:p>
                <a:r>
                  <a:rPr lang="en-GB" sz="1200" b="1" noProof="0" dirty="0"/>
                  <a:t>Step 2:</a:t>
                </a:r>
              </a:p>
              <a:p>
                <a:endParaRPr lang="en-GB" sz="1200" noProof="0" dirty="0"/>
              </a:p>
              <a:p>
                <a:r>
                  <a:rPr lang="en-GB" sz="1200" noProof="0" dirty="0"/>
                  <a:t>Draw a line from the intersection point to the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axis.</a:t>
                </a:r>
              </a:p>
              <a:p>
                <a:endParaRPr lang="en-GB" sz="1200" noProof="0" dirty="0"/>
              </a:p>
              <a:p>
                <a:r>
                  <a:rPr lang="en-GB" sz="1200" b="1" noProof="0" dirty="0"/>
                  <a:t>Step 3: </a:t>
                </a:r>
              </a:p>
              <a:p>
                <a:endParaRPr lang="en-GB" sz="1200" noProof="0" dirty="0"/>
              </a:p>
              <a:p>
                <a:r>
                  <a:rPr lang="en-GB" sz="1200" noProof="0" dirty="0"/>
                  <a:t>Draw a line from the intersection point to the </a:t>
                </a:r>
                <a14:m>
                  <m:oMath xmlns:m="http://schemas.openxmlformats.org/officeDocument/2006/math">
                    <m:r>
                      <a:rPr lang="en-GB" sz="1200" b="0" i="1" noProof="0" smtClean="0">
                        <a:latin typeface="Cambria Math" panose="02040503050406030204" pitchFamily="18" charset="0"/>
                      </a:rPr>
                      <m:t>𝑦</m:t>
                    </m:r>
                  </m:oMath>
                </a14:m>
                <a:r>
                  <a:rPr lang="en-GB" sz="1200" noProof="0" dirty="0"/>
                  <a:t>-axis.</a:t>
                </a:r>
              </a:p>
              <a:p>
                <a:endParaRPr lang="en-GB" sz="1200" noProof="0" dirty="0"/>
              </a:p>
              <a:p>
                <a:r>
                  <a:rPr lang="en-GB" sz="1200" b="1" noProof="0" dirty="0"/>
                  <a:t>Step 4:</a:t>
                </a:r>
              </a:p>
              <a:p>
                <a:endParaRPr lang="en-GB" sz="1200" noProof="0" dirty="0"/>
              </a:p>
              <a:p>
                <a:r>
                  <a:rPr lang="en-GB" sz="1200" noProof="0" dirty="0"/>
                  <a:t>Write the </a:t>
                </a:r>
                <a14:m>
                  <m:oMath xmlns:m="http://schemas.openxmlformats.org/officeDocument/2006/math">
                    <m:r>
                      <a:rPr lang="en-GB" sz="1200" i="1" noProof="0" smtClean="0">
                        <a:latin typeface="Cambria Math" panose="02040503050406030204" pitchFamily="18" charset="0"/>
                      </a:rPr>
                      <m:t>𝑥</m:t>
                    </m:r>
                  </m:oMath>
                </a14:m>
                <a:r>
                  <a:rPr lang="en-GB" sz="1200" noProof="0" dirty="0"/>
                  <a:t> and </a:t>
                </a:r>
                <a14:m>
                  <m:oMath xmlns:m="http://schemas.openxmlformats.org/officeDocument/2006/math">
                    <m:r>
                      <a:rPr lang="en-GB" sz="1200" i="1" noProof="0" smtClean="0">
                        <a:latin typeface="Cambria Math" panose="02040503050406030204" pitchFamily="18" charset="0"/>
                      </a:rPr>
                      <m:t>𝑦</m:t>
                    </m:r>
                  </m:oMath>
                </a14:m>
                <a:r>
                  <a:rPr lang="en-GB" sz="1200" noProof="0" dirty="0"/>
                  <a:t> coordinates as the solution. </a:t>
                </a:r>
              </a:p>
            </p:txBody>
          </p:sp>
        </mc:Choice>
        <mc:Fallback xmlns="">
          <p:sp>
            <p:nvSpPr>
              <p:cNvPr id="16" name="TextBox 15"/>
              <p:cNvSpPr txBox="1">
                <a:spLocks noRot="1" noChangeAspect="1" noMove="1" noResize="1" noEditPoints="1" noAdjustHandles="1" noChangeArrowheads="1" noChangeShapeType="1" noTextEdit="1"/>
              </p:cNvSpPr>
              <p:nvPr/>
            </p:nvSpPr>
            <p:spPr>
              <a:xfrm>
                <a:off x="265733" y="4696695"/>
                <a:ext cx="2863547" cy="3416320"/>
              </a:xfrm>
              <a:prstGeom prst="rect">
                <a:avLst/>
              </a:prstGeom>
              <a:blipFill>
                <a:blip r:embed="rId5"/>
                <a:stretch>
                  <a:fillRect l="-213" b="-3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3781891" y="4615415"/>
                <a:ext cx="2863547" cy="3416320"/>
              </a:xfrm>
              <a:prstGeom prst="rect">
                <a:avLst/>
              </a:prstGeom>
              <a:noFill/>
            </p:spPr>
            <p:txBody>
              <a:bodyPr wrap="square" rtlCol="0">
                <a:spAutoFit/>
              </a:bodyPr>
              <a:lstStyle/>
              <a:p>
                <a:r>
                  <a:rPr lang="en-GB" sz="1200" b="1" noProof="0" dirty="0"/>
                  <a:t>Step 1:</a:t>
                </a:r>
              </a:p>
              <a:p>
                <a:br>
                  <a:rPr lang="en-GB" sz="1200" noProof="0" dirty="0"/>
                </a:br>
                <a:r>
                  <a:rPr lang="en-GB" sz="1200" noProof="0" dirty="0"/>
                  <a:t>Find the </a:t>
                </a:r>
                <a:r>
                  <a:rPr lang="en-GB" sz="1200" b="1" noProof="0" dirty="0"/>
                  <a:t>intersection</a:t>
                </a:r>
                <a:r>
                  <a:rPr lang="en-GB" sz="1200" noProof="0" dirty="0"/>
                  <a:t> point. </a:t>
                </a:r>
              </a:p>
              <a:p>
                <a:endParaRPr lang="en-GB" sz="1200" noProof="0" dirty="0"/>
              </a:p>
              <a:p>
                <a:r>
                  <a:rPr lang="en-GB" sz="1200" b="1" noProof="0" dirty="0"/>
                  <a:t>Step 2:</a:t>
                </a:r>
              </a:p>
              <a:p>
                <a:endParaRPr lang="en-GB" sz="1200" noProof="0" dirty="0"/>
              </a:p>
              <a:p>
                <a:r>
                  <a:rPr lang="en-GB" sz="1200" noProof="0" dirty="0"/>
                  <a:t>Draw a line from the intersection point to the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axis.</a:t>
                </a:r>
              </a:p>
              <a:p>
                <a:endParaRPr lang="en-GB" sz="1200" noProof="0" dirty="0"/>
              </a:p>
              <a:p>
                <a:r>
                  <a:rPr lang="en-GB" sz="1200" b="1" noProof="0" dirty="0"/>
                  <a:t>Step 3: </a:t>
                </a:r>
              </a:p>
              <a:p>
                <a:endParaRPr lang="en-GB" sz="1200" noProof="0" dirty="0"/>
              </a:p>
              <a:p>
                <a:r>
                  <a:rPr lang="en-GB" sz="1200" noProof="0" dirty="0"/>
                  <a:t>Draw a line from the intersection point to the </a:t>
                </a:r>
                <a14:m>
                  <m:oMath xmlns:m="http://schemas.openxmlformats.org/officeDocument/2006/math">
                    <m:r>
                      <a:rPr lang="en-GB" sz="1200" b="0" i="1" noProof="0" smtClean="0">
                        <a:latin typeface="Cambria Math" panose="02040503050406030204" pitchFamily="18" charset="0"/>
                      </a:rPr>
                      <m:t>𝑦</m:t>
                    </m:r>
                  </m:oMath>
                </a14:m>
                <a:r>
                  <a:rPr lang="en-GB" sz="1200" noProof="0" dirty="0"/>
                  <a:t>-axis.</a:t>
                </a:r>
              </a:p>
              <a:p>
                <a:endParaRPr lang="en-GB" sz="1200" noProof="0" dirty="0"/>
              </a:p>
              <a:p>
                <a:r>
                  <a:rPr lang="en-GB" sz="1200" b="1" noProof="0" dirty="0"/>
                  <a:t>Step 4:</a:t>
                </a:r>
              </a:p>
              <a:p>
                <a:endParaRPr lang="en-GB" sz="1200" noProof="0" dirty="0"/>
              </a:p>
              <a:p>
                <a:r>
                  <a:rPr lang="en-GB" sz="1200" noProof="0" dirty="0"/>
                  <a:t>Write the </a:t>
                </a:r>
                <a14:m>
                  <m:oMath xmlns:m="http://schemas.openxmlformats.org/officeDocument/2006/math">
                    <m:r>
                      <a:rPr lang="en-GB" sz="1200" i="1" noProof="0" smtClean="0">
                        <a:latin typeface="Cambria Math" panose="02040503050406030204" pitchFamily="18" charset="0"/>
                      </a:rPr>
                      <m:t>𝑥</m:t>
                    </m:r>
                  </m:oMath>
                </a14:m>
                <a:r>
                  <a:rPr lang="en-GB" sz="1200" noProof="0" dirty="0"/>
                  <a:t> and </a:t>
                </a:r>
                <a14:m>
                  <m:oMath xmlns:m="http://schemas.openxmlformats.org/officeDocument/2006/math">
                    <m:r>
                      <a:rPr lang="en-GB" sz="1200" i="1" noProof="0" smtClean="0">
                        <a:latin typeface="Cambria Math" panose="02040503050406030204" pitchFamily="18" charset="0"/>
                      </a:rPr>
                      <m:t>𝑦</m:t>
                    </m:r>
                  </m:oMath>
                </a14:m>
                <a:r>
                  <a:rPr lang="en-GB" sz="1200" noProof="0" dirty="0"/>
                  <a:t> coordinates as the solution. </a:t>
                </a:r>
              </a:p>
            </p:txBody>
          </p:sp>
        </mc:Choice>
        <mc:Fallback xmlns="">
          <p:sp>
            <p:nvSpPr>
              <p:cNvPr id="17" name="TextBox 16"/>
              <p:cNvSpPr txBox="1">
                <a:spLocks noRot="1" noChangeAspect="1" noMove="1" noResize="1" noEditPoints="1" noAdjustHandles="1" noChangeArrowheads="1" noChangeShapeType="1" noTextEdit="1"/>
              </p:cNvSpPr>
              <p:nvPr/>
            </p:nvSpPr>
            <p:spPr>
              <a:xfrm>
                <a:off x="3781891" y="4615415"/>
                <a:ext cx="2863547" cy="3416320"/>
              </a:xfrm>
              <a:prstGeom prst="rect">
                <a:avLst/>
              </a:prstGeom>
              <a:blipFill>
                <a:blip r:embed="rId6"/>
                <a:stretch>
                  <a:fillRect b="-3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06373" y="8308512"/>
                <a:ext cx="383310"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oMath>
                </a14:m>
                <a:r>
                  <a:rPr lang="en-GB" sz="1200" noProof="0" dirty="0"/>
                  <a:t> =</a:t>
                </a:r>
              </a:p>
            </p:txBody>
          </p:sp>
        </mc:Choice>
        <mc:Fallback xmlns="">
          <p:sp>
            <p:nvSpPr>
              <p:cNvPr id="18" name="TextBox 17"/>
              <p:cNvSpPr txBox="1">
                <a:spLocks noRot="1" noChangeAspect="1" noMove="1" noResize="1" noEditPoints="1" noAdjustHandles="1" noChangeArrowheads="1" noChangeShapeType="1" noTextEdit="1"/>
              </p:cNvSpPr>
              <p:nvPr/>
            </p:nvSpPr>
            <p:spPr>
              <a:xfrm>
                <a:off x="306373" y="8308512"/>
                <a:ext cx="383310" cy="276999"/>
              </a:xfrm>
              <a:prstGeom prst="rect">
                <a:avLst/>
              </a:prstGeom>
              <a:blipFill>
                <a:blip r:embed="rId7"/>
                <a:stretch>
                  <a:fillRect t="-2222" b="-17778"/>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16B1ECA1-094F-FE4A-8AFE-E48C67064BBB}"/>
              </a:ext>
            </a:extLst>
          </p:cNvPr>
          <p:cNvSpPr/>
          <p:nvPr/>
        </p:nvSpPr>
        <p:spPr>
          <a:xfrm>
            <a:off x="698339" y="8298725"/>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21" name="Rectangle 20">
            <a:extLst>
              <a:ext uri="{FF2B5EF4-FFF2-40B4-BE49-F238E27FC236}">
                <a16:creationId xmlns:a16="http://schemas.microsoft.com/office/drawing/2014/main" id="{16B1ECA1-094F-FE4A-8AFE-E48C67064BBB}"/>
              </a:ext>
            </a:extLst>
          </p:cNvPr>
          <p:cNvSpPr/>
          <p:nvPr/>
        </p:nvSpPr>
        <p:spPr>
          <a:xfrm>
            <a:off x="698339" y="8672503"/>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22" name="TextBox 21"/>
              <p:cNvSpPr txBox="1"/>
              <p:nvPr/>
            </p:nvSpPr>
            <p:spPr>
              <a:xfrm>
                <a:off x="306373" y="8672362"/>
                <a:ext cx="386068"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𝑦</m:t>
                    </m:r>
                  </m:oMath>
                </a14:m>
                <a:r>
                  <a:rPr lang="en-GB" sz="1200" noProof="0" dirty="0"/>
                  <a:t> =</a:t>
                </a:r>
              </a:p>
            </p:txBody>
          </p:sp>
        </mc:Choice>
        <mc:Fallback xmlns="">
          <p:sp>
            <p:nvSpPr>
              <p:cNvPr id="22" name="TextBox 21"/>
              <p:cNvSpPr txBox="1">
                <a:spLocks noRot="1" noChangeAspect="1" noMove="1" noResize="1" noEditPoints="1" noAdjustHandles="1" noChangeArrowheads="1" noChangeShapeType="1" noTextEdit="1"/>
              </p:cNvSpPr>
              <p:nvPr/>
            </p:nvSpPr>
            <p:spPr>
              <a:xfrm>
                <a:off x="306373" y="8672362"/>
                <a:ext cx="386068" cy="276999"/>
              </a:xfrm>
              <a:prstGeom prst="rect">
                <a:avLst/>
              </a:prstGeom>
              <a:blipFill>
                <a:blip r:embed="rId8"/>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3409790" y="3685555"/>
                <a:ext cx="3265813" cy="830997"/>
              </a:xfrm>
              <a:prstGeom prst="rect">
                <a:avLst/>
              </a:prstGeom>
            </p:spPr>
            <p:txBody>
              <a:bodyPr wrap="square">
                <a:spAutoFit/>
              </a:bodyPr>
              <a:lstStyle/>
              <a:p>
                <a:pPr algn="ctr"/>
                <a:r>
                  <a:rPr lang="en-GB" sz="1200" noProof="0" dirty="0"/>
                  <a:t>Use the graph to solve the simultaneous equations</a:t>
                </a:r>
              </a:p>
              <a:p>
                <a:pPr algn="ctr"/>
                <a14:m>
                  <m:oMath xmlns:m="http://schemas.openxmlformats.org/officeDocument/2006/math">
                    <m:r>
                      <a:rPr lang="en-GB" sz="1200" i="1" noProof="0" smtClean="0">
                        <a:latin typeface="Cambria Math" panose="02040503050406030204" pitchFamily="18" charset="0"/>
                      </a:rPr>
                      <m:t>6</m:t>
                    </m:r>
                    <m:r>
                      <a:rPr lang="en-GB" sz="1200" i="1" noProof="0" smtClean="0">
                        <a:latin typeface="Cambria Math" panose="02040503050406030204" pitchFamily="18" charset="0"/>
                      </a:rPr>
                      <m:t>𝑥</m:t>
                    </m:r>
                    <m:r>
                      <a:rPr lang="en-GB" sz="1200" i="1" noProof="0" smtClean="0">
                        <a:latin typeface="Cambria Math" panose="02040503050406030204" pitchFamily="18" charset="0"/>
                      </a:rPr>
                      <m:t>+2</m:t>
                    </m:r>
                    <m:r>
                      <a:rPr lang="en-GB" sz="1200" i="1" noProof="0" smtClean="0">
                        <a:latin typeface="Cambria Math" panose="02040503050406030204" pitchFamily="18" charset="0"/>
                      </a:rPr>
                      <m:t>𝑦</m:t>
                    </m:r>
                    <m:r>
                      <a:rPr lang="en-GB" sz="1200" i="1" noProof="0" smtClean="0">
                        <a:latin typeface="Cambria Math" panose="02040503050406030204" pitchFamily="18" charset="0"/>
                      </a:rPr>
                      <m:t>−9=0 </m:t>
                    </m:r>
                  </m:oMath>
                </a14:m>
                <a:r>
                  <a:rPr lang="en-GB" sz="1200" noProof="0" dirty="0"/>
                  <a:t>and </a:t>
                </a:r>
                <a14:m>
                  <m:oMath xmlns:m="http://schemas.openxmlformats.org/officeDocument/2006/math">
                    <m:r>
                      <a:rPr lang="en-GB" sz="1200" i="1" noProof="0" smtClean="0">
                        <a:latin typeface="Cambria Math" panose="02040503050406030204" pitchFamily="18" charset="0"/>
                      </a:rPr>
                      <m:t>𝑦</m:t>
                    </m:r>
                    <m:r>
                      <a:rPr lang="en-GB" sz="1200" i="1" noProof="0" smtClean="0">
                        <a:latin typeface="Cambria Math" panose="02040503050406030204" pitchFamily="18" charset="0"/>
                      </a:rPr>
                      <m:t>=2</m:t>
                    </m:r>
                    <m:r>
                      <a:rPr lang="en-GB" sz="1200" i="1" noProof="0" smtClean="0">
                        <a:latin typeface="Cambria Math" panose="02040503050406030204" pitchFamily="18" charset="0"/>
                      </a:rPr>
                      <m:t>𝑥</m:t>
                    </m:r>
                    <m:r>
                      <a:rPr lang="en-GB" sz="1200" i="1" noProof="0" smtClean="0">
                        <a:latin typeface="Cambria Math" panose="02040503050406030204" pitchFamily="18" charset="0"/>
                      </a:rPr>
                      <m:t>−3</m:t>
                    </m:r>
                  </m:oMath>
                </a14:m>
                <a:endParaRPr lang="en-GB" sz="1200" noProof="0" dirty="0"/>
              </a:p>
              <a:p>
                <a:pPr algn="ctr"/>
                <a:endParaRPr lang="en-GB" sz="1200" noProof="0" dirty="0"/>
              </a:p>
            </p:txBody>
          </p:sp>
        </mc:Choice>
        <mc:Fallback xmlns="">
          <p:sp>
            <p:nvSpPr>
              <p:cNvPr id="26" name="Rectangle 25"/>
              <p:cNvSpPr>
                <a:spLocks noRot="1" noChangeAspect="1" noMove="1" noResize="1" noEditPoints="1" noAdjustHandles="1" noChangeArrowheads="1" noChangeShapeType="1" noTextEdit="1"/>
              </p:cNvSpPr>
              <p:nvPr/>
            </p:nvSpPr>
            <p:spPr>
              <a:xfrm>
                <a:off x="3409790" y="3685555"/>
                <a:ext cx="3265813" cy="830997"/>
              </a:xfrm>
              <a:prstGeom prst="rect">
                <a:avLst/>
              </a:prstGeom>
              <a:blipFill>
                <a:blip r:embed="rId9"/>
                <a:stretch>
                  <a:fillRect t="-7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3586493" y="8311333"/>
                <a:ext cx="383310"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oMath>
                </a14:m>
                <a:r>
                  <a:rPr lang="en-GB" sz="1200" noProof="0" dirty="0"/>
                  <a:t> =</a:t>
                </a:r>
              </a:p>
            </p:txBody>
          </p:sp>
        </mc:Choice>
        <mc:Fallback xmlns="">
          <p:sp>
            <p:nvSpPr>
              <p:cNvPr id="27" name="TextBox 26"/>
              <p:cNvSpPr txBox="1">
                <a:spLocks noRot="1" noChangeAspect="1" noMove="1" noResize="1" noEditPoints="1" noAdjustHandles="1" noChangeArrowheads="1" noChangeShapeType="1" noTextEdit="1"/>
              </p:cNvSpPr>
              <p:nvPr/>
            </p:nvSpPr>
            <p:spPr>
              <a:xfrm>
                <a:off x="3586493" y="8311333"/>
                <a:ext cx="383310" cy="276999"/>
              </a:xfrm>
              <a:prstGeom prst="rect">
                <a:avLst/>
              </a:prstGeom>
              <a:blipFill>
                <a:blip r:embed="rId10"/>
                <a:stretch>
                  <a:fillRect b="-15217"/>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16B1ECA1-094F-FE4A-8AFE-E48C67064BBB}"/>
              </a:ext>
            </a:extLst>
          </p:cNvPr>
          <p:cNvSpPr/>
          <p:nvPr/>
        </p:nvSpPr>
        <p:spPr>
          <a:xfrm>
            <a:off x="3978459" y="8301546"/>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29" name="Rectangle 28">
            <a:extLst>
              <a:ext uri="{FF2B5EF4-FFF2-40B4-BE49-F238E27FC236}">
                <a16:creationId xmlns:a16="http://schemas.microsoft.com/office/drawing/2014/main" id="{16B1ECA1-094F-FE4A-8AFE-E48C67064BBB}"/>
              </a:ext>
            </a:extLst>
          </p:cNvPr>
          <p:cNvSpPr/>
          <p:nvPr/>
        </p:nvSpPr>
        <p:spPr>
          <a:xfrm>
            <a:off x="3978459" y="8675324"/>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30" name="TextBox 29"/>
              <p:cNvSpPr txBox="1"/>
              <p:nvPr/>
            </p:nvSpPr>
            <p:spPr>
              <a:xfrm>
                <a:off x="3586493" y="8675183"/>
                <a:ext cx="386068"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𝑦</m:t>
                    </m:r>
                  </m:oMath>
                </a14:m>
                <a:r>
                  <a:rPr lang="en-GB" sz="1200" noProof="0" dirty="0"/>
                  <a:t> =</a:t>
                </a:r>
              </a:p>
            </p:txBody>
          </p:sp>
        </mc:Choice>
        <mc:Fallback xmlns="">
          <p:sp>
            <p:nvSpPr>
              <p:cNvPr id="30" name="TextBox 29"/>
              <p:cNvSpPr txBox="1">
                <a:spLocks noRot="1" noChangeAspect="1" noMove="1" noResize="1" noEditPoints="1" noAdjustHandles="1" noChangeArrowheads="1" noChangeShapeType="1" noTextEdit="1"/>
              </p:cNvSpPr>
              <p:nvPr/>
            </p:nvSpPr>
            <p:spPr>
              <a:xfrm>
                <a:off x="3586493" y="8675183"/>
                <a:ext cx="386068" cy="276999"/>
              </a:xfrm>
              <a:prstGeom prst="rect">
                <a:avLst/>
              </a:prstGeom>
              <a:blipFill>
                <a:blip r:embed="rId11"/>
                <a:stretch>
                  <a:fillRect b="-15217"/>
                </a:stretch>
              </a:blipFill>
            </p:spPr>
            <p:txBody>
              <a:bodyPr/>
              <a:lstStyle/>
              <a:p>
                <a:r>
                  <a:rPr lang="en-US">
                    <a:noFill/>
                  </a:rPr>
                  <a:t> </a:t>
                </a:r>
              </a:p>
            </p:txBody>
          </p:sp>
        </mc:Fallback>
      </mc:AlternateContent>
      <p:pic>
        <p:nvPicPr>
          <p:cNvPr id="10" name="Picture 9"/>
          <p:cNvPicPr>
            <a:picLocks noChangeAspect="1"/>
          </p:cNvPicPr>
          <p:nvPr/>
        </p:nvPicPr>
        <p:blipFill>
          <a:blip r:embed="rId12"/>
          <a:stretch>
            <a:fillRect/>
          </a:stretch>
        </p:blipFill>
        <p:spPr>
          <a:xfrm>
            <a:off x="265733" y="1146659"/>
            <a:ext cx="3007769" cy="2077948"/>
          </a:xfrm>
          <a:prstGeom prst="rect">
            <a:avLst/>
          </a:prstGeom>
        </p:spPr>
      </p:pic>
      <p:pic>
        <p:nvPicPr>
          <p:cNvPr id="12" name="Picture 11"/>
          <p:cNvPicPr>
            <a:picLocks noChangeAspect="1"/>
          </p:cNvPicPr>
          <p:nvPr/>
        </p:nvPicPr>
        <p:blipFill>
          <a:blip r:embed="rId13"/>
          <a:stretch>
            <a:fillRect/>
          </a:stretch>
        </p:blipFill>
        <p:spPr>
          <a:xfrm>
            <a:off x="3586493" y="1176213"/>
            <a:ext cx="3117255" cy="2187547"/>
          </a:xfrm>
          <a:prstGeom prst="rect">
            <a:avLst/>
          </a:prstGeom>
        </p:spPr>
      </p:pic>
    </p:spTree>
    <p:extLst>
      <p:ext uri="{BB962C8B-B14F-4D97-AF65-F5344CB8AC3E}">
        <p14:creationId xmlns:p14="http://schemas.microsoft.com/office/powerpoint/2010/main" val="2535812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42660" y="9533681"/>
            <a:ext cx="1543050" cy="527403"/>
          </a:xfrm>
        </p:spPr>
        <p:txBody>
          <a:bodyPr/>
          <a:lstStyle/>
          <a:p>
            <a:fld id="{19F1D9CC-7119-45EC-A96C-D8C0660F3AAB}" type="slidenum">
              <a:rPr lang="en-GB" noProof="0" smtClean="0"/>
              <a:t>28</a:t>
            </a:fld>
            <a:endParaRPr lang="en-GB" noProof="0" dirty="0"/>
          </a:p>
        </p:txBody>
      </p:sp>
      <p:pic>
        <p:nvPicPr>
          <p:cNvPr id="4" name="Picture 3"/>
          <p:cNvPicPr>
            <a:picLocks noChangeAspect="1"/>
          </p:cNvPicPr>
          <p:nvPr/>
        </p:nvPicPr>
        <p:blipFill>
          <a:blip r:embed="rId2"/>
          <a:stretch>
            <a:fillRect/>
          </a:stretch>
        </p:blipFill>
        <p:spPr>
          <a:xfrm>
            <a:off x="913170" y="575483"/>
            <a:ext cx="2419558" cy="2303080"/>
          </a:xfrm>
          <a:prstGeom prst="rect">
            <a:avLst/>
          </a:prstGeom>
        </p:spPr>
      </p:pic>
      <p:sp>
        <p:nvSpPr>
          <p:cNvPr id="5" name="TextBox 4"/>
          <p:cNvSpPr txBox="1"/>
          <p:nvPr/>
        </p:nvSpPr>
        <p:spPr>
          <a:xfrm>
            <a:off x="1851490" y="0"/>
            <a:ext cx="3152273" cy="276999"/>
          </a:xfrm>
          <a:prstGeom prst="rect">
            <a:avLst/>
          </a:prstGeom>
          <a:noFill/>
        </p:spPr>
        <p:txBody>
          <a:bodyPr wrap="none" rtlCol="0">
            <a:spAutoFit/>
          </a:bodyPr>
          <a:lstStyle/>
          <a:p>
            <a:r>
              <a:rPr lang="en-GB" sz="1200" noProof="0" dirty="0"/>
              <a:t>1) Solve the simultaneous equations graphically</a:t>
            </a:r>
          </a:p>
        </p:txBody>
      </p:sp>
      <p:sp>
        <p:nvSpPr>
          <p:cNvPr id="6" name="Rectangle 5">
            <a:extLst>
              <a:ext uri="{FF2B5EF4-FFF2-40B4-BE49-F238E27FC236}">
                <a16:creationId xmlns:a16="http://schemas.microsoft.com/office/drawing/2014/main" id="{98D6CC47-5E02-5040-8389-C36B03A95D91}"/>
              </a:ext>
            </a:extLst>
          </p:cNvPr>
          <p:cNvSpPr/>
          <p:nvPr/>
        </p:nvSpPr>
        <p:spPr>
          <a:xfrm>
            <a:off x="66915" y="329388"/>
            <a:ext cx="3265813" cy="348419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mc:AlternateContent xmlns:mc="http://schemas.openxmlformats.org/markup-compatibility/2006" xmlns:a14="http://schemas.microsoft.com/office/drawing/2010/main">
        <mc:Choice Requires="a14">
          <p:sp>
            <p:nvSpPr>
              <p:cNvPr id="7" name="TextBox 6"/>
              <p:cNvSpPr txBox="1"/>
              <p:nvPr/>
            </p:nvSpPr>
            <p:spPr>
              <a:xfrm>
                <a:off x="1827607" y="2984982"/>
                <a:ext cx="383310"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oMath>
                </a14:m>
                <a:r>
                  <a:rPr lang="en-GB" sz="1200" noProof="0" dirty="0"/>
                  <a:t> =</a:t>
                </a:r>
              </a:p>
            </p:txBody>
          </p:sp>
        </mc:Choice>
        <mc:Fallback xmlns="">
          <p:sp>
            <p:nvSpPr>
              <p:cNvPr id="7" name="TextBox 6"/>
              <p:cNvSpPr txBox="1">
                <a:spLocks noRot="1" noChangeAspect="1" noMove="1" noResize="1" noEditPoints="1" noAdjustHandles="1" noChangeArrowheads="1" noChangeShapeType="1" noTextEdit="1"/>
              </p:cNvSpPr>
              <p:nvPr/>
            </p:nvSpPr>
            <p:spPr>
              <a:xfrm>
                <a:off x="1827607" y="2984982"/>
                <a:ext cx="383310" cy="276999"/>
              </a:xfrm>
              <a:prstGeom prst="rect">
                <a:avLst/>
              </a:prstGeom>
              <a:blipFill>
                <a:blip r:embed="rId3"/>
                <a:stretch>
                  <a:fillRect t="-2222" b="-17778"/>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16B1ECA1-094F-FE4A-8AFE-E48C67064BBB}"/>
              </a:ext>
            </a:extLst>
          </p:cNvPr>
          <p:cNvSpPr/>
          <p:nvPr/>
        </p:nvSpPr>
        <p:spPr>
          <a:xfrm>
            <a:off x="2219573" y="2975195"/>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9" name="Rectangle 8">
            <a:extLst>
              <a:ext uri="{FF2B5EF4-FFF2-40B4-BE49-F238E27FC236}">
                <a16:creationId xmlns:a16="http://schemas.microsoft.com/office/drawing/2014/main" id="{16B1ECA1-094F-FE4A-8AFE-E48C67064BBB}"/>
              </a:ext>
            </a:extLst>
          </p:cNvPr>
          <p:cNvSpPr/>
          <p:nvPr/>
        </p:nvSpPr>
        <p:spPr>
          <a:xfrm>
            <a:off x="2219573" y="3348973"/>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10" name="TextBox 9"/>
              <p:cNvSpPr txBox="1"/>
              <p:nvPr/>
            </p:nvSpPr>
            <p:spPr>
              <a:xfrm>
                <a:off x="1827607" y="3348832"/>
                <a:ext cx="386068"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𝑦</m:t>
                    </m:r>
                  </m:oMath>
                </a14:m>
                <a:r>
                  <a:rPr lang="en-GB" sz="1200" noProof="0" dirty="0"/>
                  <a:t> =</a:t>
                </a:r>
              </a:p>
            </p:txBody>
          </p:sp>
        </mc:Choice>
        <mc:Fallback xmlns="">
          <p:sp>
            <p:nvSpPr>
              <p:cNvPr id="10" name="TextBox 9"/>
              <p:cNvSpPr txBox="1">
                <a:spLocks noRot="1" noChangeAspect="1" noMove="1" noResize="1" noEditPoints="1" noAdjustHandles="1" noChangeArrowheads="1" noChangeShapeType="1" noTextEdit="1"/>
              </p:cNvSpPr>
              <p:nvPr/>
            </p:nvSpPr>
            <p:spPr>
              <a:xfrm>
                <a:off x="1827607" y="3348832"/>
                <a:ext cx="386068" cy="276999"/>
              </a:xfrm>
              <a:prstGeom prst="rect">
                <a:avLst/>
              </a:prstGeom>
              <a:blipFill>
                <a:blip r:embed="rId4"/>
                <a:stretch>
                  <a:fillRect b="-15217"/>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98D6CC47-5E02-5040-8389-C36B03A95D91}"/>
              </a:ext>
            </a:extLst>
          </p:cNvPr>
          <p:cNvSpPr/>
          <p:nvPr/>
        </p:nvSpPr>
        <p:spPr>
          <a:xfrm>
            <a:off x="3504757" y="329388"/>
            <a:ext cx="3265813" cy="348419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mc:AlternateContent xmlns:mc="http://schemas.openxmlformats.org/markup-compatibility/2006" xmlns:a14="http://schemas.microsoft.com/office/drawing/2010/main">
        <mc:Choice Requires="a14">
          <p:sp>
            <p:nvSpPr>
              <p:cNvPr id="13" name="TextBox 12"/>
              <p:cNvSpPr txBox="1"/>
              <p:nvPr/>
            </p:nvSpPr>
            <p:spPr>
              <a:xfrm>
                <a:off x="5265449" y="2984982"/>
                <a:ext cx="383310"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oMath>
                </a14:m>
                <a:r>
                  <a:rPr lang="en-GB" sz="1200" noProof="0" dirty="0"/>
                  <a:t> =</a:t>
                </a:r>
              </a:p>
            </p:txBody>
          </p:sp>
        </mc:Choice>
        <mc:Fallback xmlns="">
          <p:sp>
            <p:nvSpPr>
              <p:cNvPr id="13" name="TextBox 12"/>
              <p:cNvSpPr txBox="1">
                <a:spLocks noRot="1" noChangeAspect="1" noMove="1" noResize="1" noEditPoints="1" noAdjustHandles="1" noChangeArrowheads="1" noChangeShapeType="1" noTextEdit="1"/>
              </p:cNvSpPr>
              <p:nvPr/>
            </p:nvSpPr>
            <p:spPr>
              <a:xfrm>
                <a:off x="5265449" y="2984982"/>
                <a:ext cx="383310" cy="276999"/>
              </a:xfrm>
              <a:prstGeom prst="rect">
                <a:avLst/>
              </a:prstGeom>
              <a:blipFill>
                <a:blip r:embed="rId3"/>
                <a:stretch>
                  <a:fillRect t="-2222" b="-17778"/>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16B1ECA1-094F-FE4A-8AFE-E48C67064BBB}"/>
              </a:ext>
            </a:extLst>
          </p:cNvPr>
          <p:cNvSpPr/>
          <p:nvPr/>
        </p:nvSpPr>
        <p:spPr>
          <a:xfrm>
            <a:off x="5657415" y="2975195"/>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5" name="Rectangle 14">
            <a:extLst>
              <a:ext uri="{FF2B5EF4-FFF2-40B4-BE49-F238E27FC236}">
                <a16:creationId xmlns:a16="http://schemas.microsoft.com/office/drawing/2014/main" id="{16B1ECA1-094F-FE4A-8AFE-E48C67064BBB}"/>
              </a:ext>
            </a:extLst>
          </p:cNvPr>
          <p:cNvSpPr/>
          <p:nvPr/>
        </p:nvSpPr>
        <p:spPr>
          <a:xfrm>
            <a:off x="5657415" y="3348973"/>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16" name="TextBox 15"/>
              <p:cNvSpPr txBox="1"/>
              <p:nvPr/>
            </p:nvSpPr>
            <p:spPr>
              <a:xfrm>
                <a:off x="5265449" y="3348832"/>
                <a:ext cx="386068"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𝑦</m:t>
                    </m:r>
                  </m:oMath>
                </a14:m>
                <a:r>
                  <a:rPr lang="en-GB" sz="1200" noProof="0" dirty="0"/>
                  <a:t> =</a:t>
                </a:r>
              </a:p>
            </p:txBody>
          </p:sp>
        </mc:Choice>
        <mc:Fallback xmlns="">
          <p:sp>
            <p:nvSpPr>
              <p:cNvPr id="16" name="TextBox 15"/>
              <p:cNvSpPr txBox="1">
                <a:spLocks noRot="1" noChangeAspect="1" noMove="1" noResize="1" noEditPoints="1" noAdjustHandles="1" noChangeArrowheads="1" noChangeShapeType="1" noTextEdit="1"/>
              </p:cNvSpPr>
              <p:nvPr/>
            </p:nvSpPr>
            <p:spPr>
              <a:xfrm>
                <a:off x="5265449" y="3348832"/>
                <a:ext cx="386068" cy="276999"/>
              </a:xfrm>
              <a:prstGeom prst="rect">
                <a:avLst/>
              </a:prstGeom>
              <a:blipFill>
                <a:blip r:embed="rId4"/>
                <a:stretch>
                  <a:fillRect b="-15217"/>
                </a:stretch>
              </a:blipFill>
            </p:spPr>
            <p:txBody>
              <a:bodyPr/>
              <a:lstStyle/>
              <a:p>
                <a:r>
                  <a:rPr lang="en-US">
                    <a:noFill/>
                  </a:rPr>
                  <a:t> </a:t>
                </a:r>
              </a:p>
            </p:txBody>
          </p:sp>
        </mc:Fallback>
      </mc:AlternateContent>
      <p:pic>
        <p:nvPicPr>
          <p:cNvPr id="17" name="Picture 16"/>
          <p:cNvPicPr>
            <a:picLocks noChangeAspect="1"/>
          </p:cNvPicPr>
          <p:nvPr/>
        </p:nvPicPr>
        <p:blipFill>
          <a:blip r:embed="rId5"/>
          <a:stretch>
            <a:fillRect/>
          </a:stretch>
        </p:blipFill>
        <p:spPr>
          <a:xfrm>
            <a:off x="3578498" y="575483"/>
            <a:ext cx="3086491" cy="2238013"/>
          </a:xfrm>
          <a:prstGeom prst="rect">
            <a:avLst/>
          </a:prstGeom>
        </p:spPr>
      </p:pic>
      <p:sp>
        <p:nvSpPr>
          <p:cNvPr id="18" name="TextBox 17"/>
          <p:cNvSpPr txBox="1"/>
          <p:nvPr/>
        </p:nvSpPr>
        <p:spPr>
          <a:xfrm>
            <a:off x="230039" y="575483"/>
            <a:ext cx="304892" cy="276999"/>
          </a:xfrm>
          <a:prstGeom prst="rect">
            <a:avLst/>
          </a:prstGeom>
          <a:noFill/>
        </p:spPr>
        <p:txBody>
          <a:bodyPr wrap="none" rtlCol="0">
            <a:spAutoFit/>
          </a:bodyPr>
          <a:lstStyle/>
          <a:p>
            <a:r>
              <a:rPr lang="en-GB" sz="1200" noProof="0" dirty="0"/>
              <a:t>a)</a:t>
            </a:r>
          </a:p>
        </p:txBody>
      </p:sp>
      <p:sp>
        <p:nvSpPr>
          <p:cNvPr id="19" name="TextBox 18"/>
          <p:cNvSpPr txBox="1"/>
          <p:nvPr/>
        </p:nvSpPr>
        <p:spPr>
          <a:xfrm>
            <a:off x="3587295" y="575482"/>
            <a:ext cx="311304" cy="276999"/>
          </a:xfrm>
          <a:prstGeom prst="rect">
            <a:avLst/>
          </a:prstGeom>
          <a:noFill/>
        </p:spPr>
        <p:txBody>
          <a:bodyPr wrap="none" rtlCol="0">
            <a:spAutoFit/>
          </a:bodyPr>
          <a:lstStyle/>
          <a:p>
            <a:r>
              <a:rPr lang="en-GB" sz="1200" noProof="0" dirty="0"/>
              <a:t>b)</a:t>
            </a:r>
          </a:p>
        </p:txBody>
      </p:sp>
      <p:sp>
        <p:nvSpPr>
          <p:cNvPr id="21" name="Rectangle 20">
            <a:extLst>
              <a:ext uri="{FF2B5EF4-FFF2-40B4-BE49-F238E27FC236}">
                <a16:creationId xmlns:a16="http://schemas.microsoft.com/office/drawing/2014/main" id="{98D6CC47-5E02-5040-8389-C36B03A95D91}"/>
              </a:ext>
            </a:extLst>
          </p:cNvPr>
          <p:cNvSpPr/>
          <p:nvPr/>
        </p:nvSpPr>
        <p:spPr>
          <a:xfrm>
            <a:off x="66915" y="3975277"/>
            <a:ext cx="3265813" cy="348740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mc:AlternateContent xmlns:mc="http://schemas.openxmlformats.org/markup-compatibility/2006" xmlns:a14="http://schemas.microsoft.com/office/drawing/2010/main">
        <mc:Choice Requires="a14">
          <p:sp>
            <p:nvSpPr>
              <p:cNvPr id="22" name="TextBox 21"/>
              <p:cNvSpPr txBox="1"/>
              <p:nvPr/>
            </p:nvSpPr>
            <p:spPr>
              <a:xfrm>
                <a:off x="1871851" y="6689864"/>
                <a:ext cx="383310"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oMath>
                </a14:m>
                <a:r>
                  <a:rPr lang="en-GB" sz="1200" noProof="0" dirty="0"/>
                  <a:t> =</a:t>
                </a:r>
              </a:p>
            </p:txBody>
          </p:sp>
        </mc:Choice>
        <mc:Fallback xmlns="">
          <p:sp>
            <p:nvSpPr>
              <p:cNvPr id="22" name="TextBox 21"/>
              <p:cNvSpPr txBox="1">
                <a:spLocks noRot="1" noChangeAspect="1" noMove="1" noResize="1" noEditPoints="1" noAdjustHandles="1" noChangeArrowheads="1" noChangeShapeType="1" noTextEdit="1"/>
              </p:cNvSpPr>
              <p:nvPr/>
            </p:nvSpPr>
            <p:spPr>
              <a:xfrm>
                <a:off x="1871851" y="6689864"/>
                <a:ext cx="383310" cy="276999"/>
              </a:xfrm>
              <a:prstGeom prst="rect">
                <a:avLst/>
              </a:prstGeom>
              <a:blipFill>
                <a:blip r:embed="rId6"/>
                <a:stretch>
                  <a:fillRect b="-15217"/>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16B1ECA1-094F-FE4A-8AFE-E48C67064BBB}"/>
              </a:ext>
            </a:extLst>
          </p:cNvPr>
          <p:cNvSpPr/>
          <p:nvPr/>
        </p:nvSpPr>
        <p:spPr>
          <a:xfrm>
            <a:off x="2263817" y="6680077"/>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24" name="Rectangle 23">
            <a:extLst>
              <a:ext uri="{FF2B5EF4-FFF2-40B4-BE49-F238E27FC236}">
                <a16:creationId xmlns:a16="http://schemas.microsoft.com/office/drawing/2014/main" id="{16B1ECA1-094F-FE4A-8AFE-E48C67064BBB}"/>
              </a:ext>
            </a:extLst>
          </p:cNvPr>
          <p:cNvSpPr/>
          <p:nvPr/>
        </p:nvSpPr>
        <p:spPr>
          <a:xfrm>
            <a:off x="2263817" y="7053855"/>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25" name="TextBox 24"/>
              <p:cNvSpPr txBox="1"/>
              <p:nvPr/>
            </p:nvSpPr>
            <p:spPr>
              <a:xfrm>
                <a:off x="1871851" y="7053714"/>
                <a:ext cx="386068"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𝑦</m:t>
                    </m:r>
                  </m:oMath>
                </a14:m>
                <a:r>
                  <a:rPr lang="en-GB" sz="1200" noProof="0" dirty="0"/>
                  <a:t> =</a:t>
                </a:r>
              </a:p>
            </p:txBody>
          </p:sp>
        </mc:Choice>
        <mc:Fallback xmlns="">
          <p:sp>
            <p:nvSpPr>
              <p:cNvPr id="25" name="TextBox 24"/>
              <p:cNvSpPr txBox="1">
                <a:spLocks noRot="1" noChangeAspect="1" noMove="1" noResize="1" noEditPoints="1" noAdjustHandles="1" noChangeArrowheads="1" noChangeShapeType="1" noTextEdit="1"/>
              </p:cNvSpPr>
              <p:nvPr/>
            </p:nvSpPr>
            <p:spPr>
              <a:xfrm>
                <a:off x="1871851" y="7053714"/>
                <a:ext cx="386068" cy="276999"/>
              </a:xfrm>
              <a:prstGeom prst="rect">
                <a:avLst/>
              </a:prstGeom>
              <a:blipFill>
                <a:blip r:embed="rId4"/>
                <a:stretch>
                  <a:fillRect b="-15217"/>
                </a:stretch>
              </a:blipFill>
            </p:spPr>
            <p:txBody>
              <a:bodyPr/>
              <a:lstStyle/>
              <a:p>
                <a:r>
                  <a:rPr lang="en-US">
                    <a:noFill/>
                  </a:rPr>
                  <a:t> </a:t>
                </a:r>
              </a:p>
            </p:txBody>
          </p:sp>
        </mc:Fallback>
      </mc:AlternateContent>
      <p:sp>
        <p:nvSpPr>
          <p:cNvPr id="26" name="Rectangle 25">
            <a:extLst>
              <a:ext uri="{FF2B5EF4-FFF2-40B4-BE49-F238E27FC236}">
                <a16:creationId xmlns:a16="http://schemas.microsoft.com/office/drawing/2014/main" id="{98D6CC47-5E02-5040-8389-C36B03A95D91}"/>
              </a:ext>
            </a:extLst>
          </p:cNvPr>
          <p:cNvSpPr/>
          <p:nvPr/>
        </p:nvSpPr>
        <p:spPr>
          <a:xfrm>
            <a:off x="3504757" y="3975277"/>
            <a:ext cx="3265813" cy="348740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mc:AlternateContent xmlns:mc="http://schemas.openxmlformats.org/markup-compatibility/2006" xmlns:a14="http://schemas.microsoft.com/office/drawing/2010/main">
        <mc:Choice Requires="a14">
          <p:sp>
            <p:nvSpPr>
              <p:cNvPr id="27" name="TextBox 26"/>
              <p:cNvSpPr txBox="1"/>
              <p:nvPr/>
            </p:nvSpPr>
            <p:spPr>
              <a:xfrm>
                <a:off x="5309693" y="6689864"/>
                <a:ext cx="383310"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oMath>
                </a14:m>
                <a:r>
                  <a:rPr lang="en-GB" sz="1200" noProof="0" dirty="0"/>
                  <a:t> =</a:t>
                </a:r>
              </a:p>
            </p:txBody>
          </p:sp>
        </mc:Choice>
        <mc:Fallback xmlns="">
          <p:sp>
            <p:nvSpPr>
              <p:cNvPr id="27" name="TextBox 26"/>
              <p:cNvSpPr txBox="1">
                <a:spLocks noRot="1" noChangeAspect="1" noMove="1" noResize="1" noEditPoints="1" noAdjustHandles="1" noChangeArrowheads="1" noChangeShapeType="1" noTextEdit="1"/>
              </p:cNvSpPr>
              <p:nvPr/>
            </p:nvSpPr>
            <p:spPr>
              <a:xfrm>
                <a:off x="5309693" y="6689864"/>
                <a:ext cx="383310" cy="276999"/>
              </a:xfrm>
              <a:prstGeom prst="rect">
                <a:avLst/>
              </a:prstGeom>
              <a:blipFill>
                <a:blip r:embed="rId6"/>
                <a:stretch>
                  <a:fillRect b="-15217"/>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16B1ECA1-094F-FE4A-8AFE-E48C67064BBB}"/>
              </a:ext>
            </a:extLst>
          </p:cNvPr>
          <p:cNvSpPr/>
          <p:nvPr/>
        </p:nvSpPr>
        <p:spPr>
          <a:xfrm>
            <a:off x="5701659" y="6680077"/>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29" name="Rectangle 28">
            <a:extLst>
              <a:ext uri="{FF2B5EF4-FFF2-40B4-BE49-F238E27FC236}">
                <a16:creationId xmlns:a16="http://schemas.microsoft.com/office/drawing/2014/main" id="{16B1ECA1-094F-FE4A-8AFE-E48C67064BBB}"/>
              </a:ext>
            </a:extLst>
          </p:cNvPr>
          <p:cNvSpPr/>
          <p:nvPr/>
        </p:nvSpPr>
        <p:spPr>
          <a:xfrm>
            <a:off x="5701659" y="7053855"/>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30" name="TextBox 29"/>
              <p:cNvSpPr txBox="1"/>
              <p:nvPr/>
            </p:nvSpPr>
            <p:spPr>
              <a:xfrm>
                <a:off x="5309693" y="7053714"/>
                <a:ext cx="386068"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𝑦</m:t>
                    </m:r>
                  </m:oMath>
                </a14:m>
                <a:r>
                  <a:rPr lang="en-GB" sz="1200" noProof="0" dirty="0"/>
                  <a:t> =</a:t>
                </a:r>
              </a:p>
            </p:txBody>
          </p:sp>
        </mc:Choice>
        <mc:Fallback xmlns="">
          <p:sp>
            <p:nvSpPr>
              <p:cNvPr id="30" name="TextBox 29"/>
              <p:cNvSpPr txBox="1">
                <a:spLocks noRot="1" noChangeAspect="1" noMove="1" noResize="1" noEditPoints="1" noAdjustHandles="1" noChangeArrowheads="1" noChangeShapeType="1" noTextEdit="1"/>
              </p:cNvSpPr>
              <p:nvPr/>
            </p:nvSpPr>
            <p:spPr>
              <a:xfrm>
                <a:off x="5309693" y="7053714"/>
                <a:ext cx="386068" cy="276999"/>
              </a:xfrm>
              <a:prstGeom prst="rect">
                <a:avLst/>
              </a:prstGeom>
              <a:blipFill>
                <a:blip r:embed="rId4"/>
                <a:stretch>
                  <a:fillRect b="-15217"/>
                </a:stretch>
              </a:blipFill>
            </p:spPr>
            <p:txBody>
              <a:bodyPr/>
              <a:lstStyle/>
              <a:p>
                <a:r>
                  <a:rPr lang="en-US">
                    <a:noFill/>
                  </a:rPr>
                  <a:t> </a:t>
                </a:r>
              </a:p>
            </p:txBody>
          </p:sp>
        </mc:Fallback>
      </mc:AlternateContent>
      <p:sp>
        <p:nvSpPr>
          <p:cNvPr id="32" name="TextBox 31"/>
          <p:cNvSpPr txBox="1"/>
          <p:nvPr/>
        </p:nvSpPr>
        <p:spPr>
          <a:xfrm>
            <a:off x="230039" y="4093358"/>
            <a:ext cx="296876" cy="276999"/>
          </a:xfrm>
          <a:prstGeom prst="rect">
            <a:avLst/>
          </a:prstGeom>
          <a:noFill/>
        </p:spPr>
        <p:txBody>
          <a:bodyPr wrap="none" rtlCol="0">
            <a:spAutoFit/>
          </a:bodyPr>
          <a:lstStyle/>
          <a:p>
            <a:r>
              <a:rPr lang="en-GB" sz="1200" noProof="0" dirty="0"/>
              <a:t>c)</a:t>
            </a:r>
          </a:p>
        </p:txBody>
      </p:sp>
      <p:sp>
        <p:nvSpPr>
          <p:cNvPr id="33" name="TextBox 32"/>
          <p:cNvSpPr txBox="1"/>
          <p:nvPr/>
        </p:nvSpPr>
        <p:spPr>
          <a:xfrm>
            <a:off x="3587295" y="4132883"/>
            <a:ext cx="311304" cy="276999"/>
          </a:xfrm>
          <a:prstGeom prst="rect">
            <a:avLst/>
          </a:prstGeom>
          <a:noFill/>
        </p:spPr>
        <p:txBody>
          <a:bodyPr wrap="none" rtlCol="0">
            <a:spAutoFit/>
          </a:bodyPr>
          <a:lstStyle/>
          <a:p>
            <a:r>
              <a:rPr lang="en-GB" sz="1200" noProof="0" dirty="0"/>
              <a:t>d)</a:t>
            </a:r>
          </a:p>
        </p:txBody>
      </p:sp>
      <p:pic>
        <p:nvPicPr>
          <p:cNvPr id="34" name="Picture 33"/>
          <p:cNvPicPr>
            <a:picLocks noChangeAspect="1"/>
          </p:cNvPicPr>
          <p:nvPr/>
        </p:nvPicPr>
        <p:blipFill rotWithShape="1">
          <a:blip r:embed="rId7"/>
          <a:srcRect r="7973"/>
          <a:stretch/>
        </p:blipFill>
        <p:spPr>
          <a:xfrm>
            <a:off x="443338" y="4074058"/>
            <a:ext cx="2712818" cy="2585939"/>
          </a:xfrm>
          <a:prstGeom prst="rect">
            <a:avLst/>
          </a:prstGeom>
        </p:spPr>
      </p:pic>
      <p:pic>
        <p:nvPicPr>
          <p:cNvPr id="35" name="Picture 34"/>
          <p:cNvPicPr>
            <a:picLocks noChangeAspect="1"/>
          </p:cNvPicPr>
          <p:nvPr/>
        </p:nvPicPr>
        <p:blipFill>
          <a:blip r:embed="rId8"/>
          <a:stretch>
            <a:fillRect/>
          </a:stretch>
        </p:blipFill>
        <p:spPr>
          <a:xfrm>
            <a:off x="3896995" y="4132883"/>
            <a:ext cx="2326825" cy="2489453"/>
          </a:xfrm>
          <a:prstGeom prst="rect">
            <a:avLst/>
          </a:prstGeom>
        </p:spPr>
      </p:pic>
      <p:sp>
        <p:nvSpPr>
          <p:cNvPr id="37" name="Rectangle 36">
            <a:extLst>
              <a:ext uri="{FF2B5EF4-FFF2-40B4-BE49-F238E27FC236}">
                <a16:creationId xmlns:a16="http://schemas.microsoft.com/office/drawing/2014/main" id="{98D6CC47-5E02-5040-8389-C36B03A95D91}"/>
              </a:ext>
            </a:extLst>
          </p:cNvPr>
          <p:cNvSpPr/>
          <p:nvPr/>
        </p:nvSpPr>
        <p:spPr>
          <a:xfrm>
            <a:off x="72321" y="7620290"/>
            <a:ext cx="6698249" cy="205097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p:sp>
        <p:nvSpPr>
          <p:cNvPr id="38" name="TextBox 37"/>
          <p:cNvSpPr txBox="1"/>
          <p:nvPr/>
        </p:nvSpPr>
        <p:spPr>
          <a:xfrm>
            <a:off x="141394" y="7666317"/>
            <a:ext cx="308098" cy="276999"/>
          </a:xfrm>
          <a:prstGeom prst="rect">
            <a:avLst/>
          </a:prstGeom>
          <a:noFill/>
        </p:spPr>
        <p:txBody>
          <a:bodyPr wrap="none" rtlCol="0">
            <a:spAutoFit/>
          </a:bodyPr>
          <a:lstStyle/>
          <a:p>
            <a:r>
              <a:rPr lang="en-GB" sz="1200" noProof="0" dirty="0"/>
              <a:t>e)</a:t>
            </a:r>
          </a:p>
        </p:txBody>
      </p:sp>
      <p:pic>
        <p:nvPicPr>
          <p:cNvPr id="41" name="Picture 40"/>
          <p:cNvPicPr>
            <a:picLocks noChangeAspect="1"/>
          </p:cNvPicPr>
          <p:nvPr/>
        </p:nvPicPr>
        <p:blipFill>
          <a:blip r:embed="rId9"/>
          <a:stretch>
            <a:fillRect/>
          </a:stretch>
        </p:blipFill>
        <p:spPr>
          <a:xfrm>
            <a:off x="868926" y="7814018"/>
            <a:ext cx="2240236" cy="1708769"/>
          </a:xfrm>
          <a:prstGeom prst="rect">
            <a:avLst/>
          </a:prstGeom>
        </p:spPr>
      </p:pic>
      <mc:AlternateContent xmlns:mc="http://schemas.openxmlformats.org/markup-compatibility/2006" xmlns:a14="http://schemas.microsoft.com/office/drawing/2010/main">
        <mc:Choice Requires="a14">
          <p:sp>
            <p:nvSpPr>
              <p:cNvPr id="42" name="TextBox 41"/>
              <p:cNvSpPr txBox="1"/>
              <p:nvPr/>
            </p:nvSpPr>
            <p:spPr>
              <a:xfrm>
                <a:off x="5301037" y="8954100"/>
                <a:ext cx="383310"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oMath>
                </a14:m>
                <a:r>
                  <a:rPr lang="en-GB" sz="1200" noProof="0" dirty="0"/>
                  <a:t> =</a:t>
                </a:r>
              </a:p>
            </p:txBody>
          </p:sp>
        </mc:Choice>
        <mc:Fallback xmlns="">
          <p:sp>
            <p:nvSpPr>
              <p:cNvPr id="42" name="TextBox 41"/>
              <p:cNvSpPr txBox="1">
                <a:spLocks noRot="1" noChangeAspect="1" noMove="1" noResize="1" noEditPoints="1" noAdjustHandles="1" noChangeArrowheads="1" noChangeShapeType="1" noTextEdit="1"/>
              </p:cNvSpPr>
              <p:nvPr/>
            </p:nvSpPr>
            <p:spPr>
              <a:xfrm>
                <a:off x="5301037" y="8954100"/>
                <a:ext cx="383310" cy="276999"/>
              </a:xfrm>
              <a:prstGeom prst="rect">
                <a:avLst/>
              </a:prstGeom>
              <a:blipFill>
                <a:blip r:embed="rId10"/>
                <a:stretch>
                  <a:fillRect t="-2222" b="-17778"/>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16B1ECA1-094F-FE4A-8AFE-E48C67064BBB}"/>
              </a:ext>
            </a:extLst>
          </p:cNvPr>
          <p:cNvSpPr/>
          <p:nvPr/>
        </p:nvSpPr>
        <p:spPr>
          <a:xfrm>
            <a:off x="5693003" y="8944313"/>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44" name="Rectangle 43">
            <a:extLst>
              <a:ext uri="{FF2B5EF4-FFF2-40B4-BE49-F238E27FC236}">
                <a16:creationId xmlns:a16="http://schemas.microsoft.com/office/drawing/2014/main" id="{16B1ECA1-094F-FE4A-8AFE-E48C67064BBB}"/>
              </a:ext>
            </a:extLst>
          </p:cNvPr>
          <p:cNvSpPr/>
          <p:nvPr/>
        </p:nvSpPr>
        <p:spPr>
          <a:xfrm>
            <a:off x="5693003" y="9318091"/>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45" name="TextBox 44"/>
              <p:cNvSpPr txBox="1"/>
              <p:nvPr/>
            </p:nvSpPr>
            <p:spPr>
              <a:xfrm>
                <a:off x="5301037" y="9317950"/>
                <a:ext cx="386068"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𝑦</m:t>
                    </m:r>
                  </m:oMath>
                </a14:m>
                <a:r>
                  <a:rPr lang="en-GB" sz="1200" noProof="0" dirty="0"/>
                  <a:t> =</a:t>
                </a:r>
              </a:p>
            </p:txBody>
          </p:sp>
        </mc:Choice>
        <mc:Fallback xmlns="">
          <p:sp>
            <p:nvSpPr>
              <p:cNvPr id="45" name="TextBox 44"/>
              <p:cNvSpPr txBox="1">
                <a:spLocks noRot="1" noChangeAspect="1" noMove="1" noResize="1" noEditPoints="1" noAdjustHandles="1" noChangeArrowheads="1" noChangeShapeType="1" noTextEdit="1"/>
              </p:cNvSpPr>
              <p:nvPr/>
            </p:nvSpPr>
            <p:spPr>
              <a:xfrm>
                <a:off x="5301037" y="9317950"/>
                <a:ext cx="386068" cy="276999"/>
              </a:xfrm>
              <a:prstGeom prst="rect">
                <a:avLst/>
              </a:prstGeom>
              <a:blipFill>
                <a:blip r:embed="rId11"/>
                <a:stretch>
                  <a:fillRect t="-2222" b="-17778"/>
                </a:stretch>
              </a:blipFill>
            </p:spPr>
            <p:txBody>
              <a:bodyPr/>
              <a:lstStyle/>
              <a:p>
                <a:r>
                  <a:rPr lang="en-US">
                    <a:noFill/>
                  </a:rPr>
                  <a:t> </a:t>
                </a:r>
              </a:p>
            </p:txBody>
          </p:sp>
        </mc:Fallback>
      </mc:AlternateContent>
      <p:sp>
        <p:nvSpPr>
          <p:cNvPr id="46" name="TextBox 45"/>
          <p:cNvSpPr txBox="1"/>
          <p:nvPr/>
        </p:nvSpPr>
        <p:spPr>
          <a:xfrm>
            <a:off x="66915" y="33282"/>
            <a:ext cx="1732782" cy="276999"/>
          </a:xfrm>
          <a:prstGeom prst="rect">
            <a:avLst/>
          </a:prstGeom>
          <a:solidFill>
            <a:srgbClr val="0070C0"/>
          </a:solidFill>
          <a:ln w="19050">
            <a:solidFill>
              <a:schemeClr val="tx1"/>
            </a:solidFill>
          </a:ln>
        </p:spPr>
        <p:txBody>
          <a:bodyPr wrap="none" rtlCol="0">
            <a:spAutoFit/>
          </a:bodyPr>
          <a:lstStyle/>
          <a:p>
            <a:r>
              <a:rPr lang="en-GB" sz="1200" noProof="0" dirty="0">
                <a:solidFill>
                  <a:schemeClr val="bg1"/>
                </a:solidFill>
              </a:rPr>
              <a:t>INDEPENDENT PRACTICE</a:t>
            </a:r>
          </a:p>
        </p:txBody>
      </p:sp>
    </p:spTree>
    <p:extLst>
      <p:ext uri="{BB962C8B-B14F-4D97-AF65-F5344CB8AC3E}">
        <p14:creationId xmlns:p14="http://schemas.microsoft.com/office/powerpoint/2010/main" val="38008183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276789" y="9403131"/>
            <a:ext cx="1543050" cy="527403"/>
          </a:xfrm>
        </p:spPr>
        <p:txBody>
          <a:bodyPr/>
          <a:lstStyle/>
          <a:p>
            <a:fld id="{19F1D9CC-7119-45EC-A96C-D8C0660F3AAB}" type="slidenum">
              <a:rPr lang="en-GB" noProof="0" smtClean="0"/>
              <a:t>29</a:t>
            </a:fld>
            <a:endParaRPr lang="en-GB" noProof="0" dirty="0"/>
          </a:p>
        </p:txBody>
      </p:sp>
      <p:sp>
        <p:nvSpPr>
          <p:cNvPr id="3" name="Rectangle 2">
            <a:extLst>
              <a:ext uri="{FF2B5EF4-FFF2-40B4-BE49-F238E27FC236}">
                <a16:creationId xmlns:a16="http://schemas.microsoft.com/office/drawing/2014/main" id="{98D6CC47-5E02-5040-8389-C36B03A95D91}"/>
              </a:ext>
            </a:extLst>
          </p:cNvPr>
          <p:cNvSpPr/>
          <p:nvPr/>
        </p:nvSpPr>
        <p:spPr>
          <a:xfrm>
            <a:off x="122801" y="270389"/>
            <a:ext cx="3265813" cy="92600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p:sp>
        <p:nvSpPr>
          <p:cNvPr id="4" name="TextBox 3">
            <a:extLst>
              <a:ext uri="{FF2B5EF4-FFF2-40B4-BE49-F238E27FC236}">
                <a16:creationId xmlns:a16="http://schemas.microsoft.com/office/drawing/2014/main" id="{1E912342-8EE7-5749-AAB3-11321C962F00}"/>
              </a:ext>
            </a:extLst>
          </p:cNvPr>
          <p:cNvSpPr txBox="1"/>
          <p:nvPr/>
        </p:nvSpPr>
        <p:spPr>
          <a:xfrm>
            <a:off x="29497" y="0"/>
            <a:ext cx="1212191" cy="261610"/>
          </a:xfrm>
          <a:prstGeom prst="rect">
            <a:avLst/>
          </a:prstGeom>
          <a:noFill/>
          <a:ln>
            <a:noFill/>
          </a:ln>
        </p:spPr>
        <p:txBody>
          <a:bodyPr wrap="none" rtlCol="0">
            <a:spAutoFit/>
          </a:bodyPr>
          <a:lstStyle/>
          <a:p>
            <a:r>
              <a:rPr lang="en-GB" sz="1100" b="1" i="1" noProof="0" dirty="0">
                <a:solidFill>
                  <a:srgbClr val="FF0000"/>
                </a:solidFill>
              </a:rPr>
              <a:t>Example 5 - I do…</a:t>
            </a:r>
          </a:p>
        </p:txBody>
      </p:sp>
      <p:sp>
        <p:nvSpPr>
          <p:cNvPr id="5" name="Rectangle 4">
            <a:extLst>
              <a:ext uri="{FF2B5EF4-FFF2-40B4-BE49-F238E27FC236}">
                <a16:creationId xmlns:a16="http://schemas.microsoft.com/office/drawing/2014/main" id="{FB9E1DD0-E9EF-6A40-A2E8-902404649FEC}"/>
              </a:ext>
            </a:extLst>
          </p:cNvPr>
          <p:cNvSpPr/>
          <p:nvPr/>
        </p:nvSpPr>
        <p:spPr>
          <a:xfrm>
            <a:off x="3490902" y="278427"/>
            <a:ext cx="3265813" cy="9253500"/>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p:sp>
        <p:nvSpPr>
          <p:cNvPr id="6" name="TextBox 5">
            <a:extLst>
              <a:ext uri="{FF2B5EF4-FFF2-40B4-BE49-F238E27FC236}">
                <a16:creationId xmlns:a16="http://schemas.microsoft.com/office/drawing/2014/main" id="{66114F50-871E-7548-B273-2025562F7625}"/>
              </a:ext>
            </a:extLst>
          </p:cNvPr>
          <p:cNvSpPr txBox="1"/>
          <p:nvPr/>
        </p:nvSpPr>
        <p:spPr>
          <a:xfrm>
            <a:off x="3409790" y="53008"/>
            <a:ext cx="1399742" cy="261610"/>
          </a:xfrm>
          <a:prstGeom prst="rect">
            <a:avLst/>
          </a:prstGeom>
          <a:noFill/>
          <a:ln>
            <a:noFill/>
          </a:ln>
        </p:spPr>
        <p:txBody>
          <a:bodyPr wrap="none" rtlCol="0">
            <a:spAutoFit/>
          </a:bodyPr>
          <a:lstStyle/>
          <a:p>
            <a:r>
              <a:rPr lang="en-GB" sz="1100" b="1" i="1" noProof="0" dirty="0">
                <a:solidFill>
                  <a:schemeClr val="accent2"/>
                </a:solidFill>
              </a:rPr>
              <a:t>Example 6 – We do…</a:t>
            </a:r>
          </a:p>
        </p:txBody>
      </p:sp>
      <mc:AlternateContent xmlns:mc="http://schemas.openxmlformats.org/markup-compatibility/2006" xmlns:a14="http://schemas.microsoft.com/office/drawing/2010/main">
        <mc:Choice Requires="a14">
          <p:sp>
            <p:nvSpPr>
              <p:cNvPr id="7" name="Rectangle 6"/>
              <p:cNvSpPr/>
              <p:nvPr/>
            </p:nvSpPr>
            <p:spPr>
              <a:xfrm>
                <a:off x="122801" y="314618"/>
                <a:ext cx="3265813" cy="461665"/>
              </a:xfrm>
              <a:prstGeom prst="rect">
                <a:avLst/>
              </a:prstGeom>
            </p:spPr>
            <p:txBody>
              <a:bodyPr wrap="square">
                <a:spAutoFit/>
              </a:bodyPr>
              <a:lstStyle/>
              <a:p>
                <a:pPr algn="ctr"/>
                <a:r>
                  <a:rPr lang="en-GB" sz="1200" noProof="0" dirty="0"/>
                  <a:t>The straight line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oMath>
                </a14:m>
                <a:r>
                  <a:rPr lang="en-GB" sz="1200" noProof="0" dirty="0"/>
                  <a:t> has been drawn on the grid. </a:t>
                </a:r>
              </a:p>
            </p:txBody>
          </p:sp>
        </mc:Choice>
        <mc:Fallback xmlns="">
          <p:sp>
            <p:nvSpPr>
              <p:cNvPr id="7" name="Rectangle 6"/>
              <p:cNvSpPr>
                <a:spLocks noRot="1" noChangeAspect="1" noMove="1" noResize="1" noEditPoints="1" noAdjustHandles="1" noChangeArrowheads="1" noChangeShapeType="1" noTextEdit="1"/>
              </p:cNvSpPr>
              <p:nvPr/>
            </p:nvSpPr>
            <p:spPr>
              <a:xfrm>
                <a:off x="122801" y="314618"/>
                <a:ext cx="3265813" cy="461665"/>
              </a:xfrm>
              <a:prstGeom prst="rect">
                <a:avLst/>
              </a:prstGeom>
              <a:blipFill>
                <a:blip r:embed="rId2"/>
                <a:stretch>
                  <a:fillRect t="-1333"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122799" y="3739959"/>
                <a:ext cx="3265813" cy="276999"/>
              </a:xfrm>
              <a:prstGeom prst="rect">
                <a:avLst/>
              </a:prstGeom>
            </p:spPr>
            <p:txBody>
              <a:bodyPr wrap="square">
                <a:spAutoFit/>
              </a:bodyPr>
              <a:lstStyle/>
              <a:p>
                <a:pPr algn="ctr"/>
                <a:r>
                  <a:rPr lang="en-GB" sz="1200" noProof="0" dirty="0"/>
                  <a:t>a) On the same grid, draw the graph of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endParaRPr lang="en-GB" sz="1200" noProof="0" dirty="0"/>
              </a:p>
            </p:txBody>
          </p:sp>
        </mc:Choice>
        <mc:Fallback xmlns="">
          <p:sp>
            <p:nvSpPr>
              <p:cNvPr id="11" name="Rectangle 10"/>
              <p:cNvSpPr>
                <a:spLocks noRot="1" noChangeAspect="1" noMove="1" noResize="1" noEditPoints="1" noAdjustHandles="1" noChangeArrowheads="1" noChangeShapeType="1" noTextEdit="1"/>
              </p:cNvSpPr>
              <p:nvPr/>
            </p:nvSpPr>
            <p:spPr>
              <a:xfrm>
                <a:off x="122799" y="3739959"/>
                <a:ext cx="3265813" cy="276999"/>
              </a:xfrm>
              <a:prstGeom prst="rect">
                <a:avLst/>
              </a:prstGeom>
              <a:blipFill>
                <a:blip r:embed="rId3"/>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06373" y="8322367"/>
                <a:ext cx="383310"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oMath>
                </a14:m>
                <a:r>
                  <a:rPr lang="en-GB" sz="1200" noProof="0" dirty="0"/>
                  <a:t> =</a:t>
                </a:r>
              </a:p>
            </p:txBody>
          </p:sp>
        </mc:Choice>
        <mc:Fallback xmlns="">
          <p:sp>
            <p:nvSpPr>
              <p:cNvPr id="18" name="TextBox 17"/>
              <p:cNvSpPr txBox="1">
                <a:spLocks noRot="1" noChangeAspect="1" noMove="1" noResize="1" noEditPoints="1" noAdjustHandles="1" noChangeArrowheads="1" noChangeShapeType="1" noTextEdit="1"/>
              </p:cNvSpPr>
              <p:nvPr/>
            </p:nvSpPr>
            <p:spPr>
              <a:xfrm>
                <a:off x="306373" y="8322367"/>
                <a:ext cx="383310" cy="276999"/>
              </a:xfrm>
              <a:prstGeom prst="rect">
                <a:avLst/>
              </a:prstGeom>
              <a:blipFill>
                <a:blip r:embed="rId4"/>
                <a:stretch>
                  <a:fillRect b="-15217"/>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16B1ECA1-094F-FE4A-8AFE-E48C67064BBB}"/>
              </a:ext>
            </a:extLst>
          </p:cNvPr>
          <p:cNvSpPr/>
          <p:nvPr/>
        </p:nvSpPr>
        <p:spPr>
          <a:xfrm>
            <a:off x="698339" y="8312580"/>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21" name="Rectangle 20">
            <a:extLst>
              <a:ext uri="{FF2B5EF4-FFF2-40B4-BE49-F238E27FC236}">
                <a16:creationId xmlns:a16="http://schemas.microsoft.com/office/drawing/2014/main" id="{16B1ECA1-094F-FE4A-8AFE-E48C67064BBB}"/>
              </a:ext>
            </a:extLst>
          </p:cNvPr>
          <p:cNvSpPr/>
          <p:nvPr/>
        </p:nvSpPr>
        <p:spPr>
          <a:xfrm>
            <a:off x="698339" y="8686358"/>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22" name="TextBox 21"/>
              <p:cNvSpPr txBox="1"/>
              <p:nvPr/>
            </p:nvSpPr>
            <p:spPr>
              <a:xfrm>
                <a:off x="306373" y="8686217"/>
                <a:ext cx="386068"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𝑦</m:t>
                    </m:r>
                  </m:oMath>
                </a14:m>
                <a:r>
                  <a:rPr lang="en-GB" sz="1200" noProof="0" dirty="0"/>
                  <a:t> =</a:t>
                </a:r>
              </a:p>
            </p:txBody>
          </p:sp>
        </mc:Choice>
        <mc:Fallback xmlns="">
          <p:sp>
            <p:nvSpPr>
              <p:cNvPr id="22" name="TextBox 21"/>
              <p:cNvSpPr txBox="1">
                <a:spLocks noRot="1" noChangeAspect="1" noMove="1" noResize="1" noEditPoints="1" noAdjustHandles="1" noChangeArrowheads="1" noChangeShapeType="1" noTextEdit="1"/>
              </p:cNvSpPr>
              <p:nvPr/>
            </p:nvSpPr>
            <p:spPr>
              <a:xfrm>
                <a:off x="306373" y="8686217"/>
                <a:ext cx="386068" cy="276999"/>
              </a:xfrm>
              <a:prstGeom prst="rect">
                <a:avLst/>
              </a:prstGeom>
              <a:blipFill>
                <a:blip r:embed="rId5"/>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3586493" y="8325188"/>
                <a:ext cx="383310"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oMath>
                </a14:m>
                <a:r>
                  <a:rPr lang="en-GB" sz="1200" noProof="0" dirty="0"/>
                  <a:t> =</a:t>
                </a:r>
              </a:p>
            </p:txBody>
          </p:sp>
        </mc:Choice>
        <mc:Fallback xmlns="">
          <p:sp>
            <p:nvSpPr>
              <p:cNvPr id="27" name="TextBox 26"/>
              <p:cNvSpPr txBox="1">
                <a:spLocks noRot="1" noChangeAspect="1" noMove="1" noResize="1" noEditPoints="1" noAdjustHandles="1" noChangeArrowheads="1" noChangeShapeType="1" noTextEdit="1"/>
              </p:cNvSpPr>
              <p:nvPr/>
            </p:nvSpPr>
            <p:spPr>
              <a:xfrm>
                <a:off x="3586493" y="8325188"/>
                <a:ext cx="383310" cy="276999"/>
              </a:xfrm>
              <a:prstGeom prst="rect">
                <a:avLst/>
              </a:prstGeom>
              <a:blipFill>
                <a:blip r:embed="rId6"/>
                <a:stretch>
                  <a:fillRect t="-2222" b="-17778"/>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16B1ECA1-094F-FE4A-8AFE-E48C67064BBB}"/>
              </a:ext>
            </a:extLst>
          </p:cNvPr>
          <p:cNvSpPr/>
          <p:nvPr/>
        </p:nvSpPr>
        <p:spPr>
          <a:xfrm>
            <a:off x="3978459" y="8315401"/>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29" name="Rectangle 28">
            <a:extLst>
              <a:ext uri="{FF2B5EF4-FFF2-40B4-BE49-F238E27FC236}">
                <a16:creationId xmlns:a16="http://schemas.microsoft.com/office/drawing/2014/main" id="{16B1ECA1-094F-FE4A-8AFE-E48C67064BBB}"/>
              </a:ext>
            </a:extLst>
          </p:cNvPr>
          <p:cNvSpPr/>
          <p:nvPr/>
        </p:nvSpPr>
        <p:spPr>
          <a:xfrm>
            <a:off x="3978459" y="8689179"/>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30" name="TextBox 29"/>
              <p:cNvSpPr txBox="1"/>
              <p:nvPr/>
            </p:nvSpPr>
            <p:spPr>
              <a:xfrm>
                <a:off x="3586493" y="8689038"/>
                <a:ext cx="386068"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𝑦</m:t>
                    </m:r>
                  </m:oMath>
                </a14:m>
                <a:r>
                  <a:rPr lang="en-GB" sz="1200" noProof="0" dirty="0"/>
                  <a:t> =</a:t>
                </a:r>
              </a:p>
            </p:txBody>
          </p:sp>
        </mc:Choice>
        <mc:Fallback xmlns="">
          <p:sp>
            <p:nvSpPr>
              <p:cNvPr id="30" name="TextBox 29"/>
              <p:cNvSpPr txBox="1">
                <a:spLocks noRot="1" noChangeAspect="1" noMove="1" noResize="1" noEditPoints="1" noAdjustHandles="1" noChangeArrowheads="1" noChangeShapeType="1" noTextEdit="1"/>
              </p:cNvSpPr>
              <p:nvPr/>
            </p:nvSpPr>
            <p:spPr>
              <a:xfrm>
                <a:off x="3586493" y="8689038"/>
                <a:ext cx="386068" cy="276999"/>
              </a:xfrm>
              <a:prstGeom prst="rect">
                <a:avLst/>
              </a:prstGeom>
              <a:blipFill>
                <a:blip r:embed="rId7"/>
                <a:stretch>
                  <a:fillRect b="-15217"/>
                </a:stretch>
              </a:blipFill>
            </p:spPr>
            <p:txBody>
              <a:bodyPr/>
              <a:lstStyle/>
              <a:p>
                <a:r>
                  <a:rPr lang="en-US">
                    <a:noFill/>
                  </a:rPr>
                  <a:t> </a:t>
                </a:r>
              </a:p>
            </p:txBody>
          </p:sp>
        </mc:Fallback>
      </mc:AlternateContent>
      <p:pic>
        <p:nvPicPr>
          <p:cNvPr id="31" name="Picture 30"/>
          <p:cNvPicPr>
            <a:picLocks noChangeAspect="1"/>
          </p:cNvPicPr>
          <p:nvPr/>
        </p:nvPicPr>
        <p:blipFill rotWithShape="1">
          <a:blip r:embed="rId8"/>
          <a:srcRect l="64258" t="11379"/>
          <a:stretch/>
        </p:blipFill>
        <p:spPr>
          <a:xfrm>
            <a:off x="209271" y="807804"/>
            <a:ext cx="2283503" cy="2900634"/>
          </a:xfrm>
          <a:prstGeom prst="rect">
            <a:avLst/>
          </a:prstGeom>
        </p:spPr>
      </p:pic>
      <mc:AlternateContent xmlns:mc="http://schemas.openxmlformats.org/markup-compatibility/2006" xmlns:a14="http://schemas.microsoft.com/office/drawing/2010/main">
        <mc:Choice Requires="a14">
          <p:sp>
            <p:nvSpPr>
              <p:cNvPr id="32" name="Rectangle 31"/>
              <p:cNvSpPr/>
              <p:nvPr/>
            </p:nvSpPr>
            <p:spPr>
              <a:xfrm>
                <a:off x="113812" y="7093777"/>
                <a:ext cx="3265813" cy="830997"/>
              </a:xfrm>
              <a:prstGeom prst="rect">
                <a:avLst/>
              </a:prstGeom>
            </p:spPr>
            <p:txBody>
              <a:bodyPr wrap="square">
                <a:spAutoFit/>
              </a:bodyPr>
              <a:lstStyle/>
              <a:p>
                <a:pPr algn="ctr"/>
                <a:r>
                  <a:rPr lang="en-GB" sz="1200" noProof="0" dirty="0"/>
                  <a:t>b) Use the graphs to solve the simultaneous equations </a:t>
                </a:r>
              </a:p>
              <a:p>
                <a:r>
                  <a:rPr lang="en-GB" sz="1200" b="0" noProof="0" dirty="0"/>
                  <a:t>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oMath>
                </a14:m>
                <a:endParaRPr lang="en-GB" sz="1200" b="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endParaRPr lang="en-GB" sz="1200" noProof="0" dirty="0"/>
              </a:p>
            </p:txBody>
          </p:sp>
        </mc:Choice>
        <mc:Fallback xmlns="">
          <p:sp>
            <p:nvSpPr>
              <p:cNvPr id="32" name="Rectangle 31"/>
              <p:cNvSpPr>
                <a:spLocks noRot="1" noChangeAspect="1" noMove="1" noResize="1" noEditPoints="1" noAdjustHandles="1" noChangeArrowheads="1" noChangeShapeType="1" noTextEdit="1"/>
              </p:cNvSpPr>
              <p:nvPr/>
            </p:nvSpPr>
            <p:spPr>
              <a:xfrm>
                <a:off x="113812" y="7093777"/>
                <a:ext cx="3265813" cy="830997"/>
              </a:xfrm>
              <a:prstGeom prst="rect">
                <a:avLst/>
              </a:prstGeom>
              <a:blipFill>
                <a:blip r:embed="rId9"/>
                <a:stretch>
                  <a:fillRect t="-7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3" name="Table 32"/>
              <p:cNvGraphicFramePr>
                <a:graphicFrameLocks noGrp="1"/>
              </p:cNvGraphicFramePr>
              <p:nvPr>
                <p:extLst>
                  <p:ext uri="{D42A27DB-BD31-4B8C-83A1-F6EECF244321}">
                    <p14:modId xmlns:p14="http://schemas.microsoft.com/office/powerpoint/2010/main" val="378422530"/>
                  </p:ext>
                </p:extLst>
              </p:nvPr>
            </p:nvGraphicFramePr>
            <p:xfrm>
              <a:off x="314565" y="4118430"/>
              <a:ext cx="2882280" cy="741680"/>
            </p:xfrm>
            <a:graphic>
              <a:graphicData uri="http://schemas.openxmlformats.org/drawingml/2006/table">
                <a:tbl>
                  <a:tblPr firstRow="1" bandRow="1">
                    <a:tableStyleId>{5C22544A-7EE6-4342-B048-85BDC9FD1C3A}</a:tableStyleId>
                  </a:tblPr>
                  <a:tblGrid>
                    <a:gridCol w="480380">
                      <a:extLst>
                        <a:ext uri="{9D8B030D-6E8A-4147-A177-3AD203B41FA5}">
                          <a16:colId xmlns:a16="http://schemas.microsoft.com/office/drawing/2014/main" val="736508480"/>
                        </a:ext>
                      </a:extLst>
                    </a:gridCol>
                    <a:gridCol w="480380">
                      <a:extLst>
                        <a:ext uri="{9D8B030D-6E8A-4147-A177-3AD203B41FA5}">
                          <a16:colId xmlns:a16="http://schemas.microsoft.com/office/drawing/2014/main" val="1273869670"/>
                        </a:ext>
                      </a:extLst>
                    </a:gridCol>
                    <a:gridCol w="480380">
                      <a:extLst>
                        <a:ext uri="{9D8B030D-6E8A-4147-A177-3AD203B41FA5}">
                          <a16:colId xmlns:a16="http://schemas.microsoft.com/office/drawing/2014/main" val="852807214"/>
                        </a:ext>
                      </a:extLst>
                    </a:gridCol>
                    <a:gridCol w="480380">
                      <a:extLst>
                        <a:ext uri="{9D8B030D-6E8A-4147-A177-3AD203B41FA5}">
                          <a16:colId xmlns:a16="http://schemas.microsoft.com/office/drawing/2014/main" val="3747578519"/>
                        </a:ext>
                      </a:extLst>
                    </a:gridCol>
                    <a:gridCol w="480380">
                      <a:extLst>
                        <a:ext uri="{9D8B030D-6E8A-4147-A177-3AD203B41FA5}">
                          <a16:colId xmlns:a16="http://schemas.microsoft.com/office/drawing/2014/main" val="1554752747"/>
                        </a:ext>
                      </a:extLst>
                    </a:gridCol>
                    <a:gridCol w="480380">
                      <a:extLst>
                        <a:ext uri="{9D8B030D-6E8A-4147-A177-3AD203B41FA5}">
                          <a16:colId xmlns:a16="http://schemas.microsoft.com/office/drawing/2014/main" val="2817110103"/>
                        </a:ext>
                      </a:extLst>
                    </a:gridCol>
                  </a:tblGrid>
                  <a:tr h="370840">
                    <a:tc>
                      <a:txBody>
                        <a:bodyPr/>
                        <a:lstStyle/>
                        <a:p>
                          <a:pPr/>
                          <a14:m>
                            <m:oMathPara xmlns:m="http://schemas.openxmlformats.org/officeDocument/2006/math">
                              <m:oMathParaPr>
                                <m:jc m:val="centerGroup"/>
                              </m:oMathParaPr>
                              <m:oMath xmlns:m="http://schemas.openxmlformats.org/officeDocument/2006/math">
                                <m:r>
                                  <a:rPr lang="en-GB" sz="1200" b="1" i="1" noProof="0" smtClean="0">
                                    <a:solidFill>
                                      <a:schemeClr val="tx1"/>
                                    </a:solidFill>
                                    <a:latin typeface="Cambria Math" panose="02040503050406030204" pitchFamily="18" charset="0"/>
                                  </a:rPr>
                                  <m:t>𝒙</m:t>
                                </m:r>
                              </m:oMath>
                            </m:oMathPara>
                          </a14:m>
                          <a:endParaRPr lang="en-GB" sz="12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7628692"/>
                      </a:ext>
                    </a:extLst>
                  </a:tr>
                  <a:tr h="370840">
                    <a:tc>
                      <a:txBody>
                        <a:bodyPr/>
                        <a:lstStyle/>
                        <a:p>
                          <a:pPr/>
                          <a14:m>
                            <m:oMathPara xmlns:m="http://schemas.openxmlformats.org/officeDocument/2006/math">
                              <m:oMathParaPr>
                                <m:jc m:val="centerGroup"/>
                              </m:oMathParaPr>
                              <m:oMath xmlns:m="http://schemas.openxmlformats.org/officeDocument/2006/math">
                                <m:r>
                                  <a:rPr lang="en-GB" sz="1200" b="1" i="1" noProof="0" smtClean="0">
                                    <a:solidFill>
                                      <a:schemeClr val="tx1"/>
                                    </a:solidFill>
                                    <a:latin typeface="Cambria Math" panose="02040503050406030204" pitchFamily="18" charset="0"/>
                                  </a:rPr>
                                  <m:t>𝒚</m:t>
                                </m:r>
                              </m:oMath>
                            </m:oMathPara>
                          </a14:m>
                          <a:endParaRPr lang="en-GB" sz="12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7425131"/>
                      </a:ext>
                    </a:extLst>
                  </a:tr>
                </a:tbl>
              </a:graphicData>
            </a:graphic>
          </p:graphicFrame>
        </mc:Choice>
        <mc:Fallback xmlns="">
          <p:graphicFrame>
            <p:nvGraphicFramePr>
              <p:cNvPr id="33" name="Table 32"/>
              <p:cNvGraphicFramePr>
                <a:graphicFrameLocks noGrp="1"/>
              </p:cNvGraphicFramePr>
              <p:nvPr>
                <p:extLst>
                  <p:ext uri="{D42A27DB-BD31-4B8C-83A1-F6EECF244321}">
                    <p14:modId xmlns:p14="http://schemas.microsoft.com/office/powerpoint/2010/main" val="378422530"/>
                  </p:ext>
                </p:extLst>
              </p:nvPr>
            </p:nvGraphicFramePr>
            <p:xfrm>
              <a:off x="314565" y="4118430"/>
              <a:ext cx="2882280" cy="741680"/>
            </p:xfrm>
            <a:graphic>
              <a:graphicData uri="http://schemas.openxmlformats.org/drawingml/2006/table">
                <a:tbl>
                  <a:tblPr firstRow="1" bandRow="1">
                    <a:tableStyleId>{5C22544A-7EE6-4342-B048-85BDC9FD1C3A}</a:tableStyleId>
                  </a:tblPr>
                  <a:tblGrid>
                    <a:gridCol w="480380">
                      <a:extLst>
                        <a:ext uri="{9D8B030D-6E8A-4147-A177-3AD203B41FA5}">
                          <a16:colId xmlns:a16="http://schemas.microsoft.com/office/drawing/2014/main" val="736508480"/>
                        </a:ext>
                      </a:extLst>
                    </a:gridCol>
                    <a:gridCol w="480380">
                      <a:extLst>
                        <a:ext uri="{9D8B030D-6E8A-4147-A177-3AD203B41FA5}">
                          <a16:colId xmlns:a16="http://schemas.microsoft.com/office/drawing/2014/main" val="1273869670"/>
                        </a:ext>
                      </a:extLst>
                    </a:gridCol>
                    <a:gridCol w="480380">
                      <a:extLst>
                        <a:ext uri="{9D8B030D-6E8A-4147-A177-3AD203B41FA5}">
                          <a16:colId xmlns:a16="http://schemas.microsoft.com/office/drawing/2014/main" val="852807214"/>
                        </a:ext>
                      </a:extLst>
                    </a:gridCol>
                    <a:gridCol w="480380">
                      <a:extLst>
                        <a:ext uri="{9D8B030D-6E8A-4147-A177-3AD203B41FA5}">
                          <a16:colId xmlns:a16="http://schemas.microsoft.com/office/drawing/2014/main" val="3747578519"/>
                        </a:ext>
                      </a:extLst>
                    </a:gridCol>
                    <a:gridCol w="480380">
                      <a:extLst>
                        <a:ext uri="{9D8B030D-6E8A-4147-A177-3AD203B41FA5}">
                          <a16:colId xmlns:a16="http://schemas.microsoft.com/office/drawing/2014/main" val="1554752747"/>
                        </a:ext>
                      </a:extLst>
                    </a:gridCol>
                    <a:gridCol w="480380">
                      <a:extLst>
                        <a:ext uri="{9D8B030D-6E8A-4147-A177-3AD203B41FA5}">
                          <a16:colId xmlns:a16="http://schemas.microsoft.com/office/drawing/2014/main" val="2817110103"/>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1266" t="-1613" r="-502532" b="-101613"/>
                          </a:stretch>
                        </a:blipFill>
                      </a:tcPr>
                    </a:tc>
                    <a:tc>
                      <a:txBody>
                        <a:bodyPr/>
                        <a:lstStyle/>
                        <a:p>
                          <a:r>
                            <a:rPr lang="en-GB" sz="1200" b="0" noProof="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762869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1266" t="-103279" r="-502532" b="-3279"/>
                          </a:stretch>
                        </a:blip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7425131"/>
                      </a:ext>
                    </a:extLst>
                  </a:tr>
                </a:tbl>
              </a:graphicData>
            </a:graphic>
          </p:graphicFrame>
        </mc:Fallback>
      </mc:AlternateContent>
      <p:pic>
        <p:nvPicPr>
          <p:cNvPr id="15" name="Picture 14"/>
          <p:cNvPicPr>
            <a:picLocks noChangeAspect="1"/>
          </p:cNvPicPr>
          <p:nvPr/>
        </p:nvPicPr>
        <p:blipFill>
          <a:blip r:embed="rId11"/>
          <a:stretch>
            <a:fillRect/>
          </a:stretch>
        </p:blipFill>
        <p:spPr>
          <a:xfrm>
            <a:off x="3958312" y="1003829"/>
            <a:ext cx="2538484" cy="2503471"/>
          </a:xfrm>
          <a:prstGeom prst="rect">
            <a:avLst/>
          </a:prstGeom>
        </p:spPr>
      </p:pic>
      <mc:AlternateContent xmlns:mc="http://schemas.openxmlformats.org/markup-compatibility/2006" xmlns:a14="http://schemas.microsoft.com/office/drawing/2010/main">
        <mc:Choice Requires="a14">
          <p:sp>
            <p:nvSpPr>
              <p:cNvPr id="34" name="Rectangle 33"/>
              <p:cNvSpPr/>
              <p:nvPr/>
            </p:nvSpPr>
            <p:spPr>
              <a:xfrm>
                <a:off x="3554026" y="307793"/>
                <a:ext cx="3265813" cy="461665"/>
              </a:xfrm>
              <a:prstGeom prst="rect">
                <a:avLst/>
              </a:prstGeom>
            </p:spPr>
            <p:txBody>
              <a:bodyPr wrap="square">
                <a:spAutoFit/>
              </a:bodyPr>
              <a:lstStyle/>
              <a:p>
                <a:pPr algn="ctr"/>
                <a:r>
                  <a:rPr lang="en-GB" sz="1200" noProof="0" dirty="0"/>
                  <a:t>The straight line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r>
                  <a:rPr lang="en-GB" sz="1200" noProof="0" dirty="0"/>
                  <a:t> has been drawn on the grid</a:t>
                </a:r>
              </a:p>
            </p:txBody>
          </p:sp>
        </mc:Choice>
        <mc:Fallback xmlns="">
          <p:sp>
            <p:nvSpPr>
              <p:cNvPr id="34" name="Rectangle 33"/>
              <p:cNvSpPr>
                <a:spLocks noRot="1" noChangeAspect="1" noMove="1" noResize="1" noEditPoints="1" noAdjustHandles="1" noChangeArrowheads="1" noChangeShapeType="1" noTextEdit="1"/>
              </p:cNvSpPr>
              <p:nvPr/>
            </p:nvSpPr>
            <p:spPr>
              <a:xfrm>
                <a:off x="3554026" y="307793"/>
                <a:ext cx="3265813" cy="461665"/>
              </a:xfrm>
              <a:prstGeom prst="rect">
                <a:avLst/>
              </a:prstGeom>
              <a:blipFill>
                <a:blip r:embed="rId12"/>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3522464" y="3757958"/>
                <a:ext cx="3265813" cy="276999"/>
              </a:xfrm>
              <a:prstGeom prst="rect">
                <a:avLst/>
              </a:prstGeom>
            </p:spPr>
            <p:txBody>
              <a:bodyPr wrap="square">
                <a:spAutoFit/>
              </a:bodyPr>
              <a:lstStyle/>
              <a:p>
                <a:pPr algn="ctr"/>
                <a:r>
                  <a:rPr lang="en-GB" sz="1200" noProof="0" dirty="0"/>
                  <a:t>a) On the same grid, draw the graph of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oMath>
                </a14:m>
                <a:endParaRPr lang="en-GB" sz="1200" noProof="0" dirty="0"/>
              </a:p>
            </p:txBody>
          </p:sp>
        </mc:Choice>
        <mc:Fallback xmlns="">
          <p:sp>
            <p:nvSpPr>
              <p:cNvPr id="35" name="Rectangle 34"/>
              <p:cNvSpPr>
                <a:spLocks noRot="1" noChangeAspect="1" noMove="1" noResize="1" noEditPoints="1" noAdjustHandles="1" noChangeArrowheads="1" noChangeShapeType="1" noTextEdit="1"/>
              </p:cNvSpPr>
              <p:nvPr/>
            </p:nvSpPr>
            <p:spPr>
              <a:xfrm>
                <a:off x="3522464" y="3757958"/>
                <a:ext cx="3265813" cy="276999"/>
              </a:xfrm>
              <a:prstGeom prst="rect">
                <a:avLst/>
              </a:prstGeom>
              <a:blipFill>
                <a:blip r:embed="rId13"/>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6" name="Table 35"/>
              <p:cNvGraphicFramePr>
                <a:graphicFrameLocks noGrp="1"/>
              </p:cNvGraphicFramePr>
              <p:nvPr>
                <p:extLst>
                  <p:ext uri="{D42A27DB-BD31-4B8C-83A1-F6EECF244321}">
                    <p14:modId xmlns:p14="http://schemas.microsoft.com/office/powerpoint/2010/main" val="2842016065"/>
                  </p:ext>
                </p:extLst>
              </p:nvPr>
            </p:nvGraphicFramePr>
            <p:xfrm>
              <a:off x="3723966" y="4131877"/>
              <a:ext cx="2882280" cy="741680"/>
            </p:xfrm>
            <a:graphic>
              <a:graphicData uri="http://schemas.openxmlformats.org/drawingml/2006/table">
                <a:tbl>
                  <a:tblPr firstRow="1" bandRow="1">
                    <a:tableStyleId>{5C22544A-7EE6-4342-B048-85BDC9FD1C3A}</a:tableStyleId>
                  </a:tblPr>
                  <a:tblGrid>
                    <a:gridCol w="480380">
                      <a:extLst>
                        <a:ext uri="{9D8B030D-6E8A-4147-A177-3AD203B41FA5}">
                          <a16:colId xmlns:a16="http://schemas.microsoft.com/office/drawing/2014/main" val="736508480"/>
                        </a:ext>
                      </a:extLst>
                    </a:gridCol>
                    <a:gridCol w="480380">
                      <a:extLst>
                        <a:ext uri="{9D8B030D-6E8A-4147-A177-3AD203B41FA5}">
                          <a16:colId xmlns:a16="http://schemas.microsoft.com/office/drawing/2014/main" val="1273869670"/>
                        </a:ext>
                      </a:extLst>
                    </a:gridCol>
                    <a:gridCol w="480380">
                      <a:extLst>
                        <a:ext uri="{9D8B030D-6E8A-4147-A177-3AD203B41FA5}">
                          <a16:colId xmlns:a16="http://schemas.microsoft.com/office/drawing/2014/main" val="852807214"/>
                        </a:ext>
                      </a:extLst>
                    </a:gridCol>
                    <a:gridCol w="480380">
                      <a:extLst>
                        <a:ext uri="{9D8B030D-6E8A-4147-A177-3AD203B41FA5}">
                          <a16:colId xmlns:a16="http://schemas.microsoft.com/office/drawing/2014/main" val="3747578519"/>
                        </a:ext>
                      </a:extLst>
                    </a:gridCol>
                    <a:gridCol w="480380">
                      <a:extLst>
                        <a:ext uri="{9D8B030D-6E8A-4147-A177-3AD203B41FA5}">
                          <a16:colId xmlns:a16="http://schemas.microsoft.com/office/drawing/2014/main" val="1554752747"/>
                        </a:ext>
                      </a:extLst>
                    </a:gridCol>
                    <a:gridCol w="480380">
                      <a:extLst>
                        <a:ext uri="{9D8B030D-6E8A-4147-A177-3AD203B41FA5}">
                          <a16:colId xmlns:a16="http://schemas.microsoft.com/office/drawing/2014/main" val="2817110103"/>
                        </a:ext>
                      </a:extLst>
                    </a:gridCol>
                  </a:tblGrid>
                  <a:tr h="370840">
                    <a:tc>
                      <a:txBody>
                        <a:bodyPr/>
                        <a:lstStyle/>
                        <a:p>
                          <a:pPr/>
                          <a14:m>
                            <m:oMathPara xmlns:m="http://schemas.openxmlformats.org/officeDocument/2006/math">
                              <m:oMathParaPr>
                                <m:jc m:val="centerGroup"/>
                              </m:oMathParaPr>
                              <m:oMath xmlns:m="http://schemas.openxmlformats.org/officeDocument/2006/math">
                                <m:r>
                                  <a:rPr lang="en-GB" sz="1200" b="1" i="1" noProof="0" smtClean="0">
                                    <a:solidFill>
                                      <a:schemeClr val="tx1"/>
                                    </a:solidFill>
                                    <a:latin typeface="Cambria Math" panose="02040503050406030204" pitchFamily="18" charset="0"/>
                                  </a:rPr>
                                  <m:t>𝒙</m:t>
                                </m:r>
                              </m:oMath>
                            </m:oMathPara>
                          </a14:m>
                          <a:endParaRPr lang="en-GB" sz="12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7628692"/>
                      </a:ext>
                    </a:extLst>
                  </a:tr>
                  <a:tr h="370840">
                    <a:tc>
                      <a:txBody>
                        <a:bodyPr/>
                        <a:lstStyle/>
                        <a:p>
                          <a:pPr/>
                          <a14:m>
                            <m:oMathPara xmlns:m="http://schemas.openxmlformats.org/officeDocument/2006/math">
                              <m:oMathParaPr>
                                <m:jc m:val="centerGroup"/>
                              </m:oMathParaPr>
                              <m:oMath xmlns:m="http://schemas.openxmlformats.org/officeDocument/2006/math">
                                <m:r>
                                  <a:rPr lang="en-GB" sz="1200" b="1" i="1" noProof="0" smtClean="0">
                                    <a:solidFill>
                                      <a:schemeClr val="tx1"/>
                                    </a:solidFill>
                                    <a:latin typeface="Cambria Math" panose="02040503050406030204" pitchFamily="18" charset="0"/>
                                  </a:rPr>
                                  <m:t>𝒚</m:t>
                                </m:r>
                              </m:oMath>
                            </m:oMathPara>
                          </a14:m>
                          <a:endParaRPr lang="en-GB" sz="12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7425131"/>
                      </a:ext>
                    </a:extLst>
                  </a:tr>
                </a:tbl>
              </a:graphicData>
            </a:graphic>
          </p:graphicFrame>
        </mc:Choice>
        <mc:Fallback xmlns="">
          <p:graphicFrame>
            <p:nvGraphicFramePr>
              <p:cNvPr id="36" name="Table 35"/>
              <p:cNvGraphicFramePr>
                <a:graphicFrameLocks noGrp="1"/>
              </p:cNvGraphicFramePr>
              <p:nvPr>
                <p:extLst>
                  <p:ext uri="{D42A27DB-BD31-4B8C-83A1-F6EECF244321}">
                    <p14:modId xmlns:p14="http://schemas.microsoft.com/office/powerpoint/2010/main" val="2842016065"/>
                  </p:ext>
                </p:extLst>
              </p:nvPr>
            </p:nvGraphicFramePr>
            <p:xfrm>
              <a:off x="3723966" y="4131877"/>
              <a:ext cx="2882280" cy="741680"/>
            </p:xfrm>
            <a:graphic>
              <a:graphicData uri="http://schemas.openxmlformats.org/drawingml/2006/table">
                <a:tbl>
                  <a:tblPr firstRow="1" bandRow="1">
                    <a:tableStyleId>{5C22544A-7EE6-4342-B048-85BDC9FD1C3A}</a:tableStyleId>
                  </a:tblPr>
                  <a:tblGrid>
                    <a:gridCol w="480380">
                      <a:extLst>
                        <a:ext uri="{9D8B030D-6E8A-4147-A177-3AD203B41FA5}">
                          <a16:colId xmlns:a16="http://schemas.microsoft.com/office/drawing/2014/main" val="736508480"/>
                        </a:ext>
                      </a:extLst>
                    </a:gridCol>
                    <a:gridCol w="480380">
                      <a:extLst>
                        <a:ext uri="{9D8B030D-6E8A-4147-A177-3AD203B41FA5}">
                          <a16:colId xmlns:a16="http://schemas.microsoft.com/office/drawing/2014/main" val="1273869670"/>
                        </a:ext>
                      </a:extLst>
                    </a:gridCol>
                    <a:gridCol w="480380">
                      <a:extLst>
                        <a:ext uri="{9D8B030D-6E8A-4147-A177-3AD203B41FA5}">
                          <a16:colId xmlns:a16="http://schemas.microsoft.com/office/drawing/2014/main" val="852807214"/>
                        </a:ext>
                      </a:extLst>
                    </a:gridCol>
                    <a:gridCol w="480380">
                      <a:extLst>
                        <a:ext uri="{9D8B030D-6E8A-4147-A177-3AD203B41FA5}">
                          <a16:colId xmlns:a16="http://schemas.microsoft.com/office/drawing/2014/main" val="3747578519"/>
                        </a:ext>
                      </a:extLst>
                    </a:gridCol>
                    <a:gridCol w="480380">
                      <a:extLst>
                        <a:ext uri="{9D8B030D-6E8A-4147-A177-3AD203B41FA5}">
                          <a16:colId xmlns:a16="http://schemas.microsoft.com/office/drawing/2014/main" val="1554752747"/>
                        </a:ext>
                      </a:extLst>
                    </a:gridCol>
                    <a:gridCol w="480380">
                      <a:extLst>
                        <a:ext uri="{9D8B030D-6E8A-4147-A177-3AD203B41FA5}">
                          <a16:colId xmlns:a16="http://schemas.microsoft.com/office/drawing/2014/main" val="2817110103"/>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1266" t="-1613" r="-502532" b="-101613"/>
                          </a:stretch>
                        </a:blipFill>
                      </a:tcPr>
                    </a:tc>
                    <a:tc>
                      <a:txBody>
                        <a:bodyPr/>
                        <a:lstStyle/>
                        <a:p>
                          <a:r>
                            <a:rPr lang="en-GB" sz="1200" b="0" noProof="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762869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1266" t="-103279" r="-502532" b="-3279"/>
                          </a:stretch>
                        </a:blip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7425131"/>
                      </a:ext>
                    </a:extLst>
                  </a:tr>
                </a:tbl>
              </a:graphicData>
            </a:graphic>
          </p:graphicFrame>
        </mc:Fallback>
      </mc:AlternateContent>
      <mc:AlternateContent xmlns:mc="http://schemas.openxmlformats.org/markup-compatibility/2006" xmlns:a14="http://schemas.microsoft.com/office/drawing/2010/main">
        <mc:Choice Requires="a14">
          <p:sp>
            <p:nvSpPr>
              <p:cNvPr id="37" name="Rectangle 36"/>
              <p:cNvSpPr/>
              <p:nvPr/>
            </p:nvSpPr>
            <p:spPr>
              <a:xfrm>
                <a:off x="3469726" y="7019441"/>
                <a:ext cx="3265813" cy="830997"/>
              </a:xfrm>
              <a:prstGeom prst="rect">
                <a:avLst/>
              </a:prstGeom>
            </p:spPr>
            <p:txBody>
              <a:bodyPr wrap="square">
                <a:spAutoFit/>
              </a:bodyPr>
              <a:lstStyle/>
              <a:p>
                <a:pPr algn="ctr"/>
                <a:r>
                  <a:rPr lang="en-GB" sz="1200" noProof="0" dirty="0"/>
                  <a:t>b) Use the graphs to solve the simultaneous equations </a:t>
                </a:r>
              </a:p>
              <a:p>
                <a:r>
                  <a:rPr lang="en-GB" sz="1200" b="0" noProof="0" dirty="0"/>
                  <a:t>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endParaRPr lang="en-GB" sz="1200" b="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oMath>
                </a14:m>
                <a:endParaRPr lang="en-GB" sz="1200" noProof="0" dirty="0"/>
              </a:p>
            </p:txBody>
          </p:sp>
        </mc:Choice>
        <mc:Fallback xmlns="">
          <p:sp>
            <p:nvSpPr>
              <p:cNvPr id="37" name="Rectangle 36"/>
              <p:cNvSpPr>
                <a:spLocks noRot="1" noChangeAspect="1" noMove="1" noResize="1" noEditPoints="1" noAdjustHandles="1" noChangeArrowheads="1" noChangeShapeType="1" noTextEdit="1"/>
              </p:cNvSpPr>
              <p:nvPr/>
            </p:nvSpPr>
            <p:spPr>
              <a:xfrm>
                <a:off x="3469726" y="7019441"/>
                <a:ext cx="3265813" cy="830997"/>
              </a:xfrm>
              <a:prstGeom prst="rect">
                <a:avLst/>
              </a:prstGeom>
              <a:blipFill>
                <a:blip r:embed="rId1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227699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213665" y="9378597"/>
            <a:ext cx="1543050" cy="527403"/>
          </a:xfrm>
        </p:spPr>
        <p:txBody>
          <a:bodyPr/>
          <a:lstStyle/>
          <a:p>
            <a:fld id="{19F1D9CC-7119-45EC-A96C-D8C0660F3AAB}" type="slidenum">
              <a:rPr lang="en-GB" noProof="0" smtClean="0"/>
              <a:t>30</a:t>
            </a:fld>
            <a:endParaRPr lang="en-GB" noProof="0" dirty="0"/>
          </a:p>
        </p:txBody>
      </p:sp>
      <p:sp>
        <p:nvSpPr>
          <p:cNvPr id="3" name="Rectangle 2">
            <a:extLst>
              <a:ext uri="{FF2B5EF4-FFF2-40B4-BE49-F238E27FC236}">
                <a16:creationId xmlns:a16="http://schemas.microsoft.com/office/drawing/2014/main" id="{98D6CC47-5E02-5040-8389-C36B03A95D91}"/>
              </a:ext>
            </a:extLst>
          </p:cNvPr>
          <p:cNvSpPr/>
          <p:nvPr/>
        </p:nvSpPr>
        <p:spPr>
          <a:xfrm>
            <a:off x="122801" y="270388"/>
            <a:ext cx="3265813" cy="9275393"/>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p:sp>
        <p:nvSpPr>
          <p:cNvPr id="4" name="TextBox 3">
            <a:extLst>
              <a:ext uri="{FF2B5EF4-FFF2-40B4-BE49-F238E27FC236}">
                <a16:creationId xmlns:a16="http://schemas.microsoft.com/office/drawing/2014/main" id="{1E912342-8EE7-5749-AAB3-11321C962F00}"/>
              </a:ext>
            </a:extLst>
          </p:cNvPr>
          <p:cNvSpPr txBox="1"/>
          <p:nvPr/>
        </p:nvSpPr>
        <p:spPr>
          <a:xfrm>
            <a:off x="29497" y="0"/>
            <a:ext cx="1396536" cy="261610"/>
          </a:xfrm>
          <a:prstGeom prst="rect">
            <a:avLst/>
          </a:prstGeom>
          <a:noFill/>
          <a:ln>
            <a:noFill/>
          </a:ln>
        </p:spPr>
        <p:txBody>
          <a:bodyPr wrap="none" rtlCol="0">
            <a:spAutoFit/>
          </a:bodyPr>
          <a:lstStyle/>
          <a:p>
            <a:r>
              <a:rPr lang="en-GB" sz="1100" b="1" i="1" noProof="0" dirty="0">
                <a:solidFill>
                  <a:srgbClr val="00B050"/>
                </a:solidFill>
              </a:rPr>
              <a:t>Example 7 - You do…</a:t>
            </a:r>
          </a:p>
        </p:txBody>
      </p:sp>
      <p:sp>
        <p:nvSpPr>
          <p:cNvPr id="5" name="Rectangle 4">
            <a:extLst>
              <a:ext uri="{FF2B5EF4-FFF2-40B4-BE49-F238E27FC236}">
                <a16:creationId xmlns:a16="http://schemas.microsoft.com/office/drawing/2014/main" id="{FB9E1DD0-E9EF-6A40-A2E8-902404649FEC}"/>
              </a:ext>
            </a:extLst>
          </p:cNvPr>
          <p:cNvSpPr/>
          <p:nvPr/>
        </p:nvSpPr>
        <p:spPr>
          <a:xfrm>
            <a:off x="3490902" y="278427"/>
            <a:ext cx="3265813" cy="9268786"/>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p:sp>
        <p:nvSpPr>
          <p:cNvPr id="6" name="TextBox 5">
            <a:extLst>
              <a:ext uri="{FF2B5EF4-FFF2-40B4-BE49-F238E27FC236}">
                <a16:creationId xmlns:a16="http://schemas.microsoft.com/office/drawing/2014/main" id="{66114F50-871E-7548-B273-2025562F7625}"/>
              </a:ext>
            </a:extLst>
          </p:cNvPr>
          <p:cNvSpPr txBox="1"/>
          <p:nvPr/>
        </p:nvSpPr>
        <p:spPr>
          <a:xfrm>
            <a:off x="3409790" y="11443"/>
            <a:ext cx="1423788" cy="261610"/>
          </a:xfrm>
          <a:prstGeom prst="rect">
            <a:avLst/>
          </a:prstGeom>
          <a:noFill/>
          <a:ln>
            <a:noFill/>
          </a:ln>
        </p:spPr>
        <p:txBody>
          <a:bodyPr wrap="none" rtlCol="0">
            <a:spAutoFit/>
          </a:bodyPr>
          <a:lstStyle/>
          <a:p>
            <a:r>
              <a:rPr lang="en-GB" sz="1100" b="1" i="1" noProof="0" dirty="0">
                <a:solidFill>
                  <a:srgbClr val="00B050"/>
                </a:solidFill>
              </a:rPr>
              <a:t>Example 8 – You do…</a:t>
            </a:r>
          </a:p>
        </p:txBody>
      </p:sp>
      <mc:AlternateContent xmlns:mc="http://schemas.openxmlformats.org/markup-compatibility/2006" xmlns:a14="http://schemas.microsoft.com/office/drawing/2010/main">
        <mc:Choice Requires="a14">
          <p:sp>
            <p:nvSpPr>
              <p:cNvPr id="23" name="Rectangle 22"/>
              <p:cNvSpPr/>
              <p:nvPr/>
            </p:nvSpPr>
            <p:spPr>
              <a:xfrm>
                <a:off x="122801" y="314618"/>
                <a:ext cx="3265813" cy="461665"/>
              </a:xfrm>
              <a:prstGeom prst="rect">
                <a:avLst/>
              </a:prstGeom>
            </p:spPr>
            <p:txBody>
              <a:bodyPr wrap="square">
                <a:spAutoFit/>
              </a:bodyPr>
              <a:lstStyle/>
              <a:p>
                <a:pPr algn="ctr"/>
                <a:r>
                  <a:rPr lang="en-GB" sz="1200" noProof="0" dirty="0"/>
                  <a:t>The straight line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oMath>
                </a14:m>
                <a:r>
                  <a:rPr lang="en-GB" sz="1200" noProof="0" dirty="0"/>
                  <a:t> has been drawn on the grid.</a:t>
                </a:r>
              </a:p>
            </p:txBody>
          </p:sp>
        </mc:Choice>
        <mc:Fallback xmlns="">
          <p:sp>
            <p:nvSpPr>
              <p:cNvPr id="23" name="Rectangle 22"/>
              <p:cNvSpPr>
                <a:spLocks noRot="1" noChangeAspect="1" noMove="1" noResize="1" noEditPoints="1" noAdjustHandles="1" noChangeArrowheads="1" noChangeShapeType="1" noTextEdit="1"/>
              </p:cNvSpPr>
              <p:nvPr/>
            </p:nvSpPr>
            <p:spPr>
              <a:xfrm>
                <a:off x="122801" y="314618"/>
                <a:ext cx="3265813" cy="461665"/>
              </a:xfrm>
              <a:prstGeom prst="rect">
                <a:avLst/>
              </a:prstGeom>
              <a:blipFill>
                <a:blip r:embed="rId2"/>
                <a:stretch>
                  <a:fillRect t="-1333"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122801" y="4110799"/>
                <a:ext cx="3265813" cy="461665"/>
              </a:xfrm>
              <a:prstGeom prst="rect">
                <a:avLst/>
              </a:prstGeom>
            </p:spPr>
            <p:txBody>
              <a:bodyPr wrap="square">
                <a:spAutoFit/>
              </a:bodyPr>
              <a:lstStyle/>
              <a:p>
                <a:pPr marL="228600" indent="-228600" algn="ctr">
                  <a:buAutoNum type="alphaLcParenR"/>
                </a:pPr>
                <a:r>
                  <a:rPr lang="en-GB" sz="1200" noProof="0" dirty="0"/>
                  <a:t>On the same grid, draw the graph of </a:t>
                </a:r>
              </a:p>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p:txBody>
          </p:sp>
        </mc:Choice>
        <mc:Fallback xmlns="">
          <p:sp>
            <p:nvSpPr>
              <p:cNvPr id="24" name="Rectangle 23"/>
              <p:cNvSpPr>
                <a:spLocks noRot="1" noChangeAspect="1" noMove="1" noResize="1" noEditPoints="1" noAdjustHandles="1" noChangeArrowheads="1" noChangeShapeType="1" noTextEdit="1"/>
              </p:cNvSpPr>
              <p:nvPr/>
            </p:nvSpPr>
            <p:spPr>
              <a:xfrm>
                <a:off x="122801" y="4110799"/>
                <a:ext cx="3265813" cy="461665"/>
              </a:xfrm>
              <a:prstGeom prst="rect">
                <a:avLst/>
              </a:prstGeom>
              <a:blipFill>
                <a:blip r:embed="rId3"/>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306373" y="8322367"/>
                <a:ext cx="383310"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oMath>
                </a14:m>
                <a:r>
                  <a:rPr lang="en-GB" sz="1200" noProof="0" dirty="0"/>
                  <a:t> =</a:t>
                </a:r>
              </a:p>
            </p:txBody>
          </p:sp>
        </mc:Choice>
        <mc:Fallback xmlns="">
          <p:sp>
            <p:nvSpPr>
              <p:cNvPr id="25" name="TextBox 24"/>
              <p:cNvSpPr txBox="1">
                <a:spLocks noRot="1" noChangeAspect="1" noMove="1" noResize="1" noEditPoints="1" noAdjustHandles="1" noChangeArrowheads="1" noChangeShapeType="1" noTextEdit="1"/>
              </p:cNvSpPr>
              <p:nvPr/>
            </p:nvSpPr>
            <p:spPr>
              <a:xfrm>
                <a:off x="306373" y="8322367"/>
                <a:ext cx="383310" cy="276999"/>
              </a:xfrm>
              <a:prstGeom prst="rect">
                <a:avLst/>
              </a:prstGeom>
              <a:blipFill>
                <a:blip r:embed="rId4"/>
                <a:stretch>
                  <a:fillRect b="-15217"/>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16B1ECA1-094F-FE4A-8AFE-E48C67064BBB}"/>
              </a:ext>
            </a:extLst>
          </p:cNvPr>
          <p:cNvSpPr/>
          <p:nvPr/>
        </p:nvSpPr>
        <p:spPr>
          <a:xfrm>
            <a:off x="698339" y="8312580"/>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32" name="Rectangle 31">
            <a:extLst>
              <a:ext uri="{FF2B5EF4-FFF2-40B4-BE49-F238E27FC236}">
                <a16:creationId xmlns:a16="http://schemas.microsoft.com/office/drawing/2014/main" id="{16B1ECA1-094F-FE4A-8AFE-E48C67064BBB}"/>
              </a:ext>
            </a:extLst>
          </p:cNvPr>
          <p:cNvSpPr/>
          <p:nvPr/>
        </p:nvSpPr>
        <p:spPr>
          <a:xfrm>
            <a:off x="698339" y="8686358"/>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33" name="TextBox 32"/>
              <p:cNvSpPr txBox="1"/>
              <p:nvPr/>
            </p:nvSpPr>
            <p:spPr>
              <a:xfrm>
                <a:off x="306373" y="8686217"/>
                <a:ext cx="386068"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𝑦</m:t>
                    </m:r>
                  </m:oMath>
                </a14:m>
                <a:r>
                  <a:rPr lang="en-GB" sz="1200" noProof="0" dirty="0"/>
                  <a:t> =</a:t>
                </a:r>
              </a:p>
            </p:txBody>
          </p:sp>
        </mc:Choice>
        <mc:Fallback xmlns="">
          <p:sp>
            <p:nvSpPr>
              <p:cNvPr id="33" name="TextBox 32"/>
              <p:cNvSpPr txBox="1">
                <a:spLocks noRot="1" noChangeAspect="1" noMove="1" noResize="1" noEditPoints="1" noAdjustHandles="1" noChangeArrowheads="1" noChangeShapeType="1" noTextEdit="1"/>
              </p:cNvSpPr>
              <p:nvPr/>
            </p:nvSpPr>
            <p:spPr>
              <a:xfrm>
                <a:off x="306373" y="8686217"/>
                <a:ext cx="386068" cy="276999"/>
              </a:xfrm>
              <a:prstGeom prst="rect">
                <a:avLst/>
              </a:prstGeom>
              <a:blipFill>
                <a:blip r:embed="rId5"/>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3586493" y="8325188"/>
                <a:ext cx="383310"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oMath>
                </a14:m>
                <a:r>
                  <a:rPr lang="en-GB" sz="1200" noProof="0" dirty="0"/>
                  <a:t> =</a:t>
                </a:r>
              </a:p>
            </p:txBody>
          </p:sp>
        </mc:Choice>
        <mc:Fallback xmlns="">
          <p:sp>
            <p:nvSpPr>
              <p:cNvPr id="34" name="TextBox 33"/>
              <p:cNvSpPr txBox="1">
                <a:spLocks noRot="1" noChangeAspect="1" noMove="1" noResize="1" noEditPoints="1" noAdjustHandles="1" noChangeArrowheads="1" noChangeShapeType="1" noTextEdit="1"/>
              </p:cNvSpPr>
              <p:nvPr/>
            </p:nvSpPr>
            <p:spPr>
              <a:xfrm>
                <a:off x="3586493" y="8325188"/>
                <a:ext cx="383310" cy="276999"/>
              </a:xfrm>
              <a:prstGeom prst="rect">
                <a:avLst/>
              </a:prstGeom>
              <a:blipFill>
                <a:blip r:embed="rId6"/>
                <a:stretch>
                  <a:fillRect t="-2222" b="-17778"/>
                </a:stretch>
              </a:blipFill>
            </p:spPr>
            <p:txBody>
              <a:bodyPr/>
              <a:lstStyle/>
              <a:p>
                <a:r>
                  <a:rPr lang="en-US">
                    <a:noFill/>
                  </a:rPr>
                  <a:t> </a:t>
                </a:r>
              </a:p>
            </p:txBody>
          </p:sp>
        </mc:Fallback>
      </mc:AlternateContent>
      <p:sp>
        <p:nvSpPr>
          <p:cNvPr id="35" name="Rectangle 34">
            <a:extLst>
              <a:ext uri="{FF2B5EF4-FFF2-40B4-BE49-F238E27FC236}">
                <a16:creationId xmlns:a16="http://schemas.microsoft.com/office/drawing/2014/main" id="{16B1ECA1-094F-FE4A-8AFE-E48C67064BBB}"/>
              </a:ext>
            </a:extLst>
          </p:cNvPr>
          <p:cNvSpPr/>
          <p:nvPr/>
        </p:nvSpPr>
        <p:spPr>
          <a:xfrm>
            <a:off x="3978459" y="8315401"/>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36" name="Rectangle 35">
            <a:extLst>
              <a:ext uri="{FF2B5EF4-FFF2-40B4-BE49-F238E27FC236}">
                <a16:creationId xmlns:a16="http://schemas.microsoft.com/office/drawing/2014/main" id="{16B1ECA1-094F-FE4A-8AFE-E48C67064BBB}"/>
              </a:ext>
            </a:extLst>
          </p:cNvPr>
          <p:cNvSpPr/>
          <p:nvPr/>
        </p:nvSpPr>
        <p:spPr>
          <a:xfrm>
            <a:off x="3978459" y="8689179"/>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37" name="TextBox 36"/>
              <p:cNvSpPr txBox="1"/>
              <p:nvPr/>
            </p:nvSpPr>
            <p:spPr>
              <a:xfrm>
                <a:off x="3586493" y="8689038"/>
                <a:ext cx="386068"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𝑦</m:t>
                    </m:r>
                  </m:oMath>
                </a14:m>
                <a:r>
                  <a:rPr lang="en-GB" sz="1200" noProof="0" dirty="0"/>
                  <a:t> =</a:t>
                </a:r>
              </a:p>
            </p:txBody>
          </p:sp>
        </mc:Choice>
        <mc:Fallback xmlns="">
          <p:sp>
            <p:nvSpPr>
              <p:cNvPr id="37" name="TextBox 36"/>
              <p:cNvSpPr txBox="1">
                <a:spLocks noRot="1" noChangeAspect="1" noMove="1" noResize="1" noEditPoints="1" noAdjustHandles="1" noChangeArrowheads="1" noChangeShapeType="1" noTextEdit="1"/>
              </p:cNvSpPr>
              <p:nvPr/>
            </p:nvSpPr>
            <p:spPr>
              <a:xfrm>
                <a:off x="3586493" y="8689038"/>
                <a:ext cx="386068" cy="276999"/>
              </a:xfrm>
              <a:prstGeom prst="rect">
                <a:avLst/>
              </a:prstGeom>
              <a:blipFill>
                <a:blip r:embed="rId7"/>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p:cNvSpPr/>
              <p:nvPr/>
            </p:nvSpPr>
            <p:spPr>
              <a:xfrm>
                <a:off x="113812" y="7093777"/>
                <a:ext cx="3265813" cy="830997"/>
              </a:xfrm>
              <a:prstGeom prst="rect">
                <a:avLst/>
              </a:prstGeom>
            </p:spPr>
            <p:txBody>
              <a:bodyPr wrap="square">
                <a:spAutoFit/>
              </a:bodyPr>
              <a:lstStyle/>
              <a:p>
                <a:pPr algn="ctr"/>
                <a:r>
                  <a:rPr lang="en-GB" sz="1200" noProof="0" dirty="0"/>
                  <a:t>b) Use the graphs to solve the simultaneous equations </a:t>
                </a:r>
              </a:p>
              <a:p>
                <a:r>
                  <a:rPr lang="en-GB" sz="1200" b="0" noProof="0" dirty="0"/>
                  <a:t>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oMath>
                </a14:m>
                <a:endParaRPr lang="en-GB" sz="1200" b="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endParaRPr lang="en-GB" sz="1200" noProof="0" dirty="0"/>
              </a:p>
            </p:txBody>
          </p:sp>
        </mc:Choice>
        <mc:Fallback xmlns="">
          <p:sp>
            <p:nvSpPr>
              <p:cNvPr id="39" name="Rectangle 38"/>
              <p:cNvSpPr>
                <a:spLocks noRot="1" noChangeAspect="1" noMove="1" noResize="1" noEditPoints="1" noAdjustHandles="1" noChangeArrowheads="1" noChangeShapeType="1" noTextEdit="1"/>
              </p:cNvSpPr>
              <p:nvPr/>
            </p:nvSpPr>
            <p:spPr>
              <a:xfrm>
                <a:off x="113812" y="7093777"/>
                <a:ext cx="3265813" cy="830997"/>
              </a:xfrm>
              <a:prstGeom prst="rect">
                <a:avLst/>
              </a:prstGeom>
              <a:blipFill>
                <a:blip r:embed="rId8"/>
                <a:stretch>
                  <a:fillRect t="-7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0" name="Table 39"/>
              <p:cNvGraphicFramePr>
                <a:graphicFrameLocks noGrp="1"/>
              </p:cNvGraphicFramePr>
              <p:nvPr>
                <p:extLst>
                  <p:ext uri="{D42A27DB-BD31-4B8C-83A1-F6EECF244321}">
                    <p14:modId xmlns:p14="http://schemas.microsoft.com/office/powerpoint/2010/main" val="2260426858"/>
                  </p:ext>
                </p:extLst>
              </p:nvPr>
            </p:nvGraphicFramePr>
            <p:xfrm>
              <a:off x="314566" y="4659315"/>
              <a:ext cx="2882280" cy="741680"/>
            </p:xfrm>
            <a:graphic>
              <a:graphicData uri="http://schemas.openxmlformats.org/drawingml/2006/table">
                <a:tbl>
                  <a:tblPr firstRow="1" bandRow="1">
                    <a:tableStyleId>{5C22544A-7EE6-4342-B048-85BDC9FD1C3A}</a:tableStyleId>
                  </a:tblPr>
                  <a:tblGrid>
                    <a:gridCol w="480380">
                      <a:extLst>
                        <a:ext uri="{9D8B030D-6E8A-4147-A177-3AD203B41FA5}">
                          <a16:colId xmlns:a16="http://schemas.microsoft.com/office/drawing/2014/main" val="736508480"/>
                        </a:ext>
                      </a:extLst>
                    </a:gridCol>
                    <a:gridCol w="480380">
                      <a:extLst>
                        <a:ext uri="{9D8B030D-6E8A-4147-A177-3AD203B41FA5}">
                          <a16:colId xmlns:a16="http://schemas.microsoft.com/office/drawing/2014/main" val="1273869670"/>
                        </a:ext>
                      </a:extLst>
                    </a:gridCol>
                    <a:gridCol w="480380">
                      <a:extLst>
                        <a:ext uri="{9D8B030D-6E8A-4147-A177-3AD203B41FA5}">
                          <a16:colId xmlns:a16="http://schemas.microsoft.com/office/drawing/2014/main" val="852807214"/>
                        </a:ext>
                      </a:extLst>
                    </a:gridCol>
                    <a:gridCol w="480380">
                      <a:extLst>
                        <a:ext uri="{9D8B030D-6E8A-4147-A177-3AD203B41FA5}">
                          <a16:colId xmlns:a16="http://schemas.microsoft.com/office/drawing/2014/main" val="3747578519"/>
                        </a:ext>
                      </a:extLst>
                    </a:gridCol>
                    <a:gridCol w="480380">
                      <a:extLst>
                        <a:ext uri="{9D8B030D-6E8A-4147-A177-3AD203B41FA5}">
                          <a16:colId xmlns:a16="http://schemas.microsoft.com/office/drawing/2014/main" val="1554752747"/>
                        </a:ext>
                      </a:extLst>
                    </a:gridCol>
                    <a:gridCol w="480380">
                      <a:extLst>
                        <a:ext uri="{9D8B030D-6E8A-4147-A177-3AD203B41FA5}">
                          <a16:colId xmlns:a16="http://schemas.microsoft.com/office/drawing/2014/main" val="2817110103"/>
                        </a:ext>
                      </a:extLst>
                    </a:gridCol>
                  </a:tblGrid>
                  <a:tr h="370840">
                    <a:tc>
                      <a:txBody>
                        <a:bodyPr/>
                        <a:lstStyle/>
                        <a:p>
                          <a:pPr/>
                          <a14:m>
                            <m:oMathPara xmlns:m="http://schemas.openxmlformats.org/officeDocument/2006/math">
                              <m:oMathParaPr>
                                <m:jc m:val="centerGroup"/>
                              </m:oMathParaPr>
                              <m:oMath xmlns:m="http://schemas.openxmlformats.org/officeDocument/2006/math">
                                <m:r>
                                  <a:rPr lang="en-GB" sz="1200" b="1" i="1" noProof="0" smtClean="0">
                                    <a:solidFill>
                                      <a:schemeClr val="tx1"/>
                                    </a:solidFill>
                                    <a:latin typeface="Cambria Math" panose="02040503050406030204" pitchFamily="18" charset="0"/>
                                  </a:rPr>
                                  <m:t>𝒙</m:t>
                                </m:r>
                              </m:oMath>
                            </m:oMathPara>
                          </a14:m>
                          <a:endParaRPr lang="en-GB" sz="12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7628692"/>
                      </a:ext>
                    </a:extLst>
                  </a:tr>
                  <a:tr h="370840">
                    <a:tc>
                      <a:txBody>
                        <a:bodyPr/>
                        <a:lstStyle/>
                        <a:p>
                          <a:pPr/>
                          <a14:m>
                            <m:oMathPara xmlns:m="http://schemas.openxmlformats.org/officeDocument/2006/math">
                              <m:oMathParaPr>
                                <m:jc m:val="centerGroup"/>
                              </m:oMathParaPr>
                              <m:oMath xmlns:m="http://schemas.openxmlformats.org/officeDocument/2006/math">
                                <m:r>
                                  <a:rPr lang="en-GB" sz="1200" b="1" i="1" noProof="0" smtClean="0">
                                    <a:solidFill>
                                      <a:schemeClr val="tx1"/>
                                    </a:solidFill>
                                    <a:latin typeface="Cambria Math" panose="02040503050406030204" pitchFamily="18" charset="0"/>
                                  </a:rPr>
                                  <m:t>𝒚</m:t>
                                </m:r>
                              </m:oMath>
                            </m:oMathPara>
                          </a14:m>
                          <a:endParaRPr lang="en-GB" sz="12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7425131"/>
                      </a:ext>
                    </a:extLst>
                  </a:tr>
                </a:tbl>
              </a:graphicData>
            </a:graphic>
          </p:graphicFrame>
        </mc:Choice>
        <mc:Fallback xmlns="">
          <p:graphicFrame>
            <p:nvGraphicFramePr>
              <p:cNvPr id="40" name="Table 39"/>
              <p:cNvGraphicFramePr>
                <a:graphicFrameLocks noGrp="1"/>
              </p:cNvGraphicFramePr>
              <p:nvPr>
                <p:extLst>
                  <p:ext uri="{D42A27DB-BD31-4B8C-83A1-F6EECF244321}">
                    <p14:modId xmlns:p14="http://schemas.microsoft.com/office/powerpoint/2010/main" val="2260426858"/>
                  </p:ext>
                </p:extLst>
              </p:nvPr>
            </p:nvGraphicFramePr>
            <p:xfrm>
              <a:off x="314566" y="4659315"/>
              <a:ext cx="2882280" cy="741680"/>
            </p:xfrm>
            <a:graphic>
              <a:graphicData uri="http://schemas.openxmlformats.org/drawingml/2006/table">
                <a:tbl>
                  <a:tblPr firstRow="1" bandRow="1">
                    <a:tableStyleId>{5C22544A-7EE6-4342-B048-85BDC9FD1C3A}</a:tableStyleId>
                  </a:tblPr>
                  <a:tblGrid>
                    <a:gridCol w="480380">
                      <a:extLst>
                        <a:ext uri="{9D8B030D-6E8A-4147-A177-3AD203B41FA5}">
                          <a16:colId xmlns:a16="http://schemas.microsoft.com/office/drawing/2014/main" val="736508480"/>
                        </a:ext>
                      </a:extLst>
                    </a:gridCol>
                    <a:gridCol w="480380">
                      <a:extLst>
                        <a:ext uri="{9D8B030D-6E8A-4147-A177-3AD203B41FA5}">
                          <a16:colId xmlns:a16="http://schemas.microsoft.com/office/drawing/2014/main" val="1273869670"/>
                        </a:ext>
                      </a:extLst>
                    </a:gridCol>
                    <a:gridCol w="480380">
                      <a:extLst>
                        <a:ext uri="{9D8B030D-6E8A-4147-A177-3AD203B41FA5}">
                          <a16:colId xmlns:a16="http://schemas.microsoft.com/office/drawing/2014/main" val="852807214"/>
                        </a:ext>
                      </a:extLst>
                    </a:gridCol>
                    <a:gridCol w="480380">
                      <a:extLst>
                        <a:ext uri="{9D8B030D-6E8A-4147-A177-3AD203B41FA5}">
                          <a16:colId xmlns:a16="http://schemas.microsoft.com/office/drawing/2014/main" val="3747578519"/>
                        </a:ext>
                      </a:extLst>
                    </a:gridCol>
                    <a:gridCol w="480380">
                      <a:extLst>
                        <a:ext uri="{9D8B030D-6E8A-4147-A177-3AD203B41FA5}">
                          <a16:colId xmlns:a16="http://schemas.microsoft.com/office/drawing/2014/main" val="1554752747"/>
                        </a:ext>
                      </a:extLst>
                    </a:gridCol>
                    <a:gridCol w="480380">
                      <a:extLst>
                        <a:ext uri="{9D8B030D-6E8A-4147-A177-3AD203B41FA5}">
                          <a16:colId xmlns:a16="http://schemas.microsoft.com/office/drawing/2014/main" val="2817110103"/>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1266" t="-1639" r="-502532" b="-104918"/>
                          </a:stretch>
                        </a:blipFill>
                      </a:tcPr>
                    </a:tc>
                    <a:tc>
                      <a:txBody>
                        <a:bodyPr/>
                        <a:lstStyle/>
                        <a:p>
                          <a:r>
                            <a:rPr lang="en-GB" sz="1200" b="0" noProof="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762869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1266" t="-101639" r="-502532" b="-4918"/>
                          </a:stretch>
                        </a:blip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7425131"/>
                      </a:ext>
                    </a:extLst>
                  </a:tr>
                </a:tbl>
              </a:graphicData>
            </a:graphic>
          </p:graphicFrame>
        </mc:Fallback>
      </mc:AlternateContent>
      <mc:AlternateContent xmlns:mc="http://schemas.openxmlformats.org/markup-compatibility/2006" xmlns:a14="http://schemas.microsoft.com/office/drawing/2010/main">
        <mc:Choice Requires="a14">
          <p:sp>
            <p:nvSpPr>
              <p:cNvPr id="42" name="Rectangle 41"/>
              <p:cNvSpPr/>
              <p:nvPr/>
            </p:nvSpPr>
            <p:spPr>
              <a:xfrm>
                <a:off x="3554026" y="307793"/>
                <a:ext cx="3265813" cy="461665"/>
              </a:xfrm>
              <a:prstGeom prst="rect">
                <a:avLst/>
              </a:prstGeom>
            </p:spPr>
            <p:txBody>
              <a:bodyPr wrap="square">
                <a:spAutoFit/>
              </a:bodyPr>
              <a:lstStyle/>
              <a:p>
                <a:pPr algn="ctr"/>
                <a:r>
                  <a:rPr lang="en-GB" sz="1200" noProof="0" dirty="0"/>
                  <a:t>The straight line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oMath>
                </a14:m>
                <a:r>
                  <a:rPr lang="en-GB" sz="1200" noProof="0" dirty="0"/>
                  <a:t> has been drawn on the grid</a:t>
                </a:r>
              </a:p>
            </p:txBody>
          </p:sp>
        </mc:Choice>
        <mc:Fallback xmlns="">
          <p:sp>
            <p:nvSpPr>
              <p:cNvPr id="42" name="Rectangle 41"/>
              <p:cNvSpPr>
                <a:spLocks noRot="1" noChangeAspect="1" noMove="1" noResize="1" noEditPoints="1" noAdjustHandles="1" noChangeArrowheads="1" noChangeShapeType="1" noTextEdit="1"/>
              </p:cNvSpPr>
              <p:nvPr/>
            </p:nvSpPr>
            <p:spPr>
              <a:xfrm>
                <a:off x="3554026" y="307793"/>
                <a:ext cx="3265813" cy="461665"/>
              </a:xfrm>
              <a:prstGeom prst="rect">
                <a:avLst/>
              </a:prstGeom>
              <a:blipFill>
                <a:blip r:embed="rId10"/>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3512078" y="3832291"/>
                <a:ext cx="3265813" cy="461665"/>
              </a:xfrm>
              <a:prstGeom prst="rect">
                <a:avLst/>
              </a:prstGeom>
            </p:spPr>
            <p:txBody>
              <a:bodyPr wrap="square">
                <a:spAutoFit/>
              </a:bodyPr>
              <a:lstStyle/>
              <a:p>
                <a:pPr marL="228600" indent="-228600" algn="ctr">
                  <a:buAutoNum type="alphaLcParenR"/>
                </a:pPr>
                <a:r>
                  <a:rPr lang="en-GB" sz="1200" noProof="0" dirty="0"/>
                  <a:t>On the same grid, draw the graph of</a:t>
                </a:r>
              </a:p>
              <a:p>
                <a:pPr algn="ctr"/>
                <a:r>
                  <a:rPr lang="en-GB" sz="1200" noProof="0" dirty="0"/>
                  <a:t>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oMath>
                </a14:m>
                <a:endParaRPr lang="en-GB" sz="1200" noProof="0" dirty="0"/>
              </a:p>
            </p:txBody>
          </p:sp>
        </mc:Choice>
        <mc:Fallback xmlns="">
          <p:sp>
            <p:nvSpPr>
              <p:cNvPr id="43" name="Rectangle 42"/>
              <p:cNvSpPr>
                <a:spLocks noRot="1" noChangeAspect="1" noMove="1" noResize="1" noEditPoints="1" noAdjustHandles="1" noChangeArrowheads="1" noChangeShapeType="1" noTextEdit="1"/>
              </p:cNvSpPr>
              <p:nvPr/>
            </p:nvSpPr>
            <p:spPr>
              <a:xfrm>
                <a:off x="3512078" y="3832291"/>
                <a:ext cx="3265813" cy="461665"/>
              </a:xfrm>
              <a:prstGeom prst="rect">
                <a:avLst/>
              </a:prstGeom>
              <a:blipFill>
                <a:blip r:embed="rId11"/>
                <a:stretch>
                  <a:fillRect t="-2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4" name="Table 43"/>
              <p:cNvGraphicFramePr>
                <a:graphicFrameLocks noGrp="1"/>
              </p:cNvGraphicFramePr>
              <p:nvPr>
                <p:extLst>
                  <p:ext uri="{D42A27DB-BD31-4B8C-83A1-F6EECF244321}">
                    <p14:modId xmlns:p14="http://schemas.microsoft.com/office/powerpoint/2010/main" val="3496265965"/>
                  </p:ext>
                </p:extLst>
              </p:nvPr>
            </p:nvGraphicFramePr>
            <p:xfrm>
              <a:off x="3714230" y="4288475"/>
              <a:ext cx="2882280" cy="741680"/>
            </p:xfrm>
            <a:graphic>
              <a:graphicData uri="http://schemas.openxmlformats.org/drawingml/2006/table">
                <a:tbl>
                  <a:tblPr firstRow="1" bandRow="1">
                    <a:tableStyleId>{5C22544A-7EE6-4342-B048-85BDC9FD1C3A}</a:tableStyleId>
                  </a:tblPr>
                  <a:tblGrid>
                    <a:gridCol w="480380">
                      <a:extLst>
                        <a:ext uri="{9D8B030D-6E8A-4147-A177-3AD203B41FA5}">
                          <a16:colId xmlns:a16="http://schemas.microsoft.com/office/drawing/2014/main" val="736508480"/>
                        </a:ext>
                      </a:extLst>
                    </a:gridCol>
                    <a:gridCol w="480380">
                      <a:extLst>
                        <a:ext uri="{9D8B030D-6E8A-4147-A177-3AD203B41FA5}">
                          <a16:colId xmlns:a16="http://schemas.microsoft.com/office/drawing/2014/main" val="1273869670"/>
                        </a:ext>
                      </a:extLst>
                    </a:gridCol>
                    <a:gridCol w="480380">
                      <a:extLst>
                        <a:ext uri="{9D8B030D-6E8A-4147-A177-3AD203B41FA5}">
                          <a16:colId xmlns:a16="http://schemas.microsoft.com/office/drawing/2014/main" val="852807214"/>
                        </a:ext>
                      </a:extLst>
                    </a:gridCol>
                    <a:gridCol w="480380">
                      <a:extLst>
                        <a:ext uri="{9D8B030D-6E8A-4147-A177-3AD203B41FA5}">
                          <a16:colId xmlns:a16="http://schemas.microsoft.com/office/drawing/2014/main" val="3747578519"/>
                        </a:ext>
                      </a:extLst>
                    </a:gridCol>
                    <a:gridCol w="480380">
                      <a:extLst>
                        <a:ext uri="{9D8B030D-6E8A-4147-A177-3AD203B41FA5}">
                          <a16:colId xmlns:a16="http://schemas.microsoft.com/office/drawing/2014/main" val="1554752747"/>
                        </a:ext>
                      </a:extLst>
                    </a:gridCol>
                    <a:gridCol w="480380">
                      <a:extLst>
                        <a:ext uri="{9D8B030D-6E8A-4147-A177-3AD203B41FA5}">
                          <a16:colId xmlns:a16="http://schemas.microsoft.com/office/drawing/2014/main" val="2817110103"/>
                        </a:ext>
                      </a:extLst>
                    </a:gridCol>
                  </a:tblGrid>
                  <a:tr h="370840">
                    <a:tc>
                      <a:txBody>
                        <a:bodyPr/>
                        <a:lstStyle/>
                        <a:p>
                          <a:pPr/>
                          <a14:m>
                            <m:oMathPara xmlns:m="http://schemas.openxmlformats.org/officeDocument/2006/math">
                              <m:oMathParaPr>
                                <m:jc m:val="centerGroup"/>
                              </m:oMathParaPr>
                              <m:oMath xmlns:m="http://schemas.openxmlformats.org/officeDocument/2006/math">
                                <m:r>
                                  <a:rPr lang="en-GB" sz="1200" b="1" i="1" noProof="0" smtClean="0">
                                    <a:solidFill>
                                      <a:schemeClr val="tx1"/>
                                    </a:solidFill>
                                    <a:latin typeface="Cambria Math" panose="02040503050406030204" pitchFamily="18" charset="0"/>
                                  </a:rPr>
                                  <m:t>𝒙</m:t>
                                </m:r>
                              </m:oMath>
                            </m:oMathPara>
                          </a14:m>
                          <a:endParaRPr lang="en-GB" sz="12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7628692"/>
                      </a:ext>
                    </a:extLst>
                  </a:tr>
                  <a:tr h="370840">
                    <a:tc>
                      <a:txBody>
                        <a:bodyPr/>
                        <a:lstStyle/>
                        <a:p>
                          <a:pPr/>
                          <a14:m>
                            <m:oMathPara xmlns:m="http://schemas.openxmlformats.org/officeDocument/2006/math">
                              <m:oMathParaPr>
                                <m:jc m:val="centerGroup"/>
                              </m:oMathParaPr>
                              <m:oMath xmlns:m="http://schemas.openxmlformats.org/officeDocument/2006/math">
                                <m:r>
                                  <a:rPr lang="en-GB" sz="1200" b="1" i="1" noProof="0" smtClean="0">
                                    <a:solidFill>
                                      <a:schemeClr val="tx1"/>
                                    </a:solidFill>
                                    <a:latin typeface="Cambria Math" panose="02040503050406030204" pitchFamily="18" charset="0"/>
                                  </a:rPr>
                                  <m:t>𝒚</m:t>
                                </m:r>
                              </m:oMath>
                            </m:oMathPara>
                          </a14:m>
                          <a:endParaRPr lang="en-GB" sz="12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7425131"/>
                      </a:ext>
                    </a:extLst>
                  </a:tr>
                </a:tbl>
              </a:graphicData>
            </a:graphic>
          </p:graphicFrame>
        </mc:Choice>
        <mc:Fallback xmlns="">
          <p:graphicFrame>
            <p:nvGraphicFramePr>
              <p:cNvPr id="44" name="Table 43"/>
              <p:cNvGraphicFramePr>
                <a:graphicFrameLocks noGrp="1"/>
              </p:cNvGraphicFramePr>
              <p:nvPr>
                <p:extLst>
                  <p:ext uri="{D42A27DB-BD31-4B8C-83A1-F6EECF244321}">
                    <p14:modId xmlns:p14="http://schemas.microsoft.com/office/powerpoint/2010/main" val="3496265965"/>
                  </p:ext>
                </p:extLst>
              </p:nvPr>
            </p:nvGraphicFramePr>
            <p:xfrm>
              <a:off x="3714230" y="4288475"/>
              <a:ext cx="2882280" cy="741680"/>
            </p:xfrm>
            <a:graphic>
              <a:graphicData uri="http://schemas.openxmlformats.org/drawingml/2006/table">
                <a:tbl>
                  <a:tblPr firstRow="1" bandRow="1">
                    <a:tableStyleId>{5C22544A-7EE6-4342-B048-85BDC9FD1C3A}</a:tableStyleId>
                  </a:tblPr>
                  <a:tblGrid>
                    <a:gridCol w="480380">
                      <a:extLst>
                        <a:ext uri="{9D8B030D-6E8A-4147-A177-3AD203B41FA5}">
                          <a16:colId xmlns:a16="http://schemas.microsoft.com/office/drawing/2014/main" val="736508480"/>
                        </a:ext>
                      </a:extLst>
                    </a:gridCol>
                    <a:gridCol w="480380">
                      <a:extLst>
                        <a:ext uri="{9D8B030D-6E8A-4147-A177-3AD203B41FA5}">
                          <a16:colId xmlns:a16="http://schemas.microsoft.com/office/drawing/2014/main" val="1273869670"/>
                        </a:ext>
                      </a:extLst>
                    </a:gridCol>
                    <a:gridCol w="480380">
                      <a:extLst>
                        <a:ext uri="{9D8B030D-6E8A-4147-A177-3AD203B41FA5}">
                          <a16:colId xmlns:a16="http://schemas.microsoft.com/office/drawing/2014/main" val="852807214"/>
                        </a:ext>
                      </a:extLst>
                    </a:gridCol>
                    <a:gridCol w="480380">
                      <a:extLst>
                        <a:ext uri="{9D8B030D-6E8A-4147-A177-3AD203B41FA5}">
                          <a16:colId xmlns:a16="http://schemas.microsoft.com/office/drawing/2014/main" val="3747578519"/>
                        </a:ext>
                      </a:extLst>
                    </a:gridCol>
                    <a:gridCol w="480380">
                      <a:extLst>
                        <a:ext uri="{9D8B030D-6E8A-4147-A177-3AD203B41FA5}">
                          <a16:colId xmlns:a16="http://schemas.microsoft.com/office/drawing/2014/main" val="1554752747"/>
                        </a:ext>
                      </a:extLst>
                    </a:gridCol>
                    <a:gridCol w="480380">
                      <a:extLst>
                        <a:ext uri="{9D8B030D-6E8A-4147-A177-3AD203B41FA5}">
                          <a16:colId xmlns:a16="http://schemas.microsoft.com/office/drawing/2014/main" val="2817110103"/>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1266" t="-1613" r="-502532" b="-101613"/>
                          </a:stretch>
                        </a:blipFill>
                      </a:tcPr>
                    </a:tc>
                    <a:tc>
                      <a:txBody>
                        <a:bodyPr/>
                        <a:lstStyle/>
                        <a:p>
                          <a:r>
                            <a:rPr lang="en-GB" sz="1200" b="0" noProof="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762869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1266" t="-103279" r="-502532" b="-3279"/>
                          </a:stretch>
                        </a:blip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7425131"/>
                      </a:ext>
                    </a:extLst>
                  </a:tr>
                </a:tbl>
              </a:graphicData>
            </a:graphic>
          </p:graphicFrame>
        </mc:Fallback>
      </mc:AlternateContent>
      <mc:AlternateContent xmlns:mc="http://schemas.openxmlformats.org/markup-compatibility/2006" xmlns:a14="http://schemas.microsoft.com/office/drawing/2010/main">
        <mc:Choice Requires="a14">
          <p:sp>
            <p:nvSpPr>
              <p:cNvPr id="45" name="Rectangle 44"/>
              <p:cNvSpPr/>
              <p:nvPr/>
            </p:nvSpPr>
            <p:spPr>
              <a:xfrm>
                <a:off x="3469726" y="7019441"/>
                <a:ext cx="3265813" cy="830997"/>
              </a:xfrm>
              <a:prstGeom prst="rect">
                <a:avLst/>
              </a:prstGeom>
            </p:spPr>
            <p:txBody>
              <a:bodyPr wrap="square">
                <a:spAutoFit/>
              </a:bodyPr>
              <a:lstStyle/>
              <a:p>
                <a:pPr algn="ctr"/>
                <a:r>
                  <a:rPr lang="en-GB" sz="1200" noProof="0" dirty="0"/>
                  <a:t>b) Use the graphs to solve the simultaneous equations </a:t>
                </a:r>
              </a:p>
              <a:p>
                <a:r>
                  <a:rPr lang="en-GB" sz="1200" b="0" noProof="0" dirty="0"/>
                  <a:t>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oMath>
                </a14:m>
                <a:endParaRPr lang="en-GB" sz="1200" b="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oMath>
                </a14:m>
                <a:endParaRPr lang="en-GB" sz="1200" noProof="0" dirty="0"/>
              </a:p>
            </p:txBody>
          </p:sp>
        </mc:Choice>
        <mc:Fallback xmlns="">
          <p:sp>
            <p:nvSpPr>
              <p:cNvPr id="45" name="Rectangle 44"/>
              <p:cNvSpPr>
                <a:spLocks noRot="1" noChangeAspect="1" noMove="1" noResize="1" noEditPoints="1" noAdjustHandles="1" noChangeArrowheads="1" noChangeShapeType="1" noTextEdit="1"/>
              </p:cNvSpPr>
              <p:nvPr/>
            </p:nvSpPr>
            <p:spPr>
              <a:xfrm>
                <a:off x="3469726" y="7019441"/>
                <a:ext cx="3265813" cy="830997"/>
              </a:xfrm>
              <a:prstGeom prst="rect">
                <a:avLst/>
              </a:prstGeom>
              <a:blipFill>
                <a:blip r:embed="rId13"/>
                <a:stretch>
                  <a:fillRect/>
                </a:stretch>
              </a:blipFill>
            </p:spPr>
            <p:txBody>
              <a:bodyPr/>
              <a:lstStyle/>
              <a:p>
                <a:r>
                  <a:rPr lang="en-US">
                    <a:noFill/>
                  </a:rPr>
                  <a:t> </a:t>
                </a:r>
              </a:p>
            </p:txBody>
          </p:sp>
        </mc:Fallback>
      </mc:AlternateContent>
      <p:pic>
        <p:nvPicPr>
          <p:cNvPr id="13" name="Picture 12"/>
          <p:cNvPicPr>
            <a:picLocks noChangeAspect="1"/>
          </p:cNvPicPr>
          <p:nvPr/>
        </p:nvPicPr>
        <p:blipFill>
          <a:blip r:embed="rId14"/>
          <a:stretch>
            <a:fillRect/>
          </a:stretch>
        </p:blipFill>
        <p:spPr>
          <a:xfrm>
            <a:off x="3900794" y="809588"/>
            <a:ext cx="2446027" cy="2891798"/>
          </a:xfrm>
          <a:prstGeom prst="rect">
            <a:avLst/>
          </a:prstGeom>
        </p:spPr>
      </p:pic>
      <p:pic>
        <p:nvPicPr>
          <p:cNvPr id="7" name="Picture 6"/>
          <p:cNvPicPr>
            <a:picLocks noChangeAspect="1"/>
          </p:cNvPicPr>
          <p:nvPr/>
        </p:nvPicPr>
        <p:blipFill>
          <a:blip r:embed="rId15"/>
          <a:stretch>
            <a:fillRect/>
          </a:stretch>
        </p:blipFill>
        <p:spPr>
          <a:xfrm>
            <a:off x="689683" y="718515"/>
            <a:ext cx="2219379" cy="3250922"/>
          </a:xfrm>
          <a:prstGeom prst="rect">
            <a:avLst/>
          </a:prstGeom>
        </p:spPr>
      </p:pic>
      <p:cxnSp>
        <p:nvCxnSpPr>
          <p:cNvPr id="26" name="Straight Connector 25"/>
          <p:cNvCxnSpPr/>
          <p:nvPr/>
        </p:nvCxnSpPr>
        <p:spPr>
          <a:xfrm flipH="1">
            <a:off x="1127760" y="1351280"/>
            <a:ext cx="1310640" cy="275951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04469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D5C093-3020-E24D-AB17-0B12D276949A}"/>
              </a:ext>
            </a:extLst>
          </p:cNvPr>
          <p:cNvSpPr>
            <a:spLocks noGrp="1"/>
          </p:cNvSpPr>
          <p:nvPr>
            <p:ph type="sldNum" sz="quarter" idx="12"/>
          </p:nvPr>
        </p:nvSpPr>
        <p:spPr>
          <a:xfrm>
            <a:off x="5401577" y="9590546"/>
            <a:ext cx="1543050" cy="527403"/>
          </a:xfrm>
        </p:spPr>
        <p:txBody>
          <a:bodyPr/>
          <a:lstStyle/>
          <a:p>
            <a:fld id="{19F1D9CC-7119-45EC-A96C-D8C0660F3AAB}" type="slidenum">
              <a:rPr lang="en-GB" noProof="0" smtClean="0"/>
              <a:t>31</a:t>
            </a:fld>
            <a:endParaRPr lang="en-GB" noProof="0" dirty="0"/>
          </a:p>
        </p:txBody>
      </p:sp>
      <p:sp>
        <p:nvSpPr>
          <p:cNvPr id="37" name="TextBox 36">
            <a:extLst>
              <a:ext uri="{FF2B5EF4-FFF2-40B4-BE49-F238E27FC236}">
                <a16:creationId xmlns:a16="http://schemas.microsoft.com/office/drawing/2014/main" id="{F7DE5049-0584-4F4D-82D4-439DFF52C686}"/>
              </a:ext>
            </a:extLst>
          </p:cNvPr>
          <p:cNvSpPr txBox="1"/>
          <p:nvPr/>
        </p:nvSpPr>
        <p:spPr>
          <a:xfrm>
            <a:off x="4088082" y="9492561"/>
            <a:ext cx="1570943" cy="307777"/>
          </a:xfrm>
          <a:prstGeom prst="rect">
            <a:avLst/>
          </a:prstGeom>
          <a:noFill/>
        </p:spPr>
        <p:txBody>
          <a:bodyPr wrap="none" rtlCol="0">
            <a:spAutoFit/>
          </a:bodyPr>
          <a:lstStyle/>
          <a:p>
            <a:r>
              <a:rPr lang="en-GB" sz="1400" noProof="0" dirty="0"/>
              <a:t>Intersection point: </a:t>
            </a:r>
          </a:p>
        </p:txBody>
      </p:sp>
      <p:sp>
        <p:nvSpPr>
          <p:cNvPr id="38" name="Rectangle 37">
            <a:extLst>
              <a:ext uri="{FF2B5EF4-FFF2-40B4-BE49-F238E27FC236}">
                <a16:creationId xmlns:a16="http://schemas.microsoft.com/office/drawing/2014/main" id="{DF736B77-4F67-BC46-A05B-715CED30EA6B}"/>
              </a:ext>
            </a:extLst>
          </p:cNvPr>
          <p:cNvSpPr/>
          <p:nvPr/>
        </p:nvSpPr>
        <p:spPr>
          <a:xfrm>
            <a:off x="5847464" y="9462131"/>
            <a:ext cx="844363" cy="3686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solidFill>
                  <a:schemeClr val="tx1"/>
                </a:solidFill>
              </a:rPr>
              <a:t>,</a:t>
            </a:r>
          </a:p>
        </p:txBody>
      </p:sp>
      <p:sp>
        <p:nvSpPr>
          <p:cNvPr id="39" name="TextBox 38">
            <a:extLst>
              <a:ext uri="{FF2B5EF4-FFF2-40B4-BE49-F238E27FC236}">
                <a16:creationId xmlns:a16="http://schemas.microsoft.com/office/drawing/2014/main" id="{EEC542DB-5F2D-3A43-A9B6-2997C0D181EF}"/>
              </a:ext>
            </a:extLst>
          </p:cNvPr>
          <p:cNvSpPr txBox="1"/>
          <p:nvPr/>
        </p:nvSpPr>
        <p:spPr>
          <a:xfrm>
            <a:off x="4245753" y="4425436"/>
            <a:ext cx="1641475" cy="307777"/>
          </a:xfrm>
          <a:prstGeom prst="rect">
            <a:avLst/>
          </a:prstGeom>
          <a:noFill/>
        </p:spPr>
        <p:txBody>
          <a:bodyPr wrap="none" rtlCol="0">
            <a:spAutoFit/>
          </a:bodyPr>
          <a:lstStyle/>
          <a:p>
            <a:r>
              <a:rPr lang="en-GB" sz="1400" noProof="0" dirty="0"/>
              <a:t>Intersection points: </a:t>
            </a:r>
          </a:p>
        </p:txBody>
      </p:sp>
      <p:sp>
        <p:nvSpPr>
          <p:cNvPr id="40" name="Rectangle 39">
            <a:extLst>
              <a:ext uri="{FF2B5EF4-FFF2-40B4-BE49-F238E27FC236}">
                <a16:creationId xmlns:a16="http://schemas.microsoft.com/office/drawing/2014/main" id="{0165A034-344A-9D4C-9239-C3DBEA587F9F}"/>
              </a:ext>
            </a:extLst>
          </p:cNvPr>
          <p:cNvSpPr/>
          <p:nvPr/>
        </p:nvSpPr>
        <p:spPr>
          <a:xfrm>
            <a:off x="5847465" y="4395007"/>
            <a:ext cx="844363" cy="3686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solidFill>
                  <a:schemeClr val="tx1"/>
                </a:solidFill>
              </a:rPr>
              <a:t>,</a:t>
            </a:r>
          </a:p>
        </p:txBody>
      </p:sp>
      <p:sp>
        <p:nvSpPr>
          <p:cNvPr id="43" name="TextBox 42">
            <a:extLst>
              <a:ext uri="{FF2B5EF4-FFF2-40B4-BE49-F238E27FC236}">
                <a16:creationId xmlns:a16="http://schemas.microsoft.com/office/drawing/2014/main" id="{2C10CDB0-5D39-7448-ABDD-102EC30FED6B}"/>
              </a:ext>
            </a:extLst>
          </p:cNvPr>
          <p:cNvSpPr txBox="1"/>
          <p:nvPr/>
        </p:nvSpPr>
        <p:spPr>
          <a:xfrm>
            <a:off x="1730476" y="10351"/>
            <a:ext cx="4220643" cy="276999"/>
          </a:xfrm>
          <a:prstGeom prst="rect">
            <a:avLst/>
          </a:prstGeom>
          <a:noFill/>
        </p:spPr>
        <p:txBody>
          <a:bodyPr wrap="none" rtlCol="0">
            <a:spAutoFit/>
          </a:bodyPr>
          <a:lstStyle/>
          <a:p>
            <a:r>
              <a:rPr lang="en-GB" sz="1200" noProof="0" dirty="0"/>
              <a:t> Solve the simultaneous equations using the graphical method:</a:t>
            </a:r>
          </a:p>
        </p:txBody>
      </p:sp>
      <mc:AlternateContent xmlns:mc="http://schemas.openxmlformats.org/markup-compatibility/2006" xmlns:a14="http://schemas.microsoft.com/office/drawing/2010/main">
        <mc:Choice Requires="a14">
          <p:sp>
            <p:nvSpPr>
              <p:cNvPr id="44" name="Rectangle 43"/>
              <p:cNvSpPr/>
              <p:nvPr/>
            </p:nvSpPr>
            <p:spPr>
              <a:xfrm>
                <a:off x="-24517" y="5037500"/>
                <a:ext cx="3860800" cy="3785652"/>
              </a:xfrm>
              <a:prstGeom prst="rect">
                <a:avLst/>
              </a:prstGeom>
            </p:spPr>
            <p:txBody>
              <a:bodyPr wrap="square">
                <a:spAutoFit/>
              </a:bodyPr>
              <a:lstStyle/>
              <a:p>
                <a:pPr algn="ctr"/>
                <a:r>
                  <a:rPr lang="en-GB" sz="1200" noProof="0" dirty="0"/>
                  <a:t>3a) The straight line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r>
                  <a:rPr lang="en-GB" sz="1200" noProof="0" dirty="0"/>
                  <a:t> has been drawn on the grid.</a:t>
                </a:r>
              </a:p>
              <a:p>
                <a:pPr algn="ctr"/>
                <a:endParaRPr lang="en-GB" sz="1200" noProof="0" dirty="0"/>
              </a:p>
              <a:p>
                <a:pPr algn="ctr"/>
                <a:r>
                  <a:rPr lang="en-GB" sz="1200" noProof="0" dirty="0"/>
                  <a:t>On the same grid draw the graph of </a:t>
                </a:r>
              </a:p>
              <a:p>
                <a:pPr algn="ct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r>
                  <a:rPr lang="en-GB" sz="1200" noProof="0" dirty="0"/>
                  <a:t> </a:t>
                </a:r>
              </a:p>
              <a:p>
                <a:pPr algn="ctr"/>
                <a:endParaRPr lang="en-GB" sz="1200" noProof="0" dirty="0"/>
              </a:p>
              <a:p>
                <a:pPr algn="ctr"/>
                <a:endParaRPr lang="en-GB" sz="1200" noProof="0" dirty="0"/>
              </a:p>
              <a:p>
                <a:pPr algn="ctr"/>
                <a:endParaRPr lang="en-GB" sz="1200" noProof="0" dirty="0"/>
              </a:p>
              <a:p>
                <a:pPr algn="ctr"/>
                <a:endParaRPr lang="en-GB" sz="1200" noProof="0" dirty="0"/>
              </a:p>
              <a:p>
                <a:pPr algn="ctr"/>
                <a:endParaRPr lang="en-GB" sz="1200" noProof="0" dirty="0"/>
              </a:p>
              <a:p>
                <a:pPr algn="ctr"/>
                <a:endParaRPr lang="en-GB" sz="1200" noProof="0" dirty="0"/>
              </a:p>
              <a:p>
                <a:pPr algn="ctr"/>
                <a:endParaRPr lang="en-GB" sz="1200" noProof="0" dirty="0"/>
              </a:p>
              <a:p>
                <a:pPr algn="ctr"/>
                <a:endParaRPr lang="en-GB" sz="1200" noProof="0" dirty="0"/>
              </a:p>
              <a:p>
                <a:pPr algn="ctr"/>
                <a:endParaRPr lang="en-GB" sz="1200" noProof="0" dirty="0"/>
              </a:p>
              <a:p>
                <a:pPr algn="ctr"/>
                <a:endParaRPr lang="en-GB" sz="1200" noProof="0" dirty="0"/>
              </a:p>
              <a:p>
                <a:pPr algn="ctr"/>
                <a:endParaRPr lang="en-GB" sz="1200" noProof="0" dirty="0"/>
              </a:p>
              <a:p>
                <a:pPr algn="ctr"/>
                <a:endParaRPr lang="en-GB" sz="1200" noProof="0" dirty="0"/>
              </a:p>
              <a:p>
                <a:pPr algn="ctr"/>
                <a:r>
                  <a:rPr lang="en-GB" sz="1200" noProof="0" dirty="0"/>
                  <a:t>b) use the graph to find the solutions to the simultaneous equations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−1 </m:t>
                    </m:r>
                  </m:oMath>
                </a14:m>
                <a:r>
                  <a:rPr lang="en-GB" sz="1200" noProof="0" dirty="0"/>
                  <a:t>and</a:t>
                </a:r>
              </a:p>
              <a:p>
                <a:pPr algn="ctr"/>
                <a:r>
                  <a:rPr lang="en-GB" sz="1200" noProof="0" dirty="0"/>
                  <a:t>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endParaRPr lang="en-GB" sz="1200" noProof="0" dirty="0"/>
              </a:p>
            </p:txBody>
          </p:sp>
        </mc:Choice>
        <mc:Fallback xmlns="">
          <p:sp>
            <p:nvSpPr>
              <p:cNvPr id="44" name="Rectangle 43"/>
              <p:cNvSpPr>
                <a:spLocks noRot="1" noChangeAspect="1" noMove="1" noResize="1" noEditPoints="1" noAdjustHandles="1" noChangeArrowheads="1" noChangeShapeType="1" noTextEdit="1"/>
              </p:cNvSpPr>
              <p:nvPr/>
            </p:nvSpPr>
            <p:spPr>
              <a:xfrm>
                <a:off x="-24517" y="5037500"/>
                <a:ext cx="3860800" cy="3785652"/>
              </a:xfrm>
              <a:prstGeom prst="rect">
                <a:avLst/>
              </a:prstGeom>
              <a:blipFill>
                <a:blip r:embed="rId2"/>
                <a:stretch>
                  <a:fillRect/>
                </a:stretch>
              </a:blipFill>
            </p:spPr>
            <p:txBody>
              <a:bodyPr/>
              <a:lstStyle/>
              <a:p>
                <a:r>
                  <a:rPr lang="en-US">
                    <a:noFill/>
                  </a:rPr>
                  <a:t> </a:t>
                </a:r>
              </a:p>
            </p:txBody>
          </p:sp>
        </mc:Fallback>
      </mc:AlternateContent>
      <p:pic>
        <p:nvPicPr>
          <p:cNvPr id="6" name="Picture 5"/>
          <p:cNvPicPr>
            <a:picLocks noChangeAspect="1"/>
          </p:cNvPicPr>
          <p:nvPr/>
        </p:nvPicPr>
        <p:blipFill>
          <a:blip r:embed="rId3"/>
          <a:stretch>
            <a:fillRect/>
          </a:stretch>
        </p:blipFill>
        <p:spPr>
          <a:xfrm>
            <a:off x="3956840" y="5526364"/>
            <a:ext cx="2767554" cy="3799138"/>
          </a:xfrm>
          <a:prstGeom prst="rect">
            <a:avLst/>
          </a:prstGeom>
          <a:ln w="19050">
            <a:solidFill>
              <a:schemeClr val="tx1"/>
            </a:solidFill>
          </a:ln>
        </p:spPr>
      </p:pic>
      <mc:AlternateContent xmlns:mc="http://schemas.openxmlformats.org/markup-compatibility/2006" xmlns:a14="http://schemas.microsoft.com/office/drawing/2010/main">
        <mc:Choice Requires="a14">
          <p:graphicFrame>
            <p:nvGraphicFramePr>
              <p:cNvPr id="45" name="Table 44"/>
              <p:cNvGraphicFramePr>
                <a:graphicFrameLocks noGrp="1"/>
              </p:cNvGraphicFramePr>
              <p:nvPr>
                <p:extLst>
                  <p:ext uri="{D42A27DB-BD31-4B8C-83A1-F6EECF244321}">
                    <p14:modId xmlns:p14="http://schemas.microsoft.com/office/powerpoint/2010/main" val="1336307344"/>
                  </p:ext>
                </p:extLst>
              </p:nvPr>
            </p:nvGraphicFramePr>
            <p:xfrm>
              <a:off x="517721" y="6109610"/>
              <a:ext cx="2882280" cy="741680"/>
            </p:xfrm>
            <a:graphic>
              <a:graphicData uri="http://schemas.openxmlformats.org/drawingml/2006/table">
                <a:tbl>
                  <a:tblPr firstRow="1" bandRow="1">
                    <a:tableStyleId>{5C22544A-7EE6-4342-B048-85BDC9FD1C3A}</a:tableStyleId>
                  </a:tblPr>
                  <a:tblGrid>
                    <a:gridCol w="480380">
                      <a:extLst>
                        <a:ext uri="{9D8B030D-6E8A-4147-A177-3AD203B41FA5}">
                          <a16:colId xmlns:a16="http://schemas.microsoft.com/office/drawing/2014/main" val="736508480"/>
                        </a:ext>
                      </a:extLst>
                    </a:gridCol>
                    <a:gridCol w="480380">
                      <a:extLst>
                        <a:ext uri="{9D8B030D-6E8A-4147-A177-3AD203B41FA5}">
                          <a16:colId xmlns:a16="http://schemas.microsoft.com/office/drawing/2014/main" val="1273869670"/>
                        </a:ext>
                      </a:extLst>
                    </a:gridCol>
                    <a:gridCol w="480380">
                      <a:extLst>
                        <a:ext uri="{9D8B030D-6E8A-4147-A177-3AD203B41FA5}">
                          <a16:colId xmlns:a16="http://schemas.microsoft.com/office/drawing/2014/main" val="852807214"/>
                        </a:ext>
                      </a:extLst>
                    </a:gridCol>
                    <a:gridCol w="480380">
                      <a:extLst>
                        <a:ext uri="{9D8B030D-6E8A-4147-A177-3AD203B41FA5}">
                          <a16:colId xmlns:a16="http://schemas.microsoft.com/office/drawing/2014/main" val="3747578519"/>
                        </a:ext>
                      </a:extLst>
                    </a:gridCol>
                    <a:gridCol w="480380">
                      <a:extLst>
                        <a:ext uri="{9D8B030D-6E8A-4147-A177-3AD203B41FA5}">
                          <a16:colId xmlns:a16="http://schemas.microsoft.com/office/drawing/2014/main" val="1554752747"/>
                        </a:ext>
                      </a:extLst>
                    </a:gridCol>
                    <a:gridCol w="480380">
                      <a:extLst>
                        <a:ext uri="{9D8B030D-6E8A-4147-A177-3AD203B41FA5}">
                          <a16:colId xmlns:a16="http://schemas.microsoft.com/office/drawing/2014/main" val="2817110103"/>
                        </a:ext>
                      </a:extLst>
                    </a:gridCol>
                  </a:tblGrid>
                  <a:tr h="370840">
                    <a:tc>
                      <a:txBody>
                        <a:bodyPr/>
                        <a:lstStyle/>
                        <a:p>
                          <a:pPr/>
                          <a14:m>
                            <m:oMathPara xmlns:m="http://schemas.openxmlformats.org/officeDocument/2006/math">
                              <m:oMathParaPr>
                                <m:jc m:val="centerGroup"/>
                              </m:oMathParaPr>
                              <m:oMath xmlns:m="http://schemas.openxmlformats.org/officeDocument/2006/math">
                                <m:r>
                                  <a:rPr lang="en-GB" sz="1200" b="1" i="1" noProof="0" smtClean="0">
                                    <a:solidFill>
                                      <a:schemeClr val="tx1"/>
                                    </a:solidFill>
                                    <a:latin typeface="Cambria Math" panose="02040503050406030204" pitchFamily="18" charset="0"/>
                                  </a:rPr>
                                  <m:t>𝒙</m:t>
                                </m:r>
                              </m:oMath>
                            </m:oMathPara>
                          </a14:m>
                          <a:endParaRPr lang="en-GB" sz="12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7628692"/>
                      </a:ext>
                    </a:extLst>
                  </a:tr>
                  <a:tr h="370840">
                    <a:tc>
                      <a:txBody>
                        <a:bodyPr/>
                        <a:lstStyle/>
                        <a:p>
                          <a:pPr/>
                          <a14:m>
                            <m:oMathPara xmlns:m="http://schemas.openxmlformats.org/officeDocument/2006/math">
                              <m:oMathParaPr>
                                <m:jc m:val="centerGroup"/>
                              </m:oMathParaPr>
                              <m:oMath xmlns:m="http://schemas.openxmlformats.org/officeDocument/2006/math">
                                <m:r>
                                  <a:rPr lang="en-GB" sz="1200" b="1" i="1" noProof="0" smtClean="0">
                                    <a:solidFill>
                                      <a:schemeClr val="tx1"/>
                                    </a:solidFill>
                                    <a:latin typeface="Cambria Math" panose="02040503050406030204" pitchFamily="18" charset="0"/>
                                  </a:rPr>
                                  <m:t>𝒚</m:t>
                                </m:r>
                              </m:oMath>
                            </m:oMathPara>
                          </a14:m>
                          <a:endParaRPr lang="en-GB" sz="12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7425131"/>
                      </a:ext>
                    </a:extLst>
                  </a:tr>
                </a:tbl>
              </a:graphicData>
            </a:graphic>
          </p:graphicFrame>
        </mc:Choice>
        <mc:Fallback xmlns="">
          <p:graphicFrame>
            <p:nvGraphicFramePr>
              <p:cNvPr id="45" name="Table 44"/>
              <p:cNvGraphicFramePr>
                <a:graphicFrameLocks noGrp="1"/>
              </p:cNvGraphicFramePr>
              <p:nvPr>
                <p:extLst>
                  <p:ext uri="{D42A27DB-BD31-4B8C-83A1-F6EECF244321}">
                    <p14:modId xmlns:p14="http://schemas.microsoft.com/office/powerpoint/2010/main" val="1336307344"/>
                  </p:ext>
                </p:extLst>
              </p:nvPr>
            </p:nvGraphicFramePr>
            <p:xfrm>
              <a:off x="517721" y="6109610"/>
              <a:ext cx="2882280" cy="741680"/>
            </p:xfrm>
            <a:graphic>
              <a:graphicData uri="http://schemas.openxmlformats.org/drawingml/2006/table">
                <a:tbl>
                  <a:tblPr firstRow="1" bandRow="1">
                    <a:tableStyleId>{5C22544A-7EE6-4342-B048-85BDC9FD1C3A}</a:tableStyleId>
                  </a:tblPr>
                  <a:tblGrid>
                    <a:gridCol w="480380">
                      <a:extLst>
                        <a:ext uri="{9D8B030D-6E8A-4147-A177-3AD203B41FA5}">
                          <a16:colId xmlns:a16="http://schemas.microsoft.com/office/drawing/2014/main" val="736508480"/>
                        </a:ext>
                      </a:extLst>
                    </a:gridCol>
                    <a:gridCol w="480380">
                      <a:extLst>
                        <a:ext uri="{9D8B030D-6E8A-4147-A177-3AD203B41FA5}">
                          <a16:colId xmlns:a16="http://schemas.microsoft.com/office/drawing/2014/main" val="1273869670"/>
                        </a:ext>
                      </a:extLst>
                    </a:gridCol>
                    <a:gridCol w="480380">
                      <a:extLst>
                        <a:ext uri="{9D8B030D-6E8A-4147-A177-3AD203B41FA5}">
                          <a16:colId xmlns:a16="http://schemas.microsoft.com/office/drawing/2014/main" val="852807214"/>
                        </a:ext>
                      </a:extLst>
                    </a:gridCol>
                    <a:gridCol w="480380">
                      <a:extLst>
                        <a:ext uri="{9D8B030D-6E8A-4147-A177-3AD203B41FA5}">
                          <a16:colId xmlns:a16="http://schemas.microsoft.com/office/drawing/2014/main" val="3747578519"/>
                        </a:ext>
                      </a:extLst>
                    </a:gridCol>
                    <a:gridCol w="480380">
                      <a:extLst>
                        <a:ext uri="{9D8B030D-6E8A-4147-A177-3AD203B41FA5}">
                          <a16:colId xmlns:a16="http://schemas.microsoft.com/office/drawing/2014/main" val="1554752747"/>
                        </a:ext>
                      </a:extLst>
                    </a:gridCol>
                    <a:gridCol w="480380">
                      <a:extLst>
                        <a:ext uri="{9D8B030D-6E8A-4147-A177-3AD203B41FA5}">
                          <a16:colId xmlns:a16="http://schemas.microsoft.com/office/drawing/2014/main" val="2817110103"/>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66" t="-1639" r="-502532" b="-103279"/>
                          </a:stretch>
                        </a:blipFill>
                      </a:tcPr>
                    </a:tc>
                    <a:tc>
                      <a:txBody>
                        <a:bodyPr/>
                        <a:lstStyle/>
                        <a:p>
                          <a:r>
                            <a:rPr lang="en-GB" sz="1200" b="0" noProof="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762869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66" t="-101639" r="-502532" b="-3279"/>
                          </a:stretch>
                        </a:blip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7425131"/>
                      </a:ext>
                    </a:extLst>
                  </a:tr>
                </a:tbl>
              </a:graphicData>
            </a:graphic>
          </p:graphicFrame>
        </mc:Fallback>
      </mc:AlternateContent>
      <mc:AlternateContent xmlns:mc="http://schemas.openxmlformats.org/markup-compatibility/2006" xmlns:a14="http://schemas.microsoft.com/office/drawing/2010/main">
        <mc:Choice Requires="a14">
          <p:sp>
            <p:nvSpPr>
              <p:cNvPr id="46" name="TextBox 45"/>
              <p:cNvSpPr txBox="1"/>
              <p:nvPr/>
            </p:nvSpPr>
            <p:spPr>
              <a:xfrm>
                <a:off x="2563241" y="8684653"/>
                <a:ext cx="383310"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oMath>
                </a14:m>
                <a:r>
                  <a:rPr lang="en-GB" sz="1200" noProof="0" dirty="0"/>
                  <a:t> =</a:t>
                </a:r>
              </a:p>
            </p:txBody>
          </p:sp>
        </mc:Choice>
        <mc:Fallback xmlns="">
          <p:sp>
            <p:nvSpPr>
              <p:cNvPr id="46" name="TextBox 45"/>
              <p:cNvSpPr txBox="1">
                <a:spLocks noRot="1" noChangeAspect="1" noMove="1" noResize="1" noEditPoints="1" noAdjustHandles="1" noChangeArrowheads="1" noChangeShapeType="1" noTextEdit="1"/>
              </p:cNvSpPr>
              <p:nvPr/>
            </p:nvSpPr>
            <p:spPr>
              <a:xfrm>
                <a:off x="2563241" y="8684653"/>
                <a:ext cx="383310" cy="276999"/>
              </a:xfrm>
              <a:prstGeom prst="rect">
                <a:avLst/>
              </a:prstGeom>
              <a:blipFill>
                <a:blip r:embed="rId5"/>
                <a:stretch>
                  <a:fillRect t="-2222" b="-17778"/>
                </a:stretch>
              </a:blipFill>
            </p:spPr>
            <p:txBody>
              <a:bodyPr/>
              <a:lstStyle/>
              <a:p>
                <a:r>
                  <a:rPr lang="en-US">
                    <a:noFill/>
                  </a:rPr>
                  <a:t> </a:t>
                </a:r>
              </a:p>
            </p:txBody>
          </p:sp>
        </mc:Fallback>
      </mc:AlternateContent>
      <p:sp>
        <p:nvSpPr>
          <p:cNvPr id="47" name="Rectangle 46">
            <a:extLst>
              <a:ext uri="{FF2B5EF4-FFF2-40B4-BE49-F238E27FC236}">
                <a16:creationId xmlns:a16="http://schemas.microsoft.com/office/drawing/2014/main" id="{16B1ECA1-094F-FE4A-8AFE-E48C67064BBB}"/>
              </a:ext>
            </a:extLst>
          </p:cNvPr>
          <p:cNvSpPr/>
          <p:nvPr/>
        </p:nvSpPr>
        <p:spPr>
          <a:xfrm>
            <a:off x="2955207" y="8674866"/>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48" name="Rectangle 47">
            <a:extLst>
              <a:ext uri="{FF2B5EF4-FFF2-40B4-BE49-F238E27FC236}">
                <a16:creationId xmlns:a16="http://schemas.microsoft.com/office/drawing/2014/main" id="{16B1ECA1-094F-FE4A-8AFE-E48C67064BBB}"/>
              </a:ext>
            </a:extLst>
          </p:cNvPr>
          <p:cNvSpPr/>
          <p:nvPr/>
        </p:nvSpPr>
        <p:spPr>
          <a:xfrm>
            <a:off x="2955207" y="9048644"/>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49" name="TextBox 48"/>
              <p:cNvSpPr txBox="1"/>
              <p:nvPr/>
            </p:nvSpPr>
            <p:spPr>
              <a:xfrm>
                <a:off x="2563241" y="9048503"/>
                <a:ext cx="386068"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𝑦</m:t>
                    </m:r>
                  </m:oMath>
                </a14:m>
                <a:r>
                  <a:rPr lang="en-GB" sz="1200" noProof="0" dirty="0"/>
                  <a:t> =</a:t>
                </a:r>
              </a:p>
            </p:txBody>
          </p:sp>
        </mc:Choice>
        <mc:Fallback xmlns="">
          <p:sp>
            <p:nvSpPr>
              <p:cNvPr id="49" name="TextBox 48"/>
              <p:cNvSpPr txBox="1">
                <a:spLocks noRot="1" noChangeAspect="1" noMove="1" noResize="1" noEditPoints="1" noAdjustHandles="1" noChangeArrowheads="1" noChangeShapeType="1" noTextEdit="1"/>
              </p:cNvSpPr>
              <p:nvPr/>
            </p:nvSpPr>
            <p:spPr>
              <a:xfrm>
                <a:off x="2563241" y="9048503"/>
                <a:ext cx="386068" cy="276999"/>
              </a:xfrm>
              <a:prstGeom prst="rect">
                <a:avLst/>
              </a:prstGeom>
              <a:blipFill>
                <a:blip r:embed="rId6"/>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p:cNvSpPr/>
              <p:nvPr/>
            </p:nvSpPr>
            <p:spPr>
              <a:xfrm>
                <a:off x="-24517" y="383039"/>
                <a:ext cx="3860800" cy="3416320"/>
              </a:xfrm>
              <a:prstGeom prst="rect">
                <a:avLst/>
              </a:prstGeom>
            </p:spPr>
            <p:txBody>
              <a:bodyPr wrap="square">
                <a:spAutoFit/>
              </a:bodyPr>
              <a:lstStyle/>
              <a:p>
                <a:pPr algn="ctr"/>
                <a:r>
                  <a:rPr lang="en-GB" sz="1200" noProof="0" dirty="0"/>
                  <a:t>2a) The straight line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oMath>
                </a14:m>
                <a:r>
                  <a:rPr lang="en-GB" sz="1200" noProof="0" dirty="0"/>
                  <a:t> has been drawn on the grid.</a:t>
                </a:r>
              </a:p>
              <a:p>
                <a:pPr algn="ctr"/>
                <a:endParaRPr lang="en-GB" sz="1200" noProof="0" dirty="0"/>
              </a:p>
              <a:p>
                <a:pPr algn="ctr"/>
                <a:r>
                  <a:rPr lang="en-GB" sz="1200" noProof="0" dirty="0"/>
                  <a:t>On the same grid draw the graph of </a:t>
                </a:r>
              </a:p>
              <a:p>
                <a:pPr algn="ct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r>
                  <a:rPr lang="en-GB" sz="1200" noProof="0" dirty="0"/>
                  <a:t> </a:t>
                </a:r>
              </a:p>
              <a:p>
                <a:pPr algn="ctr"/>
                <a:endParaRPr lang="en-GB" sz="1200" noProof="0" dirty="0"/>
              </a:p>
              <a:p>
                <a:pPr algn="ctr"/>
                <a:endParaRPr lang="en-GB" sz="1200" noProof="0" dirty="0"/>
              </a:p>
              <a:p>
                <a:pPr algn="ctr"/>
                <a:endParaRPr lang="en-GB" sz="1200" noProof="0" dirty="0"/>
              </a:p>
              <a:p>
                <a:pPr algn="ctr"/>
                <a:endParaRPr lang="en-GB" sz="1200" noProof="0" dirty="0"/>
              </a:p>
              <a:p>
                <a:pPr algn="ctr"/>
                <a:endParaRPr lang="en-GB" sz="1200" noProof="0" dirty="0"/>
              </a:p>
              <a:p>
                <a:pPr algn="ctr"/>
                <a:endParaRPr lang="en-GB" sz="1200" noProof="0" dirty="0"/>
              </a:p>
              <a:p>
                <a:pPr algn="ctr"/>
                <a:endParaRPr lang="en-GB" sz="1200" noProof="0" dirty="0"/>
              </a:p>
              <a:p>
                <a:pPr algn="ctr"/>
                <a:endParaRPr lang="en-GB" sz="1200" noProof="0" dirty="0"/>
              </a:p>
              <a:p>
                <a:pPr algn="ctr"/>
                <a:endParaRPr lang="en-GB" sz="1200" noProof="0" dirty="0"/>
              </a:p>
              <a:p>
                <a:pPr algn="ctr"/>
                <a:endParaRPr lang="en-GB" sz="1200" noProof="0" dirty="0"/>
              </a:p>
              <a:p>
                <a:pPr algn="ctr"/>
                <a:endParaRPr lang="en-GB" sz="1200" noProof="0" dirty="0"/>
              </a:p>
              <a:p>
                <a:pPr algn="ctr"/>
                <a:r>
                  <a:rPr lang="en-GB" sz="1200" noProof="0" dirty="0"/>
                  <a:t>b) use the graph to find the solutions to the simultaneous equations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 </m:t>
                    </m:r>
                  </m:oMath>
                </a14:m>
                <a:r>
                  <a:rPr lang="en-GB" sz="1200" noProof="0" dirty="0"/>
                  <a:t>and</a:t>
                </a:r>
              </a:p>
              <a:p>
                <a:pPr algn="ctr"/>
                <a:r>
                  <a:rPr lang="en-GB" sz="1200" noProof="0" dirty="0"/>
                  <a:t>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a14:m>
                <a:endParaRPr lang="en-GB" sz="1200" noProof="0" dirty="0"/>
              </a:p>
            </p:txBody>
          </p:sp>
        </mc:Choice>
        <mc:Fallback xmlns="">
          <p:sp>
            <p:nvSpPr>
              <p:cNvPr id="50" name="Rectangle 49"/>
              <p:cNvSpPr>
                <a:spLocks noRot="1" noChangeAspect="1" noMove="1" noResize="1" noEditPoints="1" noAdjustHandles="1" noChangeArrowheads="1" noChangeShapeType="1" noTextEdit="1"/>
              </p:cNvSpPr>
              <p:nvPr/>
            </p:nvSpPr>
            <p:spPr>
              <a:xfrm>
                <a:off x="-24517" y="383039"/>
                <a:ext cx="3860800" cy="3416320"/>
              </a:xfrm>
              <a:prstGeom prst="rect">
                <a:avLst/>
              </a:prstGeom>
              <a:blipFill>
                <a:blip r:embed="rId7"/>
                <a:stretch>
                  <a:fillRect t="-1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2501826" y="4127936"/>
                <a:ext cx="383310"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oMath>
                </a14:m>
                <a:r>
                  <a:rPr lang="en-GB" sz="1200" noProof="0" dirty="0"/>
                  <a:t> =</a:t>
                </a:r>
              </a:p>
            </p:txBody>
          </p:sp>
        </mc:Choice>
        <mc:Fallback xmlns="">
          <p:sp>
            <p:nvSpPr>
              <p:cNvPr id="55" name="TextBox 54"/>
              <p:cNvSpPr txBox="1">
                <a:spLocks noRot="1" noChangeAspect="1" noMove="1" noResize="1" noEditPoints="1" noAdjustHandles="1" noChangeArrowheads="1" noChangeShapeType="1" noTextEdit="1"/>
              </p:cNvSpPr>
              <p:nvPr/>
            </p:nvSpPr>
            <p:spPr>
              <a:xfrm>
                <a:off x="2501826" y="4127936"/>
                <a:ext cx="383310" cy="276999"/>
              </a:xfrm>
              <a:prstGeom prst="rect">
                <a:avLst/>
              </a:prstGeom>
              <a:blipFill>
                <a:blip r:embed="rId8"/>
                <a:stretch>
                  <a:fillRect b="-15217"/>
                </a:stretch>
              </a:blipFill>
            </p:spPr>
            <p:txBody>
              <a:bodyPr/>
              <a:lstStyle/>
              <a:p>
                <a:r>
                  <a:rPr lang="en-US">
                    <a:noFill/>
                  </a:rPr>
                  <a:t> </a:t>
                </a:r>
              </a:p>
            </p:txBody>
          </p:sp>
        </mc:Fallback>
      </mc:AlternateContent>
      <p:sp>
        <p:nvSpPr>
          <p:cNvPr id="56" name="Rectangle 55">
            <a:extLst>
              <a:ext uri="{FF2B5EF4-FFF2-40B4-BE49-F238E27FC236}">
                <a16:creationId xmlns:a16="http://schemas.microsoft.com/office/drawing/2014/main" id="{16B1ECA1-094F-FE4A-8AFE-E48C67064BBB}"/>
              </a:ext>
            </a:extLst>
          </p:cNvPr>
          <p:cNvSpPr/>
          <p:nvPr/>
        </p:nvSpPr>
        <p:spPr>
          <a:xfrm>
            <a:off x="2893792" y="4118149"/>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57" name="Rectangle 56">
            <a:extLst>
              <a:ext uri="{FF2B5EF4-FFF2-40B4-BE49-F238E27FC236}">
                <a16:creationId xmlns:a16="http://schemas.microsoft.com/office/drawing/2014/main" id="{16B1ECA1-094F-FE4A-8AFE-E48C67064BBB}"/>
              </a:ext>
            </a:extLst>
          </p:cNvPr>
          <p:cNvSpPr/>
          <p:nvPr/>
        </p:nvSpPr>
        <p:spPr>
          <a:xfrm>
            <a:off x="2893792" y="4491927"/>
            <a:ext cx="889589" cy="27685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58" name="TextBox 57"/>
              <p:cNvSpPr txBox="1"/>
              <p:nvPr/>
            </p:nvSpPr>
            <p:spPr>
              <a:xfrm>
                <a:off x="2501826" y="4491786"/>
                <a:ext cx="386068"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𝑦</m:t>
                    </m:r>
                  </m:oMath>
                </a14:m>
                <a:r>
                  <a:rPr lang="en-GB" sz="1200" noProof="0" dirty="0"/>
                  <a:t> =</a:t>
                </a:r>
              </a:p>
            </p:txBody>
          </p:sp>
        </mc:Choice>
        <mc:Fallback xmlns="">
          <p:sp>
            <p:nvSpPr>
              <p:cNvPr id="58" name="TextBox 57"/>
              <p:cNvSpPr txBox="1">
                <a:spLocks noRot="1" noChangeAspect="1" noMove="1" noResize="1" noEditPoints="1" noAdjustHandles="1" noChangeArrowheads="1" noChangeShapeType="1" noTextEdit="1"/>
              </p:cNvSpPr>
              <p:nvPr/>
            </p:nvSpPr>
            <p:spPr>
              <a:xfrm>
                <a:off x="2501826" y="4491786"/>
                <a:ext cx="386068" cy="276999"/>
              </a:xfrm>
              <a:prstGeom prst="rect">
                <a:avLst/>
              </a:prstGeom>
              <a:blipFill>
                <a:blip r:embed="rId9"/>
                <a:stretch>
                  <a:fillRect t="-2222" b="-17778"/>
                </a:stretch>
              </a:blipFill>
            </p:spPr>
            <p:txBody>
              <a:bodyPr/>
              <a:lstStyle/>
              <a:p>
                <a:r>
                  <a:rPr lang="en-US">
                    <a:noFill/>
                  </a:rPr>
                  <a:t> </a:t>
                </a:r>
              </a:p>
            </p:txBody>
          </p:sp>
        </mc:Fallback>
      </mc:AlternateContent>
      <p:pic>
        <p:nvPicPr>
          <p:cNvPr id="9" name="Picture 8"/>
          <p:cNvPicPr>
            <a:picLocks noChangeAspect="1"/>
          </p:cNvPicPr>
          <p:nvPr/>
        </p:nvPicPr>
        <p:blipFill>
          <a:blip r:embed="rId10"/>
          <a:stretch>
            <a:fillRect/>
          </a:stretch>
        </p:blipFill>
        <p:spPr>
          <a:xfrm>
            <a:off x="3931868" y="476694"/>
            <a:ext cx="2759960" cy="3543936"/>
          </a:xfrm>
          <a:prstGeom prst="rect">
            <a:avLst/>
          </a:prstGeom>
          <a:ln w="19050">
            <a:solidFill>
              <a:schemeClr val="tx1"/>
            </a:solidFill>
          </a:ln>
        </p:spPr>
      </p:pic>
      <mc:AlternateContent xmlns:mc="http://schemas.openxmlformats.org/markup-compatibility/2006" xmlns:a14="http://schemas.microsoft.com/office/drawing/2010/main">
        <mc:Choice Requires="a14">
          <p:graphicFrame>
            <p:nvGraphicFramePr>
              <p:cNvPr id="59" name="Table 58"/>
              <p:cNvGraphicFramePr>
                <a:graphicFrameLocks noGrp="1"/>
              </p:cNvGraphicFramePr>
              <p:nvPr>
                <p:extLst>
                  <p:ext uri="{D42A27DB-BD31-4B8C-83A1-F6EECF244321}">
                    <p14:modId xmlns:p14="http://schemas.microsoft.com/office/powerpoint/2010/main" val="2978225179"/>
                  </p:ext>
                </p:extLst>
              </p:nvPr>
            </p:nvGraphicFramePr>
            <p:xfrm>
              <a:off x="403328" y="1506982"/>
              <a:ext cx="2882280" cy="741680"/>
            </p:xfrm>
            <a:graphic>
              <a:graphicData uri="http://schemas.openxmlformats.org/drawingml/2006/table">
                <a:tbl>
                  <a:tblPr firstRow="1" bandRow="1">
                    <a:tableStyleId>{5C22544A-7EE6-4342-B048-85BDC9FD1C3A}</a:tableStyleId>
                  </a:tblPr>
                  <a:tblGrid>
                    <a:gridCol w="480380">
                      <a:extLst>
                        <a:ext uri="{9D8B030D-6E8A-4147-A177-3AD203B41FA5}">
                          <a16:colId xmlns:a16="http://schemas.microsoft.com/office/drawing/2014/main" val="736508480"/>
                        </a:ext>
                      </a:extLst>
                    </a:gridCol>
                    <a:gridCol w="480380">
                      <a:extLst>
                        <a:ext uri="{9D8B030D-6E8A-4147-A177-3AD203B41FA5}">
                          <a16:colId xmlns:a16="http://schemas.microsoft.com/office/drawing/2014/main" val="1273869670"/>
                        </a:ext>
                      </a:extLst>
                    </a:gridCol>
                    <a:gridCol w="480380">
                      <a:extLst>
                        <a:ext uri="{9D8B030D-6E8A-4147-A177-3AD203B41FA5}">
                          <a16:colId xmlns:a16="http://schemas.microsoft.com/office/drawing/2014/main" val="852807214"/>
                        </a:ext>
                      </a:extLst>
                    </a:gridCol>
                    <a:gridCol w="480380">
                      <a:extLst>
                        <a:ext uri="{9D8B030D-6E8A-4147-A177-3AD203B41FA5}">
                          <a16:colId xmlns:a16="http://schemas.microsoft.com/office/drawing/2014/main" val="3747578519"/>
                        </a:ext>
                      </a:extLst>
                    </a:gridCol>
                    <a:gridCol w="480380">
                      <a:extLst>
                        <a:ext uri="{9D8B030D-6E8A-4147-A177-3AD203B41FA5}">
                          <a16:colId xmlns:a16="http://schemas.microsoft.com/office/drawing/2014/main" val="1554752747"/>
                        </a:ext>
                      </a:extLst>
                    </a:gridCol>
                    <a:gridCol w="480380">
                      <a:extLst>
                        <a:ext uri="{9D8B030D-6E8A-4147-A177-3AD203B41FA5}">
                          <a16:colId xmlns:a16="http://schemas.microsoft.com/office/drawing/2014/main" val="2817110103"/>
                        </a:ext>
                      </a:extLst>
                    </a:gridCol>
                  </a:tblGrid>
                  <a:tr h="370840">
                    <a:tc>
                      <a:txBody>
                        <a:bodyPr/>
                        <a:lstStyle/>
                        <a:p>
                          <a:pPr/>
                          <a14:m>
                            <m:oMathPara xmlns:m="http://schemas.openxmlformats.org/officeDocument/2006/math">
                              <m:oMathParaPr>
                                <m:jc m:val="centerGroup"/>
                              </m:oMathParaPr>
                              <m:oMath xmlns:m="http://schemas.openxmlformats.org/officeDocument/2006/math">
                                <m:r>
                                  <a:rPr lang="en-GB" sz="1200" b="1" i="1" noProof="0" smtClean="0">
                                    <a:solidFill>
                                      <a:schemeClr val="tx1"/>
                                    </a:solidFill>
                                    <a:latin typeface="Cambria Math" panose="02040503050406030204" pitchFamily="18" charset="0"/>
                                  </a:rPr>
                                  <m:t>𝒙</m:t>
                                </m:r>
                              </m:oMath>
                            </m:oMathPara>
                          </a14:m>
                          <a:endParaRPr lang="en-GB" sz="12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7628692"/>
                      </a:ext>
                    </a:extLst>
                  </a:tr>
                  <a:tr h="370840">
                    <a:tc>
                      <a:txBody>
                        <a:bodyPr/>
                        <a:lstStyle/>
                        <a:p>
                          <a:pPr/>
                          <a14:m>
                            <m:oMathPara xmlns:m="http://schemas.openxmlformats.org/officeDocument/2006/math">
                              <m:oMathParaPr>
                                <m:jc m:val="centerGroup"/>
                              </m:oMathParaPr>
                              <m:oMath xmlns:m="http://schemas.openxmlformats.org/officeDocument/2006/math">
                                <m:r>
                                  <a:rPr lang="en-GB" sz="1200" b="1" i="1" noProof="0" smtClean="0">
                                    <a:solidFill>
                                      <a:schemeClr val="tx1"/>
                                    </a:solidFill>
                                    <a:latin typeface="Cambria Math" panose="02040503050406030204" pitchFamily="18" charset="0"/>
                                  </a:rPr>
                                  <m:t>𝒚</m:t>
                                </m:r>
                              </m:oMath>
                            </m:oMathPara>
                          </a14:m>
                          <a:endParaRPr lang="en-GB" sz="12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7425131"/>
                      </a:ext>
                    </a:extLst>
                  </a:tr>
                </a:tbl>
              </a:graphicData>
            </a:graphic>
          </p:graphicFrame>
        </mc:Choice>
        <mc:Fallback xmlns="">
          <p:graphicFrame>
            <p:nvGraphicFramePr>
              <p:cNvPr id="59" name="Table 58"/>
              <p:cNvGraphicFramePr>
                <a:graphicFrameLocks noGrp="1"/>
              </p:cNvGraphicFramePr>
              <p:nvPr>
                <p:extLst>
                  <p:ext uri="{D42A27DB-BD31-4B8C-83A1-F6EECF244321}">
                    <p14:modId xmlns:p14="http://schemas.microsoft.com/office/powerpoint/2010/main" val="2978225179"/>
                  </p:ext>
                </p:extLst>
              </p:nvPr>
            </p:nvGraphicFramePr>
            <p:xfrm>
              <a:off x="403328" y="1506982"/>
              <a:ext cx="2882280" cy="741680"/>
            </p:xfrm>
            <a:graphic>
              <a:graphicData uri="http://schemas.openxmlformats.org/drawingml/2006/table">
                <a:tbl>
                  <a:tblPr firstRow="1" bandRow="1">
                    <a:tableStyleId>{5C22544A-7EE6-4342-B048-85BDC9FD1C3A}</a:tableStyleId>
                  </a:tblPr>
                  <a:tblGrid>
                    <a:gridCol w="480380">
                      <a:extLst>
                        <a:ext uri="{9D8B030D-6E8A-4147-A177-3AD203B41FA5}">
                          <a16:colId xmlns:a16="http://schemas.microsoft.com/office/drawing/2014/main" val="736508480"/>
                        </a:ext>
                      </a:extLst>
                    </a:gridCol>
                    <a:gridCol w="480380">
                      <a:extLst>
                        <a:ext uri="{9D8B030D-6E8A-4147-A177-3AD203B41FA5}">
                          <a16:colId xmlns:a16="http://schemas.microsoft.com/office/drawing/2014/main" val="1273869670"/>
                        </a:ext>
                      </a:extLst>
                    </a:gridCol>
                    <a:gridCol w="480380">
                      <a:extLst>
                        <a:ext uri="{9D8B030D-6E8A-4147-A177-3AD203B41FA5}">
                          <a16:colId xmlns:a16="http://schemas.microsoft.com/office/drawing/2014/main" val="852807214"/>
                        </a:ext>
                      </a:extLst>
                    </a:gridCol>
                    <a:gridCol w="480380">
                      <a:extLst>
                        <a:ext uri="{9D8B030D-6E8A-4147-A177-3AD203B41FA5}">
                          <a16:colId xmlns:a16="http://schemas.microsoft.com/office/drawing/2014/main" val="3747578519"/>
                        </a:ext>
                      </a:extLst>
                    </a:gridCol>
                    <a:gridCol w="480380">
                      <a:extLst>
                        <a:ext uri="{9D8B030D-6E8A-4147-A177-3AD203B41FA5}">
                          <a16:colId xmlns:a16="http://schemas.microsoft.com/office/drawing/2014/main" val="1554752747"/>
                        </a:ext>
                      </a:extLst>
                    </a:gridCol>
                    <a:gridCol w="480380">
                      <a:extLst>
                        <a:ext uri="{9D8B030D-6E8A-4147-A177-3AD203B41FA5}">
                          <a16:colId xmlns:a16="http://schemas.microsoft.com/office/drawing/2014/main" val="2817110103"/>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1266" t="-1639" r="-502532" b="-103279"/>
                          </a:stretch>
                        </a:blipFill>
                      </a:tcPr>
                    </a:tc>
                    <a:tc>
                      <a:txBody>
                        <a:bodyPr/>
                        <a:lstStyle/>
                        <a:p>
                          <a:r>
                            <a:rPr lang="en-GB" sz="1200" b="0" noProof="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762869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1266" t="-101639" r="-502532" b="-3279"/>
                          </a:stretch>
                        </a:blip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7425131"/>
                      </a:ext>
                    </a:extLst>
                  </a:tr>
                </a:tbl>
              </a:graphicData>
            </a:graphic>
          </p:graphicFrame>
        </mc:Fallback>
      </mc:AlternateContent>
      <p:sp>
        <p:nvSpPr>
          <p:cNvPr id="23" name="TextBox 22"/>
          <p:cNvSpPr txBox="1"/>
          <p:nvPr/>
        </p:nvSpPr>
        <p:spPr>
          <a:xfrm>
            <a:off x="0" y="10352"/>
            <a:ext cx="1732782" cy="276999"/>
          </a:xfrm>
          <a:prstGeom prst="rect">
            <a:avLst/>
          </a:prstGeom>
          <a:solidFill>
            <a:srgbClr val="0070C0"/>
          </a:solidFill>
          <a:ln w="19050">
            <a:solidFill>
              <a:schemeClr val="tx1"/>
            </a:solidFill>
          </a:ln>
        </p:spPr>
        <p:txBody>
          <a:bodyPr wrap="none" rtlCol="0">
            <a:spAutoFit/>
          </a:bodyPr>
          <a:lstStyle/>
          <a:p>
            <a:r>
              <a:rPr lang="en-GB" sz="1200" noProof="0" dirty="0">
                <a:solidFill>
                  <a:schemeClr val="bg1"/>
                </a:solidFill>
              </a:rPr>
              <a:t>INDEPENDENT PRACTICE</a:t>
            </a:r>
          </a:p>
        </p:txBody>
      </p:sp>
    </p:spTree>
    <p:extLst>
      <p:ext uri="{BB962C8B-B14F-4D97-AF65-F5344CB8AC3E}">
        <p14:creationId xmlns:p14="http://schemas.microsoft.com/office/powerpoint/2010/main" val="2556719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47FDB3-F1CA-1048-A732-E957245FF549}"/>
              </a:ext>
            </a:extLst>
          </p:cNvPr>
          <p:cNvSpPr>
            <a:spLocks noGrp="1"/>
          </p:cNvSpPr>
          <p:nvPr>
            <p:ph type="sldNum" sz="quarter" idx="12"/>
          </p:nvPr>
        </p:nvSpPr>
        <p:spPr>
          <a:xfrm>
            <a:off x="5399292" y="9579067"/>
            <a:ext cx="1543050" cy="527403"/>
          </a:xfrm>
        </p:spPr>
        <p:txBody>
          <a:bodyPr/>
          <a:lstStyle/>
          <a:p>
            <a:fld id="{19F1D9CC-7119-45EC-A96C-D8C0660F3AAB}" type="slidenum">
              <a:rPr lang="en-GB" noProof="0" smtClean="0"/>
              <a:t>32</a:t>
            </a:fld>
            <a:endParaRPr lang="en-GB" noProof="0" dirty="0"/>
          </a:p>
        </p:txBody>
      </p:sp>
      <p:sp>
        <p:nvSpPr>
          <p:cNvPr id="3" name="Rectangle 2">
            <a:extLst>
              <a:ext uri="{FF2B5EF4-FFF2-40B4-BE49-F238E27FC236}">
                <a16:creationId xmlns:a16="http://schemas.microsoft.com/office/drawing/2014/main" id="{4D22C3A5-83FD-F348-A13A-41990BFFB455}"/>
              </a:ext>
            </a:extLst>
          </p:cNvPr>
          <p:cNvSpPr/>
          <p:nvPr/>
        </p:nvSpPr>
        <p:spPr>
          <a:xfrm>
            <a:off x="105113" y="335811"/>
            <a:ext cx="6647773" cy="15283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ysClr val="windowText" lastClr="000000"/>
              </a:solidFill>
            </a:endParaRPr>
          </a:p>
        </p:txBody>
      </p:sp>
      <p:sp>
        <p:nvSpPr>
          <p:cNvPr id="4" name="TextBox 3">
            <a:extLst>
              <a:ext uri="{FF2B5EF4-FFF2-40B4-BE49-F238E27FC236}">
                <a16:creationId xmlns:a16="http://schemas.microsoft.com/office/drawing/2014/main" id="{46CABFFF-8CCA-3F46-BB1D-2812F1283950}"/>
              </a:ext>
            </a:extLst>
          </p:cNvPr>
          <p:cNvSpPr txBox="1"/>
          <p:nvPr/>
        </p:nvSpPr>
        <p:spPr>
          <a:xfrm>
            <a:off x="128776" y="614196"/>
            <a:ext cx="1181457" cy="338554"/>
          </a:xfrm>
          <a:prstGeom prst="rect">
            <a:avLst/>
          </a:prstGeom>
          <a:noFill/>
        </p:spPr>
        <p:txBody>
          <a:bodyPr wrap="square" rtlCol="0">
            <a:spAutoFit/>
          </a:bodyPr>
          <a:lstStyle/>
          <a:p>
            <a:r>
              <a:rPr lang="en-GB" sz="1600" b="1" noProof="0" dirty="0"/>
              <a:t>Objectives:</a:t>
            </a:r>
          </a:p>
        </p:txBody>
      </p:sp>
      <p:sp>
        <p:nvSpPr>
          <p:cNvPr id="5" name="TextBox 4">
            <a:extLst>
              <a:ext uri="{FF2B5EF4-FFF2-40B4-BE49-F238E27FC236}">
                <a16:creationId xmlns:a16="http://schemas.microsoft.com/office/drawing/2014/main" id="{474C4B23-45C4-754A-8432-EA2D2C31880A}"/>
              </a:ext>
            </a:extLst>
          </p:cNvPr>
          <p:cNvSpPr txBox="1"/>
          <p:nvPr/>
        </p:nvSpPr>
        <p:spPr>
          <a:xfrm>
            <a:off x="175119" y="890884"/>
            <a:ext cx="4755701" cy="1015663"/>
          </a:xfrm>
          <a:prstGeom prst="rect">
            <a:avLst/>
          </a:prstGeom>
          <a:noFill/>
        </p:spPr>
        <p:txBody>
          <a:bodyPr wrap="square" rtlCol="0">
            <a:spAutoFit/>
          </a:bodyPr>
          <a:lstStyle/>
          <a:p>
            <a:pPr marL="342900" indent="-342900">
              <a:buFont typeface="+mj-lt"/>
              <a:buAutoNum type="arabicPeriod"/>
              <a:defRPr/>
            </a:pPr>
            <a:r>
              <a:rPr lang="en-GB" sz="1200" noProof="0" dirty="0"/>
              <a:t>To be able to eliminate variables by adding or subtracting equations. </a:t>
            </a:r>
          </a:p>
          <a:p>
            <a:pPr marL="342900" indent="-342900">
              <a:buFont typeface="+mj-lt"/>
              <a:buAutoNum type="arabicPeriod"/>
              <a:defRPr/>
            </a:pPr>
            <a:r>
              <a:rPr lang="en-GB" sz="1200" noProof="0" dirty="0"/>
              <a:t>To solve an equation with two variables by substituting a known variable. </a:t>
            </a:r>
          </a:p>
          <a:p>
            <a:pPr marL="342900" indent="-342900">
              <a:buFont typeface="+mj-lt"/>
              <a:buAutoNum type="arabicPeriod"/>
              <a:defRPr/>
            </a:pPr>
            <a:r>
              <a:rPr lang="en-GB" sz="1200" noProof="0" dirty="0"/>
              <a:t>Solve simultaneous equations using the elimination method</a:t>
            </a:r>
          </a:p>
          <a:p>
            <a:pPr>
              <a:defRPr/>
            </a:pPr>
            <a:endParaRPr lang="en-GB" sz="1200" noProof="0" dirty="0"/>
          </a:p>
        </p:txBody>
      </p:sp>
      <p:sp>
        <p:nvSpPr>
          <p:cNvPr id="6" name="TextBox 5">
            <a:extLst>
              <a:ext uri="{FF2B5EF4-FFF2-40B4-BE49-F238E27FC236}">
                <a16:creationId xmlns:a16="http://schemas.microsoft.com/office/drawing/2014/main" id="{C5074EF1-46DA-6944-95B7-7A2E909591E4}"/>
              </a:ext>
            </a:extLst>
          </p:cNvPr>
          <p:cNvSpPr txBox="1"/>
          <p:nvPr/>
        </p:nvSpPr>
        <p:spPr>
          <a:xfrm>
            <a:off x="208273" y="367823"/>
            <a:ext cx="6411256" cy="276999"/>
          </a:xfrm>
          <a:prstGeom prst="rect">
            <a:avLst/>
          </a:prstGeom>
          <a:noFill/>
          <a:ln>
            <a:solidFill>
              <a:schemeClr val="tx1"/>
            </a:solidFill>
          </a:ln>
        </p:spPr>
        <p:txBody>
          <a:bodyPr wrap="square" rtlCol="0">
            <a:spAutoFit/>
          </a:bodyPr>
          <a:lstStyle/>
          <a:p>
            <a:pPr algn="ctr"/>
            <a:r>
              <a:rPr lang="en-GB" sz="1200" b="1" noProof="0" dirty="0"/>
              <a:t>LEARNING OUTCOME: To recap solving simultaneous equations using the elimination method</a:t>
            </a:r>
            <a:endParaRPr lang="en-GB" sz="1200" noProof="0" dirty="0"/>
          </a:p>
        </p:txBody>
      </p:sp>
      <p:sp>
        <p:nvSpPr>
          <p:cNvPr id="7" name="TextBox 6">
            <a:extLst>
              <a:ext uri="{FF2B5EF4-FFF2-40B4-BE49-F238E27FC236}">
                <a16:creationId xmlns:a16="http://schemas.microsoft.com/office/drawing/2014/main" id="{404D762C-2D73-394D-9E02-268791A669F2}"/>
              </a:ext>
            </a:extLst>
          </p:cNvPr>
          <p:cNvSpPr txBox="1"/>
          <p:nvPr/>
        </p:nvSpPr>
        <p:spPr>
          <a:xfrm>
            <a:off x="4893447" y="791347"/>
            <a:ext cx="1741179" cy="1015663"/>
          </a:xfrm>
          <a:prstGeom prst="rect">
            <a:avLst/>
          </a:prstGeom>
          <a:noFill/>
          <a:ln w="12700">
            <a:solidFill>
              <a:schemeClr val="tx1"/>
            </a:solidFill>
          </a:ln>
        </p:spPr>
        <p:txBody>
          <a:bodyPr wrap="square" rtlCol="0">
            <a:spAutoFit/>
          </a:bodyPr>
          <a:lstStyle/>
          <a:p>
            <a:r>
              <a:rPr lang="en-GB" sz="1000" b="1" u="sng" noProof="0" dirty="0"/>
              <a:t>Keywords:</a:t>
            </a:r>
            <a:endParaRPr lang="en-GB" sz="1000" noProof="0" dirty="0"/>
          </a:p>
          <a:p>
            <a:pPr marL="285750" indent="-285750">
              <a:buFont typeface=".AppleSystemUIFont" charset="-120"/>
              <a:buChar char="-"/>
            </a:pPr>
            <a:r>
              <a:rPr lang="en-GB" sz="1000" noProof="0" dirty="0"/>
              <a:t>Simultaneous equations</a:t>
            </a:r>
          </a:p>
          <a:p>
            <a:pPr marL="285750" indent="-285750">
              <a:buFont typeface=".AppleSystemUIFont" charset="-120"/>
              <a:buChar char="-"/>
            </a:pPr>
            <a:r>
              <a:rPr lang="en-GB" sz="1000" noProof="0" dirty="0"/>
              <a:t>Linear equations</a:t>
            </a:r>
          </a:p>
          <a:p>
            <a:pPr marL="285750" indent="-285750">
              <a:buFont typeface=".AppleSystemUIFont" charset="-120"/>
              <a:buChar char="-"/>
            </a:pPr>
            <a:r>
              <a:rPr lang="en-GB" sz="1000" noProof="0" dirty="0"/>
              <a:t>Equivalent equations</a:t>
            </a:r>
          </a:p>
          <a:p>
            <a:pPr marL="285750" indent="-285750">
              <a:buFont typeface=".AppleSystemUIFont" charset="-120"/>
              <a:buChar char="-"/>
            </a:pPr>
            <a:r>
              <a:rPr lang="en-GB" sz="1000" noProof="0" dirty="0"/>
              <a:t>Intersection</a:t>
            </a:r>
          </a:p>
          <a:p>
            <a:pPr marL="285750" indent="-285750">
              <a:buFont typeface=".AppleSystemUIFont" charset="-120"/>
              <a:buChar char="-"/>
            </a:pPr>
            <a:r>
              <a:rPr lang="en-GB" sz="1000" noProof="0" dirty="0"/>
              <a:t>Elimination</a:t>
            </a:r>
          </a:p>
        </p:txBody>
      </p:sp>
      <p:sp>
        <p:nvSpPr>
          <p:cNvPr id="8" name="Rectangle 7">
            <a:extLst>
              <a:ext uri="{FF2B5EF4-FFF2-40B4-BE49-F238E27FC236}">
                <a16:creationId xmlns:a16="http://schemas.microsoft.com/office/drawing/2014/main" id="{56FE7EC4-5E01-5842-B2D3-567D0C78E897}"/>
              </a:ext>
            </a:extLst>
          </p:cNvPr>
          <p:cNvSpPr/>
          <p:nvPr/>
        </p:nvSpPr>
        <p:spPr>
          <a:xfrm>
            <a:off x="0" y="-68"/>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t>Subtopic 3b – Recap: Simultaneous equations - Elimination </a:t>
            </a:r>
            <a:r>
              <a:rPr lang="en-GB" sz="1400" noProof="0" dirty="0"/>
              <a:t> </a:t>
            </a:r>
            <a:endParaRPr lang="en-GB" sz="1600" b="1" noProof="0" dirty="0"/>
          </a:p>
        </p:txBody>
      </p:sp>
      <p:cxnSp>
        <p:nvCxnSpPr>
          <p:cNvPr id="24" name="Straight Connector 23">
            <a:extLst>
              <a:ext uri="{FF2B5EF4-FFF2-40B4-BE49-F238E27FC236}">
                <a16:creationId xmlns:a16="http://schemas.microsoft.com/office/drawing/2014/main" id="{FE7EDCC2-ABAA-434F-8C0E-6C3A1F76BAE7}"/>
              </a:ext>
            </a:extLst>
          </p:cNvPr>
          <p:cNvCxnSpPr/>
          <p:nvPr/>
        </p:nvCxnSpPr>
        <p:spPr>
          <a:xfrm flipV="1">
            <a:off x="940175" y="3794205"/>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124029" y="2033857"/>
            <a:ext cx="6645064" cy="242768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26" name="Straight Connector 25"/>
          <p:cNvCxnSpPr/>
          <p:nvPr/>
        </p:nvCxnSpPr>
        <p:spPr>
          <a:xfrm>
            <a:off x="118396" y="3121617"/>
            <a:ext cx="6672688" cy="15941"/>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p:cNvCxnSpPr>
            <a:stCxn id="25" idx="2"/>
            <a:endCxn id="25" idx="0"/>
          </p:cNvCxnSpPr>
          <p:nvPr/>
        </p:nvCxnSpPr>
        <p:spPr>
          <a:xfrm flipV="1">
            <a:off x="3446561" y="2033857"/>
            <a:ext cx="0" cy="2427683"/>
          </a:xfrm>
          <a:prstGeom prst="line">
            <a:avLst/>
          </a:prstGeom>
        </p:spPr>
        <p:style>
          <a:lnRef idx="1">
            <a:schemeClr val="dk1"/>
          </a:lnRef>
          <a:fillRef idx="0">
            <a:schemeClr val="dk1"/>
          </a:fillRef>
          <a:effectRef idx="0">
            <a:schemeClr val="dk1"/>
          </a:effectRef>
          <a:fontRef idx="minor">
            <a:schemeClr val="tx1"/>
          </a:fontRef>
        </p:style>
      </p:cxnSp>
      <p:sp>
        <p:nvSpPr>
          <p:cNvPr id="28" name="TextBox 27"/>
          <p:cNvSpPr txBox="1"/>
          <p:nvPr/>
        </p:nvSpPr>
        <p:spPr>
          <a:xfrm>
            <a:off x="103249" y="2024479"/>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29" name="TextBox 28"/>
          <p:cNvSpPr txBox="1"/>
          <p:nvPr/>
        </p:nvSpPr>
        <p:spPr>
          <a:xfrm>
            <a:off x="5627300" y="1992093"/>
            <a:ext cx="1112228" cy="276999"/>
          </a:xfrm>
          <a:prstGeom prst="rect">
            <a:avLst/>
          </a:prstGeom>
          <a:noFill/>
        </p:spPr>
        <p:txBody>
          <a:bodyPr wrap="none" rtlCol="0">
            <a:spAutoFit/>
          </a:bodyPr>
          <a:lstStyle/>
          <a:p>
            <a:r>
              <a:rPr lang="en-GB" sz="1200" b="1" noProof="0" dirty="0"/>
              <a:t>Characteristics</a:t>
            </a:r>
          </a:p>
        </p:txBody>
      </p:sp>
      <p:sp>
        <p:nvSpPr>
          <p:cNvPr id="30" name="TextBox 29"/>
          <p:cNvSpPr txBox="1"/>
          <p:nvPr/>
        </p:nvSpPr>
        <p:spPr>
          <a:xfrm>
            <a:off x="118396" y="3121617"/>
            <a:ext cx="788164" cy="276999"/>
          </a:xfrm>
          <a:prstGeom prst="rect">
            <a:avLst/>
          </a:prstGeom>
          <a:noFill/>
        </p:spPr>
        <p:txBody>
          <a:bodyPr wrap="none" rtlCol="0">
            <a:spAutoFit/>
          </a:bodyPr>
          <a:lstStyle/>
          <a:p>
            <a:r>
              <a:rPr lang="en-GB" sz="1200" b="1" noProof="0" dirty="0"/>
              <a:t>Examples</a:t>
            </a:r>
          </a:p>
        </p:txBody>
      </p:sp>
      <p:sp>
        <p:nvSpPr>
          <p:cNvPr id="31" name="TextBox 30"/>
          <p:cNvSpPr txBox="1"/>
          <p:nvPr/>
        </p:nvSpPr>
        <p:spPr>
          <a:xfrm>
            <a:off x="5555813" y="3097236"/>
            <a:ext cx="1172885" cy="276999"/>
          </a:xfrm>
          <a:prstGeom prst="rect">
            <a:avLst/>
          </a:prstGeom>
          <a:noFill/>
        </p:spPr>
        <p:txBody>
          <a:bodyPr wrap="none" rtlCol="0">
            <a:spAutoFit/>
          </a:bodyPr>
          <a:lstStyle/>
          <a:p>
            <a:r>
              <a:rPr lang="en-GB" sz="1200" b="1" noProof="0" dirty="0"/>
              <a:t>Non - Examples</a:t>
            </a:r>
          </a:p>
        </p:txBody>
      </p:sp>
      <p:sp>
        <p:nvSpPr>
          <p:cNvPr id="32" name="TextBox 31"/>
          <p:cNvSpPr txBox="1"/>
          <p:nvPr/>
        </p:nvSpPr>
        <p:spPr>
          <a:xfrm>
            <a:off x="124028" y="2265536"/>
            <a:ext cx="3230335" cy="646331"/>
          </a:xfrm>
          <a:prstGeom prst="rect">
            <a:avLst/>
          </a:prstGeom>
          <a:noFill/>
        </p:spPr>
        <p:txBody>
          <a:bodyPr wrap="square" rtlCol="0">
            <a:spAutoFit/>
          </a:bodyPr>
          <a:lstStyle/>
          <a:p>
            <a:r>
              <a:rPr lang="en-GB" sz="1200" noProof="0" dirty="0"/>
              <a:t>A method to eliminate one of the variables in a pair of simultaneous equations to solve for both equations. </a:t>
            </a:r>
            <a:endParaRPr lang="en-GB" sz="1200" b="1" noProof="0" dirty="0"/>
          </a:p>
        </p:txBody>
      </p:sp>
      <p:sp>
        <p:nvSpPr>
          <p:cNvPr id="33" name="TextBox 32"/>
          <p:cNvSpPr txBox="1"/>
          <p:nvPr/>
        </p:nvSpPr>
        <p:spPr>
          <a:xfrm>
            <a:off x="3498363" y="2194174"/>
            <a:ext cx="3230335" cy="461665"/>
          </a:xfrm>
          <a:prstGeom prst="rect">
            <a:avLst/>
          </a:prstGeom>
          <a:noFill/>
        </p:spPr>
        <p:txBody>
          <a:bodyPr wrap="square" rtlCol="0">
            <a:spAutoFit/>
          </a:bodyPr>
          <a:lstStyle/>
          <a:p>
            <a:r>
              <a:rPr lang="en-GB" sz="1200" noProof="0" dirty="0"/>
              <a:t>You must </a:t>
            </a:r>
            <a:r>
              <a:rPr lang="en-GB" sz="1200" b="1" noProof="0" dirty="0"/>
              <a:t>equate</a:t>
            </a:r>
            <a:r>
              <a:rPr lang="en-GB" sz="1200" noProof="0" dirty="0"/>
              <a:t> the variables for the elimination method to work.  </a:t>
            </a:r>
          </a:p>
        </p:txBody>
      </p:sp>
      <p:sp>
        <p:nvSpPr>
          <p:cNvPr id="34" name="TextBox 33"/>
          <p:cNvSpPr txBox="1"/>
          <p:nvPr/>
        </p:nvSpPr>
        <p:spPr>
          <a:xfrm>
            <a:off x="2403160" y="2963126"/>
            <a:ext cx="2050433" cy="369332"/>
          </a:xfrm>
          <a:prstGeom prst="rect">
            <a:avLst/>
          </a:prstGeom>
          <a:solidFill>
            <a:schemeClr val="bg1"/>
          </a:solidFill>
          <a:ln>
            <a:solidFill>
              <a:schemeClr val="tx1"/>
            </a:solidFill>
          </a:ln>
        </p:spPr>
        <p:txBody>
          <a:bodyPr wrap="none" rtlCol="0">
            <a:spAutoFit/>
          </a:bodyPr>
          <a:lstStyle/>
          <a:p>
            <a:r>
              <a:rPr lang="en-GB" noProof="0" dirty="0"/>
              <a:t>Elimination Method</a:t>
            </a:r>
          </a:p>
        </p:txBody>
      </p:sp>
      <mc:AlternateContent xmlns:mc="http://schemas.openxmlformats.org/markup-compatibility/2006" xmlns:a14="http://schemas.microsoft.com/office/drawing/2010/main">
        <mc:Choice Requires="a14">
          <p:graphicFrame>
            <p:nvGraphicFramePr>
              <p:cNvPr id="41" name="Table 40"/>
              <p:cNvGraphicFramePr>
                <a:graphicFrameLocks noGrp="1"/>
              </p:cNvGraphicFramePr>
              <p:nvPr>
                <p:extLst>
                  <p:ext uri="{D42A27DB-BD31-4B8C-83A1-F6EECF244321}">
                    <p14:modId xmlns:p14="http://schemas.microsoft.com/office/powerpoint/2010/main" val="4106382198"/>
                  </p:ext>
                </p:extLst>
              </p:nvPr>
            </p:nvGraphicFramePr>
            <p:xfrm>
              <a:off x="137968" y="4630721"/>
              <a:ext cx="6614917" cy="1845308"/>
            </p:xfrm>
            <a:graphic>
              <a:graphicData uri="http://schemas.openxmlformats.org/drawingml/2006/table">
                <a:tbl>
                  <a:tblPr firstRow="1" bandRow="1">
                    <a:tableStyleId>{5C22544A-7EE6-4342-B048-85BDC9FD1C3A}</a:tableStyleId>
                  </a:tblPr>
                  <a:tblGrid>
                    <a:gridCol w="2280112">
                      <a:extLst>
                        <a:ext uri="{9D8B030D-6E8A-4147-A177-3AD203B41FA5}">
                          <a16:colId xmlns:a16="http://schemas.microsoft.com/office/drawing/2014/main" val="2943938818"/>
                        </a:ext>
                      </a:extLst>
                    </a:gridCol>
                    <a:gridCol w="2208039">
                      <a:extLst>
                        <a:ext uri="{9D8B030D-6E8A-4147-A177-3AD203B41FA5}">
                          <a16:colId xmlns:a16="http://schemas.microsoft.com/office/drawing/2014/main" val="4207345459"/>
                        </a:ext>
                      </a:extLst>
                    </a:gridCol>
                    <a:gridCol w="2126766">
                      <a:extLst>
                        <a:ext uri="{9D8B030D-6E8A-4147-A177-3AD203B41FA5}">
                          <a16:colId xmlns:a16="http://schemas.microsoft.com/office/drawing/2014/main" val="592218920"/>
                        </a:ext>
                      </a:extLst>
                    </a:gridCol>
                  </a:tblGrid>
                  <a:tr h="290828">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cs typeface="Calibri" panose="020F0502020204030204" pitchFamily="34" charset="0"/>
                            </a:rPr>
                            <a:t>Example 1 -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 – We</a:t>
                          </a:r>
                          <a:r>
                            <a:rPr lang="en-GB" sz="1200" b="1" i="1" baseline="0" noProof="0" dirty="0">
                              <a:solidFill>
                                <a:schemeClr val="accent2"/>
                              </a:solidFill>
                            </a:rPr>
                            <a:t> </a:t>
                          </a:r>
                          <a:r>
                            <a:rPr lang="en-GB" sz="1200" b="1" i="1" noProof="0" dirty="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3 – You</a:t>
                          </a:r>
                          <a:r>
                            <a:rPr lang="en-GB" sz="1200" b="1" i="1" baseline="0" noProof="0" dirty="0">
                              <a:solidFill>
                                <a:srgbClr val="00B050"/>
                              </a:solidFill>
                            </a:rPr>
                            <a:t> </a:t>
                          </a:r>
                          <a:r>
                            <a:rPr lang="en-GB" sz="1200" b="1" i="1" noProof="0" dirty="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290828">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Subtract</a:t>
                          </a:r>
                          <a:r>
                            <a:rPr lang="en-GB" sz="1200" b="0" i="0" baseline="0" noProof="0" dirty="0">
                              <a:solidFill>
                                <a:schemeClr val="tx1"/>
                              </a:solidFill>
                              <a:cs typeface="Calibri" panose="020F0502020204030204" pitchFamily="34" charset="0"/>
                            </a:rPr>
                            <a:t> equation 2 from equation 1. </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=10</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=5</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Subtract</a:t>
                          </a:r>
                          <a:r>
                            <a:rPr lang="en-GB" sz="1200" b="0" i="0" baseline="0" noProof="0" dirty="0">
                              <a:solidFill>
                                <a:schemeClr val="tx1"/>
                              </a:solidFill>
                              <a:cs typeface="Calibri" panose="020F0502020204030204" pitchFamily="34" charset="0"/>
                            </a:rPr>
                            <a:t> equation 2 from equation 1. </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5</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=9</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=5</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chemeClr val="accent2"/>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Subtract</a:t>
                          </a:r>
                          <a:r>
                            <a:rPr lang="en-GB" sz="1200" b="0" i="0" baseline="0" noProof="0" dirty="0">
                              <a:solidFill>
                                <a:schemeClr val="tx1"/>
                              </a:solidFill>
                              <a:cs typeface="Calibri" panose="020F0502020204030204" pitchFamily="34" charset="0"/>
                            </a:rPr>
                            <a:t> equation 2 from equation 1. </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7</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+5</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=10</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+5</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=5</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00B050"/>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265822"/>
                      </a:ext>
                    </a:extLst>
                  </a:tr>
                </a:tbl>
              </a:graphicData>
            </a:graphic>
          </p:graphicFrame>
        </mc:Choice>
        <mc:Fallback xmlns="">
          <p:graphicFrame>
            <p:nvGraphicFramePr>
              <p:cNvPr id="41" name="Table 40"/>
              <p:cNvGraphicFramePr>
                <a:graphicFrameLocks noGrp="1"/>
              </p:cNvGraphicFramePr>
              <p:nvPr>
                <p:extLst>
                  <p:ext uri="{D42A27DB-BD31-4B8C-83A1-F6EECF244321}">
                    <p14:modId xmlns:p14="http://schemas.microsoft.com/office/powerpoint/2010/main" val="4106382198"/>
                  </p:ext>
                </p:extLst>
              </p:nvPr>
            </p:nvGraphicFramePr>
            <p:xfrm>
              <a:off x="137968" y="4630721"/>
              <a:ext cx="6614917" cy="1845308"/>
            </p:xfrm>
            <a:graphic>
              <a:graphicData uri="http://schemas.openxmlformats.org/drawingml/2006/table">
                <a:tbl>
                  <a:tblPr firstRow="1" bandRow="1">
                    <a:tableStyleId>{5C22544A-7EE6-4342-B048-85BDC9FD1C3A}</a:tableStyleId>
                  </a:tblPr>
                  <a:tblGrid>
                    <a:gridCol w="2280112">
                      <a:extLst>
                        <a:ext uri="{9D8B030D-6E8A-4147-A177-3AD203B41FA5}">
                          <a16:colId xmlns:a16="http://schemas.microsoft.com/office/drawing/2014/main" val="2943938818"/>
                        </a:ext>
                      </a:extLst>
                    </a:gridCol>
                    <a:gridCol w="2208039">
                      <a:extLst>
                        <a:ext uri="{9D8B030D-6E8A-4147-A177-3AD203B41FA5}">
                          <a16:colId xmlns:a16="http://schemas.microsoft.com/office/drawing/2014/main" val="4207345459"/>
                        </a:ext>
                      </a:extLst>
                    </a:gridCol>
                    <a:gridCol w="2126766">
                      <a:extLst>
                        <a:ext uri="{9D8B030D-6E8A-4147-A177-3AD203B41FA5}">
                          <a16:colId xmlns:a16="http://schemas.microsoft.com/office/drawing/2014/main" val="592218920"/>
                        </a:ext>
                      </a:extLst>
                    </a:gridCol>
                  </a:tblGrid>
                  <a:tr h="290828">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cs typeface="Calibri" panose="020F0502020204030204" pitchFamily="34" charset="0"/>
                            </a:rPr>
                            <a:t>Example 1 -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2 – We</a:t>
                          </a:r>
                          <a:r>
                            <a:rPr lang="en-GB" sz="1200" b="1" i="1" baseline="0" noProof="0">
                              <a:solidFill>
                                <a:schemeClr val="accent2"/>
                              </a:solidFill>
                            </a:rPr>
                            <a:t> </a:t>
                          </a:r>
                          <a:r>
                            <a:rPr lang="en-GB" sz="1200" b="1" i="1" noProof="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3 – You</a:t>
                          </a:r>
                          <a:r>
                            <a:rPr lang="en-GB" sz="1200" b="1" i="1" baseline="0" noProof="0">
                              <a:solidFill>
                                <a:srgbClr val="00B050"/>
                              </a:solidFill>
                            </a:rPr>
                            <a:t> </a:t>
                          </a:r>
                          <a:r>
                            <a:rPr lang="en-GB" sz="1200" b="1" i="1" noProof="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15544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7" t="-19141" r="-190909" b="-78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3306" t="-19141" r="-96694" b="-78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11461" t="-19141" r="-573" b="-781"/>
                          </a:stretch>
                        </a:blipFill>
                      </a:tcPr>
                    </a:tc>
                    <a:extLst>
                      <a:ext uri="{0D108BD9-81ED-4DB2-BD59-A6C34878D82A}">
                        <a16:rowId xmlns:a16="http://schemas.microsoft.com/office/drawing/2014/main" val="3427265822"/>
                      </a:ext>
                    </a:extLst>
                  </a:tr>
                </a:tbl>
              </a:graphicData>
            </a:graphic>
          </p:graphicFrame>
        </mc:Fallback>
      </mc:AlternateContent>
      <p:cxnSp>
        <p:nvCxnSpPr>
          <p:cNvPr id="42" name="Straight Connector 41"/>
          <p:cNvCxnSpPr/>
          <p:nvPr/>
        </p:nvCxnSpPr>
        <p:spPr>
          <a:xfrm>
            <a:off x="632460" y="5935980"/>
            <a:ext cx="1322070" cy="0"/>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p:cNvCxnSpPr/>
          <p:nvPr/>
        </p:nvCxnSpPr>
        <p:spPr>
          <a:xfrm>
            <a:off x="2837328" y="5935980"/>
            <a:ext cx="1322070" cy="0"/>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Connector 44"/>
          <p:cNvCxnSpPr/>
          <p:nvPr/>
        </p:nvCxnSpPr>
        <p:spPr>
          <a:xfrm>
            <a:off x="5062368" y="5935980"/>
            <a:ext cx="1322070" cy="0"/>
          </a:xfrm>
          <a:prstGeom prst="line">
            <a:avLst/>
          </a:prstGeom>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2C10CDB0-5D39-7448-ABDD-102EC30FED6B}"/>
              </a:ext>
            </a:extLst>
          </p:cNvPr>
          <p:cNvSpPr txBox="1"/>
          <p:nvPr/>
        </p:nvSpPr>
        <p:spPr>
          <a:xfrm>
            <a:off x="2235112" y="6667071"/>
            <a:ext cx="2644122" cy="276999"/>
          </a:xfrm>
          <a:prstGeom prst="rect">
            <a:avLst/>
          </a:prstGeom>
          <a:noFill/>
        </p:spPr>
        <p:txBody>
          <a:bodyPr wrap="none" rtlCol="0">
            <a:spAutoFit/>
          </a:bodyPr>
          <a:lstStyle/>
          <a:p>
            <a:r>
              <a:rPr lang="en-GB" sz="1200" noProof="0" dirty="0"/>
              <a:t> 1) subtract equation 2 from equation 1</a:t>
            </a:r>
          </a:p>
        </p:txBody>
      </p:sp>
      <mc:AlternateContent xmlns:mc="http://schemas.openxmlformats.org/markup-compatibility/2006" xmlns:a14="http://schemas.microsoft.com/office/drawing/2010/main">
        <mc:Choice Requires="a14">
          <p:sp>
            <p:nvSpPr>
              <p:cNvPr id="48" name="Rectangle 47"/>
              <p:cNvSpPr/>
              <p:nvPr/>
            </p:nvSpPr>
            <p:spPr>
              <a:xfrm>
                <a:off x="118396" y="7174904"/>
                <a:ext cx="1387282"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1) </a:t>
                </a:r>
                <a14:m>
                  <m:oMath xmlns:m="http://schemas.openxmlformats.org/officeDocument/2006/math">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=10</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m:t>
                    </m:r>
                  </m:oMath>
                </a14:m>
                <a:r>
                  <a:rPr lang="en-GB" sz="1200" noProof="0" dirty="0">
                    <a:cs typeface="Calibri" panose="020F0502020204030204" pitchFamily="34" charset="0"/>
                  </a:rPr>
                  <a:t> (2)</a:t>
                </a:r>
              </a:p>
            </p:txBody>
          </p:sp>
        </mc:Choice>
        <mc:Fallback xmlns="">
          <p:sp>
            <p:nvSpPr>
              <p:cNvPr id="48" name="Rectangle 47"/>
              <p:cNvSpPr>
                <a:spLocks noRot="1" noChangeAspect="1" noMove="1" noResize="1" noEditPoints="1" noAdjustHandles="1" noChangeArrowheads="1" noChangeShapeType="1" noTextEdit="1"/>
              </p:cNvSpPr>
              <p:nvPr/>
            </p:nvSpPr>
            <p:spPr>
              <a:xfrm>
                <a:off x="118396" y="7174904"/>
                <a:ext cx="1387282" cy="461665"/>
              </a:xfrm>
              <a:prstGeom prst="rect">
                <a:avLst/>
              </a:prstGeom>
              <a:blipFill>
                <a:blip r:embed="rId4"/>
                <a:stretch>
                  <a:fillRect t="-1316"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p:cNvSpPr/>
              <p:nvPr/>
            </p:nvSpPr>
            <p:spPr>
              <a:xfrm>
                <a:off x="1805453" y="7174904"/>
                <a:ext cx="1495034"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2)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8</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=10</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m:t>
                    </m:r>
                  </m:oMath>
                </a14:m>
                <a:r>
                  <a:rPr lang="en-GB" sz="1200" noProof="0" dirty="0">
                    <a:cs typeface="Calibri" panose="020F0502020204030204" pitchFamily="34" charset="0"/>
                  </a:rPr>
                  <a:t> (2)</a:t>
                </a:r>
              </a:p>
            </p:txBody>
          </p:sp>
        </mc:Choice>
        <mc:Fallback xmlns="">
          <p:sp>
            <p:nvSpPr>
              <p:cNvPr id="49" name="Rectangle 48"/>
              <p:cNvSpPr>
                <a:spLocks noRot="1" noChangeAspect="1" noMove="1" noResize="1" noEditPoints="1" noAdjustHandles="1" noChangeArrowheads="1" noChangeShapeType="1" noTextEdit="1"/>
              </p:cNvSpPr>
              <p:nvPr/>
            </p:nvSpPr>
            <p:spPr>
              <a:xfrm>
                <a:off x="1805453" y="7174904"/>
                <a:ext cx="1495034" cy="461665"/>
              </a:xfrm>
              <a:prstGeom prst="rect">
                <a:avLst/>
              </a:prstGeom>
              <a:blipFill>
                <a:blip r:embed="rId5"/>
                <a:stretch>
                  <a:fillRect t="-1316"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p:cNvSpPr/>
              <p:nvPr/>
            </p:nvSpPr>
            <p:spPr>
              <a:xfrm>
                <a:off x="3494690" y="7174903"/>
                <a:ext cx="1615124"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3) </a:t>
                </a:r>
                <a14:m>
                  <m:oMath xmlns:m="http://schemas.openxmlformats.org/officeDocument/2006/math">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=10</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m:t>
                    </m:r>
                  </m:oMath>
                </a14:m>
                <a:r>
                  <a:rPr lang="en-GB" sz="1200" noProof="0" dirty="0">
                    <a:cs typeface="Calibri" panose="020F0502020204030204" pitchFamily="34" charset="0"/>
                  </a:rPr>
                  <a:t> (2)</a:t>
                </a:r>
              </a:p>
            </p:txBody>
          </p:sp>
        </mc:Choice>
        <mc:Fallback xmlns="">
          <p:sp>
            <p:nvSpPr>
              <p:cNvPr id="50" name="Rectangle 49"/>
              <p:cNvSpPr>
                <a:spLocks noRot="1" noChangeAspect="1" noMove="1" noResize="1" noEditPoints="1" noAdjustHandles="1" noChangeArrowheads="1" noChangeShapeType="1" noTextEdit="1"/>
              </p:cNvSpPr>
              <p:nvPr/>
            </p:nvSpPr>
            <p:spPr>
              <a:xfrm>
                <a:off x="3494690" y="7174903"/>
                <a:ext cx="1615124" cy="461665"/>
              </a:xfrm>
              <a:prstGeom prst="rect">
                <a:avLst/>
              </a:prstGeom>
              <a:blipFill>
                <a:blip r:embed="rId6"/>
                <a:stretch>
                  <a:fillRect t="-1316"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ectangle 50"/>
              <p:cNvSpPr/>
              <p:nvPr/>
            </p:nvSpPr>
            <p:spPr>
              <a:xfrm>
                <a:off x="5220999" y="7195714"/>
                <a:ext cx="1531886"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4) </a:t>
                </a:r>
                <a14:m>
                  <m:oMath xmlns:m="http://schemas.openxmlformats.org/officeDocument/2006/math">
                    <m:r>
                      <a:rPr lang="en-GB" sz="1200" i="1" noProof="0" smtClean="0">
                        <a:latin typeface="Cambria Math" panose="02040503050406030204" pitchFamily="18" charset="0"/>
                        <a:cs typeface="Calibri" panose="020F0502020204030204" pitchFamily="34" charset="0"/>
                      </a:rPr>
                      <m:t>1</m:t>
                    </m:r>
                    <m:r>
                      <a:rPr lang="en-GB" sz="1200" b="0" i="1" noProof="0" smtClean="0">
                        <a:latin typeface="Cambria Math" panose="02040503050406030204" pitchFamily="18" charset="0"/>
                        <a:cs typeface="Calibri" panose="020F0502020204030204" pitchFamily="34" charset="0"/>
                      </a:rPr>
                      <m:t>0</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=10</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m:t>
                    </m:r>
                  </m:oMath>
                </a14:m>
                <a:r>
                  <a:rPr lang="en-GB" sz="1200" noProof="0" dirty="0">
                    <a:cs typeface="Calibri" panose="020F0502020204030204" pitchFamily="34" charset="0"/>
                  </a:rPr>
                  <a:t> (2)</a:t>
                </a:r>
              </a:p>
            </p:txBody>
          </p:sp>
        </mc:Choice>
        <mc:Fallback xmlns="">
          <p:sp>
            <p:nvSpPr>
              <p:cNvPr id="51" name="Rectangle 50"/>
              <p:cNvSpPr>
                <a:spLocks noRot="1" noChangeAspect="1" noMove="1" noResize="1" noEditPoints="1" noAdjustHandles="1" noChangeArrowheads="1" noChangeShapeType="1" noTextEdit="1"/>
              </p:cNvSpPr>
              <p:nvPr/>
            </p:nvSpPr>
            <p:spPr>
              <a:xfrm>
                <a:off x="5220999" y="7195714"/>
                <a:ext cx="1531886" cy="461665"/>
              </a:xfrm>
              <a:prstGeom prst="rect">
                <a:avLst/>
              </a:prstGeom>
              <a:blipFill>
                <a:blip r:embed="rId7"/>
                <a:stretch>
                  <a:fillRect b="-9211"/>
                </a:stretch>
              </a:blipFill>
            </p:spPr>
            <p:txBody>
              <a:bodyPr/>
              <a:lstStyle/>
              <a:p>
                <a:r>
                  <a:rPr lang="en-US">
                    <a:noFill/>
                  </a:rPr>
                  <a:t> </a:t>
                </a:r>
              </a:p>
            </p:txBody>
          </p:sp>
        </mc:Fallback>
      </mc:AlternateContent>
      <p:cxnSp>
        <p:nvCxnSpPr>
          <p:cNvPr id="52" name="Straight Connector 51"/>
          <p:cNvCxnSpPr/>
          <p:nvPr/>
        </p:nvCxnSpPr>
        <p:spPr>
          <a:xfrm>
            <a:off x="354113" y="7636568"/>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a:off x="2089081" y="7636568"/>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3768408" y="7636568"/>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a:off x="5503376" y="7636568"/>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7" name="Rectangle 56"/>
              <p:cNvSpPr/>
              <p:nvPr/>
            </p:nvSpPr>
            <p:spPr>
              <a:xfrm>
                <a:off x="134603" y="8423199"/>
                <a:ext cx="1590801"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5)</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=10</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m:t>
                    </m:r>
                  </m:oMath>
                </a14:m>
                <a:r>
                  <a:rPr lang="en-GB" sz="1200" noProof="0" dirty="0">
                    <a:cs typeface="Calibri" panose="020F0502020204030204" pitchFamily="34" charset="0"/>
                  </a:rPr>
                  <a:t> (2)</a:t>
                </a:r>
              </a:p>
            </p:txBody>
          </p:sp>
        </mc:Choice>
        <mc:Fallback xmlns="">
          <p:sp>
            <p:nvSpPr>
              <p:cNvPr id="57" name="Rectangle 56"/>
              <p:cNvSpPr>
                <a:spLocks noRot="1" noChangeAspect="1" noMove="1" noResize="1" noEditPoints="1" noAdjustHandles="1" noChangeArrowheads="1" noChangeShapeType="1" noTextEdit="1"/>
              </p:cNvSpPr>
              <p:nvPr/>
            </p:nvSpPr>
            <p:spPr>
              <a:xfrm>
                <a:off x="134603" y="8423199"/>
                <a:ext cx="1590801" cy="461665"/>
              </a:xfrm>
              <a:prstGeom prst="rect">
                <a:avLst/>
              </a:prstGeom>
              <a:blipFill>
                <a:blip r:embed="rId8"/>
                <a:stretch>
                  <a:fillRect t="-1333"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p:cNvSpPr/>
              <p:nvPr/>
            </p:nvSpPr>
            <p:spPr>
              <a:xfrm>
                <a:off x="1821661" y="8423199"/>
                <a:ext cx="1624900"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6)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=10</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m:t>
                    </m:r>
                  </m:oMath>
                </a14:m>
                <a:r>
                  <a:rPr lang="en-GB" sz="1200" noProof="0" dirty="0">
                    <a:cs typeface="Calibri" panose="020F0502020204030204" pitchFamily="34" charset="0"/>
                  </a:rPr>
                  <a:t> (2)</a:t>
                </a:r>
              </a:p>
            </p:txBody>
          </p:sp>
        </mc:Choice>
        <mc:Fallback xmlns="">
          <p:sp>
            <p:nvSpPr>
              <p:cNvPr id="58" name="Rectangle 57"/>
              <p:cNvSpPr>
                <a:spLocks noRot="1" noChangeAspect="1" noMove="1" noResize="1" noEditPoints="1" noAdjustHandles="1" noChangeArrowheads="1" noChangeShapeType="1" noTextEdit="1"/>
              </p:cNvSpPr>
              <p:nvPr/>
            </p:nvSpPr>
            <p:spPr>
              <a:xfrm>
                <a:off x="1821661" y="8423199"/>
                <a:ext cx="1624900" cy="461665"/>
              </a:xfrm>
              <a:prstGeom prst="rect">
                <a:avLst/>
              </a:prstGeom>
              <a:blipFill>
                <a:blip r:embed="rId9"/>
                <a:stretch>
                  <a:fillRect t="-1333"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Rectangle 58"/>
              <p:cNvSpPr/>
              <p:nvPr/>
            </p:nvSpPr>
            <p:spPr>
              <a:xfrm>
                <a:off x="3510898" y="8423198"/>
                <a:ext cx="1615124"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7) </a:t>
                </a:r>
                <a14:m>
                  <m:oMath xmlns:m="http://schemas.openxmlformats.org/officeDocument/2006/math">
                    <m:r>
                      <a:rPr lang="en-GB" sz="1200" i="1" noProof="0" smtClean="0">
                        <a:latin typeface="Cambria Math" panose="02040503050406030204" pitchFamily="18" charset="0"/>
                        <a:cs typeface="Calibri" panose="020F0502020204030204" pitchFamily="34" charset="0"/>
                      </a:rPr>
                      <m:t>7</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=10</m:t>
                    </m:r>
                  </m:oMath>
                </a14:m>
                <a:r>
                  <a:rPr lang="en-GB" sz="1200" noProof="0" dirty="0">
                    <a:cs typeface="Calibri" panose="020F0502020204030204" pitchFamily="34" charset="0"/>
                  </a:rPr>
                  <a:t> (1)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7</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m:t>
                    </m:r>
                  </m:oMath>
                </a14:m>
                <a:r>
                  <a:rPr lang="en-GB" sz="1200" noProof="0" dirty="0">
                    <a:cs typeface="Calibri" panose="020F0502020204030204" pitchFamily="34" charset="0"/>
                  </a:rPr>
                  <a:t> (2)</a:t>
                </a:r>
              </a:p>
            </p:txBody>
          </p:sp>
        </mc:Choice>
        <mc:Fallback xmlns="">
          <p:sp>
            <p:nvSpPr>
              <p:cNvPr id="59" name="Rectangle 58"/>
              <p:cNvSpPr>
                <a:spLocks noRot="1" noChangeAspect="1" noMove="1" noResize="1" noEditPoints="1" noAdjustHandles="1" noChangeArrowheads="1" noChangeShapeType="1" noTextEdit="1"/>
              </p:cNvSpPr>
              <p:nvPr/>
            </p:nvSpPr>
            <p:spPr>
              <a:xfrm>
                <a:off x="3510898" y="8423198"/>
                <a:ext cx="1615124" cy="461665"/>
              </a:xfrm>
              <a:prstGeom prst="rect">
                <a:avLst/>
              </a:prstGeom>
              <a:blipFill>
                <a:blip r:embed="rId10"/>
                <a:stretch>
                  <a:fillRect t="-1333"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Rectangle 59"/>
              <p:cNvSpPr/>
              <p:nvPr/>
            </p:nvSpPr>
            <p:spPr>
              <a:xfrm>
                <a:off x="5237207" y="8444009"/>
                <a:ext cx="1531886"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8) </a:t>
                </a:r>
                <a14:m>
                  <m:oMath xmlns:m="http://schemas.openxmlformats.org/officeDocument/2006/math">
                    <m:r>
                      <a:rPr lang="en-GB" sz="1200" i="1" noProof="0" smtClean="0">
                        <a:latin typeface="Cambria Math" panose="02040503050406030204" pitchFamily="18" charset="0"/>
                        <a:cs typeface="Calibri" panose="020F0502020204030204" pitchFamily="34" charset="0"/>
                      </a:rPr>
                      <m:t>1</m:t>
                    </m:r>
                    <m:r>
                      <a:rPr lang="en-GB" sz="1200" b="0" i="1" noProof="0" smtClean="0">
                        <a:latin typeface="Cambria Math" panose="02040503050406030204" pitchFamily="18" charset="0"/>
                        <a:cs typeface="Calibri" panose="020F0502020204030204" pitchFamily="34" charset="0"/>
                      </a:rPr>
                      <m:t>0</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+7</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=10</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1</m:t>
                    </m:r>
                    <m:r>
                      <a:rPr lang="en-GB" sz="1200" b="0" i="0" noProof="0" smtClean="0">
                        <a:latin typeface="Cambria Math" panose="02040503050406030204" pitchFamily="18" charset="0"/>
                        <a:cs typeface="Calibri" panose="020F0502020204030204" pitchFamily="34" charset="0"/>
                      </a:rPr>
                      <m:t>0</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m:t>
                    </m:r>
                  </m:oMath>
                </a14:m>
                <a:r>
                  <a:rPr lang="en-GB" sz="1200" noProof="0" dirty="0">
                    <a:cs typeface="Calibri" panose="020F0502020204030204" pitchFamily="34" charset="0"/>
                  </a:rPr>
                  <a:t> (2)</a:t>
                </a:r>
              </a:p>
            </p:txBody>
          </p:sp>
        </mc:Choice>
        <mc:Fallback xmlns="">
          <p:sp>
            <p:nvSpPr>
              <p:cNvPr id="60" name="Rectangle 59"/>
              <p:cNvSpPr>
                <a:spLocks noRot="1" noChangeAspect="1" noMove="1" noResize="1" noEditPoints="1" noAdjustHandles="1" noChangeArrowheads="1" noChangeShapeType="1" noTextEdit="1"/>
              </p:cNvSpPr>
              <p:nvPr/>
            </p:nvSpPr>
            <p:spPr>
              <a:xfrm>
                <a:off x="5237207" y="8444009"/>
                <a:ext cx="1531886" cy="461665"/>
              </a:xfrm>
              <a:prstGeom prst="rect">
                <a:avLst/>
              </a:prstGeom>
              <a:blipFill>
                <a:blip r:embed="rId11"/>
                <a:stretch>
                  <a:fillRect r="-398" b="-9211"/>
                </a:stretch>
              </a:blipFill>
            </p:spPr>
            <p:txBody>
              <a:bodyPr/>
              <a:lstStyle/>
              <a:p>
                <a:r>
                  <a:rPr lang="en-US">
                    <a:noFill/>
                  </a:rPr>
                  <a:t> </a:t>
                </a:r>
              </a:p>
            </p:txBody>
          </p:sp>
        </mc:Fallback>
      </mc:AlternateContent>
      <p:cxnSp>
        <p:nvCxnSpPr>
          <p:cNvPr id="61" name="Straight Connector 60"/>
          <p:cNvCxnSpPr/>
          <p:nvPr/>
        </p:nvCxnSpPr>
        <p:spPr>
          <a:xfrm>
            <a:off x="370321" y="8884863"/>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62" name="Straight Connector 61"/>
          <p:cNvCxnSpPr/>
          <p:nvPr/>
        </p:nvCxnSpPr>
        <p:spPr>
          <a:xfrm>
            <a:off x="2105289" y="8884863"/>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63" name="Straight Connector 62"/>
          <p:cNvCxnSpPr/>
          <p:nvPr/>
        </p:nvCxnSpPr>
        <p:spPr>
          <a:xfrm>
            <a:off x="3784616" y="8884863"/>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64" name="Straight Connector 63"/>
          <p:cNvCxnSpPr/>
          <p:nvPr/>
        </p:nvCxnSpPr>
        <p:spPr>
          <a:xfrm>
            <a:off x="5519584" y="8884863"/>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97278" y="3460997"/>
                <a:ext cx="987899" cy="7386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  5</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=11</m:t>
                      </m:r>
                    </m:oMath>
                  </m:oMathPara>
                </a14:m>
                <a:endParaRPr lang="en-GB" sz="1200" b="0" i="1" noProof="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=9</m:t>
                      </m:r>
                    </m:oMath>
                  </m:oMathPara>
                </a14:m>
                <a:endParaRPr lang="en-GB" sz="1200" noProof="0" dirty="0"/>
              </a:p>
              <a:p>
                <a:r>
                  <a:rPr lang="en-GB" sz="1200" noProof="0" dirty="0"/>
                  <a:t>    </a:t>
                </a:r>
                <a14:m>
                  <m:oMath xmlns:m="http://schemas.openxmlformats.org/officeDocument/2006/math">
                    <m:r>
                      <a:rPr lang="en-GB" sz="1200" i="1" noProof="0" smtClean="0">
                        <a:latin typeface="Cambria Math" panose="02040503050406030204" pitchFamily="18" charset="0"/>
                      </a:rPr>
                      <m:t>𝑥</m:t>
                    </m:r>
                    <m:r>
                      <a:rPr lang="en-GB" sz="1200" i="1" noProof="0" smtClean="0">
                        <a:latin typeface="Cambria Math" panose="02040503050406030204" pitchFamily="18" charset="0"/>
                      </a:rPr>
                      <m:t>         =2</m:t>
                    </m:r>
                  </m:oMath>
                </a14:m>
                <a:endParaRPr lang="en-GB" sz="1200" noProof="0" dirty="0"/>
              </a:p>
              <a:p>
                <a:r>
                  <a:rPr lang="en-GB" sz="1200" noProof="0" dirty="0"/>
                  <a:t>  </a:t>
                </a:r>
              </a:p>
            </p:txBody>
          </p:sp>
        </mc:Choice>
        <mc:Fallback xmlns="">
          <p:sp>
            <p:nvSpPr>
              <p:cNvPr id="10" name="TextBox 9"/>
              <p:cNvSpPr txBox="1">
                <a:spLocks noRot="1" noChangeAspect="1" noMove="1" noResize="1" noEditPoints="1" noAdjustHandles="1" noChangeArrowheads="1" noChangeShapeType="1" noTextEdit="1"/>
              </p:cNvSpPr>
              <p:nvPr/>
            </p:nvSpPr>
            <p:spPr>
              <a:xfrm>
                <a:off x="97278" y="3460997"/>
                <a:ext cx="987899" cy="738664"/>
              </a:xfrm>
              <a:prstGeom prst="rect">
                <a:avLst/>
              </a:prstGeom>
              <a:blipFill>
                <a:blip r:embed="rId12"/>
                <a:stretch>
                  <a:fillRect/>
                </a:stretch>
              </a:blipFill>
            </p:spPr>
            <p:txBody>
              <a:bodyPr/>
              <a:lstStyle/>
              <a:p>
                <a:r>
                  <a:rPr lang="en-US">
                    <a:noFill/>
                  </a:rPr>
                  <a:t> </a:t>
                </a:r>
              </a:p>
            </p:txBody>
          </p:sp>
        </mc:Fallback>
      </mc:AlternateContent>
      <p:cxnSp>
        <p:nvCxnSpPr>
          <p:cNvPr id="13" name="Straight Connector 12"/>
          <p:cNvCxnSpPr/>
          <p:nvPr/>
        </p:nvCxnSpPr>
        <p:spPr>
          <a:xfrm>
            <a:off x="191167" y="3830329"/>
            <a:ext cx="829952"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p:cNvSpPr txBox="1"/>
              <p:nvPr/>
            </p:nvSpPr>
            <p:spPr>
              <a:xfrm>
                <a:off x="945476" y="3504018"/>
                <a:ext cx="35939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400" b="0" i="1" noProof="0" smtClean="0">
                          <a:latin typeface="Cambria Math" panose="02040503050406030204" pitchFamily="18" charset="0"/>
                        </a:rPr>
                        <m:t>−</m:t>
                      </m:r>
                    </m:oMath>
                  </m:oMathPara>
                </a14:m>
                <a:endParaRPr lang="en-GB" sz="1400" noProof="0" dirty="0"/>
              </a:p>
            </p:txBody>
          </p:sp>
        </mc:Choice>
        <mc:Fallback xmlns="">
          <p:sp>
            <p:nvSpPr>
              <p:cNvPr id="14" name="TextBox 13"/>
              <p:cNvSpPr txBox="1">
                <a:spLocks noRot="1" noChangeAspect="1" noMove="1" noResize="1" noEditPoints="1" noAdjustHandles="1" noChangeArrowheads="1" noChangeShapeType="1" noTextEdit="1"/>
              </p:cNvSpPr>
              <p:nvPr/>
            </p:nvSpPr>
            <p:spPr>
              <a:xfrm>
                <a:off x="945476" y="3504018"/>
                <a:ext cx="359393" cy="30777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1520957" y="3487089"/>
                <a:ext cx="1161407"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5</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2</m:t>
                          </m:r>
                        </m:e>
                      </m:d>
                      <m:r>
                        <a:rPr lang="en-GB" sz="1200" b="0" i="1" noProof="0" smtClean="0">
                          <a:latin typeface="Cambria Math" panose="02040503050406030204" pitchFamily="18" charset="0"/>
                        </a:rPr>
                        <m:t>+</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=11</m:t>
                      </m:r>
                    </m:oMath>
                  </m:oMathPara>
                </a14:m>
                <a:endParaRPr lang="en-GB" sz="1200" noProof="0" dirty="0"/>
              </a:p>
            </p:txBody>
          </p:sp>
        </mc:Choice>
        <mc:Fallback xmlns="">
          <p:sp>
            <p:nvSpPr>
              <p:cNvPr id="15" name="Rectangle 14"/>
              <p:cNvSpPr>
                <a:spLocks noRot="1" noChangeAspect="1" noMove="1" noResize="1" noEditPoints="1" noAdjustHandles="1" noChangeArrowheads="1" noChangeShapeType="1" noTextEdit="1"/>
              </p:cNvSpPr>
              <p:nvPr/>
            </p:nvSpPr>
            <p:spPr>
              <a:xfrm>
                <a:off x="1520957" y="3487089"/>
                <a:ext cx="1161407" cy="276999"/>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1652586" y="3696406"/>
                <a:ext cx="1033681"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10+</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=11</m:t>
                      </m:r>
                    </m:oMath>
                  </m:oMathPara>
                </a14:m>
                <a:endParaRPr lang="en-GB" sz="1200" noProof="0" dirty="0"/>
              </a:p>
            </p:txBody>
          </p:sp>
        </mc:Choice>
        <mc:Fallback xmlns="">
          <p:sp>
            <p:nvSpPr>
              <p:cNvPr id="65" name="Rectangle 64"/>
              <p:cNvSpPr>
                <a:spLocks noRot="1" noChangeAspect="1" noMove="1" noResize="1" noEditPoints="1" noAdjustHandles="1" noChangeArrowheads="1" noChangeShapeType="1" noTextEdit="1"/>
              </p:cNvSpPr>
              <p:nvPr/>
            </p:nvSpPr>
            <p:spPr>
              <a:xfrm>
                <a:off x="1652586" y="3696406"/>
                <a:ext cx="1033681" cy="276999"/>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Rectangle 65"/>
              <p:cNvSpPr/>
              <p:nvPr/>
            </p:nvSpPr>
            <p:spPr>
              <a:xfrm>
                <a:off x="2013293" y="4064220"/>
                <a:ext cx="595035"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=1</m:t>
                      </m:r>
                    </m:oMath>
                  </m:oMathPara>
                </a14:m>
                <a:endParaRPr lang="en-GB" sz="1200" noProof="0" dirty="0"/>
              </a:p>
            </p:txBody>
          </p:sp>
        </mc:Choice>
        <mc:Fallback xmlns="">
          <p:sp>
            <p:nvSpPr>
              <p:cNvPr id="66" name="Rectangle 65"/>
              <p:cNvSpPr>
                <a:spLocks noRot="1" noChangeAspect="1" noMove="1" noResize="1" noEditPoints="1" noAdjustHandles="1" noChangeArrowheads="1" noChangeShapeType="1" noTextEdit="1"/>
              </p:cNvSpPr>
              <p:nvPr/>
            </p:nvSpPr>
            <p:spPr>
              <a:xfrm>
                <a:off x="2013293" y="4064220"/>
                <a:ext cx="595035" cy="276999"/>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p:cNvSpPr/>
              <p:nvPr/>
            </p:nvSpPr>
            <p:spPr>
              <a:xfrm>
                <a:off x="1568970" y="3886494"/>
                <a:ext cx="479618" cy="2616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050" b="0" i="1" noProof="0" smtClean="0">
                          <a:latin typeface="Cambria Math" panose="02040503050406030204" pitchFamily="18" charset="0"/>
                        </a:rPr>
                        <m:t>−10</m:t>
                      </m:r>
                    </m:oMath>
                  </m:oMathPara>
                </a14:m>
                <a:endParaRPr lang="en-GB" sz="1050" noProof="0" dirty="0"/>
              </a:p>
            </p:txBody>
          </p:sp>
        </mc:Choice>
        <mc:Fallback xmlns="">
          <p:sp>
            <p:nvSpPr>
              <p:cNvPr id="67" name="Rectangle 66"/>
              <p:cNvSpPr>
                <a:spLocks noRot="1" noChangeAspect="1" noMove="1" noResize="1" noEditPoints="1" noAdjustHandles="1" noChangeArrowheads="1" noChangeShapeType="1" noTextEdit="1"/>
              </p:cNvSpPr>
              <p:nvPr/>
            </p:nvSpPr>
            <p:spPr>
              <a:xfrm>
                <a:off x="1568970" y="3886494"/>
                <a:ext cx="479618" cy="261610"/>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2206325" y="3891280"/>
                <a:ext cx="479618" cy="2616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050" b="0" i="1" noProof="0" smtClean="0">
                          <a:latin typeface="Cambria Math" panose="02040503050406030204" pitchFamily="18" charset="0"/>
                        </a:rPr>
                        <m:t>−10</m:t>
                      </m:r>
                    </m:oMath>
                  </m:oMathPara>
                </a14:m>
                <a:endParaRPr lang="en-GB" sz="1050" noProof="0" dirty="0"/>
              </a:p>
            </p:txBody>
          </p:sp>
        </mc:Choice>
        <mc:Fallback xmlns="">
          <p:sp>
            <p:nvSpPr>
              <p:cNvPr id="68" name="Rectangle 67"/>
              <p:cNvSpPr>
                <a:spLocks noRot="1" noChangeAspect="1" noMove="1" noResize="1" noEditPoints="1" noAdjustHandles="1" noChangeArrowheads="1" noChangeShapeType="1" noTextEdit="1"/>
              </p:cNvSpPr>
              <p:nvPr/>
            </p:nvSpPr>
            <p:spPr>
              <a:xfrm>
                <a:off x="2206325" y="3891280"/>
                <a:ext cx="479618" cy="26161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3520728" y="3496564"/>
                <a:ext cx="1041247"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  5</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=11</m:t>
                      </m:r>
                    </m:oMath>
                  </m:oMathPara>
                </a14:m>
                <a:endParaRPr lang="en-GB" sz="1200" b="0" i="1" noProof="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=9</m:t>
                      </m:r>
                    </m:oMath>
                  </m:oMathPara>
                </a14:m>
                <a:endParaRPr lang="en-GB" sz="1200" noProof="0" dirty="0"/>
              </a:p>
              <a:p>
                <a:r>
                  <a:rPr lang="en-GB" sz="1200" noProof="0" dirty="0"/>
                  <a:t>    </a:t>
                </a:r>
                <a14:m>
                  <m:oMath xmlns:m="http://schemas.openxmlformats.org/officeDocument/2006/math">
                    <m:r>
                      <a:rPr lang="en-GB" sz="1200" b="0" i="0" noProof="0" smtClean="0">
                        <a:latin typeface="Cambria Math" panose="02040503050406030204" pitchFamily="18" charset="0"/>
                      </a:rPr>
                      <m:t>9</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=20</m:t>
                    </m:r>
                  </m:oMath>
                </a14:m>
                <a:endParaRPr lang="en-GB" sz="1200" noProof="0" dirty="0"/>
              </a:p>
            </p:txBody>
          </p:sp>
        </mc:Choice>
        <mc:Fallback xmlns="">
          <p:sp>
            <p:nvSpPr>
              <p:cNvPr id="69" name="TextBox 68"/>
              <p:cNvSpPr txBox="1">
                <a:spLocks noRot="1" noChangeAspect="1" noMove="1" noResize="1" noEditPoints="1" noAdjustHandles="1" noChangeArrowheads="1" noChangeShapeType="1" noTextEdit="1"/>
              </p:cNvSpPr>
              <p:nvPr/>
            </p:nvSpPr>
            <p:spPr>
              <a:xfrm>
                <a:off x="3520728" y="3496564"/>
                <a:ext cx="1041247" cy="553998"/>
              </a:xfrm>
              <a:prstGeom prst="rect">
                <a:avLst/>
              </a:prstGeom>
              <a:blipFill>
                <a:blip r:embed="rId19"/>
                <a:stretch>
                  <a:fillRect r="-5294" b="-10000"/>
                </a:stretch>
              </a:blipFill>
            </p:spPr>
            <p:txBody>
              <a:bodyPr/>
              <a:lstStyle/>
              <a:p>
                <a:r>
                  <a:rPr lang="en-US">
                    <a:noFill/>
                  </a:rPr>
                  <a:t> </a:t>
                </a:r>
              </a:p>
            </p:txBody>
          </p:sp>
        </mc:Fallback>
      </mc:AlternateContent>
      <p:cxnSp>
        <p:nvCxnSpPr>
          <p:cNvPr id="70" name="Straight Connector 69"/>
          <p:cNvCxnSpPr/>
          <p:nvPr/>
        </p:nvCxnSpPr>
        <p:spPr>
          <a:xfrm>
            <a:off x="3614617" y="3865896"/>
            <a:ext cx="829952"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TextBox 70"/>
              <p:cNvSpPr txBox="1"/>
              <p:nvPr/>
            </p:nvSpPr>
            <p:spPr>
              <a:xfrm>
                <a:off x="4368926" y="3539585"/>
                <a:ext cx="35939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400" b="0" i="1" noProof="0" smtClean="0">
                          <a:latin typeface="Cambria Math" panose="02040503050406030204" pitchFamily="18" charset="0"/>
                        </a:rPr>
                        <m:t>+</m:t>
                      </m:r>
                    </m:oMath>
                  </m:oMathPara>
                </a14:m>
                <a:endParaRPr lang="en-GB" sz="1400" noProof="0" dirty="0"/>
              </a:p>
            </p:txBody>
          </p:sp>
        </mc:Choice>
        <mc:Fallback xmlns="">
          <p:sp>
            <p:nvSpPr>
              <p:cNvPr id="71" name="TextBox 70"/>
              <p:cNvSpPr txBox="1">
                <a:spLocks noRot="1" noChangeAspect="1" noMove="1" noResize="1" noEditPoints="1" noAdjustHandles="1" noChangeArrowheads="1" noChangeShapeType="1" noTextEdit="1"/>
              </p:cNvSpPr>
              <p:nvPr/>
            </p:nvSpPr>
            <p:spPr>
              <a:xfrm>
                <a:off x="4368926" y="3539585"/>
                <a:ext cx="359394" cy="307777"/>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TextBox 83"/>
              <p:cNvSpPr txBox="1"/>
              <p:nvPr/>
            </p:nvSpPr>
            <p:spPr>
              <a:xfrm>
                <a:off x="5260715" y="3532726"/>
                <a:ext cx="999889"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  5</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=11</m:t>
                      </m:r>
                    </m:oMath>
                  </m:oMathPara>
                </a14:m>
                <a:endParaRPr lang="en-GB" sz="1200" b="0" i="1" noProof="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=9</m:t>
                      </m:r>
                    </m:oMath>
                  </m:oMathPara>
                </a14:m>
                <a:endParaRPr lang="en-GB" sz="1200" noProof="0" dirty="0"/>
              </a:p>
              <a:p>
                <a:r>
                  <a:rPr lang="en-GB" sz="1200" noProof="0" dirty="0"/>
                  <a:t>    </a:t>
                </a:r>
                <a14:m>
                  <m:oMath xmlns:m="http://schemas.openxmlformats.org/officeDocument/2006/math">
                    <m:r>
                      <a:rPr lang="en-GB" sz="1200" b="0" i="0" noProof="0" smtClean="0">
                        <a:latin typeface="Cambria Math" panose="02040503050406030204" pitchFamily="18" charset="0"/>
                      </a:rPr>
                      <m:t>   </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       =2</m:t>
                    </m:r>
                  </m:oMath>
                </a14:m>
                <a:endParaRPr lang="en-GB" sz="1200" noProof="0" dirty="0"/>
              </a:p>
            </p:txBody>
          </p:sp>
        </mc:Choice>
        <mc:Fallback xmlns="">
          <p:sp>
            <p:nvSpPr>
              <p:cNvPr id="84" name="TextBox 83"/>
              <p:cNvSpPr txBox="1">
                <a:spLocks noRot="1" noChangeAspect="1" noMove="1" noResize="1" noEditPoints="1" noAdjustHandles="1" noChangeArrowheads="1" noChangeShapeType="1" noTextEdit="1"/>
              </p:cNvSpPr>
              <p:nvPr/>
            </p:nvSpPr>
            <p:spPr>
              <a:xfrm>
                <a:off x="5260715" y="3532726"/>
                <a:ext cx="999889" cy="553998"/>
              </a:xfrm>
              <a:prstGeom prst="rect">
                <a:avLst/>
              </a:prstGeom>
              <a:blipFill>
                <a:blip r:embed="rId21"/>
                <a:stretch>
                  <a:fillRect b="-2222"/>
                </a:stretch>
              </a:blipFill>
            </p:spPr>
            <p:txBody>
              <a:bodyPr/>
              <a:lstStyle/>
              <a:p>
                <a:r>
                  <a:rPr lang="en-US">
                    <a:noFill/>
                  </a:rPr>
                  <a:t> </a:t>
                </a:r>
              </a:p>
            </p:txBody>
          </p:sp>
        </mc:Fallback>
      </mc:AlternateContent>
      <p:cxnSp>
        <p:nvCxnSpPr>
          <p:cNvPr id="85" name="Straight Connector 84"/>
          <p:cNvCxnSpPr/>
          <p:nvPr/>
        </p:nvCxnSpPr>
        <p:spPr>
          <a:xfrm>
            <a:off x="5354604" y="3902058"/>
            <a:ext cx="829952"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TextBox 85"/>
              <p:cNvSpPr txBox="1"/>
              <p:nvPr/>
            </p:nvSpPr>
            <p:spPr>
              <a:xfrm>
                <a:off x="6108913" y="3575747"/>
                <a:ext cx="35939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400" b="0" i="1" noProof="0" smtClean="0">
                          <a:latin typeface="Cambria Math" panose="02040503050406030204" pitchFamily="18" charset="0"/>
                        </a:rPr>
                        <m:t>−</m:t>
                      </m:r>
                    </m:oMath>
                  </m:oMathPara>
                </a14:m>
                <a:endParaRPr lang="en-GB" sz="1400" noProof="0" dirty="0"/>
              </a:p>
            </p:txBody>
          </p:sp>
        </mc:Choice>
        <mc:Fallback xmlns="">
          <p:sp>
            <p:nvSpPr>
              <p:cNvPr id="86" name="TextBox 85"/>
              <p:cNvSpPr txBox="1">
                <a:spLocks noRot="1" noChangeAspect="1" noMove="1" noResize="1" noEditPoints="1" noAdjustHandles="1" noChangeArrowheads="1" noChangeShapeType="1" noTextEdit="1"/>
              </p:cNvSpPr>
              <p:nvPr/>
            </p:nvSpPr>
            <p:spPr>
              <a:xfrm>
                <a:off x="6108913" y="3575747"/>
                <a:ext cx="359394" cy="307777"/>
              </a:xfrm>
              <a:prstGeom prst="rect">
                <a:avLst/>
              </a:prstGeom>
              <a:blipFill>
                <a:blip r:embed="rId13"/>
                <a:stretch>
                  <a:fillRect/>
                </a:stretch>
              </a:blipFill>
            </p:spPr>
            <p:txBody>
              <a:bodyPr/>
              <a:lstStyle/>
              <a:p>
                <a:r>
                  <a:rPr lang="en-US">
                    <a:noFill/>
                  </a:rPr>
                  <a:t> </a:t>
                </a:r>
              </a:p>
            </p:txBody>
          </p:sp>
        </mc:Fallback>
      </mc:AlternateContent>
      <p:sp>
        <p:nvSpPr>
          <p:cNvPr id="72" name="TextBox 71"/>
          <p:cNvSpPr txBox="1"/>
          <p:nvPr/>
        </p:nvSpPr>
        <p:spPr>
          <a:xfrm>
            <a:off x="114070" y="6739331"/>
            <a:ext cx="1732782" cy="276999"/>
          </a:xfrm>
          <a:prstGeom prst="rect">
            <a:avLst/>
          </a:prstGeom>
          <a:solidFill>
            <a:srgbClr val="0070C0"/>
          </a:solidFill>
          <a:ln w="19050">
            <a:solidFill>
              <a:schemeClr val="tx1"/>
            </a:solidFill>
          </a:ln>
        </p:spPr>
        <p:txBody>
          <a:bodyPr wrap="none" rtlCol="0">
            <a:spAutoFit/>
          </a:bodyPr>
          <a:lstStyle/>
          <a:p>
            <a:r>
              <a:rPr lang="en-GB" sz="1200" noProof="0" dirty="0">
                <a:solidFill>
                  <a:schemeClr val="bg1"/>
                </a:solidFill>
              </a:rPr>
              <a:t>INDEPENDENT PRACTICE</a:t>
            </a:r>
          </a:p>
        </p:txBody>
      </p:sp>
    </p:spTree>
    <p:extLst>
      <p:ext uri="{BB962C8B-B14F-4D97-AF65-F5344CB8AC3E}">
        <p14:creationId xmlns:p14="http://schemas.microsoft.com/office/powerpoint/2010/main" val="8140846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97664" y="9549002"/>
            <a:ext cx="1543050" cy="527403"/>
          </a:xfrm>
        </p:spPr>
        <p:txBody>
          <a:bodyPr/>
          <a:lstStyle/>
          <a:p>
            <a:fld id="{19F1D9CC-7119-45EC-A96C-D8C0660F3AAB}" type="slidenum">
              <a:rPr lang="en-GB" noProof="0" smtClean="0"/>
              <a:t>33</a:t>
            </a:fld>
            <a:endParaRPr lang="en-GB" noProof="0" dirty="0"/>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060669644"/>
                  </p:ext>
                </p:extLst>
              </p:nvPr>
            </p:nvGraphicFramePr>
            <p:xfrm>
              <a:off x="110259" y="114140"/>
              <a:ext cx="6609852" cy="4122579"/>
            </p:xfrm>
            <a:graphic>
              <a:graphicData uri="http://schemas.openxmlformats.org/drawingml/2006/table">
                <a:tbl>
                  <a:tblPr firstRow="1" bandRow="1">
                    <a:tableStyleId>{5C22544A-7EE6-4342-B048-85BDC9FD1C3A}</a:tableStyleId>
                  </a:tblPr>
                  <a:tblGrid>
                    <a:gridCol w="1400476">
                      <a:extLst>
                        <a:ext uri="{9D8B030D-6E8A-4147-A177-3AD203B41FA5}">
                          <a16:colId xmlns:a16="http://schemas.microsoft.com/office/drawing/2014/main" val="4222859584"/>
                        </a:ext>
                      </a:extLst>
                    </a:gridCol>
                    <a:gridCol w="1772578">
                      <a:extLst>
                        <a:ext uri="{9D8B030D-6E8A-4147-A177-3AD203B41FA5}">
                          <a16:colId xmlns:a16="http://schemas.microsoft.com/office/drawing/2014/main" val="2943938818"/>
                        </a:ext>
                      </a:extLst>
                    </a:gridCol>
                    <a:gridCol w="1778669">
                      <a:extLst>
                        <a:ext uri="{9D8B030D-6E8A-4147-A177-3AD203B41FA5}">
                          <a16:colId xmlns:a16="http://schemas.microsoft.com/office/drawing/2014/main" val="4207345459"/>
                        </a:ext>
                      </a:extLst>
                    </a:gridCol>
                    <a:gridCol w="1658129">
                      <a:extLst>
                        <a:ext uri="{9D8B030D-6E8A-4147-A177-3AD203B41FA5}">
                          <a16:colId xmlns:a16="http://schemas.microsoft.com/office/drawing/2014/main" val="592218920"/>
                        </a:ext>
                      </a:extLst>
                    </a:gridCol>
                  </a:tblGrid>
                  <a:tr h="305391">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cs typeface="Calibri" panose="020F0502020204030204" pitchFamily="34" charset="0"/>
                            </a:rPr>
                            <a:t>Example 7 -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8 – We</a:t>
                          </a:r>
                          <a:r>
                            <a:rPr lang="en-GB" sz="1200" b="1" i="1" baseline="0" noProof="0" dirty="0">
                              <a:solidFill>
                                <a:schemeClr val="accent2"/>
                              </a:solidFill>
                            </a:rPr>
                            <a:t> </a:t>
                          </a:r>
                          <a:r>
                            <a:rPr lang="en-GB" sz="1200" b="1" i="1" noProof="0" dirty="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9 – You</a:t>
                          </a:r>
                          <a:r>
                            <a:rPr lang="en-GB" sz="1200" b="1" i="1" baseline="0" noProof="0" dirty="0">
                              <a:solidFill>
                                <a:srgbClr val="00B050"/>
                              </a:solidFill>
                            </a:rPr>
                            <a:t> </a:t>
                          </a:r>
                          <a:r>
                            <a:rPr lang="en-GB" sz="1200" b="1" i="1" noProof="0" dirty="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8547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1) Label the equations 1 and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=4</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  </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=3</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=9</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=8</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 </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4</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+5</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=24</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+5</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=23</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265822"/>
                      </a:ext>
                    </a:extLst>
                  </a:tr>
                  <a:tr h="8547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2) If the signs are the same for the</a:t>
                          </a:r>
                          <a:r>
                            <a:rPr lang="en-GB" sz="1200" b="0" i="0" baseline="0" noProof="0" dirty="0">
                              <a:solidFill>
                                <a:schemeClr val="tx1"/>
                              </a:solidFill>
                              <a:cs typeface="Calibri" panose="020F0502020204030204" pitchFamily="34" charset="0"/>
                            </a:rPr>
                            <a:t> variables that match </a:t>
                          </a:r>
                          <a:r>
                            <a:rPr lang="en-GB" sz="1200" b="0" i="0" noProof="0" dirty="0">
                              <a:solidFill>
                                <a:schemeClr val="tx1"/>
                              </a:solidFill>
                              <a:cs typeface="Calibri" panose="020F0502020204030204" pitchFamily="34" charset="0"/>
                            </a:rPr>
                            <a:t>subtract.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r h="153853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3) Substitute the value of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𝑥</m:t>
                              </m:r>
                            </m:oMath>
                          </a14:m>
                          <a:r>
                            <a:rPr lang="en-GB" sz="1200" b="0" i="0" baseline="0" noProof="0" dirty="0">
                              <a:solidFill>
                                <a:schemeClr val="tx1"/>
                              </a:solidFill>
                              <a:cs typeface="Calibri" panose="020F0502020204030204" pitchFamily="34" charset="0"/>
                            </a:rPr>
                            <a:t> or </a:t>
                          </a:r>
                          <a14:m>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oMath>
                          </a14:m>
                          <a:r>
                            <a:rPr lang="en-GB" sz="1200" b="0" i="0" baseline="0" noProof="0" dirty="0">
                              <a:solidFill>
                                <a:schemeClr val="tx1"/>
                              </a:solidFill>
                              <a:cs typeface="Calibri" panose="020F0502020204030204" pitchFamily="34" charset="0"/>
                            </a:rPr>
                            <a:t> into one of the equations to find the other values.</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978753"/>
                      </a:ext>
                    </a:extLst>
                  </a:tr>
                  <a:tr h="56917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4) Write the solutions.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148007"/>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060669644"/>
                  </p:ext>
                </p:extLst>
              </p:nvPr>
            </p:nvGraphicFramePr>
            <p:xfrm>
              <a:off x="110259" y="114140"/>
              <a:ext cx="6609852" cy="4122579"/>
            </p:xfrm>
            <a:graphic>
              <a:graphicData uri="http://schemas.openxmlformats.org/drawingml/2006/table">
                <a:tbl>
                  <a:tblPr firstRow="1" bandRow="1">
                    <a:tableStyleId>{5C22544A-7EE6-4342-B048-85BDC9FD1C3A}</a:tableStyleId>
                  </a:tblPr>
                  <a:tblGrid>
                    <a:gridCol w="1400476">
                      <a:extLst>
                        <a:ext uri="{9D8B030D-6E8A-4147-A177-3AD203B41FA5}">
                          <a16:colId xmlns:a16="http://schemas.microsoft.com/office/drawing/2014/main" val="4222859584"/>
                        </a:ext>
                      </a:extLst>
                    </a:gridCol>
                    <a:gridCol w="1772578">
                      <a:extLst>
                        <a:ext uri="{9D8B030D-6E8A-4147-A177-3AD203B41FA5}">
                          <a16:colId xmlns:a16="http://schemas.microsoft.com/office/drawing/2014/main" val="2943938818"/>
                        </a:ext>
                      </a:extLst>
                    </a:gridCol>
                    <a:gridCol w="1778669">
                      <a:extLst>
                        <a:ext uri="{9D8B030D-6E8A-4147-A177-3AD203B41FA5}">
                          <a16:colId xmlns:a16="http://schemas.microsoft.com/office/drawing/2014/main" val="4207345459"/>
                        </a:ext>
                      </a:extLst>
                    </a:gridCol>
                    <a:gridCol w="1658129">
                      <a:extLst>
                        <a:ext uri="{9D8B030D-6E8A-4147-A177-3AD203B41FA5}">
                          <a16:colId xmlns:a16="http://schemas.microsoft.com/office/drawing/2014/main" val="592218920"/>
                        </a:ext>
                      </a:extLst>
                    </a:gridCol>
                  </a:tblGrid>
                  <a:tr h="305391">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cs typeface="Calibri" panose="020F0502020204030204" pitchFamily="34" charset="0"/>
                            </a:rPr>
                            <a:t>Example 7 -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8 – We</a:t>
                          </a:r>
                          <a:r>
                            <a:rPr lang="en-GB" sz="1200" b="1" i="1" baseline="0" noProof="0">
                              <a:solidFill>
                                <a:schemeClr val="accent2"/>
                              </a:solidFill>
                            </a:rPr>
                            <a:t> </a:t>
                          </a:r>
                          <a:r>
                            <a:rPr lang="en-GB" sz="1200" b="1" i="1" noProof="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9 – You</a:t>
                          </a:r>
                          <a:r>
                            <a:rPr lang="en-GB" sz="1200" b="1" i="1" baseline="0" noProof="0">
                              <a:solidFill>
                                <a:srgbClr val="00B050"/>
                              </a:solidFill>
                            </a:rPr>
                            <a:t> </a:t>
                          </a:r>
                          <a:r>
                            <a:rPr lang="en-GB" sz="1200" b="1" i="1" noProof="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8547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1) Label the equations 1 and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9381" t="-8134" r="-194502" b="-478"/>
                          </a:stretch>
                        </a:blipFill>
                      </a:tcPr>
                    </a:tc>
                    <a:tc rowSpan="4">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8767" t="-8134" r="-93836" b="-478"/>
                          </a:stretch>
                        </a:blipFill>
                      </a:tcPr>
                    </a:tc>
                    <a:tc rowSpan="4">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9265" t="-8134" r="-735" b="-478"/>
                          </a:stretch>
                        </a:blipFill>
                      </a:tcPr>
                    </a:tc>
                    <a:extLst>
                      <a:ext uri="{0D108BD9-81ED-4DB2-BD59-A6C34878D82A}">
                        <a16:rowId xmlns:a16="http://schemas.microsoft.com/office/drawing/2014/main" val="3427265822"/>
                      </a:ext>
                    </a:extLst>
                  </a:tr>
                  <a:tr h="8547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2) If the signs are the same for the</a:t>
                          </a:r>
                          <a:r>
                            <a:rPr lang="en-GB" sz="1200" b="0" i="0" baseline="0" noProof="0">
                              <a:solidFill>
                                <a:schemeClr val="tx1"/>
                              </a:solidFill>
                              <a:cs typeface="Calibri" panose="020F0502020204030204" pitchFamily="34" charset="0"/>
                            </a:rPr>
                            <a:t> variables that match </a:t>
                          </a:r>
                          <a:r>
                            <a:rPr lang="en-GB" sz="1200" b="0" i="0" noProof="0">
                              <a:solidFill>
                                <a:schemeClr val="tx1"/>
                              </a:solidFill>
                              <a:cs typeface="Calibri" panose="020F0502020204030204" pitchFamily="34" charset="0"/>
                            </a:rPr>
                            <a:t>subtract.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r h="153853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35" t="-131225" r="-372609" b="-37945"/>
                          </a:stretch>
                        </a:blip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978753"/>
                      </a:ext>
                    </a:extLst>
                  </a:tr>
                  <a:tr h="56917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4) Write the solutions.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148007"/>
                      </a:ext>
                    </a:extLst>
                  </a:tr>
                </a:tbl>
              </a:graphicData>
            </a:graphic>
          </p:graphicFrame>
        </mc:Fallback>
      </mc:AlternateContent>
      <p:cxnSp>
        <p:nvCxnSpPr>
          <p:cNvPr id="4" name="Straight Connector 3"/>
          <p:cNvCxnSpPr/>
          <p:nvPr/>
        </p:nvCxnSpPr>
        <p:spPr>
          <a:xfrm>
            <a:off x="1884844" y="1460443"/>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3606964" y="1460443"/>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5397664" y="1460443"/>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2C10CDB0-5D39-7448-ABDD-102EC30FED6B}"/>
              </a:ext>
            </a:extLst>
          </p:cNvPr>
          <p:cNvSpPr txBox="1"/>
          <p:nvPr/>
        </p:nvSpPr>
        <p:spPr>
          <a:xfrm>
            <a:off x="1863865" y="4329553"/>
            <a:ext cx="3589701" cy="276999"/>
          </a:xfrm>
          <a:prstGeom prst="rect">
            <a:avLst/>
          </a:prstGeom>
          <a:noFill/>
        </p:spPr>
        <p:txBody>
          <a:bodyPr wrap="none" rtlCol="0">
            <a:spAutoFit/>
          </a:bodyPr>
          <a:lstStyle/>
          <a:p>
            <a:r>
              <a:rPr lang="en-GB" sz="1200" noProof="0" dirty="0"/>
              <a:t> 3) Solve the simultaneous equations using elimination</a:t>
            </a:r>
          </a:p>
        </p:txBody>
      </p:sp>
      <mc:AlternateContent xmlns:mc="http://schemas.openxmlformats.org/markup-compatibility/2006" xmlns:a14="http://schemas.microsoft.com/office/drawing/2010/main">
        <mc:Choice Requires="a14">
          <p:sp>
            <p:nvSpPr>
              <p:cNvPr id="9" name="Rectangle 8"/>
              <p:cNvSpPr/>
              <p:nvPr/>
            </p:nvSpPr>
            <p:spPr>
              <a:xfrm>
                <a:off x="308810" y="4730244"/>
                <a:ext cx="3429000" cy="461665"/>
              </a:xfrm>
              <a:prstGeom prst="rect">
                <a:avLst/>
              </a:prstGeom>
            </p:spPr>
            <p:txBody>
              <a:bodyPr>
                <a:spAutoFit/>
              </a:bodyPr>
              <a:lstStyle/>
              <a:p>
                <a:pPr lvl="0" defTabSz="685800">
                  <a:defRPr/>
                </a:pPr>
                <a:r>
                  <a:rPr lang="en-GB" sz="1200" noProof="0" dirty="0">
                    <a:cs typeface="Calibri" panose="020F0502020204030204" pitchFamily="34" charset="0"/>
                  </a:rPr>
                  <a:t>a)    </a:t>
                </a:r>
                <a14:m>
                  <m:oMath xmlns:m="http://schemas.openxmlformats.org/officeDocument/2006/math">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=4</m:t>
                    </m:r>
                  </m:oMath>
                </a14:m>
                <a:r>
                  <a:rPr lang="en-GB" sz="1200" noProof="0" dirty="0">
                    <a:cs typeface="Calibri" panose="020F0502020204030204" pitchFamily="34" charset="0"/>
                  </a:rPr>
                  <a:t> (2)</a:t>
                </a:r>
                <a:endParaRPr lang="en-GB" sz="1200" noProof="0" dirty="0"/>
              </a:p>
            </p:txBody>
          </p:sp>
        </mc:Choice>
        <mc:Fallback xmlns="">
          <p:sp>
            <p:nvSpPr>
              <p:cNvPr id="9" name="Rectangle 8"/>
              <p:cNvSpPr>
                <a:spLocks noRot="1" noChangeAspect="1" noMove="1" noResize="1" noEditPoints="1" noAdjustHandles="1" noChangeArrowheads="1" noChangeShapeType="1" noTextEdit="1"/>
              </p:cNvSpPr>
              <p:nvPr/>
            </p:nvSpPr>
            <p:spPr>
              <a:xfrm>
                <a:off x="308810" y="4730244"/>
                <a:ext cx="3429000" cy="461665"/>
              </a:xfrm>
              <a:prstGeom prst="rect">
                <a:avLst/>
              </a:prstGeom>
              <a:blipFill>
                <a:blip r:embed="rId4"/>
                <a:stretch>
                  <a:fillRect l="-178" t="-1316" b="-9211"/>
                </a:stretch>
              </a:blipFill>
            </p:spPr>
            <p:txBody>
              <a:bodyPr/>
              <a:lstStyle/>
              <a:p>
                <a:r>
                  <a:rPr lang="en-US">
                    <a:noFill/>
                  </a:rPr>
                  <a:t> </a:t>
                </a:r>
              </a:p>
            </p:txBody>
          </p:sp>
        </mc:Fallback>
      </mc:AlternateContent>
      <p:cxnSp>
        <p:nvCxnSpPr>
          <p:cNvPr id="10" name="Straight Connector 9"/>
          <p:cNvCxnSpPr/>
          <p:nvPr/>
        </p:nvCxnSpPr>
        <p:spPr>
          <a:xfrm>
            <a:off x="655046" y="5191909"/>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Rectangle 10"/>
              <p:cNvSpPr/>
              <p:nvPr/>
            </p:nvSpPr>
            <p:spPr>
              <a:xfrm>
                <a:off x="2561561" y="4749186"/>
                <a:ext cx="3429000" cy="461665"/>
              </a:xfrm>
              <a:prstGeom prst="rect">
                <a:avLst/>
              </a:prstGeom>
            </p:spPr>
            <p:txBody>
              <a:bodyPr>
                <a:spAutoFit/>
              </a:bodyPr>
              <a:lstStyle/>
              <a:p>
                <a:pPr lvl="0" defTabSz="685800">
                  <a:defRPr/>
                </a:pPr>
                <a:r>
                  <a:rPr lang="en-GB" sz="1200" noProof="0" dirty="0">
                    <a:cs typeface="Calibri" panose="020F0502020204030204" pitchFamily="34" charset="0"/>
                  </a:rPr>
                  <a:t>b)    </a:t>
                </a:r>
                <a14:m>
                  <m:oMath xmlns:m="http://schemas.openxmlformats.org/officeDocument/2006/math">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=4</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 </m:t>
                    </m:r>
                    <m:r>
                      <a:rPr lang="en-GB" sz="1200" b="0" i="0"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=3</m:t>
                    </m:r>
                  </m:oMath>
                </a14:m>
                <a:r>
                  <a:rPr lang="en-GB" sz="1200" noProof="0" dirty="0">
                    <a:cs typeface="Calibri" panose="020F0502020204030204" pitchFamily="34" charset="0"/>
                  </a:rPr>
                  <a:t> (2)</a:t>
                </a:r>
                <a:endParaRPr lang="en-GB" sz="1200" noProof="0" dirty="0"/>
              </a:p>
            </p:txBody>
          </p:sp>
        </mc:Choice>
        <mc:Fallback xmlns="">
          <p:sp>
            <p:nvSpPr>
              <p:cNvPr id="11" name="Rectangle 10"/>
              <p:cNvSpPr>
                <a:spLocks noRot="1" noChangeAspect="1" noMove="1" noResize="1" noEditPoints="1" noAdjustHandles="1" noChangeArrowheads="1" noChangeShapeType="1" noTextEdit="1"/>
              </p:cNvSpPr>
              <p:nvPr/>
            </p:nvSpPr>
            <p:spPr>
              <a:xfrm>
                <a:off x="2561561" y="4749186"/>
                <a:ext cx="3429000" cy="461665"/>
              </a:xfrm>
              <a:prstGeom prst="rect">
                <a:avLst/>
              </a:prstGeom>
              <a:blipFill>
                <a:blip r:embed="rId5"/>
                <a:stretch>
                  <a:fillRect b="-9211"/>
                </a:stretch>
              </a:blipFill>
            </p:spPr>
            <p:txBody>
              <a:bodyPr/>
              <a:lstStyle/>
              <a:p>
                <a:r>
                  <a:rPr lang="en-US">
                    <a:noFill/>
                  </a:rPr>
                  <a:t> </a:t>
                </a:r>
              </a:p>
            </p:txBody>
          </p:sp>
        </mc:Fallback>
      </mc:AlternateContent>
      <p:cxnSp>
        <p:nvCxnSpPr>
          <p:cNvPr id="12" name="Straight Connector 11"/>
          <p:cNvCxnSpPr/>
          <p:nvPr/>
        </p:nvCxnSpPr>
        <p:spPr>
          <a:xfrm>
            <a:off x="2881362" y="5210851"/>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Rectangle 12"/>
              <p:cNvSpPr/>
              <p:nvPr/>
            </p:nvSpPr>
            <p:spPr>
              <a:xfrm>
                <a:off x="4843463" y="4723554"/>
                <a:ext cx="3429000" cy="461665"/>
              </a:xfrm>
              <a:prstGeom prst="rect">
                <a:avLst/>
              </a:prstGeom>
            </p:spPr>
            <p:txBody>
              <a:bodyPr>
                <a:spAutoFit/>
              </a:bodyPr>
              <a:lstStyle/>
              <a:p>
                <a:pPr lvl="0" defTabSz="685800">
                  <a:defRPr/>
                </a:pPr>
                <a:r>
                  <a:rPr lang="en-GB" sz="1200" noProof="0" dirty="0">
                    <a:cs typeface="Calibri" panose="020F0502020204030204" pitchFamily="34" charset="0"/>
                  </a:rPr>
                  <a:t>c)    </a:t>
                </a:r>
                <a14:m>
                  <m:oMath xmlns:m="http://schemas.openxmlformats.org/officeDocument/2006/math">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=8</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 </m:t>
                    </m:r>
                    <m:r>
                      <a:rPr lang="en-GB" sz="1200" b="0" i="0"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=6</m:t>
                    </m:r>
                  </m:oMath>
                </a14:m>
                <a:r>
                  <a:rPr lang="en-GB" sz="1200" noProof="0" dirty="0">
                    <a:cs typeface="Calibri" panose="020F0502020204030204" pitchFamily="34" charset="0"/>
                  </a:rPr>
                  <a:t> (2)</a:t>
                </a:r>
                <a:endParaRPr lang="en-GB" sz="1200" noProof="0" dirty="0"/>
              </a:p>
            </p:txBody>
          </p:sp>
        </mc:Choice>
        <mc:Fallback xmlns="">
          <p:sp>
            <p:nvSpPr>
              <p:cNvPr id="13" name="Rectangle 12"/>
              <p:cNvSpPr>
                <a:spLocks noRot="1" noChangeAspect="1" noMove="1" noResize="1" noEditPoints="1" noAdjustHandles="1" noChangeArrowheads="1" noChangeShapeType="1" noTextEdit="1"/>
              </p:cNvSpPr>
              <p:nvPr/>
            </p:nvSpPr>
            <p:spPr>
              <a:xfrm>
                <a:off x="4843463" y="4723554"/>
                <a:ext cx="3429000" cy="461665"/>
              </a:xfrm>
              <a:prstGeom prst="rect">
                <a:avLst/>
              </a:prstGeom>
              <a:blipFill>
                <a:blip r:embed="rId6"/>
                <a:stretch>
                  <a:fillRect l="-178" t="-1316" b="-9211"/>
                </a:stretch>
              </a:blipFill>
            </p:spPr>
            <p:txBody>
              <a:bodyPr/>
              <a:lstStyle/>
              <a:p>
                <a:r>
                  <a:rPr lang="en-US">
                    <a:noFill/>
                  </a:rPr>
                  <a:t> </a:t>
                </a:r>
              </a:p>
            </p:txBody>
          </p:sp>
        </mc:Fallback>
      </mc:AlternateContent>
      <p:cxnSp>
        <p:nvCxnSpPr>
          <p:cNvPr id="14" name="Straight Connector 13"/>
          <p:cNvCxnSpPr/>
          <p:nvPr/>
        </p:nvCxnSpPr>
        <p:spPr>
          <a:xfrm>
            <a:off x="5218533" y="5185790"/>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sp>
        <p:nvSpPr>
          <p:cNvPr id="19" name="Rectangle 18"/>
          <p:cNvSpPr/>
          <p:nvPr/>
        </p:nvSpPr>
        <p:spPr>
          <a:xfrm>
            <a:off x="4647954" y="4693073"/>
            <a:ext cx="2072157" cy="2518943"/>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Rectangle 19"/>
          <p:cNvSpPr/>
          <p:nvPr/>
        </p:nvSpPr>
        <p:spPr>
          <a:xfrm>
            <a:off x="2381638" y="4700434"/>
            <a:ext cx="2072157" cy="2518943"/>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1" name="Rectangle 20"/>
          <p:cNvSpPr/>
          <p:nvPr/>
        </p:nvSpPr>
        <p:spPr>
          <a:xfrm>
            <a:off x="116795" y="4693073"/>
            <a:ext cx="2072157" cy="2518943"/>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22" name="Rectangle 21"/>
              <p:cNvSpPr/>
              <p:nvPr/>
            </p:nvSpPr>
            <p:spPr>
              <a:xfrm>
                <a:off x="285950" y="7290059"/>
                <a:ext cx="3429000" cy="461665"/>
              </a:xfrm>
              <a:prstGeom prst="rect">
                <a:avLst/>
              </a:prstGeom>
            </p:spPr>
            <p:txBody>
              <a:bodyPr>
                <a:spAutoFit/>
              </a:bodyPr>
              <a:lstStyle/>
              <a:p>
                <a:pPr lvl="0" defTabSz="685800">
                  <a:defRPr/>
                </a:pPr>
                <a:r>
                  <a:rPr lang="en-GB" sz="1200" noProof="0" dirty="0">
                    <a:cs typeface="Calibri" panose="020F0502020204030204" pitchFamily="34" charset="0"/>
                  </a:rPr>
                  <a:t>d)    </a:t>
                </a:r>
                <a14:m>
                  <m:oMath xmlns:m="http://schemas.openxmlformats.org/officeDocument/2006/math">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=29</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=24</m:t>
                    </m:r>
                  </m:oMath>
                </a14:m>
                <a:r>
                  <a:rPr lang="en-GB" sz="1200" noProof="0" dirty="0">
                    <a:cs typeface="Calibri" panose="020F0502020204030204" pitchFamily="34" charset="0"/>
                  </a:rPr>
                  <a:t> (2)</a:t>
                </a:r>
                <a:endParaRPr lang="en-GB" sz="1200" noProof="0" dirty="0"/>
              </a:p>
            </p:txBody>
          </p:sp>
        </mc:Choice>
        <mc:Fallback xmlns="">
          <p:sp>
            <p:nvSpPr>
              <p:cNvPr id="22" name="Rectangle 21"/>
              <p:cNvSpPr>
                <a:spLocks noRot="1" noChangeAspect="1" noMove="1" noResize="1" noEditPoints="1" noAdjustHandles="1" noChangeArrowheads="1" noChangeShapeType="1" noTextEdit="1"/>
              </p:cNvSpPr>
              <p:nvPr/>
            </p:nvSpPr>
            <p:spPr>
              <a:xfrm>
                <a:off x="285950" y="7290059"/>
                <a:ext cx="3429000" cy="461665"/>
              </a:xfrm>
              <a:prstGeom prst="rect">
                <a:avLst/>
              </a:prstGeom>
              <a:blipFill>
                <a:blip r:embed="rId7"/>
                <a:stretch>
                  <a:fillRect l="-178" t="-1316" b="-9211"/>
                </a:stretch>
              </a:blipFill>
            </p:spPr>
            <p:txBody>
              <a:bodyPr/>
              <a:lstStyle/>
              <a:p>
                <a:r>
                  <a:rPr lang="en-US">
                    <a:noFill/>
                  </a:rPr>
                  <a:t> </a:t>
                </a:r>
              </a:p>
            </p:txBody>
          </p:sp>
        </mc:Fallback>
      </mc:AlternateContent>
      <p:cxnSp>
        <p:nvCxnSpPr>
          <p:cNvPr id="23" name="Straight Connector 22"/>
          <p:cNvCxnSpPr/>
          <p:nvPr/>
        </p:nvCxnSpPr>
        <p:spPr>
          <a:xfrm>
            <a:off x="632186" y="7751724"/>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4" name="Rectangle 23"/>
              <p:cNvSpPr/>
              <p:nvPr/>
            </p:nvSpPr>
            <p:spPr>
              <a:xfrm>
                <a:off x="2538701" y="7309001"/>
                <a:ext cx="3429000" cy="461665"/>
              </a:xfrm>
              <a:prstGeom prst="rect">
                <a:avLst/>
              </a:prstGeom>
            </p:spPr>
            <p:txBody>
              <a:bodyPr>
                <a:spAutoFit/>
              </a:bodyPr>
              <a:lstStyle/>
              <a:p>
                <a:pPr lvl="0" defTabSz="685800">
                  <a:defRPr/>
                </a:pPr>
                <a:r>
                  <a:rPr lang="en-GB" sz="1200" noProof="0" dirty="0">
                    <a:cs typeface="Calibri" panose="020F0502020204030204" pitchFamily="34" charset="0"/>
                  </a:rPr>
                  <a:t>e)   </a:t>
                </a:r>
                <a14:m>
                  <m:oMath xmlns:m="http://schemas.openxmlformats.org/officeDocument/2006/math">
                    <m:r>
                      <a:rPr lang="en-GB" sz="120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=33</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=30</m:t>
                    </m:r>
                  </m:oMath>
                </a14:m>
                <a:r>
                  <a:rPr lang="en-GB" sz="1200" noProof="0" dirty="0">
                    <a:cs typeface="Calibri" panose="020F0502020204030204" pitchFamily="34" charset="0"/>
                  </a:rPr>
                  <a:t> (2)</a:t>
                </a:r>
                <a:endParaRPr lang="en-GB" sz="1200" noProof="0" dirty="0"/>
              </a:p>
            </p:txBody>
          </p:sp>
        </mc:Choice>
        <mc:Fallback xmlns="">
          <p:sp>
            <p:nvSpPr>
              <p:cNvPr id="24" name="Rectangle 23"/>
              <p:cNvSpPr>
                <a:spLocks noRot="1" noChangeAspect="1" noMove="1" noResize="1" noEditPoints="1" noAdjustHandles="1" noChangeArrowheads="1" noChangeShapeType="1" noTextEdit="1"/>
              </p:cNvSpPr>
              <p:nvPr/>
            </p:nvSpPr>
            <p:spPr>
              <a:xfrm>
                <a:off x="2538701" y="7309001"/>
                <a:ext cx="3429000" cy="461665"/>
              </a:xfrm>
              <a:prstGeom prst="rect">
                <a:avLst/>
              </a:prstGeom>
              <a:blipFill>
                <a:blip r:embed="rId8"/>
                <a:stretch>
                  <a:fillRect t="-1316" b="-9211"/>
                </a:stretch>
              </a:blipFill>
            </p:spPr>
            <p:txBody>
              <a:bodyPr/>
              <a:lstStyle/>
              <a:p>
                <a:r>
                  <a:rPr lang="en-US">
                    <a:noFill/>
                  </a:rPr>
                  <a:t> </a:t>
                </a:r>
              </a:p>
            </p:txBody>
          </p:sp>
        </mc:Fallback>
      </mc:AlternateContent>
      <p:cxnSp>
        <p:nvCxnSpPr>
          <p:cNvPr id="25" name="Straight Connector 24"/>
          <p:cNvCxnSpPr/>
          <p:nvPr/>
        </p:nvCxnSpPr>
        <p:spPr>
          <a:xfrm>
            <a:off x="2858502" y="7770666"/>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6" name="Rectangle 25"/>
              <p:cNvSpPr/>
              <p:nvPr/>
            </p:nvSpPr>
            <p:spPr>
              <a:xfrm>
                <a:off x="4843463" y="7268129"/>
                <a:ext cx="3429000" cy="461665"/>
              </a:xfrm>
              <a:prstGeom prst="rect">
                <a:avLst/>
              </a:prstGeom>
            </p:spPr>
            <p:txBody>
              <a:bodyPr>
                <a:spAutoFit/>
              </a:bodyPr>
              <a:lstStyle/>
              <a:p>
                <a:pPr lvl="0" defTabSz="685800">
                  <a:defRPr/>
                </a:pPr>
                <a:r>
                  <a:rPr lang="en-GB" sz="1200" noProof="0" dirty="0">
                    <a:cs typeface="Calibri" panose="020F0502020204030204" pitchFamily="34" charset="0"/>
                  </a:rPr>
                  <a:t>f)    </a:t>
                </a:r>
                <a14:m>
                  <m:oMath xmlns:m="http://schemas.openxmlformats.org/officeDocument/2006/math">
                    <m:r>
                      <a:rPr lang="en-GB" sz="1200" i="1"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=60</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=56</m:t>
                    </m:r>
                  </m:oMath>
                </a14:m>
                <a:r>
                  <a:rPr lang="en-GB" sz="1200" noProof="0" dirty="0">
                    <a:cs typeface="Calibri" panose="020F0502020204030204" pitchFamily="34" charset="0"/>
                  </a:rPr>
                  <a:t> (2)</a:t>
                </a:r>
                <a:endParaRPr lang="en-GB" sz="1200" noProof="0" dirty="0"/>
              </a:p>
            </p:txBody>
          </p:sp>
        </mc:Choice>
        <mc:Fallback xmlns="">
          <p:sp>
            <p:nvSpPr>
              <p:cNvPr id="26" name="Rectangle 25"/>
              <p:cNvSpPr>
                <a:spLocks noRot="1" noChangeAspect="1" noMove="1" noResize="1" noEditPoints="1" noAdjustHandles="1" noChangeArrowheads="1" noChangeShapeType="1" noTextEdit="1"/>
              </p:cNvSpPr>
              <p:nvPr/>
            </p:nvSpPr>
            <p:spPr>
              <a:xfrm>
                <a:off x="4843463" y="7268129"/>
                <a:ext cx="3429000" cy="461665"/>
              </a:xfrm>
              <a:prstGeom prst="rect">
                <a:avLst/>
              </a:prstGeom>
              <a:blipFill>
                <a:blip r:embed="rId9"/>
                <a:stretch>
                  <a:fillRect l="-178" b="-9211"/>
                </a:stretch>
              </a:blipFill>
            </p:spPr>
            <p:txBody>
              <a:bodyPr/>
              <a:lstStyle/>
              <a:p>
                <a:r>
                  <a:rPr lang="en-US">
                    <a:noFill/>
                  </a:rPr>
                  <a:t> </a:t>
                </a:r>
              </a:p>
            </p:txBody>
          </p:sp>
        </mc:Fallback>
      </mc:AlternateContent>
      <p:cxnSp>
        <p:nvCxnSpPr>
          <p:cNvPr id="27" name="Straight Connector 26"/>
          <p:cNvCxnSpPr/>
          <p:nvPr/>
        </p:nvCxnSpPr>
        <p:spPr>
          <a:xfrm>
            <a:off x="5195673" y="7745605"/>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sp>
        <p:nvSpPr>
          <p:cNvPr id="28" name="Rectangle 27"/>
          <p:cNvSpPr/>
          <p:nvPr/>
        </p:nvSpPr>
        <p:spPr>
          <a:xfrm>
            <a:off x="4647954" y="7260508"/>
            <a:ext cx="2072157" cy="2508331"/>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9" name="Rectangle 28"/>
          <p:cNvSpPr/>
          <p:nvPr/>
        </p:nvSpPr>
        <p:spPr>
          <a:xfrm>
            <a:off x="2381638" y="7267869"/>
            <a:ext cx="2072157" cy="2508331"/>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Rectangle 29"/>
          <p:cNvSpPr/>
          <p:nvPr/>
        </p:nvSpPr>
        <p:spPr>
          <a:xfrm>
            <a:off x="116795" y="7260508"/>
            <a:ext cx="2072157" cy="2508331"/>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15" name="Group 14"/>
          <p:cNvGrpSpPr/>
          <p:nvPr/>
        </p:nvGrpSpPr>
        <p:grpSpPr>
          <a:xfrm>
            <a:off x="834771" y="6575155"/>
            <a:ext cx="1312183" cy="646331"/>
            <a:chOff x="834771" y="6575155"/>
            <a:chExt cx="1312183" cy="646331"/>
          </a:xfrm>
        </p:grpSpPr>
        <mc:AlternateContent xmlns:mc="http://schemas.openxmlformats.org/markup-compatibility/2006" xmlns:a14="http://schemas.microsoft.com/office/drawing/2010/main">
          <mc:Choice Requires="a14">
            <p:sp>
              <p:nvSpPr>
                <p:cNvPr id="31" name="TextBox 30"/>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31" name="TextBox 30"/>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10"/>
                  <a:stretch>
                    <a:fillRect/>
                  </a:stretch>
                </a:blipFill>
              </p:spPr>
              <p:txBody>
                <a:bodyPr/>
                <a:lstStyle/>
                <a:p>
                  <a:r>
                    <a:rPr lang="en-US">
                      <a:noFill/>
                    </a:rPr>
                    <a:t> </a:t>
                  </a:r>
                </a:p>
              </p:txBody>
            </p:sp>
          </mc:Fallback>
        </mc:AlternateContent>
        <p:sp>
          <p:nvSpPr>
            <p:cNvPr id="32" name="Rectangle 31"/>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4" name="Rectangle 43"/>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46" name="Group 45"/>
          <p:cNvGrpSpPr/>
          <p:nvPr/>
        </p:nvGrpSpPr>
        <p:grpSpPr>
          <a:xfrm>
            <a:off x="3095602" y="6582516"/>
            <a:ext cx="1312183" cy="646331"/>
            <a:chOff x="834771" y="6575155"/>
            <a:chExt cx="1312183" cy="646331"/>
          </a:xfrm>
        </p:grpSpPr>
        <mc:AlternateContent xmlns:mc="http://schemas.openxmlformats.org/markup-compatibility/2006" xmlns:a14="http://schemas.microsoft.com/office/drawing/2010/main">
          <mc:Choice Requires="a14">
            <p:sp>
              <p:nvSpPr>
                <p:cNvPr id="47" name="TextBox 46"/>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47" name="TextBox 46"/>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10"/>
                  <a:stretch>
                    <a:fillRect/>
                  </a:stretch>
                </a:blipFill>
              </p:spPr>
              <p:txBody>
                <a:bodyPr/>
                <a:lstStyle/>
                <a:p>
                  <a:r>
                    <a:rPr lang="en-US">
                      <a:noFill/>
                    </a:rPr>
                    <a:t> </a:t>
                  </a:r>
                </a:p>
              </p:txBody>
            </p:sp>
          </mc:Fallback>
        </mc:AlternateContent>
        <p:sp>
          <p:nvSpPr>
            <p:cNvPr id="48" name="Rectangle 47"/>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9" name="Rectangle 48"/>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50" name="Group 49"/>
          <p:cNvGrpSpPr/>
          <p:nvPr/>
        </p:nvGrpSpPr>
        <p:grpSpPr>
          <a:xfrm>
            <a:off x="5374265" y="6576986"/>
            <a:ext cx="1312183" cy="646331"/>
            <a:chOff x="834771" y="6575155"/>
            <a:chExt cx="1312183" cy="646331"/>
          </a:xfrm>
        </p:grpSpPr>
        <mc:AlternateContent xmlns:mc="http://schemas.openxmlformats.org/markup-compatibility/2006" xmlns:a14="http://schemas.microsoft.com/office/drawing/2010/main">
          <mc:Choice Requires="a14">
            <p:sp>
              <p:nvSpPr>
                <p:cNvPr id="51" name="TextBox 50"/>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51" name="TextBox 50"/>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10"/>
                  <a:stretch>
                    <a:fillRect/>
                  </a:stretch>
                </a:blipFill>
              </p:spPr>
              <p:txBody>
                <a:bodyPr/>
                <a:lstStyle/>
                <a:p>
                  <a:r>
                    <a:rPr lang="en-US">
                      <a:noFill/>
                    </a:rPr>
                    <a:t> </a:t>
                  </a:r>
                </a:p>
              </p:txBody>
            </p:sp>
          </mc:Fallback>
        </mc:AlternateContent>
        <p:sp>
          <p:nvSpPr>
            <p:cNvPr id="52" name="Rectangle 51"/>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3" name="Rectangle 52"/>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54" name="Group 53"/>
          <p:cNvGrpSpPr/>
          <p:nvPr/>
        </p:nvGrpSpPr>
        <p:grpSpPr>
          <a:xfrm>
            <a:off x="829286" y="9122508"/>
            <a:ext cx="1312183" cy="646331"/>
            <a:chOff x="834771" y="6575155"/>
            <a:chExt cx="1312183" cy="646331"/>
          </a:xfrm>
        </p:grpSpPr>
        <mc:AlternateContent xmlns:mc="http://schemas.openxmlformats.org/markup-compatibility/2006" xmlns:a14="http://schemas.microsoft.com/office/drawing/2010/main">
          <mc:Choice Requires="a14">
            <p:sp>
              <p:nvSpPr>
                <p:cNvPr id="55" name="TextBox 54"/>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55" name="TextBox 54"/>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11"/>
                  <a:stretch>
                    <a:fillRect/>
                  </a:stretch>
                </a:blipFill>
              </p:spPr>
              <p:txBody>
                <a:bodyPr/>
                <a:lstStyle/>
                <a:p>
                  <a:r>
                    <a:rPr lang="en-US">
                      <a:noFill/>
                    </a:rPr>
                    <a:t> </a:t>
                  </a:r>
                </a:p>
              </p:txBody>
            </p:sp>
          </mc:Fallback>
        </mc:AlternateContent>
        <p:sp>
          <p:nvSpPr>
            <p:cNvPr id="56" name="Rectangle 55"/>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7" name="Rectangle 56"/>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58" name="Group 57"/>
          <p:cNvGrpSpPr/>
          <p:nvPr/>
        </p:nvGrpSpPr>
        <p:grpSpPr>
          <a:xfrm>
            <a:off x="3102152" y="9139340"/>
            <a:ext cx="1312183" cy="646331"/>
            <a:chOff x="834771" y="6575155"/>
            <a:chExt cx="1312183" cy="646331"/>
          </a:xfrm>
        </p:grpSpPr>
        <mc:AlternateContent xmlns:mc="http://schemas.openxmlformats.org/markup-compatibility/2006" xmlns:a14="http://schemas.microsoft.com/office/drawing/2010/main">
          <mc:Choice Requires="a14">
            <p:sp>
              <p:nvSpPr>
                <p:cNvPr id="59" name="TextBox 58"/>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59" name="TextBox 58"/>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11"/>
                  <a:stretch>
                    <a:fillRect/>
                  </a:stretch>
                </a:blipFill>
              </p:spPr>
              <p:txBody>
                <a:bodyPr/>
                <a:lstStyle/>
                <a:p>
                  <a:r>
                    <a:rPr lang="en-US">
                      <a:noFill/>
                    </a:rPr>
                    <a:t> </a:t>
                  </a:r>
                </a:p>
              </p:txBody>
            </p:sp>
          </mc:Fallback>
        </mc:AlternateContent>
        <p:sp>
          <p:nvSpPr>
            <p:cNvPr id="60" name="Rectangle 59"/>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1" name="Rectangle 60"/>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62" name="Group 61"/>
          <p:cNvGrpSpPr/>
          <p:nvPr/>
        </p:nvGrpSpPr>
        <p:grpSpPr>
          <a:xfrm>
            <a:off x="5358204" y="9122508"/>
            <a:ext cx="1312183" cy="646331"/>
            <a:chOff x="834771" y="6575155"/>
            <a:chExt cx="1312183" cy="646331"/>
          </a:xfrm>
        </p:grpSpPr>
        <mc:AlternateContent xmlns:mc="http://schemas.openxmlformats.org/markup-compatibility/2006" xmlns:a14="http://schemas.microsoft.com/office/drawing/2010/main">
          <mc:Choice Requires="a14">
            <p:sp>
              <p:nvSpPr>
                <p:cNvPr id="63" name="TextBox 62"/>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63" name="TextBox 62"/>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11"/>
                  <a:stretch>
                    <a:fillRect/>
                  </a:stretch>
                </a:blipFill>
              </p:spPr>
              <p:txBody>
                <a:bodyPr/>
                <a:lstStyle/>
                <a:p>
                  <a:r>
                    <a:rPr lang="en-US">
                      <a:noFill/>
                    </a:rPr>
                    <a:t> </a:t>
                  </a:r>
                </a:p>
              </p:txBody>
            </p:sp>
          </mc:Fallback>
        </mc:AlternateContent>
        <p:sp>
          <p:nvSpPr>
            <p:cNvPr id="64" name="Rectangle 63"/>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5" name="Rectangle 64"/>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66" name="TextBox 65"/>
          <p:cNvSpPr txBox="1"/>
          <p:nvPr/>
        </p:nvSpPr>
        <p:spPr>
          <a:xfrm>
            <a:off x="116795" y="4282001"/>
            <a:ext cx="1732782" cy="276999"/>
          </a:xfrm>
          <a:prstGeom prst="rect">
            <a:avLst/>
          </a:prstGeom>
          <a:solidFill>
            <a:srgbClr val="0070C0"/>
          </a:solidFill>
          <a:ln w="19050">
            <a:solidFill>
              <a:schemeClr val="tx1"/>
            </a:solidFill>
          </a:ln>
        </p:spPr>
        <p:txBody>
          <a:bodyPr wrap="none" rtlCol="0">
            <a:spAutoFit/>
          </a:bodyPr>
          <a:lstStyle/>
          <a:p>
            <a:r>
              <a:rPr lang="en-GB" sz="1200" noProof="0" dirty="0">
                <a:solidFill>
                  <a:schemeClr val="bg1"/>
                </a:solidFill>
              </a:rPr>
              <a:t>INDEPENDENT PRACTICE</a:t>
            </a:r>
          </a:p>
        </p:txBody>
      </p:sp>
    </p:spTree>
    <p:extLst>
      <p:ext uri="{BB962C8B-B14F-4D97-AF65-F5344CB8AC3E}">
        <p14:creationId xmlns:p14="http://schemas.microsoft.com/office/powerpoint/2010/main" val="40239994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97664" y="9549002"/>
            <a:ext cx="1543050" cy="527403"/>
          </a:xfrm>
        </p:spPr>
        <p:txBody>
          <a:bodyPr/>
          <a:lstStyle/>
          <a:p>
            <a:fld id="{19F1D9CC-7119-45EC-A96C-D8C0660F3AAB}" type="slidenum">
              <a:rPr lang="en-GB" noProof="0" smtClean="0"/>
              <a:t>34</a:t>
            </a:fld>
            <a:endParaRPr lang="en-GB" noProof="0" dirty="0"/>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4192710382"/>
                  </p:ext>
                </p:extLst>
              </p:nvPr>
            </p:nvGraphicFramePr>
            <p:xfrm>
              <a:off x="110259" y="114140"/>
              <a:ext cx="6609852" cy="4525707"/>
            </p:xfrm>
            <a:graphic>
              <a:graphicData uri="http://schemas.openxmlformats.org/drawingml/2006/table">
                <a:tbl>
                  <a:tblPr firstRow="1" bandRow="1">
                    <a:tableStyleId>{5C22544A-7EE6-4342-B048-85BDC9FD1C3A}</a:tableStyleId>
                  </a:tblPr>
                  <a:tblGrid>
                    <a:gridCol w="1400476">
                      <a:extLst>
                        <a:ext uri="{9D8B030D-6E8A-4147-A177-3AD203B41FA5}">
                          <a16:colId xmlns:a16="http://schemas.microsoft.com/office/drawing/2014/main" val="4222859584"/>
                        </a:ext>
                      </a:extLst>
                    </a:gridCol>
                    <a:gridCol w="1772578">
                      <a:extLst>
                        <a:ext uri="{9D8B030D-6E8A-4147-A177-3AD203B41FA5}">
                          <a16:colId xmlns:a16="http://schemas.microsoft.com/office/drawing/2014/main" val="2943938818"/>
                        </a:ext>
                      </a:extLst>
                    </a:gridCol>
                    <a:gridCol w="1778669">
                      <a:extLst>
                        <a:ext uri="{9D8B030D-6E8A-4147-A177-3AD203B41FA5}">
                          <a16:colId xmlns:a16="http://schemas.microsoft.com/office/drawing/2014/main" val="4207345459"/>
                        </a:ext>
                      </a:extLst>
                    </a:gridCol>
                    <a:gridCol w="1658129">
                      <a:extLst>
                        <a:ext uri="{9D8B030D-6E8A-4147-A177-3AD203B41FA5}">
                          <a16:colId xmlns:a16="http://schemas.microsoft.com/office/drawing/2014/main" val="592218920"/>
                        </a:ext>
                      </a:extLst>
                    </a:gridCol>
                  </a:tblGrid>
                  <a:tr h="30428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cs typeface="Calibri" panose="020F0502020204030204" pitchFamily="34" charset="0"/>
                            </a:rPr>
                            <a:t>Example 10 -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11 – We</a:t>
                          </a:r>
                          <a:r>
                            <a:rPr lang="en-GB" sz="1200" b="1" i="1" baseline="0" noProof="0" dirty="0">
                              <a:solidFill>
                                <a:schemeClr val="accent2"/>
                              </a:solidFill>
                            </a:rPr>
                            <a:t> </a:t>
                          </a:r>
                          <a:r>
                            <a:rPr lang="en-GB" sz="1200" b="1" i="1" noProof="0" dirty="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12 – You</a:t>
                          </a:r>
                          <a:r>
                            <a:rPr lang="en-GB" sz="1200" b="1" i="1" baseline="0" noProof="0" dirty="0">
                              <a:solidFill>
                                <a:srgbClr val="00B050"/>
                              </a:solidFill>
                            </a:rPr>
                            <a:t> </a:t>
                          </a:r>
                          <a:r>
                            <a:rPr lang="en-GB" sz="1200" b="1" i="1" noProof="0" dirty="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76087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1) Label the equations 1 and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   4</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=6</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  2</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=4</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chemeClr val="accent2"/>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6</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+5</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=27</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+5</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=19</m:t>
                              </m:r>
                            </m:oMath>
                          </a14:m>
                          <a:r>
                            <a:rPr lang="en-GB" sz="1200" b="0" i="0" noProof="0" dirty="0">
                              <a:solidFill>
                                <a:schemeClr val="tx1"/>
                              </a:solidFill>
                              <a:cs typeface="Calibri" panose="020F0502020204030204" pitchFamily="34" charset="0"/>
                            </a:rPr>
                            <a:t> (2)</a:t>
                          </a:r>
                          <a:endParaRPr lang="en-GB" sz="1200" b="1" i="1" noProof="0"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 </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 5</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=11</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=8</m:t>
                              </m:r>
                              <m:r>
                                <a:rPr lang="en-GB" sz="1200" b="0" i="0" noProof="0" smtClean="0">
                                  <a:solidFill>
                                    <a:schemeClr val="tx1"/>
                                  </a:solidFill>
                                  <a:latin typeface="Cambria Math" panose="02040503050406030204" pitchFamily="18" charset="0"/>
                                  <a:cs typeface="Calibri" panose="020F0502020204030204" pitchFamily="34" charset="0"/>
                                </a:rPr>
                                <m:t> </m:t>
                              </m:r>
                            </m:oMath>
                          </a14:m>
                          <a:r>
                            <a:rPr lang="en-GB" sz="1200" b="0" i="0" noProof="0" dirty="0">
                              <a:solidFill>
                                <a:schemeClr val="tx1"/>
                              </a:solidFill>
                              <a:cs typeface="Calibri" panose="020F0502020204030204" pitchFamily="34" charset="0"/>
                            </a:rPr>
                            <a:t>(2)</a:t>
                          </a: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265822"/>
                      </a:ext>
                    </a:extLst>
                  </a:tr>
                  <a:tr h="76087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2) If the signs are the same for the</a:t>
                          </a:r>
                          <a:r>
                            <a:rPr lang="en-GB" sz="1200" b="0" i="0" baseline="0" noProof="0" dirty="0">
                              <a:solidFill>
                                <a:schemeClr val="tx1"/>
                              </a:solidFill>
                              <a:cs typeface="Calibri" panose="020F0502020204030204" pitchFamily="34" charset="0"/>
                            </a:rPr>
                            <a:t> variables that match </a:t>
                          </a:r>
                          <a:r>
                            <a:rPr lang="en-GB" sz="1200" b="0" i="0" noProof="0" dirty="0">
                              <a:solidFill>
                                <a:schemeClr val="tx1"/>
                              </a:solidFill>
                              <a:cs typeface="Calibri" panose="020F0502020204030204" pitchFamily="34" charset="0"/>
                            </a:rPr>
                            <a:t>subtract.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r h="76087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3) Solve to find</a:t>
                          </a:r>
                          <a:r>
                            <a:rPr lang="en-GB" sz="1200" b="0" i="0" baseline="0" noProof="0" dirty="0">
                              <a:solidFill>
                                <a:schemeClr val="tx1"/>
                              </a:solidFill>
                              <a:cs typeface="Calibri" panose="020F0502020204030204" pitchFamily="34" charset="0"/>
                            </a:rPr>
                            <a:t> one variable. </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8547888"/>
                      </a:ext>
                    </a:extLst>
                  </a:tr>
                  <a:tr h="136957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4) Substitute the value of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𝑥</m:t>
                              </m:r>
                            </m:oMath>
                          </a14:m>
                          <a:r>
                            <a:rPr lang="en-GB" sz="1200" b="0" i="0" baseline="0" noProof="0" dirty="0">
                              <a:solidFill>
                                <a:schemeClr val="tx1"/>
                              </a:solidFill>
                              <a:cs typeface="Calibri" panose="020F0502020204030204" pitchFamily="34" charset="0"/>
                            </a:rPr>
                            <a:t> or </a:t>
                          </a:r>
                          <a14:m>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oMath>
                          </a14:m>
                          <a:r>
                            <a:rPr lang="en-GB" sz="1200" b="0" i="0" baseline="0" noProof="0" dirty="0">
                              <a:solidFill>
                                <a:schemeClr val="tx1"/>
                              </a:solidFill>
                              <a:cs typeface="Calibri" panose="020F0502020204030204" pitchFamily="34" charset="0"/>
                            </a:rPr>
                            <a:t> into one of the equations to find the other values.</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978753"/>
                      </a:ext>
                    </a:extLst>
                  </a:tr>
                  <a:tr h="50713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5) Write the solutions.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148007"/>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4192710382"/>
                  </p:ext>
                </p:extLst>
              </p:nvPr>
            </p:nvGraphicFramePr>
            <p:xfrm>
              <a:off x="110259" y="114140"/>
              <a:ext cx="6609852" cy="4525707"/>
            </p:xfrm>
            <a:graphic>
              <a:graphicData uri="http://schemas.openxmlformats.org/drawingml/2006/table">
                <a:tbl>
                  <a:tblPr firstRow="1" bandRow="1">
                    <a:tableStyleId>{5C22544A-7EE6-4342-B048-85BDC9FD1C3A}</a:tableStyleId>
                  </a:tblPr>
                  <a:tblGrid>
                    <a:gridCol w="1400476">
                      <a:extLst>
                        <a:ext uri="{9D8B030D-6E8A-4147-A177-3AD203B41FA5}">
                          <a16:colId xmlns:a16="http://schemas.microsoft.com/office/drawing/2014/main" val="4222859584"/>
                        </a:ext>
                      </a:extLst>
                    </a:gridCol>
                    <a:gridCol w="1772578">
                      <a:extLst>
                        <a:ext uri="{9D8B030D-6E8A-4147-A177-3AD203B41FA5}">
                          <a16:colId xmlns:a16="http://schemas.microsoft.com/office/drawing/2014/main" val="2943938818"/>
                        </a:ext>
                      </a:extLst>
                    </a:gridCol>
                    <a:gridCol w="1778669">
                      <a:extLst>
                        <a:ext uri="{9D8B030D-6E8A-4147-A177-3AD203B41FA5}">
                          <a16:colId xmlns:a16="http://schemas.microsoft.com/office/drawing/2014/main" val="4207345459"/>
                        </a:ext>
                      </a:extLst>
                    </a:gridCol>
                    <a:gridCol w="1658129">
                      <a:extLst>
                        <a:ext uri="{9D8B030D-6E8A-4147-A177-3AD203B41FA5}">
                          <a16:colId xmlns:a16="http://schemas.microsoft.com/office/drawing/2014/main" val="592218920"/>
                        </a:ext>
                      </a:extLst>
                    </a:gridCol>
                  </a:tblGrid>
                  <a:tr h="30428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cs typeface="Calibri" panose="020F0502020204030204" pitchFamily="34" charset="0"/>
                            </a:rPr>
                            <a:t>Example 10 -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11 – We</a:t>
                          </a:r>
                          <a:r>
                            <a:rPr lang="en-GB" sz="1200" b="1" i="1" baseline="0" noProof="0">
                              <a:solidFill>
                                <a:schemeClr val="accent2"/>
                              </a:solidFill>
                            </a:rPr>
                            <a:t> </a:t>
                          </a:r>
                          <a:r>
                            <a:rPr lang="en-GB" sz="1200" b="1" i="1" noProof="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12 – You</a:t>
                          </a:r>
                          <a:r>
                            <a:rPr lang="en-GB" sz="1200" b="1" i="1" baseline="0" noProof="0">
                              <a:solidFill>
                                <a:srgbClr val="00B050"/>
                              </a:solidFill>
                            </a:rPr>
                            <a:t> </a:t>
                          </a:r>
                          <a:r>
                            <a:rPr lang="en-GB" sz="1200" b="1" i="1" noProof="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76087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1) Label the equations 1 and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9381" t="-7349" r="-194502" b="-288"/>
                          </a:stretch>
                        </a:blipFill>
                      </a:tcPr>
                    </a:tc>
                    <a:tc rowSpan="5">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8767" t="-7349" r="-93836" b="-288"/>
                          </a:stretch>
                        </a:blipFill>
                      </a:tcPr>
                    </a:tc>
                    <a:tc rowSpan="5">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9265" t="-7349" r="-735" b="-288"/>
                          </a:stretch>
                        </a:blipFill>
                      </a:tcPr>
                    </a:tc>
                    <a:extLst>
                      <a:ext uri="{0D108BD9-81ED-4DB2-BD59-A6C34878D82A}">
                        <a16:rowId xmlns:a16="http://schemas.microsoft.com/office/drawing/2014/main" val="3427265822"/>
                      </a:ext>
                    </a:extLst>
                  </a:tr>
                  <a:tr h="82296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2) If the signs are the same for the</a:t>
                          </a:r>
                          <a:r>
                            <a:rPr lang="en-GB" sz="1200" b="0" i="0" baseline="0" noProof="0">
                              <a:solidFill>
                                <a:schemeClr val="tx1"/>
                              </a:solidFill>
                              <a:cs typeface="Calibri" panose="020F0502020204030204" pitchFamily="34" charset="0"/>
                            </a:rPr>
                            <a:t> variables that match </a:t>
                          </a:r>
                          <a:r>
                            <a:rPr lang="en-GB" sz="1200" b="0" i="0" noProof="0">
                              <a:solidFill>
                                <a:schemeClr val="tx1"/>
                              </a:solidFill>
                              <a:cs typeface="Calibri" panose="020F0502020204030204" pitchFamily="34" charset="0"/>
                            </a:rPr>
                            <a:t>subtract.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r h="76087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3) Solve to find</a:t>
                          </a:r>
                          <a:r>
                            <a:rPr lang="en-GB" sz="1200" b="0" i="0" baseline="0" noProof="0">
                              <a:solidFill>
                                <a:schemeClr val="tx1"/>
                              </a:solidFill>
                              <a:cs typeface="Calibri" panose="020F0502020204030204" pitchFamily="34" charset="0"/>
                            </a:rPr>
                            <a:t> one variable. </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8547888"/>
                      </a:ext>
                    </a:extLst>
                  </a:tr>
                  <a:tr h="136957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35" t="-192920" r="-372609" b="-37611"/>
                          </a:stretch>
                        </a:blip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978753"/>
                      </a:ext>
                    </a:extLst>
                  </a:tr>
                  <a:tr h="50713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5) Write the solutions.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148007"/>
                      </a:ext>
                    </a:extLst>
                  </a:tr>
                </a:tbl>
              </a:graphicData>
            </a:graphic>
          </p:graphicFrame>
        </mc:Fallback>
      </mc:AlternateContent>
      <p:cxnSp>
        <p:nvCxnSpPr>
          <p:cNvPr id="4" name="Straight Connector 3"/>
          <p:cNvCxnSpPr/>
          <p:nvPr/>
        </p:nvCxnSpPr>
        <p:spPr>
          <a:xfrm>
            <a:off x="1884844" y="1460443"/>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3606964" y="1460443"/>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5397664" y="1460443"/>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2C10CDB0-5D39-7448-ABDD-102EC30FED6B}"/>
              </a:ext>
            </a:extLst>
          </p:cNvPr>
          <p:cNvSpPr txBox="1"/>
          <p:nvPr/>
        </p:nvSpPr>
        <p:spPr>
          <a:xfrm>
            <a:off x="2025511" y="4631311"/>
            <a:ext cx="3589701" cy="276999"/>
          </a:xfrm>
          <a:prstGeom prst="rect">
            <a:avLst/>
          </a:prstGeom>
          <a:noFill/>
        </p:spPr>
        <p:txBody>
          <a:bodyPr wrap="none" rtlCol="0">
            <a:spAutoFit/>
          </a:bodyPr>
          <a:lstStyle/>
          <a:p>
            <a:r>
              <a:rPr lang="en-GB" sz="1200" noProof="0" dirty="0"/>
              <a:t> 4) Solve the simultaneous equations using elimination</a:t>
            </a:r>
          </a:p>
        </p:txBody>
      </p:sp>
      <mc:AlternateContent xmlns:mc="http://schemas.openxmlformats.org/markup-compatibility/2006" xmlns:a14="http://schemas.microsoft.com/office/drawing/2010/main">
        <mc:Choice Requires="a14">
          <p:sp>
            <p:nvSpPr>
              <p:cNvPr id="9" name="Rectangle 8"/>
              <p:cNvSpPr/>
              <p:nvPr/>
            </p:nvSpPr>
            <p:spPr>
              <a:xfrm>
                <a:off x="308810" y="5268668"/>
                <a:ext cx="3429000" cy="461665"/>
              </a:xfrm>
              <a:prstGeom prst="rect">
                <a:avLst/>
              </a:prstGeom>
            </p:spPr>
            <p:txBody>
              <a:bodyPr>
                <a:spAutoFit/>
              </a:bodyPr>
              <a:lstStyle/>
              <a:p>
                <a:pPr lvl="0" defTabSz="685800">
                  <a:defRPr/>
                </a:pPr>
                <a:r>
                  <a:rPr lang="en-GB" sz="1200" noProof="0" dirty="0">
                    <a:cs typeface="Calibri" panose="020F0502020204030204" pitchFamily="34" charset="0"/>
                  </a:rPr>
                  <a:t>a)    </a:t>
                </a:r>
                <a14:m>
                  <m:oMath xmlns:m="http://schemas.openxmlformats.org/officeDocument/2006/math">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=6</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=4</m:t>
                    </m:r>
                  </m:oMath>
                </a14:m>
                <a:r>
                  <a:rPr lang="en-GB" sz="1200" noProof="0" dirty="0">
                    <a:cs typeface="Calibri" panose="020F0502020204030204" pitchFamily="34" charset="0"/>
                  </a:rPr>
                  <a:t> (2)</a:t>
                </a:r>
                <a:endParaRPr lang="en-GB" sz="1200" noProof="0" dirty="0"/>
              </a:p>
            </p:txBody>
          </p:sp>
        </mc:Choice>
        <mc:Fallback xmlns="">
          <p:sp>
            <p:nvSpPr>
              <p:cNvPr id="9" name="Rectangle 8"/>
              <p:cNvSpPr>
                <a:spLocks noRot="1" noChangeAspect="1" noMove="1" noResize="1" noEditPoints="1" noAdjustHandles="1" noChangeArrowheads="1" noChangeShapeType="1" noTextEdit="1"/>
              </p:cNvSpPr>
              <p:nvPr/>
            </p:nvSpPr>
            <p:spPr>
              <a:xfrm>
                <a:off x="308810" y="5268668"/>
                <a:ext cx="3429000" cy="461665"/>
              </a:xfrm>
              <a:prstGeom prst="rect">
                <a:avLst/>
              </a:prstGeom>
              <a:blipFill>
                <a:blip r:embed="rId4"/>
                <a:stretch>
                  <a:fillRect l="-178" b="-9211"/>
                </a:stretch>
              </a:blipFill>
            </p:spPr>
            <p:txBody>
              <a:bodyPr/>
              <a:lstStyle/>
              <a:p>
                <a:r>
                  <a:rPr lang="en-US">
                    <a:noFill/>
                  </a:rPr>
                  <a:t> </a:t>
                </a:r>
              </a:p>
            </p:txBody>
          </p:sp>
        </mc:Fallback>
      </mc:AlternateContent>
      <p:cxnSp>
        <p:nvCxnSpPr>
          <p:cNvPr id="10" name="Straight Connector 9"/>
          <p:cNvCxnSpPr/>
          <p:nvPr/>
        </p:nvCxnSpPr>
        <p:spPr>
          <a:xfrm>
            <a:off x="655046" y="5730333"/>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Rectangle 10"/>
              <p:cNvSpPr/>
              <p:nvPr/>
            </p:nvSpPr>
            <p:spPr>
              <a:xfrm>
                <a:off x="2693641" y="5287610"/>
                <a:ext cx="3429000" cy="461665"/>
              </a:xfrm>
              <a:prstGeom prst="rect">
                <a:avLst/>
              </a:prstGeom>
            </p:spPr>
            <p:txBody>
              <a:bodyPr>
                <a:spAutoFit/>
              </a:bodyPr>
              <a:lstStyle/>
              <a:p>
                <a:pPr lvl="0" defTabSz="685800">
                  <a:defRPr/>
                </a:pPr>
                <a:r>
                  <a:rPr lang="en-GB" sz="1200" noProof="0" dirty="0">
                    <a:cs typeface="Calibri" panose="020F0502020204030204" pitchFamily="34" charset="0"/>
                  </a:rPr>
                  <a:t>b)    </a:t>
                </a:r>
                <a14:m>
                  <m:oMath xmlns:m="http://schemas.openxmlformats.org/officeDocument/2006/math">
                    <m:r>
                      <a:rPr lang="en-GB" sz="1200" i="1"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=13</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 </m:t>
                    </m:r>
                    <m:r>
                      <a:rPr lang="en-GB" sz="1200" b="0" i="0"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m:t>
                    </m:r>
                    <m:r>
                      <a:rPr lang="en-GB" sz="1200" b="0" i="0" noProof="0" smtClean="0">
                        <a:latin typeface="Cambria Math" panose="02040503050406030204" pitchFamily="18" charset="0"/>
                        <a:cs typeface="Calibri" panose="020F0502020204030204" pitchFamily="34" charset="0"/>
                      </a:rPr>
                      <m:t>9</m:t>
                    </m:r>
                  </m:oMath>
                </a14:m>
                <a:r>
                  <a:rPr lang="en-GB" sz="1200" noProof="0" dirty="0">
                    <a:cs typeface="Calibri" panose="020F0502020204030204" pitchFamily="34" charset="0"/>
                  </a:rPr>
                  <a:t>   (2)</a:t>
                </a:r>
                <a:endParaRPr lang="en-GB" sz="1200" noProof="0" dirty="0"/>
              </a:p>
            </p:txBody>
          </p:sp>
        </mc:Choice>
        <mc:Fallback xmlns="">
          <p:sp>
            <p:nvSpPr>
              <p:cNvPr id="11" name="Rectangle 10"/>
              <p:cNvSpPr>
                <a:spLocks noRot="1" noChangeAspect="1" noMove="1" noResize="1" noEditPoints="1" noAdjustHandles="1" noChangeArrowheads="1" noChangeShapeType="1" noTextEdit="1"/>
              </p:cNvSpPr>
              <p:nvPr/>
            </p:nvSpPr>
            <p:spPr>
              <a:xfrm>
                <a:off x="2693641" y="5287610"/>
                <a:ext cx="3429000" cy="461665"/>
              </a:xfrm>
              <a:prstGeom prst="rect">
                <a:avLst/>
              </a:prstGeom>
              <a:blipFill>
                <a:blip r:embed="rId5"/>
                <a:stretch>
                  <a:fillRect l="-178" b="-9211"/>
                </a:stretch>
              </a:blipFill>
            </p:spPr>
            <p:txBody>
              <a:bodyPr/>
              <a:lstStyle/>
              <a:p>
                <a:r>
                  <a:rPr lang="en-US">
                    <a:noFill/>
                  </a:rPr>
                  <a:t> </a:t>
                </a:r>
              </a:p>
            </p:txBody>
          </p:sp>
        </mc:Fallback>
      </mc:AlternateContent>
      <p:cxnSp>
        <p:nvCxnSpPr>
          <p:cNvPr id="12" name="Straight Connector 11"/>
          <p:cNvCxnSpPr/>
          <p:nvPr/>
        </p:nvCxnSpPr>
        <p:spPr>
          <a:xfrm>
            <a:off x="3013442" y="5749275"/>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Rectangle 12"/>
              <p:cNvSpPr/>
              <p:nvPr/>
            </p:nvSpPr>
            <p:spPr>
              <a:xfrm>
                <a:off x="5005611" y="5281158"/>
                <a:ext cx="3429000" cy="461665"/>
              </a:xfrm>
              <a:prstGeom prst="rect">
                <a:avLst/>
              </a:prstGeom>
            </p:spPr>
            <p:txBody>
              <a:bodyPr>
                <a:spAutoFit/>
              </a:bodyPr>
              <a:lstStyle/>
              <a:p>
                <a:pPr lvl="0" defTabSz="685800">
                  <a:defRPr/>
                </a:pPr>
                <a:r>
                  <a:rPr lang="en-GB" sz="1200" noProof="0" dirty="0">
                    <a:cs typeface="Calibri" panose="020F0502020204030204" pitchFamily="34" charset="0"/>
                  </a:rPr>
                  <a:t>c)    </a:t>
                </a:r>
                <a14:m>
                  <m:oMath xmlns:m="http://schemas.openxmlformats.org/officeDocument/2006/math">
                    <m:r>
                      <a:rPr lang="en-GB" sz="120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=19</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 </m:t>
                    </m:r>
                    <m:r>
                      <a:rPr lang="en-GB" sz="1200" b="0" i="0"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=7</m:t>
                    </m:r>
                  </m:oMath>
                </a14:m>
                <a:r>
                  <a:rPr lang="en-GB" sz="1200" noProof="0" dirty="0">
                    <a:cs typeface="Calibri" panose="020F0502020204030204" pitchFamily="34" charset="0"/>
                  </a:rPr>
                  <a:t>   (2)</a:t>
                </a:r>
                <a:endParaRPr lang="en-GB" sz="1200" noProof="0" dirty="0"/>
              </a:p>
            </p:txBody>
          </p:sp>
        </mc:Choice>
        <mc:Fallback xmlns="">
          <p:sp>
            <p:nvSpPr>
              <p:cNvPr id="13" name="Rectangle 12"/>
              <p:cNvSpPr>
                <a:spLocks noRot="1" noChangeAspect="1" noMove="1" noResize="1" noEditPoints="1" noAdjustHandles="1" noChangeArrowheads="1" noChangeShapeType="1" noTextEdit="1"/>
              </p:cNvSpPr>
              <p:nvPr/>
            </p:nvSpPr>
            <p:spPr>
              <a:xfrm>
                <a:off x="5005611" y="5281158"/>
                <a:ext cx="3429000" cy="461665"/>
              </a:xfrm>
              <a:prstGeom prst="rect">
                <a:avLst/>
              </a:prstGeom>
              <a:blipFill>
                <a:blip r:embed="rId6"/>
                <a:stretch>
                  <a:fillRect b="-9211"/>
                </a:stretch>
              </a:blipFill>
            </p:spPr>
            <p:txBody>
              <a:bodyPr/>
              <a:lstStyle/>
              <a:p>
                <a:r>
                  <a:rPr lang="en-US">
                    <a:noFill/>
                  </a:rPr>
                  <a:t> </a:t>
                </a:r>
              </a:p>
            </p:txBody>
          </p:sp>
        </mc:Fallback>
      </mc:AlternateContent>
      <p:cxnSp>
        <p:nvCxnSpPr>
          <p:cNvPr id="14" name="Straight Connector 13"/>
          <p:cNvCxnSpPr/>
          <p:nvPr/>
        </p:nvCxnSpPr>
        <p:spPr>
          <a:xfrm>
            <a:off x="5218533" y="5724214"/>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sp>
        <p:nvSpPr>
          <p:cNvPr id="19" name="Rectangle 18"/>
          <p:cNvSpPr/>
          <p:nvPr/>
        </p:nvSpPr>
        <p:spPr>
          <a:xfrm>
            <a:off x="4647954" y="5231497"/>
            <a:ext cx="2072157" cy="431750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Rectangle 19"/>
          <p:cNvSpPr/>
          <p:nvPr/>
        </p:nvSpPr>
        <p:spPr>
          <a:xfrm>
            <a:off x="2381638" y="5238858"/>
            <a:ext cx="2072157" cy="431750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1" name="Rectangle 20"/>
          <p:cNvSpPr/>
          <p:nvPr/>
        </p:nvSpPr>
        <p:spPr>
          <a:xfrm>
            <a:off x="116795" y="5231497"/>
            <a:ext cx="2072157" cy="431750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25" name="Group 24"/>
          <p:cNvGrpSpPr/>
          <p:nvPr/>
        </p:nvGrpSpPr>
        <p:grpSpPr>
          <a:xfrm>
            <a:off x="806794" y="8847746"/>
            <a:ext cx="1312183" cy="646331"/>
            <a:chOff x="834771" y="6575155"/>
            <a:chExt cx="1312183" cy="646331"/>
          </a:xfrm>
        </p:grpSpPr>
        <mc:AlternateContent xmlns:mc="http://schemas.openxmlformats.org/markup-compatibility/2006" xmlns:a14="http://schemas.microsoft.com/office/drawing/2010/main">
          <mc:Choice Requires="a14">
            <p:sp>
              <p:nvSpPr>
                <p:cNvPr id="26" name="TextBox 25"/>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26" name="TextBox 25"/>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7"/>
                  <a:stretch>
                    <a:fillRect/>
                  </a:stretch>
                </a:blipFill>
              </p:spPr>
              <p:txBody>
                <a:bodyPr/>
                <a:lstStyle/>
                <a:p>
                  <a:r>
                    <a:rPr lang="en-US">
                      <a:noFill/>
                    </a:rPr>
                    <a:t> </a:t>
                  </a:r>
                </a:p>
              </p:txBody>
            </p:sp>
          </mc:Fallback>
        </mc:AlternateContent>
        <p:sp>
          <p:nvSpPr>
            <p:cNvPr id="27" name="Rectangle 26"/>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8" name="Rectangle 27"/>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9" name="Group 28"/>
          <p:cNvGrpSpPr/>
          <p:nvPr/>
        </p:nvGrpSpPr>
        <p:grpSpPr>
          <a:xfrm>
            <a:off x="3081718" y="8847746"/>
            <a:ext cx="1312183" cy="646331"/>
            <a:chOff x="834771" y="6575155"/>
            <a:chExt cx="1312183" cy="646331"/>
          </a:xfrm>
        </p:grpSpPr>
        <mc:AlternateContent xmlns:mc="http://schemas.openxmlformats.org/markup-compatibility/2006" xmlns:a14="http://schemas.microsoft.com/office/drawing/2010/main">
          <mc:Choice Requires="a14">
            <p:sp>
              <p:nvSpPr>
                <p:cNvPr id="30" name="TextBox 29"/>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30" name="TextBox 29"/>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8"/>
                  <a:stretch>
                    <a:fillRect/>
                  </a:stretch>
                </a:blipFill>
              </p:spPr>
              <p:txBody>
                <a:bodyPr/>
                <a:lstStyle/>
                <a:p>
                  <a:r>
                    <a:rPr lang="en-US">
                      <a:noFill/>
                    </a:rPr>
                    <a:t> </a:t>
                  </a:r>
                </a:p>
              </p:txBody>
            </p:sp>
          </mc:Fallback>
        </mc:AlternateContent>
        <p:sp>
          <p:nvSpPr>
            <p:cNvPr id="33" name="Rectangle 32"/>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Rectangle 33"/>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39" name="Group 38"/>
          <p:cNvGrpSpPr/>
          <p:nvPr/>
        </p:nvGrpSpPr>
        <p:grpSpPr>
          <a:xfrm>
            <a:off x="5371684" y="8860546"/>
            <a:ext cx="1312183" cy="646331"/>
            <a:chOff x="834771" y="6575155"/>
            <a:chExt cx="1312183" cy="646331"/>
          </a:xfrm>
        </p:grpSpPr>
        <mc:AlternateContent xmlns:mc="http://schemas.openxmlformats.org/markup-compatibility/2006" xmlns:a14="http://schemas.microsoft.com/office/drawing/2010/main">
          <mc:Choice Requires="a14">
            <p:sp>
              <p:nvSpPr>
                <p:cNvPr id="40" name="TextBox 39"/>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40" name="TextBox 39"/>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9"/>
                  <a:stretch>
                    <a:fillRect/>
                  </a:stretch>
                </a:blipFill>
              </p:spPr>
              <p:txBody>
                <a:bodyPr/>
                <a:lstStyle/>
                <a:p>
                  <a:r>
                    <a:rPr lang="en-US">
                      <a:noFill/>
                    </a:rPr>
                    <a:t> </a:t>
                  </a:r>
                </a:p>
              </p:txBody>
            </p:sp>
          </mc:Fallback>
        </mc:AlternateContent>
        <p:sp>
          <p:nvSpPr>
            <p:cNvPr id="41" name="Rectangle 40"/>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2" name="Rectangle 41"/>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31" name="TextBox 30"/>
          <p:cNvSpPr txBox="1"/>
          <p:nvPr/>
        </p:nvSpPr>
        <p:spPr>
          <a:xfrm>
            <a:off x="110259" y="4640752"/>
            <a:ext cx="1732782" cy="276999"/>
          </a:xfrm>
          <a:prstGeom prst="rect">
            <a:avLst/>
          </a:prstGeom>
          <a:solidFill>
            <a:srgbClr val="0070C0"/>
          </a:solidFill>
          <a:ln w="19050">
            <a:solidFill>
              <a:schemeClr val="tx1"/>
            </a:solidFill>
          </a:ln>
        </p:spPr>
        <p:txBody>
          <a:bodyPr wrap="none" rtlCol="0">
            <a:spAutoFit/>
          </a:bodyPr>
          <a:lstStyle/>
          <a:p>
            <a:r>
              <a:rPr lang="en-GB" sz="1200" noProof="0" dirty="0">
                <a:solidFill>
                  <a:schemeClr val="bg1"/>
                </a:solidFill>
              </a:rPr>
              <a:t>INDEPENDENT PRACTICE</a:t>
            </a:r>
          </a:p>
        </p:txBody>
      </p:sp>
    </p:spTree>
    <p:extLst>
      <p:ext uri="{BB962C8B-B14F-4D97-AF65-F5344CB8AC3E}">
        <p14:creationId xmlns:p14="http://schemas.microsoft.com/office/powerpoint/2010/main" val="15556871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97664" y="9549002"/>
            <a:ext cx="1543050" cy="527403"/>
          </a:xfrm>
        </p:spPr>
        <p:txBody>
          <a:bodyPr/>
          <a:lstStyle/>
          <a:p>
            <a:fld id="{19F1D9CC-7119-45EC-A96C-D8C0660F3AAB}" type="slidenum">
              <a:rPr lang="en-GB" noProof="0" smtClean="0"/>
              <a:t>35</a:t>
            </a:fld>
            <a:endParaRPr lang="en-GB" noProof="0" dirty="0"/>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370270620"/>
                  </p:ext>
                </p:extLst>
              </p:nvPr>
            </p:nvGraphicFramePr>
            <p:xfrm>
              <a:off x="110259" y="114140"/>
              <a:ext cx="6609852" cy="4525707"/>
            </p:xfrm>
            <a:graphic>
              <a:graphicData uri="http://schemas.openxmlformats.org/drawingml/2006/table">
                <a:tbl>
                  <a:tblPr firstRow="1" bandRow="1">
                    <a:tableStyleId>{5C22544A-7EE6-4342-B048-85BDC9FD1C3A}</a:tableStyleId>
                  </a:tblPr>
                  <a:tblGrid>
                    <a:gridCol w="1400476">
                      <a:extLst>
                        <a:ext uri="{9D8B030D-6E8A-4147-A177-3AD203B41FA5}">
                          <a16:colId xmlns:a16="http://schemas.microsoft.com/office/drawing/2014/main" val="4222859584"/>
                        </a:ext>
                      </a:extLst>
                    </a:gridCol>
                    <a:gridCol w="1772578">
                      <a:extLst>
                        <a:ext uri="{9D8B030D-6E8A-4147-A177-3AD203B41FA5}">
                          <a16:colId xmlns:a16="http://schemas.microsoft.com/office/drawing/2014/main" val="2943938818"/>
                        </a:ext>
                      </a:extLst>
                    </a:gridCol>
                    <a:gridCol w="1778669">
                      <a:extLst>
                        <a:ext uri="{9D8B030D-6E8A-4147-A177-3AD203B41FA5}">
                          <a16:colId xmlns:a16="http://schemas.microsoft.com/office/drawing/2014/main" val="4207345459"/>
                        </a:ext>
                      </a:extLst>
                    </a:gridCol>
                    <a:gridCol w="1658129">
                      <a:extLst>
                        <a:ext uri="{9D8B030D-6E8A-4147-A177-3AD203B41FA5}">
                          <a16:colId xmlns:a16="http://schemas.microsoft.com/office/drawing/2014/main" val="592218920"/>
                        </a:ext>
                      </a:extLst>
                    </a:gridCol>
                  </a:tblGrid>
                  <a:tr h="30428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cs typeface="Calibri" panose="020F0502020204030204" pitchFamily="34" charset="0"/>
                            </a:rPr>
                            <a:t>Example 13 -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14 – We</a:t>
                          </a:r>
                          <a:r>
                            <a:rPr lang="en-GB" sz="1200" b="1" i="1" baseline="0" noProof="0" dirty="0">
                              <a:solidFill>
                                <a:schemeClr val="accent2"/>
                              </a:solidFill>
                            </a:rPr>
                            <a:t> </a:t>
                          </a:r>
                          <a:r>
                            <a:rPr lang="en-GB" sz="1200" b="1" i="1" noProof="0" dirty="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15 – You</a:t>
                          </a:r>
                          <a:r>
                            <a:rPr lang="en-GB" sz="1200" b="1" i="1" baseline="0" noProof="0" dirty="0">
                              <a:solidFill>
                                <a:srgbClr val="00B050"/>
                              </a:solidFill>
                            </a:rPr>
                            <a:t> </a:t>
                          </a:r>
                          <a:r>
                            <a:rPr lang="en-GB" sz="1200" b="1" i="1" noProof="0" dirty="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76087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1) Label the equations 1 and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   4</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=6</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  2</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=4</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5</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=11</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=8</m:t>
                              </m:r>
                              <m:r>
                                <a:rPr lang="en-GB" sz="1200" b="0" i="0" noProof="0" smtClean="0">
                                  <a:solidFill>
                                    <a:schemeClr val="tx1"/>
                                  </a:solidFill>
                                  <a:latin typeface="Cambria Math" panose="02040503050406030204" pitchFamily="18" charset="0"/>
                                  <a:cs typeface="Calibri" panose="020F0502020204030204" pitchFamily="34" charset="0"/>
                                </a:rPr>
                                <m:t> </m:t>
                              </m:r>
                            </m:oMath>
                          </a14:m>
                          <a:r>
                            <a:rPr lang="en-GB" sz="1200" b="0" i="0" noProof="0" dirty="0">
                              <a:solidFill>
                                <a:schemeClr val="tx1"/>
                              </a:solidFill>
                              <a:cs typeface="Calibri" panose="020F0502020204030204" pitchFamily="34" charset="0"/>
                            </a:rPr>
                            <a:t>(2)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 </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6</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−5</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=27</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−5</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=19</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265822"/>
                      </a:ext>
                    </a:extLst>
                  </a:tr>
                  <a:tr h="76087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2) If the signs are the same for the</a:t>
                          </a:r>
                          <a:r>
                            <a:rPr lang="en-GB" sz="1200" b="0" i="0" baseline="0" noProof="0" dirty="0">
                              <a:solidFill>
                                <a:schemeClr val="tx1"/>
                              </a:solidFill>
                              <a:cs typeface="Calibri" panose="020F0502020204030204" pitchFamily="34" charset="0"/>
                            </a:rPr>
                            <a:t> variables that match </a:t>
                          </a:r>
                          <a:r>
                            <a:rPr lang="en-GB" sz="1200" b="0" i="0" noProof="0" dirty="0">
                              <a:solidFill>
                                <a:schemeClr val="tx1"/>
                              </a:solidFill>
                              <a:cs typeface="Calibri" panose="020F0502020204030204" pitchFamily="34" charset="0"/>
                            </a:rPr>
                            <a:t>subtract.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r h="76087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3) Solve to find</a:t>
                          </a:r>
                          <a:r>
                            <a:rPr lang="en-GB" sz="1200" b="0" i="0" baseline="0" noProof="0" dirty="0">
                              <a:solidFill>
                                <a:schemeClr val="tx1"/>
                              </a:solidFill>
                              <a:cs typeface="Calibri" panose="020F0502020204030204" pitchFamily="34" charset="0"/>
                            </a:rPr>
                            <a:t> one variable. </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8547888"/>
                      </a:ext>
                    </a:extLst>
                  </a:tr>
                  <a:tr h="136957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4) Substitute the value of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𝑥</m:t>
                              </m:r>
                            </m:oMath>
                          </a14:m>
                          <a:r>
                            <a:rPr lang="en-GB" sz="1200" b="0" i="0" baseline="0" noProof="0" dirty="0">
                              <a:solidFill>
                                <a:schemeClr val="tx1"/>
                              </a:solidFill>
                              <a:cs typeface="Calibri" panose="020F0502020204030204" pitchFamily="34" charset="0"/>
                            </a:rPr>
                            <a:t> or </a:t>
                          </a:r>
                          <a14:m>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oMath>
                          </a14:m>
                          <a:r>
                            <a:rPr lang="en-GB" sz="1200" b="0" i="0" baseline="0" noProof="0" dirty="0">
                              <a:solidFill>
                                <a:schemeClr val="tx1"/>
                              </a:solidFill>
                              <a:cs typeface="Calibri" panose="020F0502020204030204" pitchFamily="34" charset="0"/>
                            </a:rPr>
                            <a:t> into one of the equations to find the other variable. </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978753"/>
                      </a:ext>
                    </a:extLst>
                  </a:tr>
                  <a:tr h="50713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5) Write the solutions.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148007"/>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370270620"/>
                  </p:ext>
                </p:extLst>
              </p:nvPr>
            </p:nvGraphicFramePr>
            <p:xfrm>
              <a:off x="110259" y="114140"/>
              <a:ext cx="6609852" cy="4525707"/>
            </p:xfrm>
            <a:graphic>
              <a:graphicData uri="http://schemas.openxmlformats.org/drawingml/2006/table">
                <a:tbl>
                  <a:tblPr firstRow="1" bandRow="1">
                    <a:tableStyleId>{5C22544A-7EE6-4342-B048-85BDC9FD1C3A}</a:tableStyleId>
                  </a:tblPr>
                  <a:tblGrid>
                    <a:gridCol w="1400476">
                      <a:extLst>
                        <a:ext uri="{9D8B030D-6E8A-4147-A177-3AD203B41FA5}">
                          <a16:colId xmlns:a16="http://schemas.microsoft.com/office/drawing/2014/main" val="4222859584"/>
                        </a:ext>
                      </a:extLst>
                    </a:gridCol>
                    <a:gridCol w="1772578">
                      <a:extLst>
                        <a:ext uri="{9D8B030D-6E8A-4147-A177-3AD203B41FA5}">
                          <a16:colId xmlns:a16="http://schemas.microsoft.com/office/drawing/2014/main" val="2943938818"/>
                        </a:ext>
                      </a:extLst>
                    </a:gridCol>
                    <a:gridCol w="1778669">
                      <a:extLst>
                        <a:ext uri="{9D8B030D-6E8A-4147-A177-3AD203B41FA5}">
                          <a16:colId xmlns:a16="http://schemas.microsoft.com/office/drawing/2014/main" val="4207345459"/>
                        </a:ext>
                      </a:extLst>
                    </a:gridCol>
                    <a:gridCol w="1658129">
                      <a:extLst>
                        <a:ext uri="{9D8B030D-6E8A-4147-A177-3AD203B41FA5}">
                          <a16:colId xmlns:a16="http://schemas.microsoft.com/office/drawing/2014/main" val="592218920"/>
                        </a:ext>
                      </a:extLst>
                    </a:gridCol>
                  </a:tblGrid>
                  <a:tr h="30428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cs typeface="Calibri" panose="020F0502020204030204" pitchFamily="34" charset="0"/>
                            </a:rPr>
                            <a:t>Example 13 -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14 – We</a:t>
                          </a:r>
                          <a:r>
                            <a:rPr lang="en-GB" sz="1200" b="1" i="1" baseline="0" noProof="0">
                              <a:solidFill>
                                <a:schemeClr val="accent2"/>
                              </a:solidFill>
                            </a:rPr>
                            <a:t> </a:t>
                          </a:r>
                          <a:r>
                            <a:rPr lang="en-GB" sz="1200" b="1" i="1" noProof="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15 – You</a:t>
                          </a:r>
                          <a:r>
                            <a:rPr lang="en-GB" sz="1200" b="1" i="1" baseline="0" noProof="0">
                              <a:solidFill>
                                <a:srgbClr val="00B050"/>
                              </a:solidFill>
                            </a:rPr>
                            <a:t> </a:t>
                          </a:r>
                          <a:r>
                            <a:rPr lang="en-GB" sz="1200" b="1" i="1" noProof="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76087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1) Label the equations 1 and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9381" t="-7349" r="-194502" b="-288"/>
                          </a:stretch>
                        </a:blipFill>
                      </a:tcPr>
                    </a:tc>
                    <a:tc rowSpan="5">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8767" t="-7349" r="-93836" b="-288"/>
                          </a:stretch>
                        </a:blipFill>
                      </a:tcPr>
                    </a:tc>
                    <a:tc rowSpan="5">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9265" t="-7349" r="-735" b="-288"/>
                          </a:stretch>
                        </a:blipFill>
                      </a:tcPr>
                    </a:tc>
                    <a:extLst>
                      <a:ext uri="{0D108BD9-81ED-4DB2-BD59-A6C34878D82A}">
                        <a16:rowId xmlns:a16="http://schemas.microsoft.com/office/drawing/2014/main" val="3427265822"/>
                      </a:ext>
                    </a:extLst>
                  </a:tr>
                  <a:tr h="82296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2) If the signs are the same for the</a:t>
                          </a:r>
                          <a:r>
                            <a:rPr lang="en-GB" sz="1200" b="0" i="0" baseline="0" noProof="0">
                              <a:solidFill>
                                <a:schemeClr val="tx1"/>
                              </a:solidFill>
                              <a:cs typeface="Calibri" panose="020F0502020204030204" pitchFamily="34" charset="0"/>
                            </a:rPr>
                            <a:t> variables that match </a:t>
                          </a:r>
                          <a:r>
                            <a:rPr lang="en-GB" sz="1200" b="0" i="0" noProof="0">
                              <a:solidFill>
                                <a:schemeClr val="tx1"/>
                              </a:solidFill>
                              <a:cs typeface="Calibri" panose="020F0502020204030204" pitchFamily="34" charset="0"/>
                            </a:rPr>
                            <a:t>subtract.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r h="76087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3) Solve to find</a:t>
                          </a:r>
                          <a:r>
                            <a:rPr lang="en-GB" sz="1200" b="0" i="0" baseline="0" noProof="0">
                              <a:solidFill>
                                <a:schemeClr val="tx1"/>
                              </a:solidFill>
                              <a:cs typeface="Calibri" panose="020F0502020204030204" pitchFamily="34" charset="0"/>
                            </a:rPr>
                            <a:t> one variable. </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8547888"/>
                      </a:ext>
                    </a:extLst>
                  </a:tr>
                  <a:tr h="136957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35" t="-192920" r="-372609" b="-37611"/>
                          </a:stretch>
                        </a:blip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978753"/>
                      </a:ext>
                    </a:extLst>
                  </a:tr>
                  <a:tr h="50713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5) Write the solutions.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148007"/>
                      </a:ext>
                    </a:extLst>
                  </a:tr>
                </a:tbl>
              </a:graphicData>
            </a:graphic>
          </p:graphicFrame>
        </mc:Fallback>
      </mc:AlternateContent>
      <p:cxnSp>
        <p:nvCxnSpPr>
          <p:cNvPr id="4" name="Straight Connector 3"/>
          <p:cNvCxnSpPr/>
          <p:nvPr/>
        </p:nvCxnSpPr>
        <p:spPr>
          <a:xfrm>
            <a:off x="1884844" y="1460443"/>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3606964" y="1460443"/>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5397664" y="1460443"/>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2C10CDB0-5D39-7448-ABDD-102EC30FED6B}"/>
              </a:ext>
            </a:extLst>
          </p:cNvPr>
          <p:cNvSpPr txBox="1"/>
          <p:nvPr/>
        </p:nvSpPr>
        <p:spPr>
          <a:xfrm>
            <a:off x="1807963" y="4935556"/>
            <a:ext cx="3589701" cy="276999"/>
          </a:xfrm>
          <a:prstGeom prst="rect">
            <a:avLst/>
          </a:prstGeom>
          <a:noFill/>
        </p:spPr>
        <p:txBody>
          <a:bodyPr wrap="none" rtlCol="0">
            <a:spAutoFit/>
          </a:bodyPr>
          <a:lstStyle/>
          <a:p>
            <a:r>
              <a:rPr lang="en-GB" sz="1200" noProof="0" dirty="0"/>
              <a:t> 5) Solve the simultaneous equations using elimination</a:t>
            </a:r>
          </a:p>
        </p:txBody>
      </p:sp>
      <mc:AlternateContent xmlns:mc="http://schemas.openxmlformats.org/markup-compatibility/2006" xmlns:a14="http://schemas.microsoft.com/office/drawing/2010/main">
        <mc:Choice Requires="a14">
          <p:sp>
            <p:nvSpPr>
              <p:cNvPr id="9" name="Rectangle 8"/>
              <p:cNvSpPr/>
              <p:nvPr/>
            </p:nvSpPr>
            <p:spPr>
              <a:xfrm>
                <a:off x="308810" y="5268668"/>
                <a:ext cx="3429000" cy="461665"/>
              </a:xfrm>
              <a:prstGeom prst="rect">
                <a:avLst/>
              </a:prstGeom>
            </p:spPr>
            <p:txBody>
              <a:bodyPr>
                <a:spAutoFit/>
              </a:bodyPr>
              <a:lstStyle/>
              <a:p>
                <a:pPr lvl="0" defTabSz="685800">
                  <a:defRPr/>
                </a:pPr>
                <a:r>
                  <a:rPr lang="en-GB" sz="1200" noProof="0" dirty="0">
                    <a:cs typeface="Calibri" panose="020F0502020204030204" pitchFamily="34" charset="0"/>
                  </a:rPr>
                  <a:t>a)    </a:t>
                </a:r>
                <a14:m>
                  <m:oMath xmlns:m="http://schemas.openxmlformats.org/officeDocument/2006/math">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=6</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=4</m:t>
                    </m:r>
                  </m:oMath>
                </a14:m>
                <a:r>
                  <a:rPr lang="en-GB" sz="1200" noProof="0" dirty="0">
                    <a:cs typeface="Calibri" panose="020F0502020204030204" pitchFamily="34" charset="0"/>
                  </a:rPr>
                  <a:t> (2)</a:t>
                </a:r>
                <a:endParaRPr lang="en-GB" sz="1200" noProof="0" dirty="0"/>
              </a:p>
            </p:txBody>
          </p:sp>
        </mc:Choice>
        <mc:Fallback xmlns="">
          <p:sp>
            <p:nvSpPr>
              <p:cNvPr id="9" name="Rectangle 8"/>
              <p:cNvSpPr>
                <a:spLocks noRot="1" noChangeAspect="1" noMove="1" noResize="1" noEditPoints="1" noAdjustHandles="1" noChangeArrowheads="1" noChangeShapeType="1" noTextEdit="1"/>
              </p:cNvSpPr>
              <p:nvPr/>
            </p:nvSpPr>
            <p:spPr>
              <a:xfrm>
                <a:off x="308810" y="5268668"/>
                <a:ext cx="3429000" cy="461665"/>
              </a:xfrm>
              <a:prstGeom prst="rect">
                <a:avLst/>
              </a:prstGeom>
              <a:blipFill>
                <a:blip r:embed="rId4"/>
                <a:stretch>
                  <a:fillRect l="-178" b="-9211"/>
                </a:stretch>
              </a:blipFill>
            </p:spPr>
            <p:txBody>
              <a:bodyPr/>
              <a:lstStyle/>
              <a:p>
                <a:r>
                  <a:rPr lang="en-US">
                    <a:noFill/>
                  </a:rPr>
                  <a:t> </a:t>
                </a:r>
              </a:p>
            </p:txBody>
          </p:sp>
        </mc:Fallback>
      </mc:AlternateContent>
      <p:cxnSp>
        <p:nvCxnSpPr>
          <p:cNvPr id="10" name="Straight Connector 9"/>
          <p:cNvCxnSpPr/>
          <p:nvPr/>
        </p:nvCxnSpPr>
        <p:spPr>
          <a:xfrm>
            <a:off x="655046" y="5730333"/>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Rectangle 10"/>
              <p:cNvSpPr/>
              <p:nvPr/>
            </p:nvSpPr>
            <p:spPr>
              <a:xfrm>
                <a:off x="2693641" y="5287610"/>
                <a:ext cx="3429000" cy="461665"/>
              </a:xfrm>
              <a:prstGeom prst="rect">
                <a:avLst/>
              </a:prstGeom>
            </p:spPr>
            <p:txBody>
              <a:bodyPr>
                <a:spAutoFit/>
              </a:bodyPr>
              <a:lstStyle/>
              <a:p>
                <a:pPr lvl="0" defTabSz="685800">
                  <a:defRPr/>
                </a:pPr>
                <a:r>
                  <a:rPr lang="en-GB" sz="1200" noProof="0" dirty="0">
                    <a:cs typeface="Calibri" panose="020F0502020204030204" pitchFamily="34" charset="0"/>
                  </a:rPr>
                  <a:t>b)    </a:t>
                </a:r>
                <a14:m>
                  <m:oMath xmlns:m="http://schemas.openxmlformats.org/officeDocument/2006/math">
                    <m:r>
                      <a:rPr lang="en-GB" sz="1200" i="1"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=13</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 </m:t>
                    </m:r>
                    <m:r>
                      <a:rPr lang="en-GB" sz="1200" b="0" i="0"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m:t>
                    </m:r>
                    <m:r>
                      <a:rPr lang="en-GB" sz="1200" b="0" i="0" noProof="0" smtClean="0">
                        <a:latin typeface="Cambria Math" panose="02040503050406030204" pitchFamily="18" charset="0"/>
                        <a:cs typeface="Calibri" panose="020F0502020204030204" pitchFamily="34" charset="0"/>
                      </a:rPr>
                      <m:t>9</m:t>
                    </m:r>
                  </m:oMath>
                </a14:m>
                <a:r>
                  <a:rPr lang="en-GB" sz="1200" noProof="0" dirty="0">
                    <a:cs typeface="Calibri" panose="020F0502020204030204" pitchFamily="34" charset="0"/>
                  </a:rPr>
                  <a:t>   (2)</a:t>
                </a:r>
                <a:endParaRPr lang="en-GB" sz="1200" noProof="0" dirty="0"/>
              </a:p>
            </p:txBody>
          </p:sp>
        </mc:Choice>
        <mc:Fallback xmlns="">
          <p:sp>
            <p:nvSpPr>
              <p:cNvPr id="11" name="Rectangle 10"/>
              <p:cNvSpPr>
                <a:spLocks noRot="1" noChangeAspect="1" noMove="1" noResize="1" noEditPoints="1" noAdjustHandles="1" noChangeArrowheads="1" noChangeShapeType="1" noTextEdit="1"/>
              </p:cNvSpPr>
              <p:nvPr/>
            </p:nvSpPr>
            <p:spPr>
              <a:xfrm>
                <a:off x="2693641" y="5287610"/>
                <a:ext cx="3429000" cy="461665"/>
              </a:xfrm>
              <a:prstGeom prst="rect">
                <a:avLst/>
              </a:prstGeom>
              <a:blipFill>
                <a:blip r:embed="rId5"/>
                <a:stretch>
                  <a:fillRect l="-178" b="-9211"/>
                </a:stretch>
              </a:blipFill>
            </p:spPr>
            <p:txBody>
              <a:bodyPr/>
              <a:lstStyle/>
              <a:p>
                <a:r>
                  <a:rPr lang="en-US">
                    <a:noFill/>
                  </a:rPr>
                  <a:t> </a:t>
                </a:r>
              </a:p>
            </p:txBody>
          </p:sp>
        </mc:Fallback>
      </mc:AlternateContent>
      <p:cxnSp>
        <p:nvCxnSpPr>
          <p:cNvPr id="12" name="Straight Connector 11"/>
          <p:cNvCxnSpPr/>
          <p:nvPr/>
        </p:nvCxnSpPr>
        <p:spPr>
          <a:xfrm>
            <a:off x="3013442" y="5749275"/>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Rectangle 12"/>
              <p:cNvSpPr/>
              <p:nvPr/>
            </p:nvSpPr>
            <p:spPr>
              <a:xfrm>
                <a:off x="5005611" y="5281158"/>
                <a:ext cx="3429000" cy="461665"/>
              </a:xfrm>
              <a:prstGeom prst="rect">
                <a:avLst/>
              </a:prstGeom>
            </p:spPr>
            <p:txBody>
              <a:bodyPr>
                <a:spAutoFit/>
              </a:bodyPr>
              <a:lstStyle/>
              <a:p>
                <a:pPr lvl="0" defTabSz="685800">
                  <a:defRPr/>
                </a:pPr>
                <a:r>
                  <a:rPr lang="en-GB" sz="1200" noProof="0" dirty="0">
                    <a:cs typeface="Calibri" panose="020F0502020204030204" pitchFamily="34" charset="0"/>
                  </a:rPr>
                  <a:t>c)    </a:t>
                </a:r>
                <a14:m>
                  <m:oMath xmlns:m="http://schemas.openxmlformats.org/officeDocument/2006/math">
                    <m:r>
                      <a:rPr lang="en-GB" sz="120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=19</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 </m:t>
                    </m:r>
                    <m:r>
                      <a:rPr lang="en-GB" sz="1200" b="0" i="0"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=7</m:t>
                    </m:r>
                  </m:oMath>
                </a14:m>
                <a:r>
                  <a:rPr lang="en-GB" sz="1200" noProof="0" dirty="0">
                    <a:cs typeface="Calibri" panose="020F0502020204030204" pitchFamily="34" charset="0"/>
                  </a:rPr>
                  <a:t>   (2)</a:t>
                </a:r>
                <a:endParaRPr lang="en-GB" sz="1200" noProof="0" dirty="0"/>
              </a:p>
            </p:txBody>
          </p:sp>
        </mc:Choice>
        <mc:Fallback xmlns="">
          <p:sp>
            <p:nvSpPr>
              <p:cNvPr id="13" name="Rectangle 12"/>
              <p:cNvSpPr>
                <a:spLocks noRot="1" noChangeAspect="1" noMove="1" noResize="1" noEditPoints="1" noAdjustHandles="1" noChangeArrowheads="1" noChangeShapeType="1" noTextEdit="1"/>
              </p:cNvSpPr>
              <p:nvPr/>
            </p:nvSpPr>
            <p:spPr>
              <a:xfrm>
                <a:off x="5005611" y="5281158"/>
                <a:ext cx="3429000" cy="461665"/>
              </a:xfrm>
              <a:prstGeom prst="rect">
                <a:avLst/>
              </a:prstGeom>
              <a:blipFill>
                <a:blip r:embed="rId6"/>
                <a:stretch>
                  <a:fillRect b="-9211"/>
                </a:stretch>
              </a:blipFill>
            </p:spPr>
            <p:txBody>
              <a:bodyPr/>
              <a:lstStyle/>
              <a:p>
                <a:r>
                  <a:rPr lang="en-US">
                    <a:noFill/>
                  </a:rPr>
                  <a:t> </a:t>
                </a:r>
              </a:p>
            </p:txBody>
          </p:sp>
        </mc:Fallback>
      </mc:AlternateContent>
      <p:cxnSp>
        <p:nvCxnSpPr>
          <p:cNvPr id="14" name="Straight Connector 13"/>
          <p:cNvCxnSpPr/>
          <p:nvPr/>
        </p:nvCxnSpPr>
        <p:spPr>
          <a:xfrm>
            <a:off x="5218533" y="5724214"/>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sp>
        <p:nvSpPr>
          <p:cNvPr id="19" name="Rectangle 18"/>
          <p:cNvSpPr/>
          <p:nvPr/>
        </p:nvSpPr>
        <p:spPr>
          <a:xfrm>
            <a:off x="4647954" y="5231497"/>
            <a:ext cx="2072157" cy="431750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Rectangle 19"/>
          <p:cNvSpPr/>
          <p:nvPr/>
        </p:nvSpPr>
        <p:spPr>
          <a:xfrm>
            <a:off x="2381638" y="5238858"/>
            <a:ext cx="2072157" cy="431750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1" name="Rectangle 20"/>
          <p:cNvSpPr/>
          <p:nvPr/>
        </p:nvSpPr>
        <p:spPr>
          <a:xfrm>
            <a:off x="116795" y="5231497"/>
            <a:ext cx="2072157" cy="431750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24" name="Group 23"/>
          <p:cNvGrpSpPr/>
          <p:nvPr/>
        </p:nvGrpSpPr>
        <p:grpSpPr>
          <a:xfrm>
            <a:off x="781677" y="8815390"/>
            <a:ext cx="1312183" cy="646331"/>
            <a:chOff x="834771" y="6575155"/>
            <a:chExt cx="1312183" cy="646331"/>
          </a:xfrm>
        </p:grpSpPr>
        <mc:AlternateContent xmlns:mc="http://schemas.openxmlformats.org/markup-compatibility/2006" xmlns:a14="http://schemas.microsoft.com/office/drawing/2010/main">
          <mc:Choice Requires="a14">
            <p:sp>
              <p:nvSpPr>
                <p:cNvPr id="25" name="TextBox 24"/>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25" name="TextBox 24"/>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7"/>
                  <a:stretch>
                    <a:fillRect/>
                  </a:stretch>
                </a:blipFill>
              </p:spPr>
              <p:txBody>
                <a:bodyPr/>
                <a:lstStyle/>
                <a:p>
                  <a:r>
                    <a:rPr lang="en-US">
                      <a:noFill/>
                    </a:rPr>
                    <a:t> </a:t>
                  </a:r>
                </a:p>
              </p:txBody>
            </p:sp>
          </mc:Fallback>
        </mc:AlternateContent>
        <p:sp>
          <p:nvSpPr>
            <p:cNvPr id="26" name="Rectangle 25"/>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Rectangle 26"/>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p:cNvGrpSpPr/>
          <p:nvPr/>
        </p:nvGrpSpPr>
        <p:grpSpPr>
          <a:xfrm>
            <a:off x="3084717" y="8815391"/>
            <a:ext cx="1312183" cy="646331"/>
            <a:chOff x="834771" y="6575155"/>
            <a:chExt cx="1312183" cy="646331"/>
          </a:xfrm>
        </p:grpSpPr>
        <mc:AlternateContent xmlns:mc="http://schemas.openxmlformats.org/markup-compatibility/2006" xmlns:a14="http://schemas.microsoft.com/office/drawing/2010/main">
          <mc:Choice Requires="a14">
            <p:sp>
              <p:nvSpPr>
                <p:cNvPr id="29" name="TextBox 28"/>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29" name="TextBox 28"/>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7"/>
                  <a:stretch>
                    <a:fillRect/>
                  </a:stretch>
                </a:blipFill>
              </p:spPr>
              <p:txBody>
                <a:bodyPr/>
                <a:lstStyle/>
                <a:p>
                  <a:r>
                    <a:rPr lang="en-US">
                      <a:noFill/>
                    </a:rPr>
                    <a:t> </a:t>
                  </a:r>
                </a:p>
              </p:txBody>
            </p:sp>
          </mc:Fallback>
        </mc:AlternateContent>
        <p:sp>
          <p:nvSpPr>
            <p:cNvPr id="30" name="Rectangle 29"/>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Rectangle 32"/>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34" name="Group 33"/>
          <p:cNvGrpSpPr/>
          <p:nvPr/>
        </p:nvGrpSpPr>
        <p:grpSpPr>
          <a:xfrm>
            <a:off x="5374683" y="8884063"/>
            <a:ext cx="1312183" cy="646331"/>
            <a:chOff x="834771" y="6575155"/>
            <a:chExt cx="1312183" cy="646331"/>
          </a:xfrm>
        </p:grpSpPr>
        <mc:AlternateContent xmlns:mc="http://schemas.openxmlformats.org/markup-compatibility/2006" xmlns:a14="http://schemas.microsoft.com/office/drawing/2010/main">
          <mc:Choice Requires="a14">
            <p:sp>
              <p:nvSpPr>
                <p:cNvPr id="39" name="TextBox 38"/>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39" name="TextBox 38"/>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7"/>
                  <a:stretch>
                    <a:fillRect/>
                  </a:stretch>
                </a:blipFill>
              </p:spPr>
              <p:txBody>
                <a:bodyPr/>
                <a:lstStyle/>
                <a:p>
                  <a:r>
                    <a:rPr lang="en-US">
                      <a:noFill/>
                    </a:rPr>
                    <a:t> </a:t>
                  </a:r>
                </a:p>
              </p:txBody>
            </p:sp>
          </mc:Fallback>
        </mc:AlternateContent>
        <p:sp>
          <p:nvSpPr>
            <p:cNvPr id="40" name="Rectangle 39"/>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1" name="Rectangle 40"/>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31" name="TextBox 30"/>
          <p:cNvSpPr txBox="1"/>
          <p:nvPr/>
        </p:nvSpPr>
        <p:spPr>
          <a:xfrm>
            <a:off x="116795" y="4662898"/>
            <a:ext cx="1732782" cy="276999"/>
          </a:xfrm>
          <a:prstGeom prst="rect">
            <a:avLst/>
          </a:prstGeom>
          <a:solidFill>
            <a:srgbClr val="0070C0"/>
          </a:solidFill>
          <a:ln w="19050">
            <a:solidFill>
              <a:schemeClr val="tx1"/>
            </a:solidFill>
          </a:ln>
        </p:spPr>
        <p:txBody>
          <a:bodyPr wrap="none" rtlCol="0">
            <a:spAutoFit/>
          </a:bodyPr>
          <a:lstStyle/>
          <a:p>
            <a:r>
              <a:rPr lang="en-GB" sz="1200" noProof="0" dirty="0">
                <a:solidFill>
                  <a:schemeClr val="bg1"/>
                </a:solidFill>
              </a:rPr>
              <a:t>INDEPENDENT PRACTICE</a:t>
            </a:r>
          </a:p>
        </p:txBody>
      </p:sp>
    </p:spTree>
    <p:extLst>
      <p:ext uri="{BB962C8B-B14F-4D97-AF65-F5344CB8AC3E}">
        <p14:creationId xmlns:p14="http://schemas.microsoft.com/office/powerpoint/2010/main" val="4881379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14950" y="9378597"/>
            <a:ext cx="1543050" cy="527403"/>
          </a:xfrm>
        </p:spPr>
        <p:txBody>
          <a:bodyPr/>
          <a:lstStyle/>
          <a:p>
            <a:fld id="{19F1D9CC-7119-45EC-A96C-D8C0660F3AAB}" type="slidenum">
              <a:rPr lang="en-GB" noProof="0" smtClean="0"/>
              <a:t>36</a:t>
            </a:fld>
            <a:endParaRPr lang="en-GB" noProof="0" dirty="0"/>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530028373"/>
                  </p:ext>
                </p:extLst>
              </p:nvPr>
            </p:nvGraphicFramePr>
            <p:xfrm>
              <a:off x="105684" y="182287"/>
              <a:ext cx="6614917" cy="2421215"/>
            </p:xfrm>
            <a:graphic>
              <a:graphicData uri="http://schemas.openxmlformats.org/drawingml/2006/table">
                <a:tbl>
                  <a:tblPr firstRow="1" bandRow="1">
                    <a:tableStyleId>{5C22544A-7EE6-4342-B048-85BDC9FD1C3A}</a:tableStyleId>
                  </a:tblPr>
                  <a:tblGrid>
                    <a:gridCol w="2280112">
                      <a:extLst>
                        <a:ext uri="{9D8B030D-6E8A-4147-A177-3AD203B41FA5}">
                          <a16:colId xmlns:a16="http://schemas.microsoft.com/office/drawing/2014/main" val="2943938818"/>
                        </a:ext>
                      </a:extLst>
                    </a:gridCol>
                    <a:gridCol w="2208039">
                      <a:extLst>
                        <a:ext uri="{9D8B030D-6E8A-4147-A177-3AD203B41FA5}">
                          <a16:colId xmlns:a16="http://schemas.microsoft.com/office/drawing/2014/main" val="4207345459"/>
                        </a:ext>
                      </a:extLst>
                    </a:gridCol>
                    <a:gridCol w="2126766">
                      <a:extLst>
                        <a:ext uri="{9D8B030D-6E8A-4147-A177-3AD203B41FA5}">
                          <a16:colId xmlns:a16="http://schemas.microsoft.com/office/drawing/2014/main" val="592218920"/>
                        </a:ext>
                      </a:extLst>
                    </a:gridCol>
                  </a:tblGrid>
                  <a:tr h="381593">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cs typeface="Calibri" panose="020F0502020204030204" pitchFamily="34" charset="0"/>
                            </a:rPr>
                            <a:t>Example 16 -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17 – We</a:t>
                          </a:r>
                          <a:r>
                            <a:rPr lang="en-GB" sz="1200" b="1" i="1" baseline="0" noProof="0" dirty="0">
                              <a:solidFill>
                                <a:schemeClr val="accent2"/>
                              </a:solidFill>
                            </a:rPr>
                            <a:t> </a:t>
                          </a:r>
                          <a:r>
                            <a:rPr lang="en-GB" sz="1200" b="1" i="1" noProof="0" dirty="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18 – You</a:t>
                          </a:r>
                          <a:r>
                            <a:rPr lang="en-GB" sz="1200" b="1" i="1" baseline="0" noProof="0" dirty="0">
                              <a:solidFill>
                                <a:srgbClr val="00B050"/>
                              </a:solidFill>
                            </a:rPr>
                            <a:t> </a:t>
                          </a:r>
                          <a:r>
                            <a:rPr lang="en-GB" sz="1200" b="1" i="1" noProof="0" dirty="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203962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Add the equations</a:t>
                          </a:r>
                          <a:r>
                            <a:rPr lang="en-GB" sz="1200" b="0" i="0" baseline="0" noProof="0" dirty="0">
                              <a:solidFill>
                                <a:schemeClr val="tx1"/>
                              </a:solidFill>
                              <a:cs typeface="Calibri" panose="020F0502020204030204" pitchFamily="34" charset="0"/>
                            </a:rPr>
                            <a:t> together to eliminate the </a:t>
                          </a:r>
                          <a14:m>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oMath>
                          </a14:m>
                          <a:r>
                            <a:rPr lang="en-GB" sz="1200" b="0" i="0" baseline="0" noProof="0" dirty="0">
                              <a:solidFill>
                                <a:schemeClr val="tx1"/>
                              </a:solidFill>
                              <a:cs typeface="Calibri" panose="020F0502020204030204" pitchFamily="34" charset="0"/>
                            </a:rPr>
                            <a:t>’s </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=7</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  </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=2</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Add the equations</a:t>
                          </a:r>
                          <a:r>
                            <a:rPr lang="en-GB" sz="1200" b="0" i="0" baseline="0" noProof="0" dirty="0">
                              <a:solidFill>
                                <a:schemeClr val="tx1"/>
                              </a:solidFill>
                              <a:cs typeface="Calibri" panose="020F0502020204030204" pitchFamily="34" charset="0"/>
                            </a:rPr>
                            <a:t> together to eliminate the </a:t>
                          </a:r>
                          <a14:m>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oMath>
                          </a14:m>
                          <a:r>
                            <a:rPr lang="en-GB" sz="1200" b="0" i="0" baseline="0" noProof="0" dirty="0">
                              <a:solidFill>
                                <a:schemeClr val="tx1"/>
                              </a:solidFill>
                              <a:cs typeface="Calibri" panose="020F0502020204030204" pitchFamily="34" charset="0"/>
                            </a:rPr>
                            <a:t>’s </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 </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 </a:t>
                          </a: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=16</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=4</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Add the equations</a:t>
                          </a:r>
                          <a:r>
                            <a:rPr lang="en-GB" sz="1200" b="0" i="0" baseline="0" noProof="0" dirty="0">
                              <a:solidFill>
                                <a:schemeClr val="tx1"/>
                              </a:solidFill>
                              <a:cs typeface="Calibri" panose="020F0502020204030204" pitchFamily="34" charset="0"/>
                            </a:rPr>
                            <a:t> together to eliminate the </a:t>
                          </a:r>
                          <a14:m>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oMath>
                          </a14:m>
                          <a:r>
                            <a:rPr lang="en-GB" sz="1200" b="0" i="0" baseline="0" noProof="0" dirty="0">
                              <a:solidFill>
                                <a:schemeClr val="tx1"/>
                              </a:solidFill>
                              <a:cs typeface="Calibri" panose="020F0502020204030204" pitchFamily="34" charset="0"/>
                            </a:rPr>
                            <a:t>’s </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 </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 </a:t>
                          </a:r>
                          <a:endParaRPr lang="en-GB" sz="1200" b="1" i="1" noProof="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4</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=31</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=18</m:t>
                              </m:r>
                            </m:oMath>
                          </a14:m>
                          <a:r>
                            <a:rPr lang="en-GB" sz="1200" b="0" i="0" noProof="0" dirty="0">
                              <a:solidFill>
                                <a:schemeClr val="tx1"/>
                              </a:solidFill>
                              <a:cs typeface="Calibri" panose="020F0502020204030204" pitchFamily="34" charset="0"/>
                            </a:rPr>
                            <a:t> (2)</a:t>
                          </a:r>
                          <a:endParaRPr lang="en-GB" sz="1200" b="1" i="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26582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530028373"/>
                  </p:ext>
                </p:extLst>
              </p:nvPr>
            </p:nvGraphicFramePr>
            <p:xfrm>
              <a:off x="105684" y="182287"/>
              <a:ext cx="6614917" cy="2421215"/>
            </p:xfrm>
            <a:graphic>
              <a:graphicData uri="http://schemas.openxmlformats.org/drawingml/2006/table">
                <a:tbl>
                  <a:tblPr firstRow="1" bandRow="1">
                    <a:tableStyleId>{5C22544A-7EE6-4342-B048-85BDC9FD1C3A}</a:tableStyleId>
                  </a:tblPr>
                  <a:tblGrid>
                    <a:gridCol w="2280112">
                      <a:extLst>
                        <a:ext uri="{9D8B030D-6E8A-4147-A177-3AD203B41FA5}">
                          <a16:colId xmlns:a16="http://schemas.microsoft.com/office/drawing/2014/main" val="2943938818"/>
                        </a:ext>
                      </a:extLst>
                    </a:gridCol>
                    <a:gridCol w="2208039">
                      <a:extLst>
                        <a:ext uri="{9D8B030D-6E8A-4147-A177-3AD203B41FA5}">
                          <a16:colId xmlns:a16="http://schemas.microsoft.com/office/drawing/2014/main" val="4207345459"/>
                        </a:ext>
                      </a:extLst>
                    </a:gridCol>
                    <a:gridCol w="2126766">
                      <a:extLst>
                        <a:ext uri="{9D8B030D-6E8A-4147-A177-3AD203B41FA5}">
                          <a16:colId xmlns:a16="http://schemas.microsoft.com/office/drawing/2014/main" val="592218920"/>
                        </a:ext>
                      </a:extLst>
                    </a:gridCol>
                  </a:tblGrid>
                  <a:tr h="381593">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cs typeface="Calibri" panose="020F0502020204030204" pitchFamily="34" charset="0"/>
                            </a:rPr>
                            <a:t>Example 16 -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17 – We</a:t>
                          </a:r>
                          <a:r>
                            <a:rPr lang="en-GB" sz="1200" b="1" i="1" baseline="0" noProof="0">
                              <a:solidFill>
                                <a:schemeClr val="accent2"/>
                              </a:solidFill>
                            </a:rPr>
                            <a:t> </a:t>
                          </a:r>
                          <a:r>
                            <a:rPr lang="en-GB" sz="1200" b="1" i="1" noProof="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18 – You</a:t>
                          </a:r>
                          <a:r>
                            <a:rPr lang="en-GB" sz="1200" b="1" i="1" baseline="0" noProof="0">
                              <a:solidFill>
                                <a:srgbClr val="00B050"/>
                              </a:solidFill>
                            </a:rPr>
                            <a:t> </a:t>
                          </a:r>
                          <a:r>
                            <a:rPr lang="en-GB" sz="1200" b="1" i="1" noProof="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203962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7" t="-19048" r="-190909" b="-59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3306" t="-19048" r="-96694" b="-59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11461" t="-19048" r="-573" b="-595"/>
                          </a:stretch>
                        </a:blipFill>
                      </a:tcPr>
                    </a:tc>
                    <a:extLst>
                      <a:ext uri="{0D108BD9-81ED-4DB2-BD59-A6C34878D82A}">
                        <a16:rowId xmlns:a16="http://schemas.microsoft.com/office/drawing/2014/main" val="3427265822"/>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C10CDB0-5D39-7448-ABDD-102EC30FED6B}"/>
                  </a:ext>
                </a:extLst>
              </p:cNvPr>
              <p:cNvSpPr txBox="1"/>
              <p:nvPr/>
            </p:nvSpPr>
            <p:spPr>
              <a:xfrm>
                <a:off x="1835753" y="2682090"/>
                <a:ext cx="3384004" cy="461665"/>
              </a:xfrm>
              <a:prstGeom prst="rect">
                <a:avLst/>
              </a:prstGeom>
              <a:noFill/>
            </p:spPr>
            <p:txBody>
              <a:bodyPr wrap="none" rtlCol="0">
                <a:spAutoFit/>
              </a:bodyPr>
              <a:lstStyle/>
              <a:p>
                <a:r>
                  <a:rPr lang="en-GB" sz="1200" noProof="0" dirty="0"/>
                  <a:t> 6) </a:t>
                </a:r>
                <a:r>
                  <a:rPr lang="en-GB" sz="1200" noProof="0" dirty="0">
                    <a:cs typeface="Calibri" panose="020F0502020204030204" pitchFamily="34" charset="0"/>
                  </a:rPr>
                  <a:t>Add the equations together to eliminate the </a:t>
                </a:r>
                <a14:m>
                  <m:oMath xmlns:m="http://schemas.openxmlformats.org/officeDocument/2006/math">
                    <m:r>
                      <a:rPr lang="en-GB" sz="1200" i="1" noProof="0" smtClean="0">
                        <a:latin typeface="Cambria Math" panose="02040503050406030204" pitchFamily="18" charset="0"/>
                        <a:cs typeface="Calibri" panose="020F0502020204030204" pitchFamily="34" charset="0"/>
                      </a:rPr>
                      <m:t>𝑦</m:t>
                    </m:r>
                  </m:oMath>
                </a14:m>
                <a:r>
                  <a:rPr lang="en-GB" sz="1200" noProof="0" dirty="0">
                    <a:cs typeface="Calibri" panose="020F0502020204030204" pitchFamily="34" charset="0"/>
                  </a:rPr>
                  <a:t>’s </a:t>
                </a:r>
              </a:p>
              <a:p>
                <a:endParaRPr lang="en-GB" sz="1200" noProof="0" dirty="0"/>
              </a:p>
            </p:txBody>
          </p:sp>
        </mc:Choice>
        <mc:Fallback xmlns="">
          <p:sp>
            <p:nvSpPr>
              <p:cNvPr id="8" name="TextBox 7">
                <a:extLst>
                  <a:ext uri="{FF2B5EF4-FFF2-40B4-BE49-F238E27FC236}">
                    <a16:creationId xmlns:a16="http://schemas.microsoft.com/office/drawing/2014/main" id="{2C10CDB0-5D39-7448-ABDD-102EC30FED6B}"/>
                  </a:ext>
                </a:extLst>
              </p:cNvPr>
              <p:cNvSpPr txBox="1">
                <a:spLocks noRot="1" noChangeAspect="1" noMove="1" noResize="1" noEditPoints="1" noAdjustHandles="1" noChangeArrowheads="1" noChangeShapeType="1" noTextEdit="1"/>
              </p:cNvSpPr>
              <p:nvPr/>
            </p:nvSpPr>
            <p:spPr>
              <a:xfrm>
                <a:off x="1835753" y="2682090"/>
                <a:ext cx="3384004" cy="461665"/>
              </a:xfrm>
              <a:prstGeom prst="rect">
                <a:avLst/>
              </a:prstGeom>
              <a:blipFill>
                <a:blip r:embed="rId3"/>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02972" y="3260506"/>
                <a:ext cx="1387282"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a) </a:t>
                </a:r>
                <a14:m>
                  <m:oMath xmlns:m="http://schemas.openxmlformats.org/officeDocument/2006/math">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=4</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  0</m:t>
                    </m:r>
                  </m:oMath>
                </a14:m>
                <a:r>
                  <a:rPr lang="en-GB" sz="1200" noProof="0" dirty="0">
                    <a:cs typeface="Calibri" panose="020F0502020204030204" pitchFamily="34" charset="0"/>
                  </a:rPr>
                  <a:t>(2)</a:t>
                </a:r>
              </a:p>
            </p:txBody>
          </p:sp>
        </mc:Choice>
        <mc:Fallback xmlns="">
          <p:sp>
            <p:nvSpPr>
              <p:cNvPr id="9" name="Rectangle 8"/>
              <p:cNvSpPr>
                <a:spLocks noRot="1" noChangeAspect="1" noMove="1" noResize="1" noEditPoints="1" noAdjustHandles="1" noChangeArrowheads="1" noChangeShapeType="1" noTextEdit="1"/>
              </p:cNvSpPr>
              <p:nvPr/>
            </p:nvSpPr>
            <p:spPr>
              <a:xfrm>
                <a:off x="102972" y="3260506"/>
                <a:ext cx="1387282" cy="461665"/>
              </a:xfrm>
              <a:prstGeom prst="rect">
                <a:avLst/>
              </a:prstGeom>
              <a:blipFill>
                <a:blip r:embed="rId4"/>
                <a:stretch>
                  <a:fillRect t="-1316"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790029" y="3260506"/>
                <a:ext cx="1495034"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b)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8</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=8</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5</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m:t>
                    </m:r>
                  </m:oMath>
                </a14:m>
                <a:r>
                  <a:rPr lang="en-GB" sz="1200" noProof="0" dirty="0">
                    <a:cs typeface="Calibri" panose="020F0502020204030204" pitchFamily="34" charset="0"/>
                  </a:rPr>
                  <a:t> (2)</a:t>
                </a:r>
              </a:p>
            </p:txBody>
          </p:sp>
        </mc:Choice>
        <mc:Fallback xmlns="">
          <p:sp>
            <p:nvSpPr>
              <p:cNvPr id="10" name="Rectangle 9"/>
              <p:cNvSpPr>
                <a:spLocks noRot="1" noChangeAspect="1" noMove="1" noResize="1" noEditPoints="1" noAdjustHandles="1" noChangeArrowheads="1" noChangeShapeType="1" noTextEdit="1"/>
              </p:cNvSpPr>
              <p:nvPr/>
            </p:nvSpPr>
            <p:spPr>
              <a:xfrm>
                <a:off x="1790029" y="3260506"/>
                <a:ext cx="1495034" cy="461665"/>
              </a:xfrm>
              <a:prstGeom prst="rect">
                <a:avLst/>
              </a:prstGeom>
              <a:blipFill>
                <a:blip r:embed="rId5"/>
                <a:stretch>
                  <a:fillRect t="-1316"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3479266" y="3260505"/>
                <a:ext cx="1615124"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c) </a:t>
                </a:r>
                <a14:m>
                  <m:oMath xmlns:m="http://schemas.openxmlformats.org/officeDocument/2006/math">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=3</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m:t>
                    </m:r>
                  </m:oMath>
                </a14:m>
                <a:r>
                  <a:rPr lang="en-GB" sz="1200" noProof="0" dirty="0">
                    <a:cs typeface="Calibri" panose="020F0502020204030204" pitchFamily="34" charset="0"/>
                  </a:rPr>
                  <a:t> (2)</a:t>
                </a:r>
              </a:p>
            </p:txBody>
          </p:sp>
        </mc:Choice>
        <mc:Fallback xmlns="">
          <p:sp>
            <p:nvSpPr>
              <p:cNvPr id="11" name="Rectangle 10"/>
              <p:cNvSpPr>
                <a:spLocks noRot="1" noChangeAspect="1" noMove="1" noResize="1" noEditPoints="1" noAdjustHandles="1" noChangeArrowheads="1" noChangeShapeType="1" noTextEdit="1"/>
              </p:cNvSpPr>
              <p:nvPr/>
            </p:nvSpPr>
            <p:spPr>
              <a:xfrm>
                <a:off x="3479266" y="3260505"/>
                <a:ext cx="1615124" cy="461665"/>
              </a:xfrm>
              <a:prstGeom prst="rect">
                <a:avLst/>
              </a:prstGeom>
              <a:blipFill>
                <a:blip r:embed="rId6"/>
                <a:stretch>
                  <a:fillRect t="-1316"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5205575" y="3281316"/>
                <a:ext cx="1531886"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d) </a:t>
                </a:r>
                <a14:m>
                  <m:oMath xmlns:m="http://schemas.openxmlformats.org/officeDocument/2006/math">
                    <m:r>
                      <a:rPr lang="en-GB" sz="1200" i="1" noProof="0" smtClean="0">
                        <a:latin typeface="Cambria Math" panose="02040503050406030204" pitchFamily="18" charset="0"/>
                        <a:cs typeface="Calibri" panose="020F0502020204030204" pitchFamily="34" charset="0"/>
                      </a:rPr>
                      <m:t>1</m:t>
                    </m:r>
                    <m:r>
                      <a:rPr lang="en-GB" sz="1200" b="0" i="1" noProof="0" smtClean="0">
                        <a:latin typeface="Cambria Math" panose="02040503050406030204" pitchFamily="18" charset="0"/>
                        <a:cs typeface="Calibri" panose="020F0502020204030204" pitchFamily="34" charset="0"/>
                      </a:rPr>
                      <m:t>0</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=8</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4</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=6</m:t>
                    </m:r>
                  </m:oMath>
                </a14:m>
                <a:r>
                  <a:rPr lang="en-GB" sz="1200" noProof="0" dirty="0">
                    <a:cs typeface="Calibri" panose="020F0502020204030204" pitchFamily="34" charset="0"/>
                  </a:rPr>
                  <a:t> (2)</a:t>
                </a:r>
              </a:p>
            </p:txBody>
          </p:sp>
        </mc:Choice>
        <mc:Fallback xmlns="">
          <p:sp>
            <p:nvSpPr>
              <p:cNvPr id="12" name="Rectangle 11"/>
              <p:cNvSpPr>
                <a:spLocks noRot="1" noChangeAspect="1" noMove="1" noResize="1" noEditPoints="1" noAdjustHandles="1" noChangeArrowheads="1" noChangeShapeType="1" noTextEdit="1"/>
              </p:cNvSpPr>
              <p:nvPr/>
            </p:nvSpPr>
            <p:spPr>
              <a:xfrm>
                <a:off x="5205575" y="3281316"/>
                <a:ext cx="1531886" cy="461665"/>
              </a:xfrm>
              <a:prstGeom prst="rect">
                <a:avLst/>
              </a:prstGeom>
              <a:blipFill>
                <a:blip r:embed="rId7"/>
                <a:stretch>
                  <a:fillRect b="-9211"/>
                </a:stretch>
              </a:blipFill>
            </p:spPr>
            <p:txBody>
              <a:bodyPr/>
              <a:lstStyle/>
              <a:p>
                <a:r>
                  <a:rPr lang="en-US">
                    <a:noFill/>
                  </a:rPr>
                  <a:t> </a:t>
                </a:r>
              </a:p>
            </p:txBody>
          </p:sp>
        </mc:Fallback>
      </mc:AlternateContent>
      <p:cxnSp>
        <p:nvCxnSpPr>
          <p:cNvPr id="13" name="Straight Connector 12"/>
          <p:cNvCxnSpPr/>
          <p:nvPr/>
        </p:nvCxnSpPr>
        <p:spPr>
          <a:xfrm>
            <a:off x="338689" y="3722170"/>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a:off x="2073657" y="3722170"/>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a:off x="3752984" y="3722170"/>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5487952" y="3722170"/>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Rectangle 16"/>
              <p:cNvSpPr/>
              <p:nvPr/>
            </p:nvSpPr>
            <p:spPr>
              <a:xfrm>
                <a:off x="102971" y="5478669"/>
                <a:ext cx="1590801"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e)</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=4</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=8</m:t>
                    </m:r>
                  </m:oMath>
                </a14:m>
                <a:r>
                  <a:rPr lang="en-GB" sz="1200" noProof="0" dirty="0">
                    <a:cs typeface="Calibri" panose="020F0502020204030204" pitchFamily="34" charset="0"/>
                  </a:rPr>
                  <a:t> (2)</a:t>
                </a:r>
              </a:p>
            </p:txBody>
          </p:sp>
        </mc:Choice>
        <mc:Fallback xmlns="">
          <p:sp>
            <p:nvSpPr>
              <p:cNvPr id="17" name="Rectangle 16"/>
              <p:cNvSpPr>
                <a:spLocks noRot="1" noChangeAspect="1" noMove="1" noResize="1" noEditPoints="1" noAdjustHandles="1" noChangeArrowheads="1" noChangeShapeType="1" noTextEdit="1"/>
              </p:cNvSpPr>
              <p:nvPr/>
            </p:nvSpPr>
            <p:spPr>
              <a:xfrm>
                <a:off x="102971" y="5478669"/>
                <a:ext cx="1590801" cy="461665"/>
              </a:xfrm>
              <a:prstGeom prst="rect">
                <a:avLst/>
              </a:prstGeom>
              <a:blipFill>
                <a:blip r:embed="rId8"/>
                <a:stretch>
                  <a:fillRect t="-1333"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1790029" y="5478669"/>
                <a:ext cx="1624900"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f)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=14</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5</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=13</m:t>
                    </m:r>
                  </m:oMath>
                </a14:m>
                <a:r>
                  <a:rPr lang="en-GB" sz="1200" noProof="0" dirty="0">
                    <a:cs typeface="Calibri" panose="020F0502020204030204" pitchFamily="34" charset="0"/>
                  </a:rPr>
                  <a:t> (2)</a:t>
                </a:r>
              </a:p>
            </p:txBody>
          </p:sp>
        </mc:Choice>
        <mc:Fallback xmlns="">
          <p:sp>
            <p:nvSpPr>
              <p:cNvPr id="18" name="Rectangle 17"/>
              <p:cNvSpPr>
                <a:spLocks noRot="1" noChangeAspect="1" noMove="1" noResize="1" noEditPoints="1" noAdjustHandles="1" noChangeArrowheads="1" noChangeShapeType="1" noTextEdit="1"/>
              </p:cNvSpPr>
              <p:nvPr/>
            </p:nvSpPr>
            <p:spPr>
              <a:xfrm>
                <a:off x="1790029" y="5478669"/>
                <a:ext cx="1624900" cy="461665"/>
              </a:xfrm>
              <a:prstGeom prst="rect">
                <a:avLst/>
              </a:prstGeom>
              <a:blipFill>
                <a:blip r:embed="rId9"/>
                <a:stretch>
                  <a:fillRect t="-1333"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3479266" y="5478668"/>
                <a:ext cx="1615124"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g) </a:t>
                </a:r>
                <a14:m>
                  <m:oMath xmlns:m="http://schemas.openxmlformats.org/officeDocument/2006/math">
                    <m:r>
                      <a:rPr lang="en-GB" sz="1200" i="1" noProof="0" smtClean="0">
                        <a:latin typeface="Cambria Math" panose="02040503050406030204" pitchFamily="18" charset="0"/>
                        <a:cs typeface="Calibri" panose="020F0502020204030204" pitchFamily="34" charset="0"/>
                      </a:rPr>
                      <m:t>8</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=28</m:t>
                    </m:r>
                  </m:oMath>
                </a14:m>
                <a:r>
                  <a:rPr lang="en-GB" sz="1200" noProof="0" dirty="0">
                    <a:cs typeface="Calibri" panose="020F0502020204030204" pitchFamily="34" charset="0"/>
                  </a:rPr>
                  <a:t> (1)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7</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=17</m:t>
                    </m:r>
                  </m:oMath>
                </a14:m>
                <a:r>
                  <a:rPr lang="en-GB" sz="1200" noProof="0" dirty="0">
                    <a:cs typeface="Calibri" panose="020F0502020204030204" pitchFamily="34" charset="0"/>
                  </a:rPr>
                  <a:t> (2)</a:t>
                </a:r>
              </a:p>
            </p:txBody>
          </p:sp>
        </mc:Choice>
        <mc:Fallback xmlns="">
          <p:sp>
            <p:nvSpPr>
              <p:cNvPr id="19" name="Rectangle 18"/>
              <p:cNvSpPr>
                <a:spLocks noRot="1" noChangeAspect="1" noMove="1" noResize="1" noEditPoints="1" noAdjustHandles="1" noChangeArrowheads="1" noChangeShapeType="1" noTextEdit="1"/>
              </p:cNvSpPr>
              <p:nvPr/>
            </p:nvSpPr>
            <p:spPr>
              <a:xfrm>
                <a:off x="3479266" y="5478668"/>
                <a:ext cx="1615124" cy="461665"/>
              </a:xfrm>
              <a:prstGeom prst="rect">
                <a:avLst/>
              </a:prstGeom>
              <a:blipFill>
                <a:blip r:embed="rId10"/>
                <a:stretch>
                  <a:fillRect t="-1333"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5205575" y="5499479"/>
                <a:ext cx="1531886"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h) </a:t>
                </a:r>
                <a14:m>
                  <m:oMath xmlns:m="http://schemas.openxmlformats.org/officeDocument/2006/math">
                    <m:r>
                      <a:rPr lang="en-GB" sz="1200" i="1" noProof="0" smtClean="0">
                        <a:latin typeface="Cambria Math" panose="02040503050406030204" pitchFamily="18" charset="0"/>
                        <a:cs typeface="Calibri" panose="020F0502020204030204" pitchFamily="34" charset="0"/>
                      </a:rPr>
                      <m:t>8</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+7</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=23</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1</m:t>
                    </m:r>
                    <m:r>
                      <a:rPr lang="en-GB" sz="1200" b="0" i="0" noProof="0" smtClean="0">
                        <a:latin typeface="Cambria Math" panose="02040503050406030204" pitchFamily="18" charset="0"/>
                        <a:cs typeface="Calibri" panose="020F0502020204030204" pitchFamily="34" charset="0"/>
                      </a:rPr>
                      <m:t>0</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−7</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=13</m:t>
                    </m:r>
                  </m:oMath>
                </a14:m>
                <a:r>
                  <a:rPr lang="en-GB" sz="1200" noProof="0" dirty="0">
                    <a:cs typeface="Calibri" panose="020F0502020204030204" pitchFamily="34" charset="0"/>
                  </a:rPr>
                  <a:t> (2)</a:t>
                </a:r>
              </a:p>
            </p:txBody>
          </p:sp>
        </mc:Choice>
        <mc:Fallback xmlns="">
          <p:sp>
            <p:nvSpPr>
              <p:cNvPr id="20" name="Rectangle 19"/>
              <p:cNvSpPr>
                <a:spLocks noRot="1" noChangeAspect="1" noMove="1" noResize="1" noEditPoints="1" noAdjustHandles="1" noChangeArrowheads="1" noChangeShapeType="1" noTextEdit="1"/>
              </p:cNvSpPr>
              <p:nvPr/>
            </p:nvSpPr>
            <p:spPr>
              <a:xfrm>
                <a:off x="5205575" y="5499479"/>
                <a:ext cx="1531886" cy="461665"/>
              </a:xfrm>
              <a:prstGeom prst="rect">
                <a:avLst/>
              </a:prstGeom>
              <a:blipFill>
                <a:blip r:embed="rId11"/>
                <a:stretch>
                  <a:fillRect b="-9211"/>
                </a:stretch>
              </a:blipFill>
            </p:spPr>
            <p:txBody>
              <a:bodyPr/>
              <a:lstStyle/>
              <a:p>
                <a:r>
                  <a:rPr lang="en-US">
                    <a:noFill/>
                  </a:rPr>
                  <a:t> </a:t>
                </a:r>
              </a:p>
            </p:txBody>
          </p:sp>
        </mc:Fallback>
      </mc:AlternateContent>
      <p:cxnSp>
        <p:nvCxnSpPr>
          <p:cNvPr id="21" name="Straight Connector 20"/>
          <p:cNvCxnSpPr/>
          <p:nvPr/>
        </p:nvCxnSpPr>
        <p:spPr>
          <a:xfrm>
            <a:off x="338689" y="5940333"/>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a:off x="2073657" y="5940333"/>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23" name="Straight Connector 22"/>
          <p:cNvCxnSpPr/>
          <p:nvPr/>
        </p:nvCxnSpPr>
        <p:spPr>
          <a:xfrm>
            <a:off x="3752984" y="5940333"/>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24" name="Straight Connector 23"/>
          <p:cNvCxnSpPr/>
          <p:nvPr/>
        </p:nvCxnSpPr>
        <p:spPr>
          <a:xfrm>
            <a:off x="5487952" y="5940333"/>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a:off x="735763" y="1745431"/>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cxnSp>
        <p:nvCxnSpPr>
          <p:cNvPr id="27" name="Straight Connector 26"/>
          <p:cNvCxnSpPr/>
          <p:nvPr/>
        </p:nvCxnSpPr>
        <p:spPr>
          <a:xfrm>
            <a:off x="2962058" y="1745431"/>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a:xfrm>
            <a:off x="5154657" y="1745431"/>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sp>
        <p:nvSpPr>
          <p:cNvPr id="29" name="TextBox 28"/>
          <p:cNvSpPr txBox="1"/>
          <p:nvPr/>
        </p:nvSpPr>
        <p:spPr>
          <a:xfrm>
            <a:off x="1693313" y="1332750"/>
            <a:ext cx="511525" cy="369332"/>
          </a:xfrm>
          <a:prstGeom prst="rect">
            <a:avLst/>
          </a:prstGeom>
          <a:noFill/>
        </p:spPr>
        <p:txBody>
          <a:bodyPr wrap="square" rtlCol="0">
            <a:spAutoFit/>
          </a:bodyPr>
          <a:lstStyle/>
          <a:p>
            <a:r>
              <a:rPr lang="en-GB" noProof="0" dirty="0"/>
              <a:t>+</a:t>
            </a:r>
          </a:p>
        </p:txBody>
      </p:sp>
      <p:sp>
        <p:nvSpPr>
          <p:cNvPr id="30" name="TextBox 29"/>
          <p:cNvSpPr txBox="1"/>
          <p:nvPr/>
        </p:nvSpPr>
        <p:spPr>
          <a:xfrm>
            <a:off x="4032566" y="1321766"/>
            <a:ext cx="511525" cy="369332"/>
          </a:xfrm>
          <a:prstGeom prst="rect">
            <a:avLst/>
          </a:prstGeom>
          <a:noFill/>
        </p:spPr>
        <p:txBody>
          <a:bodyPr wrap="square" rtlCol="0">
            <a:spAutoFit/>
          </a:bodyPr>
          <a:lstStyle/>
          <a:p>
            <a:r>
              <a:rPr lang="en-GB" noProof="0" dirty="0"/>
              <a:t>+</a:t>
            </a:r>
          </a:p>
        </p:txBody>
      </p:sp>
      <p:sp>
        <p:nvSpPr>
          <p:cNvPr id="31" name="TextBox 30"/>
          <p:cNvSpPr txBox="1"/>
          <p:nvPr/>
        </p:nvSpPr>
        <p:spPr>
          <a:xfrm>
            <a:off x="6157287" y="1312580"/>
            <a:ext cx="511525" cy="369332"/>
          </a:xfrm>
          <a:prstGeom prst="rect">
            <a:avLst/>
          </a:prstGeom>
          <a:noFill/>
        </p:spPr>
        <p:txBody>
          <a:bodyPr wrap="square" rtlCol="0">
            <a:spAutoFit/>
          </a:bodyPr>
          <a:lstStyle/>
          <a:p>
            <a:r>
              <a:rPr lang="en-GB" noProof="0" dirty="0"/>
              <a:t>+</a:t>
            </a:r>
          </a:p>
        </p:txBody>
      </p:sp>
      <mc:AlternateContent xmlns:mc="http://schemas.openxmlformats.org/markup-compatibility/2006" xmlns:a14="http://schemas.microsoft.com/office/drawing/2010/main">
        <mc:Choice Requires="a14">
          <p:sp>
            <p:nvSpPr>
              <p:cNvPr id="32" name="Rectangle 31"/>
              <p:cNvSpPr/>
              <p:nvPr/>
            </p:nvSpPr>
            <p:spPr>
              <a:xfrm>
                <a:off x="102971" y="7633005"/>
                <a:ext cx="1590801" cy="461665"/>
              </a:xfrm>
              <a:prstGeom prst="rect">
                <a:avLst/>
              </a:prstGeom>
            </p:spPr>
            <p:txBody>
              <a:bodyPr wrap="square">
                <a:spAutoFit/>
              </a:bodyPr>
              <a:lstStyle/>
              <a:p>
                <a:pPr lvl="0" algn="ctr" defTabSz="685800">
                  <a:defRPr/>
                </a:pPr>
                <a:r>
                  <a:rPr lang="en-GB" sz="1200" noProof="0" dirty="0" err="1">
                    <a:cs typeface="Calibri" panose="020F0502020204030204" pitchFamily="34" charset="0"/>
                  </a:rPr>
                  <a:t>i</a:t>
                </a:r>
                <a:r>
                  <a:rPr lang="en-GB" sz="1200" noProof="0" dirty="0">
                    <a:cs typeface="Calibri" panose="020F0502020204030204" pitchFamily="34" charset="0"/>
                  </a:rPr>
                  <a:t>)</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=11</m:t>
                    </m:r>
                  </m:oMath>
                </a14:m>
                <a:r>
                  <a:rPr lang="en-GB" sz="1200" noProof="0" dirty="0">
                    <a:cs typeface="Calibri" panose="020F0502020204030204" pitchFamily="34" charset="0"/>
                  </a:rPr>
                  <a:t> (2)</a:t>
                </a:r>
              </a:p>
            </p:txBody>
          </p:sp>
        </mc:Choice>
        <mc:Fallback xmlns="">
          <p:sp>
            <p:nvSpPr>
              <p:cNvPr id="32" name="Rectangle 31"/>
              <p:cNvSpPr>
                <a:spLocks noRot="1" noChangeAspect="1" noMove="1" noResize="1" noEditPoints="1" noAdjustHandles="1" noChangeArrowheads="1" noChangeShapeType="1" noTextEdit="1"/>
              </p:cNvSpPr>
              <p:nvPr/>
            </p:nvSpPr>
            <p:spPr>
              <a:xfrm>
                <a:off x="102971" y="7633005"/>
                <a:ext cx="1590801" cy="461665"/>
              </a:xfrm>
              <a:prstGeom prst="rect">
                <a:avLst/>
              </a:prstGeom>
              <a:blipFill>
                <a:blip r:embed="rId12"/>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1790028" y="7633005"/>
                <a:ext cx="1689237"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j) </a:t>
                </a:r>
                <a14:m>
                  <m:oMath xmlns:m="http://schemas.openxmlformats.org/officeDocument/2006/math">
                    <m:r>
                      <a:rPr lang="en-GB" sz="1200" b="0" i="1"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−8</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=−11</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+8</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=21</m:t>
                    </m:r>
                  </m:oMath>
                </a14:m>
                <a:r>
                  <a:rPr lang="en-GB" sz="1200" noProof="0" dirty="0">
                    <a:cs typeface="Calibri" panose="020F0502020204030204" pitchFamily="34" charset="0"/>
                  </a:rPr>
                  <a:t> (2)</a:t>
                </a:r>
              </a:p>
            </p:txBody>
          </p:sp>
        </mc:Choice>
        <mc:Fallback xmlns="">
          <p:sp>
            <p:nvSpPr>
              <p:cNvPr id="33" name="Rectangle 32"/>
              <p:cNvSpPr>
                <a:spLocks noRot="1" noChangeAspect="1" noMove="1" noResize="1" noEditPoints="1" noAdjustHandles="1" noChangeArrowheads="1" noChangeShapeType="1" noTextEdit="1"/>
              </p:cNvSpPr>
              <p:nvPr/>
            </p:nvSpPr>
            <p:spPr>
              <a:xfrm>
                <a:off x="1790028" y="7633005"/>
                <a:ext cx="1689237" cy="461665"/>
              </a:xfrm>
              <a:prstGeom prst="rect">
                <a:avLst/>
              </a:prstGeom>
              <a:blipFill>
                <a:blip r:embed="rId13"/>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3479266" y="7633004"/>
                <a:ext cx="1615124"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k) </a:t>
                </a:r>
                <a14:m>
                  <m:oMath xmlns:m="http://schemas.openxmlformats.org/officeDocument/2006/math">
                    <m:r>
                      <a:rPr lang="en-GB" sz="1200" i="1" noProof="0" smtClean="0">
                        <a:latin typeface="Cambria Math" panose="02040503050406030204" pitchFamily="18" charset="0"/>
                        <a:cs typeface="Calibri" panose="020F0502020204030204" pitchFamily="34" charset="0"/>
                      </a:rPr>
                      <m:t>7</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+9</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m:t>
                    </m:r>
                  </m:oMath>
                </a14:m>
                <a:r>
                  <a:rPr lang="en-GB" sz="1200" noProof="0" dirty="0">
                    <a:cs typeface="Calibri" panose="020F0502020204030204" pitchFamily="34" charset="0"/>
                  </a:rPr>
                  <a:t> (1)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7</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−9</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=−23</m:t>
                    </m:r>
                  </m:oMath>
                </a14:m>
                <a:r>
                  <a:rPr lang="en-GB" sz="1200" noProof="0" dirty="0">
                    <a:cs typeface="Calibri" panose="020F0502020204030204" pitchFamily="34" charset="0"/>
                  </a:rPr>
                  <a:t> (2)</a:t>
                </a:r>
              </a:p>
            </p:txBody>
          </p:sp>
        </mc:Choice>
        <mc:Fallback xmlns="">
          <p:sp>
            <p:nvSpPr>
              <p:cNvPr id="34" name="Rectangle 33"/>
              <p:cNvSpPr>
                <a:spLocks noRot="1" noChangeAspect="1" noMove="1" noResize="1" noEditPoints="1" noAdjustHandles="1" noChangeArrowheads="1" noChangeShapeType="1" noTextEdit="1"/>
              </p:cNvSpPr>
              <p:nvPr/>
            </p:nvSpPr>
            <p:spPr>
              <a:xfrm>
                <a:off x="3479266" y="7633004"/>
                <a:ext cx="1615124" cy="461665"/>
              </a:xfrm>
              <a:prstGeom prst="rect">
                <a:avLst/>
              </a:prstGeom>
              <a:blipFill>
                <a:blip r:embed="rId14"/>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5035296" y="7653815"/>
                <a:ext cx="1844588" cy="461665"/>
              </a:xfrm>
              <a:prstGeom prst="rect">
                <a:avLst/>
              </a:prstGeom>
            </p:spPr>
            <p:txBody>
              <a:bodyPr wrap="square">
                <a:spAutoFit/>
              </a:bodyPr>
              <a:lstStyle/>
              <a:p>
                <a:pPr lvl="0" algn="ctr" defTabSz="685800">
                  <a:defRPr/>
                </a:pPr>
                <a:r>
                  <a:rPr lang="en-GB" sz="1200" noProof="0" dirty="0">
                    <a:cs typeface="Calibri" panose="020F0502020204030204" pitchFamily="34" charset="0"/>
                  </a:rPr>
                  <a:t>l) </a:t>
                </a:r>
                <a14:m>
                  <m:oMath xmlns:m="http://schemas.openxmlformats.org/officeDocument/2006/math">
                    <m:r>
                      <a:rPr lang="en-GB" sz="1200" i="1" noProof="0" smtClean="0">
                        <a:latin typeface="Cambria Math" panose="02040503050406030204" pitchFamily="18" charset="0"/>
                        <a:cs typeface="Calibri" panose="020F0502020204030204" pitchFamily="34" charset="0"/>
                      </a:rPr>
                      <m:t>1</m:t>
                    </m:r>
                    <m:r>
                      <a:rPr lang="en-GB" sz="1200" b="0" i="1" noProof="0" smtClean="0">
                        <a:latin typeface="Cambria Math" panose="02040503050406030204" pitchFamily="18" charset="0"/>
                        <a:cs typeface="Calibri" panose="020F0502020204030204" pitchFamily="34" charset="0"/>
                      </a:rPr>
                      <m:t>0</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+10</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=−50</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noProof="0" smtClean="0">
                        <a:latin typeface="Cambria Math" panose="02040503050406030204" pitchFamily="18" charset="0"/>
                        <a:cs typeface="Calibri" panose="020F0502020204030204" pitchFamily="34" charset="0"/>
                      </a:rPr>
                      <m:t>1</m:t>
                    </m:r>
                    <m:r>
                      <a:rPr lang="en-GB" sz="1200" b="0" i="0" noProof="0" smtClean="0">
                        <a:latin typeface="Cambria Math" panose="02040503050406030204" pitchFamily="18" charset="0"/>
                        <a:cs typeface="Calibri" panose="020F0502020204030204" pitchFamily="34" charset="0"/>
                      </a:rPr>
                      <m:t>0</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−10</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=−70</m:t>
                    </m:r>
                  </m:oMath>
                </a14:m>
                <a:r>
                  <a:rPr lang="en-GB" sz="1200" noProof="0" dirty="0">
                    <a:cs typeface="Calibri" panose="020F0502020204030204" pitchFamily="34" charset="0"/>
                  </a:rPr>
                  <a:t> (2)</a:t>
                </a:r>
              </a:p>
            </p:txBody>
          </p:sp>
        </mc:Choice>
        <mc:Fallback xmlns="">
          <p:sp>
            <p:nvSpPr>
              <p:cNvPr id="35" name="Rectangle 34"/>
              <p:cNvSpPr>
                <a:spLocks noRot="1" noChangeAspect="1" noMove="1" noResize="1" noEditPoints="1" noAdjustHandles="1" noChangeArrowheads="1" noChangeShapeType="1" noTextEdit="1"/>
              </p:cNvSpPr>
              <p:nvPr/>
            </p:nvSpPr>
            <p:spPr>
              <a:xfrm>
                <a:off x="5035296" y="7653815"/>
                <a:ext cx="1844588" cy="461665"/>
              </a:xfrm>
              <a:prstGeom prst="rect">
                <a:avLst/>
              </a:prstGeom>
              <a:blipFill>
                <a:blip r:embed="rId15"/>
                <a:stretch>
                  <a:fillRect t="-1333" b="-10667"/>
                </a:stretch>
              </a:blipFill>
            </p:spPr>
            <p:txBody>
              <a:bodyPr/>
              <a:lstStyle/>
              <a:p>
                <a:r>
                  <a:rPr lang="en-US">
                    <a:noFill/>
                  </a:rPr>
                  <a:t> </a:t>
                </a:r>
              </a:p>
            </p:txBody>
          </p:sp>
        </mc:Fallback>
      </mc:AlternateContent>
      <p:cxnSp>
        <p:nvCxnSpPr>
          <p:cNvPr id="36" name="Straight Connector 35"/>
          <p:cNvCxnSpPr/>
          <p:nvPr/>
        </p:nvCxnSpPr>
        <p:spPr>
          <a:xfrm>
            <a:off x="338689" y="8094669"/>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37" name="Straight Connector 36"/>
          <p:cNvCxnSpPr/>
          <p:nvPr/>
        </p:nvCxnSpPr>
        <p:spPr>
          <a:xfrm>
            <a:off x="2073657" y="8094669"/>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a:off x="3752984" y="8094669"/>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cxnSp>
        <p:nvCxnSpPr>
          <p:cNvPr id="39" name="Straight Connector 38"/>
          <p:cNvCxnSpPr/>
          <p:nvPr/>
        </p:nvCxnSpPr>
        <p:spPr>
          <a:xfrm>
            <a:off x="5487952" y="8094669"/>
            <a:ext cx="1072707" cy="0"/>
          </a:xfrm>
          <a:prstGeom prst="line">
            <a:avLst/>
          </a:prstGeom>
          <a:ln w="19050">
            <a:solidFill>
              <a:srgbClr val="000000"/>
            </a:solidFill>
          </a:ln>
        </p:spPr>
        <p:style>
          <a:lnRef idx="1">
            <a:schemeClr val="dk1"/>
          </a:lnRef>
          <a:fillRef idx="0">
            <a:schemeClr val="dk1"/>
          </a:fillRef>
          <a:effectRef idx="0">
            <a:schemeClr val="dk1"/>
          </a:effectRef>
          <a:fontRef idx="minor">
            <a:schemeClr val="tx1"/>
          </a:fontRef>
        </p:style>
      </p:cxnSp>
      <p:sp>
        <p:nvSpPr>
          <p:cNvPr id="40" name="TextBox 39"/>
          <p:cNvSpPr txBox="1"/>
          <p:nvPr/>
        </p:nvSpPr>
        <p:spPr>
          <a:xfrm>
            <a:off x="102971" y="2682091"/>
            <a:ext cx="1732782" cy="276999"/>
          </a:xfrm>
          <a:prstGeom prst="rect">
            <a:avLst/>
          </a:prstGeom>
          <a:solidFill>
            <a:srgbClr val="0070C0"/>
          </a:solidFill>
          <a:ln w="19050">
            <a:solidFill>
              <a:schemeClr val="tx1"/>
            </a:solidFill>
          </a:ln>
        </p:spPr>
        <p:txBody>
          <a:bodyPr wrap="none" rtlCol="0">
            <a:spAutoFit/>
          </a:bodyPr>
          <a:lstStyle/>
          <a:p>
            <a:r>
              <a:rPr lang="en-GB" sz="1200" noProof="0" dirty="0">
                <a:solidFill>
                  <a:schemeClr val="bg1"/>
                </a:solidFill>
              </a:rPr>
              <a:t>INDEPENDENT PRACTICE</a:t>
            </a:r>
          </a:p>
        </p:txBody>
      </p:sp>
    </p:spTree>
    <p:extLst>
      <p:ext uri="{BB962C8B-B14F-4D97-AF65-F5344CB8AC3E}">
        <p14:creationId xmlns:p14="http://schemas.microsoft.com/office/powerpoint/2010/main" val="30876379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276641" y="9562837"/>
            <a:ext cx="1543050" cy="527403"/>
          </a:xfrm>
        </p:spPr>
        <p:txBody>
          <a:bodyPr/>
          <a:lstStyle/>
          <a:p>
            <a:fld id="{19F1D9CC-7119-45EC-A96C-D8C0660F3AAB}" type="slidenum">
              <a:rPr lang="en-GB" noProof="0" smtClean="0"/>
              <a:t>37</a:t>
            </a:fld>
            <a:endParaRPr lang="en-GB" noProof="0" dirty="0"/>
          </a:p>
        </p:txBody>
      </p:sp>
      <mc:AlternateContent xmlns:mc="http://schemas.openxmlformats.org/markup-compatibility/2006" xmlns:a14="http://schemas.microsoft.com/office/drawing/2010/main">
        <mc:Choice Requires="a14">
          <p:sp>
            <p:nvSpPr>
              <p:cNvPr id="3" name="Rectangle 2"/>
              <p:cNvSpPr/>
              <p:nvPr/>
            </p:nvSpPr>
            <p:spPr>
              <a:xfrm>
                <a:off x="322665" y="170194"/>
                <a:ext cx="3429000" cy="461665"/>
              </a:xfrm>
              <a:prstGeom prst="rect">
                <a:avLst/>
              </a:prstGeom>
            </p:spPr>
            <p:txBody>
              <a:bodyPr>
                <a:spAutoFit/>
              </a:bodyPr>
              <a:lstStyle/>
              <a:p>
                <a:pPr lvl="0" defTabSz="685800">
                  <a:defRPr/>
                </a:pPr>
                <a:r>
                  <a:rPr lang="en-GB" sz="1200" noProof="0" dirty="0">
                    <a:cs typeface="Calibri" panose="020F0502020204030204" pitchFamily="34" charset="0"/>
                  </a:rPr>
                  <a:t>d)    </a:t>
                </a:r>
                <a14:m>
                  <m:oMath xmlns:m="http://schemas.openxmlformats.org/officeDocument/2006/math">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=22</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=8</m:t>
                    </m:r>
                  </m:oMath>
                </a14:m>
                <a:r>
                  <a:rPr lang="en-GB" sz="1200" noProof="0" dirty="0">
                    <a:cs typeface="Calibri" panose="020F0502020204030204" pitchFamily="34" charset="0"/>
                  </a:rPr>
                  <a:t> (2)</a:t>
                </a:r>
                <a:endParaRPr lang="en-GB" sz="1200" noProof="0" dirty="0"/>
              </a:p>
            </p:txBody>
          </p:sp>
        </mc:Choice>
        <mc:Fallback xmlns="">
          <p:sp>
            <p:nvSpPr>
              <p:cNvPr id="3" name="Rectangle 2"/>
              <p:cNvSpPr>
                <a:spLocks noRot="1" noChangeAspect="1" noMove="1" noResize="1" noEditPoints="1" noAdjustHandles="1" noChangeArrowheads="1" noChangeShapeType="1" noTextEdit="1"/>
              </p:cNvSpPr>
              <p:nvPr/>
            </p:nvSpPr>
            <p:spPr>
              <a:xfrm>
                <a:off x="322665" y="170194"/>
                <a:ext cx="3429000" cy="461665"/>
              </a:xfrm>
              <a:prstGeom prst="rect">
                <a:avLst/>
              </a:prstGeom>
              <a:blipFill>
                <a:blip r:embed="rId2"/>
                <a:stretch>
                  <a:fillRect l="-178" t="-1316" b="-9211"/>
                </a:stretch>
              </a:blipFill>
            </p:spPr>
            <p:txBody>
              <a:bodyPr/>
              <a:lstStyle/>
              <a:p>
                <a:r>
                  <a:rPr lang="en-US">
                    <a:noFill/>
                  </a:rPr>
                  <a:t> </a:t>
                </a:r>
              </a:p>
            </p:txBody>
          </p:sp>
        </mc:Fallback>
      </mc:AlternateContent>
      <p:cxnSp>
        <p:nvCxnSpPr>
          <p:cNvPr id="4" name="Straight Connector 3"/>
          <p:cNvCxnSpPr/>
          <p:nvPr/>
        </p:nvCxnSpPr>
        <p:spPr>
          <a:xfrm>
            <a:off x="668901" y="631859"/>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 name="Rectangle 4"/>
              <p:cNvSpPr/>
              <p:nvPr/>
            </p:nvSpPr>
            <p:spPr>
              <a:xfrm>
                <a:off x="2707496" y="189136"/>
                <a:ext cx="3429000" cy="461665"/>
              </a:xfrm>
              <a:prstGeom prst="rect">
                <a:avLst/>
              </a:prstGeom>
            </p:spPr>
            <p:txBody>
              <a:bodyPr>
                <a:spAutoFit/>
              </a:bodyPr>
              <a:lstStyle/>
              <a:p>
                <a:pPr lvl="0" defTabSz="685800">
                  <a:defRPr/>
                </a:pPr>
                <a:r>
                  <a:rPr lang="en-GB" sz="1200" noProof="0" dirty="0">
                    <a:cs typeface="Calibri" panose="020F0502020204030204" pitchFamily="34" charset="0"/>
                  </a:rPr>
                  <a:t>e)    </a:t>
                </a:r>
                <a14:m>
                  <m:oMath xmlns:m="http://schemas.openxmlformats.org/officeDocument/2006/math">
                    <m:r>
                      <a:rPr lang="en-GB" sz="1200" i="1"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=22</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 </m:t>
                    </m:r>
                    <m:r>
                      <a:rPr lang="en-GB" sz="1200" b="0" i="0"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m:t>
                    </m:r>
                    <m:r>
                      <a:rPr lang="en-GB" sz="1200" b="0" i="0" noProof="0" smtClean="0">
                        <a:latin typeface="Cambria Math" panose="02040503050406030204" pitchFamily="18" charset="0"/>
                        <a:cs typeface="Calibri" panose="020F0502020204030204" pitchFamily="34" charset="0"/>
                      </a:rPr>
                      <m:t>20</m:t>
                    </m:r>
                  </m:oMath>
                </a14:m>
                <a:r>
                  <a:rPr lang="en-GB" sz="1200" noProof="0" dirty="0">
                    <a:cs typeface="Calibri" panose="020F0502020204030204" pitchFamily="34" charset="0"/>
                  </a:rPr>
                  <a:t> (2)</a:t>
                </a:r>
                <a:endParaRPr lang="en-GB" sz="1200" noProof="0" dirty="0"/>
              </a:p>
            </p:txBody>
          </p:sp>
        </mc:Choice>
        <mc:Fallback xmlns="">
          <p:sp>
            <p:nvSpPr>
              <p:cNvPr id="5" name="Rectangle 4"/>
              <p:cNvSpPr>
                <a:spLocks noRot="1" noChangeAspect="1" noMove="1" noResize="1" noEditPoints="1" noAdjustHandles="1" noChangeArrowheads="1" noChangeShapeType="1" noTextEdit="1"/>
              </p:cNvSpPr>
              <p:nvPr/>
            </p:nvSpPr>
            <p:spPr>
              <a:xfrm>
                <a:off x="2707496" y="189136"/>
                <a:ext cx="3429000" cy="461665"/>
              </a:xfrm>
              <a:prstGeom prst="rect">
                <a:avLst/>
              </a:prstGeom>
              <a:blipFill>
                <a:blip r:embed="rId3"/>
                <a:stretch>
                  <a:fillRect b="-9211"/>
                </a:stretch>
              </a:blipFill>
            </p:spPr>
            <p:txBody>
              <a:bodyPr/>
              <a:lstStyle/>
              <a:p>
                <a:r>
                  <a:rPr lang="en-US">
                    <a:noFill/>
                  </a:rPr>
                  <a:t> </a:t>
                </a:r>
              </a:p>
            </p:txBody>
          </p:sp>
        </mc:Fallback>
      </mc:AlternateContent>
      <p:cxnSp>
        <p:nvCxnSpPr>
          <p:cNvPr id="6" name="Straight Connector 5"/>
          <p:cNvCxnSpPr/>
          <p:nvPr/>
        </p:nvCxnSpPr>
        <p:spPr>
          <a:xfrm>
            <a:off x="3027297" y="650801"/>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 name="Rectangle 6"/>
              <p:cNvSpPr/>
              <p:nvPr/>
            </p:nvSpPr>
            <p:spPr>
              <a:xfrm>
                <a:off x="5019466" y="182684"/>
                <a:ext cx="3429000" cy="461665"/>
              </a:xfrm>
              <a:prstGeom prst="rect">
                <a:avLst/>
              </a:prstGeom>
            </p:spPr>
            <p:txBody>
              <a:bodyPr>
                <a:spAutoFit/>
              </a:bodyPr>
              <a:lstStyle/>
              <a:p>
                <a:pPr lvl="0" defTabSz="685800">
                  <a:defRPr/>
                </a:pPr>
                <a:r>
                  <a:rPr lang="en-GB" sz="1200" noProof="0" dirty="0">
                    <a:cs typeface="Calibri" panose="020F0502020204030204" pitchFamily="34" charset="0"/>
                  </a:rPr>
                  <a:t>f)    </a:t>
                </a:r>
                <a14:m>
                  <m:oMath xmlns:m="http://schemas.openxmlformats.org/officeDocument/2006/math">
                    <m:r>
                      <a:rPr lang="en-GB" sz="120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=50</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m:t>
                    </m:r>
                  </m:oMath>
                </a14:m>
                <a:r>
                  <a:rPr lang="en-GB" sz="1200" noProof="0" dirty="0">
                    <a:cs typeface="Calibri" panose="020F0502020204030204" pitchFamily="34" charset="0"/>
                  </a:rPr>
                  <a:t> (2)</a:t>
                </a:r>
                <a:endParaRPr lang="en-GB" sz="1200" noProof="0" dirty="0"/>
              </a:p>
            </p:txBody>
          </p:sp>
        </mc:Choice>
        <mc:Fallback xmlns="">
          <p:sp>
            <p:nvSpPr>
              <p:cNvPr id="7" name="Rectangle 6"/>
              <p:cNvSpPr>
                <a:spLocks noRot="1" noChangeAspect="1" noMove="1" noResize="1" noEditPoints="1" noAdjustHandles="1" noChangeArrowheads="1" noChangeShapeType="1" noTextEdit="1"/>
              </p:cNvSpPr>
              <p:nvPr/>
            </p:nvSpPr>
            <p:spPr>
              <a:xfrm>
                <a:off x="5019466" y="182684"/>
                <a:ext cx="3429000" cy="461665"/>
              </a:xfrm>
              <a:prstGeom prst="rect">
                <a:avLst/>
              </a:prstGeom>
              <a:blipFill>
                <a:blip r:embed="rId4"/>
                <a:stretch>
                  <a:fillRect t="-1316" b="-9211"/>
                </a:stretch>
              </a:blipFill>
            </p:spPr>
            <p:txBody>
              <a:bodyPr/>
              <a:lstStyle/>
              <a:p>
                <a:r>
                  <a:rPr lang="en-US">
                    <a:noFill/>
                  </a:rPr>
                  <a:t> </a:t>
                </a:r>
              </a:p>
            </p:txBody>
          </p:sp>
        </mc:Fallback>
      </mc:AlternateContent>
      <p:cxnSp>
        <p:nvCxnSpPr>
          <p:cNvPr id="8" name="Straight Connector 7"/>
          <p:cNvCxnSpPr/>
          <p:nvPr/>
        </p:nvCxnSpPr>
        <p:spPr>
          <a:xfrm>
            <a:off x="5232388" y="625740"/>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sp>
        <p:nvSpPr>
          <p:cNvPr id="9" name="Rectangle 8"/>
          <p:cNvSpPr/>
          <p:nvPr/>
        </p:nvSpPr>
        <p:spPr>
          <a:xfrm>
            <a:off x="4661809" y="133023"/>
            <a:ext cx="2072157" cy="4542452"/>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Rectangle 9"/>
          <p:cNvSpPr/>
          <p:nvPr/>
        </p:nvSpPr>
        <p:spPr>
          <a:xfrm>
            <a:off x="2395493" y="140384"/>
            <a:ext cx="2072157" cy="4542452"/>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Rectangle 10"/>
          <p:cNvSpPr/>
          <p:nvPr/>
        </p:nvSpPr>
        <p:spPr>
          <a:xfrm>
            <a:off x="130650" y="133023"/>
            <a:ext cx="2072157" cy="4542452"/>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18" name="Rectangle 17"/>
              <p:cNvSpPr/>
              <p:nvPr/>
            </p:nvSpPr>
            <p:spPr>
              <a:xfrm>
                <a:off x="322665" y="4924303"/>
                <a:ext cx="3429000" cy="461665"/>
              </a:xfrm>
              <a:prstGeom prst="rect">
                <a:avLst/>
              </a:prstGeom>
            </p:spPr>
            <p:txBody>
              <a:bodyPr>
                <a:spAutoFit/>
              </a:bodyPr>
              <a:lstStyle/>
              <a:p>
                <a:pPr lvl="0" defTabSz="685800">
                  <a:defRPr/>
                </a:pPr>
                <a:r>
                  <a:rPr lang="en-GB" sz="1200" noProof="0" dirty="0">
                    <a:cs typeface="Calibri" panose="020F0502020204030204" pitchFamily="34" charset="0"/>
                  </a:rPr>
                  <a:t>g)    </a:t>
                </a:r>
                <a14:m>
                  <m:oMath xmlns:m="http://schemas.openxmlformats.org/officeDocument/2006/math">
                    <m:r>
                      <a:rPr lang="en-GB" sz="1200" i="1"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=23</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b="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m:t>
                    </m:r>
                  </m:oMath>
                </a14:m>
                <a:r>
                  <a:rPr lang="en-GB" sz="1200" noProof="0" dirty="0">
                    <a:cs typeface="Calibri" panose="020F0502020204030204" pitchFamily="34" charset="0"/>
                  </a:rPr>
                  <a:t> (2)</a:t>
                </a:r>
                <a:endParaRPr lang="en-GB" sz="1200" noProof="0" dirty="0"/>
              </a:p>
            </p:txBody>
          </p:sp>
        </mc:Choice>
        <mc:Fallback xmlns="">
          <p:sp>
            <p:nvSpPr>
              <p:cNvPr id="18" name="Rectangle 17"/>
              <p:cNvSpPr>
                <a:spLocks noRot="1" noChangeAspect="1" noMove="1" noResize="1" noEditPoints="1" noAdjustHandles="1" noChangeArrowheads="1" noChangeShapeType="1" noTextEdit="1"/>
              </p:cNvSpPr>
              <p:nvPr/>
            </p:nvSpPr>
            <p:spPr>
              <a:xfrm>
                <a:off x="322665" y="4924303"/>
                <a:ext cx="3429000" cy="461665"/>
              </a:xfrm>
              <a:prstGeom prst="rect">
                <a:avLst/>
              </a:prstGeom>
              <a:blipFill>
                <a:blip r:embed="rId5"/>
                <a:stretch>
                  <a:fillRect l="-178" t="-1316" b="-9211"/>
                </a:stretch>
              </a:blipFill>
            </p:spPr>
            <p:txBody>
              <a:bodyPr/>
              <a:lstStyle/>
              <a:p>
                <a:r>
                  <a:rPr lang="en-US">
                    <a:noFill/>
                  </a:rPr>
                  <a:t> </a:t>
                </a:r>
              </a:p>
            </p:txBody>
          </p:sp>
        </mc:Fallback>
      </mc:AlternateContent>
      <p:cxnSp>
        <p:nvCxnSpPr>
          <p:cNvPr id="19" name="Straight Connector 18"/>
          <p:cNvCxnSpPr/>
          <p:nvPr/>
        </p:nvCxnSpPr>
        <p:spPr>
          <a:xfrm>
            <a:off x="668901" y="5385968"/>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Rectangle 19"/>
              <p:cNvSpPr/>
              <p:nvPr/>
            </p:nvSpPr>
            <p:spPr>
              <a:xfrm>
                <a:off x="2707496" y="4943245"/>
                <a:ext cx="3429000" cy="461665"/>
              </a:xfrm>
              <a:prstGeom prst="rect">
                <a:avLst/>
              </a:prstGeom>
            </p:spPr>
            <p:txBody>
              <a:bodyPr>
                <a:spAutoFit/>
              </a:bodyPr>
              <a:lstStyle/>
              <a:p>
                <a:pPr lvl="0" defTabSz="685800">
                  <a:defRPr/>
                </a:pPr>
                <a:r>
                  <a:rPr lang="en-GB" sz="1200" noProof="0" dirty="0">
                    <a:cs typeface="Calibri" panose="020F0502020204030204" pitchFamily="34" charset="0"/>
                  </a:rPr>
                  <a:t>h)    </a:t>
                </a:r>
                <a14:m>
                  <m:oMath xmlns:m="http://schemas.openxmlformats.org/officeDocument/2006/math">
                    <m:r>
                      <a:rPr lang="en-GB" sz="1200" i="1"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=0</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 </m:t>
                    </m:r>
                    <m:r>
                      <a:rPr lang="en-GB" sz="1200" b="0" i="0"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m:t>
                    </m:r>
                    <m:r>
                      <a:rPr lang="en-GB" sz="1200" b="0" i="0" noProof="0" smtClean="0">
                        <a:latin typeface="Cambria Math" panose="02040503050406030204" pitchFamily="18" charset="0"/>
                        <a:cs typeface="Calibri" panose="020F0502020204030204" pitchFamily="34" charset="0"/>
                      </a:rPr>
                      <m:t>24</m:t>
                    </m:r>
                  </m:oMath>
                </a14:m>
                <a:r>
                  <a:rPr lang="en-GB" sz="1200" noProof="0" dirty="0">
                    <a:cs typeface="Calibri" panose="020F0502020204030204" pitchFamily="34" charset="0"/>
                  </a:rPr>
                  <a:t> (2)</a:t>
                </a:r>
                <a:endParaRPr lang="en-GB" sz="1200" noProof="0" dirty="0"/>
              </a:p>
            </p:txBody>
          </p:sp>
        </mc:Choice>
        <mc:Fallback xmlns="">
          <p:sp>
            <p:nvSpPr>
              <p:cNvPr id="20" name="Rectangle 19"/>
              <p:cNvSpPr>
                <a:spLocks noRot="1" noChangeAspect="1" noMove="1" noResize="1" noEditPoints="1" noAdjustHandles="1" noChangeArrowheads="1" noChangeShapeType="1" noTextEdit="1"/>
              </p:cNvSpPr>
              <p:nvPr/>
            </p:nvSpPr>
            <p:spPr>
              <a:xfrm>
                <a:off x="2707496" y="4943245"/>
                <a:ext cx="3429000" cy="461665"/>
              </a:xfrm>
              <a:prstGeom prst="rect">
                <a:avLst/>
              </a:prstGeom>
              <a:blipFill>
                <a:blip r:embed="rId6"/>
                <a:stretch>
                  <a:fillRect t="-1316" b="-9211"/>
                </a:stretch>
              </a:blipFill>
            </p:spPr>
            <p:txBody>
              <a:bodyPr/>
              <a:lstStyle/>
              <a:p>
                <a:r>
                  <a:rPr lang="en-US">
                    <a:noFill/>
                  </a:rPr>
                  <a:t> </a:t>
                </a:r>
              </a:p>
            </p:txBody>
          </p:sp>
        </mc:Fallback>
      </mc:AlternateContent>
      <p:cxnSp>
        <p:nvCxnSpPr>
          <p:cNvPr id="21" name="Straight Connector 20"/>
          <p:cNvCxnSpPr/>
          <p:nvPr/>
        </p:nvCxnSpPr>
        <p:spPr>
          <a:xfrm>
            <a:off x="3027297" y="5404910"/>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Rectangle 21"/>
              <p:cNvSpPr/>
              <p:nvPr/>
            </p:nvSpPr>
            <p:spPr>
              <a:xfrm>
                <a:off x="5019466" y="4936793"/>
                <a:ext cx="3429000" cy="461665"/>
              </a:xfrm>
              <a:prstGeom prst="rect">
                <a:avLst/>
              </a:prstGeom>
            </p:spPr>
            <p:txBody>
              <a:bodyPr>
                <a:spAutoFit/>
              </a:bodyPr>
              <a:lstStyle/>
              <a:p>
                <a:pPr lvl="0" defTabSz="685800">
                  <a:defRPr/>
                </a:pPr>
                <a:r>
                  <a:rPr lang="en-GB" sz="1200" noProof="0" dirty="0" err="1">
                    <a:cs typeface="Calibri" panose="020F0502020204030204" pitchFamily="34" charset="0"/>
                  </a:rPr>
                  <a:t>i</a:t>
                </a:r>
                <a:r>
                  <a:rPr lang="en-GB" sz="1200" noProof="0" dirty="0">
                    <a:cs typeface="Calibri" panose="020F0502020204030204" pitchFamily="34" charset="0"/>
                  </a:rPr>
                  <a:t>)    </a:t>
                </a:r>
                <a14:m>
                  <m:oMath xmlns:m="http://schemas.openxmlformats.org/officeDocument/2006/math">
                    <m:r>
                      <a:rPr lang="en-GB" sz="120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=44</m:t>
                    </m:r>
                  </m:oMath>
                </a14:m>
                <a:r>
                  <a:rPr lang="en-GB" sz="1200" noProof="0" dirty="0">
                    <a:cs typeface="Calibri" panose="020F0502020204030204" pitchFamily="34" charset="0"/>
                  </a:rPr>
                  <a:t>    (1)</a:t>
                </a:r>
              </a:p>
              <a:p>
                <a:pPr lvl="0"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 </m:t>
                    </m:r>
                    <m:r>
                      <a:rPr lang="en-GB" sz="1200" b="0" i="0"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=−24</m:t>
                    </m:r>
                  </m:oMath>
                </a14:m>
                <a:r>
                  <a:rPr lang="en-GB" sz="1200" noProof="0" dirty="0">
                    <a:cs typeface="Calibri" panose="020F0502020204030204" pitchFamily="34" charset="0"/>
                  </a:rPr>
                  <a:t> (2)</a:t>
                </a:r>
                <a:endParaRPr lang="en-GB" sz="1200" noProof="0" dirty="0"/>
              </a:p>
            </p:txBody>
          </p:sp>
        </mc:Choice>
        <mc:Fallback xmlns="">
          <p:sp>
            <p:nvSpPr>
              <p:cNvPr id="22" name="Rectangle 21"/>
              <p:cNvSpPr>
                <a:spLocks noRot="1" noChangeAspect="1" noMove="1" noResize="1" noEditPoints="1" noAdjustHandles="1" noChangeArrowheads="1" noChangeShapeType="1" noTextEdit="1"/>
              </p:cNvSpPr>
              <p:nvPr/>
            </p:nvSpPr>
            <p:spPr>
              <a:xfrm>
                <a:off x="5019466" y="4936793"/>
                <a:ext cx="3429000" cy="461665"/>
              </a:xfrm>
              <a:prstGeom prst="rect">
                <a:avLst/>
              </a:prstGeom>
              <a:blipFill>
                <a:blip r:embed="rId7"/>
                <a:stretch>
                  <a:fillRect t="-1316" b="-9211"/>
                </a:stretch>
              </a:blipFill>
            </p:spPr>
            <p:txBody>
              <a:bodyPr/>
              <a:lstStyle/>
              <a:p>
                <a:r>
                  <a:rPr lang="en-US">
                    <a:noFill/>
                  </a:rPr>
                  <a:t> </a:t>
                </a:r>
              </a:p>
            </p:txBody>
          </p:sp>
        </mc:Fallback>
      </mc:AlternateContent>
      <p:cxnSp>
        <p:nvCxnSpPr>
          <p:cNvPr id="23" name="Straight Connector 22"/>
          <p:cNvCxnSpPr/>
          <p:nvPr/>
        </p:nvCxnSpPr>
        <p:spPr>
          <a:xfrm>
            <a:off x="5232388" y="5379849"/>
            <a:ext cx="1072707" cy="0"/>
          </a:xfrm>
          <a:prstGeom prst="line">
            <a:avLst/>
          </a:prstGeom>
          <a:ln w="12700">
            <a:solidFill>
              <a:srgbClr val="000000"/>
            </a:solidFill>
          </a:ln>
        </p:spPr>
        <p:style>
          <a:lnRef idx="1">
            <a:schemeClr val="dk1"/>
          </a:lnRef>
          <a:fillRef idx="0">
            <a:schemeClr val="dk1"/>
          </a:fillRef>
          <a:effectRef idx="0">
            <a:schemeClr val="dk1"/>
          </a:effectRef>
          <a:fontRef idx="minor">
            <a:schemeClr val="tx1"/>
          </a:fontRef>
        </p:style>
      </p:cxnSp>
      <p:sp>
        <p:nvSpPr>
          <p:cNvPr id="24" name="Rectangle 23"/>
          <p:cNvSpPr/>
          <p:nvPr/>
        </p:nvSpPr>
        <p:spPr>
          <a:xfrm>
            <a:off x="4661809" y="4887132"/>
            <a:ext cx="2072157" cy="4678998"/>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Rectangle 24"/>
          <p:cNvSpPr/>
          <p:nvPr/>
        </p:nvSpPr>
        <p:spPr>
          <a:xfrm>
            <a:off x="2395493" y="4894493"/>
            <a:ext cx="2072157" cy="4678998"/>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Rectangle 25"/>
          <p:cNvSpPr/>
          <p:nvPr/>
        </p:nvSpPr>
        <p:spPr>
          <a:xfrm>
            <a:off x="130650" y="4887132"/>
            <a:ext cx="2072157" cy="4678998"/>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27" name="Group 26"/>
          <p:cNvGrpSpPr/>
          <p:nvPr/>
        </p:nvGrpSpPr>
        <p:grpSpPr>
          <a:xfrm>
            <a:off x="818075" y="8856371"/>
            <a:ext cx="1312183" cy="646331"/>
            <a:chOff x="834771" y="6575155"/>
            <a:chExt cx="1312183" cy="646331"/>
          </a:xfrm>
        </p:grpSpPr>
        <mc:AlternateContent xmlns:mc="http://schemas.openxmlformats.org/markup-compatibility/2006" xmlns:a14="http://schemas.microsoft.com/office/drawing/2010/main">
          <mc:Choice Requires="a14">
            <p:sp>
              <p:nvSpPr>
                <p:cNvPr id="28" name="TextBox 27"/>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28" name="TextBox 27"/>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8"/>
                  <a:stretch>
                    <a:fillRect/>
                  </a:stretch>
                </a:blipFill>
              </p:spPr>
              <p:txBody>
                <a:bodyPr/>
                <a:lstStyle/>
                <a:p>
                  <a:r>
                    <a:rPr lang="en-US">
                      <a:noFill/>
                    </a:rPr>
                    <a:t> </a:t>
                  </a:r>
                </a:p>
              </p:txBody>
            </p:sp>
          </mc:Fallback>
        </mc:AlternateContent>
        <p:sp>
          <p:nvSpPr>
            <p:cNvPr id="29" name="Rectangle 28"/>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Rectangle 29"/>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31" name="Group 30"/>
          <p:cNvGrpSpPr/>
          <p:nvPr/>
        </p:nvGrpSpPr>
        <p:grpSpPr>
          <a:xfrm>
            <a:off x="818075" y="3939902"/>
            <a:ext cx="1312183" cy="646331"/>
            <a:chOff x="834771" y="6575155"/>
            <a:chExt cx="1312183" cy="646331"/>
          </a:xfrm>
        </p:grpSpPr>
        <mc:AlternateContent xmlns:mc="http://schemas.openxmlformats.org/markup-compatibility/2006" xmlns:a14="http://schemas.microsoft.com/office/drawing/2010/main">
          <mc:Choice Requires="a14">
            <p:sp>
              <p:nvSpPr>
                <p:cNvPr id="32" name="TextBox 31"/>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9"/>
                  <a:stretch>
                    <a:fillRect/>
                  </a:stretch>
                </a:blipFill>
              </p:spPr>
              <p:txBody>
                <a:bodyPr/>
                <a:lstStyle/>
                <a:p>
                  <a:r>
                    <a:rPr lang="en-US">
                      <a:noFill/>
                    </a:rPr>
                    <a:t> </a:t>
                  </a:r>
                </a:p>
              </p:txBody>
            </p:sp>
          </mc:Fallback>
        </mc:AlternateContent>
        <p:sp>
          <p:nvSpPr>
            <p:cNvPr id="33" name="Rectangle 32"/>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Rectangle 33"/>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43" name="Group 42"/>
          <p:cNvGrpSpPr/>
          <p:nvPr/>
        </p:nvGrpSpPr>
        <p:grpSpPr>
          <a:xfrm>
            <a:off x="3075071" y="8823342"/>
            <a:ext cx="1312183" cy="646331"/>
            <a:chOff x="834771" y="6575155"/>
            <a:chExt cx="1312183" cy="646331"/>
          </a:xfrm>
        </p:grpSpPr>
        <mc:AlternateContent xmlns:mc="http://schemas.openxmlformats.org/markup-compatibility/2006" xmlns:a14="http://schemas.microsoft.com/office/drawing/2010/main">
          <mc:Choice Requires="a14">
            <p:sp>
              <p:nvSpPr>
                <p:cNvPr id="44" name="TextBox 43"/>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44" name="TextBox 43"/>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9"/>
                  <a:stretch>
                    <a:fillRect/>
                  </a:stretch>
                </a:blipFill>
              </p:spPr>
              <p:txBody>
                <a:bodyPr/>
                <a:lstStyle/>
                <a:p>
                  <a:r>
                    <a:rPr lang="en-US">
                      <a:noFill/>
                    </a:rPr>
                    <a:t> </a:t>
                  </a:r>
                </a:p>
              </p:txBody>
            </p:sp>
          </mc:Fallback>
        </mc:AlternateContent>
        <p:sp>
          <p:nvSpPr>
            <p:cNvPr id="45" name="Rectangle 44"/>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6" name="Rectangle 45"/>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47" name="Group 46"/>
          <p:cNvGrpSpPr/>
          <p:nvPr/>
        </p:nvGrpSpPr>
        <p:grpSpPr>
          <a:xfrm>
            <a:off x="3075071" y="3906873"/>
            <a:ext cx="1312183" cy="646331"/>
            <a:chOff x="834771" y="6575155"/>
            <a:chExt cx="1312183" cy="646331"/>
          </a:xfrm>
        </p:grpSpPr>
        <mc:AlternateContent xmlns:mc="http://schemas.openxmlformats.org/markup-compatibility/2006" xmlns:a14="http://schemas.microsoft.com/office/drawing/2010/main">
          <mc:Choice Requires="a14">
            <p:sp>
              <p:nvSpPr>
                <p:cNvPr id="48" name="TextBox 47"/>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48" name="TextBox 47"/>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8"/>
                  <a:stretch>
                    <a:fillRect/>
                  </a:stretch>
                </a:blipFill>
              </p:spPr>
              <p:txBody>
                <a:bodyPr/>
                <a:lstStyle/>
                <a:p>
                  <a:r>
                    <a:rPr lang="en-US">
                      <a:noFill/>
                    </a:rPr>
                    <a:t> </a:t>
                  </a:r>
                </a:p>
              </p:txBody>
            </p:sp>
          </mc:Fallback>
        </mc:AlternateContent>
        <p:sp>
          <p:nvSpPr>
            <p:cNvPr id="49" name="Rectangle 48"/>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0" name="Rectangle 49"/>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51" name="Group 50"/>
          <p:cNvGrpSpPr/>
          <p:nvPr/>
        </p:nvGrpSpPr>
        <p:grpSpPr>
          <a:xfrm>
            <a:off x="5330591" y="8863982"/>
            <a:ext cx="1312183" cy="646331"/>
            <a:chOff x="834771" y="6575155"/>
            <a:chExt cx="1312183" cy="646331"/>
          </a:xfrm>
        </p:grpSpPr>
        <mc:AlternateContent xmlns:mc="http://schemas.openxmlformats.org/markup-compatibility/2006" xmlns:a14="http://schemas.microsoft.com/office/drawing/2010/main">
          <mc:Choice Requires="a14">
            <p:sp>
              <p:nvSpPr>
                <p:cNvPr id="52" name="TextBox 51"/>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52" name="TextBox 51"/>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9"/>
                  <a:stretch>
                    <a:fillRect/>
                  </a:stretch>
                </a:blipFill>
              </p:spPr>
              <p:txBody>
                <a:bodyPr/>
                <a:lstStyle/>
                <a:p>
                  <a:r>
                    <a:rPr lang="en-US">
                      <a:noFill/>
                    </a:rPr>
                    <a:t> </a:t>
                  </a:r>
                </a:p>
              </p:txBody>
            </p:sp>
          </mc:Fallback>
        </mc:AlternateContent>
        <p:sp>
          <p:nvSpPr>
            <p:cNvPr id="53" name="Rectangle 52"/>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4" name="Rectangle 53"/>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55" name="Group 54"/>
          <p:cNvGrpSpPr/>
          <p:nvPr/>
        </p:nvGrpSpPr>
        <p:grpSpPr>
          <a:xfrm>
            <a:off x="5330591" y="3947513"/>
            <a:ext cx="1312183" cy="646331"/>
            <a:chOff x="834771" y="6575155"/>
            <a:chExt cx="1312183" cy="646331"/>
          </a:xfrm>
        </p:grpSpPr>
        <mc:AlternateContent xmlns:mc="http://schemas.openxmlformats.org/markup-compatibility/2006" xmlns:a14="http://schemas.microsoft.com/office/drawing/2010/main">
          <mc:Choice Requires="a14">
            <p:sp>
              <p:nvSpPr>
                <p:cNvPr id="56" name="TextBox 55"/>
                <p:cNvSpPr txBox="1"/>
                <p:nvPr/>
              </p:nvSpPr>
              <p:spPr>
                <a:xfrm>
                  <a:off x="834771" y="6575155"/>
                  <a:ext cx="487056"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m:oMathPara>
                  </a14:m>
                  <a:endParaRPr lang="en-GB" sz="1200" b="0" noProof="0" dirty="0"/>
                </a:p>
                <a:p>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m:oMathPara>
                  </a14:m>
                  <a:endParaRPr lang="en-GB" sz="1200" noProof="0" dirty="0"/>
                </a:p>
              </p:txBody>
            </p:sp>
          </mc:Choice>
          <mc:Fallback xmlns="">
            <p:sp>
              <p:nvSpPr>
                <p:cNvPr id="56" name="TextBox 55"/>
                <p:cNvSpPr txBox="1">
                  <a:spLocks noRot="1" noChangeAspect="1" noMove="1" noResize="1" noEditPoints="1" noAdjustHandles="1" noChangeArrowheads="1" noChangeShapeType="1" noTextEdit="1"/>
                </p:cNvSpPr>
                <p:nvPr/>
              </p:nvSpPr>
              <p:spPr>
                <a:xfrm>
                  <a:off x="834771" y="6575155"/>
                  <a:ext cx="487056" cy="646331"/>
                </a:xfrm>
                <a:prstGeom prst="rect">
                  <a:avLst/>
                </a:prstGeom>
                <a:blipFill>
                  <a:blip r:embed="rId8"/>
                  <a:stretch>
                    <a:fillRect/>
                  </a:stretch>
                </a:blipFill>
              </p:spPr>
              <p:txBody>
                <a:bodyPr/>
                <a:lstStyle/>
                <a:p>
                  <a:r>
                    <a:rPr lang="en-US">
                      <a:noFill/>
                    </a:rPr>
                    <a:t> </a:t>
                  </a:r>
                </a:p>
              </p:txBody>
            </p:sp>
          </mc:Fallback>
        </mc:AlternateContent>
        <p:sp>
          <p:nvSpPr>
            <p:cNvPr id="57" name="Rectangle 56"/>
            <p:cNvSpPr/>
            <p:nvPr/>
          </p:nvSpPr>
          <p:spPr>
            <a:xfrm>
              <a:off x="1285620" y="6620437"/>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8" name="Rectangle 57"/>
            <p:cNvSpPr/>
            <p:nvPr/>
          </p:nvSpPr>
          <p:spPr>
            <a:xfrm>
              <a:off x="1285620" y="6923162"/>
              <a:ext cx="861334" cy="265295"/>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Tree>
    <p:extLst>
      <p:ext uri="{BB962C8B-B14F-4D97-AF65-F5344CB8AC3E}">
        <p14:creationId xmlns:p14="http://schemas.microsoft.com/office/powerpoint/2010/main" val="28891966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5314950" y="9554540"/>
            <a:ext cx="1543050" cy="527403"/>
          </a:xfrm>
        </p:spPr>
        <p:txBody>
          <a:bodyPr/>
          <a:lstStyle/>
          <a:p>
            <a:fld id="{19F1D9CC-7119-45EC-A96C-D8C0660F3AAB}" type="slidenum">
              <a:rPr lang="en-GB" noProof="0" smtClean="0"/>
              <a:t>38</a:t>
            </a:fld>
            <a:endParaRPr lang="en-GB" noProof="0" dirty="0"/>
          </a:p>
        </p:txBody>
      </p:sp>
      <p:pic>
        <p:nvPicPr>
          <p:cNvPr id="7" name="Picture 6"/>
          <p:cNvPicPr>
            <a:picLocks noChangeAspect="1"/>
          </p:cNvPicPr>
          <p:nvPr/>
        </p:nvPicPr>
        <p:blipFill rotWithShape="1">
          <a:blip r:embed="rId2"/>
          <a:srcRect b="1217"/>
          <a:stretch/>
        </p:blipFill>
        <p:spPr>
          <a:xfrm>
            <a:off x="901389" y="510342"/>
            <a:ext cx="5485124" cy="4061658"/>
          </a:xfrm>
          <a:prstGeom prst="rect">
            <a:avLst/>
          </a:prstGeom>
        </p:spPr>
      </p:pic>
      <p:sp>
        <p:nvSpPr>
          <p:cNvPr id="8" name="TextBox 7">
            <a:extLst>
              <a:ext uri="{FF2B5EF4-FFF2-40B4-BE49-F238E27FC236}">
                <a16:creationId xmlns:a16="http://schemas.microsoft.com/office/drawing/2014/main" id="{04EF3093-B674-E649-837C-B0B24CC3DABA}"/>
              </a:ext>
            </a:extLst>
          </p:cNvPr>
          <p:cNvSpPr txBox="1"/>
          <p:nvPr/>
        </p:nvSpPr>
        <p:spPr>
          <a:xfrm>
            <a:off x="1780220" y="18053"/>
            <a:ext cx="4681293" cy="461665"/>
          </a:xfrm>
          <a:prstGeom prst="rect">
            <a:avLst/>
          </a:prstGeom>
          <a:noFill/>
        </p:spPr>
        <p:txBody>
          <a:bodyPr wrap="square" rtlCol="0">
            <a:spAutoFit/>
          </a:bodyPr>
          <a:lstStyle/>
          <a:p>
            <a:r>
              <a:rPr lang="en-GB" sz="1200" b="1" noProof="0" dirty="0"/>
              <a:t>8. </a:t>
            </a:r>
            <a:r>
              <a:rPr lang="en-GB" sz="1200" noProof="0" dirty="0"/>
              <a:t>To solve these equations should we add or subtract?</a:t>
            </a:r>
          </a:p>
          <a:p>
            <a:r>
              <a:rPr lang="en-GB" sz="1200" noProof="0" dirty="0"/>
              <a:t>                                   Circle either the + or -</a:t>
            </a:r>
          </a:p>
        </p:txBody>
      </p:sp>
      <p:sp>
        <p:nvSpPr>
          <p:cNvPr id="10" name="TextBox 9"/>
          <p:cNvSpPr txBox="1"/>
          <p:nvPr/>
        </p:nvSpPr>
        <p:spPr>
          <a:xfrm>
            <a:off x="732913" y="562807"/>
            <a:ext cx="336952" cy="276999"/>
          </a:xfrm>
          <a:prstGeom prst="rect">
            <a:avLst/>
          </a:prstGeom>
          <a:noFill/>
        </p:spPr>
        <p:txBody>
          <a:bodyPr wrap="none" rtlCol="0">
            <a:spAutoFit/>
          </a:bodyPr>
          <a:lstStyle/>
          <a:p>
            <a:r>
              <a:rPr lang="en-GB" sz="1200" noProof="0" dirty="0"/>
              <a:t>1. </a:t>
            </a:r>
          </a:p>
        </p:txBody>
      </p:sp>
      <p:sp>
        <p:nvSpPr>
          <p:cNvPr id="11" name="TextBox 10"/>
          <p:cNvSpPr txBox="1"/>
          <p:nvPr/>
        </p:nvSpPr>
        <p:spPr>
          <a:xfrm>
            <a:off x="732913" y="1240987"/>
            <a:ext cx="336952" cy="276999"/>
          </a:xfrm>
          <a:prstGeom prst="rect">
            <a:avLst/>
          </a:prstGeom>
          <a:noFill/>
        </p:spPr>
        <p:txBody>
          <a:bodyPr wrap="none" rtlCol="0">
            <a:spAutoFit/>
          </a:bodyPr>
          <a:lstStyle/>
          <a:p>
            <a:r>
              <a:rPr lang="en-GB" sz="1200" noProof="0" dirty="0"/>
              <a:t>2. </a:t>
            </a:r>
          </a:p>
        </p:txBody>
      </p:sp>
      <p:sp>
        <p:nvSpPr>
          <p:cNvPr id="12" name="TextBox 11"/>
          <p:cNvSpPr txBox="1"/>
          <p:nvPr/>
        </p:nvSpPr>
        <p:spPr>
          <a:xfrm>
            <a:off x="732913" y="1984879"/>
            <a:ext cx="336952" cy="276999"/>
          </a:xfrm>
          <a:prstGeom prst="rect">
            <a:avLst/>
          </a:prstGeom>
          <a:noFill/>
        </p:spPr>
        <p:txBody>
          <a:bodyPr wrap="none" rtlCol="0">
            <a:spAutoFit/>
          </a:bodyPr>
          <a:lstStyle/>
          <a:p>
            <a:r>
              <a:rPr lang="en-GB" sz="1200" noProof="0" dirty="0"/>
              <a:t>3. </a:t>
            </a:r>
          </a:p>
        </p:txBody>
      </p:sp>
      <p:sp>
        <p:nvSpPr>
          <p:cNvPr id="13" name="TextBox 12"/>
          <p:cNvSpPr txBox="1"/>
          <p:nvPr/>
        </p:nvSpPr>
        <p:spPr>
          <a:xfrm>
            <a:off x="732913" y="2714182"/>
            <a:ext cx="336952" cy="276999"/>
          </a:xfrm>
          <a:prstGeom prst="rect">
            <a:avLst/>
          </a:prstGeom>
          <a:noFill/>
        </p:spPr>
        <p:txBody>
          <a:bodyPr wrap="none" rtlCol="0">
            <a:spAutoFit/>
          </a:bodyPr>
          <a:lstStyle/>
          <a:p>
            <a:r>
              <a:rPr lang="en-GB" sz="1200" noProof="0" dirty="0"/>
              <a:t>4. </a:t>
            </a:r>
          </a:p>
        </p:txBody>
      </p:sp>
      <p:sp>
        <p:nvSpPr>
          <p:cNvPr id="14" name="TextBox 13"/>
          <p:cNvSpPr txBox="1"/>
          <p:nvPr/>
        </p:nvSpPr>
        <p:spPr>
          <a:xfrm>
            <a:off x="732913" y="3392362"/>
            <a:ext cx="336952" cy="276999"/>
          </a:xfrm>
          <a:prstGeom prst="rect">
            <a:avLst/>
          </a:prstGeom>
          <a:noFill/>
        </p:spPr>
        <p:txBody>
          <a:bodyPr wrap="none" rtlCol="0">
            <a:spAutoFit/>
          </a:bodyPr>
          <a:lstStyle/>
          <a:p>
            <a:r>
              <a:rPr lang="en-GB" sz="1200" noProof="0" dirty="0"/>
              <a:t>5. </a:t>
            </a:r>
          </a:p>
        </p:txBody>
      </p:sp>
      <p:sp>
        <p:nvSpPr>
          <p:cNvPr id="15" name="TextBox 14"/>
          <p:cNvSpPr txBox="1"/>
          <p:nvPr/>
        </p:nvSpPr>
        <p:spPr>
          <a:xfrm>
            <a:off x="732913" y="4053572"/>
            <a:ext cx="336952" cy="276999"/>
          </a:xfrm>
          <a:prstGeom prst="rect">
            <a:avLst/>
          </a:prstGeom>
          <a:noFill/>
        </p:spPr>
        <p:txBody>
          <a:bodyPr wrap="none" rtlCol="0">
            <a:spAutoFit/>
          </a:bodyPr>
          <a:lstStyle/>
          <a:p>
            <a:r>
              <a:rPr lang="en-GB" sz="1200" noProof="0" dirty="0"/>
              <a:t>6. </a:t>
            </a:r>
          </a:p>
        </p:txBody>
      </p:sp>
      <p:sp>
        <p:nvSpPr>
          <p:cNvPr id="16" name="TextBox 15"/>
          <p:cNvSpPr txBox="1"/>
          <p:nvPr/>
        </p:nvSpPr>
        <p:spPr>
          <a:xfrm>
            <a:off x="3498973" y="600907"/>
            <a:ext cx="336952" cy="276999"/>
          </a:xfrm>
          <a:prstGeom prst="rect">
            <a:avLst/>
          </a:prstGeom>
          <a:noFill/>
        </p:spPr>
        <p:txBody>
          <a:bodyPr wrap="none" rtlCol="0">
            <a:spAutoFit/>
          </a:bodyPr>
          <a:lstStyle/>
          <a:p>
            <a:r>
              <a:rPr lang="en-GB" sz="1200" noProof="0" dirty="0"/>
              <a:t>7. </a:t>
            </a:r>
          </a:p>
        </p:txBody>
      </p:sp>
      <p:sp>
        <p:nvSpPr>
          <p:cNvPr id="17" name="TextBox 16"/>
          <p:cNvSpPr txBox="1"/>
          <p:nvPr/>
        </p:nvSpPr>
        <p:spPr>
          <a:xfrm>
            <a:off x="3498973" y="1279087"/>
            <a:ext cx="336952" cy="276999"/>
          </a:xfrm>
          <a:prstGeom prst="rect">
            <a:avLst/>
          </a:prstGeom>
          <a:noFill/>
        </p:spPr>
        <p:txBody>
          <a:bodyPr wrap="none" rtlCol="0">
            <a:spAutoFit/>
          </a:bodyPr>
          <a:lstStyle/>
          <a:p>
            <a:r>
              <a:rPr lang="en-GB" sz="1200" noProof="0" dirty="0"/>
              <a:t>8. </a:t>
            </a:r>
          </a:p>
        </p:txBody>
      </p:sp>
      <p:sp>
        <p:nvSpPr>
          <p:cNvPr id="18" name="TextBox 17"/>
          <p:cNvSpPr txBox="1"/>
          <p:nvPr/>
        </p:nvSpPr>
        <p:spPr>
          <a:xfrm>
            <a:off x="3498973" y="2022979"/>
            <a:ext cx="336952" cy="276999"/>
          </a:xfrm>
          <a:prstGeom prst="rect">
            <a:avLst/>
          </a:prstGeom>
          <a:noFill/>
        </p:spPr>
        <p:txBody>
          <a:bodyPr wrap="none" rtlCol="0">
            <a:spAutoFit/>
          </a:bodyPr>
          <a:lstStyle/>
          <a:p>
            <a:r>
              <a:rPr lang="en-GB" sz="1200" noProof="0" dirty="0"/>
              <a:t>9. </a:t>
            </a:r>
          </a:p>
        </p:txBody>
      </p:sp>
      <p:sp>
        <p:nvSpPr>
          <p:cNvPr id="19" name="TextBox 18"/>
          <p:cNvSpPr txBox="1"/>
          <p:nvPr/>
        </p:nvSpPr>
        <p:spPr>
          <a:xfrm>
            <a:off x="3498973" y="2752282"/>
            <a:ext cx="415498" cy="276999"/>
          </a:xfrm>
          <a:prstGeom prst="rect">
            <a:avLst/>
          </a:prstGeom>
          <a:noFill/>
        </p:spPr>
        <p:txBody>
          <a:bodyPr wrap="none" rtlCol="0">
            <a:spAutoFit/>
          </a:bodyPr>
          <a:lstStyle/>
          <a:p>
            <a:r>
              <a:rPr lang="en-GB" sz="1200" noProof="0" dirty="0"/>
              <a:t>10. </a:t>
            </a:r>
          </a:p>
        </p:txBody>
      </p:sp>
      <p:sp>
        <p:nvSpPr>
          <p:cNvPr id="20" name="TextBox 19"/>
          <p:cNvSpPr txBox="1"/>
          <p:nvPr/>
        </p:nvSpPr>
        <p:spPr>
          <a:xfrm>
            <a:off x="3498973" y="3430462"/>
            <a:ext cx="415498" cy="276999"/>
          </a:xfrm>
          <a:prstGeom prst="rect">
            <a:avLst/>
          </a:prstGeom>
          <a:noFill/>
        </p:spPr>
        <p:txBody>
          <a:bodyPr wrap="none" rtlCol="0">
            <a:spAutoFit/>
          </a:bodyPr>
          <a:lstStyle/>
          <a:p>
            <a:r>
              <a:rPr lang="en-GB" sz="1200" noProof="0" dirty="0"/>
              <a:t>11. </a:t>
            </a:r>
          </a:p>
        </p:txBody>
      </p:sp>
      <p:sp>
        <p:nvSpPr>
          <p:cNvPr id="21" name="TextBox 20"/>
          <p:cNvSpPr txBox="1"/>
          <p:nvPr/>
        </p:nvSpPr>
        <p:spPr>
          <a:xfrm>
            <a:off x="3498973" y="4091672"/>
            <a:ext cx="415498" cy="276999"/>
          </a:xfrm>
          <a:prstGeom prst="rect">
            <a:avLst/>
          </a:prstGeom>
          <a:noFill/>
        </p:spPr>
        <p:txBody>
          <a:bodyPr wrap="none" rtlCol="0">
            <a:spAutoFit/>
          </a:bodyPr>
          <a:lstStyle/>
          <a:p>
            <a:r>
              <a:rPr lang="en-GB" sz="1200" noProof="0" dirty="0"/>
              <a:t>12. </a:t>
            </a:r>
          </a:p>
        </p:txBody>
      </p:sp>
      <p:sp>
        <p:nvSpPr>
          <p:cNvPr id="22" name="TextBox 21">
            <a:extLst>
              <a:ext uri="{FF2B5EF4-FFF2-40B4-BE49-F238E27FC236}">
                <a16:creationId xmlns:a16="http://schemas.microsoft.com/office/drawing/2014/main" id="{04EF3093-B674-E649-837C-B0B24CC3DABA}"/>
              </a:ext>
            </a:extLst>
          </p:cNvPr>
          <p:cNvSpPr txBox="1"/>
          <p:nvPr/>
        </p:nvSpPr>
        <p:spPr>
          <a:xfrm>
            <a:off x="161535" y="4963902"/>
            <a:ext cx="4681293" cy="276999"/>
          </a:xfrm>
          <a:prstGeom prst="rect">
            <a:avLst/>
          </a:prstGeom>
          <a:noFill/>
        </p:spPr>
        <p:txBody>
          <a:bodyPr wrap="square" rtlCol="0">
            <a:spAutoFit/>
          </a:bodyPr>
          <a:lstStyle/>
          <a:p>
            <a:r>
              <a:rPr lang="en-GB" sz="1200" b="1" noProof="0" dirty="0"/>
              <a:t>9. </a:t>
            </a:r>
            <a:r>
              <a:rPr lang="en-GB" sz="1200" noProof="0" dirty="0"/>
              <a:t>Solve the simultaneous equations </a:t>
            </a:r>
          </a:p>
        </p:txBody>
      </p:sp>
      <p:grpSp>
        <p:nvGrpSpPr>
          <p:cNvPr id="25" name="Group 24">
            <a:extLst>
              <a:ext uri="{FF2B5EF4-FFF2-40B4-BE49-F238E27FC236}">
                <a16:creationId xmlns:a16="http://schemas.microsoft.com/office/drawing/2014/main" id="{5A74B160-5B02-4C48-99A7-824D9A97CEFF}"/>
              </a:ext>
            </a:extLst>
          </p:cNvPr>
          <p:cNvGrpSpPr/>
          <p:nvPr/>
        </p:nvGrpSpPr>
        <p:grpSpPr>
          <a:xfrm>
            <a:off x="154925" y="5750874"/>
            <a:ext cx="6640114" cy="3943433"/>
            <a:chOff x="108943" y="5610829"/>
            <a:chExt cx="6640114" cy="4231996"/>
          </a:xfrm>
        </p:grpSpPr>
        <p:grpSp>
          <p:nvGrpSpPr>
            <p:cNvPr id="26" name="Group 25">
              <a:extLst>
                <a:ext uri="{FF2B5EF4-FFF2-40B4-BE49-F238E27FC236}">
                  <a16:creationId xmlns:a16="http://schemas.microsoft.com/office/drawing/2014/main" id="{692DD765-E844-E940-B820-D9AB89E44BDD}"/>
                </a:ext>
              </a:extLst>
            </p:cNvPr>
            <p:cNvGrpSpPr/>
            <p:nvPr/>
          </p:nvGrpSpPr>
          <p:grpSpPr>
            <a:xfrm>
              <a:off x="4648070" y="5610829"/>
              <a:ext cx="2100987" cy="4231996"/>
              <a:chOff x="4648070" y="5610829"/>
              <a:chExt cx="2100987" cy="4231996"/>
            </a:xfrm>
          </p:grpSpPr>
          <p:sp>
            <p:nvSpPr>
              <p:cNvPr id="37" name="Rectangle 36">
                <a:extLst>
                  <a:ext uri="{FF2B5EF4-FFF2-40B4-BE49-F238E27FC236}">
                    <a16:creationId xmlns:a16="http://schemas.microsoft.com/office/drawing/2014/main" id="{E6A932C7-0D66-6F4F-ACF8-9C1044300135}"/>
                  </a:ext>
                </a:extLst>
              </p:cNvPr>
              <p:cNvSpPr/>
              <p:nvPr/>
            </p:nvSpPr>
            <p:spPr>
              <a:xfrm>
                <a:off x="4648070" y="5610829"/>
                <a:ext cx="2100987" cy="423199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8" name="Rectangle 37">
                <a:extLst>
                  <a:ext uri="{FF2B5EF4-FFF2-40B4-BE49-F238E27FC236}">
                    <a16:creationId xmlns:a16="http://schemas.microsoft.com/office/drawing/2014/main" id="{F748D38F-A205-B647-8F1A-363C7DDEBAC8}"/>
                  </a:ext>
                </a:extLst>
              </p:cNvPr>
              <p:cNvSpPr/>
              <p:nvPr/>
            </p:nvSpPr>
            <p:spPr>
              <a:xfrm>
                <a:off x="5578582" y="947062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9" name="Rectangle 38">
                <a:extLst>
                  <a:ext uri="{FF2B5EF4-FFF2-40B4-BE49-F238E27FC236}">
                    <a16:creationId xmlns:a16="http://schemas.microsoft.com/office/drawing/2014/main" id="{610E20F5-A6F6-5744-8B3A-4DB83F626FAD}"/>
                  </a:ext>
                </a:extLst>
              </p:cNvPr>
              <p:cNvSpPr/>
              <p:nvPr/>
            </p:nvSpPr>
            <p:spPr>
              <a:xfrm>
                <a:off x="6365605" y="9467507"/>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40" name="Rectangle 39">
                <a:extLst>
                  <a:ext uri="{FF2B5EF4-FFF2-40B4-BE49-F238E27FC236}">
                    <a16:creationId xmlns:a16="http://schemas.microsoft.com/office/drawing/2014/main" id="{AFB6A626-0E7E-4F47-ADD0-722879094D93}"/>
                  </a:ext>
                </a:extLst>
              </p:cNvPr>
              <p:cNvSpPr/>
              <p:nvPr/>
            </p:nvSpPr>
            <p:spPr>
              <a:xfrm>
                <a:off x="5091347" y="9427659"/>
                <a:ext cx="1381880" cy="369332"/>
              </a:xfrm>
              <a:prstGeom prst="rect">
                <a:avLst/>
              </a:prstGeom>
            </p:spPr>
            <p:txBody>
              <a:bodyPr wrap="square">
                <a:spAutoFit/>
              </a:bodyPr>
              <a:lstStyle/>
              <a:p>
                <a:endParaRPr lang="en-GB" sz="400" noProof="0" dirty="0"/>
              </a:p>
              <a:p>
                <a:pPr lvl="0" algn="ctr"/>
                <a:r>
                  <a:rPr lang="en-GB" sz="1400" noProof="0" dirty="0">
                    <a:solidFill>
                      <a:prstClr val="black"/>
                    </a:solidFill>
                  </a:rPr>
                  <a:t>x  =            , y  =     </a:t>
                </a:r>
              </a:p>
            </p:txBody>
          </p:sp>
        </p:grpSp>
        <p:grpSp>
          <p:nvGrpSpPr>
            <p:cNvPr id="27" name="Group 26">
              <a:extLst>
                <a:ext uri="{FF2B5EF4-FFF2-40B4-BE49-F238E27FC236}">
                  <a16:creationId xmlns:a16="http://schemas.microsoft.com/office/drawing/2014/main" id="{CDD4C58C-33E2-F246-ACF2-174993DB9E31}"/>
                </a:ext>
              </a:extLst>
            </p:cNvPr>
            <p:cNvGrpSpPr/>
            <p:nvPr/>
          </p:nvGrpSpPr>
          <p:grpSpPr>
            <a:xfrm>
              <a:off x="2377377" y="5610829"/>
              <a:ext cx="2100987" cy="4231996"/>
              <a:chOff x="4648070" y="5610829"/>
              <a:chExt cx="2100987" cy="4231996"/>
            </a:xfrm>
          </p:grpSpPr>
          <p:sp>
            <p:nvSpPr>
              <p:cNvPr id="33" name="Rectangle 32">
                <a:extLst>
                  <a:ext uri="{FF2B5EF4-FFF2-40B4-BE49-F238E27FC236}">
                    <a16:creationId xmlns:a16="http://schemas.microsoft.com/office/drawing/2014/main" id="{03CAC693-D261-AA4B-8EFC-76AB51BE15F9}"/>
                  </a:ext>
                </a:extLst>
              </p:cNvPr>
              <p:cNvSpPr/>
              <p:nvPr/>
            </p:nvSpPr>
            <p:spPr>
              <a:xfrm>
                <a:off x="4648070" y="5610829"/>
                <a:ext cx="2100987" cy="423199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Rectangle 33">
                <a:extLst>
                  <a:ext uri="{FF2B5EF4-FFF2-40B4-BE49-F238E27FC236}">
                    <a16:creationId xmlns:a16="http://schemas.microsoft.com/office/drawing/2014/main" id="{9C21303C-1F61-F84C-B7D4-7E99E98E6431}"/>
                  </a:ext>
                </a:extLst>
              </p:cNvPr>
              <p:cNvSpPr/>
              <p:nvPr/>
            </p:nvSpPr>
            <p:spPr>
              <a:xfrm>
                <a:off x="5578582" y="947062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5" name="Rectangle 34">
                <a:extLst>
                  <a:ext uri="{FF2B5EF4-FFF2-40B4-BE49-F238E27FC236}">
                    <a16:creationId xmlns:a16="http://schemas.microsoft.com/office/drawing/2014/main" id="{1BFF5896-CBE5-1D4A-893A-656A7FA39E5B}"/>
                  </a:ext>
                </a:extLst>
              </p:cNvPr>
              <p:cNvSpPr/>
              <p:nvPr/>
            </p:nvSpPr>
            <p:spPr>
              <a:xfrm>
                <a:off x="6365605" y="9467507"/>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6" name="Rectangle 35">
                <a:extLst>
                  <a:ext uri="{FF2B5EF4-FFF2-40B4-BE49-F238E27FC236}">
                    <a16:creationId xmlns:a16="http://schemas.microsoft.com/office/drawing/2014/main" id="{AAAD1136-DC91-B443-AA94-E9A6B2B97ED6}"/>
                  </a:ext>
                </a:extLst>
              </p:cNvPr>
              <p:cNvSpPr/>
              <p:nvPr/>
            </p:nvSpPr>
            <p:spPr>
              <a:xfrm>
                <a:off x="5091347" y="9427659"/>
                <a:ext cx="1381880" cy="369332"/>
              </a:xfrm>
              <a:prstGeom prst="rect">
                <a:avLst/>
              </a:prstGeom>
            </p:spPr>
            <p:txBody>
              <a:bodyPr wrap="square">
                <a:spAutoFit/>
              </a:bodyPr>
              <a:lstStyle/>
              <a:p>
                <a:endParaRPr lang="en-GB" sz="400" noProof="0" dirty="0"/>
              </a:p>
              <a:p>
                <a:pPr lvl="0" algn="ctr"/>
                <a:r>
                  <a:rPr lang="en-GB" sz="1400" noProof="0" dirty="0">
                    <a:solidFill>
                      <a:prstClr val="black"/>
                    </a:solidFill>
                  </a:rPr>
                  <a:t>x  =            , y  =     </a:t>
                </a:r>
              </a:p>
            </p:txBody>
          </p:sp>
        </p:grpSp>
        <p:grpSp>
          <p:nvGrpSpPr>
            <p:cNvPr id="28" name="Group 27">
              <a:extLst>
                <a:ext uri="{FF2B5EF4-FFF2-40B4-BE49-F238E27FC236}">
                  <a16:creationId xmlns:a16="http://schemas.microsoft.com/office/drawing/2014/main" id="{1B5E8F10-6840-1247-934C-D16CE60535D2}"/>
                </a:ext>
              </a:extLst>
            </p:cNvPr>
            <p:cNvGrpSpPr/>
            <p:nvPr/>
          </p:nvGrpSpPr>
          <p:grpSpPr>
            <a:xfrm>
              <a:off x="108943" y="5610829"/>
              <a:ext cx="2100987" cy="4231996"/>
              <a:chOff x="4648070" y="5610829"/>
              <a:chExt cx="2100987" cy="4231996"/>
            </a:xfrm>
          </p:grpSpPr>
          <p:sp>
            <p:nvSpPr>
              <p:cNvPr id="29" name="Rectangle 28">
                <a:extLst>
                  <a:ext uri="{FF2B5EF4-FFF2-40B4-BE49-F238E27FC236}">
                    <a16:creationId xmlns:a16="http://schemas.microsoft.com/office/drawing/2014/main" id="{B509F580-4B0D-2547-9135-F2FB935463F7}"/>
                  </a:ext>
                </a:extLst>
              </p:cNvPr>
              <p:cNvSpPr/>
              <p:nvPr/>
            </p:nvSpPr>
            <p:spPr>
              <a:xfrm>
                <a:off x="4648070" y="5610829"/>
                <a:ext cx="2100987" cy="423199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Rectangle 29">
                <a:extLst>
                  <a:ext uri="{FF2B5EF4-FFF2-40B4-BE49-F238E27FC236}">
                    <a16:creationId xmlns:a16="http://schemas.microsoft.com/office/drawing/2014/main" id="{5A993F24-F55E-F344-B5EC-DCAD2CF4F141}"/>
                  </a:ext>
                </a:extLst>
              </p:cNvPr>
              <p:cNvSpPr/>
              <p:nvPr/>
            </p:nvSpPr>
            <p:spPr>
              <a:xfrm>
                <a:off x="5578582" y="947062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1" name="Rectangle 30">
                <a:extLst>
                  <a:ext uri="{FF2B5EF4-FFF2-40B4-BE49-F238E27FC236}">
                    <a16:creationId xmlns:a16="http://schemas.microsoft.com/office/drawing/2014/main" id="{ADCC9324-2528-A44E-A5A1-AB1BDAF2E3C9}"/>
                  </a:ext>
                </a:extLst>
              </p:cNvPr>
              <p:cNvSpPr/>
              <p:nvPr/>
            </p:nvSpPr>
            <p:spPr>
              <a:xfrm>
                <a:off x="6365605" y="9467507"/>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2" name="Rectangle 31">
                <a:extLst>
                  <a:ext uri="{FF2B5EF4-FFF2-40B4-BE49-F238E27FC236}">
                    <a16:creationId xmlns:a16="http://schemas.microsoft.com/office/drawing/2014/main" id="{6A3CDB55-2BC4-DA4A-ADAA-91F2F9F11C36}"/>
                  </a:ext>
                </a:extLst>
              </p:cNvPr>
              <p:cNvSpPr/>
              <p:nvPr/>
            </p:nvSpPr>
            <p:spPr>
              <a:xfrm>
                <a:off x="5091347" y="9427659"/>
                <a:ext cx="1381880" cy="369332"/>
              </a:xfrm>
              <a:prstGeom prst="rect">
                <a:avLst/>
              </a:prstGeom>
            </p:spPr>
            <p:txBody>
              <a:bodyPr wrap="square">
                <a:spAutoFit/>
              </a:bodyPr>
              <a:lstStyle/>
              <a:p>
                <a:endParaRPr lang="en-GB" sz="400" noProof="0" dirty="0"/>
              </a:p>
              <a:p>
                <a:pPr lvl="0" algn="ctr"/>
                <a:r>
                  <a:rPr lang="en-GB" sz="1400" noProof="0" dirty="0">
                    <a:solidFill>
                      <a:prstClr val="black"/>
                    </a:solidFill>
                  </a:rPr>
                  <a:t>x  =            , y  =     </a:t>
                </a:r>
              </a:p>
            </p:txBody>
          </p:sp>
        </p:grpSp>
      </p:grpSp>
      <mc:AlternateContent xmlns:mc="http://schemas.openxmlformats.org/markup-compatibility/2006" xmlns:a14="http://schemas.microsoft.com/office/drawing/2010/main">
        <mc:Choice Requires="a14">
          <p:sp>
            <p:nvSpPr>
              <p:cNvPr id="41" name="Rectangle 40"/>
              <p:cNvSpPr/>
              <p:nvPr/>
            </p:nvSpPr>
            <p:spPr>
              <a:xfrm>
                <a:off x="347149" y="5223246"/>
                <a:ext cx="1716538" cy="461665"/>
              </a:xfrm>
              <a:prstGeom prst="rect">
                <a:avLst/>
              </a:prstGeom>
            </p:spPr>
            <p:txBody>
              <a:bodyPr wrap="square">
                <a:spAutoFit/>
              </a:bodyPr>
              <a:lstStyle/>
              <a:p>
                <a:pPr lvl="0" defTabSz="457200">
                  <a:defRPr/>
                </a:pPr>
                <a:r>
                  <a:rPr lang="en-GB" sz="1200" kern="50" noProof="0" dirty="0">
                    <a:solidFill>
                      <a:prstClr val="black"/>
                    </a:solidFill>
                    <a:ea typeface="Bitstream Vera Sans"/>
                    <a:cs typeface="Bitstream Vera Sans"/>
                  </a:rPr>
                  <a:t>a) </a:t>
                </a:r>
                <a14:m>
                  <m:oMath xmlns:m="http://schemas.openxmlformats.org/officeDocument/2006/math">
                    <m:r>
                      <a:rPr lang="en-GB" sz="1200" i="1" kern="50" noProof="0">
                        <a:solidFill>
                          <a:prstClr val="black"/>
                        </a:solidFill>
                        <a:latin typeface="Cambria Math" panose="02040503050406030204" pitchFamily="18" charset="0"/>
                        <a:ea typeface="Bitstream Vera Sans"/>
                        <a:cs typeface="Bitstream Vera Sans"/>
                      </a:rPr>
                      <m:t>2</m:t>
                    </m:r>
                    <m:r>
                      <a:rPr lang="en-GB" sz="1200" i="1" kern="50" noProof="0">
                        <a:solidFill>
                          <a:prstClr val="black"/>
                        </a:solidFill>
                        <a:latin typeface="Cambria Math" panose="02040503050406030204" pitchFamily="18" charset="0"/>
                        <a:ea typeface="Bitstream Vera Sans"/>
                        <a:cs typeface="Bitstream Vera Sans"/>
                      </a:rPr>
                      <m:t>𝑥</m:t>
                    </m:r>
                    <m:r>
                      <a:rPr lang="en-GB" sz="1200" i="1" kern="50" noProof="0">
                        <a:solidFill>
                          <a:prstClr val="black"/>
                        </a:solidFill>
                        <a:latin typeface="Cambria Math" panose="02040503050406030204" pitchFamily="18" charset="0"/>
                        <a:ea typeface="Bitstream Vera Sans"/>
                        <a:cs typeface="Bitstream Vera Sans"/>
                      </a:rPr>
                      <m:t>+3</m:t>
                    </m:r>
                    <m:r>
                      <a:rPr lang="en-GB" sz="1200" i="1" kern="50" noProof="0">
                        <a:solidFill>
                          <a:prstClr val="black"/>
                        </a:solidFill>
                        <a:latin typeface="Cambria Math" panose="02040503050406030204" pitchFamily="18" charset="0"/>
                        <a:ea typeface="Bitstream Vera Sans"/>
                        <a:cs typeface="Bitstream Vera Sans"/>
                      </a:rPr>
                      <m:t>𝑦</m:t>
                    </m:r>
                    <m:r>
                      <a:rPr lang="en-GB" sz="1200" i="1" kern="50" noProof="0">
                        <a:solidFill>
                          <a:prstClr val="black"/>
                        </a:solidFill>
                        <a:latin typeface="Cambria Math" panose="02040503050406030204" pitchFamily="18" charset="0"/>
                        <a:ea typeface="Bitstream Vera Sans"/>
                        <a:cs typeface="Bitstream Vera Sans"/>
                      </a:rPr>
                      <m:t>=18</m:t>
                    </m:r>
                  </m:oMath>
                </a14:m>
                <a:endParaRPr lang="en-GB" sz="1200" kern="50" noProof="0" dirty="0">
                  <a:solidFill>
                    <a:prstClr val="black"/>
                  </a:solidFill>
                  <a:latin typeface="Tinos"/>
                  <a:ea typeface="Bitstream Vera Sans"/>
                  <a:cs typeface="Bitstream Vera Sans"/>
                </a:endParaRPr>
              </a:p>
              <a:p>
                <a:pPr lvl="0" defTabSz="457200">
                  <a:defRPr/>
                </a:pPr>
                <a:r>
                  <a:rPr lang="en-GB" sz="1200" kern="50" noProof="0" dirty="0">
                    <a:solidFill>
                      <a:prstClr val="black"/>
                    </a:solidFill>
                    <a:ea typeface="Bitstream Vera Sans"/>
                    <a:cs typeface="Bitstream Vera Sans"/>
                  </a:rPr>
                  <a:t> </a:t>
                </a:r>
                <a14:m>
                  <m:oMath xmlns:m="http://schemas.openxmlformats.org/officeDocument/2006/math">
                    <m:r>
                      <a:rPr lang="en-GB" sz="1200" b="0" i="0" kern="50" noProof="0" smtClean="0">
                        <a:solidFill>
                          <a:prstClr val="black"/>
                        </a:solidFill>
                        <a:latin typeface="Cambria Math" panose="02040503050406030204" pitchFamily="18" charset="0"/>
                        <a:ea typeface="Bitstream Vera Sans"/>
                        <a:cs typeface="Bitstream Vera Sans"/>
                      </a:rPr>
                      <m:t>    </m:t>
                    </m:r>
                    <m:r>
                      <a:rPr lang="en-GB" sz="1200" i="1" kern="50" noProof="0">
                        <a:solidFill>
                          <a:prstClr val="black"/>
                        </a:solidFill>
                        <a:latin typeface="Cambria Math" panose="02040503050406030204" pitchFamily="18" charset="0"/>
                        <a:ea typeface="Bitstream Vera Sans"/>
                        <a:cs typeface="Bitstream Vera Sans"/>
                      </a:rPr>
                      <m:t>6</m:t>
                    </m:r>
                    <m:r>
                      <a:rPr lang="en-GB" sz="1200" i="1" kern="50" noProof="0">
                        <a:solidFill>
                          <a:prstClr val="black"/>
                        </a:solidFill>
                        <a:latin typeface="Cambria Math" panose="02040503050406030204" pitchFamily="18" charset="0"/>
                        <a:ea typeface="Bitstream Vera Sans"/>
                        <a:cs typeface="Bitstream Vera Sans"/>
                      </a:rPr>
                      <m:t>𝑥</m:t>
                    </m:r>
                    <m:r>
                      <a:rPr lang="en-GB" sz="1200" i="1" kern="50" noProof="0">
                        <a:solidFill>
                          <a:prstClr val="black"/>
                        </a:solidFill>
                        <a:latin typeface="Cambria Math" panose="02040503050406030204" pitchFamily="18" charset="0"/>
                        <a:ea typeface="Bitstream Vera Sans"/>
                        <a:cs typeface="Bitstream Vera Sans"/>
                      </a:rPr>
                      <m:t>+3</m:t>
                    </m:r>
                    <m:r>
                      <a:rPr lang="en-GB" sz="1200" i="1" kern="50" noProof="0">
                        <a:solidFill>
                          <a:prstClr val="black"/>
                        </a:solidFill>
                        <a:latin typeface="Cambria Math" panose="02040503050406030204" pitchFamily="18" charset="0"/>
                        <a:ea typeface="Bitstream Vera Sans"/>
                        <a:cs typeface="Bitstream Vera Sans"/>
                      </a:rPr>
                      <m:t>𝑦</m:t>
                    </m:r>
                    <m:r>
                      <a:rPr lang="en-GB" sz="1200" i="1" kern="50" noProof="0">
                        <a:solidFill>
                          <a:prstClr val="black"/>
                        </a:solidFill>
                        <a:latin typeface="Cambria Math" panose="02040503050406030204" pitchFamily="18" charset="0"/>
                        <a:ea typeface="Bitstream Vera Sans"/>
                        <a:cs typeface="Bitstream Vera Sans"/>
                      </a:rPr>
                      <m:t>=30</m:t>
                    </m:r>
                  </m:oMath>
                </a14:m>
                <a:endParaRPr lang="en-GB" sz="1200" kern="50" noProof="0" dirty="0">
                  <a:solidFill>
                    <a:prstClr val="black"/>
                  </a:solidFill>
                  <a:latin typeface="Tinos"/>
                  <a:ea typeface="Bitstream Vera Sans"/>
                  <a:cs typeface="Bitstream Vera Sans"/>
                </a:endParaRPr>
              </a:p>
            </p:txBody>
          </p:sp>
        </mc:Choice>
        <mc:Fallback xmlns="">
          <p:sp>
            <p:nvSpPr>
              <p:cNvPr id="41" name="Rectangle 40"/>
              <p:cNvSpPr>
                <a:spLocks noRot="1" noChangeAspect="1" noMove="1" noResize="1" noEditPoints="1" noAdjustHandles="1" noChangeArrowheads="1" noChangeShapeType="1" noTextEdit="1"/>
              </p:cNvSpPr>
              <p:nvPr/>
            </p:nvSpPr>
            <p:spPr>
              <a:xfrm>
                <a:off x="347149" y="5223246"/>
                <a:ext cx="1716538" cy="461665"/>
              </a:xfrm>
              <a:prstGeom prst="rect">
                <a:avLst/>
              </a:prstGeom>
              <a:blipFill>
                <a:blip r:embed="rId3"/>
                <a:stretch>
                  <a:fillRect l="-355" t="-1316"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5017083" y="5262655"/>
                <a:ext cx="1394504" cy="461665"/>
              </a:xfrm>
              <a:prstGeom prst="rect">
                <a:avLst/>
              </a:prstGeom>
            </p:spPr>
            <p:txBody>
              <a:bodyPr wrap="square">
                <a:spAutoFit/>
              </a:bodyPr>
              <a:lstStyle/>
              <a:p>
                <a:pPr lvl="0" defTabSz="457200">
                  <a:defRPr/>
                </a:pPr>
                <a:r>
                  <a:rPr lang="en-GB" sz="1200" kern="50" noProof="0" dirty="0">
                    <a:solidFill>
                      <a:prstClr val="black"/>
                    </a:solidFill>
                    <a:ea typeface="Bitstream Vera Sans"/>
                    <a:cs typeface="Bitstream Vera Sans"/>
                  </a:rPr>
                  <a:t>c) </a:t>
                </a:r>
                <a14:m>
                  <m:oMath xmlns:m="http://schemas.openxmlformats.org/officeDocument/2006/math">
                    <m:r>
                      <a:rPr lang="en-GB" sz="1200" i="1" kern="50" noProof="0">
                        <a:solidFill>
                          <a:prstClr val="black"/>
                        </a:solidFill>
                        <a:latin typeface="Cambria Math" panose="02040503050406030204" pitchFamily="18" charset="0"/>
                        <a:ea typeface="Bitstream Vera Sans"/>
                        <a:cs typeface="Bitstream Vera Sans"/>
                      </a:rPr>
                      <m:t>2</m:t>
                    </m:r>
                    <m:r>
                      <a:rPr lang="en-GB" sz="1200" i="1" kern="50" noProof="0">
                        <a:solidFill>
                          <a:prstClr val="black"/>
                        </a:solidFill>
                        <a:latin typeface="Cambria Math" panose="02040503050406030204" pitchFamily="18" charset="0"/>
                        <a:ea typeface="Bitstream Vera Sans"/>
                        <a:cs typeface="Bitstream Vera Sans"/>
                      </a:rPr>
                      <m:t>𝑥</m:t>
                    </m:r>
                    <m:r>
                      <a:rPr lang="en-GB" sz="1200" i="1" kern="50" noProof="0">
                        <a:solidFill>
                          <a:prstClr val="black"/>
                        </a:solidFill>
                        <a:latin typeface="Cambria Math" panose="02040503050406030204" pitchFamily="18" charset="0"/>
                        <a:ea typeface="Bitstream Vera Sans"/>
                        <a:cs typeface="Bitstream Vera Sans"/>
                      </a:rPr>
                      <m:t>+3</m:t>
                    </m:r>
                    <m:r>
                      <a:rPr lang="en-GB" sz="1200" i="1" kern="50" noProof="0">
                        <a:solidFill>
                          <a:prstClr val="black"/>
                        </a:solidFill>
                        <a:latin typeface="Cambria Math" panose="02040503050406030204" pitchFamily="18" charset="0"/>
                        <a:ea typeface="Bitstream Vera Sans"/>
                        <a:cs typeface="Bitstream Vera Sans"/>
                      </a:rPr>
                      <m:t>𝑦</m:t>
                    </m:r>
                    <m:r>
                      <a:rPr lang="en-GB" sz="1200" i="1" kern="50" noProof="0">
                        <a:solidFill>
                          <a:prstClr val="black"/>
                        </a:solidFill>
                        <a:latin typeface="Cambria Math" panose="02040503050406030204" pitchFamily="18" charset="0"/>
                        <a:ea typeface="Bitstream Vera Sans"/>
                        <a:cs typeface="Bitstream Vera Sans"/>
                      </a:rPr>
                      <m:t>=18</m:t>
                    </m:r>
                  </m:oMath>
                </a14:m>
                <a:endParaRPr lang="en-GB" sz="1200" kern="50" noProof="0" dirty="0">
                  <a:solidFill>
                    <a:prstClr val="black"/>
                  </a:solidFill>
                  <a:latin typeface="Tinos"/>
                  <a:ea typeface="Bitstream Vera Sans"/>
                  <a:cs typeface="Bitstream Vera Sans"/>
                </a:endParaRPr>
              </a:p>
              <a:p>
                <a:pPr lvl="0" defTabSz="457200">
                  <a:defRPr/>
                </a:pPr>
                <a:r>
                  <a:rPr lang="en-GB" sz="1200" kern="50" noProof="0" dirty="0">
                    <a:solidFill>
                      <a:prstClr val="black"/>
                    </a:solidFill>
                    <a:ea typeface="Bitstream Vera Sans"/>
                    <a:cs typeface="Bitstream Vera Sans"/>
                  </a:rPr>
                  <a:t> </a:t>
                </a:r>
                <a14:m>
                  <m:oMath xmlns:m="http://schemas.openxmlformats.org/officeDocument/2006/math">
                    <m:r>
                      <a:rPr lang="en-GB" sz="1200" b="0" i="0" kern="50" noProof="0" smtClean="0">
                        <a:solidFill>
                          <a:prstClr val="black"/>
                        </a:solidFill>
                        <a:latin typeface="Cambria Math" panose="02040503050406030204" pitchFamily="18" charset="0"/>
                        <a:ea typeface="Bitstream Vera Sans"/>
                        <a:cs typeface="Bitstream Vera Sans"/>
                      </a:rPr>
                      <m:t>    </m:t>
                    </m:r>
                    <m:r>
                      <a:rPr lang="en-GB" sz="1200" i="1" kern="50" noProof="0">
                        <a:solidFill>
                          <a:prstClr val="black"/>
                        </a:solidFill>
                        <a:latin typeface="Cambria Math" panose="02040503050406030204" pitchFamily="18" charset="0"/>
                        <a:ea typeface="Bitstream Vera Sans"/>
                        <a:cs typeface="Bitstream Vera Sans"/>
                      </a:rPr>
                      <m:t>6</m:t>
                    </m:r>
                    <m:r>
                      <a:rPr lang="en-GB" sz="1200" i="1" kern="50" noProof="0">
                        <a:solidFill>
                          <a:prstClr val="black"/>
                        </a:solidFill>
                        <a:latin typeface="Cambria Math" panose="02040503050406030204" pitchFamily="18" charset="0"/>
                        <a:ea typeface="Bitstream Vera Sans"/>
                        <a:cs typeface="Bitstream Vera Sans"/>
                      </a:rPr>
                      <m:t>𝑥</m:t>
                    </m:r>
                    <m:r>
                      <a:rPr lang="en-GB" sz="1200" i="1" kern="50" noProof="0">
                        <a:solidFill>
                          <a:prstClr val="black"/>
                        </a:solidFill>
                        <a:latin typeface="Cambria Math" panose="02040503050406030204" pitchFamily="18" charset="0"/>
                        <a:ea typeface="Bitstream Vera Sans"/>
                        <a:cs typeface="Bitstream Vera Sans"/>
                      </a:rPr>
                      <m:t>−3</m:t>
                    </m:r>
                    <m:r>
                      <a:rPr lang="en-GB" sz="1200" i="1" kern="50" noProof="0">
                        <a:solidFill>
                          <a:prstClr val="black"/>
                        </a:solidFill>
                        <a:latin typeface="Cambria Math" panose="02040503050406030204" pitchFamily="18" charset="0"/>
                        <a:ea typeface="Bitstream Vera Sans"/>
                        <a:cs typeface="Bitstream Vera Sans"/>
                      </a:rPr>
                      <m:t>𝑦</m:t>
                    </m:r>
                    <m:r>
                      <a:rPr lang="en-GB" sz="1200" i="1" kern="50" noProof="0">
                        <a:solidFill>
                          <a:prstClr val="black"/>
                        </a:solidFill>
                        <a:latin typeface="Cambria Math" panose="02040503050406030204" pitchFamily="18" charset="0"/>
                        <a:ea typeface="Bitstream Vera Sans"/>
                        <a:cs typeface="Bitstream Vera Sans"/>
                      </a:rPr>
                      <m:t>=30</m:t>
                    </m:r>
                  </m:oMath>
                </a14:m>
                <a:endParaRPr lang="en-GB" sz="1200" kern="50" noProof="0" dirty="0">
                  <a:solidFill>
                    <a:prstClr val="black"/>
                  </a:solidFill>
                  <a:latin typeface="Tinos"/>
                  <a:ea typeface="Bitstream Vera Sans"/>
                  <a:cs typeface="Bitstream Vera Sans"/>
                </a:endParaRPr>
              </a:p>
            </p:txBody>
          </p:sp>
        </mc:Choice>
        <mc:Fallback xmlns="">
          <p:sp>
            <p:nvSpPr>
              <p:cNvPr id="42" name="Rectangle 41"/>
              <p:cNvSpPr>
                <a:spLocks noRot="1" noChangeAspect="1" noMove="1" noResize="1" noEditPoints="1" noAdjustHandles="1" noChangeArrowheads="1" noChangeShapeType="1" noTextEdit="1"/>
              </p:cNvSpPr>
              <p:nvPr/>
            </p:nvSpPr>
            <p:spPr>
              <a:xfrm>
                <a:off x="5017083" y="5262655"/>
                <a:ext cx="1394504" cy="461665"/>
              </a:xfrm>
              <a:prstGeom prst="rect">
                <a:avLst/>
              </a:prstGeom>
              <a:blipFill>
                <a:blip r:embed="rId4"/>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2749810" y="5283609"/>
                <a:ext cx="1448084" cy="461665"/>
              </a:xfrm>
              <a:prstGeom prst="rect">
                <a:avLst/>
              </a:prstGeom>
            </p:spPr>
            <p:txBody>
              <a:bodyPr wrap="square">
                <a:spAutoFit/>
              </a:bodyPr>
              <a:lstStyle/>
              <a:p>
                <a:pPr lvl="0" defTabSz="457200">
                  <a:defRPr/>
                </a:pPr>
                <a:r>
                  <a:rPr lang="en-GB" sz="1200" kern="50" noProof="0" dirty="0">
                    <a:solidFill>
                      <a:prstClr val="black"/>
                    </a:solidFill>
                    <a:ea typeface="Bitstream Vera Sans"/>
                    <a:cs typeface="Bitstream Vera Sans"/>
                  </a:rPr>
                  <a:t>b) </a:t>
                </a:r>
                <a14:m>
                  <m:oMath xmlns:m="http://schemas.openxmlformats.org/officeDocument/2006/math">
                    <m:r>
                      <a:rPr lang="en-GB" sz="1200" i="1" kern="50" noProof="0">
                        <a:solidFill>
                          <a:prstClr val="black"/>
                        </a:solidFill>
                        <a:latin typeface="Cambria Math" panose="02040503050406030204" pitchFamily="18" charset="0"/>
                        <a:ea typeface="Bitstream Vera Sans"/>
                        <a:cs typeface="Bitstream Vera Sans"/>
                      </a:rPr>
                      <m:t>2</m:t>
                    </m:r>
                    <m:r>
                      <a:rPr lang="en-GB" sz="1200" i="1" kern="50" noProof="0">
                        <a:solidFill>
                          <a:prstClr val="black"/>
                        </a:solidFill>
                        <a:latin typeface="Cambria Math" panose="02040503050406030204" pitchFamily="18" charset="0"/>
                        <a:ea typeface="Bitstream Vera Sans"/>
                        <a:cs typeface="Bitstream Vera Sans"/>
                      </a:rPr>
                      <m:t>𝑥</m:t>
                    </m:r>
                    <m:r>
                      <a:rPr lang="en-GB" sz="1200" i="1" kern="50" noProof="0">
                        <a:solidFill>
                          <a:prstClr val="black"/>
                        </a:solidFill>
                        <a:latin typeface="Cambria Math" panose="02040503050406030204" pitchFamily="18" charset="0"/>
                        <a:ea typeface="Bitstream Vera Sans"/>
                        <a:cs typeface="Bitstream Vera Sans"/>
                      </a:rPr>
                      <m:t>+</m:t>
                    </m:r>
                    <m:r>
                      <a:rPr lang="en-GB" sz="1200" i="1" kern="50" noProof="0">
                        <a:solidFill>
                          <a:prstClr val="black"/>
                        </a:solidFill>
                        <a:latin typeface="Cambria Math" panose="02040503050406030204" pitchFamily="18" charset="0"/>
                        <a:ea typeface="Bitstream Vera Sans"/>
                        <a:cs typeface="Bitstream Vera Sans"/>
                      </a:rPr>
                      <m:t>𝑦</m:t>
                    </m:r>
                    <m:r>
                      <a:rPr lang="en-GB" sz="1200" i="1" kern="50" noProof="0">
                        <a:solidFill>
                          <a:prstClr val="black"/>
                        </a:solidFill>
                        <a:latin typeface="Cambria Math" panose="02040503050406030204" pitchFamily="18" charset="0"/>
                        <a:ea typeface="Bitstream Vera Sans"/>
                        <a:cs typeface="Bitstream Vera Sans"/>
                      </a:rPr>
                      <m:t>=18</m:t>
                    </m:r>
                  </m:oMath>
                </a14:m>
                <a:endParaRPr lang="en-GB" sz="1200" kern="50" noProof="0" dirty="0">
                  <a:solidFill>
                    <a:prstClr val="black"/>
                  </a:solidFill>
                  <a:latin typeface="Tinos"/>
                  <a:ea typeface="Bitstream Vera Sans"/>
                  <a:cs typeface="Bitstream Vera Sans"/>
                </a:endParaRPr>
              </a:p>
              <a:p>
                <a:pPr lvl="0" defTabSz="457200">
                  <a:defRPr/>
                </a:pPr>
                <a:r>
                  <a:rPr lang="en-GB" sz="1200" kern="50" noProof="0" dirty="0">
                    <a:solidFill>
                      <a:prstClr val="black"/>
                    </a:solidFill>
                    <a:ea typeface="Bitstream Vera Sans"/>
                    <a:cs typeface="Bitstream Vera Sans"/>
                  </a:rPr>
                  <a:t> </a:t>
                </a:r>
                <a14:m>
                  <m:oMath xmlns:m="http://schemas.openxmlformats.org/officeDocument/2006/math">
                    <m:r>
                      <a:rPr lang="en-GB" sz="1200" b="0" i="0" kern="50" noProof="0" smtClean="0">
                        <a:solidFill>
                          <a:prstClr val="black"/>
                        </a:solidFill>
                        <a:latin typeface="Cambria Math" panose="02040503050406030204" pitchFamily="18" charset="0"/>
                        <a:ea typeface="Bitstream Vera Sans"/>
                        <a:cs typeface="Bitstream Vera Sans"/>
                      </a:rPr>
                      <m:t>   </m:t>
                    </m:r>
                    <m:r>
                      <a:rPr lang="en-GB" sz="1200" i="1" kern="50" noProof="0">
                        <a:solidFill>
                          <a:prstClr val="black"/>
                        </a:solidFill>
                        <a:latin typeface="Cambria Math" panose="02040503050406030204" pitchFamily="18" charset="0"/>
                        <a:ea typeface="Bitstream Vera Sans"/>
                        <a:cs typeface="Bitstream Vera Sans"/>
                      </a:rPr>
                      <m:t>6</m:t>
                    </m:r>
                    <m:r>
                      <a:rPr lang="en-GB" sz="1200" i="1" kern="50" noProof="0">
                        <a:solidFill>
                          <a:prstClr val="black"/>
                        </a:solidFill>
                        <a:latin typeface="Cambria Math" panose="02040503050406030204" pitchFamily="18" charset="0"/>
                        <a:ea typeface="Bitstream Vera Sans"/>
                        <a:cs typeface="Bitstream Vera Sans"/>
                      </a:rPr>
                      <m:t>𝑥</m:t>
                    </m:r>
                    <m:r>
                      <a:rPr lang="en-GB" sz="1200" i="1" kern="50" noProof="0">
                        <a:solidFill>
                          <a:prstClr val="black"/>
                        </a:solidFill>
                        <a:latin typeface="Cambria Math" panose="02040503050406030204" pitchFamily="18" charset="0"/>
                        <a:ea typeface="Bitstream Vera Sans"/>
                        <a:cs typeface="Bitstream Vera Sans"/>
                      </a:rPr>
                      <m:t>−</m:t>
                    </m:r>
                    <m:r>
                      <a:rPr lang="en-GB" sz="1200" i="1" kern="50" noProof="0">
                        <a:solidFill>
                          <a:prstClr val="black"/>
                        </a:solidFill>
                        <a:latin typeface="Cambria Math" panose="02040503050406030204" pitchFamily="18" charset="0"/>
                        <a:ea typeface="Bitstream Vera Sans"/>
                        <a:cs typeface="Bitstream Vera Sans"/>
                      </a:rPr>
                      <m:t>𝑦</m:t>
                    </m:r>
                    <m:r>
                      <a:rPr lang="en-GB" sz="1200" i="1" kern="50" noProof="0">
                        <a:solidFill>
                          <a:prstClr val="black"/>
                        </a:solidFill>
                        <a:latin typeface="Cambria Math" panose="02040503050406030204" pitchFamily="18" charset="0"/>
                        <a:ea typeface="Bitstream Vera Sans"/>
                        <a:cs typeface="Bitstream Vera Sans"/>
                      </a:rPr>
                      <m:t>=30</m:t>
                    </m:r>
                  </m:oMath>
                </a14:m>
                <a:endParaRPr lang="en-GB" sz="1200" kern="50" noProof="0" dirty="0">
                  <a:solidFill>
                    <a:prstClr val="black"/>
                  </a:solidFill>
                  <a:latin typeface="Tinos"/>
                  <a:ea typeface="Bitstream Vera Sans"/>
                  <a:cs typeface="Bitstream Vera Sans"/>
                </a:endParaRPr>
              </a:p>
            </p:txBody>
          </p:sp>
        </mc:Choice>
        <mc:Fallback xmlns="">
          <p:sp>
            <p:nvSpPr>
              <p:cNvPr id="43" name="Rectangle 42"/>
              <p:cNvSpPr>
                <a:spLocks noRot="1" noChangeAspect="1" noMove="1" noResize="1" noEditPoints="1" noAdjustHandles="1" noChangeArrowheads="1" noChangeShapeType="1" noTextEdit="1"/>
              </p:cNvSpPr>
              <p:nvPr/>
            </p:nvSpPr>
            <p:spPr>
              <a:xfrm>
                <a:off x="2749810" y="5283609"/>
                <a:ext cx="1448084" cy="461665"/>
              </a:xfrm>
              <a:prstGeom prst="rect">
                <a:avLst/>
              </a:prstGeom>
              <a:blipFill>
                <a:blip r:embed="rId5"/>
                <a:stretch>
                  <a:fillRect t="-1333"/>
                </a:stretch>
              </a:blipFill>
            </p:spPr>
            <p:txBody>
              <a:bodyPr/>
              <a:lstStyle/>
              <a:p>
                <a:r>
                  <a:rPr lang="en-US">
                    <a:noFill/>
                  </a:rPr>
                  <a:t> </a:t>
                </a:r>
              </a:p>
            </p:txBody>
          </p:sp>
        </mc:Fallback>
      </mc:AlternateContent>
      <p:sp>
        <p:nvSpPr>
          <p:cNvPr id="44" name="TextBox 43"/>
          <p:cNvSpPr txBox="1"/>
          <p:nvPr/>
        </p:nvSpPr>
        <p:spPr>
          <a:xfrm>
            <a:off x="0" y="68092"/>
            <a:ext cx="1732782" cy="276999"/>
          </a:xfrm>
          <a:prstGeom prst="rect">
            <a:avLst/>
          </a:prstGeom>
          <a:solidFill>
            <a:srgbClr val="0070C0"/>
          </a:solidFill>
          <a:ln w="19050">
            <a:solidFill>
              <a:schemeClr val="tx1"/>
            </a:solidFill>
          </a:ln>
        </p:spPr>
        <p:txBody>
          <a:bodyPr wrap="none" rtlCol="0">
            <a:spAutoFit/>
          </a:bodyPr>
          <a:lstStyle/>
          <a:p>
            <a:r>
              <a:rPr lang="en-GB" sz="1200" noProof="0" dirty="0">
                <a:solidFill>
                  <a:schemeClr val="bg1"/>
                </a:solidFill>
              </a:rPr>
              <a:t>INDEPENDENT PRACTICE</a:t>
            </a:r>
          </a:p>
        </p:txBody>
      </p:sp>
    </p:spTree>
    <p:extLst>
      <p:ext uri="{BB962C8B-B14F-4D97-AF65-F5344CB8AC3E}">
        <p14:creationId xmlns:p14="http://schemas.microsoft.com/office/powerpoint/2010/main" val="26722368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64981" y="9597557"/>
            <a:ext cx="1543050" cy="527403"/>
          </a:xfrm>
        </p:spPr>
        <p:txBody>
          <a:bodyPr/>
          <a:lstStyle/>
          <a:p>
            <a:fld id="{19F1D9CC-7119-45EC-A96C-D8C0660F3AAB}" type="slidenum">
              <a:rPr lang="en-GB" noProof="0" smtClean="0"/>
              <a:t>39</a:t>
            </a:fld>
            <a:endParaRPr lang="en-GB" noProof="0" dirty="0"/>
          </a:p>
        </p:txBody>
      </p:sp>
      <p:pic>
        <p:nvPicPr>
          <p:cNvPr id="4" name="Picture 3"/>
          <p:cNvPicPr>
            <a:picLocks noChangeAspect="1"/>
          </p:cNvPicPr>
          <p:nvPr/>
        </p:nvPicPr>
        <p:blipFill>
          <a:blip r:embed="rId2"/>
          <a:stretch>
            <a:fillRect/>
          </a:stretch>
        </p:blipFill>
        <p:spPr>
          <a:xfrm>
            <a:off x="7222981" y="1026534"/>
            <a:ext cx="6848475" cy="5248275"/>
          </a:xfrm>
          <a:prstGeom prst="rect">
            <a:avLst/>
          </a:prstGeom>
        </p:spPr>
      </p:pic>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1E1B865-6250-244A-BE59-D26CDF9C89BD}"/>
                  </a:ext>
                </a:extLst>
              </p:cNvPr>
              <p:cNvSpPr txBox="1"/>
              <p:nvPr/>
            </p:nvSpPr>
            <p:spPr>
              <a:xfrm>
                <a:off x="4847725" y="303936"/>
                <a:ext cx="950197" cy="461665"/>
              </a:xfrm>
              <a:prstGeom prst="rect">
                <a:avLst/>
              </a:prstGeom>
              <a:noFill/>
            </p:spPr>
            <p:txBody>
              <a:bodyPr wrap="none" rtlCol="0">
                <a:spAutoFit/>
              </a:bodyPr>
              <a:lstStyle/>
              <a:p>
                <a:r>
                  <a:rPr lang="en-GB" sz="1200" noProof="0" dirty="0"/>
                  <a:t>2</a:t>
                </a:r>
                <a14:m>
                  <m:oMath xmlns:m="http://schemas.openxmlformats.org/officeDocument/2006/math">
                    <m:r>
                      <a:rPr lang="en-GB" sz="1200" i="1" noProof="0">
                        <a:latin typeface="Cambria Math" panose="02040503050406030204" pitchFamily="18" charset="0"/>
                      </a:rPr>
                      <m:t>𝑥</m:t>
                    </m:r>
                    <m:r>
                      <a:rPr lang="en-GB" sz="1200" i="1" noProof="0">
                        <a:latin typeface="Cambria Math" panose="02040503050406030204" pitchFamily="18" charset="0"/>
                      </a:rPr>
                      <m:t>−</m:t>
                    </m:r>
                    <m:r>
                      <a:rPr lang="en-GB" sz="1200" i="1" noProof="0">
                        <a:latin typeface="Cambria Math" panose="02040503050406030204" pitchFamily="18" charset="0"/>
                      </a:rPr>
                      <m:t>𝑦</m:t>
                    </m:r>
                    <m:r>
                      <a:rPr lang="en-GB" sz="1200" i="1" noProof="0">
                        <a:latin typeface="Cambria Math" panose="02040503050406030204" pitchFamily="18" charset="0"/>
                      </a:rPr>
                      <m:t>=7</m:t>
                    </m:r>
                  </m:oMath>
                </a14:m>
                <a:br>
                  <a:rPr lang="en-GB" sz="1200" noProof="0" dirty="0"/>
                </a:br>
                <a14:m>
                  <m:oMath xmlns:m="http://schemas.openxmlformats.org/officeDocument/2006/math">
                    <m:r>
                      <a:rPr lang="en-GB" sz="1200" i="1" noProof="0">
                        <a:latin typeface="Cambria Math" panose="02040503050406030204" pitchFamily="18" charset="0"/>
                      </a:rPr>
                      <m:t>3</m:t>
                    </m:r>
                    <m:r>
                      <a:rPr lang="en-GB" sz="1200" i="1" noProof="0">
                        <a:latin typeface="Cambria Math" panose="02040503050406030204" pitchFamily="18" charset="0"/>
                      </a:rPr>
                      <m:t>𝑥</m:t>
                    </m:r>
                    <m:r>
                      <a:rPr lang="en-GB" sz="1200" i="1" noProof="0">
                        <a:latin typeface="Cambria Math" panose="02040503050406030204" pitchFamily="18" charset="0"/>
                      </a:rPr>
                      <m:t>+</m:t>
                    </m:r>
                    <m:r>
                      <a:rPr lang="en-GB" sz="1200" i="1" noProof="0">
                        <a:latin typeface="Cambria Math" panose="02040503050406030204" pitchFamily="18" charset="0"/>
                      </a:rPr>
                      <m:t>𝑦</m:t>
                    </m:r>
                    <m:r>
                      <a:rPr lang="en-GB" sz="1200" i="1" noProof="0">
                        <a:latin typeface="Cambria Math" panose="02040503050406030204" pitchFamily="18" charset="0"/>
                      </a:rPr>
                      <m:t>=8</m:t>
                    </m:r>
                  </m:oMath>
                </a14:m>
                <a:r>
                  <a:rPr lang="en-GB" sz="1200" noProof="0" dirty="0">
                    <a:effectLst/>
                  </a:rPr>
                  <a:t> </a:t>
                </a:r>
                <a:endParaRPr lang="en-GB" sz="1200" noProof="0" dirty="0"/>
              </a:p>
            </p:txBody>
          </p:sp>
        </mc:Choice>
        <mc:Fallback xmlns="">
          <p:sp>
            <p:nvSpPr>
              <p:cNvPr id="46" name="TextBox 45">
                <a:extLst>
                  <a:ext uri="{FF2B5EF4-FFF2-40B4-BE49-F238E27FC236}">
                    <a16:creationId xmlns:a16="http://schemas.microsoft.com/office/drawing/2014/main" id="{91E1B865-6250-244A-BE59-D26CDF9C89BD}"/>
                  </a:ext>
                </a:extLst>
              </p:cNvPr>
              <p:cNvSpPr txBox="1">
                <a:spLocks noRot="1" noChangeAspect="1" noMove="1" noResize="1" noEditPoints="1" noAdjustHandles="1" noChangeArrowheads="1" noChangeShapeType="1" noTextEdit="1"/>
              </p:cNvSpPr>
              <p:nvPr/>
            </p:nvSpPr>
            <p:spPr>
              <a:xfrm>
                <a:off x="4847725" y="303936"/>
                <a:ext cx="950197" cy="461665"/>
              </a:xfrm>
              <a:prstGeom prst="rect">
                <a:avLst/>
              </a:prstGeom>
              <a:blipFill>
                <a:blip r:embed="rId3"/>
                <a:stretch>
                  <a:fillRect t="-1316"/>
                </a:stretch>
              </a:blipFill>
            </p:spPr>
            <p:txBody>
              <a:bodyPr/>
              <a:lstStyle/>
              <a:p>
                <a:r>
                  <a:rPr lang="en-US">
                    <a:noFill/>
                  </a:rPr>
                  <a:t> </a:t>
                </a:r>
              </a:p>
            </p:txBody>
          </p:sp>
        </mc:Fallback>
      </mc:AlternateContent>
      <p:sp>
        <p:nvSpPr>
          <p:cNvPr id="59" name="Rectangle 58">
            <a:extLst>
              <a:ext uri="{FF2B5EF4-FFF2-40B4-BE49-F238E27FC236}">
                <a16:creationId xmlns:a16="http://schemas.microsoft.com/office/drawing/2014/main" id="{BDC339EB-B487-6C4E-AF4F-D7E88EE63021}"/>
              </a:ext>
            </a:extLst>
          </p:cNvPr>
          <p:cNvSpPr/>
          <p:nvPr/>
        </p:nvSpPr>
        <p:spPr>
          <a:xfrm>
            <a:off x="4658861" y="751016"/>
            <a:ext cx="2100987" cy="423199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0" name="Rectangle 59">
            <a:extLst>
              <a:ext uri="{FF2B5EF4-FFF2-40B4-BE49-F238E27FC236}">
                <a16:creationId xmlns:a16="http://schemas.microsoft.com/office/drawing/2014/main" id="{EFEA5655-F8B4-E44B-AD11-37BDE174E0E4}"/>
              </a:ext>
            </a:extLst>
          </p:cNvPr>
          <p:cNvSpPr/>
          <p:nvPr/>
        </p:nvSpPr>
        <p:spPr>
          <a:xfrm>
            <a:off x="5589373" y="4610812"/>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61" name="Rectangle 60">
            <a:extLst>
              <a:ext uri="{FF2B5EF4-FFF2-40B4-BE49-F238E27FC236}">
                <a16:creationId xmlns:a16="http://schemas.microsoft.com/office/drawing/2014/main" id="{FB12ABF5-462E-6044-8D21-BD0BF63C4036}"/>
              </a:ext>
            </a:extLst>
          </p:cNvPr>
          <p:cNvSpPr/>
          <p:nvPr/>
        </p:nvSpPr>
        <p:spPr>
          <a:xfrm>
            <a:off x="6376396" y="4607694"/>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62" name="Rectangle 61">
            <a:extLst>
              <a:ext uri="{FF2B5EF4-FFF2-40B4-BE49-F238E27FC236}">
                <a16:creationId xmlns:a16="http://schemas.microsoft.com/office/drawing/2014/main" id="{AC357ECC-A710-0A49-95CD-DEF7B6D6DED8}"/>
              </a:ext>
            </a:extLst>
          </p:cNvPr>
          <p:cNvSpPr/>
          <p:nvPr/>
        </p:nvSpPr>
        <p:spPr>
          <a:xfrm>
            <a:off x="5102138" y="4567846"/>
            <a:ext cx="1381880" cy="369332"/>
          </a:xfrm>
          <a:prstGeom prst="rect">
            <a:avLst/>
          </a:prstGeom>
        </p:spPr>
        <p:txBody>
          <a:bodyPr wrap="square">
            <a:spAutoFit/>
          </a:bodyPr>
          <a:lstStyle/>
          <a:p>
            <a:endParaRPr lang="en-GB" sz="400" noProof="0" dirty="0"/>
          </a:p>
          <a:p>
            <a:pPr lvl="0" algn="ctr"/>
            <a:r>
              <a:rPr lang="en-GB" sz="1400" noProof="0" dirty="0">
                <a:solidFill>
                  <a:prstClr val="black"/>
                </a:solidFill>
              </a:rPr>
              <a:t>x  =            , y  =     </a:t>
            </a:r>
          </a:p>
        </p:txBody>
      </p:sp>
      <p:grpSp>
        <p:nvGrpSpPr>
          <p:cNvPr id="49" name="Group 48">
            <a:extLst>
              <a:ext uri="{FF2B5EF4-FFF2-40B4-BE49-F238E27FC236}">
                <a16:creationId xmlns:a16="http://schemas.microsoft.com/office/drawing/2014/main" id="{E8ADBF54-9A02-6E46-8CC7-FADDEC4F4C8B}"/>
              </a:ext>
            </a:extLst>
          </p:cNvPr>
          <p:cNvGrpSpPr/>
          <p:nvPr/>
        </p:nvGrpSpPr>
        <p:grpSpPr>
          <a:xfrm>
            <a:off x="2388168" y="751016"/>
            <a:ext cx="2100987" cy="4231996"/>
            <a:chOff x="4648070" y="5610829"/>
            <a:chExt cx="2100987" cy="4231996"/>
          </a:xfrm>
        </p:grpSpPr>
        <p:sp>
          <p:nvSpPr>
            <p:cNvPr id="55" name="Rectangle 54">
              <a:extLst>
                <a:ext uri="{FF2B5EF4-FFF2-40B4-BE49-F238E27FC236}">
                  <a16:creationId xmlns:a16="http://schemas.microsoft.com/office/drawing/2014/main" id="{79DD636A-D808-EB45-9F0E-62EFBD26276E}"/>
                </a:ext>
              </a:extLst>
            </p:cNvPr>
            <p:cNvSpPr/>
            <p:nvPr/>
          </p:nvSpPr>
          <p:spPr>
            <a:xfrm>
              <a:off x="4648070" y="5610829"/>
              <a:ext cx="2100987" cy="423199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6" name="Rectangle 55">
              <a:extLst>
                <a:ext uri="{FF2B5EF4-FFF2-40B4-BE49-F238E27FC236}">
                  <a16:creationId xmlns:a16="http://schemas.microsoft.com/office/drawing/2014/main" id="{43185CCF-E601-BC45-BD80-920AA9B7C2C2}"/>
                </a:ext>
              </a:extLst>
            </p:cNvPr>
            <p:cNvSpPr/>
            <p:nvPr/>
          </p:nvSpPr>
          <p:spPr>
            <a:xfrm>
              <a:off x="5578582" y="947062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57" name="Rectangle 56">
              <a:extLst>
                <a:ext uri="{FF2B5EF4-FFF2-40B4-BE49-F238E27FC236}">
                  <a16:creationId xmlns:a16="http://schemas.microsoft.com/office/drawing/2014/main" id="{2E9C1E0F-15A1-FF4B-8677-58332FBA0285}"/>
                </a:ext>
              </a:extLst>
            </p:cNvPr>
            <p:cNvSpPr/>
            <p:nvPr/>
          </p:nvSpPr>
          <p:spPr>
            <a:xfrm>
              <a:off x="6365605" y="9467507"/>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58" name="Rectangle 57">
              <a:extLst>
                <a:ext uri="{FF2B5EF4-FFF2-40B4-BE49-F238E27FC236}">
                  <a16:creationId xmlns:a16="http://schemas.microsoft.com/office/drawing/2014/main" id="{0A58EC38-711B-A447-B1DE-C606D2A19D11}"/>
                </a:ext>
              </a:extLst>
            </p:cNvPr>
            <p:cNvSpPr/>
            <p:nvPr/>
          </p:nvSpPr>
          <p:spPr>
            <a:xfrm>
              <a:off x="5091347" y="9427659"/>
              <a:ext cx="1381880" cy="369332"/>
            </a:xfrm>
            <a:prstGeom prst="rect">
              <a:avLst/>
            </a:prstGeom>
          </p:spPr>
          <p:txBody>
            <a:bodyPr wrap="square">
              <a:spAutoFit/>
            </a:bodyPr>
            <a:lstStyle/>
            <a:p>
              <a:endParaRPr lang="en-GB" sz="400" noProof="0" dirty="0"/>
            </a:p>
            <a:p>
              <a:pPr lvl="0" algn="ctr"/>
              <a:r>
                <a:rPr lang="en-GB" sz="1400" noProof="0" dirty="0">
                  <a:solidFill>
                    <a:prstClr val="black"/>
                  </a:solidFill>
                </a:rPr>
                <a:t>x  =            , y  =     </a:t>
              </a:r>
            </a:p>
          </p:txBody>
        </p:sp>
      </p:grpSp>
      <p:grpSp>
        <p:nvGrpSpPr>
          <p:cNvPr id="50" name="Group 49">
            <a:extLst>
              <a:ext uri="{FF2B5EF4-FFF2-40B4-BE49-F238E27FC236}">
                <a16:creationId xmlns:a16="http://schemas.microsoft.com/office/drawing/2014/main" id="{EC8B0841-3BE2-B841-942A-5BAF0717ADF5}"/>
              </a:ext>
            </a:extLst>
          </p:cNvPr>
          <p:cNvGrpSpPr/>
          <p:nvPr/>
        </p:nvGrpSpPr>
        <p:grpSpPr>
          <a:xfrm>
            <a:off x="119734" y="751016"/>
            <a:ext cx="2100987" cy="4231996"/>
            <a:chOff x="4648070" y="5610829"/>
            <a:chExt cx="2100987" cy="4231996"/>
          </a:xfrm>
        </p:grpSpPr>
        <p:sp>
          <p:nvSpPr>
            <p:cNvPr id="51" name="Rectangle 50">
              <a:extLst>
                <a:ext uri="{FF2B5EF4-FFF2-40B4-BE49-F238E27FC236}">
                  <a16:creationId xmlns:a16="http://schemas.microsoft.com/office/drawing/2014/main" id="{3594047B-870B-F246-810C-FF50C3A462B0}"/>
                </a:ext>
              </a:extLst>
            </p:cNvPr>
            <p:cNvSpPr/>
            <p:nvPr/>
          </p:nvSpPr>
          <p:spPr>
            <a:xfrm>
              <a:off x="4648070" y="5610829"/>
              <a:ext cx="2100987" cy="423199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2" name="Rectangle 51">
              <a:extLst>
                <a:ext uri="{FF2B5EF4-FFF2-40B4-BE49-F238E27FC236}">
                  <a16:creationId xmlns:a16="http://schemas.microsoft.com/office/drawing/2014/main" id="{DF2A8D70-204D-2545-9F12-FD471607F0C4}"/>
                </a:ext>
              </a:extLst>
            </p:cNvPr>
            <p:cNvSpPr/>
            <p:nvPr/>
          </p:nvSpPr>
          <p:spPr>
            <a:xfrm>
              <a:off x="5578582" y="947062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53" name="Rectangle 52">
              <a:extLst>
                <a:ext uri="{FF2B5EF4-FFF2-40B4-BE49-F238E27FC236}">
                  <a16:creationId xmlns:a16="http://schemas.microsoft.com/office/drawing/2014/main" id="{110EE1A5-6F43-534D-BE51-3DE1BDD4326C}"/>
                </a:ext>
              </a:extLst>
            </p:cNvPr>
            <p:cNvSpPr/>
            <p:nvPr/>
          </p:nvSpPr>
          <p:spPr>
            <a:xfrm>
              <a:off x="6365605" y="9467507"/>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54" name="Rectangle 53">
              <a:extLst>
                <a:ext uri="{FF2B5EF4-FFF2-40B4-BE49-F238E27FC236}">
                  <a16:creationId xmlns:a16="http://schemas.microsoft.com/office/drawing/2014/main" id="{55F9ACF4-E0F9-6E43-B8F2-9B6B35CCCBC8}"/>
                </a:ext>
              </a:extLst>
            </p:cNvPr>
            <p:cNvSpPr/>
            <p:nvPr/>
          </p:nvSpPr>
          <p:spPr>
            <a:xfrm>
              <a:off x="5091347" y="9427659"/>
              <a:ext cx="1381880" cy="369332"/>
            </a:xfrm>
            <a:prstGeom prst="rect">
              <a:avLst/>
            </a:prstGeom>
          </p:spPr>
          <p:txBody>
            <a:bodyPr wrap="square">
              <a:spAutoFit/>
            </a:bodyPr>
            <a:lstStyle/>
            <a:p>
              <a:endParaRPr lang="en-GB" sz="400" noProof="0" dirty="0"/>
            </a:p>
            <a:p>
              <a:pPr lvl="0" algn="ctr"/>
              <a:r>
                <a:rPr lang="en-GB" sz="1400" noProof="0" dirty="0">
                  <a:solidFill>
                    <a:prstClr val="black"/>
                  </a:solidFill>
                </a:rPr>
                <a:t>x  =            , y  =     </a:t>
              </a:r>
            </a:p>
          </p:txBody>
        </p:sp>
      </p:grpSp>
      <p:sp>
        <p:nvSpPr>
          <p:cNvPr id="63" name="TextBox 62">
            <a:extLst>
              <a:ext uri="{FF2B5EF4-FFF2-40B4-BE49-F238E27FC236}">
                <a16:creationId xmlns:a16="http://schemas.microsoft.com/office/drawing/2014/main" id="{FF575F3D-64C7-9D4F-8838-4EAEECC85817}"/>
              </a:ext>
            </a:extLst>
          </p:cNvPr>
          <p:cNvSpPr txBox="1"/>
          <p:nvPr/>
        </p:nvSpPr>
        <p:spPr>
          <a:xfrm>
            <a:off x="3192" y="289351"/>
            <a:ext cx="388248" cy="307777"/>
          </a:xfrm>
          <a:prstGeom prst="rect">
            <a:avLst/>
          </a:prstGeom>
          <a:noFill/>
        </p:spPr>
        <p:txBody>
          <a:bodyPr wrap="none" rtlCol="0">
            <a:spAutoFit/>
          </a:bodyPr>
          <a:lstStyle/>
          <a:p>
            <a:r>
              <a:rPr lang="en-GB" sz="1400" noProof="0" dirty="0"/>
              <a:t>(d)</a:t>
            </a:r>
          </a:p>
        </p:txBody>
      </p:sp>
      <p:sp>
        <p:nvSpPr>
          <p:cNvPr id="64" name="TextBox 63">
            <a:extLst>
              <a:ext uri="{FF2B5EF4-FFF2-40B4-BE49-F238E27FC236}">
                <a16:creationId xmlns:a16="http://schemas.microsoft.com/office/drawing/2014/main" id="{13732322-D00B-544E-AD26-35BD38C02835}"/>
              </a:ext>
            </a:extLst>
          </p:cNvPr>
          <p:cNvSpPr txBox="1"/>
          <p:nvPr/>
        </p:nvSpPr>
        <p:spPr>
          <a:xfrm>
            <a:off x="2259172" y="283763"/>
            <a:ext cx="383438" cy="307777"/>
          </a:xfrm>
          <a:prstGeom prst="rect">
            <a:avLst/>
          </a:prstGeom>
          <a:noFill/>
        </p:spPr>
        <p:txBody>
          <a:bodyPr wrap="none" rtlCol="0">
            <a:spAutoFit/>
          </a:bodyPr>
          <a:lstStyle/>
          <a:p>
            <a:r>
              <a:rPr lang="en-GB" sz="1400" noProof="0" dirty="0"/>
              <a:t>(e)</a:t>
            </a:r>
          </a:p>
        </p:txBody>
      </p:sp>
      <p:sp>
        <p:nvSpPr>
          <p:cNvPr id="65" name="TextBox 64">
            <a:extLst>
              <a:ext uri="{FF2B5EF4-FFF2-40B4-BE49-F238E27FC236}">
                <a16:creationId xmlns:a16="http://schemas.microsoft.com/office/drawing/2014/main" id="{2CA6ACC3-CD5B-8C47-AD1E-3E0C9061C8ED}"/>
              </a:ext>
            </a:extLst>
          </p:cNvPr>
          <p:cNvSpPr txBox="1"/>
          <p:nvPr/>
        </p:nvSpPr>
        <p:spPr>
          <a:xfrm>
            <a:off x="4523168" y="292060"/>
            <a:ext cx="350802" cy="307777"/>
          </a:xfrm>
          <a:prstGeom prst="rect">
            <a:avLst/>
          </a:prstGeom>
          <a:noFill/>
        </p:spPr>
        <p:txBody>
          <a:bodyPr wrap="none" rtlCol="0">
            <a:spAutoFit/>
          </a:bodyPr>
          <a:lstStyle/>
          <a:p>
            <a:r>
              <a:rPr lang="en-GB" sz="1400" noProof="0" dirty="0"/>
              <a:t>(f)</a:t>
            </a:r>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6A44E6D6-1EB8-5D43-8972-774C12459E29}"/>
                  </a:ext>
                </a:extLst>
              </p:cNvPr>
              <p:cNvSpPr txBox="1"/>
              <p:nvPr/>
            </p:nvSpPr>
            <p:spPr>
              <a:xfrm>
                <a:off x="378614" y="289351"/>
                <a:ext cx="103515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i="1" noProof="0" smtClean="0">
                          <a:latin typeface="Cambria Math" panose="02040503050406030204" pitchFamily="18" charset="0"/>
                        </a:rPr>
                        <m:t>3</m:t>
                      </m:r>
                      <m:r>
                        <a:rPr lang="en-GB" sz="1200" i="1" noProof="0" smtClean="0">
                          <a:latin typeface="Cambria Math" panose="02040503050406030204" pitchFamily="18" charset="0"/>
                        </a:rPr>
                        <m:t>𝑥</m:t>
                      </m:r>
                      <m:r>
                        <a:rPr lang="en-GB" sz="1200" i="1" noProof="0" smtClean="0">
                          <a:latin typeface="Cambria Math" panose="02040503050406030204" pitchFamily="18" charset="0"/>
                        </a:rPr>
                        <m:t>−</m:t>
                      </m:r>
                      <m:r>
                        <a:rPr lang="en-GB" sz="1200" i="1" noProof="0" smtClean="0">
                          <a:latin typeface="Cambria Math" panose="02040503050406030204" pitchFamily="18" charset="0"/>
                        </a:rPr>
                        <m:t>𝑦</m:t>
                      </m:r>
                      <m:r>
                        <a:rPr lang="en-GB" sz="1200" i="1" noProof="0" smtClean="0">
                          <a:latin typeface="Cambria Math" panose="02040503050406030204" pitchFamily="18" charset="0"/>
                        </a:rPr>
                        <m:t>=3</m:t>
                      </m:r>
                    </m:oMath>
                    <m:oMath xmlns:m="http://schemas.openxmlformats.org/officeDocument/2006/math">
                      <m:r>
                        <a:rPr lang="en-GB" sz="1200" i="1" noProof="0">
                          <a:latin typeface="Cambria Math" panose="02040503050406030204" pitchFamily="18" charset="0"/>
                        </a:rPr>
                        <m:t>5</m:t>
                      </m:r>
                      <m:r>
                        <a:rPr lang="en-GB" sz="1200" i="1" noProof="0">
                          <a:latin typeface="Cambria Math" panose="02040503050406030204" pitchFamily="18" charset="0"/>
                        </a:rPr>
                        <m:t>𝑥</m:t>
                      </m:r>
                      <m:r>
                        <a:rPr lang="en-GB" sz="1200" i="1" noProof="0">
                          <a:latin typeface="Cambria Math" panose="02040503050406030204" pitchFamily="18" charset="0"/>
                        </a:rPr>
                        <m:t>+</m:t>
                      </m:r>
                      <m:r>
                        <a:rPr lang="en-GB" sz="1200" i="1" noProof="0">
                          <a:latin typeface="Cambria Math" panose="02040503050406030204" pitchFamily="18" charset="0"/>
                        </a:rPr>
                        <m:t>𝑦</m:t>
                      </m:r>
                      <m:r>
                        <a:rPr lang="en-GB" sz="1200" i="1" noProof="0">
                          <a:latin typeface="Cambria Math" panose="02040503050406030204" pitchFamily="18" charset="0"/>
                        </a:rPr>
                        <m:t>=13</m:t>
                      </m:r>
                    </m:oMath>
                  </m:oMathPara>
                </a14:m>
                <a:endParaRPr lang="en-GB" sz="1200" noProof="0" dirty="0"/>
              </a:p>
            </p:txBody>
          </p:sp>
        </mc:Choice>
        <mc:Fallback xmlns="">
          <p:sp>
            <p:nvSpPr>
              <p:cNvPr id="66" name="TextBox 65">
                <a:extLst>
                  <a:ext uri="{FF2B5EF4-FFF2-40B4-BE49-F238E27FC236}">
                    <a16:creationId xmlns:a16="http://schemas.microsoft.com/office/drawing/2014/main" id="{6A44E6D6-1EB8-5D43-8972-774C12459E29}"/>
                  </a:ext>
                </a:extLst>
              </p:cNvPr>
              <p:cNvSpPr txBox="1">
                <a:spLocks noRot="1" noChangeAspect="1" noMove="1" noResize="1" noEditPoints="1" noAdjustHandles="1" noChangeArrowheads="1" noChangeShapeType="1" noTextEdit="1"/>
              </p:cNvSpPr>
              <p:nvPr/>
            </p:nvSpPr>
            <p:spPr>
              <a:xfrm>
                <a:off x="378614" y="289351"/>
                <a:ext cx="1035155"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2B5DDDF-05E4-BA43-982D-F957385D7968}"/>
                  </a:ext>
                </a:extLst>
              </p:cNvPr>
              <p:cNvSpPr txBox="1"/>
              <p:nvPr/>
            </p:nvSpPr>
            <p:spPr>
              <a:xfrm>
                <a:off x="2566048" y="310158"/>
                <a:ext cx="103515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i="1" noProof="0">
                          <a:latin typeface="Cambria Math" panose="02040503050406030204" pitchFamily="18" charset="0"/>
                        </a:rPr>
                        <m:t>𝑥</m:t>
                      </m:r>
                      <m:r>
                        <a:rPr lang="en-GB" sz="1200" i="1" noProof="0">
                          <a:latin typeface="Cambria Math" panose="02040503050406030204" pitchFamily="18" charset="0"/>
                        </a:rPr>
                        <m:t>−</m:t>
                      </m:r>
                      <m:r>
                        <a:rPr lang="en-GB" sz="1200" i="1" noProof="0">
                          <a:latin typeface="Cambria Math" panose="02040503050406030204" pitchFamily="18" charset="0"/>
                        </a:rPr>
                        <m:t>𝑦</m:t>
                      </m:r>
                      <m:r>
                        <a:rPr lang="en-GB" sz="1200" i="1" noProof="0">
                          <a:latin typeface="Cambria Math" panose="02040503050406030204" pitchFamily="18" charset="0"/>
                        </a:rPr>
                        <m:t>=9</m:t>
                      </m:r>
                    </m:oMath>
                  </m:oMathPara>
                </a14:m>
                <a:br>
                  <a:rPr lang="en-GB" sz="1200" noProof="0" dirty="0"/>
                </a:br>
                <a14:m>
                  <m:oMath xmlns:m="http://schemas.openxmlformats.org/officeDocument/2006/math">
                    <m:r>
                      <a:rPr lang="en-GB" sz="1200" i="1" noProof="0">
                        <a:latin typeface="Cambria Math" panose="02040503050406030204" pitchFamily="18" charset="0"/>
                      </a:rPr>
                      <m:t>3</m:t>
                    </m:r>
                    <m:r>
                      <a:rPr lang="en-GB" sz="1200" i="1" noProof="0">
                        <a:latin typeface="Cambria Math" panose="02040503050406030204" pitchFamily="18" charset="0"/>
                      </a:rPr>
                      <m:t>𝑥</m:t>
                    </m:r>
                    <m:r>
                      <a:rPr lang="en-GB" sz="1200" i="1" noProof="0">
                        <a:latin typeface="Cambria Math" panose="02040503050406030204" pitchFamily="18" charset="0"/>
                      </a:rPr>
                      <m:t>+</m:t>
                    </m:r>
                    <m:r>
                      <a:rPr lang="en-GB" sz="1200" i="1" noProof="0">
                        <a:latin typeface="Cambria Math" panose="02040503050406030204" pitchFamily="18" charset="0"/>
                      </a:rPr>
                      <m:t>𝑦</m:t>
                    </m:r>
                    <m:r>
                      <a:rPr lang="en-GB" sz="1200" i="1" noProof="0">
                        <a:latin typeface="Cambria Math" panose="02040503050406030204" pitchFamily="18" charset="0"/>
                      </a:rPr>
                      <m:t>=11</m:t>
                    </m:r>
                  </m:oMath>
                </a14:m>
                <a:r>
                  <a:rPr lang="en-GB" sz="1200" noProof="0" dirty="0">
                    <a:effectLst/>
                  </a:rPr>
                  <a:t> </a:t>
                </a:r>
                <a:endParaRPr lang="en-GB" sz="1200" noProof="0" dirty="0"/>
              </a:p>
            </p:txBody>
          </p:sp>
        </mc:Choice>
        <mc:Fallback xmlns="">
          <p:sp>
            <p:nvSpPr>
              <p:cNvPr id="67" name="TextBox 66">
                <a:extLst>
                  <a:ext uri="{FF2B5EF4-FFF2-40B4-BE49-F238E27FC236}">
                    <a16:creationId xmlns:a16="http://schemas.microsoft.com/office/drawing/2014/main" id="{12B5DDDF-05E4-BA43-982D-F957385D7968}"/>
                  </a:ext>
                </a:extLst>
              </p:cNvPr>
              <p:cNvSpPr txBox="1">
                <a:spLocks noRot="1" noChangeAspect="1" noMove="1" noResize="1" noEditPoints="1" noAdjustHandles="1" noChangeArrowheads="1" noChangeShapeType="1" noTextEdit="1"/>
              </p:cNvSpPr>
              <p:nvPr/>
            </p:nvSpPr>
            <p:spPr>
              <a:xfrm>
                <a:off x="2566048" y="310158"/>
                <a:ext cx="1035155"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37840AC3-9800-C642-8CAE-BD2A39323EA0}"/>
                  </a:ext>
                </a:extLst>
              </p:cNvPr>
              <p:cNvSpPr txBox="1"/>
              <p:nvPr/>
            </p:nvSpPr>
            <p:spPr>
              <a:xfrm>
                <a:off x="2556583" y="4986083"/>
                <a:ext cx="112011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i="1" noProof="0" smtClean="0">
                          <a:latin typeface="Cambria Math" panose="02040503050406030204" pitchFamily="18" charset="0"/>
                        </a:rPr>
                        <m:t>3</m:t>
                      </m:r>
                      <m:r>
                        <a:rPr lang="en-GB" sz="1200" i="1" noProof="0" smtClean="0">
                          <a:latin typeface="Cambria Math" panose="02040503050406030204" pitchFamily="18" charset="0"/>
                        </a:rPr>
                        <m:t>𝑥</m:t>
                      </m:r>
                      <m:r>
                        <a:rPr lang="en-GB" sz="1200" i="1" noProof="0" smtClean="0">
                          <a:latin typeface="Cambria Math" panose="02040503050406030204" pitchFamily="18" charset="0"/>
                        </a:rPr>
                        <m:t>−4</m:t>
                      </m:r>
                      <m:r>
                        <a:rPr lang="en-GB" sz="1200" i="1" noProof="0" smtClean="0">
                          <a:latin typeface="Cambria Math" panose="02040503050406030204" pitchFamily="18" charset="0"/>
                        </a:rPr>
                        <m:t>𝑦</m:t>
                      </m:r>
                      <m:r>
                        <a:rPr lang="en-GB" sz="1200" i="1" noProof="0" smtClean="0">
                          <a:latin typeface="Cambria Math" panose="02040503050406030204" pitchFamily="18" charset="0"/>
                        </a:rPr>
                        <m:t>=15</m:t>
                      </m:r>
                    </m:oMath>
                  </m:oMathPara>
                </a14:m>
                <a:endParaRPr lang="en-GB" sz="1200" i="1" noProof="0" dirty="0"/>
              </a:p>
              <a:p>
                <a:pPr/>
                <a14:m>
                  <m:oMathPara xmlns:m="http://schemas.openxmlformats.org/officeDocument/2006/math">
                    <m:oMathParaPr>
                      <m:jc m:val="centerGroup"/>
                    </m:oMathParaPr>
                    <m:oMath xmlns:m="http://schemas.openxmlformats.org/officeDocument/2006/math">
                      <m:r>
                        <a:rPr lang="en-GB" sz="1200" i="1" noProof="0">
                          <a:latin typeface="Cambria Math" panose="02040503050406030204" pitchFamily="18" charset="0"/>
                        </a:rPr>
                        <m:t>𝑥</m:t>
                      </m:r>
                      <m:r>
                        <a:rPr lang="en-GB" sz="1200" i="1" noProof="0">
                          <a:latin typeface="Cambria Math" panose="02040503050406030204" pitchFamily="18" charset="0"/>
                        </a:rPr>
                        <m:t>−4</m:t>
                      </m:r>
                      <m:r>
                        <a:rPr lang="en-GB" sz="1200" i="1" noProof="0">
                          <a:latin typeface="Cambria Math" panose="02040503050406030204" pitchFamily="18" charset="0"/>
                        </a:rPr>
                        <m:t>𝑦</m:t>
                      </m:r>
                      <m:r>
                        <a:rPr lang="en-GB" sz="1200" i="1" noProof="0">
                          <a:latin typeface="Cambria Math" panose="02040503050406030204" pitchFamily="18" charset="0"/>
                        </a:rPr>
                        <m:t>=3</m:t>
                      </m:r>
                    </m:oMath>
                  </m:oMathPara>
                </a14:m>
                <a:endParaRPr lang="en-GB" sz="1200" noProof="0" dirty="0"/>
              </a:p>
            </p:txBody>
          </p:sp>
        </mc:Choice>
        <mc:Fallback xmlns="">
          <p:sp>
            <p:nvSpPr>
              <p:cNvPr id="68" name="TextBox 67">
                <a:extLst>
                  <a:ext uri="{FF2B5EF4-FFF2-40B4-BE49-F238E27FC236}">
                    <a16:creationId xmlns:a16="http://schemas.microsoft.com/office/drawing/2014/main" id="{37840AC3-9800-C642-8CAE-BD2A39323EA0}"/>
                  </a:ext>
                </a:extLst>
              </p:cNvPr>
              <p:cNvSpPr txBox="1">
                <a:spLocks noRot="1" noChangeAspect="1" noMove="1" noResize="1" noEditPoints="1" noAdjustHandles="1" noChangeArrowheads="1" noChangeShapeType="1" noTextEdit="1"/>
              </p:cNvSpPr>
              <p:nvPr/>
            </p:nvSpPr>
            <p:spPr>
              <a:xfrm>
                <a:off x="2556583" y="4986083"/>
                <a:ext cx="1120115" cy="461665"/>
              </a:xfrm>
              <a:prstGeom prst="rect">
                <a:avLst/>
              </a:prstGeom>
              <a:blipFill>
                <a:blip r:embed="rId6"/>
                <a:stretch>
                  <a:fillRect b="-1316"/>
                </a:stretch>
              </a:blipFill>
            </p:spPr>
            <p:txBody>
              <a:bodyPr/>
              <a:lstStyle/>
              <a:p>
                <a:r>
                  <a:rPr lang="en-US">
                    <a:noFill/>
                  </a:rPr>
                  <a:t> </a:t>
                </a:r>
              </a:p>
            </p:txBody>
          </p:sp>
        </mc:Fallback>
      </mc:AlternateContent>
      <p:grpSp>
        <p:nvGrpSpPr>
          <p:cNvPr id="69" name="Group 68">
            <a:extLst>
              <a:ext uri="{FF2B5EF4-FFF2-40B4-BE49-F238E27FC236}">
                <a16:creationId xmlns:a16="http://schemas.microsoft.com/office/drawing/2014/main" id="{0B492874-0A4E-4344-8619-664399249948}"/>
              </a:ext>
            </a:extLst>
          </p:cNvPr>
          <p:cNvGrpSpPr/>
          <p:nvPr/>
        </p:nvGrpSpPr>
        <p:grpSpPr>
          <a:xfrm>
            <a:off x="108943" y="5547924"/>
            <a:ext cx="6640114" cy="4231996"/>
            <a:chOff x="108943" y="5610829"/>
            <a:chExt cx="6640114" cy="4231996"/>
          </a:xfrm>
        </p:grpSpPr>
        <p:grpSp>
          <p:nvGrpSpPr>
            <p:cNvPr id="70" name="Group 69">
              <a:extLst>
                <a:ext uri="{FF2B5EF4-FFF2-40B4-BE49-F238E27FC236}">
                  <a16:creationId xmlns:a16="http://schemas.microsoft.com/office/drawing/2014/main" id="{9710C32B-00F9-AC44-A9EF-66AFC185953B}"/>
                </a:ext>
              </a:extLst>
            </p:cNvPr>
            <p:cNvGrpSpPr/>
            <p:nvPr/>
          </p:nvGrpSpPr>
          <p:grpSpPr>
            <a:xfrm>
              <a:off x="4648070" y="5610829"/>
              <a:ext cx="2100987" cy="4231996"/>
              <a:chOff x="4648070" y="5610829"/>
              <a:chExt cx="2100987" cy="4231996"/>
            </a:xfrm>
          </p:grpSpPr>
          <p:sp>
            <p:nvSpPr>
              <p:cNvPr id="81" name="Rectangle 80">
                <a:extLst>
                  <a:ext uri="{FF2B5EF4-FFF2-40B4-BE49-F238E27FC236}">
                    <a16:creationId xmlns:a16="http://schemas.microsoft.com/office/drawing/2014/main" id="{997DBA28-4865-4645-A9EB-65380BA6E5E9}"/>
                  </a:ext>
                </a:extLst>
              </p:cNvPr>
              <p:cNvSpPr/>
              <p:nvPr/>
            </p:nvSpPr>
            <p:spPr>
              <a:xfrm>
                <a:off x="4648070" y="5610829"/>
                <a:ext cx="2100987" cy="423199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2" name="Rectangle 81">
                <a:extLst>
                  <a:ext uri="{FF2B5EF4-FFF2-40B4-BE49-F238E27FC236}">
                    <a16:creationId xmlns:a16="http://schemas.microsoft.com/office/drawing/2014/main" id="{D9124FA7-CDDC-974B-92F2-094E43780177}"/>
                  </a:ext>
                </a:extLst>
              </p:cNvPr>
              <p:cNvSpPr/>
              <p:nvPr/>
            </p:nvSpPr>
            <p:spPr>
              <a:xfrm>
                <a:off x="5578582" y="947062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83" name="Rectangle 82">
                <a:extLst>
                  <a:ext uri="{FF2B5EF4-FFF2-40B4-BE49-F238E27FC236}">
                    <a16:creationId xmlns:a16="http://schemas.microsoft.com/office/drawing/2014/main" id="{22537131-F089-F54D-96D2-B569CC8161D9}"/>
                  </a:ext>
                </a:extLst>
              </p:cNvPr>
              <p:cNvSpPr/>
              <p:nvPr/>
            </p:nvSpPr>
            <p:spPr>
              <a:xfrm>
                <a:off x="6365605" y="9467507"/>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84" name="Rectangle 83">
                <a:extLst>
                  <a:ext uri="{FF2B5EF4-FFF2-40B4-BE49-F238E27FC236}">
                    <a16:creationId xmlns:a16="http://schemas.microsoft.com/office/drawing/2014/main" id="{11BBA2C4-40A6-6942-8C1B-D69DA1D59F4A}"/>
                  </a:ext>
                </a:extLst>
              </p:cNvPr>
              <p:cNvSpPr/>
              <p:nvPr/>
            </p:nvSpPr>
            <p:spPr>
              <a:xfrm>
                <a:off x="5091347" y="9427659"/>
                <a:ext cx="1381880" cy="369332"/>
              </a:xfrm>
              <a:prstGeom prst="rect">
                <a:avLst/>
              </a:prstGeom>
            </p:spPr>
            <p:txBody>
              <a:bodyPr wrap="square">
                <a:spAutoFit/>
              </a:bodyPr>
              <a:lstStyle/>
              <a:p>
                <a:endParaRPr lang="en-GB" sz="400" noProof="0" dirty="0"/>
              </a:p>
              <a:p>
                <a:pPr lvl="0" algn="ctr"/>
                <a:r>
                  <a:rPr lang="en-GB" sz="1400" noProof="0" dirty="0">
                    <a:solidFill>
                      <a:prstClr val="black"/>
                    </a:solidFill>
                  </a:rPr>
                  <a:t>x  =            , y  =     </a:t>
                </a:r>
              </a:p>
            </p:txBody>
          </p:sp>
        </p:grpSp>
        <p:grpSp>
          <p:nvGrpSpPr>
            <p:cNvPr id="71" name="Group 70">
              <a:extLst>
                <a:ext uri="{FF2B5EF4-FFF2-40B4-BE49-F238E27FC236}">
                  <a16:creationId xmlns:a16="http://schemas.microsoft.com/office/drawing/2014/main" id="{632A11E4-44A9-BD41-9308-05DA6A21F73F}"/>
                </a:ext>
              </a:extLst>
            </p:cNvPr>
            <p:cNvGrpSpPr/>
            <p:nvPr/>
          </p:nvGrpSpPr>
          <p:grpSpPr>
            <a:xfrm>
              <a:off x="2377377" y="5610829"/>
              <a:ext cx="2100987" cy="4231996"/>
              <a:chOff x="4648070" y="5610829"/>
              <a:chExt cx="2100987" cy="4231996"/>
            </a:xfrm>
          </p:grpSpPr>
          <p:sp>
            <p:nvSpPr>
              <p:cNvPr id="77" name="Rectangle 76">
                <a:extLst>
                  <a:ext uri="{FF2B5EF4-FFF2-40B4-BE49-F238E27FC236}">
                    <a16:creationId xmlns:a16="http://schemas.microsoft.com/office/drawing/2014/main" id="{A8AC9E28-6195-CA4B-954C-B746439F29F7}"/>
                  </a:ext>
                </a:extLst>
              </p:cNvPr>
              <p:cNvSpPr/>
              <p:nvPr/>
            </p:nvSpPr>
            <p:spPr>
              <a:xfrm>
                <a:off x="4648070" y="5610829"/>
                <a:ext cx="2100987" cy="423199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8" name="Rectangle 77">
                <a:extLst>
                  <a:ext uri="{FF2B5EF4-FFF2-40B4-BE49-F238E27FC236}">
                    <a16:creationId xmlns:a16="http://schemas.microsoft.com/office/drawing/2014/main" id="{246EDF39-343B-784A-BC45-1C42EA9AA0F0}"/>
                  </a:ext>
                </a:extLst>
              </p:cNvPr>
              <p:cNvSpPr/>
              <p:nvPr/>
            </p:nvSpPr>
            <p:spPr>
              <a:xfrm>
                <a:off x="5578582" y="947062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79" name="Rectangle 78">
                <a:extLst>
                  <a:ext uri="{FF2B5EF4-FFF2-40B4-BE49-F238E27FC236}">
                    <a16:creationId xmlns:a16="http://schemas.microsoft.com/office/drawing/2014/main" id="{BD1D76DB-5C5E-CF45-B896-5C2F2A1E5C05}"/>
                  </a:ext>
                </a:extLst>
              </p:cNvPr>
              <p:cNvSpPr/>
              <p:nvPr/>
            </p:nvSpPr>
            <p:spPr>
              <a:xfrm>
                <a:off x="6365605" y="9467507"/>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80" name="Rectangle 79">
                <a:extLst>
                  <a:ext uri="{FF2B5EF4-FFF2-40B4-BE49-F238E27FC236}">
                    <a16:creationId xmlns:a16="http://schemas.microsoft.com/office/drawing/2014/main" id="{29DBB73E-5C8D-1448-8908-B36E5512E683}"/>
                  </a:ext>
                </a:extLst>
              </p:cNvPr>
              <p:cNvSpPr/>
              <p:nvPr/>
            </p:nvSpPr>
            <p:spPr>
              <a:xfrm>
                <a:off x="5091347" y="9427659"/>
                <a:ext cx="1381880" cy="369332"/>
              </a:xfrm>
              <a:prstGeom prst="rect">
                <a:avLst/>
              </a:prstGeom>
            </p:spPr>
            <p:txBody>
              <a:bodyPr wrap="square">
                <a:spAutoFit/>
              </a:bodyPr>
              <a:lstStyle/>
              <a:p>
                <a:endParaRPr lang="en-GB" sz="400" noProof="0" dirty="0"/>
              </a:p>
              <a:p>
                <a:pPr lvl="0" algn="ctr"/>
                <a:r>
                  <a:rPr lang="en-GB" sz="1400" noProof="0" dirty="0">
                    <a:solidFill>
                      <a:prstClr val="black"/>
                    </a:solidFill>
                  </a:rPr>
                  <a:t>x  =            , y  =     </a:t>
                </a:r>
              </a:p>
            </p:txBody>
          </p:sp>
        </p:grpSp>
        <p:grpSp>
          <p:nvGrpSpPr>
            <p:cNvPr id="72" name="Group 71">
              <a:extLst>
                <a:ext uri="{FF2B5EF4-FFF2-40B4-BE49-F238E27FC236}">
                  <a16:creationId xmlns:a16="http://schemas.microsoft.com/office/drawing/2014/main" id="{24DBAB02-91B3-8848-AADE-9AE7E5EA9CC7}"/>
                </a:ext>
              </a:extLst>
            </p:cNvPr>
            <p:cNvGrpSpPr/>
            <p:nvPr/>
          </p:nvGrpSpPr>
          <p:grpSpPr>
            <a:xfrm>
              <a:off x="108943" y="5610829"/>
              <a:ext cx="2100987" cy="4231996"/>
              <a:chOff x="4648070" y="5610829"/>
              <a:chExt cx="2100987" cy="4231996"/>
            </a:xfrm>
          </p:grpSpPr>
          <p:sp>
            <p:nvSpPr>
              <p:cNvPr id="73" name="Rectangle 72">
                <a:extLst>
                  <a:ext uri="{FF2B5EF4-FFF2-40B4-BE49-F238E27FC236}">
                    <a16:creationId xmlns:a16="http://schemas.microsoft.com/office/drawing/2014/main" id="{C585EC8E-DF35-E140-A351-143B43098446}"/>
                  </a:ext>
                </a:extLst>
              </p:cNvPr>
              <p:cNvSpPr/>
              <p:nvPr/>
            </p:nvSpPr>
            <p:spPr>
              <a:xfrm>
                <a:off x="4648070" y="5610829"/>
                <a:ext cx="2100987" cy="423199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4" name="Rectangle 73">
                <a:extLst>
                  <a:ext uri="{FF2B5EF4-FFF2-40B4-BE49-F238E27FC236}">
                    <a16:creationId xmlns:a16="http://schemas.microsoft.com/office/drawing/2014/main" id="{A6D88990-7EF4-574A-8235-4BC89F08A77E}"/>
                  </a:ext>
                </a:extLst>
              </p:cNvPr>
              <p:cNvSpPr/>
              <p:nvPr/>
            </p:nvSpPr>
            <p:spPr>
              <a:xfrm>
                <a:off x="5578582" y="947062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75" name="Rectangle 74">
                <a:extLst>
                  <a:ext uri="{FF2B5EF4-FFF2-40B4-BE49-F238E27FC236}">
                    <a16:creationId xmlns:a16="http://schemas.microsoft.com/office/drawing/2014/main" id="{F7646A3C-D33A-CA44-BC41-C4CA0F68FBF6}"/>
                  </a:ext>
                </a:extLst>
              </p:cNvPr>
              <p:cNvSpPr/>
              <p:nvPr/>
            </p:nvSpPr>
            <p:spPr>
              <a:xfrm>
                <a:off x="6365605" y="9467507"/>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76" name="Rectangle 75">
                <a:extLst>
                  <a:ext uri="{FF2B5EF4-FFF2-40B4-BE49-F238E27FC236}">
                    <a16:creationId xmlns:a16="http://schemas.microsoft.com/office/drawing/2014/main" id="{D0512EF8-9F8C-F442-A10C-4EE72212E2F5}"/>
                  </a:ext>
                </a:extLst>
              </p:cNvPr>
              <p:cNvSpPr/>
              <p:nvPr/>
            </p:nvSpPr>
            <p:spPr>
              <a:xfrm>
                <a:off x="5091347" y="9427659"/>
                <a:ext cx="1381880" cy="369332"/>
              </a:xfrm>
              <a:prstGeom prst="rect">
                <a:avLst/>
              </a:prstGeom>
            </p:spPr>
            <p:txBody>
              <a:bodyPr wrap="square">
                <a:spAutoFit/>
              </a:bodyPr>
              <a:lstStyle/>
              <a:p>
                <a:endParaRPr lang="en-GB" sz="400" noProof="0" dirty="0"/>
              </a:p>
              <a:p>
                <a:pPr lvl="0" algn="ctr"/>
                <a:r>
                  <a:rPr lang="en-GB" sz="1400" noProof="0" dirty="0">
                    <a:solidFill>
                      <a:prstClr val="black"/>
                    </a:solidFill>
                  </a:rPr>
                  <a:t>x  =            , y  =     </a:t>
                </a:r>
              </a:p>
            </p:txBody>
          </p:sp>
        </p:grpSp>
      </p:grpSp>
      <p:sp>
        <p:nvSpPr>
          <p:cNvPr id="85" name="TextBox 84">
            <a:extLst>
              <a:ext uri="{FF2B5EF4-FFF2-40B4-BE49-F238E27FC236}">
                <a16:creationId xmlns:a16="http://schemas.microsoft.com/office/drawing/2014/main" id="{597FB771-0021-FC43-AC4F-80F8358A3FCF}"/>
              </a:ext>
            </a:extLst>
          </p:cNvPr>
          <p:cNvSpPr txBox="1"/>
          <p:nvPr/>
        </p:nvSpPr>
        <p:spPr>
          <a:xfrm>
            <a:off x="-7599" y="4972595"/>
            <a:ext cx="379527" cy="307777"/>
          </a:xfrm>
          <a:prstGeom prst="rect">
            <a:avLst/>
          </a:prstGeom>
          <a:noFill/>
        </p:spPr>
        <p:txBody>
          <a:bodyPr wrap="none" rtlCol="0">
            <a:spAutoFit/>
          </a:bodyPr>
          <a:lstStyle/>
          <a:p>
            <a:r>
              <a:rPr lang="en-GB" sz="1400" noProof="0" dirty="0"/>
              <a:t>(g)</a:t>
            </a:r>
          </a:p>
        </p:txBody>
      </p:sp>
      <p:sp>
        <p:nvSpPr>
          <p:cNvPr id="86" name="TextBox 85">
            <a:extLst>
              <a:ext uri="{FF2B5EF4-FFF2-40B4-BE49-F238E27FC236}">
                <a16:creationId xmlns:a16="http://schemas.microsoft.com/office/drawing/2014/main" id="{9136CCE7-1E48-904C-8C28-2D0F333844C2}"/>
              </a:ext>
            </a:extLst>
          </p:cNvPr>
          <p:cNvSpPr txBox="1"/>
          <p:nvPr/>
        </p:nvSpPr>
        <p:spPr>
          <a:xfrm>
            <a:off x="2248381" y="4967007"/>
            <a:ext cx="388248" cy="307777"/>
          </a:xfrm>
          <a:prstGeom prst="rect">
            <a:avLst/>
          </a:prstGeom>
          <a:noFill/>
        </p:spPr>
        <p:txBody>
          <a:bodyPr wrap="none" rtlCol="0">
            <a:spAutoFit/>
          </a:bodyPr>
          <a:lstStyle/>
          <a:p>
            <a:r>
              <a:rPr lang="en-GB" sz="1400" noProof="0" dirty="0"/>
              <a:t>(h)</a:t>
            </a:r>
          </a:p>
        </p:txBody>
      </p:sp>
      <p:sp>
        <p:nvSpPr>
          <p:cNvPr id="87" name="TextBox 86">
            <a:extLst>
              <a:ext uri="{FF2B5EF4-FFF2-40B4-BE49-F238E27FC236}">
                <a16:creationId xmlns:a16="http://schemas.microsoft.com/office/drawing/2014/main" id="{540D706E-60A1-D14B-B25E-BB5C92B8E45E}"/>
              </a:ext>
            </a:extLst>
          </p:cNvPr>
          <p:cNvSpPr txBox="1"/>
          <p:nvPr/>
        </p:nvSpPr>
        <p:spPr>
          <a:xfrm>
            <a:off x="4512377" y="4975304"/>
            <a:ext cx="335348" cy="307777"/>
          </a:xfrm>
          <a:prstGeom prst="rect">
            <a:avLst/>
          </a:prstGeom>
          <a:noFill/>
        </p:spPr>
        <p:txBody>
          <a:bodyPr wrap="none" rtlCol="0">
            <a:spAutoFit/>
          </a:bodyPr>
          <a:lstStyle/>
          <a:p>
            <a:r>
              <a:rPr lang="en-GB" sz="1400" noProof="0" dirty="0"/>
              <a:t>(</a:t>
            </a:r>
            <a:r>
              <a:rPr lang="en-GB" sz="1400" noProof="0" dirty="0" err="1"/>
              <a:t>i</a:t>
            </a:r>
            <a:r>
              <a:rPr lang="en-GB" sz="1400" noProof="0" dirty="0"/>
              <a:t>)</a:t>
            </a:r>
          </a:p>
        </p:txBody>
      </p: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BF35CAC8-4DC5-364E-B9AE-3CA89999D03C}"/>
                  </a:ext>
                </a:extLst>
              </p:cNvPr>
              <p:cNvSpPr txBox="1"/>
              <p:nvPr/>
            </p:nvSpPr>
            <p:spPr>
              <a:xfrm>
                <a:off x="256193" y="4995501"/>
                <a:ext cx="103515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i="1" noProof="0" smtClean="0">
                          <a:latin typeface="Cambria Math" panose="02040503050406030204" pitchFamily="18" charset="0"/>
                        </a:rPr>
                        <m:t>2</m:t>
                      </m:r>
                      <m:r>
                        <a:rPr lang="en-GB" sz="1200" i="1" noProof="0" smtClean="0">
                          <a:latin typeface="Cambria Math" panose="02040503050406030204" pitchFamily="18" charset="0"/>
                        </a:rPr>
                        <m:t>𝑥</m:t>
                      </m:r>
                      <m:r>
                        <a:rPr lang="en-GB" sz="1200" i="1" noProof="0" smtClean="0">
                          <a:latin typeface="Cambria Math" panose="02040503050406030204" pitchFamily="18" charset="0"/>
                        </a:rPr>
                        <m:t>−2</m:t>
                      </m:r>
                      <m:r>
                        <a:rPr lang="en-GB" sz="1200" i="1" noProof="0" smtClean="0">
                          <a:latin typeface="Cambria Math" panose="02040503050406030204" pitchFamily="18" charset="0"/>
                        </a:rPr>
                        <m:t>𝑦</m:t>
                      </m:r>
                      <m:r>
                        <a:rPr lang="en-GB" sz="1200" i="1" noProof="0" smtClean="0">
                          <a:latin typeface="Cambria Math" panose="02040503050406030204" pitchFamily="18" charset="0"/>
                        </a:rPr>
                        <m:t>=5</m:t>
                      </m:r>
                    </m:oMath>
                  </m:oMathPara>
                </a14:m>
                <a:endParaRPr lang="en-GB" sz="1200" i="1" noProof="0" dirty="0"/>
              </a:p>
              <a:p>
                <a:pPr/>
                <a14:m>
                  <m:oMathPara xmlns:m="http://schemas.openxmlformats.org/officeDocument/2006/math">
                    <m:oMathParaPr>
                      <m:jc m:val="centerGroup"/>
                    </m:oMathParaPr>
                    <m:oMath xmlns:m="http://schemas.openxmlformats.org/officeDocument/2006/math">
                      <m:r>
                        <a:rPr lang="en-GB" sz="1200" i="1" noProof="0">
                          <a:latin typeface="Cambria Math" panose="02040503050406030204" pitchFamily="18" charset="0"/>
                        </a:rPr>
                        <m:t>𝑥</m:t>
                      </m:r>
                      <m:r>
                        <a:rPr lang="en-GB" sz="1200" i="1" noProof="0">
                          <a:latin typeface="Cambria Math" panose="02040503050406030204" pitchFamily="18" charset="0"/>
                        </a:rPr>
                        <m:t>−2</m:t>
                      </m:r>
                      <m:r>
                        <a:rPr lang="en-GB" sz="1200" i="1" noProof="0">
                          <a:latin typeface="Cambria Math" panose="02040503050406030204" pitchFamily="18" charset="0"/>
                        </a:rPr>
                        <m:t>𝑦</m:t>
                      </m:r>
                      <m:r>
                        <a:rPr lang="en-GB" sz="1200" i="1" noProof="0">
                          <a:latin typeface="Cambria Math" panose="02040503050406030204" pitchFamily="18" charset="0"/>
                        </a:rPr>
                        <m:t>=3</m:t>
                      </m:r>
                    </m:oMath>
                  </m:oMathPara>
                </a14:m>
                <a:endParaRPr lang="en-GB" sz="1200" noProof="0" dirty="0"/>
              </a:p>
            </p:txBody>
          </p:sp>
        </mc:Choice>
        <mc:Fallback xmlns="">
          <p:sp>
            <p:nvSpPr>
              <p:cNvPr id="88" name="TextBox 87">
                <a:extLst>
                  <a:ext uri="{FF2B5EF4-FFF2-40B4-BE49-F238E27FC236}">
                    <a16:creationId xmlns:a16="http://schemas.microsoft.com/office/drawing/2014/main" id="{BF35CAC8-4DC5-364E-B9AE-3CA89999D03C}"/>
                  </a:ext>
                </a:extLst>
              </p:cNvPr>
              <p:cNvSpPr txBox="1">
                <a:spLocks noRot="1" noChangeAspect="1" noMove="1" noResize="1" noEditPoints="1" noAdjustHandles="1" noChangeArrowheads="1" noChangeShapeType="1" noTextEdit="1"/>
              </p:cNvSpPr>
              <p:nvPr/>
            </p:nvSpPr>
            <p:spPr>
              <a:xfrm>
                <a:off x="256193" y="4995501"/>
                <a:ext cx="1035155" cy="461665"/>
              </a:xfrm>
              <a:prstGeom prst="rect">
                <a:avLst/>
              </a:prstGeom>
              <a:blipFill>
                <a:blip r:embed="rId7"/>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7A32E949-AF3C-884D-ABAD-BC6B5A21E8B7}"/>
                  </a:ext>
                </a:extLst>
              </p:cNvPr>
              <p:cNvSpPr txBox="1"/>
              <p:nvPr/>
            </p:nvSpPr>
            <p:spPr>
              <a:xfrm>
                <a:off x="4785758" y="5015060"/>
                <a:ext cx="112011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i="1" noProof="0" smtClean="0">
                          <a:latin typeface="Cambria Math" panose="02040503050406030204" pitchFamily="18" charset="0"/>
                        </a:rPr>
                        <m:t>3</m:t>
                      </m:r>
                      <m:r>
                        <a:rPr lang="en-GB" sz="1200" i="1" noProof="0" smtClean="0">
                          <a:latin typeface="Cambria Math" panose="02040503050406030204" pitchFamily="18" charset="0"/>
                        </a:rPr>
                        <m:t>𝑥</m:t>
                      </m:r>
                      <m:r>
                        <a:rPr lang="en-GB" sz="1200" i="1" noProof="0" smtClean="0">
                          <a:latin typeface="Cambria Math" panose="02040503050406030204" pitchFamily="18" charset="0"/>
                        </a:rPr>
                        <m:t>−4</m:t>
                      </m:r>
                      <m:r>
                        <a:rPr lang="en-GB" sz="1200" i="1" noProof="0" smtClean="0">
                          <a:latin typeface="Cambria Math" panose="02040503050406030204" pitchFamily="18" charset="0"/>
                        </a:rPr>
                        <m:t>𝑦</m:t>
                      </m:r>
                      <m:r>
                        <a:rPr lang="en-GB" sz="1200" i="1" noProof="0" smtClean="0">
                          <a:latin typeface="Cambria Math" panose="02040503050406030204" pitchFamily="18" charset="0"/>
                        </a:rPr>
                        <m:t>=20</m:t>
                      </m:r>
                    </m:oMath>
                  </m:oMathPara>
                </a14:m>
                <a:endParaRPr lang="en-GB" sz="1200" i="1" noProof="0" dirty="0"/>
              </a:p>
              <a:p>
                <a:pPr/>
                <a14:m>
                  <m:oMathPara xmlns:m="http://schemas.openxmlformats.org/officeDocument/2006/math">
                    <m:oMathParaPr>
                      <m:jc m:val="centerGroup"/>
                    </m:oMathParaPr>
                    <m:oMath xmlns:m="http://schemas.openxmlformats.org/officeDocument/2006/math">
                      <m:r>
                        <a:rPr lang="en-GB" sz="1200" i="1" noProof="0">
                          <a:latin typeface="Cambria Math" panose="02040503050406030204" pitchFamily="18" charset="0"/>
                        </a:rPr>
                        <m:t>𝑥</m:t>
                      </m:r>
                      <m:r>
                        <a:rPr lang="en-GB" sz="1200" i="1" noProof="0">
                          <a:latin typeface="Cambria Math" panose="02040503050406030204" pitchFamily="18" charset="0"/>
                        </a:rPr>
                        <m:t>−4</m:t>
                      </m:r>
                      <m:r>
                        <a:rPr lang="en-GB" sz="1200" i="1" noProof="0">
                          <a:latin typeface="Cambria Math" panose="02040503050406030204" pitchFamily="18" charset="0"/>
                        </a:rPr>
                        <m:t>𝑦</m:t>
                      </m:r>
                      <m:r>
                        <a:rPr lang="en-GB" sz="1200" i="1" noProof="0">
                          <a:latin typeface="Cambria Math" panose="02040503050406030204" pitchFamily="18" charset="0"/>
                        </a:rPr>
                        <m:t>=8</m:t>
                      </m:r>
                    </m:oMath>
                  </m:oMathPara>
                </a14:m>
                <a:endParaRPr lang="en-GB" sz="1200" noProof="0" dirty="0"/>
              </a:p>
            </p:txBody>
          </p:sp>
        </mc:Choice>
        <mc:Fallback xmlns="">
          <p:sp>
            <p:nvSpPr>
              <p:cNvPr id="89" name="TextBox 88">
                <a:extLst>
                  <a:ext uri="{FF2B5EF4-FFF2-40B4-BE49-F238E27FC236}">
                    <a16:creationId xmlns:a16="http://schemas.microsoft.com/office/drawing/2014/main" id="{7A32E949-AF3C-884D-ABAD-BC6B5A21E8B7}"/>
                  </a:ext>
                </a:extLst>
              </p:cNvPr>
              <p:cNvSpPr txBox="1">
                <a:spLocks noRot="1" noChangeAspect="1" noMove="1" noResize="1" noEditPoints="1" noAdjustHandles="1" noChangeArrowheads="1" noChangeShapeType="1" noTextEdit="1"/>
              </p:cNvSpPr>
              <p:nvPr/>
            </p:nvSpPr>
            <p:spPr>
              <a:xfrm>
                <a:off x="4785758" y="5015060"/>
                <a:ext cx="1120115" cy="461665"/>
              </a:xfrm>
              <a:prstGeom prst="rect">
                <a:avLst/>
              </a:prstGeom>
              <a:blipFill>
                <a:blip r:embed="rId8"/>
                <a:stretch>
                  <a:fillRect b="-2667"/>
                </a:stretch>
              </a:blipFill>
            </p:spPr>
            <p:txBody>
              <a:bodyPr/>
              <a:lstStyle/>
              <a:p>
                <a:r>
                  <a:rPr lang="en-US">
                    <a:noFill/>
                  </a:rPr>
                  <a:t> </a:t>
                </a:r>
              </a:p>
            </p:txBody>
          </p:sp>
        </mc:Fallback>
      </mc:AlternateContent>
      <p:sp>
        <p:nvSpPr>
          <p:cNvPr id="47" name="TextBox 46"/>
          <p:cNvSpPr txBox="1"/>
          <p:nvPr/>
        </p:nvSpPr>
        <p:spPr>
          <a:xfrm>
            <a:off x="-7599" y="-8009"/>
            <a:ext cx="1732782" cy="276999"/>
          </a:xfrm>
          <a:prstGeom prst="rect">
            <a:avLst/>
          </a:prstGeom>
          <a:solidFill>
            <a:srgbClr val="0070C0"/>
          </a:solidFill>
          <a:ln w="19050">
            <a:solidFill>
              <a:schemeClr val="tx1"/>
            </a:solidFill>
          </a:ln>
        </p:spPr>
        <p:txBody>
          <a:bodyPr wrap="none" rtlCol="0">
            <a:spAutoFit/>
          </a:bodyPr>
          <a:lstStyle/>
          <a:p>
            <a:r>
              <a:rPr lang="en-GB" sz="1200" noProof="0" dirty="0">
                <a:solidFill>
                  <a:schemeClr val="bg1"/>
                </a:solidFill>
              </a:rPr>
              <a:t>INDEPENDENT PRACTICE</a:t>
            </a:r>
          </a:p>
        </p:txBody>
      </p:sp>
    </p:spTree>
    <p:extLst>
      <p:ext uri="{BB962C8B-B14F-4D97-AF65-F5344CB8AC3E}">
        <p14:creationId xmlns:p14="http://schemas.microsoft.com/office/powerpoint/2010/main" val="18685446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47FDB3-F1CA-1048-A732-E957245FF549}"/>
              </a:ext>
            </a:extLst>
          </p:cNvPr>
          <p:cNvSpPr>
            <a:spLocks noGrp="1"/>
          </p:cNvSpPr>
          <p:nvPr>
            <p:ph type="sldNum" sz="quarter" idx="12"/>
          </p:nvPr>
        </p:nvSpPr>
        <p:spPr>
          <a:xfrm>
            <a:off x="5399292" y="9579067"/>
            <a:ext cx="1543050" cy="527403"/>
          </a:xfrm>
        </p:spPr>
        <p:txBody>
          <a:bodyPr/>
          <a:lstStyle/>
          <a:p>
            <a:fld id="{19F1D9CC-7119-45EC-A96C-D8C0660F3AAB}" type="slidenum">
              <a:rPr lang="en-GB" noProof="0" smtClean="0"/>
              <a:t>40</a:t>
            </a:fld>
            <a:endParaRPr lang="en-GB" noProof="0" dirty="0"/>
          </a:p>
        </p:txBody>
      </p:sp>
      <p:sp>
        <p:nvSpPr>
          <p:cNvPr id="3" name="Rectangle 2">
            <a:extLst>
              <a:ext uri="{FF2B5EF4-FFF2-40B4-BE49-F238E27FC236}">
                <a16:creationId xmlns:a16="http://schemas.microsoft.com/office/drawing/2014/main" id="{4D22C3A5-83FD-F348-A13A-41990BFFB455}"/>
              </a:ext>
            </a:extLst>
          </p:cNvPr>
          <p:cNvSpPr/>
          <p:nvPr/>
        </p:nvSpPr>
        <p:spPr>
          <a:xfrm>
            <a:off x="105113" y="335811"/>
            <a:ext cx="6647773" cy="15283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ysClr val="windowText" lastClr="000000"/>
              </a:solidFill>
            </a:endParaRPr>
          </a:p>
        </p:txBody>
      </p:sp>
      <p:sp>
        <p:nvSpPr>
          <p:cNvPr id="4" name="TextBox 3">
            <a:extLst>
              <a:ext uri="{FF2B5EF4-FFF2-40B4-BE49-F238E27FC236}">
                <a16:creationId xmlns:a16="http://schemas.microsoft.com/office/drawing/2014/main" id="{46CABFFF-8CCA-3F46-BB1D-2812F1283950}"/>
              </a:ext>
            </a:extLst>
          </p:cNvPr>
          <p:cNvSpPr txBox="1"/>
          <p:nvPr/>
        </p:nvSpPr>
        <p:spPr>
          <a:xfrm>
            <a:off x="150921" y="736008"/>
            <a:ext cx="1181457" cy="338554"/>
          </a:xfrm>
          <a:prstGeom prst="rect">
            <a:avLst/>
          </a:prstGeom>
          <a:noFill/>
        </p:spPr>
        <p:txBody>
          <a:bodyPr wrap="square" rtlCol="0">
            <a:spAutoFit/>
          </a:bodyPr>
          <a:lstStyle/>
          <a:p>
            <a:r>
              <a:rPr lang="en-GB" sz="1600" b="1" noProof="0" dirty="0"/>
              <a:t>Objectives:</a:t>
            </a:r>
          </a:p>
        </p:txBody>
      </p:sp>
      <p:sp>
        <p:nvSpPr>
          <p:cNvPr id="5" name="TextBox 4">
            <a:extLst>
              <a:ext uri="{FF2B5EF4-FFF2-40B4-BE49-F238E27FC236}">
                <a16:creationId xmlns:a16="http://schemas.microsoft.com/office/drawing/2014/main" id="{474C4B23-45C4-754A-8432-EA2D2C31880A}"/>
              </a:ext>
            </a:extLst>
          </p:cNvPr>
          <p:cNvSpPr txBox="1"/>
          <p:nvPr/>
        </p:nvSpPr>
        <p:spPr>
          <a:xfrm>
            <a:off x="154731" y="1150074"/>
            <a:ext cx="4486037" cy="830997"/>
          </a:xfrm>
          <a:prstGeom prst="rect">
            <a:avLst/>
          </a:prstGeom>
          <a:noFill/>
        </p:spPr>
        <p:txBody>
          <a:bodyPr wrap="square" rtlCol="0">
            <a:spAutoFit/>
          </a:bodyPr>
          <a:lstStyle/>
          <a:p>
            <a:pPr marL="342900" indent="-342900">
              <a:buFont typeface="+mj-lt"/>
              <a:buAutoNum type="arabicPeriod"/>
              <a:defRPr/>
            </a:pPr>
            <a:r>
              <a:rPr lang="en-GB" sz="1200" noProof="0" dirty="0"/>
              <a:t>Finding the LCM between two numbers.</a:t>
            </a:r>
          </a:p>
          <a:p>
            <a:pPr marL="342900" indent="-342900">
              <a:buFont typeface="+mj-lt"/>
              <a:buAutoNum type="arabicPeriod"/>
              <a:defRPr/>
            </a:pPr>
            <a:r>
              <a:rPr lang="en-GB" sz="1200" noProof="0" dirty="0"/>
              <a:t>Solving simultaneous equations by adjusting one equation.</a:t>
            </a:r>
          </a:p>
          <a:p>
            <a:pPr marL="342900" indent="-342900">
              <a:buFont typeface="+mj-lt"/>
              <a:buAutoNum type="arabicPeriod"/>
              <a:defRPr/>
            </a:pPr>
            <a:r>
              <a:rPr lang="en-GB" sz="1200" noProof="0" dirty="0"/>
              <a:t>Solving simultaneous equations by adjusting both equations. </a:t>
            </a:r>
          </a:p>
          <a:p>
            <a:pPr>
              <a:defRPr/>
            </a:pPr>
            <a:endParaRPr lang="en-GB" sz="1200" noProof="0" dirty="0"/>
          </a:p>
        </p:txBody>
      </p:sp>
      <p:sp>
        <p:nvSpPr>
          <p:cNvPr id="6" name="TextBox 5">
            <a:extLst>
              <a:ext uri="{FF2B5EF4-FFF2-40B4-BE49-F238E27FC236}">
                <a16:creationId xmlns:a16="http://schemas.microsoft.com/office/drawing/2014/main" id="{C5074EF1-46DA-6944-95B7-7A2E909591E4}"/>
              </a:ext>
            </a:extLst>
          </p:cNvPr>
          <p:cNvSpPr txBox="1"/>
          <p:nvPr/>
        </p:nvSpPr>
        <p:spPr>
          <a:xfrm>
            <a:off x="223370" y="407430"/>
            <a:ext cx="6411256" cy="276999"/>
          </a:xfrm>
          <a:prstGeom prst="rect">
            <a:avLst/>
          </a:prstGeom>
          <a:noFill/>
          <a:ln>
            <a:solidFill>
              <a:schemeClr val="tx1"/>
            </a:solidFill>
          </a:ln>
        </p:spPr>
        <p:txBody>
          <a:bodyPr wrap="square" rtlCol="0">
            <a:spAutoFit/>
          </a:bodyPr>
          <a:lstStyle/>
          <a:p>
            <a:pPr algn="ctr"/>
            <a:r>
              <a:rPr lang="en-GB" sz="1200" b="1" noProof="0" dirty="0"/>
              <a:t>LEARNING OUTCOME: To solve simultaneous equations using the elimination method</a:t>
            </a:r>
            <a:endParaRPr lang="en-GB" sz="1200" noProof="0" dirty="0"/>
          </a:p>
        </p:txBody>
      </p:sp>
      <p:sp>
        <p:nvSpPr>
          <p:cNvPr id="7" name="TextBox 6">
            <a:extLst>
              <a:ext uri="{FF2B5EF4-FFF2-40B4-BE49-F238E27FC236}">
                <a16:creationId xmlns:a16="http://schemas.microsoft.com/office/drawing/2014/main" id="{404D762C-2D73-394D-9E02-268791A669F2}"/>
              </a:ext>
            </a:extLst>
          </p:cNvPr>
          <p:cNvSpPr txBox="1"/>
          <p:nvPr/>
        </p:nvSpPr>
        <p:spPr>
          <a:xfrm>
            <a:off x="4893447" y="791347"/>
            <a:ext cx="1741179" cy="1015663"/>
          </a:xfrm>
          <a:prstGeom prst="rect">
            <a:avLst/>
          </a:prstGeom>
          <a:noFill/>
          <a:ln w="12700">
            <a:solidFill>
              <a:schemeClr val="tx1"/>
            </a:solidFill>
          </a:ln>
        </p:spPr>
        <p:txBody>
          <a:bodyPr wrap="square" rtlCol="0">
            <a:spAutoFit/>
          </a:bodyPr>
          <a:lstStyle/>
          <a:p>
            <a:r>
              <a:rPr lang="en-GB" sz="1000" b="1" u="sng" noProof="0" dirty="0"/>
              <a:t>Keywords:</a:t>
            </a:r>
            <a:endParaRPr lang="en-GB" sz="1000" noProof="0" dirty="0"/>
          </a:p>
          <a:p>
            <a:pPr marL="285750" indent="-285750">
              <a:buFont typeface=".AppleSystemUIFont" charset="-120"/>
              <a:buChar char="-"/>
            </a:pPr>
            <a:r>
              <a:rPr lang="en-GB" sz="1000" noProof="0" dirty="0"/>
              <a:t>Simultaneous equations</a:t>
            </a:r>
          </a:p>
          <a:p>
            <a:pPr marL="285750" indent="-285750">
              <a:buFont typeface=".AppleSystemUIFont" charset="-120"/>
              <a:buChar char="-"/>
            </a:pPr>
            <a:r>
              <a:rPr lang="en-GB" sz="1000" noProof="0" dirty="0"/>
              <a:t>Linear equations</a:t>
            </a:r>
          </a:p>
          <a:p>
            <a:pPr marL="285750" indent="-285750">
              <a:buFont typeface=".AppleSystemUIFont" charset="-120"/>
              <a:buChar char="-"/>
            </a:pPr>
            <a:r>
              <a:rPr lang="en-GB" sz="1000" noProof="0" dirty="0"/>
              <a:t>Equivalent equations</a:t>
            </a:r>
          </a:p>
          <a:p>
            <a:pPr marL="285750" indent="-285750">
              <a:buFont typeface=".AppleSystemUIFont" charset="-120"/>
              <a:buChar char="-"/>
            </a:pPr>
            <a:r>
              <a:rPr lang="en-GB" sz="1000" noProof="0" dirty="0"/>
              <a:t>Intersection</a:t>
            </a:r>
          </a:p>
          <a:p>
            <a:pPr marL="285750" indent="-285750">
              <a:buFont typeface=".AppleSystemUIFont" charset="-120"/>
              <a:buChar char="-"/>
            </a:pPr>
            <a:r>
              <a:rPr lang="en-GB" sz="1000" noProof="0" dirty="0"/>
              <a:t>Elimination</a:t>
            </a:r>
          </a:p>
        </p:txBody>
      </p:sp>
      <p:sp>
        <p:nvSpPr>
          <p:cNvPr id="8" name="Rectangle 7">
            <a:extLst>
              <a:ext uri="{FF2B5EF4-FFF2-40B4-BE49-F238E27FC236}">
                <a16:creationId xmlns:a16="http://schemas.microsoft.com/office/drawing/2014/main" id="{56FE7EC4-5E01-5842-B2D3-567D0C78E897}"/>
              </a:ext>
            </a:extLst>
          </p:cNvPr>
          <p:cNvSpPr/>
          <p:nvPr/>
        </p:nvSpPr>
        <p:spPr>
          <a:xfrm>
            <a:off x="0" y="-68"/>
            <a:ext cx="6858000" cy="28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noProof="0" dirty="0"/>
              <a:t>Solving simultaneous equations by adjusting one or both equations </a:t>
            </a:r>
            <a:endParaRPr lang="en-GB" sz="1600" b="1" noProof="0" dirty="0"/>
          </a:p>
        </p:txBody>
      </p:sp>
      <p:cxnSp>
        <p:nvCxnSpPr>
          <p:cNvPr id="53" name="Straight Connector 52">
            <a:extLst>
              <a:ext uri="{FF2B5EF4-FFF2-40B4-BE49-F238E27FC236}">
                <a16:creationId xmlns:a16="http://schemas.microsoft.com/office/drawing/2014/main" id="{FE7EDCC2-ABAA-434F-8C0E-6C3A1F76BAE7}"/>
              </a:ext>
            </a:extLst>
          </p:cNvPr>
          <p:cNvCxnSpPr/>
          <p:nvPr/>
        </p:nvCxnSpPr>
        <p:spPr>
          <a:xfrm flipV="1">
            <a:off x="942039" y="3731417"/>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5" name="Rectangle 64"/>
          <p:cNvSpPr/>
          <p:nvPr/>
        </p:nvSpPr>
        <p:spPr>
          <a:xfrm>
            <a:off x="125893" y="1971069"/>
            <a:ext cx="6645064" cy="242768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66" name="Straight Connector 65"/>
          <p:cNvCxnSpPr/>
          <p:nvPr/>
        </p:nvCxnSpPr>
        <p:spPr>
          <a:xfrm>
            <a:off x="120260" y="3058829"/>
            <a:ext cx="6672688" cy="15941"/>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Connector 66"/>
          <p:cNvCxnSpPr>
            <a:stCxn id="65" idx="2"/>
            <a:endCxn id="65" idx="0"/>
          </p:cNvCxnSpPr>
          <p:nvPr/>
        </p:nvCxnSpPr>
        <p:spPr>
          <a:xfrm flipV="1">
            <a:off x="3448425" y="1971069"/>
            <a:ext cx="0" cy="2427683"/>
          </a:xfrm>
          <a:prstGeom prst="line">
            <a:avLst/>
          </a:prstGeom>
        </p:spPr>
        <p:style>
          <a:lnRef idx="1">
            <a:schemeClr val="dk1"/>
          </a:lnRef>
          <a:fillRef idx="0">
            <a:schemeClr val="dk1"/>
          </a:fillRef>
          <a:effectRef idx="0">
            <a:schemeClr val="dk1"/>
          </a:effectRef>
          <a:fontRef idx="minor">
            <a:schemeClr val="tx1"/>
          </a:fontRef>
        </p:style>
      </p:cxnSp>
      <p:sp>
        <p:nvSpPr>
          <p:cNvPr id="68" name="TextBox 67"/>
          <p:cNvSpPr txBox="1"/>
          <p:nvPr/>
        </p:nvSpPr>
        <p:spPr>
          <a:xfrm>
            <a:off x="105113" y="1961691"/>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69" name="TextBox 68"/>
          <p:cNvSpPr txBox="1"/>
          <p:nvPr/>
        </p:nvSpPr>
        <p:spPr>
          <a:xfrm>
            <a:off x="5629164" y="1929305"/>
            <a:ext cx="1112228" cy="276999"/>
          </a:xfrm>
          <a:prstGeom prst="rect">
            <a:avLst/>
          </a:prstGeom>
          <a:noFill/>
        </p:spPr>
        <p:txBody>
          <a:bodyPr wrap="none" rtlCol="0">
            <a:spAutoFit/>
          </a:bodyPr>
          <a:lstStyle/>
          <a:p>
            <a:r>
              <a:rPr lang="en-GB" sz="1200" b="1" noProof="0" dirty="0"/>
              <a:t>Characteristics</a:t>
            </a:r>
          </a:p>
        </p:txBody>
      </p:sp>
      <p:sp>
        <p:nvSpPr>
          <p:cNvPr id="70" name="TextBox 69"/>
          <p:cNvSpPr txBox="1"/>
          <p:nvPr/>
        </p:nvSpPr>
        <p:spPr>
          <a:xfrm>
            <a:off x="120260" y="3058829"/>
            <a:ext cx="788164" cy="276999"/>
          </a:xfrm>
          <a:prstGeom prst="rect">
            <a:avLst/>
          </a:prstGeom>
          <a:noFill/>
        </p:spPr>
        <p:txBody>
          <a:bodyPr wrap="none" rtlCol="0">
            <a:spAutoFit/>
          </a:bodyPr>
          <a:lstStyle/>
          <a:p>
            <a:r>
              <a:rPr lang="en-GB" sz="1200" b="1" noProof="0" dirty="0"/>
              <a:t>Examples</a:t>
            </a:r>
          </a:p>
        </p:txBody>
      </p:sp>
      <p:sp>
        <p:nvSpPr>
          <p:cNvPr id="71" name="TextBox 70"/>
          <p:cNvSpPr txBox="1"/>
          <p:nvPr/>
        </p:nvSpPr>
        <p:spPr>
          <a:xfrm>
            <a:off x="5557677" y="3034448"/>
            <a:ext cx="1172885" cy="276999"/>
          </a:xfrm>
          <a:prstGeom prst="rect">
            <a:avLst/>
          </a:prstGeom>
          <a:noFill/>
        </p:spPr>
        <p:txBody>
          <a:bodyPr wrap="none" rtlCol="0">
            <a:spAutoFit/>
          </a:bodyPr>
          <a:lstStyle/>
          <a:p>
            <a:r>
              <a:rPr lang="en-GB" sz="1200" b="1" noProof="0" dirty="0"/>
              <a:t>Non - Examples</a:t>
            </a:r>
          </a:p>
        </p:txBody>
      </p:sp>
      <p:sp>
        <p:nvSpPr>
          <p:cNvPr id="72" name="TextBox 71"/>
          <p:cNvSpPr txBox="1"/>
          <p:nvPr/>
        </p:nvSpPr>
        <p:spPr>
          <a:xfrm>
            <a:off x="125892" y="2202748"/>
            <a:ext cx="3230335" cy="461665"/>
          </a:xfrm>
          <a:prstGeom prst="rect">
            <a:avLst/>
          </a:prstGeom>
          <a:noFill/>
        </p:spPr>
        <p:txBody>
          <a:bodyPr wrap="square" rtlCol="0">
            <a:spAutoFit/>
          </a:bodyPr>
          <a:lstStyle/>
          <a:p>
            <a:r>
              <a:rPr lang="en-GB" sz="1200" noProof="0" dirty="0"/>
              <a:t>Two equations that form straight lines that </a:t>
            </a:r>
            <a:r>
              <a:rPr lang="en-GB" sz="1200" b="1" noProof="0" dirty="0"/>
              <a:t>intersect at one point. </a:t>
            </a:r>
          </a:p>
        </p:txBody>
      </p:sp>
      <p:sp>
        <p:nvSpPr>
          <p:cNvPr id="73" name="TextBox 72"/>
          <p:cNvSpPr txBox="1"/>
          <p:nvPr/>
        </p:nvSpPr>
        <p:spPr>
          <a:xfrm>
            <a:off x="3500227" y="2131386"/>
            <a:ext cx="3230335" cy="646331"/>
          </a:xfrm>
          <a:prstGeom prst="rect">
            <a:avLst/>
          </a:prstGeom>
          <a:noFill/>
        </p:spPr>
        <p:txBody>
          <a:bodyPr wrap="square" rtlCol="0">
            <a:spAutoFit/>
          </a:bodyPr>
          <a:lstStyle/>
          <a:p>
            <a:r>
              <a:rPr lang="en-GB" sz="1200" noProof="0" dirty="0"/>
              <a:t>Linear simultaneous equations are two straight line equations that have an intersection point (this means they cross on the graph). </a:t>
            </a:r>
          </a:p>
        </p:txBody>
      </p:sp>
      <p:sp>
        <p:nvSpPr>
          <p:cNvPr id="74" name="TextBox 73"/>
          <p:cNvSpPr txBox="1"/>
          <p:nvPr/>
        </p:nvSpPr>
        <p:spPr>
          <a:xfrm>
            <a:off x="2282746" y="2889648"/>
            <a:ext cx="2434962" cy="369332"/>
          </a:xfrm>
          <a:prstGeom prst="rect">
            <a:avLst/>
          </a:prstGeom>
          <a:solidFill>
            <a:schemeClr val="bg1"/>
          </a:solidFill>
          <a:ln>
            <a:solidFill>
              <a:schemeClr val="tx1"/>
            </a:solidFill>
          </a:ln>
        </p:spPr>
        <p:txBody>
          <a:bodyPr wrap="none" rtlCol="0">
            <a:spAutoFit/>
          </a:bodyPr>
          <a:lstStyle/>
          <a:p>
            <a:r>
              <a:rPr lang="en-GB" noProof="0" dirty="0"/>
              <a:t>Simultaneous Equations</a:t>
            </a:r>
          </a:p>
        </p:txBody>
      </p:sp>
      <p:pic>
        <p:nvPicPr>
          <p:cNvPr id="75" name="Picture 74"/>
          <p:cNvPicPr>
            <a:picLocks noChangeAspect="1"/>
          </p:cNvPicPr>
          <p:nvPr/>
        </p:nvPicPr>
        <p:blipFill>
          <a:blip r:embed="rId3"/>
          <a:stretch>
            <a:fillRect/>
          </a:stretch>
        </p:blipFill>
        <p:spPr>
          <a:xfrm>
            <a:off x="152785" y="3384665"/>
            <a:ext cx="1275899" cy="881468"/>
          </a:xfrm>
          <a:prstGeom prst="rect">
            <a:avLst/>
          </a:prstGeom>
        </p:spPr>
      </p:pic>
      <p:sp>
        <p:nvSpPr>
          <p:cNvPr id="76" name="TextBox 75"/>
          <p:cNvSpPr txBox="1"/>
          <p:nvPr/>
        </p:nvSpPr>
        <p:spPr>
          <a:xfrm>
            <a:off x="1454191" y="3484671"/>
            <a:ext cx="2201286" cy="646331"/>
          </a:xfrm>
          <a:prstGeom prst="rect">
            <a:avLst/>
          </a:prstGeom>
          <a:noFill/>
        </p:spPr>
        <p:txBody>
          <a:bodyPr wrap="square" rtlCol="0">
            <a:spAutoFit/>
          </a:bodyPr>
          <a:lstStyle/>
          <a:p>
            <a:r>
              <a:rPr lang="en-GB" sz="1200" noProof="0" dirty="0"/>
              <a:t>These are simultaneous equations because they </a:t>
            </a:r>
            <a:r>
              <a:rPr lang="en-GB" sz="1200" b="1" noProof="0" dirty="0"/>
              <a:t>intersect</a:t>
            </a:r>
            <a:r>
              <a:rPr lang="en-GB" sz="1200" noProof="0" dirty="0"/>
              <a:t> at a point. </a:t>
            </a:r>
            <a:endParaRPr lang="en-GB" sz="1200" b="1" noProof="0" dirty="0"/>
          </a:p>
        </p:txBody>
      </p:sp>
      <p:pic>
        <p:nvPicPr>
          <p:cNvPr id="77" name="Picture 76"/>
          <p:cNvPicPr>
            <a:picLocks noChangeAspect="1"/>
          </p:cNvPicPr>
          <p:nvPr/>
        </p:nvPicPr>
        <p:blipFill>
          <a:blip r:embed="rId4"/>
          <a:stretch>
            <a:fillRect/>
          </a:stretch>
        </p:blipFill>
        <p:spPr>
          <a:xfrm>
            <a:off x="3573421" y="3419970"/>
            <a:ext cx="1136681" cy="809410"/>
          </a:xfrm>
          <a:prstGeom prst="rect">
            <a:avLst/>
          </a:prstGeom>
        </p:spPr>
      </p:pic>
      <p:sp>
        <p:nvSpPr>
          <p:cNvPr id="78" name="TextBox 77"/>
          <p:cNvSpPr txBox="1"/>
          <p:nvPr/>
        </p:nvSpPr>
        <p:spPr>
          <a:xfrm>
            <a:off x="4699089" y="3285334"/>
            <a:ext cx="1928165" cy="646331"/>
          </a:xfrm>
          <a:prstGeom prst="rect">
            <a:avLst/>
          </a:prstGeom>
          <a:noFill/>
        </p:spPr>
        <p:txBody>
          <a:bodyPr wrap="square" rtlCol="0">
            <a:spAutoFit/>
          </a:bodyPr>
          <a:lstStyle/>
          <a:p>
            <a:r>
              <a:rPr lang="en-GB" sz="1200" noProof="0" dirty="0"/>
              <a:t>These equations do not intersect, therefore they are not simultaneous. </a:t>
            </a:r>
            <a:endParaRPr lang="en-GB" sz="1200" b="1" noProof="0" dirty="0"/>
          </a:p>
        </p:txBody>
      </p:sp>
      <p:sp>
        <p:nvSpPr>
          <p:cNvPr id="79" name="TextBox 78">
            <a:extLst>
              <a:ext uri="{FF2B5EF4-FFF2-40B4-BE49-F238E27FC236}">
                <a16:creationId xmlns:a16="http://schemas.microsoft.com/office/drawing/2014/main" id="{1A127D5F-D90C-7A4B-B2A7-9600D90C40CC}"/>
              </a:ext>
            </a:extLst>
          </p:cNvPr>
          <p:cNvSpPr txBox="1"/>
          <p:nvPr/>
        </p:nvSpPr>
        <p:spPr>
          <a:xfrm>
            <a:off x="120260" y="4480955"/>
            <a:ext cx="1041632" cy="276999"/>
          </a:xfrm>
          <a:prstGeom prst="rect">
            <a:avLst/>
          </a:prstGeom>
          <a:solidFill>
            <a:srgbClr val="0070C0"/>
          </a:solidFill>
        </p:spPr>
        <p:txBody>
          <a:bodyPr wrap="none" rtlCol="0" anchor="ctr">
            <a:spAutoFit/>
          </a:bodyPr>
          <a:lstStyle/>
          <a:p>
            <a:pPr algn="r"/>
            <a:r>
              <a:rPr lang="en-GB" sz="1200" b="1" noProof="0" dirty="0">
                <a:solidFill>
                  <a:schemeClr val="bg1"/>
                </a:solidFill>
              </a:rPr>
              <a:t>SKILLS CHECK</a:t>
            </a:r>
          </a:p>
        </p:txBody>
      </p:sp>
      <p:sp>
        <p:nvSpPr>
          <p:cNvPr id="80" name="TextBox 79"/>
          <p:cNvSpPr txBox="1"/>
          <p:nvPr/>
        </p:nvSpPr>
        <p:spPr>
          <a:xfrm>
            <a:off x="1676188" y="4500781"/>
            <a:ext cx="3794466" cy="276999"/>
          </a:xfrm>
          <a:prstGeom prst="rect">
            <a:avLst/>
          </a:prstGeom>
          <a:noFill/>
        </p:spPr>
        <p:txBody>
          <a:bodyPr wrap="square" rtlCol="0">
            <a:spAutoFit/>
          </a:bodyPr>
          <a:lstStyle/>
          <a:p>
            <a:pPr algn="ctr"/>
            <a:r>
              <a:rPr lang="en-GB" sz="1200" noProof="0" dirty="0"/>
              <a:t>1) Find the lowest common multiple of these numbers</a:t>
            </a:r>
            <a:endParaRPr lang="en-GB" sz="1200" b="1" noProof="0" dirty="0"/>
          </a:p>
        </p:txBody>
      </p:sp>
      <p:sp>
        <p:nvSpPr>
          <p:cNvPr id="86" name="Rectangle 85">
            <a:extLst>
              <a:ext uri="{FF2B5EF4-FFF2-40B4-BE49-F238E27FC236}">
                <a16:creationId xmlns:a16="http://schemas.microsoft.com/office/drawing/2014/main" id="{3594047B-870B-F246-810C-FF50C3A462B0}"/>
              </a:ext>
            </a:extLst>
          </p:cNvPr>
          <p:cNvSpPr/>
          <p:nvPr/>
        </p:nvSpPr>
        <p:spPr>
          <a:xfrm>
            <a:off x="160533" y="5105898"/>
            <a:ext cx="1144953" cy="12902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7" name="Rectangle 86">
            <a:extLst>
              <a:ext uri="{FF2B5EF4-FFF2-40B4-BE49-F238E27FC236}">
                <a16:creationId xmlns:a16="http://schemas.microsoft.com/office/drawing/2014/main" id="{3594047B-870B-F246-810C-FF50C3A462B0}"/>
              </a:ext>
            </a:extLst>
          </p:cNvPr>
          <p:cNvSpPr/>
          <p:nvPr/>
        </p:nvSpPr>
        <p:spPr>
          <a:xfrm>
            <a:off x="1509611" y="5103564"/>
            <a:ext cx="1144953" cy="12902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8" name="Rectangle 87">
            <a:extLst>
              <a:ext uri="{FF2B5EF4-FFF2-40B4-BE49-F238E27FC236}">
                <a16:creationId xmlns:a16="http://schemas.microsoft.com/office/drawing/2014/main" id="{3594047B-870B-F246-810C-FF50C3A462B0}"/>
              </a:ext>
            </a:extLst>
          </p:cNvPr>
          <p:cNvSpPr/>
          <p:nvPr/>
        </p:nvSpPr>
        <p:spPr>
          <a:xfrm>
            <a:off x="2858689" y="5103563"/>
            <a:ext cx="1144953" cy="12902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9" name="Rectangle 88">
            <a:extLst>
              <a:ext uri="{FF2B5EF4-FFF2-40B4-BE49-F238E27FC236}">
                <a16:creationId xmlns:a16="http://schemas.microsoft.com/office/drawing/2014/main" id="{3594047B-870B-F246-810C-FF50C3A462B0}"/>
              </a:ext>
            </a:extLst>
          </p:cNvPr>
          <p:cNvSpPr/>
          <p:nvPr/>
        </p:nvSpPr>
        <p:spPr>
          <a:xfrm>
            <a:off x="4182032" y="5103562"/>
            <a:ext cx="1144953" cy="12902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0" name="Rectangle 89">
            <a:extLst>
              <a:ext uri="{FF2B5EF4-FFF2-40B4-BE49-F238E27FC236}">
                <a16:creationId xmlns:a16="http://schemas.microsoft.com/office/drawing/2014/main" id="{3594047B-870B-F246-810C-FF50C3A462B0}"/>
              </a:ext>
            </a:extLst>
          </p:cNvPr>
          <p:cNvSpPr/>
          <p:nvPr/>
        </p:nvSpPr>
        <p:spPr>
          <a:xfrm>
            <a:off x="5556845" y="5106181"/>
            <a:ext cx="1144953" cy="12902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graphicFrame>
            <p:nvGraphicFramePr>
              <p:cNvPr id="91" name="Table 90"/>
              <p:cNvGraphicFramePr>
                <a:graphicFrameLocks noGrp="1"/>
              </p:cNvGraphicFramePr>
              <p:nvPr>
                <p:extLst>
                  <p:ext uri="{D42A27DB-BD31-4B8C-83A1-F6EECF244321}">
                    <p14:modId xmlns:p14="http://schemas.microsoft.com/office/powerpoint/2010/main" val="2185867783"/>
                  </p:ext>
                </p:extLst>
              </p:nvPr>
            </p:nvGraphicFramePr>
            <p:xfrm>
              <a:off x="158543" y="6486329"/>
              <a:ext cx="6543255" cy="3286486"/>
            </p:xfrm>
            <a:graphic>
              <a:graphicData uri="http://schemas.openxmlformats.org/drawingml/2006/table">
                <a:tbl>
                  <a:tblPr firstRow="1" bandRow="1">
                    <a:tableStyleId>{5C22544A-7EE6-4342-B048-85BDC9FD1C3A}</a:tableStyleId>
                  </a:tblPr>
                  <a:tblGrid>
                    <a:gridCol w="1386365">
                      <a:extLst>
                        <a:ext uri="{9D8B030D-6E8A-4147-A177-3AD203B41FA5}">
                          <a16:colId xmlns:a16="http://schemas.microsoft.com/office/drawing/2014/main" val="4222859584"/>
                        </a:ext>
                      </a:extLst>
                    </a:gridCol>
                    <a:gridCol w="1754718">
                      <a:extLst>
                        <a:ext uri="{9D8B030D-6E8A-4147-A177-3AD203B41FA5}">
                          <a16:colId xmlns:a16="http://schemas.microsoft.com/office/drawing/2014/main" val="2943938818"/>
                        </a:ext>
                      </a:extLst>
                    </a:gridCol>
                    <a:gridCol w="1760749">
                      <a:extLst>
                        <a:ext uri="{9D8B030D-6E8A-4147-A177-3AD203B41FA5}">
                          <a16:colId xmlns:a16="http://schemas.microsoft.com/office/drawing/2014/main" val="4207345459"/>
                        </a:ext>
                      </a:extLst>
                    </a:gridCol>
                    <a:gridCol w="1641423">
                      <a:extLst>
                        <a:ext uri="{9D8B030D-6E8A-4147-A177-3AD203B41FA5}">
                          <a16:colId xmlns:a16="http://schemas.microsoft.com/office/drawing/2014/main" val="592218920"/>
                        </a:ext>
                      </a:extLst>
                    </a:gridCol>
                  </a:tblGrid>
                  <a:tr h="264781">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cs typeface="Calibri" panose="020F0502020204030204" pitchFamily="34" charset="0"/>
                            </a:rPr>
                            <a:t>Example 1 -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 – We</a:t>
                          </a:r>
                          <a:r>
                            <a:rPr lang="en-GB" sz="1200" b="1" i="1" baseline="0" noProof="0" dirty="0">
                              <a:solidFill>
                                <a:schemeClr val="accent2"/>
                              </a:solidFill>
                            </a:rPr>
                            <a:t> </a:t>
                          </a:r>
                          <a:r>
                            <a:rPr lang="en-GB" sz="1200" b="1" i="1" noProof="0" dirty="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3 – You</a:t>
                          </a:r>
                          <a:r>
                            <a:rPr lang="en-GB" sz="1200" b="1" i="1" baseline="0" noProof="0" dirty="0">
                              <a:solidFill>
                                <a:srgbClr val="00B050"/>
                              </a:solidFill>
                            </a:rPr>
                            <a:t> </a:t>
                          </a:r>
                          <a:r>
                            <a:rPr lang="en-GB" sz="1200" b="1" i="1" noProof="0" dirty="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132514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1) Find the LCM of the variables.</a:t>
                          </a:r>
                          <a:r>
                            <a:rPr lang="en-GB" sz="1200" b="0" i="0" baseline="0" noProof="0" dirty="0">
                              <a:solidFill>
                                <a:schemeClr val="tx1"/>
                              </a:solidFill>
                              <a:cs typeface="Calibri" panose="020F0502020204030204" pitchFamily="34" charset="0"/>
                            </a:rPr>
                            <a:t> </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Adjust one of the equations to make the </a:t>
                          </a:r>
                          <a14:m>
                            <m:oMath xmlns:m="http://schemas.openxmlformats.org/officeDocument/2006/math">
                              <m:sSup>
                                <m:sSupPr>
                                  <m:ctrlPr>
                                    <a:rPr lang="en-GB" sz="1200" b="0" i="1" noProof="0" smtClean="0">
                                      <a:solidFill>
                                        <a:schemeClr val="tx1"/>
                                      </a:solidFill>
                                      <a:latin typeface="Cambria Math" panose="02040503050406030204" pitchFamily="18" charset="0"/>
                                      <a:cs typeface="Calibri" panose="020F0502020204030204" pitchFamily="34" charset="0"/>
                                    </a:rPr>
                                  </m:ctrlPr>
                                </m:sSupPr>
                                <m:e>
                                  <m:r>
                                    <a:rPr lang="en-GB" sz="1200" b="0" i="1" noProof="0" smtClean="0">
                                      <a:solidFill>
                                        <a:schemeClr val="tx1"/>
                                      </a:solidFill>
                                      <a:latin typeface="Cambria Math" panose="02040503050406030204" pitchFamily="18" charset="0"/>
                                      <a:cs typeface="Calibri" panose="020F0502020204030204" pitchFamily="34" charset="0"/>
                                    </a:rPr>
                                    <m:t>𝑦</m:t>
                                  </m:r>
                                </m:e>
                                <m:sup>
                                  <m:r>
                                    <a:rPr lang="en-GB" sz="1200" b="0" i="1" noProof="0" smtClean="0">
                                      <a:solidFill>
                                        <a:schemeClr val="tx1"/>
                                      </a:solidFill>
                                      <a:latin typeface="Cambria Math" panose="02040503050406030204" pitchFamily="18" charset="0"/>
                                      <a:cs typeface="Calibri" panose="020F0502020204030204" pitchFamily="34" charset="0"/>
                                    </a:rPr>
                                    <m:t>′</m:t>
                                  </m:r>
                                </m:sup>
                              </m:sSup>
                              <m:r>
                                <a:rPr lang="en-GB" sz="1200" b="0" i="1" noProof="0" smtClean="0">
                                  <a:solidFill>
                                    <a:schemeClr val="tx1"/>
                                  </a:solidFill>
                                  <a:latin typeface="Cambria Math" panose="02040503050406030204" pitchFamily="18" charset="0"/>
                                  <a:cs typeface="Calibri" panose="020F0502020204030204" pitchFamily="34" charset="0"/>
                                </a:rPr>
                                <m:t>𝑠</m:t>
                              </m:r>
                              <m:r>
                                <a:rPr lang="en-GB" sz="1200" b="0" i="1" noProof="0" smtClean="0">
                                  <a:solidFill>
                                    <a:schemeClr val="tx1"/>
                                  </a:solidFill>
                                  <a:latin typeface="Cambria Math" panose="02040503050406030204" pitchFamily="18" charset="0"/>
                                  <a:cs typeface="Calibri" panose="020F0502020204030204" pitchFamily="34" charset="0"/>
                                </a:rPr>
                                <m:t> </m:t>
                              </m:r>
                            </m:oMath>
                          </a14:m>
                          <a:r>
                            <a:rPr lang="en-GB" sz="1200" b="0" i="0" baseline="0" noProof="0" dirty="0">
                              <a:solidFill>
                                <a:schemeClr val="tx1"/>
                              </a:solidFill>
                              <a:cs typeface="Calibri" panose="020F0502020204030204" pitchFamily="34" charset="0"/>
                            </a:rPr>
                            <a:t>the same. </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=7</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  </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=10</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Adjust one of the equations to make the </a:t>
                          </a:r>
                          <a14:m>
                            <m:oMath xmlns:m="http://schemas.openxmlformats.org/officeDocument/2006/math">
                              <m:sSup>
                                <m:sSupPr>
                                  <m:ctrlPr>
                                    <a:rPr lang="en-GB" sz="1200" b="0" i="1" noProof="0" smtClean="0">
                                      <a:solidFill>
                                        <a:schemeClr val="tx1"/>
                                      </a:solidFill>
                                      <a:latin typeface="Cambria Math" panose="02040503050406030204" pitchFamily="18" charset="0"/>
                                      <a:cs typeface="Calibri" panose="020F0502020204030204" pitchFamily="34" charset="0"/>
                                    </a:rPr>
                                  </m:ctrlPr>
                                </m:sSupPr>
                                <m:e>
                                  <m:r>
                                    <a:rPr lang="en-GB" sz="1200" b="0" i="1" noProof="0" smtClean="0">
                                      <a:solidFill>
                                        <a:schemeClr val="tx1"/>
                                      </a:solidFill>
                                      <a:latin typeface="Cambria Math" panose="02040503050406030204" pitchFamily="18" charset="0"/>
                                      <a:cs typeface="Calibri" panose="020F0502020204030204" pitchFamily="34" charset="0"/>
                                    </a:rPr>
                                    <m:t>𝑦</m:t>
                                  </m:r>
                                </m:e>
                                <m:sup>
                                  <m:r>
                                    <a:rPr lang="en-GB" sz="1200" b="0" i="1" noProof="0" smtClean="0">
                                      <a:solidFill>
                                        <a:schemeClr val="tx1"/>
                                      </a:solidFill>
                                      <a:latin typeface="Cambria Math" panose="02040503050406030204" pitchFamily="18" charset="0"/>
                                      <a:cs typeface="Calibri" panose="020F0502020204030204" pitchFamily="34" charset="0"/>
                                    </a:rPr>
                                    <m:t>′</m:t>
                                  </m:r>
                                </m:sup>
                              </m:sSup>
                              <m:r>
                                <a:rPr lang="en-GB" sz="1200" b="0" i="1" noProof="0" smtClean="0">
                                  <a:solidFill>
                                    <a:schemeClr val="tx1"/>
                                  </a:solidFill>
                                  <a:latin typeface="Cambria Math" panose="02040503050406030204" pitchFamily="18" charset="0"/>
                                  <a:cs typeface="Calibri" panose="020F0502020204030204" pitchFamily="34" charset="0"/>
                                </a:rPr>
                                <m:t>𝑠</m:t>
                              </m:r>
                              <m:r>
                                <a:rPr lang="en-GB" sz="1200" b="0" i="1" noProof="0" smtClean="0">
                                  <a:solidFill>
                                    <a:schemeClr val="tx1"/>
                                  </a:solidFill>
                                  <a:latin typeface="Cambria Math" panose="02040503050406030204" pitchFamily="18" charset="0"/>
                                  <a:cs typeface="Calibri" panose="020F0502020204030204" pitchFamily="34" charset="0"/>
                                </a:rPr>
                                <m:t> </m:t>
                              </m:r>
                            </m:oMath>
                          </a14:m>
                          <a:r>
                            <a:rPr lang="en-GB" sz="1200" b="0" i="0" baseline="0" noProof="0" dirty="0">
                              <a:solidFill>
                                <a:schemeClr val="tx1"/>
                              </a:solidFill>
                              <a:cs typeface="Calibri" panose="020F0502020204030204" pitchFamily="34" charset="0"/>
                            </a:rPr>
                            <a:t>the same</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  3</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+4</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=16</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=4</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Adjust one of the equations to make the </a:t>
                          </a:r>
                          <a14:m>
                            <m:oMath xmlns:m="http://schemas.openxmlformats.org/officeDocument/2006/math">
                              <m:sSup>
                                <m:sSupPr>
                                  <m:ctrlPr>
                                    <a:rPr lang="en-GB" sz="1200" b="0" i="1" noProof="0" smtClean="0">
                                      <a:solidFill>
                                        <a:schemeClr val="tx1"/>
                                      </a:solidFill>
                                      <a:latin typeface="Cambria Math" panose="02040503050406030204" pitchFamily="18" charset="0"/>
                                      <a:cs typeface="Calibri" panose="020F0502020204030204" pitchFamily="34" charset="0"/>
                                    </a:rPr>
                                  </m:ctrlPr>
                                </m:sSupPr>
                                <m:e>
                                  <m:r>
                                    <a:rPr lang="en-GB" sz="1200" b="0" i="1" noProof="0" smtClean="0">
                                      <a:solidFill>
                                        <a:schemeClr val="tx1"/>
                                      </a:solidFill>
                                      <a:latin typeface="Cambria Math" panose="02040503050406030204" pitchFamily="18" charset="0"/>
                                      <a:cs typeface="Calibri" panose="020F0502020204030204" pitchFamily="34" charset="0"/>
                                    </a:rPr>
                                    <m:t>𝑦</m:t>
                                  </m:r>
                                </m:e>
                                <m:sup>
                                  <m:r>
                                    <a:rPr lang="en-GB" sz="1200" b="0" i="1" noProof="0" smtClean="0">
                                      <a:solidFill>
                                        <a:schemeClr val="tx1"/>
                                      </a:solidFill>
                                      <a:latin typeface="Cambria Math" panose="02040503050406030204" pitchFamily="18" charset="0"/>
                                      <a:cs typeface="Calibri" panose="020F0502020204030204" pitchFamily="34" charset="0"/>
                                    </a:rPr>
                                    <m:t>′</m:t>
                                  </m:r>
                                </m:sup>
                              </m:sSup>
                              <m:r>
                                <a:rPr lang="en-GB" sz="1200" b="0" i="1" noProof="0" smtClean="0">
                                  <a:solidFill>
                                    <a:schemeClr val="tx1"/>
                                  </a:solidFill>
                                  <a:latin typeface="Cambria Math" panose="02040503050406030204" pitchFamily="18" charset="0"/>
                                  <a:cs typeface="Calibri" panose="020F0502020204030204" pitchFamily="34" charset="0"/>
                                </a:rPr>
                                <m:t>𝑠</m:t>
                              </m:r>
                              <m:r>
                                <a:rPr lang="en-GB" sz="1200" b="0" i="1" noProof="0" smtClean="0">
                                  <a:solidFill>
                                    <a:schemeClr val="tx1"/>
                                  </a:solidFill>
                                  <a:latin typeface="Cambria Math" panose="02040503050406030204" pitchFamily="18" charset="0"/>
                                  <a:cs typeface="Calibri" panose="020F0502020204030204" pitchFamily="34" charset="0"/>
                                </a:rPr>
                                <m:t> </m:t>
                              </m:r>
                            </m:oMath>
                          </a14:m>
                          <a:r>
                            <a:rPr lang="en-GB" sz="1200" b="0" i="0" baseline="0" noProof="0" dirty="0">
                              <a:solidFill>
                                <a:schemeClr val="tx1"/>
                              </a:solidFill>
                              <a:cs typeface="Calibri" panose="020F0502020204030204" pitchFamily="34" charset="0"/>
                            </a:rPr>
                            <a:t>the same</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4</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−21</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=31</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+7</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=18</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265822"/>
                      </a:ext>
                    </a:extLst>
                  </a:tr>
                  <a:tr h="168702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2)</a:t>
                          </a:r>
                          <a:r>
                            <a:rPr lang="en-GB" sz="1200" b="0" i="0" baseline="0" noProof="0" dirty="0">
                              <a:solidFill>
                                <a:schemeClr val="tx1"/>
                              </a:solidFill>
                              <a:cs typeface="Calibri" panose="020F0502020204030204" pitchFamily="34" charset="0"/>
                            </a:rPr>
                            <a:t> Multiply one of the equations to make the variables the same. </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bl>
              </a:graphicData>
            </a:graphic>
          </p:graphicFrame>
        </mc:Choice>
        <mc:Fallback xmlns="">
          <p:graphicFrame>
            <p:nvGraphicFramePr>
              <p:cNvPr id="91" name="Table 90"/>
              <p:cNvGraphicFramePr>
                <a:graphicFrameLocks noGrp="1"/>
              </p:cNvGraphicFramePr>
              <p:nvPr>
                <p:extLst>
                  <p:ext uri="{D42A27DB-BD31-4B8C-83A1-F6EECF244321}">
                    <p14:modId xmlns:p14="http://schemas.microsoft.com/office/powerpoint/2010/main" val="2185867783"/>
                  </p:ext>
                </p:extLst>
              </p:nvPr>
            </p:nvGraphicFramePr>
            <p:xfrm>
              <a:off x="158543" y="6486329"/>
              <a:ext cx="6543255" cy="3286486"/>
            </p:xfrm>
            <a:graphic>
              <a:graphicData uri="http://schemas.openxmlformats.org/drawingml/2006/table">
                <a:tbl>
                  <a:tblPr firstRow="1" bandRow="1">
                    <a:tableStyleId>{5C22544A-7EE6-4342-B048-85BDC9FD1C3A}</a:tableStyleId>
                  </a:tblPr>
                  <a:tblGrid>
                    <a:gridCol w="1386365">
                      <a:extLst>
                        <a:ext uri="{9D8B030D-6E8A-4147-A177-3AD203B41FA5}">
                          <a16:colId xmlns:a16="http://schemas.microsoft.com/office/drawing/2014/main" val="4222859584"/>
                        </a:ext>
                      </a:extLst>
                    </a:gridCol>
                    <a:gridCol w="1754718">
                      <a:extLst>
                        <a:ext uri="{9D8B030D-6E8A-4147-A177-3AD203B41FA5}">
                          <a16:colId xmlns:a16="http://schemas.microsoft.com/office/drawing/2014/main" val="2943938818"/>
                        </a:ext>
                      </a:extLst>
                    </a:gridCol>
                    <a:gridCol w="1760749">
                      <a:extLst>
                        <a:ext uri="{9D8B030D-6E8A-4147-A177-3AD203B41FA5}">
                          <a16:colId xmlns:a16="http://schemas.microsoft.com/office/drawing/2014/main" val="4207345459"/>
                        </a:ext>
                      </a:extLst>
                    </a:gridCol>
                    <a:gridCol w="1641423">
                      <a:extLst>
                        <a:ext uri="{9D8B030D-6E8A-4147-A177-3AD203B41FA5}">
                          <a16:colId xmlns:a16="http://schemas.microsoft.com/office/drawing/2014/main" val="592218920"/>
                        </a:ext>
                      </a:extLst>
                    </a:gridCol>
                  </a:tblGrid>
                  <a:tr h="27432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cs typeface="Calibri" panose="020F0502020204030204" pitchFamily="34" charset="0"/>
                            </a:rPr>
                            <a:t>Example 1 -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2 – We</a:t>
                          </a:r>
                          <a:r>
                            <a:rPr lang="en-GB" sz="1200" b="1" i="1" baseline="0" noProof="0">
                              <a:solidFill>
                                <a:schemeClr val="accent2"/>
                              </a:solidFill>
                            </a:rPr>
                            <a:t> </a:t>
                          </a:r>
                          <a:r>
                            <a:rPr lang="en-GB" sz="1200" b="1" i="1" noProof="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3 – You</a:t>
                          </a:r>
                          <a:r>
                            <a:rPr lang="en-GB" sz="1200" b="1" i="1" baseline="0" noProof="0">
                              <a:solidFill>
                                <a:srgbClr val="00B050"/>
                              </a:solidFill>
                            </a:rPr>
                            <a:t> </a:t>
                          </a:r>
                          <a:r>
                            <a:rPr lang="en-GB" sz="1200" b="1" i="1" noProof="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132514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1) Find the LCM of the variables.</a:t>
                          </a:r>
                          <a:r>
                            <a:rPr lang="en-GB" sz="1200" b="0" i="0" baseline="0" noProof="0">
                              <a:solidFill>
                                <a:schemeClr val="tx1"/>
                              </a:solidFill>
                              <a:cs typeface="Calibri" panose="020F0502020204030204" pitchFamily="34" charset="0"/>
                            </a:rPr>
                            <a:t> </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9861" t="-9495" r="-194444" b="-404"/>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79239" t="-9495" r="-93772" b="-404"/>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0000" t="-9495" r="-743" b="-404"/>
                          </a:stretch>
                        </a:blipFill>
                      </a:tcPr>
                    </a:tc>
                    <a:extLst>
                      <a:ext uri="{0D108BD9-81ED-4DB2-BD59-A6C34878D82A}">
                        <a16:rowId xmlns:a16="http://schemas.microsoft.com/office/drawing/2014/main" val="3427265822"/>
                      </a:ext>
                    </a:extLst>
                  </a:tr>
                  <a:tr h="168702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2)</a:t>
                          </a:r>
                          <a:r>
                            <a:rPr lang="en-GB" sz="1200" b="0" i="0" baseline="0" noProof="0">
                              <a:solidFill>
                                <a:schemeClr val="tx1"/>
                              </a:solidFill>
                              <a:cs typeface="Calibri" panose="020F0502020204030204" pitchFamily="34" charset="0"/>
                            </a:rPr>
                            <a:t> Multiply one of the equations to make the variables the same. </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bl>
              </a:graphicData>
            </a:graphic>
          </p:graphicFrame>
        </mc:Fallback>
      </mc:AlternateContent>
      <p:sp>
        <p:nvSpPr>
          <p:cNvPr id="37" name="TextBox 36"/>
          <p:cNvSpPr txBox="1"/>
          <p:nvPr/>
        </p:nvSpPr>
        <p:spPr>
          <a:xfrm>
            <a:off x="55420" y="4819914"/>
            <a:ext cx="1023710" cy="276999"/>
          </a:xfrm>
          <a:prstGeom prst="rect">
            <a:avLst/>
          </a:prstGeom>
          <a:noFill/>
        </p:spPr>
        <p:txBody>
          <a:bodyPr wrap="square" rtlCol="0">
            <a:spAutoFit/>
          </a:bodyPr>
          <a:lstStyle/>
          <a:p>
            <a:pPr algn="ctr"/>
            <a:r>
              <a:rPr lang="en-GB" sz="1200" noProof="0" dirty="0"/>
              <a:t>a) 3 and 9</a:t>
            </a:r>
            <a:endParaRPr lang="en-GB" sz="1200" b="1" noProof="0" dirty="0"/>
          </a:p>
        </p:txBody>
      </p:sp>
      <p:sp>
        <p:nvSpPr>
          <p:cNvPr id="38" name="TextBox 37"/>
          <p:cNvSpPr txBox="1"/>
          <p:nvPr/>
        </p:nvSpPr>
        <p:spPr>
          <a:xfrm>
            <a:off x="1509611" y="4815380"/>
            <a:ext cx="1023710" cy="276999"/>
          </a:xfrm>
          <a:prstGeom prst="rect">
            <a:avLst/>
          </a:prstGeom>
          <a:noFill/>
        </p:spPr>
        <p:txBody>
          <a:bodyPr wrap="square" rtlCol="0">
            <a:spAutoFit/>
          </a:bodyPr>
          <a:lstStyle/>
          <a:p>
            <a:pPr algn="ctr"/>
            <a:r>
              <a:rPr lang="en-GB" sz="1200" noProof="0" dirty="0"/>
              <a:t>b) 4 and 12</a:t>
            </a:r>
            <a:endParaRPr lang="en-GB" sz="1200" b="1" noProof="0" dirty="0"/>
          </a:p>
        </p:txBody>
      </p:sp>
      <p:sp>
        <p:nvSpPr>
          <p:cNvPr id="39" name="TextBox 38"/>
          <p:cNvSpPr txBox="1"/>
          <p:nvPr/>
        </p:nvSpPr>
        <p:spPr>
          <a:xfrm>
            <a:off x="2818240" y="4821625"/>
            <a:ext cx="1023710" cy="276999"/>
          </a:xfrm>
          <a:prstGeom prst="rect">
            <a:avLst/>
          </a:prstGeom>
          <a:noFill/>
        </p:spPr>
        <p:txBody>
          <a:bodyPr wrap="square" rtlCol="0">
            <a:spAutoFit/>
          </a:bodyPr>
          <a:lstStyle/>
          <a:p>
            <a:pPr algn="ctr"/>
            <a:r>
              <a:rPr lang="en-GB" sz="1200" noProof="0" dirty="0"/>
              <a:t>c) 10 and 30</a:t>
            </a:r>
            <a:endParaRPr lang="en-GB" sz="1200" b="1" noProof="0" dirty="0"/>
          </a:p>
        </p:txBody>
      </p:sp>
      <p:sp>
        <p:nvSpPr>
          <p:cNvPr id="40" name="TextBox 39"/>
          <p:cNvSpPr txBox="1"/>
          <p:nvPr/>
        </p:nvSpPr>
        <p:spPr>
          <a:xfrm>
            <a:off x="4215668" y="4815379"/>
            <a:ext cx="1023710" cy="276999"/>
          </a:xfrm>
          <a:prstGeom prst="rect">
            <a:avLst/>
          </a:prstGeom>
          <a:noFill/>
        </p:spPr>
        <p:txBody>
          <a:bodyPr wrap="square" rtlCol="0">
            <a:spAutoFit/>
          </a:bodyPr>
          <a:lstStyle/>
          <a:p>
            <a:pPr algn="ctr"/>
            <a:r>
              <a:rPr lang="en-GB" sz="1200" noProof="0" dirty="0"/>
              <a:t>d) 7 and 28</a:t>
            </a:r>
            <a:endParaRPr lang="en-GB" sz="1200" b="1" noProof="0" dirty="0"/>
          </a:p>
        </p:txBody>
      </p:sp>
      <p:sp>
        <p:nvSpPr>
          <p:cNvPr id="41" name="TextBox 40"/>
          <p:cNvSpPr txBox="1"/>
          <p:nvPr/>
        </p:nvSpPr>
        <p:spPr>
          <a:xfrm>
            <a:off x="5581060" y="4800776"/>
            <a:ext cx="1023710" cy="276999"/>
          </a:xfrm>
          <a:prstGeom prst="rect">
            <a:avLst/>
          </a:prstGeom>
          <a:noFill/>
        </p:spPr>
        <p:txBody>
          <a:bodyPr wrap="square" rtlCol="0">
            <a:spAutoFit/>
          </a:bodyPr>
          <a:lstStyle/>
          <a:p>
            <a:pPr algn="ctr"/>
            <a:r>
              <a:rPr lang="en-GB" sz="1200" noProof="0" dirty="0"/>
              <a:t>e) 21 and 42</a:t>
            </a:r>
            <a:endParaRPr lang="en-GB" sz="1200" b="1" noProof="0" dirty="0"/>
          </a:p>
        </p:txBody>
      </p:sp>
    </p:spTree>
    <p:extLst>
      <p:ext uri="{BB962C8B-B14F-4D97-AF65-F5344CB8AC3E}">
        <p14:creationId xmlns:p14="http://schemas.microsoft.com/office/powerpoint/2010/main" val="39710283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14950" y="9600873"/>
            <a:ext cx="1543050" cy="527403"/>
          </a:xfrm>
        </p:spPr>
        <p:txBody>
          <a:bodyPr/>
          <a:lstStyle/>
          <a:p>
            <a:fld id="{19F1D9CC-7119-45EC-A96C-D8C0660F3AAB}" type="slidenum">
              <a:rPr lang="en-GB" noProof="0" smtClean="0"/>
              <a:t>41</a:t>
            </a:fld>
            <a:endParaRPr lang="en-GB" noProof="0"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855855728"/>
                  </p:ext>
                </p:extLst>
              </p:nvPr>
            </p:nvGraphicFramePr>
            <p:xfrm>
              <a:off x="110259" y="391231"/>
              <a:ext cx="6609852" cy="4868323"/>
            </p:xfrm>
            <a:graphic>
              <a:graphicData uri="http://schemas.openxmlformats.org/drawingml/2006/table">
                <a:tbl>
                  <a:tblPr firstRow="1" bandRow="1">
                    <a:tableStyleId>{5C22544A-7EE6-4342-B048-85BDC9FD1C3A}</a:tableStyleId>
                  </a:tblPr>
                  <a:tblGrid>
                    <a:gridCol w="1400476">
                      <a:extLst>
                        <a:ext uri="{9D8B030D-6E8A-4147-A177-3AD203B41FA5}">
                          <a16:colId xmlns:a16="http://schemas.microsoft.com/office/drawing/2014/main" val="4222859584"/>
                        </a:ext>
                      </a:extLst>
                    </a:gridCol>
                    <a:gridCol w="1772578">
                      <a:extLst>
                        <a:ext uri="{9D8B030D-6E8A-4147-A177-3AD203B41FA5}">
                          <a16:colId xmlns:a16="http://schemas.microsoft.com/office/drawing/2014/main" val="2943938818"/>
                        </a:ext>
                      </a:extLst>
                    </a:gridCol>
                    <a:gridCol w="1778669">
                      <a:extLst>
                        <a:ext uri="{9D8B030D-6E8A-4147-A177-3AD203B41FA5}">
                          <a16:colId xmlns:a16="http://schemas.microsoft.com/office/drawing/2014/main" val="4207345459"/>
                        </a:ext>
                      </a:extLst>
                    </a:gridCol>
                    <a:gridCol w="1658129">
                      <a:extLst>
                        <a:ext uri="{9D8B030D-6E8A-4147-A177-3AD203B41FA5}">
                          <a16:colId xmlns:a16="http://schemas.microsoft.com/office/drawing/2014/main" val="592218920"/>
                        </a:ext>
                      </a:extLst>
                    </a:gridCol>
                  </a:tblGrid>
                  <a:tr h="25178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cs typeface="Calibri" panose="020F0502020204030204" pitchFamily="34" charset="0"/>
                            </a:rPr>
                            <a:t>Example 4 -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a:t>
                          </a:r>
                          <a:r>
                            <a:rPr lang="en-GB" sz="1200" b="1" i="1" baseline="0" noProof="0" dirty="0">
                              <a:solidFill>
                                <a:schemeClr val="accent2"/>
                              </a:solidFill>
                            </a:rPr>
                            <a:t> </a:t>
                          </a:r>
                          <a:r>
                            <a:rPr lang="en-GB" sz="1200" b="1" i="1" noProof="0" dirty="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a:t>
                          </a:r>
                          <a:r>
                            <a:rPr lang="en-GB" sz="1200" b="1" i="1" baseline="0" noProof="0" dirty="0">
                              <a:solidFill>
                                <a:srgbClr val="00B050"/>
                              </a:solidFill>
                            </a:rPr>
                            <a:t> </a:t>
                          </a:r>
                          <a:r>
                            <a:rPr lang="en-GB" sz="1200" b="1" i="1" noProof="0" dirty="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595619">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1) Label the equations 1 and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 2</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=17</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=29</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=19</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6</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=42</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 </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4</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=11</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=11</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265822"/>
                      </a:ext>
                    </a:extLst>
                  </a:tr>
                  <a:tr h="756451">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2) Find</a:t>
                          </a:r>
                          <a:r>
                            <a:rPr lang="en-GB" sz="1200" b="0" i="0" baseline="0" noProof="0" dirty="0">
                              <a:solidFill>
                                <a:schemeClr val="tx1"/>
                              </a:solidFill>
                              <a:cs typeface="Calibri" panose="020F0502020204030204" pitchFamily="34" charset="0"/>
                            </a:rPr>
                            <a:t> the LCM and adjust one of the equations.</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81007270"/>
                      </a:ext>
                    </a:extLst>
                  </a:tr>
                  <a:tr h="7564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3) If the signs are </a:t>
                          </a:r>
                          <a:r>
                            <a:rPr lang="en-GB" sz="1200" b="1" i="0" noProof="0" dirty="0">
                              <a:solidFill>
                                <a:schemeClr val="tx1"/>
                              </a:solidFill>
                              <a:cs typeface="Calibri" panose="020F0502020204030204" pitchFamily="34" charset="0"/>
                            </a:rPr>
                            <a:t>the same,</a:t>
                          </a:r>
                          <a:r>
                            <a:rPr lang="en-GB" sz="1200" b="1" i="0" baseline="0" noProof="0" dirty="0">
                              <a:solidFill>
                                <a:schemeClr val="tx1"/>
                              </a:solidFill>
                              <a:cs typeface="Calibri" panose="020F0502020204030204" pitchFamily="34" charset="0"/>
                            </a:rPr>
                            <a:t> subtract. If different, add. </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r h="7564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4) Solve to find</a:t>
                          </a:r>
                          <a:r>
                            <a:rPr lang="en-GB" sz="1200" b="0" i="0" baseline="0" noProof="0" dirty="0">
                              <a:solidFill>
                                <a:schemeClr val="tx1"/>
                              </a:solidFill>
                              <a:cs typeface="Calibri" panose="020F0502020204030204" pitchFamily="34" charset="0"/>
                            </a:rPr>
                            <a:t> one variable. </a:t>
                          </a:r>
                          <a:endParaRPr lang="en-GB" sz="1200" b="0" i="0" noProof="0" dirty="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67515573"/>
                      </a:ext>
                    </a:extLst>
                  </a:tr>
                  <a:tr h="118870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5) Substitute the value of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𝑥</m:t>
                              </m:r>
                            </m:oMath>
                          </a14:m>
                          <a:r>
                            <a:rPr lang="en-GB" sz="1200" b="0" i="0" baseline="0" noProof="0" dirty="0">
                              <a:solidFill>
                                <a:schemeClr val="tx1"/>
                              </a:solidFill>
                              <a:cs typeface="Calibri" panose="020F0502020204030204" pitchFamily="34" charset="0"/>
                            </a:rPr>
                            <a:t> or </a:t>
                          </a:r>
                          <a14:m>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oMath>
                          </a14:m>
                          <a:r>
                            <a:rPr lang="en-GB" sz="1200" b="0" i="0" baseline="0" noProof="0" dirty="0">
                              <a:solidFill>
                                <a:schemeClr val="tx1"/>
                              </a:solidFill>
                              <a:cs typeface="Calibri" panose="020F0502020204030204" pitchFamily="34" charset="0"/>
                            </a:rPr>
                            <a:t> into one of the equations to find the other values.</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978753"/>
                      </a:ext>
                    </a:extLst>
                  </a:tr>
                  <a:tr h="54032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6) Write the solutions.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148007"/>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855855728"/>
                  </p:ext>
                </p:extLst>
              </p:nvPr>
            </p:nvGraphicFramePr>
            <p:xfrm>
              <a:off x="110259" y="391231"/>
              <a:ext cx="6609852" cy="4868323"/>
            </p:xfrm>
            <a:graphic>
              <a:graphicData uri="http://schemas.openxmlformats.org/drawingml/2006/table">
                <a:tbl>
                  <a:tblPr firstRow="1" bandRow="1">
                    <a:tableStyleId>{5C22544A-7EE6-4342-B048-85BDC9FD1C3A}</a:tableStyleId>
                  </a:tblPr>
                  <a:tblGrid>
                    <a:gridCol w="1400476">
                      <a:extLst>
                        <a:ext uri="{9D8B030D-6E8A-4147-A177-3AD203B41FA5}">
                          <a16:colId xmlns:a16="http://schemas.microsoft.com/office/drawing/2014/main" val="4222859584"/>
                        </a:ext>
                      </a:extLst>
                    </a:gridCol>
                    <a:gridCol w="1772578">
                      <a:extLst>
                        <a:ext uri="{9D8B030D-6E8A-4147-A177-3AD203B41FA5}">
                          <a16:colId xmlns:a16="http://schemas.microsoft.com/office/drawing/2014/main" val="2943938818"/>
                        </a:ext>
                      </a:extLst>
                    </a:gridCol>
                    <a:gridCol w="1778669">
                      <a:extLst>
                        <a:ext uri="{9D8B030D-6E8A-4147-A177-3AD203B41FA5}">
                          <a16:colId xmlns:a16="http://schemas.microsoft.com/office/drawing/2014/main" val="4207345459"/>
                        </a:ext>
                      </a:extLst>
                    </a:gridCol>
                    <a:gridCol w="1658129">
                      <a:extLst>
                        <a:ext uri="{9D8B030D-6E8A-4147-A177-3AD203B41FA5}">
                          <a16:colId xmlns:a16="http://schemas.microsoft.com/office/drawing/2014/main" val="592218920"/>
                        </a:ext>
                      </a:extLst>
                    </a:gridCol>
                  </a:tblGrid>
                  <a:tr h="27432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cs typeface="Calibri" panose="020F0502020204030204" pitchFamily="34" charset="0"/>
                            </a:rPr>
                            <a:t>Example 4 -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5 – We</a:t>
                          </a:r>
                          <a:r>
                            <a:rPr lang="en-GB" sz="1200" b="1" i="1" baseline="0" noProof="0">
                              <a:solidFill>
                                <a:schemeClr val="accent2"/>
                              </a:solidFill>
                            </a:rPr>
                            <a:t> </a:t>
                          </a:r>
                          <a:r>
                            <a:rPr lang="en-GB" sz="1200" b="1" i="1" noProof="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6 – You</a:t>
                          </a:r>
                          <a:r>
                            <a:rPr lang="en-GB" sz="1200" b="1" i="1" baseline="0" noProof="0">
                              <a:solidFill>
                                <a:srgbClr val="00B050"/>
                              </a:solidFill>
                            </a:rPr>
                            <a:t> </a:t>
                          </a:r>
                          <a:r>
                            <a:rPr lang="en-GB" sz="1200" b="1" i="1" noProof="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595619">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1) Label the equations 1 and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9381" t="-6101" r="-194502" b="-265"/>
                          </a:stretch>
                        </a:blip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78767" t="-6101" r="-93836" b="-265"/>
                          </a:stretch>
                        </a:blip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9265" t="-6101" r="-735" b="-265"/>
                          </a:stretch>
                        </a:blipFill>
                      </a:tcPr>
                    </a:tc>
                    <a:extLst>
                      <a:ext uri="{0D108BD9-81ED-4DB2-BD59-A6C34878D82A}">
                        <a16:rowId xmlns:a16="http://schemas.microsoft.com/office/drawing/2014/main" val="3427265822"/>
                      </a:ext>
                    </a:extLst>
                  </a:tr>
                  <a:tr h="756451">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2) Find</a:t>
                          </a:r>
                          <a:r>
                            <a:rPr lang="en-GB" sz="1200" b="0" i="0" baseline="0" noProof="0">
                              <a:solidFill>
                                <a:schemeClr val="tx1"/>
                              </a:solidFill>
                              <a:cs typeface="Calibri" panose="020F0502020204030204" pitchFamily="34" charset="0"/>
                            </a:rPr>
                            <a:t> the LCM and adjust one of the equations.</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81007270"/>
                      </a:ext>
                    </a:extLst>
                  </a:tr>
                  <a:tr h="7564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3) If the signs are </a:t>
                          </a:r>
                          <a:r>
                            <a:rPr lang="en-GB" sz="1200" b="1" i="0" noProof="0">
                              <a:solidFill>
                                <a:schemeClr val="tx1"/>
                              </a:solidFill>
                              <a:cs typeface="Calibri" panose="020F0502020204030204" pitchFamily="34" charset="0"/>
                            </a:rPr>
                            <a:t>the same,</a:t>
                          </a:r>
                          <a:r>
                            <a:rPr lang="en-GB" sz="1200" b="1" i="0" baseline="0" noProof="0">
                              <a:solidFill>
                                <a:schemeClr val="tx1"/>
                              </a:solidFill>
                              <a:cs typeface="Calibri" panose="020F0502020204030204" pitchFamily="34" charset="0"/>
                            </a:rPr>
                            <a:t> subtract. If different, add. </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r h="7564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4) Solve to find</a:t>
                          </a:r>
                          <a:r>
                            <a:rPr lang="en-GB" sz="1200" b="0" i="0" baseline="0" noProof="0">
                              <a:solidFill>
                                <a:schemeClr val="tx1"/>
                              </a:solidFill>
                              <a:cs typeface="Calibri" panose="020F0502020204030204" pitchFamily="34" charset="0"/>
                            </a:rPr>
                            <a:t> one variable. </a:t>
                          </a:r>
                          <a:endParaRPr lang="en-GB" sz="1200" b="0" i="0" noProof="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67515573"/>
                      </a:ext>
                    </a:extLst>
                  </a:tr>
                  <a:tr h="118870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35" t="-264615" r="-372609" b="-46667"/>
                          </a:stretch>
                        </a:blip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978753"/>
                      </a:ext>
                    </a:extLst>
                  </a:tr>
                  <a:tr h="54032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6) Write the solutions.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148007"/>
                      </a:ext>
                    </a:extLst>
                  </a:tr>
                </a:tbl>
              </a:graphicData>
            </a:graphic>
          </p:graphicFrame>
        </mc:Fallback>
      </mc:AlternateContent>
      <p:sp>
        <p:nvSpPr>
          <p:cNvPr id="5" name="TextBox 4">
            <a:extLst>
              <a:ext uri="{FF2B5EF4-FFF2-40B4-BE49-F238E27FC236}">
                <a16:creationId xmlns:a16="http://schemas.microsoft.com/office/drawing/2014/main" id="{1A127D5F-D90C-7A4B-B2A7-9600D90C40CC}"/>
              </a:ext>
            </a:extLst>
          </p:cNvPr>
          <p:cNvSpPr txBox="1"/>
          <p:nvPr/>
        </p:nvSpPr>
        <p:spPr>
          <a:xfrm>
            <a:off x="0" y="97"/>
            <a:ext cx="1681935" cy="276999"/>
          </a:xfrm>
          <a:prstGeom prst="rect">
            <a:avLst/>
          </a:prstGeom>
          <a:solidFill>
            <a:srgbClr val="0070C0"/>
          </a:solidFill>
        </p:spPr>
        <p:txBody>
          <a:bodyPr wrap="none" rtlCol="0" anchor="ctr">
            <a:spAutoFit/>
          </a:bodyPr>
          <a:lstStyle/>
          <a:p>
            <a:pPr algn="r"/>
            <a:r>
              <a:rPr lang="en-GB" sz="1200" b="1" noProof="0" dirty="0">
                <a:solidFill>
                  <a:schemeClr val="bg1"/>
                </a:solidFill>
              </a:rPr>
              <a:t>Adjusting one equation</a:t>
            </a:r>
          </a:p>
        </p:txBody>
      </p:sp>
      <p:sp>
        <p:nvSpPr>
          <p:cNvPr id="7" name="TextBox 6">
            <a:extLst>
              <a:ext uri="{FF2B5EF4-FFF2-40B4-BE49-F238E27FC236}">
                <a16:creationId xmlns:a16="http://schemas.microsoft.com/office/drawing/2014/main" id="{2C10CDB0-5D39-7448-ABDD-102EC30FED6B}"/>
              </a:ext>
            </a:extLst>
          </p:cNvPr>
          <p:cNvSpPr txBox="1"/>
          <p:nvPr/>
        </p:nvSpPr>
        <p:spPr>
          <a:xfrm>
            <a:off x="1926406" y="5318652"/>
            <a:ext cx="3589701" cy="276999"/>
          </a:xfrm>
          <a:prstGeom prst="rect">
            <a:avLst/>
          </a:prstGeom>
          <a:noFill/>
        </p:spPr>
        <p:txBody>
          <a:bodyPr wrap="none" rtlCol="0">
            <a:spAutoFit/>
          </a:bodyPr>
          <a:lstStyle/>
          <a:p>
            <a:r>
              <a:rPr lang="en-GB" sz="1200" noProof="0" dirty="0"/>
              <a:t> 2) Solve the simultaneous equations using elimination</a:t>
            </a:r>
          </a:p>
        </p:txBody>
      </p:sp>
      <mc:AlternateContent xmlns:mc="http://schemas.openxmlformats.org/markup-compatibility/2006" xmlns:a14="http://schemas.microsoft.com/office/drawing/2010/main">
        <mc:Choice Requires="a14">
          <p:sp>
            <p:nvSpPr>
              <p:cNvPr id="3" name="TextBox 2"/>
              <p:cNvSpPr txBox="1"/>
              <p:nvPr/>
            </p:nvSpPr>
            <p:spPr>
              <a:xfrm>
                <a:off x="44307" y="5718693"/>
                <a:ext cx="1414618" cy="646331"/>
              </a:xfrm>
              <a:prstGeom prst="rect">
                <a:avLst/>
              </a:prstGeom>
              <a:noFill/>
            </p:spPr>
            <p:txBody>
              <a:bodyPr wrap="none" rtlCol="0">
                <a:spAutoFit/>
              </a:bodyPr>
              <a:lstStyle/>
              <a:p>
                <a:pPr lvl="0" algn="ctr" defTabSz="685800">
                  <a:defRPr/>
                </a:pPr>
                <a:r>
                  <a:rPr lang="en-GB" sz="1200" noProof="0" dirty="0"/>
                  <a:t>a) </a:t>
                </a:r>
                <a14:m>
                  <m:oMath xmlns:m="http://schemas.openxmlformats.org/officeDocument/2006/math">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=9</m:t>
                    </m:r>
                  </m:oMath>
                </a14:m>
                <a:r>
                  <a:rPr lang="en-GB" sz="1200" noProof="0" dirty="0">
                    <a:cs typeface="Calibri" panose="020F0502020204030204" pitchFamily="34" charset="0"/>
                  </a:rPr>
                  <a:t> (2)</a:t>
                </a:r>
              </a:p>
              <a:p>
                <a:r>
                  <a:rPr lang="en-GB" sz="1200" noProof="0" dirty="0"/>
                  <a:t> </a:t>
                </a:r>
              </a:p>
            </p:txBody>
          </p:sp>
        </mc:Choice>
        <mc:Fallback xmlns="">
          <p:sp>
            <p:nvSpPr>
              <p:cNvPr id="3" name="TextBox 2"/>
              <p:cNvSpPr txBox="1">
                <a:spLocks noRot="1" noChangeAspect="1" noMove="1" noResize="1" noEditPoints="1" noAdjustHandles="1" noChangeArrowheads="1" noChangeShapeType="1" noTextEdit="1"/>
              </p:cNvSpPr>
              <p:nvPr/>
            </p:nvSpPr>
            <p:spPr>
              <a:xfrm>
                <a:off x="44307" y="5718693"/>
                <a:ext cx="1414618" cy="6463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427819" y="5718692"/>
                <a:ext cx="1556132" cy="646331"/>
              </a:xfrm>
              <a:prstGeom prst="rect">
                <a:avLst/>
              </a:prstGeom>
              <a:noFill/>
            </p:spPr>
            <p:txBody>
              <a:bodyPr wrap="none" rtlCol="0">
                <a:spAutoFit/>
              </a:bodyPr>
              <a:lstStyle/>
              <a:p>
                <a:pPr lvl="0" algn="ctr" defTabSz="685800">
                  <a:defRPr/>
                </a:pPr>
                <a:r>
                  <a:rPr lang="en-GB" sz="1200" noProof="0" dirty="0"/>
                  <a:t>b)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=12</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=22</m:t>
                    </m:r>
                  </m:oMath>
                </a14:m>
                <a:r>
                  <a:rPr lang="en-GB" sz="1200" noProof="0" dirty="0">
                    <a:cs typeface="Calibri" panose="020F0502020204030204" pitchFamily="34" charset="0"/>
                  </a:rPr>
                  <a:t> (2)</a:t>
                </a:r>
              </a:p>
              <a:p>
                <a:r>
                  <a:rPr lang="en-GB" sz="1200" noProof="0" dirty="0"/>
                  <a:t> </a:t>
                </a:r>
              </a:p>
            </p:txBody>
          </p:sp>
        </mc:Choice>
        <mc:Fallback xmlns="">
          <p:sp>
            <p:nvSpPr>
              <p:cNvPr id="9" name="TextBox 8"/>
              <p:cNvSpPr txBox="1">
                <a:spLocks noRot="1" noChangeAspect="1" noMove="1" noResize="1" noEditPoints="1" noAdjustHandles="1" noChangeArrowheads="1" noChangeShapeType="1" noTextEdit="1"/>
              </p:cNvSpPr>
              <p:nvPr/>
            </p:nvSpPr>
            <p:spPr>
              <a:xfrm>
                <a:off x="2427819" y="5718692"/>
                <a:ext cx="1556132" cy="6463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781495" y="5718692"/>
                <a:ext cx="1503233" cy="646331"/>
              </a:xfrm>
              <a:prstGeom prst="rect">
                <a:avLst/>
              </a:prstGeom>
              <a:noFill/>
            </p:spPr>
            <p:txBody>
              <a:bodyPr wrap="none" rtlCol="0">
                <a:spAutoFit/>
              </a:bodyPr>
              <a:lstStyle/>
              <a:p>
                <a:pPr lvl="0" algn="ctr" defTabSz="685800">
                  <a:defRPr/>
                </a:pPr>
                <a:r>
                  <a:rPr lang="en-GB" sz="1200" noProof="0" dirty="0"/>
                  <a:t>c) </a:t>
                </a:r>
                <a14:m>
                  <m:oMath xmlns:m="http://schemas.openxmlformats.org/officeDocument/2006/math">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=28</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+6</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=51</m:t>
                    </m:r>
                  </m:oMath>
                </a14:m>
                <a:r>
                  <a:rPr lang="en-GB" sz="1200" noProof="0" dirty="0">
                    <a:cs typeface="Calibri" panose="020F0502020204030204" pitchFamily="34" charset="0"/>
                  </a:rPr>
                  <a:t> (2)</a:t>
                </a:r>
              </a:p>
              <a:p>
                <a:r>
                  <a:rPr lang="en-GB" sz="1200" noProof="0" dirty="0"/>
                  <a:t> </a:t>
                </a:r>
              </a:p>
            </p:txBody>
          </p:sp>
        </mc:Choice>
        <mc:Fallback xmlns="">
          <p:sp>
            <p:nvSpPr>
              <p:cNvPr id="10" name="TextBox 9"/>
              <p:cNvSpPr txBox="1">
                <a:spLocks noRot="1" noChangeAspect="1" noMove="1" noResize="1" noEditPoints="1" noAdjustHandles="1" noChangeArrowheads="1" noChangeShapeType="1" noTextEdit="1"/>
              </p:cNvSpPr>
              <p:nvPr/>
            </p:nvSpPr>
            <p:spPr>
              <a:xfrm>
                <a:off x="4781495" y="5718692"/>
                <a:ext cx="1503233" cy="646331"/>
              </a:xfrm>
              <a:prstGeom prst="rect">
                <a:avLst/>
              </a:prstGeom>
              <a:blipFill>
                <a:blip r:embed="rId5"/>
                <a:stretch>
                  <a:fillRect/>
                </a:stretch>
              </a:blipFill>
            </p:spPr>
            <p:txBody>
              <a:bodyPr/>
              <a:lstStyle/>
              <a:p>
                <a:r>
                  <a:rPr lang="en-US">
                    <a:noFill/>
                  </a:rPr>
                  <a:t> </a:t>
                </a:r>
              </a:p>
            </p:txBody>
          </p:sp>
        </mc:Fallback>
      </mc:AlternateContent>
      <p:sp>
        <p:nvSpPr>
          <p:cNvPr id="11" name="Rectangle 10"/>
          <p:cNvSpPr/>
          <p:nvPr/>
        </p:nvSpPr>
        <p:spPr>
          <a:xfrm>
            <a:off x="110260" y="6241774"/>
            <a:ext cx="2119082" cy="35184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Rectangle 11"/>
          <p:cNvSpPr/>
          <p:nvPr/>
        </p:nvSpPr>
        <p:spPr>
          <a:xfrm>
            <a:off x="2295295" y="6241774"/>
            <a:ext cx="2249238" cy="35184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tangle 12"/>
          <p:cNvSpPr/>
          <p:nvPr/>
        </p:nvSpPr>
        <p:spPr>
          <a:xfrm>
            <a:off x="4585692" y="6241774"/>
            <a:ext cx="2134419" cy="35184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 name="Rectangle 13">
            <a:extLst>
              <a:ext uri="{FF2B5EF4-FFF2-40B4-BE49-F238E27FC236}">
                <a16:creationId xmlns:a16="http://schemas.microsoft.com/office/drawing/2014/main" id="{EFEA5655-F8B4-E44B-AD11-37BDE174E0E4}"/>
              </a:ext>
            </a:extLst>
          </p:cNvPr>
          <p:cNvSpPr/>
          <p:nvPr/>
        </p:nvSpPr>
        <p:spPr>
          <a:xfrm>
            <a:off x="1031761" y="938235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15" name="Rectangle 14">
            <a:extLst>
              <a:ext uri="{FF2B5EF4-FFF2-40B4-BE49-F238E27FC236}">
                <a16:creationId xmlns:a16="http://schemas.microsoft.com/office/drawing/2014/main" id="{FB12ABF5-462E-6044-8D21-BD0BF63C4036}"/>
              </a:ext>
            </a:extLst>
          </p:cNvPr>
          <p:cNvSpPr/>
          <p:nvPr/>
        </p:nvSpPr>
        <p:spPr>
          <a:xfrm>
            <a:off x="1818784" y="9379237"/>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AC357ECC-A710-0A49-95CD-DEF7B6D6DED8}"/>
                  </a:ext>
                </a:extLst>
              </p:cNvPr>
              <p:cNvSpPr/>
              <p:nvPr/>
            </p:nvSpPr>
            <p:spPr>
              <a:xfrm>
                <a:off x="381000" y="9339389"/>
                <a:ext cx="1837366"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16" name="Rectangle 15">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381000" y="9339389"/>
                <a:ext cx="1837366" cy="369332"/>
              </a:xfrm>
              <a:prstGeom prst="rect">
                <a:avLst/>
              </a:prstGeom>
              <a:blipFill>
                <a:blip r:embed="rId6"/>
                <a:stretch>
                  <a:fillRect b="-16393"/>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EFEA5655-F8B4-E44B-AD11-37BDE174E0E4}"/>
              </a:ext>
            </a:extLst>
          </p:cNvPr>
          <p:cNvSpPr/>
          <p:nvPr/>
        </p:nvSpPr>
        <p:spPr>
          <a:xfrm>
            <a:off x="3100335" y="937824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18" name="Rectangle 17">
            <a:extLst>
              <a:ext uri="{FF2B5EF4-FFF2-40B4-BE49-F238E27FC236}">
                <a16:creationId xmlns:a16="http://schemas.microsoft.com/office/drawing/2014/main" id="{FB12ABF5-462E-6044-8D21-BD0BF63C4036}"/>
              </a:ext>
            </a:extLst>
          </p:cNvPr>
          <p:cNvSpPr/>
          <p:nvPr/>
        </p:nvSpPr>
        <p:spPr>
          <a:xfrm>
            <a:off x="3990835" y="9379972"/>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0" name="Rectangle 19">
            <a:extLst>
              <a:ext uri="{FF2B5EF4-FFF2-40B4-BE49-F238E27FC236}">
                <a16:creationId xmlns:a16="http://schemas.microsoft.com/office/drawing/2014/main" id="{EFEA5655-F8B4-E44B-AD11-37BDE174E0E4}"/>
              </a:ext>
            </a:extLst>
          </p:cNvPr>
          <p:cNvSpPr/>
          <p:nvPr/>
        </p:nvSpPr>
        <p:spPr>
          <a:xfrm>
            <a:off x="5367566" y="938136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1" name="Rectangle 20">
            <a:extLst>
              <a:ext uri="{FF2B5EF4-FFF2-40B4-BE49-F238E27FC236}">
                <a16:creationId xmlns:a16="http://schemas.microsoft.com/office/drawing/2014/main" id="{FB12ABF5-462E-6044-8D21-BD0BF63C4036}"/>
              </a:ext>
            </a:extLst>
          </p:cNvPr>
          <p:cNvSpPr/>
          <p:nvPr/>
        </p:nvSpPr>
        <p:spPr>
          <a:xfrm>
            <a:off x="6154589" y="937824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3" name="TextBox 22"/>
          <p:cNvSpPr txBox="1"/>
          <p:nvPr/>
        </p:nvSpPr>
        <p:spPr>
          <a:xfrm>
            <a:off x="94805" y="5335165"/>
            <a:ext cx="1732782" cy="276999"/>
          </a:xfrm>
          <a:prstGeom prst="rect">
            <a:avLst/>
          </a:prstGeom>
          <a:solidFill>
            <a:srgbClr val="0070C0"/>
          </a:solidFill>
          <a:ln w="19050">
            <a:solidFill>
              <a:schemeClr val="tx1"/>
            </a:solidFill>
          </a:ln>
        </p:spPr>
        <p:txBody>
          <a:bodyPr wrap="none" rtlCol="0">
            <a:spAutoFit/>
          </a:bodyPr>
          <a:lstStyle/>
          <a:p>
            <a:r>
              <a:rPr lang="en-GB" sz="1200" noProof="0" dirty="0">
                <a:solidFill>
                  <a:schemeClr val="bg1"/>
                </a:solidFill>
              </a:rPr>
              <a:t>INDEPENDENT PRACTICE</a:t>
            </a: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AC357ECC-A710-0A49-95CD-DEF7B6D6DED8}"/>
                  </a:ext>
                </a:extLst>
              </p:cNvPr>
              <p:cNvSpPr/>
              <p:nvPr/>
            </p:nvSpPr>
            <p:spPr>
              <a:xfrm>
                <a:off x="2421508" y="9339389"/>
                <a:ext cx="1837366"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4" name="Rectangle 23">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2421508" y="9339389"/>
                <a:ext cx="1837366" cy="369332"/>
              </a:xfrm>
              <a:prstGeom prst="rect">
                <a:avLst/>
              </a:prstGeom>
              <a:blipFill>
                <a:blip r:embed="rId7"/>
                <a:stretch>
                  <a:fillRect b="-163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AC357ECC-A710-0A49-95CD-DEF7B6D6DED8}"/>
                  </a:ext>
                </a:extLst>
              </p:cNvPr>
              <p:cNvSpPr/>
              <p:nvPr/>
            </p:nvSpPr>
            <p:spPr>
              <a:xfrm>
                <a:off x="4668093" y="9313442"/>
                <a:ext cx="1837366"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5" name="Rectangle 24">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4668093" y="9313442"/>
                <a:ext cx="1837366" cy="369332"/>
              </a:xfrm>
              <a:prstGeom prst="rect">
                <a:avLst/>
              </a:prstGeom>
              <a:blipFill>
                <a:blip r:embed="rId8"/>
                <a:stretch>
                  <a:fillRect b="-16667"/>
                </a:stretch>
              </a:blipFill>
            </p:spPr>
            <p:txBody>
              <a:bodyPr/>
              <a:lstStyle/>
              <a:p>
                <a:r>
                  <a:rPr lang="en-US">
                    <a:noFill/>
                  </a:rPr>
                  <a:t> </a:t>
                </a:r>
              </a:p>
            </p:txBody>
          </p:sp>
        </mc:Fallback>
      </mc:AlternateContent>
    </p:spTree>
    <p:extLst>
      <p:ext uri="{BB962C8B-B14F-4D97-AF65-F5344CB8AC3E}">
        <p14:creationId xmlns:p14="http://schemas.microsoft.com/office/powerpoint/2010/main" val="17333240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14950" y="9528813"/>
            <a:ext cx="1543050" cy="527403"/>
          </a:xfrm>
        </p:spPr>
        <p:txBody>
          <a:bodyPr/>
          <a:lstStyle/>
          <a:p>
            <a:fld id="{19F1D9CC-7119-45EC-A96C-D8C0660F3AAB}" type="slidenum">
              <a:rPr lang="en-GB" noProof="0" smtClean="0"/>
              <a:t>42</a:t>
            </a:fld>
            <a:endParaRPr lang="en-GB" noProof="0" dirty="0"/>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000671281"/>
                  </p:ext>
                </p:extLst>
              </p:nvPr>
            </p:nvGraphicFramePr>
            <p:xfrm>
              <a:off x="110259" y="114140"/>
              <a:ext cx="6609852" cy="4868323"/>
            </p:xfrm>
            <a:graphic>
              <a:graphicData uri="http://schemas.openxmlformats.org/drawingml/2006/table">
                <a:tbl>
                  <a:tblPr firstRow="1" bandRow="1">
                    <a:tableStyleId>{5C22544A-7EE6-4342-B048-85BDC9FD1C3A}</a:tableStyleId>
                  </a:tblPr>
                  <a:tblGrid>
                    <a:gridCol w="1400476">
                      <a:extLst>
                        <a:ext uri="{9D8B030D-6E8A-4147-A177-3AD203B41FA5}">
                          <a16:colId xmlns:a16="http://schemas.microsoft.com/office/drawing/2014/main" val="4222859584"/>
                        </a:ext>
                      </a:extLst>
                    </a:gridCol>
                    <a:gridCol w="1772578">
                      <a:extLst>
                        <a:ext uri="{9D8B030D-6E8A-4147-A177-3AD203B41FA5}">
                          <a16:colId xmlns:a16="http://schemas.microsoft.com/office/drawing/2014/main" val="2943938818"/>
                        </a:ext>
                      </a:extLst>
                    </a:gridCol>
                    <a:gridCol w="1778669">
                      <a:extLst>
                        <a:ext uri="{9D8B030D-6E8A-4147-A177-3AD203B41FA5}">
                          <a16:colId xmlns:a16="http://schemas.microsoft.com/office/drawing/2014/main" val="4207345459"/>
                        </a:ext>
                      </a:extLst>
                    </a:gridCol>
                    <a:gridCol w="1658129">
                      <a:extLst>
                        <a:ext uri="{9D8B030D-6E8A-4147-A177-3AD203B41FA5}">
                          <a16:colId xmlns:a16="http://schemas.microsoft.com/office/drawing/2014/main" val="592218920"/>
                        </a:ext>
                      </a:extLst>
                    </a:gridCol>
                  </a:tblGrid>
                  <a:tr h="25178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cs typeface="Calibri" panose="020F0502020204030204" pitchFamily="34" charset="0"/>
                            </a:rPr>
                            <a:t>Example 7 -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8 – We</a:t>
                          </a:r>
                          <a:r>
                            <a:rPr lang="en-GB" sz="1200" b="1" i="1" baseline="0" noProof="0" dirty="0">
                              <a:solidFill>
                                <a:schemeClr val="accent2"/>
                              </a:solidFill>
                            </a:rPr>
                            <a:t> </a:t>
                          </a:r>
                          <a:r>
                            <a:rPr lang="en-GB" sz="1200" b="1" i="1" noProof="0" dirty="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9 – You</a:t>
                          </a:r>
                          <a:r>
                            <a:rPr lang="en-GB" sz="1200" b="1" i="1" baseline="0" noProof="0" dirty="0">
                              <a:solidFill>
                                <a:srgbClr val="00B050"/>
                              </a:solidFill>
                            </a:rPr>
                            <a:t> </a:t>
                          </a:r>
                          <a:r>
                            <a:rPr lang="en-GB" sz="1200" b="1" i="1" noProof="0" dirty="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595619">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1) Label the equations 1 and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 2</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=5</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=−3</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=11</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6</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=27</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 </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4</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=22</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265822"/>
                      </a:ext>
                    </a:extLst>
                  </a:tr>
                  <a:tr h="756451">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2) Find</a:t>
                          </a:r>
                          <a:r>
                            <a:rPr lang="en-GB" sz="1200" b="0" i="0" baseline="0" noProof="0" dirty="0">
                              <a:solidFill>
                                <a:schemeClr val="tx1"/>
                              </a:solidFill>
                              <a:cs typeface="Calibri" panose="020F0502020204030204" pitchFamily="34" charset="0"/>
                            </a:rPr>
                            <a:t> the LCM and adjust one of the equations.</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81007270"/>
                      </a:ext>
                    </a:extLst>
                  </a:tr>
                  <a:tr h="7564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3) If the signs are </a:t>
                          </a:r>
                          <a:r>
                            <a:rPr lang="en-GB" sz="1200" b="1" i="0" noProof="0" dirty="0">
                              <a:solidFill>
                                <a:schemeClr val="tx1"/>
                              </a:solidFill>
                              <a:cs typeface="Calibri" panose="020F0502020204030204" pitchFamily="34" charset="0"/>
                            </a:rPr>
                            <a:t>the same,</a:t>
                          </a:r>
                          <a:r>
                            <a:rPr lang="en-GB" sz="1200" b="1" i="0" baseline="0" noProof="0" dirty="0">
                              <a:solidFill>
                                <a:schemeClr val="tx1"/>
                              </a:solidFill>
                              <a:cs typeface="Calibri" panose="020F0502020204030204" pitchFamily="34" charset="0"/>
                            </a:rPr>
                            <a:t> subtract. If different, add. </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r h="7564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4) Solve to find</a:t>
                          </a:r>
                          <a:r>
                            <a:rPr lang="en-GB" sz="1200" b="0" i="0" baseline="0" noProof="0" dirty="0">
                              <a:solidFill>
                                <a:schemeClr val="tx1"/>
                              </a:solidFill>
                              <a:cs typeface="Calibri" panose="020F0502020204030204" pitchFamily="34" charset="0"/>
                            </a:rPr>
                            <a:t> one variable. </a:t>
                          </a:r>
                          <a:endParaRPr lang="en-GB" sz="1200" b="0" i="0" noProof="0" dirty="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67515573"/>
                      </a:ext>
                    </a:extLst>
                  </a:tr>
                  <a:tr h="118870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5) Substitute the value of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𝑥</m:t>
                              </m:r>
                            </m:oMath>
                          </a14:m>
                          <a:r>
                            <a:rPr lang="en-GB" sz="1200" b="0" i="0" baseline="0" noProof="0" dirty="0">
                              <a:solidFill>
                                <a:schemeClr val="tx1"/>
                              </a:solidFill>
                              <a:cs typeface="Calibri" panose="020F0502020204030204" pitchFamily="34" charset="0"/>
                            </a:rPr>
                            <a:t> or </a:t>
                          </a:r>
                          <a14:m>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oMath>
                          </a14:m>
                          <a:r>
                            <a:rPr lang="en-GB" sz="1200" b="0" i="0" baseline="0" noProof="0" dirty="0">
                              <a:solidFill>
                                <a:schemeClr val="tx1"/>
                              </a:solidFill>
                              <a:cs typeface="Calibri" panose="020F0502020204030204" pitchFamily="34" charset="0"/>
                            </a:rPr>
                            <a:t> into one of the equations to find the other values.</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978753"/>
                      </a:ext>
                    </a:extLst>
                  </a:tr>
                  <a:tr h="54032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6) Write the solutions.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148007"/>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000671281"/>
                  </p:ext>
                </p:extLst>
              </p:nvPr>
            </p:nvGraphicFramePr>
            <p:xfrm>
              <a:off x="110259" y="114140"/>
              <a:ext cx="6609852" cy="4868323"/>
            </p:xfrm>
            <a:graphic>
              <a:graphicData uri="http://schemas.openxmlformats.org/drawingml/2006/table">
                <a:tbl>
                  <a:tblPr firstRow="1" bandRow="1">
                    <a:tableStyleId>{5C22544A-7EE6-4342-B048-85BDC9FD1C3A}</a:tableStyleId>
                  </a:tblPr>
                  <a:tblGrid>
                    <a:gridCol w="1400476">
                      <a:extLst>
                        <a:ext uri="{9D8B030D-6E8A-4147-A177-3AD203B41FA5}">
                          <a16:colId xmlns:a16="http://schemas.microsoft.com/office/drawing/2014/main" val="4222859584"/>
                        </a:ext>
                      </a:extLst>
                    </a:gridCol>
                    <a:gridCol w="1772578">
                      <a:extLst>
                        <a:ext uri="{9D8B030D-6E8A-4147-A177-3AD203B41FA5}">
                          <a16:colId xmlns:a16="http://schemas.microsoft.com/office/drawing/2014/main" val="2943938818"/>
                        </a:ext>
                      </a:extLst>
                    </a:gridCol>
                    <a:gridCol w="1778669">
                      <a:extLst>
                        <a:ext uri="{9D8B030D-6E8A-4147-A177-3AD203B41FA5}">
                          <a16:colId xmlns:a16="http://schemas.microsoft.com/office/drawing/2014/main" val="4207345459"/>
                        </a:ext>
                      </a:extLst>
                    </a:gridCol>
                    <a:gridCol w="1658129">
                      <a:extLst>
                        <a:ext uri="{9D8B030D-6E8A-4147-A177-3AD203B41FA5}">
                          <a16:colId xmlns:a16="http://schemas.microsoft.com/office/drawing/2014/main" val="592218920"/>
                        </a:ext>
                      </a:extLst>
                    </a:gridCol>
                  </a:tblGrid>
                  <a:tr h="27432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cs typeface="Calibri" panose="020F0502020204030204" pitchFamily="34" charset="0"/>
                            </a:rPr>
                            <a:t>Example 7 -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8 – We</a:t>
                          </a:r>
                          <a:r>
                            <a:rPr lang="en-GB" sz="1200" b="1" i="1" baseline="0" noProof="0">
                              <a:solidFill>
                                <a:schemeClr val="accent2"/>
                              </a:solidFill>
                            </a:rPr>
                            <a:t> </a:t>
                          </a:r>
                          <a:r>
                            <a:rPr lang="en-GB" sz="1200" b="1" i="1" noProof="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9 – You</a:t>
                          </a:r>
                          <a:r>
                            <a:rPr lang="en-GB" sz="1200" b="1" i="1" baseline="0" noProof="0">
                              <a:solidFill>
                                <a:srgbClr val="00B050"/>
                              </a:solidFill>
                            </a:rPr>
                            <a:t> </a:t>
                          </a:r>
                          <a:r>
                            <a:rPr lang="en-GB" sz="1200" b="1" i="1" noProof="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595619">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1) Label the equations 1 and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9381" t="-6093" r="-194502" b="-265"/>
                          </a:stretch>
                        </a:blip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78767" t="-6093" r="-93836" b="-265"/>
                          </a:stretch>
                        </a:blip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9265" t="-6093" r="-735" b="-265"/>
                          </a:stretch>
                        </a:blipFill>
                      </a:tcPr>
                    </a:tc>
                    <a:extLst>
                      <a:ext uri="{0D108BD9-81ED-4DB2-BD59-A6C34878D82A}">
                        <a16:rowId xmlns:a16="http://schemas.microsoft.com/office/drawing/2014/main" val="3427265822"/>
                      </a:ext>
                    </a:extLst>
                  </a:tr>
                  <a:tr h="756451">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2) Find</a:t>
                          </a:r>
                          <a:r>
                            <a:rPr lang="en-GB" sz="1200" b="0" i="0" baseline="0" noProof="0">
                              <a:solidFill>
                                <a:schemeClr val="tx1"/>
                              </a:solidFill>
                              <a:cs typeface="Calibri" panose="020F0502020204030204" pitchFamily="34" charset="0"/>
                            </a:rPr>
                            <a:t> the LCM and adjust one of the equations.</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81007270"/>
                      </a:ext>
                    </a:extLst>
                  </a:tr>
                  <a:tr h="7564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3) If the signs are </a:t>
                          </a:r>
                          <a:r>
                            <a:rPr lang="en-GB" sz="1200" b="1" i="0" noProof="0">
                              <a:solidFill>
                                <a:schemeClr val="tx1"/>
                              </a:solidFill>
                              <a:cs typeface="Calibri" panose="020F0502020204030204" pitchFamily="34" charset="0"/>
                            </a:rPr>
                            <a:t>the same,</a:t>
                          </a:r>
                          <a:r>
                            <a:rPr lang="en-GB" sz="1200" b="1" i="0" baseline="0" noProof="0">
                              <a:solidFill>
                                <a:schemeClr val="tx1"/>
                              </a:solidFill>
                              <a:cs typeface="Calibri" panose="020F0502020204030204" pitchFamily="34" charset="0"/>
                            </a:rPr>
                            <a:t> subtract. If different, add. </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r h="7564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4) Solve to find</a:t>
                          </a:r>
                          <a:r>
                            <a:rPr lang="en-GB" sz="1200" b="0" i="0" baseline="0" noProof="0">
                              <a:solidFill>
                                <a:schemeClr val="tx1"/>
                              </a:solidFill>
                              <a:cs typeface="Calibri" panose="020F0502020204030204" pitchFamily="34" charset="0"/>
                            </a:rPr>
                            <a:t> one variable. </a:t>
                          </a:r>
                          <a:endParaRPr lang="en-GB" sz="1200" b="0" i="0" noProof="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67515573"/>
                      </a:ext>
                    </a:extLst>
                  </a:tr>
                  <a:tr h="118870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35" t="-265128" r="-372609" b="-46667"/>
                          </a:stretch>
                        </a:blip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978753"/>
                      </a:ext>
                    </a:extLst>
                  </a:tr>
                  <a:tr h="54032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6) Write the solutions.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148007"/>
                      </a:ext>
                    </a:extLst>
                  </a:tr>
                </a:tbl>
              </a:graphicData>
            </a:graphic>
          </p:graphicFrame>
        </mc:Fallback>
      </mc:AlternateContent>
      <p:sp>
        <p:nvSpPr>
          <p:cNvPr id="5" name="TextBox 4">
            <a:extLst>
              <a:ext uri="{FF2B5EF4-FFF2-40B4-BE49-F238E27FC236}">
                <a16:creationId xmlns:a16="http://schemas.microsoft.com/office/drawing/2014/main" id="{2C10CDB0-5D39-7448-ABDD-102EC30FED6B}"/>
              </a:ext>
            </a:extLst>
          </p:cNvPr>
          <p:cNvSpPr txBox="1"/>
          <p:nvPr/>
        </p:nvSpPr>
        <p:spPr>
          <a:xfrm>
            <a:off x="1791720" y="5050373"/>
            <a:ext cx="3589701" cy="276999"/>
          </a:xfrm>
          <a:prstGeom prst="rect">
            <a:avLst/>
          </a:prstGeom>
          <a:noFill/>
        </p:spPr>
        <p:txBody>
          <a:bodyPr wrap="none" rtlCol="0">
            <a:spAutoFit/>
          </a:bodyPr>
          <a:lstStyle/>
          <a:p>
            <a:r>
              <a:rPr lang="en-GB" sz="1200" noProof="0" dirty="0"/>
              <a:t> 3) Solve the simultaneous equations using elimination</a:t>
            </a:r>
          </a:p>
        </p:txBody>
      </p:sp>
      <mc:AlternateContent xmlns:mc="http://schemas.openxmlformats.org/markup-compatibility/2006" xmlns:a14="http://schemas.microsoft.com/office/drawing/2010/main">
        <mc:Choice Requires="a14">
          <p:sp>
            <p:nvSpPr>
              <p:cNvPr id="7" name="TextBox 6"/>
              <p:cNvSpPr txBox="1"/>
              <p:nvPr/>
            </p:nvSpPr>
            <p:spPr>
              <a:xfrm>
                <a:off x="4858645" y="5468917"/>
                <a:ext cx="1414618" cy="646331"/>
              </a:xfrm>
              <a:prstGeom prst="rect">
                <a:avLst/>
              </a:prstGeom>
              <a:noFill/>
            </p:spPr>
            <p:txBody>
              <a:bodyPr wrap="none" rtlCol="0">
                <a:spAutoFit/>
              </a:bodyPr>
              <a:lstStyle/>
              <a:p>
                <a:pPr lvl="0" algn="ctr" defTabSz="685800">
                  <a:defRPr/>
                </a:pPr>
                <a:r>
                  <a:rPr lang="en-GB" sz="1200" noProof="0" dirty="0"/>
                  <a:t>c) </a:t>
                </a:r>
                <a14:m>
                  <m:oMath xmlns:m="http://schemas.openxmlformats.org/officeDocument/2006/math">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=9</m:t>
                    </m:r>
                  </m:oMath>
                </a14:m>
                <a:r>
                  <a:rPr lang="en-GB" sz="1200" noProof="0" dirty="0">
                    <a:cs typeface="Calibri" panose="020F0502020204030204" pitchFamily="34" charset="0"/>
                  </a:rPr>
                  <a:t> (2)</a:t>
                </a:r>
              </a:p>
              <a:p>
                <a:r>
                  <a:rPr lang="en-GB" sz="1200" noProof="0" dirty="0"/>
                  <a:t> </a:t>
                </a:r>
              </a:p>
            </p:txBody>
          </p:sp>
        </mc:Choice>
        <mc:Fallback xmlns="">
          <p:sp>
            <p:nvSpPr>
              <p:cNvPr id="7" name="TextBox 6"/>
              <p:cNvSpPr txBox="1">
                <a:spLocks noRot="1" noChangeAspect="1" noMove="1" noResize="1" noEditPoints="1" noAdjustHandles="1" noChangeArrowheads="1" noChangeShapeType="1" noTextEdit="1"/>
              </p:cNvSpPr>
              <p:nvPr/>
            </p:nvSpPr>
            <p:spPr>
              <a:xfrm>
                <a:off x="4858645" y="5468917"/>
                <a:ext cx="1414618" cy="6463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10259" y="5403149"/>
                <a:ext cx="1556132" cy="646331"/>
              </a:xfrm>
              <a:prstGeom prst="rect">
                <a:avLst/>
              </a:prstGeom>
              <a:noFill/>
            </p:spPr>
            <p:txBody>
              <a:bodyPr wrap="none" rtlCol="0">
                <a:spAutoFit/>
              </a:bodyPr>
              <a:lstStyle/>
              <a:p>
                <a:pPr lvl="0" algn="ctr" defTabSz="685800">
                  <a:defRPr/>
                </a:pPr>
                <a:r>
                  <a:rPr lang="en-GB" sz="1200" noProof="0" dirty="0"/>
                  <a:t>a)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=6</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=16</m:t>
                    </m:r>
                  </m:oMath>
                </a14:m>
                <a:r>
                  <a:rPr lang="en-GB" sz="1200" noProof="0" dirty="0">
                    <a:cs typeface="Calibri" panose="020F0502020204030204" pitchFamily="34" charset="0"/>
                  </a:rPr>
                  <a:t> (2)</a:t>
                </a:r>
              </a:p>
              <a:p>
                <a:r>
                  <a:rPr lang="en-GB" sz="1200" noProof="0" dirty="0"/>
                  <a:t> </a:t>
                </a:r>
              </a:p>
            </p:txBody>
          </p:sp>
        </mc:Choice>
        <mc:Fallback xmlns="">
          <p:sp>
            <p:nvSpPr>
              <p:cNvPr id="8" name="TextBox 7"/>
              <p:cNvSpPr txBox="1">
                <a:spLocks noRot="1" noChangeAspect="1" noMove="1" noResize="1" noEditPoints="1" noAdjustHandles="1" noChangeArrowheads="1" noChangeShapeType="1" noTextEdit="1"/>
              </p:cNvSpPr>
              <p:nvPr/>
            </p:nvSpPr>
            <p:spPr>
              <a:xfrm>
                <a:off x="110259" y="5403149"/>
                <a:ext cx="1556132" cy="6463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488595" y="5414491"/>
                <a:ext cx="1503233" cy="646331"/>
              </a:xfrm>
              <a:prstGeom prst="rect">
                <a:avLst/>
              </a:prstGeom>
              <a:noFill/>
            </p:spPr>
            <p:txBody>
              <a:bodyPr wrap="none" rtlCol="0">
                <a:spAutoFit/>
              </a:bodyPr>
              <a:lstStyle/>
              <a:p>
                <a:pPr lvl="0" algn="ctr" defTabSz="685800">
                  <a:defRPr/>
                </a:pPr>
                <a:r>
                  <a:rPr lang="en-GB" sz="1200" noProof="0" dirty="0"/>
                  <a:t>b) </a:t>
                </a:r>
                <a14:m>
                  <m:oMath xmlns:m="http://schemas.openxmlformats.org/officeDocument/2006/math">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=16</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−6</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=3</m:t>
                    </m:r>
                  </m:oMath>
                </a14:m>
                <a:r>
                  <a:rPr lang="en-GB" sz="1200" noProof="0" dirty="0">
                    <a:cs typeface="Calibri" panose="020F0502020204030204" pitchFamily="34" charset="0"/>
                  </a:rPr>
                  <a:t> (2)</a:t>
                </a:r>
              </a:p>
              <a:p>
                <a:r>
                  <a:rPr lang="en-GB" sz="1200" noProof="0" dirty="0"/>
                  <a:t> </a:t>
                </a:r>
              </a:p>
            </p:txBody>
          </p:sp>
        </mc:Choice>
        <mc:Fallback xmlns="">
          <p:sp>
            <p:nvSpPr>
              <p:cNvPr id="9" name="TextBox 8"/>
              <p:cNvSpPr txBox="1">
                <a:spLocks noRot="1" noChangeAspect="1" noMove="1" noResize="1" noEditPoints="1" noAdjustHandles="1" noChangeArrowheads="1" noChangeShapeType="1" noTextEdit="1"/>
              </p:cNvSpPr>
              <p:nvPr/>
            </p:nvSpPr>
            <p:spPr>
              <a:xfrm>
                <a:off x="2488595" y="5414491"/>
                <a:ext cx="1503233" cy="646331"/>
              </a:xfrm>
              <a:prstGeom prst="rect">
                <a:avLst/>
              </a:prstGeom>
              <a:blipFill>
                <a:blip r:embed="rId5"/>
                <a:stretch>
                  <a:fillRect/>
                </a:stretch>
              </a:blipFill>
            </p:spPr>
            <p:txBody>
              <a:bodyPr/>
              <a:lstStyle/>
              <a:p>
                <a:r>
                  <a:rPr lang="en-US">
                    <a:noFill/>
                  </a:rPr>
                  <a:t> </a:t>
                </a:r>
              </a:p>
            </p:txBody>
          </p:sp>
        </mc:Fallback>
      </mc:AlternateContent>
      <p:sp>
        <p:nvSpPr>
          <p:cNvPr id="10" name="Rectangle 9"/>
          <p:cNvSpPr/>
          <p:nvPr/>
        </p:nvSpPr>
        <p:spPr>
          <a:xfrm>
            <a:off x="124115" y="5928961"/>
            <a:ext cx="2119082" cy="379693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Rectangle 10"/>
          <p:cNvSpPr/>
          <p:nvPr/>
        </p:nvSpPr>
        <p:spPr>
          <a:xfrm>
            <a:off x="2309150" y="5928961"/>
            <a:ext cx="2097801" cy="379693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Rectangle 11"/>
          <p:cNvSpPr/>
          <p:nvPr/>
        </p:nvSpPr>
        <p:spPr>
          <a:xfrm>
            <a:off x="4498067" y="5928961"/>
            <a:ext cx="2097801" cy="379693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tangle 12">
            <a:extLst>
              <a:ext uri="{FF2B5EF4-FFF2-40B4-BE49-F238E27FC236}">
                <a16:creationId xmlns:a16="http://schemas.microsoft.com/office/drawing/2014/main" id="{EFEA5655-F8B4-E44B-AD11-37BDE174E0E4}"/>
              </a:ext>
            </a:extLst>
          </p:cNvPr>
          <p:cNvSpPr/>
          <p:nvPr/>
        </p:nvSpPr>
        <p:spPr>
          <a:xfrm>
            <a:off x="1045616" y="9346636"/>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14" name="Rectangle 13">
            <a:extLst>
              <a:ext uri="{FF2B5EF4-FFF2-40B4-BE49-F238E27FC236}">
                <a16:creationId xmlns:a16="http://schemas.microsoft.com/office/drawing/2014/main" id="{FB12ABF5-462E-6044-8D21-BD0BF63C4036}"/>
              </a:ext>
            </a:extLst>
          </p:cNvPr>
          <p:cNvSpPr/>
          <p:nvPr/>
        </p:nvSpPr>
        <p:spPr>
          <a:xfrm>
            <a:off x="1832639" y="934351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AC357ECC-A710-0A49-95CD-DEF7B6D6DED8}"/>
                  </a:ext>
                </a:extLst>
              </p:cNvPr>
              <p:cNvSpPr/>
              <p:nvPr/>
            </p:nvSpPr>
            <p:spPr>
              <a:xfrm>
                <a:off x="558381" y="9303670"/>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15" name="Rectangle 14">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558381" y="9303670"/>
                <a:ext cx="1381880" cy="369332"/>
              </a:xfrm>
              <a:prstGeom prst="rect">
                <a:avLst/>
              </a:prstGeom>
              <a:blipFill>
                <a:blip r:embed="rId6"/>
                <a:stretch>
                  <a:fillRect r="-12832" b="-16393"/>
                </a:stretch>
              </a:blipFill>
            </p:spPr>
            <p:txBody>
              <a:bodyPr/>
              <a:lstStyle/>
              <a:p>
                <a:r>
                  <a:rPr lang="en-US">
                    <a:noFill/>
                  </a:rPr>
                  <a:t> </a:t>
                </a:r>
              </a:p>
            </p:txBody>
          </p:sp>
        </mc:Fallback>
      </mc:AlternateContent>
      <p:sp>
        <p:nvSpPr>
          <p:cNvPr id="16" name="Rectangle 15">
            <a:extLst>
              <a:ext uri="{FF2B5EF4-FFF2-40B4-BE49-F238E27FC236}">
                <a16:creationId xmlns:a16="http://schemas.microsoft.com/office/drawing/2014/main" id="{EFEA5655-F8B4-E44B-AD11-37BDE174E0E4}"/>
              </a:ext>
            </a:extLst>
          </p:cNvPr>
          <p:cNvSpPr/>
          <p:nvPr/>
        </p:nvSpPr>
        <p:spPr>
          <a:xfrm>
            <a:off x="3217667" y="9347371"/>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17" name="Rectangle 16">
            <a:extLst>
              <a:ext uri="{FF2B5EF4-FFF2-40B4-BE49-F238E27FC236}">
                <a16:creationId xmlns:a16="http://schemas.microsoft.com/office/drawing/2014/main" id="{FB12ABF5-462E-6044-8D21-BD0BF63C4036}"/>
              </a:ext>
            </a:extLst>
          </p:cNvPr>
          <p:cNvSpPr/>
          <p:nvPr/>
        </p:nvSpPr>
        <p:spPr>
          <a:xfrm>
            <a:off x="4004690" y="934425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AC357ECC-A710-0A49-95CD-DEF7B6D6DED8}"/>
                  </a:ext>
                </a:extLst>
              </p:cNvPr>
              <p:cNvSpPr/>
              <p:nvPr/>
            </p:nvSpPr>
            <p:spPr>
              <a:xfrm>
                <a:off x="2730432" y="9304405"/>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18" name="Rectangle 17">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2730432" y="9304405"/>
                <a:ext cx="1381880" cy="369332"/>
              </a:xfrm>
              <a:prstGeom prst="rect">
                <a:avLst/>
              </a:prstGeom>
              <a:blipFill>
                <a:blip r:embed="rId6"/>
                <a:stretch>
                  <a:fillRect r="-12335" b="-16393"/>
                </a:stretch>
              </a:blipFill>
            </p:spPr>
            <p:txBody>
              <a:bodyPr/>
              <a:lstStyle/>
              <a:p>
                <a:r>
                  <a:rPr lang="en-US">
                    <a:noFill/>
                  </a:rPr>
                  <a:t> </a:t>
                </a:r>
              </a:p>
            </p:txBody>
          </p:sp>
        </mc:Fallback>
      </mc:AlternateContent>
      <p:sp>
        <p:nvSpPr>
          <p:cNvPr id="19" name="Rectangle 18">
            <a:extLst>
              <a:ext uri="{FF2B5EF4-FFF2-40B4-BE49-F238E27FC236}">
                <a16:creationId xmlns:a16="http://schemas.microsoft.com/office/drawing/2014/main" id="{EFEA5655-F8B4-E44B-AD11-37BDE174E0E4}"/>
              </a:ext>
            </a:extLst>
          </p:cNvPr>
          <p:cNvSpPr/>
          <p:nvPr/>
        </p:nvSpPr>
        <p:spPr>
          <a:xfrm>
            <a:off x="5381421" y="9345644"/>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0" name="Rectangle 19">
            <a:extLst>
              <a:ext uri="{FF2B5EF4-FFF2-40B4-BE49-F238E27FC236}">
                <a16:creationId xmlns:a16="http://schemas.microsoft.com/office/drawing/2014/main" id="{FB12ABF5-462E-6044-8D21-BD0BF63C4036}"/>
              </a:ext>
            </a:extLst>
          </p:cNvPr>
          <p:cNvSpPr/>
          <p:nvPr/>
        </p:nvSpPr>
        <p:spPr>
          <a:xfrm>
            <a:off x="6168444" y="9342526"/>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AC357ECC-A710-0A49-95CD-DEF7B6D6DED8}"/>
                  </a:ext>
                </a:extLst>
              </p:cNvPr>
              <p:cNvSpPr/>
              <p:nvPr/>
            </p:nvSpPr>
            <p:spPr>
              <a:xfrm>
                <a:off x="4894186" y="9302678"/>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1" name="Rectangle 20">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4894186" y="9302678"/>
                <a:ext cx="1381880" cy="369332"/>
              </a:xfrm>
              <a:prstGeom prst="rect">
                <a:avLst/>
              </a:prstGeom>
              <a:blipFill>
                <a:blip r:embed="rId6"/>
                <a:stretch>
                  <a:fillRect r="-12335" b="-16393"/>
                </a:stretch>
              </a:blipFill>
            </p:spPr>
            <p:txBody>
              <a:bodyPr/>
              <a:lstStyle/>
              <a:p>
                <a:r>
                  <a:rPr lang="en-US">
                    <a:noFill/>
                  </a:rPr>
                  <a:t> </a:t>
                </a:r>
              </a:p>
            </p:txBody>
          </p:sp>
        </mc:Fallback>
      </mc:AlternateContent>
      <p:sp>
        <p:nvSpPr>
          <p:cNvPr id="22" name="TextBox 21"/>
          <p:cNvSpPr txBox="1"/>
          <p:nvPr/>
        </p:nvSpPr>
        <p:spPr>
          <a:xfrm>
            <a:off x="110259" y="5054306"/>
            <a:ext cx="1732782" cy="276999"/>
          </a:xfrm>
          <a:prstGeom prst="rect">
            <a:avLst/>
          </a:prstGeom>
          <a:solidFill>
            <a:srgbClr val="0070C0"/>
          </a:solidFill>
          <a:ln w="19050">
            <a:solidFill>
              <a:schemeClr val="tx1"/>
            </a:solidFill>
          </a:ln>
        </p:spPr>
        <p:txBody>
          <a:bodyPr wrap="none" rtlCol="0">
            <a:spAutoFit/>
          </a:bodyPr>
          <a:lstStyle/>
          <a:p>
            <a:r>
              <a:rPr lang="en-GB" sz="1200" noProof="0" dirty="0">
                <a:solidFill>
                  <a:schemeClr val="bg1"/>
                </a:solidFill>
              </a:rPr>
              <a:t>INDEPENDENT PRACTICE</a:t>
            </a:r>
          </a:p>
        </p:txBody>
      </p:sp>
    </p:spTree>
    <p:extLst>
      <p:ext uri="{BB962C8B-B14F-4D97-AF65-F5344CB8AC3E}">
        <p14:creationId xmlns:p14="http://schemas.microsoft.com/office/powerpoint/2010/main" val="10830409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14950" y="9546237"/>
            <a:ext cx="1543050" cy="527403"/>
          </a:xfrm>
        </p:spPr>
        <p:txBody>
          <a:bodyPr/>
          <a:lstStyle/>
          <a:p>
            <a:fld id="{19F1D9CC-7119-45EC-A96C-D8C0660F3AAB}" type="slidenum">
              <a:rPr lang="en-GB" noProof="0" smtClean="0"/>
              <a:t>43</a:t>
            </a:fld>
            <a:endParaRPr lang="en-GB" noProof="0" dirty="0"/>
          </a:p>
        </p:txBody>
      </p:sp>
      <mc:AlternateContent xmlns:mc="http://schemas.openxmlformats.org/markup-compatibility/2006" xmlns:a14="http://schemas.microsoft.com/office/drawing/2010/main">
        <mc:Choice Requires="a14">
          <p:sp>
            <p:nvSpPr>
              <p:cNvPr id="3" name="TextBox 2"/>
              <p:cNvSpPr txBox="1"/>
              <p:nvPr/>
            </p:nvSpPr>
            <p:spPr>
              <a:xfrm>
                <a:off x="128337" y="455278"/>
                <a:ext cx="1503233" cy="646331"/>
              </a:xfrm>
              <a:prstGeom prst="rect">
                <a:avLst/>
              </a:prstGeom>
              <a:noFill/>
            </p:spPr>
            <p:txBody>
              <a:bodyPr wrap="none" rtlCol="0">
                <a:spAutoFit/>
              </a:bodyPr>
              <a:lstStyle/>
              <a:p>
                <a:pPr lvl="0" algn="ctr" defTabSz="685800">
                  <a:defRPr/>
                </a:pPr>
                <a:r>
                  <a:rPr lang="en-GB" sz="1200" noProof="0" dirty="0"/>
                  <a:t>a) </a:t>
                </a:r>
                <a14:m>
                  <m:oMath xmlns:m="http://schemas.openxmlformats.org/officeDocument/2006/math">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+8</m:t>
                    </m:r>
                    <m:r>
                      <a:rPr lang="en-GB" sz="1200" b="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43</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=18</m:t>
                    </m:r>
                  </m:oMath>
                </a14:m>
                <a:r>
                  <a:rPr lang="en-GB" sz="1200" noProof="0" dirty="0">
                    <a:cs typeface="Calibri" panose="020F0502020204030204" pitchFamily="34" charset="0"/>
                  </a:rPr>
                  <a:t> (2)</a:t>
                </a:r>
              </a:p>
              <a:p>
                <a:r>
                  <a:rPr lang="en-GB" sz="1200" noProof="0" dirty="0"/>
                  <a:t> </a:t>
                </a:r>
              </a:p>
            </p:txBody>
          </p:sp>
        </mc:Choice>
        <mc:Fallback xmlns="">
          <p:sp>
            <p:nvSpPr>
              <p:cNvPr id="3" name="TextBox 2"/>
              <p:cNvSpPr txBox="1">
                <a:spLocks noRot="1" noChangeAspect="1" noMove="1" noResize="1" noEditPoints="1" noAdjustHandles="1" noChangeArrowheads="1" noChangeShapeType="1" noTextEdit="1"/>
              </p:cNvSpPr>
              <p:nvPr/>
            </p:nvSpPr>
            <p:spPr>
              <a:xfrm>
                <a:off x="128337" y="455278"/>
                <a:ext cx="1503233" cy="646331"/>
              </a:xfrm>
              <a:prstGeom prst="rect">
                <a:avLst/>
              </a:prstGeom>
              <a:blipFill>
                <a:blip r:embed="rId2"/>
                <a:stretch>
                  <a:fillRect t="-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2560388" y="455277"/>
                <a:ext cx="1547668" cy="646331"/>
              </a:xfrm>
              <a:prstGeom prst="rect">
                <a:avLst/>
              </a:prstGeom>
              <a:noFill/>
            </p:spPr>
            <p:txBody>
              <a:bodyPr wrap="none" rtlCol="0">
                <a:spAutoFit/>
              </a:bodyPr>
              <a:lstStyle/>
              <a:p>
                <a:pPr lvl="0" algn="ctr" defTabSz="685800">
                  <a:defRPr/>
                </a:pPr>
                <a:r>
                  <a:rPr lang="en-GB" sz="1200" noProof="0" dirty="0"/>
                  <a:t>b)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=33</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−9</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=63</m:t>
                    </m:r>
                  </m:oMath>
                </a14:m>
                <a:r>
                  <a:rPr lang="en-GB" sz="1200" noProof="0" dirty="0">
                    <a:cs typeface="Calibri" panose="020F0502020204030204" pitchFamily="34" charset="0"/>
                  </a:rPr>
                  <a:t> (2)</a:t>
                </a:r>
              </a:p>
              <a:p>
                <a:r>
                  <a:rPr lang="en-GB" sz="1200" noProof="0" dirty="0"/>
                  <a:t> </a:t>
                </a:r>
              </a:p>
            </p:txBody>
          </p:sp>
        </mc:Choice>
        <mc:Fallback xmlns="">
          <p:sp>
            <p:nvSpPr>
              <p:cNvPr id="4" name="TextBox 3"/>
              <p:cNvSpPr txBox="1">
                <a:spLocks noRot="1" noChangeAspect="1" noMove="1" noResize="1" noEditPoints="1" noAdjustHandles="1" noChangeArrowheads="1" noChangeShapeType="1" noTextEdit="1"/>
              </p:cNvSpPr>
              <p:nvPr/>
            </p:nvSpPr>
            <p:spPr>
              <a:xfrm>
                <a:off x="2560388" y="455277"/>
                <a:ext cx="1547668" cy="646331"/>
              </a:xfrm>
              <a:prstGeom prst="rect">
                <a:avLst/>
              </a:prstGeom>
              <a:blipFill>
                <a:blip r:embed="rId3"/>
                <a:stretch>
                  <a:fillRect t="-943" r="-3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887390" y="455277"/>
                <a:ext cx="1548117" cy="646331"/>
              </a:xfrm>
              <a:prstGeom prst="rect">
                <a:avLst/>
              </a:prstGeom>
              <a:noFill/>
            </p:spPr>
            <p:txBody>
              <a:bodyPr wrap="none" rtlCol="0">
                <a:spAutoFit/>
              </a:bodyPr>
              <a:lstStyle/>
              <a:p>
                <a:pPr lvl="0" algn="ctr" defTabSz="685800">
                  <a:defRPr/>
                </a:pPr>
                <a:r>
                  <a:rPr lang="en-GB" sz="1200" noProof="0" dirty="0"/>
                  <a:t>c)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2</m:t>
                    </m:r>
                    <m:r>
                      <a:rPr lang="en-GB" sz="1200" b="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=−10</m:t>
                    </m:r>
                  </m:oMath>
                </a14:m>
                <a:r>
                  <a:rPr lang="en-GB" sz="1200" noProof="0" dirty="0">
                    <a:cs typeface="Calibri" panose="020F0502020204030204" pitchFamily="34" charset="0"/>
                  </a:rPr>
                  <a:t> (2)</a:t>
                </a:r>
              </a:p>
              <a:p>
                <a:r>
                  <a:rPr lang="en-GB" sz="1200" noProof="0" dirty="0"/>
                  <a:t> </a:t>
                </a:r>
              </a:p>
            </p:txBody>
          </p:sp>
        </mc:Choice>
        <mc:Fallback xmlns="">
          <p:sp>
            <p:nvSpPr>
              <p:cNvPr id="5" name="TextBox 4"/>
              <p:cNvSpPr txBox="1">
                <a:spLocks noRot="1" noChangeAspect="1" noMove="1" noResize="1" noEditPoints="1" noAdjustHandles="1" noChangeArrowheads="1" noChangeShapeType="1" noTextEdit="1"/>
              </p:cNvSpPr>
              <p:nvPr/>
            </p:nvSpPr>
            <p:spPr>
              <a:xfrm>
                <a:off x="4887390" y="455277"/>
                <a:ext cx="1548117" cy="646331"/>
              </a:xfrm>
              <a:prstGeom prst="rect">
                <a:avLst/>
              </a:prstGeom>
              <a:blipFill>
                <a:blip r:embed="rId4"/>
                <a:stretch>
                  <a:fillRect t="-943"/>
                </a:stretch>
              </a:blipFill>
            </p:spPr>
            <p:txBody>
              <a:bodyPr/>
              <a:lstStyle/>
              <a:p>
                <a:r>
                  <a:rPr lang="en-US">
                    <a:noFill/>
                  </a:rPr>
                  <a:t> </a:t>
                </a:r>
              </a:p>
            </p:txBody>
          </p:sp>
        </mc:Fallback>
      </mc:AlternateContent>
      <p:sp>
        <p:nvSpPr>
          <p:cNvPr id="6" name="Rectangle 5"/>
          <p:cNvSpPr/>
          <p:nvPr/>
        </p:nvSpPr>
        <p:spPr>
          <a:xfrm>
            <a:off x="238597" y="978359"/>
            <a:ext cx="2119082"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Rectangle 6"/>
          <p:cNvSpPr/>
          <p:nvPr/>
        </p:nvSpPr>
        <p:spPr>
          <a:xfrm>
            <a:off x="2423632" y="978359"/>
            <a:ext cx="2097801"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Rectangle 7"/>
          <p:cNvSpPr/>
          <p:nvPr/>
        </p:nvSpPr>
        <p:spPr>
          <a:xfrm>
            <a:off x="4612549" y="978359"/>
            <a:ext cx="2097801"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9" name="TextBox 8"/>
              <p:cNvSpPr txBox="1"/>
              <p:nvPr/>
            </p:nvSpPr>
            <p:spPr>
              <a:xfrm>
                <a:off x="32140" y="5014024"/>
                <a:ext cx="1647502" cy="646331"/>
              </a:xfrm>
              <a:prstGeom prst="rect">
                <a:avLst/>
              </a:prstGeom>
              <a:noFill/>
            </p:spPr>
            <p:txBody>
              <a:bodyPr wrap="none" rtlCol="0">
                <a:spAutoFit/>
              </a:bodyPr>
              <a:lstStyle/>
              <a:p>
                <a:pPr lvl="0" algn="ctr" defTabSz="685800">
                  <a:defRPr/>
                </a:pPr>
                <a:r>
                  <a:rPr lang="en-GB" sz="1200" noProof="0" dirty="0"/>
                  <a:t>d) </a:t>
                </a:r>
                <a14:m>
                  <m:oMath xmlns:m="http://schemas.openxmlformats.org/officeDocument/2006/math">
                    <m:r>
                      <a:rPr lang="en-GB" sz="1200" i="1" noProof="0" smtClean="0">
                        <a:latin typeface="Cambria Math" panose="02040503050406030204" pitchFamily="18" charset="0"/>
                        <a:cs typeface="Calibri" panose="020F0502020204030204" pitchFamily="34" charset="0"/>
                      </a:rPr>
                      <m:t>8</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=−28</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−12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m:t>
                    </m:r>
                    <m:r>
                      <a:rPr lang="en-GB" sz="1200" b="0" i="0" noProof="0" smtClean="0">
                        <a:latin typeface="Cambria Math" panose="02040503050406030204" pitchFamily="18" charset="0"/>
                        <a:cs typeface="Calibri" panose="020F0502020204030204" pitchFamily="34" charset="0"/>
                      </a:rPr>
                      <m:t>30 </m:t>
                    </m:r>
                  </m:oMath>
                </a14:m>
                <a:r>
                  <a:rPr lang="en-GB" sz="1200" noProof="0" dirty="0">
                    <a:cs typeface="Calibri" panose="020F0502020204030204" pitchFamily="34" charset="0"/>
                  </a:rPr>
                  <a:t>(2)</a:t>
                </a:r>
              </a:p>
              <a:p>
                <a:r>
                  <a:rPr lang="en-GB" sz="1200" noProof="0" dirty="0"/>
                  <a:t> </a:t>
                </a:r>
              </a:p>
            </p:txBody>
          </p:sp>
        </mc:Choice>
        <mc:Fallback xmlns="">
          <p:sp>
            <p:nvSpPr>
              <p:cNvPr id="9" name="TextBox 8"/>
              <p:cNvSpPr txBox="1">
                <a:spLocks noRot="1" noChangeAspect="1" noMove="1" noResize="1" noEditPoints="1" noAdjustHandles="1" noChangeArrowheads="1" noChangeShapeType="1" noTextEdit="1"/>
              </p:cNvSpPr>
              <p:nvPr/>
            </p:nvSpPr>
            <p:spPr>
              <a:xfrm>
                <a:off x="32140" y="5014024"/>
                <a:ext cx="1647502" cy="646331"/>
              </a:xfrm>
              <a:prstGeom prst="rect">
                <a:avLst/>
              </a:prstGeom>
              <a:blipFill>
                <a:blip r:embed="rId5"/>
                <a:stretch>
                  <a:fillRect t="-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489614" y="5014023"/>
                <a:ext cx="1641090" cy="646331"/>
              </a:xfrm>
              <a:prstGeom prst="rect">
                <a:avLst/>
              </a:prstGeom>
              <a:noFill/>
            </p:spPr>
            <p:txBody>
              <a:bodyPr wrap="none" rtlCol="0">
                <a:spAutoFit/>
              </a:bodyPr>
              <a:lstStyle/>
              <a:p>
                <a:pPr lvl="0" algn="ctr" defTabSz="685800">
                  <a:defRPr/>
                </a:pPr>
                <a:r>
                  <a:rPr lang="en-GB" sz="1200" noProof="0" dirty="0"/>
                  <a:t>e)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1</m:t>
                    </m:r>
                    <m:r>
                      <a:rPr lang="en-GB" sz="1200" b="0" i="1"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=82</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−9</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=12</m:t>
                    </m:r>
                  </m:oMath>
                </a14:m>
                <a:r>
                  <a:rPr lang="en-GB" sz="1200" noProof="0" dirty="0">
                    <a:cs typeface="Calibri" panose="020F0502020204030204" pitchFamily="34" charset="0"/>
                  </a:rPr>
                  <a:t> (2)</a:t>
                </a:r>
              </a:p>
              <a:p>
                <a:r>
                  <a:rPr lang="en-GB" sz="1200" noProof="0" dirty="0"/>
                  <a:t> </a:t>
                </a:r>
              </a:p>
            </p:txBody>
          </p:sp>
        </mc:Choice>
        <mc:Fallback xmlns="">
          <p:sp>
            <p:nvSpPr>
              <p:cNvPr id="10" name="TextBox 9"/>
              <p:cNvSpPr txBox="1">
                <a:spLocks noRot="1" noChangeAspect="1" noMove="1" noResize="1" noEditPoints="1" noAdjustHandles="1" noChangeArrowheads="1" noChangeShapeType="1" noTextEdit="1"/>
              </p:cNvSpPr>
              <p:nvPr/>
            </p:nvSpPr>
            <p:spPr>
              <a:xfrm>
                <a:off x="2489614" y="5014023"/>
                <a:ext cx="1641090" cy="646331"/>
              </a:xfrm>
              <a:prstGeom prst="rect">
                <a:avLst/>
              </a:prstGeom>
              <a:blipFill>
                <a:blip r:embed="rId6"/>
                <a:stretch>
                  <a:fillRect t="-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4813636" y="5014023"/>
                <a:ext cx="1647502" cy="646331"/>
              </a:xfrm>
              <a:prstGeom prst="rect">
                <a:avLst/>
              </a:prstGeom>
              <a:noFill/>
            </p:spPr>
            <p:txBody>
              <a:bodyPr wrap="none" rtlCol="0">
                <a:spAutoFit/>
              </a:bodyPr>
              <a:lstStyle/>
              <a:p>
                <a:pPr lvl="0" algn="ctr" defTabSz="685800">
                  <a:defRPr/>
                </a:pPr>
                <a:r>
                  <a:rPr lang="en-GB" sz="1200" noProof="0" dirty="0"/>
                  <a:t>f)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1</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=9</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+11</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=−9</m:t>
                    </m:r>
                  </m:oMath>
                </a14:m>
                <a:r>
                  <a:rPr lang="en-GB" sz="1200" noProof="0" dirty="0">
                    <a:cs typeface="Calibri" panose="020F0502020204030204" pitchFamily="34" charset="0"/>
                  </a:rPr>
                  <a:t> (2)</a:t>
                </a:r>
              </a:p>
              <a:p>
                <a:r>
                  <a:rPr lang="en-GB" sz="1200" noProof="0" dirty="0"/>
                  <a:t> </a:t>
                </a:r>
              </a:p>
            </p:txBody>
          </p:sp>
        </mc:Choice>
        <mc:Fallback xmlns="">
          <p:sp>
            <p:nvSpPr>
              <p:cNvPr id="11" name="TextBox 10"/>
              <p:cNvSpPr txBox="1">
                <a:spLocks noRot="1" noChangeAspect="1" noMove="1" noResize="1" noEditPoints="1" noAdjustHandles="1" noChangeArrowheads="1" noChangeShapeType="1" noTextEdit="1"/>
              </p:cNvSpPr>
              <p:nvPr/>
            </p:nvSpPr>
            <p:spPr>
              <a:xfrm>
                <a:off x="4813636" y="5014023"/>
                <a:ext cx="1647502" cy="646331"/>
              </a:xfrm>
              <a:prstGeom prst="rect">
                <a:avLst/>
              </a:prstGeom>
              <a:blipFill>
                <a:blip r:embed="rId7"/>
                <a:stretch>
                  <a:fillRect t="-943"/>
                </a:stretch>
              </a:blipFill>
            </p:spPr>
            <p:txBody>
              <a:bodyPr/>
              <a:lstStyle/>
              <a:p>
                <a:r>
                  <a:rPr lang="en-US">
                    <a:noFill/>
                  </a:rPr>
                  <a:t> </a:t>
                </a:r>
              </a:p>
            </p:txBody>
          </p:sp>
        </mc:Fallback>
      </mc:AlternateContent>
      <p:sp>
        <p:nvSpPr>
          <p:cNvPr id="12" name="Rectangle 11"/>
          <p:cNvSpPr/>
          <p:nvPr/>
        </p:nvSpPr>
        <p:spPr>
          <a:xfrm>
            <a:off x="214534" y="5537104"/>
            <a:ext cx="2119082"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tangle 12"/>
          <p:cNvSpPr/>
          <p:nvPr/>
        </p:nvSpPr>
        <p:spPr>
          <a:xfrm>
            <a:off x="2399569" y="5537104"/>
            <a:ext cx="2097801"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 name="Rectangle 13"/>
          <p:cNvSpPr/>
          <p:nvPr/>
        </p:nvSpPr>
        <p:spPr>
          <a:xfrm>
            <a:off x="4588486" y="5537104"/>
            <a:ext cx="2097801"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Rectangle 14">
            <a:extLst>
              <a:ext uri="{FF2B5EF4-FFF2-40B4-BE49-F238E27FC236}">
                <a16:creationId xmlns:a16="http://schemas.microsoft.com/office/drawing/2014/main" id="{EFEA5655-F8B4-E44B-AD11-37BDE174E0E4}"/>
              </a:ext>
            </a:extLst>
          </p:cNvPr>
          <p:cNvSpPr/>
          <p:nvPr/>
        </p:nvSpPr>
        <p:spPr>
          <a:xfrm>
            <a:off x="1141656" y="460601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16" name="Rectangle 15">
            <a:extLst>
              <a:ext uri="{FF2B5EF4-FFF2-40B4-BE49-F238E27FC236}">
                <a16:creationId xmlns:a16="http://schemas.microsoft.com/office/drawing/2014/main" id="{FB12ABF5-462E-6044-8D21-BD0BF63C4036}"/>
              </a:ext>
            </a:extLst>
          </p:cNvPr>
          <p:cNvSpPr/>
          <p:nvPr/>
        </p:nvSpPr>
        <p:spPr>
          <a:xfrm>
            <a:off x="1928679" y="460289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AC357ECC-A710-0A49-95CD-DEF7B6D6DED8}"/>
                  </a:ext>
                </a:extLst>
              </p:cNvPr>
              <p:cNvSpPr/>
              <p:nvPr/>
            </p:nvSpPr>
            <p:spPr>
              <a:xfrm>
                <a:off x="654421" y="456304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17" name="Rectangle 16">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654421" y="4563047"/>
                <a:ext cx="1381880" cy="369332"/>
              </a:xfrm>
              <a:prstGeom prst="rect">
                <a:avLst/>
              </a:prstGeom>
              <a:blipFill>
                <a:blip r:embed="rId8"/>
                <a:stretch>
                  <a:fillRect r="-12335" b="-16667"/>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EFEA5655-F8B4-E44B-AD11-37BDE174E0E4}"/>
              </a:ext>
            </a:extLst>
          </p:cNvPr>
          <p:cNvSpPr/>
          <p:nvPr/>
        </p:nvSpPr>
        <p:spPr>
          <a:xfrm>
            <a:off x="3313707" y="460674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19" name="Rectangle 18">
            <a:extLst>
              <a:ext uri="{FF2B5EF4-FFF2-40B4-BE49-F238E27FC236}">
                <a16:creationId xmlns:a16="http://schemas.microsoft.com/office/drawing/2014/main" id="{FB12ABF5-462E-6044-8D21-BD0BF63C4036}"/>
              </a:ext>
            </a:extLst>
          </p:cNvPr>
          <p:cNvSpPr/>
          <p:nvPr/>
        </p:nvSpPr>
        <p:spPr>
          <a:xfrm>
            <a:off x="4100730" y="460363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AC357ECC-A710-0A49-95CD-DEF7B6D6DED8}"/>
                  </a:ext>
                </a:extLst>
              </p:cNvPr>
              <p:cNvSpPr/>
              <p:nvPr/>
            </p:nvSpPr>
            <p:spPr>
              <a:xfrm>
                <a:off x="2826472" y="456378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0" name="Rectangle 19">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2826472" y="4563782"/>
                <a:ext cx="1381880" cy="369332"/>
              </a:xfrm>
              <a:prstGeom prst="rect">
                <a:avLst/>
              </a:prstGeom>
              <a:blipFill>
                <a:blip r:embed="rId8"/>
                <a:stretch>
                  <a:fillRect r="-12832" b="-16667"/>
                </a:stretch>
              </a:blipFill>
            </p:spPr>
            <p:txBody>
              <a:bodyPr/>
              <a:lstStyle/>
              <a:p>
                <a:r>
                  <a:rPr lang="en-US">
                    <a:noFill/>
                  </a:rPr>
                  <a:t> </a:t>
                </a:r>
              </a:p>
            </p:txBody>
          </p:sp>
        </mc:Fallback>
      </mc:AlternateContent>
      <p:sp>
        <p:nvSpPr>
          <p:cNvPr id="21" name="Rectangle 20">
            <a:extLst>
              <a:ext uri="{FF2B5EF4-FFF2-40B4-BE49-F238E27FC236}">
                <a16:creationId xmlns:a16="http://schemas.microsoft.com/office/drawing/2014/main" id="{EFEA5655-F8B4-E44B-AD11-37BDE174E0E4}"/>
              </a:ext>
            </a:extLst>
          </p:cNvPr>
          <p:cNvSpPr/>
          <p:nvPr/>
        </p:nvSpPr>
        <p:spPr>
          <a:xfrm>
            <a:off x="5477461" y="4605021"/>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2" name="Rectangle 21">
            <a:extLst>
              <a:ext uri="{FF2B5EF4-FFF2-40B4-BE49-F238E27FC236}">
                <a16:creationId xmlns:a16="http://schemas.microsoft.com/office/drawing/2014/main" id="{FB12ABF5-462E-6044-8D21-BD0BF63C4036}"/>
              </a:ext>
            </a:extLst>
          </p:cNvPr>
          <p:cNvSpPr/>
          <p:nvPr/>
        </p:nvSpPr>
        <p:spPr>
          <a:xfrm>
            <a:off x="6264484" y="460190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AC357ECC-A710-0A49-95CD-DEF7B6D6DED8}"/>
                  </a:ext>
                </a:extLst>
              </p:cNvPr>
              <p:cNvSpPr/>
              <p:nvPr/>
            </p:nvSpPr>
            <p:spPr>
              <a:xfrm>
                <a:off x="4990226" y="4562055"/>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3" name="Rectangle 22">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4990226" y="4562055"/>
                <a:ext cx="1381880" cy="369332"/>
              </a:xfrm>
              <a:prstGeom prst="rect">
                <a:avLst/>
              </a:prstGeom>
              <a:blipFill>
                <a:blip r:embed="rId9"/>
                <a:stretch>
                  <a:fillRect r="-12832" b="-16393"/>
                </a:stretch>
              </a:blipFill>
            </p:spPr>
            <p:txBody>
              <a:bodyPr/>
              <a:lstStyle/>
              <a:p>
                <a:r>
                  <a:rPr lang="en-US">
                    <a:noFill/>
                  </a:rPr>
                  <a:t> </a:t>
                </a:r>
              </a:p>
            </p:txBody>
          </p:sp>
        </mc:Fallback>
      </mc:AlternateContent>
      <p:sp>
        <p:nvSpPr>
          <p:cNvPr id="24" name="Rectangle 23">
            <a:extLst>
              <a:ext uri="{FF2B5EF4-FFF2-40B4-BE49-F238E27FC236}">
                <a16:creationId xmlns:a16="http://schemas.microsoft.com/office/drawing/2014/main" id="{EFEA5655-F8B4-E44B-AD11-37BDE174E0E4}"/>
              </a:ext>
            </a:extLst>
          </p:cNvPr>
          <p:cNvSpPr/>
          <p:nvPr/>
        </p:nvSpPr>
        <p:spPr>
          <a:xfrm>
            <a:off x="1141656" y="929730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5" name="Rectangle 24">
            <a:extLst>
              <a:ext uri="{FF2B5EF4-FFF2-40B4-BE49-F238E27FC236}">
                <a16:creationId xmlns:a16="http://schemas.microsoft.com/office/drawing/2014/main" id="{FB12ABF5-462E-6044-8D21-BD0BF63C4036}"/>
              </a:ext>
            </a:extLst>
          </p:cNvPr>
          <p:cNvSpPr/>
          <p:nvPr/>
        </p:nvSpPr>
        <p:spPr>
          <a:xfrm>
            <a:off x="1928679" y="929419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AC357ECC-A710-0A49-95CD-DEF7B6D6DED8}"/>
                  </a:ext>
                </a:extLst>
              </p:cNvPr>
              <p:cNvSpPr/>
              <p:nvPr/>
            </p:nvSpPr>
            <p:spPr>
              <a:xfrm>
                <a:off x="654421" y="925434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6" name="Rectangle 25">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654421" y="9254342"/>
                <a:ext cx="1381880" cy="369332"/>
              </a:xfrm>
              <a:prstGeom prst="rect">
                <a:avLst/>
              </a:prstGeom>
              <a:blipFill>
                <a:blip r:embed="rId9"/>
                <a:stretch>
                  <a:fillRect r="-12335" b="-16393"/>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EFEA5655-F8B4-E44B-AD11-37BDE174E0E4}"/>
              </a:ext>
            </a:extLst>
          </p:cNvPr>
          <p:cNvSpPr/>
          <p:nvPr/>
        </p:nvSpPr>
        <p:spPr>
          <a:xfrm>
            <a:off x="3313707" y="929804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8" name="Rectangle 27">
            <a:extLst>
              <a:ext uri="{FF2B5EF4-FFF2-40B4-BE49-F238E27FC236}">
                <a16:creationId xmlns:a16="http://schemas.microsoft.com/office/drawing/2014/main" id="{FB12ABF5-462E-6044-8D21-BD0BF63C4036}"/>
              </a:ext>
            </a:extLst>
          </p:cNvPr>
          <p:cNvSpPr/>
          <p:nvPr/>
        </p:nvSpPr>
        <p:spPr>
          <a:xfrm>
            <a:off x="4100730" y="929492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AC357ECC-A710-0A49-95CD-DEF7B6D6DED8}"/>
                  </a:ext>
                </a:extLst>
              </p:cNvPr>
              <p:cNvSpPr/>
              <p:nvPr/>
            </p:nvSpPr>
            <p:spPr>
              <a:xfrm>
                <a:off x="2826472" y="925507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9" name="Rectangle 28">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2826472" y="9255077"/>
                <a:ext cx="1381880" cy="369332"/>
              </a:xfrm>
              <a:prstGeom prst="rect">
                <a:avLst/>
              </a:prstGeom>
              <a:blipFill>
                <a:blip r:embed="rId9"/>
                <a:stretch>
                  <a:fillRect r="-12832" b="-16393"/>
                </a:stretch>
              </a:blipFill>
            </p:spPr>
            <p:txBody>
              <a:bodyPr/>
              <a:lstStyle/>
              <a:p>
                <a:r>
                  <a:rPr lang="en-US">
                    <a:noFill/>
                  </a:rPr>
                  <a:t> </a:t>
                </a:r>
              </a:p>
            </p:txBody>
          </p:sp>
        </mc:Fallback>
      </mc:AlternateContent>
      <p:sp>
        <p:nvSpPr>
          <p:cNvPr id="30" name="Rectangle 29">
            <a:extLst>
              <a:ext uri="{FF2B5EF4-FFF2-40B4-BE49-F238E27FC236}">
                <a16:creationId xmlns:a16="http://schemas.microsoft.com/office/drawing/2014/main" id="{EFEA5655-F8B4-E44B-AD11-37BDE174E0E4}"/>
              </a:ext>
            </a:extLst>
          </p:cNvPr>
          <p:cNvSpPr/>
          <p:nvPr/>
        </p:nvSpPr>
        <p:spPr>
          <a:xfrm>
            <a:off x="5477461" y="9296316"/>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1" name="Rectangle 30">
            <a:extLst>
              <a:ext uri="{FF2B5EF4-FFF2-40B4-BE49-F238E27FC236}">
                <a16:creationId xmlns:a16="http://schemas.microsoft.com/office/drawing/2014/main" id="{FB12ABF5-462E-6044-8D21-BD0BF63C4036}"/>
              </a:ext>
            </a:extLst>
          </p:cNvPr>
          <p:cNvSpPr/>
          <p:nvPr/>
        </p:nvSpPr>
        <p:spPr>
          <a:xfrm>
            <a:off x="6264484" y="929319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AC357ECC-A710-0A49-95CD-DEF7B6D6DED8}"/>
                  </a:ext>
                </a:extLst>
              </p:cNvPr>
              <p:cNvSpPr/>
              <p:nvPr/>
            </p:nvSpPr>
            <p:spPr>
              <a:xfrm>
                <a:off x="4990226" y="9253350"/>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2" name="Rectangle 31">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4990226" y="9253350"/>
                <a:ext cx="1381880" cy="369332"/>
              </a:xfrm>
              <a:prstGeom prst="rect">
                <a:avLst/>
              </a:prstGeom>
              <a:blipFill>
                <a:blip r:embed="rId8"/>
                <a:stretch>
                  <a:fillRect r="-12832" b="-14754"/>
                </a:stretch>
              </a:blipFill>
            </p:spPr>
            <p:txBody>
              <a:bodyPr/>
              <a:lstStyle/>
              <a:p>
                <a:r>
                  <a:rPr lang="en-US">
                    <a:noFill/>
                  </a:rPr>
                  <a:t> </a:t>
                </a:r>
              </a:p>
            </p:txBody>
          </p:sp>
        </mc:Fallback>
      </mc:AlternateContent>
      <p:sp>
        <p:nvSpPr>
          <p:cNvPr id="35" name="TextBox 34"/>
          <p:cNvSpPr txBox="1"/>
          <p:nvPr/>
        </p:nvSpPr>
        <p:spPr>
          <a:xfrm>
            <a:off x="214534" y="62404"/>
            <a:ext cx="1245469" cy="276999"/>
          </a:xfrm>
          <a:prstGeom prst="rect">
            <a:avLst/>
          </a:prstGeom>
          <a:solidFill>
            <a:srgbClr val="0070C0"/>
          </a:solidFill>
          <a:ln w="19050">
            <a:solidFill>
              <a:schemeClr val="tx1"/>
            </a:solidFill>
          </a:ln>
        </p:spPr>
        <p:txBody>
          <a:bodyPr wrap="none" rtlCol="0">
            <a:spAutoFit/>
          </a:bodyPr>
          <a:lstStyle/>
          <a:p>
            <a:r>
              <a:rPr lang="en-GB" sz="1200" noProof="0" dirty="0">
                <a:solidFill>
                  <a:schemeClr val="bg1"/>
                </a:solidFill>
              </a:rPr>
              <a:t>MIXED PRACTICE</a:t>
            </a:r>
          </a:p>
        </p:txBody>
      </p:sp>
      <p:sp>
        <p:nvSpPr>
          <p:cNvPr id="37" name="TextBox 36">
            <a:extLst>
              <a:ext uri="{FF2B5EF4-FFF2-40B4-BE49-F238E27FC236}">
                <a16:creationId xmlns:a16="http://schemas.microsoft.com/office/drawing/2014/main" id="{2C10CDB0-5D39-7448-ABDD-102EC30FED6B}"/>
              </a:ext>
            </a:extLst>
          </p:cNvPr>
          <p:cNvSpPr txBox="1"/>
          <p:nvPr/>
        </p:nvSpPr>
        <p:spPr>
          <a:xfrm>
            <a:off x="1631570" y="50522"/>
            <a:ext cx="3589701" cy="276999"/>
          </a:xfrm>
          <a:prstGeom prst="rect">
            <a:avLst/>
          </a:prstGeom>
          <a:noFill/>
        </p:spPr>
        <p:txBody>
          <a:bodyPr wrap="none" rtlCol="0">
            <a:spAutoFit/>
          </a:bodyPr>
          <a:lstStyle/>
          <a:p>
            <a:r>
              <a:rPr lang="en-GB" sz="1200" noProof="0" dirty="0"/>
              <a:t>4) Solve the simultaneous equations using elimination</a:t>
            </a:r>
          </a:p>
        </p:txBody>
      </p:sp>
    </p:spTree>
    <p:extLst>
      <p:ext uri="{BB962C8B-B14F-4D97-AF65-F5344CB8AC3E}">
        <p14:creationId xmlns:p14="http://schemas.microsoft.com/office/powerpoint/2010/main" val="28743148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extLst>
                  <p:ext uri="{D42A27DB-BD31-4B8C-83A1-F6EECF244321}">
                    <p14:modId xmlns:p14="http://schemas.microsoft.com/office/powerpoint/2010/main" val="609643019"/>
                  </p:ext>
                </p:extLst>
              </p:nvPr>
            </p:nvGraphicFramePr>
            <p:xfrm>
              <a:off x="124074" y="268888"/>
              <a:ext cx="6609852" cy="4875626"/>
            </p:xfrm>
            <a:graphic>
              <a:graphicData uri="http://schemas.openxmlformats.org/drawingml/2006/table">
                <a:tbl>
                  <a:tblPr firstRow="1" bandRow="1">
                    <a:tableStyleId>{5C22544A-7EE6-4342-B048-85BDC9FD1C3A}</a:tableStyleId>
                  </a:tblPr>
                  <a:tblGrid>
                    <a:gridCol w="1485900">
                      <a:extLst>
                        <a:ext uri="{9D8B030D-6E8A-4147-A177-3AD203B41FA5}">
                          <a16:colId xmlns:a16="http://schemas.microsoft.com/office/drawing/2014/main" val="4222859584"/>
                        </a:ext>
                      </a:extLst>
                    </a:gridCol>
                    <a:gridCol w="1687154">
                      <a:extLst>
                        <a:ext uri="{9D8B030D-6E8A-4147-A177-3AD203B41FA5}">
                          <a16:colId xmlns:a16="http://schemas.microsoft.com/office/drawing/2014/main" val="2943938818"/>
                        </a:ext>
                      </a:extLst>
                    </a:gridCol>
                    <a:gridCol w="1778669">
                      <a:extLst>
                        <a:ext uri="{9D8B030D-6E8A-4147-A177-3AD203B41FA5}">
                          <a16:colId xmlns:a16="http://schemas.microsoft.com/office/drawing/2014/main" val="4207345459"/>
                        </a:ext>
                      </a:extLst>
                    </a:gridCol>
                    <a:gridCol w="1658129">
                      <a:extLst>
                        <a:ext uri="{9D8B030D-6E8A-4147-A177-3AD203B41FA5}">
                          <a16:colId xmlns:a16="http://schemas.microsoft.com/office/drawing/2014/main" val="592218920"/>
                        </a:ext>
                      </a:extLst>
                    </a:gridCol>
                  </a:tblGrid>
                  <a:tr h="247908">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cs typeface="Calibri" panose="020F0502020204030204" pitchFamily="34" charset="0"/>
                            </a:rPr>
                            <a:t>Example 10 -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11 – We</a:t>
                          </a:r>
                          <a:r>
                            <a:rPr lang="en-GB" sz="1200" b="1" i="1" baseline="0" noProof="0" dirty="0">
                              <a:solidFill>
                                <a:schemeClr val="accent2"/>
                              </a:solidFill>
                            </a:rPr>
                            <a:t> </a:t>
                          </a:r>
                          <a:r>
                            <a:rPr lang="en-GB" sz="1200" b="1" i="1" noProof="0" dirty="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12 – You</a:t>
                          </a:r>
                          <a:r>
                            <a:rPr lang="en-GB" sz="1200" b="1" i="1" baseline="0" noProof="0" dirty="0">
                              <a:solidFill>
                                <a:srgbClr val="00B050"/>
                              </a:solidFill>
                            </a:rPr>
                            <a:t> </a:t>
                          </a:r>
                          <a:r>
                            <a:rPr lang="en-GB" sz="1200" b="1" i="1" noProof="0" dirty="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59656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1) Label the equations 1 and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 4</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=8</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=9</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+2</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=13</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200" b="0" i="0" noProof="0" smtClean="0">
                                  <a:solidFill>
                                    <a:schemeClr val="tx1"/>
                                  </a:solidFill>
                                  <a:latin typeface="Cambria Math" panose="02040503050406030204" pitchFamily="18" charset="0"/>
                                  <a:cs typeface="Calibri" panose="020F0502020204030204" pitchFamily="34" charset="0"/>
                                </a:rPr>
                                <m:t>6</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−5</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=8</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 </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4</m:t>
                              </m:r>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+3</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=29</m:t>
                              </m:r>
                            </m:oMath>
                          </a14:m>
                          <a:r>
                            <a:rPr lang="en-GB" sz="1200" b="0" i="0" noProof="0" dirty="0">
                              <a:solidFill>
                                <a:schemeClr val="tx1"/>
                              </a:solidFill>
                              <a:cs typeface="Calibri" panose="020F0502020204030204" pitchFamily="34" charset="0"/>
                            </a:rPr>
                            <a:t> (1)</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𝑥</m:t>
                              </m:r>
                              <m:r>
                                <a:rPr lang="en-GB" sz="1200" b="0" i="1" noProof="0" smtClean="0">
                                  <a:solidFill>
                                    <a:schemeClr val="tx1"/>
                                  </a:solidFill>
                                  <a:latin typeface="Cambria Math" panose="02040503050406030204" pitchFamily="18" charset="0"/>
                                  <a:cs typeface="Calibri" panose="020F0502020204030204" pitchFamily="34" charset="0"/>
                                </a:rPr>
                                <m:t>+5</m:t>
                              </m:r>
                              <m:r>
                                <a:rPr lang="en-GB" sz="1200" b="0" i="1" noProof="0" smtClean="0">
                                  <a:solidFill>
                                    <a:schemeClr val="tx1"/>
                                  </a:solidFill>
                                  <a:latin typeface="Cambria Math" panose="02040503050406030204" pitchFamily="18" charset="0"/>
                                  <a:cs typeface="Calibri" panose="020F0502020204030204" pitchFamily="34" charset="0"/>
                                </a:rPr>
                                <m:t>𝑦</m:t>
                              </m:r>
                              <m:r>
                                <a:rPr lang="en-GB" sz="1200" b="0" i="1" noProof="0" smtClean="0">
                                  <a:solidFill>
                                    <a:schemeClr val="tx1"/>
                                  </a:solidFill>
                                  <a:latin typeface="Cambria Math" panose="02040503050406030204" pitchFamily="18" charset="0"/>
                                  <a:cs typeface="Calibri" panose="020F0502020204030204" pitchFamily="34" charset="0"/>
                                </a:rPr>
                                <m:t>=20</m:t>
                              </m:r>
                            </m:oMath>
                          </a14:m>
                          <a:r>
                            <a:rPr lang="en-GB" sz="1200" b="0" i="0" noProof="0" dirty="0">
                              <a:solidFill>
                                <a:schemeClr val="tx1"/>
                              </a:solidFill>
                              <a:cs typeface="Calibri" panose="020F0502020204030204" pitchFamily="34" charset="0"/>
                            </a:rPr>
                            <a: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265822"/>
                      </a:ext>
                    </a:extLst>
                  </a:tr>
                  <a:tr h="75765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2) Find</a:t>
                          </a:r>
                          <a:r>
                            <a:rPr lang="en-GB" sz="1200" b="0" i="0" baseline="0" noProof="0" dirty="0">
                              <a:solidFill>
                                <a:schemeClr val="tx1"/>
                              </a:solidFill>
                              <a:cs typeface="Calibri" panose="020F0502020204030204" pitchFamily="34" charset="0"/>
                            </a:rPr>
                            <a:t> the LCM and adjust </a:t>
                          </a:r>
                          <a:r>
                            <a:rPr lang="en-GB" sz="1200" b="1" i="0" baseline="0" noProof="0" dirty="0">
                              <a:solidFill>
                                <a:schemeClr val="tx1"/>
                              </a:solidFill>
                              <a:cs typeface="Calibri" panose="020F0502020204030204" pitchFamily="34" charset="0"/>
                            </a:rPr>
                            <a:t>both</a:t>
                          </a:r>
                          <a:r>
                            <a:rPr lang="en-GB" sz="1200" b="0" i="0" baseline="0" noProof="0" dirty="0">
                              <a:solidFill>
                                <a:schemeClr val="tx1"/>
                              </a:solidFill>
                              <a:cs typeface="Calibri" panose="020F0502020204030204" pitchFamily="34" charset="0"/>
                            </a:rPr>
                            <a:t> of the equations.</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81007270"/>
                      </a:ext>
                    </a:extLst>
                  </a:tr>
                  <a:tr h="75765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3) If the signs are </a:t>
                          </a:r>
                          <a:r>
                            <a:rPr lang="en-GB" sz="1200" b="1" i="0" noProof="0" dirty="0">
                              <a:solidFill>
                                <a:schemeClr val="tx1"/>
                              </a:solidFill>
                              <a:cs typeface="Calibri" panose="020F0502020204030204" pitchFamily="34" charset="0"/>
                            </a:rPr>
                            <a:t>the same,</a:t>
                          </a:r>
                          <a:r>
                            <a:rPr lang="en-GB" sz="1200" b="1" i="0" baseline="0" noProof="0" dirty="0">
                              <a:solidFill>
                                <a:schemeClr val="tx1"/>
                              </a:solidFill>
                              <a:cs typeface="Calibri" panose="020F0502020204030204" pitchFamily="34" charset="0"/>
                            </a:rPr>
                            <a:t> subtract. If different, add. </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r h="75765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4) Solve to find</a:t>
                          </a:r>
                          <a:r>
                            <a:rPr lang="en-GB" sz="1200" b="0" i="0" baseline="0" noProof="0" dirty="0">
                              <a:solidFill>
                                <a:schemeClr val="tx1"/>
                              </a:solidFill>
                              <a:cs typeface="Calibri" panose="020F0502020204030204" pitchFamily="34" charset="0"/>
                            </a:rPr>
                            <a:t> one variable. </a:t>
                          </a:r>
                          <a:endParaRPr lang="en-GB" sz="1200" b="0" i="0" noProof="0" dirty="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67515573"/>
                      </a:ext>
                    </a:extLst>
                  </a:tr>
                  <a:tr h="119059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5) Substitute the value of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𝑥</m:t>
                              </m:r>
                            </m:oMath>
                          </a14:m>
                          <a:r>
                            <a:rPr lang="en-GB" sz="1200" b="0" i="0" baseline="0" noProof="0" dirty="0">
                              <a:solidFill>
                                <a:schemeClr val="tx1"/>
                              </a:solidFill>
                              <a:cs typeface="Calibri" panose="020F0502020204030204" pitchFamily="34" charset="0"/>
                            </a:rPr>
                            <a:t> or </a:t>
                          </a:r>
                          <a14:m>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oMath>
                          </a14:m>
                          <a:r>
                            <a:rPr lang="en-GB" sz="1200" b="0" i="0" baseline="0" noProof="0" dirty="0">
                              <a:solidFill>
                                <a:schemeClr val="tx1"/>
                              </a:solidFill>
                              <a:cs typeface="Calibri" panose="020F0502020204030204" pitchFamily="34" charset="0"/>
                            </a:rPr>
                            <a:t> into one of the equations to find the other values.</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978753"/>
                      </a:ext>
                    </a:extLst>
                  </a:tr>
                  <a:tr h="5411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6) Write the solutions.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148007"/>
                      </a:ext>
                    </a:extLst>
                  </a:tr>
                </a:tbl>
              </a:graphicData>
            </a:graphic>
          </p:graphicFrame>
        </mc:Choice>
        <mc:Fallback xmlns="">
          <p:graphicFrame>
            <p:nvGraphicFramePr>
              <p:cNvPr id="15" name="Table 14"/>
              <p:cNvGraphicFramePr>
                <a:graphicFrameLocks noGrp="1"/>
              </p:cNvGraphicFramePr>
              <p:nvPr>
                <p:extLst>
                  <p:ext uri="{D42A27DB-BD31-4B8C-83A1-F6EECF244321}">
                    <p14:modId xmlns:p14="http://schemas.microsoft.com/office/powerpoint/2010/main" val="609643019"/>
                  </p:ext>
                </p:extLst>
              </p:nvPr>
            </p:nvGraphicFramePr>
            <p:xfrm>
              <a:off x="124074" y="268888"/>
              <a:ext cx="6609852" cy="4875626"/>
            </p:xfrm>
            <a:graphic>
              <a:graphicData uri="http://schemas.openxmlformats.org/drawingml/2006/table">
                <a:tbl>
                  <a:tblPr firstRow="1" bandRow="1">
                    <a:tableStyleId>{5C22544A-7EE6-4342-B048-85BDC9FD1C3A}</a:tableStyleId>
                  </a:tblPr>
                  <a:tblGrid>
                    <a:gridCol w="1485900">
                      <a:extLst>
                        <a:ext uri="{9D8B030D-6E8A-4147-A177-3AD203B41FA5}">
                          <a16:colId xmlns:a16="http://schemas.microsoft.com/office/drawing/2014/main" val="4222859584"/>
                        </a:ext>
                      </a:extLst>
                    </a:gridCol>
                    <a:gridCol w="1687154">
                      <a:extLst>
                        <a:ext uri="{9D8B030D-6E8A-4147-A177-3AD203B41FA5}">
                          <a16:colId xmlns:a16="http://schemas.microsoft.com/office/drawing/2014/main" val="2943938818"/>
                        </a:ext>
                      </a:extLst>
                    </a:gridCol>
                    <a:gridCol w="1778669">
                      <a:extLst>
                        <a:ext uri="{9D8B030D-6E8A-4147-A177-3AD203B41FA5}">
                          <a16:colId xmlns:a16="http://schemas.microsoft.com/office/drawing/2014/main" val="4207345459"/>
                        </a:ext>
                      </a:extLst>
                    </a:gridCol>
                    <a:gridCol w="1658129">
                      <a:extLst>
                        <a:ext uri="{9D8B030D-6E8A-4147-A177-3AD203B41FA5}">
                          <a16:colId xmlns:a16="http://schemas.microsoft.com/office/drawing/2014/main" val="592218920"/>
                        </a:ext>
                      </a:extLst>
                    </a:gridCol>
                  </a:tblGrid>
                  <a:tr h="27432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cs typeface="Calibri" panose="020F0502020204030204" pitchFamily="34" charset="0"/>
                            </a:rPr>
                            <a:t>Example 10 -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11 – We</a:t>
                          </a:r>
                          <a:r>
                            <a:rPr lang="en-GB" sz="1200" b="1" i="1" baseline="0" noProof="0">
                              <a:solidFill>
                                <a:schemeClr val="accent2"/>
                              </a:solidFill>
                            </a:rPr>
                            <a:t> </a:t>
                          </a:r>
                          <a:r>
                            <a:rPr lang="en-GB" sz="1200" b="1" i="1" noProof="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12 – You</a:t>
                          </a:r>
                          <a:r>
                            <a:rPr lang="en-GB" sz="1200" b="1" i="1" baseline="0" noProof="0">
                              <a:solidFill>
                                <a:srgbClr val="00B050"/>
                              </a:solidFill>
                            </a:rPr>
                            <a:t> </a:t>
                          </a:r>
                          <a:r>
                            <a:rPr lang="en-GB" sz="1200" b="1" i="1" noProof="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59656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1) Label the equations 1 and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8448" t="-6093" r="-204332" b="-265"/>
                          </a:stretch>
                        </a:blip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78767" t="-6093" r="-93836" b="-265"/>
                          </a:stretch>
                        </a:blip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9265" t="-6093" r="-735" b="-265"/>
                          </a:stretch>
                        </a:blipFill>
                      </a:tcPr>
                    </a:tc>
                    <a:extLst>
                      <a:ext uri="{0D108BD9-81ED-4DB2-BD59-A6C34878D82A}">
                        <a16:rowId xmlns:a16="http://schemas.microsoft.com/office/drawing/2014/main" val="3427265822"/>
                      </a:ext>
                    </a:extLst>
                  </a:tr>
                  <a:tr h="75765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2) Find</a:t>
                          </a:r>
                          <a:r>
                            <a:rPr lang="en-GB" sz="1200" b="0" i="0" baseline="0" noProof="0">
                              <a:solidFill>
                                <a:schemeClr val="tx1"/>
                              </a:solidFill>
                              <a:cs typeface="Calibri" panose="020F0502020204030204" pitchFamily="34" charset="0"/>
                            </a:rPr>
                            <a:t> the LCM and adjust </a:t>
                          </a:r>
                          <a:r>
                            <a:rPr lang="en-GB" sz="1200" b="1" i="0" baseline="0" noProof="0">
                              <a:solidFill>
                                <a:schemeClr val="tx1"/>
                              </a:solidFill>
                              <a:cs typeface="Calibri" panose="020F0502020204030204" pitchFamily="34" charset="0"/>
                            </a:rPr>
                            <a:t>both</a:t>
                          </a:r>
                          <a:r>
                            <a:rPr lang="en-GB" sz="1200" b="0" i="0" baseline="0" noProof="0">
                              <a:solidFill>
                                <a:schemeClr val="tx1"/>
                              </a:solidFill>
                              <a:cs typeface="Calibri" panose="020F0502020204030204" pitchFamily="34" charset="0"/>
                            </a:rPr>
                            <a:t> of the equations.</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81007270"/>
                      </a:ext>
                    </a:extLst>
                  </a:tr>
                  <a:tr h="75765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3) If the signs are </a:t>
                          </a:r>
                          <a:r>
                            <a:rPr lang="en-GB" sz="1200" b="1" i="0" noProof="0">
                              <a:solidFill>
                                <a:schemeClr val="tx1"/>
                              </a:solidFill>
                              <a:cs typeface="Calibri" panose="020F0502020204030204" pitchFamily="34" charset="0"/>
                            </a:rPr>
                            <a:t>the same,</a:t>
                          </a:r>
                          <a:r>
                            <a:rPr lang="en-GB" sz="1200" b="1" i="0" baseline="0" noProof="0">
                              <a:solidFill>
                                <a:schemeClr val="tx1"/>
                              </a:solidFill>
                              <a:cs typeface="Calibri" panose="020F0502020204030204" pitchFamily="34" charset="0"/>
                            </a:rPr>
                            <a:t> subtract. If different, add. </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r h="75765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4) Solve to find</a:t>
                          </a:r>
                          <a:r>
                            <a:rPr lang="en-GB" sz="1200" b="0" i="0" baseline="0" noProof="0">
                              <a:solidFill>
                                <a:schemeClr val="tx1"/>
                              </a:solidFill>
                              <a:cs typeface="Calibri" panose="020F0502020204030204" pitchFamily="34" charset="0"/>
                            </a:rPr>
                            <a:t> one variable. </a:t>
                          </a:r>
                          <a:endParaRPr lang="en-GB" sz="1200" b="0" i="0" noProof="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67515573"/>
                      </a:ext>
                    </a:extLst>
                  </a:tr>
                  <a:tr h="119059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0" t="-265128" r="-345492" b="-46667"/>
                          </a:stretch>
                        </a:blip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978753"/>
                      </a:ext>
                    </a:extLst>
                  </a:tr>
                  <a:tr h="5411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6) Write the solutions.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148007"/>
                      </a:ext>
                    </a:extLst>
                  </a:tr>
                </a:tbl>
              </a:graphicData>
            </a:graphic>
          </p:graphicFrame>
        </mc:Fallback>
      </mc:AlternateContent>
      <p:sp>
        <p:nvSpPr>
          <p:cNvPr id="16" name="TextBox 15">
            <a:extLst>
              <a:ext uri="{FF2B5EF4-FFF2-40B4-BE49-F238E27FC236}">
                <a16:creationId xmlns:a16="http://schemas.microsoft.com/office/drawing/2014/main" id="{1A127D5F-D90C-7A4B-B2A7-9600D90C40CC}"/>
              </a:ext>
            </a:extLst>
          </p:cNvPr>
          <p:cNvSpPr txBox="1"/>
          <p:nvPr/>
        </p:nvSpPr>
        <p:spPr>
          <a:xfrm>
            <a:off x="0" y="-8111"/>
            <a:ext cx="1802161" cy="276999"/>
          </a:xfrm>
          <a:prstGeom prst="rect">
            <a:avLst/>
          </a:prstGeom>
          <a:solidFill>
            <a:srgbClr val="0070C0"/>
          </a:solidFill>
        </p:spPr>
        <p:txBody>
          <a:bodyPr wrap="none" rtlCol="0" anchor="ctr">
            <a:spAutoFit/>
          </a:bodyPr>
          <a:lstStyle/>
          <a:p>
            <a:pPr algn="r"/>
            <a:r>
              <a:rPr lang="en-GB" sz="1200" b="1" noProof="0" dirty="0">
                <a:solidFill>
                  <a:schemeClr val="bg1"/>
                </a:solidFill>
              </a:rPr>
              <a:t>Adjusting both equations</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3DCEA55-C9C6-4630-92E1-BFB4B4A7F1A8}"/>
                  </a:ext>
                </a:extLst>
              </p:cNvPr>
              <p:cNvSpPr txBox="1"/>
              <p:nvPr/>
            </p:nvSpPr>
            <p:spPr>
              <a:xfrm>
                <a:off x="121148" y="5535287"/>
                <a:ext cx="1503233" cy="646331"/>
              </a:xfrm>
              <a:prstGeom prst="rect">
                <a:avLst/>
              </a:prstGeom>
              <a:noFill/>
            </p:spPr>
            <p:txBody>
              <a:bodyPr wrap="none" rtlCol="0">
                <a:spAutoFit/>
              </a:bodyPr>
              <a:lstStyle/>
              <a:p>
                <a:pPr lvl="0" algn="ctr" defTabSz="685800">
                  <a:defRPr/>
                </a:pPr>
                <a:r>
                  <a:rPr lang="en-GB" sz="1200" noProof="0" dirty="0"/>
                  <a:t>a) </a:t>
                </a:r>
                <a14:m>
                  <m:oMath xmlns:m="http://schemas.openxmlformats.org/officeDocument/2006/math">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=14</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=19</m:t>
                    </m:r>
                  </m:oMath>
                </a14:m>
                <a:r>
                  <a:rPr lang="en-GB" sz="1200" noProof="0" dirty="0">
                    <a:cs typeface="Calibri" panose="020F0502020204030204" pitchFamily="34" charset="0"/>
                  </a:rPr>
                  <a:t> (2)</a:t>
                </a:r>
              </a:p>
              <a:p>
                <a:r>
                  <a:rPr lang="en-GB" sz="1200" noProof="0" dirty="0"/>
                  <a:t> </a:t>
                </a:r>
              </a:p>
            </p:txBody>
          </p:sp>
        </mc:Choice>
        <mc:Fallback xmlns="">
          <p:sp>
            <p:nvSpPr>
              <p:cNvPr id="22" name="TextBox 21">
                <a:extLst>
                  <a:ext uri="{FF2B5EF4-FFF2-40B4-BE49-F238E27FC236}">
                    <a16:creationId xmlns:a16="http://schemas.microsoft.com/office/drawing/2014/main" id="{33DCEA55-C9C6-4630-92E1-BFB4B4A7F1A8}"/>
                  </a:ext>
                </a:extLst>
              </p:cNvPr>
              <p:cNvSpPr txBox="1">
                <a:spLocks noRot="1" noChangeAspect="1" noMove="1" noResize="1" noEditPoints="1" noAdjustHandles="1" noChangeArrowheads="1" noChangeShapeType="1" noTextEdit="1"/>
              </p:cNvSpPr>
              <p:nvPr/>
            </p:nvSpPr>
            <p:spPr>
              <a:xfrm>
                <a:off x="121148" y="5535287"/>
                <a:ext cx="1503233" cy="6463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4B71FF7-60D7-908C-D239-EDA2D9094AF9}"/>
                  </a:ext>
                </a:extLst>
              </p:cNvPr>
              <p:cNvSpPr txBox="1"/>
              <p:nvPr/>
            </p:nvSpPr>
            <p:spPr>
              <a:xfrm>
                <a:off x="2433551" y="5535286"/>
                <a:ext cx="1786964" cy="646331"/>
              </a:xfrm>
              <a:prstGeom prst="rect">
                <a:avLst/>
              </a:prstGeom>
              <a:noFill/>
            </p:spPr>
            <p:txBody>
              <a:bodyPr wrap="none" rtlCol="0">
                <a:spAutoFit/>
              </a:bodyPr>
              <a:lstStyle/>
              <a:p>
                <a:pPr lvl="0" algn="ctr" defTabSz="685800">
                  <a:defRPr/>
                </a:pPr>
                <a:r>
                  <a:rPr lang="en-GB" sz="1200" noProof="0" dirty="0"/>
                  <a:t>b)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noProof="0" smtClean="0">
                        <a:latin typeface="Cambria Math" panose="02040503050406030204" pitchFamily="18" charset="0"/>
                        <a:cs typeface="Calibri" panose="020F0502020204030204" pitchFamily="34" charset="0"/>
                      </a:rPr>
                      <m:t>7</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=−22</m:t>
                    </m:r>
                  </m:oMath>
                </a14:m>
                <a:r>
                  <a:rPr lang="en-GB" sz="1200" noProof="0" dirty="0">
                    <a:cs typeface="Calibri" panose="020F0502020204030204" pitchFamily="34" charset="0"/>
                  </a:rPr>
                  <a:t> (2)</a:t>
                </a:r>
              </a:p>
              <a:p>
                <a:r>
                  <a:rPr lang="en-GB" sz="1200" noProof="0" dirty="0"/>
                  <a:t> </a:t>
                </a:r>
              </a:p>
            </p:txBody>
          </p:sp>
        </mc:Choice>
        <mc:Fallback xmlns="">
          <p:sp>
            <p:nvSpPr>
              <p:cNvPr id="23" name="TextBox 22">
                <a:extLst>
                  <a:ext uri="{FF2B5EF4-FFF2-40B4-BE49-F238E27FC236}">
                    <a16:creationId xmlns:a16="http://schemas.microsoft.com/office/drawing/2014/main" id="{E4B71FF7-60D7-908C-D239-EDA2D9094AF9}"/>
                  </a:ext>
                </a:extLst>
              </p:cNvPr>
              <p:cNvSpPr txBox="1">
                <a:spLocks noRot="1" noChangeAspect="1" noMove="1" noResize="1" noEditPoints="1" noAdjustHandles="1" noChangeArrowheads="1" noChangeShapeType="1" noTextEdit="1"/>
              </p:cNvSpPr>
              <p:nvPr/>
            </p:nvSpPr>
            <p:spPr>
              <a:xfrm>
                <a:off x="2433551" y="5535286"/>
                <a:ext cx="1786964" cy="6463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BAC7C4C-E94F-31E5-64FB-8B1785F95F67}"/>
                  </a:ext>
                </a:extLst>
              </p:cNvPr>
              <p:cNvSpPr txBox="1"/>
              <p:nvPr/>
            </p:nvSpPr>
            <p:spPr>
              <a:xfrm>
                <a:off x="4901842" y="5535286"/>
                <a:ext cx="1504836" cy="646331"/>
              </a:xfrm>
              <a:prstGeom prst="rect">
                <a:avLst/>
              </a:prstGeom>
              <a:noFill/>
            </p:spPr>
            <p:txBody>
              <a:bodyPr wrap="none" rtlCol="0">
                <a:spAutoFit/>
              </a:bodyPr>
              <a:lstStyle/>
              <a:p>
                <a:pPr lvl="0" algn="ctr" defTabSz="685800">
                  <a:defRPr/>
                </a:pPr>
                <a:r>
                  <a:rPr lang="en-GB" sz="1200" noProof="0" dirty="0"/>
                  <a:t>c)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=−4</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   4 </m:t>
                    </m:r>
                  </m:oMath>
                </a14:m>
                <a:r>
                  <a:rPr lang="en-GB" sz="1200" noProof="0" dirty="0">
                    <a:cs typeface="Calibri" panose="020F0502020204030204" pitchFamily="34" charset="0"/>
                  </a:rPr>
                  <a:t> (2)</a:t>
                </a:r>
              </a:p>
              <a:p>
                <a:r>
                  <a:rPr lang="en-GB" sz="1200" noProof="0" dirty="0"/>
                  <a:t> </a:t>
                </a:r>
              </a:p>
            </p:txBody>
          </p:sp>
        </mc:Choice>
        <mc:Fallback xmlns="">
          <p:sp>
            <p:nvSpPr>
              <p:cNvPr id="24" name="TextBox 23">
                <a:extLst>
                  <a:ext uri="{FF2B5EF4-FFF2-40B4-BE49-F238E27FC236}">
                    <a16:creationId xmlns:a16="http://schemas.microsoft.com/office/drawing/2014/main" id="{7BAC7C4C-E94F-31E5-64FB-8B1785F95F67}"/>
                  </a:ext>
                </a:extLst>
              </p:cNvPr>
              <p:cNvSpPr txBox="1">
                <a:spLocks noRot="1" noChangeAspect="1" noMove="1" noResize="1" noEditPoints="1" noAdjustHandles="1" noChangeArrowheads="1" noChangeShapeType="1" noTextEdit="1"/>
              </p:cNvSpPr>
              <p:nvPr/>
            </p:nvSpPr>
            <p:spPr>
              <a:xfrm>
                <a:off x="4901842" y="5535286"/>
                <a:ext cx="1504836" cy="646331"/>
              </a:xfrm>
              <a:prstGeom prst="rect">
                <a:avLst/>
              </a:prstGeom>
              <a:blipFill>
                <a:blip r:embed="rId5"/>
                <a:stretch>
                  <a:fillRect/>
                </a:stretch>
              </a:blipFill>
            </p:spPr>
            <p:txBody>
              <a:bodyPr/>
              <a:lstStyle/>
              <a:p>
                <a:r>
                  <a:rPr lang="en-US">
                    <a:noFill/>
                  </a:rPr>
                  <a:t> </a:t>
                </a:r>
              </a:p>
            </p:txBody>
          </p:sp>
        </mc:Fallback>
      </mc:AlternateContent>
      <p:sp>
        <p:nvSpPr>
          <p:cNvPr id="25" name="Rectangle 24">
            <a:extLst>
              <a:ext uri="{FF2B5EF4-FFF2-40B4-BE49-F238E27FC236}">
                <a16:creationId xmlns:a16="http://schemas.microsoft.com/office/drawing/2014/main" id="{C957A2D3-9F92-4369-6969-5A8D1B9A7904}"/>
              </a:ext>
            </a:extLst>
          </p:cNvPr>
          <p:cNvSpPr/>
          <p:nvPr/>
        </p:nvSpPr>
        <p:spPr>
          <a:xfrm>
            <a:off x="228823" y="5955538"/>
            <a:ext cx="2119082" cy="38107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Rectangle 25">
            <a:extLst>
              <a:ext uri="{FF2B5EF4-FFF2-40B4-BE49-F238E27FC236}">
                <a16:creationId xmlns:a16="http://schemas.microsoft.com/office/drawing/2014/main" id="{0C02574C-85A1-1AF5-C4C0-B299EF246971}"/>
              </a:ext>
            </a:extLst>
          </p:cNvPr>
          <p:cNvSpPr/>
          <p:nvPr/>
        </p:nvSpPr>
        <p:spPr>
          <a:xfrm>
            <a:off x="2413858" y="5955538"/>
            <a:ext cx="2097801" cy="38107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Rectangle 26">
            <a:extLst>
              <a:ext uri="{FF2B5EF4-FFF2-40B4-BE49-F238E27FC236}">
                <a16:creationId xmlns:a16="http://schemas.microsoft.com/office/drawing/2014/main" id="{41587905-6A9F-B64A-16AB-DAD74AAC0BD1}"/>
              </a:ext>
            </a:extLst>
          </p:cNvPr>
          <p:cNvSpPr/>
          <p:nvPr/>
        </p:nvSpPr>
        <p:spPr>
          <a:xfrm>
            <a:off x="4602775" y="5955538"/>
            <a:ext cx="2097801" cy="38107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7" name="TextBox 36">
            <a:extLst>
              <a:ext uri="{FF2B5EF4-FFF2-40B4-BE49-F238E27FC236}">
                <a16:creationId xmlns:a16="http://schemas.microsoft.com/office/drawing/2014/main" id="{E4992582-05DB-8825-CF50-9CB94832FEEE}"/>
              </a:ext>
            </a:extLst>
          </p:cNvPr>
          <p:cNvSpPr txBox="1"/>
          <p:nvPr/>
        </p:nvSpPr>
        <p:spPr>
          <a:xfrm>
            <a:off x="-151447" y="5144514"/>
            <a:ext cx="4620374" cy="276999"/>
          </a:xfrm>
          <a:prstGeom prst="rect">
            <a:avLst/>
          </a:prstGeom>
          <a:noFill/>
        </p:spPr>
        <p:txBody>
          <a:bodyPr wrap="square" rtlCol="0">
            <a:spAutoFit/>
          </a:bodyPr>
          <a:lstStyle/>
          <a:p>
            <a:pPr algn="ctr"/>
            <a:r>
              <a:rPr lang="en-GB" sz="1200" noProof="0" dirty="0"/>
              <a:t>6) Solve the simultaneous equations by adjusting both equations</a:t>
            </a:r>
            <a:endParaRPr lang="en-GB" sz="1200" b="1" noProof="0" dirty="0"/>
          </a:p>
        </p:txBody>
      </p:sp>
    </p:spTree>
    <p:extLst>
      <p:ext uri="{BB962C8B-B14F-4D97-AF65-F5344CB8AC3E}">
        <p14:creationId xmlns:p14="http://schemas.microsoft.com/office/powerpoint/2010/main" val="6237543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236106" y="9512954"/>
            <a:ext cx="1543050" cy="527403"/>
          </a:xfrm>
        </p:spPr>
        <p:txBody>
          <a:bodyPr/>
          <a:lstStyle/>
          <a:p>
            <a:fld id="{19F1D9CC-7119-45EC-A96C-D8C0660F3AAB}" type="slidenum">
              <a:rPr lang="en-GB" noProof="0" smtClean="0"/>
              <a:t>45</a:t>
            </a:fld>
            <a:endParaRPr lang="en-GB" noProof="0" dirty="0"/>
          </a:p>
        </p:txBody>
      </p:sp>
      <mc:AlternateContent xmlns:mc="http://schemas.openxmlformats.org/markup-compatibility/2006" xmlns:a14="http://schemas.microsoft.com/office/drawing/2010/main">
        <mc:Choice Requires="a14">
          <p:sp>
            <p:nvSpPr>
              <p:cNvPr id="3" name="TextBox 2"/>
              <p:cNvSpPr txBox="1"/>
              <p:nvPr/>
            </p:nvSpPr>
            <p:spPr>
              <a:xfrm>
                <a:off x="130922" y="348088"/>
                <a:ext cx="1503233" cy="646331"/>
              </a:xfrm>
              <a:prstGeom prst="rect">
                <a:avLst/>
              </a:prstGeom>
              <a:noFill/>
            </p:spPr>
            <p:txBody>
              <a:bodyPr wrap="none" rtlCol="0">
                <a:spAutoFit/>
              </a:bodyPr>
              <a:lstStyle/>
              <a:p>
                <a:pPr lvl="0" algn="ctr" defTabSz="685800">
                  <a:defRPr/>
                </a:pPr>
                <a:r>
                  <a:rPr lang="en-GB" sz="1200" noProof="0" dirty="0"/>
                  <a:t>g) </a:t>
                </a:r>
                <a14:m>
                  <m:oMath xmlns:m="http://schemas.openxmlformats.org/officeDocument/2006/math">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+8</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=31</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=31</m:t>
                    </m:r>
                  </m:oMath>
                </a14:m>
                <a:r>
                  <a:rPr lang="en-GB" sz="1200" noProof="0" dirty="0">
                    <a:cs typeface="Calibri" panose="020F0502020204030204" pitchFamily="34" charset="0"/>
                  </a:rPr>
                  <a:t> (2)</a:t>
                </a:r>
              </a:p>
              <a:p>
                <a:r>
                  <a:rPr lang="en-GB" sz="1200" noProof="0" dirty="0"/>
                  <a:t> </a:t>
                </a:r>
              </a:p>
            </p:txBody>
          </p:sp>
        </mc:Choice>
        <mc:Fallback xmlns="">
          <p:sp>
            <p:nvSpPr>
              <p:cNvPr id="3" name="TextBox 2"/>
              <p:cNvSpPr txBox="1">
                <a:spLocks noRot="1" noChangeAspect="1" noMove="1" noResize="1" noEditPoints="1" noAdjustHandles="1" noChangeArrowheads="1" noChangeShapeType="1" noTextEdit="1"/>
              </p:cNvSpPr>
              <p:nvPr/>
            </p:nvSpPr>
            <p:spPr>
              <a:xfrm>
                <a:off x="130922" y="348088"/>
                <a:ext cx="1503233" cy="64633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2500232" y="348087"/>
                <a:ext cx="1673151" cy="646331"/>
              </a:xfrm>
              <a:prstGeom prst="rect">
                <a:avLst/>
              </a:prstGeom>
              <a:noFill/>
            </p:spPr>
            <p:txBody>
              <a:bodyPr wrap="none" rtlCol="0">
                <a:spAutoFit/>
              </a:bodyPr>
              <a:lstStyle/>
              <a:p>
                <a:pPr lvl="0" algn="ctr" defTabSz="685800">
                  <a:defRPr/>
                </a:pPr>
                <a:r>
                  <a:rPr lang="en-GB" sz="1200" noProof="0" dirty="0"/>
                  <a:t>h)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7</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−15</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=2.5</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=5.5</m:t>
                    </m:r>
                  </m:oMath>
                </a14:m>
                <a:r>
                  <a:rPr lang="en-GB" sz="1200" noProof="0" dirty="0">
                    <a:cs typeface="Calibri" panose="020F0502020204030204" pitchFamily="34" charset="0"/>
                  </a:rPr>
                  <a:t> (2)</a:t>
                </a:r>
              </a:p>
              <a:p>
                <a:r>
                  <a:rPr lang="en-GB" sz="1200" noProof="0" dirty="0"/>
                  <a:t> </a:t>
                </a:r>
              </a:p>
            </p:txBody>
          </p:sp>
        </mc:Choice>
        <mc:Fallback xmlns="">
          <p:sp>
            <p:nvSpPr>
              <p:cNvPr id="4" name="TextBox 3"/>
              <p:cNvSpPr txBox="1">
                <a:spLocks noRot="1" noChangeAspect="1" noMove="1" noResize="1" noEditPoints="1" noAdjustHandles="1" noChangeArrowheads="1" noChangeShapeType="1" noTextEdit="1"/>
              </p:cNvSpPr>
              <p:nvPr/>
            </p:nvSpPr>
            <p:spPr>
              <a:xfrm>
                <a:off x="2500232" y="348087"/>
                <a:ext cx="1673151" cy="6463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926845" y="348087"/>
                <a:ext cx="1474378" cy="646331"/>
              </a:xfrm>
              <a:prstGeom prst="rect">
                <a:avLst/>
              </a:prstGeom>
              <a:noFill/>
            </p:spPr>
            <p:txBody>
              <a:bodyPr wrap="none" rtlCol="0">
                <a:spAutoFit/>
              </a:bodyPr>
              <a:lstStyle/>
              <a:p>
                <a:pPr lvl="0" algn="ctr" defTabSz="685800">
                  <a:defRPr/>
                </a:pPr>
                <a:r>
                  <a:rPr lang="en-GB" sz="1200" noProof="0" dirty="0" err="1"/>
                  <a:t>i</a:t>
                </a:r>
                <a:r>
                  <a:rPr lang="en-GB" sz="1200" noProof="0" dirty="0"/>
                  <a:t>) </a:t>
                </a:r>
                <a14:m>
                  <m:oMath xmlns:m="http://schemas.openxmlformats.org/officeDocument/2006/math">
                    <m:r>
                      <a:rPr lang="en-GB" sz="1200"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=53</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=72</m:t>
                    </m:r>
                  </m:oMath>
                </a14:m>
                <a:r>
                  <a:rPr lang="en-GB" sz="1200" noProof="0" dirty="0">
                    <a:cs typeface="Calibri" panose="020F0502020204030204" pitchFamily="34" charset="0"/>
                  </a:rPr>
                  <a:t> (2)</a:t>
                </a:r>
              </a:p>
              <a:p>
                <a:r>
                  <a:rPr lang="en-GB" sz="1200" noProof="0" dirty="0"/>
                  <a:t> </a:t>
                </a:r>
              </a:p>
            </p:txBody>
          </p:sp>
        </mc:Choice>
        <mc:Fallback xmlns="">
          <p:sp>
            <p:nvSpPr>
              <p:cNvPr id="5" name="TextBox 4"/>
              <p:cNvSpPr txBox="1">
                <a:spLocks noRot="1" noChangeAspect="1" noMove="1" noResize="1" noEditPoints="1" noAdjustHandles="1" noChangeArrowheads="1" noChangeShapeType="1" noTextEdit="1"/>
              </p:cNvSpPr>
              <p:nvPr/>
            </p:nvSpPr>
            <p:spPr>
              <a:xfrm>
                <a:off x="4926845" y="348087"/>
                <a:ext cx="1474378" cy="646331"/>
              </a:xfrm>
              <a:prstGeom prst="rect">
                <a:avLst/>
              </a:prstGeom>
              <a:blipFill>
                <a:blip r:embed="rId4"/>
                <a:stretch>
                  <a:fillRect/>
                </a:stretch>
              </a:blipFill>
            </p:spPr>
            <p:txBody>
              <a:bodyPr/>
              <a:lstStyle/>
              <a:p>
                <a:r>
                  <a:rPr lang="en-US">
                    <a:noFill/>
                  </a:rPr>
                  <a:t> </a:t>
                </a:r>
              </a:p>
            </p:txBody>
          </p:sp>
        </mc:Fallback>
      </mc:AlternateContent>
      <p:sp>
        <p:nvSpPr>
          <p:cNvPr id="6" name="Rectangle 5"/>
          <p:cNvSpPr/>
          <p:nvPr/>
        </p:nvSpPr>
        <p:spPr>
          <a:xfrm>
            <a:off x="238597" y="768339"/>
            <a:ext cx="2119082"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Rectangle 6"/>
          <p:cNvSpPr/>
          <p:nvPr/>
        </p:nvSpPr>
        <p:spPr>
          <a:xfrm>
            <a:off x="2423632" y="768339"/>
            <a:ext cx="2097801"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Rectangle 7"/>
          <p:cNvSpPr/>
          <p:nvPr/>
        </p:nvSpPr>
        <p:spPr>
          <a:xfrm>
            <a:off x="4612549" y="768339"/>
            <a:ext cx="2097801"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9" name="TextBox 8"/>
              <p:cNvSpPr txBox="1"/>
              <p:nvPr/>
            </p:nvSpPr>
            <p:spPr>
              <a:xfrm>
                <a:off x="89848" y="4846384"/>
                <a:ext cx="1532086" cy="646331"/>
              </a:xfrm>
              <a:prstGeom prst="rect">
                <a:avLst/>
              </a:prstGeom>
              <a:noFill/>
            </p:spPr>
            <p:txBody>
              <a:bodyPr wrap="none" rtlCol="0">
                <a:spAutoFit/>
              </a:bodyPr>
              <a:lstStyle/>
              <a:p>
                <a:pPr lvl="0" algn="ctr" defTabSz="685800">
                  <a:defRPr/>
                </a:pPr>
                <a:r>
                  <a:rPr lang="en-GB" sz="1200" noProof="0" dirty="0"/>
                  <a:t>j) </a:t>
                </a:r>
                <a14:m>
                  <m:oMath xmlns:m="http://schemas.openxmlformats.org/officeDocument/2006/math">
                    <m:r>
                      <a:rPr lang="en-GB" sz="1200" i="1"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=18</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m:t>
                    </m:r>
                    <m:r>
                      <a:rPr lang="en-GB" sz="1200" b="0" i="0" noProof="0" smtClean="0">
                        <a:latin typeface="Cambria Math" panose="02040503050406030204" pitchFamily="18" charset="0"/>
                        <a:cs typeface="Calibri" panose="020F0502020204030204" pitchFamily="34" charset="0"/>
                      </a:rPr>
                      <m:t>54 </m:t>
                    </m:r>
                  </m:oMath>
                </a14:m>
                <a:r>
                  <a:rPr lang="en-GB" sz="1200" noProof="0" dirty="0">
                    <a:cs typeface="Calibri" panose="020F0502020204030204" pitchFamily="34" charset="0"/>
                  </a:rPr>
                  <a:t>(2)</a:t>
                </a:r>
              </a:p>
              <a:p>
                <a:r>
                  <a:rPr lang="en-GB" sz="1200" noProof="0" dirty="0"/>
                  <a:t> </a:t>
                </a:r>
              </a:p>
            </p:txBody>
          </p:sp>
        </mc:Choice>
        <mc:Fallback xmlns="">
          <p:sp>
            <p:nvSpPr>
              <p:cNvPr id="9" name="TextBox 8"/>
              <p:cNvSpPr txBox="1">
                <a:spLocks noRot="1" noChangeAspect="1" noMove="1" noResize="1" noEditPoints="1" noAdjustHandles="1" noChangeArrowheads="1" noChangeShapeType="1" noTextEdit="1"/>
              </p:cNvSpPr>
              <p:nvPr/>
            </p:nvSpPr>
            <p:spPr>
              <a:xfrm>
                <a:off x="89848" y="4846384"/>
                <a:ext cx="1532086" cy="6463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500835" y="4846383"/>
                <a:ext cx="1618649" cy="646331"/>
              </a:xfrm>
              <a:prstGeom prst="rect">
                <a:avLst/>
              </a:prstGeom>
              <a:noFill/>
            </p:spPr>
            <p:txBody>
              <a:bodyPr wrap="none" rtlCol="0">
                <a:spAutoFit/>
              </a:bodyPr>
              <a:lstStyle/>
              <a:p>
                <a:pPr lvl="0" algn="ctr" defTabSz="685800">
                  <a:defRPr/>
                </a:pPr>
                <a:r>
                  <a:rPr lang="en-GB" sz="1200" noProof="0" dirty="0"/>
                  <a:t>k)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+8</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=8</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9</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b="0" i="1" noProof="0" smtClean="0">
                        <a:latin typeface="Cambria Math" panose="02040503050406030204" pitchFamily="18" charset="0"/>
                        <a:cs typeface="Calibri" panose="020F0502020204030204" pitchFamily="34" charset="0"/>
                      </a:rPr>
                      <m:t>=−63</m:t>
                    </m:r>
                  </m:oMath>
                </a14:m>
                <a:r>
                  <a:rPr lang="en-GB" sz="1200" noProof="0" dirty="0">
                    <a:cs typeface="Calibri" panose="020F0502020204030204" pitchFamily="34" charset="0"/>
                  </a:rPr>
                  <a:t> (2)</a:t>
                </a:r>
              </a:p>
              <a:p>
                <a:r>
                  <a:rPr lang="en-GB" sz="1200" noProof="0" dirty="0"/>
                  <a:t> </a:t>
                </a:r>
              </a:p>
            </p:txBody>
          </p:sp>
        </mc:Choice>
        <mc:Fallback xmlns="">
          <p:sp>
            <p:nvSpPr>
              <p:cNvPr id="10" name="TextBox 9"/>
              <p:cNvSpPr txBox="1">
                <a:spLocks noRot="1" noChangeAspect="1" noMove="1" noResize="1" noEditPoints="1" noAdjustHandles="1" noChangeArrowheads="1" noChangeShapeType="1" noTextEdit="1"/>
              </p:cNvSpPr>
              <p:nvPr/>
            </p:nvSpPr>
            <p:spPr>
              <a:xfrm>
                <a:off x="2500835" y="4846383"/>
                <a:ext cx="1618649" cy="64633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4885769" y="4846383"/>
                <a:ext cx="1503233" cy="646331"/>
              </a:xfrm>
              <a:prstGeom prst="rect">
                <a:avLst/>
              </a:prstGeom>
              <a:noFill/>
            </p:spPr>
            <p:txBody>
              <a:bodyPr wrap="none" rtlCol="0">
                <a:spAutoFit/>
              </a:bodyPr>
              <a:lstStyle/>
              <a:p>
                <a:pPr lvl="0" algn="ctr" defTabSz="685800">
                  <a:defRPr/>
                </a:pPr>
                <a:r>
                  <a:rPr lang="en-GB" sz="1200" noProof="0" dirty="0"/>
                  <a:t>l) </a:t>
                </a:r>
                <a14:m>
                  <m:oMath xmlns:m="http://schemas.openxmlformats.org/officeDocument/2006/math">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=4</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5</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=24</m:t>
                    </m:r>
                  </m:oMath>
                </a14:m>
                <a:r>
                  <a:rPr lang="en-GB" sz="1200" noProof="0" dirty="0">
                    <a:cs typeface="Calibri" panose="020F0502020204030204" pitchFamily="34" charset="0"/>
                  </a:rPr>
                  <a:t> (2)</a:t>
                </a:r>
              </a:p>
              <a:p>
                <a:r>
                  <a:rPr lang="en-GB" sz="1200" noProof="0" dirty="0"/>
                  <a:t> </a:t>
                </a:r>
              </a:p>
            </p:txBody>
          </p:sp>
        </mc:Choice>
        <mc:Fallback xmlns="">
          <p:sp>
            <p:nvSpPr>
              <p:cNvPr id="11" name="TextBox 10"/>
              <p:cNvSpPr txBox="1">
                <a:spLocks noRot="1" noChangeAspect="1" noMove="1" noResize="1" noEditPoints="1" noAdjustHandles="1" noChangeArrowheads="1" noChangeShapeType="1" noTextEdit="1"/>
              </p:cNvSpPr>
              <p:nvPr/>
            </p:nvSpPr>
            <p:spPr>
              <a:xfrm>
                <a:off x="4885769" y="4846383"/>
                <a:ext cx="1503233" cy="646331"/>
              </a:xfrm>
              <a:prstGeom prst="rect">
                <a:avLst/>
              </a:prstGeom>
              <a:blipFill>
                <a:blip r:embed="rId7"/>
                <a:stretch>
                  <a:fillRect/>
                </a:stretch>
              </a:blipFill>
            </p:spPr>
            <p:txBody>
              <a:bodyPr/>
              <a:lstStyle/>
              <a:p>
                <a:r>
                  <a:rPr lang="en-US">
                    <a:noFill/>
                  </a:rPr>
                  <a:t> </a:t>
                </a:r>
              </a:p>
            </p:txBody>
          </p:sp>
        </mc:Fallback>
      </mc:AlternateContent>
      <p:sp>
        <p:nvSpPr>
          <p:cNvPr id="12" name="Rectangle 11"/>
          <p:cNvSpPr/>
          <p:nvPr/>
        </p:nvSpPr>
        <p:spPr>
          <a:xfrm>
            <a:off x="214534" y="5369464"/>
            <a:ext cx="2119082"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tangle 12"/>
          <p:cNvSpPr/>
          <p:nvPr/>
        </p:nvSpPr>
        <p:spPr>
          <a:xfrm>
            <a:off x="2399569" y="5369464"/>
            <a:ext cx="2097801"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 name="Rectangle 13"/>
          <p:cNvSpPr/>
          <p:nvPr/>
        </p:nvSpPr>
        <p:spPr>
          <a:xfrm>
            <a:off x="4588486" y="5369464"/>
            <a:ext cx="2097801"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Rectangle 14">
            <a:extLst>
              <a:ext uri="{FF2B5EF4-FFF2-40B4-BE49-F238E27FC236}">
                <a16:creationId xmlns:a16="http://schemas.microsoft.com/office/drawing/2014/main" id="{EFEA5655-F8B4-E44B-AD11-37BDE174E0E4}"/>
              </a:ext>
            </a:extLst>
          </p:cNvPr>
          <p:cNvSpPr/>
          <p:nvPr/>
        </p:nvSpPr>
        <p:spPr>
          <a:xfrm>
            <a:off x="1141656" y="439599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16" name="Rectangle 15">
            <a:extLst>
              <a:ext uri="{FF2B5EF4-FFF2-40B4-BE49-F238E27FC236}">
                <a16:creationId xmlns:a16="http://schemas.microsoft.com/office/drawing/2014/main" id="{FB12ABF5-462E-6044-8D21-BD0BF63C4036}"/>
              </a:ext>
            </a:extLst>
          </p:cNvPr>
          <p:cNvSpPr/>
          <p:nvPr/>
        </p:nvSpPr>
        <p:spPr>
          <a:xfrm>
            <a:off x="1928679" y="439287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AC357ECC-A710-0A49-95CD-DEF7B6D6DED8}"/>
                  </a:ext>
                </a:extLst>
              </p:cNvPr>
              <p:cNvSpPr/>
              <p:nvPr/>
            </p:nvSpPr>
            <p:spPr>
              <a:xfrm>
                <a:off x="654421" y="435302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17" name="Rectangle 16">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654421" y="4353027"/>
                <a:ext cx="1381880" cy="369332"/>
              </a:xfrm>
              <a:prstGeom prst="rect">
                <a:avLst/>
              </a:prstGeom>
              <a:blipFill>
                <a:blip r:embed="rId8"/>
                <a:stretch>
                  <a:fillRect r="-12335" b="-16393"/>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EFEA5655-F8B4-E44B-AD11-37BDE174E0E4}"/>
              </a:ext>
            </a:extLst>
          </p:cNvPr>
          <p:cNvSpPr/>
          <p:nvPr/>
        </p:nvSpPr>
        <p:spPr>
          <a:xfrm>
            <a:off x="3313707" y="439672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19" name="Rectangle 18">
            <a:extLst>
              <a:ext uri="{FF2B5EF4-FFF2-40B4-BE49-F238E27FC236}">
                <a16:creationId xmlns:a16="http://schemas.microsoft.com/office/drawing/2014/main" id="{FB12ABF5-462E-6044-8D21-BD0BF63C4036}"/>
              </a:ext>
            </a:extLst>
          </p:cNvPr>
          <p:cNvSpPr/>
          <p:nvPr/>
        </p:nvSpPr>
        <p:spPr>
          <a:xfrm>
            <a:off x="4100730" y="439361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AC357ECC-A710-0A49-95CD-DEF7B6D6DED8}"/>
                  </a:ext>
                </a:extLst>
              </p:cNvPr>
              <p:cNvSpPr/>
              <p:nvPr/>
            </p:nvSpPr>
            <p:spPr>
              <a:xfrm>
                <a:off x="2826472" y="435376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0" name="Rectangle 19">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2826472" y="4353762"/>
                <a:ext cx="1381880" cy="369332"/>
              </a:xfrm>
              <a:prstGeom prst="rect">
                <a:avLst/>
              </a:prstGeom>
              <a:blipFill>
                <a:blip r:embed="rId8"/>
                <a:stretch>
                  <a:fillRect r="-12832" b="-16393"/>
                </a:stretch>
              </a:blipFill>
            </p:spPr>
            <p:txBody>
              <a:bodyPr/>
              <a:lstStyle/>
              <a:p>
                <a:r>
                  <a:rPr lang="en-US">
                    <a:noFill/>
                  </a:rPr>
                  <a:t> </a:t>
                </a:r>
              </a:p>
            </p:txBody>
          </p:sp>
        </mc:Fallback>
      </mc:AlternateContent>
      <p:sp>
        <p:nvSpPr>
          <p:cNvPr id="21" name="Rectangle 20">
            <a:extLst>
              <a:ext uri="{FF2B5EF4-FFF2-40B4-BE49-F238E27FC236}">
                <a16:creationId xmlns:a16="http://schemas.microsoft.com/office/drawing/2014/main" id="{EFEA5655-F8B4-E44B-AD11-37BDE174E0E4}"/>
              </a:ext>
            </a:extLst>
          </p:cNvPr>
          <p:cNvSpPr/>
          <p:nvPr/>
        </p:nvSpPr>
        <p:spPr>
          <a:xfrm>
            <a:off x="5477461" y="4395001"/>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2" name="Rectangle 21">
            <a:extLst>
              <a:ext uri="{FF2B5EF4-FFF2-40B4-BE49-F238E27FC236}">
                <a16:creationId xmlns:a16="http://schemas.microsoft.com/office/drawing/2014/main" id="{FB12ABF5-462E-6044-8D21-BD0BF63C4036}"/>
              </a:ext>
            </a:extLst>
          </p:cNvPr>
          <p:cNvSpPr/>
          <p:nvPr/>
        </p:nvSpPr>
        <p:spPr>
          <a:xfrm>
            <a:off x="6264484" y="439188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AC357ECC-A710-0A49-95CD-DEF7B6D6DED8}"/>
                  </a:ext>
                </a:extLst>
              </p:cNvPr>
              <p:cNvSpPr/>
              <p:nvPr/>
            </p:nvSpPr>
            <p:spPr>
              <a:xfrm>
                <a:off x="4990226" y="4352035"/>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3" name="Rectangle 22">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4990226" y="4352035"/>
                <a:ext cx="1381880" cy="369332"/>
              </a:xfrm>
              <a:prstGeom prst="rect">
                <a:avLst/>
              </a:prstGeom>
              <a:blipFill>
                <a:blip r:embed="rId9"/>
                <a:stretch>
                  <a:fillRect r="-12832" b="-14754"/>
                </a:stretch>
              </a:blipFill>
            </p:spPr>
            <p:txBody>
              <a:bodyPr/>
              <a:lstStyle/>
              <a:p>
                <a:r>
                  <a:rPr lang="en-US">
                    <a:noFill/>
                  </a:rPr>
                  <a:t> </a:t>
                </a:r>
              </a:p>
            </p:txBody>
          </p:sp>
        </mc:Fallback>
      </mc:AlternateContent>
      <p:sp>
        <p:nvSpPr>
          <p:cNvPr id="24" name="Rectangle 23">
            <a:extLst>
              <a:ext uri="{FF2B5EF4-FFF2-40B4-BE49-F238E27FC236}">
                <a16:creationId xmlns:a16="http://schemas.microsoft.com/office/drawing/2014/main" id="{EFEA5655-F8B4-E44B-AD11-37BDE174E0E4}"/>
              </a:ext>
            </a:extLst>
          </p:cNvPr>
          <p:cNvSpPr/>
          <p:nvPr/>
        </p:nvSpPr>
        <p:spPr>
          <a:xfrm>
            <a:off x="1141656" y="912966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5" name="Rectangle 24">
            <a:extLst>
              <a:ext uri="{FF2B5EF4-FFF2-40B4-BE49-F238E27FC236}">
                <a16:creationId xmlns:a16="http://schemas.microsoft.com/office/drawing/2014/main" id="{FB12ABF5-462E-6044-8D21-BD0BF63C4036}"/>
              </a:ext>
            </a:extLst>
          </p:cNvPr>
          <p:cNvSpPr/>
          <p:nvPr/>
        </p:nvSpPr>
        <p:spPr>
          <a:xfrm>
            <a:off x="1928679" y="912655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AC357ECC-A710-0A49-95CD-DEF7B6D6DED8}"/>
                  </a:ext>
                </a:extLst>
              </p:cNvPr>
              <p:cNvSpPr/>
              <p:nvPr/>
            </p:nvSpPr>
            <p:spPr>
              <a:xfrm>
                <a:off x="654421" y="908670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6" name="Rectangle 25">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654421" y="9086702"/>
                <a:ext cx="1381880" cy="369332"/>
              </a:xfrm>
              <a:prstGeom prst="rect">
                <a:avLst/>
              </a:prstGeom>
              <a:blipFill>
                <a:blip r:embed="rId9"/>
                <a:stretch>
                  <a:fillRect r="-12335" b="-16667"/>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EFEA5655-F8B4-E44B-AD11-37BDE174E0E4}"/>
              </a:ext>
            </a:extLst>
          </p:cNvPr>
          <p:cNvSpPr/>
          <p:nvPr/>
        </p:nvSpPr>
        <p:spPr>
          <a:xfrm>
            <a:off x="3313707" y="913040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8" name="Rectangle 27">
            <a:extLst>
              <a:ext uri="{FF2B5EF4-FFF2-40B4-BE49-F238E27FC236}">
                <a16:creationId xmlns:a16="http://schemas.microsoft.com/office/drawing/2014/main" id="{FB12ABF5-462E-6044-8D21-BD0BF63C4036}"/>
              </a:ext>
            </a:extLst>
          </p:cNvPr>
          <p:cNvSpPr/>
          <p:nvPr/>
        </p:nvSpPr>
        <p:spPr>
          <a:xfrm>
            <a:off x="4100730" y="912728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AC357ECC-A710-0A49-95CD-DEF7B6D6DED8}"/>
                  </a:ext>
                </a:extLst>
              </p:cNvPr>
              <p:cNvSpPr/>
              <p:nvPr/>
            </p:nvSpPr>
            <p:spPr>
              <a:xfrm>
                <a:off x="2826472" y="908743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9" name="Rectangle 28">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2826472" y="9087437"/>
                <a:ext cx="1381880" cy="369332"/>
              </a:xfrm>
              <a:prstGeom prst="rect">
                <a:avLst/>
              </a:prstGeom>
              <a:blipFill>
                <a:blip r:embed="rId9"/>
                <a:stretch>
                  <a:fillRect r="-12832" b="-16667"/>
                </a:stretch>
              </a:blipFill>
            </p:spPr>
            <p:txBody>
              <a:bodyPr/>
              <a:lstStyle/>
              <a:p>
                <a:r>
                  <a:rPr lang="en-US">
                    <a:noFill/>
                  </a:rPr>
                  <a:t> </a:t>
                </a:r>
              </a:p>
            </p:txBody>
          </p:sp>
        </mc:Fallback>
      </mc:AlternateContent>
      <p:sp>
        <p:nvSpPr>
          <p:cNvPr id="30" name="Rectangle 29">
            <a:extLst>
              <a:ext uri="{FF2B5EF4-FFF2-40B4-BE49-F238E27FC236}">
                <a16:creationId xmlns:a16="http://schemas.microsoft.com/office/drawing/2014/main" id="{EFEA5655-F8B4-E44B-AD11-37BDE174E0E4}"/>
              </a:ext>
            </a:extLst>
          </p:cNvPr>
          <p:cNvSpPr/>
          <p:nvPr/>
        </p:nvSpPr>
        <p:spPr>
          <a:xfrm>
            <a:off x="5477461" y="9128676"/>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1" name="Rectangle 30">
            <a:extLst>
              <a:ext uri="{FF2B5EF4-FFF2-40B4-BE49-F238E27FC236}">
                <a16:creationId xmlns:a16="http://schemas.microsoft.com/office/drawing/2014/main" id="{FB12ABF5-462E-6044-8D21-BD0BF63C4036}"/>
              </a:ext>
            </a:extLst>
          </p:cNvPr>
          <p:cNvSpPr/>
          <p:nvPr/>
        </p:nvSpPr>
        <p:spPr>
          <a:xfrm>
            <a:off x="6264484" y="912555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AC357ECC-A710-0A49-95CD-DEF7B6D6DED8}"/>
                  </a:ext>
                </a:extLst>
              </p:cNvPr>
              <p:cNvSpPr/>
              <p:nvPr/>
            </p:nvSpPr>
            <p:spPr>
              <a:xfrm>
                <a:off x="4990226" y="9085710"/>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2" name="Rectangle 31">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4990226" y="9085710"/>
                <a:ext cx="1381880" cy="369332"/>
              </a:xfrm>
              <a:prstGeom prst="rect">
                <a:avLst/>
              </a:prstGeom>
              <a:blipFill>
                <a:blip r:embed="rId8"/>
                <a:stretch>
                  <a:fillRect r="-12832" b="-16393"/>
                </a:stretch>
              </a:blipFill>
            </p:spPr>
            <p:txBody>
              <a:bodyPr/>
              <a:lstStyle/>
              <a:p>
                <a:r>
                  <a:rPr lang="en-US">
                    <a:noFill/>
                  </a:rPr>
                  <a:t> </a:t>
                </a:r>
              </a:p>
            </p:txBody>
          </p:sp>
        </mc:Fallback>
      </mc:AlternateContent>
    </p:spTree>
    <p:extLst>
      <p:ext uri="{BB962C8B-B14F-4D97-AF65-F5344CB8AC3E}">
        <p14:creationId xmlns:p14="http://schemas.microsoft.com/office/powerpoint/2010/main" val="9536050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14950" y="9597712"/>
            <a:ext cx="1543050" cy="527403"/>
          </a:xfrm>
        </p:spPr>
        <p:txBody>
          <a:bodyPr/>
          <a:lstStyle/>
          <a:p>
            <a:fld id="{19F1D9CC-7119-45EC-A96C-D8C0660F3AAB}" type="slidenum">
              <a:rPr lang="en-GB" noProof="0" smtClean="0"/>
              <a:t>46</a:t>
            </a:fld>
            <a:endParaRPr lang="en-GB" noProof="0" dirty="0"/>
          </a:p>
        </p:txBody>
      </p:sp>
      <p:sp>
        <p:nvSpPr>
          <p:cNvPr id="5" name="TextBox 4"/>
          <p:cNvSpPr txBox="1"/>
          <p:nvPr/>
        </p:nvSpPr>
        <p:spPr>
          <a:xfrm>
            <a:off x="173402" y="2171"/>
            <a:ext cx="5642732" cy="276999"/>
          </a:xfrm>
          <a:prstGeom prst="rect">
            <a:avLst/>
          </a:prstGeom>
          <a:noFill/>
        </p:spPr>
        <p:txBody>
          <a:bodyPr wrap="square" rtlCol="0">
            <a:spAutoFit/>
          </a:bodyPr>
          <a:lstStyle/>
          <a:p>
            <a:r>
              <a:rPr lang="en-GB" sz="1200" noProof="0" dirty="0"/>
              <a:t>3) Solve the simultaneous equations by rearranging and then using elimination. </a:t>
            </a:r>
            <a:endParaRPr lang="en-GB" sz="1200" b="1" noProof="0" dirty="0"/>
          </a:p>
        </p:txBody>
      </p:sp>
      <mc:AlternateContent xmlns:mc="http://schemas.openxmlformats.org/markup-compatibility/2006" xmlns:a14="http://schemas.microsoft.com/office/drawing/2010/main">
        <mc:Choice Requires="a14">
          <p:sp>
            <p:nvSpPr>
              <p:cNvPr id="6" name="TextBox 5"/>
              <p:cNvSpPr txBox="1"/>
              <p:nvPr/>
            </p:nvSpPr>
            <p:spPr>
              <a:xfrm>
                <a:off x="173402" y="463837"/>
                <a:ext cx="1418273" cy="646331"/>
              </a:xfrm>
              <a:prstGeom prst="rect">
                <a:avLst/>
              </a:prstGeom>
              <a:noFill/>
            </p:spPr>
            <p:txBody>
              <a:bodyPr wrap="none" rtlCol="0">
                <a:spAutoFit/>
              </a:bodyPr>
              <a:lstStyle/>
              <a:p>
                <a:pPr lvl="0" algn="ctr" defTabSz="685800">
                  <a:defRPr/>
                </a:pPr>
                <a:r>
                  <a:rPr lang="en-GB" sz="1200" noProof="0" dirty="0"/>
                  <a:t>a) </a:t>
                </a:r>
                <a14:m>
                  <m:oMath xmlns:m="http://schemas.openxmlformats.org/officeDocument/2006/math">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=10−</m:t>
                    </m:r>
                    <m:r>
                      <a:rPr lang="en-GB" sz="1200" b="0" i="1" noProof="0" smtClean="0">
                        <a:latin typeface="Cambria Math" panose="02040503050406030204" pitchFamily="18" charset="0"/>
                        <a:cs typeface="Calibri" panose="020F0502020204030204" pitchFamily="34" charset="0"/>
                      </a:rPr>
                      <m:t>𝑦</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=17</m:t>
                    </m:r>
                  </m:oMath>
                </a14:m>
                <a:r>
                  <a:rPr lang="en-GB" sz="1200" noProof="0" dirty="0">
                    <a:cs typeface="Calibri" panose="020F0502020204030204" pitchFamily="34" charset="0"/>
                  </a:rPr>
                  <a:t> (2)</a:t>
                </a:r>
              </a:p>
              <a:p>
                <a:r>
                  <a:rPr lang="en-GB" sz="1200" noProof="0" dirty="0"/>
                  <a:t> </a:t>
                </a:r>
              </a:p>
            </p:txBody>
          </p:sp>
        </mc:Choice>
        <mc:Fallback xmlns="">
          <p:sp>
            <p:nvSpPr>
              <p:cNvPr id="6" name="TextBox 5"/>
              <p:cNvSpPr txBox="1">
                <a:spLocks noRot="1" noChangeAspect="1" noMove="1" noResize="1" noEditPoints="1" noAdjustHandles="1" noChangeArrowheads="1" noChangeShapeType="1" noTextEdit="1"/>
              </p:cNvSpPr>
              <p:nvPr/>
            </p:nvSpPr>
            <p:spPr>
              <a:xfrm>
                <a:off x="173402" y="463837"/>
                <a:ext cx="1418273" cy="64633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627093" y="463836"/>
                <a:ext cx="1419428" cy="646331"/>
              </a:xfrm>
              <a:prstGeom prst="rect">
                <a:avLst/>
              </a:prstGeom>
              <a:noFill/>
            </p:spPr>
            <p:txBody>
              <a:bodyPr wrap="none" rtlCol="0">
                <a:spAutoFit/>
              </a:bodyPr>
              <a:lstStyle/>
              <a:p>
                <a:pPr lvl="0" algn="ctr" defTabSz="685800">
                  <a:defRPr/>
                </a:pPr>
                <a:r>
                  <a:rPr lang="en-GB" sz="1200" noProof="0" dirty="0"/>
                  <a:t>b)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−4</m:t>
                    </m:r>
                    <m:r>
                      <a:rPr lang="en-GB" sz="120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𝑦</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+3</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=12</m:t>
                    </m:r>
                  </m:oMath>
                </a14:m>
                <a:r>
                  <a:rPr lang="en-GB" sz="1200" noProof="0" dirty="0">
                    <a:cs typeface="Calibri" panose="020F0502020204030204" pitchFamily="34" charset="0"/>
                  </a:rPr>
                  <a:t> (2)</a:t>
                </a:r>
              </a:p>
              <a:p>
                <a:r>
                  <a:rPr lang="en-GB" sz="1200" noProof="0" dirty="0"/>
                  <a:t> </a:t>
                </a:r>
              </a:p>
            </p:txBody>
          </p:sp>
        </mc:Choice>
        <mc:Fallback xmlns="">
          <p:sp>
            <p:nvSpPr>
              <p:cNvPr id="7" name="TextBox 6"/>
              <p:cNvSpPr txBox="1">
                <a:spLocks noRot="1" noChangeAspect="1" noMove="1" noResize="1" noEditPoints="1" noAdjustHandles="1" noChangeArrowheads="1" noChangeShapeType="1" noTextEdit="1"/>
              </p:cNvSpPr>
              <p:nvPr/>
            </p:nvSpPr>
            <p:spPr>
              <a:xfrm>
                <a:off x="2627093" y="463836"/>
                <a:ext cx="1419428" cy="6463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918830" y="463836"/>
                <a:ext cx="1490409" cy="646331"/>
              </a:xfrm>
              <a:prstGeom prst="rect">
                <a:avLst/>
              </a:prstGeom>
              <a:noFill/>
            </p:spPr>
            <p:txBody>
              <a:bodyPr wrap="none" rtlCol="0">
                <a:spAutoFit/>
              </a:bodyPr>
              <a:lstStyle/>
              <a:p>
                <a:pPr lvl="0" algn="ctr" defTabSz="685800">
                  <a:defRPr/>
                </a:pPr>
                <a:r>
                  <a:rPr lang="en-GB" sz="1200" noProof="0" dirty="0"/>
                  <a:t>c) </a:t>
                </a:r>
                <a14:m>
                  <m:oMath xmlns:m="http://schemas.openxmlformats.org/officeDocument/2006/math">
                    <m:r>
                      <a:rPr lang="en-GB" sz="1200"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+6</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=4</m:t>
                    </m:r>
                  </m:oMath>
                </a14:m>
                <a:r>
                  <a:rPr lang="en-GB" sz="1200" noProof="0" dirty="0">
                    <a:cs typeface="Calibri" panose="020F0502020204030204" pitchFamily="34" charset="0"/>
                  </a:rPr>
                  <a:t>  (1)</a:t>
                </a:r>
              </a:p>
              <a:p>
                <a:pPr lvl="0" algn="ctr" defTabSz="685800">
                  <a:defRPr/>
                </a:pPr>
                <a:r>
                  <a:rPr lang="en-GB" sz="1200" noProof="0" dirty="0">
                    <a:cs typeface="Calibri" panose="020F0502020204030204" pitchFamily="34" charset="0"/>
                  </a:rPr>
                  <a:t>    </a:t>
                </a:r>
                <a14:m>
                  <m:oMath xmlns:m="http://schemas.openxmlformats.org/officeDocument/2006/math">
                    <m:r>
                      <a:rPr lang="en-GB" sz="120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=12+2</m:t>
                    </m:r>
                    <m:r>
                      <a:rPr lang="en-GB" sz="1200" b="0" i="1" noProof="0" smtClean="0">
                        <a:latin typeface="Cambria Math" panose="02040503050406030204" pitchFamily="18" charset="0"/>
                        <a:cs typeface="Calibri" panose="020F0502020204030204" pitchFamily="34" charset="0"/>
                      </a:rPr>
                      <m:t>𝑦</m:t>
                    </m:r>
                  </m:oMath>
                </a14:m>
                <a:r>
                  <a:rPr lang="en-GB" sz="1200" noProof="0" dirty="0">
                    <a:cs typeface="Calibri" panose="020F0502020204030204" pitchFamily="34" charset="0"/>
                  </a:rPr>
                  <a:t> (2)</a:t>
                </a:r>
              </a:p>
              <a:p>
                <a:r>
                  <a:rPr lang="en-GB" sz="1200" noProof="0" dirty="0"/>
                  <a:t> </a:t>
                </a:r>
              </a:p>
            </p:txBody>
          </p:sp>
        </mc:Choice>
        <mc:Fallback xmlns="">
          <p:sp>
            <p:nvSpPr>
              <p:cNvPr id="8" name="TextBox 7"/>
              <p:cNvSpPr txBox="1">
                <a:spLocks noRot="1" noChangeAspect="1" noMove="1" noResize="1" noEditPoints="1" noAdjustHandles="1" noChangeArrowheads="1" noChangeShapeType="1" noTextEdit="1"/>
              </p:cNvSpPr>
              <p:nvPr/>
            </p:nvSpPr>
            <p:spPr>
              <a:xfrm>
                <a:off x="4918830" y="463836"/>
                <a:ext cx="1490409" cy="646331"/>
              </a:xfrm>
              <a:prstGeom prst="rect">
                <a:avLst/>
              </a:prstGeom>
              <a:blipFill>
                <a:blip r:embed="rId4"/>
                <a:stretch>
                  <a:fillRect/>
                </a:stretch>
              </a:blipFill>
            </p:spPr>
            <p:txBody>
              <a:bodyPr/>
              <a:lstStyle/>
              <a:p>
                <a:r>
                  <a:rPr lang="en-US">
                    <a:noFill/>
                  </a:rPr>
                  <a:t> </a:t>
                </a:r>
              </a:p>
            </p:txBody>
          </p:sp>
        </mc:Fallback>
      </mc:AlternateContent>
      <p:sp>
        <p:nvSpPr>
          <p:cNvPr id="9" name="Rectangle 8"/>
          <p:cNvSpPr/>
          <p:nvPr/>
        </p:nvSpPr>
        <p:spPr>
          <a:xfrm>
            <a:off x="238597" y="884088"/>
            <a:ext cx="2119082"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Rectangle 9"/>
          <p:cNvSpPr/>
          <p:nvPr/>
        </p:nvSpPr>
        <p:spPr>
          <a:xfrm>
            <a:off x="2423632" y="884088"/>
            <a:ext cx="2097801"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Rectangle 10"/>
          <p:cNvSpPr/>
          <p:nvPr/>
        </p:nvSpPr>
        <p:spPr>
          <a:xfrm>
            <a:off x="4612549" y="884088"/>
            <a:ext cx="2097801"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Rectangle 11">
            <a:extLst>
              <a:ext uri="{FF2B5EF4-FFF2-40B4-BE49-F238E27FC236}">
                <a16:creationId xmlns:a16="http://schemas.microsoft.com/office/drawing/2014/main" id="{EFEA5655-F8B4-E44B-AD11-37BDE174E0E4}"/>
              </a:ext>
            </a:extLst>
          </p:cNvPr>
          <p:cNvSpPr/>
          <p:nvPr/>
        </p:nvSpPr>
        <p:spPr>
          <a:xfrm>
            <a:off x="1141656" y="4511742"/>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13" name="Rectangle 12">
            <a:extLst>
              <a:ext uri="{FF2B5EF4-FFF2-40B4-BE49-F238E27FC236}">
                <a16:creationId xmlns:a16="http://schemas.microsoft.com/office/drawing/2014/main" id="{FB12ABF5-462E-6044-8D21-BD0BF63C4036}"/>
              </a:ext>
            </a:extLst>
          </p:cNvPr>
          <p:cNvSpPr/>
          <p:nvPr/>
        </p:nvSpPr>
        <p:spPr>
          <a:xfrm>
            <a:off x="1928679" y="4508624"/>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AC357ECC-A710-0A49-95CD-DEF7B6D6DED8}"/>
                  </a:ext>
                </a:extLst>
              </p:cNvPr>
              <p:cNvSpPr/>
              <p:nvPr/>
            </p:nvSpPr>
            <p:spPr>
              <a:xfrm>
                <a:off x="654421" y="4468776"/>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14" name="Rectangle 13">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654421" y="4468776"/>
                <a:ext cx="1381880" cy="369332"/>
              </a:xfrm>
              <a:prstGeom prst="rect">
                <a:avLst/>
              </a:prstGeom>
              <a:blipFill>
                <a:blip r:embed="rId5"/>
                <a:stretch>
                  <a:fillRect r="-12335" b="-16393"/>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EFEA5655-F8B4-E44B-AD11-37BDE174E0E4}"/>
              </a:ext>
            </a:extLst>
          </p:cNvPr>
          <p:cNvSpPr/>
          <p:nvPr/>
        </p:nvSpPr>
        <p:spPr>
          <a:xfrm>
            <a:off x="3313707" y="4512477"/>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16" name="Rectangle 15">
            <a:extLst>
              <a:ext uri="{FF2B5EF4-FFF2-40B4-BE49-F238E27FC236}">
                <a16:creationId xmlns:a16="http://schemas.microsoft.com/office/drawing/2014/main" id="{FB12ABF5-462E-6044-8D21-BD0BF63C4036}"/>
              </a:ext>
            </a:extLst>
          </p:cNvPr>
          <p:cNvSpPr/>
          <p:nvPr/>
        </p:nvSpPr>
        <p:spPr>
          <a:xfrm>
            <a:off x="4100730" y="4509359"/>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AC357ECC-A710-0A49-95CD-DEF7B6D6DED8}"/>
                  </a:ext>
                </a:extLst>
              </p:cNvPr>
              <p:cNvSpPr/>
              <p:nvPr/>
            </p:nvSpPr>
            <p:spPr>
              <a:xfrm>
                <a:off x="2826472" y="4469511"/>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17" name="Rectangle 16">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2826472" y="4469511"/>
                <a:ext cx="1381880" cy="369332"/>
              </a:xfrm>
              <a:prstGeom prst="rect">
                <a:avLst/>
              </a:prstGeom>
              <a:blipFill>
                <a:blip r:embed="rId5"/>
                <a:stretch>
                  <a:fillRect r="-12832" b="-16393"/>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EFEA5655-F8B4-E44B-AD11-37BDE174E0E4}"/>
              </a:ext>
            </a:extLst>
          </p:cNvPr>
          <p:cNvSpPr/>
          <p:nvPr/>
        </p:nvSpPr>
        <p:spPr>
          <a:xfrm>
            <a:off x="5477461" y="451075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19" name="Rectangle 18">
            <a:extLst>
              <a:ext uri="{FF2B5EF4-FFF2-40B4-BE49-F238E27FC236}">
                <a16:creationId xmlns:a16="http://schemas.microsoft.com/office/drawing/2014/main" id="{FB12ABF5-462E-6044-8D21-BD0BF63C4036}"/>
              </a:ext>
            </a:extLst>
          </p:cNvPr>
          <p:cNvSpPr/>
          <p:nvPr/>
        </p:nvSpPr>
        <p:spPr>
          <a:xfrm>
            <a:off x="6264484" y="4507632"/>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AC357ECC-A710-0A49-95CD-DEF7B6D6DED8}"/>
                  </a:ext>
                </a:extLst>
              </p:cNvPr>
              <p:cNvSpPr/>
              <p:nvPr/>
            </p:nvSpPr>
            <p:spPr>
              <a:xfrm>
                <a:off x="4990226" y="4467784"/>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0" name="Rectangle 19">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4990226" y="4467784"/>
                <a:ext cx="1381880" cy="369332"/>
              </a:xfrm>
              <a:prstGeom prst="rect">
                <a:avLst/>
              </a:prstGeom>
              <a:blipFill>
                <a:blip r:embed="rId6"/>
                <a:stretch>
                  <a:fillRect r="-12832" b="-16667"/>
                </a:stretch>
              </a:blipFill>
            </p:spPr>
            <p:txBody>
              <a:bodyPr/>
              <a:lstStyle/>
              <a:p>
                <a:r>
                  <a:rPr lang="en-US">
                    <a:noFill/>
                  </a:rPr>
                  <a:t> </a:t>
                </a:r>
              </a:p>
            </p:txBody>
          </p:sp>
        </mc:Fallback>
      </mc:AlternateContent>
      <p:sp>
        <p:nvSpPr>
          <p:cNvPr id="27" name="Rectangle 26"/>
          <p:cNvSpPr/>
          <p:nvPr/>
        </p:nvSpPr>
        <p:spPr>
          <a:xfrm>
            <a:off x="265116" y="5104618"/>
            <a:ext cx="6445233" cy="1015663"/>
          </a:xfrm>
          <a:prstGeom prst="rect">
            <a:avLst/>
          </a:prstGeom>
        </p:spPr>
        <p:txBody>
          <a:bodyPr wrap="square">
            <a:spAutoFit/>
          </a:bodyPr>
          <a:lstStyle/>
          <a:p>
            <a:r>
              <a:rPr lang="en-GB" sz="1200" noProof="0" dirty="0"/>
              <a:t>4) Two cats and a dog cost £91. </a:t>
            </a:r>
          </a:p>
          <a:p>
            <a:r>
              <a:rPr lang="en-GB" sz="1200" noProof="0" dirty="0"/>
              <a:t>Three cats and two dogs cost £159. </a:t>
            </a:r>
          </a:p>
          <a:p>
            <a:r>
              <a:rPr lang="en-GB" sz="1200" noProof="0" dirty="0"/>
              <a:t>How much does a cat cost?</a:t>
            </a:r>
          </a:p>
          <a:p>
            <a:endParaRPr lang="en-GB" sz="1200" noProof="0" dirty="0"/>
          </a:p>
          <a:p>
            <a:r>
              <a:rPr lang="en-GB" sz="1200" noProof="0" dirty="0"/>
              <a:t>Hint: </a:t>
            </a:r>
            <a:r>
              <a:rPr lang="en-GB" sz="1200" b="1" noProof="0" dirty="0"/>
              <a:t>form equations </a:t>
            </a:r>
          </a:p>
        </p:txBody>
      </p:sp>
      <p:sp>
        <p:nvSpPr>
          <p:cNvPr id="28" name="Rectangle 27"/>
          <p:cNvSpPr/>
          <p:nvPr/>
        </p:nvSpPr>
        <p:spPr>
          <a:xfrm>
            <a:off x="246852" y="6331679"/>
            <a:ext cx="6463498" cy="32228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Tree>
    <p:extLst>
      <p:ext uri="{BB962C8B-B14F-4D97-AF65-F5344CB8AC3E}">
        <p14:creationId xmlns:p14="http://schemas.microsoft.com/office/powerpoint/2010/main" val="11236730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B4B8C-D767-A01A-F07C-8EDE95B6089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0BF0F6-3D48-2343-D677-C94438461A0F}"/>
              </a:ext>
            </a:extLst>
          </p:cNvPr>
          <p:cNvSpPr>
            <a:spLocks noGrp="1"/>
          </p:cNvSpPr>
          <p:nvPr>
            <p:ph type="sldNum" sz="quarter" idx="12"/>
          </p:nvPr>
        </p:nvSpPr>
        <p:spPr>
          <a:xfrm>
            <a:off x="5399292" y="9579067"/>
            <a:ext cx="1543050" cy="527403"/>
          </a:xfrm>
        </p:spPr>
        <p:txBody>
          <a:bodyPr/>
          <a:lstStyle/>
          <a:p>
            <a:fld id="{19F1D9CC-7119-45EC-A96C-D8C0660F3AAB}" type="slidenum">
              <a:rPr lang="en-GB" noProof="0" smtClean="0"/>
              <a:t>47</a:t>
            </a:fld>
            <a:endParaRPr lang="en-GB" noProof="0" dirty="0"/>
          </a:p>
        </p:txBody>
      </p:sp>
      <p:sp>
        <p:nvSpPr>
          <p:cNvPr id="3" name="Rectangle 2">
            <a:extLst>
              <a:ext uri="{FF2B5EF4-FFF2-40B4-BE49-F238E27FC236}">
                <a16:creationId xmlns:a16="http://schemas.microsoft.com/office/drawing/2014/main" id="{C05DCC9F-22C1-D312-DAFF-00E9D4831B6A}"/>
              </a:ext>
            </a:extLst>
          </p:cNvPr>
          <p:cNvSpPr/>
          <p:nvPr/>
        </p:nvSpPr>
        <p:spPr>
          <a:xfrm>
            <a:off x="105113" y="335811"/>
            <a:ext cx="6647773" cy="15283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ysClr val="windowText" lastClr="000000"/>
              </a:solidFill>
            </a:endParaRPr>
          </a:p>
        </p:txBody>
      </p:sp>
      <p:sp>
        <p:nvSpPr>
          <p:cNvPr id="4" name="TextBox 3">
            <a:extLst>
              <a:ext uri="{FF2B5EF4-FFF2-40B4-BE49-F238E27FC236}">
                <a16:creationId xmlns:a16="http://schemas.microsoft.com/office/drawing/2014/main" id="{5BC44D76-0056-E470-CD4A-E34116E23B42}"/>
              </a:ext>
            </a:extLst>
          </p:cNvPr>
          <p:cNvSpPr txBox="1"/>
          <p:nvPr/>
        </p:nvSpPr>
        <p:spPr>
          <a:xfrm>
            <a:off x="150921" y="693673"/>
            <a:ext cx="1181457" cy="276999"/>
          </a:xfrm>
          <a:prstGeom prst="rect">
            <a:avLst/>
          </a:prstGeom>
          <a:noFill/>
        </p:spPr>
        <p:txBody>
          <a:bodyPr wrap="square" rtlCol="0">
            <a:spAutoFit/>
          </a:bodyPr>
          <a:lstStyle/>
          <a:p>
            <a:r>
              <a:rPr lang="en-GB" sz="1200" b="1" noProof="0" dirty="0"/>
              <a:t>Objectives:</a:t>
            </a:r>
          </a:p>
        </p:txBody>
      </p:sp>
      <p:sp>
        <p:nvSpPr>
          <p:cNvPr id="5" name="TextBox 4">
            <a:extLst>
              <a:ext uri="{FF2B5EF4-FFF2-40B4-BE49-F238E27FC236}">
                <a16:creationId xmlns:a16="http://schemas.microsoft.com/office/drawing/2014/main" id="{A7E9C25A-2183-2DDB-452E-EDAF7513B25A}"/>
              </a:ext>
            </a:extLst>
          </p:cNvPr>
          <p:cNvSpPr txBox="1"/>
          <p:nvPr/>
        </p:nvSpPr>
        <p:spPr>
          <a:xfrm>
            <a:off x="159388" y="860257"/>
            <a:ext cx="4486037" cy="1015663"/>
          </a:xfrm>
          <a:prstGeom prst="rect">
            <a:avLst/>
          </a:prstGeom>
          <a:noFill/>
        </p:spPr>
        <p:txBody>
          <a:bodyPr wrap="square" rtlCol="0">
            <a:spAutoFit/>
          </a:bodyPr>
          <a:lstStyle/>
          <a:p>
            <a:pPr marL="342900" indent="-342900">
              <a:buFont typeface="+mj-lt"/>
              <a:buAutoNum type="arabicPeriod"/>
              <a:defRPr/>
            </a:pPr>
            <a:r>
              <a:rPr lang="en-GB" sz="1200" noProof="0" dirty="0"/>
              <a:t>To recognise simultaneous equations in worded problems.</a:t>
            </a:r>
          </a:p>
          <a:p>
            <a:pPr marL="342900" indent="-342900">
              <a:buFont typeface="+mj-lt"/>
              <a:buAutoNum type="arabicPeriod"/>
              <a:defRPr/>
            </a:pPr>
            <a:r>
              <a:rPr lang="en-GB" sz="1200" noProof="0" dirty="0"/>
              <a:t>To be able to write worded problems as two coherent simultaneous equations, and solve these.</a:t>
            </a:r>
          </a:p>
          <a:p>
            <a:pPr marL="342900" indent="-342900">
              <a:buFont typeface="+mj-lt"/>
              <a:buAutoNum type="arabicPeriod"/>
              <a:defRPr/>
            </a:pPr>
            <a:r>
              <a:rPr lang="en-GB" sz="1200" noProof="0" dirty="0"/>
              <a:t>To be able to interpret the answers to worded simultaneous equations problems.</a:t>
            </a:r>
          </a:p>
        </p:txBody>
      </p:sp>
      <p:sp>
        <p:nvSpPr>
          <p:cNvPr id="6" name="TextBox 5">
            <a:extLst>
              <a:ext uri="{FF2B5EF4-FFF2-40B4-BE49-F238E27FC236}">
                <a16:creationId xmlns:a16="http://schemas.microsoft.com/office/drawing/2014/main" id="{70A7656B-8A4A-D907-3378-DB336988E47E}"/>
              </a:ext>
            </a:extLst>
          </p:cNvPr>
          <p:cNvSpPr txBox="1"/>
          <p:nvPr/>
        </p:nvSpPr>
        <p:spPr>
          <a:xfrm>
            <a:off x="223370" y="407430"/>
            <a:ext cx="6411256" cy="276999"/>
          </a:xfrm>
          <a:prstGeom prst="rect">
            <a:avLst/>
          </a:prstGeom>
          <a:noFill/>
          <a:ln>
            <a:solidFill>
              <a:schemeClr val="tx1"/>
            </a:solidFill>
          </a:ln>
        </p:spPr>
        <p:txBody>
          <a:bodyPr wrap="square" rtlCol="0">
            <a:spAutoFit/>
          </a:bodyPr>
          <a:lstStyle/>
          <a:p>
            <a:pPr algn="ctr"/>
            <a:r>
              <a:rPr lang="en-GB" sz="1200" b="1" noProof="0" dirty="0"/>
              <a:t>LEARNING OUTCOME: To solve simultaneous equations in worded problems</a:t>
            </a:r>
            <a:endParaRPr lang="en-GB" sz="1200" noProof="0" dirty="0"/>
          </a:p>
        </p:txBody>
      </p:sp>
      <p:sp>
        <p:nvSpPr>
          <p:cNvPr id="7" name="TextBox 6">
            <a:extLst>
              <a:ext uri="{FF2B5EF4-FFF2-40B4-BE49-F238E27FC236}">
                <a16:creationId xmlns:a16="http://schemas.microsoft.com/office/drawing/2014/main" id="{9A2FA265-3F16-6EA5-E7A5-87688C1D58A0}"/>
              </a:ext>
            </a:extLst>
          </p:cNvPr>
          <p:cNvSpPr txBox="1"/>
          <p:nvPr/>
        </p:nvSpPr>
        <p:spPr>
          <a:xfrm>
            <a:off x="4893447" y="791347"/>
            <a:ext cx="1741179" cy="707886"/>
          </a:xfrm>
          <a:prstGeom prst="rect">
            <a:avLst/>
          </a:prstGeom>
          <a:noFill/>
          <a:ln w="12700">
            <a:solidFill>
              <a:schemeClr val="tx1"/>
            </a:solidFill>
          </a:ln>
        </p:spPr>
        <p:txBody>
          <a:bodyPr wrap="square" rtlCol="0">
            <a:spAutoFit/>
          </a:bodyPr>
          <a:lstStyle/>
          <a:p>
            <a:r>
              <a:rPr lang="en-GB" sz="1000" b="1" u="sng" noProof="0" dirty="0"/>
              <a:t>Keywords:</a:t>
            </a:r>
            <a:endParaRPr lang="en-GB" sz="1000" noProof="0" dirty="0"/>
          </a:p>
          <a:p>
            <a:pPr marL="285750" indent="-285750">
              <a:buFont typeface=".AppleSystemUIFont" charset="-120"/>
              <a:buChar char="-"/>
            </a:pPr>
            <a:r>
              <a:rPr lang="en-GB" sz="1000" noProof="0" dirty="0"/>
              <a:t>Simultaneous equations</a:t>
            </a:r>
          </a:p>
          <a:p>
            <a:pPr marL="285750" indent="-285750">
              <a:buFont typeface=".AppleSystemUIFont" charset="-120"/>
              <a:buChar char="-"/>
            </a:pPr>
            <a:r>
              <a:rPr lang="en-GB" sz="1000" noProof="0" dirty="0"/>
              <a:t>Linear equations</a:t>
            </a:r>
          </a:p>
          <a:p>
            <a:pPr marL="285750" indent="-285750">
              <a:buFont typeface=".AppleSystemUIFont" charset="-120"/>
              <a:buChar char="-"/>
            </a:pPr>
            <a:r>
              <a:rPr lang="en-GB" sz="1000" noProof="0" dirty="0"/>
              <a:t>Equivalent equations</a:t>
            </a:r>
          </a:p>
        </p:txBody>
      </p:sp>
      <p:sp>
        <p:nvSpPr>
          <p:cNvPr id="8" name="Rectangle 7">
            <a:extLst>
              <a:ext uri="{FF2B5EF4-FFF2-40B4-BE49-F238E27FC236}">
                <a16:creationId xmlns:a16="http://schemas.microsoft.com/office/drawing/2014/main" id="{61F0CEF3-0D78-7362-7A07-67E0943115EB}"/>
              </a:ext>
            </a:extLst>
          </p:cNvPr>
          <p:cNvSpPr/>
          <p:nvPr/>
        </p:nvSpPr>
        <p:spPr>
          <a:xfrm>
            <a:off x="0" y="-68"/>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t>Subtopic 3c – Simultaneous equations – Worded Problems </a:t>
            </a:r>
            <a:endParaRPr lang="en-GB" sz="1600" b="1" noProof="0" dirty="0"/>
          </a:p>
        </p:txBody>
      </p:sp>
      <p:cxnSp>
        <p:nvCxnSpPr>
          <p:cNvPr id="23" name="Straight Connector 22">
            <a:extLst>
              <a:ext uri="{FF2B5EF4-FFF2-40B4-BE49-F238E27FC236}">
                <a16:creationId xmlns:a16="http://schemas.microsoft.com/office/drawing/2014/main" id="{1753C4A0-EC87-9CB6-E089-9796FE653913}"/>
              </a:ext>
            </a:extLst>
          </p:cNvPr>
          <p:cNvCxnSpPr/>
          <p:nvPr/>
        </p:nvCxnSpPr>
        <p:spPr>
          <a:xfrm flipV="1">
            <a:off x="942039" y="3731417"/>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98E9C4C0-8BDB-CC79-B6E5-20333C0BF0B7}"/>
              </a:ext>
            </a:extLst>
          </p:cNvPr>
          <p:cNvSpPr/>
          <p:nvPr/>
        </p:nvSpPr>
        <p:spPr>
          <a:xfrm>
            <a:off x="125893" y="1971069"/>
            <a:ext cx="6645064" cy="242768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25" name="Straight Connector 24">
            <a:extLst>
              <a:ext uri="{FF2B5EF4-FFF2-40B4-BE49-F238E27FC236}">
                <a16:creationId xmlns:a16="http://schemas.microsoft.com/office/drawing/2014/main" id="{4A68364D-43C6-2E30-0C06-B16706F7C983}"/>
              </a:ext>
            </a:extLst>
          </p:cNvPr>
          <p:cNvCxnSpPr/>
          <p:nvPr/>
        </p:nvCxnSpPr>
        <p:spPr>
          <a:xfrm>
            <a:off x="120260" y="3058829"/>
            <a:ext cx="6672688" cy="15941"/>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52997670-7852-6F1F-3912-CA494CD39CF4}"/>
              </a:ext>
            </a:extLst>
          </p:cNvPr>
          <p:cNvCxnSpPr>
            <a:stCxn id="24" idx="2"/>
            <a:endCxn id="24" idx="0"/>
          </p:cNvCxnSpPr>
          <p:nvPr/>
        </p:nvCxnSpPr>
        <p:spPr>
          <a:xfrm flipV="1">
            <a:off x="3448425" y="1971069"/>
            <a:ext cx="0" cy="2427683"/>
          </a:xfrm>
          <a:prstGeom prst="line">
            <a:avLst/>
          </a:prstGeom>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FF2B14B9-8002-B8E2-729D-F9DB9D324531}"/>
              </a:ext>
            </a:extLst>
          </p:cNvPr>
          <p:cNvSpPr txBox="1"/>
          <p:nvPr/>
        </p:nvSpPr>
        <p:spPr>
          <a:xfrm>
            <a:off x="105113" y="1961691"/>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28" name="TextBox 27">
            <a:extLst>
              <a:ext uri="{FF2B5EF4-FFF2-40B4-BE49-F238E27FC236}">
                <a16:creationId xmlns:a16="http://schemas.microsoft.com/office/drawing/2014/main" id="{BA1D328C-2F2F-AFA8-0876-D30E17D0C27E}"/>
              </a:ext>
            </a:extLst>
          </p:cNvPr>
          <p:cNvSpPr txBox="1"/>
          <p:nvPr/>
        </p:nvSpPr>
        <p:spPr>
          <a:xfrm>
            <a:off x="5629164" y="1929305"/>
            <a:ext cx="1112228" cy="276999"/>
          </a:xfrm>
          <a:prstGeom prst="rect">
            <a:avLst/>
          </a:prstGeom>
          <a:noFill/>
        </p:spPr>
        <p:txBody>
          <a:bodyPr wrap="none" rtlCol="0">
            <a:spAutoFit/>
          </a:bodyPr>
          <a:lstStyle/>
          <a:p>
            <a:r>
              <a:rPr lang="en-GB" sz="1200" b="1" noProof="0" dirty="0"/>
              <a:t>Characteristics</a:t>
            </a:r>
          </a:p>
        </p:txBody>
      </p:sp>
      <p:sp>
        <p:nvSpPr>
          <p:cNvPr id="29" name="TextBox 28">
            <a:extLst>
              <a:ext uri="{FF2B5EF4-FFF2-40B4-BE49-F238E27FC236}">
                <a16:creationId xmlns:a16="http://schemas.microsoft.com/office/drawing/2014/main" id="{56766C1F-0F8C-C396-C4F9-9F797DB97752}"/>
              </a:ext>
            </a:extLst>
          </p:cNvPr>
          <p:cNvSpPr txBox="1"/>
          <p:nvPr/>
        </p:nvSpPr>
        <p:spPr>
          <a:xfrm>
            <a:off x="120260" y="3058829"/>
            <a:ext cx="788164" cy="276999"/>
          </a:xfrm>
          <a:prstGeom prst="rect">
            <a:avLst/>
          </a:prstGeom>
          <a:noFill/>
        </p:spPr>
        <p:txBody>
          <a:bodyPr wrap="none" rtlCol="0">
            <a:spAutoFit/>
          </a:bodyPr>
          <a:lstStyle/>
          <a:p>
            <a:r>
              <a:rPr lang="en-GB" sz="1200" b="1" noProof="0" dirty="0"/>
              <a:t>Examples</a:t>
            </a:r>
          </a:p>
        </p:txBody>
      </p:sp>
      <p:sp>
        <p:nvSpPr>
          <p:cNvPr id="30" name="TextBox 29">
            <a:extLst>
              <a:ext uri="{FF2B5EF4-FFF2-40B4-BE49-F238E27FC236}">
                <a16:creationId xmlns:a16="http://schemas.microsoft.com/office/drawing/2014/main" id="{9AC09CD3-95BF-1912-9F8A-85A0A4B67F21}"/>
              </a:ext>
            </a:extLst>
          </p:cNvPr>
          <p:cNvSpPr txBox="1"/>
          <p:nvPr/>
        </p:nvSpPr>
        <p:spPr>
          <a:xfrm>
            <a:off x="5557677" y="3034448"/>
            <a:ext cx="1172885" cy="276999"/>
          </a:xfrm>
          <a:prstGeom prst="rect">
            <a:avLst/>
          </a:prstGeom>
          <a:noFill/>
        </p:spPr>
        <p:txBody>
          <a:bodyPr wrap="none" rtlCol="0">
            <a:spAutoFit/>
          </a:bodyPr>
          <a:lstStyle/>
          <a:p>
            <a:r>
              <a:rPr lang="en-GB" sz="1200" b="1" noProof="0" dirty="0"/>
              <a:t>Non - Examples</a:t>
            </a:r>
          </a:p>
        </p:txBody>
      </p:sp>
      <p:sp>
        <p:nvSpPr>
          <p:cNvPr id="31" name="TextBox 30">
            <a:extLst>
              <a:ext uri="{FF2B5EF4-FFF2-40B4-BE49-F238E27FC236}">
                <a16:creationId xmlns:a16="http://schemas.microsoft.com/office/drawing/2014/main" id="{3B36D1BD-8BBA-5795-0C12-F27AFE5A20E1}"/>
              </a:ext>
            </a:extLst>
          </p:cNvPr>
          <p:cNvSpPr txBox="1"/>
          <p:nvPr/>
        </p:nvSpPr>
        <p:spPr>
          <a:xfrm>
            <a:off x="125892" y="2202748"/>
            <a:ext cx="3230335" cy="461665"/>
          </a:xfrm>
          <a:prstGeom prst="rect">
            <a:avLst/>
          </a:prstGeom>
          <a:noFill/>
        </p:spPr>
        <p:txBody>
          <a:bodyPr wrap="square" rtlCol="0">
            <a:spAutoFit/>
          </a:bodyPr>
          <a:lstStyle/>
          <a:p>
            <a:r>
              <a:rPr lang="en-GB" sz="1200" noProof="0" dirty="0"/>
              <a:t>Two equations that form straight lines that </a:t>
            </a:r>
            <a:r>
              <a:rPr lang="en-GB" sz="1200" b="1" noProof="0" dirty="0"/>
              <a:t>intersect at one point. </a:t>
            </a:r>
          </a:p>
        </p:txBody>
      </p:sp>
      <p:sp>
        <p:nvSpPr>
          <p:cNvPr id="32" name="TextBox 31">
            <a:extLst>
              <a:ext uri="{FF2B5EF4-FFF2-40B4-BE49-F238E27FC236}">
                <a16:creationId xmlns:a16="http://schemas.microsoft.com/office/drawing/2014/main" id="{D01666C1-85D1-46E5-D579-E153E3C3C054}"/>
              </a:ext>
            </a:extLst>
          </p:cNvPr>
          <p:cNvSpPr txBox="1"/>
          <p:nvPr/>
        </p:nvSpPr>
        <p:spPr>
          <a:xfrm>
            <a:off x="3500227" y="2131386"/>
            <a:ext cx="3230335" cy="646331"/>
          </a:xfrm>
          <a:prstGeom prst="rect">
            <a:avLst/>
          </a:prstGeom>
          <a:noFill/>
        </p:spPr>
        <p:txBody>
          <a:bodyPr wrap="square" rtlCol="0">
            <a:spAutoFit/>
          </a:bodyPr>
          <a:lstStyle/>
          <a:p>
            <a:r>
              <a:rPr lang="en-GB" sz="1200" noProof="0" dirty="0"/>
              <a:t>Linear simultaneous equations are two straight line equations that have an intersection point (this means they cross on the graph). </a:t>
            </a:r>
          </a:p>
        </p:txBody>
      </p:sp>
      <p:sp>
        <p:nvSpPr>
          <p:cNvPr id="33" name="TextBox 32">
            <a:extLst>
              <a:ext uri="{FF2B5EF4-FFF2-40B4-BE49-F238E27FC236}">
                <a16:creationId xmlns:a16="http://schemas.microsoft.com/office/drawing/2014/main" id="{73D902C3-FBD4-4281-8FA6-3A7182EAD047}"/>
              </a:ext>
            </a:extLst>
          </p:cNvPr>
          <p:cNvSpPr txBox="1"/>
          <p:nvPr/>
        </p:nvSpPr>
        <p:spPr>
          <a:xfrm>
            <a:off x="2282746" y="2889648"/>
            <a:ext cx="2441566" cy="369332"/>
          </a:xfrm>
          <a:prstGeom prst="rect">
            <a:avLst/>
          </a:prstGeom>
          <a:solidFill>
            <a:schemeClr val="bg1"/>
          </a:solidFill>
          <a:ln>
            <a:solidFill>
              <a:schemeClr val="tx1"/>
            </a:solidFill>
          </a:ln>
        </p:spPr>
        <p:txBody>
          <a:bodyPr wrap="none" rtlCol="0">
            <a:spAutoFit/>
          </a:bodyPr>
          <a:lstStyle/>
          <a:p>
            <a:r>
              <a:rPr lang="en-GB" noProof="0" dirty="0"/>
              <a:t>Simultaneous equations</a:t>
            </a:r>
          </a:p>
        </p:txBody>
      </p:sp>
      <p:pic>
        <p:nvPicPr>
          <p:cNvPr id="34" name="Picture 33">
            <a:extLst>
              <a:ext uri="{FF2B5EF4-FFF2-40B4-BE49-F238E27FC236}">
                <a16:creationId xmlns:a16="http://schemas.microsoft.com/office/drawing/2014/main" id="{601BFE51-2626-BA62-23FE-31BF5784C2F3}"/>
              </a:ext>
            </a:extLst>
          </p:cNvPr>
          <p:cNvPicPr>
            <a:picLocks noChangeAspect="1"/>
          </p:cNvPicPr>
          <p:nvPr/>
        </p:nvPicPr>
        <p:blipFill>
          <a:blip r:embed="rId3"/>
          <a:stretch>
            <a:fillRect/>
          </a:stretch>
        </p:blipFill>
        <p:spPr>
          <a:xfrm>
            <a:off x="152785" y="3384665"/>
            <a:ext cx="1275899" cy="881468"/>
          </a:xfrm>
          <a:prstGeom prst="rect">
            <a:avLst/>
          </a:prstGeom>
        </p:spPr>
      </p:pic>
      <p:sp>
        <p:nvSpPr>
          <p:cNvPr id="35" name="TextBox 34">
            <a:extLst>
              <a:ext uri="{FF2B5EF4-FFF2-40B4-BE49-F238E27FC236}">
                <a16:creationId xmlns:a16="http://schemas.microsoft.com/office/drawing/2014/main" id="{FA4E8F09-022E-AAB6-1458-8DDAFB82451F}"/>
              </a:ext>
            </a:extLst>
          </p:cNvPr>
          <p:cNvSpPr txBox="1"/>
          <p:nvPr/>
        </p:nvSpPr>
        <p:spPr>
          <a:xfrm>
            <a:off x="1454191" y="3484671"/>
            <a:ext cx="2201286" cy="646331"/>
          </a:xfrm>
          <a:prstGeom prst="rect">
            <a:avLst/>
          </a:prstGeom>
          <a:noFill/>
        </p:spPr>
        <p:txBody>
          <a:bodyPr wrap="square" rtlCol="0">
            <a:spAutoFit/>
          </a:bodyPr>
          <a:lstStyle/>
          <a:p>
            <a:r>
              <a:rPr lang="en-GB" sz="1200" noProof="0" dirty="0"/>
              <a:t>These are simultaneous equations because they </a:t>
            </a:r>
            <a:r>
              <a:rPr lang="en-GB" sz="1200" b="1" noProof="0" dirty="0"/>
              <a:t>intersect</a:t>
            </a:r>
            <a:r>
              <a:rPr lang="en-GB" sz="1200" noProof="0" dirty="0"/>
              <a:t> at a point. </a:t>
            </a:r>
            <a:endParaRPr lang="en-GB" sz="1200" b="1" noProof="0" dirty="0"/>
          </a:p>
        </p:txBody>
      </p:sp>
      <p:pic>
        <p:nvPicPr>
          <p:cNvPr id="36" name="Picture 35">
            <a:extLst>
              <a:ext uri="{FF2B5EF4-FFF2-40B4-BE49-F238E27FC236}">
                <a16:creationId xmlns:a16="http://schemas.microsoft.com/office/drawing/2014/main" id="{AA2609C3-D217-7587-ED28-67630197C52A}"/>
              </a:ext>
            </a:extLst>
          </p:cNvPr>
          <p:cNvPicPr>
            <a:picLocks noChangeAspect="1"/>
          </p:cNvPicPr>
          <p:nvPr/>
        </p:nvPicPr>
        <p:blipFill>
          <a:blip r:embed="rId4"/>
          <a:stretch>
            <a:fillRect/>
          </a:stretch>
        </p:blipFill>
        <p:spPr>
          <a:xfrm>
            <a:off x="3573421" y="3419970"/>
            <a:ext cx="1136681" cy="809410"/>
          </a:xfrm>
          <a:prstGeom prst="rect">
            <a:avLst/>
          </a:prstGeom>
        </p:spPr>
      </p:pic>
      <p:sp>
        <p:nvSpPr>
          <p:cNvPr id="39" name="TextBox 38">
            <a:extLst>
              <a:ext uri="{FF2B5EF4-FFF2-40B4-BE49-F238E27FC236}">
                <a16:creationId xmlns:a16="http://schemas.microsoft.com/office/drawing/2014/main" id="{FD605B48-4F8E-0C98-3367-FA4063C7E6A5}"/>
              </a:ext>
            </a:extLst>
          </p:cNvPr>
          <p:cNvSpPr txBox="1"/>
          <p:nvPr/>
        </p:nvSpPr>
        <p:spPr>
          <a:xfrm>
            <a:off x="4699089" y="3285334"/>
            <a:ext cx="1928165" cy="646331"/>
          </a:xfrm>
          <a:prstGeom prst="rect">
            <a:avLst/>
          </a:prstGeom>
          <a:noFill/>
        </p:spPr>
        <p:txBody>
          <a:bodyPr wrap="square" rtlCol="0">
            <a:spAutoFit/>
          </a:bodyPr>
          <a:lstStyle/>
          <a:p>
            <a:r>
              <a:rPr lang="en-GB" sz="1200" noProof="0" dirty="0"/>
              <a:t>These equations do not intersect, therefore they are not simultaneous. </a:t>
            </a:r>
            <a:endParaRPr lang="en-GB" sz="1200" b="1" noProof="0" dirty="0"/>
          </a:p>
        </p:txBody>
      </p:sp>
      <p:sp>
        <p:nvSpPr>
          <p:cNvPr id="9" name="TextBox 8">
            <a:extLst>
              <a:ext uri="{FF2B5EF4-FFF2-40B4-BE49-F238E27FC236}">
                <a16:creationId xmlns:a16="http://schemas.microsoft.com/office/drawing/2014/main" id="{D001C98C-5393-39B6-DF2E-768A51C9F079}"/>
              </a:ext>
            </a:extLst>
          </p:cNvPr>
          <p:cNvSpPr txBox="1"/>
          <p:nvPr/>
        </p:nvSpPr>
        <p:spPr>
          <a:xfrm>
            <a:off x="213460" y="5263665"/>
            <a:ext cx="1410704" cy="276999"/>
          </a:xfrm>
          <a:prstGeom prst="rect">
            <a:avLst/>
          </a:prstGeom>
          <a:noFill/>
          <a:ln>
            <a:noFill/>
          </a:ln>
        </p:spPr>
        <p:txBody>
          <a:bodyPr wrap="square" rtlCol="0">
            <a:spAutoFit/>
          </a:bodyPr>
          <a:lstStyle/>
          <a:p>
            <a:r>
              <a:rPr lang="en-GB" sz="1200" b="1" i="1" noProof="0" dirty="0">
                <a:solidFill>
                  <a:srgbClr val="FF0000"/>
                </a:solidFill>
              </a:rPr>
              <a:t>Example 1 - I do…</a:t>
            </a:r>
          </a:p>
        </p:txBody>
      </p:sp>
      <p:sp>
        <p:nvSpPr>
          <p:cNvPr id="10" name="Rectangle 9">
            <a:extLst>
              <a:ext uri="{FF2B5EF4-FFF2-40B4-BE49-F238E27FC236}">
                <a16:creationId xmlns:a16="http://schemas.microsoft.com/office/drawing/2014/main" id="{74C92662-0EED-E8C7-DCE1-984402AD2E85}"/>
              </a:ext>
            </a:extLst>
          </p:cNvPr>
          <p:cNvSpPr/>
          <p:nvPr/>
        </p:nvSpPr>
        <p:spPr>
          <a:xfrm>
            <a:off x="253486" y="5492081"/>
            <a:ext cx="6305550" cy="428190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David buys 2 scones and 2 coffees in a shop and the cost is £18. </a:t>
            </a:r>
          </a:p>
          <a:p>
            <a:pPr marL="0" marR="0" lvl="0" indent="0"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Eliza buys 3 scones and 2 coffees in the same shop and they cost £22. </a:t>
            </a:r>
          </a:p>
          <a:p>
            <a:pPr marL="0" marR="0" lvl="0" indent="0"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Find the cost of each scone and each coffee.</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0" i="0" baseline="0" noProof="0" dirty="0">
              <a:solidFill>
                <a:schemeClr val="tx1"/>
              </a:solidFill>
              <a:cs typeface="Calibri" panose="020F0502020204030204" pitchFamily="34" charset="0"/>
            </a:endParaRPr>
          </a:p>
        </p:txBody>
      </p:sp>
      <p:sp>
        <p:nvSpPr>
          <p:cNvPr id="11" name="TextBox 10">
            <a:extLst>
              <a:ext uri="{FF2B5EF4-FFF2-40B4-BE49-F238E27FC236}">
                <a16:creationId xmlns:a16="http://schemas.microsoft.com/office/drawing/2014/main" id="{2BDADCC2-49BB-46A5-DE7D-B4B3BC710A82}"/>
              </a:ext>
            </a:extLst>
          </p:cNvPr>
          <p:cNvSpPr txBox="1"/>
          <p:nvPr/>
        </p:nvSpPr>
        <p:spPr>
          <a:xfrm>
            <a:off x="161941" y="4462128"/>
            <a:ext cx="6613227" cy="830997"/>
          </a:xfrm>
          <a:prstGeom prst="rect">
            <a:avLst/>
          </a:prstGeom>
          <a:noFill/>
        </p:spPr>
        <p:txBody>
          <a:bodyPr wrap="square">
            <a:spAutoFit/>
          </a:bodyPr>
          <a:lstStyle/>
          <a:p>
            <a:pPr marR="0" lvl="0" algn="l" defTabSz="685800" rtl="0" eaLnBrk="1" fontAlgn="auto" latinLnBrk="0" hangingPunct="1">
              <a:lnSpc>
                <a:spcPct val="100000"/>
              </a:lnSpc>
              <a:spcBef>
                <a:spcPts val="0"/>
              </a:spcBef>
              <a:spcAft>
                <a:spcPts val="0"/>
              </a:spcAft>
              <a:buClrTx/>
              <a:buSzTx/>
              <a:tabLst/>
              <a:defRPr/>
            </a:pPr>
            <a:r>
              <a:rPr lang="en-GB" sz="1200" b="1" i="0" u="sng" baseline="0" noProof="0" dirty="0">
                <a:solidFill>
                  <a:schemeClr val="tx1"/>
                </a:solidFill>
                <a:cs typeface="Calibri" panose="020F0502020204030204" pitchFamily="34" charset="0"/>
              </a:rPr>
              <a:t>Key steps</a:t>
            </a:r>
          </a:p>
          <a:p>
            <a:pPr marL="228600" marR="0" lvl="0" indent="-228600" algn="l" defTabSz="685800" rtl="0" eaLnBrk="1" fontAlgn="auto" latinLnBrk="0" hangingPunct="1">
              <a:lnSpc>
                <a:spcPct val="100000"/>
              </a:lnSpc>
              <a:spcBef>
                <a:spcPts val="0"/>
              </a:spcBef>
              <a:spcAft>
                <a:spcPts val="0"/>
              </a:spcAft>
              <a:buClrTx/>
              <a:buSzTx/>
              <a:buFontTx/>
              <a:buAutoNum type="arabicParenR"/>
              <a:tabLst/>
              <a:defRPr/>
            </a:pPr>
            <a:r>
              <a:rPr lang="en-GB" sz="1200" b="0" i="0" baseline="0" noProof="0" dirty="0">
                <a:solidFill>
                  <a:schemeClr val="tx1"/>
                </a:solidFill>
                <a:cs typeface="Calibri" panose="020F0502020204030204" pitchFamily="34" charset="0"/>
              </a:rPr>
              <a:t>Convert each sentence to an equation.</a:t>
            </a:r>
          </a:p>
          <a:p>
            <a:pPr marL="228600" indent="-228600" defTabSz="685800">
              <a:buFontTx/>
              <a:buAutoNum type="arabicParenR"/>
              <a:defRPr/>
            </a:pPr>
            <a:r>
              <a:rPr lang="en-GB" sz="1200" b="0" i="0" baseline="0" noProof="0" dirty="0">
                <a:solidFill>
                  <a:schemeClr val="tx1"/>
                </a:solidFill>
                <a:cs typeface="Calibri" panose="020F0502020204030204" pitchFamily="34" charset="0"/>
              </a:rPr>
              <a:t>Solve the simultaneous equations.</a:t>
            </a:r>
            <a:endParaRPr lang="en-GB" sz="1200" b="0" i="0" noProof="0" dirty="0">
              <a:solidFill>
                <a:schemeClr val="tx1"/>
              </a:solidFill>
              <a:cs typeface="Calibri" panose="020F0502020204030204" pitchFamily="34" charset="0"/>
            </a:endParaRPr>
          </a:p>
          <a:p>
            <a:pPr marL="228600" marR="0" lvl="0" indent="-228600" algn="l" defTabSz="685800" rtl="0" eaLnBrk="1" fontAlgn="auto" latinLnBrk="0" hangingPunct="1">
              <a:lnSpc>
                <a:spcPct val="100000"/>
              </a:lnSpc>
              <a:spcBef>
                <a:spcPts val="0"/>
              </a:spcBef>
              <a:spcAft>
                <a:spcPts val="0"/>
              </a:spcAft>
              <a:buClrTx/>
              <a:buSzTx/>
              <a:buFontTx/>
              <a:buAutoNum type="arabicParenR"/>
              <a:tabLst/>
              <a:defRPr/>
            </a:pPr>
            <a:r>
              <a:rPr lang="en-GB" sz="1200" noProof="0" dirty="0">
                <a:cs typeface="Calibri" panose="020F0502020204030204" pitchFamily="34" charset="0"/>
              </a:rPr>
              <a:t>Answer the question.</a:t>
            </a:r>
            <a:endParaRPr lang="en-GB" sz="1200" b="0" i="0" baseline="0" noProof="0" dirty="0">
              <a:solidFill>
                <a:schemeClr val="tx1"/>
              </a:solidFill>
              <a:cs typeface="Calibri" panose="020F0502020204030204" pitchFamily="34" charset="0"/>
            </a:endParaRPr>
          </a:p>
        </p:txBody>
      </p:sp>
    </p:spTree>
    <p:extLst>
      <p:ext uri="{BB962C8B-B14F-4D97-AF65-F5344CB8AC3E}">
        <p14:creationId xmlns:p14="http://schemas.microsoft.com/office/powerpoint/2010/main" val="41959193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DA5BBB-8CAF-E173-2B51-73C381C67A0F}"/>
              </a:ext>
            </a:extLst>
          </p:cNvPr>
          <p:cNvSpPr>
            <a:spLocks noGrp="1"/>
          </p:cNvSpPr>
          <p:nvPr>
            <p:ph type="sldNum" sz="quarter" idx="12"/>
          </p:nvPr>
        </p:nvSpPr>
        <p:spPr>
          <a:xfrm>
            <a:off x="5180348" y="9402779"/>
            <a:ext cx="1543050" cy="527403"/>
          </a:xfrm>
        </p:spPr>
        <p:txBody>
          <a:bodyPr/>
          <a:lstStyle/>
          <a:p>
            <a:fld id="{19F1D9CC-7119-45EC-A96C-D8C0660F3AAB}" type="slidenum">
              <a:rPr lang="en-GB" noProof="0" smtClean="0"/>
              <a:t>48</a:t>
            </a:fld>
            <a:endParaRPr lang="en-GB" noProof="0" dirty="0"/>
          </a:p>
        </p:txBody>
      </p:sp>
      <p:sp>
        <p:nvSpPr>
          <p:cNvPr id="3" name="TextBox 2">
            <a:extLst>
              <a:ext uri="{FF2B5EF4-FFF2-40B4-BE49-F238E27FC236}">
                <a16:creationId xmlns:a16="http://schemas.microsoft.com/office/drawing/2014/main" id="{E3541F87-1199-EFAD-84DD-BEE9EDF115B5}"/>
              </a:ext>
            </a:extLst>
          </p:cNvPr>
          <p:cNvSpPr txBox="1"/>
          <p:nvPr/>
        </p:nvSpPr>
        <p:spPr>
          <a:xfrm>
            <a:off x="170768" y="26969"/>
            <a:ext cx="1643405" cy="276999"/>
          </a:xfrm>
          <a:prstGeom prst="rect">
            <a:avLst/>
          </a:prstGeom>
          <a:noFill/>
          <a:ln>
            <a:noFill/>
          </a:ln>
        </p:spPr>
        <p:txBody>
          <a:bodyPr wrap="square" rtlCol="0">
            <a:spAutoFit/>
          </a:bodyPr>
          <a:lstStyle/>
          <a:p>
            <a:r>
              <a:rPr lang="en-GB" sz="1200" b="1" i="1" noProof="0" dirty="0">
                <a:solidFill>
                  <a:schemeClr val="accent2"/>
                </a:solidFill>
              </a:rPr>
              <a:t>Example 2 – We do…</a:t>
            </a:r>
          </a:p>
        </p:txBody>
      </p:sp>
      <p:sp>
        <p:nvSpPr>
          <p:cNvPr id="4" name="Rectangle 3">
            <a:extLst>
              <a:ext uri="{FF2B5EF4-FFF2-40B4-BE49-F238E27FC236}">
                <a16:creationId xmlns:a16="http://schemas.microsoft.com/office/drawing/2014/main" id="{3BBA3912-059C-3F5B-AF40-91489BDB7591}"/>
              </a:ext>
            </a:extLst>
          </p:cNvPr>
          <p:cNvSpPr/>
          <p:nvPr/>
        </p:nvSpPr>
        <p:spPr>
          <a:xfrm>
            <a:off x="253486" y="281262"/>
            <a:ext cx="6305550" cy="428190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The cost of buying a coffee and a tea in a café is £4.</a:t>
            </a:r>
          </a:p>
          <a:p>
            <a:pPr marL="0" marR="0" lvl="0" indent="0"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The cost of buying a coffee and three teas in a café is £7. </a:t>
            </a:r>
          </a:p>
          <a:p>
            <a:pPr marL="0" marR="0" lvl="0" indent="0"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Work out the cost of buying 2 coffees and the cost of buying 3 teas. </a:t>
            </a:r>
          </a:p>
        </p:txBody>
      </p:sp>
      <p:sp>
        <p:nvSpPr>
          <p:cNvPr id="5" name="TextBox 4">
            <a:extLst>
              <a:ext uri="{FF2B5EF4-FFF2-40B4-BE49-F238E27FC236}">
                <a16:creationId xmlns:a16="http://schemas.microsoft.com/office/drawing/2014/main" id="{27B259B7-DC20-5F48-9037-9009EBA85BFE}"/>
              </a:ext>
            </a:extLst>
          </p:cNvPr>
          <p:cNvSpPr txBox="1"/>
          <p:nvPr/>
        </p:nvSpPr>
        <p:spPr>
          <a:xfrm>
            <a:off x="172594" y="4774139"/>
            <a:ext cx="1643405" cy="276999"/>
          </a:xfrm>
          <a:prstGeom prst="rect">
            <a:avLst/>
          </a:prstGeom>
          <a:noFill/>
          <a:ln>
            <a:noFill/>
          </a:ln>
        </p:spPr>
        <p:txBody>
          <a:bodyPr wrap="square" rtlCol="0">
            <a:spAutoFit/>
          </a:bodyPr>
          <a:lstStyle/>
          <a:p>
            <a:r>
              <a:rPr lang="en-GB" sz="1200" b="1" i="1" noProof="0" dirty="0">
                <a:solidFill>
                  <a:srgbClr val="00B050"/>
                </a:solidFill>
              </a:rPr>
              <a:t>Example 3 – You do…</a:t>
            </a:r>
          </a:p>
        </p:txBody>
      </p:sp>
      <p:sp>
        <p:nvSpPr>
          <p:cNvPr id="6" name="Rectangle 5">
            <a:extLst>
              <a:ext uri="{FF2B5EF4-FFF2-40B4-BE49-F238E27FC236}">
                <a16:creationId xmlns:a16="http://schemas.microsoft.com/office/drawing/2014/main" id="{2E91C95C-37EA-D98D-52A9-180E73CCE34A}"/>
              </a:ext>
            </a:extLst>
          </p:cNvPr>
          <p:cNvSpPr/>
          <p:nvPr/>
        </p:nvSpPr>
        <p:spPr>
          <a:xfrm>
            <a:off x="260756" y="5014455"/>
            <a:ext cx="6305550" cy="435709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Five adult tickets and three child tickets for a movie cost £58. </a:t>
            </a:r>
          </a:p>
          <a:p>
            <a:pPr marL="0" marR="0" lvl="0" indent="0"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Two adult tickets and eight child tickets for a movie cost £47.</a:t>
            </a:r>
          </a:p>
          <a:p>
            <a:pPr marL="0" marR="0" lvl="0" indent="0"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Find the cost of each type of ticket. </a:t>
            </a:r>
          </a:p>
        </p:txBody>
      </p:sp>
    </p:spTree>
    <p:extLst>
      <p:ext uri="{BB962C8B-B14F-4D97-AF65-F5344CB8AC3E}">
        <p14:creationId xmlns:p14="http://schemas.microsoft.com/office/powerpoint/2010/main" val="25990614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14950" y="9469935"/>
            <a:ext cx="1543050" cy="527403"/>
          </a:xfrm>
        </p:spPr>
        <p:txBody>
          <a:bodyPr/>
          <a:lstStyle/>
          <a:p>
            <a:fld id="{19F1D9CC-7119-45EC-A96C-D8C0660F3AAB}" type="slidenum">
              <a:rPr lang="en-GB" noProof="0" smtClean="0"/>
              <a:t>49</a:t>
            </a:fld>
            <a:endParaRPr lang="en-GB" noProof="0" dirty="0"/>
          </a:p>
        </p:txBody>
      </p:sp>
      <p:sp>
        <p:nvSpPr>
          <p:cNvPr id="10" name="Rectangle 9"/>
          <p:cNvSpPr/>
          <p:nvPr/>
        </p:nvSpPr>
        <p:spPr>
          <a:xfrm>
            <a:off x="238597" y="344133"/>
            <a:ext cx="6364560" cy="30251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u="sng" noProof="0" dirty="0">
              <a:solidFill>
                <a:schemeClr val="tx1"/>
              </a:solidFill>
            </a:endParaRPr>
          </a:p>
        </p:txBody>
      </p:sp>
      <p:sp>
        <p:nvSpPr>
          <p:cNvPr id="38" name="Rectangle 37"/>
          <p:cNvSpPr/>
          <p:nvPr/>
        </p:nvSpPr>
        <p:spPr>
          <a:xfrm>
            <a:off x="238597" y="3488296"/>
            <a:ext cx="6364560" cy="30251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u="sng" noProof="0" dirty="0"/>
          </a:p>
        </p:txBody>
      </p:sp>
      <p:sp>
        <p:nvSpPr>
          <p:cNvPr id="39" name="Rectangle 38"/>
          <p:cNvSpPr/>
          <p:nvPr/>
        </p:nvSpPr>
        <p:spPr>
          <a:xfrm>
            <a:off x="238597" y="6632458"/>
            <a:ext cx="6364560" cy="30251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u="sng" noProof="0" dirty="0"/>
          </a:p>
        </p:txBody>
      </p:sp>
      <p:sp>
        <p:nvSpPr>
          <p:cNvPr id="40" name="TextBox 39"/>
          <p:cNvSpPr txBox="1"/>
          <p:nvPr/>
        </p:nvSpPr>
        <p:spPr>
          <a:xfrm>
            <a:off x="238597" y="3488295"/>
            <a:ext cx="6364560" cy="830997"/>
          </a:xfrm>
          <a:prstGeom prst="rect">
            <a:avLst/>
          </a:prstGeom>
          <a:noFill/>
        </p:spPr>
        <p:txBody>
          <a:bodyPr wrap="square" rtlCol="0">
            <a:spAutoFit/>
          </a:bodyPr>
          <a:lstStyle/>
          <a:p>
            <a:r>
              <a:rPr lang="en-GB" sz="1200" noProof="0" dirty="0"/>
              <a:t>b) A plumber charges a price for each hour, £h, and a fixed charge, £c.</a:t>
            </a:r>
          </a:p>
          <a:p>
            <a:r>
              <a:rPr lang="en-GB" sz="1200" noProof="0" dirty="0"/>
              <a:t> A 5 hour job costs £155 in total. </a:t>
            </a:r>
          </a:p>
          <a:p>
            <a:r>
              <a:rPr lang="en-GB" sz="1200" noProof="0" dirty="0"/>
              <a:t>A 8 hour job costs £230 in total. </a:t>
            </a:r>
          </a:p>
          <a:p>
            <a:r>
              <a:rPr lang="en-GB" sz="1200" noProof="0" dirty="0"/>
              <a:t>How much would a job that lasts 2 hours cost? </a:t>
            </a:r>
          </a:p>
        </p:txBody>
      </p:sp>
      <p:sp>
        <p:nvSpPr>
          <p:cNvPr id="41" name="TextBox 40"/>
          <p:cNvSpPr txBox="1"/>
          <p:nvPr/>
        </p:nvSpPr>
        <p:spPr>
          <a:xfrm>
            <a:off x="254843" y="365547"/>
            <a:ext cx="6364560" cy="830997"/>
          </a:xfrm>
          <a:prstGeom prst="rect">
            <a:avLst/>
          </a:prstGeom>
          <a:noFill/>
        </p:spPr>
        <p:txBody>
          <a:bodyPr wrap="square" rtlCol="0">
            <a:spAutoFit/>
          </a:bodyPr>
          <a:lstStyle/>
          <a:p>
            <a:r>
              <a:rPr lang="en-GB" sz="1200" noProof="0" dirty="0"/>
              <a:t>a) Sweets are sold in small packs and in big packs. </a:t>
            </a:r>
          </a:p>
          <a:p>
            <a:r>
              <a:rPr lang="en-GB" sz="1200" noProof="0" dirty="0"/>
              <a:t>There is a total of 175 sweets in 4 small packs and 3 big packs. </a:t>
            </a:r>
          </a:p>
          <a:p>
            <a:r>
              <a:rPr lang="en-GB" sz="1200" noProof="0" dirty="0"/>
              <a:t>There is a total of 154 sweets in 5 small packs and 2 big packs. </a:t>
            </a:r>
          </a:p>
          <a:p>
            <a:r>
              <a:rPr lang="en-GB" sz="1200" noProof="0" dirty="0"/>
              <a:t>Work out the number of sweets in each small pack and in each big pack. </a:t>
            </a:r>
          </a:p>
        </p:txBody>
      </p:sp>
      <p:sp>
        <p:nvSpPr>
          <p:cNvPr id="3" name="TextBox 2">
            <a:extLst>
              <a:ext uri="{FF2B5EF4-FFF2-40B4-BE49-F238E27FC236}">
                <a16:creationId xmlns:a16="http://schemas.microsoft.com/office/drawing/2014/main" id="{0E4BDC87-2474-C0D7-36D6-8707D0D18156}"/>
              </a:ext>
            </a:extLst>
          </p:cNvPr>
          <p:cNvSpPr txBox="1"/>
          <p:nvPr/>
        </p:nvSpPr>
        <p:spPr>
          <a:xfrm>
            <a:off x="397094" y="47342"/>
            <a:ext cx="4620374" cy="276999"/>
          </a:xfrm>
          <a:prstGeom prst="rect">
            <a:avLst/>
          </a:prstGeom>
          <a:noFill/>
        </p:spPr>
        <p:txBody>
          <a:bodyPr wrap="square" rtlCol="0">
            <a:spAutoFit/>
          </a:bodyPr>
          <a:lstStyle/>
          <a:p>
            <a:pPr algn="ctr"/>
            <a:r>
              <a:rPr lang="en-GB" sz="1200" noProof="0" dirty="0"/>
              <a:t>1. Solve the following</a:t>
            </a:r>
            <a:endParaRPr lang="en-GB" sz="1200" b="1" noProof="0" dirty="0"/>
          </a:p>
        </p:txBody>
      </p:sp>
      <p:sp>
        <p:nvSpPr>
          <p:cNvPr id="4" name="TextBox 3">
            <a:extLst>
              <a:ext uri="{FF2B5EF4-FFF2-40B4-BE49-F238E27FC236}">
                <a16:creationId xmlns:a16="http://schemas.microsoft.com/office/drawing/2014/main" id="{47537245-F832-3A2B-D2B9-1E076DC876AD}"/>
              </a:ext>
            </a:extLst>
          </p:cNvPr>
          <p:cNvSpPr txBox="1"/>
          <p:nvPr/>
        </p:nvSpPr>
        <p:spPr>
          <a:xfrm>
            <a:off x="167299" y="27551"/>
            <a:ext cx="1762598" cy="276999"/>
          </a:xfrm>
          <a:prstGeom prst="rect">
            <a:avLst/>
          </a:prstGeom>
          <a:solidFill>
            <a:srgbClr val="0070C0"/>
          </a:solidFill>
        </p:spPr>
        <p:txBody>
          <a:bodyPr wrap="none" rtlCol="0" anchor="ctr">
            <a:spAutoFit/>
          </a:bodyPr>
          <a:lstStyle/>
          <a:p>
            <a:pPr algn="r"/>
            <a:r>
              <a:rPr lang="en-GB" sz="1200" b="1" noProof="0" dirty="0">
                <a:solidFill>
                  <a:schemeClr val="bg1"/>
                </a:solidFill>
              </a:rPr>
              <a:t>INDEPENDENT PRACTICE</a:t>
            </a:r>
          </a:p>
        </p:txBody>
      </p:sp>
      <p:sp>
        <p:nvSpPr>
          <p:cNvPr id="7" name="TextBox 6">
            <a:extLst>
              <a:ext uri="{FF2B5EF4-FFF2-40B4-BE49-F238E27FC236}">
                <a16:creationId xmlns:a16="http://schemas.microsoft.com/office/drawing/2014/main" id="{BEDFB90C-18C2-5260-5A5A-FC2C911F0DA5}"/>
              </a:ext>
            </a:extLst>
          </p:cNvPr>
          <p:cNvSpPr txBox="1"/>
          <p:nvPr/>
        </p:nvSpPr>
        <p:spPr>
          <a:xfrm>
            <a:off x="213583" y="6632458"/>
            <a:ext cx="6364560" cy="830997"/>
          </a:xfrm>
          <a:prstGeom prst="rect">
            <a:avLst/>
          </a:prstGeom>
          <a:noFill/>
        </p:spPr>
        <p:txBody>
          <a:bodyPr wrap="square">
            <a:spAutoFit/>
          </a:bodyPr>
          <a:lstStyle/>
          <a:p>
            <a:r>
              <a:rPr lang="en-GB" sz="1200" noProof="0" dirty="0"/>
              <a:t>c) The sum of Rosemary’s age and Hannah’s age is 102 years. </a:t>
            </a:r>
          </a:p>
          <a:p>
            <a:r>
              <a:rPr lang="en-GB" sz="1200" noProof="0" dirty="0"/>
              <a:t>The difference between Rosemary’s age and Hannah’s age is 52 years. </a:t>
            </a:r>
          </a:p>
          <a:p>
            <a:r>
              <a:rPr lang="en-GB" sz="1200" noProof="0" dirty="0"/>
              <a:t>Rosemary is older than Hannah. </a:t>
            </a:r>
          </a:p>
          <a:p>
            <a:r>
              <a:rPr lang="en-GB" sz="1200" noProof="0" dirty="0"/>
              <a:t>Find the age of each woman by using simultaneous equations. </a:t>
            </a:r>
          </a:p>
        </p:txBody>
      </p:sp>
    </p:spTree>
    <p:extLst>
      <p:ext uri="{BB962C8B-B14F-4D97-AF65-F5344CB8AC3E}">
        <p14:creationId xmlns:p14="http://schemas.microsoft.com/office/powerpoint/2010/main" val="36511281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14950" y="9469935"/>
            <a:ext cx="1543050" cy="527403"/>
          </a:xfrm>
        </p:spPr>
        <p:txBody>
          <a:bodyPr/>
          <a:lstStyle/>
          <a:p>
            <a:fld id="{19F1D9CC-7119-45EC-A96C-D8C0660F3AAB}" type="slidenum">
              <a:rPr lang="en-GB" noProof="0" smtClean="0"/>
              <a:t>50</a:t>
            </a:fld>
            <a:endParaRPr lang="en-GB" noProof="0" dirty="0"/>
          </a:p>
        </p:txBody>
      </p:sp>
      <p:sp>
        <p:nvSpPr>
          <p:cNvPr id="37" name="TextBox 36"/>
          <p:cNvSpPr txBox="1"/>
          <p:nvPr/>
        </p:nvSpPr>
        <p:spPr>
          <a:xfrm>
            <a:off x="0" y="10292"/>
            <a:ext cx="4620374" cy="276999"/>
          </a:xfrm>
          <a:prstGeom prst="rect">
            <a:avLst/>
          </a:prstGeom>
          <a:noFill/>
        </p:spPr>
        <p:txBody>
          <a:bodyPr wrap="square" rtlCol="0">
            <a:spAutoFit/>
          </a:bodyPr>
          <a:lstStyle/>
          <a:p>
            <a:r>
              <a:rPr lang="en-GB" sz="1200" noProof="0" dirty="0"/>
              <a:t>3. Solve the following </a:t>
            </a:r>
          </a:p>
        </p:txBody>
      </p:sp>
      <p:sp>
        <p:nvSpPr>
          <p:cNvPr id="10" name="Rectangle 9"/>
          <p:cNvSpPr/>
          <p:nvPr/>
        </p:nvSpPr>
        <p:spPr>
          <a:xfrm>
            <a:off x="238597" y="344133"/>
            <a:ext cx="6364560" cy="30251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u="sng" noProof="0" dirty="0">
              <a:solidFill>
                <a:schemeClr val="tx1"/>
              </a:solidFill>
            </a:endParaRPr>
          </a:p>
        </p:txBody>
      </p:sp>
      <p:sp>
        <p:nvSpPr>
          <p:cNvPr id="38" name="Rectangle 37"/>
          <p:cNvSpPr/>
          <p:nvPr/>
        </p:nvSpPr>
        <p:spPr>
          <a:xfrm>
            <a:off x="238597" y="3488296"/>
            <a:ext cx="6364560" cy="30251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u="sng" noProof="0" dirty="0"/>
          </a:p>
        </p:txBody>
      </p:sp>
      <p:sp>
        <p:nvSpPr>
          <p:cNvPr id="39" name="Rectangle 38"/>
          <p:cNvSpPr/>
          <p:nvPr/>
        </p:nvSpPr>
        <p:spPr>
          <a:xfrm>
            <a:off x="238597" y="6632458"/>
            <a:ext cx="6364560" cy="30251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u="sng" noProof="0" dirty="0"/>
          </a:p>
        </p:txBody>
      </p:sp>
      <p:sp>
        <p:nvSpPr>
          <p:cNvPr id="41" name="TextBox 40"/>
          <p:cNvSpPr txBox="1"/>
          <p:nvPr/>
        </p:nvSpPr>
        <p:spPr>
          <a:xfrm>
            <a:off x="238597" y="6636589"/>
            <a:ext cx="6364560" cy="1200329"/>
          </a:xfrm>
          <a:prstGeom prst="rect">
            <a:avLst/>
          </a:prstGeom>
          <a:noFill/>
        </p:spPr>
        <p:txBody>
          <a:bodyPr wrap="square" rtlCol="0">
            <a:spAutoFit/>
          </a:bodyPr>
          <a:lstStyle/>
          <a:p>
            <a:r>
              <a:rPr lang="en-GB" sz="1200" noProof="0" dirty="0"/>
              <a:t>c) </a:t>
            </a:r>
            <a:r>
              <a:rPr lang="en-GB" sz="1200" noProof="0" dirty="0">
                <a:solidFill>
                  <a:srgbClr val="000000"/>
                </a:solidFill>
                <a:latin typeface="Calibri" panose="020F0502020204030204" pitchFamily="34" charset="0"/>
                <a:cs typeface="Calibri" panose="020F0502020204030204" pitchFamily="34" charset="0"/>
              </a:rPr>
              <a:t>Five bags of bark and four trays of pansies cost £24.50. </a:t>
            </a:r>
            <a:br>
              <a:rPr lang="en-GB" sz="1200" noProof="0" dirty="0">
                <a:solidFill>
                  <a:srgbClr val="000000"/>
                </a:solidFill>
                <a:latin typeface="Calibri" panose="020F0502020204030204" pitchFamily="34" charset="0"/>
                <a:cs typeface="Calibri" panose="020F0502020204030204" pitchFamily="34" charset="0"/>
              </a:rPr>
            </a:br>
            <a:r>
              <a:rPr lang="en-GB" sz="1200" noProof="0" dirty="0">
                <a:solidFill>
                  <a:srgbClr val="000000"/>
                </a:solidFill>
                <a:latin typeface="Calibri" panose="020F0502020204030204" pitchFamily="34" charset="0"/>
                <a:cs typeface="Calibri" panose="020F0502020204030204" pitchFamily="34" charset="0"/>
              </a:rPr>
              <a:t>One bag of bark and five trays of pansies cost £12.25. </a:t>
            </a:r>
            <a:br>
              <a:rPr lang="en-GB" sz="1200" noProof="0" dirty="0">
                <a:solidFill>
                  <a:srgbClr val="000000"/>
                </a:solidFill>
                <a:latin typeface="Calibri" panose="020F0502020204030204" pitchFamily="34" charset="0"/>
                <a:cs typeface="Calibri" panose="020F0502020204030204" pitchFamily="34" charset="0"/>
              </a:rPr>
            </a:br>
            <a:r>
              <a:rPr lang="en-GB" sz="1200" noProof="0" dirty="0">
                <a:solidFill>
                  <a:srgbClr val="000000"/>
                </a:solidFill>
                <a:latin typeface="Calibri" panose="020F0502020204030204" pitchFamily="34" charset="0"/>
                <a:cs typeface="Calibri" panose="020F0502020204030204" pitchFamily="34" charset="0"/>
              </a:rPr>
              <a:t>Camilla wants six bags of bark and eight trays of pansies. </a:t>
            </a:r>
            <a:br>
              <a:rPr lang="en-GB" sz="1200" noProof="0" dirty="0">
                <a:solidFill>
                  <a:srgbClr val="000000"/>
                </a:solidFill>
                <a:latin typeface="Calibri" panose="020F0502020204030204" pitchFamily="34" charset="0"/>
                <a:cs typeface="Calibri" panose="020F0502020204030204" pitchFamily="34" charset="0"/>
              </a:rPr>
            </a:br>
            <a:r>
              <a:rPr lang="en-GB" sz="1200" noProof="0" dirty="0">
                <a:solidFill>
                  <a:srgbClr val="000000"/>
                </a:solidFill>
                <a:latin typeface="Calibri" panose="020F0502020204030204" pitchFamily="34" charset="0"/>
                <a:cs typeface="Calibri" panose="020F0502020204030204" pitchFamily="34" charset="0"/>
              </a:rPr>
              <a:t>She has £30. </a:t>
            </a:r>
            <a:br>
              <a:rPr lang="en-GB" sz="1200" noProof="0" dirty="0">
                <a:solidFill>
                  <a:srgbClr val="000000"/>
                </a:solidFill>
                <a:latin typeface="Calibri" panose="020F0502020204030204" pitchFamily="34" charset="0"/>
                <a:cs typeface="Calibri" panose="020F0502020204030204" pitchFamily="34" charset="0"/>
              </a:rPr>
            </a:br>
            <a:r>
              <a:rPr lang="en-GB" sz="1200" noProof="0" dirty="0">
                <a:solidFill>
                  <a:srgbClr val="000000"/>
                </a:solidFill>
                <a:latin typeface="Calibri" panose="020F0502020204030204" pitchFamily="34" charset="0"/>
                <a:cs typeface="Calibri" panose="020F0502020204030204" pitchFamily="34" charset="0"/>
              </a:rPr>
              <a:t>Will she have enough money?</a:t>
            </a:r>
          </a:p>
          <a:p>
            <a:r>
              <a:rPr lang="en-GB" sz="1200" noProof="0" dirty="0"/>
              <a:t> </a:t>
            </a:r>
          </a:p>
        </p:txBody>
      </p:sp>
      <p:sp>
        <p:nvSpPr>
          <p:cNvPr id="11" name="TextBox 10">
            <a:extLst>
              <a:ext uri="{FF2B5EF4-FFF2-40B4-BE49-F238E27FC236}">
                <a16:creationId xmlns:a16="http://schemas.microsoft.com/office/drawing/2014/main" id="{872FF1CD-CF65-6016-79F9-DFCAD6D16FC6}"/>
              </a:ext>
            </a:extLst>
          </p:cNvPr>
          <p:cNvSpPr txBox="1"/>
          <p:nvPr/>
        </p:nvSpPr>
        <p:spPr>
          <a:xfrm>
            <a:off x="238597" y="344132"/>
            <a:ext cx="4867807" cy="830997"/>
          </a:xfrm>
          <a:prstGeom prst="rect">
            <a:avLst/>
          </a:prstGeom>
          <a:noFill/>
        </p:spPr>
        <p:txBody>
          <a:bodyPr wrap="none" rtlCol="0">
            <a:spAutoFit/>
          </a:bodyPr>
          <a:lstStyle/>
          <a:p>
            <a:pPr algn="l"/>
            <a:r>
              <a:rPr lang="en-GB" sz="1200" noProof="0" dirty="0">
                <a:solidFill>
                  <a:srgbClr val="000000"/>
                </a:solidFill>
                <a:latin typeface="+mj-lt"/>
                <a:cs typeface="Calibri" panose="020F0502020204030204" pitchFamily="34" charset="0"/>
              </a:rPr>
              <a:t>a)</a:t>
            </a:r>
            <a:r>
              <a:rPr lang="en-GB" sz="1200" i="0" noProof="0" dirty="0">
                <a:solidFill>
                  <a:srgbClr val="000000"/>
                </a:solidFill>
                <a:effectLst/>
                <a:latin typeface="+mj-lt"/>
                <a:cs typeface="Calibri" panose="020F0502020204030204" pitchFamily="34" charset="0"/>
              </a:rPr>
              <a:t>  Four sacks of potatoes and two sacks of carrots weigh 188 lb.</a:t>
            </a:r>
          </a:p>
          <a:p>
            <a:pPr marL="177800" indent="-177800" algn="l"/>
            <a:r>
              <a:rPr lang="en-GB" sz="1200" i="0" noProof="0" dirty="0">
                <a:solidFill>
                  <a:srgbClr val="000000"/>
                </a:solidFill>
                <a:effectLst/>
                <a:latin typeface="+mj-lt"/>
                <a:cs typeface="Calibri" panose="020F0502020204030204" pitchFamily="34" charset="0"/>
              </a:rPr>
              <a:t>	Five sacks of potatoes and one sack of carrots weigh 202 lb.</a:t>
            </a:r>
          </a:p>
          <a:p>
            <a:pPr marL="177800" indent="-177800" algn="l"/>
            <a:r>
              <a:rPr lang="en-GB" sz="1200" i="0" noProof="0" dirty="0">
                <a:solidFill>
                  <a:srgbClr val="000000"/>
                </a:solidFill>
                <a:effectLst/>
                <a:latin typeface="+mj-lt"/>
                <a:cs typeface="Calibri" panose="020F0502020204030204" pitchFamily="34" charset="0"/>
              </a:rPr>
              <a:t>	Baz buys seven sacks of potatoes and eight sacks of carrots.</a:t>
            </a:r>
          </a:p>
          <a:p>
            <a:pPr marL="177800" indent="-177800" algn="l"/>
            <a:r>
              <a:rPr lang="en-GB" sz="1200" i="0" noProof="0" dirty="0">
                <a:solidFill>
                  <a:srgbClr val="000000"/>
                </a:solidFill>
                <a:effectLst/>
                <a:latin typeface="+mj-lt"/>
                <a:cs typeface="Calibri" panose="020F0502020204030204" pitchFamily="34" charset="0"/>
              </a:rPr>
              <a:t>	Will he be able to carry them in his trailer, which can safely carry 450 lb?</a:t>
            </a:r>
          </a:p>
        </p:txBody>
      </p:sp>
      <p:sp>
        <p:nvSpPr>
          <p:cNvPr id="13" name="TextBox 12">
            <a:extLst>
              <a:ext uri="{FF2B5EF4-FFF2-40B4-BE49-F238E27FC236}">
                <a16:creationId xmlns:a16="http://schemas.microsoft.com/office/drawing/2014/main" id="{D8A8B24A-0DC5-A49D-E15D-E0B712855434}"/>
              </a:ext>
            </a:extLst>
          </p:cNvPr>
          <p:cNvSpPr txBox="1"/>
          <p:nvPr/>
        </p:nvSpPr>
        <p:spPr>
          <a:xfrm>
            <a:off x="231469" y="3509768"/>
            <a:ext cx="6088374" cy="461665"/>
          </a:xfrm>
          <a:prstGeom prst="rect">
            <a:avLst/>
          </a:prstGeom>
          <a:noFill/>
        </p:spPr>
        <p:txBody>
          <a:bodyPr wrap="square" rtlCol="0">
            <a:spAutoFit/>
          </a:bodyPr>
          <a:lstStyle/>
          <a:p>
            <a:pPr marL="177800" indent="-177800"/>
            <a:r>
              <a:rPr lang="en-GB" sz="1200" noProof="0" dirty="0"/>
              <a:t>b) </a:t>
            </a:r>
            <a:r>
              <a:rPr lang="en-GB" sz="1200" b="0" i="0" noProof="0" dirty="0">
                <a:solidFill>
                  <a:srgbClr val="000000"/>
                </a:solidFill>
                <a:effectLst/>
                <a:latin typeface="Calibri" panose="020F0502020204030204" pitchFamily="34" charset="0"/>
                <a:cs typeface="Calibri" panose="020F0502020204030204" pitchFamily="34" charset="0"/>
              </a:rPr>
              <a:t>In this sequence, the next term is found by multiplying the previous term by </a:t>
            </a:r>
            <a:r>
              <a:rPr lang="en-GB" sz="1200" b="0" i="1" noProof="0" dirty="0">
                <a:solidFill>
                  <a:srgbClr val="000000"/>
                </a:solidFill>
                <a:effectLst/>
                <a:latin typeface="Times" pitchFamily="2" charset="0"/>
              </a:rPr>
              <a:t>a</a:t>
            </a:r>
            <a:r>
              <a:rPr lang="en-GB" sz="1200" b="0" i="0" noProof="0" dirty="0">
                <a:solidFill>
                  <a:srgbClr val="000000"/>
                </a:solidFill>
                <a:effectLst/>
                <a:latin typeface="Times" pitchFamily="2" charset="0"/>
              </a:rPr>
              <a:t> </a:t>
            </a:r>
            <a:r>
              <a:rPr lang="en-GB" sz="1200" b="0" i="0" noProof="0" dirty="0">
                <a:solidFill>
                  <a:srgbClr val="000000"/>
                </a:solidFill>
                <a:effectLst/>
                <a:latin typeface="Calibri" panose="020F0502020204030204" pitchFamily="34" charset="0"/>
                <a:cs typeface="Calibri" panose="020F0502020204030204" pitchFamily="34" charset="0"/>
              </a:rPr>
              <a:t>and then adding </a:t>
            </a:r>
            <a:r>
              <a:rPr lang="en-GB" sz="1200" b="0" i="1" noProof="0" dirty="0">
                <a:solidFill>
                  <a:srgbClr val="000000"/>
                </a:solidFill>
                <a:effectLst/>
                <a:latin typeface="Times" pitchFamily="2" charset="0"/>
              </a:rPr>
              <a:t>b</a:t>
            </a:r>
            <a:r>
              <a:rPr lang="en-GB" sz="1200" b="0" i="0" noProof="0" dirty="0">
                <a:solidFill>
                  <a:srgbClr val="000000"/>
                </a:solidFill>
                <a:effectLst/>
                <a:latin typeface="Times" pitchFamily="2" charset="0"/>
              </a:rPr>
              <a:t>, </a:t>
            </a:r>
            <a:r>
              <a:rPr lang="en-GB" sz="1200" b="0" i="0" noProof="0" dirty="0">
                <a:solidFill>
                  <a:srgbClr val="000000"/>
                </a:solidFill>
                <a:effectLst/>
                <a:latin typeface="Calibri" panose="020F0502020204030204" pitchFamily="34" charset="0"/>
                <a:cs typeface="Calibri" panose="020F0502020204030204" pitchFamily="34" charset="0"/>
              </a:rPr>
              <a:t>where</a:t>
            </a:r>
            <a:r>
              <a:rPr lang="en-GB" sz="1200" b="0" i="0" noProof="0" dirty="0">
                <a:solidFill>
                  <a:srgbClr val="000000"/>
                </a:solidFill>
                <a:effectLst/>
                <a:latin typeface="Times" pitchFamily="2" charset="0"/>
              </a:rPr>
              <a:t> </a:t>
            </a:r>
            <a:r>
              <a:rPr lang="en-GB" sz="1200" b="0" i="1" noProof="0" dirty="0">
                <a:solidFill>
                  <a:srgbClr val="000000"/>
                </a:solidFill>
                <a:effectLst/>
                <a:latin typeface="Times" pitchFamily="2" charset="0"/>
              </a:rPr>
              <a:t>a</a:t>
            </a:r>
            <a:r>
              <a:rPr lang="en-GB" sz="1200" b="0" i="0" noProof="0" dirty="0">
                <a:solidFill>
                  <a:srgbClr val="000000"/>
                </a:solidFill>
                <a:effectLst/>
                <a:latin typeface="Times" pitchFamily="2" charset="0"/>
              </a:rPr>
              <a:t> </a:t>
            </a:r>
            <a:r>
              <a:rPr lang="en-GB" sz="1200" b="0" i="0" noProof="0" dirty="0">
                <a:solidFill>
                  <a:srgbClr val="000000"/>
                </a:solidFill>
                <a:effectLst/>
                <a:latin typeface="Calibri" panose="020F0502020204030204" pitchFamily="34" charset="0"/>
                <a:cs typeface="Calibri" panose="020F0502020204030204" pitchFamily="34" charset="0"/>
              </a:rPr>
              <a:t>and</a:t>
            </a:r>
            <a:r>
              <a:rPr lang="en-GB" sz="1200" b="0" i="0" noProof="0" dirty="0">
                <a:solidFill>
                  <a:srgbClr val="000000"/>
                </a:solidFill>
                <a:effectLst/>
                <a:latin typeface="Times" pitchFamily="2" charset="0"/>
              </a:rPr>
              <a:t> </a:t>
            </a:r>
            <a:r>
              <a:rPr lang="en-GB" sz="1200" b="0" i="1" noProof="0" dirty="0">
                <a:solidFill>
                  <a:srgbClr val="000000"/>
                </a:solidFill>
                <a:effectLst/>
                <a:latin typeface="Times" pitchFamily="2" charset="0"/>
              </a:rPr>
              <a:t>b</a:t>
            </a:r>
            <a:r>
              <a:rPr lang="en-GB" sz="1200" b="0" i="0" noProof="0" dirty="0">
                <a:solidFill>
                  <a:srgbClr val="000000"/>
                </a:solidFill>
                <a:effectLst/>
                <a:latin typeface="Times" pitchFamily="2" charset="0"/>
              </a:rPr>
              <a:t> </a:t>
            </a:r>
            <a:r>
              <a:rPr lang="en-GB" sz="1200" b="0" i="0" noProof="0" dirty="0">
                <a:solidFill>
                  <a:srgbClr val="000000"/>
                </a:solidFill>
                <a:effectLst/>
                <a:latin typeface="Calibri" panose="020F0502020204030204" pitchFamily="34" charset="0"/>
                <a:cs typeface="Calibri" panose="020F0502020204030204" pitchFamily="34" charset="0"/>
              </a:rPr>
              <a:t>are positive whole numbers.</a:t>
            </a:r>
            <a:endParaRPr lang="en-GB" sz="1200" noProof="0"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172EF014-3F57-BDF1-FCAC-40B94A90B2CD}"/>
              </a:ext>
            </a:extLst>
          </p:cNvPr>
          <p:cNvSpPr txBox="1"/>
          <p:nvPr/>
        </p:nvSpPr>
        <p:spPr>
          <a:xfrm>
            <a:off x="1058115" y="3940655"/>
            <a:ext cx="5171083" cy="307777"/>
          </a:xfrm>
          <a:prstGeom prst="rect">
            <a:avLst/>
          </a:prstGeom>
          <a:noFill/>
        </p:spPr>
        <p:txBody>
          <a:bodyPr wrap="square">
            <a:spAutoFit/>
          </a:bodyPr>
          <a:lstStyle/>
          <a:p>
            <a:pPr algn="ctr"/>
            <a:r>
              <a:rPr lang="en-GB" sz="1400" noProof="0" dirty="0">
                <a:solidFill>
                  <a:srgbClr val="000000"/>
                </a:solidFill>
                <a:effectLst/>
              </a:rPr>
              <a:t>3	14	47	…	…</a:t>
            </a:r>
            <a:endParaRPr lang="en-GB" sz="1400" noProof="0" dirty="0"/>
          </a:p>
        </p:txBody>
      </p:sp>
      <p:sp>
        <p:nvSpPr>
          <p:cNvPr id="15" name="TextBox 14">
            <a:extLst>
              <a:ext uri="{FF2B5EF4-FFF2-40B4-BE49-F238E27FC236}">
                <a16:creationId xmlns:a16="http://schemas.microsoft.com/office/drawing/2014/main" id="{98E62E0A-9987-AB65-E0FB-693E2E07835A}"/>
              </a:ext>
            </a:extLst>
          </p:cNvPr>
          <p:cNvSpPr txBox="1"/>
          <p:nvPr/>
        </p:nvSpPr>
        <p:spPr>
          <a:xfrm>
            <a:off x="286699" y="4922029"/>
            <a:ext cx="3082573" cy="276999"/>
          </a:xfrm>
          <a:prstGeom prst="rect">
            <a:avLst/>
          </a:prstGeom>
          <a:noFill/>
        </p:spPr>
        <p:txBody>
          <a:bodyPr wrap="square">
            <a:spAutoFit/>
          </a:bodyPr>
          <a:lstStyle/>
          <a:p>
            <a:pPr marL="228600" indent="-228600" algn="l">
              <a:buFont typeface="+mj-lt"/>
              <a:buAutoNum type="alphaLcParenR" startAt="2"/>
            </a:pPr>
            <a:r>
              <a:rPr lang="en-GB" sz="1200" b="0" i="0" noProof="0" dirty="0">
                <a:solidFill>
                  <a:srgbClr val="000000"/>
                </a:solidFill>
                <a:effectLst/>
                <a:latin typeface="Calibri" panose="020F0502020204030204" pitchFamily="34" charset="0"/>
                <a:cs typeface="Calibri" panose="020F0502020204030204" pitchFamily="34" charset="0"/>
              </a:rPr>
              <a:t>Solve the equations to work out </a:t>
            </a:r>
            <a:r>
              <a:rPr lang="en-GB" sz="1200" b="0" i="1" noProof="0" dirty="0">
                <a:solidFill>
                  <a:srgbClr val="000000"/>
                </a:solidFill>
                <a:effectLst/>
                <a:latin typeface="Times" pitchFamily="2" charset="0"/>
              </a:rPr>
              <a:t>a</a:t>
            </a:r>
            <a:r>
              <a:rPr lang="en-GB" sz="1200" b="0" i="0" noProof="0" dirty="0">
                <a:solidFill>
                  <a:srgbClr val="000000"/>
                </a:solidFill>
                <a:effectLst/>
                <a:latin typeface="Times" pitchFamily="2" charset="0"/>
              </a:rPr>
              <a:t> </a:t>
            </a:r>
            <a:r>
              <a:rPr lang="en-GB" sz="1200" b="0" i="0" noProof="0" dirty="0">
                <a:solidFill>
                  <a:srgbClr val="000000"/>
                </a:solidFill>
                <a:effectLst/>
                <a:latin typeface="Calibri" panose="020F0502020204030204" pitchFamily="34" charset="0"/>
                <a:cs typeface="Calibri" panose="020F0502020204030204" pitchFamily="34" charset="0"/>
              </a:rPr>
              <a:t>and</a:t>
            </a:r>
            <a:r>
              <a:rPr lang="en-GB" sz="1200" b="0" i="0" noProof="0" dirty="0">
                <a:solidFill>
                  <a:srgbClr val="000000"/>
                </a:solidFill>
                <a:effectLst/>
                <a:latin typeface="Times" pitchFamily="2" charset="0"/>
              </a:rPr>
              <a:t> </a:t>
            </a:r>
            <a:r>
              <a:rPr lang="en-GB" sz="1200" b="0" i="1" noProof="0" dirty="0">
                <a:solidFill>
                  <a:srgbClr val="000000"/>
                </a:solidFill>
                <a:effectLst/>
                <a:latin typeface="Times" pitchFamily="2" charset="0"/>
              </a:rPr>
              <a:t>b</a:t>
            </a:r>
            <a:r>
              <a:rPr lang="en-GB" sz="1200" b="0" i="0" noProof="0" dirty="0">
                <a:solidFill>
                  <a:srgbClr val="000000"/>
                </a:solidFill>
                <a:effectLst/>
                <a:latin typeface="Times" pitchFamily="2" charset="0"/>
              </a:rPr>
              <a:t>.</a:t>
            </a:r>
          </a:p>
        </p:txBody>
      </p:sp>
      <p:sp>
        <p:nvSpPr>
          <p:cNvPr id="16" name="TextBox 15">
            <a:extLst>
              <a:ext uri="{FF2B5EF4-FFF2-40B4-BE49-F238E27FC236}">
                <a16:creationId xmlns:a16="http://schemas.microsoft.com/office/drawing/2014/main" id="{67B107AE-B227-DE97-202C-0BBACE11E559}"/>
              </a:ext>
            </a:extLst>
          </p:cNvPr>
          <p:cNvSpPr txBox="1"/>
          <p:nvPr/>
        </p:nvSpPr>
        <p:spPr>
          <a:xfrm>
            <a:off x="310746" y="4224729"/>
            <a:ext cx="4309628" cy="276999"/>
          </a:xfrm>
          <a:prstGeom prst="rect">
            <a:avLst/>
          </a:prstGeom>
          <a:noFill/>
        </p:spPr>
        <p:txBody>
          <a:bodyPr wrap="square">
            <a:spAutoFit/>
          </a:bodyPr>
          <a:lstStyle/>
          <a:p>
            <a:pPr algn="l"/>
            <a:r>
              <a:rPr lang="en-GB" sz="1200" b="0" i="0" noProof="0" dirty="0">
                <a:solidFill>
                  <a:srgbClr val="000000"/>
                </a:solidFill>
                <a:effectLst/>
                <a:latin typeface="Calibri" panose="020F0502020204030204" pitchFamily="34" charset="0"/>
                <a:cs typeface="Calibri" panose="020F0502020204030204" pitchFamily="34" charset="0"/>
              </a:rPr>
              <a:t>An equation that links the first and second terms is </a:t>
            </a:r>
            <a:r>
              <a:rPr lang="en-GB" sz="1200" b="0" i="0" noProof="0" dirty="0">
                <a:solidFill>
                  <a:srgbClr val="000000"/>
                </a:solidFill>
                <a:effectLst/>
                <a:latin typeface="Times" pitchFamily="2" charset="0"/>
              </a:rPr>
              <a:t>3</a:t>
            </a:r>
            <a:r>
              <a:rPr lang="en-GB" sz="1200" b="0" i="1" noProof="0" dirty="0">
                <a:solidFill>
                  <a:srgbClr val="000000"/>
                </a:solidFill>
                <a:effectLst/>
                <a:latin typeface="Times" pitchFamily="2" charset="0"/>
              </a:rPr>
              <a:t>a</a:t>
            </a:r>
            <a:r>
              <a:rPr lang="en-GB" sz="1200" b="0" i="0" noProof="0" dirty="0">
                <a:solidFill>
                  <a:srgbClr val="000000"/>
                </a:solidFill>
                <a:effectLst/>
                <a:latin typeface="Times" pitchFamily="2" charset="0"/>
              </a:rPr>
              <a:t> + </a:t>
            </a:r>
            <a:r>
              <a:rPr lang="en-GB" sz="1200" b="0" i="1" noProof="0" dirty="0">
                <a:solidFill>
                  <a:srgbClr val="000000"/>
                </a:solidFill>
                <a:effectLst/>
                <a:latin typeface="Times" pitchFamily="2" charset="0"/>
              </a:rPr>
              <a:t>b</a:t>
            </a:r>
            <a:r>
              <a:rPr lang="en-GB" sz="1200" b="0" i="0" noProof="0" dirty="0">
                <a:solidFill>
                  <a:srgbClr val="000000"/>
                </a:solidFill>
                <a:effectLst/>
                <a:latin typeface="Times" pitchFamily="2" charset="0"/>
              </a:rPr>
              <a:t> = 14.</a:t>
            </a:r>
          </a:p>
        </p:txBody>
      </p:sp>
      <p:sp>
        <p:nvSpPr>
          <p:cNvPr id="17" name="TextBox 16">
            <a:extLst>
              <a:ext uri="{FF2B5EF4-FFF2-40B4-BE49-F238E27FC236}">
                <a16:creationId xmlns:a16="http://schemas.microsoft.com/office/drawing/2014/main" id="{72A7C861-0920-F829-0606-4413B758B04D}"/>
              </a:ext>
            </a:extLst>
          </p:cNvPr>
          <p:cNvSpPr txBox="1"/>
          <p:nvPr/>
        </p:nvSpPr>
        <p:spPr>
          <a:xfrm>
            <a:off x="268569" y="4519729"/>
            <a:ext cx="2732808" cy="276999"/>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lphaLcParenR"/>
              <a:tabLst/>
              <a:defRPr/>
            </a:pPr>
            <a:r>
              <a:rPr kumimoji="0" lang="en-GB"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Set up another equation in </a:t>
            </a:r>
            <a:r>
              <a:rPr kumimoji="0" lang="en-GB" sz="1200" b="0" i="1" u="none" strike="noStrike" kern="1200" cap="none" spc="0" normalizeH="0" baseline="0" noProof="0" dirty="0">
                <a:ln>
                  <a:noFill/>
                </a:ln>
                <a:solidFill>
                  <a:srgbClr val="000000"/>
                </a:solidFill>
                <a:effectLst/>
                <a:uLnTx/>
                <a:uFillTx/>
                <a:latin typeface="Times" pitchFamily="2" charset="0"/>
                <a:ea typeface="+mn-ea"/>
                <a:cs typeface="+mn-cs"/>
              </a:rPr>
              <a:t>a</a:t>
            </a:r>
            <a:r>
              <a:rPr kumimoji="0" lang="en-GB" sz="1200" b="0" i="0" u="none" strike="noStrike" kern="1200" cap="none" spc="0" normalizeH="0" baseline="0" noProof="0" dirty="0">
                <a:ln>
                  <a:noFill/>
                </a:ln>
                <a:solidFill>
                  <a:srgbClr val="000000"/>
                </a:solidFill>
                <a:effectLst/>
                <a:uLnTx/>
                <a:uFillTx/>
                <a:latin typeface="Times" pitchFamily="2" charset="0"/>
                <a:ea typeface="+mn-ea"/>
                <a:cs typeface="+mn-cs"/>
              </a:rPr>
              <a:t> </a:t>
            </a:r>
            <a:r>
              <a:rPr kumimoji="0" lang="en-GB"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and</a:t>
            </a:r>
            <a:r>
              <a:rPr kumimoji="0" lang="en-GB" sz="1200" b="0" i="0" u="none" strike="noStrike" kern="1200" cap="none" spc="0" normalizeH="0" baseline="0" noProof="0" dirty="0">
                <a:ln>
                  <a:noFill/>
                </a:ln>
                <a:solidFill>
                  <a:srgbClr val="000000"/>
                </a:solidFill>
                <a:effectLst/>
                <a:uLnTx/>
                <a:uFillTx/>
                <a:latin typeface="Times" pitchFamily="2" charset="0"/>
                <a:ea typeface="+mn-ea"/>
                <a:cs typeface="+mn-cs"/>
              </a:rPr>
              <a:t> </a:t>
            </a:r>
            <a:r>
              <a:rPr kumimoji="0" lang="en-GB" sz="1200" b="0" i="1" u="none" strike="noStrike" kern="1200" cap="none" spc="0" normalizeH="0" baseline="0" noProof="0" dirty="0">
                <a:ln>
                  <a:noFill/>
                </a:ln>
                <a:solidFill>
                  <a:srgbClr val="000000"/>
                </a:solidFill>
                <a:effectLst/>
                <a:uLnTx/>
                <a:uFillTx/>
                <a:latin typeface="Times" pitchFamily="2" charset="0"/>
                <a:ea typeface="+mn-ea"/>
                <a:cs typeface="+mn-cs"/>
              </a:rPr>
              <a:t>b</a:t>
            </a:r>
            <a:r>
              <a:rPr kumimoji="0" lang="en-GB" sz="1200" b="0" i="0" u="none" strike="noStrike" kern="1200" cap="none" spc="0" normalizeH="0" baseline="0" noProof="0" dirty="0">
                <a:ln>
                  <a:noFill/>
                </a:ln>
                <a:solidFill>
                  <a:srgbClr val="000000"/>
                </a:solidFill>
                <a:effectLst/>
                <a:uLnTx/>
                <a:uFillTx/>
                <a:latin typeface="Times" pitchFamily="2" charset="0"/>
                <a:ea typeface="+mn-ea"/>
                <a:cs typeface="+mn-cs"/>
              </a:rPr>
              <a:t>.</a:t>
            </a:r>
          </a:p>
        </p:txBody>
      </p:sp>
      <p:sp>
        <p:nvSpPr>
          <p:cNvPr id="18" name="TextBox 17">
            <a:extLst>
              <a:ext uri="{FF2B5EF4-FFF2-40B4-BE49-F238E27FC236}">
                <a16:creationId xmlns:a16="http://schemas.microsoft.com/office/drawing/2014/main" id="{5B690D2B-3AD3-EDCE-4671-AF41CB47F2F4}"/>
              </a:ext>
            </a:extLst>
          </p:cNvPr>
          <p:cNvSpPr txBox="1"/>
          <p:nvPr/>
        </p:nvSpPr>
        <p:spPr>
          <a:xfrm>
            <a:off x="268569" y="5707616"/>
            <a:ext cx="3399513" cy="276999"/>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lphaLcParenR" startAt="3"/>
              <a:tabLst/>
              <a:defRPr/>
            </a:pPr>
            <a:r>
              <a:rPr kumimoji="0" lang="en-GB"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Work out the next two terms in the sequence.</a:t>
            </a:r>
          </a:p>
        </p:txBody>
      </p:sp>
    </p:spTree>
    <p:extLst>
      <p:ext uri="{BB962C8B-B14F-4D97-AF65-F5344CB8AC3E}">
        <p14:creationId xmlns:p14="http://schemas.microsoft.com/office/powerpoint/2010/main" val="29620156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9F1D9CC-7119-45EC-A96C-D8C0660F3AAB}" type="slidenum">
              <a:rPr lang="en-GB" noProof="0" smtClean="0"/>
              <a:t>51</a:t>
            </a:fld>
            <a:endParaRPr lang="en-GB" noProof="0" dirty="0"/>
          </a:p>
        </p:txBody>
      </p:sp>
      <p:sp>
        <p:nvSpPr>
          <p:cNvPr id="4" name="TextBox 3"/>
          <p:cNvSpPr txBox="1"/>
          <p:nvPr/>
        </p:nvSpPr>
        <p:spPr>
          <a:xfrm>
            <a:off x="0" y="39717"/>
            <a:ext cx="4620374" cy="276999"/>
          </a:xfrm>
          <a:prstGeom prst="rect">
            <a:avLst/>
          </a:prstGeom>
          <a:noFill/>
        </p:spPr>
        <p:txBody>
          <a:bodyPr wrap="square" rtlCol="0">
            <a:spAutoFit/>
          </a:bodyPr>
          <a:lstStyle/>
          <a:p>
            <a:r>
              <a:rPr lang="en-GB" sz="1200" noProof="0" dirty="0"/>
              <a:t>4. Solve the following </a:t>
            </a:r>
          </a:p>
        </p:txBody>
      </p:sp>
      <p:sp>
        <p:nvSpPr>
          <p:cNvPr id="6" name="Rectangle 5"/>
          <p:cNvSpPr/>
          <p:nvPr/>
        </p:nvSpPr>
        <p:spPr>
          <a:xfrm>
            <a:off x="125863" y="341923"/>
            <a:ext cx="6364560" cy="31255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u="sng" noProof="0" dirty="0">
              <a:solidFill>
                <a:schemeClr val="tx1"/>
              </a:solidFill>
            </a:endParaRPr>
          </a:p>
        </p:txBody>
      </p:sp>
      <p:sp>
        <p:nvSpPr>
          <p:cNvPr id="9" name="Rectangle 8"/>
          <p:cNvSpPr/>
          <p:nvPr/>
        </p:nvSpPr>
        <p:spPr>
          <a:xfrm>
            <a:off x="125863" y="3726134"/>
            <a:ext cx="6364560" cy="28352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u="sng" noProof="0" dirty="0">
              <a:solidFill>
                <a:schemeClr val="tx1"/>
              </a:solidFill>
            </a:endParaRPr>
          </a:p>
        </p:txBody>
      </p:sp>
      <p:sp>
        <p:nvSpPr>
          <p:cNvPr id="10" name="Rectangle 9"/>
          <p:cNvSpPr/>
          <p:nvPr/>
        </p:nvSpPr>
        <p:spPr>
          <a:xfrm>
            <a:off x="125863" y="6820036"/>
            <a:ext cx="6364560" cy="28352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u="sng" noProof="0" dirty="0">
              <a:solidFill>
                <a:schemeClr val="tx1"/>
              </a:solidFill>
            </a:endParaRPr>
          </a:p>
        </p:txBody>
      </p:sp>
      <p:sp>
        <p:nvSpPr>
          <p:cNvPr id="11" name="TextBox 10"/>
          <p:cNvSpPr txBox="1"/>
          <p:nvPr/>
        </p:nvSpPr>
        <p:spPr>
          <a:xfrm>
            <a:off x="138389" y="335980"/>
            <a:ext cx="6364560" cy="2123658"/>
          </a:xfrm>
          <a:prstGeom prst="rect">
            <a:avLst/>
          </a:prstGeom>
          <a:noFill/>
        </p:spPr>
        <p:txBody>
          <a:bodyPr wrap="square" rtlCol="0">
            <a:spAutoFit/>
          </a:bodyPr>
          <a:lstStyle/>
          <a:p>
            <a:pPr marL="228600" indent="-228600">
              <a:buAutoNum type="alphaLcParenR"/>
            </a:pPr>
            <a:r>
              <a:rPr lang="en-GB" sz="1200" noProof="0" dirty="0"/>
              <a:t>Albie is training for a marathon.</a:t>
            </a:r>
          </a:p>
          <a:p>
            <a:r>
              <a:rPr lang="en-GB" sz="1200" noProof="0" dirty="0"/>
              <a:t>He jogs either route A or route B. </a:t>
            </a:r>
          </a:p>
          <a:p>
            <a:endParaRPr lang="en-GB" sz="1200" noProof="0" dirty="0"/>
          </a:p>
          <a:p>
            <a:r>
              <a:rPr lang="en-GB" sz="1200" noProof="0" dirty="0"/>
              <a:t>During April, he jogs route A nine times and route B five times.</a:t>
            </a:r>
          </a:p>
          <a:p>
            <a:r>
              <a:rPr lang="en-GB" sz="1200" noProof="0" dirty="0"/>
              <a:t>Route B is 8 miles longer than route A.</a:t>
            </a:r>
          </a:p>
          <a:p>
            <a:r>
              <a:rPr lang="en-GB" sz="1200" noProof="0" dirty="0"/>
              <a:t>In total, he jogs 89 miles in April. </a:t>
            </a:r>
          </a:p>
          <a:p>
            <a:endParaRPr lang="en-GB" sz="1200" noProof="0" dirty="0"/>
          </a:p>
          <a:p>
            <a:r>
              <a:rPr lang="en-GB" sz="1200" noProof="0" dirty="0"/>
              <a:t>In May, he will start jogging route C. </a:t>
            </a:r>
          </a:p>
          <a:p>
            <a:r>
              <a:rPr lang="en-GB" sz="1200" noProof="0" dirty="0"/>
              <a:t>Route C is 20% longer than route B. </a:t>
            </a:r>
          </a:p>
          <a:p>
            <a:endParaRPr lang="en-GB" sz="1200" noProof="0" dirty="0"/>
          </a:p>
          <a:p>
            <a:r>
              <a:rPr lang="en-GB" sz="1200" noProof="0" dirty="0"/>
              <a:t>Work out the length of route C. </a:t>
            </a:r>
          </a:p>
        </p:txBody>
      </p:sp>
      <p:sp>
        <p:nvSpPr>
          <p:cNvPr id="12" name="TextBox 11"/>
          <p:cNvSpPr txBox="1"/>
          <p:nvPr/>
        </p:nvSpPr>
        <p:spPr>
          <a:xfrm>
            <a:off x="138389" y="3751341"/>
            <a:ext cx="6364560" cy="2123658"/>
          </a:xfrm>
          <a:prstGeom prst="rect">
            <a:avLst/>
          </a:prstGeom>
          <a:noFill/>
        </p:spPr>
        <p:txBody>
          <a:bodyPr wrap="square" rtlCol="0">
            <a:spAutoFit/>
          </a:bodyPr>
          <a:lstStyle/>
          <a:p>
            <a:r>
              <a:rPr lang="en-GB" sz="1200" noProof="0" dirty="0"/>
              <a:t>b) Shown below is parallelogram.</a:t>
            </a:r>
          </a:p>
          <a:p>
            <a:r>
              <a:rPr lang="en-GB" sz="1200" noProof="0" dirty="0"/>
              <a:t>Each side is measured in centimetres. </a:t>
            </a:r>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r>
              <a:rPr lang="en-GB" sz="1200" noProof="0" dirty="0"/>
              <a:t>Work out the perimeter of the parallelogram. </a:t>
            </a:r>
          </a:p>
        </p:txBody>
      </p:sp>
      <mc:AlternateContent xmlns:mc="http://schemas.openxmlformats.org/markup-compatibility/2006" xmlns:a14="http://schemas.microsoft.com/office/drawing/2010/main">
        <mc:Choice Requires="a14">
          <p:sp>
            <p:nvSpPr>
              <p:cNvPr id="13" name="TextBox 12"/>
              <p:cNvSpPr txBox="1"/>
              <p:nvPr/>
            </p:nvSpPr>
            <p:spPr>
              <a:xfrm>
                <a:off x="138389" y="6837005"/>
                <a:ext cx="6364560" cy="1200329"/>
              </a:xfrm>
              <a:prstGeom prst="rect">
                <a:avLst/>
              </a:prstGeom>
              <a:noFill/>
            </p:spPr>
            <p:txBody>
              <a:bodyPr wrap="square" rtlCol="0">
                <a:spAutoFit/>
              </a:bodyPr>
              <a:lstStyle/>
              <a:p>
                <a:r>
                  <a:rPr lang="en-GB" sz="1200" noProof="0" dirty="0"/>
                  <a:t>c) Solve the simultaneous equations</a:t>
                </a:r>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6</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=13</m:t>
                      </m:r>
                      <m:r>
                        <a:rPr lang="en-GB" sz="1200" b="0" i="1" noProof="0" smtClean="0">
                          <a:latin typeface="Cambria Math" panose="02040503050406030204" pitchFamily="18" charset="0"/>
                        </a:rPr>
                        <m:t>𝑐</m:t>
                      </m:r>
                    </m:oMath>
                  </m:oMathPara>
                </a14:m>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𝑐</m:t>
                      </m:r>
                    </m:oMath>
                  </m:oMathPara>
                </a14:m>
                <a:endParaRPr lang="en-GB" sz="1200" b="0" noProof="0" dirty="0"/>
              </a:p>
              <a:p>
                <a:endParaRPr lang="en-GB" sz="1200" noProof="0" dirty="0"/>
              </a:p>
              <a:p>
                <a:r>
                  <a:rPr lang="en-GB" sz="1200" noProof="0" dirty="0"/>
                  <a:t>Where c is a constant</a:t>
                </a:r>
              </a:p>
              <a:p>
                <a:r>
                  <a:rPr lang="en-GB" sz="1200" noProof="0" dirty="0"/>
                  <a:t>Give your answer in terms of c. </a:t>
                </a:r>
              </a:p>
            </p:txBody>
          </p:sp>
        </mc:Choice>
        <mc:Fallback xmlns="">
          <p:sp>
            <p:nvSpPr>
              <p:cNvPr id="13" name="TextBox 12"/>
              <p:cNvSpPr txBox="1">
                <a:spLocks noRot="1" noChangeAspect="1" noMove="1" noResize="1" noEditPoints="1" noAdjustHandles="1" noChangeArrowheads="1" noChangeShapeType="1" noTextEdit="1"/>
              </p:cNvSpPr>
              <p:nvPr/>
            </p:nvSpPr>
            <p:spPr>
              <a:xfrm>
                <a:off x="138389" y="6837005"/>
                <a:ext cx="6364560" cy="1200329"/>
              </a:xfrm>
              <a:prstGeom prst="rect">
                <a:avLst/>
              </a:prstGeom>
              <a:blipFill>
                <a:blip r:embed="rId2"/>
                <a:stretch>
                  <a:fillRect l="-96" t="-510" b="-3571"/>
                </a:stretch>
              </a:blipFill>
            </p:spPr>
            <p:txBody>
              <a:bodyPr/>
              <a:lstStyle/>
              <a:p>
                <a:r>
                  <a:rPr lang="en-US">
                    <a:noFill/>
                  </a:rPr>
                  <a:t> </a:t>
                </a:r>
              </a:p>
            </p:txBody>
          </p:sp>
        </mc:Fallback>
      </mc:AlternateContent>
      <p:pic>
        <p:nvPicPr>
          <p:cNvPr id="14" name="Picture 13"/>
          <p:cNvPicPr>
            <a:picLocks noChangeAspect="1"/>
          </p:cNvPicPr>
          <p:nvPr/>
        </p:nvPicPr>
        <p:blipFill>
          <a:blip r:embed="rId3"/>
          <a:stretch>
            <a:fillRect/>
          </a:stretch>
        </p:blipFill>
        <p:spPr>
          <a:xfrm>
            <a:off x="276175" y="4292925"/>
            <a:ext cx="2416921" cy="1201963"/>
          </a:xfrm>
          <a:prstGeom prst="rect">
            <a:avLst/>
          </a:prstGeom>
        </p:spPr>
      </p:pic>
    </p:spTree>
    <p:extLst>
      <p:ext uri="{BB962C8B-B14F-4D97-AF65-F5344CB8AC3E}">
        <p14:creationId xmlns:p14="http://schemas.microsoft.com/office/powerpoint/2010/main" val="1519531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520D49-CD6E-8C2E-3A7C-E4DD29E693E1}"/>
              </a:ext>
            </a:extLst>
          </p:cNvPr>
          <p:cNvSpPr>
            <a:spLocks noGrp="1"/>
          </p:cNvSpPr>
          <p:nvPr>
            <p:ph type="sldNum" sz="quarter" idx="12"/>
          </p:nvPr>
        </p:nvSpPr>
        <p:spPr/>
        <p:txBody>
          <a:bodyPr/>
          <a:lstStyle/>
          <a:p>
            <a:fld id="{9BD3B4A0-BFF9-422C-B253-48BA94BE2F5B}" type="slidenum">
              <a:rPr lang="en-GB" noProof="0" smtClean="0"/>
              <a:t>52</a:t>
            </a:fld>
            <a:endParaRPr lang="en-GB" noProof="0" dirty="0"/>
          </a:p>
        </p:txBody>
      </p:sp>
      <p:sp>
        <p:nvSpPr>
          <p:cNvPr id="3" name="TextBox 2">
            <a:extLst>
              <a:ext uri="{FF2B5EF4-FFF2-40B4-BE49-F238E27FC236}">
                <a16:creationId xmlns:a16="http://schemas.microsoft.com/office/drawing/2014/main" id="{EA37C9FA-933A-5FBB-AE4C-8B18BE06E0CC}"/>
              </a:ext>
            </a:extLst>
          </p:cNvPr>
          <p:cNvSpPr txBox="1"/>
          <p:nvPr/>
        </p:nvSpPr>
        <p:spPr>
          <a:xfrm>
            <a:off x="0" y="-25400"/>
            <a:ext cx="1294200" cy="276999"/>
          </a:xfrm>
          <a:prstGeom prst="rect">
            <a:avLst/>
          </a:prstGeom>
          <a:solidFill>
            <a:srgbClr val="0070C0"/>
          </a:solidFill>
        </p:spPr>
        <p:txBody>
          <a:bodyPr wrap="none" rtlCol="0" anchor="ctr">
            <a:spAutoFit/>
          </a:bodyPr>
          <a:lstStyle/>
          <a:p>
            <a:pPr algn="r"/>
            <a:r>
              <a:rPr lang="en-GB" sz="1200" b="1" noProof="0" dirty="0">
                <a:solidFill>
                  <a:schemeClr val="bg1"/>
                </a:solidFill>
              </a:rPr>
              <a:t>GCSE QUESTIONS</a:t>
            </a:r>
          </a:p>
        </p:txBody>
      </p:sp>
      <p:pic>
        <p:nvPicPr>
          <p:cNvPr id="5" name="Picture 4" descr="A white sheet with black text&#10;&#10;AI-generated content may be incorrect.">
            <a:extLst>
              <a:ext uri="{FF2B5EF4-FFF2-40B4-BE49-F238E27FC236}">
                <a16:creationId xmlns:a16="http://schemas.microsoft.com/office/drawing/2014/main" id="{18D904F1-74D9-C0DD-6089-F71FA0AA98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1599"/>
            <a:ext cx="5854699" cy="3005861"/>
          </a:xfrm>
          <a:prstGeom prst="rect">
            <a:avLst/>
          </a:prstGeom>
        </p:spPr>
      </p:pic>
      <p:cxnSp>
        <p:nvCxnSpPr>
          <p:cNvPr id="7" name="Straight Connector 6">
            <a:extLst>
              <a:ext uri="{FF2B5EF4-FFF2-40B4-BE49-F238E27FC236}">
                <a16:creationId xmlns:a16="http://schemas.microsoft.com/office/drawing/2014/main" id="{048A349B-C77A-7ED8-4DB4-6B9514B4F230}"/>
              </a:ext>
            </a:extLst>
          </p:cNvPr>
          <p:cNvCxnSpPr/>
          <p:nvPr/>
        </p:nvCxnSpPr>
        <p:spPr>
          <a:xfrm>
            <a:off x="0" y="3397595"/>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9" name="Picture 8" descr="A white sheet with black text&#10;&#10;AI-generated content may be incorrect.">
            <a:extLst>
              <a:ext uri="{FF2B5EF4-FFF2-40B4-BE49-F238E27FC236}">
                <a16:creationId xmlns:a16="http://schemas.microsoft.com/office/drawing/2014/main" id="{5B47FEB2-6596-840A-A6E0-CEB620D237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458694"/>
            <a:ext cx="6370014" cy="3164229"/>
          </a:xfrm>
          <a:prstGeom prst="rect">
            <a:avLst/>
          </a:prstGeom>
        </p:spPr>
      </p:pic>
      <p:cxnSp>
        <p:nvCxnSpPr>
          <p:cNvPr id="10" name="Straight Connector 9">
            <a:extLst>
              <a:ext uri="{FF2B5EF4-FFF2-40B4-BE49-F238E27FC236}">
                <a16:creationId xmlns:a16="http://schemas.microsoft.com/office/drawing/2014/main" id="{8319EFF2-E14C-594B-864E-AB1D48100F47}"/>
              </a:ext>
            </a:extLst>
          </p:cNvPr>
          <p:cNvCxnSpPr/>
          <p:nvPr/>
        </p:nvCxnSpPr>
        <p:spPr>
          <a:xfrm>
            <a:off x="-11112" y="6653370"/>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12" name="Picture 11" descr="A white background with black text&#10;&#10;AI-generated content may be incorrect.">
            <a:extLst>
              <a:ext uri="{FF2B5EF4-FFF2-40B4-BE49-F238E27FC236}">
                <a16:creationId xmlns:a16="http://schemas.microsoft.com/office/drawing/2014/main" id="{F80B0B5D-0E7C-4CA6-7C2A-4C22496D31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858840"/>
            <a:ext cx="6386513" cy="3047160"/>
          </a:xfrm>
          <a:prstGeom prst="rect">
            <a:avLst/>
          </a:prstGeom>
        </p:spPr>
      </p:pic>
    </p:spTree>
    <p:extLst>
      <p:ext uri="{BB962C8B-B14F-4D97-AF65-F5344CB8AC3E}">
        <p14:creationId xmlns:p14="http://schemas.microsoft.com/office/powerpoint/2010/main" val="25548915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F8EDE-FF4B-8840-4708-98709719E80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4F2D95-6E93-35B6-7D43-7CC972B2A7CF}"/>
              </a:ext>
            </a:extLst>
          </p:cNvPr>
          <p:cNvSpPr>
            <a:spLocks noGrp="1"/>
          </p:cNvSpPr>
          <p:nvPr>
            <p:ph type="sldNum" sz="quarter" idx="12"/>
          </p:nvPr>
        </p:nvSpPr>
        <p:spPr/>
        <p:txBody>
          <a:bodyPr/>
          <a:lstStyle/>
          <a:p>
            <a:fld id="{9BD3B4A0-BFF9-422C-B253-48BA94BE2F5B}" type="slidenum">
              <a:rPr lang="en-GB" noProof="0" smtClean="0"/>
              <a:t>53</a:t>
            </a:fld>
            <a:endParaRPr lang="en-GB" noProof="0" dirty="0"/>
          </a:p>
        </p:txBody>
      </p:sp>
      <p:cxnSp>
        <p:nvCxnSpPr>
          <p:cNvPr id="7" name="Straight Connector 6">
            <a:extLst>
              <a:ext uri="{FF2B5EF4-FFF2-40B4-BE49-F238E27FC236}">
                <a16:creationId xmlns:a16="http://schemas.microsoft.com/office/drawing/2014/main" id="{D9C43610-8BDE-DAB1-D7D6-C88594F2E055}"/>
              </a:ext>
            </a:extLst>
          </p:cNvPr>
          <p:cNvCxnSpPr/>
          <p:nvPr/>
        </p:nvCxnSpPr>
        <p:spPr>
          <a:xfrm>
            <a:off x="-11112" y="3058818"/>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6" name="Picture 5" descr="A close-up of a receipt&#10;&#10;AI-generated content may be incorrect.">
            <a:extLst>
              <a:ext uri="{FF2B5EF4-FFF2-40B4-BE49-F238E27FC236}">
                <a16:creationId xmlns:a16="http://schemas.microsoft.com/office/drawing/2014/main" id="{C86FD45A-4AD7-B646-4C97-01312721F3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12" y="1"/>
            <a:ext cx="6488112" cy="3039422"/>
          </a:xfrm>
          <a:prstGeom prst="rect">
            <a:avLst/>
          </a:prstGeom>
        </p:spPr>
      </p:pic>
      <p:pic>
        <p:nvPicPr>
          <p:cNvPr id="11" name="Picture 10" descr="A graph of a function&#10;&#10;AI-generated content may be incorrect.">
            <a:extLst>
              <a:ext uri="{FF2B5EF4-FFF2-40B4-BE49-F238E27FC236}">
                <a16:creationId xmlns:a16="http://schemas.microsoft.com/office/drawing/2014/main" id="{CDE9F5BC-F2F2-388A-5742-9CE34C7310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418" y="3193958"/>
            <a:ext cx="5734182" cy="3921898"/>
          </a:xfrm>
          <a:prstGeom prst="rect">
            <a:avLst/>
          </a:prstGeom>
        </p:spPr>
      </p:pic>
      <p:pic>
        <p:nvPicPr>
          <p:cNvPr id="14" name="Picture 13" descr="A white paper with black text and numbers&#10;&#10;AI-generated content may be incorrect.">
            <a:extLst>
              <a:ext uri="{FF2B5EF4-FFF2-40B4-BE49-F238E27FC236}">
                <a16:creationId xmlns:a16="http://schemas.microsoft.com/office/drawing/2014/main" id="{6E01F697-058B-4FE7-019D-9F31D318E4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919" y="7423094"/>
            <a:ext cx="5423179" cy="2171812"/>
          </a:xfrm>
          <a:prstGeom prst="rect">
            <a:avLst/>
          </a:prstGeom>
        </p:spPr>
      </p:pic>
    </p:spTree>
    <p:extLst>
      <p:ext uri="{BB962C8B-B14F-4D97-AF65-F5344CB8AC3E}">
        <p14:creationId xmlns:p14="http://schemas.microsoft.com/office/powerpoint/2010/main" val="5949268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AC887-1478-5D9F-E184-6B82ECE6E48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F6CDBB-4C7B-69A4-05CB-90AA2A28B99B}"/>
              </a:ext>
            </a:extLst>
          </p:cNvPr>
          <p:cNvSpPr>
            <a:spLocks noGrp="1"/>
          </p:cNvSpPr>
          <p:nvPr>
            <p:ph type="sldNum" sz="quarter" idx="12"/>
          </p:nvPr>
        </p:nvSpPr>
        <p:spPr/>
        <p:txBody>
          <a:bodyPr/>
          <a:lstStyle/>
          <a:p>
            <a:fld id="{9BD3B4A0-BFF9-422C-B253-48BA94BE2F5B}" type="slidenum">
              <a:rPr lang="en-GB" noProof="0" smtClean="0"/>
              <a:t>54</a:t>
            </a:fld>
            <a:endParaRPr lang="en-GB" noProof="0" dirty="0"/>
          </a:p>
        </p:txBody>
      </p:sp>
      <p:cxnSp>
        <p:nvCxnSpPr>
          <p:cNvPr id="7" name="Straight Connector 6">
            <a:extLst>
              <a:ext uri="{FF2B5EF4-FFF2-40B4-BE49-F238E27FC236}">
                <a16:creationId xmlns:a16="http://schemas.microsoft.com/office/drawing/2014/main" id="{5B1A4055-3CFC-58E5-5999-2DF9621DFD4F}"/>
              </a:ext>
            </a:extLst>
          </p:cNvPr>
          <p:cNvCxnSpPr/>
          <p:nvPr/>
        </p:nvCxnSpPr>
        <p:spPr>
          <a:xfrm>
            <a:off x="0" y="2936105"/>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4" name="Picture 3" descr="A white paper with black text&#10;&#10;AI-generated content may be incorrect.">
            <a:extLst>
              <a:ext uri="{FF2B5EF4-FFF2-40B4-BE49-F238E27FC236}">
                <a16:creationId xmlns:a16="http://schemas.microsoft.com/office/drawing/2014/main" id="{74A693D6-52FC-C1D8-18CF-CB5D08B475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 y="-1"/>
            <a:ext cx="5956300" cy="2936106"/>
          </a:xfrm>
          <a:prstGeom prst="rect">
            <a:avLst/>
          </a:prstGeom>
        </p:spPr>
      </p:pic>
      <p:pic>
        <p:nvPicPr>
          <p:cNvPr id="8" name="Picture 7" descr="A white paper with black text&#10;&#10;AI-generated content may be incorrect.">
            <a:extLst>
              <a:ext uri="{FF2B5EF4-FFF2-40B4-BE49-F238E27FC236}">
                <a16:creationId xmlns:a16="http://schemas.microsoft.com/office/drawing/2014/main" id="{966984CF-8600-549D-70B1-7850766DBC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 y="2975087"/>
            <a:ext cx="6174499" cy="2906073"/>
          </a:xfrm>
          <a:prstGeom prst="rect">
            <a:avLst/>
          </a:prstGeom>
        </p:spPr>
      </p:pic>
      <p:pic>
        <p:nvPicPr>
          <p:cNvPr id="10" name="Picture 9" descr="A white sheet with black text&#10;&#10;AI-generated content may be incorrect.">
            <a:extLst>
              <a:ext uri="{FF2B5EF4-FFF2-40B4-BE49-F238E27FC236}">
                <a16:creationId xmlns:a16="http://schemas.microsoft.com/office/drawing/2014/main" id="{CAF8FCB9-B691-BB9B-13AF-9DA5D4E985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0" y="5936066"/>
            <a:ext cx="6272213" cy="3427923"/>
          </a:xfrm>
          <a:prstGeom prst="rect">
            <a:avLst/>
          </a:prstGeom>
        </p:spPr>
      </p:pic>
      <p:cxnSp>
        <p:nvCxnSpPr>
          <p:cNvPr id="12" name="Straight Connector 11">
            <a:extLst>
              <a:ext uri="{FF2B5EF4-FFF2-40B4-BE49-F238E27FC236}">
                <a16:creationId xmlns:a16="http://schemas.microsoft.com/office/drawing/2014/main" id="{ABE0A1C1-DD18-7800-F3C9-744DA473EFA1}"/>
              </a:ext>
            </a:extLst>
          </p:cNvPr>
          <p:cNvCxnSpPr/>
          <p:nvPr/>
        </p:nvCxnSpPr>
        <p:spPr>
          <a:xfrm>
            <a:off x="0" y="5881161"/>
            <a:ext cx="6858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504693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32E896-0BD1-FF8B-4A98-83EFB87E0953}"/>
              </a:ext>
            </a:extLst>
          </p:cNvPr>
          <p:cNvSpPr>
            <a:spLocks noGrp="1"/>
          </p:cNvSpPr>
          <p:nvPr>
            <p:ph type="sldNum" sz="quarter" idx="12"/>
          </p:nvPr>
        </p:nvSpPr>
        <p:spPr/>
        <p:txBody>
          <a:bodyPr/>
          <a:lstStyle/>
          <a:p>
            <a:fld id="{9BD3B4A0-BFF9-422C-B253-48BA94BE2F5B}" type="slidenum">
              <a:rPr lang="en-GB" noProof="0" smtClean="0"/>
              <a:t>55</a:t>
            </a:fld>
            <a:endParaRPr lang="en-GB" noProof="0" dirty="0"/>
          </a:p>
        </p:txBody>
      </p:sp>
      <p:pic>
        <p:nvPicPr>
          <p:cNvPr id="4" name="Picture 3" descr="A white background with black text&#10;&#10;AI-generated content may be incorrect.">
            <a:extLst>
              <a:ext uri="{FF2B5EF4-FFF2-40B4-BE49-F238E27FC236}">
                <a16:creationId xmlns:a16="http://schemas.microsoft.com/office/drawing/2014/main" id="{09F19DE1-3FD7-F7BD-54F0-0654571B1F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07254" cy="2946400"/>
          </a:xfrm>
          <a:prstGeom prst="rect">
            <a:avLst/>
          </a:prstGeom>
        </p:spPr>
      </p:pic>
      <p:cxnSp>
        <p:nvCxnSpPr>
          <p:cNvPr id="5" name="Straight Connector 4">
            <a:extLst>
              <a:ext uri="{FF2B5EF4-FFF2-40B4-BE49-F238E27FC236}">
                <a16:creationId xmlns:a16="http://schemas.microsoft.com/office/drawing/2014/main" id="{F8BE54C3-8EAB-B796-8B1D-686DEC4B4FF2}"/>
              </a:ext>
            </a:extLst>
          </p:cNvPr>
          <p:cNvCxnSpPr/>
          <p:nvPr/>
        </p:nvCxnSpPr>
        <p:spPr>
          <a:xfrm>
            <a:off x="0" y="2936105"/>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7" name="Picture 6" descr="A graph of x and y in a grid&#10;&#10;AI-generated content may be incorrect.">
            <a:extLst>
              <a:ext uri="{FF2B5EF4-FFF2-40B4-BE49-F238E27FC236}">
                <a16:creationId xmlns:a16="http://schemas.microsoft.com/office/drawing/2014/main" id="{C96F316E-D1DC-6ED8-E44A-84C1B76131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959100"/>
            <a:ext cx="5399141" cy="4114800"/>
          </a:xfrm>
          <a:prstGeom prst="rect">
            <a:avLst/>
          </a:prstGeom>
        </p:spPr>
      </p:pic>
      <p:pic>
        <p:nvPicPr>
          <p:cNvPr id="9" name="Picture 8" descr="A white paper with black text&#10;&#10;AI-generated content may be incorrect.">
            <a:extLst>
              <a:ext uri="{FF2B5EF4-FFF2-40B4-BE49-F238E27FC236}">
                <a16:creationId xmlns:a16="http://schemas.microsoft.com/office/drawing/2014/main" id="{A3D776F8-A0C1-4B4B-CE41-6504361E16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519" y="7251699"/>
            <a:ext cx="6386961" cy="2362197"/>
          </a:xfrm>
          <a:prstGeom prst="rect">
            <a:avLst/>
          </a:prstGeom>
        </p:spPr>
      </p:pic>
    </p:spTree>
    <p:extLst>
      <p:ext uri="{BB962C8B-B14F-4D97-AF65-F5344CB8AC3E}">
        <p14:creationId xmlns:p14="http://schemas.microsoft.com/office/powerpoint/2010/main" val="17559453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47FDB3-F1CA-1048-A732-E957245FF549}"/>
              </a:ext>
            </a:extLst>
          </p:cNvPr>
          <p:cNvSpPr>
            <a:spLocks noGrp="1"/>
          </p:cNvSpPr>
          <p:nvPr>
            <p:ph type="sldNum" sz="quarter" idx="12"/>
          </p:nvPr>
        </p:nvSpPr>
        <p:spPr>
          <a:xfrm>
            <a:off x="5399292" y="9579067"/>
            <a:ext cx="1543050" cy="527403"/>
          </a:xfrm>
        </p:spPr>
        <p:txBody>
          <a:bodyPr/>
          <a:lstStyle/>
          <a:p>
            <a:fld id="{19F1D9CC-7119-45EC-A96C-D8C0660F3AAB}" type="slidenum">
              <a:rPr lang="en-GB" noProof="0" smtClean="0"/>
              <a:t>56</a:t>
            </a:fld>
            <a:endParaRPr lang="en-GB" noProof="0" dirty="0"/>
          </a:p>
        </p:txBody>
      </p:sp>
      <p:sp>
        <p:nvSpPr>
          <p:cNvPr id="3" name="Rectangle 2">
            <a:extLst>
              <a:ext uri="{FF2B5EF4-FFF2-40B4-BE49-F238E27FC236}">
                <a16:creationId xmlns:a16="http://schemas.microsoft.com/office/drawing/2014/main" id="{4D22C3A5-83FD-F348-A13A-41990BFFB455}"/>
              </a:ext>
            </a:extLst>
          </p:cNvPr>
          <p:cNvSpPr/>
          <p:nvPr/>
        </p:nvSpPr>
        <p:spPr>
          <a:xfrm>
            <a:off x="105113" y="335811"/>
            <a:ext cx="6647773" cy="15283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ysClr val="windowText" lastClr="000000"/>
              </a:solidFill>
            </a:endParaRPr>
          </a:p>
        </p:txBody>
      </p:sp>
      <p:sp>
        <p:nvSpPr>
          <p:cNvPr id="4" name="TextBox 3">
            <a:extLst>
              <a:ext uri="{FF2B5EF4-FFF2-40B4-BE49-F238E27FC236}">
                <a16:creationId xmlns:a16="http://schemas.microsoft.com/office/drawing/2014/main" id="{46CABFFF-8CCA-3F46-BB1D-2812F1283950}"/>
              </a:ext>
            </a:extLst>
          </p:cNvPr>
          <p:cNvSpPr txBox="1"/>
          <p:nvPr/>
        </p:nvSpPr>
        <p:spPr>
          <a:xfrm>
            <a:off x="150921" y="736008"/>
            <a:ext cx="1181457" cy="338554"/>
          </a:xfrm>
          <a:prstGeom prst="rect">
            <a:avLst/>
          </a:prstGeom>
          <a:noFill/>
        </p:spPr>
        <p:txBody>
          <a:bodyPr wrap="square" rtlCol="0">
            <a:spAutoFit/>
          </a:bodyPr>
          <a:lstStyle/>
          <a:p>
            <a:r>
              <a:rPr lang="en-GB" sz="1600" b="1" noProof="0" dirty="0"/>
              <a:t>Objectives:</a:t>
            </a:r>
          </a:p>
        </p:txBody>
      </p:sp>
      <p:sp>
        <p:nvSpPr>
          <p:cNvPr id="5" name="TextBox 4">
            <a:extLst>
              <a:ext uri="{FF2B5EF4-FFF2-40B4-BE49-F238E27FC236}">
                <a16:creationId xmlns:a16="http://schemas.microsoft.com/office/drawing/2014/main" id="{474C4B23-45C4-754A-8432-EA2D2C31880A}"/>
              </a:ext>
            </a:extLst>
          </p:cNvPr>
          <p:cNvSpPr txBox="1"/>
          <p:nvPr/>
        </p:nvSpPr>
        <p:spPr>
          <a:xfrm>
            <a:off x="154731" y="1150074"/>
            <a:ext cx="4486037" cy="830997"/>
          </a:xfrm>
          <a:prstGeom prst="rect">
            <a:avLst/>
          </a:prstGeom>
          <a:noFill/>
        </p:spPr>
        <p:txBody>
          <a:bodyPr wrap="square" rtlCol="0">
            <a:spAutoFit/>
          </a:bodyPr>
          <a:lstStyle/>
          <a:p>
            <a:pPr marL="342900" indent="-342900">
              <a:buFont typeface="+mj-lt"/>
              <a:buAutoNum type="arabicPeriod"/>
              <a:defRPr/>
            </a:pPr>
            <a:r>
              <a:rPr lang="en-GB" sz="1200" noProof="0" dirty="0"/>
              <a:t>Solving simultaneous equations by substitution.</a:t>
            </a:r>
          </a:p>
          <a:p>
            <a:pPr marL="342900" indent="-342900">
              <a:buFont typeface="+mj-lt"/>
              <a:buAutoNum type="arabicPeriod"/>
              <a:defRPr/>
            </a:pPr>
            <a:r>
              <a:rPr lang="en-GB" sz="1200" noProof="0" dirty="0"/>
              <a:t>Solving simultaneous equations by adjusting and then substituting. </a:t>
            </a:r>
          </a:p>
          <a:p>
            <a:pPr>
              <a:defRPr/>
            </a:pPr>
            <a:endParaRPr lang="en-GB" sz="1200" noProof="0" dirty="0"/>
          </a:p>
        </p:txBody>
      </p:sp>
      <p:sp>
        <p:nvSpPr>
          <p:cNvPr id="6" name="TextBox 5">
            <a:extLst>
              <a:ext uri="{FF2B5EF4-FFF2-40B4-BE49-F238E27FC236}">
                <a16:creationId xmlns:a16="http://schemas.microsoft.com/office/drawing/2014/main" id="{C5074EF1-46DA-6944-95B7-7A2E909591E4}"/>
              </a:ext>
            </a:extLst>
          </p:cNvPr>
          <p:cNvSpPr txBox="1"/>
          <p:nvPr/>
        </p:nvSpPr>
        <p:spPr>
          <a:xfrm>
            <a:off x="223370" y="407430"/>
            <a:ext cx="6411256" cy="276999"/>
          </a:xfrm>
          <a:prstGeom prst="rect">
            <a:avLst/>
          </a:prstGeom>
          <a:noFill/>
          <a:ln>
            <a:solidFill>
              <a:schemeClr val="tx1"/>
            </a:solidFill>
          </a:ln>
        </p:spPr>
        <p:txBody>
          <a:bodyPr wrap="square" rtlCol="0">
            <a:spAutoFit/>
          </a:bodyPr>
          <a:lstStyle/>
          <a:p>
            <a:pPr algn="ctr"/>
            <a:r>
              <a:rPr lang="en-GB" sz="1200" b="1" noProof="0" dirty="0"/>
              <a:t>LEARNING OUTCOME: To solve simultaneous equations using the substitution method</a:t>
            </a:r>
            <a:endParaRPr lang="en-GB" sz="1200" noProof="0" dirty="0"/>
          </a:p>
        </p:txBody>
      </p:sp>
      <p:sp>
        <p:nvSpPr>
          <p:cNvPr id="7" name="TextBox 6">
            <a:extLst>
              <a:ext uri="{FF2B5EF4-FFF2-40B4-BE49-F238E27FC236}">
                <a16:creationId xmlns:a16="http://schemas.microsoft.com/office/drawing/2014/main" id="{404D762C-2D73-394D-9E02-268791A669F2}"/>
              </a:ext>
            </a:extLst>
          </p:cNvPr>
          <p:cNvSpPr txBox="1"/>
          <p:nvPr/>
        </p:nvSpPr>
        <p:spPr>
          <a:xfrm>
            <a:off x="4893447" y="791347"/>
            <a:ext cx="1741179" cy="1015663"/>
          </a:xfrm>
          <a:prstGeom prst="rect">
            <a:avLst/>
          </a:prstGeom>
          <a:noFill/>
          <a:ln w="12700">
            <a:solidFill>
              <a:schemeClr val="tx1"/>
            </a:solidFill>
          </a:ln>
        </p:spPr>
        <p:txBody>
          <a:bodyPr wrap="square" rtlCol="0">
            <a:spAutoFit/>
          </a:bodyPr>
          <a:lstStyle/>
          <a:p>
            <a:r>
              <a:rPr lang="en-GB" sz="1000" b="1" u="sng" noProof="0" dirty="0"/>
              <a:t>Keywords:</a:t>
            </a:r>
            <a:endParaRPr lang="en-GB" sz="1000" noProof="0" dirty="0"/>
          </a:p>
          <a:p>
            <a:pPr marL="285750" indent="-285750">
              <a:buFont typeface=".AppleSystemUIFont" charset="-120"/>
              <a:buChar char="-"/>
            </a:pPr>
            <a:r>
              <a:rPr lang="en-GB" sz="1000" noProof="0" dirty="0"/>
              <a:t>Simultaneous equations</a:t>
            </a:r>
          </a:p>
          <a:p>
            <a:pPr marL="285750" indent="-285750">
              <a:buFont typeface=".AppleSystemUIFont" charset="-120"/>
              <a:buChar char="-"/>
            </a:pPr>
            <a:r>
              <a:rPr lang="en-GB" sz="1000" noProof="0" dirty="0"/>
              <a:t>Linear equations</a:t>
            </a:r>
          </a:p>
          <a:p>
            <a:pPr marL="285750" indent="-285750">
              <a:buFont typeface=".AppleSystemUIFont" charset="-120"/>
              <a:buChar char="-"/>
            </a:pPr>
            <a:r>
              <a:rPr lang="en-GB" sz="1000" noProof="0" dirty="0"/>
              <a:t>Equivalent equations</a:t>
            </a:r>
          </a:p>
          <a:p>
            <a:pPr marL="285750" indent="-285750">
              <a:buFont typeface=".AppleSystemUIFont" charset="-120"/>
              <a:buChar char="-"/>
            </a:pPr>
            <a:r>
              <a:rPr lang="en-GB" sz="1000" noProof="0" dirty="0"/>
              <a:t>Intersection</a:t>
            </a:r>
          </a:p>
          <a:p>
            <a:pPr marL="285750" indent="-285750">
              <a:buFont typeface=".AppleSystemUIFont" charset="-120"/>
              <a:buChar char="-"/>
            </a:pPr>
            <a:r>
              <a:rPr lang="en-GB" sz="1000" noProof="0" dirty="0"/>
              <a:t>Elimination</a:t>
            </a:r>
          </a:p>
        </p:txBody>
      </p:sp>
      <p:sp>
        <p:nvSpPr>
          <p:cNvPr id="8" name="Rectangle 7">
            <a:extLst>
              <a:ext uri="{FF2B5EF4-FFF2-40B4-BE49-F238E27FC236}">
                <a16:creationId xmlns:a16="http://schemas.microsoft.com/office/drawing/2014/main" id="{56FE7EC4-5E01-5842-B2D3-567D0C78E897}"/>
              </a:ext>
            </a:extLst>
          </p:cNvPr>
          <p:cNvSpPr/>
          <p:nvPr/>
        </p:nvSpPr>
        <p:spPr>
          <a:xfrm>
            <a:off x="27604" y="63332"/>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noProof="0" dirty="0"/>
              <a:t>Subtopic 3d – Solving Simultaneous Equations by Substitution</a:t>
            </a:r>
            <a:endParaRPr lang="en-GB" sz="1600" b="1" noProof="0" dirty="0"/>
          </a:p>
        </p:txBody>
      </p:sp>
      <p:cxnSp>
        <p:nvCxnSpPr>
          <p:cNvPr id="53" name="Straight Connector 52">
            <a:extLst>
              <a:ext uri="{FF2B5EF4-FFF2-40B4-BE49-F238E27FC236}">
                <a16:creationId xmlns:a16="http://schemas.microsoft.com/office/drawing/2014/main" id="{FE7EDCC2-ABAA-434F-8C0E-6C3A1F76BAE7}"/>
              </a:ext>
            </a:extLst>
          </p:cNvPr>
          <p:cNvCxnSpPr/>
          <p:nvPr/>
        </p:nvCxnSpPr>
        <p:spPr>
          <a:xfrm flipV="1">
            <a:off x="942039" y="3731417"/>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5" name="Rectangle 64"/>
          <p:cNvSpPr/>
          <p:nvPr/>
        </p:nvSpPr>
        <p:spPr>
          <a:xfrm>
            <a:off x="125893" y="1971069"/>
            <a:ext cx="6645064" cy="242768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66" name="Straight Connector 65"/>
          <p:cNvCxnSpPr/>
          <p:nvPr/>
        </p:nvCxnSpPr>
        <p:spPr>
          <a:xfrm>
            <a:off x="120260" y="3058829"/>
            <a:ext cx="6672688" cy="15941"/>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Connector 66"/>
          <p:cNvCxnSpPr>
            <a:stCxn id="65" idx="2"/>
            <a:endCxn id="65" idx="0"/>
          </p:cNvCxnSpPr>
          <p:nvPr/>
        </p:nvCxnSpPr>
        <p:spPr>
          <a:xfrm flipV="1">
            <a:off x="3448425" y="1971069"/>
            <a:ext cx="0" cy="2427683"/>
          </a:xfrm>
          <a:prstGeom prst="line">
            <a:avLst/>
          </a:prstGeom>
        </p:spPr>
        <p:style>
          <a:lnRef idx="1">
            <a:schemeClr val="dk1"/>
          </a:lnRef>
          <a:fillRef idx="0">
            <a:schemeClr val="dk1"/>
          </a:fillRef>
          <a:effectRef idx="0">
            <a:schemeClr val="dk1"/>
          </a:effectRef>
          <a:fontRef idx="minor">
            <a:schemeClr val="tx1"/>
          </a:fontRef>
        </p:style>
      </p:cxnSp>
      <p:sp>
        <p:nvSpPr>
          <p:cNvPr id="68" name="TextBox 67"/>
          <p:cNvSpPr txBox="1"/>
          <p:nvPr/>
        </p:nvSpPr>
        <p:spPr>
          <a:xfrm>
            <a:off x="105113" y="1961691"/>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69" name="TextBox 68"/>
          <p:cNvSpPr txBox="1"/>
          <p:nvPr/>
        </p:nvSpPr>
        <p:spPr>
          <a:xfrm>
            <a:off x="5629164" y="1929305"/>
            <a:ext cx="1112228" cy="276999"/>
          </a:xfrm>
          <a:prstGeom prst="rect">
            <a:avLst/>
          </a:prstGeom>
          <a:noFill/>
        </p:spPr>
        <p:txBody>
          <a:bodyPr wrap="none" rtlCol="0">
            <a:spAutoFit/>
          </a:bodyPr>
          <a:lstStyle/>
          <a:p>
            <a:r>
              <a:rPr lang="en-GB" sz="1200" b="1" noProof="0" dirty="0"/>
              <a:t>Characteristics</a:t>
            </a:r>
          </a:p>
        </p:txBody>
      </p:sp>
      <p:sp>
        <p:nvSpPr>
          <p:cNvPr id="70" name="TextBox 69"/>
          <p:cNvSpPr txBox="1"/>
          <p:nvPr/>
        </p:nvSpPr>
        <p:spPr>
          <a:xfrm>
            <a:off x="120260" y="3058829"/>
            <a:ext cx="788164" cy="276999"/>
          </a:xfrm>
          <a:prstGeom prst="rect">
            <a:avLst/>
          </a:prstGeom>
          <a:noFill/>
        </p:spPr>
        <p:txBody>
          <a:bodyPr wrap="none" rtlCol="0">
            <a:spAutoFit/>
          </a:bodyPr>
          <a:lstStyle/>
          <a:p>
            <a:r>
              <a:rPr lang="en-GB" sz="1200" b="1" noProof="0" dirty="0"/>
              <a:t>Examples</a:t>
            </a:r>
          </a:p>
        </p:txBody>
      </p:sp>
      <p:sp>
        <p:nvSpPr>
          <p:cNvPr id="71" name="TextBox 70"/>
          <p:cNvSpPr txBox="1"/>
          <p:nvPr/>
        </p:nvSpPr>
        <p:spPr>
          <a:xfrm>
            <a:off x="5557677" y="3034448"/>
            <a:ext cx="1172885" cy="276999"/>
          </a:xfrm>
          <a:prstGeom prst="rect">
            <a:avLst/>
          </a:prstGeom>
          <a:noFill/>
        </p:spPr>
        <p:txBody>
          <a:bodyPr wrap="none" rtlCol="0">
            <a:spAutoFit/>
          </a:bodyPr>
          <a:lstStyle/>
          <a:p>
            <a:r>
              <a:rPr lang="en-GB" sz="1200" b="1" noProof="0" dirty="0"/>
              <a:t>Non - Examples</a:t>
            </a:r>
          </a:p>
        </p:txBody>
      </p:sp>
      <p:sp>
        <p:nvSpPr>
          <p:cNvPr id="72" name="TextBox 71"/>
          <p:cNvSpPr txBox="1"/>
          <p:nvPr/>
        </p:nvSpPr>
        <p:spPr>
          <a:xfrm>
            <a:off x="125892" y="2202748"/>
            <a:ext cx="3230335" cy="646331"/>
          </a:xfrm>
          <a:prstGeom prst="rect">
            <a:avLst/>
          </a:prstGeom>
          <a:noFill/>
        </p:spPr>
        <p:txBody>
          <a:bodyPr wrap="square" rtlCol="0">
            <a:spAutoFit/>
          </a:bodyPr>
          <a:lstStyle/>
          <a:p>
            <a:r>
              <a:rPr lang="en-GB" sz="1200" noProof="0" dirty="0"/>
              <a:t>One equation is substituted into the other. This equation will often need to be expanded before it can be solved.</a:t>
            </a:r>
          </a:p>
        </p:txBody>
      </p:sp>
      <p:sp>
        <p:nvSpPr>
          <p:cNvPr id="74" name="TextBox 73"/>
          <p:cNvSpPr txBox="1"/>
          <p:nvPr/>
        </p:nvSpPr>
        <p:spPr>
          <a:xfrm>
            <a:off x="2282746" y="2889648"/>
            <a:ext cx="2116157" cy="369332"/>
          </a:xfrm>
          <a:prstGeom prst="rect">
            <a:avLst/>
          </a:prstGeom>
          <a:solidFill>
            <a:schemeClr val="bg1"/>
          </a:solidFill>
          <a:ln>
            <a:solidFill>
              <a:schemeClr val="tx1"/>
            </a:solidFill>
          </a:ln>
        </p:spPr>
        <p:txBody>
          <a:bodyPr wrap="none" rtlCol="0">
            <a:spAutoFit/>
          </a:bodyPr>
          <a:lstStyle/>
          <a:p>
            <a:r>
              <a:rPr lang="en-GB" noProof="0" dirty="0"/>
              <a:t>Substitution method</a:t>
            </a:r>
          </a:p>
        </p:txBody>
      </p:sp>
      <mc:AlternateContent xmlns:mc="http://schemas.openxmlformats.org/markup-compatibility/2006" xmlns:a14="http://schemas.microsoft.com/office/drawing/2010/main">
        <mc:Choice Requires="a14">
          <p:sp>
            <p:nvSpPr>
              <p:cNvPr id="78" name="TextBox 77"/>
              <p:cNvSpPr txBox="1"/>
              <p:nvPr/>
            </p:nvSpPr>
            <p:spPr>
              <a:xfrm>
                <a:off x="3429034" y="3251551"/>
                <a:ext cx="3341923" cy="830997"/>
              </a:xfrm>
              <a:prstGeom prst="rect">
                <a:avLst/>
              </a:prstGeom>
              <a:noFill/>
            </p:spPr>
            <p:txBody>
              <a:bodyPr wrap="square" rtlCol="0">
                <a:spAutoFit/>
              </a:bodyPr>
              <a:lstStyle/>
              <a:p>
                <a:r>
                  <a:rPr lang="en-GB" sz="1200" noProof="0" dirty="0"/>
                  <a:t>For these equations you would use the elimination method to solve simultaneously.</a:t>
                </a:r>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=17</m:t>
                      </m:r>
                    </m:oMath>
                  </m:oMathPara>
                </a14:m>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=9</m:t>
                      </m:r>
                    </m:oMath>
                  </m:oMathPara>
                </a14:m>
                <a:endParaRPr lang="en-GB" sz="1200" noProof="0" dirty="0"/>
              </a:p>
            </p:txBody>
          </p:sp>
        </mc:Choice>
        <mc:Fallback xmlns="">
          <p:sp>
            <p:nvSpPr>
              <p:cNvPr id="78" name="TextBox 77"/>
              <p:cNvSpPr txBox="1">
                <a:spLocks noRot="1" noChangeAspect="1" noMove="1" noResize="1" noEditPoints="1" noAdjustHandles="1" noChangeArrowheads="1" noChangeShapeType="1" noTextEdit="1"/>
              </p:cNvSpPr>
              <p:nvPr/>
            </p:nvSpPr>
            <p:spPr>
              <a:xfrm>
                <a:off x="3429034" y="3251551"/>
                <a:ext cx="3341923" cy="830997"/>
              </a:xfrm>
              <a:prstGeom prst="rect">
                <a:avLst/>
              </a:prstGeom>
              <a:blipFill>
                <a:blip r:embed="rId3"/>
                <a:stretch>
                  <a:fillRect l="-182" r="-3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3448424" y="2183166"/>
                <a:ext cx="3230335" cy="461665"/>
              </a:xfrm>
              <a:prstGeom prst="rect">
                <a:avLst/>
              </a:prstGeom>
              <a:noFill/>
            </p:spPr>
            <p:txBody>
              <a:bodyPr wrap="square" rtlCol="0">
                <a:spAutoFit/>
              </a:bodyPr>
              <a:lstStyle/>
              <a:p>
                <a:r>
                  <a:rPr lang="en-GB" sz="1200" noProof="0" dirty="0"/>
                  <a:t>One equation may have x or y as it’s subject.</a:t>
                </a:r>
              </a:p>
              <a:p>
                <a:r>
                  <a:rPr lang="en-GB" sz="1200" noProof="0" dirty="0"/>
                  <a:t>e.g. </a:t>
                </a:r>
                <a14:m>
                  <m:oMath xmlns:m="http://schemas.openxmlformats.org/officeDocument/2006/math">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=17 </m:t>
                    </m:r>
                  </m:oMath>
                </a14:m>
                <a:r>
                  <a:rPr lang="en-GB" sz="1200" noProof="0" dirty="0"/>
                  <a:t>and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a14:m>
                <a:endParaRPr lang="en-GB" sz="1200" noProof="0" dirty="0"/>
              </a:p>
            </p:txBody>
          </p:sp>
        </mc:Choice>
        <mc:Fallback xmlns="">
          <p:sp>
            <p:nvSpPr>
              <p:cNvPr id="37" name="TextBox 36"/>
              <p:cNvSpPr txBox="1">
                <a:spLocks noRot="1" noChangeAspect="1" noMove="1" noResize="1" noEditPoints="1" noAdjustHandles="1" noChangeArrowheads="1" noChangeShapeType="1" noTextEdit="1"/>
              </p:cNvSpPr>
              <p:nvPr/>
            </p:nvSpPr>
            <p:spPr>
              <a:xfrm>
                <a:off x="3448424" y="2183166"/>
                <a:ext cx="3230335" cy="461665"/>
              </a:xfrm>
              <a:prstGeom prst="rect">
                <a:avLst/>
              </a:prstGeom>
              <a:blipFill>
                <a:blip r:embed="rId4"/>
                <a:stretch>
                  <a:fillRect l="-1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139200" y="3280964"/>
                <a:ext cx="3230335" cy="1200329"/>
              </a:xfrm>
              <a:prstGeom prst="rect">
                <a:avLst/>
              </a:prstGeom>
              <a:noFill/>
            </p:spPr>
            <p:txBody>
              <a:bodyPr wrap="square" rtlCol="0">
                <a:spAutoFit/>
              </a:bodyPr>
              <a:lstStyle/>
              <a:p>
                <a:r>
                  <a:rPr lang="en-GB" sz="1200" noProof="0" dirty="0"/>
                  <a:t>Solve simultaneously</a:t>
                </a:r>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5</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=14</m:t>
                      </m:r>
                    </m:oMath>
                  </m:oMathPara>
                </a14:m>
                <a:endParaRPr lang="en-GB" sz="1200" noProof="0" dirty="0"/>
              </a:p>
              <a:p>
                <a:r>
                  <a:rPr lang="en-GB" sz="1200" noProof="0" dirty="0"/>
                  <a:t>Substitute </a:t>
                </a:r>
                <a14:m>
                  <m:oMath xmlns:m="http://schemas.openxmlformats.org/officeDocument/2006/math">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r>
                  <a:rPr lang="en-GB" sz="1200" noProof="0" dirty="0"/>
                  <a:t> for y into second equation</a:t>
                </a:r>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5</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e>
                      </m:d>
                      <m:r>
                        <a:rPr lang="en-GB" sz="1200" b="0" i="1" noProof="0" smtClean="0">
                          <a:latin typeface="Cambria Math" panose="02040503050406030204" pitchFamily="18" charset="0"/>
                        </a:rPr>
                        <m:t>=14</m:t>
                      </m:r>
                    </m:oMath>
                  </m:oMathPara>
                </a14:m>
                <a:endParaRPr lang="en-GB" sz="1200" b="0" noProof="0" dirty="0"/>
              </a:p>
              <a:p>
                <a:r>
                  <a:rPr lang="en-GB" sz="1200" noProof="0" dirty="0"/>
                  <a:t>Expand and solve for </a:t>
                </a:r>
                <a14:m>
                  <m:oMath xmlns:m="http://schemas.openxmlformats.org/officeDocument/2006/math">
                    <m:r>
                      <a:rPr lang="en-GB" sz="1200" b="0" i="1" noProof="0" smtClean="0">
                        <a:latin typeface="Cambria Math" panose="02040503050406030204" pitchFamily="18" charset="0"/>
                      </a:rPr>
                      <m:t>𝑥</m:t>
                    </m:r>
                  </m:oMath>
                </a14:m>
                <a:r>
                  <a:rPr lang="en-GB" sz="1200" noProof="0" dirty="0"/>
                  <a:t>, before finding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oMath>
                </a14:m>
                <a:endParaRPr lang="en-GB" sz="1200" noProof="0" dirty="0"/>
              </a:p>
            </p:txBody>
          </p:sp>
        </mc:Choice>
        <mc:Fallback xmlns="">
          <p:sp>
            <p:nvSpPr>
              <p:cNvPr id="38" name="TextBox 37"/>
              <p:cNvSpPr txBox="1">
                <a:spLocks noRot="1" noChangeAspect="1" noMove="1" noResize="1" noEditPoints="1" noAdjustHandles="1" noChangeArrowheads="1" noChangeShapeType="1" noTextEdit="1"/>
              </p:cNvSpPr>
              <p:nvPr/>
            </p:nvSpPr>
            <p:spPr>
              <a:xfrm>
                <a:off x="139200" y="3280964"/>
                <a:ext cx="3230335" cy="1200329"/>
              </a:xfrm>
              <a:prstGeom prst="rect">
                <a:avLst/>
              </a:prstGeom>
              <a:blipFill>
                <a:blip r:embed="rId5"/>
                <a:stretch>
                  <a:fillRect l="-189" b="-30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9" name="Table 58"/>
              <p:cNvGraphicFramePr>
                <a:graphicFrameLocks noGrp="1"/>
              </p:cNvGraphicFramePr>
              <p:nvPr>
                <p:extLst>
                  <p:ext uri="{D42A27DB-BD31-4B8C-83A1-F6EECF244321}">
                    <p14:modId xmlns:p14="http://schemas.microsoft.com/office/powerpoint/2010/main" val="1916385707"/>
                  </p:ext>
                </p:extLst>
              </p:nvPr>
            </p:nvGraphicFramePr>
            <p:xfrm>
              <a:off x="153291" y="4600070"/>
              <a:ext cx="6609852" cy="5227041"/>
            </p:xfrm>
            <a:graphic>
              <a:graphicData uri="http://schemas.openxmlformats.org/drawingml/2006/table">
                <a:tbl>
                  <a:tblPr firstRow="1" bandRow="1">
                    <a:tableStyleId>{5C22544A-7EE6-4342-B048-85BDC9FD1C3A}</a:tableStyleId>
                  </a:tblPr>
                  <a:tblGrid>
                    <a:gridCol w="1400476">
                      <a:extLst>
                        <a:ext uri="{9D8B030D-6E8A-4147-A177-3AD203B41FA5}">
                          <a16:colId xmlns:a16="http://schemas.microsoft.com/office/drawing/2014/main" val="4222859584"/>
                        </a:ext>
                      </a:extLst>
                    </a:gridCol>
                    <a:gridCol w="1772578">
                      <a:extLst>
                        <a:ext uri="{9D8B030D-6E8A-4147-A177-3AD203B41FA5}">
                          <a16:colId xmlns:a16="http://schemas.microsoft.com/office/drawing/2014/main" val="2943938818"/>
                        </a:ext>
                      </a:extLst>
                    </a:gridCol>
                    <a:gridCol w="1778669">
                      <a:extLst>
                        <a:ext uri="{9D8B030D-6E8A-4147-A177-3AD203B41FA5}">
                          <a16:colId xmlns:a16="http://schemas.microsoft.com/office/drawing/2014/main" val="4207345459"/>
                        </a:ext>
                      </a:extLst>
                    </a:gridCol>
                    <a:gridCol w="1658129">
                      <a:extLst>
                        <a:ext uri="{9D8B030D-6E8A-4147-A177-3AD203B41FA5}">
                          <a16:colId xmlns:a16="http://schemas.microsoft.com/office/drawing/2014/main" val="592218920"/>
                        </a:ext>
                      </a:extLst>
                    </a:gridCol>
                  </a:tblGrid>
                  <a:tr h="25178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cs typeface="Calibri" panose="020F0502020204030204" pitchFamily="34" charset="0"/>
                            </a:rPr>
                            <a:t>Example 1 -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 – We</a:t>
                          </a:r>
                          <a:r>
                            <a:rPr lang="en-GB" sz="1200" b="1" i="1" baseline="0" noProof="0" dirty="0">
                              <a:solidFill>
                                <a:schemeClr val="accent2"/>
                              </a:solidFill>
                            </a:rPr>
                            <a:t> </a:t>
                          </a:r>
                          <a:r>
                            <a:rPr lang="en-GB" sz="1200" b="1" i="1" noProof="0" dirty="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93– You</a:t>
                          </a:r>
                          <a:r>
                            <a:rPr lang="en-GB" sz="1200" b="1" i="1" baseline="0" noProof="0" dirty="0">
                              <a:solidFill>
                                <a:srgbClr val="00B050"/>
                              </a:solidFill>
                            </a:rPr>
                            <a:t> </a:t>
                          </a:r>
                          <a:r>
                            <a:rPr lang="en-GB" sz="1200" b="1" i="1" noProof="0" dirty="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59561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1) Label the equations 1 and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a:t>
                          </a: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=2</m:t>
                                </m:r>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−3</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5</m:t>
                                </m:r>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−3</m:t>
                                </m:r>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=11</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 </m:t>
                                </m:r>
                              </m:oMath>
                            </m:oMathPara>
                          </a14:m>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a:t>
                          </a: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5</m:t>
                                </m:r>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+2</m:t>
                                </m:r>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=43</m:t>
                                </m:r>
                              </m:oMath>
                            </m:oMathPara>
                          </a14:m>
                          <a:endParaRPr lang="en-GB" sz="1200" b="0" i="1" baseline="0" noProof="0" dirty="0">
                            <a:solidFill>
                              <a:schemeClr val="tx1"/>
                            </a:solidFill>
                            <a:latin typeface="Cambria Math" panose="02040503050406030204" pitchFamily="18"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m:t>
                                </m:r>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−4</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noProof="0"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Solve the simultaneous</a:t>
                          </a:r>
                          <a:r>
                            <a:rPr lang="en-GB" sz="1200" b="0" i="0" baseline="0" noProof="0" dirty="0">
                              <a:solidFill>
                                <a:schemeClr val="tx1"/>
                              </a:solidFill>
                              <a:cs typeface="Calibri" panose="020F0502020204030204" pitchFamily="34" charset="0"/>
                            </a:rPr>
                            <a:t> equations. </a:t>
                          </a: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4</m:t>
                                </m:r>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+3</m:t>
                                </m:r>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=88</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=2</m:t>
                                </m:r>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+6</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Calibri" panose="020F0502020204030204" pitchFamily="34" charset="0"/>
                            </a:rPr>
                            <a:t>   </a:t>
                          </a:r>
                          <a:endParaRPr lang="en-GB" sz="1200" b="1" i="1" noProof="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265822"/>
                      </a:ext>
                    </a:extLst>
                  </a:tr>
                  <a:tr h="7564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2)</a:t>
                          </a:r>
                          <a:r>
                            <a:rPr lang="en-GB" sz="1200" b="0" i="0" baseline="0" noProof="0" dirty="0">
                              <a:solidFill>
                                <a:schemeClr val="tx1"/>
                              </a:solidFill>
                              <a:cs typeface="Calibri" panose="020F0502020204030204" pitchFamily="34" charset="0"/>
                            </a:rPr>
                            <a:t> Substitute isolated variable into equation 2.</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81007270"/>
                      </a:ext>
                    </a:extLst>
                  </a:tr>
                  <a:tr h="7564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3) Expand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r h="7564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4) Simplify</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67515573"/>
                      </a:ext>
                    </a:extLst>
                  </a:tr>
                  <a:tr h="71614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5)</a:t>
                          </a:r>
                          <a:r>
                            <a:rPr lang="en-GB" sz="1200" b="0" i="0" baseline="0" noProof="0" dirty="0">
                              <a:solidFill>
                                <a:schemeClr val="tx1"/>
                              </a:solidFill>
                              <a:cs typeface="Calibri" panose="020F0502020204030204" pitchFamily="34" charset="0"/>
                            </a:rPr>
                            <a:t> Solve</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978753"/>
                      </a:ext>
                    </a:extLst>
                  </a:tr>
                  <a:tr h="54032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6)</a:t>
                          </a:r>
                          <a:r>
                            <a:rPr lang="en-GB" sz="1200" b="0" i="0" baseline="0" noProof="0" dirty="0">
                              <a:solidFill>
                                <a:schemeClr val="tx1"/>
                              </a:solidFill>
                              <a:cs typeface="Calibri" panose="020F0502020204030204" pitchFamily="34" charset="0"/>
                            </a:rPr>
                            <a:t> Substitute known variable to find the unknown variable.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148007"/>
                      </a:ext>
                    </a:extLst>
                  </a:tr>
                </a:tbl>
              </a:graphicData>
            </a:graphic>
          </p:graphicFrame>
        </mc:Choice>
        <mc:Fallback xmlns="">
          <p:graphicFrame>
            <p:nvGraphicFramePr>
              <p:cNvPr id="59" name="Table 58"/>
              <p:cNvGraphicFramePr>
                <a:graphicFrameLocks noGrp="1"/>
              </p:cNvGraphicFramePr>
              <p:nvPr>
                <p:extLst>
                  <p:ext uri="{D42A27DB-BD31-4B8C-83A1-F6EECF244321}">
                    <p14:modId xmlns:p14="http://schemas.microsoft.com/office/powerpoint/2010/main" val="1916385707"/>
                  </p:ext>
                </p:extLst>
              </p:nvPr>
            </p:nvGraphicFramePr>
            <p:xfrm>
              <a:off x="153291" y="4600070"/>
              <a:ext cx="6609852" cy="5227041"/>
            </p:xfrm>
            <a:graphic>
              <a:graphicData uri="http://schemas.openxmlformats.org/drawingml/2006/table">
                <a:tbl>
                  <a:tblPr firstRow="1" bandRow="1">
                    <a:tableStyleId>{5C22544A-7EE6-4342-B048-85BDC9FD1C3A}</a:tableStyleId>
                  </a:tblPr>
                  <a:tblGrid>
                    <a:gridCol w="1400476">
                      <a:extLst>
                        <a:ext uri="{9D8B030D-6E8A-4147-A177-3AD203B41FA5}">
                          <a16:colId xmlns:a16="http://schemas.microsoft.com/office/drawing/2014/main" val="4222859584"/>
                        </a:ext>
                      </a:extLst>
                    </a:gridCol>
                    <a:gridCol w="1772578">
                      <a:extLst>
                        <a:ext uri="{9D8B030D-6E8A-4147-A177-3AD203B41FA5}">
                          <a16:colId xmlns:a16="http://schemas.microsoft.com/office/drawing/2014/main" val="2943938818"/>
                        </a:ext>
                      </a:extLst>
                    </a:gridCol>
                    <a:gridCol w="1778669">
                      <a:extLst>
                        <a:ext uri="{9D8B030D-6E8A-4147-A177-3AD203B41FA5}">
                          <a16:colId xmlns:a16="http://schemas.microsoft.com/office/drawing/2014/main" val="4207345459"/>
                        </a:ext>
                      </a:extLst>
                    </a:gridCol>
                    <a:gridCol w="1658129">
                      <a:extLst>
                        <a:ext uri="{9D8B030D-6E8A-4147-A177-3AD203B41FA5}">
                          <a16:colId xmlns:a16="http://schemas.microsoft.com/office/drawing/2014/main" val="592218920"/>
                        </a:ext>
                      </a:extLst>
                    </a:gridCol>
                  </a:tblGrid>
                  <a:tr h="27432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cs typeface="Calibri" panose="020F0502020204030204" pitchFamily="34" charset="0"/>
                            </a:rPr>
                            <a:t>Example 1 -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2 – We</a:t>
                          </a:r>
                          <a:r>
                            <a:rPr lang="en-GB" sz="1200" b="1" i="1" baseline="0" noProof="0">
                              <a:solidFill>
                                <a:schemeClr val="accent2"/>
                              </a:solidFill>
                            </a:rPr>
                            <a:t> </a:t>
                          </a:r>
                          <a:r>
                            <a:rPr lang="en-GB" sz="1200" b="1" i="1" noProof="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93– You</a:t>
                          </a:r>
                          <a:r>
                            <a:rPr lang="en-GB" sz="1200" b="1" i="1" baseline="0" noProof="0">
                              <a:solidFill>
                                <a:srgbClr val="00B050"/>
                              </a:solidFill>
                            </a:rPr>
                            <a:t> </a:t>
                          </a:r>
                          <a:r>
                            <a:rPr lang="en-GB" sz="1200" b="1" i="1" noProof="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59561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1) Label the equations 1 and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79381" t="-5651" r="-194502" b="-246"/>
                          </a:stretch>
                        </a:blip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78767" t="-5651" r="-93836" b="-246"/>
                          </a:stretch>
                        </a:blip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99265" t="-5651" r="-735" b="-246"/>
                          </a:stretch>
                        </a:blipFill>
                      </a:tcPr>
                    </a:tc>
                    <a:extLst>
                      <a:ext uri="{0D108BD9-81ED-4DB2-BD59-A6C34878D82A}">
                        <a16:rowId xmlns:a16="http://schemas.microsoft.com/office/drawing/2014/main" val="3427265822"/>
                      </a:ext>
                    </a:extLst>
                  </a:tr>
                  <a:tr h="7564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2)</a:t>
                          </a:r>
                          <a:r>
                            <a:rPr lang="en-GB" sz="1200" b="0" i="0" baseline="0" noProof="0">
                              <a:solidFill>
                                <a:schemeClr val="tx1"/>
                              </a:solidFill>
                              <a:cs typeface="Calibri" panose="020F0502020204030204" pitchFamily="34" charset="0"/>
                            </a:rPr>
                            <a:t> Substitute isolated variable into equation 2.</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81007270"/>
                      </a:ext>
                    </a:extLst>
                  </a:tr>
                  <a:tr h="7564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3) Expand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068173"/>
                      </a:ext>
                    </a:extLst>
                  </a:tr>
                  <a:tr h="7564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4) Simplify</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67515573"/>
                      </a:ext>
                    </a:extLst>
                  </a:tr>
                  <a:tr h="71614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5)</a:t>
                          </a:r>
                          <a:r>
                            <a:rPr lang="en-GB" sz="1200" b="0" i="0" baseline="0" noProof="0">
                              <a:solidFill>
                                <a:schemeClr val="tx1"/>
                              </a:solidFill>
                              <a:cs typeface="Calibri" panose="020F0502020204030204" pitchFamily="34" charset="0"/>
                            </a:rPr>
                            <a:t> Solve</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978753"/>
                      </a:ext>
                    </a:extLst>
                  </a:tr>
                  <a:tr h="13716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6)</a:t>
                          </a:r>
                          <a:r>
                            <a:rPr lang="en-GB" sz="1200" b="0" i="0" baseline="0" noProof="0">
                              <a:solidFill>
                                <a:schemeClr val="tx1"/>
                              </a:solidFill>
                              <a:cs typeface="Calibri" panose="020F0502020204030204" pitchFamily="34" charset="0"/>
                            </a:rPr>
                            <a:t> Substitute known variable to find the unknown variable.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baseline="0" noProof="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baseline="0" noProof="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148007"/>
                      </a:ext>
                    </a:extLst>
                  </a:tr>
                </a:tbl>
              </a:graphicData>
            </a:graphic>
          </p:graphicFrame>
        </mc:Fallback>
      </mc:AlternateContent>
    </p:spTree>
    <p:extLst>
      <p:ext uri="{BB962C8B-B14F-4D97-AF65-F5344CB8AC3E}">
        <p14:creationId xmlns:p14="http://schemas.microsoft.com/office/powerpoint/2010/main" val="30631089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14950" y="9469935"/>
            <a:ext cx="1543050" cy="527403"/>
          </a:xfrm>
        </p:spPr>
        <p:txBody>
          <a:bodyPr/>
          <a:lstStyle/>
          <a:p>
            <a:fld id="{19F1D9CC-7119-45EC-A96C-D8C0660F3AAB}" type="slidenum">
              <a:rPr lang="en-GB" noProof="0" smtClean="0"/>
              <a:t>57</a:t>
            </a:fld>
            <a:endParaRPr lang="en-GB" noProof="0" dirty="0"/>
          </a:p>
        </p:txBody>
      </p:sp>
      <mc:AlternateContent xmlns:mc="http://schemas.openxmlformats.org/markup-compatibility/2006" xmlns:a14="http://schemas.microsoft.com/office/drawing/2010/main">
        <mc:Choice Requires="a14">
          <p:sp>
            <p:nvSpPr>
              <p:cNvPr id="7" name="TextBox 6"/>
              <p:cNvSpPr txBox="1"/>
              <p:nvPr/>
            </p:nvSpPr>
            <p:spPr>
              <a:xfrm>
                <a:off x="344120" y="348088"/>
                <a:ext cx="1076833" cy="646331"/>
              </a:xfrm>
              <a:prstGeom prst="rect">
                <a:avLst/>
              </a:prstGeom>
              <a:noFill/>
            </p:spPr>
            <p:txBody>
              <a:bodyPr wrap="none" rtlCol="0">
                <a:spAutoFit/>
              </a:bodyPr>
              <a:lstStyle/>
              <a:p>
                <a:pPr lvl="0" algn="ctr" defTabSz="685800">
                  <a:defRPr/>
                </a:pPr>
                <a:r>
                  <a:rPr lang="en-GB" sz="1200" noProof="0" dirty="0"/>
                  <a:t>a) </a:t>
                </a:r>
                <a14:m>
                  <m:oMath xmlns:m="http://schemas.openxmlformats.org/officeDocument/2006/math">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m:t>
                    </m:r>
                    <m:r>
                      <a:rPr lang="en-GB" sz="1200" b="0" i="1" noProof="0" smtClean="0">
                        <a:latin typeface="Cambria Math" panose="02040503050406030204" pitchFamily="18" charset="0"/>
                        <a:cs typeface="Calibri" panose="020F0502020204030204" pitchFamily="34" charset="0"/>
                      </a:rPr>
                      <m:t>𝑥</m:t>
                    </m:r>
                  </m:oMath>
                </a14:m>
                <a:endParaRPr lang="en-GB" sz="1200" noProof="0" dirty="0">
                  <a:cs typeface="Calibri" panose="020F0502020204030204" pitchFamily="34" charset="0"/>
                </a:endParaRPr>
              </a:p>
              <a:p>
                <a:pPr lvl="0" algn="ctr" defTabSz="685800">
                  <a:defRPr/>
                </a:pPr>
                <a:r>
                  <a:rPr lang="en-GB" sz="1200" noProof="0" dirty="0">
                    <a:cs typeface="Calibri" panose="020F0502020204030204" pitchFamily="34" charset="0"/>
                  </a:rPr>
                  <a:t>      </a:t>
                </a:r>
                <a14:m>
                  <m:oMath xmlns:m="http://schemas.openxmlformats.org/officeDocument/2006/math">
                    <m:r>
                      <a:rPr lang="en-GB" sz="1200" b="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𝑦</m:t>
                    </m:r>
                    <m:r>
                      <a:rPr lang="en-GB" sz="1200" b="0" i="1" noProof="0" smtClean="0">
                        <a:latin typeface="Cambria Math" panose="02040503050406030204" pitchFamily="18" charset="0"/>
                        <a:cs typeface="Calibri" panose="020F0502020204030204" pitchFamily="34" charset="0"/>
                      </a:rPr>
                      <m:t>=6</m:t>
                    </m:r>
                  </m:oMath>
                </a14:m>
                <a:r>
                  <a:rPr lang="en-GB" sz="1200" noProof="0" dirty="0">
                    <a:cs typeface="Calibri" panose="020F0502020204030204" pitchFamily="34" charset="0"/>
                  </a:rPr>
                  <a:t> </a:t>
                </a:r>
              </a:p>
              <a:p>
                <a:r>
                  <a:rPr lang="en-GB" sz="1200" noProof="0" dirty="0"/>
                  <a:t> </a:t>
                </a:r>
              </a:p>
            </p:txBody>
          </p:sp>
        </mc:Choice>
        <mc:Fallback xmlns="">
          <p:sp>
            <p:nvSpPr>
              <p:cNvPr id="7" name="TextBox 6"/>
              <p:cNvSpPr txBox="1">
                <a:spLocks noRot="1" noChangeAspect="1" noMove="1" noResize="1" noEditPoints="1" noAdjustHandles="1" noChangeArrowheads="1" noChangeShapeType="1" noTextEdit="1"/>
              </p:cNvSpPr>
              <p:nvPr/>
            </p:nvSpPr>
            <p:spPr>
              <a:xfrm>
                <a:off x="344120" y="348088"/>
                <a:ext cx="1076833" cy="64633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807208" y="348087"/>
                <a:ext cx="1059200" cy="461665"/>
              </a:xfrm>
              <a:prstGeom prst="rect">
                <a:avLst/>
              </a:prstGeom>
              <a:noFill/>
            </p:spPr>
            <p:txBody>
              <a:bodyPr wrap="none" rtlCol="0">
                <a:spAutoFit/>
              </a:bodyPr>
              <a:lstStyle/>
              <a:p>
                <a:pPr lvl="0" algn="ctr" defTabSz="685800">
                  <a:defRPr/>
                </a:pPr>
                <a:r>
                  <a:rPr lang="en-GB" sz="1200" noProof="0" dirty="0"/>
                  <a:t>b)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𝑦</m:t>
                    </m:r>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oMath>
                </a14:m>
                <a:br>
                  <a:rPr lang="en-GB" sz="1200" noProof="0" dirty="0"/>
                </a:b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=11</m:t>
                      </m:r>
                    </m:oMath>
                  </m:oMathPara>
                </a14:m>
                <a:endParaRPr lang="en-GB" sz="1200" noProof="0" dirty="0"/>
              </a:p>
            </p:txBody>
          </p:sp>
        </mc:Choice>
        <mc:Fallback xmlns="">
          <p:sp>
            <p:nvSpPr>
              <p:cNvPr id="8" name="TextBox 7"/>
              <p:cNvSpPr txBox="1">
                <a:spLocks noRot="1" noChangeAspect="1" noMove="1" noResize="1" noEditPoints="1" noAdjustHandles="1" noChangeArrowheads="1" noChangeShapeType="1" noTextEdit="1"/>
              </p:cNvSpPr>
              <p:nvPr/>
            </p:nvSpPr>
            <p:spPr>
              <a:xfrm>
                <a:off x="2807208" y="348087"/>
                <a:ext cx="1059200" cy="461665"/>
              </a:xfrm>
              <a:prstGeom prst="rect">
                <a:avLst/>
              </a:prstGeom>
              <a:blipFill>
                <a:blip r:embed="rId3"/>
                <a:stretch>
                  <a:fillRect/>
                </a:stretch>
              </a:blipFill>
            </p:spPr>
            <p:txBody>
              <a:bodyPr/>
              <a:lstStyle/>
              <a:p>
                <a:r>
                  <a:rPr lang="en-US">
                    <a:noFill/>
                  </a:rPr>
                  <a:t> </a:t>
                </a:r>
              </a:p>
            </p:txBody>
          </p:sp>
        </mc:Fallback>
      </mc:AlternateContent>
      <p:sp>
        <p:nvSpPr>
          <p:cNvPr id="10" name="Rectangle 9"/>
          <p:cNvSpPr/>
          <p:nvPr/>
        </p:nvSpPr>
        <p:spPr>
          <a:xfrm>
            <a:off x="238597" y="768339"/>
            <a:ext cx="2119082"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Rectangle 10"/>
          <p:cNvSpPr/>
          <p:nvPr/>
        </p:nvSpPr>
        <p:spPr>
          <a:xfrm>
            <a:off x="2423632" y="768339"/>
            <a:ext cx="2097801"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Rectangle 11"/>
          <p:cNvSpPr/>
          <p:nvPr/>
        </p:nvSpPr>
        <p:spPr>
          <a:xfrm>
            <a:off x="4612549" y="768339"/>
            <a:ext cx="2097801"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14" name="TextBox 13"/>
              <p:cNvSpPr txBox="1"/>
              <p:nvPr/>
            </p:nvSpPr>
            <p:spPr>
              <a:xfrm>
                <a:off x="2792584" y="4846383"/>
                <a:ext cx="1035155" cy="646331"/>
              </a:xfrm>
              <a:prstGeom prst="rect">
                <a:avLst/>
              </a:prstGeom>
              <a:noFill/>
            </p:spPr>
            <p:txBody>
              <a:bodyPr wrap="none" rtlCol="0">
                <a:spAutoFit/>
              </a:bodyPr>
              <a:lstStyle/>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cs typeface="Calibri" panose="020F0502020204030204" pitchFamily="34" charset="0"/>
                        </a:rPr>
                        <m:t>𝑦</m:t>
                      </m:r>
                      <m:r>
                        <a:rPr lang="en-GB" sz="1200" b="0" i="1" noProof="0" smtClean="0">
                          <a:latin typeface="Cambria Math" panose="02040503050406030204" pitchFamily="18" charset="0"/>
                          <a:cs typeface="Calibri" panose="020F0502020204030204" pitchFamily="34" charset="0"/>
                        </a:rPr>
                        <m:t>=3</m:t>
                      </m:r>
                      <m:r>
                        <a:rPr lang="en-GB" sz="1200" b="0" i="1" noProof="0" smtClean="0">
                          <a:latin typeface="Cambria Math" panose="02040503050406030204" pitchFamily="18" charset="0"/>
                          <a:cs typeface="Calibri" panose="020F0502020204030204" pitchFamily="34" charset="0"/>
                        </a:rPr>
                        <m:t>𝑥</m:t>
                      </m:r>
                    </m:oMath>
                  </m:oMathPara>
                </a14:m>
                <a:endParaRPr lang="en-GB" sz="1200" b="0" noProof="0" dirty="0">
                  <a:cs typeface="Calibri" panose="020F0502020204030204" pitchFamily="34" charset="0"/>
                </a:endParaRPr>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r>
                        <a:rPr lang="en-GB" sz="1200" b="0" i="1" noProof="0" smtClean="0">
                          <a:latin typeface="Cambria Math" panose="02040503050406030204" pitchFamily="18" charset="0"/>
                          <a:cs typeface="Calibri" panose="020F0502020204030204" pitchFamily="34" charset="0"/>
                        </a:rPr>
                        <m:t>𝑦</m:t>
                      </m:r>
                      <m:r>
                        <a:rPr lang="en-GB" sz="1200" b="0" i="1" noProof="0" smtClean="0">
                          <a:latin typeface="Cambria Math" panose="02040503050406030204" pitchFamily="18" charset="0"/>
                          <a:cs typeface="Calibri" panose="020F0502020204030204" pitchFamily="34" charset="0"/>
                        </a:rPr>
                        <m:t>=14</m:t>
                      </m:r>
                    </m:oMath>
                  </m:oMathPara>
                </a14:m>
                <a:endParaRPr lang="en-GB" sz="1200" noProof="0" dirty="0">
                  <a:cs typeface="Calibri" panose="020F0502020204030204" pitchFamily="34" charset="0"/>
                </a:endParaRPr>
              </a:p>
              <a:p>
                <a:r>
                  <a:rPr lang="en-GB" sz="1200" noProof="0" dirty="0"/>
                  <a:t> </a:t>
                </a:r>
              </a:p>
            </p:txBody>
          </p:sp>
        </mc:Choice>
        <mc:Fallback xmlns="">
          <p:sp>
            <p:nvSpPr>
              <p:cNvPr id="14" name="TextBox 13"/>
              <p:cNvSpPr txBox="1">
                <a:spLocks noRot="1" noChangeAspect="1" noMove="1" noResize="1" noEditPoints="1" noAdjustHandles="1" noChangeArrowheads="1" noChangeShapeType="1" noTextEdit="1"/>
              </p:cNvSpPr>
              <p:nvPr/>
            </p:nvSpPr>
            <p:spPr>
              <a:xfrm>
                <a:off x="2792584" y="4846383"/>
                <a:ext cx="1035155" cy="6463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5116665" y="4846383"/>
                <a:ext cx="1041439" cy="646331"/>
              </a:xfrm>
              <a:prstGeom prst="rect">
                <a:avLst/>
              </a:prstGeom>
              <a:noFill/>
            </p:spPr>
            <p:txBody>
              <a:bodyPr wrap="none" rtlCol="0">
                <a:spAutoFit/>
              </a:bodyPr>
              <a:lstStyle/>
              <a:p>
                <a:pPr lvl="0" algn="ctr" defTabSz="685800">
                  <a:defRPr/>
                </a:pPr>
                <a:r>
                  <a:rPr lang="en-GB" sz="1200" noProof="0" dirty="0"/>
                  <a:t>f)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oMath>
                </a14:m>
                <a:endParaRPr lang="en-GB" sz="1200" b="0" noProof="0" dirty="0"/>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cs typeface="Calibri" panose="020F0502020204030204" pitchFamily="34" charset="0"/>
                        </a:rPr>
                        <m:t>𝑦</m:t>
                      </m:r>
                      <m:r>
                        <a:rPr lang="en-GB" sz="1200" b="0" i="1" noProof="0" smtClean="0">
                          <a:latin typeface="Cambria Math" panose="02040503050406030204" pitchFamily="18" charset="0"/>
                          <a:cs typeface="Calibri" panose="020F0502020204030204" pitchFamily="34" charset="0"/>
                        </a:rPr>
                        <m:t>−1=2</m:t>
                      </m:r>
                      <m:r>
                        <a:rPr lang="en-GB" sz="1200" b="0" i="1" noProof="0" smtClean="0">
                          <a:latin typeface="Cambria Math" panose="02040503050406030204" pitchFamily="18" charset="0"/>
                          <a:cs typeface="Calibri" panose="020F0502020204030204" pitchFamily="34" charset="0"/>
                        </a:rPr>
                        <m:t>𝑥</m:t>
                      </m:r>
                    </m:oMath>
                  </m:oMathPara>
                </a14:m>
                <a:endParaRPr lang="en-GB" sz="1200" noProof="0" dirty="0">
                  <a:cs typeface="Calibri" panose="020F0502020204030204" pitchFamily="34" charset="0"/>
                </a:endParaRPr>
              </a:p>
              <a:p>
                <a:r>
                  <a:rPr lang="en-GB" sz="1200" noProof="0" dirty="0"/>
                  <a:t> </a:t>
                </a:r>
              </a:p>
            </p:txBody>
          </p:sp>
        </mc:Choice>
        <mc:Fallback xmlns="">
          <p:sp>
            <p:nvSpPr>
              <p:cNvPr id="15" name="TextBox 14"/>
              <p:cNvSpPr txBox="1">
                <a:spLocks noRot="1" noChangeAspect="1" noMove="1" noResize="1" noEditPoints="1" noAdjustHandles="1" noChangeArrowheads="1" noChangeShapeType="1" noTextEdit="1"/>
              </p:cNvSpPr>
              <p:nvPr/>
            </p:nvSpPr>
            <p:spPr>
              <a:xfrm>
                <a:off x="5116665" y="4846383"/>
                <a:ext cx="1041439" cy="646331"/>
              </a:xfrm>
              <a:prstGeom prst="rect">
                <a:avLst/>
              </a:prstGeom>
              <a:blipFill>
                <a:blip r:embed="rId5"/>
                <a:stretch>
                  <a:fillRect/>
                </a:stretch>
              </a:blipFill>
            </p:spPr>
            <p:txBody>
              <a:bodyPr/>
              <a:lstStyle/>
              <a:p>
                <a:r>
                  <a:rPr lang="en-US">
                    <a:noFill/>
                  </a:rPr>
                  <a:t> </a:t>
                </a:r>
              </a:p>
            </p:txBody>
          </p:sp>
        </mc:Fallback>
      </mc:AlternateContent>
      <p:sp>
        <p:nvSpPr>
          <p:cNvPr id="16" name="Rectangle 15"/>
          <p:cNvSpPr/>
          <p:nvPr/>
        </p:nvSpPr>
        <p:spPr>
          <a:xfrm>
            <a:off x="214534" y="5369464"/>
            <a:ext cx="2119082"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tangle 16"/>
          <p:cNvSpPr/>
          <p:nvPr/>
        </p:nvSpPr>
        <p:spPr>
          <a:xfrm>
            <a:off x="2399569" y="5369464"/>
            <a:ext cx="2097801"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Rectangle 17"/>
          <p:cNvSpPr/>
          <p:nvPr/>
        </p:nvSpPr>
        <p:spPr>
          <a:xfrm>
            <a:off x="4588486" y="5369464"/>
            <a:ext cx="2097801"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Rectangle 18">
            <a:extLst>
              <a:ext uri="{FF2B5EF4-FFF2-40B4-BE49-F238E27FC236}">
                <a16:creationId xmlns:a16="http://schemas.microsoft.com/office/drawing/2014/main" id="{EFEA5655-F8B4-E44B-AD11-37BDE174E0E4}"/>
              </a:ext>
            </a:extLst>
          </p:cNvPr>
          <p:cNvSpPr/>
          <p:nvPr/>
        </p:nvSpPr>
        <p:spPr>
          <a:xfrm>
            <a:off x="1141656" y="439599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0" name="Rectangle 19">
            <a:extLst>
              <a:ext uri="{FF2B5EF4-FFF2-40B4-BE49-F238E27FC236}">
                <a16:creationId xmlns:a16="http://schemas.microsoft.com/office/drawing/2014/main" id="{FB12ABF5-462E-6044-8D21-BD0BF63C4036}"/>
              </a:ext>
            </a:extLst>
          </p:cNvPr>
          <p:cNvSpPr/>
          <p:nvPr/>
        </p:nvSpPr>
        <p:spPr>
          <a:xfrm>
            <a:off x="1928679" y="439287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AC357ECC-A710-0A49-95CD-DEF7B6D6DED8}"/>
                  </a:ext>
                </a:extLst>
              </p:cNvPr>
              <p:cNvSpPr/>
              <p:nvPr/>
            </p:nvSpPr>
            <p:spPr>
              <a:xfrm>
                <a:off x="654421" y="435302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1" name="Rectangle 20">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654421" y="4353027"/>
                <a:ext cx="1381880" cy="369332"/>
              </a:xfrm>
              <a:prstGeom prst="rect">
                <a:avLst/>
              </a:prstGeom>
              <a:blipFill>
                <a:blip r:embed="rId6"/>
                <a:stretch>
                  <a:fillRect r="-12335" b="-16393"/>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EFEA5655-F8B4-E44B-AD11-37BDE174E0E4}"/>
              </a:ext>
            </a:extLst>
          </p:cNvPr>
          <p:cNvSpPr/>
          <p:nvPr/>
        </p:nvSpPr>
        <p:spPr>
          <a:xfrm>
            <a:off x="3313707" y="439672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3" name="Rectangle 22">
            <a:extLst>
              <a:ext uri="{FF2B5EF4-FFF2-40B4-BE49-F238E27FC236}">
                <a16:creationId xmlns:a16="http://schemas.microsoft.com/office/drawing/2014/main" id="{FB12ABF5-462E-6044-8D21-BD0BF63C4036}"/>
              </a:ext>
            </a:extLst>
          </p:cNvPr>
          <p:cNvSpPr/>
          <p:nvPr/>
        </p:nvSpPr>
        <p:spPr>
          <a:xfrm>
            <a:off x="4100730" y="439361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AC357ECC-A710-0A49-95CD-DEF7B6D6DED8}"/>
                  </a:ext>
                </a:extLst>
              </p:cNvPr>
              <p:cNvSpPr/>
              <p:nvPr/>
            </p:nvSpPr>
            <p:spPr>
              <a:xfrm>
                <a:off x="2826472" y="435376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4" name="Rectangle 23">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2826472" y="4353762"/>
                <a:ext cx="1381880" cy="369332"/>
              </a:xfrm>
              <a:prstGeom prst="rect">
                <a:avLst/>
              </a:prstGeom>
              <a:blipFill>
                <a:blip r:embed="rId6"/>
                <a:stretch>
                  <a:fillRect r="-12832" b="-16393"/>
                </a:stretch>
              </a:blipFill>
            </p:spPr>
            <p:txBody>
              <a:bodyPr/>
              <a:lstStyle/>
              <a:p>
                <a:r>
                  <a:rPr lang="en-US">
                    <a:noFill/>
                  </a:rPr>
                  <a:t> </a:t>
                </a:r>
              </a:p>
            </p:txBody>
          </p:sp>
        </mc:Fallback>
      </mc:AlternateContent>
      <p:sp>
        <p:nvSpPr>
          <p:cNvPr id="25" name="Rectangle 24">
            <a:extLst>
              <a:ext uri="{FF2B5EF4-FFF2-40B4-BE49-F238E27FC236}">
                <a16:creationId xmlns:a16="http://schemas.microsoft.com/office/drawing/2014/main" id="{EFEA5655-F8B4-E44B-AD11-37BDE174E0E4}"/>
              </a:ext>
            </a:extLst>
          </p:cNvPr>
          <p:cNvSpPr/>
          <p:nvPr/>
        </p:nvSpPr>
        <p:spPr>
          <a:xfrm>
            <a:off x="5477461" y="4395001"/>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6" name="Rectangle 25">
            <a:extLst>
              <a:ext uri="{FF2B5EF4-FFF2-40B4-BE49-F238E27FC236}">
                <a16:creationId xmlns:a16="http://schemas.microsoft.com/office/drawing/2014/main" id="{FB12ABF5-462E-6044-8D21-BD0BF63C4036}"/>
              </a:ext>
            </a:extLst>
          </p:cNvPr>
          <p:cNvSpPr/>
          <p:nvPr/>
        </p:nvSpPr>
        <p:spPr>
          <a:xfrm>
            <a:off x="6264484" y="439188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AC357ECC-A710-0A49-95CD-DEF7B6D6DED8}"/>
                  </a:ext>
                </a:extLst>
              </p:cNvPr>
              <p:cNvSpPr/>
              <p:nvPr/>
            </p:nvSpPr>
            <p:spPr>
              <a:xfrm>
                <a:off x="4990226" y="4352035"/>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7" name="Rectangle 26">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4990226" y="4352035"/>
                <a:ext cx="1381880" cy="369332"/>
              </a:xfrm>
              <a:prstGeom prst="rect">
                <a:avLst/>
              </a:prstGeom>
              <a:blipFill>
                <a:blip r:embed="rId7"/>
                <a:stretch>
                  <a:fillRect r="-12832" b="-14754"/>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EFEA5655-F8B4-E44B-AD11-37BDE174E0E4}"/>
              </a:ext>
            </a:extLst>
          </p:cNvPr>
          <p:cNvSpPr/>
          <p:nvPr/>
        </p:nvSpPr>
        <p:spPr>
          <a:xfrm>
            <a:off x="1141656" y="912966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9" name="Rectangle 28">
            <a:extLst>
              <a:ext uri="{FF2B5EF4-FFF2-40B4-BE49-F238E27FC236}">
                <a16:creationId xmlns:a16="http://schemas.microsoft.com/office/drawing/2014/main" id="{FB12ABF5-462E-6044-8D21-BD0BF63C4036}"/>
              </a:ext>
            </a:extLst>
          </p:cNvPr>
          <p:cNvSpPr/>
          <p:nvPr/>
        </p:nvSpPr>
        <p:spPr>
          <a:xfrm>
            <a:off x="1928679" y="912655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AC357ECC-A710-0A49-95CD-DEF7B6D6DED8}"/>
                  </a:ext>
                </a:extLst>
              </p:cNvPr>
              <p:cNvSpPr/>
              <p:nvPr/>
            </p:nvSpPr>
            <p:spPr>
              <a:xfrm>
                <a:off x="654421" y="908670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0" name="Rectangle 29">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654421" y="9086702"/>
                <a:ext cx="1381880" cy="369332"/>
              </a:xfrm>
              <a:prstGeom prst="rect">
                <a:avLst/>
              </a:prstGeom>
              <a:blipFill>
                <a:blip r:embed="rId7"/>
                <a:stretch>
                  <a:fillRect r="-12335" b="-16667"/>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EFEA5655-F8B4-E44B-AD11-37BDE174E0E4}"/>
              </a:ext>
            </a:extLst>
          </p:cNvPr>
          <p:cNvSpPr/>
          <p:nvPr/>
        </p:nvSpPr>
        <p:spPr>
          <a:xfrm>
            <a:off x="3313707" y="913040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2" name="Rectangle 31">
            <a:extLst>
              <a:ext uri="{FF2B5EF4-FFF2-40B4-BE49-F238E27FC236}">
                <a16:creationId xmlns:a16="http://schemas.microsoft.com/office/drawing/2014/main" id="{FB12ABF5-462E-6044-8D21-BD0BF63C4036}"/>
              </a:ext>
            </a:extLst>
          </p:cNvPr>
          <p:cNvSpPr/>
          <p:nvPr/>
        </p:nvSpPr>
        <p:spPr>
          <a:xfrm>
            <a:off x="4100730" y="912728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AC357ECC-A710-0A49-95CD-DEF7B6D6DED8}"/>
                  </a:ext>
                </a:extLst>
              </p:cNvPr>
              <p:cNvSpPr/>
              <p:nvPr/>
            </p:nvSpPr>
            <p:spPr>
              <a:xfrm>
                <a:off x="2826472" y="908743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3" name="Rectangle 32">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2826472" y="9087437"/>
                <a:ext cx="1381880" cy="369332"/>
              </a:xfrm>
              <a:prstGeom prst="rect">
                <a:avLst/>
              </a:prstGeom>
              <a:blipFill>
                <a:blip r:embed="rId7"/>
                <a:stretch>
                  <a:fillRect r="-12832" b="-16667"/>
                </a:stretch>
              </a:blipFill>
            </p:spPr>
            <p:txBody>
              <a:bodyPr/>
              <a:lstStyle/>
              <a:p>
                <a:r>
                  <a:rPr lang="en-US">
                    <a:noFill/>
                  </a:rPr>
                  <a:t> </a:t>
                </a:r>
              </a:p>
            </p:txBody>
          </p:sp>
        </mc:Fallback>
      </mc:AlternateContent>
      <p:sp>
        <p:nvSpPr>
          <p:cNvPr id="34" name="Rectangle 33">
            <a:extLst>
              <a:ext uri="{FF2B5EF4-FFF2-40B4-BE49-F238E27FC236}">
                <a16:creationId xmlns:a16="http://schemas.microsoft.com/office/drawing/2014/main" id="{EFEA5655-F8B4-E44B-AD11-37BDE174E0E4}"/>
              </a:ext>
            </a:extLst>
          </p:cNvPr>
          <p:cNvSpPr/>
          <p:nvPr/>
        </p:nvSpPr>
        <p:spPr>
          <a:xfrm>
            <a:off x="5477461" y="9128676"/>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5" name="Rectangle 34">
            <a:extLst>
              <a:ext uri="{FF2B5EF4-FFF2-40B4-BE49-F238E27FC236}">
                <a16:creationId xmlns:a16="http://schemas.microsoft.com/office/drawing/2014/main" id="{FB12ABF5-462E-6044-8D21-BD0BF63C4036}"/>
              </a:ext>
            </a:extLst>
          </p:cNvPr>
          <p:cNvSpPr/>
          <p:nvPr/>
        </p:nvSpPr>
        <p:spPr>
          <a:xfrm>
            <a:off x="6264484" y="912555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AC357ECC-A710-0A49-95CD-DEF7B6D6DED8}"/>
                  </a:ext>
                </a:extLst>
              </p:cNvPr>
              <p:cNvSpPr/>
              <p:nvPr/>
            </p:nvSpPr>
            <p:spPr>
              <a:xfrm>
                <a:off x="4990226" y="9085710"/>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6" name="Rectangle 35">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4990226" y="9085710"/>
                <a:ext cx="1381880" cy="369332"/>
              </a:xfrm>
              <a:prstGeom prst="rect">
                <a:avLst/>
              </a:prstGeom>
              <a:blipFill>
                <a:blip r:embed="rId6"/>
                <a:stretch>
                  <a:fillRect r="-12832" b="-16393"/>
                </a:stretch>
              </a:blipFill>
            </p:spPr>
            <p:txBody>
              <a:bodyPr/>
              <a:lstStyle/>
              <a:p>
                <a:r>
                  <a:rPr lang="en-US">
                    <a:noFill/>
                  </a:rPr>
                  <a:t> </a:t>
                </a:r>
              </a:p>
            </p:txBody>
          </p:sp>
        </mc:Fallback>
      </mc:AlternateContent>
      <p:sp>
        <p:nvSpPr>
          <p:cNvPr id="37" name="TextBox 36"/>
          <p:cNvSpPr txBox="1"/>
          <p:nvPr/>
        </p:nvSpPr>
        <p:spPr>
          <a:xfrm>
            <a:off x="1345361" y="56195"/>
            <a:ext cx="4620374" cy="276999"/>
          </a:xfrm>
          <a:prstGeom prst="rect">
            <a:avLst/>
          </a:prstGeom>
          <a:noFill/>
        </p:spPr>
        <p:txBody>
          <a:bodyPr wrap="square" rtlCol="0">
            <a:spAutoFit/>
          </a:bodyPr>
          <a:lstStyle/>
          <a:p>
            <a:pPr algn="ctr"/>
            <a:r>
              <a:rPr lang="en-GB" sz="1200" noProof="0" dirty="0"/>
              <a:t>1. Solve the simultaneous equations by substitution</a:t>
            </a:r>
            <a:endParaRPr lang="en-GB" sz="1200" b="1" noProof="0" dirty="0"/>
          </a:p>
        </p:txBody>
      </p:sp>
      <mc:AlternateContent xmlns:mc="http://schemas.openxmlformats.org/markup-compatibility/2006" xmlns:a14="http://schemas.microsoft.com/office/drawing/2010/main">
        <mc:Choice Requires="a14">
          <p:sp>
            <p:nvSpPr>
              <p:cNvPr id="3" name="TextBox 2"/>
              <p:cNvSpPr txBox="1"/>
              <p:nvPr/>
            </p:nvSpPr>
            <p:spPr>
              <a:xfrm>
                <a:off x="5125456" y="348087"/>
                <a:ext cx="1077154" cy="646331"/>
              </a:xfrm>
              <a:prstGeom prst="rect">
                <a:avLst/>
              </a:prstGeom>
              <a:noFill/>
            </p:spPr>
            <p:txBody>
              <a:bodyPr wrap="none" rtlCol="0">
                <a:spAutoFit/>
              </a:bodyPr>
              <a:lstStyle/>
              <a:p>
                <a:pPr lvl="0" algn="ctr" defTabSz="685800">
                  <a:defRPr/>
                </a:pPr>
                <a:r>
                  <a:rPr lang="en-GB" sz="1200" noProof="0" dirty="0"/>
                  <a:t>c)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+3</m:t>
                    </m:r>
                  </m:oMath>
                </a14:m>
                <a:endParaRPr lang="en-GB" sz="1200" b="0" noProof="0" dirty="0"/>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r>
                        <a:rPr lang="en-GB" sz="1200" b="0" i="1" noProof="0" smtClean="0">
                          <a:latin typeface="Cambria Math" panose="02040503050406030204" pitchFamily="18" charset="0"/>
                          <a:cs typeface="Calibri" panose="020F0502020204030204" pitchFamily="34" charset="0"/>
                        </a:rPr>
                        <m:t>𝑦</m:t>
                      </m:r>
                      <m:r>
                        <a:rPr lang="en-GB" sz="1200" b="0" i="1" noProof="0" smtClean="0">
                          <a:latin typeface="Cambria Math" panose="02040503050406030204" pitchFamily="18" charset="0"/>
                          <a:cs typeface="Calibri" panose="020F0502020204030204" pitchFamily="34" charset="0"/>
                        </a:rPr>
                        <m:t>=15</m:t>
                      </m:r>
                    </m:oMath>
                  </m:oMathPara>
                </a14:m>
                <a:endParaRPr lang="en-GB" sz="1200" noProof="0" dirty="0">
                  <a:cs typeface="Calibri" panose="020F0502020204030204" pitchFamily="34" charset="0"/>
                </a:endParaRPr>
              </a:p>
              <a:p>
                <a:r>
                  <a:rPr lang="en-GB" sz="1200" noProof="0" dirty="0"/>
                  <a:t> </a:t>
                </a:r>
              </a:p>
            </p:txBody>
          </p:sp>
        </mc:Choice>
        <mc:Fallback xmlns="">
          <p:sp>
            <p:nvSpPr>
              <p:cNvPr id="3" name="TextBox 2"/>
              <p:cNvSpPr txBox="1">
                <a:spLocks noRot="1" noChangeAspect="1" noMove="1" noResize="1" noEditPoints="1" noAdjustHandles="1" noChangeArrowheads="1" noChangeShapeType="1" noTextEdit="1"/>
              </p:cNvSpPr>
              <p:nvPr/>
            </p:nvSpPr>
            <p:spPr>
              <a:xfrm>
                <a:off x="5125456" y="348087"/>
                <a:ext cx="1077154" cy="64633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467949" y="4897697"/>
                <a:ext cx="1120115" cy="461665"/>
              </a:xfrm>
              <a:prstGeom prst="rect">
                <a:avLst/>
              </a:prstGeom>
              <a:noFill/>
            </p:spPr>
            <p:txBody>
              <a:bodyPr wrap="none" rtlCol="0">
                <a:spAutoFit/>
              </a:bodyPr>
              <a:lstStyle/>
              <a:p>
                <a:pPr lvl="0" algn="ctr" defTabSz="685800">
                  <a:defRPr/>
                </a:pPr>
                <a:r>
                  <a:rPr lang="en-GB" sz="1200" noProof="0" dirty="0"/>
                  <a:t>d)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𝑦</m:t>
                    </m:r>
                  </m:oMath>
                </a14:m>
                <a:endParaRPr lang="en-GB" sz="1200" b="0" noProof="0" dirty="0"/>
              </a:p>
              <a:p>
                <a:pPr lvl="0" algn="ctr" defTabSz="685800">
                  <a:defRPr/>
                </a:pPr>
                <a14:m>
                  <m:oMathPara xmlns:m="http://schemas.openxmlformats.org/officeDocument/2006/math">
                    <m:oMathParaPr>
                      <m:jc m:val="centerGroup"/>
                    </m:oMathParaPr>
                    <m:oMath xmlns:m="http://schemas.openxmlformats.org/officeDocument/2006/math">
                      <m:r>
                        <a:rPr lang="en-GB" sz="1200" i="1" noProof="0" smtClean="0">
                          <a:latin typeface="Cambria Math" panose="02040503050406030204" pitchFamily="18" charset="0"/>
                        </a:rPr>
                        <m:t>7</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=60</m:t>
                      </m:r>
                    </m:oMath>
                  </m:oMathPara>
                </a14:m>
                <a:endParaRPr lang="en-GB" sz="1200" noProof="0" dirty="0"/>
              </a:p>
            </p:txBody>
          </p:sp>
        </mc:Choice>
        <mc:Fallback xmlns="">
          <p:sp>
            <p:nvSpPr>
              <p:cNvPr id="4" name="TextBox 3"/>
              <p:cNvSpPr txBox="1">
                <a:spLocks noRot="1" noChangeAspect="1" noMove="1" noResize="1" noEditPoints="1" noAdjustHandles="1" noChangeArrowheads="1" noChangeShapeType="1" noTextEdit="1"/>
              </p:cNvSpPr>
              <p:nvPr/>
            </p:nvSpPr>
            <p:spPr>
              <a:xfrm>
                <a:off x="467949" y="4897697"/>
                <a:ext cx="1120115" cy="461665"/>
              </a:xfrm>
              <a:prstGeom prst="rect">
                <a:avLst/>
              </a:prstGeom>
              <a:blipFill>
                <a:blip r:embed="rId9"/>
                <a:stretch>
                  <a:fillRect b="-1316"/>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87D8BDC2-7AEC-8BEF-065A-7B5B0BF266DB}"/>
              </a:ext>
            </a:extLst>
          </p:cNvPr>
          <p:cNvSpPr txBox="1"/>
          <p:nvPr/>
        </p:nvSpPr>
        <p:spPr>
          <a:xfrm>
            <a:off x="141898" y="61419"/>
            <a:ext cx="1762598" cy="276999"/>
          </a:xfrm>
          <a:prstGeom prst="rect">
            <a:avLst/>
          </a:prstGeom>
          <a:solidFill>
            <a:srgbClr val="0070C0"/>
          </a:solidFill>
        </p:spPr>
        <p:txBody>
          <a:bodyPr wrap="none" rtlCol="0" anchor="ctr">
            <a:spAutoFit/>
          </a:bodyPr>
          <a:lstStyle/>
          <a:p>
            <a:pPr algn="r"/>
            <a:r>
              <a:rPr lang="en-GB" sz="1200" b="1" noProof="0" dirty="0">
                <a:solidFill>
                  <a:schemeClr val="bg1"/>
                </a:solidFill>
              </a:rPr>
              <a:t>INDEPENDENT PRACTICE</a:t>
            </a:r>
          </a:p>
        </p:txBody>
      </p:sp>
    </p:spTree>
    <p:extLst>
      <p:ext uri="{BB962C8B-B14F-4D97-AF65-F5344CB8AC3E}">
        <p14:creationId xmlns:p14="http://schemas.microsoft.com/office/powerpoint/2010/main" val="25874647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47FDB3-F1CA-1048-A732-E957245FF549}"/>
              </a:ext>
            </a:extLst>
          </p:cNvPr>
          <p:cNvSpPr>
            <a:spLocks noGrp="1"/>
          </p:cNvSpPr>
          <p:nvPr>
            <p:ph type="sldNum" sz="quarter" idx="12"/>
          </p:nvPr>
        </p:nvSpPr>
        <p:spPr>
          <a:xfrm>
            <a:off x="5399292" y="9579067"/>
            <a:ext cx="1543050" cy="527403"/>
          </a:xfrm>
        </p:spPr>
        <p:txBody>
          <a:bodyPr/>
          <a:lstStyle/>
          <a:p>
            <a:fld id="{19F1D9CC-7119-45EC-A96C-D8C0660F3AAB}" type="slidenum">
              <a:rPr lang="en-GB" noProof="0" smtClean="0"/>
              <a:t>58</a:t>
            </a:fld>
            <a:endParaRPr lang="en-GB" noProof="0" dirty="0"/>
          </a:p>
        </p:txBody>
      </p:sp>
      <p:sp>
        <p:nvSpPr>
          <p:cNvPr id="3" name="Rectangle 2">
            <a:extLst>
              <a:ext uri="{FF2B5EF4-FFF2-40B4-BE49-F238E27FC236}">
                <a16:creationId xmlns:a16="http://schemas.microsoft.com/office/drawing/2014/main" id="{4D22C3A5-83FD-F348-A13A-41990BFFB455}"/>
              </a:ext>
            </a:extLst>
          </p:cNvPr>
          <p:cNvSpPr/>
          <p:nvPr/>
        </p:nvSpPr>
        <p:spPr>
          <a:xfrm>
            <a:off x="105113" y="335811"/>
            <a:ext cx="6647773" cy="15283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ysClr val="windowText" lastClr="000000"/>
              </a:solidFill>
            </a:endParaRPr>
          </a:p>
        </p:txBody>
      </p:sp>
      <p:sp>
        <p:nvSpPr>
          <p:cNvPr id="4" name="TextBox 3">
            <a:extLst>
              <a:ext uri="{FF2B5EF4-FFF2-40B4-BE49-F238E27FC236}">
                <a16:creationId xmlns:a16="http://schemas.microsoft.com/office/drawing/2014/main" id="{46CABFFF-8CCA-3F46-BB1D-2812F1283950}"/>
              </a:ext>
            </a:extLst>
          </p:cNvPr>
          <p:cNvSpPr txBox="1"/>
          <p:nvPr/>
        </p:nvSpPr>
        <p:spPr>
          <a:xfrm>
            <a:off x="150921" y="736008"/>
            <a:ext cx="1181457" cy="338554"/>
          </a:xfrm>
          <a:prstGeom prst="rect">
            <a:avLst/>
          </a:prstGeom>
          <a:noFill/>
        </p:spPr>
        <p:txBody>
          <a:bodyPr wrap="square" rtlCol="0">
            <a:spAutoFit/>
          </a:bodyPr>
          <a:lstStyle/>
          <a:p>
            <a:r>
              <a:rPr lang="en-GB" sz="1600" b="1" noProof="0" dirty="0"/>
              <a:t>Objectives:</a:t>
            </a:r>
          </a:p>
        </p:txBody>
      </p:sp>
      <p:sp>
        <p:nvSpPr>
          <p:cNvPr id="5" name="TextBox 4">
            <a:extLst>
              <a:ext uri="{FF2B5EF4-FFF2-40B4-BE49-F238E27FC236}">
                <a16:creationId xmlns:a16="http://schemas.microsoft.com/office/drawing/2014/main" id="{474C4B23-45C4-754A-8432-EA2D2C31880A}"/>
              </a:ext>
            </a:extLst>
          </p:cNvPr>
          <p:cNvSpPr txBox="1"/>
          <p:nvPr/>
        </p:nvSpPr>
        <p:spPr>
          <a:xfrm>
            <a:off x="154731" y="1150074"/>
            <a:ext cx="4486037" cy="830997"/>
          </a:xfrm>
          <a:prstGeom prst="rect">
            <a:avLst/>
          </a:prstGeom>
          <a:noFill/>
        </p:spPr>
        <p:txBody>
          <a:bodyPr wrap="square" rtlCol="0">
            <a:spAutoFit/>
          </a:bodyPr>
          <a:lstStyle/>
          <a:p>
            <a:pPr marL="342900" indent="-342900">
              <a:buFont typeface="+mj-lt"/>
              <a:buAutoNum type="arabicPeriod"/>
              <a:defRPr/>
            </a:pPr>
            <a:r>
              <a:rPr lang="en-GB" sz="1200" noProof="0" dirty="0"/>
              <a:t>Finding the LCM between two numbers.</a:t>
            </a:r>
          </a:p>
          <a:p>
            <a:pPr marL="342900" indent="-342900">
              <a:buFont typeface="+mj-lt"/>
              <a:buAutoNum type="arabicPeriod"/>
              <a:defRPr/>
            </a:pPr>
            <a:r>
              <a:rPr lang="en-GB" sz="1200" noProof="0" dirty="0"/>
              <a:t>Solving simultaneous equations by adjusting one equation.</a:t>
            </a:r>
          </a:p>
          <a:p>
            <a:pPr marL="342900" indent="-342900">
              <a:buFont typeface="+mj-lt"/>
              <a:buAutoNum type="arabicPeriod"/>
              <a:defRPr/>
            </a:pPr>
            <a:r>
              <a:rPr lang="en-GB" sz="1200" noProof="0" dirty="0"/>
              <a:t>Solving simultaneous equations by adjusting both equations. </a:t>
            </a:r>
          </a:p>
          <a:p>
            <a:pPr>
              <a:defRPr/>
            </a:pPr>
            <a:endParaRPr lang="en-GB" sz="1200" noProof="0" dirty="0"/>
          </a:p>
        </p:txBody>
      </p:sp>
      <p:sp>
        <p:nvSpPr>
          <p:cNvPr id="6" name="TextBox 5">
            <a:extLst>
              <a:ext uri="{FF2B5EF4-FFF2-40B4-BE49-F238E27FC236}">
                <a16:creationId xmlns:a16="http://schemas.microsoft.com/office/drawing/2014/main" id="{C5074EF1-46DA-6944-95B7-7A2E909591E4}"/>
              </a:ext>
            </a:extLst>
          </p:cNvPr>
          <p:cNvSpPr txBox="1"/>
          <p:nvPr/>
        </p:nvSpPr>
        <p:spPr>
          <a:xfrm>
            <a:off x="223370" y="407430"/>
            <a:ext cx="6411256" cy="276999"/>
          </a:xfrm>
          <a:prstGeom prst="rect">
            <a:avLst/>
          </a:prstGeom>
          <a:noFill/>
          <a:ln>
            <a:solidFill>
              <a:schemeClr val="tx1"/>
            </a:solidFill>
          </a:ln>
        </p:spPr>
        <p:txBody>
          <a:bodyPr wrap="square" rtlCol="0">
            <a:spAutoFit/>
          </a:bodyPr>
          <a:lstStyle/>
          <a:p>
            <a:pPr algn="ctr"/>
            <a:r>
              <a:rPr lang="en-GB" sz="1200" b="1" noProof="0" dirty="0"/>
              <a:t>LEARNING OUTCOME: To solve simultaneous equations using the substitution method</a:t>
            </a:r>
            <a:endParaRPr lang="en-GB" sz="1200" noProof="0" dirty="0"/>
          </a:p>
        </p:txBody>
      </p:sp>
      <p:sp>
        <p:nvSpPr>
          <p:cNvPr id="7" name="TextBox 6">
            <a:extLst>
              <a:ext uri="{FF2B5EF4-FFF2-40B4-BE49-F238E27FC236}">
                <a16:creationId xmlns:a16="http://schemas.microsoft.com/office/drawing/2014/main" id="{404D762C-2D73-394D-9E02-268791A669F2}"/>
              </a:ext>
            </a:extLst>
          </p:cNvPr>
          <p:cNvSpPr txBox="1"/>
          <p:nvPr/>
        </p:nvSpPr>
        <p:spPr>
          <a:xfrm>
            <a:off x="4893447" y="791347"/>
            <a:ext cx="1741179" cy="1015663"/>
          </a:xfrm>
          <a:prstGeom prst="rect">
            <a:avLst/>
          </a:prstGeom>
          <a:noFill/>
          <a:ln w="12700">
            <a:solidFill>
              <a:schemeClr val="tx1"/>
            </a:solidFill>
          </a:ln>
        </p:spPr>
        <p:txBody>
          <a:bodyPr wrap="square" rtlCol="0">
            <a:spAutoFit/>
          </a:bodyPr>
          <a:lstStyle/>
          <a:p>
            <a:r>
              <a:rPr lang="en-GB" sz="1000" b="1" u="sng" noProof="0" dirty="0"/>
              <a:t>Keywords:</a:t>
            </a:r>
            <a:endParaRPr lang="en-GB" sz="1000" noProof="0" dirty="0"/>
          </a:p>
          <a:p>
            <a:pPr marL="285750" indent="-285750">
              <a:buFont typeface=".AppleSystemUIFont" charset="-120"/>
              <a:buChar char="-"/>
            </a:pPr>
            <a:r>
              <a:rPr lang="en-GB" sz="1000" noProof="0" dirty="0"/>
              <a:t>Simultaneous equations</a:t>
            </a:r>
          </a:p>
          <a:p>
            <a:pPr marL="285750" indent="-285750">
              <a:buFont typeface=".AppleSystemUIFont" charset="-120"/>
              <a:buChar char="-"/>
            </a:pPr>
            <a:r>
              <a:rPr lang="en-GB" sz="1000" noProof="0" dirty="0"/>
              <a:t>Linear equations</a:t>
            </a:r>
          </a:p>
          <a:p>
            <a:pPr marL="285750" indent="-285750">
              <a:buFont typeface=".AppleSystemUIFont" charset="-120"/>
              <a:buChar char="-"/>
            </a:pPr>
            <a:r>
              <a:rPr lang="en-GB" sz="1000" noProof="0" dirty="0"/>
              <a:t>Equivalent equations</a:t>
            </a:r>
          </a:p>
          <a:p>
            <a:pPr marL="285750" indent="-285750">
              <a:buFont typeface=".AppleSystemUIFont" charset="-120"/>
              <a:buChar char="-"/>
            </a:pPr>
            <a:r>
              <a:rPr lang="en-GB" sz="1000" noProof="0" dirty="0"/>
              <a:t>Intersection</a:t>
            </a:r>
          </a:p>
          <a:p>
            <a:pPr marL="285750" indent="-285750">
              <a:buFont typeface=".AppleSystemUIFont" charset="-120"/>
              <a:buChar char="-"/>
            </a:pPr>
            <a:r>
              <a:rPr lang="en-GB" sz="1000" noProof="0" dirty="0"/>
              <a:t>Elimination</a:t>
            </a:r>
          </a:p>
        </p:txBody>
      </p:sp>
      <p:sp>
        <p:nvSpPr>
          <p:cNvPr id="8" name="Rectangle 7">
            <a:extLst>
              <a:ext uri="{FF2B5EF4-FFF2-40B4-BE49-F238E27FC236}">
                <a16:creationId xmlns:a16="http://schemas.microsoft.com/office/drawing/2014/main" id="{56FE7EC4-5E01-5842-B2D3-567D0C78E897}"/>
              </a:ext>
            </a:extLst>
          </p:cNvPr>
          <p:cNvSpPr/>
          <p:nvPr/>
        </p:nvSpPr>
        <p:spPr>
          <a:xfrm>
            <a:off x="0" y="-68"/>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t>Subtopic 3e – Quadratic simultaneous equations </a:t>
            </a:r>
            <a:endParaRPr lang="en-GB" b="1" noProof="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5CA215D-761E-3A5E-7898-A14D2EC82DE7}"/>
                  </a:ext>
                </a:extLst>
              </p:cNvPr>
              <p:cNvSpPr txBox="1"/>
              <p:nvPr/>
            </p:nvSpPr>
            <p:spPr>
              <a:xfrm>
                <a:off x="105113" y="2056583"/>
                <a:ext cx="6636044" cy="830997"/>
              </a:xfrm>
              <a:prstGeom prst="rect">
                <a:avLst/>
              </a:prstGeom>
              <a:noFill/>
              <a:ln>
                <a:solidFill>
                  <a:schemeClr val="tx1"/>
                </a:solidFill>
              </a:ln>
            </p:spPr>
            <p:txBody>
              <a:bodyPr wrap="square" rtlCol="0">
                <a:spAutoFit/>
              </a:bodyPr>
              <a:lstStyle/>
              <a:p>
                <a:r>
                  <a:rPr lang="en-GB" sz="1200" noProof="0" dirty="0"/>
                  <a:t>When solving simultaneous equations that involve a quadratic the elimination method will not be sufficient. Therefore, we need to use a substitution method. We will look to substitute a linear equation into the quadratic. As one equation is a quadratic you can receive two sets of answers to these equations. (i.e. 2 values for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 </m:t>
                    </m:r>
                  </m:oMath>
                </a14:m>
                <a:r>
                  <a:rPr lang="en-GB" sz="1200" noProof="0" dirty="0"/>
                  <a:t>and 2 values for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 </m:t>
                    </m:r>
                  </m:oMath>
                </a14:m>
                <a:r>
                  <a:rPr lang="en-GB" sz="1200" noProof="0" dirty="0"/>
                  <a:t>). It is important that you give these solutions as pairs.</a:t>
                </a:r>
              </a:p>
            </p:txBody>
          </p:sp>
        </mc:Choice>
        <mc:Fallback xmlns="">
          <p:sp>
            <p:nvSpPr>
              <p:cNvPr id="10" name="TextBox 9">
                <a:extLst>
                  <a:ext uri="{FF2B5EF4-FFF2-40B4-BE49-F238E27FC236}">
                    <a16:creationId xmlns:a16="http://schemas.microsoft.com/office/drawing/2014/main" id="{85CA215D-761E-3A5E-7898-A14D2EC82DE7}"/>
                  </a:ext>
                </a:extLst>
              </p:cNvPr>
              <p:cNvSpPr txBox="1">
                <a:spLocks noRot="1" noChangeAspect="1" noMove="1" noResize="1" noEditPoints="1" noAdjustHandles="1" noChangeArrowheads="1" noChangeShapeType="1" noTextEdit="1"/>
              </p:cNvSpPr>
              <p:nvPr/>
            </p:nvSpPr>
            <p:spPr>
              <a:xfrm>
                <a:off x="105113" y="2056583"/>
                <a:ext cx="6636044" cy="830997"/>
              </a:xfrm>
              <a:prstGeom prst="rect">
                <a:avLst/>
              </a:prstGeom>
              <a:blipFill>
                <a:blip r:embed="rId3"/>
                <a:stretch>
                  <a:fillRect b="-3597"/>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DBFDA473-25A8-B2E9-4BBE-C7A0EF19E9EC}"/>
                  </a:ext>
                </a:extLst>
              </p:cNvPr>
              <p:cNvGraphicFramePr>
                <a:graphicFrameLocks noGrp="1"/>
              </p:cNvGraphicFramePr>
              <p:nvPr>
                <p:extLst>
                  <p:ext uri="{D42A27DB-BD31-4B8C-83A1-F6EECF244321}">
                    <p14:modId xmlns:p14="http://schemas.microsoft.com/office/powerpoint/2010/main" val="1816524471"/>
                  </p:ext>
                </p:extLst>
              </p:nvPr>
            </p:nvGraphicFramePr>
            <p:xfrm>
              <a:off x="105113" y="3032923"/>
              <a:ext cx="6647773" cy="6766560"/>
            </p:xfrm>
            <a:graphic>
              <a:graphicData uri="http://schemas.openxmlformats.org/drawingml/2006/table">
                <a:tbl>
                  <a:tblPr firstRow="1" bandRow="1">
                    <a:tableStyleId>{5C22544A-7EE6-4342-B048-85BDC9FD1C3A}</a:tableStyleId>
                  </a:tblPr>
                  <a:tblGrid>
                    <a:gridCol w="1042538">
                      <a:extLst>
                        <a:ext uri="{9D8B030D-6E8A-4147-A177-3AD203B41FA5}">
                          <a16:colId xmlns:a16="http://schemas.microsoft.com/office/drawing/2014/main" val="4222859584"/>
                        </a:ext>
                      </a:extLst>
                    </a:gridCol>
                    <a:gridCol w="1873510">
                      <a:extLst>
                        <a:ext uri="{9D8B030D-6E8A-4147-A177-3AD203B41FA5}">
                          <a16:colId xmlns:a16="http://schemas.microsoft.com/office/drawing/2014/main" val="2943938818"/>
                        </a:ext>
                      </a:extLst>
                    </a:gridCol>
                    <a:gridCol w="1813213">
                      <a:extLst>
                        <a:ext uri="{9D8B030D-6E8A-4147-A177-3AD203B41FA5}">
                          <a16:colId xmlns:a16="http://schemas.microsoft.com/office/drawing/2014/main" val="4207345459"/>
                        </a:ext>
                      </a:extLst>
                    </a:gridCol>
                    <a:gridCol w="1918512">
                      <a:extLst>
                        <a:ext uri="{9D8B030D-6E8A-4147-A177-3AD203B41FA5}">
                          <a16:colId xmlns:a16="http://schemas.microsoft.com/office/drawing/2014/main" val="592218920"/>
                        </a:ext>
                      </a:extLst>
                    </a:gridCol>
                  </a:tblGrid>
                  <a:tr h="221749">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cs typeface="Calibri" panose="020F0502020204030204" pitchFamily="34" charset="0"/>
                            </a:rPr>
                            <a:t>Example 1 -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 – We</a:t>
                          </a:r>
                          <a:r>
                            <a:rPr lang="en-GB" sz="1200" b="1" i="1" baseline="0" noProof="0" dirty="0">
                              <a:solidFill>
                                <a:schemeClr val="accent2"/>
                              </a:solidFill>
                            </a:rPr>
                            <a:t> </a:t>
                          </a:r>
                          <a:r>
                            <a:rPr lang="en-GB" sz="1200" b="1" i="1" noProof="0" dirty="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3 – You</a:t>
                          </a:r>
                          <a:r>
                            <a:rPr lang="en-GB" sz="1200" b="1" i="1" baseline="0" noProof="0" dirty="0">
                              <a:solidFill>
                                <a:srgbClr val="00B050"/>
                              </a:solidFill>
                            </a:rPr>
                            <a:t> </a:t>
                          </a:r>
                          <a:r>
                            <a:rPr lang="en-GB" sz="1200" b="1" i="1" noProof="0" dirty="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66524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1) Set each equation equal to each other.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Solve the simultaneous equations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m:t>
                                </m:r>
                                <m:sSup>
                                  <m:sSupPr>
                                    <m:ctrlPr>
                                      <a:rPr lang="en-GB" sz="1200" b="0" i="1" baseline="0" noProof="0" smtClean="0">
                                        <a:solidFill>
                                          <a:schemeClr val="tx1"/>
                                        </a:solidFill>
                                        <a:latin typeface="Cambria Math" panose="02040503050406030204" pitchFamily="18" charset="0"/>
                                        <a:cs typeface="Calibri" panose="020F0502020204030204" pitchFamily="34" charset="0"/>
                                      </a:rPr>
                                    </m:ctrlPr>
                                  </m:sSupPr>
                                  <m:e>
                                    <m:r>
                                      <a:rPr lang="en-GB" sz="1200" b="0" i="1" baseline="0" noProof="0" smtClean="0">
                                        <a:solidFill>
                                          <a:schemeClr val="tx1"/>
                                        </a:solidFill>
                                        <a:latin typeface="Cambria Math" panose="02040503050406030204" pitchFamily="18" charset="0"/>
                                        <a:cs typeface="Calibri" panose="020F0502020204030204" pitchFamily="34" charset="0"/>
                                      </a:rPr>
                                      <m:t>𝑥</m:t>
                                    </m:r>
                                  </m:e>
                                  <m:sup>
                                    <m:r>
                                      <a:rPr lang="en-GB" sz="1200" b="0" i="1" baseline="0" noProof="0" smtClean="0">
                                        <a:solidFill>
                                          <a:schemeClr val="tx1"/>
                                        </a:solidFill>
                                        <a:latin typeface="Cambria Math" panose="02040503050406030204" pitchFamily="18" charset="0"/>
                                        <a:cs typeface="Calibri" panose="020F0502020204030204" pitchFamily="34" charset="0"/>
                                      </a:rPr>
                                      <m:t>2</m:t>
                                    </m:r>
                                  </m:sup>
                                </m:sSup>
                                <m:r>
                                  <a:rPr lang="en-GB" sz="1200" b="0" i="1" baseline="0" noProof="0" smtClean="0">
                                    <a:solidFill>
                                      <a:schemeClr val="tx1"/>
                                    </a:solidFill>
                                    <a:latin typeface="Cambria Math" panose="02040503050406030204" pitchFamily="18" charset="0"/>
                                    <a:cs typeface="Calibri" panose="020F0502020204030204" pitchFamily="34" charset="0"/>
                                  </a:rPr>
                                  <m:t>+</m:t>
                                </m:r>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−2</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=2</m:t>
                                </m:r>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+4</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Solve the simultaneous equations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m:t>
                                </m:r>
                                <m:sSup>
                                  <m:sSupPr>
                                    <m:ctrlPr>
                                      <a:rPr lang="en-GB" sz="1200" b="0" i="1" baseline="0" noProof="0" smtClean="0">
                                        <a:solidFill>
                                          <a:schemeClr val="tx1"/>
                                        </a:solidFill>
                                        <a:latin typeface="Cambria Math" panose="02040503050406030204" pitchFamily="18" charset="0"/>
                                        <a:cs typeface="Calibri" panose="020F0502020204030204" pitchFamily="34" charset="0"/>
                                      </a:rPr>
                                    </m:ctrlPr>
                                  </m:sSupPr>
                                  <m:e>
                                    <m:r>
                                      <a:rPr lang="en-GB" sz="1200" b="0" i="1" baseline="0" noProof="0" smtClean="0">
                                        <a:solidFill>
                                          <a:schemeClr val="tx1"/>
                                        </a:solidFill>
                                        <a:latin typeface="Cambria Math" panose="02040503050406030204" pitchFamily="18" charset="0"/>
                                        <a:cs typeface="Calibri" panose="020F0502020204030204" pitchFamily="34" charset="0"/>
                                      </a:rPr>
                                      <m:t>𝑥</m:t>
                                    </m:r>
                                  </m:e>
                                  <m:sup>
                                    <m:r>
                                      <a:rPr lang="en-GB" sz="1200" b="0" i="1" baseline="0" noProof="0" smtClean="0">
                                        <a:solidFill>
                                          <a:schemeClr val="tx1"/>
                                        </a:solidFill>
                                        <a:latin typeface="Cambria Math" panose="02040503050406030204" pitchFamily="18" charset="0"/>
                                        <a:cs typeface="Calibri" panose="020F0502020204030204" pitchFamily="34" charset="0"/>
                                      </a:rPr>
                                      <m:t>2</m:t>
                                    </m:r>
                                  </m:sup>
                                </m:sSup>
                                <m:r>
                                  <a:rPr lang="en-GB" sz="1200" b="0" i="1" baseline="0" noProof="0" smtClean="0">
                                    <a:solidFill>
                                      <a:schemeClr val="tx1"/>
                                    </a:solidFill>
                                    <a:latin typeface="Cambria Math" panose="02040503050406030204" pitchFamily="18" charset="0"/>
                                    <a:cs typeface="Calibri" panose="020F0502020204030204" pitchFamily="34" charset="0"/>
                                  </a:rPr>
                                  <m:t>+7</m:t>
                                </m:r>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−2</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m:t>
                                </m:r>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+4</m:t>
                                </m:r>
                              </m:oMath>
                            </m:oMathPara>
                          </a14:m>
                          <a:endParaRPr lang="en-GB" sz="1200" b="0" i="0" baseline="0" noProof="0" dirty="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Solve the simultaneous equations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m:t>
                                </m:r>
                                <m:sSup>
                                  <m:sSupPr>
                                    <m:ctrlPr>
                                      <a:rPr lang="en-GB" sz="1200" b="0" i="1" baseline="0" noProof="0" smtClean="0">
                                        <a:solidFill>
                                          <a:schemeClr val="tx1"/>
                                        </a:solidFill>
                                        <a:latin typeface="Cambria Math" panose="02040503050406030204" pitchFamily="18" charset="0"/>
                                        <a:cs typeface="Calibri" panose="020F0502020204030204" pitchFamily="34" charset="0"/>
                                      </a:rPr>
                                    </m:ctrlPr>
                                  </m:sSupPr>
                                  <m:e>
                                    <m:r>
                                      <a:rPr lang="en-GB" sz="1200" b="0" i="1" baseline="0" noProof="0" smtClean="0">
                                        <a:solidFill>
                                          <a:schemeClr val="tx1"/>
                                        </a:solidFill>
                                        <a:latin typeface="Cambria Math" panose="02040503050406030204" pitchFamily="18" charset="0"/>
                                        <a:cs typeface="Calibri" panose="020F0502020204030204" pitchFamily="34" charset="0"/>
                                      </a:rPr>
                                      <m:t>𝑥</m:t>
                                    </m:r>
                                  </m:e>
                                  <m:sup>
                                    <m:r>
                                      <a:rPr lang="en-GB" sz="1200" b="0" i="1" baseline="0" noProof="0" smtClean="0">
                                        <a:solidFill>
                                          <a:schemeClr val="tx1"/>
                                        </a:solidFill>
                                        <a:latin typeface="Cambria Math" panose="02040503050406030204" pitchFamily="18" charset="0"/>
                                        <a:cs typeface="Calibri" panose="020F0502020204030204" pitchFamily="34" charset="0"/>
                                      </a:rPr>
                                      <m:t>2</m:t>
                                    </m:r>
                                  </m:sup>
                                </m:sSup>
                                <m:r>
                                  <a:rPr lang="en-GB" sz="1200" b="0" i="1" baseline="0" noProof="0" smtClean="0">
                                    <a:solidFill>
                                      <a:schemeClr val="tx1"/>
                                    </a:solidFill>
                                    <a:latin typeface="Cambria Math" panose="02040503050406030204" pitchFamily="18" charset="0"/>
                                    <a:cs typeface="Calibri" panose="020F0502020204030204" pitchFamily="34" charset="0"/>
                                  </a:rPr>
                                  <m:t>−3</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=2</m:t>
                                </m:r>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+5</m:t>
                                </m:r>
                              </m:oMath>
                            </m:oMathPara>
                          </a14:m>
                          <a:endParaRPr lang="en-GB" sz="1200" b="0" i="0" baseline="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265822"/>
                      </a:ext>
                    </a:extLst>
                  </a:tr>
                  <a:tr h="54371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2)</a:t>
                          </a:r>
                          <a:r>
                            <a:rPr lang="en-GB" sz="1200" b="0" i="0" baseline="0" noProof="0" dirty="0">
                              <a:solidFill>
                                <a:schemeClr val="tx1"/>
                              </a:solidFill>
                              <a:cs typeface="Calibri" panose="020F0502020204030204" pitchFamily="34" charset="0"/>
                            </a:rPr>
                            <a:t> Rearrange to = 0</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81007270"/>
                      </a:ext>
                    </a:extLst>
                  </a:tr>
                  <a:tr h="96091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3) Solve by</a:t>
                          </a:r>
                          <a:r>
                            <a:rPr lang="en-GB" sz="1200" b="0" i="0" baseline="0" noProof="0" dirty="0">
                              <a:solidFill>
                                <a:schemeClr val="tx1"/>
                              </a:solidFill>
                              <a:cs typeface="Calibri" panose="020F0502020204030204" pitchFamily="34" charset="0"/>
                            </a:rPr>
                            <a:t> either:</a:t>
                          </a:r>
                          <a:endParaRPr lang="en-GB" sz="1200" b="0" i="0" noProof="0" dirty="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a) Factorising</a:t>
                          </a:r>
                          <a:br>
                            <a:rPr lang="en-GB" sz="1200" b="0" i="0" noProof="0" dirty="0">
                              <a:solidFill>
                                <a:schemeClr val="tx1"/>
                              </a:solidFill>
                              <a:cs typeface="Calibri" panose="020F0502020204030204" pitchFamily="34" charset="0"/>
                            </a:rPr>
                          </a:br>
                          <a:endParaRPr lang="en-GB" sz="1200" b="0" i="0" noProof="0" dirty="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b) Quadratic Formula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228761373"/>
                      </a:ext>
                    </a:extLst>
                  </a:tr>
                  <a:tr h="51741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4) Substitute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𝑥</m:t>
                              </m:r>
                            </m:oMath>
                          </a14:m>
                          <a:r>
                            <a:rPr lang="en-GB" sz="1200" b="0" i="0" noProof="0" dirty="0">
                              <a:solidFill>
                                <a:schemeClr val="tx1"/>
                              </a:solidFill>
                              <a:cs typeface="Calibri" panose="020F0502020204030204" pitchFamily="34" charset="0"/>
                            </a:rPr>
                            <a:t> values to find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𝑦</m:t>
                              </m:r>
                            </m:oMath>
                          </a14:m>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07296716"/>
                      </a:ext>
                    </a:extLst>
                  </a:tr>
                  <a:tr h="137646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5) Write solutions in pairs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09687205"/>
                      </a:ext>
                    </a:extLst>
                  </a:tr>
                </a:tbl>
              </a:graphicData>
            </a:graphic>
          </p:graphicFrame>
        </mc:Choice>
        <mc:Fallback xmlns="">
          <p:graphicFrame>
            <p:nvGraphicFramePr>
              <p:cNvPr id="11" name="Table 10">
                <a:extLst>
                  <a:ext uri="{FF2B5EF4-FFF2-40B4-BE49-F238E27FC236}">
                    <a16:creationId xmlns:a16="http://schemas.microsoft.com/office/drawing/2014/main" id="{DBFDA473-25A8-B2E9-4BBE-C7A0EF19E9EC}"/>
                  </a:ext>
                </a:extLst>
              </p:cNvPr>
              <p:cNvGraphicFramePr>
                <a:graphicFrameLocks noGrp="1"/>
              </p:cNvGraphicFramePr>
              <p:nvPr>
                <p:extLst>
                  <p:ext uri="{D42A27DB-BD31-4B8C-83A1-F6EECF244321}">
                    <p14:modId xmlns:p14="http://schemas.microsoft.com/office/powerpoint/2010/main" val="1816524471"/>
                  </p:ext>
                </p:extLst>
              </p:nvPr>
            </p:nvGraphicFramePr>
            <p:xfrm>
              <a:off x="105113" y="3032923"/>
              <a:ext cx="6647773" cy="6766560"/>
            </p:xfrm>
            <a:graphic>
              <a:graphicData uri="http://schemas.openxmlformats.org/drawingml/2006/table">
                <a:tbl>
                  <a:tblPr firstRow="1" bandRow="1">
                    <a:tableStyleId>{5C22544A-7EE6-4342-B048-85BDC9FD1C3A}</a:tableStyleId>
                  </a:tblPr>
                  <a:tblGrid>
                    <a:gridCol w="1042538">
                      <a:extLst>
                        <a:ext uri="{9D8B030D-6E8A-4147-A177-3AD203B41FA5}">
                          <a16:colId xmlns:a16="http://schemas.microsoft.com/office/drawing/2014/main" val="4222859584"/>
                        </a:ext>
                      </a:extLst>
                    </a:gridCol>
                    <a:gridCol w="1873510">
                      <a:extLst>
                        <a:ext uri="{9D8B030D-6E8A-4147-A177-3AD203B41FA5}">
                          <a16:colId xmlns:a16="http://schemas.microsoft.com/office/drawing/2014/main" val="2943938818"/>
                        </a:ext>
                      </a:extLst>
                    </a:gridCol>
                    <a:gridCol w="1813213">
                      <a:extLst>
                        <a:ext uri="{9D8B030D-6E8A-4147-A177-3AD203B41FA5}">
                          <a16:colId xmlns:a16="http://schemas.microsoft.com/office/drawing/2014/main" val="4207345459"/>
                        </a:ext>
                      </a:extLst>
                    </a:gridCol>
                    <a:gridCol w="1918512">
                      <a:extLst>
                        <a:ext uri="{9D8B030D-6E8A-4147-A177-3AD203B41FA5}">
                          <a16:colId xmlns:a16="http://schemas.microsoft.com/office/drawing/2014/main" val="592218920"/>
                        </a:ext>
                      </a:extLst>
                    </a:gridCol>
                  </a:tblGrid>
                  <a:tr h="27432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cs typeface="Calibri" panose="020F0502020204030204" pitchFamily="34" charset="0"/>
                            </a:rPr>
                            <a:t>Example 1 -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2 – We</a:t>
                          </a:r>
                          <a:r>
                            <a:rPr lang="en-GB" sz="1200" b="1" i="1" baseline="0" noProof="0">
                              <a:solidFill>
                                <a:schemeClr val="accent2"/>
                              </a:solidFill>
                            </a:rPr>
                            <a:t> </a:t>
                          </a:r>
                          <a:r>
                            <a:rPr lang="en-GB" sz="1200" b="1" i="1" noProof="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3 – You</a:t>
                          </a:r>
                          <a:r>
                            <a:rPr lang="en-GB" sz="1200" b="1" i="1" baseline="0" noProof="0">
                              <a:solidFill>
                                <a:srgbClr val="00B050"/>
                              </a:solidFill>
                            </a:rPr>
                            <a:t> </a:t>
                          </a:r>
                          <a:r>
                            <a:rPr lang="en-GB" sz="1200" b="1" i="1" noProof="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82296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baseline="0" noProof="0">
                              <a:solidFill>
                                <a:schemeClr val="tx1"/>
                              </a:solidFill>
                              <a:cs typeface="Calibri" panose="020F0502020204030204" pitchFamily="34" charset="0"/>
                            </a:rPr>
                            <a:t>1) Set each equation equal to each other.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5844" t="-4315" r="-199351" b="-188"/>
                          </a:stretch>
                        </a:blipFill>
                      </a:tcPr>
                    </a:tc>
                    <a:tc rowSpan="5">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61616" t="-4315" r="-106734" b="-188"/>
                          </a:stretch>
                        </a:blipFill>
                      </a:tcPr>
                    </a:tc>
                    <a:tc rowSpan="5">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46667" t="-4315" r="-635" b="-188"/>
                          </a:stretch>
                        </a:blipFill>
                      </a:tcPr>
                    </a:tc>
                    <a:extLst>
                      <a:ext uri="{0D108BD9-81ED-4DB2-BD59-A6C34878D82A}">
                        <a16:rowId xmlns:a16="http://schemas.microsoft.com/office/drawing/2014/main" val="3427265822"/>
                      </a:ext>
                    </a:extLst>
                  </a:tr>
                  <a:tr h="54371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2)</a:t>
                          </a:r>
                          <a:r>
                            <a:rPr lang="en-GB" sz="1200" b="0" i="0" baseline="0" noProof="0">
                              <a:solidFill>
                                <a:schemeClr val="tx1"/>
                              </a:solidFill>
                              <a:cs typeface="Calibri" panose="020F0502020204030204" pitchFamily="34" charset="0"/>
                            </a:rPr>
                            <a:t> Rearrange to = 0</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81007270"/>
                      </a:ext>
                    </a:extLst>
                  </a:tr>
                  <a:tr h="11887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3) Solve by</a:t>
                          </a:r>
                          <a:r>
                            <a:rPr lang="en-GB" sz="1200" b="0" i="0" baseline="0" noProof="0">
                              <a:solidFill>
                                <a:schemeClr val="tx1"/>
                              </a:solidFill>
                              <a:cs typeface="Calibri" panose="020F0502020204030204" pitchFamily="34" charset="0"/>
                            </a:rPr>
                            <a:t> either:</a:t>
                          </a:r>
                          <a:endParaRPr lang="en-GB" sz="1200" b="0" i="0" noProof="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a) Factorising</a:t>
                          </a:r>
                          <a:br>
                            <a:rPr lang="en-GB" sz="1200" b="0" i="0" noProof="0">
                              <a:solidFill>
                                <a:schemeClr val="tx1"/>
                              </a:solidFill>
                              <a:cs typeface="Calibri" panose="020F0502020204030204" pitchFamily="34" charset="0"/>
                            </a:rPr>
                          </a:br>
                          <a:endParaRPr lang="en-GB" sz="1200" b="0" i="0" noProof="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b) Quadratic Formula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228761373"/>
                      </a:ext>
                    </a:extLst>
                  </a:tr>
                  <a:tr h="6400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85" t="-443810" r="-539181" b="-517143"/>
                          </a:stretch>
                        </a:blip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07296716"/>
                      </a:ext>
                    </a:extLst>
                  </a:tr>
                  <a:tr h="329676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5) Write solutions in pairs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09687205"/>
                      </a:ext>
                    </a:extLst>
                  </a:tr>
                </a:tbl>
              </a:graphicData>
            </a:graphic>
          </p:graphicFrame>
        </mc:Fallback>
      </mc:AlternateContent>
    </p:spTree>
    <p:extLst>
      <p:ext uri="{BB962C8B-B14F-4D97-AF65-F5344CB8AC3E}">
        <p14:creationId xmlns:p14="http://schemas.microsoft.com/office/powerpoint/2010/main" val="85613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p:cNvSpPr txBox="1"/>
              <p:nvPr/>
            </p:nvSpPr>
            <p:spPr>
              <a:xfrm>
                <a:off x="132397" y="348088"/>
                <a:ext cx="1500283" cy="646331"/>
              </a:xfrm>
              <a:prstGeom prst="rect">
                <a:avLst/>
              </a:prstGeom>
              <a:noFill/>
            </p:spPr>
            <p:txBody>
              <a:bodyPr wrap="none" rtlCol="0">
                <a:spAutoFit/>
              </a:bodyPr>
              <a:lstStyle/>
              <a:p>
                <a:pPr lvl="0" algn="ctr" defTabSz="685800">
                  <a:defRPr/>
                </a:pPr>
                <a:r>
                  <a:rPr lang="en-GB" sz="1200" noProof="0" dirty="0"/>
                  <a:t>a) </a:t>
                </a:r>
                <a14:m>
                  <m:oMath xmlns:m="http://schemas.openxmlformats.org/officeDocument/2006/math">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m:t>
                    </m:r>
                    <m:sSup>
                      <m:sSupPr>
                        <m:ctrlPr>
                          <a:rPr lang="en-GB" sz="1200" i="1" noProof="0" smtClean="0">
                            <a:latin typeface="Cambria Math" panose="02040503050406030204" pitchFamily="18" charset="0"/>
                            <a:cs typeface="Calibri" panose="020F0502020204030204" pitchFamily="34" charset="0"/>
                          </a:rPr>
                        </m:ctrlPr>
                      </m:sSupPr>
                      <m:e>
                        <m:r>
                          <a:rPr lang="en-GB" sz="1200" b="0" i="1" noProof="0" smtClean="0">
                            <a:latin typeface="Cambria Math" panose="02040503050406030204" pitchFamily="18" charset="0"/>
                            <a:cs typeface="Calibri" panose="020F0502020204030204" pitchFamily="34" charset="0"/>
                          </a:rPr>
                          <m:t>𝑥</m:t>
                        </m:r>
                      </m:e>
                      <m:sup>
                        <m:r>
                          <a:rPr lang="en-GB" sz="1200" b="0" i="1" noProof="0" smtClean="0">
                            <a:latin typeface="Cambria Math" panose="02040503050406030204" pitchFamily="18" charset="0"/>
                            <a:cs typeface="Calibri" panose="020F0502020204030204" pitchFamily="34" charset="0"/>
                          </a:rPr>
                          <m:t>2</m:t>
                        </m:r>
                      </m:sup>
                    </m:sSup>
                    <m:r>
                      <a:rPr lang="en-GB" sz="1200" b="0" i="1" noProof="0" smtClean="0">
                        <a:latin typeface="Cambria Math" panose="02040503050406030204" pitchFamily="18" charset="0"/>
                        <a:cs typeface="Calibri" panose="020F0502020204030204" pitchFamily="34" charset="0"/>
                      </a:rPr>
                      <m:t>+5</m:t>
                    </m:r>
                    <m:r>
                      <a:rPr lang="en-GB" sz="1200" b="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oMath>
                </a14:m>
                <a:endParaRPr lang="en-GB" sz="1200" noProof="0" dirty="0">
                  <a:cs typeface="Calibri" panose="020F0502020204030204" pitchFamily="34" charset="0"/>
                </a:endParaRPr>
              </a:p>
              <a:p>
                <a:pPr lvl="0" algn="ctr" defTabSz="685800">
                  <a:defRPr/>
                </a:pPr>
                <a:r>
                  <a:rPr lang="en-GB" sz="1200" noProof="0" dirty="0">
                    <a:cs typeface="Calibri" panose="020F0502020204030204" pitchFamily="34" charset="0"/>
                  </a:rPr>
                  <a:t>      </a:t>
                </a:r>
                <a14:m>
                  <m:oMath xmlns:m="http://schemas.openxmlformats.org/officeDocument/2006/math">
                    <m:r>
                      <a:rPr lang="en-GB" sz="1200" b="0" i="1" noProof="0" smtClean="0">
                        <a:latin typeface="Cambria Math" panose="02040503050406030204" pitchFamily="18" charset="0"/>
                        <a:cs typeface="Calibri" panose="020F0502020204030204" pitchFamily="34" charset="0"/>
                      </a:rPr>
                      <m:t>𝑦</m:t>
                    </m:r>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+3</m:t>
                    </m:r>
                  </m:oMath>
                </a14:m>
                <a:endParaRPr lang="en-GB" sz="1200" noProof="0" dirty="0">
                  <a:cs typeface="Calibri" panose="020F0502020204030204" pitchFamily="34" charset="0"/>
                </a:endParaRPr>
              </a:p>
              <a:p>
                <a:r>
                  <a:rPr lang="en-GB" sz="1200" noProof="0" dirty="0"/>
                  <a:t> </a:t>
                </a:r>
              </a:p>
            </p:txBody>
          </p:sp>
        </mc:Choice>
        <mc:Fallback xmlns="">
          <p:sp>
            <p:nvSpPr>
              <p:cNvPr id="7" name="TextBox 6"/>
              <p:cNvSpPr txBox="1">
                <a:spLocks noRot="1" noChangeAspect="1" noMove="1" noResize="1" noEditPoints="1" noAdjustHandles="1" noChangeArrowheads="1" noChangeShapeType="1" noTextEdit="1"/>
              </p:cNvSpPr>
              <p:nvPr/>
            </p:nvSpPr>
            <p:spPr>
              <a:xfrm>
                <a:off x="132397" y="348088"/>
                <a:ext cx="1500283" cy="64633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568036" y="348088"/>
                <a:ext cx="1490281" cy="461665"/>
              </a:xfrm>
              <a:prstGeom prst="rect">
                <a:avLst/>
              </a:prstGeom>
              <a:noFill/>
            </p:spPr>
            <p:txBody>
              <a:bodyPr wrap="none" rtlCol="0">
                <a:spAutoFit/>
              </a:bodyPr>
              <a:lstStyle/>
              <a:p>
                <a:pPr lvl="0" algn="ctr" defTabSz="685800">
                  <a:defRPr/>
                </a:pPr>
                <a:r>
                  <a:rPr lang="en-GB" sz="1200" noProof="0" dirty="0"/>
                  <a:t>b)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𝑦</m:t>
                    </m:r>
                    <m:r>
                      <a:rPr lang="en-GB" sz="1200" b="0" i="1" noProof="0" smtClean="0">
                        <a:latin typeface="Cambria Math" panose="02040503050406030204" pitchFamily="18" charset="0"/>
                        <a:cs typeface="Calibri" panose="020F0502020204030204" pitchFamily="34" charset="0"/>
                      </a:rPr>
                      <m:t>=</m:t>
                    </m:r>
                    <m:sSup>
                      <m:sSupPr>
                        <m:ctrlPr>
                          <a:rPr lang="en-GB" sz="1200" b="0" i="1" noProof="0" smtClean="0">
                            <a:latin typeface="Cambria Math" panose="02040503050406030204" pitchFamily="18" charset="0"/>
                            <a:cs typeface="Calibri" panose="020F0502020204030204" pitchFamily="34" charset="0"/>
                          </a:rPr>
                        </m:ctrlPr>
                      </m:sSupPr>
                      <m:e>
                        <m:r>
                          <a:rPr lang="en-GB" sz="1200" b="0" i="1" noProof="0" smtClean="0">
                            <a:latin typeface="Cambria Math" panose="02040503050406030204" pitchFamily="18" charset="0"/>
                            <a:cs typeface="Calibri" panose="020F0502020204030204" pitchFamily="34" charset="0"/>
                          </a:rPr>
                          <m:t>𝑥</m:t>
                        </m:r>
                      </m:e>
                      <m:sup>
                        <m:r>
                          <a:rPr lang="en-GB" sz="1200" b="0" i="1" noProof="0" smtClean="0">
                            <a:latin typeface="Cambria Math" panose="02040503050406030204" pitchFamily="18" charset="0"/>
                            <a:cs typeface="Calibri" panose="020F0502020204030204" pitchFamily="34" charset="0"/>
                          </a:rPr>
                          <m:t>2</m:t>
                        </m:r>
                      </m:sup>
                    </m:sSup>
                    <m:r>
                      <a:rPr lang="en-GB" sz="1200" b="0" i="1" noProof="0" smtClean="0">
                        <a:latin typeface="Cambria Math" panose="02040503050406030204" pitchFamily="18" charset="0"/>
                        <a:cs typeface="Calibri" panose="020F0502020204030204" pitchFamily="34" charset="0"/>
                      </a:rPr>
                      <m:t>−9</m:t>
                    </m:r>
                    <m:r>
                      <a:rPr lang="en-GB" sz="1200" b="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−3</m:t>
                    </m:r>
                  </m:oMath>
                </a14:m>
                <a:br>
                  <a:rPr lang="en-GB" sz="1200" noProof="0" dirty="0"/>
                </a:b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oMath>
                  </m:oMathPara>
                </a14:m>
                <a:endParaRPr lang="en-GB" sz="1200" noProof="0" dirty="0"/>
              </a:p>
            </p:txBody>
          </p:sp>
        </mc:Choice>
        <mc:Fallback xmlns="">
          <p:sp>
            <p:nvSpPr>
              <p:cNvPr id="8" name="TextBox 7"/>
              <p:cNvSpPr txBox="1">
                <a:spLocks noRot="1" noChangeAspect="1" noMove="1" noResize="1" noEditPoints="1" noAdjustHandles="1" noChangeArrowheads="1" noChangeShapeType="1" noTextEdit="1"/>
              </p:cNvSpPr>
              <p:nvPr/>
            </p:nvSpPr>
            <p:spPr>
              <a:xfrm>
                <a:off x="3568036" y="348088"/>
                <a:ext cx="1490281" cy="461665"/>
              </a:xfrm>
              <a:prstGeom prst="rect">
                <a:avLst/>
              </a:prstGeom>
              <a:blipFill>
                <a:blip r:embed="rId3"/>
                <a:stretch>
                  <a:fillRect/>
                </a:stretch>
              </a:blipFill>
            </p:spPr>
            <p:txBody>
              <a:bodyPr/>
              <a:lstStyle/>
              <a:p>
                <a:r>
                  <a:rPr lang="en-US">
                    <a:noFill/>
                  </a:rPr>
                  <a:t> </a:t>
                </a:r>
              </a:p>
            </p:txBody>
          </p:sp>
        </mc:Fallback>
      </mc:AlternateContent>
      <p:sp>
        <p:nvSpPr>
          <p:cNvPr id="10" name="Rectangle 9"/>
          <p:cNvSpPr/>
          <p:nvPr/>
        </p:nvSpPr>
        <p:spPr>
          <a:xfrm>
            <a:off x="238596" y="768339"/>
            <a:ext cx="3158773"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Rectangle 10"/>
          <p:cNvSpPr/>
          <p:nvPr/>
        </p:nvSpPr>
        <p:spPr>
          <a:xfrm>
            <a:off x="3541610" y="768340"/>
            <a:ext cx="3111891"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13" name="TextBox 12"/>
              <p:cNvSpPr txBox="1"/>
              <p:nvPr/>
            </p:nvSpPr>
            <p:spPr>
              <a:xfrm>
                <a:off x="151627" y="4846384"/>
                <a:ext cx="1408527" cy="461665"/>
              </a:xfrm>
              <a:prstGeom prst="rect">
                <a:avLst/>
              </a:prstGeom>
              <a:noFill/>
            </p:spPr>
            <p:txBody>
              <a:bodyPr wrap="none" rtlCol="0">
                <a:spAutoFit/>
              </a:bodyPr>
              <a:lstStyle/>
              <a:p>
                <a:pPr lvl="0" algn="ctr" defTabSz="685800">
                  <a:defRPr/>
                </a:pPr>
                <a:r>
                  <a:rPr lang="en-GB" sz="1200" noProof="0" dirty="0"/>
                  <a:t>c)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a14:m>
                <a:endParaRPr lang="en-GB" sz="1200" b="0" noProof="0" dirty="0"/>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oMath>
                  </m:oMathPara>
                </a14:m>
                <a:endParaRPr lang="en-GB" sz="1200" noProof="0" dirty="0"/>
              </a:p>
            </p:txBody>
          </p:sp>
        </mc:Choice>
        <mc:Fallback xmlns="">
          <p:sp>
            <p:nvSpPr>
              <p:cNvPr id="13" name="TextBox 12"/>
              <p:cNvSpPr txBox="1">
                <a:spLocks noRot="1" noChangeAspect="1" noMove="1" noResize="1" noEditPoints="1" noAdjustHandles="1" noChangeArrowheads="1" noChangeShapeType="1" noTextEdit="1"/>
              </p:cNvSpPr>
              <p:nvPr/>
            </p:nvSpPr>
            <p:spPr>
              <a:xfrm>
                <a:off x="151627" y="4846384"/>
                <a:ext cx="1408527"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549118" y="4846384"/>
                <a:ext cx="1474827" cy="646331"/>
              </a:xfrm>
              <a:prstGeom prst="rect">
                <a:avLst/>
              </a:prstGeom>
              <a:noFill/>
            </p:spPr>
            <p:txBody>
              <a:bodyPr wrap="none" rtlCol="0">
                <a:spAutoFit/>
              </a:bodyPr>
              <a:lstStyle/>
              <a:p>
                <a:pPr lvl="0" algn="ctr" defTabSz="685800">
                  <a:defRPr/>
                </a:pPr>
                <a:r>
                  <a:rPr lang="en-GB" sz="1200" noProof="0" dirty="0"/>
                  <a:t>d)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m:rPr>
                        <m:sty m:val="p"/>
                      </m:rPr>
                      <a:rPr lang="en-GB" sz="1200" b="0" i="0" noProof="0" smtClean="0">
                        <a:latin typeface="Cambria Math" panose="02040503050406030204" pitchFamily="18" charset="0"/>
                        <a:cs typeface="Calibri" panose="020F0502020204030204" pitchFamily="34" charset="0"/>
                      </a:rPr>
                      <m:t>y</m:t>
                    </m:r>
                    <m:r>
                      <a:rPr lang="en-GB" sz="1200" b="0" i="0" noProof="0" smtClean="0">
                        <a:latin typeface="Cambria Math" panose="02040503050406030204" pitchFamily="18" charset="0"/>
                        <a:cs typeface="Calibri" panose="020F0502020204030204" pitchFamily="34" charset="0"/>
                      </a:rPr>
                      <m:t>=</m:t>
                    </m:r>
                    <m:sSup>
                      <m:sSupPr>
                        <m:ctrlPr>
                          <a:rPr lang="en-GB" sz="1200" b="0" i="1" noProof="0" smtClean="0">
                            <a:latin typeface="Cambria Math" panose="02040503050406030204" pitchFamily="18" charset="0"/>
                            <a:cs typeface="Calibri" panose="020F0502020204030204" pitchFamily="34" charset="0"/>
                          </a:rPr>
                        </m:ctrlPr>
                      </m:sSupPr>
                      <m:e>
                        <m:r>
                          <a:rPr lang="en-GB" sz="1200" b="0" i="1" noProof="0" smtClean="0">
                            <a:latin typeface="Cambria Math" panose="02040503050406030204" pitchFamily="18" charset="0"/>
                            <a:cs typeface="Calibri" panose="020F0502020204030204" pitchFamily="34" charset="0"/>
                          </a:rPr>
                          <m:t>𝑥</m:t>
                        </m:r>
                      </m:e>
                      <m:sup>
                        <m:r>
                          <a:rPr lang="en-GB" sz="1200" b="0" i="1" noProof="0" smtClean="0">
                            <a:latin typeface="Cambria Math" panose="02040503050406030204" pitchFamily="18" charset="0"/>
                            <a:cs typeface="Calibri" panose="020F0502020204030204" pitchFamily="34" charset="0"/>
                          </a:rPr>
                          <m:t>2</m:t>
                        </m:r>
                      </m:sup>
                    </m:sSup>
                    <m:r>
                      <a:rPr lang="en-GB" sz="1200" b="0" i="1" noProof="0" smtClean="0">
                        <a:latin typeface="Cambria Math" panose="02040503050406030204" pitchFamily="18" charset="0"/>
                        <a:cs typeface="Calibri" panose="020F0502020204030204" pitchFamily="34" charset="0"/>
                      </a:rPr>
                      <m:t>−3</m:t>
                    </m:r>
                    <m:r>
                      <a:rPr lang="en-GB" sz="1200" b="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−2</m:t>
                    </m:r>
                  </m:oMath>
                </a14:m>
                <a:endParaRPr lang="en-GB" sz="1200" b="0" noProof="0" dirty="0">
                  <a:cs typeface="Calibri" panose="020F0502020204030204" pitchFamily="34" charset="0"/>
                </a:endParaRPr>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cs typeface="Calibri" panose="020F0502020204030204" pitchFamily="34" charset="0"/>
                        </a:rPr>
                        <m:t>𝑦</m:t>
                      </m:r>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−8</m:t>
                      </m:r>
                    </m:oMath>
                  </m:oMathPara>
                </a14:m>
                <a:endParaRPr lang="en-GB" sz="1200" noProof="0" dirty="0">
                  <a:cs typeface="Calibri" panose="020F0502020204030204" pitchFamily="34" charset="0"/>
                </a:endParaRPr>
              </a:p>
              <a:p>
                <a:r>
                  <a:rPr lang="en-GB" sz="1200" noProof="0" dirty="0"/>
                  <a:t> </a:t>
                </a:r>
              </a:p>
            </p:txBody>
          </p:sp>
        </mc:Choice>
        <mc:Fallback xmlns="">
          <p:sp>
            <p:nvSpPr>
              <p:cNvPr id="14" name="TextBox 13"/>
              <p:cNvSpPr txBox="1">
                <a:spLocks noRot="1" noChangeAspect="1" noMove="1" noResize="1" noEditPoints="1" noAdjustHandles="1" noChangeArrowheads="1" noChangeShapeType="1" noTextEdit="1"/>
              </p:cNvSpPr>
              <p:nvPr/>
            </p:nvSpPr>
            <p:spPr>
              <a:xfrm>
                <a:off x="3549118" y="4846384"/>
                <a:ext cx="1474827" cy="646331"/>
              </a:xfrm>
              <a:prstGeom prst="rect">
                <a:avLst/>
              </a:prstGeom>
              <a:blipFill>
                <a:blip r:embed="rId5"/>
                <a:stretch>
                  <a:fillRect/>
                </a:stretch>
              </a:blipFill>
            </p:spPr>
            <p:txBody>
              <a:bodyPr/>
              <a:lstStyle/>
              <a:p>
                <a:r>
                  <a:rPr lang="en-US">
                    <a:noFill/>
                  </a:rPr>
                  <a:t> </a:t>
                </a:r>
              </a:p>
            </p:txBody>
          </p:sp>
        </mc:Fallback>
      </mc:AlternateContent>
      <p:sp>
        <p:nvSpPr>
          <p:cNvPr id="16" name="Rectangle 15"/>
          <p:cNvSpPr/>
          <p:nvPr/>
        </p:nvSpPr>
        <p:spPr>
          <a:xfrm>
            <a:off x="214533" y="5369464"/>
            <a:ext cx="3158773"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tangle 16"/>
          <p:cNvSpPr/>
          <p:nvPr/>
        </p:nvSpPr>
        <p:spPr>
          <a:xfrm>
            <a:off x="3543418" y="5369465"/>
            <a:ext cx="3086019"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Rectangle 18">
            <a:extLst>
              <a:ext uri="{FF2B5EF4-FFF2-40B4-BE49-F238E27FC236}">
                <a16:creationId xmlns:a16="http://schemas.microsoft.com/office/drawing/2014/main" id="{EFEA5655-F8B4-E44B-AD11-37BDE174E0E4}"/>
              </a:ext>
            </a:extLst>
          </p:cNvPr>
          <p:cNvSpPr/>
          <p:nvPr/>
        </p:nvSpPr>
        <p:spPr>
          <a:xfrm>
            <a:off x="1141656" y="439599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0" name="Rectangle 19">
            <a:extLst>
              <a:ext uri="{FF2B5EF4-FFF2-40B4-BE49-F238E27FC236}">
                <a16:creationId xmlns:a16="http://schemas.microsoft.com/office/drawing/2014/main" id="{FB12ABF5-462E-6044-8D21-BD0BF63C4036}"/>
              </a:ext>
            </a:extLst>
          </p:cNvPr>
          <p:cNvSpPr/>
          <p:nvPr/>
        </p:nvSpPr>
        <p:spPr>
          <a:xfrm>
            <a:off x="1928679" y="439287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AC357ECC-A710-0A49-95CD-DEF7B6D6DED8}"/>
                  </a:ext>
                </a:extLst>
              </p:cNvPr>
              <p:cNvSpPr/>
              <p:nvPr/>
            </p:nvSpPr>
            <p:spPr>
              <a:xfrm>
                <a:off x="654421" y="435302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1" name="Rectangle 20">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654421" y="4353027"/>
                <a:ext cx="1381880" cy="369332"/>
              </a:xfrm>
              <a:prstGeom prst="rect">
                <a:avLst/>
              </a:prstGeom>
              <a:blipFill>
                <a:blip r:embed="rId6"/>
                <a:stretch>
                  <a:fillRect r="-12335" b="-16393"/>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EFEA5655-F8B4-E44B-AD11-37BDE174E0E4}"/>
              </a:ext>
            </a:extLst>
          </p:cNvPr>
          <p:cNvSpPr/>
          <p:nvPr/>
        </p:nvSpPr>
        <p:spPr>
          <a:xfrm>
            <a:off x="5445774" y="4396729"/>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3" name="Rectangle 22">
            <a:extLst>
              <a:ext uri="{FF2B5EF4-FFF2-40B4-BE49-F238E27FC236}">
                <a16:creationId xmlns:a16="http://schemas.microsoft.com/office/drawing/2014/main" id="{FB12ABF5-462E-6044-8D21-BD0BF63C4036}"/>
              </a:ext>
            </a:extLst>
          </p:cNvPr>
          <p:cNvSpPr/>
          <p:nvPr/>
        </p:nvSpPr>
        <p:spPr>
          <a:xfrm>
            <a:off x="6232797" y="4393611"/>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AC357ECC-A710-0A49-95CD-DEF7B6D6DED8}"/>
                  </a:ext>
                </a:extLst>
              </p:cNvPr>
              <p:cNvSpPr/>
              <p:nvPr/>
            </p:nvSpPr>
            <p:spPr>
              <a:xfrm>
                <a:off x="4958539" y="4353763"/>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4" name="Rectangle 23">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4958539" y="4353763"/>
                <a:ext cx="1381880" cy="369332"/>
              </a:xfrm>
              <a:prstGeom prst="rect">
                <a:avLst/>
              </a:prstGeom>
              <a:blipFill>
                <a:blip r:embed="rId6"/>
                <a:stretch>
                  <a:fillRect r="-12335" b="-16393"/>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EFEA5655-F8B4-E44B-AD11-37BDE174E0E4}"/>
              </a:ext>
            </a:extLst>
          </p:cNvPr>
          <p:cNvSpPr/>
          <p:nvPr/>
        </p:nvSpPr>
        <p:spPr>
          <a:xfrm>
            <a:off x="1141656" y="912966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9" name="Rectangle 28">
            <a:extLst>
              <a:ext uri="{FF2B5EF4-FFF2-40B4-BE49-F238E27FC236}">
                <a16:creationId xmlns:a16="http://schemas.microsoft.com/office/drawing/2014/main" id="{FB12ABF5-462E-6044-8D21-BD0BF63C4036}"/>
              </a:ext>
            </a:extLst>
          </p:cNvPr>
          <p:cNvSpPr/>
          <p:nvPr/>
        </p:nvSpPr>
        <p:spPr>
          <a:xfrm>
            <a:off x="1928679" y="912655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AC357ECC-A710-0A49-95CD-DEF7B6D6DED8}"/>
                  </a:ext>
                </a:extLst>
              </p:cNvPr>
              <p:cNvSpPr/>
              <p:nvPr/>
            </p:nvSpPr>
            <p:spPr>
              <a:xfrm>
                <a:off x="654421" y="908670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0" name="Rectangle 29">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654421" y="9086702"/>
                <a:ext cx="1381880" cy="369332"/>
              </a:xfrm>
              <a:prstGeom prst="rect">
                <a:avLst/>
              </a:prstGeom>
              <a:blipFill>
                <a:blip r:embed="rId7"/>
                <a:stretch>
                  <a:fillRect r="-12335" b="-16667"/>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EFEA5655-F8B4-E44B-AD11-37BDE174E0E4}"/>
              </a:ext>
            </a:extLst>
          </p:cNvPr>
          <p:cNvSpPr/>
          <p:nvPr/>
        </p:nvSpPr>
        <p:spPr>
          <a:xfrm>
            <a:off x="5445774" y="9130404"/>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2" name="Rectangle 31">
            <a:extLst>
              <a:ext uri="{FF2B5EF4-FFF2-40B4-BE49-F238E27FC236}">
                <a16:creationId xmlns:a16="http://schemas.microsoft.com/office/drawing/2014/main" id="{FB12ABF5-462E-6044-8D21-BD0BF63C4036}"/>
              </a:ext>
            </a:extLst>
          </p:cNvPr>
          <p:cNvSpPr/>
          <p:nvPr/>
        </p:nvSpPr>
        <p:spPr>
          <a:xfrm>
            <a:off x="6232797" y="9127286"/>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AC357ECC-A710-0A49-95CD-DEF7B6D6DED8}"/>
                  </a:ext>
                </a:extLst>
              </p:cNvPr>
              <p:cNvSpPr/>
              <p:nvPr/>
            </p:nvSpPr>
            <p:spPr>
              <a:xfrm>
                <a:off x="4958539" y="9087438"/>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3" name="Rectangle 32">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4958539" y="9087438"/>
                <a:ext cx="1381880" cy="369332"/>
              </a:xfrm>
              <a:prstGeom prst="rect">
                <a:avLst/>
              </a:prstGeom>
              <a:blipFill>
                <a:blip r:embed="rId7"/>
                <a:stretch>
                  <a:fillRect r="-12335" b="-16667"/>
                </a:stretch>
              </a:blipFill>
            </p:spPr>
            <p:txBody>
              <a:bodyPr/>
              <a:lstStyle/>
              <a:p>
                <a:r>
                  <a:rPr lang="en-US">
                    <a:noFill/>
                  </a:rPr>
                  <a:t> </a:t>
                </a:r>
              </a:p>
            </p:txBody>
          </p:sp>
        </mc:Fallback>
      </mc:AlternateContent>
      <p:sp>
        <p:nvSpPr>
          <p:cNvPr id="37" name="TextBox 36"/>
          <p:cNvSpPr txBox="1"/>
          <p:nvPr/>
        </p:nvSpPr>
        <p:spPr>
          <a:xfrm>
            <a:off x="1041075" y="72731"/>
            <a:ext cx="4620374" cy="276999"/>
          </a:xfrm>
          <a:prstGeom prst="rect">
            <a:avLst/>
          </a:prstGeom>
          <a:noFill/>
        </p:spPr>
        <p:txBody>
          <a:bodyPr wrap="square" rtlCol="0">
            <a:spAutoFit/>
          </a:bodyPr>
          <a:lstStyle/>
          <a:p>
            <a:pPr algn="ctr"/>
            <a:r>
              <a:rPr lang="en-GB" sz="1200" noProof="0" dirty="0"/>
              <a:t>2. Solve the quadratic simultaneous equations. </a:t>
            </a:r>
          </a:p>
        </p:txBody>
      </p:sp>
      <p:sp>
        <p:nvSpPr>
          <p:cNvPr id="38" name="Rectangle 37">
            <a:extLst>
              <a:ext uri="{FF2B5EF4-FFF2-40B4-BE49-F238E27FC236}">
                <a16:creationId xmlns:a16="http://schemas.microsoft.com/office/drawing/2014/main" id="{EFEA5655-F8B4-E44B-AD11-37BDE174E0E4}"/>
              </a:ext>
            </a:extLst>
          </p:cNvPr>
          <p:cNvSpPr/>
          <p:nvPr/>
        </p:nvSpPr>
        <p:spPr>
          <a:xfrm>
            <a:off x="1143744" y="398472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9" name="Rectangle 38">
            <a:extLst>
              <a:ext uri="{FF2B5EF4-FFF2-40B4-BE49-F238E27FC236}">
                <a16:creationId xmlns:a16="http://schemas.microsoft.com/office/drawing/2014/main" id="{FB12ABF5-462E-6044-8D21-BD0BF63C4036}"/>
              </a:ext>
            </a:extLst>
          </p:cNvPr>
          <p:cNvSpPr/>
          <p:nvPr/>
        </p:nvSpPr>
        <p:spPr>
          <a:xfrm>
            <a:off x="1930767" y="398160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AC357ECC-A710-0A49-95CD-DEF7B6D6DED8}"/>
                  </a:ext>
                </a:extLst>
              </p:cNvPr>
              <p:cNvSpPr/>
              <p:nvPr/>
            </p:nvSpPr>
            <p:spPr>
              <a:xfrm>
                <a:off x="656509" y="394175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0" name="Rectangle 39">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656509" y="3941757"/>
                <a:ext cx="1381880" cy="369332"/>
              </a:xfrm>
              <a:prstGeom prst="rect">
                <a:avLst/>
              </a:prstGeom>
              <a:blipFill>
                <a:blip r:embed="rId7"/>
                <a:stretch>
                  <a:fillRect r="-12832" b="-16667"/>
                </a:stretch>
              </a:blipFill>
            </p:spPr>
            <p:txBody>
              <a:bodyPr/>
              <a:lstStyle/>
              <a:p>
                <a:r>
                  <a:rPr lang="en-US">
                    <a:noFill/>
                  </a:rPr>
                  <a:t> </a:t>
                </a:r>
              </a:p>
            </p:txBody>
          </p:sp>
        </mc:Fallback>
      </mc:AlternateContent>
      <p:sp>
        <p:nvSpPr>
          <p:cNvPr id="41" name="Rectangle 40">
            <a:extLst>
              <a:ext uri="{FF2B5EF4-FFF2-40B4-BE49-F238E27FC236}">
                <a16:creationId xmlns:a16="http://schemas.microsoft.com/office/drawing/2014/main" id="{EFEA5655-F8B4-E44B-AD11-37BDE174E0E4}"/>
              </a:ext>
            </a:extLst>
          </p:cNvPr>
          <p:cNvSpPr/>
          <p:nvPr/>
        </p:nvSpPr>
        <p:spPr>
          <a:xfrm>
            <a:off x="5455335" y="399725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42" name="Rectangle 41">
            <a:extLst>
              <a:ext uri="{FF2B5EF4-FFF2-40B4-BE49-F238E27FC236}">
                <a16:creationId xmlns:a16="http://schemas.microsoft.com/office/drawing/2014/main" id="{FB12ABF5-462E-6044-8D21-BD0BF63C4036}"/>
              </a:ext>
            </a:extLst>
          </p:cNvPr>
          <p:cNvSpPr/>
          <p:nvPr/>
        </p:nvSpPr>
        <p:spPr>
          <a:xfrm>
            <a:off x="6242358" y="3994132"/>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AC357ECC-A710-0A49-95CD-DEF7B6D6DED8}"/>
                  </a:ext>
                </a:extLst>
              </p:cNvPr>
              <p:cNvSpPr/>
              <p:nvPr/>
            </p:nvSpPr>
            <p:spPr>
              <a:xfrm>
                <a:off x="4968100" y="3954284"/>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3" name="Rectangle 42">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4968100" y="3954284"/>
                <a:ext cx="1381880" cy="369332"/>
              </a:xfrm>
              <a:prstGeom prst="rect">
                <a:avLst/>
              </a:prstGeom>
              <a:blipFill>
                <a:blip r:embed="rId7"/>
                <a:stretch>
                  <a:fillRect r="-12335" b="-16667"/>
                </a:stretch>
              </a:blipFill>
            </p:spPr>
            <p:txBody>
              <a:bodyPr/>
              <a:lstStyle/>
              <a:p>
                <a:r>
                  <a:rPr lang="en-US">
                    <a:noFill/>
                  </a:rPr>
                  <a:t> </a:t>
                </a:r>
              </a:p>
            </p:txBody>
          </p:sp>
        </mc:Fallback>
      </mc:AlternateContent>
      <p:sp>
        <p:nvSpPr>
          <p:cNvPr id="47" name="Rectangle 46">
            <a:extLst>
              <a:ext uri="{FF2B5EF4-FFF2-40B4-BE49-F238E27FC236}">
                <a16:creationId xmlns:a16="http://schemas.microsoft.com/office/drawing/2014/main" id="{EFEA5655-F8B4-E44B-AD11-37BDE174E0E4}"/>
              </a:ext>
            </a:extLst>
          </p:cNvPr>
          <p:cNvSpPr/>
          <p:nvPr/>
        </p:nvSpPr>
        <p:spPr>
          <a:xfrm>
            <a:off x="1131218" y="874460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48" name="Rectangle 47">
            <a:extLst>
              <a:ext uri="{FF2B5EF4-FFF2-40B4-BE49-F238E27FC236}">
                <a16:creationId xmlns:a16="http://schemas.microsoft.com/office/drawing/2014/main" id="{FB12ABF5-462E-6044-8D21-BD0BF63C4036}"/>
              </a:ext>
            </a:extLst>
          </p:cNvPr>
          <p:cNvSpPr/>
          <p:nvPr/>
        </p:nvSpPr>
        <p:spPr>
          <a:xfrm>
            <a:off x="1918241" y="874148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AC357ECC-A710-0A49-95CD-DEF7B6D6DED8}"/>
                  </a:ext>
                </a:extLst>
              </p:cNvPr>
              <p:cNvSpPr/>
              <p:nvPr/>
            </p:nvSpPr>
            <p:spPr>
              <a:xfrm>
                <a:off x="643983" y="870163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9" name="Rectangle 48">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643983" y="8701637"/>
                <a:ext cx="1381880" cy="369332"/>
              </a:xfrm>
              <a:prstGeom prst="rect">
                <a:avLst/>
              </a:prstGeom>
              <a:blipFill>
                <a:blip r:embed="rId6"/>
                <a:stretch>
                  <a:fillRect r="-12832" b="-16393"/>
                </a:stretch>
              </a:blipFill>
            </p:spPr>
            <p:txBody>
              <a:bodyPr/>
              <a:lstStyle/>
              <a:p>
                <a:r>
                  <a:rPr lang="en-US">
                    <a:noFill/>
                  </a:rPr>
                  <a:t> </a:t>
                </a:r>
              </a:p>
            </p:txBody>
          </p:sp>
        </mc:Fallback>
      </mc:AlternateContent>
      <p:sp>
        <p:nvSpPr>
          <p:cNvPr id="50" name="Rectangle 49">
            <a:extLst>
              <a:ext uri="{FF2B5EF4-FFF2-40B4-BE49-F238E27FC236}">
                <a16:creationId xmlns:a16="http://schemas.microsoft.com/office/drawing/2014/main" id="{EFEA5655-F8B4-E44B-AD11-37BDE174E0E4}"/>
              </a:ext>
            </a:extLst>
          </p:cNvPr>
          <p:cNvSpPr/>
          <p:nvPr/>
        </p:nvSpPr>
        <p:spPr>
          <a:xfrm>
            <a:off x="5455335" y="873207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51" name="Rectangle 50">
            <a:extLst>
              <a:ext uri="{FF2B5EF4-FFF2-40B4-BE49-F238E27FC236}">
                <a16:creationId xmlns:a16="http://schemas.microsoft.com/office/drawing/2014/main" id="{FB12ABF5-462E-6044-8D21-BD0BF63C4036}"/>
              </a:ext>
            </a:extLst>
          </p:cNvPr>
          <p:cNvSpPr/>
          <p:nvPr/>
        </p:nvSpPr>
        <p:spPr>
          <a:xfrm>
            <a:off x="6242358" y="872896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AC357ECC-A710-0A49-95CD-DEF7B6D6DED8}"/>
                  </a:ext>
                </a:extLst>
              </p:cNvPr>
              <p:cNvSpPr/>
              <p:nvPr/>
            </p:nvSpPr>
            <p:spPr>
              <a:xfrm>
                <a:off x="4968100" y="868911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52" name="Rectangle 51">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4968100" y="8689112"/>
                <a:ext cx="1381880" cy="369332"/>
              </a:xfrm>
              <a:prstGeom prst="rect">
                <a:avLst/>
              </a:prstGeom>
              <a:blipFill>
                <a:blip r:embed="rId6"/>
                <a:stretch>
                  <a:fillRect r="-12335" b="-16393"/>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B4220102-6E9E-F450-65E8-5C8471A98DB1}"/>
              </a:ext>
            </a:extLst>
          </p:cNvPr>
          <p:cNvSpPr txBox="1"/>
          <p:nvPr/>
        </p:nvSpPr>
        <p:spPr>
          <a:xfrm>
            <a:off x="231424" y="87624"/>
            <a:ext cx="1545616" cy="253916"/>
          </a:xfrm>
          <a:prstGeom prst="rect">
            <a:avLst/>
          </a:prstGeom>
          <a:solidFill>
            <a:srgbClr val="0070C0"/>
          </a:solidFill>
        </p:spPr>
        <p:txBody>
          <a:bodyPr wrap="none" lIns="91440" tIns="45720" rIns="91440" bIns="45720" rtlCol="0" anchor="ctr">
            <a:spAutoFit/>
          </a:bodyPr>
          <a:lstStyle/>
          <a:p>
            <a:r>
              <a:rPr lang="en-GB" sz="1050" b="1" noProof="0" dirty="0">
                <a:solidFill>
                  <a:schemeClr val="bg1"/>
                </a:solidFill>
              </a:rPr>
              <a:t>INDEPENDENT PRACTICE</a:t>
            </a:r>
          </a:p>
        </p:txBody>
      </p:sp>
      <p:sp>
        <p:nvSpPr>
          <p:cNvPr id="59" name="Slide Number Placeholder 1">
            <a:extLst>
              <a:ext uri="{FF2B5EF4-FFF2-40B4-BE49-F238E27FC236}">
                <a16:creationId xmlns:a16="http://schemas.microsoft.com/office/drawing/2014/main" id="{0EAE6094-2C07-4569-583A-4BD139825394}"/>
              </a:ext>
            </a:extLst>
          </p:cNvPr>
          <p:cNvSpPr>
            <a:spLocks noGrp="1"/>
          </p:cNvSpPr>
          <p:nvPr>
            <p:ph type="sldNum" sz="quarter" idx="12"/>
          </p:nvPr>
        </p:nvSpPr>
        <p:spPr>
          <a:xfrm>
            <a:off x="5248693" y="9378597"/>
            <a:ext cx="1543050" cy="527403"/>
          </a:xfrm>
        </p:spPr>
        <p:txBody>
          <a:bodyPr/>
          <a:lstStyle/>
          <a:p>
            <a:fld id="{19F1D9CC-7119-45EC-A96C-D8C0660F3AAB}" type="slidenum">
              <a:rPr lang="en-GB" noProof="0" smtClean="0"/>
              <a:t>59</a:t>
            </a:fld>
            <a:endParaRPr lang="en-GB" noProof="0" dirty="0"/>
          </a:p>
        </p:txBody>
      </p:sp>
    </p:spTree>
    <p:extLst>
      <p:ext uri="{BB962C8B-B14F-4D97-AF65-F5344CB8AC3E}">
        <p14:creationId xmlns:p14="http://schemas.microsoft.com/office/powerpoint/2010/main" val="39562249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E1CE4-B867-1DA3-A998-80E50473312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C20ECDD-DAC3-FECC-5F4A-65B7E7E786EC}"/>
                  </a:ext>
                </a:extLst>
              </p:cNvPr>
              <p:cNvSpPr txBox="1"/>
              <p:nvPr/>
            </p:nvSpPr>
            <p:spPr>
              <a:xfrm>
                <a:off x="130377" y="68688"/>
                <a:ext cx="1504323" cy="646331"/>
              </a:xfrm>
              <a:prstGeom prst="rect">
                <a:avLst/>
              </a:prstGeom>
              <a:noFill/>
            </p:spPr>
            <p:txBody>
              <a:bodyPr wrap="none" rtlCol="0">
                <a:spAutoFit/>
              </a:bodyPr>
              <a:lstStyle/>
              <a:p>
                <a:pPr lvl="0" algn="ctr" defTabSz="685800">
                  <a:defRPr/>
                </a:pPr>
                <a:r>
                  <a:rPr lang="en-GB" sz="1200" noProof="0" dirty="0"/>
                  <a:t>e)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−5</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a14:m>
                <a:endParaRPr lang="en-GB" sz="1200" b="0" noProof="0" dirty="0"/>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cs typeface="Calibri" panose="020F0502020204030204" pitchFamily="34" charset="0"/>
                        </a:rPr>
                        <m:t>𝑦</m:t>
                      </m:r>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𝑥</m:t>
                      </m:r>
                      <m:r>
                        <a:rPr lang="en-GB" sz="1200" b="0" i="1" noProof="0" smtClean="0">
                          <a:latin typeface="Cambria Math" panose="02040503050406030204" pitchFamily="18" charset="0"/>
                          <a:cs typeface="Calibri" panose="020F0502020204030204" pitchFamily="34" charset="0"/>
                        </a:rPr>
                        <m:t>+3</m:t>
                      </m:r>
                    </m:oMath>
                  </m:oMathPara>
                </a14:m>
                <a:endParaRPr lang="en-GB" sz="1200" noProof="0" dirty="0">
                  <a:cs typeface="Calibri" panose="020F0502020204030204" pitchFamily="34" charset="0"/>
                </a:endParaRPr>
              </a:p>
              <a:p>
                <a:r>
                  <a:rPr lang="en-GB" sz="1200" noProof="0" dirty="0"/>
                  <a:t> </a:t>
                </a:r>
              </a:p>
            </p:txBody>
          </p:sp>
        </mc:Choice>
        <mc:Fallback xmlns="">
          <p:sp>
            <p:nvSpPr>
              <p:cNvPr id="7" name="TextBox 6">
                <a:extLst>
                  <a:ext uri="{FF2B5EF4-FFF2-40B4-BE49-F238E27FC236}">
                    <a16:creationId xmlns:a16="http://schemas.microsoft.com/office/drawing/2014/main" id="{9C20ECDD-DAC3-FECC-5F4A-65B7E7E786EC}"/>
                  </a:ext>
                </a:extLst>
              </p:cNvPr>
              <p:cNvSpPr txBox="1">
                <a:spLocks noRot="1" noChangeAspect="1" noMove="1" noResize="1" noEditPoints="1" noAdjustHandles="1" noChangeArrowheads="1" noChangeShapeType="1" noTextEdit="1"/>
              </p:cNvSpPr>
              <p:nvPr/>
            </p:nvSpPr>
            <p:spPr>
              <a:xfrm>
                <a:off x="130377" y="68688"/>
                <a:ext cx="1504323" cy="64633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C3AF764-9CCD-0DF1-B243-8C43DCEE3E0D}"/>
                  </a:ext>
                </a:extLst>
              </p:cNvPr>
              <p:cNvSpPr txBox="1"/>
              <p:nvPr/>
            </p:nvSpPr>
            <p:spPr>
              <a:xfrm>
                <a:off x="3794989" y="68688"/>
                <a:ext cx="1036374" cy="461665"/>
              </a:xfrm>
              <a:prstGeom prst="rect">
                <a:avLst/>
              </a:prstGeom>
              <a:noFill/>
            </p:spPr>
            <p:txBody>
              <a:bodyPr wrap="none" rtlCol="0">
                <a:spAutoFit/>
              </a:bodyPr>
              <a:lstStyle/>
              <a:p>
                <a:pPr lvl="0" algn="ctr" defTabSz="685800">
                  <a:defRPr/>
                </a:pPr>
                <a:r>
                  <a:rPr lang="en-GB" sz="1200" noProof="0" dirty="0"/>
                  <a:t>f) </a:t>
                </a:r>
                <a14:m>
                  <m:oMath xmlns:m="http://schemas.openxmlformats.org/officeDocument/2006/math">
                    <m:r>
                      <a:rPr lang="en-GB" sz="1200" i="1" noProof="0" smtClean="0">
                        <a:latin typeface="Cambria Math" panose="02040503050406030204" pitchFamily="18" charset="0"/>
                      </a:rPr>
                      <m:t>𝑦</m:t>
                    </m:r>
                    <m:r>
                      <a:rPr lang="en-GB" sz="1200" i="1" noProof="0" smtClean="0">
                        <a:latin typeface="Cambria Math" panose="02040503050406030204" pitchFamily="18" charset="0"/>
                      </a:rPr>
                      <m:t>=</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−3</m:t>
                    </m:r>
                  </m:oMath>
                </a14:m>
                <a:endParaRPr lang="en-GB" sz="1200" noProof="0" dirty="0"/>
              </a:p>
              <a:p>
                <a:pPr lvl="0" algn="ctr" defTabSz="685800">
                  <a:defRPr/>
                </a:pPr>
                <a14:m>
                  <m:oMathPara xmlns:m="http://schemas.openxmlformats.org/officeDocument/2006/math">
                    <m:oMathParaPr>
                      <m:jc m:val="centerGroup"/>
                    </m:oMathParaPr>
                    <m:oMath xmlns:m="http://schemas.openxmlformats.org/officeDocument/2006/math">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−3</m:t>
                      </m:r>
                    </m:oMath>
                  </m:oMathPara>
                </a14:m>
                <a:endParaRPr lang="en-GB" sz="1200" noProof="0" dirty="0">
                  <a:cs typeface="Calibri" panose="020F0502020204030204" pitchFamily="34" charset="0"/>
                </a:endParaRPr>
              </a:p>
            </p:txBody>
          </p:sp>
        </mc:Choice>
        <mc:Fallback xmlns="">
          <p:sp>
            <p:nvSpPr>
              <p:cNvPr id="8" name="TextBox 7">
                <a:extLst>
                  <a:ext uri="{FF2B5EF4-FFF2-40B4-BE49-F238E27FC236}">
                    <a16:creationId xmlns:a16="http://schemas.microsoft.com/office/drawing/2014/main" id="{BC3AF764-9CCD-0DF1-B243-8C43DCEE3E0D}"/>
                  </a:ext>
                </a:extLst>
              </p:cNvPr>
              <p:cNvSpPr txBox="1">
                <a:spLocks noRot="1" noChangeAspect="1" noMove="1" noResize="1" noEditPoints="1" noAdjustHandles="1" noChangeArrowheads="1" noChangeShapeType="1" noTextEdit="1"/>
              </p:cNvSpPr>
              <p:nvPr/>
            </p:nvSpPr>
            <p:spPr>
              <a:xfrm>
                <a:off x="3794989" y="68688"/>
                <a:ext cx="1036374" cy="461665"/>
              </a:xfrm>
              <a:prstGeom prst="rect">
                <a:avLst/>
              </a:prstGeom>
              <a:blipFill>
                <a:blip r:embed="rId3"/>
                <a:stretch>
                  <a:fillRect/>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F24E726F-89FD-7AC4-49A7-8A1071F9FCCE}"/>
              </a:ext>
            </a:extLst>
          </p:cNvPr>
          <p:cNvSpPr/>
          <p:nvPr/>
        </p:nvSpPr>
        <p:spPr>
          <a:xfrm>
            <a:off x="238596" y="574166"/>
            <a:ext cx="3158773"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Rectangle 10">
            <a:extLst>
              <a:ext uri="{FF2B5EF4-FFF2-40B4-BE49-F238E27FC236}">
                <a16:creationId xmlns:a16="http://schemas.microsoft.com/office/drawing/2014/main" id="{B905B11F-994D-A19B-7814-735AE0D99CDB}"/>
              </a:ext>
            </a:extLst>
          </p:cNvPr>
          <p:cNvSpPr/>
          <p:nvPr/>
        </p:nvSpPr>
        <p:spPr>
          <a:xfrm>
            <a:off x="3541610" y="574167"/>
            <a:ext cx="3111891"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91B2089-C469-A21E-BFBF-0D70BB7EC58D}"/>
                  </a:ext>
                </a:extLst>
              </p:cNvPr>
              <p:cNvSpPr txBox="1"/>
              <p:nvPr/>
            </p:nvSpPr>
            <p:spPr>
              <a:xfrm>
                <a:off x="148422" y="4846384"/>
                <a:ext cx="1414939" cy="461665"/>
              </a:xfrm>
              <a:prstGeom prst="rect">
                <a:avLst/>
              </a:prstGeom>
              <a:noFill/>
            </p:spPr>
            <p:txBody>
              <a:bodyPr wrap="none" rtlCol="0">
                <a:spAutoFit/>
              </a:bodyPr>
              <a:lstStyle/>
              <a:p>
                <a:pPr lvl="0" algn="ctr" defTabSz="685800">
                  <a:defRPr/>
                </a:pPr>
                <a:r>
                  <a:rPr lang="en-GB" sz="1200" noProof="0" dirty="0"/>
                  <a:t>g)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endParaRPr lang="en-GB" sz="1200" b="0" noProof="0" dirty="0"/>
              </a:p>
              <a:p>
                <a:pPr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b="0" i="1" noProof="0" smtClean="0">
                          <a:latin typeface="Cambria Math" panose="02040503050406030204" pitchFamily="18" charset="0"/>
                        </a:rPr>
                        <m:t>−5</m:t>
                      </m:r>
                      <m:r>
                        <a:rPr lang="en-GB" sz="1200" i="1" noProof="0" smtClean="0">
                          <a:latin typeface="Cambria Math" panose="02040503050406030204" pitchFamily="18" charset="0"/>
                        </a:rPr>
                        <m:t>𝑥</m:t>
                      </m:r>
                      <m:r>
                        <a:rPr lang="en-GB" sz="1200" b="0" i="1" noProof="0" smtClean="0">
                          <a:latin typeface="Cambria Math" panose="02040503050406030204" pitchFamily="18" charset="0"/>
                        </a:rPr>
                        <m:t>−7</m:t>
                      </m:r>
                    </m:oMath>
                  </m:oMathPara>
                </a14:m>
                <a:endParaRPr lang="en-GB" sz="1200" noProof="0" dirty="0"/>
              </a:p>
            </p:txBody>
          </p:sp>
        </mc:Choice>
        <mc:Fallback xmlns="">
          <p:sp>
            <p:nvSpPr>
              <p:cNvPr id="13" name="TextBox 12">
                <a:extLst>
                  <a:ext uri="{FF2B5EF4-FFF2-40B4-BE49-F238E27FC236}">
                    <a16:creationId xmlns:a16="http://schemas.microsoft.com/office/drawing/2014/main" id="{691B2089-C469-A21E-BFBF-0D70BB7EC58D}"/>
                  </a:ext>
                </a:extLst>
              </p:cNvPr>
              <p:cNvSpPr txBox="1">
                <a:spLocks noRot="1" noChangeAspect="1" noMove="1" noResize="1" noEditPoints="1" noAdjustHandles="1" noChangeArrowheads="1" noChangeShapeType="1" noTextEdit="1"/>
              </p:cNvSpPr>
              <p:nvPr/>
            </p:nvSpPr>
            <p:spPr>
              <a:xfrm>
                <a:off x="148422" y="4846384"/>
                <a:ext cx="1414939"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B3D7E51-DB0E-0C26-B253-7B6496FFA0EF}"/>
                  </a:ext>
                </a:extLst>
              </p:cNvPr>
              <p:cNvSpPr txBox="1"/>
              <p:nvPr/>
            </p:nvSpPr>
            <p:spPr>
              <a:xfrm>
                <a:off x="3489805" y="4846384"/>
                <a:ext cx="1593450" cy="646331"/>
              </a:xfrm>
              <a:prstGeom prst="rect">
                <a:avLst/>
              </a:prstGeom>
              <a:noFill/>
            </p:spPr>
            <p:txBody>
              <a:bodyPr wrap="none" rtlCol="0">
                <a:spAutoFit/>
              </a:bodyPr>
              <a:lstStyle/>
              <a:p>
                <a:pPr lvl="0" algn="ctr" defTabSz="685800">
                  <a:defRPr/>
                </a:pPr>
                <a:r>
                  <a:rPr lang="en-GB" sz="1200" noProof="0" dirty="0"/>
                  <a:t>h)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m:rPr>
                        <m:sty m:val="p"/>
                      </m:rPr>
                      <a:rPr lang="en-GB" sz="1200" b="0" i="0" noProof="0" smtClean="0">
                        <a:latin typeface="Cambria Math" panose="02040503050406030204" pitchFamily="18" charset="0"/>
                        <a:cs typeface="Calibri" panose="020F0502020204030204" pitchFamily="34" charset="0"/>
                      </a:rPr>
                      <m:t>y</m:t>
                    </m:r>
                    <m:r>
                      <a:rPr lang="en-GB" sz="1200" i="1" noProof="0" smtClean="0">
                        <a:latin typeface="Cambria Math" panose="02040503050406030204" pitchFamily="18" charset="0"/>
                      </a:rPr>
                      <m:t>=</m:t>
                    </m:r>
                    <m:sSup>
                      <m:sSupPr>
                        <m:ctrlPr>
                          <a:rPr lang="en-GB" sz="1200" i="1" noProof="0" smtClean="0">
                            <a:latin typeface="Cambria Math" panose="02040503050406030204" pitchFamily="18" charset="0"/>
                          </a:rPr>
                        </m:ctrlPr>
                      </m:sSupPr>
                      <m:e>
                        <m:r>
                          <a:rPr lang="en-GB" sz="1200" b="0" i="1" noProof="0" smtClean="0">
                            <a:latin typeface="Cambria Math" panose="02040503050406030204" pitchFamily="18" charset="0"/>
                          </a:rPr>
                          <m:t>−</m:t>
                        </m:r>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m:t>
                    </m:r>
                    <m:r>
                      <a:rPr lang="en-GB" sz="1200" b="0" i="1" noProof="0" smtClean="0">
                        <a:latin typeface="Cambria Math" panose="02040503050406030204" pitchFamily="18" charset="0"/>
                      </a:rPr>
                      <m:t>5</m:t>
                    </m:r>
                    <m:r>
                      <a:rPr lang="en-GB" sz="1200" i="1" noProof="0" smtClean="0">
                        <a:latin typeface="Cambria Math" panose="02040503050406030204" pitchFamily="18" charset="0"/>
                      </a:rPr>
                      <m:t>𝑥</m:t>
                    </m:r>
                    <m:r>
                      <a:rPr lang="en-GB" sz="1200" i="1" noProof="0" smtClean="0">
                        <a:latin typeface="Cambria Math" panose="02040503050406030204" pitchFamily="18" charset="0"/>
                      </a:rPr>
                      <m:t>+2</m:t>
                    </m:r>
                  </m:oMath>
                </a14:m>
                <a:endParaRPr lang="en-GB" sz="1200" noProof="0" dirty="0"/>
              </a:p>
              <a:p>
                <a:pPr algn="ctr" defTabSz="685800">
                  <a:defRPr/>
                </a:pPr>
                <a14:m>
                  <m:oMathPara xmlns:m="http://schemas.openxmlformats.org/officeDocument/2006/math">
                    <m:oMathParaPr>
                      <m:jc m:val="centerGroup"/>
                    </m:oMathParaPr>
                    <m:oMath xmlns:m="http://schemas.openxmlformats.org/officeDocument/2006/math">
                      <m:r>
                        <a:rPr lang="en-GB" sz="1200" i="1" noProof="0" smtClean="0">
                          <a:latin typeface="Cambria Math" panose="02040503050406030204" pitchFamily="18" charset="0"/>
                        </a:rPr>
                        <m:t>𝑦</m:t>
                      </m:r>
                      <m:r>
                        <a:rPr lang="en-GB" sz="1200" i="1" noProof="0" smtClean="0">
                          <a:latin typeface="Cambria Math" panose="02040503050406030204" pitchFamily="18" charset="0"/>
                        </a:rPr>
                        <m:t>=</m:t>
                      </m:r>
                      <m:sSup>
                        <m:sSupPr>
                          <m:ctrlPr>
                            <a:rPr lang="en-GB" sz="1200" i="1" noProof="0" smtClean="0">
                              <a:latin typeface="Cambria Math" panose="02040503050406030204" pitchFamily="18" charset="0"/>
                            </a:rPr>
                          </m:ctrlPr>
                        </m:sSupPr>
                        <m:e>
                          <m:r>
                            <a:rPr lang="en-GB" sz="1200" b="0" i="1" noProof="0" smtClean="0">
                              <a:latin typeface="Cambria Math" panose="02040503050406030204" pitchFamily="18" charset="0"/>
                            </a:rPr>
                            <m:t>3</m:t>
                          </m:r>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m:t>
                      </m:r>
                      <m:r>
                        <a:rPr lang="en-GB" sz="1200" i="1" noProof="0" smtClean="0">
                          <a:latin typeface="Cambria Math" panose="02040503050406030204" pitchFamily="18" charset="0"/>
                        </a:rPr>
                        <m:t>𝑥</m:t>
                      </m:r>
                      <m:r>
                        <a:rPr lang="en-GB" sz="1200" i="1" noProof="0" smtClean="0">
                          <a:latin typeface="Cambria Math" panose="02040503050406030204" pitchFamily="18" charset="0"/>
                        </a:rPr>
                        <m:t>−2</m:t>
                      </m:r>
                    </m:oMath>
                  </m:oMathPara>
                </a14:m>
                <a:endParaRPr lang="en-GB" sz="1200" noProof="0" dirty="0"/>
              </a:p>
              <a:p>
                <a:endParaRPr lang="en-GB" sz="1200" noProof="0" dirty="0"/>
              </a:p>
            </p:txBody>
          </p:sp>
        </mc:Choice>
        <mc:Fallback xmlns="">
          <p:sp>
            <p:nvSpPr>
              <p:cNvPr id="14" name="TextBox 13">
                <a:extLst>
                  <a:ext uri="{FF2B5EF4-FFF2-40B4-BE49-F238E27FC236}">
                    <a16:creationId xmlns:a16="http://schemas.microsoft.com/office/drawing/2014/main" id="{2B3D7E51-DB0E-0C26-B253-7B6496FFA0EF}"/>
                  </a:ext>
                </a:extLst>
              </p:cNvPr>
              <p:cNvSpPr txBox="1">
                <a:spLocks noRot="1" noChangeAspect="1" noMove="1" noResize="1" noEditPoints="1" noAdjustHandles="1" noChangeArrowheads="1" noChangeShapeType="1" noTextEdit="1"/>
              </p:cNvSpPr>
              <p:nvPr/>
            </p:nvSpPr>
            <p:spPr>
              <a:xfrm>
                <a:off x="3489805" y="4846384"/>
                <a:ext cx="1593450" cy="646331"/>
              </a:xfrm>
              <a:prstGeom prst="rect">
                <a:avLst/>
              </a:prstGeom>
              <a:blipFill>
                <a:blip r:embed="rId5"/>
                <a:stretch>
                  <a:fillRect/>
                </a:stretch>
              </a:blipFill>
            </p:spPr>
            <p:txBody>
              <a:bodyPr/>
              <a:lstStyle/>
              <a:p>
                <a:r>
                  <a:rPr lang="en-US">
                    <a:noFill/>
                  </a:rPr>
                  <a:t> </a:t>
                </a:r>
              </a:p>
            </p:txBody>
          </p:sp>
        </mc:Fallback>
      </mc:AlternateContent>
      <p:sp>
        <p:nvSpPr>
          <p:cNvPr id="16" name="Rectangle 15">
            <a:extLst>
              <a:ext uri="{FF2B5EF4-FFF2-40B4-BE49-F238E27FC236}">
                <a16:creationId xmlns:a16="http://schemas.microsoft.com/office/drawing/2014/main" id="{F0217630-67C5-A5E3-1DAA-5505D4027557}"/>
              </a:ext>
            </a:extLst>
          </p:cNvPr>
          <p:cNvSpPr/>
          <p:nvPr/>
        </p:nvSpPr>
        <p:spPr>
          <a:xfrm>
            <a:off x="214533" y="5369464"/>
            <a:ext cx="3158773"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tangle 16">
            <a:extLst>
              <a:ext uri="{FF2B5EF4-FFF2-40B4-BE49-F238E27FC236}">
                <a16:creationId xmlns:a16="http://schemas.microsoft.com/office/drawing/2014/main" id="{886EDC9A-1107-9FE0-A5DF-C67482AE242B}"/>
              </a:ext>
            </a:extLst>
          </p:cNvPr>
          <p:cNvSpPr/>
          <p:nvPr/>
        </p:nvSpPr>
        <p:spPr>
          <a:xfrm>
            <a:off x="3543418" y="5369465"/>
            <a:ext cx="3086019"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Rectangle 18">
            <a:extLst>
              <a:ext uri="{FF2B5EF4-FFF2-40B4-BE49-F238E27FC236}">
                <a16:creationId xmlns:a16="http://schemas.microsoft.com/office/drawing/2014/main" id="{2A6615EB-CFBB-9CEF-BA80-043BD0830E20}"/>
              </a:ext>
            </a:extLst>
          </p:cNvPr>
          <p:cNvSpPr/>
          <p:nvPr/>
        </p:nvSpPr>
        <p:spPr>
          <a:xfrm>
            <a:off x="1141656" y="439599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0" name="Rectangle 19">
            <a:extLst>
              <a:ext uri="{FF2B5EF4-FFF2-40B4-BE49-F238E27FC236}">
                <a16:creationId xmlns:a16="http://schemas.microsoft.com/office/drawing/2014/main" id="{6BC38E98-380C-28A0-07E5-73F784BCAC0E}"/>
              </a:ext>
            </a:extLst>
          </p:cNvPr>
          <p:cNvSpPr/>
          <p:nvPr/>
        </p:nvSpPr>
        <p:spPr>
          <a:xfrm>
            <a:off x="1928679" y="439287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4BA090F4-04A2-2AA7-4E3D-A3674017D2E9}"/>
                  </a:ext>
                </a:extLst>
              </p:cNvPr>
              <p:cNvSpPr/>
              <p:nvPr/>
            </p:nvSpPr>
            <p:spPr>
              <a:xfrm>
                <a:off x="654421" y="435302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1" name="Rectangle 20">
                <a:extLst>
                  <a:ext uri="{FF2B5EF4-FFF2-40B4-BE49-F238E27FC236}">
                    <a16:creationId xmlns:a16="http://schemas.microsoft.com/office/drawing/2014/main" id="{4BA090F4-04A2-2AA7-4E3D-A3674017D2E9}"/>
                  </a:ext>
                </a:extLst>
              </p:cNvPr>
              <p:cNvSpPr>
                <a:spLocks noRot="1" noChangeAspect="1" noMove="1" noResize="1" noEditPoints="1" noAdjustHandles="1" noChangeArrowheads="1" noChangeShapeType="1" noTextEdit="1"/>
              </p:cNvSpPr>
              <p:nvPr/>
            </p:nvSpPr>
            <p:spPr>
              <a:xfrm>
                <a:off x="654421" y="4353027"/>
                <a:ext cx="1381880" cy="369332"/>
              </a:xfrm>
              <a:prstGeom prst="rect">
                <a:avLst/>
              </a:prstGeom>
              <a:blipFill>
                <a:blip r:embed="rId6"/>
                <a:stretch>
                  <a:fillRect r="-12335" b="-16393"/>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7B9D6132-75E2-F339-FC98-DF4ADD97C5BA}"/>
              </a:ext>
            </a:extLst>
          </p:cNvPr>
          <p:cNvSpPr/>
          <p:nvPr/>
        </p:nvSpPr>
        <p:spPr>
          <a:xfrm>
            <a:off x="5445774" y="4396729"/>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3" name="Rectangle 22">
            <a:extLst>
              <a:ext uri="{FF2B5EF4-FFF2-40B4-BE49-F238E27FC236}">
                <a16:creationId xmlns:a16="http://schemas.microsoft.com/office/drawing/2014/main" id="{7F4FD16F-FD40-9D29-53E7-ABD05DCAFF72}"/>
              </a:ext>
            </a:extLst>
          </p:cNvPr>
          <p:cNvSpPr/>
          <p:nvPr/>
        </p:nvSpPr>
        <p:spPr>
          <a:xfrm>
            <a:off x="6232797" y="4393611"/>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D1E7652F-353F-A273-A03C-A316D528183A}"/>
                  </a:ext>
                </a:extLst>
              </p:cNvPr>
              <p:cNvSpPr/>
              <p:nvPr/>
            </p:nvSpPr>
            <p:spPr>
              <a:xfrm>
                <a:off x="4958539" y="4353763"/>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4" name="Rectangle 23">
                <a:extLst>
                  <a:ext uri="{FF2B5EF4-FFF2-40B4-BE49-F238E27FC236}">
                    <a16:creationId xmlns:a16="http://schemas.microsoft.com/office/drawing/2014/main" id="{D1E7652F-353F-A273-A03C-A316D528183A}"/>
                  </a:ext>
                </a:extLst>
              </p:cNvPr>
              <p:cNvSpPr>
                <a:spLocks noRot="1" noChangeAspect="1" noMove="1" noResize="1" noEditPoints="1" noAdjustHandles="1" noChangeArrowheads="1" noChangeShapeType="1" noTextEdit="1"/>
              </p:cNvSpPr>
              <p:nvPr/>
            </p:nvSpPr>
            <p:spPr>
              <a:xfrm>
                <a:off x="4958539" y="4353763"/>
                <a:ext cx="1381880" cy="369332"/>
              </a:xfrm>
              <a:prstGeom prst="rect">
                <a:avLst/>
              </a:prstGeom>
              <a:blipFill>
                <a:blip r:embed="rId6"/>
                <a:stretch>
                  <a:fillRect r="-12335" b="-16393"/>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213BF5E5-EA20-D5E5-A9FB-D36E01399539}"/>
              </a:ext>
            </a:extLst>
          </p:cNvPr>
          <p:cNvSpPr/>
          <p:nvPr/>
        </p:nvSpPr>
        <p:spPr>
          <a:xfrm>
            <a:off x="1141656" y="912966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9" name="Rectangle 28">
            <a:extLst>
              <a:ext uri="{FF2B5EF4-FFF2-40B4-BE49-F238E27FC236}">
                <a16:creationId xmlns:a16="http://schemas.microsoft.com/office/drawing/2014/main" id="{F12A9997-1ACE-A1A6-C4C6-B7CF030825F7}"/>
              </a:ext>
            </a:extLst>
          </p:cNvPr>
          <p:cNvSpPr/>
          <p:nvPr/>
        </p:nvSpPr>
        <p:spPr>
          <a:xfrm>
            <a:off x="1928679" y="912655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333E37ED-7F84-A216-86F1-E211E9F8D4B9}"/>
                  </a:ext>
                </a:extLst>
              </p:cNvPr>
              <p:cNvSpPr/>
              <p:nvPr/>
            </p:nvSpPr>
            <p:spPr>
              <a:xfrm>
                <a:off x="654421" y="908670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0" name="Rectangle 29">
                <a:extLst>
                  <a:ext uri="{FF2B5EF4-FFF2-40B4-BE49-F238E27FC236}">
                    <a16:creationId xmlns:a16="http://schemas.microsoft.com/office/drawing/2014/main" id="{333E37ED-7F84-A216-86F1-E211E9F8D4B9}"/>
                  </a:ext>
                </a:extLst>
              </p:cNvPr>
              <p:cNvSpPr>
                <a:spLocks noRot="1" noChangeAspect="1" noMove="1" noResize="1" noEditPoints="1" noAdjustHandles="1" noChangeArrowheads="1" noChangeShapeType="1" noTextEdit="1"/>
              </p:cNvSpPr>
              <p:nvPr/>
            </p:nvSpPr>
            <p:spPr>
              <a:xfrm>
                <a:off x="654421" y="9086702"/>
                <a:ext cx="1381880" cy="369332"/>
              </a:xfrm>
              <a:prstGeom prst="rect">
                <a:avLst/>
              </a:prstGeom>
              <a:blipFill>
                <a:blip r:embed="rId7"/>
                <a:stretch>
                  <a:fillRect r="-12335" b="-16667"/>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E5EF8AD4-C53E-90A5-FC68-877DF5CF18A3}"/>
              </a:ext>
            </a:extLst>
          </p:cNvPr>
          <p:cNvSpPr/>
          <p:nvPr/>
        </p:nvSpPr>
        <p:spPr>
          <a:xfrm>
            <a:off x="5445774" y="9130404"/>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2" name="Rectangle 31">
            <a:extLst>
              <a:ext uri="{FF2B5EF4-FFF2-40B4-BE49-F238E27FC236}">
                <a16:creationId xmlns:a16="http://schemas.microsoft.com/office/drawing/2014/main" id="{1FCB264A-F710-D8E4-0595-11F451BB2EAD}"/>
              </a:ext>
            </a:extLst>
          </p:cNvPr>
          <p:cNvSpPr/>
          <p:nvPr/>
        </p:nvSpPr>
        <p:spPr>
          <a:xfrm>
            <a:off x="6232797" y="9127286"/>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9283A7E8-8ECA-11EC-B1DE-65D47931C3DF}"/>
                  </a:ext>
                </a:extLst>
              </p:cNvPr>
              <p:cNvSpPr/>
              <p:nvPr/>
            </p:nvSpPr>
            <p:spPr>
              <a:xfrm>
                <a:off x="4958539" y="9087438"/>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3" name="Rectangle 32">
                <a:extLst>
                  <a:ext uri="{FF2B5EF4-FFF2-40B4-BE49-F238E27FC236}">
                    <a16:creationId xmlns:a16="http://schemas.microsoft.com/office/drawing/2014/main" id="{9283A7E8-8ECA-11EC-B1DE-65D47931C3DF}"/>
                  </a:ext>
                </a:extLst>
              </p:cNvPr>
              <p:cNvSpPr>
                <a:spLocks noRot="1" noChangeAspect="1" noMove="1" noResize="1" noEditPoints="1" noAdjustHandles="1" noChangeArrowheads="1" noChangeShapeType="1" noTextEdit="1"/>
              </p:cNvSpPr>
              <p:nvPr/>
            </p:nvSpPr>
            <p:spPr>
              <a:xfrm>
                <a:off x="4958539" y="9087438"/>
                <a:ext cx="1381880" cy="369332"/>
              </a:xfrm>
              <a:prstGeom prst="rect">
                <a:avLst/>
              </a:prstGeom>
              <a:blipFill>
                <a:blip r:embed="rId7"/>
                <a:stretch>
                  <a:fillRect r="-12335" b="-16667"/>
                </a:stretch>
              </a:blipFill>
            </p:spPr>
            <p:txBody>
              <a:bodyPr/>
              <a:lstStyle/>
              <a:p>
                <a:r>
                  <a:rPr lang="en-US">
                    <a:noFill/>
                  </a:rPr>
                  <a:t> </a:t>
                </a:r>
              </a:p>
            </p:txBody>
          </p:sp>
        </mc:Fallback>
      </mc:AlternateContent>
      <p:sp>
        <p:nvSpPr>
          <p:cNvPr id="38" name="Rectangle 37">
            <a:extLst>
              <a:ext uri="{FF2B5EF4-FFF2-40B4-BE49-F238E27FC236}">
                <a16:creationId xmlns:a16="http://schemas.microsoft.com/office/drawing/2014/main" id="{E2B6A91A-7FBE-A041-ED28-9446FBC5509C}"/>
              </a:ext>
            </a:extLst>
          </p:cNvPr>
          <p:cNvSpPr/>
          <p:nvPr/>
        </p:nvSpPr>
        <p:spPr>
          <a:xfrm>
            <a:off x="1143744" y="398472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9" name="Rectangle 38">
            <a:extLst>
              <a:ext uri="{FF2B5EF4-FFF2-40B4-BE49-F238E27FC236}">
                <a16:creationId xmlns:a16="http://schemas.microsoft.com/office/drawing/2014/main" id="{7322C8EC-2814-E79A-B90E-1AD44F38EB11}"/>
              </a:ext>
            </a:extLst>
          </p:cNvPr>
          <p:cNvSpPr/>
          <p:nvPr/>
        </p:nvSpPr>
        <p:spPr>
          <a:xfrm>
            <a:off x="1930767" y="398160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5E30D14B-6DD6-96FD-EFFE-81EA56C6D39A}"/>
                  </a:ext>
                </a:extLst>
              </p:cNvPr>
              <p:cNvSpPr/>
              <p:nvPr/>
            </p:nvSpPr>
            <p:spPr>
              <a:xfrm>
                <a:off x="656509" y="394175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0" name="Rectangle 39">
                <a:extLst>
                  <a:ext uri="{FF2B5EF4-FFF2-40B4-BE49-F238E27FC236}">
                    <a16:creationId xmlns:a16="http://schemas.microsoft.com/office/drawing/2014/main" id="{5E30D14B-6DD6-96FD-EFFE-81EA56C6D39A}"/>
                  </a:ext>
                </a:extLst>
              </p:cNvPr>
              <p:cNvSpPr>
                <a:spLocks noRot="1" noChangeAspect="1" noMove="1" noResize="1" noEditPoints="1" noAdjustHandles="1" noChangeArrowheads="1" noChangeShapeType="1" noTextEdit="1"/>
              </p:cNvSpPr>
              <p:nvPr/>
            </p:nvSpPr>
            <p:spPr>
              <a:xfrm>
                <a:off x="656509" y="3941757"/>
                <a:ext cx="1381880" cy="369332"/>
              </a:xfrm>
              <a:prstGeom prst="rect">
                <a:avLst/>
              </a:prstGeom>
              <a:blipFill>
                <a:blip r:embed="rId7"/>
                <a:stretch>
                  <a:fillRect r="-12832" b="-16667"/>
                </a:stretch>
              </a:blipFill>
            </p:spPr>
            <p:txBody>
              <a:bodyPr/>
              <a:lstStyle/>
              <a:p>
                <a:r>
                  <a:rPr lang="en-US">
                    <a:noFill/>
                  </a:rPr>
                  <a:t> </a:t>
                </a:r>
              </a:p>
            </p:txBody>
          </p:sp>
        </mc:Fallback>
      </mc:AlternateContent>
      <p:sp>
        <p:nvSpPr>
          <p:cNvPr id="41" name="Rectangle 40">
            <a:extLst>
              <a:ext uri="{FF2B5EF4-FFF2-40B4-BE49-F238E27FC236}">
                <a16:creationId xmlns:a16="http://schemas.microsoft.com/office/drawing/2014/main" id="{D2626B70-6A52-CB53-9731-91A56990E0C9}"/>
              </a:ext>
            </a:extLst>
          </p:cNvPr>
          <p:cNvSpPr/>
          <p:nvPr/>
        </p:nvSpPr>
        <p:spPr>
          <a:xfrm>
            <a:off x="5455335" y="399725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42" name="Rectangle 41">
            <a:extLst>
              <a:ext uri="{FF2B5EF4-FFF2-40B4-BE49-F238E27FC236}">
                <a16:creationId xmlns:a16="http://schemas.microsoft.com/office/drawing/2014/main" id="{97E8BF8C-6429-D6B8-9646-0AD37C844C60}"/>
              </a:ext>
            </a:extLst>
          </p:cNvPr>
          <p:cNvSpPr/>
          <p:nvPr/>
        </p:nvSpPr>
        <p:spPr>
          <a:xfrm>
            <a:off x="6242358" y="3994132"/>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3D5DDC26-ED51-F8F4-3266-78C35ADC290B}"/>
                  </a:ext>
                </a:extLst>
              </p:cNvPr>
              <p:cNvSpPr/>
              <p:nvPr/>
            </p:nvSpPr>
            <p:spPr>
              <a:xfrm>
                <a:off x="4968100" y="3954284"/>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3" name="Rectangle 42">
                <a:extLst>
                  <a:ext uri="{FF2B5EF4-FFF2-40B4-BE49-F238E27FC236}">
                    <a16:creationId xmlns:a16="http://schemas.microsoft.com/office/drawing/2014/main" id="{3D5DDC26-ED51-F8F4-3266-78C35ADC290B}"/>
                  </a:ext>
                </a:extLst>
              </p:cNvPr>
              <p:cNvSpPr>
                <a:spLocks noRot="1" noChangeAspect="1" noMove="1" noResize="1" noEditPoints="1" noAdjustHandles="1" noChangeArrowheads="1" noChangeShapeType="1" noTextEdit="1"/>
              </p:cNvSpPr>
              <p:nvPr/>
            </p:nvSpPr>
            <p:spPr>
              <a:xfrm>
                <a:off x="4968100" y="3954284"/>
                <a:ext cx="1381880" cy="369332"/>
              </a:xfrm>
              <a:prstGeom prst="rect">
                <a:avLst/>
              </a:prstGeom>
              <a:blipFill>
                <a:blip r:embed="rId7"/>
                <a:stretch>
                  <a:fillRect r="-12335" b="-16667"/>
                </a:stretch>
              </a:blipFill>
            </p:spPr>
            <p:txBody>
              <a:bodyPr/>
              <a:lstStyle/>
              <a:p>
                <a:r>
                  <a:rPr lang="en-US">
                    <a:noFill/>
                  </a:rPr>
                  <a:t> </a:t>
                </a:r>
              </a:p>
            </p:txBody>
          </p:sp>
        </mc:Fallback>
      </mc:AlternateContent>
      <p:sp>
        <p:nvSpPr>
          <p:cNvPr id="47" name="Rectangle 46">
            <a:extLst>
              <a:ext uri="{FF2B5EF4-FFF2-40B4-BE49-F238E27FC236}">
                <a16:creationId xmlns:a16="http://schemas.microsoft.com/office/drawing/2014/main" id="{3A9EAB1C-DE99-026A-6EEE-8B22AB4DB622}"/>
              </a:ext>
            </a:extLst>
          </p:cNvPr>
          <p:cNvSpPr/>
          <p:nvPr/>
        </p:nvSpPr>
        <p:spPr>
          <a:xfrm>
            <a:off x="1131218" y="874460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48" name="Rectangle 47">
            <a:extLst>
              <a:ext uri="{FF2B5EF4-FFF2-40B4-BE49-F238E27FC236}">
                <a16:creationId xmlns:a16="http://schemas.microsoft.com/office/drawing/2014/main" id="{66CD9442-D0AB-1A5B-7437-A86B62FFF243}"/>
              </a:ext>
            </a:extLst>
          </p:cNvPr>
          <p:cNvSpPr/>
          <p:nvPr/>
        </p:nvSpPr>
        <p:spPr>
          <a:xfrm>
            <a:off x="1918241" y="874148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1E99DB25-5026-DD82-6DAE-BF110FCA6049}"/>
                  </a:ext>
                </a:extLst>
              </p:cNvPr>
              <p:cNvSpPr/>
              <p:nvPr/>
            </p:nvSpPr>
            <p:spPr>
              <a:xfrm>
                <a:off x="643983" y="870163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9" name="Rectangle 48">
                <a:extLst>
                  <a:ext uri="{FF2B5EF4-FFF2-40B4-BE49-F238E27FC236}">
                    <a16:creationId xmlns:a16="http://schemas.microsoft.com/office/drawing/2014/main" id="{1E99DB25-5026-DD82-6DAE-BF110FCA6049}"/>
                  </a:ext>
                </a:extLst>
              </p:cNvPr>
              <p:cNvSpPr>
                <a:spLocks noRot="1" noChangeAspect="1" noMove="1" noResize="1" noEditPoints="1" noAdjustHandles="1" noChangeArrowheads="1" noChangeShapeType="1" noTextEdit="1"/>
              </p:cNvSpPr>
              <p:nvPr/>
            </p:nvSpPr>
            <p:spPr>
              <a:xfrm>
                <a:off x="643983" y="8701637"/>
                <a:ext cx="1381880" cy="369332"/>
              </a:xfrm>
              <a:prstGeom prst="rect">
                <a:avLst/>
              </a:prstGeom>
              <a:blipFill>
                <a:blip r:embed="rId6"/>
                <a:stretch>
                  <a:fillRect r="-12832" b="-16393"/>
                </a:stretch>
              </a:blipFill>
            </p:spPr>
            <p:txBody>
              <a:bodyPr/>
              <a:lstStyle/>
              <a:p>
                <a:r>
                  <a:rPr lang="en-US">
                    <a:noFill/>
                  </a:rPr>
                  <a:t> </a:t>
                </a:r>
              </a:p>
            </p:txBody>
          </p:sp>
        </mc:Fallback>
      </mc:AlternateContent>
      <p:sp>
        <p:nvSpPr>
          <p:cNvPr id="50" name="Rectangle 49">
            <a:extLst>
              <a:ext uri="{FF2B5EF4-FFF2-40B4-BE49-F238E27FC236}">
                <a16:creationId xmlns:a16="http://schemas.microsoft.com/office/drawing/2014/main" id="{C3FB211A-CE17-C4B7-CAEE-C1DC9C8B23B0}"/>
              </a:ext>
            </a:extLst>
          </p:cNvPr>
          <p:cNvSpPr/>
          <p:nvPr/>
        </p:nvSpPr>
        <p:spPr>
          <a:xfrm>
            <a:off x="5455335" y="873207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51" name="Rectangle 50">
            <a:extLst>
              <a:ext uri="{FF2B5EF4-FFF2-40B4-BE49-F238E27FC236}">
                <a16:creationId xmlns:a16="http://schemas.microsoft.com/office/drawing/2014/main" id="{10057005-2FD5-2575-059B-CE12C44224DF}"/>
              </a:ext>
            </a:extLst>
          </p:cNvPr>
          <p:cNvSpPr/>
          <p:nvPr/>
        </p:nvSpPr>
        <p:spPr>
          <a:xfrm>
            <a:off x="6242358" y="872896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F066AEDA-D0D2-521B-FF8E-7483B467CC6D}"/>
                  </a:ext>
                </a:extLst>
              </p:cNvPr>
              <p:cNvSpPr/>
              <p:nvPr/>
            </p:nvSpPr>
            <p:spPr>
              <a:xfrm>
                <a:off x="4968100" y="868911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52" name="Rectangle 51">
                <a:extLst>
                  <a:ext uri="{FF2B5EF4-FFF2-40B4-BE49-F238E27FC236}">
                    <a16:creationId xmlns:a16="http://schemas.microsoft.com/office/drawing/2014/main" id="{F066AEDA-D0D2-521B-FF8E-7483B467CC6D}"/>
                  </a:ext>
                </a:extLst>
              </p:cNvPr>
              <p:cNvSpPr>
                <a:spLocks noRot="1" noChangeAspect="1" noMove="1" noResize="1" noEditPoints="1" noAdjustHandles="1" noChangeArrowheads="1" noChangeShapeType="1" noTextEdit="1"/>
              </p:cNvSpPr>
              <p:nvPr/>
            </p:nvSpPr>
            <p:spPr>
              <a:xfrm>
                <a:off x="4968100" y="8689112"/>
                <a:ext cx="1381880" cy="369332"/>
              </a:xfrm>
              <a:prstGeom prst="rect">
                <a:avLst/>
              </a:prstGeom>
              <a:blipFill>
                <a:blip r:embed="rId6"/>
                <a:stretch>
                  <a:fillRect r="-12335" b="-1639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B7394A2B-9B09-2062-63D6-BB3C1766E0F1}"/>
              </a:ext>
            </a:extLst>
          </p:cNvPr>
          <p:cNvSpPr>
            <a:spLocks noGrp="1"/>
          </p:cNvSpPr>
          <p:nvPr>
            <p:ph type="sldNum" sz="quarter" idx="12"/>
          </p:nvPr>
        </p:nvSpPr>
        <p:spPr>
          <a:xfrm>
            <a:off x="5248693" y="9378597"/>
            <a:ext cx="1543050" cy="527403"/>
          </a:xfrm>
        </p:spPr>
        <p:txBody>
          <a:bodyPr/>
          <a:lstStyle/>
          <a:p>
            <a:fld id="{19F1D9CC-7119-45EC-A96C-D8C0660F3AAB}" type="slidenum">
              <a:rPr lang="en-GB" noProof="0" smtClean="0"/>
              <a:t>60</a:t>
            </a:fld>
            <a:endParaRPr lang="en-GB" noProof="0" dirty="0"/>
          </a:p>
        </p:txBody>
      </p:sp>
    </p:spTree>
    <p:extLst>
      <p:ext uri="{BB962C8B-B14F-4D97-AF65-F5344CB8AC3E}">
        <p14:creationId xmlns:p14="http://schemas.microsoft.com/office/powerpoint/2010/main" val="16966581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248693" y="9378597"/>
            <a:ext cx="1543050" cy="527403"/>
          </a:xfrm>
        </p:spPr>
        <p:txBody>
          <a:bodyPr/>
          <a:lstStyle/>
          <a:p>
            <a:fld id="{19F1D9CC-7119-45EC-A96C-D8C0660F3AAB}" type="slidenum">
              <a:rPr lang="en-GB" noProof="0" smtClean="0"/>
              <a:t>61</a:t>
            </a:fld>
            <a:endParaRPr lang="en-GB" noProof="0" dirty="0"/>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541816002"/>
                  </p:ext>
                </p:extLst>
              </p:nvPr>
            </p:nvGraphicFramePr>
            <p:xfrm>
              <a:off x="153291" y="1600243"/>
              <a:ext cx="6586709" cy="7863840"/>
            </p:xfrm>
            <a:graphic>
              <a:graphicData uri="http://schemas.openxmlformats.org/drawingml/2006/table">
                <a:tbl>
                  <a:tblPr firstRow="1" bandRow="1">
                    <a:tableStyleId>{5C22544A-7EE6-4342-B048-85BDC9FD1C3A}</a:tableStyleId>
                  </a:tblPr>
                  <a:tblGrid>
                    <a:gridCol w="862709">
                      <a:extLst>
                        <a:ext uri="{9D8B030D-6E8A-4147-A177-3AD203B41FA5}">
                          <a16:colId xmlns:a16="http://schemas.microsoft.com/office/drawing/2014/main" val="4222859584"/>
                        </a:ext>
                      </a:extLst>
                    </a:gridCol>
                    <a:gridCol w="1908000">
                      <a:extLst>
                        <a:ext uri="{9D8B030D-6E8A-4147-A177-3AD203B41FA5}">
                          <a16:colId xmlns:a16="http://schemas.microsoft.com/office/drawing/2014/main" val="2943938818"/>
                        </a:ext>
                      </a:extLst>
                    </a:gridCol>
                    <a:gridCol w="1908000">
                      <a:extLst>
                        <a:ext uri="{9D8B030D-6E8A-4147-A177-3AD203B41FA5}">
                          <a16:colId xmlns:a16="http://schemas.microsoft.com/office/drawing/2014/main" val="4207345459"/>
                        </a:ext>
                      </a:extLst>
                    </a:gridCol>
                    <a:gridCol w="1908000">
                      <a:extLst>
                        <a:ext uri="{9D8B030D-6E8A-4147-A177-3AD203B41FA5}">
                          <a16:colId xmlns:a16="http://schemas.microsoft.com/office/drawing/2014/main" val="592218920"/>
                        </a:ext>
                      </a:extLst>
                    </a:gridCol>
                  </a:tblGrid>
                  <a:tr h="263423">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cs typeface="Calibri" panose="020F0502020204030204" pitchFamily="34" charset="0"/>
                            </a:rPr>
                            <a:t>Example 4 -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a:t>
                          </a:r>
                          <a:r>
                            <a:rPr lang="en-GB" sz="1200" b="1" i="1" baseline="0" noProof="0" dirty="0">
                              <a:solidFill>
                                <a:schemeClr val="accent2"/>
                              </a:solidFill>
                            </a:rPr>
                            <a:t> </a:t>
                          </a:r>
                          <a:r>
                            <a:rPr lang="en-GB" sz="1200" b="1" i="1" noProof="0" dirty="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a:t>
                          </a:r>
                          <a:r>
                            <a:rPr lang="en-GB" sz="1200" b="1" i="1" baseline="0" noProof="0" dirty="0">
                              <a:solidFill>
                                <a:srgbClr val="00B050"/>
                              </a:solidFill>
                            </a:rPr>
                            <a:t> </a:t>
                          </a:r>
                          <a:r>
                            <a:rPr lang="en-GB" sz="1200" b="1" i="1" noProof="0" dirty="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61465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1) Substitute linear equation into quadratic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Solve the simultaneous equations</a:t>
                          </a: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GB" sz="1200" b="0" i="1" baseline="0" noProof="0" smtClean="0">
                                        <a:solidFill>
                                          <a:schemeClr val="tx1"/>
                                        </a:solidFill>
                                        <a:latin typeface="Cambria Math" panose="02040503050406030204" pitchFamily="18" charset="0"/>
                                        <a:cs typeface="Calibri" panose="020F0502020204030204" pitchFamily="34" charset="0"/>
                                      </a:rPr>
                                    </m:ctrlPr>
                                  </m:sSupPr>
                                  <m:e>
                                    <m:r>
                                      <a:rPr lang="en-GB" sz="1200" b="0" i="1" baseline="0" noProof="0" smtClean="0">
                                        <a:solidFill>
                                          <a:schemeClr val="tx1"/>
                                        </a:solidFill>
                                        <a:latin typeface="Cambria Math" panose="02040503050406030204" pitchFamily="18" charset="0"/>
                                        <a:cs typeface="Calibri" panose="020F0502020204030204" pitchFamily="34" charset="0"/>
                                      </a:rPr>
                                      <m:t>𝑥</m:t>
                                    </m:r>
                                  </m:e>
                                  <m:sup>
                                    <m:r>
                                      <a:rPr lang="en-GB" sz="1200" b="0" i="1" baseline="0" noProof="0" smtClean="0">
                                        <a:solidFill>
                                          <a:schemeClr val="tx1"/>
                                        </a:solidFill>
                                        <a:latin typeface="Cambria Math" panose="02040503050406030204" pitchFamily="18" charset="0"/>
                                        <a:cs typeface="Calibri" panose="020F0502020204030204" pitchFamily="34" charset="0"/>
                                      </a:rPr>
                                      <m:t>2</m:t>
                                    </m:r>
                                  </m:sup>
                                </m:sSup>
                                <m:r>
                                  <a:rPr lang="en-GB" sz="1200" b="0" i="1" baseline="0" noProof="0" smtClean="0">
                                    <a:solidFill>
                                      <a:schemeClr val="tx1"/>
                                    </a:solidFill>
                                    <a:latin typeface="Cambria Math" panose="02040503050406030204" pitchFamily="18" charset="0"/>
                                    <a:cs typeface="Calibri" panose="020F0502020204030204" pitchFamily="34" charset="0"/>
                                  </a:rPr>
                                  <m:t>+</m:t>
                                </m:r>
                                <m:sSup>
                                  <m:sSupPr>
                                    <m:ctrlPr>
                                      <a:rPr lang="en-GB" sz="1200" b="0" i="1" baseline="0" noProof="0" smtClean="0">
                                        <a:solidFill>
                                          <a:schemeClr val="tx1"/>
                                        </a:solidFill>
                                        <a:latin typeface="Cambria Math" panose="02040503050406030204" pitchFamily="18" charset="0"/>
                                        <a:cs typeface="Calibri" panose="020F0502020204030204" pitchFamily="34" charset="0"/>
                                      </a:rPr>
                                    </m:ctrlPr>
                                  </m:sSupPr>
                                  <m:e>
                                    <m:r>
                                      <a:rPr lang="en-GB" sz="1200" b="0" i="1" baseline="0" noProof="0" smtClean="0">
                                        <a:solidFill>
                                          <a:schemeClr val="tx1"/>
                                        </a:solidFill>
                                        <a:latin typeface="Cambria Math" panose="02040503050406030204" pitchFamily="18" charset="0"/>
                                        <a:cs typeface="Calibri" panose="020F0502020204030204" pitchFamily="34" charset="0"/>
                                      </a:rPr>
                                      <m:t>𝑦</m:t>
                                    </m:r>
                                  </m:e>
                                  <m:sup>
                                    <m:r>
                                      <a:rPr lang="en-GB" sz="1200" b="0" i="1" baseline="0" noProof="0" smtClean="0">
                                        <a:solidFill>
                                          <a:schemeClr val="tx1"/>
                                        </a:solidFill>
                                        <a:latin typeface="Cambria Math" panose="02040503050406030204" pitchFamily="18" charset="0"/>
                                        <a:cs typeface="Calibri" panose="020F0502020204030204" pitchFamily="34" charset="0"/>
                                      </a:rPr>
                                      <m:t>2</m:t>
                                    </m:r>
                                  </m:sup>
                                </m:sSup>
                                <m:r>
                                  <a:rPr lang="en-GB" sz="1200" b="0" i="1" baseline="0" noProof="0" smtClean="0">
                                    <a:solidFill>
                                      <a:schemeClr val="tx1"/>
                                    </a:solidFill>
                                    <a:latin typeface="Cambria Math" panose="02040503050406030204" pitchFamily="18" charset="0"/>
                                    <a:cs typeface="Calibri" panose="020F0502020204030204" pitchFamily="34" charset="0"/>
                                  </a:rPr>
                                  <m:t>=9</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m:t>
                                </m:r>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+3</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Solve the simultaneous equations</a:t>
                          </a: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GB" sz="1200" b="0" i="1" baseline="0" noProof="0" smtClean="0">
                                        <a:solidFill>
                                          <a:schemeClr val="tx1"/>
                                        </a:solidFill>
                                        <a:latin typeface="Cambria Math" panose="02040503050406030204" pitchFamily="18" charset="0"/>
                                        <a:cs typeface="Calibri" panose="020F0502020204030204" pitchFamily="34" charset="0"/>
                                      </a:rPr>
                                    </m:ctrlPr>
                                  </m:sSupPr>
                                  <m:e>
                                    <m:r>
                                      <a:rPr lang="en-GB" sz="1200" b="0" i="1" baseline="0" noProof="0" smtClean="0">
                                        <a:solidFill>
                                          <a:schemeClr val="tx1"/>
                                        </a:solidFill>
                                        <a:latin typeface="Cambria Math" panose="02040503050406030204" pitchFamily="18" charset="0"/>
                                        <a:cs typeface="Calibri" panose="020F0502020204030204" pitchFamily="34" charset="0"/>
                                      </a:rPr>
                                      <m:t>𝑥</m:t>
                                    </m:r>
                                  </m:e>
                                  <m:sup>
                                    <m:r>
                                      <a:rPr lang="en-GB" sz="1200" b="0" i="1" baseline="0" noProof="0" smtClean="0">
                                        <a:solidFill>
                                          <a:schemeClr val="tx1"/>
                                        </a:solidFill>
                                        <a:latin typeface="Cambria Math" panose="02040503050406030204" pitchFamily="18" charset="0"/>
                                        <a:cs typeface="Calibri" panose="020F0502020204030204" pitchFamily="34" charset="0"/>
                                      </a:rPr>
                                      <m:t>2</m:t>
                                    </m:r>
                                  </m:sup>
                                </m:sSup>
                                <m:r>
                                  <a:rPr lang="en-GB" sz="1200" b="0" i="1" baseline="0" noProof="0" smtClean="0">
                                    <a:solidFill>
                                      <a:schemeClr val="tx1"/>
                                    </a:solidFill>
                                    <a:latin typeface="Cambria Math" panose="02040503050406030204" pitchFamily="18" charset="0"/>
                                    <a:cs typeface="Calibri" panose="020F0502020204030204" pitchFamily="34" charset="0"/>
                                  </a:rPr>
                                  <m:t>+</m:t>
                                </m:r>
                                <m:sSup>
                                  <m:sSupPr>
                                    <m:ctrlPr>
                                      <a:rPr lang="en-GB" sz="1200" b="0" i="1" baseline="0" noProof="0" smtClean="0">
                                        <a:solidFill>
                                          <a:schemeClr val="tx1"/>
                                        </a:solidFill>
                                        <a:latin typeface="Cambria Math" panose="02040503050406030204" pitchFamily="18" charset="0"/>
                                        <a:cs typeface="Calibri" panose="020F0502020204030204" pitchFamily="34" charset="0"/>
                                      </a:rPr>
                                    </m:ctrlPr>
                                  </m:sSupPr>
                                  <m:e>
                                    <m:r>
                                      <a:rPr lang="en-GB" sz="1200" b="0" i="1" baseline="0" noProof="0" smtClean="0">
                                        <a:solidFill>
                                          <a:schemeClr val="tx1"/>
                                        </a:solidFill>
                                        <a:latin typeface="Cambria Math" panose="02040503050406030204" pitchFamily="18" charset="0"/>
                                        <a:cs typeface="Calibri" panose="020F0502020204030204" pitchFamily="34" charset="0"/>
                                      </a:rPr>
                                      <m:t>𝑦</m:t>
                                    </m:r>
                                  </m:e>
                                  <m:sup>
                                    <m:r>
                                      <a:rPr lang="en-GB" sz="1200" b="0" i="1" baseline="0" noProof="0" smtClean="0">
                                        <a:solidFill>
                                          <a:schemeClr val="tx1"/>
                                        </a:solidFill>
                                        <a:latin typeface="Cambria Math" panose="02040503050406030204" pitchFamily="18" charset="0"/>
                                        <a:cs typeface="Calibri" panose="020F0502020204030204" pitchFamily="34" charset="0"/>
                                      </a:rPr>
                                      <m:t>2</m:t>
                                    </m:r>
                                  </m:sup>
                                </m:sSup>
                                <m:r>
                                  <a:rPr lang="en-GB" sz="1200" b="0" i="1" baseline="0" noProof="0" smtClean="0">
                                    <a:solidFill>
                                      <a:schemeClr val="tx1"/>
                                    </a:solidFill>
                                    <a:latin typeface="Cambria Math" panose="02040503050406030204" pitchFamily="18" charset="0"/>
                                    <a:cs typeface="Calibri" panose="020F0502020204030204" pitchFamily="34" charset="0"/>
                                  </a:rPr>
                                  <m:t>=20</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m:t>
                                </m:r>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−3</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1" baseline="0" noProof="0" dirty="0">
                            <a:solidFill>
                              <a:schemeClr val="tx1"/>
                            </a:solidFill>
                            <a:latin typeface="Cambria Math" panose="02040503050406030204" pitchFamily="18" charset="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Solve the simultaneous equations</a:t>
                          </a:r>
                        </a:p>
                        <a:p>
                          <a:pPr lvl="0" algn="ctr" defTabSz="685800">
                            <a:defRPr/>
                          </a:pPr>
                          <a14:m>
                            <m:oMathPara xmlns:m="http://schemas.openxmlformats.org/officeDocument/2006/math">
                              <m:oMathParaPr>
                                <m:jc m:val="centerGroup"/>
                              </m:oMathParaPr>
                              <m:oMath xmlns:m="http://schemas.openxmlformats.org/officeDocument/2006/math">
                                <m:sSup>
                                  <m:sSupPr>
                                    <m:ctrlPr>
                                      <a:rPr lang="en-GB" sz="1200" b="0" i="1" noProof="0" smtClean="0">
                                        <a:latin typeface="Cambria Math" panose="02040503050406030204" pitchFamily="18" charset="0"/>
                                        <a:cs typeface="Calibri" panose="020F0502020204030204" pitchFamily="34" charset="0"/>
                                      </a:rPr>
                                    </m:ctrlPr>
                                  </m:sSupPr>
                                  <m:e>
                                    <m:r>
                                      <a:rPr lang="en-GB" sz="1200" b="0" i="1" noProof="0" smtClean="0">
                                        <a:latin typeface="Cambria Math" panose="02040503050406030204" pitchFamily="18" charset="0"/>
                                        <a:cs typeface="Calibri" panose="020F0502020204030204" pitchFamily="34" charset="0"/>
                                      </a:rPr>
                                      <m:t>𝑥</m:t>
                                    </m:r>
                                  </m:e>
                                  <m:sup>
                                    <m:r>
                                      <a:rPr lang="en-GB" sz="1200" b="0" i="1" noProof="0" smtClean="0">
                                        <a:latin typeface="Cambria Math" panose="02040503050406030204" pitchFamily="18" charset="0"/>
                                        <a:cs typeface="Calibri" panose="020F0502020204030204" pitchFamily="34" charset="0"/>
                                      </a:rPr>
                                      <m:t>2</m:t>
                                    </m:r>
                                  </m:sup>
                                </m:sSup>
                                <m:r>
                                  <a:rPr lang="en-GB" sz="1200" b="0" i="1" noProof="0" smtClean="0">
                                    <a:latin typeface="Cambria Math" panose="02040503050406030204" pitchFamily="18" charset="0"/>
                                    <a:cs typeface="Calibri" panose="020F0502020204030204" pitchFamily="34" charset="0"/>
                                  </a:rPr>
                                  <m:t>+</m:t>
                                </m:r>
                                <m:sSup>
                                  <m:sSupPr>
                                    <m:ctrlPr>
                                      <a:rPr lang="en-GB" sz="1200" b="0" i="1" noProof="0" smtClean="0">
                                        <a:latin typeface="Cambria Math" panose="02040503050406030204" pitchFamily="18" charset="0"/>
                                        <a:cs typeface="Calibri" panose="020F0502020204030204" pitchFamily="34" charset="0"/>
                                      </a:rPr>
                                    </m:ctrlPr>
                                  </m:sSupPr>
                                  <m:e>
                                    <m:r>
                                      <a:rPr lang="en-GB" sz="1200" b="0" i="1" noProof="0" smtClean="0">
                                        <a:latin typeface="Cambria Math" panose="02040503050406030204" pitchFamily="18" charset="0"/>
                                        <a:cs typeface="Calibri" panose="020F0502020204030204" pitchFamily="34" charset="0"/>
                                      </a:rPr>
                                      <m:t>𝑦</m:t>
                                    </m:r>
                                  </m:e>
                                  <m:sup>
                                    <m:r>
                                      <a:rPr lang="en-GB" sz="1200" b="0" i="1" noProof="0" smtClean="0">
                                        <a:latin typeface="Cambria Math" panose="02040503050406030204" pitchFamily="18" charset="0"/>
                                        <a:cs typeface="Calibri" panose="020F0502020204030204" pitchFamily="34" charset="0"/>
                                      </a:rPr>
                                      <m:t>2</m:t>
                                    </m:r>
                                  </m:sup>
                                </m:sSup>
                                <m:r>
                                  <a:rPr lang="en-GB" sz="1200" b="0" i="1" noProof="0" smtClean="0">
                                    <a:latin typeface="Cambria Math" panose="02040503050406030204" pitchFamily="18" charset="0"/>
                                    <a:cs typeface="Calibri" panose="020F0502020204030204" pitchFamily="34" charset="0"/>
                                  </a:rPr>
                                  <m:t>=17</m:t>
                                </m:r>
                              </m:oMath>
                            </m:oMathPara>
                          </a14:m>
                          <a:endParaRPr lang="en-GB" sz="1200" b="0" noProof="0" dirty="0">
                            <a:cs typeface="Calibri" panose="020F0502020204030204" pitchFamily="34" charset="0"/>
                          </a:endParaRPr>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−5</m:t>
                                </m:r>
                              </m:oMath>
                            </m:oMathPara>
                          </a14:m>
                          <a:endParaRPr lang="en-GB" sz="1200" noProof="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265822"/>
                      </a:ext>
                    </a:extLst>
                  </a:tr>
                  <a:tr h="67319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2)</a:t>
                          </a:r>
                          <a:r>
                            <a:rPr lang="en-GB" sz="1200" b="0" i="0" baseline="0" noProof="0" dirty="0">
                              <a:solidFill>
                                <a:schemeClr val="tx1"/>
                              </a:solidFill>
                              <a:cs typeface="Calibri" panose="020F0502020204030204" pitchFamily="34" charset="0"/>
                            </a:rPr>
                            <a:t> Expand and Simplify</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81007270"/>
                      </a:ext>
                    </a:extLst>
                  </a:tr>
                  <a:tr h="67319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3) Rearrange</a:t>
                          </a:r>
                          <a:r>
                            <a:rPr lang="en-GB" sz="1200" b="0" i="0" baseline="0" noProof="0" dirty="0">
                              <a:solidFill>
                                <a:schemeClr val="tx1"/>
                              </a:solidFill>
                              <a:cs typeface="Calibri" panose="020F0502020204030204" pitchFamily="34" charset="0"/>
                            </a:rPr>
                            <a:t> to = 0</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04996011"/>
                      </a:ext>
                    </a:extLst>
                  </a:tr>
                  <a:tr h="134638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3) Solve by</a:t>
                          </a:r>
                          <a:r>
                            <a:rPr lang="en-GB" sz="1200" b="0" i="0" baseline="0" noProof="0" dirty="0">
                              <a:solidFill>
                                <a:schemeClr val="tx1"/>
                              </a:solidFill>
                              <a:cs typeface="Calibri" panose="020F0502020204030204" pitchFamily="34" charset="0"/>
                            </a:rPr>
                            <a:t> either:</a:t>
                          </a:r>
                          <a:endParaRPr lang="en-GB" sz="1200" b="0" i="0" noProof="0" dirty="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a) Factorising</a:t>
                          </a:r>
                          <a:br>
                            <a:rPr lang="en-GB" sz="1200" b="0" i="0" noProof="0" dirty="0">
                              <a:solidFill>
                                <a:schemeClr val="tx1"/>
                              </a:solidFill>
                              <a:cs typeface="Calibri" panose="020F0502020204030204" pitchFamily="34" charset="0"/>
                            </a:rPr>
                          </a:br>
                          <a:endParaRPr lang="en-GB" sz="1200" b="0" i="0" noProof="0" dirty="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b) Quadratic Formula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228761373"/>
                      </a:ext>
                    </a:extLst>
                  </a:tr>
                  <a:tr h="67319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4) Substitute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𝑥</m:t>
                              </m:r>
                            </m:oMath>
                          </a14:m>
                          <a:r>
                            <a:rPr lang="en-GB" sz="1200" b="0" i="0" noProof="0" dirty="0">
                              <a:solidFill>
                                <a:schemeClr val="tx1"/>
                              </a:solidFill>
                              <a:cs typeface="Calibri" panose="020F0502020204030204" pitchFamily="34" charset="0"/>
                            </a:rPr>
                            <a:t> values to find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𝑦</m:t>
                              </m:r>
                            </m:oMath>
                          </a14:m>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07296716"/>
                      </a:ext>
                    </a:extLst>
                  </a:tr>
                  <a:tr h="67319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5) Write solutions in pairs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09687205"/>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541816002"/>
                  </p:ext>
                </p:extLst>
              </p:nvPr>
            </p:nvGraphicFramePr>
            <p:xfrm>
              <a:off x="153291" y="1600243"/>
              <a:ext cx="6586709" cy="7863840"/>
            </p:xfrm>
            <a:graphic>
              <a:graphicData uri="http://schemas.openxmlformats.org/drawingml/2006/table">
                <a:tbl>
                  <a:tblPr firstRow="1" bandRow="1">
                    <a:tableStyleId>{5C22544A-7EE6-4342-B048-85BDC9FD1C3A}</a:tableStyleId>
                  </a:tblPr>
                  <a:tblGrid>
                    <a:gridCol w="862709">
                      <a:extLst>
                        <a:ext uri="{9D8B030D-6E8A-4147-A177-3AD203B41FA5}">
                          <a16:colId xmlns:a16="http://schemas.microsoft.com/office/drawing/2014/main" val="4222859584"/>
                        </a:ext>
                      </a:extLst>
                    </a:gridCol>
                    <a:gridCol w="1908000">
                      <a:extLst>
                        <a:ext uri="{9D8B030D-6E8A-4147-A177-3AD203B41FA5}">
                          <a16:colId xmlns:a16="http://schemas.microsoft.com/office/drawing/2014/main" val="2943938818"/>
                        </a:ext>
                      </a:extLst>
                    </a:gridCol>
                    <a:gridCol w="1908000">
                      <a:extLst>
                        <a:ext uri="{9D8B030D-6E8A-4147-A177-3AD203B41FA5}">
                          <a16:colId xmlns:a16="http://schemas.microsoft.com/office/drawing/2014/main" val="4207345459"/>
                        </a:ext>
                      </a:extLst>
                    </a:gridCol>
                    <a:gridCol w="1908000">
                      <a:extLst>
                        <a:ext uri="{9D8B030D-6E8A-4147-A177-3AD203B41FA5}">
                          <a16:colId xmlns:a16="http://schemas.microsoft.com/office/drawing/2014/main" val="592218920"/>
                        </a:ext>
                      </a:extLst>
                    </a:gridCol>
                  </a:tblGrid>
                  <a:tr h="27432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cs typeface="Calibri" panose="020F0502020204030204" pitchFamily="34" charset="0"/>
                            </a:rPr>
                            <a:t>Example 4 -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5 – We</a:t>
                          </a:r>
                          <a:r>
                            <a:rPr lang="en-GB" sz="1200" b="1" i="1" baseline="0" noProof="0">
                              <a:solidFill>
                                <a:schemeClr val="accent2"/>
                              </a:solidFill>
                            </a:rPr>
                            <a:t> </a:t>
                          </a:r>
                          <a:r>
                            <a:rPr lang="en-GB" sz="1200" b="1" i="1" noProof="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6 – You</a:t>
                          </a:r>
                          <a:r>
                            <a:rPr lang="en-GB" sz="1200" b="1" i="1" baseline="0" noProof="0">
                              <a:solidFill>
                                <a:srgbClr val="00B050"/>
                              </a:solidFill>
                            </a:rPr>
                            <a:t> </a:t>
                          </a:r>
                          <a:r>
                            <a:rPr lang="en-GB" sz="1200" b="1" i="1" noProof="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11887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baseline="0" noProof="0">
                              <a:solidFill>
                                <a:schemeClr val="tx1"/>
                              </a:solidFill>
                              <a:cs typeface="Calibri" panose="020F0502020204030204" pitchFamily="34" charset="0"/>
                            </a:rPr>
                            <a:t>1) Substitute linear equation into quadratic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5687" t="-3692" r="-200639" b="-161"/>
                          </a:stretch>
                        </a:blip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5687" t="-3692" r="-100639" b="-161"/>
                          </a:stretch>
                        </a:blip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45687" t="-3692" r="-639" b="-161"/>
                          </a:stretch>
                        </a:blipFill>
                      </a:tcPr>
                    </a:tc>
                    <a:extLst>
                      <a:ext uri="{0D108BD9-81ED-4DB2-BD59-A6C34878D82A}">
                        <a16:rowId xmlns:a16="http://schemas.microsoft.com/office/drawing/2014/main" val="3427265822"/>
                      </a:ext>
                    </a:extLst>
                  </a:tr>
                  <a:tr h="67319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2)</a:t>
                          </a:r>
                          <a:r>
                            <a:rPr lang="en-GB" sz="1200" b="0" i="0" baseline="0" noProof="0">
                              <a:solidFill>
                                <a:schemeClr val="tx1"/>
                              </a:solidFill>
                              <a:cs typeface="Calibri" panose="020F0502020204030204" pitchFamily="34" charset="0"/>
                            </a:rPr>
                            <a:t> Expand and Simplify</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81007270"/>
                      </a:ext>
                    </a:extLst>
                  </a:tr>
                  <a:tr h="67319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3) Rearrange</a:t>
                          </a:r>
                          <a:r>
                            <a:rPr lang="en-GB" sz="1200" b="0" i="0" baseline="0" noProof="0">
                              <a:solidFill>
                                <a:schemeClr val="tx1"/>
                              </a:solidFill>
                              <a:cs typeface="Calibri" panose="020F0502020204030204" pitchFamily="34" charset="0"/>
                            </a:rPr>
                            <a:t> to = 0</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04996011"/>
                      </a:ext>
                    </a:extLst>
                  </a:tr>
                  <a:tr h="15544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3) Solve by</a:t>
                          </a:r>
                          <a:r>
                            <a:rPr lang="en-GB" sz="1200" b="0" i="0" baseline="0" noProof="0">
                              <a:solidFill>
                                <a:schemeClr val="tx1"/>
                              </a:solidFill>
                              <a:cs typeface="Calibri" panose="020F0502020204030204" pitchFamily="34" charset="0"/>
                            </a:rPr>
                            <a:t> either:</a:t>
                          </a:r>
                          <a:endParaRPr lang="en-GB" sz="1200" b="0" i="0" noProof="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a) Factorising</a:t>
                          </a:r>
                          <a:br>
                            <a:rPr lang="en-GB" sz="1200" b="0" i="0" noProof="0">
                              <a:solidFill>
                                <a:schemeClr val="tx1"/>
                              </a:solidFill>
                              <a:cs typeface="Calibri" panose="020F0502020204030204" pitchFamily="34" charset="0"/>
                            </a:rPr>
                          </a:br>
                          <a:endParaRPr lang="en-GB" sz="1200" b="0" i="0" noProof="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b) Quadratic Formula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228761373"/>
                      </a:ext>
                    </a:extLst>
                  </a:tr>
                  <a:tr h="8229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04" t="-527206" r="-662676" b="-324265"/>
                          </a:stretch>
                        </a:blip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07296716"/>
                      </a:ext>
                    </a:extLst>
                  </a:tr>
                  <a:tr h="267697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5) Write solutions in pairs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09687205"/>
                      </a:ext>
                    </a:extLst>
                  </a:tr>
                </a:tbl>
              </a:graphicData>
            </a:graphic>
          </p:graphicFrame>
        </mc:Fallback>
      </mc:AlternateContent>
      <p:sp>
        <p:nvSpPr>
          <p:cNvPr id="20" name="TextBox 19">
            <a:extLst>
              <a:ext uri="{FF2B5EF4-FFF2-40B4-BE49-F238E27FC236}">
                <a16:creationId xmlns:a16="http://schemas.microsoft.com/office/drawing/2014/main" id="{1A127D5F-D90C-7A4B-B2A7-9600D90C40CC}"/>
              </a:ext>
            </a:extLst>
          </p:cNvPr>
          <p:cNvSpPr txBox="1"/>
          <p:nvPr/>
        </p:nvSpPr>
        <p:spPr>
          <a:xfrm>
            <a:off x="153291" y="77425"/>
            <a:ext cx="1478995" cy="276999"/>
          </a:xfrm>
          <a:prstGeom prst="rect">
            <a:avLst/>
          </a:prstGeom>
          <a:solidFill>
            <a:srgbClr val="0070C0"/>
          </a:solidFill>
        </p:spPr>
        <p:txBody>
          <a:bodyPr wrap="none" rtlCol="0" anchor="ctr">
            <a:spAutoFit/>
          </a:bodyPr>
          <a:lstStyle/>
          <a:p>
            <a:pPr algn="r"/>
            <a:r>
              <a:rPr lang="en-GB" sz="1200" b="1" noProof="0" dirty="0">
                <a:solidFill>
                  <a:schemeClr val="bg1"/>
                </a:solidFill>
              </a:rPr>
              <a:t>KNOWLEDGE CHECK</a:t>
            </a:r>
          </a:p>
        </p:txBody>
      </p:sp>
      <p:sp>
        <p:nvSpPr>
          <p:cNvPr id="21" name="TextBox 20"/>
          <p:cNvSpPr txBox="1"/>
          <p:nvPr/>
        </p:nvSpPr>
        <p:spPr>
          <a:xfrm>
            <a:off x="0" y="45065"/>
            <a:ext cx="4982309" cy="276999"/>
          </a:xfrm>
          <a:prstGeom prst="rect">
            <a:avLst/>
          </a:prstGeom>
          <a:noFill/>
        </p:spPr>
        <p:txBody>
          <a:bodyPr wrap="square" rtlCol="0">
            <a:spAutoFit/>
          </a:bodyPr>
          <a:lstStyle/>
          <a:p>
            <a:pPr algn="ctr"/>
            <a:r>
              <a:rPr lang="en-GB" sz="1200" noProof="0" dirty="0"/>
              <a:t>Expand the following:</a:t>
            </a:r>
          </a:p>
        </p:txBody>
      </p:sp>
      <mc:AlternateContent xmlns:mc="http://schemas.openxmlformats.org/markup-compatibility/2006" xmlns:a14="http://schemas.microsoft.com/office/drawing/2010/main">
        <mc:Choice Requires="a14">
          <p:graphicFrame>
            <p:nvGraphicFramePr>
              <p:cNvPr id="22" name="Table 21"/>
              <p:cNvGraphicFramePr>
                <a:graphicFrameLocks noGrp="1"/>
              </p:cNvGraphicFramePr>
              <p:nvPr>
                <p:extLst>
                  <p:ext uri="{D42A27DB-BD31-4B8C-83A1-F6EECF244321}">
                    <p14:modId xmlns:p14="http://schemas.microsoft.com/office/powerpoint/2010/main" val="2844942298"/>
                  </p:ext>
                </p:extLst>
              </p:nvPr>
            </p:nvGraphicFramePr>
            <p:xfrm>
              <a:off x="153291" y="443324"/>
              <a:ext cx="6609852" cy="914400"/>
            </p:xfrm>
            <a:graphic>
              <a:graphicData uri="http://schemas.openxmlformats.org/drawingml/2006/table">
                <a:tbl>
                  <a:tblPr firstRow="1" bandRow="1">
                    <a:tableStyleId>{5940675A-B579-460E-94D1-54222C63F5DA}</a:tableStyleId>
                  </a:tblPr>
                  <a:tblGrid>
                    <a:gridCol w="2203284">
                      <a:extLst>
                        <a:ext uri="{9D8B030D-6E8A-4147-A177-3AD203B41FA5}">
                          <a16:colId xmlns:a16="http://schemas.microsoft.com/office/drawing/2014/main" val="203348690"/>
                        </a:ext>
                      </a:extLst>
                    </a:gridCol>
                    <a:gridCol w="2203284">
                      <a:extLst>
                        <a:ext uri="{9D8B030D-6E8A-4147-A177-3AD203B41FA5}">
                          <a16:colId xmlns:a16="http://schemas.microsoft.com/office/drawing/2014/main" val="3850439623"/>
                        </a:ext>
                      </a:extLst>
                    </a:gridCol>
                    <a:gridCol w="2203284">
                      <a:extLst>
                        <a:ext uri="{9D8B030D-6E8A-4147-A177-3AD203B41FA5}">
                          <a16:colId xmlns:a16="http://schemas.microsoft.com/office/drawing/2014/main" val="1762567242"/>
                        </a:ext>
                      </a:extLst>
                    </a:gridCol>
                  </a:tblGrid>
                  <a:tr h="370840">
                    <a:tc>
                      <a:txBody>
                        <a:bodyPr/>
                        <a:lstStyle/>
                        <a:p>
                          <a:pPr algn="l"/>
                          <a:r>
                            <a:rPr lang="en-GB" noProof="0" dirty="0"/>
                            <a:t>a)</a:t>
                          </a:r>
                          <a:r>
                            <a:rPr lang="en-GB" baseline="0" noProof="0" dirty="0"/>
                            <a:t> </a:t>
                          </a:r>
                          <a14:m>
                            <m:oMath xmlns:m="http://schemas.openxmlformats.org/officeDocument/2006/math">
                              <m:sSup>
                                <m:sSupPr>
                                  <m:ctrlPr>
                                    <a:rPr lang="en-GB" i="1" baseline="0" noProof="0" smtClean="0">
                                      <a:latin typeface="Cambria Math" panose="02040503050406030204" pitchFamily="18" charset="0"/>
                                    </a:rPr>
                                  </m:ctrlPr>
                                </m:sSupPr>
                                <m:e>
                                  <m:r>
                                    <a:rPr lang="en-GB" b="0" i="1" baseline="0" noProof="0" smtClean="0">
                                      <a:latin typeface="Cambria Math" panose="02040503050406030204" pitchFamily="18" charset="0"/>
                                    </a:rPr>
                                    <m:t>(</m:t>
                                  </m:r>
                                  <m:r>
                                    <a:rPr lang="en-GB" b="0" i="1" baseline="0" noProof="0" smtClean="0">
                                      <a:latin typeface="Cambria Math" panose="02040503050406030204" pitchFamily="18" charset="0"/>
                                    </a:rPr>
                                    <m:t>𝑥</m:t>
                                  </m:r>
                                  <m:r>
                                    <a:rPr lang="en-GB" b="0" i="1" baseline="0" noProof="0" smtClean="0">
                                      <a:latin typeface="Cambria Math" panose="02040503050406030204" pitchFamily="18" charset="0"/>
                                    </a:rPr>
                                    <m:t>+1)</m:t>
                                  </m:r>
                                </m:e>
                                <m:sup>
                                  <m:r>
                                    <a:rPr lang="en-GB" b="0" i="1" baseline="0" noProof="0" smtClean="0">
                                      <a:latin typeface="Cambria Math" panose="02040503050406030204" pitchFamily="18" charset="0"/>
                                    </a:rPr>
                                    <m:t>2</m:t>
                                  </m:r>
                                </m:sup>
                              </m:sSup>
                            </m:oMath>
                          </a14:m>
                          <a:endParaRPr lang="en-GB" noProof="0" dirty="0"/>
                        </a:p>
                        <a:p>
                          <a:pPr algn="l"/>
                          <a:endParaRPr lang="en-GB" noProof="0" dirty="0"/>
                        </a:p>
                        <a:p>
                          <a:pPr algn="l"/>
                          <a:endParaRPr lang="en-GB" noProof="0" dirty="0"/>
                        </a:p>
                        <a:p>
                          <a:pPr algn="l"/>
                          <a:endParaRPr lang="en-GB" noProof="0" dirty="0"/>
                        </a:p>
                      </a:txBody>
                      <a:tcPr/>
                    </a:tc>
                    <a:tc>
                      <a:txBody>
                        <a:bodyPr/>
                        <a:lstStyle/>
                        <a:p>
                          <a:r>
                            <a:rPr lang="en-GB" noProof="0" dirty="0"/>
                            <a:t>b)</a:t>
                          </a:r>
                          <a:r>
                            <a:rPr lang="en-GB" baseline="0" noProof="0" dirty="0"/>
                            <a:t> </a:t>
                          </a:r>
                          <a14:m>
                            <m:oMath xmlns:m="http://schemas.openxmlformats.org/officeDocument/2006/math">
                              <m:sSup>
                                <m:sSupPr>
                                  <m:ctrlPr>
                                    <a:rPr lang="en-GB" i="1" baseline="0" noProof="0" smtClean="0">
                                      <a:latin typeface="Cambria Math" panose="02040503050406030204" pitchFamily="18" charset="0"/>
                                    </a:rPr>
                                  </m:ctrlPr>
                                </m:sSupPr>
                                <m:e>
                                  <m:r>
                                    <a:rPr lang="en-GB" b="0" i="1" baseline="0" noProof="0" smtClean="0">
                                      <a:latin typeface="Cambria Math" panose="02040503050406030204" pitchFamily="18" charset="0"/>
                                    </a:rPr>
                                    <m:t>(</m:t>
                                  </m:r>
                                  <m:r>
                                    <a:rPr lang="en-GB" b="0" i="1" baseline="0" noProof="0" smtClean="0">
                                      <a:latin typeface="Cambria Math" panose="02040503050406030204" pitchFamily="18" charset="0"/>
                                    </a:rPr>
                                    <m:t>𝑥</m:t>
                                  </m:r>
                                  <m:r>
                                    <a:rPr lang="en-GB" b="0" i="1" baseline="0" noProof="0" smtClean="0">
                                      <a:latin typeface="Cambria Math" panose="02040503050406030204" pitchFamily="18" charset="0"/>
                                    </a:rPr>
                                    <m:t>−1)</m:t>
                                  </m:r>
                                </m:e>
                                <m:sup>
                                  <m:r>
                                    <a:rPr lang="en-GB" b="0" i="1" baseline="0" noProof="0" smtClean="0">
                                      <a:latin typeface="Cambria Math" panose="02040503050406030204" pitchFamily="18" charset="0"/>
                                    </a:rPr>
                                    <m:t>2</m:t>
                                  </m:r>
                                </m:sup>
                              </m:sSup>
                            </m:oMath>
                          </a14:m>
                          <a:endParaRPr lang="en-GB" noProof="0" dirty="0"/>
                        </a:p>
                      </a:txBody>
                      <a:tcPr/>
                    </a:tc>
                    <a:tc>
                      <a:txBody>
                        <a:bodyPr/>
                        <a:lstStyle/>
                        <a:p>
                          <a:r>
                            <a:rPr lang="en-GB" noProof="0" dirty="0"/>
                            <a:t>c)</a:t>
                          </a:r>
                          <a:r>
                            <a:rPr lang="en-GB" baseline="0" noProof="0" dirty="0"/>
                            <a:t> </a:t>
                          </a:r>
                          <a14:m>
                            <m:oMath xmlns:m="http://schemas.openxmlformats.org/officeDocument/2006/math">
                              <m:sSup>
                                <m:sSupPr>
                                  <m:ctrlPr>
                                    <a:rPr lang="en-GB" i="1" baseline="0" noProof="0" smtClean="0">
                                      <a:latin typeface="Cambria Math" panose="02040503050406030204" pitchFamily="18" charset="0"/>
                                    </a:rPr>
                                  </m:ctrlPr>
                                </m:sSupPr>
                                <m:e>
                                  <m:r>
                                    <a:rPr lang="en-GB" b="0" i="1" baseline="0" noProof="0" smtClean="0">
                                      <a:latin typeface="Cambria Math" panose="02040503050406030204" pitchFamily="18" charset="0"/>
                                    </a:rPr>
                                    <m:t>(2</m:t>
                                  </m:r>
                                  <m:r>
                                    <a:rPr lang="en-GB" b="0" i="1" baseline="0" noProof="0" smtClean="0">
                                      <a:latin typeface="Cambria Math" panose="02040503050406030204" pitchFamily="18" charset="0"/>
                                    </a:rPr>
                                    <m:t>𝑥</m:t>
                                  </m:r>
                                  <m:r>
                                    <a:rPr lang="en-GB" b="0" i="1" baseline="0" noProof="0" smtClean="0">
                                      <a:latin typeface="Cambria Math" panose="02040503050406030204" pitchFamily="18" charset="0"/>
                                    </a:rPr>
                                    <m:t>−3)</m:t>
                                  </m:r>
                                </m:e>
                                <m:sup>
                                  <m:r>
                                    <a:rPr lang="en-GB" b="0" i="1" baseline="0" noProof="0" smtClean="0">
                                      <a:latin typeface="Cambria Math" panose="02040503050406030204" pitchFamily="18" charset="0"/>
                                    </a:rPr>
                                    <m:t>2</m:t>
                                  </m:r>
                                </m:sup>
                              </m:sSup>
                            </m:oMath>
                          </a14:m>
                          <a:endParaRPr lang="en-GB" noProof="0" dirty="0"/>
                        </a:p>
                      </a:txBody>
                      <a:tcPr/>
                    </a:tc>
                    <a:extLst>
                      <a:ext uri="{0D108BD9-81ED-4DB2-BD59-A6C34878D82A}">
                        <a16:rowId xmlns:a16="http://schemas.microsoft.com/office/drawing/2014/main" val="1036470400"/>
                      </a:ext>
                    </a:extLst>
                  </a:tr>
                </a:tbl>
              </a:graphicData>
            </a:graphic>
          </p:graphicFrame>
        </mc:Choice>
        <mc:Fallback xmlns="">
          <p:graphicFrame>
            <p:nvGraphicFramePr>
              <p:cNvPr id="22" name="Table 21"/>
              <p:cNvGraphicFramePr>
                <a:graphicFrameLocks noGrp="1"/>
              </p:cNvGraphicFramePr>
              <p:nvPr>
                <p:extLst>
                  <p:ext uri="{D42A27DB-BD31-4B8C-83A1-F6EECF244321}">
                    <p14:modId xmlns:p14="http://schemas.microsoft.com/office/powerpoint/2010/main" val="2844942298"/>
                  </p:ext>
                </p:extLst>
              </p:nvPr>
            </p:nvGraphicFramePr>
            <p:xfrm>
              <a:off x="153291" y="443324"/>
              <a:ext cx="6609852" cy="914400"/>
            </p:xfrm>
            <a:graphic>
              <a:graphicData uri="http://schemas.openxmlformats.org/drawingml/2006/table">
                <a:tbl>
                  <a:tblPr firstRow="1" bandRow="1">
                    <a:tableStyleId>{5940675A-B579-460E-94D1-54222C63F5DA}</a:tableStyleId>
                  </a:tblPr>
                  <a:tblGrid>
                    <a:gridCol w="2203284">
                      <a:extLst>
                        <a:ext uri="{9D8B030D-6E8A-4147-A177-3AD203B41FA5}">
                          <a16:colId xmlns:a16="http://schemas.microsoft.com/office/drawing/2014/main" val="203348690"/>
                        </a:ext>
                      </a:extLst>
                    </a:gridCol>
                    <a:gridCol w="2203284">
                      <a:extLst>
                        <a:ext uri="{9D8B030D-6E8A-4147-A177-3AD203B41FA5}">
                          <a16:colId xmlns:a16="http://schemas.microsoft.com/office/drawing/2014/main" val="3850439623"/>
                        </a:ext>
                      </a:extLst>
                    </a:gridCol>
                    <a:gridCol w="2203284">
                      <a:extLst>
                        <a:ext uri="{9D8B030D-6E8A-4147-A177-3AD203B41FA5}">
                          <a16:colId xmlns:a16="http://schemas.microsoft.com/office/drawing/2014/main" val="1762567242"/>
                        </a:ext>
                      </a:extLst>
                    </a:gridCol>
                  </a:tblGrid>
                  <a:tr h="914400">
                    <a:tc>
                      <a:txBody>
                        <a:bodyPr/>
                        <a:lstStyle/>
                        <a:p>
                          <a:endParaRPr lang="en-US"/>
                        </a:p>
                      </a:txBody>
                      <a:tcPr>
                        <a:blipFill>
                          <a:blip r:embed="rId3"/>
                          <a:stretch>
                            <a:fillRect l="-276" t="-662" r="-200276" b="-1325"/>
                          </a:stretch>
                        </a:blipFill>
                      </a:tcPr>
                    </a:tc>
                    <a:tc>
                      <a:txBody>
                        <a:bodyPr/>
                        <a:lstStyle/>
                        <a:p>
                          <a:endParaRPr lang="en-US"/>
                        </a:p>
                      </a:txBody>
                      <a:tcPr>
                        <a:blipFill>
                          <a:blip r:embed="rId3"/>
                          <a:stretch>
                            <a:fillRect l="-100554" t="-662" r="-100831" b="-1325"/>
                          </a:stretch>
                        </a:blipFill>
                      </a:tcPr>
                    </a:tc>
                    <a:tc>
                      <a:txBody>
                        <a:bodyPr/>
                        <a:lstStyle/>
                        <a:p>
                          <a:endParaRPr lang="en-US"/>
                        </a:p>
                      </a:txBody>
                      <a:tcPr>
                        <a:blipFill>
                          <a:blip r:embed="rId3"/>
                          <a:stretch>
                            <a:fillRect l="-200000" t="-662" r="-552" b="-1325"/>
                          </a:stretch>
                        </a:blipFill>
                      </a:tcPr>
                    </a:tc>
                    <a:extLst>
                      <a:ext uri="{0D108BD9-81ED-4DB2-BD59-A6C34878D82A}">
                        <a16:rowId xmlns:a16="http://schemas.microsoft.com/office/drawing/2014/main" val="1036470400"/>
                      </a:ext>
                    </a:extLst>
                  </a:tr>
                </a:tbl>
              </a:graphicData>
            </a:graphic>
          </p:graphicFrame>
        </mc:Fallback>
      </mc:AlternateContent>
    </p:spTree>
    <p:extLst>
      <p:ext uri="{BB962C8B-B14F-4D97-AF65-F5344CB8AC3E}">
        <p14:creationId xmlns:p14="http://schemas.microsoft.com/office/powerpoint/2010/main" val="40317220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11D50-34DC-CDD1-C342-1D5C3AAFA00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A67F611-48CB-A1EC-EACB-B6AA40E75735}"/>
                  </a:ext>
                </a:extLst>
              </p:cNvPr>
              <p:cNvSpPr txBox="1"/>
              <p:nvPr/>
            </p:nvSpPr>
            <p:spPr>
              <a:xfrm>
                <a:off x="231590" y="348088"/>
                <a:ext cx="1301895" cy="646331"/>
              </a:xfrm>
              <a:prstGeom prst="rect">
                <a:avLst/>
              </a:prstGeom>
              <a:noFill/>
            </p:spPr>
            <p:txBody>
              <a:bodyPr wrap="none" rtlCol="0">
                <a:spAutoFit/>
              </a:bodyPr>
              <a:lstStyle/>
              <a:p>
                <a:pPr lvl="0" algn="ctr" defTabSz="685800">
                  <a:defRPr/>
                </a:pPr>
                <a:r>
                  <a:rPr lang="en-GB" sz="1200" noProof="0" dirty="0"/>
                  <a:t>a) </a:t>
                </a:r>
                <a14:m>
                  <m:oMath xmlns:m="http://schemas.openxmlformats.org/officeDocument/2006/math">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𝑦</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=25</m:t>
                    </m:r>
                  </m:oMath>
                </a14:m>
                <a:endParaRPr lang="en-GB" sz="1200" noProof="0" dirty="0"/>
              </a:p>
              <a:p>
                <a:pPr lvl="0" algn="ctr" defTabSz="685800">
                  <a:defRPr/>
                </a:pPr>
                <a14:m>
                  <m:oMathPara xmlns:m="http://schemas.openxmlformats.org/officeDocument/2006/math">
                    <m:oMathParaPr>
                      <m:jc m:val="centerGroup"/>
                    </m:oMathParaPr>
                    <m:oMath xmlns:m="http://schemas.openxmlformats.org/officeDocument/2006/math">
                      <m:r>
                        <a:rPr lang="en-GB" sz="1200" i="1" noProof="0" smtClean="0">
                          <a:latin typeface="Cambria Math" panose="02040503050406030204" pitchFamily="18" charset="0"/>
                        </a:rPr>
                        <m:t>𝑦</m:t>
                      </m:r>
                      <m:r>
                        <a:rPr lang="en-GB" sz="1200" i="1" noProof="0" smtClean="0">
                          <a:latin typeface="Cambria Math" panose="02040503050406030204" pitchFamily="18" charset="0"/>
                        </a:rPr>
                        <m:t>=</m:t>
                      </m:r>
                      <m:r>
                        <a:rPr lang="en-GB" sz="1200" i="1" noProof="0" smtClean="0">
                          <a:latin typeface="Cambria Math" panose="02040503050406030204" pitchFamily="18" charset="0"/>
                        </a:rPr>
                        <m:t>𝑥</m:t>
                      </m:r>
                      <m:r>
                        <a:rPr lang="en-GB" sz="1200" i="1" noProof="0" smtClean="0">
                          <a:latin typeface="Cambria Math" panose="02040503050406030204" pitchFamily="18" charset="0"/>
                        </a:rPr>
                        <m:t>−5</m:t>
                      </m:r>
                    </m:oMath>
                  </m:oMathPara>
                </a14:m>
                <a:endParaRPr lang="en-GB" sz="1200" noProof="0" dirty="0"/>
              </a:p>
              <a:p>
                <a:r>
                  <a:rPr lang="en-GB" sz="1200" noProof="0" dirty="0"/>
                  <a:t> </a:t>
                </a:r>
              </a:p>
            </p:txBody>
          </p:sp>
        </mc:Choice>
        <mc:Fallback xmlns="">
          <p:sp>
            <p:nvSpPr>
              <p:cNvPr id="7" name="TextBox 6">
                <a:extLst>
                  <a:ext uri="{FF2B5EF4-FFF2-40B4-BE49-F238E27FC236}">
                    <a16:creationId xmlns:a16="http://schemas.microsoft.com/office/drawing/2014/main" id="{0A67F611-48CB-A1EC-EACB-B6AA40E75735}"/>
                  </a:ext>
                </a:extLst>
              </p:cNvPr>
              <p:cNvSpPr txBox="1">
                <a:spLocks noRot="1" noChangeAspect="1" noMove="1" noResize="1" noEditPoints="1" noAdjustHandles="1" noChangeArrowheads="1" noChangeShapeType="1" noTextEdit="1"/>
              </p:cNvSpPr>
              <p:nvPr/>
            </p:nvSpPr>
            <p:spPr>
              <a:xfrm>
                <a:off x="231590" y="348088"/>
                <a:ext cx="1301895" cy="64633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9305F03-B00B-C27F-30CD-1BFAAC365C87}"/>
                  </a:ext>
                </a:extLst>
              </p:cNvPr>
              <p:cNvSpPr txBox="1"/>
              <p:nvPr/>
            </p:nvSpPr>
            <p:spPr>
              <a:xfrm>
                <a:off x="3740776" y="348088"/>
                <a:ext cx="1144801" cy="461665"/>
              </a:xfrm>
              <a:prstGeom prst="rect">
                <a:avLst/>
              </a:prstGeom>
              <a:noFill/>
            </p:spPr>
            <p:txBody>
              <a:bodyPr wrap="none" rtlCol="0">
                <a:spAutoFit/>
              </a:bodyPr>
              <a:lstStyle/>
              <a:p>
                <a:pPr lvl="0" algn="ctr" defTabSz="685800">
                  <a:defRPr/>
                </a:pPr>
                <a:r>
                  <a:rPr lang="en-GB" sz="1200" noProof="0" dirty="0"/>
                  <a:t>b) </a:t>
                </a:r>
                <a14:m>
                  <m:oMath xmlns:m="http://schemas.openxmlformats.org/officeDocument/2006/math">
                    <m:sSup>
                      <m:sSupPr>
                        <m:ctrlPr>
                          <a:rPr lang="en-GB" sz="1200" i="1" noProof="0" smtClean="0">
                            <a:latin typeface="Cambria Math" panose="02040503050406030204" pitchFamily="18" charset="0"/>
                            <a:cs typeface="Calibri" panose="020F0502020204030204" pitchFamily="34" charset="0"/>
                          </a:rPr>
                        </m:ctrlPr>
                      </m:sSupPr>
                      <m:e>
                        <m:r>
                          <a:rPr lang="en-GB" sz="1200" i="1" noProof="0" smtClean="0">
                            <a:latin typeface="Cambria Math" panose="02040503050406030204" pitchFamily="18" charset="0"/>
                            <a:cs typeface="Calibri" panose="020F0502020204030204" pitchFamily="34" charset="0"/>
                          </a:rPr>
                          <m:t>𝑥</m:t>
                        </m:r>
                      </m:e>
                      <m:sup>
                        <m:r>
                          <a:rPr lang="en-GB" sz="1200" i="1" noProof="0" smtClean="0">
                            <a:latin typeface="Cambria Math" panose="02040503050406030204" pitchFamily="18" charset="0"/>
                            <a:cs typeface="Calibri" panose="020F0502020204030204" pitchFamily="34" charset="0"/>
                          </a:rPr>
                          <m:t>2</m:t>
                        </m:r>
                      </m:sup>
                    </m:sSup>
                    <m:r>
                      <a:rPr lang="en-GB" sz="1200" i="1" noProof="0" smtClean="0">
                        <a:latin typeface="Cambria Math" panose="02040503050406030204" pitchFamily="18" charset="0"/>
                        <a:cs typeface="Calibri" panose="020F0502020204030204" pitchFamily="34" charset="0"/>
                      </a:rPr>
                      <m:t>+</m:t>
                    </m:r>
                    <m:sSup>
                      <m:sSupPr>
                        <m:ctrlPr>
                          <a:rPr lang="en-GB" sz="1200" i="1" noProof="0" smtClean="0">
                            <a:latin typeface="Cambria Math" panose="02040503050406030204" pitchFamily="18" charset="0"/>
                            <a:cs typeface="Calibri" panose="020F0502020204030204" pitchFamily="34" charset="0"/>
                          </a:rPr>
                        </m:ctrlPr>
                      </m:sSupPr>
                      <m:e>
                        <m:r>
                          <a:rPr lang="en-GB" sz="1200" i="1" noProof="0" smtClean="0">
                            <a:latin typeface="Cambria Math" panose="02040503050406030204" pitchFamily="18" charset="0"/>
                            <a:cs typeface="Calibri" panose="020F0502020204030204" pitchFamily="34" charset="0"/>
                          </a:rPr>
                          <m:t>𝑦</m:t>
                        </m:r>
                      </m:e>
                      <m:sup>
                        <m:r>
                          <a:rPr lang="en-GB" sz="1200" i="1" noProof="0" smtClean="0">
                            <a:latin typeface="Cambria Math" panose="02040503050406030204" pitchFamily="18" charset="0"/>
                            <a:cs typeface="Calibri" panose="020F0502020204030204" pitchFamily="34" charset="0"/>
                          </a:rPr>
                          <m:t>2</m:t>
                        </m:r>
                      </m:sup>
                    </m:sSup>
                    <m:r>
                      <a:rPr lang="en-GB" sz="1200" i="1" noProof="0" smtClean="0">
                        <a:latin typeface="Cambria Math" panose="02040503050406030204" pitchFamily="18" charset="0"/>
                        <a:cs typeface="Calibri" panose="020F0502020204030204" pitchFamily="34" charset="0"/>
                      </a:rPr>
                      <m:t>=4</m:t>
                    </m:r>
                  </m:oMath>
                </a14:m>
                <a:endParaRPr lang="en-GB" sz="1200" noProof="0" dirty="0">
                  <a:cs typeface="Calibri" panose="020F0502020204030204" pitchFamily="34" charset="0"/>
                </a:endParaRPr>
              </a:p>
              <a:p>
                <a:pPr lvl="0" algn="ctr" defTabSz="685800">
                  <a:defRPr/>
                </a:pPr>
                <a14:m>
                  <m:oMathPara xmlns:m="http://schemas.openxmlformats.org/officeDocument/2006/math">
                    <m:oMathParaPr>
                      <m:jc m:val="centerGroup"/>
                    </m:oMathParaPr>
                    <m:oMath xmlns:m="http://schemas.openxmlformats.org/officeDocument/2006/math">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m:t>
                      </m:r>
                      <m:r>
                        <a:rPr lang="en-GB" sz="1200" i="1" noProof="0" smtClean="0">
                          <a:latin typeface="Cambria Math" panose="02040503050406030204" pitchFamily="18" charset="0"/>
                          <a:cs typeface="Calibri" panose="020F0502020204030204" pitchFamily="34" charset="0"/>
                        </a:rPr>
                        <m:t>𝑦</m:t>
                      </m:r>
                      <m:r>
                        <a:rPr lang="en-GB" sz="1200" i="1" noProof="0" smtClean="0">
                          <a:latin typeface="Cambria Math" panose="02040503050406030204" pitchFamily="18" charset="0"/>
                          <a:cs typeface="Calibri" panose="020F0502020204030204" pitchFamily="34" charset="0"/>
                        </a:rPr>
                        <m:t>−2</m:t>
                      </m:r>
                    </m:oMath>
                  </m:oMathPara>
                </a14:m>
                <a:endParaRPr lang="en-GB" sz="1200" noProof="0" dirty="0">
                  <a:cs typeface="Calibri" panose="020F0502020204030204" pitchFamily="34" charset="0"/>
                </a:endParaRPr>
              </a:p>
            </p:txBody>
          </p:sp>
        </mc:Choice>
        <mc:Fallback xmlns="">
          <p:sp>
            <p:nvSpPr>
              <p:cNvPr id="8" name="TextBox 7">
                <a:extLst>
                  <a:ext uri="{FF2B5EF4-FFF2-40B4-BE49-F238E27FC236}">
                    <a16:creationId xmlns:a16="http://schemas.microsoft.com/office/drawing/2014/main" id="{C9305F03-B00B-C27F-30CD-1BFAAC365C87}"/>
                  </a:ext>
                </a:extLst>
              </p:cNvPr>
              <p:cNvSpPr txBox="1">
                <a:spLocks noRot="1" noChangeAspect="1" noMove="1" noResize="1" noEditPoints="1" noAdjustHandles="1" noChangeArrowheads="1" noChangeShapeType="1" noTextEdit="1"/>
              </p:cNvSpPr>
              <p:nvPr/>
            </p:nvSpPr>
            <p:spPr>
              <a:xfrm>
                <a:off x="3740776" y="348088"/>
                <a:ext cx="1144801" cy="461665"/>
              </a:xfrm>
              <a:prstGeom prst="rect">
                <a:avLst/>
              </a:prstGeom>
              <a:blipFill>
                <a:blip r:embed="rId3"/>
                <a:stretch>
                  <a:fillRect/>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F7E7743F-3403-DBA8-9F26-F0A6B89D0061}"/>
              </a:ext>
            </a:extLst>
          </p:cNvPr>
          <p:cNvSpPr/>
          <p:nvPr/>
        </p:nvSpPr>
        <p:spPr>
          <a:xfrm>
            <a:off x="238596" y="768339"/>
            <a:ext cx="3158773"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Rectangle 10">
            <a:extLst>
              <a:ext uri="{FF2B5EF4-FFF2-40B4-BE49-F238E27FC236}">
                <a16:creationId xmlns:a16="http://schemas.microsoft.com/office/drawing/2014/main" id="{39F5BEF6-427F-8A8C-16D9-0E683995E72A}"/>
              </a:ext>
            </a:extLst>
          </p:cNvPr>
          <p:cNvSpPr/>
          <p:nvPr/>
        </p:nvSpPr>
        <p:spPr>
          <a:xfrm>
            <a:off x="3541610" y="768340"/>
            <a:ext cx="3111891"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A6CE93F-56BC-9B4A-14A4-EEA55EA9ED2E}"/>
                  </a:ext>
                </a:extLst>
              </p:cNvPr>
              <p:cNvSpPr txBox="1"/>
              <p:nvPr/>
            </p:nvSpPr>
            <p:spPr>
              <a:xfrm>
                <a:off x="230591" y="4846384"/>
                <a:ext cx="1250599" cy="461665"/>
              </a:xfrm>
              <a:prstGeom prst="rect">
                <a:avLst/>
              </a:prstGeom>
              <a:noFill/>
            </p:spPr>
            <p:txBody>
              <a:bodyPr wrap="none" rtlCol="0">
                <a:spAutoFit/>
              </a:bodyPr>
              <a:lstStyle/>
              <a:p>
                <a:pPr lvl="0" algn="ctr" defTabSz="685800">
                  <a:defRPr/>
                </a:pPr>
                <a:r>
                  <a:rPr lang="en-GB" sz="1200" noProof="0" dirty="0"/>
                  <a:t>c) </a:t>
                </a:r>
                <a14:m>
                  <m:oMath xmlns:m="http://schemas.openxmlformats.org/officeDocument/2006/math">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𝑦</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=20</m:t>
                    </m:r>
                  </m:oMath>
                </a14:m>
                <a:endParaRPr lang="en-GB" sz="1200" noProof="0" dirty="0"/>
              </a:p>
              <a:p>
                <a:pPr lvl="0" algn="ctr" defTabSz="685800">
                  <a:defRPr/>
                </a:pPr>
                <a14:m>
                  <m:oMathPara xmlns:m="http://schemas.openxmlformats.org/officeDocument/2006/math">
                    <m:oMathParaPr>
                      <m:jc m:val="centerGroup"/>
                    </m:oMathParaPr>
                    <m:oMath xmlns:m="http://schemas.openxmlformats.org/officeDocument/2006/math">
                      <m:r>
                        <a:rPr lang="en-GB" sz="1200" i="1" noProof="0" smtClean="0">
                          <a:latin typeface="Cambria Math" panose="02040503050406030204" pitchFamily="18" charset="0"/>
                        </a:rPr>
                        <m:t>𝑦</m:t>
                      </m:r>
                      <m:r>
                        <a:rPr lang="en-GB" sz="1200" i="1" noProof="0" smtClean="0">
                          <a:latin typeface="Cambria Math" panose="02040503050406030204" pitchFamily="18" charset="0"/>
                        </a:rPr>
                        <m:t>=</m:t>
                      </m:r>
                      <m:r>
                        <a:rPr lang="en-GB" sz="1200" i="1" noProof="0" smtClean="0">
                          <a:latin typeface="Cambria Math" panose="02040503050406030204" pitchFamily="18" charset="0"/>
                        </a:rPr>
                        <m:t>𝑥</m:t>
                      </m:r>
                      <m:r>
                        <a:rPr lang="en-GB" sz="1200" i="1" noProof="0" smtClean="0">
                          <a:latin typeface="Cambria Math" panose="02040503050406030204" pitchFamily="18" charset="0"/>
                        </a:rPr>
                        <m:t>+3</m:t>
                      </m:r>
                    </m:oMath>
                  </m:oMathPara>
                </a14:m>
                <a:endParaRPr lang="en-GB" sz="1200" noProof="0" dirty="0"/>
              </a:p>
            </p:txBody>
          </p:sp>
        </mc:Choice>
        <mc:Fallback xmlns="">
          <p:sp>
            <p:nvSpPr>
              <p:cNvPr id="13" name="TextBox 12">
                <a:extLst>
                  <a:ext uri="{FF2B5EF4-FFF2-40B4-BE49-F238E27FC236}">
                    <a16:creationId xmlns:a16="http://schemas.microsoft.com/office/drawing/2014/main" id="{6A6CE93F-56BC-9B4A-14A4-EEA55EA9ED2E}"/>
                  </a:ext>
                </a:extLst>
              </p:cNvPr>
              <p:cNvSpPr txBox="1">
                <a:spLocks noRot="1" noChangeAspect="1" noMove="1" noResize="1" noEditPoints="1" noAdjustHandles="1" noChangeArrowheads="1" noChangeShapeType="1" noTextEdit="1"/>
              </p:cNvSpPr>
              <p:nvPr/>
            </p:nvSpPr>
            <p:spPr>
              <a:xfrm>
                <a:off x="230591" y="4846384"/>
                <a:ext cx="1250599"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D211F80-E17E-0383-6372-CD35BD8DE954}"/>
                  </a:ext>
                </a:extLst>
              </p:cNvPr>
              <p:cNvSpPr txBox="1"/>
              <p:nvPr/>
            </p:nvSpPr>
            <p:spPr>
              <a:xfrm>
                <a:off x="3671651" y="4846384"/>
                <a:ext cx="1229760" cy="461665"/>
              </a:xfrm>
              <a:prstGeom prst="rect">
                <a:avLst/>
              </a:prstGeom>
              <a:noFill/>
            </p:spPr>
            <p:txBody>
              <a:bodyPr wrap="none" rtlCol="0">
                <a:spAutoFit/>
              </a:bodyPr>
              <a:lstStyle/>
              <a:p>
                <a:pPr lvl="0" algn="ctr" defTabSz="685800">
                  <a:defRPr/>
                </a:pPr>
                <a:r>
                  <a:rPr lang="en-GB" sz="1200" noProof="0" dirty="0"/>
                  <a:t>d) </a:t>
                </a:r>
                <a14:m>
                  <m:oMath xmlns:m="http://schemas.openxmlformats.org/officeDocument/2006/math">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𝑦</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=25</m:t>
                    </m:r>
                  </m:oMath>
                </a14:m>
                <a:endParaRPr lang="en-GB" sz="1200" noProof="0" dirty="0"/>
              </a:p>
              <a:p>
                <a:pPr lvl="0" algn="ctr" defTabSz="685800">
                  <a:defRPr/>
                </a:pPr>
                <a14:m>
                  <m:oMath xmlns:m="http://schemas.openxmlformats.org/officeDocument/2006/math">
                    <m:r>
                      <a:rPr lang="en-GB" sz="1200" i="1" noProof="0" smtClean="0">
                        <a:latin typeface="Cambria Math" panose="02040503050406030204" pitchFamily="18" charset="0"/>
                      </a:rPr>
                      <m:t>𝑦</m:t>
                    </m:r>
                    <m:r>
                      <a:rPr lang="en-GB" sz="1200" i="1" noProof="0" smtClean="0">
                        <a:latin typeface="Cambria Math" panose="02040503050406030204" pitchFamily="18" charset="0"/>
                      </a:rPr>
                      <m:t>=2</m:t>
                    </m:r>
                    <m:r>
                      <a:rPr lang="en-GB" sz="1200" i="1" noProof="0" smtClean="0">
                        <a:latin typeface="Cambria Math" panose="02040503050406030204" pitchFamily="18" charset="0"/>
                      </a:rPr>
                      <m:t>𝑥</m:t>
                    </m:r>
                    <m:r>
                      <a:rPr lang="en-GB" sz="1200" i="1" noProof="0" smtClean="0">
                        <a:latin typeface="Cambria Math" panose="02040503050406030204" pitchFamily="18" charset="0"/>
                      </a:rPr>
                      <m:t>+5</m:t>
                    </m:r>
                  </m:oMath>
                </a14:m>
                <a:r>
                  <a:rPr lang="en-GB" sz="1200" noProof="0" dirty="0"/>
                  <a:t> </a:t>
                </a:r>
              </a:p>
            </p:txBody>
          </p:sp>
        </mc:Choice>
        <mc:Fallback xmlns="">
          <p:sp>
            <p:nvSpPr>
              <p:cNvPr id="14" name="TextBox 13">
                <a:extLst>
                  <a:ext uri="{FF2B5EF4-FFF2-40B4-BE49-F238E27FC236}">
                    <a16:creationId xmlns:a16="http://schemas.microsoft.com/office/drawing/2014/main" id="{7D211F80-E17E-0383-6372-CD35BD8DE954}"/>
                  </a:ext>
                </a:extLst>
              </p:cNvPr>
              <p:cNvSpPr txBox="1">
                <a:spLocks noRot="1" noChangeAspect="1" noMove="1" noResize="1" noEditPoints="1" noAdjustHandles="1" noChangeArrowheads="1" noChangeShapeType="1" noTextEdit="1"/>
              </p:cNvSpPr>
              <p:nvPr/>
            </p:nvSpPr>
            <p:spPr>
              <a:xfrm>
                <a:off x="3671651" y="4846384"/>
                <a:ext cx="1229760" cy="461665"/>
              </a:xfrm>
              <a:prstGeom prst="rect">
                <a:avLst/>
              </a:prstGeom>
              <a:blipFill>
                <a:blip r:embed="rId5"/>
                <a:stretch>
                  <a:fillRect/>
                </a:stretch>
              </a:blipFill>
            </p:spPr>
            <p:txBody>
              <a:bodyPr/>
              <a:lstStyle/>
              <a:p>
                <a:r>
                  <a:rPr lang="en-US">
                    <a:noFill/>
                  </a:rPr>
                  <a:t> </a:t>
                </a:r>
              </a:p>
            </p:txBody>
          </p:sp>
        </mc:Fallback>
      </mc:AlternateContent>
      <p:sp>
        <p:nvSpPr>
          <p:cNvPr id="16" name="Rectangle 15">
            <a:extLst>
              <a:ext uri="{FF2B5EF4-FFF2-40B4-BE49-F238E27FC236}">
                <a16:creationId xmlns:a16="http://schemas.microsoft.com/office/drawing/2014/main" id="{1B36D56F-7EEE-ED9B-9BB5-9C9F81D613D7}"/>
              </a:ext>
            </a:extLst>
          </p:cNvPr>
          <p:cNvSpPr/>
          <p:nvPr/>
        </p:nvSpPr>
        <p:spPr>
          <a:xfrm>
            <a:off x="214533" y="5369464"/>
            <a:ext cx="3158773"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tangle 16">
            <a:extLst>
              <a:ext uri="{FF2B5EF4-FFF2-40B4-BE49-F238E27FC236}">
                <a16:creationId xmlns:a16="http://schemas.microsoft.com/office/drawing/2014/main" id="{68459931-83F2-3FE2-E4DF-FA9E72B7FDF8}"/>
              </a:ext>
            </a:extLst>
          </p:cNvPr>
          <p:cNvSpPr/>
          <p:nvPr/>
        </p:nvSpPr>
        <p:spPr>
          <a:xfrm>
            <a:off x="3543418" y="5369465"/>
            <a:ext cx="3086019"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Rectangle 18">
            <a:extLst>
              <a:ext uri="{FF2B5EF4-FFF2-40B4-BE49-F238E27FC236}">
                <a16:creationId xmlns:a16="http://schemas.microsoft.com/office/drawing/2014/main" id="{D8695026-BB31-D006-443F-6D60DE99DBB2}"/>
              </a:ext>
            </a:extLst>
          </p:cNvPr>
          <p:cNvSpPr/>
          <p:nvPr/>
        </p:nvSpPr>
        <p:spPr>
          <a:xfrm>
            <a:off x="1141656" y="439599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0" name="Rectangle 19">
            <a:extLst>
              <a:ext uri="{FF2B5EF4-FFF2-40B4-BE49-F238E27FC236}">
                <a16:creationId xmlns:a16="http://schemas.microsoft.com/office/drawing/2014/main" id="{59FC1F3E-002D-5A75-A97B-7219B1C23847}"/>
              </a:ext>
            </a:extLst>
          </p:cNvPr>
          <p:cNvSpPr/>
          <p:nvPr/>
        </p:nvSpPr>
        <p:spPr>
          <a:xfrm>
            <a:off x="1928679" y="439287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CA29CCAB-62C1-3875-AA26-4C7898106019}"/>
                  </a:ext>
                </a:extLst>
              </p:cNvPr>
              <p:cNvSpPr/>
              <p:nvPr/>
            </p:nvSpPr>
            <p:spPr>
              <a:xfrm>
                <a:off x="654421" y="435302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1" name="Rectangle 20">
                <a:extLst>
                  <a:ext uri="{FF2B5EF4-FFF2-40B4-BE49-F238E27FC236}">
                    <a16:creationId xmlns:a16="http://schemas.microsoft.com/office/drawing/2014/main" id="{CA29CCAB-62C1-3875-AA26-4C7898106019}"/>
                  </a:ext>
                </a:extLst>
              </p:cNvPr>
              <p:cNvSpPr>
                <a:spLocks noRot="1" noChangeAspect="1" noMove="1" noResize="1" noEditPoints="1" noAdjustHandles="1" noChangeArrowheads="1" noChangeShapeType="1" noTextEdit="1"/>
              </p:cNvSpPr>
              <p:nvPr/>
            </p:nvSpPr>
            <p:spPr>
              <a:xfrm>
                <a:off x="654421" y="4353027"/>
                <a:ext cx="1381880" cy="369332"/>
              </a:xfrm>
              <a:prstGeom prst="rect">
                <a:avLst/>
              </a:prstGeom>
              <a:blipFill>
                <a:blip r:embed="rId6"/>
                <a:stretch>
                  <a:fillRect r="-12335" b="-16393"/>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C87BB643-1F79-5A5B-6B72-36B276000342}"/>
              </a:ext>
            </a:extLst>
          </p:cNvPr>
          <p:cNvSpPr/>
          <p:nvPr/>
        </p:nvSpPr>
        <p:spPr>
          <a:xfrm>
            <a:off x="5445774" y="4396729"/>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3" name="Rectangle 22">
            <a:extLst>
              <a:ext uri="{FF2B5EF4-FFF2-40B4-BE49-F238E27FC236}">
                <a16:creationId xmlns:a16="http://schemas.microsoft.com/office/drawing/2014/main" id="{8F7F32E9-57A0-012C-3313-7E18F482FB47}"/>
              </a:ext>
            </a:extLst>
          </p:cNvPr>
          <p:cNvSpPr/>
          <p:nvPr/>
        </p:nvSpPr>
        <p:spPr>
          <a:xfrm>
            <a:off x="6232797" y="4393611"/>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8E5D9037-79E5-FB45-E804-CB10F66A3A8E}"/>
                  </a:ext>
                </a:extLst>
              </p:cNvPr>
              <p:cNvSpPr/>
              <p:nvPr/>
            </p:nvSpPr>
            <p:spPr>
              <a:xfrm>
                <a:off x="4958539" y="4353763"/>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4" name="Rectangle 23">
                <a:extLst>
                  <a:ext uri="{FF2B5EF4-FFF2-40B4-BE49-F238E27FC236}">
                    <a16:creationId xmlns:a16="http://schemas.microsoft.com/office/drawing/2014/main" id="{8E5D9037-79E5-FB45-E804-CB10F66A3A8E}"/>
                  </a:ext>
                </a:extLst>
              </p:cNvPr>
              <p:cNvSpPr>
                <a:spLocks noRot="1" noChangeAspect="1" noMove="1" noResize="1" noEditPoints="1" noAdjustHandles="1" noChangeArrowheads="1" noChangeShapeType="1" noTextEdit="1"/>
              </p:cNvSpPr>
              <p:nvPr/>
            </p:nvSpPr>
            <p:spPr>
              <a:xfrm>
                <a:off x="4958539" y="4353763"/>
                <a:ext cx="1381880" cy="369332"/>
              </a:xfrm>
              <a:prstGeom prst="rect">
                <a:avLst/>
              </a:prstGeom>
              <a:blipFill>
                <a:blip r:embed="rId6"/>
                <a:stretch>
                  <a:fillRect r="-12335" b="-16393"/>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38B2E7A7-EFA0-F137-110C-5FF20A0F7556}"/>
              </a:ext>
            </a:extLst>
          </p:cNvPr>
          <p:cNvSpPr/>
          <p:nvPr/>
        </p:nvSpPr>
        <p:spPr>
          <a:xfrm>
            <a:off x="1141656" y="912966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9" name="Rectangle 28">
            <a:extLst>
              <a:ext uri="{FF2B5EF4-FFF2-40B4-BE49-F238E27FC236}">
                <a16:creationId xmlns:a16="http://schemas.microsoft.com/office/drawing/2014/main" id="{31BF2A0B-238E-EDE5-D87A-888E6538B58F}"/>
              </a:ext>
            </a:extLst>
          </p:cNvPr>
          <p:cNvSpPr/>
          <p:nvPr/>
        </p:nvSpPr>
        <p:spPr>
          <a:xfrm>
            <a:off x="1928679" y="912655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16E8B24B-99C7-99E0-8678-58A078A265D1}"/>
                  </a:ext>
                </a:extLst>
              </p:cNvPr>
              <p:cNvSpPr/>
              <p:nvPr/>
            </p:nvSpPr>
            <p:spPr>
              <a:xfrm>
                <a:off x="654421" y="908670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0" name="Rectangle 29">
                <a:extLst>
                  <a:ext uri="{FF2B5EF4-FFF2-40B4-BE49-F238E27FC236}">
                    <a16:creationId xmlns:a16="http://schemas.microsoft.com/office/drawing/2014/main" id="{16E8B24B-99C7-99E0-8678-58A078A265D1}"/>
                  </a:ext>
                </a:extLst>
              </p:cNvPr>
              <p:cNvSpPr>
                <a:spLocks noRot="1" noChangeAspect="1" noMove="1" noResize="1" noEditPoints="1" noAdjustHandles="1" noChangeArrowheads="1" noChangeShapeType="1" noTextEdit="1"/>
              </p:cNvSpPr>
              <p:nvPr/>
            </p:nvSpPr>
            <p:spPr>
              <a:xfrm>
                <a:off x="654421" y="9086702"/>
                <a:ext cx="1381880" cy="369332"/>
              </a:xfrm>
              <a:prstGeom prst="rect">
                <a:avLst/>
              </a:prstGeom>
              <a:blipFill>
                <a:blip r:embed="rId7"/>
                <a:stretch>
                  <a:fillRect r="-12335" b="-16667"/>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386D2696-76D3-A421-3576-13CF2ECE9B97}"/>
              </a:ext>
            </a:extLst>
          </p:cNvPr>
          <p:cNvSpPr/>
          <p:nvPr/>
        </p:nvSpPr>
        <p:spPr>
          <a:xfrm>
            <a:off x="5445774" y="9130404"/>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2" name="Rectangle 31">
            <a:extLst>
              <a:ext uri="{FF2B5EF4-FFF2-40B4-BE49-F238E27FC236}">
                <a16:creationId xmlns:a16="http://schemas.microsoft.com/office/drawing/2014/main" id="{C64913D4-BAC4-F889-E99C-750AD9A6B144}"/>
              </a:ext>
            </a:extLst>
          </p:cNvPr>
          <p:cNvSpPr/>
          <p:nvPr/>
        </p:nvSpPr>
        <p:spPr>
          <a:xfrm>
            <a:off x="6232797" y="9127286"/>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0680D925-C85A-D213-3548-BCD69AA653D0}"/>
                  </a:ext>
                </a:extLst>
              </p:cNvPr>
              <p:cNvSpPr/>
              <p:nvPr/>
            </p:nvSpPr>
            <p:spPr>
              <a:xfrm>
                <a:off x="4958539" y="9087438"/>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3" name="Rectangle 32">
                <a:extLst>
                  <a:ext uri="{FF2B5EF4-FFF2-40B4-BE49-F238E27FC236}">
                    <a16:creationId xmlns:a16="http://schemas.microsoft.com/office/drawing/2014/main" id="{0680D925-C85A-D213-3548-BCD69AA653D0}"/>
                  </a:ext>
                </a:extLst>
              </p:cNvPr>
              <p:cNvSpPr>
                <a:spLocks noRot="1" noChangeAspect="1" noMove="1" noResize="1" noEditPoints="1" noAdjustHandles="1" noChangeArrowheads="1" noChangeShapeType="1" noTextEdit="1"/>
              </p:cNvSpPr>
              <p:nvPr/>
            </p:nvSpPr>
            <p:spPr>
              <a:xfrm>
                <a:off x="4958539" y="9087438"/>
                <a:ext cx="1381880" cy="369332"/>
              </a:xfrm>
              <a:prstGeom prst="rect">
                <a:avLst/>
              </a:prstGeom>
              <a:blipFill>
                <a:blip r:embed="rId7"/>
                <a:stretch>
                  <a:fillRect r="-12335" b="-16667"/>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2B459F56-4A1A-1767-DE06-A589213BB44C}"/>
              </a:ext>
            </a:extLst>
          </p:cNvPr>
          <p:cNvSpPr txBox="1"/>
          <p:nvPr/>
        </p:nvSpPr>
        <p:spPr>
          <a:xfrm>
            <a:off x="1041075" y="72731"/>
            <a:ext cx="4620374" cy="276999"/>
          </a:xfrm>
          <a:prstGeom prst="rect">
            <a:avLst/>
          </a:prstGeom>
          <a:noFill/>
        </p:spPr>
        <p:txBody>
          <a:bodyPr wrap="square" rtlCol="0">
            <a:spAutoFit/>
          </a:bodyPr>
          <a:lstStyle/>
          <a:p>
            <a:pPr algn="ctr"/>
            <a:r>
              <a:rPr lang="en-GB" sz="1200" noProof="0" dirty="0"/>
              <a:t>3. Solve the quadratic simultaneous equations. </a:t>
            </a:r>
          </a:p>
        </p:txBody>
      </p:sp>
      <p:sp>
        <p:nvSpPr>
          <p:cNvPr id="38" name="Rectangle 37">
            <a:extLst>
              <a:ext uri="{FF2B5EF4-FFF2-40B4-BE49-F238E27FC236}">
                <a16:creationId xmlns:a16="http://schemas.microsoft.com/office/drawing/2014/main" id="{8A552737-B0E1-12A5-1541-84DE643F46B3}"/>
              </a:ext>
            </a:extLst>
          </p:cNvPr>
          <p:cNvSpPr/>
          <p:nvPr/>
        </p:nvSpPr>
        <p:spPr>
          <a:xfrm>
            <a:off x="1143744" y="398472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9" name="Rectangle 38">
            <a:extLst>
              <a:ext uri="{FF2B5EF4-FFF2-40B4-BE49-F238E27FC236}">
                <a16:creationId xmlns:a16="http://schemas.microsoft.com/office/drawing/2014/main" id="{D2325D79-E6EA-9887-DD5D-880511AC5BB0}"/>
              </a:ext>
            </a:extLst>
          </p:cNvPr>
          <p:cNvSpPr/>
          <p:nvPr/>
        </p:nvSpPr>
        <p:spPr>
          <a:xfrm>
            <a:off x="1930767" y="398160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3413604F-21B0-8AA2-7283-0BC44FA51EE7}"/>
                  </a:ext>
                </a:extLst>
              </p:cNvPr>
              <p:cNvSpPr/>
              <p:nvPr/>
            </p:nvSpPr>
            <p:spPr>
              <a:xfrm>
                <a:off x="656509" y="394175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0" name="Rectangle 39">
                <a:extLst>
                  <a:ext uri="{FF2B5EF4-FFF2-40B4-BE49-F238E27FC236}">
                    <a16:creationId xmlns:a16="http://schemas.microsoft.com/office/drawing/2014/main" id="{3413604F-21B0-8AA2-7283-0BC44FA51EE7}"/>
                  </a:ext>
                </a:extLst>
              </p:cNvPr>
              <p:cNvSpPr>
                <a:spLocks noRot="1" noChangeAspect="1" noMove="1" noResize="1" noEditPoints="1" noAdjustHandles="1" noChangeArrowheads="1" noChangeShapeType="1" noTextEdit="1"/>
              </p:cNvSpPr>
              <p:nvPr/>
            </p:nvSpPr>
            <p:spPr>
              <a:xfrm>
                <a:off x="656509" y="3941757"/>
                <a:ext cx="1381880" cy="369332"/>
              </a:xfrm>
              <a:prstGeom prst="rect">
                <a:avLst/>
              </a:prstGeom>
              <a:blipFill>
                <a:blip r:embed="rId7"/>
                <a:stretch>
                  <a:fillRect r="-12832" b="-16667"/>
                </a:stretch>
              </a:blipFill>
            </p:spPr>
            <p:txBody>
              <a:bodyPr/>
              <a:lstStyle/>
              <a:p>
                <a:r>
                  <a:rPr lang="en-US">
                    <a:noFill/>
                  </a:rPr>
                  <a:t> </a:t>
                </a:r>
              </a:p>
            </p:txBody>
          </p:sp>
        </mc:Fallback>
      </mc:AlternateContent>
      <p:sp>
        <p:nvSpPr>
          <p:cNvPr id="41" name="Rectangle 40">
            <a:extLst>
              <a:ext uri="{FF2B5EF4-FFF2-40B4-BE49-F238E27FC236}">
                <a16:creationId xmlns:a16="http://schemas.microsoft.com/office/drawing/2014/main" id="{2DDB9053-D465-AE1F-E98C-A186B50054E4}"/>
              </a:ext>
            </a:extLst>
          </p:cNvPr>
          <p:cNvSpPr/>
          <p:nvPr/>
        </p:nvSpPr>
        <p:spPr>
          <a:xfrm>
            <a:off x="5455335" y="399725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42" name="Rectangle 41">
            <a:extLst>
              <a:ext uri="{FF2B5EF4-FFF2-40B4-BE49-F238E27FC236}">
                <a16:creationId xmlns:a16="http://schemas.microsoft.com/office/drawing/2014/main" id="{FD684AAD-3676-6A06-7752-9C3F861F57D0}"/>
              </a:ext>
            </a:extLst>
          </p:cNvPr>
          <p:cNvSpPr/>
          <p:nvPr/>
        </p:nvSpPr>
        <p:spPr>
          <a:xfrm>
            <a:off x="6242358" y="3994132"/>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3165D1C8-0B91-1E9B-28ED-8D29C7D507A6}"/>
                  </a:ext>
                </a:extLst>
              </p:cNvPr>
              <p:cNvSpPr/>
              <p:nvPr/>
            </p:nvSpPr>
            <p:spPr>
              <a:xfrm>
                <a:off x="4968100" y="3954284"/>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3" name="Rectangle 42">
                <a:extLst>
                  <a:ext uri="{FF2B5EF4-FFF2-40B4-BE49-F238E27FC236}">
                    <a16:creationId xmlns:a16="http://schemas.microsoft.com/office/drawing/2014/main" id="{3165D1C8-0B91-1E9B-28ED-8D29C7D507A6}"/>
                  </a:ext>
                </a:extLst>
              </p:cNvPr>
              <p:cNvSpPr>
                <a:spLocks noRot="1" noChangeAspect="1" noMove="1" noResize="1" noEditPoints="1" noAdjustHandles="1" noChangeArrowheads="1" noChangeShapeType="1" noTextEdit="1"/>
              </p:cNvSpPr>
              <p:nvPr/>
            </p:nvSpPr>
            <p:spPr>
              <a:xfrm>
                <a:off x="4968100" y="3954284"/>
                <a:ext cx="1381880" cy="369332"/>
              </a:xfrm>
              <a:prstGeom prst="rect">
                <a:avLst/>
              </a:prstGeom>
              <a:blipFill>
                <a:blip r:embed="rId7"/>
                <a:stretch>
                  <a:fillRect r="-12335" b="-16667"/>
                </a:stretch>
              </a:blipFill>
            </p:spPr>
            <p:txBody>
              <a:bodyPr/>
              <a:lstStyle/>
              <a:p>
                <a:r>
                  <a:rPr lang="en-US">
                    <a:noFill/>
                  </a:rPr>
                  <a:t> </a:t>
                </a:r>
              </a:p>
            </p:txBody>
          </p:sp>
        </mc:Fallback>
      </mc:AlternateContent>
      <p:sp>
        <p:nvSpPr>
          <p:cNvPr id="47" name="Rectangle 46">
            <a:extLst>
              <a:ext uri="{FF2B5EF4-FFF2-40B4-BE49-F238E27FC236}">
                <a16:creationId xmlns:a16="http://schemas.microsoft.com/office/drawing/2014/main" id="{10F4087B-F672-6A67-D3C2-4B6EB30FAB5A}"/>
              </a:ext>
            </a:extLst>
          </p:cNvPr>
          <p:cNvSpPr/>
          <p:nvPr/>
        </p:nvSpPr>
        <p:spPr>
          <a:xfrm>
            <a:off x="1131218" y="874460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48" name="Rectangle 47">
            <a:extLst>
              <a:ext uri="{FF2B5EF4-FFF2-40B4-BE49-F238E27FC236}">
                <a16:creationId xmlns:a16="http://schemas.microsoft.com/office/drawing/2014/main" id="{9635DB0C-49E6-57D1-5A69-8AE78A47F9FA}"/>
              </a:ext>
            </a:extLst>
          </p:cNvPr>
          <p:cNvSpPr/>
          <p:nvPr/>
        </p:nvSpPr>
        <p:spPr>
          <a:xfrm>
            <a:off x="1918241" y="874148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55CD6E64-02A1-2B7A-72B5-56323B82CAF4}"/>
                  </a:ext>
                </a:extLst>
              </p:cNvPr>
              <p:cNvSpPr/>
              <p:nvPr/>
            </p:nvSpPr>
            <p:spPr>
              <a:xfrm>
                <a:off x="643983" y="870163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9" name="Rectangle 48">
                <a:extLst>
                  <a:ext uri="{FF2B5EF4-FFF2-40B4-BE49-F238E27FC236}">
                    <a16:creationId xmlns:a16="http://schemas.microsoft.com/office/drawing/2014/main" id="{55CD6E64-02A1-2B7A-72B5-56323B82CAF4}"/>
                  </a:ext>
                </a:extLst>
              </p:cNvPr>
              <p:cNvSpPr>
                <a:spLocks noRot="1" noChangeAspect="1" noMove="1" noResize="1" noEditPoints="1" noAdjustHandles="1" noChangeArrowheads="1" noChangeShapeType="1" noTextEdit="1"/>
              </p:cNvSpPr>
              <p:nvPr/>
            </p:nvSpPr>
            <p:spPr>
              <a:xfrm>
                <a:off x="643983" y="8701637"/>
                <a:ext cx="1381880" cy="369332"/>
              </a:xfrm>
              <a:prstGeom prst="rect">
                <a:avLst/>
              </a:prstGeom>
              <a:blipFill>
                <a:blip r:embed="rId6"/>
                <a:stretch>
                  <a:fillRect r="-12832" b="-16393"/>
                </a:stretch>
              </a:blipFill>
            </p:spPr>
            <p:txBody>
              <a:bodyPr/>
              <a:lstStyle/>
              <a:p>
                <a:r>
                  <a:rPr lang="en-US">
                    <a:noFill/>
                  </a:rPr>
                  <a:t> </a:t>
                </a:r>
              </a:p>
            </p:txBody>
          </p:sp>
        </mc:Fallback>
      </mc:AlternateContent>
      <p:sp>
        <p:nvSpPr>
          <p:cNvPr id="50" name="Rectangle 49">
            <a:extLst>
              <a:ext uri="{FF2B5EF4-FFF2-40B4-BE49-F238E27FC236}">
                <a16:creationId xmlns:a16="http://schemas.microsoft.com/office/drawing/2014/main" id="{5509B9B8-08CE-8EEC-A61B-B97B80854F34}"/>
              </a:ext>
            </a:extLst>
          </p:cNvPr>
          <p:cNvSpPr/>
          <p:nvPr/>
        </p:nvSpPr>
        <p:spPr>
          <a:xfrm>
            <a:off x="5455335" y="873207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51" name="Rectangle 50">
            <a:extLst>
              <a:ext uri="{FF2B5EF4-FFF2-40B4-BE49-F238E27FC236}">
                <a16:creationId xmlns:a16="http://schemas.microsoft.com/office/drawing/2014/main" id="{68C67B73-A7AE-3A70-022F-16E0FBF9C91A}"/>
              </a:ext>
            </a:extLst>
          </p:cNvPr>
          <p:cNvSpPr/>
          <p:nvPr/>
        </p:nvSpPr>
        <p:spPr>
          <a:xfrm>
            <a:off x="6242358" y="872896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1FF22E6F-26AC-DD5D-83B5-C7F6C1D5C1E2}"/>
                  </a:ext>
                </a:extLst>
              </p:cNvPr>
              <p:cNvSpPr/>
              <p:nvPr/>
            </p:nvSpPr>
            <p:spPr>
              <a:xfrm>
                <a:off x="4968100" y="868911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52" name="Rectangle 51">
                <a:extLst>
                  <a:ext uri="{FF2B5EF4-FFF2-40B4-BE49-F238E27FC236}">
                    <a16:creationId xmlns:a16="http://schemas.microsoft.com/office/drawing/2014/main" id="{1FF22E6F-26AC-DD5D-83B5-C7F6C1D5C1E2}"/>
                  </a:ext>
                </a:extLst>
              </p:cNvPr>
              <p:cNvSpPr>
                <a:spLocks noRot="1" noChangeAspect="1" noMove="1" noResize="1" noEditPoints="1" noAdjustHandles="1" noChangeArrowheads="1" noChangeShapeType="1" noTextEdit="1"/>
              </p:cNvSpPr>
              <p:nvPr/>
            </p:nvSpPr>
            <p:spPr>
              <a:xfrm>
                <a:off x="4968100" y="8689112"/>
                <a:ext cx="1381880" cy="369332"/>
              </a:xfrm>
              <a:prstGeom prst="rect">
                <a:avLst/>
              </a:prstGeom>
              <a:blipFill>
                <a:blip r:embed="rId6"/>
                <a:stretch>
                  <a:fillRect r="-12335" b="-16393"/>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0CA3193-ABE2-D300-09FE-4A0EF4BC678D}"/>
              </a:ext>
            </a:extLst>
          </p:cNvPr>
          <p:cNvSpPr txBox="1"/>
          <p:nvPr/>
        </p:nvSpPr>
        <p:spPr>
          <a:xfrm>
            <a:off x="231424" y="87624"/>
            <a:ext cx="1560042" cy="253916"/>
          </a:xfrm>
          <a:prstGeom prst="rect">
            <a:avLst/>
          </a:prstGeom>
          <a:solidFill>
            <a:srgbClr val="0070C0"/>
          </a:solidFill>
        </p:spPr>
        <p:txBody>
          <a:bodyPr wrap="none" lIns="91440" tIns="45720" rIns="91440" bIns="45720" rtlCol="0" anchor="ctr">
            <a:spAutoFit/>
          </a:bodyPr>
          <a:lstStyle/>
          <a:p>
            <a:r>
              <a:rPr lang="en-GB" sz="1050" b="1" noProof="0" dirty="0">
                <a:solidFill>
                  <a:schemeClr val="bg1"/>
                </a:solidFill>
              </a:rPr>
              <a:t>INDEPENDENT PRACTICE</a:t>
            </a:r>
          </a:p>
        </p:txBody>
      </p:sp>
      <p:sp>
        <p:nvSpPr>
          <p:cNvPr id="2" name="Slide Number Placeholder 1">
            <a:extLst>
              <a:ext uri="{FF2B5EF4-FFF2-40B4-BE49-F238E27FC236}">
                <a16:creationId xmlns:a16="http://schemas.microsoft.com/office/drawing/2014/main" id="{5F29E87F-525D-F08F-CE1F-1174C90B0DF1}"/>
              </a:ext>
            </a:extLst>
          </p:cNvPr>
          <p:cNvSpPr>
            <a:spLocks noGrp="1"/>
          </p:cNvSpPr>
          <p:nvPr>
            <p:ph type="sldNum" sz="quarter" idx="12"/>
          </p:nvPr>
        </p:nvSpPr>
        <p:spPr>
          <a:xfrm>
            <a:off x="5248693" y="9378597"/>
            <a:ext cx="1543050" cy="527403"/>
          </a:xfrm>
        </p:spPr>
        <p:txBody>
          <a:bodyPr/>
          <a:lstStyle/>
          <a:p>
            <a:fld id="{19F1D9CC-7119-45EC-A96C-D8C0660F3AAB}" type="slidenum">
              <a:rPr lang="en-GB" noProof="0" smtClean="0"/>
              <a:t>62</a:t>
            </a:fld>
            <a:endParaRPr lang="en-GB" noProof="0" dirty="0"/>
          </a:p>
        </p:txBody>
      </p:sp>
    </p:spTree>
    <p:extLst>
      <p:ext uri="{BB962C8B-B14F-4D97-AF65-F5344CB8AC3E}">
        <p14:creationId xmlns:p14="http://schemas.microsoft.com/office/powerpoint/2010/main" val="13287239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248693" y="9465681"/>
            <a:ext cx="1543050" cy="527403"/>
          </a:xfrm>
        </p:spPr>
        <p:txBody>
          <a:bodyPr/>
          <a:lstStyle/>
          <a:p>
            <a:fld id="{19F1D9CC-7119-45EC-A96C-D8C0660F3AAB}" type="slidenum">
              <a:rPr lang="en-GB" noProof="0" smtClean="0"/>
              <a:t>63</a:t>
            </a:fld>
            <a:endParaRPr lang="en-GB" noProof="0" dirty="0"/>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758792548"/>
                  </p:ext>
                </p:extLst>
              </p:nvPr>
            </p:nvGraphicFramePr>
            <p:xfrm>
              <a:off x="153291" y="1600243"/>
              <a:ext cx="6644766" cy="8008641"/>
            </p:xfrm>
            <a:graphic>
              <a:graphicData uri="http://schemas.openxmlformats.org/drawingml/2006/table">
                <a:tbl>
                  <a:tblPr firstRow="1" bandRow="1">
                    <a:tableStyleId>{5C22544A-7EE6-4342-B048-85BDC9FD1C3A}</a:tableStyleId>
                  </a:tblPr>
                  <a:tblGrid>
                    <a:gridCol w="920766">
                      <a:extLst>
                        <a:ext uri="{9D8B030D-6E8A-4147-A177-3AD203B41FA5}">
                          <a16:colId xmlns:a16="http://schemas.microsoft.com/office/drawing/2014/main" val="4222859584"/>
                        </a:ext>
                      </a:extLst>
                    </a:gridCol>
                    <a:gridCol w="1908000">
                      <a:extLst>
                        <a:ext uri="{9D8B030D-6E8A-4147-A177-3AD203B41FA5}">
                          <a16:colId xmlns:a16="http://schemas.microsoft.com/office/drawing/2014/main" val="2943938818"/>
                        </a:ext>
                      </a:extLst>
                    </a:gridCol>
                    <a:gridCol w="1908000">
                      <a:extLst>
                        <a:ext uri="{9D8B030D-6E8A-4147-A177-3AD203B41FA5}">
                          <a16:colId xmlns:a16="http://schemas.microsoft.com/office/drawing/2014/main" val="4207345459"/>
                        </a:ext>
                      </a:extLst>
                    </a:gridCol>
                    <a:gridCol w="1908000">
                      <a:extLst>
                        <a:ext uri="{9D8B030D-6E8A-4147-A177-3AD203B41FA5}">
                          <a16:colId xmlns:a16="http://schemas.microsoft.com/office/drawing/2014/main" val="592218920"/>
                        </a:ext>
                      </a:extLst>
                    </a:gridCol>
                  </a:tblGrid>
                  <a:tr h="255329">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cs typeface="Calibri" panose="020F0502020204030204" pitchFamily="34" charset="0"/>
                            </a:rPr>
                            <a:t>Example 7 -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8 – We</a:t>
                          </a:r>
                          <a:r>
                            <a:rPr lang="en-GB" sz="1200" b="1" i="1" baseline="0" noProof="0" dirty="0">
                              <a:solidFill>
                                <a:schemeClr val="accent2"/>
                              </a:solidFill>
                            </a:rPr>
                            <a:t> </a:t>
                          </a:r>
                          <a:r>
                            <a:rPr lang="en-GB" sz="1200" b="1" i="1" noProof="0" dirty="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9 – You</a:t>
                          </a:r>
                          <a:r>
                            <a:rPr lang="en-GB" sz="1200" b="1" i="1" baseline="0" noProof="0" dirty="0">
                              <a:solidFill>
                                <a:srgbClr val="00B050"/>
                              </a:solidFill>
                            </a:rPr>
                            <a:t> </a:t>
                          </a:r>
                          <a:r>
                            <a:rPr lang="en-GB" sz="1200" b="1" i="1" noProof="0" dirty="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110642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1) Substitute isolated equation into the quadratic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Solve the simultaneous equations</a:t>
                          </a: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𝑥𝑦</m:t>
                                </m:r>
                                <m:r>
                                  <a:rPr lang="en-GB" sz="1200" b="0" i="1" baseline="0" noProof="0" smtClean="0">
                                    <a:solidFill>
                                      <a:schemeClr val="tx1"/>
                                    </a:solidFill>
                                    <a:latin typeface="Cambria Math" panose="02040503050406030204" pitchFamily="18" charset="0"/>
                                    <a:cs typeface="Calibri" panose="020F0502020204030204" pitchFamily="34" charset="0"/>
                                  </a:rPr>
                                  <m:t>=2</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m:t>
                                </m:r>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+1</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Solve the simultaneous equations</a:t>
                          </a: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𝑥𝑦</m:t>
                                </m:r>
                                <m:r>
                                  <a:rPr lang="en-GB" sz="1200" b="0" i="1" baseline="0" noProof="0" smtClean="0">
                                    <a:solidFill>
                                      <a:schemeClr val="tx1"/>
                                    </a:solidFill>
                                    <a:latin typeface="Cambria Math" panose="02040503050406030204" pitchFamily="18" charset="0"/>
                                    <a:cs typeface="Calibri" panose="020F0502020204030204" pitchFamily="34" charset="0"/>
                                  </a:rPr>
                                  <m:t>=2</m:t>
                                </m:r>
                              </m:oMath>
                            </m:oMathPara>
                          </a14:m>
                          <a:endParaRPr lang="en-GB" sz="1200" b="0" i="0" baseline="0" noProof="0" dirty="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m:t>
                                </m:r>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−1</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baseline="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baseline="0" noProof="0" dirty="0">
                              <a:solidFill>
                                <a:schemeClr val="tx1"/>
                              </a:solidFill>
                              <a:cs typeface="Calibri" panose="020F0502020204030204" pitchFamily="34" charset="0"/>
                            </a:rPr>
                            <a:t>Solve the simultaneous equations</a:t>
                          </a: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𝑥𝑦</m:t>
                                </m:r>
                                <m:r>
                                  <a:rPr lang="en-GB" sz="1200" b="0" i="1" baseline="0" noProof="0" smtClean="0">
                                    <a:solidFill>
                                      <a:schemeClr val="tx1"/>
                                    </a:solidFill>
                                    <a:latin typeface="Cambria Math" panose="02040503050406030204" pitchFamily="18" charset="0"/>
                                    <a:cs typeface="Calibri" panose="020F0502020204030204" pitchFamily="34" charset="0"/>
                                  </a:rPr>
                                  <m:t>=12</m:t>
                                </m:r>
                              </m:oMath>
                            </m:oMathPara>
                          </a14:m>
                          <a:endParaRPr lang="en-GB" sz="1200" b="0" i="0" baseline="0" noProof="0" dirty="0">
                            <a:solidFill>
                              <a:schemeClr val="tx1"/>
                            </a:solidFill>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cs typeface="Calibri" panose="020F0502020204030204" pitchFamily="34" charset="0"/>
                                  </a:rPr>
                                  <m:t>𝑦</m:t>
                                </m:r>
                                <m:r>
                                  <a:rPr lang="en-GB" sz="1200" b="0" i="1" baseline="0" noProof="0" smtClean="0">
                                    <a:solidFill>
                                      <a:schemeClr val="tx1"/>
                                    </a:solidFill>
                                    <a:latin typeface="Cambria Math" panose="02040503050406030204" pitchFamily="18" charset="0"/>
                                    <a:cs typeface="Calibri" panose="020F0502020204030204" pitchFamily="34" charset="0"/>
                                  </a:rPr>
                                  <m:t>=</m:t>
                                </m:r>
                                <m:r>
                                  <a:rPr lang="en-GB" sz="1200" b="0" i="1" baseline="0" noProof="0" smtClean="0">
                                    <a:solidFill>
                                      <a:schemeClr val="tx1"/>
                                    </a:solidFill>
                                    <a:latin typeface="Cambria Math" panose="02040503050406030204" pitchFamily="18" charset="0"/>
                                    <a:cs typeface="Calibri" panose="020F0502020204030204" pitchFamily="34" charset="0"/>
                                  </a:rPr>
                                  <m:t>𝑥</m:t>
                                </m:r>
                                <m:r>
                                  <a:rPr lang="en-GB" sz="1200" b="0" i="1" baseline="0" noProof="0" smtClean="0">
                                    <a:solidFill>
                                      <a:schemeClr val="tx1"/>
                                    </a:solidFill>
                                    <a:latin typeface="Cambria Math" panose="02040503050406030204" pitchFamily="18" charset="0"/>
                                    <a:cs typeface="Calibri" panose="020F0502020204030204" pitchFamily="34" charset="0"/>
                                  </a:rPr>
                                  <m:t>+1</m:t>
                                </m:r>
                              </m:oMath>
                            </m:oMathPara>
                          </a14:m>
                          <a:endParaRPr lang="en-GB" sz="1200" b="0" i="0" baseline="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265822"/>
                      </a:ext>
                    </a:extLst>
                  </a:tr>
                  <a:tr h="59863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2)</a:t>
                          </a:r>
                          <a:r>
                            <a:rPr lang="en-GB" sz="1200" b="0" i="0" baseline="0" noProof="0" dirty="0">
                              <a:solidFill>
                                <a:schemeClr val="tx1"/>
                              </a:solidFill>
                              <a:cs typeface="Calibri" panose="020F0502020204030204" pitchFamily="34" charset="0"/>
                            </a:rPr>
                            <a:t> Expand and Simplify</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81007270"/>
                      </a:ext>
                    </a:extLst>
                  </a:tr>
                  <a:tr h="59863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3) Rearrange</a:t>
                          </a:r>
                          <a:r>
                            <a:rPr lang="en-GB" sz="1200" b="0" i="0" baseline="0" noProof="0" dirty="0">
                              <a:solidFill>
                                <a:schemeClr val="tx1"/>
                              </a:solidFill>
                              <a:cs typeface="Calibri" panose="020F0502020204030204" pitchFamily="34" charset="0"/>
                            </a:rPr>
                            <a:t> to = 0</a:t>
                          </a:r>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04996011"/>
                      </a:ext>
                    </a:extLst>
                  </a:tr>
                  <a:tr h="144686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3) Solve by</a:t>
                          </a:r>
                          <a:r>
                            <a:rPr lang="en-GB" sz="1200" b="0" i="0" baseline="0" noProof="0" dirty="0">
                              <a:solidFill>
                                <a:schemeClr val="tx1"/>
                              </a:solidFill>
                              <a:cs typeface="Calibri" panose="020F0502020204030204" pitchFamily="34" charset="0"/>
                            </a:rPr>
                            <a:t> either:</a:t>
                          </a:r>
                          <a:endParaRPr lang="en-GB" sz="1200" b="0" i="0" noProof="0" dirty="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a) Factorising</a:t>
                          </a:r>
                          <a:br>
                            <a:rPr lang="en-GB" sz="1200" b="0" i="0" noProof="0" dirty="0">
                              <a:solidFill>
                                <a:schemeClr val="tx1"/>
                              </a:solidFill>
                              <a:cs typeface="Calibri" panose="020F0502020204030204" pitchFamily="34" charset="0"/>
                            </a:rPr>
                          </a:br>
                          <a:endParaRPr lang="en-GB" sz="1200" b="0" i="0" noProof="0" dirty="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b) Quadratic Formula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228761373"/>
                      </a:ext>
                    </a:extLst>
                  </a:tr>
                  <a:tr h="76598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4) Substitute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𝑥</m:t>
                              </m:r>
                            </m:oMath>
                          </a14:m>
                          <a:r>
                            <a:rPr lang="en-GB" sz="1200" b="0" i="0" noProof="0" dirty="0">
                              <a:solidFill>
                                <a:schemeClr val="tx1"/>
                              </a:solidFill>
                              <a:cs typeface="Calibri" panose="020F0502020204030204" pitchFamily="34" charset="0"/>
                            </a:rPr>
                            <a:t> values to find </a:t>
                          </a:r>
                          <a14:m>
                            <m:oMath xmlns:m="http://schemas.openxmlformats.org/officeDocument/2006/math">
                              <m:r>
                                <a:rPr lang="en-GB" sz="1200" b="0" i="1" noProof="0" smtClean="0">
                                  <a:solidFill>
                                    <a:schemeClr val="tx1"/>
                                  </a:solidFill>
                                  <a:latin typeface="Cambria Math" panose="02040503050406030204" pitchFamily="18" charset="0"/>
                                  <a:cs typeface="Calibri" panose="020F0502020204030204" pitchFamily="34" charset="0"/>
                                </a:rPr>
                                <m:t>𝑦</m:t>
                              </m:r>
                            </m:oMath>
                          </a14:m>
                          <a:endParaRPr lang="en-GB" sz="1200" b="0" i="0" noProof="0" dirty="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07296716"/>
                      </a:ext>
                    </a:extLst>
                  </a:tr>
                  <a:tr h="288800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cs typeface="Calibri" panose="020F0502020204030204" pitchFamily="34" charset="0"/>
                            </a:rPr>
                            <a:t>5) Write solutions in pairs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09687205"/>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758792548"/>
                  </p:ext>
                </p:extLst>
              </p:nvPr>
            </p:nvGraphicFramePr>
            <p:xfrm>
              <a:off x="153291" y="1600243"/>
              <a:ext cx="6644766" cy="8008641"/>
            </p:xfrm>
            <a:graphic>
              <a:graphicData uri="http://schemas.openxmlformats.org/drawingml/2006/table">
                <a:tbl>
                  <a:tblPr firstRow="1" bandRow="1">
                    <a:tableStyleId>{5C22544A-7EE6-4342-B048-85BDC9FD1C3A}</a:tableStyleId>
                  </a:tblPr>
                  <a:tblGrid>
                    <a:gridCol w="920766">
                      <a:extLst>
                        <a:ext uri="{9D8B030D-6E8A-4147-A177-3AD203B41FA5}">
                          <a16:colId xmlns:a16="http://schemas.microsoft.com/office/drawing/2014/main" val="4222859584"/>
                        </a:ext>
                      </a:extLst>
                    </a:gridCol>
                    <a:gridCol w="1908000">
                      <a:extLst>
                        <a:ext uri="{9D8B030D-6E8A-4147-A177-3AD203B41FA5}">
                          <a16:colId xmlns:a16="http://schemas.microsoft.com/office/drawing/2014/main" val="2943938818"/>
                        </a:ext>
                      </a:extLst>
                    </a:gridCol>
                    <a:gridCol w="1908000">
                      <a:extLst>
                        <a:ext uri="{9D8B030D-6E8A-4147-A177-3AD203B41FA5}">
                          <a16:colId xmlns:a16="http://schemas.microsoft.com/office/drawing/2014/main" val="4207345459"/>
                        </a:ext>
                      </a:extLst>
                    </a:gridCol>
                    <a:gridCol w="1908000">
                      <a:extLst>
                        <a:ext uri="{9D8B030D-6E8A-4147-A177-3AD203B41FA5}">
                          <a16:colId xmlns:a16="http://schemas.microsoft.com/office/drawing/2014/main" val="592218920"/>
                        </a:ext>
                      </a:extLst>
                    </a:gridCol>
                  </a:tblGrid>
                  <a:tr h="27432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0" noProof="0">
                              <a:solidFill>
                                <a:schemeClr val="tx1"/>
                              </a:solidFill>
                              <a:cs typeface="Calibri" panose="020F0502020204030204" pitchFamily="34" charset="0"/>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cs typeface="Calibri" panose="020F0502020204030204" pitchFamily="34" charset="0"/>
                            </a:rPr>
                            <a:t>Example 7 -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8 – We</a:t>
                          </a:r>
                          <a:r>
                            <a:rPr lang="en-GB" sz="1200" b="1" i="1" baseline="0" noProof="0">
                              <a:solidFill>
                                <a:schemeClr val="accent2"/>
                              </a:solidFill>
                            </a:rPr>
                            <a:t> </a:t>
                          </a:r>
                          <a:r>
                            <a:rPr lang="en-GB" sz="1200" b="1" i="1" noProof="0">
                              <a:solidFill>
                                <a:schemeClr val="accent2"/>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9 – You</a:t>
                          </a:r>
                          <a:r>
                            <a:rPr lang="en-GB" sz="1200" b="1" i="1" baseline="0" noProof="0">
                              <a:solidFill>
                                <a:srgbClr val="00B050"/>
                              </a:solidFill>
                            </a:rPr>
                            <a:t> </a:t>
                          </a:r>
                          <a:r>
                            <a:rPr lang="en-GB" sz="1200" b="1" i="1" noProof="0">
                              <a:solidFill>
                                <a:srgbClr val="00B050"/>
                              </a:solidFill>
                            </a:rPr>
                            <a:t>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3781998"/>
                      </a:ext>
                    </a:extLst>
                  </a:tr>
                  <a:tr h="11887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baseline="0" noProof="0">
                              <a:solidFill>
                                <a:schemeClr val="tx1"/>
                              </a:solidFill>
                              <a:cs typeface="Calibri" panose="020F0502020204030204" pitchFamily="34" charset="0"/>
                            </a:rPr>
                            <a:t>1) Substitute isolated equation into the quadratic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8562" t="-3622" r="-200958" b="-157"/>
                          </a:stretch>
                        </a:blip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8089" t="-3622" r="-100318" b="-157"/>
                          </a:stretch>
                        </a:blipFill>
                      </a:tcPr>
                    </a:tc>
                    <a:tc rowSpan="6">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48882" t="-3622" r="-639" b="-157"/>
                          </a:stretch>
                        </a:blipFill>
                      </a:tcPr>
                    </a:tc>
                    <a:extLst>
                      <a:ext uri="{0D108BD9-81ED-4DB2-BD59-A6C34878D82A}">
                        <a16:rowId xmlns:a16="http://schemas.microsoft.com/office/drawing/2014/main" val="3427265822"/>
                      </a:ext>
                    </a:extLst>
                  </a:tr>
                  <a:tr h="6400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2)</a:t>
                          </a:r>
                          <a:r>
                            <a:rPr lang="en-GB" sz="1200" b="0" i="0" baseline="0" noProof="0">
                              <a:solidFill>
                                <a:schemeClr val="tx1"/>
                              </a:solidFill>
                              <a:cs typeface="Calibri" panose="020F0502020204030204" pitchFamily="34" charset="0"/>
                            </a:rPr>
                            <a:t> Expand and Simplify</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81007270"/>
                      </a:ext>
                    </a:extLst>
                  </a:tr>
                  <a:tr h="6400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3) Rearrange</a:t>
                          </a:r>
                          <a:r>
                            <a:rPr lang="en-GB" sz="1200" b="0" i="0" baseline="0" noProof="0">
                              <a:solidFill>
                                <a:schemeClr val="tx1"/>
                              </a:solidFill>
                              <a:cs typeface="Calibri" panose="020F0502020204030204" pitchFamily="34" charset="0"/>
                            </a:rPr>
                            <a:t> to = 0</a:t>
                          </a:r>
                          <a:endParaRPr lang="en-GB" sz="1200" b="0" i="0" noProof="0">
                            <a:solidFill>
                              <a:schemeClr val="tx1"/>
                            </a:solidFill>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04996011"/>
                      </a:ext>
                    </a:extLst>
                  </a:tr>
                  <a:tr h="15544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3) Solve by</a:t>
                          </a:r>
                          <a:r>
                            <a:rPr lang="en-GB" sz="1200" b="0" i="0" baseline="0" noProof="0">
                              <a:solidFill>
                                <a:schemeClr val="tx1"/>
                              </a:solidFill>
                              <a:cs typeface="Calibri" panose="020F0502020204030204" pitchFamily="34" charset="0"/>
                            </a:rPr>
                            <a:t> either:</a:t>
                          </a:r>
                          <a:endParaRPr lang="en-GB" sz="1200" b="0" i="0" noProof="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a) Factorising</a:t>
                          </a:r>
                          <a:br>
                            <a:rPr lang="en-GB" sz="1200" b="0" i="0" noProof="0">
                              <a:solidFill>
                                <a:schemeClr val="tx1"/>
                              </a:solidFill>
                              <a:cs typeface="Calibri" panose="020F0502020204030204" pitchFamily="34" charset="0"/>
                            </a:rPr>
                          </a:br>
                          <a:endParaRPr lang="en-GB" sz="1200" b="0" i="0" noProof="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b) Quadratic Formula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228761373"/>
                      </a:ext>
                    </a:extLst>
                  </a:tr>
                  <a:tr h="8229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62" t="-523704" r="-623841" b="-352593"/>
                          </a:stretch>
                        </a:blip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07296716"/>
                      </a:ext>
                    </a:extLst>
                  </a:tr>
                  <a:tr h="288800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i="0" noProof="0">
                              <a:solidFill>
                                <a:schemeClr val="tx1"/>
                              </a:solidFill>
                              <a:cs typeface="Calibri" panose="020F0502020204030204" pitchFamily="34" charset="0"/>
                            </a:rPr>
                            <a:t>5) Write solutions in pairs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09687205"/>
                      </a:ext>
                    </a:extLst>
                  </a:tr>
                </a:tbl>
              </a:graphicData>
            </a:graphic>
          </p:graphicFrame>
        </mc:Fallback>
      </mc:AlternateContent>
      <p:sp>
        <p:nvSpPr>
          <p:cNvPr id="20" name="TextBox 19">
            <a:extLst>
              <a:ext uri="{FF2B5EF4-FFF2-40B4-BE49-F238E27FC236}">
                <a16:creationId xmlns:a16="http://schemas.microsoft.com/office/drawing/2014/main" id="{1A127D5F-D90C-7A4B-B2A7-9600D90C40CC}"/>
              </a:ext>
            </a:extLst>
          </p:cNvPr>
          <p:cNvSpPr txBox="1"/>
          <p:nvPr/>
        </p:nvSpPr>
        <p:spPr>
          <a:xfrm>
            <a:off x="148418" y="65950"/>
            <a:ext cx="1478996" cy="276999"/>
          </a:xfrm>
          <a:prstGeom prst="rect">
            <a:avLst/>
          </a:prstGeom>
          <a:solidFill>
            <a:srgbClr val="0070C0"/>
          </a:solidFill>
        </p:spPr>
        <p:txBody>
          <a:bodyPr wrap="none" rtlCol="0" anchor="ctr">
            <a:spAutoFit/>
          </a:bodyPr>
          <a:lstStyle/>
          <a:p>
            <a:pPr algn="r"/>
            <a:r>
              <a:rPr lang="en-GB" sz="1200" b="1" noProof="0" dirty="0">
                <a:solidFill>
                  <a:schemeClr val="bg1"/>
                </a:solidFill>
              </a:rPr>
              <a:t>KNOWLEDGE CHECK</a:t>
            </a:r>
          </a:p>
        </p:txBody>
      </p:sp>
      <p:sp>
        <p:nvSpPr>
          <p:cNvPr id="21" name="TextBox 20"/>
          <p:cNvSpPr txBox="1"/>
          <p:nvPr/>
        </p:nvSpPr>
        <p:spPr>
          <a:xfrm>
            <a:off x="0" y="90168"/>
            <a:ext cx="4982309" cy="276999"/>
          </a:xfrm>
          <a:prstGeom prst="rect">
            <a:avLst/>
          </a:prstGeom>
          <a:noFill/>
        </p:spPr>
        <p:txBody>
          <a:bodyPr wrap="square" rtlCol="0">
            <a:spAutoFit/>
          </a:bodyPr>
          <a:lstStyle/>
          <a:p>
            <a:pPr algn="ctr"/>
            <a:r>
              <a:rPr lang="en-GB" sz="1200" noProof="0" dirty="0"/>
              <a:t>Expand the following:</a:t>
            </a:r>
          </a:p>
        </p:txBody>
      </p:sp>
      <mc:AlternateContent xmlns:mc="http://schemas.openxmlformats.org/markup-compatibility/2006" xmlns:a14="http://schemas.microsoft.com/office/drawing/2010/main">
        <mc:Choice Requires="a14">
          <p:graphicFrame>
            <p:nvGraphicFramePr>
              <p:cNvPr id="22" name="Table 21"/>
              <p:cNvGraphicFramePr>
                <a:graphicFrameLocks noGrp="1"/>
              </p:cNvGraphicFramePr>
              <p:nvPr>
                <p:extLst>
                  <p:ext uri="{D42A27DB-BD31-4B8C-83A1-F6EECF244321}">
                    <p14:modId xmlns:p14="http://schemas.microsoft.com/office/powerpoint/2010/main" val="1249418485"/>
                  </p:ext>
                </p:extLst>
              </p:nvPr>
            </p:nvGraphicFramePr>
            <p:xfrm>
              <a:off x="153291" y="443324"/>
              <a:ext cx="6609852" cy="914400"/>
            </p:xfrm>
            <a:graphic>
              <a:graphicData uri="http://schemas.openxmlformats.org/drawingml/2006/table">
                <a:tbl>
                  <a:tblPr firstRow="1" bandRow="1">
                    <a:tableStyleId>{5940675A-B579-460E-94D1-54222C63F5DA}</a:tableStyleId>
                  </a:tblPr>
                  <a:tblGrid>
                    <a:gridCol w="2203284">
                      <a:extLst>
                        <a:ext uri="{9D8B030D-6E8A-4147-A177-3AD203B41FA5}">
                          <a16:colId xmlns:a16="http://schemas.microsoft.com/office/drawing/2014/main" val="203348690"/>
                        </a:ext>
                      </a:extLst>
                    </a:gridCol>
                    <a:gridCol w="2203284">
                      <a:extLst>
                        <a:ext uri="{9D8B030D-6E8A-4147-A177-3AD203B41FA5}">
                          <a16:colId xmlns:a16="http://schemas.microsoft.com/office/drawing/2014/main" val="3850439623"/>
                        </a:ext>
                      </a:extLst>
                    </a:gridCol>
                    <a:gridCol w="2203284">
                      <a:extLst>
                        <a:ext uri="{9D8B030D-6E8A-4147-A177-3AD203B41FA5}">
                          <a16:colId xmlns:a16="http://schemas.microsoft.com/office/drawing/2014/main" val="1762567242"/>
                        </a:ext>
                      </a:extLst>
                    </a:gridCol>
                  </a:tblGrid>
                  <a:tr h="370840">
                    <a:tc>
                      <a:txBody>
                        <a:bodyPr/>
                        <a:lstStyle/>
                        <a:p>
                          <a:pPr algn="l"/>
                          <a:r>
                            <a:rPr lang="en-GB" noProof="0" dirty="0"/>
                            <a:t>a)</a:t>
                          </a:r>
                          <a:r>
                            <a:rPr lang="en-GB" baseline="0" noProof="0" dirty="0"/>
                            <a:t> </a:t>
                          </a:r>
                          <a14:m>
                            <m:oMath xmlns:m="http://schemas.openxmlformats.org/officeDocument/2006/math">
                              <m:r>
                                <a:rPr lang="en-GB" b="0" i="1" baseline="0" noProof="0" smtClean="0">
                                  <a:latin typeface="Cambria Math" panose="02040503050406030204" pitchFamily="18" charset="0"/>
                                </a:rPr>
                                <m:t>𝑥</m:t>
                              </m:r>
                              <m:r>
                                <a:rPr lang="en-GB" b="0" i="1" baseline="0" noProof="0" smtClean="0">
                                  <a:latin typeface="Cambria Math" panose="02040503050406030204" pitchFamily="18" charset="0"/>
                                </a:rPr>
                                <m:t>(</m:t>
                              </m:r>
                              <m:r>
                                <a:rPr lang="en-GB" b="0" i="1" baseline="0" noProof="0" smtClean="0">
                                  <a:latin typeface="Cambria Math" panose="02040503050406030204" pitchFamily="18" charset="0"/>
                                </a:rPr>
                                <m:t>𝑥</m:t>
                              </m:r>
                              <m:r>
                                <a:rPr lang="en-GB" b="0" i="1" baseline="0" noProof="0" smtClean="0">
                                  <a:latin typeface="Cambria Math" panose="02040503050406030204" pitchFamily="18" charset="0"/>
                                </a:rPr>
                                <m:t>−1)</m:t>
                              </m:r>
                            </m:oMath>
                          </a14:m>
                          <a:endParaRPr lang="en-GB" noProof="0" dirty="0"/>
                        </a:p>
                        <a:p>
                          <a:pPr algn="l"/>
                          <a:endParaRPr lang="en-GB" noProof="0" dirty="0"/>
                        </a:p>
                        <a:p>
                          <a:pPr algn="l"/>
                          <a:endParaRPr lang="en-GB" noProof="0" dirty="0"/>
                        </a:p>
                        <a:p>
                          <a:pPr algn="l"/>
                          <a:endParaRPr lang="en-GB" noProof="0" dirty="0"/>
                        </a:p>
                      </a:txBody>
                      <a:tcPr/>
                    </a:tc>
                    <a:tc>
                      <a:txBody>
                        <a:bodyPr/>
                        <a:lstStyle/>
                        <a:p>
                          <a:r>
                            <a:rPr lang="en-GB" noProof="0" dirty="0"/>
                            <a:t>b)</a:t>
                          </a:r>
                          <a:r>
                            <a:rPr lang="en-GB" baseline="0" noProof="0" dirty="0"/>
                            <a:t> </a:t>
                          </a:r>
                          <a14:m>
                            <m:oMath xmlns:m="http://schemas.openxmlformats.org/officeDocument/2006/math">
                              <m:r>
                                <a:rPr lang="en-GB" b="0" i="1" baseline="0" noProof="0" smtClean="0">
                                  <a:latin typeface="Cambria Math" panose="02040503050406030204" pitchFamily="18" charset="0"/>
                                </a:rPr>
                                <m:t>𝑥</m:t>
                              </m:r>
                              <m:r>
                                <a:rPr lang="en-GB" b="0" i="1" baseline="0" noProof="0" smtClean="0">
                                  <a:latin typeface="Cambria Math" panose="02040503050406030204" pitchFamily="18" charset="0"/>
                                </a:rPr>
                                <m:t>(2</m:t>
                              </m:r>
                              <m:r>
                                <a:rPr lang="en-GB" b="0" i="1" baseline="0" noProof="0" smtClean="0">
                                  <a:latin typeface="Cambria Math" panose="02040503050406030204" pitchFamily="18" charset="0"/>
                                </a:rPr>
                                <m:t>𝑥</m:t>
                              </m:r>
                              <m:r>
                                <a:rPr lang="en-GB" b="0" i="1" baseline="0" noProof="0" smtClean="0">
                                  <a:latin typeface="Cambria Math" panose="02040503050406030204" pitchFamily="18" charset="0"/>
                                </a:rPr>
                                <m:t>−1)</m:t>
                              </m:r>
                            </m:oMath>
                          </a14:m>
                          <a:endParaRPr lang="en-GB" noProof="0" dirty="0"/>
                        </a:p>
                      </a:txBody>
                      <a:tcPr/>
                    </a:tc>
                    <a:tc>
                      <a:txBody>
                        <a:bodyPr/>
                        <a:lstStyle/>
                        <a:p>
                          <a:r>
                            <a:rPr lang="en-GB" noProof="0" dirty="0"/>
                            <a:t>c)</a:t>
                          </a:r>
                          <a:r>
                            <a:rPr lang="en-GB" baseline="0" noProof="0" dirty="0"/>
                            <a:t> </a:t>
                          </a:r>
                          <a14:m>
                            <m:oMath xmlns:m="http://schemas.openxmlformats.org/officeDocument/2006/math">
                              <m:r>
                                <a:rPr lang="en-GB" b="0" i="0" baseline="0" noProof="0" smtClean="0">
                                  <a:latin typeface="Cambria Math" panose="02040503050406030204" pitchFamily="18" charset="0"/>
                                </a:rPr>
                                <m:t>4</m:t>
                              </m:r>
                              <m:r>
                                <a:rPr lang="en-GB" b="0" i="1" baseline="0" noProof="0" smtClean="0">
                                  <a:latin typeface="Cambria Math" panose="02040503050406030204" pitchFamily="18" charset="0"/>
                                </a:rPr>
                                <m:t>𝑥</m:t>
                              </m:r>
                              <m:r>
                                <a:rPr lang="en-GB" b="0" i="1" baseline="0" noProof="0" smtClean="0">
                                  <a:latin typeface="Cambria Math" panose="02040503050406030204" pitchFamily="18" charset="0"/>
                                </a:rPr>
                                <m:t>(</m:t>
                              </m:r>
                              <m:r>
                                <a:rPr lang="en-GB" b="0" i="1" baseline="0" noProof="0" smtClean="0">
                                  <a:latin typeface="Cambria Math" panose="02040503050406030204" pitchFamily="18" charset="0"/>
                                </a:rPr>
                                <m:t>𝑥</m:t>
                              </m:r>
                              <m:r>
                                <a:rPr lang="en-GB" b="0" i="1" baseline="0" noProof="0" smtClean="0">
                                  <a:latin typeface="Cambria Math" panose="02040503050406030204" pitchFamily="18" charset="0"/>
                                </a:rPr>
                                <m:t>−1)</m:t>
                              </m:r>
                            </m:oMath>
                          </a14:m>
                          <a:endParaRPr lang="en-GB" noProof="0" dirty="0"/>
                        </a:p>
                      </a:txBody>
                      <a:tcPr/>
                    </a:tc>
                    <a:extLst>
                      <a:ext uri="{0D108BD9-81ED-4DB2-BD59-A6C34878D82A}">
                        <a16:rowId xmlns:a16="http://schemas.microsoft.com/office/drawing/2014/main" val="1036470400"/>
                      </a:ext>
                    </a:extLst>
                  </a:tr>
                </a:tbl>
              </a:graphicData>
            </a:graphic>
          </p:graphicFrame>
        </mc:Choice>
        <mc:Fallback xmlns="">
          <p:graphicFrame>
            <p:nvGraphicFramePr>
              <p:cNvPr id="22" name="Table 21"/>
              <p:cNvGraphicFramePr>
                <a:graphicFrameLocks noGrp="1"/>
              </p:cNvGraphicFramePr>
              <p:nvPr>
                <p:extLst>
                  <p:ext uri="{D42A27DB-BD31-4B8C-83A1-F6EECF244321}">
                    <p14:modId xmlns:p14="http://schemas.microsoft.com/office/powerpoint/2010/main" val="1249418485"/>
                  </p:ext>
                </p:extLst>
              </p:nvPr>
            </p:nvGraphicFramePr>
            <p:xfrm>
              <a:off x="153291" y="443324"/>
              <a:ext cx="6609852" cy="914400"/>
            </p:xfrm>
            <a:graphic>
              <a:graphicData uri="http://schemas.openxmlformats.org/drawingml/2006/table">
                <a:tbl>
                  <a:tblPr firstRow="1" bandRow="1">
                    <a:tableStyleId>{5940675A-B579-460E-94D1-54222C63F5DA}</a:tableStyleId>
                  </a:tblPr>
                  <a:tblGrid>
                    <a:gridCol w="2203284">
                      <a:extLst>
                        <a:ext uri="{9D8B030D-6E8A-4147-A177-3AD203B41FA5}">
                          <a16:colId xmlns:a16="http://schemas.microsoft.com/office/drawing/2014/main" val="203348690"/>
                        </a:ext>
                      </a:extLst>
                    </a:gridCol>
                    <a:gridCol w="2203284">
                      <a:extLst>
                        <a:ext uri="{9D8B030D-6E8A-4147-A177-3AD203B41FA5}">
                          <a16:colId xmlns:a16="http://schemas.microsoft.com/office/drawing/2014/main" val="3850439623"/>
                        </a:ext>
                      </a:extLst>
                    </a:gridCol>
                    <a:gridCol w="2203284">
                      <a:extLst>
                        <a:ext uri="{9D8B030D-6E8A-4147-A177-3AD203B41FA5}">
                          <a16:colId xmlns:a16="http://schemas.microsoft.com/office/drawing/2014/main" val="1762567242"/>
                        </a:ext>
                      </a:extLst>
                    </a:gridCol>
                  </a:tblGrid>
                  <a:tr h="914400">
                    <a:tc>
                      <a:txBody>
                        <a:bodyPr/>
                        <a:lstStyle/>
                        <a:p>
                          <a:endParaRPr lang="en-US"/>
                        </a:p>
                      </a:txBody>
                      <a:tcPr>
                        <a:blipFill>
                          <a:blip r:embed="rId3"/>
                          <a:stretch>
                            <a:fillRect l="-276" t="-662" r="-200276" b="-1325"/>
                          </a:stretch>
                        </a:blipFill>
                      </a:tcPr>
                    </a:tc>
                    <a:tc>
                      <a:txBody>
                        <a:bodyPr/>
                        <a:lstStyle/>
                        <a:p>
                          <a:endParaRPr lang="en-US"/>
                        </a:p>
                      </a:txBody>
                      <a:tcPr>
                        <a:blipFill>
                          <a:blip r:embed="rId3"/>
                          <a:stretch>
                            <a:fillRect l="-100554" t="-662" r="-100831" b="-1325"/>
                          </a:stretch>
                        </a:blipFill>
                      </a:tcPr>
                    </a:tc>
                    <a:tc>
                      <a:txBody>
                        <a:bodyPr/>
                        <a:lstStyle/>
                        <a:p>
                          <a:endParaRPr lang="en-US"/>
                        </a:p>
                      </a:txBody>
                      <a:tcPr>
                        <a:blipFill>
                          <a:blip r:embed="rId3"/>
                          <a:stretch>
                            <a:fillRect l="-200000" t="-662" r="-552" b="-1325"/>
                          </a:stretch>
                        </a:blipFill>
                      </a:tcPr>
                    </a:tc>
                    <a:extLst>
                      <a:ext uri="{0D108BD9-81ED-4DB2-BD59-A6C34878D82A}">
                        <a16:rowId xmlns:a16="http://schemas.microsoft.com/office/drawing/2014/main" val="1036470400"/>
                      </a:ext>
                    </a:extLst>
                  </a:tr>
                </a:tbl>
              </a:graphicData>
            </a:graphic>
          </p:graphicFrame>
        </mc:Fallback>
      </mc:AlternateContent>
    </p:spTree>
    <p:extLst>
      <p:ext uri="{BB962C8B-B14F-4D97-AF65-F5344CB8AC3E}">
        <p14:creationId xmlns:p14="http://schemas.microsoft.com/office/powerpoint/2010/main" val="3963565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AE9CB-E565-6D86-35BB-69426F7D499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67F83B9-DDA9-B65D-6940-331D615D7E26}"/>
              </a:ext>
            </a:extLst>
          </p:cNvPr>
          <p:cNvSpPr/>
          <p:nvPr/>
        </p:nvSpPr>
        <p:spPr>
          <a:xfrm>
            <a:off x="238596" y="768339"/>
            <a:ext cx="3158773"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Rectangle 10">
            <a:extLst>
              <a:ext uri="{FF2B5EF4-FFF2-40B4-BE49-F238E27FC236}">
                <a16:creationId xmlns:a16="http://schemas.microsoft.com/office/drawing/2014/main" id="{F6DD6441-0AEC-5912-8829-5675B3223333}"/>
              </a:ext>
            </a:extLst>
          </p:cNvPr>
          <p:cNvSpPr/>
          <p:nvPr/>
        </p:nvSpPr>
        <p:spPr>
          <a:xfrm>
            <a:off x="3541610" y="768340"/>
            <a:ext cx="3111891" cy="40091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Rectangle 15">
            <a:extLst>
              <a:ext uri="{FF2B5EF4-FFF2-40B4-BE49-F238E27FC236}">
                <a16:creationId xmlns:a16="http://schemas.microsoft.com/office/drawing/2014/main" id="{1F0CF276-72AD-F983-61F6-005834D876B2}"/>
              </a:ext>
            </a:extLst>
          </p:cNvPr>
          <p:cNvSpPr/>
          <p:nvPr/>
        </p:nvSpPr>
        <p:spPr>
          <a:xfrm>
            <a:off x="214533" y="5369464"/>
            <a:ext cx="3158773"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tangle 16">
            <a:extLst>
              <a:ext uri="{FF2B5EF4-FFF2-40B4-BE49-F238E27FC236}">
                <a16:creationId xmlns:a16="http://schemas.microsoft.com/office/drawing/2014/main" id="{8EBBA0F9-39DF-E86B-67EE-70C356A10863}"/>
              </a:ext>
            </a:extLst>
          </p:cNvPr>
          <p:cNvSpPr/>
          <p:nvPr/>
        </p:nvSpPr>
        <p:spPr>
          <a:xfrm>
            <a:off x="3543418" y="5369465"/>
            <a:ext cx="3086019"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Rectangle 18">
            <a:extLst>
              <a:ext uri="{FF2B5EF4-FFF2-40B4-BE49-F238E27FC236}">
                <a16:creationId xmlns:a16="http://schemas.microsoft.com/office/drawing/2014/main" id="{DD37FFB3-B3CC-CAEF-375D-55F5F3AE59EA}"/>
              </a:ext>
            </a:extLst>
          </p:cNvPr>
          <p:cNvSpPr/>
          <p:nvPr/>
        </p:nvSpPr>
        <p:spPr>
          <a:xfrm>
            <a:off x="1141656" y="439599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0" name="Rectangle 19">
            <a:extLst>
              <a:ext uri="{FF2B5EF4-FFF2-40B4-BE49-F238E27FC236}">
                <a16:creationId xmlns:a16="http://schemas.microsoft.com/office/drawing/2014/main" id="{1E144924-AE93-91A9-EB64-80575377FA42}"/>
              </a:ext>
            </a:extLst>
          </p:cNvPr>
          <p:cNvSpPr/>
          <p:nvPr/>
        </p:nvSpPr>
        <p:spPr>
          <a:xfrm>
            <a:off x="1928679" y="439287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55E62133-5A4F-E111-4C1C-74A9097747BF}"/>
                  </a:ext>
                </a:extLst>
              </p:cNvPr>
              <p:cNvSpPr/>
              <p:nvPr/>
            </p:nvSpPr>
            <p:spPr>
              <a:xfrm>
                <a:off x="654421" y="435302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1" name="Rectangle 20">
                <a:extLst>
                  <a:ext uri="{FF2B5EF4-FFF2-40B4-BE49-F238E27FC236}">
                    <a16:creationId xmlns:a16="http://schemas.microsoft.com/office/drawing/2014/main" id="{55E62133-5A4F-E111-4C1C-74A9097747BF}"/>
                  </a:ext>
                </a:extLst>
              </p:cNvPr>
              <p:cNvSpPr>
                <a:spLocks noRot="1" noChangeAspect="1" noMove="1" noResize="1" noEditPoints="1" noAdjustHandles="1" noChangeArrowheads="1" noChangeShapeType="1" noTextEdit="1"/>
              </p:cNvSpPr>
              <p:nvPr/>
            </p:nvSpPr>
            <p:spPr>
              <a:xfrm>
                <a:off x="654421" y="4353027"/>
                <a:ext cx="1381880" cy="369332"/>
              </a:xfrm>
              <a:prstGeom prst="rect">
                <a:avLst/>
              </a:prstGeom>
              <a:blipFill>
                <a:blip r:embed="rId2"/>
                <a:stretch>
                  <a:fillRect r="-12335" b="-16393"/>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D5CA899B-5185-B098-5A63-DE9CC95EF0DF}"/>
              </a:ext>
            </a:extLst>
          </p:cNvPr>
          <p:cNvSpPr/>
          <p:nvPr/>
        </p:nvSpPr>
        <p:spPr>
          <a:xfrm>
            <a:off x="5445774" y="4396729"/>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3" name="Rectangle 22">
            <a:extLst>
              <a:ext uri="{FF2B5EF4-FFF2-40B4-BE49-F238E27FC236}">
                <a16:creationId xmlns:a16="http://schemas.microsoft.com/office/drawing/2014/main" id="{3CDB0399-0C12-A8AA-CA80-9AB98FC0CF89}"/>
              </a:ext>
            </a:extLst>
          </p:cNvPr>
          <p:cNvSpPr/>
          <p:nvPr/>
        </p:nvSpPr>
        <p:spPr>
          <a:xfrm>
            <a:off x="6232797" y="4393611"/>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9BF6F3EC-149B-7279-7AC9-744A75C91A22}"/>
                  </a:ext>
                </a:extLst>
              </p:cNvPr>
              <p:cNvSpPr/>
              <p:nvPr/>
            </p:nvSpPr>
            <p:spPr>
              <a:xfrm>
                <a:off x="4958539" y="4353763"/>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4" name="Rectangle 23">
                <a:extLst>
                  <a:ext uri="{FF2B5EF4-FFF2-40B4-BE49-F238E27FC236}">
                    <a16:creationId xmlns:a16="http://schemas.microsoft.com/office/drawing/2014/main" id="{9BF6F3EC-149B-7279-7AC9-744A75C91A22}"/>
                  </a:ext>
                </a:extLst>
              </p:cNvPr>
              <p:cNvSpPr>
                <a:spLocks noRot="1" noChangeAspect="1" noMove="1" noResize="1" noEditPoints="1" noAdjustHandles="1" noChangeArrowheads="1" noChangeShapeType="1" noTextEdit="1"/>
              </p:cNvSpPr>
              <p:nvPr/>
            </p:nvSpPr>
            <p:spPr>
              <a:xfrm>
                <a:off x="4958539" y="4353763"/>
                <a:ext cx="1381880" cy="369332"/>
              </a:xfrm>
              <a:prstGeom prst="rect">
                <a:avLst/>
              </a:prstGeom>
              <a:blipFill>
                <a:blip r:embed="rId2"/>
                <a:stretch>
                  <a:fillRect r="-12335" b="-16393"/>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E5EA5DC7-A4A1-CF3C-7E9B-9E49FD90378C}"/>
              </a:ext>
            </a:extLst>
          </p:cNvPr>
          <p:cNvSpPr/>
          <p:nvPr/>
        </p:nvSpPr>
        <p:spPr>
          <a:xfrm>
            <a:off x="1141656" y="912966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9" name="Rectangle 28">
            <a:extLst>
              <a:ext uri="{FF2B5EF4-FFF2-40B4-BE49-F238E27FC236}">
                <a16:creationId xmlns:a16="http://schemas.microsoft.com/office/drawing/2014/main" id="{A155AF3A-DE7C-AC95-4F17-84C3E5732E2B}"/>
              </a:ext>
            </a:extLst>
          </p:cNvPr>
          <p:cNvSpPr/>
          <p:nvPr/>
        </p:nvSpPr>
        <p:spPr>
          <a:xfrm>
            <a:off x="1928679" y="912655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A7EF4D44-6BF9-D0A3-C88A-6A3AEA600DB5}"/>
                  </a:ext>
                </a:extLst>
              </p:cNvPr>
              <p:cNvSpPr/>
              <p:nvPr/>
            </p:nvSpPr>
            <p:spPr>
              <a:xfrm>
                <a:off x="654421" y="908670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0" name="Rectangle 29">
                <a:extLst>
                  <a:ext uri="{FF2B5EF4-FFF2-40B4-BE49-F238E27FC236}">
                    <a16:creationId xmlns:a16="http://schemas.microsoft.com/office/drawing/2014/main" id="{A7EF4D44-6BF9-D0A3-C88A-6A3AEA600DB5}"/>
                  </a:ext>
                </a:extLst>
              </p:cNvPr>
              <p:cNvSpPr>
                <a:spLocks noRot="1" noChangeAspect="1" noMove="1" noResize="1" noEditPoints="1" noAdjustHandles="1" noChangeArrowheads="1" noChangeShapeType="1" noTextEdit="1"/>
              </p:cNvSpPr>
              <p:nvPr/>
            </p:nvSpPr>
            <p:spPr>
              <a:xfrm>
                <a:off x="654421" y="9086702"/>
                <a:ext cx="1381880" cy="369332"/>
              </a:xfrm>
              <a:prstGeom prst="rect">
                <a:avLst/>
              </a:prstGeom>
              <a:blipFill>
                <a:blip r:embed="rId3"/>
                <a:stretch>
                  <a:fillRect r="-12335" b="-16667"/>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167F7318-2CED-0EE0-48CF-249ECB9DFC8E}"/>
              </a:ext>
            </a:extLst>
          </p:cNvPr>
          <p:cNvSpPr/>
          <p:nvPr/>
        </p:nvSpPr>
        <p:spPr>
          <a:xfrm>
            <a:off x="5445774" y="9130404"/>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2" name="Rectangle 31">
            <a:extLst>
              <a:ext uri="{FF2B5EF4-FFF2-40B4-BE49-F238E27FC236}">
                <a16:creationId xmlns:a16="http://schemas.microsoft.com/office/drawing/2014/main" id="{A93DA1C5-6D5F-941D-D4E9-5DDCB89B2752}"/>
              </a:ext>
            </a:extLst>
          </p:cNvPr>
          <p:cNvSpPr/>
          <p:nvPr/>
        </p:nvSpPr>
        <p:spPr>
          <a:xfrm>
            <a:off x="6232797" y="9127286"/>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DF0DC5C9-3856-7601-203E-BE95293EBCAC}"/>
                  </a:ext>
                </a:extLst>
              </p:cNvPr>
              <p:cNvSpPr/>
              <p:nvPr/>
            </p:nvSpPr>
            <p:spPr>
              <a:xfrm>
                <a:off x="4958539" y="9087438"/>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3" name="Rectangle 32">
                <a:extLst>
                  <a:ext uri="{FF2B5EF4-FFF2-40B4-BE49-F238E27FC236}">
                    <a16:creationId xmlns:a16="http://schemas.microsoft.com/office/drawing/2014/main" id="{DF0DC5C9-3856-7601-203E-BE95293EBCAC}"/>
                  </a:ext>
                </a:extLst>
              </p:cNvPr>
              <p:cNvSpPr>
                <a:spLocks noRot="1" noChangeAspect="1" noMove="1" noResize="1" noEditPoints="1" noAdjustHandles="1" noChangeArrowheads="1" noChangeShapeType="1" noTextEdit="1"/>
              </p:cNvSpPr>
              <p:nvPr/>
            </p:nvSpPr>
            <p:spPr>
              <a:xfrm>
                <a:off x="4958539" y="9087438"/>
                <a:ext cx="1381880" cy="369332"/>
              </a:xfrm>
              <a:prstGeom prst="rect">
                <a:avLst/>
              </a:prstGeom>
              <a:blipFill>
                <a:blip r:embed="rId3"/>
                <a:stretch>
                  <a:fillRect r="-12335" b="-16667"/>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7C9AEDDA-6F90-DF4B-75BC-FA9BE4F69ADD}"/>
              </a:ext>
            </a:extLst>
          </p:cNvPr>
          <p:cNvSpPr txBox="1"/>
          <p:nvPr/>
        </p:nvSpPr>
        <p:spPr>
          <a:xfrm>
            <a:off x="1041075" y="72731"/>
            <a:ext cx="4620374" cy="276999"/>
          </a:xfrm>
          <a:prstGeom prst="rect">
            <a:avLst/>
          </a:prstGeom>
          <a:noFill/>
        </p:spPr>
        <p:txBody>
          <a:bodyPr wrap="square" rtlCol="0">
            <a:spAutoFit/>
          </a:bodyPr>
          <a:lstStyle/>
          <a:p>
            <a:pPr algn="ctr"/>
            <a:r>
              <a:rPr lang="en-GB" sz="1200" noProof="0" dirty="0"/>
              <a:t>4. Solve the quadratic simultaneous equations. </a:t>
            </a:r>
          </a:p>
        </p:txBody>
      </p:sp>
      <p:sp>
        <p:nvSpPr>
          <p:cNvPr id="38" name="Rectangle 37">
            <a:extLst>
              <a:ext uri="{FF2B5EF4-FFF2-40B4-BE49-F238E27FC236}">
                <a16:creationId xmlns:a16="http://schemas.microsoft.com/office/drawing/2014/main" id="{4646CAEF-D8A2-3114-68CF-9F39F03323E3}"/>
              </a:ext>
            </a:extLst>
          </p:cNvPr>
          <p:cNvSpPr/>
          <p:nvPr/>
        </p:nvSpPr>
        <p:spPr>
          <a:xfrm>
            <a:off x="1143744" y="398472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9" name="Rectangle 38">
            <a:extLst>
              <a:ext uri="{FF2B5EF4-FFF2-40B4-BE49-F238E27FC236}">
                <a16:creationId xmlns:a16="http://schemas.microsoft.com/office/drawing/2014/main" id="{5AEC1A05-E5C6-D1F0-7858-400DA05A307B}"/>
              </a:ext>
            </a:extLst>
          </p:cNvPr>
          <p:cNvSpPr/>
          <p:nvPr/>
        </p:nvSpPr>
        <p:spPr>
          <a:xfrm>
            <a:off x="1930767" y="398160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149F6023-FD9C-685E-0571-3B9168E1C3F2}"/>
                  </a:ext>
                </a:extLst>
              </p:cNvPr>
              <p:cNvSpPr/>
              <p:nvPr/>
            </p:nvSpPr>
            <p:spPr>
              <a:xfrm>
                <a:off x="656509" y="394175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0" name="Rectangle 39">
                <a:extLst>
                  <a:ext uri="{FF2B5EF4-FFF2-40B4-BE49-F238E27FC236}">
                    <a16:creationId xmlns:a16="http://schemas.microsoft.com/office/drawing/2014/main" id="{149F6023-FD9C-685E-0571-3B9168E1C3F2}"/>
                  </a:ext>
                </a:extLst>
              </p:cNvPr>
              <p:cNvSpPr>
                <a:spLocks noRot="1" noChangeAspect="1" noMove="1" noResize="1" noEditPoints="1" noAdjustHandles="1" noChangeArrowheads="1" noChangeShapeType="1" noTextEdit="1"/>
              </p:cNvSpPr>
              <p:nvPr/>
            </p:nvSpPr>
            <p:spPr>
              <a:xfrm>
                <a:off x="656509" y="3941757"/>
                <a:ext cx="1381880" cy="369332"/>
              </a:xfrm>
              <a:prstGeom prst="rect">
                <a:avLst/>
              </a:prstGeom>
              <a:blipFill>
                <a:blip r:embed="rId3"/>
                <a:stretch>
                  <a:fillRect r="-12832" b="-16667"/>
                </a:stretch>
              </a:blipFill>
            </p:spPr>
            <p:txBody>
              <a:bodyPr/>
              <a:lstStyle/>
              <a:p>
                <a:r>
                  <a:rPr lang="en-US">
                    <a:noFill/>
                  </a:rPr>
                  <a:t> </a:t>
                </a:r>
              </a:p>
            </p:txBody>
          </p:sp>
        </mc:Fallback>
      </mc:AlternateContent>
      <p:sp>
        <p:nvSpPr>
          <p:cNvPr id="41" name="Rectangle 40">
            <a:extLst>
              <a:ext uri="{FF2B5EF4-FFF2-40B4-BE49-F238E27FC236}">
                <a16:creationId xmlns:a16="http://schemas.microsoft.com/office/drawing/2014/main" id="{5A5EB3DA-A241-ACB0-770C-046A651CF2E4}"/>
              </a:ext>
            </a:extLst>
          </p:cNvPr>
          <p:cNvSpPr/>
          <p:nvPr/>
        </p:nvSpPr>
        <p:spPr>
          <a:xfrm>
            <a:off x="5455335" y="399725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42" name="Rectangle 41">
            <a:extLst>
              <a:ext uri="{FF2B5EF4-FFF2-40B4-BE49-F238E27FC236}">
                <a16:creationId xmlns:a16="http://schemas.microsoft.com/office/drawing/2014/main" id="{73F03823-5725-1B54-E687-DB759BF10F47}"/>
              </a:ext>
            </a:extLst>
          </p:cNvPr>
          <p:cNvSpPr/>
          <p:nvPr/>
        </p:nvSpPr>
        <p:spPr>
          <a:xfrm>
            <a:off x="6242358" y="3994132"/>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8149BA3D-9FD5-DC88-53C9-4A3345A29286}"/>
                  </a:ext>
                </a:extLst>
              </p:cNvPr>
              <p:cNvSpPr/>
              <p:nvPr/>
            </p:nvSpPr>
            <p:spPr>
              <a:xfrm>
                <a:off x="4968100" y="3954284"/>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3" name="Rectangle 42">
                <a:extLst>
                  <a:ext uri="{FF2B5EF4-FFF2-40B4-BE49-F238E27FC236}">
                    <a16:creationId xmlns:a16="http://schemas.microsoft.com/office/drawing/2014/main" id="{8149BA3D-9FD5-DC88-53C9-4A3345A29286}"/>
                  </a:ext>
                </a:extLst>
              </p:cNvPr>
              <p:cNvSpPr>
                <a:spLocks noRot="1" noChangeAspect="1" noMove="1" noResize="1" noEditPoints="1" noAdjustHandles="1" noChangeArrowheads="1" noChangeShapeType="1" noTextEdit="1"/>
              </p:cNvSpPr>
              <p:nvPr/>
            </p:nvSpPr>
            <p:spPr>
              <a:xfrm>
                <a:off x="4968100" y="3954284"/>
                <a:ext cx="1381880" cy="369332"/>
              </a:xfrm>
              <a:prstGeom prst="rect">
                <a:avLst/>
              </a:prstGeom>
              <a:blipFill>
                <a:blip r:embed="rId3"/>
                <a:stretch>
                  <a:fillRect r="-12335" b="-16667"/>
                </a:stretch>
              </a:blipFill>
            </p:spPr>
            <p:txBody>
              <a:bodyPr/>
              <a:lstStyle/>
              <a:p>
                <a:r>
                  <a:rPr lang="en-US">
                    <a:noFill/>
                  </a:rPr>
                  <a:t> </a:t>
                </a:r>
              </a:p>
            </p:txBody>
          </p:sp>
        </mc:Fallback>
      </mc:AlternateContent>
      <p:sp>
        <p:nvSpPr>
          <p:cNvPr id="47" name="Rectangle 46">
            <a:extLst>
              <a:ext uri="{FF2B5EF4-FFF2-40B4-BE49-F238E27FC236}">
                <a16:creationId xmlns:a16="http://schemas.microsoft.com/office/drawing/2014/main" id="{0CF02E3F-36DE-BE59-A0B9-3901AF644C6A}"/>
              </a:ext>
            </a:extLst>
          </p:cNvPr>
          <p:cNvSpPr/>
          <p:nvPr/>
        </p:nvSpPr>
        <p:spPr>
          <a:xfrm>
            <a:off x="1131218" y="874460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48" name="Rectangle 47">
            <a:extLst>
              <a:ext uri="{FF2B5EF4-FFF2-40B4-BE49-F238E27FC236}">
                <a16:creationId xmlns:a16="http://schemas.microsoft.com/office/drawing/2014/main" id="{C549FEB3-3611-9ADE-3749-5E7CCA6C712A}"/>
              </a:ext>
            </a:extLst>
          </p:cNvPr>
          <p:cNvSpPr/>
          <p:nvPr/>
        </p:nvSpPr>
        <p:spPr>
          <a:xfrm>
            <a:off x="1918241" y="874148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6BB725CA-9874-7836-61B9-10B762A6F0B1}"/>
                  </a:ext>
                </a:extLst>
              </p:cNvPr>
              <p:cNvSpPr/>
              <p:nvPr/>
            </p:nvSpPr>
            <p:spPr>
              <a:xfrm>
                <a:off x="643983" y="870163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9" name="Rectangle 48">
                <a:extLst>
                  <a:ext uri="{FF2B5EF4-FFF2-40B4-BE49-F238E27FC236}">
                    <a16:creationId xmlns:a16="http://schemas.microsoft.com/office/drawing/2014/main" id="{6BB725CA-9874-7836-61B9-10B762A6F0B1}"/>
                  </a:ext>
                </a:extLst>
              </p:cNvPr>
              <p:cNvSpPr>
                <a:spLocks noRot="1" noChangeAspect="1" noMove="1" noResize="1" noEditPoints="1" noAdjustHandles="1" noChangeArrowheads="1" noChangeShapeType="1" noTextEdit="1"/>
              </p:cNvSpPr>
              <p:nvPr/>
            </p:nvSpPr>
            <p:spPr>
              <a:xfrm>
                <a:off x="643983" y="8701637"/>
                <a:ext cx="1381880" cy="369332"/>
              </a:xfrm>
              <a:prstGeom prst="rect">
                <a:avLst/>
              </a:prstGeom>
              <a:blipFill>
                <a:blip r:embed="rId2"/>
                <a:stretch>
                  <a:fillRect r="-12832" b="-16393"/>
                </a:stretch>
              </a:blipFill>
            </p:spPr>
            <p:txBody>
              <a:bodyPr/>
              <a:lstStyle/>
              <a:p>
                <a:r>
                  <a:rPr lang="en-US">
                    <a:noFill/>
                  </a:rPr>
                  <a:t> </a:t>
                </a:r>
              </a:p>
            </p:txBody>
          </p:sp>
        </mc:Fallback>
      </mc:AlternateContent>
      <p:sp>
        <p:nvSpPr>
          <p:cNvPr id="50" name="Rectangle 49">
            <a:extLst>
              <a:ext uri="{FF2B5EF4-FFF2-40B4-BE49-F238E27FC236}">
                <a16:creationId xmlns:a16="http://schemas.microsoft.com/office/drawing/2014/main" id="{0A6A1A5B-52BF-43A6-0631-24064444742D}"/>
              </a:ext>
            </a:extLst>
          </p:cNvPr>
          <p:cNvSpPr/>
          <p:nvPr/>
        </p:nvSpPr>
        <p:spPr>
          <a:xfrm>
            <a:off x="5455335" y="873207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51" name="Rectangle 50">
            <a:extLst>
              <a:ext uri="{FF2B5EF4-FFF2-40B4-BE49-F238E27FC236}">
                <a16:creationId xmlns:a16="http://schemas.microsoft.com/office/drawing/2014/main" id="{D873B71A-7F34-EA5B-C977-8E55014FE828}"/>
              </a:ext>
            </a:extLst>
          </p:cNvPr>
          <p:cNvSpPr/>
          <p:nvPr/>
        </p:nvSpPr>
        <p:spPr>
          <a:xfrm>
            <a:off x="6242358" y="872896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EED9F65E-35E9-C97F-1B91-49F6691AA091}"/>
                  </a:ext>
                </a:extLst>
              </p:cNvPr>
              <p:cNvSpPr/>
              <p:nvPr/>
            </p:nvSpPr>
            <p:spPr>
              <a:xfrm>
                <a:off x="4968100" y="868911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52" name="Rectangle 51">
                <a:extLst>
                  <a:ext uri="{FF2B5EF4-FFF2-40B4-BE49-F238E27FC236}">
                    <a16:creationId xmlns:a16="http://schemas.microsoft.com/office/drawing/2014/main" id="{EED9F65E-35E9-C97F-1B91-49F6691AA091}"/>
                  </a:ext>
                </a:extLst>
              </p:cNvPr>
              <p:cNvSpPr>
                <a:spLocks noRot="1" noChangeAspect="1" noMove="1" noResize="1" noEditPoints="1" noAdjustHandles="1" noChangeArrowheads="1" noChangeShapeType="1" noTextEdit="1"/>
              </p:cNvSpPr>
              <p:nvPr/>
            </p:nvSpPr>
            <p:spPr>
              <a:xfrm>
                <a:off x="4968100" y="8689112"/>
                <a:ext cx="1381880" cy="369332"/>
              </a:xfrm>
              <a:prstGeom prst="rect">
                <a:avLst/>
              </a:prstGeom>
              <a:blipFill>
                <a:blip r:embed="rId2"/>
                <a:stretch>
                  <a:fillRect r="-12335" b="-16393"/>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8DF853E-BFB1-32F3-6C9A-EB0470A3332E}"/>
              </a:ext>
            </a:extLst>
          </p:cNvPr>
          <p:cNvSpPr txBox="1"/>
          <p:nvPr/>
        </p:nvSpPr>
        <p:spPr>
          <a:xfrm>
            <a:off x="231424" y="87624"/>
            <a:ext cx="1560042" cy="253916"/>
          </a:xfrm>
          <a:prstGeom prst="rect">
            <a:avLst/>
          </a:prstGeom>
          <a:solidFill>
            <a:srgbClr val="0070C0"/>
          </a:solidFill>
        </p:spPr>
        <p:txBody>
          <a:bodyPr wrap="none" lIns="91440" tIns="45720" rIns="91440" bIns="45720" rtlCol="0" anchor="ctr">
            <a:spAutoFit/>
          </a:bodyPr>
          <a:lstStyle/>
          <a:p>
            <a:r>
              <a:rPr lang="en-GB" sz="1050" b="1" noProof="0" dirty="0">
                <a:solidFill>
                  <a:schemeClr val="bg1"/>
                </a:solidFill>
              </a:rPr>
              <a:t>INDEPENDENT PRACTICE</a:t>
            </a:r>
          </a:p>
        </p:txBody>
      </p:sp>
      <p:sp>
        <p:nvSpPr>
          <p:cNvPr id="2" name="Slide Number Placeholder 1">
            <a:extLst>
              <a:ext uri="{FF2B5EF4-FFF2-40B4-BE49-F238E27FC236}">
                <a16:creationId xmlns:a16="http://schemas.microsoft.com/office/drawing/2014/main" id="{DC73B0AF-EE02-3DC8-727A-A69D42064D93}"/>
              </a:ext>
            </a:extLst>
          </p:cNvPr>
          <p:cNvSpPr>
            <a:spLocks noGrp="1"/>
          </p:cNvSpPr>
          <p:nvPr>
            <p:ph type="sldNum" sz="quarter" idx="12"/>
          </p:nvPr>
        </p:nvSpPr>
        <p:spPr>
          <a:xfrm>
            <a:off x="5248693" y="9378597"/>
            <a:ext cx="1543050" cy="527403"/>
          </a:xfrm>
        </p:spPr>
        <p:txBody>
          <a:bodyPr/>
          <a:lstStyle/>
          <a:p>
            <a:fld id="{19F1D9CC-7119-45EC-A96C-D8C0660F3AAB}" type="slidenum">
              <a:rPr lang="en-GB" noProof="0" smtClean="0"/>
              <a:t>64</a:t>
            </a:fld>
            <a:endParaRPr lang="en-GB" noProof="0" dirty="0"/>
          </a:p>
        </p:txBody>
      </p:sp>
      <mc:AlternateContent xmlns:mc="http://schemas.openxmlformats.org/markup-compatibility/2006" xmlns:a14="http://schemas.microsoft.com/office/drawing/2010/main">
        <mc:Choice Requires="a14">
          <p:sp>
            <p:nvSpPr>
              <p:cNvPr id="5" name="TextBox 4"/>
              <p:cNvSpPr txBox="1"/>
              <p:nvPr/>
            </p:nvSpPr>
            <p:spPr>
              <a:xfrm>
                <a:off x="167983" y="340723"/>
                <a:ext cx="891206" cy="461665"/>
              </a:xfrm>
              <a:prstGeom prst="rect">
                <a:avLst/>
              </a:prstGeom>
              <a:noFill/>
            </p:spPr>
            <p:txBody>
              <a:bodyPr wrap="none" rtlCol="0">
                <a:spAutoFit/>
              </a:bodyPr>
              <a:lstStyle/>
              <a:p>
                <a:pPr lvl="0" algn="ctr" defTabSz="685800">
                  <a:defRPr/>
                </a:pPr>
                <a:r>
                  <a:rPr lang="en-GB" sz="1200" noProof="0" dirty="0"/>
                  <a:t>a) </a:t>
                </a:r>
                <a14:m>
                  <m:oMath xmlns:m="http://schemas.openxmlformats.org/officeDocument/2006/math">
                    <m:r>
                      <a:rPr lang="en-GB" sz="1200" b="0" i="1" noProof="0" smtClean="0">
                        <a:latin typeface="Cambria Math" panose="02040503050406030204" pitchFamily="18" charset="0"/>
                      </a:rPr>
                      <m:t>𝑥𝑦</m:t>
                    </m:r>
                    <m:r>
                      <a:rPr lang="en-GB" sz="1200" b="0" i="1" noProof="0" smtClean="0">
                        <a:latin typeface="Cambria Math" panose="02040503050406030204" pitchFamily="18" charset="0"/>
                      </a:rPr>
                      <m:t>=12</m:t>
                    </m:r>
                  </m:oMath>
                </a14:m>
                <a:endParaRPr lang="en-GB" sz="1200" b="0" noProof="0" dirty="0"/>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p:txBody>
          </p:sp>
        </mc:Choice>
        <mc:Fallback xmlns="">
          <p:sp>
            <p:nvSpPr>
              <p:cNvPr id="5" name="TextBox 4"/>
              <p:cNvSpPr txBox="1">
                <a:spLocks noRot="1" noChangeAspect="1" noMove="1" noResize="1" noEditPoints="1" noAdjustHandles="1" noChangeArrowheads="1" noChangeShapeType="1" noTextEdit="1"/>
              </p:cNvSpPr>
              <p:nvPr/>
            </p:nvSpPr>
            <p:spPr>
              <a:xfrm>
                <a:off x="167983" y="340723"/>
                <a:ext cx="891206" cy="461665"/>
              </a:xfrm>
              <a:prstGeom prst="rect">
                <a:avLst/>
              </a:prstGeom>
              <a:blipFill>
                <a:blip r:embed="rId4"/>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506020" y="340722"/>
                <a:ext cx="894412" cy="461665"/>
              </a:xfrm>
              <a:prstGeom prst="rect">
                <a:avLst/>
              </a:prstGeom>
              <a:noFill/>
            </p:spPr>
            <p:txBody>
              <a:bodyPr wrap="none" rtlCol="0">
                <a:spAutoFit/>
              </a:bodyPr>
              <a:lstStyle/>
              <a:p>
                <a:pPr lvl="0" algn="ctr" defTabSz="685800">
                  <a:defRPr/>
                </a:pPr>
                <a:r>
                  <a:rPr lang="en-GB" sz="1200" noProof="0" dirty="0"/>
                  <a:t>b) </a:t>
                </a:r>
                <a14:m>
                  <m:oMath xmlns:m="http://schemas.openxmlformats.org/officeDocument/2006/math">
                    <m:r>
                      <a:rPr lang="en-GB" sz="1200" b="0" i="1" noProof="0" smtClean="0">
                        <a:latin typeface="Cambria Math" panose="02040503050406030204" pitchFamily="18" charset="0"/>
                      </a:rPr>
                      <m:t>𝑥𝑦</m:t>
                    </m:r>
                    <m:r>
                      <a:rPr lang="en-GB" sz="1200" b="0" i="1" noProof="0" smtClean="0">
                        <a:latin typeface="Cambria Math" panose="02040503050406030204" pitchFamily="18" charset="0"/>
                      </a:rPr>
                      <m:t>=12</m:t>
                    </m:r>
                  </m:oMath>
                </a14:m>
                <a:endParaRPr lang="en-GB" sz="1200" b="0" noProof="0" dirty="0">
                  <a:cs typeface="Calibri" panose="020F0502020204030204" pitchFamily="34" charset="0"/>
                </a:endParaRPr>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oMath>
                  </m:oMathPara>
                </a14:m>
                <a:endParaRPr lang="en-GB" sz="1200" noProof="0" dirty="0"/>
              </a:p>
            </p:txBody>
          </p:sp>
        </mc:Choice>
        <mc:Fallback xmlns="">
          <p:sp>
            <p:nvSpPr>
              <p:cNvPr id="6" name="TextBox 5"/>
              <p:cNvSpPr txBox="1">
                <a:spLocks noRot="1" noChangeAspect="1" noMove="1" noResize="1" noEditPoints="1" noAdjustHandles="1" noChangeArrowheads="1" noChangeShapeType="1" noTextEdit="1"/>
              </p:cNvSpPr>
              <p:nvPr/>
            </p:nvSpPr>
            <p:spPr>
              <a:xfrm>
                <a:off x="3506020" y="340722"/>
                <a:ext cx="894412" cy="461665"/>
              </a:xfrm>
              <a:prstGeom prst="rect">
                <a:avLst/>
              </a:prstGeom>
              <a:blipFill>
                <a:blip r:embed="rId5"/>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55259" y="4820096"/>
                <a:ext cx="886397" cy="461665"/>
              </a:xfrm>
              <a:prstGeom prst="rect">
                <a:avLst/>
              </a:prstGeom>
              <a:noFill/>
            </p:spPr>
            <p:txBody>
              <a:bodyPr wrap="none" rtlCol="0">
                <a:spAutoFit/>
              </a:bodyPr>
              <a:lstStyle/>
              <a:p>
                <a:pPr lvl="0" algn="ctr" defTabSz="685800">
                  <a:defRPr/>
                </a:pPr>
                <a:r>
                  <a:rPr lang="en-GB" sz="1200" noProof="0" dirty="0"/>
                  <a:t>c)</a:t>
                </a:r>
                <a14:m>
                  <m:oMath xmlns:m="http://schemas.openxmlformats.org/officeDocument/2006/math">
                    <m:r>
                      <a:rPr lang="en-GB" sz="1200" b="0" i="0" noProof="0" smtClean="0">
                        <a:latin typeface="Cambria Math" panose="02040503050406030204" pitchFamily="18" charset="0"/>
                      </a:rPr>
                      <m:t> </m:t>
                    </m:r>
                    <m:r>
                      <a:rPr lang="en-GB" sz="1200" b="0" i="1" noProof="0" smtClean="0">
                        <a:latin typeface="Cambria Math" panose="02040503050406030204" pitchFamily="18" charset="0"/>
                      </a:rPr>
                      <m:t>𝑥𝑦</m:t>
                    </m:r>
                    <m:r>
                      <a:rPr lang="en-GB" sz="1200" b="0" i="1" noProof="0" smtClean="0">
                        <a:latin typeface="Cambria Math" panose="02040503050406030204" pitchFamily="18" charset="0"/>
                      </a:rPr>
                      <m:t>=12</m:t>
                    </m:r>
                  </m:oMath>
                </a14:m>
                <a:endParaRPr lang="en-GB" sz="1200" b="0" noProof="0" dirty="0"/>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oMath>
                  </m:oMathPara>
                </a14:m>
                <a:endParaRPr lang="en-GB" sz="1200" noProof="0" dirty="0"/>
              </a:p>
            </p:txBody>
          </p:sp>
        </mc:Choice>
        <mc:Fallback xmlns="">
          <p:sp>
            <p:nvSpPr>
              <p:cNvPr id="9" name="TextBox 8"/>
              <p:cNvSpPr txBox="1">
                <a:spLocks noRot="1" noChangeAspect="1" noMove="1" noResize="1" noEditPoints="1" noAdjustHandles="1" noChangeArrowheads="1" noChangeShapeType="1" noTextEdit="1"/>
              </p:cNvSpPr>
              <p:nvPr/>
            </p:nvSpPr>
            <p:spPr>
              <a:xfrm>
                <a:off x="255259" y="4820096"/>
                <a:ext cx="886397" cy="461665"/>
              </a:xfrm>
              <a:prstGeom prst="rect">
                <a:avLst/>
              </a:prstGeom>
              <a:blipFill>
                <a:blip r:embed="rId6"/>
                <a:stretch>
                  <a:fillRect t="-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3541610" y="4889105"/>
                <a:ext cx="950197" cy="461665"/>
              </a:xfrm>
              <a:prstGeom prst="rect">
                <a:avLst/>
              </a:prstGeom>
              <a:noFill/>
            </p:spPr>
            <p:txBody>
              <a:bodyPr wrap="none" rtlCol="0">
                <a:spAutoFit/>
              </a:bodyPr>
              <a:lstStyle/>
              <a:p>
                <a:pPr lvl="0" algn="ctr" defTabSz="685800">
                  <a:defRPr/>
                </a:pPr>
                <a:r>
                  <a:rPr lang="en-GB" sz="1200" noProof="0" dirty="0"/>
                  <a:t>d) </a:t>
                </a:r>
                <a14:m>
                  <m:oMath xmlns:m="http://schemas.openxmlformats.org/officeDocument/2006/math">
                    <m:r>
                      <a:rPr lang="en-GB" sz="1200" b="0" i="1" noProof="0" smtClean="0">
                        <a:latin typeface="Cambria Math" panose="02040503050406030204" pitchFamily="18" charset="0"/>
                      </a:rPr>
                      <m:t>𝑥𝑦</m:t>
                    </m:r>
                    <m:r>
                      <a:rPr lang="en-GB" sz="1200" b="0" i="1" noProof="0" smtClean="0">
                        <a:latin typeface="Cambria Math" panose="02040503050406030204" pitchFamily="18" charset="0"/>
                      </a:rPr>
                      <m:t>=12</m:t>
                    </m:r>
                  </m:oMath>
                </a14:m>
                <a:endParaRPr lang="en-GB" sz="1200" b="0" noProof="0" dirty="0"/>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+5</m:t>
                      </m:r>
                    </m:oMath>
                  </m:oMathPara>
                </a14:m>
                <a:endParaRPr lang="en-GB" sz="1200" b="0" noProof="0" dirty="0"/>
              </a:p>
            </p:txBody>
          </p:sp>
        </mc:Choice>
        <mc:Fallback xmlns="">
          <p:sp>
            <p:nvSpPr>
              <p:cNvPr id="56" name="TextBox 55"/>
              <p:cNvSpPr txBox="1">
                <a:spLocks noRot="1" noChangeAspect="1" noMove="1" noResize="1" noEditPoints="1" noAdjustHandles="1" noChangeArrowheads="1" noChangeShapeType="1" noTextEdit="1"/>
              </p:cNvSpPr>
              <p:nvPr/>
            </p:nvSpPr>
            <p:spPr>
              <a:xfrm>
                <a:off x="3541610" y="4889105"/>
                <a:ext cx="950197" cy="461665"/>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940281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DF8DA-7172-2870-0836-EC3BA636CA8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9909485-46B2-9233-442D-1C64580321E5}"/>
              </a:ext>
            </a:extLst>
          </p:cNvPr>
          <p:cNvSpPr/>
          <p:nvPr/>
        </p:nvSpPr>
        <p:spPr>
          <a:xfrm>
            <a:off x="238596" y="574166"/>
            <a:ext cx="3158773"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Rectangle 10">
            <a:extLst>
              <a:ext uri="{FF2B5EF4-FFF2-40B4-BE49-F238E27FC236}">
                <a16:creationId xmlns:a16="http://schemas.microsoft.com/office/drawing/2014/main" id="{91FCEA66-4056-69B3-D671-30AA3D91681B}"/>
              </a:ext>
            </a:extLst>
          </p:cNvPr>
          <p:cNvSpPr/>
          <p:nvPr/>
        </p:nvSpPr>
        <p:spPr>
          <a:xfrm>
            <a:off x="3541610" y="574167"/>
            <a:ext cx="3111891"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Rectangle 15">
            <a:extLst>
              <a:ext uri="{FF2B5EF4-FFF2-40B4-BE49-F238E27FC236}">
                <a16:creationId xmlns:a16="http://schemas.microsoft.com/office/drawing/2014/main" id="{4D4F1F7B-717D-8C61-8D35-99062B3F40D8}"/>
              </a:ext>
            </a:extLst>
          </p:cNvPr>
          <p:cNvSpPr/>
          <p:nvPr/>
        </p:nvSpPr>
        <p:spPr>
          <a:xfrm>
            <a:off x="214533" y="5369464"/>
            <a:ext cx="3158773"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tangle 16">
            <a:extLst>
              <a:ext uri="{FF2B5EF4-FFF2-40B4-BE49-F238E27FC236}">
                <a16:creationId xmlns:a16="http://schemas.microsoft.com/office/drawing/2014/main" id="{9B3EA5B1-D044-0C79-6F18-29F75DF962BC}"/>
              </a:ext>
            </a:extLst>
          </p:cNvPr>
          <p:cNvSpPr/>
          <p:nvPr/>
        </p:nvSpPr>
        <p:spPr>
          <a:xfrm>
            <a:off x="3543418" y="5369465"/>
            <a:ext cx="3086019"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Rectangle 18">
            <a:extLst>
              <a:ext uri="{FF2B5EF4-FFF2-40B4-BE49-F238E27FC236}">
                <a16:creationId xmlns:a16="http://schemas.microsoft.com/office/drawing/2014/main" id="{024A63CB-61CF-D593-7247-6F0FD184CFF9}"/>
              </a:ext>
            </a:extLst>
          </p:cNvPr>
          <p:cNvSpPr/>
          <p:nvPr/>
        </p:nvSpPr>
        <p:spPr>
          <a:xfrm>
            <a:off x="1141656" y="439599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0" name="Rectangle 19">
            <a:extLst>
              <a:ext uri="{FF2B5EF4-FFF2-40B4-BE49-F238E27FC236}">
                <a16:creationId xmlns:a16="http://schemas.microsoft.com/office/drawing/2014/main" id="{4E0CCDE8-B32E-0D24-27EB-0D934C93CE2E}"/>
              </a:ext>
            </a:extLst>
          </p:cNvPr>
          <p:cNvSpPr/>
          <p:nvPr/>
        </p:nvSpPr>
        <p:spPr>
          <a:xfrm>
            <a:off x="1928679" y="439287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AF794A66-8A20-4DE5-E15E-897CFC46D6C3}"/>
                  </a:ext>
                </a:extLst>
              </p:cNvPr>
              <p:cNvSpPr/>
              <p:nvPr/>
            </p:nvSpPr>
            <p:spPr>
              <a:xfrm>
                <a:off x="654421" y="435302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1" name="Rectangle 20">
                <a:extLst>
                  <a:ext uri="{FF2B5EF4-FFF2-40B4-BE49-F238E27FC236}">
                    <a16:creationId xmlns:a16="http://schemas.microsoft.com/office/drawing/2014/main" id="{AF794A66-8A20-4DE5-E15E-897CFC46D6C3}"/>
                  </a:ext>
                </a:extLst>
              </p:cNvPr>
              <p:cNvSpPr>
                <a:spLocks noRot="1" noChangeAspect="1" noMove="1" noResize="1" noEditPoints="1" noAdjustHandles="1" noChangeArrowheads="1" noChangeShapeType="1" noTextEdit="1"/>
              </p:cNvSpPr>
              <p:nvPr/>
            </p:nvSpPr>
            <p:spPr>
              <a:xfrm>
                <a:off x="654421" y="4353027"/>
                <a:ext cx="1381880" cy="369332"/>
              </a:xfrm>
              <a:prstGeom prst="rect">
                <a:avLst/>
              </a:prstGeom>
              <a:blipFill>
                <a:blip r:embed="rId2"/>
                <a:stretch>
                  <a:fillRect r="-12335" b="-16393"/>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796F8A53-A35A-8E24-8188-CB65C0EF7BE5}"/>
              </a:ext>
            </a:extLst>
          </p:cNvPr>
          <p:cNvSpPr/>
          <p:nvPr/>
        </p:nvSpPr>
        <p:spPr>
          <a:xfrm>
            <a:off x="5445774" y="4396729"/>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3" name="Rectangle 22">
            <a:extLst>
              <a:ext uri="{FF2B5EF4-FFF2-40B4-BE49-F238E27FC236}">
                <a16:creationId xmlns:a16="http://schemas.microsoft.com/office/drawing/2014/main" id="{14EEF05E-AF73-D95D-DD68-00D86C296F09}"/>
              </a:ext>
            </a:extLst>
          </p:cNvPr>
          <p:cNvSpPr/>
          <p:nvPr/>
        </p:nvSpPr>
        <p:spPr>
          <a:xfrm>
            <a:off x="6232797" y="4393611"/>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8AB4BBE8-653C-F905-122E-6591C2056EFA}"/>
                  </a:ext>
                </a:extLst>
              </p:cNvPr>
              <p:cNvSpPr/>
              <p:nvPr/>
            </p:nvSpPr>
            <p:spPr>
              <a:xfrm>
                <a:off x="4958539" y="4353763"/>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4" name="Rectangle 23">
                <a:extLst>
                  <a:ext uri="{FF2B5EF4-FFF2-40B4-BE49-F238E27FC236}">
                    <a16:creationId xmlns:a16="http://schemas.microsoft.com/office/drawing/2014/main" id="{8AB4BBE8-653C-F905-122E-6591C2056EFA}"/>
                  </a:ext>
                </a:extLst>
              </p:cNvPr>
              <p:cNvSpPr>
                <a:spLocks noRot="1" noChangeAspect="1" noMove="1" noResize="1" noEditPoints="1" noAdjustHandles="1" noChangeArrowheads="1" noChangeShapeType="1" noTextEdit="1"/>
              </p:cNvSpPr>
              <p:nvPr/>
            </p:nvSpPr>
            <p:spPr>
              <a:xfrm>
                <a:off x="4958539" y="4353763"/>
                <a:ext cx="1381880" cy="369332"/>
              </a:xfrm>
              <a:prstGeom prst="rect">
                <a:avLst/>
              </a:prstGeom>
              <a:blipFill>
                <a:blip r:embed="rId2"/>
                <a:stretch>
                  <a:fillRect r="-12335" b="-16393"/>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A8908DFF-A4AA-C424-A10B-D690C854D8EE}"/>
              </a:ext>
            </a:extLst>
          </p:cNvPr>
          <p:cNvSpPr/>
          <p:nvPr/>
        </p:nvSpPr>
        <p:spPr>
          <a:xfrm>
            <a:off x="1141656" y="912966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9" name="Rectangle 28">
            <a:extLst>
              <a:ext uri="{FF2B5EF4-FFF2-40B4-BE49-F238E27FC236}">
                <a16:creationId xmlns:a16="http://schemas.microsoft.com/office/drawing/2014/main" id="{63468ED3-3535-89B8-E23D-B7CE60551D15}"/>
              </a:ext>
            </a:extLst>
          </p:cNvPr>
          <p:cNvSpPr/>
          <p:nvPr/>
        </p:nvSpPr>
        <p:spPr>
          <a:xfrm>
            <a:off x="1928679" y="912655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9EC73212-F8F8-DD65-E014-8F0BD25DC111}"/>
                  </a:ext>
                </a:extLst>
              </p:cNvPr>
              <p:cNvSpPr/>
              <p:nvPr/>
            </p:nvSpPr>
            <p:spPr>
              <a:xfrm>
                <a:off x="654421" y="908670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0" name="Rectangle 29">
                <a:extLst>
                  <a:ext uri="{FF2B5EF4-FFF2-40B4-BE49-F238E27FC236}">
                    <a16:creationId xmlns:a16="http://schemas.microsoft.com/office/drawing/2014/main" id="{9EC73212-F8F8-DD65-E014-8F0BD25DC111}"/>
                  </a:ext>
                </a:extLst>
              </p:cNvPr>
              <p:cNvSpPr>
                <a:spLocks noRot="1" noChangeAspect="1" noMove="1" noResize="1" noEditPoints="1" noAdjustHandles="1" noChangeArrowheads="1" noChangeShapeType="1" noTextEdit="1"/>
              </p:cNvSpPr>
              <p:nvPr/>
            </p:nvSpPr>
            <p:spPr>
              <a:xfrm>
                <a:off x="654421" y="9086702"/>
                <a:ext cx="1381880" cy="369332"/>
              </a:xfrm>
              <a:prstGeom prst="rect">
                <a:avLst/>
              </a:prstGeom>
              <a:blipFill>
                <a:blip r:embed="rId3"/>
                <a:stretch>
                  <a:fillRect r="-12335" b="-16667"/>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DE386EC6-F7EE-DCC0-10FB-5775EC5133EF}"/>
              </a:ext>
            </a:extLst>
          </p:cNvPr>
          <p:cNvSpPr/>
          <p:nvPr/>
        </p:nvSpPr>
        <p:spPr>
          <a:xfrm>
            <a:off x="5445774" y="9130404"/>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2" name="Rectangle 31">
            <a:extLst>
              <a:ext uri="{FF2B5EF4-FFF2-40B4-BE49-F238E27FC236}">
                <a16:creationId xmlns:a16="http://schemas.microsoft.com/office/drawing/2014/main" id="{C8F39C9A-7D57-1A93-E0EC-FD896FA3AE54}"/>
              </a:ext>
            </a:extLst>
          </p:cNvPr>
          <p:cNvSpPr/>
          <p:nvPr/>
        </p:nvSpPr>
        <p:spPr>
          <a:xfrm>
            <a:off x="6232797" y="9127286"/>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45530A2D-D4D8-E70B-1DCD-F8A38A8814AF}"/>
                  </a:ext>
                </a:extLst>
              </p:cNvPr>
              <p:cNvSpPr/>
              <p:nvPr/>
            </p:nvSpPr>
            <p:spPr>
              <a:xfrm>
                <a:off x="4958539" y="9087438"/>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3" name="Rectangle 32">
                <a:extLst>
                  <a:ext uri="{FF2B5EF4-FFF2-40B4-BE49-F238E27FC236}">
                    <a16:creationId xmlns:a16="http://schemas.microsoft.com/office/drawing/2014/main" id="{45530A2D-D4D8-E70B-1DCD-F8A38A8814AF}"/>
                  </a:ext>
                </a:extLst>
              </p:cNvPr>
              <p:cNvSpPr>
                <a:spLocks noRot="1" noChangeAspect="1" noMove="1" noResize="1" noEditPoints="1" noAdjustHandles="1" noChangeArrowheads="1" noChangeShapeType="1" noTextEdit="1"/>
              </p:cNvSpPr>
              <p:nvPr/>
            </p:nvSpPr>
            <p:spPr>
              <a:xfrm>
                <a:off x="4958539" y="9087438"/>
                <a:ext cx="1381880" cy="369332"/>
              </a:xfrm>
              <a:prstGeom prst="rect">
                <a:avLst/>
              </a:prstGeom>
              <a:blipFill>
                <a:blip r:embed="rId3"/>
                <a:stretch>
                  <a:fillRect r="-12335" b="-16667"/>
                </a:stretch>
              </a:blipFill>
            </p:spPr>
            <p:txBody>
              <a:bodyPr/>
              <a:lstStyle/>
              <a:p>
                <a:r>
                  <a:rPr lang="en-US">
                    <a:noFill/>
                  </a:rPr>
                  <a:t> </a:t>
                </a:r>
              </a:p>
            </p:txBody>
          </p:sp>
        </mc:Fallback>
      </mc:AlternateContent>
      <p:sp>
        <p:nvSpPr>
          <p:cNvPr id="38" name="Rectangle 37">
            <a:extLst>
              <a:ext uri="{FF2B5EF4-FFF2-40B4-BE49-F238E27FC236}">
                <a16:creationId xmlns:a16="http://schemas.microsoft.com/office/drawing/2014/main" id="{DD14BE83-B27F-6C6F-F2FA-D9A36BEABD39}"/>
              </a:ext>
            </a:extLst>
          </p:cNvPr>
          <p:cNvSpPr/>
          <p:nvPr/>
        </p:nvSpPr>
        <p:spPr>
          <a:xfrm>
            <a:off x="1143744" y="398472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9" name="Rectangle 38">
            <a:extLst>
              <a:ext uri="{FF2B5EF4-FFF2-40B4-BE49-F238E27FC236}">
                <a16:creationId xmlns:a16="http://schemas.microsoft.com/office/drawing/2014/main" id="{0FEC21A9-6A0E-7323-0B68-9C306A958B6B}"/>
              </a:ext>
            </a:extLst>
          </p:cNvPr>
          <p:cNvSpPr/>
          <p:nvPr/>
        </p:nvSpPr>
        <p:spPr>
          <a:xfrm>
            <a:off x="1930767" y="398160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D27CAEEA-F5E6-2E97-0706-539F95B5FC6F}"/>
                  </a:ext>
                </a:extLst>
              </p:cNvPr>
              <p:cNvSpPr/>
              <p:nvPr/>
            </p:nvSpPr>
            <p:spPr>
              <a:xfrm>
                <a:off x="656509" y="394175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0" name="Rectangle 39">
                <a:extLst>
                  <a:ext uri="{FF2B5EF4-FFF2-40B4-BE49-F238E27FC236}">
                    <a16:creationId xmlns:a16="http://schemas.microsoft.com/office/drawing/2014/main" id="{D27CAEEA-F5E6-2E97-0706-539F95B5FC6F}"/>
                  </a:ext>
                </a:extLst>
              </p:cNvPr>
              <p:cNvSpPr>
                <a:spLocks noRot="1" noChangeAspect="1" noMove="1" noResize="1" noEditPoints="1" noAdjustHandles="1" noChangeArrowheads="1" noChangeShapeType="1" noTextEdit="1"/>
              </p:cNvSpPr>
              <p:nvPr/>
            </p:nvSpPr>
            <p:spPr>
              <a:xfrm>
                <a:off x="656509" y="3941757"/>
                <a:ext cx="1381880" cy="369332"/>
              </a:xfrm>
              <a:prstGeom prst="rect">
                <a:avLst/>
              </a:prstGeom>
              <a:blipFill>
                <a:blip r:embed="rId3"/>
                <a:stretch>
                  <a:fillRect r="-12832" b="-16667"/>
                </a:stretch>
              </a:blipFill>
            </p:spPr>
            <p:txBody>
              <a:bodyPr/>
              <a:lstStyle/>
              <a:p>
                <a:r>
                  <a:rPr lang="en-US">
                    <a:noFill/>
                  </a:rPr>
                  <a:t> </a:t>
                </a:r>
              </a:p>
            </p:txBody>
          </p:sp>
        </mc:Fallback>
      </mc:AlternateContent>
      <p:sp>
        <p:nvSpPr>
          <p:cNvPr id="41" name="Rectangle 40">
            <a:extLst>
              <a:ext uri="{FF2B5EF4-FFF2-40B4-BE49-F238E27FC236}">
                <a16:creationId xmlns:a16="http://schemas.microsoft.com/office/drawing/2014/main" id="{589E3B4F-8815-61DF-E7C3-5C8007C62241}"/>
              </a:ext>
            </a:extLst>
          </p:cNvPr>
          <p:cNvSpPr/>
          <p:nvPr/>
        </p:nvSpPr>
        <p:spPr>
          <a:xfrm>
            <a:off x="5455335" y="399725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42" name="Rectangle 41">
            <a:extLst>
              <a:ext uri="{FF2B5EF4-FFF2-40B4-BE49-F238E27FC236}">
                <a16:creationId xmlns:a16="http://schemas.microsoft.com/office/drawing/2014/main" id="{03DD2624-3CFE-F61D-7667-E89D19BE4C8F}"/>
              </a:ext>
            </a:extLst>
          </p:cNvPr>
          <p:cNvSpPr/>
          <p:nvPr/>
        </p:nvSpPr>
        <p:spPr>
          <a:xfrm>
            <a:off x="6242358" y="3994132"/>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6D8F0AF7-1271-070E-A10E-2CC845D9B83C}"/>
                  </a:ext>
                </a:extLst>
              </p:cNvPr>
              <p:cNvSpPr/>
              <p:nvPr/>
            </p:nvSpPr>
            <p:spPr>
              <a:xfrm>
                <a:off x="4968100" y="3954284"/>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3" name="Rectangle 42">
                <a:extLst>
                  <a:ext uri="{FF2B5EF4-FFF2-40B4-BE49-F238E27FC236}">
                    <a16:creationId xmlns:a16="http://schemas.microsoft.com/office/drawing/2014/main" id="{6D8F0AF7-1271-070E-A10E-2CC845D9B83C}"/>
                  </a:ext>
                </a:extLst>
              </p:cNvPr>
              <p:cNvSpPr>
                <a:spLocks noRot="1" noChangeAspect="1" noMove="1" noResize="1" noEditPoints="1" noAdjustHandles="1" noChangeArrowheads="1" noChangeShapeType="1" noTextEdit="1"/>
              </p:cNvSpPr>
              <p:nvPr/>
            </p:nvSpPr>
            <p:spPr>
              <a:xfrm>
                <a:off x="4968100" y="3954284"/>
                <a:ext cx="1381880" cy="369332"/>
              </a:xfrm>
              <a:prstGeom prst="rect">
                <a:avLst/>
              </a:prstGeom>
              <a:blipFill>
                <a:blip r:embed="rId3"/>
                <a:stretch>
                  <a:fillRect r="-12335" b="-16667"/>
                </a:stretch>
              </a:blipFill>
            </p:spPr>
            <p:txBody>
              <a:bodyPr/>
              <a:lstStyle/>
              <a:p>
                <a:r>
                  <a:rPr lang="en-US">
                    <a:noFill/>
                  </a:rPr>
                  <a:t> </a:t>
                </a:r>
              </a:p>
            </p:txBody>
          </p:sp>
        </mc:Fallback>
      </mc:AlternateContent>
      <p:sp>
        <p:nvSpPr>
          <p:cNvPr id="47" name="Rectangle 46">
            <a:extLst>
              <a:ext uri="{FF2B5EF4-FFF2-40B4-BE49-F238E27FC236}">
                <a16:creationId xmlns:a16="http://schemas.microsoft.com/office/drawing/2014/main" id="{5595F79F-61E1-4D59-38FD-003A5053BAA2}"/>
              </a:ext>
            </a:extLst>
          </p:cNvPr>
          <p:cNvSpPr/>
          <p:nvPr/>
        </p:nvSpPr>
        <p:spPr>
          <a:xfrm>
            <a:off x="1131218" y="874460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48" name="Rectangle 47">
            <a:extLst>
              <a:ext uri="{FF2B5EF4-FFF2-40B4-BE49-F238E27FC236}">
                <a16:creationId xmlns:a16="http://schemas.microsoft.com/office/drawing/2014/main" id="{70B49EAD-9B1E-A091-4315-2D476B71D691}"/>
              </a:ext>
            </a:extLst>
          </p:cNvPr>
          <p:cNvSpPr/>
          <p:nvPr/>
        </p:nvSpPr>
        <p:spPr>
          <a:xfrm>
            <a:off x="1918241" y="874148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4A9C764C-A6A5-2A07-F060-5875B09F4535}"/>
                  </a:ext>
                </a:extLst>
              </p:cNvPr>
              <p:cNvSpPr/>
              <p:nvPr/>
            </p:nvSpPr>
            <p:spPr>
              <a:xfrm>
                <a:off x="643983" y="870163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9" name="Rectangle 48">
                <a:extLst>
                  <a:ext uri="{FF2B5EF4-FFF2-40B4-BE49-F238E27FC236}">
                    <a16:creationId xmlns:a16="http://schemas.microsoft.com/office/drawing/2014/main" id="{4A9C764C-A6A5-2A07-F060-5875B09F4535}"/>
                  </a:ext>
                </a:extLst>
              </p:cNvPr>
              <p:cNvSpPr>
                <a:spLocks noRot="1" noChangeAspect="1" noMove="1" noResize="1" noEditPoints="1" noAdjustHandles="1" noChangeArrowheads="1" noChangeShapeType="1" noTextEdit="1"/>
              </p:cNvSpPr>
              <p:nvPr/>
            </p:nvSpPr>
            <p:spPr>
              <a:xfrm>
                <a:off x="643983" y="8701637"/>
                <a:ext cx="1381880" cy="369332"/>
              </a:xfrm>
              <a:prstGeom prst="rect">
                <a:avLst/>
              </a:prstGeom>
              <a:blipFill>
                <a:blip r:embed="rId2"/>
                <a:stretch>
                  <a:fillRect r="-12832" b="-16393"/>
                </a:stretch>
              </a:blipFill>
            </p:spPr>
            <p:txBody>
              <a:bodyPr/>
              <a:lstStyle/>
              <a:p>
                <a:r>
                  <a:rPr lang="en-US">
                    <a:noFill/>
                  </a:rPr>
                  <a:t> </a:t>
                </a:r>
              </a:p>
            </p:txBody>
          </p:sp>
        </mc:Fallback>
      </mc:AlternateContent>
      <p:sp>
        <p:nvSpPr>
          <p:cNvPr id="50" name="Rectangle 49">
            <a:extLst>
              <a:ext uri="{FF2B5EF4-FFF2-40B4-BE49-F238E27FC236}">
                <a16:creationId xmlns:a16="http://schemas.microsoft.com/office/drawing/2014/main" id="{484354B6-13F3-CDEB-35C8-AF65370693F5}"/>
              </a:ext>
            </a:extLst>
          </p:cNvPr>
          <p:cNvSpPr/>
          <p:nvPr/>
        </p:nvSpPr>
        <p:spPr>
          <a:xfrm>
            <a:off x="5455335" y="873207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51" name="Rectangle 50">
            <a:extLst>
              <a:ext uri="{FF2B5EF4-FFF2-40B4-BE49-F238E27FC236}">
                <a16:creationId xmlns:a16="http://schemas.microsoft.com/office/drawing/2014/main" id="{25BF7E23-02F0-4911-070F-BCE2E6051F26}"/>
              </a:ext>
            </a:extLst>
          </p:cNvPr>
          <p:cNvSpPr/>
          <p:nvPr/>
        </p:nvSpPr>
        <p:spPr>
          <a:xfrm>
            <a:off x="6242358" y="872896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1D525C5A-8154-D016-F6AA-2340774DBB49}"/>
                  </a:ext>
                </a:extLst>
              </p:cNvPr>
              <p:cNvSpPr/>
              <p:nvPr/>
            </p:nvSpPr>
            <p:spPr>
              <a:xfrm>
                <a:off x="4968100" y="868911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52" name="Rectangle 51">
                <a:extLst>
                  <a:ext uri="{FF2B5EF4-FFF2-40B4-BE49-F238E27FC236}">
                    <a16:creationId xmlns:a16="http://schemas.microsoft.com/office/drawing/2014/main" id="{1D525C5A-8154-D016-F6AA-2340774DBB49}"/>
                  </a:ext>
                </a:extLst>
              </p:cNvPr>
              <p:cNvSpPr>
                <a:spLocks noRot="1" noChangeAspect="1" noMove="1" noResize="1" noEditPoints="1" noAdjustHandles="1" noChangeArrowheads="1" noChangeShapeType="1" noTextEdit="1"/>
              </p:cNvSpPr>
              <p:nvPr/>
            </p:nvSpPr>
            <p:spPr>
              <a:xfrm>
                <a:off x="4968100" y="8689112"/>
                <a:ext cx="1381880" cy="369332"/>
              </a:xfrm>
              <a:prstGeom prst="rect">
                <a:avLst/>
              </a:prstGeom>
              <a:blipFill>
                <a:blip r:embed="rId2"/>
                <a:stretch>
                  <a:fillRect r="-12335" b="-1639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FCD479D7-417F-07F5-FFBD-A8ACE1148C59}"/>
              </a:ext>
            </a:extLst>
          </p:cNvPr>
          <p:cNvSpPr>
            <a:spLocks noGrp="1"/>
          </p:cNvSpPr>
          <p:nvPr>
            <p:ph type="sldNum" sz="quarter" idx="12"/>
          </p:nvPr>
        </p:nvSpPr>
        <p:spPr>
          <a:xfrm>
            <a:off x="5248693" y="9393111"/>
            <a:ext cx="1543050" cy="527403"/>
          </a:xfrm>
        </p:spPr>
        <p:txBody>
          <a:bodyPr/>
          <a:lstStyle/>
          <a:p>
            <a:fld id="{19F1D9CC-7119-45EC-A96C-D8C0660F3AAB}" type="slidenum">
              <a:rPr lang="en-GB" noProof="0" smtClean="0"/>
              <a:t>65</a:t>
            </a:fld>
            <a:endParaRPr lang="en-GB" noProof="0" dirty="0"/>
          </a:p>
        </p:txBody>
      </p:sp>
      <mc:AlternateContent xmlns:mc="http://schemas.openxmlformats.org/markup-compatibility/2006" xmlns:a14="http://schemas.microsoft.com/office/drawing/2010/main">
        <mc:Choice Requires="a14">
          <p:sp>
            <p:nvSpPr>
              <p:cNvPr id="57" name="TextBox 56"/>
              <p:cNvSpPr txBox="1"/>
              <p:nvPr/>
            </p:nvSpPr>
            <p:spPr>
              <a:xfrm>
                <a:off x="1918241" y="81987"/>
                <a:ext cx="1185837" cy="461665"/>
              </a:xfrm>
              <a:prstGeom prst="rect">
                <a:avLst/>
              </a:prstGeom>
              <a:noFill/>
            </p:spPr>
            <p:txBody>
              <a:bodyPr wrap="none" rtlCol="0">
                <a:spAutoFit/>
              </a:bodyPr>
              <a:lstStyle/>
              <a:p>
                <a:pPr lvl="0" algn="ctr" defTabSz="685800">
                  <a:defRPr/>
                </a:pPr>
                <a:r>
                  <a:rPr lang="en-GB" sz="1200" noProof="0" dirty="0"/>
                  <a:t>a)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𝑥𝑦</m:t>
                    </m:r>
                    <m:r>
                      <a:rPr lang="en-GB" sz="1200" b="0" i="1" noProof="0" smtClean="0">
                        <a:latin typeface="Cambria Math" panose="02040503050406030204" pitchFamily="18" charset="0"/>
                        <a:cs typeface="Calibri" panose="020F0502020204030204" pitchFamily="34" charset="0"/>
                      </a:rPr>
                      <m:t>=24</m:t>
                    </m:r>
                  </m:oMath>
                </a14:m>
                <a:endParaRPr lang="en-GB" sz="1200" b="0" noProof="0" dirty="0">
                  <a:cs typeface="Calibri" panose="020F0502020204030204" pitchFamily="34" charset="0"/>
                </a:endParaRPr>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       </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p:txBody>
          </p:sp>
        </mc:Choice>
        <mc:Fallback xmlns="">
          <p:sp>
            <p:nvSpPr>
              <p:cNvPr id="57" name="TextBox 56"/>
              <p:cNvSpPr txBox="1">
                <a:spLocks noRot="1" noChangeAspect="1" noMove="1" noResize="1" noEditPoints="1" noAdjustHandles="1" noChangeArrowheads="1" noChangeShapeType="1" noTextEdit="1"/>
              </p:cNvSpPr>
              <p:nvPr/>
            </p:nvSpPr>
            <p:spPr>
              <a:xfrm>
                <a:off x="1918241" y="81987"/>
                <a:ext cx="1185837"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3634809" y="98525"/>
                <a:ext cx="1231876" cy="461665"/>
              </a:xfrm>
              <a:prstGeom prst="rect">
                <a:avLst/>
              </a:prstGeom>
              <a:noFill/>
            </p:spPr>
            <p:txBody>
              <a:bodyPr wrap="none" rtlCol="0">
                <a:spAutoFit/>
              </a:bodyPr>
              <a:lstStyle/>
              <a:p>
                <a:pPr lvl="0" algn="ctr" defTabSz="685800">
                  <a:defRPr/>
                </a:pPr>
                <a:r>
                  <a:rPr lang="en-GB" sz="1200" noProof="0" dirty="0"/>
                  <a:t>b) 	</a:t>
                </a:r>
                <a14:m>
                  <m:oMath xmlns:m="http://schemas.openxmlformats.org/officeDocument/2006/math">
                    <m:r>
                      <a:rPr lang="en-GB" sz="1200" b="0" i="1" noProof="0" smtClean="0">
                        <a:latin typeface="Cambria Math" panose="02040503050406030204" pitchFamily="18" charset="0"/>
                      </a:rPr>
                      <m:t>𝑥𝑦</m:t>
                    </m:r>
                    <m:r>
                      <a:rPr lang="en-GB" sz="1200" b="0" i="1" noProof="0" smtClean="0">
                        <a:latin typeface="Cambria Math" panose="02040503050406030204" pitchFamily="18" charset="0"/>
                      </a:rPr>
                      <m:t>=12</m:t>
                    </m:r>
                  </m:oMath>
                </a14:m>
                <a:endParaRPr lang="en-GB" sz="1200" b="0" noProof="0" dirty="0"/>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        2</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+5</m:t>
                      </m:r>
                    </m:oMath>
                  </m:oMathPara>
                </a14:m>
                <a:endParaRPr lang="en-GB" sz="1200" b="0" noProof="0" dirty="0"/>
              </a:p>
            </p:txBody>
          </p:sp>
        </mc:Choice>
        <mc:Fallback xmlns="">
          <p:sp>
            <p:nvSpPr>
              <p:cNvPr id="58" name="TextBox 57"/>
              <p:cNvSpPr txBox="1">
                <a:spLocks noRot="1" noChangeAspect="1" noMove="1" noResize="1" noEditPoints="1" noAdjustHandles="1" noChangeArrowheads="1" noChangeShapeType="1" noTextEdit="1"/>
              </p:cNvSpPr>
              <p:nvPr/>
            </p:nvSpPr>
            <p:spPr>
              <a:xfrm>
                <a:off x="3634809" y="98525"/>
                <a:ext cx="1231876" cy="461665"/>
              </a:xfrm>
              <a:prstGeom prst="rect">
                <a:avLst/>
              </a:prstGeom>
              <a:blipFill>
                <a:blip r:embed="rId5"/>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97532" y="4818805"/>
                <a:ext cx="1232325" cy="461665"/>
              </a:xfrm>
              <a:prstGeom prst="rect">
                <a:avLst/>
              </a:prstGeom>
              <a:noFill/>
            </p:spPr>
            <p:txBody>
              <a:bodyPr wrap="none" rtlCol="0">
                <a:spAutoFit/>
              </a:bodyPr>
              <a:lstStyle/>
              <a:p>
                <a:pPr lvl="0" algn="ctr" defTabSz="685800">
                  <a:defRPr/>
                </a:pPr>
                <a:r>
                  <a:rPr lang="en-GB" sz="1200" noProof="0" dirty="0"/>
                  <a:t>c) </a:t>
                </a:r>
                <a14:m>
                  <m:oMath xmlns:m="http://schemas.openxmlformats.org/officeDocument/2006/math">
                    <m:r>
                      <a:rPr lang="en-GB" sz="1200" b="0" i="1" noProof="0" smtClean="0">
                        <a:latin typeface="Cambria Math" panose="02040503050406030204" pitchFamily="18" charset="0"/>
                      </a:rPr>
                      <m:t>𝑥𝑦</m:t>
                    </m:r>
                    <m:r>
                      <a:rPr lang="en-GB" sz="1200" b="0" i="1" noProof="0" smtClean="0">
                        <a:latin typeface="Cambria Math" panose="02040503050406030204" pitchFamily="18" charset="0"/>
                      </a:rPr>
                      <m:t>=12</m:t>
                    </m:r>
                  </m:oMath>
                </a14:m>
                <a:endParaRPr lang="en-GB" sz="1200" b="0" noProof="0" dirty="0"/>
              </a:p>
              <a:p>
                <a:pPr lvl="0" algn="ctr" defTabSz="685800">
                  <a:defRPr/>
                </a:pPr>
                <a:r>
                  <a:rPr lang="en-GB" sz="1200" b="0" noProof="0" dirty="0"/>
                  <a:t>         </a:t>
                </a:r>
                <a14:m>
                  <m:oMath xmlns:m="http://schemas.openxmlformats.org/officeDocument/2006/math">
                    <m:r>
                      <a:rPr lang="en-GB" sz="1200" b="0" i="1" noProof="0" smtClean="0">
                        <a:latin typeface="Cambria Math" panose="02040503050406030204" pitchFamily="18" charset="0"/>
                      </a:rPr>
                      <m:t>2</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−5</m:t>
                    </m:r>
                  </m:oMath>
                </a14:m>
                <a:endParaRPr lang="en-GB" sz="1200" noProof="0" dirty="0"/>
              </a:p>
            </p:txBody>
          </p:sp>
        </mc:Choice>
        <mc:Fallback xmlns="">
          <p:sp>
            <p:nvSpPr>
              <p:cNvPr id="4" name="TextBox 3"/>
              <p:cNvSpPr txBox="1">
                <a:spLocks noRot="1" noChangeAspect="1" noMove="1" noResize="1" noEditPoints="1" noAdjustHandles="1" noChangeArrowheads="1" noChangeShapeType="1" noTextEdit="1"/>
              </p:cNvSpPr>
              <p:nvPr/>
            </p:nvSpPr>
            <p:spPr>
              <a:xfrm>
                <a:off x="97532" y="4818805"/>
                <a:ext cx="1232325" cy="461665"/>
              </a:xfrm>
              <a:prstGeom prst="rect">
                <a:avLst/>
              </a:prstGeom>
              <a:blipFill>
                <a:blip r:embed="rId6"/>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541610" y="4846384"/>
                <a:ext cx="973344" cy="461665"/>
              </a:xfrm>
              <a:prstGeom prst="rect">
                <a:avLst/>
              </a:prstGeom>
              <a:noFill/>
            </p:spPr>
            <p:txBody>
              <a:bodyPr wrap="none" rtlCol="0">
                <a:spAutoFit/>
              </a:bodyPr>
              <a:lstStyle/>
              <a:p>
                <a:pPr lvl="0" algn="ctr" defTabSz="685800">
                  <a:defRPr/>
                </a:pPr>
                <a:r>
                  <a:rPr lang="en-GB" sz="1200" noProof="0" dirty="0"/>
                  <a:t>d) </a:t>
                </a:r>
                <a14:m>
                  <m:oMath xmlns:m="http://schemas.openxmlformats.org/officeDocument/2006/math">
                    <m:r>
                      <a:rPr lang="en-GB" sz="1200" b="0" i="0" noProof="0" smtClean="0">
                        <a:latin typeface="Cambria Math" panose="02040503050406030204" pitchFamily="18" charset="0"/>
                      </a:rPr>
                      <m:t>4</m:t>
                    </m:r>
                    <m:r>
                      <a:rPr lang="en-GB" sz="1200" b="0" i="1" noProof="0" smtClean="0">
                        <a:latin typeface="Cambria Math" panose="02040503050406030204" pitchFamily="18" charset="0"/>
                      </a:rPr>
                      <m:t>𝑥𝑦</m:t>
                    </m:r>
                    <m:r>
                      <a:rPr lang="en-GB" sz="1200" b="0" i="1" noProof="0" smtClean="0">
                        <a:latin typeface="Cambria Math" panose="02040503050406030204" pitchFamily="18" charset="0"/>
                      </a:rPr>
                      <m:t>=12</m:t>
                    </m:r>
                  </m:oMath>
                </a14:m>
                <a:endParaRPr lang="en-GB" sz="1200" b="0" noProof="0" dirty="0">
                  <a:cs typeface="Calibri" panose="020F0502020204030204" pitchFamily="34" charset="0"/>
                </a:endParaRPr>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m:oMathPara>
                </a14:m>
                <a:endParaRPr lang="en-GB" sz="1200" noProof="0" dirty="0"/>
              </a:p>
            </p:txBody>
          </p:sp>
        </mc:Choice>
        <mc:Fallback xmlns="">
          <p:sp>
            <p:nvSpPr>
              <p:cNvPr id="5" name="TextBox 4"/>
              <p:cNvSpPr txBox="1">
                <a:spLocks noRot="1" noChangeAspect="1" noMove="1" noResize="1" noEditPoints="1" noAdjustHandles="1" noChangeArrowheads="1" noChangeShapeType="1" noTextEdit="1"/>
              </p:cNvSpPr>
              <p:nvPr/>
            </p:nvSpPr>
            <p:spPr>
              <a:xfrm>
                <a:off x="3541610" y="4846384"/>
                <a:ext cx="973344" cy="461665"/>
              </a:xfrm>
              <a:prstGeom prst="rect">
                <a:avLst/>
              </a:prstGeom>
              <a:blipFill>
                <a:blip r:embed="rId7"/>
                <a:stretch>
                  <a:fillRect l="-62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FE95E2EA-00C9-311F-1D1F-731EB66C379A}"/>
              </a:ext>
            </a:extLst>
          </p:cNvPr>
          <p:cNvSpPr txBox="1"/>
          <p:nvPr/>
        </p:nvSpPr>
        <p:spPr>
          <a:xfrm>
            <a:off x="231424" y="87624"/>
            <a:ext cx="1130438" cy="253916"/>
          </a:xfrm>
          <a:prstGeom prst="rect">
            <a:avLst/>
          </a:prstGeom>
          <a:solidFill>
            <a:srgbClr val="0070C0"/>
          </a:solidFill>
        </p:spPr>
        <p:txBody>
          <a:bodyPr wrap="none" lIns="91440" tIns="45720" rIns="91440" bIns="45720" rtlCol="0" anchor="ctr">
            <a:spAutoFit/>
          </a:bodyPr>
          <a:lstStyle/>
          <a:p>
            <a:r>
              <a:rPr lang="en-GB" sz="1050" b="1" noProof="0" dirty="0">
                <a:solidFill>
                  <a:schemeClr val="bg1"/>
                </a:solidFill>
              </a:rPr>
              <a:t>MIXED PRACTICE</a:t>
            </a:r>
          </a:p>
        </p:txBody>
      </p:sp>
    </p:spTree>
    <p:extLst>
      <p:ext uri="{BB962C8B-B14F-4D97-AF65-F5344CB8AC3E}">
        <p14:creationId xmlns:p14="http://schemas.microsoft.com/office/powerpoint/2010/main" val="22190298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D85DE-D963-CCC1-A7FE-9D4EC1ABBF4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6F4ABD4-7637-9C9F-48CE-89A0D4AAC579}"/>
                  </a:ext>
                </a:extLst>
              </p:cNvPr>
              <p:cNvSpPr txBox="1"/>
              <p:nvPr/>
            </p:nvSpPr>
            <p:spPr>
              <a:xfrm>
                <a:off x="235597" y="68688"/>
                <a:ext cx="1293880" cy="461665"/>
              </a:xfrm>
              <a:prstGeom prst="rect">
                <a:avLst/>
              </a:prstGeom>
              <a:noFill/>
            </p:spPr>
            <p:txBody>
              <a:bodyPr wrap="none" rtlCol="0">
                <a:spAutoFit/>
              </a:bodyPr>
              <a:lstStyle/>
              <a:p>
                <a:pPr lvl="0" algn="ctr" defTabSz="685800">
                  <a:defRPr/>
                </a:pPr>
                <a:r>
                  <a:rPr lang="en-GB" sz="1200" noProof="0" dirty="0"/>
                  <a:t>e)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r>
                      <a:rPr lang="en-GB" sz="1200" b="0" i="1" noProof="0" smtClean="0">
                        <a:latin typeface="Cambria Math" panose="02040503050406030204" pitchFamily="18" charset="0"/>
                        <a:cs typeface="Calibri" panose="020F0502020204030204" pitchFamily="34" charset="0"/>
                      </a:rPr>
                      <m:t> </m:t>
                    </m:r>
                    <m:sSup>
                      <m:sSupPr>
                        <m:ctrlPr>
                          <a:rPr lang="en-GB" sz="1200" b="0" i="1" noProof="0" smtClean="0">
                            <a:latin typeface="Cambria Math" panose="02040503050406030204" pitchFamily="18" charset="0"/>
                            <a:cs typeface="Calibri" panose="020F0502020204030204" pitchFamily="34" charset="0"/>
                          </a:rPr>
                        </m:ctrlPr>
                      </m:sSupPr>
                      <m:e>
                        <m:r>
                          <a:rPr lang="en-GB" sz="1200" b="0" i="1" noProof="0" smtClean="0">
                            <a:latin typeface="Cambria Math" panose="02040503050406030204" pitchFamily="18" charset="0"/>
                            <a:cs typeface="Calibri" panose="020F0502020204030204" pitchFamily="34" charset="0"/>
                          </a:rPr>
                          <m:t>𝑥</m:t>
                        </m:r>
                      </m:e>
                      <m:sup>
                        <m:r>
                          <a:rPr lang="en-GB" sz="1200" b="0" i="1" noProof="0" smtClean="0">
                            <a:latin typeface="Cambria Math" panose="02040503050406030204" pitchFamily="18" charset="0"/>
                            <a:cs typeface="Calibri" panose="020F0502020204030204" pitchFamily="34" charset="0"/>
                          </a:rPr>
                          <m:t>2</m:t>
                        </m:r>
                      </m:sup>
                    </m:sSup>
                    <m:r>
                      <a:rPr lang="en-GB" sz="1200" b="0" i="1" noProof="0" smtClean="0">
                        <a:latin typeface="Cambria Math" panose="02040503050406030204" pitchFamily="18" charset="0"/>
                        <a:cs typeface="Calibri" panose="020F0502020204030204" pitchFamily="34" charset="0"/>
                      </a:rPr>
                      <m:t>+</m:t>
                    </m:r>
                    <m:sSup>
                      <m:sSupPr>
                        <m:ctrlPr>
                          <a:rPr lang="en-GB" sz="1200" b="0" i="1" noProof="0" smtClean="0">
                            <a:latin typeface="Cambria Math" panose="02040503050406030204" pitchFamily="18" charset="0"/>
                            <a:cs typeface="Calibri" panose="020F0502020204030204" pitchFamily="34" charset="0"/>
                          </a:rPr>
                        </m:ctrlPr>
                      </m:sSupPr>
                      <m:e>
                        <m:r>
                          <a:rPr lang="en-GB" sz="1200" b="0" i="1" noProof="0" smtClean="0">
                            <a:latin typeface="Cambria Math" panose="02040503050406030204" pitchFamily="18" charset="0"/>
                            <a:cs typeface="Calibri" panose="020F0502020204030204" pitchFamily="34" charset="0"/>
                          </a:rPr>
                          <m:t>𝑦</m:t>
                        </m:r>
                      </m:e>
                      <m:sup>
                        <m:r>
                          <a:rPr lang="en-GB" sz="1200" b="0" i="1" noProof="0" smtClean="0">
                            <a:latin typeface="Cambria Math" panose="02040503050406030204" pitchFamily="18" charset="0"/>
                            <a:cs typeface="Calibri" panose="020F0502020204030204" pitchFamily="34" charset="0"/>
                          </a:rPr>
                          <m:t>2</m:t>
                        </m:r>
                      </m:sup>
                    </m:sSup>
                    <m:r>
                      <a:rPr lang="en-GB" sz="1200" b="0" i="1" noProof="0" smtClean="0">
                        <a:latin typeface="Cambria Math" panose="02040503050406030204" pitchFamily="18" charset="0"/>
                        <a:cs typeface="Calibri" panose="020F0502020204030204" pitchFamily="34" charset="0"/>
                      </a:rPr>
                      <m:t>=25</m:t>
                    </m:r>
                  </m:oMath>
                </a14:m>
                <a:endParaRPr lang="en-GB" sz="1200" b="0" noProof="0" dirty="0">
                  <a:cs typeface="Calibri" panose="020F0502020204030204" pitchFamily="34" charset="0"/>
                </a:endParaRPr>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−5</m:t>
                      </m:r>
                    </m:oMath>
                  </m:oMathPara>
                </a14:m>
                <a:endParaRPr lang="en-GB" sz="1200" noProof="0" dirty="0"/>
              </a:p>
            </p:txBody>
          </p:sp>
        </mc:Choice>
        <mc:Fallback xmlns="">
          <p:sp>
            <p:nvSpPr>
              <p:cNvPr id="7" name="TextBox 6">
                <a:extLst>
                  <a:ext uri="{FF2B5EF4-FFF2-40B4-BE49-F238E27FC236}">
                    <a16:creationId xmlns:a16="http://schemas.microsoft.com/office/drawing/2014/main" id="{26F4ABD4-7637-9C9F-48CE-89A0D4AAC579}"/>
                  </a:ext>
                </a:extLst>
              </p:cNvPr>
              <p:cNvSpPr txBox="1">
                <a:spLocks noRot="1" noChangeAspect="1" noMove="1" noResize="1" noEditPoints="1" noAdjustHandles="1" noChangeArrowheads="1" noChangeShapeType="1" noTextEdit="1"/>
              </p:cNvSpPr>
              <p:nvPr/>
            </p:nvSpPr>
            <p:spPr>
              <a:xfrm>
                <a:off x="235597" y="68688"/>
                <a:ext cx="1293880" cy="46166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4223AE7-2C5E-C059-9995-EBD49E0BAFEF}"/>
                  </a:ext>
                </a:extLst>
              </p:cNvPr>
              <p:cNvSpPr txBox="1"/>
              <p:nvPr/>
            </p:nvSpPr>
            <p:spPr>
              <a:xfrm>
                <a:off x="3671526" y="68688"/>
                <a:ext cx="1283300" cy="461665"/>
              </a:xfrm>
              <a:prstGeom prst="rect">
                <a:avLst/>
              </a:prstGeom>
              <a:noFill/>
            </p:spPr>
            <p:txBody>
              <a:bodyPr wrap="none" rtlCol="0">
                <a:spAutoFit/>
              </a:bodyPr>
              <a:lstStyle/>
              <a:p>
                <a:pPr lvl="0" algn="ctr" defTabSz="685800">
                  <a:defRPr/>
                </a:pPr>
                <a:r>
                  <a:rPr lang="en-GB" sz="1200" noProof="0" dirty="0"/>
                  <a:t>f) </a:t>
                </a:r>
                <a14:m>
                  <m:oMath xmlns:m="http://schemas.openxmlformats.org/officeDocument/2006/math">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2</m:t>
                        </m:r>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𝑦</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=17</m:t>
                    </m:r>
                  </m:oMath>
                </a14:m>
                <a:endParaRPr lang="en-GB" sz="1200" noProof="0" dirty="0"/>
              </a:p>
              <a:p>
                <a:pPr lvl="0" algn="ctr" defTabSz="685800">
                  <a:defRPr/>
                </a:pPr>
                <a14:m>
                  <m:oMathPara xmlns:m="http://schemas.openxmlformats.org/officeDocument/2006/math">
                    <m:oMathParaPr>
                      <m:jc m:val="centerGroup"/>
                    </m:oMathParaPr>
                    <m:oMath xmlns:m="http://schemas.openxmlformats.org/officeDocument/2006/math">
                      <m:r>
                        <a:rPr lang="en-GB" sz="1200" i="1" noProof="0" smtClean="0">
                          <a:latin typeface="Cambria Math" panose="02040503050406030204" pitchFamily="18" charset="0"/>
                        </a:rPr>
                        <m:t>𝑦</m:t>
                      </m:r>
                      <m:r>
                        <a:rPr lang="en-GB" sz="1200" i="1" noProof="0" smtClean="0">
                          <a:latin typeface="Cambria Math" panose="02040503050406030204" pitchFamily="18" charset="0"/>
                        </a:rPr>
                        <m:t>=</m:t>
                      </m:r>
                      <m:r>
                        <a:rPr lang="en-GB" sz="1200" i="1" noProof="0" smtClean="0">
                          <a:latin typeface="Cambria Math" panose="02040503050406030204" pitchFamily="18" charset="0"/>
                        </a:rPr>
                        <m:t>𝑥</m:t>
                      </m:r>
                      <m:r>
                        <a:rPr lang="en-GB" sz="1200" i="1" noProof="0" smtClean="0">
                          <a:latin typeface="Cambria Math" panose="02040503050406030204" pitchFamily="18" charset="0"/>
                        </a:rPr>
                        <m:t>+5</m:t>
                      </m:r>
                    </m:oMath>
                  </m:oMathPara>
                </a14:m>
                <a:endParaRPr lang="en-GB" sz="1200" noProof="0" dirty="0"/>
              </a:p>
            </p:txBody>
          </p:sp>
        </mc:Choice>
        <mc:Fallback xmlns="">
          <p:sp>
            <p:nvSpPr>
              <p:cNvPr id="8" name="TextBox 7">
                <a:extLst>
                  <a:ext uri="{FF2B5EF4-FFF2-40B4-BE49-F238E27FC236}">
                    <a16:creationId xmlns:a16="http://schemas.microsoft.com/office/drawing/2014/main" id="{54223AE7-2C5E-C059-9995-EBD49E0BAFEF}"/>
                  </a:ext>
                </a:extLst>
              </p:cNvPr>
              <p:cNvSpPr txBox="1">
                <a:spLocks noRot="1" noChangeAspect="1" noMove="1" noResize="1" noEditPoints="1" noAdjustHandles="1" noChangeArrowheads="1" noChangeShapeType="1" noTextEdit="1"/>
              </p:cNvSpPr>
              <p:nvPr/>
            </p:nvSpPr>
            <p:spPr>
              <a:xfrm>
                <a:off x="3671526" y="68688"/>
                <a:ext cx="1283300" cy="461665"/>
              </a:xfrm>
              <a:prstGeom prst="rect">
                <a:avLst/>
              </a:prstGeom>
              <a:blipFill>
                <a:blip r:embed="rId3"/>
                <a:stretch>
                  <a:fillRect/>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6676D06D-4236-AE10-A29E-1924B13FC4D9}"/>
              </a:ext>
            </a:extLst>
          </p:cNvPr>
          <p:cNvSpPr/>
          <p:nvPr/>
        </p:nvSpPr>
        <p:spPr>
          <a:xfrm>
            <a:off x="238596" y="574166"/>
            <a:ext cx="3158773"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Rectangle 10">
            <a:extLst>
              <a:ext uri="{FF2B5EF4-FFF2-40B4-BE49-F238E27FC236}">
                <a16:creationId xmlns:a16="http://schemas.microsoft.com/office/drawing/2014/main" id="{2F8F84F2-6951-2EA1-A73C-F10EF64A94EE}"/>
              </a:ext>
            </a:extLst>
          </p:cNvPr>
          <p:cNvSpPr/>
          <p:nvPr/>
        </p:nvSpPr>
        <p:spPr>
          <a:xfrm>
            <a:off x="3541610" y="574167"/>
            <a:ext cx="3111891"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7F55696-5718-CB77-2253-C0760CF7DAB5}"/>
                  </a:ext>
                </a:extLst>
              </p:cNvPr>
              <p:cNvSpPr txBox="1"/>
              <p:nvPr/>
            </p:nvSpPr>
            <p:spPr>
              <a:xfrm>
                <a:off x="194332" y="4846384"/>
                <a:ext cx="1323119" cy="461665"/>
              </a:xfrm>
              <a:prstGeom prst="rect">
                <a:avLst/>
              </a:prstGeom>
              <a:noFill/>
            </p:spPr>
            <p:txBody>
              <a:bodyPr wrap="none" rtlCol="0">
                <a:spAutoFit/>
              </a:bodyPr>
              <a:lstStyle/>
              <a:p>
                <a:pPr lvl="0" algn="ctr" defTabSz="685800">
                  <a:defRPr/>
                </a:pPr>
                <a:r>
                  <a:rPr lang="en-GB" sz="1200" noProof="0" dirty="0"/>
                  <a:t>g)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𝑦</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=10</m:t>
                    </m:r>
                  </m:oMath>
                </a14:m>
                <a:endParaRPr lang="en-GB" sz="1200" b="0" noProof="0" dirty="0"/>
              </a:p>
              <a:p>
                <a:pPr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0" noProof="0" smtClean="0">
                          <a:latin typeface="Cambria Math" panose="02040503050406030204" pitchFamily="18" charset="0"/>
                        </a:rPr>
                        <m:t>=2</m:t>
                      </m:r>
                      <m:r>
                        <a:rPr lang="en-GB" sz="1200" i="1" noProof="0" smtClean="0">
                          <a:latin typeface="Cambria Math" panose="02040503050406030204" pitchFamily="18" charset="0"/>
                        </a:rPr>
                        <m:t>𝑥</m:t>
                      </m:r>
                      <m:r>
                        <a:rPr lang="en-GB" sz="1200" b="0" i="0" noProof="0" smtClean="0">
                          <a:latin typeface="Cambria Math" panose="02040503050406030204" pitchFamily="18" charset="0"/>
                        </a:rPr>
                        <m:t>−5</m:t>
                      </m:r>
                    </m:oMath>
                  </m:oMathPara>
                </a14:m>
                <a:endParaRPr lang="en-GB" sz="1200" noProof="0" dirty="0"/>
              </a:p>
            </p:txBody>
          </p:sp>
        </mc:Choice>
        <mc:Fallback xmlns="">
          <p:sp>
            <p:nvSpPr>
              <p:cNvPr id="13" name="TextBox 12">
                <a:extLst>
                  <a:ext uri="{FF2B5EF4-FFF2-40B4-BE49-F238E27FC236}">
                    <a16:creationId xmlns:a16="http://schemas.microsoft.com/office/drawing/2014/main" id="{57F55696-5718-CB77-2253-C0760CF7DAB5}"/>
                  </a:ext>
                </a:extLst>
              </p:cNvPr>
              <p:cNvSpPr txBox="1">
                <a:spLocks noRot="1" noChangeAspect="1" noMove="1" noResize="1" noEditPoints="1" noAdjustHandles="1" noChangeArrowheads="1" noChangeShapeType="1" noTextEdit="1"/>
              </p:cNvSpPr>
              <p:nvPr/>
            </p:nvSpPr>
            <p:spPr>
              <a:xfrm>
                <a:off x="194332" y="4846384"/>
                <a:ext cx="1323119"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E8A6B0C-37B5-F075-1647-44DD3A9527CC}"/>
                  </a:ext>
                </a:extLst>
              </p:cNvPr>
              <p:cNvSpPr txBox="1"/>
              <p:nvPr/>
            </p:nvSpPr>
            <p:spPr>
              <a:xfrm>
                <a:off x="3618717" y="4846384"/>
                <a:ext cx="1335622" cy="646331"/>
              </a:xfrm>
              <a:prstGeom prst="rect">
                <a:avLst/>
              </a:prstGeom>
              <a:noFill/>
            </p:spPr>
            <p:txBody>
              <a:bodyPr wrap="none" rtlCol="0">
                <a:spAutoFit/>
              </a:bodyPr>
              <a:lstStyle/>
              <a:p>
                <a:pPr lvl="0" algn="ctr" defTabSz="685800">
                  <a:defRPr/>
                </a:pPr>
                <a:r>
                  <a:rPr lang="en-GB" sz="1200" noProof="0" dirty="0"/>
                  <a:t>h) </a:t>
                </a:r>
                <a14:m>
                  <m:oMath xmlns:m="http://schemas.openxmlformats.org/officeDocument/2006/math">
                    <m:r>
                      <a:rPr lang="en-GB" sz="1200" b="0" i="0" noProof="0" smtClean="0">
                        <a:latin typeface="Cambria Math" panose="02040503050406030204" pitchFamily="18" charset="0"/>
                        <a:cs typeface="Calibri" panose="020F0502020204030204" pitchFamily="34" charset="0"/>
                      </a:rPr>
                      <m:t> </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0" noProof="0" smtClean="0">
                            <a:latin typeface="Cambria Math" panose="02040503050406030204" pitchFamily="18" charset="0"/>
                          </a:rPr>
                          <m:t>2</m:t>
                        </m:r>
                        <m:r>
                          <m:rPr>
                            <m:sty m:val="p"/>
                          </m:rPr>
                          <a:rPr lang="en-GB" sz="1200" b="0" i="0" noProof="0" smtClean="0">
                            <a:latin typeface="Cambria Math" panose="02040503050406030204" pitchFamily="18" charset="0"/>
                          </a:rPr>
                          <m:t>y</m:t>
                        </m:r>
                      </m:e>
                      <m:sup>
                        <m:r>
                          <a:rPr lang="en-GB" sz="1200" b="0" i="0" noProof="0" smtClean="0">
                            <a:latin typeface="Cambria Math" panose="02040503050406030204" pitchFamily="18" charset="0"/>
                          </a:rPr>
                          <m:t>2</m:t>
                        </m:r>
                      </m:sup>
                    </m:sSup>
                    <m:r>
                      <a:rPr lang="en-GB" sz="1200" b="0" i="0" noProof="0" smtClean="0">
                        <a:latin typeface="Cambria Math" panose="02040503050406030204" pitchFamily="18" charset="0"/>
                      </a:rPr>
                      <m:t>=11</m:t>
                    </m:r>
                  </m:oMath>
                </a14:m>
                <a:endParaRPr lang="en-GB" sz="1200" noProof="0" dirty="0"/>
              </a:p>
              <a:p>
                <a:pPr algn="ctr" defTabSz="685800">
                  <a:defRPr/>
                </a:pPr>
                <a14:m>
                  <m:oMathPara xmlns:m="http://schemas.openxmlformats.org/officeDocument/2006/math">
                    <m:oMathParaPr>
                      <m:jc m:val="centerGroup"/>
                    </m:oMathParaPr>
                    <m:oMath xmlns:m="http://schemas.openxmlformats.org/officeDocument/2006/math">
                      <m:r>
                        <a:rPr lang="en-GB" sz="1200" i="1" noProof="0" smtClean="0">
                          <a:latin typeface="Cambria Math" panose="02040503050406030204" pitchFamily="18" charset="0"/>
                        </a:rPr>
                        <m:t>𝑥</m:t>
                      </m:r>
                      <m:r>
                        <a:rPr lang="en-GB" sz="1200" b="0" i="1" noProof="0" smtClean="0">
                          <a:latin typeface="Cambria Math" panose="02040503050406030204" pitchFamily="18" charset="0"/>
                        </a:rPr>
                        <m:t>=5−2</m:t>
                      </m:r>
                      <m:r>
                        <a:rPr lang="en-GB" sz="1200" b="0" i="1" noProof="0" smtClean="0">
                          <a:latin typeface="Cambria Math" panose="02040503050406030204" pitchFamily="18" charset="0"/>
                        </a:rPr>
                        <m:t>𝑦</m:t>
                      </m:r>
                    </m:oMath>
                  </m:oMathPara>
                </a14:m>
                <a:endParaRPr lang="en-GB" sz="1200" noProof="0" dirty="0"/>
              </a:p>
              <a:p>
                <a:endParaRPr lang="en-GB" sz="1200" noProof="0" dirty="0"/>
              </a:p>
            </p:txBody>
          </p:sp>
        </mc:Choice>
        <mc:Fallback xmlns="">
          <p:sp>
            <p:nvSpPr>
              <p:cNvPr id="14" name="TextBox 13">
                <a:extLst>
                  <a:ext uri="{FF2B5EF4-FFF2-40B4-BE49-F238E27FC236}">
                    <a16:creationId xmlns:a16="http://schemas.microsoft.com/office/drawing/2014/main" id="{BE8A6B0C-37B5-F075-1647-44DD3A9527CC}"/>
                  </a:ext>
                </a:extLst>
              </p:cNvPr>
              <p:cNvSpPr txBox="1">
                <a:spLocks noRot="1" noChangeAspect="1" noMove="1" noResize="1" noEditPoints="1" noAdjustHandles="1" noChangeArrowheads="1" noChangeShapeType="1" noTextEdit="1"/>
              </p:cNvSpPr>
              <p:nvPr/>
            </p:nvSpPr>
            <p:spPr>
              <a:xfrm>
                <a:off x="3618717" y="4846384"/>
                <a:ext cx="1335622" cy="646331"/>
              </a:xfrm>
              <a:prstGeom prst="rect">
                <a:avLst/>
              </a:prstGeom>
              <a:blipFill>
                <a:blip r:embed="rId5"/>
                <a:stretch>
                  <a:fillRect/>
                </a:stretch>
              </a:blipFill>
            </p:spPr>
            <p:txBody>
              <a:bodyPr/>
              <a:lstStyle/>
              <a:p>
                <a:r>
                  <a:rPr lang="en-US">
                    <a:noFill/>
                  </a:rPr>
                  <a:t> </a:t>
                </a:r>
              </a:p>
            </p:txBody>
          </p:sp>
        </mc:Fallback>
      </mc:AlternateContent>
      <p:sp>
        <p:nvSpPr>
          <p:cNvPr id="16" name="Rectangle 15">
            <a:extLst>
              <a:ext uri="{FF2B5EF4-FFF2-40B4-BE49-F238E27FC236}">
                <a16:creationId xmlns:a16="http://schemas.microsoft.com/office/drawing/2014/main" id="{254221EC-44B0-A528-8F86-B3281DD6A676}"/>
              </a:ext>
            </a:extLst>
          </p:cNvPr>
          <p:cNvSpPr/>
          <p:nvPr/>
        </p:nvSpPr>
        <p:spPr>
          <a:xfrm>
            <a:off x="214533" y="5369464"/>
            <a:ext cx="3158773"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tangle 16">
            <a:extLst>
              <a:ext uri="{FF2B5EF4-FFF2-40B4-BE49-F238E27FC236}">
                <a16:creationId xmlns:a16="http://schemas.microsoft.com/office/drawing/2014/main" id="{5755CA5E-1647-3B8C-DF56-C019F956CE8A}"/>
              </a:ext>
            </a:extLst>
          </p:cNvPr>
          <p:cNvSpPr/>
          <p:nvPr/>
        </p:nvSpPr>
        <p:spPr>
          <a:xfrm>
            <a:off x="3543418" y="5369465"/>
            <a:ext cx="3086019" cy="420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Rectangle 18">
            <a:extLst>
              <a:ext uri="{FF2B5EF4-FFF2-40B4-BE49-F238E27FC236}">
                <a16:creationId xmlns:a16="http://schemas.microsoft.com/office/drawing/2014/main" id="{C94C5F2D-17E6-3873-3D12-FC4727B17F2E}"/>
              </a:ext>
            </a:extLst>
          </p:cNvPr>
          <p:cNvSpPr/>
          <p:nvPr/>
        </p:nvSpPr>
        <p:spPr>
          <a:xfrm>
            <a:off x="1141656" y="439599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0" name="Rectangle 19">
            <a:extLst>
              <a:ext uri="{FF2B5EF4-FFF2-40B4-BE49-F238E27FC236}">
                <a16:creationId xmlns:a16="http://schemas.microsoft.com/office/drawing/2014/main" id="{ADB84042-1FDE-1436-80C9-91E6F8A8DA84}"/>
              </a:ext>
            </a:extLst>
          </p:cNvPr>
          <p:cNvSpPr/>
          <p:nvPr/>
        </p:nvSpPr>
        <p:spPr>
          <a:xfrm>
            <a:off x="1928679" y="439287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DC44AB20-E15F-0935-C41C-680E1B63E1D7}"/>
                  </a:ext>
                </a:extLst>
              </p:cNvPr>
              <p:cNvSpPr/>
              <p:nvPr/>
            </p:nvSpPr>
            <p:spPr>
              <a:xfrm>
                <a:off x="654421" y="435302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1" name="Rectangle 20">
                <a:extLst>
                  <a:ext uri="{FF2B5EF4-FFF2-40B4-BE49-F238E27FC236}">
                    <a16:creationId xmlns:a16="http://schemas.microsoft.com/office/drawing/2014/main" id="{DC44AB20-E15F-0935-C41C-680E1B63E1D7}"/>
                  </a:ext>
                </a:extLst>
              </p:cNvPr>
              <p:cNvSpPr>
                <a:spLocks noRot="1" noChangeAspect="1" noMove="1" noResize="1" noEditPoints="1" noAdjustHandles="1" noChangeArrowheads="1" noChangeShapeType="1" noTextEdit="1"/>
              </p:cNvSpPr>
              <p:nvPr/>
            </p:nvSpPr>
            <p:spPr>
              <a:xfrm>
                <a:off x="654421" y="4353027"/>
                <a:ext cx="1381880" cy="369332"/>
              </a:xfrm>
              <a:prstGeom prst="rect">
                <a:avLst/>
              </a:prstGeom>
              <a:blipFill>
                <a:blip r:embed="rId6"/>
                <a:stretch>
                  <a:fillRect r="-12335" b="-16393"/>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E425F17F-88D0-609C-9984-01B1ECEC643F}"/>
              </a:ext>
            </a:extLst>
          </p:cNvPr>
          <p:cNvSpPr/>
          <p:nvPr/>
        </p:nvSpPr>
        <p:spPr>
          <a:xfrm>
            <a:off x="5445774" y="4396729"/>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3" name="Rectangle 22">
            <a:extLst>
              <a:ext uri="{FF2B5EF4-FFF2-40B4-BE49-F238E27FC236}">
                <a16:creationId xmlns:a16="http://schemas.microsoft.com/office/drawing/2014/main" id="{7614DB04-491C-BA77-19E2-FB48E53BB640}"/>
              </a:ext>
            </a:extLst>
          </p:cNvPr>
          <p:cNvSpPr/>
          <p:nvPr/>
        </p:nvSpPr>
        <p:spPr>
          <a:xfrm>
            <a:off x="6232797" y="4393611"/>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950BC0A6-FCC6-AE93-D4E1-3278F22AA076}"/>
                  </a:ext>
                </a:extLst>
              </p:cNvPr>
              <p:cNvSpPr/>
              <p:nvPr/>
            </p:nvSpPr>
            <p:spPr>
              <a:xfrm>
                <a:off x="4958539" y="4353763"/>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4" name="Rectangle 23">
                <a:extLst>
                  <a:ext uri="{FF2B5EF4-FFF2-40B4-BE49-F238E27FC236}">
                    <a16:creationId xmlns:a16="http://schemas.microsoft.com/office/drawing/2014/main" id="{950BC0A6-FCC6-AE93-D4E1-3278F22AA076}"/>
                  </a:ext>
                </a:extLst>
              </p:cNvPr>
              <p:cNvSpPr>
                <a:spLocks noRot="1" noChangeAspect="1" noMove="1" noResize="1" noEditPoints="1" noAdjustHandles="1" noChangeArrowheads="1" noChangeShapeType="1" noTextEdit="1"/>
              </p:cNvSpPr>
              <p:nvPr/>
            </p:nvSpPr>
            <p:spPr>
              <a:xfrm>
                <a:off x="4958539" y="4353763"/>
                <a:ext cx="1381880" cy="369332"/>
              </a:xfrm>
              <a:prstGeom prst="rect">
                <a:avLst/>
              </a:prstGeom>
              <a:blipFill>
                <a:blip r:embed="rId6"/>
                <a:stretch>
                  <a:fillRect r="-12335" b="-16393"/>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77971F2C-745B-A476-DDB9-9B8CDB2CB07A}"/>
              </a:ext>
            </a:extLst>
          </p:cNvPr>
          <p:cNvSpPr/>
          <p:nvPr/>
        </p:nvSpPr>
        <p:spPr>
          <a:xfrm>
            <a:off x="1141656" y="912966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9" name="Rectangle 28">
            <a:extLst>
              <a:ext uri="{FF2B5EF4-FFF2-40B4-BE49-F238E27FC236}">
                <a16:creationId xmlns:a16="http://schemas.microsoft.com/office/drawing/2014/main" id="{ABB8F48D-A011-AFB5-3D84-012BEAE4D2D3}"/>
              </a:ext>
            </a:extLst>
          </p:cNvPr>
          <p:cNvSpPr/>
          <p:nvPr/>
        </p:nvSpPr>
        <p:spPr>
          <a:xfrm>
            <a:off x="1928679" y="912655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12AE0307-1B27-E441-A333-241095A8D64F}"/>
                  </a:ext>
                </a:extLst>
              </p:cNvPr>
              <p:cNvSpPr/>
              <p:nvPr/>
            </p:nvSpPr>
            <p:spPr>
              <a:xfrm>
                <a:off x="654421" y="908670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0" name="Rectangle 29">
                <a:extLst>
                  <a:ext uri="{FF2B5EF4-FFF2-40B4-BE49-F238E27FC236}">
                    <a16:creationId xmlns:a16="http://schemas.microsoft.com/office/drawing/2014/main" id="{12AE0307-1B27-E441-A333-241095A8D64F}"/>
                  </a:ext>
                </a:extLst>
              </p:cNvPr>
              <p:cNvSpPr>
                <a:spLocks noRot="1" noChangeAspect="1" noMove="1" noResize="1" noEditPoints="1" noAdjustHandles="1" noChangeArrowheads="1" noChangeShapeType="1" noTextEdit="1"/>
              </p:cNvSpPr>
              <p:nvPr/>
            </p:nvSpPr>
            <p:spPr>
              <a:xfrm>
                <a:off x="654421" y="9086702"/>
                <a:ext cx="1381880" cy="369332"/>
              </a:xfrm>
              <a:prstGeom prst="rect">
                <a:avLst/>
              </a:prstGeom>
              <a:blipFill>
                <a:blip r:embed="rId7"/>
                <a:stretch>
                  <a:fillRect r="-12335" b="-16667"/>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33A16029-DE1C-AC6E-2BEE-F092AE0AFAC6}"/>
              </a:ext>
            </a:extLst>
          </p:cNvPr>
          <p:cNvSpPr/>
          <p:nvPr/>
        </p:nvSpPr>
        <p:spPr>
          <a:xfrm>
            <a:off x="5445774" y="9130404"/>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2" name="Rectangle 31">
            <a:extLst>
              <a:ext uri="{FF2B5EF4-FFF2-40B4-BE49-F238E27FC236}">
                <a16:creationId xmlns:a16="http://schemas.microsoft.com/office/drawing/2014/main" id="{E5EE7A5D-D2D9-65CD-6E50-D5E368012D4B}"/>
              </a:ext>
            </a:extLst>
          </p:cNvPr>
          <p:cNvSpPr/>
          <p:nvPr/>
        </p:nvSpPr>
        <p:spPr>
          <a:xfrm>
            <a:off x="6232797" y="9127286"/>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BD7EF9B2-5A5C-2A57-97DC-719961974F26}"/>
                  </a:ext>
                </a:extLst>
              </p:cNvPr>
              <p:cNvSpPr/>
              <p:nvPr/>
            </p:nvSpPr>
            <p:spPr>
              <a:xfrm>
                <a:off x="4958539" y="9087438"/>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33" name="Rectangle 32">
                <a:extLst>
                  <a:ext uri="{FF2B5EF4-FFF2-40B4-BE49-F238E27FC236}">
                    <a16:creationId xmlns:a16="http://schemas.microsoft.com/office/drawing/2014/main" id="{BD7EF9B2-5A5C-2A57-97DC-719961974F26}"/>
                  </a:ext>
                </a:extLst>
              </p:cNvPr>
              <p:cNvSpPr>
                <a:spLocks noRot="1" noChangeAspect="1" noMove="1" noResize="1" noEditPoints="1" noAdjustHandles="1" noChangeArrowheads="1" noChangeShapeType="1" noTextEdit="1"/>
              </p:cNvSpPr>
              <p:nvPr/>
            </p:nvSpPr>
            <p:spPr>
              <a:xfrm>
                <a:off x="4958539" y="9087438"/>
                <a:ext cx="1381880" cy="369332"/>
              </a:xfrm>
              <a:prstGeom prst="rect">
                <a:avLst/>
              </a:prstGeom>
              <a:blipFill>
                <a:blip r:embed="rId7"/>
                <a:stretch>
                  <a:fillRect r="-12335" b="-16667"/>
                </a:stretch>
              </a:blipFill>
            </p:spPr>
            <p:txBody>
              <a:bodyPr/>
              <a:lstStyle/>
              <a:p>
                <a:r>
                  <a:rPr lang="en-US">
                    <a:noFill/>
                  </a:rPr>
                  <a:t> </a:t>
                </a:r>
              </a:p>
            </p:txBody>
          </p:sp>
        </mc:Fallback>
      </mc:AlternateContent>
      <p:sp>
        <p:nvSpPr>
          <p:cNvPr id="38" name="Rectangle 37">
            <a:extLst>
              <a:ext uri="{FF2B5EF4-FFF2-40B4-BE49-F238E27FC236}">
                <a16:creationId xmlns:a16="http://schemas.microsoft.com/office/drawing/2014/main" id="{145CA155-4E55-F583-6AD9-83FB1CE447D0}"/>
              </a:ext>
            </a:extLst>
          </p:cNvPr>
          <p:cNvSpPr/>
          <p:nvPr/>
        </p:nvSpPr>
        <p:spPr>
          <a:xfrm>
            <a:off x="1143744" y="398472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9" name="Rectangle 38">
            <a:extLst>
              <a:ext uri="{FF2B5EF4-FFF2-40B4-BE49-F238E27FC236}">
                <a16:creationId xmlns:a16="http://schemas.microsoft.com/office/drawing/2014/main" id="{CF6A8F98-1F5C-9B4A-5CC8-71C50FF61A02}"/>
              </a:ext>
            </a:extLst>
          </p:cNvPr>
          <p:cNvSpPr/>
          <p:nvPr/>
        </p:nvSpPr>
        <p:spPr>
          <a:xfrm>
            <a:off x="1930767" y="398160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25FF1B74-715D-9BE1-3A91-E968AB828981}"/>
                  </a:ext>
                </a:extLst>
              </p:cNvPr>
              <p:cNvSpPr/>
              <p:nvPr/>
            </p:nvSpPr>
            <p:spPr>
              <a:xfrm>
                <a:off x="656509" y="394175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0" name="Rectangle 39">
                <a:extLst>
                  <a:ext uri="{FF2B5EF4-FFF2-40B4-BE49-F238E27FC236}">
                    <a16:creationId xmlns:a16="http://schemas.microsoft.com/office/drawing/2014/main" id="{25FF1B74-715D-9BE1-3A91-E968AB828981}"/>
                  </a:ext>
                </a:extLst>
              </p:cNvPr>
              <p:cNvSpPr>
                <a:spLocks noRot="1" noChangeAspect="1" noMove="1" noResize="1" noEditPoints="1" noAdjustHandles="1" noChangeArrowheads="1" noChangeShapeType="1" noTextEdit="1"/>
              </p:cNvSpPr>
              <p:nvPr/>
            </p:nvSpPr>
            <p:spPr>
              <a:xfrm>
                <a:off x="656509" y="3941757"/>
                <a:ext cx="1381880" cy="369332"/>
              </a:xfrm>
              <a:prstGeom prst="rect">
                <a:avLst/>
              </a:prstGeom>
              <a:blipFill>
                <a:blip r:embed="rId7"/>
                <a:stretch>
                  <a:fillRect r="-12832" b="-16667"/>
                </a:stretch>
              </a:blipFill>
            </p:spPr>
            <p:txBody>
              <a:bodyPr/>
              <a:lstStyle/>
              <a:p>
                <a:r>
                  <a:rPr lang="en-US">
                    <a:noFill/>
                  </a:rPr>
                  <a:t> </a:t>
                </a:r>
              </a:p>
            </p:txBody>
          </p:sp>
        </mc:Fallback>
      </mc:AlternateContent>
      <p:sp>
        <p:nvSpPr>
          <p:cNvPr id="41" name="Rectangle 40">
            <a:extLst>
              <a:ext uri="{FF2B5EF4-FFF2-40B4-BE49-F238E27FC236}">
                <a16:creationId xmlns:a16="http://schemas.microsoft.com/office/drawing/2014/main" id="{EB00DE40-E923-A442-15A7-F48C2A746CDE}"/>
              </a:ext>
            </a:extLst>
          </p:cNvPr>
          <p:cNvSpPr/>
          <p:nvPr/>
        </p:nvSpPr>
        <p:spPr>
          <a:xfrm>
            <a:off x="5455335" y="399725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42" name="Rectangle 41">
            <a:extLst>
              <a:ext uri="{FF2B5EF4-FFF2-40B4-BE49-F238E27FC236}">
                <a16:creationId xmlns:a16="http://schemas.microsoft.com/office/drawing/2014/main" id="{A0CCAED9-2039-F73A-A536-DA6968FE6952}"/>
              </a:ext>
            </a:extLst>
          </p:cNvPr>
          <p:cNvSpPr/>
          <p:nvPr/>
        </p:nvSpPr>
        <p:spPr>
          <a:xfrm>
            <a:off x="6242358" y="3994132"/>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119640B1-58BC-198D-4AA9-26B3E0DAF303}"/>
                  </a:ext>
                </a:extLst>
              </p:cNvPr>
              <p:cNvSpPr/>
              <p:nvPr/>
            </p:nvSpPr>
            <p:spPr>
              <a:xfrm>
                <a:off x="4968100" y="3954284"/>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3" name="Rectangle 42">
                <a:extLst>
                  <a:ext uri="{FF2B5EF4-FFF2-40B4-BE49-F238E27FC236}">
                    <a16:creationId xmlns:a16="http://schemas.microsoft.com/office/drawing/2014/main" id="{119640B1-58BC-198D-4AA9-26B3E0DAF303}"/>
                  </a:ext>
                </a:extLst>
              </p:cNvPr>
              <p:cNvSpPr>
                <a:spLocks noRot="1" noChangeAspect="1" noMove="1" noResize="1" noEditPoints="1" noAdjustHandles="1" noChangeArrowheads="1" noChangeShapeType="1" noTextEdit="1"/>
              </p:cNvSpPr>
              <p:nvPr/>
            </p:nvSpPr>
            <p:spPr>
              <a:xfrm>
                <a:off x="4968100" y="3954284"/>
                <a:ext cx="1381880" cy="369332"/>
              </a:xfrm>
              <a:prstGeom prst="rect">
                <a:avLst/>
              </a:prstGeom>
              <a:blipFill>
                <a:blip r:embed="rId7"/>
                <a:stretch>
                  <a:fillRect r="-12335" b="-16667"/>
                </a:stretch>
              </a:blipFill>
            </p:spPr>
            <p:txBody>
              <a:bodyPr/>
              <a:lstStyle/>
              <a:p>
                <a:r>
                  <a:rPr lang="en-US">
                    <a:noFill/>
                  </a:rPr>
                  <a:t> </a:t>
                </a:r>
              </a:p>
            </p:txBody>
          </p:sp>
        </mc:Fallback>
      </mc:AlternateContent>
      <p:sp>
        <p:nvSpPr>
          <p:cNvPr id="47" name="Rectangle 46">
            <a:extLst>
              <a:ext uri="{FF2B5EF4-FFF2-40B4-BE49-F238E27FC236}">
                <a16:creationId xmlns:a16="http://schemas.microsoft.com/office/drawing/2014/main" id="{076B85F2-FA68-8302-B40F-DB9F4F03DFD6}"/>
              </a:ext>
            </a:extLst>
          </p:cNvPr>
          <p:cNvSpPr/>
          <p:nvPr/>
        </p:nvSpPr>
        <p:spPr>
          <a:xfrm>
            <a:off x="1131218" y="874460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48" name="Rectangle 47">
            <a:extLst>
              <a:ext uri="{FF2B5EF4-FFF2-40B4-BE49-F238E27FC236}">
                <a16:creationId xmlns:a16="http://schemas.microsoft.com/office/drawing/2014/main" id="{4BB7430D-856D-C38C-BBB0-08FB94C20188}"/>
              </a:ext>
            </a:extLst>
          </p:cNvPr>
          <p:cNvSpPr/>
          <p:nvPr/>
        </p:nvSpPr>
        <p:spPr>
          <a:xfrm>
            <a:off x="1918241" y="874148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969CEE4D-5771-256E-99FA-16DEB9A22125}"/>
                  </a:ext>
                </a:extLst>
              </p:cNvPr>
              <p:cNvSpPr/>
              <p:nvPr/>
            </p:nvSpPr>
            <p:spPr>
              <a:xfrm>
                <a:off x="643983" y="870163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9" name="Rectangle 48">
                <a:extLst>
                  <a:ext uri="{FF2B5EF4-FFF2-40B4-BE49-F238E27FC236}">
                    <a16:creationId xmlns:a16="http://schemas.microsoft.com/office/drawing/2014/main" id="{969CEE4D-5771-256E-99FA-16DEB9A22125}"/>
                  </a:ext>
                </a:extLst>
              </p:cNvPr>
              <p:cNvSpPr>
                <a:spLocks noRot="1" noChangeAspect="1" noMove="1" noResize="1" noEditPoints="1" noAdjustHandles="1" noChangeArrowheads="1" noChangeShapeType="1" noTextEdit="1"/>
              </p:cNvSpPr>
              <p:nvPr/>
            </p:nvSpPr>
            <p:spPr>
              <a:xfrm>
                <a:off x="643983" y="8701637"/>
                <a:ext cx="1381880" cy="369332"/>
              </a:xfrm>
              <a:prstGeom prst="rect">
                <a:avLst/>
              </a:prstGeom>
              <a:blipFill>
                <a:blip r:embed="rId6"/>
                <a:stretch>
                  <a:fillRect r="-12832" b="-16393"/>
                </a:stretch>
              </a:blipFill>
            </p:spPr>
            <p:txBody>
              <a:bodyPr/>
              <a:lstStyle/>
              <a:p>
                <a:r>
                  <a:rPr lang="en-US">
                    <a:noFill/>
                  </a:rPr>
                  <a:t> </a:t>
                </a:r>
              </a:p>
            </p:txBody>
          </p:sp>
        </mc:Fallback>
      </mc:AlternateContent>
      <p:sp>
        <p:nvSpPr>
          <p:cNvPr id="50" name="Rectangle 49">
            <a:extLst>
              <a:ext uri="{FF2B5EF4-FFF2-40B4-BE49-F238E27FC236}">
                <a16:creationId xmlns:a16="http://schemas.microsoft.com/office/drawing/2014/main" id="{989A04A5-0EF2-94A5-087F-61F973D4C96D}"/>
              </a:ext>
            </a:extLst>
          </p:cNvPr>
          <p:cNvSpPr/>
          <p:nvPr/>
        </p:nvSpPr>
        <p:spPr>
          <a:xfrm>
            <a:off x="5455335" y="873207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51" name="Rectangle 50">
            <a:extLst>
              <a:ext uri="{FF2B5EF4-FFF2-40B4-BE49-F238E27FC236}">
                <a16:creationId xmlns:a16="http://schemas.microsoft.com/office/drawing/2014/main" id="{2040F4D8-D078-7DC9-DE4F-E0B18D6F2990}"/>
              </a:ext>
            </a:extLst>
          </p:cNvPr>
          <p:cNvSpPr/>
          <p:nvPr/>
        </p:nvSpPr>
        <p:spPr>
          <a:xfrm>
            <a:off x="6242358" y="872896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B26C3B49-875B-684E-34C1-B00A17569583}"/>
                  </a:ext>
                </a:extLst>
              </p:cNvPr>
              <p:cNvSpPr/>
              <p:nvPr/>
            </p:nvSpPr>
            <p:spPr>
              <a:xfrm>
                <a:off x="4968100" y="868911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52" name="Rectangle 51">
                <a:extLst>
                  <a:ext uri="{FF2B5EF4-FFF2-40B4-BE49-F238E27FC236}">
                    <a16:creationId xmlns:a16="http://schemas.microsoft.com/office/drawing/2014/main" id="{B26C3B49-875B-684E-34C1-B00A17569583}"/>
                  </a:ext>
                </a:extLst>
              </p:cNvPr>
              <p:cNvSpPr>
                <a:spLocks noRot="1" noChangeAspect="1" noMove="1" noResize="1" noEditPoints="1" noAdjustHandles="1" noChangeArrowheads="1" noChangeShapeType="1" noTextEdit="1"/>
              </p:cNvSpPr>
              <p:nvPr/>
            </p:nvSpPr>
            <p:spPr>
              <a:xfrm>
                <a:off x="4968100" y="8689112"/>
                <a:ext cx="1381880" cy="369332"/>
              </a:xfrm>
              <a:prstGeom prst="rect">
                <a:avLst/>
              </a:prstGeom>
              <a:blipFill>
                <a:blip r:embed="rId6"/>
                <a:stretch>
                  <a:fillRect r="-12335" b="-1639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947944EA-52B1-5EBF-8271-AAC33F7D2F2C}"/>
              </a:ext>
            </a:extLst>
          </p:cNvPr>
          <p:cNvSpPr>
            <a:spLocks noGrp="1"/>
          </p:cNvSpPr>
          <p:nvPr>
            <p:ph type="sldNum" sz="quarter" idx="12"/>
          </p:nvPr>
        </p:nvSpPr>
        <p:spPr>
          <a:xfrm>
            <a:off x="5248693" y="9393111"/>
            <a:ext cx="1543050" cy="527403"/>
          </a:xfrm>
        </p:spPr>
        <p:txBody>
          <a:bodyPr/>
          <a:lstStyle/>
          <a:p>
            <a:fld id="{19F1D9CC-7119-45EC-A96C-D8C0660F3AAB}" type="slidenum">
              <a:rPr lang="en-GB" noProof="0" smtClean="0"/>
              <a:t>66</a:t>
            </a:fld>
            <a:endParaRPr lang="en-GB" noProof="0" dirty="0"/>
          </a:p>
        </p:txBody>
      </p:sp>
    </p:spTree>
    <p:extLst>
      <p:ext uri="{BB962C8B-B14F-4D97-AF65-F5344CB8AC3E}">
        <p14:creationId xmlns:p14="http://schemas.microsoft.com/office/powerpoint/2010/main" val="12069863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14950" y="9469935"/>
            <a:ext cx="1543050" cy="527403"/>
          </a:xfrm>
        </p:spPr>
        <p:txBody>
          <a:bodyPr/>
          <a:lstStyle/>
          <a:p>
            <a:fld id="{19F1D9CC-7119-45EC-A96C-D8C0660F3AAB}" type="slidenum">
              <a:rPr lang="en-GB" noProof="0" smtClean="0"/>
              <a:t>67</a:t>
            </a:fld>
            <a:endParaRPr lang="en-GB" noProof="0" dirty="0"/>
          </a:p>
        </p:txBody>
      </p:sp>
      <mc:AlternateContent xmlns:mc="http://schemas.openxmlformats.org/markup-compatibility/2006" xmlns:a14="http://schemas.microsoft.com/office/drawing/2010/main">
        <mc:Choice Requires="a14">
          <p:sp>
            <p:nvSpPr>
              <p:cNvPr id="7" name="TextBox 6"/>
              <p:cNvSpPr txBox="1"/>
              <p:nvPr/>
            </p:nvSpPr>
            <p:spPr>
              <a:xfrm>
                <a:off x="649102" y="206275"/>
                <a:ext cx="985463" cy="638636"/>
              </a:xfrm>
              <a:prstGeom prst="rect">
                <a:avLst/>
              </a:prstGeom>
              <a:noFill/>
            </p:spPr>
            <p:txBody>
              <a:bodyPr wrap="none" rtlCol="0">
                <a:spAutoFit/>
              </a:bodyPr>
              <a:lstStyle/>
              <a:p>
                <a:pPr lvl="0" algn="ctr" defTabSz="685800">
                  <a:defRPr/>
                </a:pPr>
                <a:r>
                  <a:rPr lang="en-GB" sz="1200" noProof="0" dirty="0"/>
                  <a:t>a)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endParaRPr lang="en-GB" sz="1200" b="0" noProof="0" dirty="0"/>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=1+</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𝑥</m:t>
                          </m:r>
                        </m:den>
                      </m:f>
                    </m:oMath>
                  </m:oMathPara>
                </a14:m>
                <a:endParaRPr lang="en-GB" sz="1200" b="0" noProof="0" dirty="0"/>
              </a:p>
            </p:txBody>
          </p:sp>
        </mc:Choice>
        <mc:Fallback xmlns="">
          <p:sp>
            <p:nvSpPr>
              <p:cNvPr id="7" name="TextBox 6"/>
              <p:cNvSpPr txBox="1">
                <a:spLocks noRot="1" noChangeAspect="1" noMove="1" noResize="1" noEditPoints="1" noAdjustHandles="1" noChangeArrowheads="1" noChangeShapeType="1" noTextEdit="1"/>
              </p:cNvSpPr>
              <p:nvPr/>
            </p:nvSpPr>
            <p:spPr>
              <a:xfrm>
                <a:off x="649102" y="206275"/>
                <a:ext cx="985463" cy="638636"/>
              </a:xfrm>
              <a:prstGeom prst="rect">
                <a:avLst/>
              </a:prstGeom>
              <a:blipFill>
                <a:blip r:embed="rId2"/>
                <a:stretch>
                  <a:fillRect t="-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935098" y="348087"/>
                <a:ext cx="803425" cy="461665"/>
              </a:xfrm>
              <a:prstGeom prst="rect">
                <a:avLst/>
              </a:prstGeom>
              <a:noFill/>
            </p:spPr>
            <p:txBody>
              <a:bodyPr wrap="none" rtlCol="0">
                <a:spAutoFit/>
              </a:bodyPr>
              <a:lstStyle/>
              <a:p>
                <a:pPr lvl="0" algn="ctr" defTabSz="685800">
                  <a:defRPr/>
                </a:pPr>
                <a:r>
                  <a:rPr lang="en-GB" sz="1200" noProof="0" dirty="0"/>
                  <a:t>b) </a:t>
                </a:r>
                <a14:m>
                  <m:oMath xmlns:m="http://schemas.openxmlformats.org/officeDocument/2006/math">
                    <m:r>
                      <a:rPr lang="en-GB" sz="1200" b="0" i="1" noProof="0" smtClean="0">
                        <a:latin typeface="Cambria Math" panose="02040503050406030204" pitchFamily="18" charset="0"/>
                      </a:rPr>
                      <m:t>𝑥𝑦</m:t>
                    </m:r>
                    <m:r>
                      <a:rPr lang="en-GB" sz="1200" b="0" i="1" noProof="0" smtClean="0">
                        <a:latin typeface="Cambria Math" panose="02040503050406030204" pitchFamily="18" charset="0"/>
                      </a:rPr>
                      <m:t>=9</m:t>
                    </m:r>
                  </m:oMath>
                </a14:m>
                <a:endParaRPr lang="en-GB" sz="1200" b="0" noProof="0" dirty="0">
                  <a:cs typeface="Calibri" panose="020F0502020204030204" pitchFamily="34" charset="0"/>
                </a:endParaRPr>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oMath>
                  </m:oMathPara>
                </a14:m>
                <a:endParaRPr lang="en-GB" sz="1200" noProof="0" dirty="0"/>
              </a:p>
            </p:txBody>
          </p:sp>
        </mc:Choice>
        <mc:Fallback xmlns="">
          <p:sp>
            <p:nvSpPr>
              <p:cNvPr id="8" name="TextBox 7"/>
              <p:cNvSpPr txBox="1">
                <a:spLocks noRot="1" noChangeAspect="1" noMove="1" noResize="1" noEditPoints="1" noAdjustHandles="1" noChangeArrowheads="1" noChangeShapeType="1" noTextEdit="1"/>
              </p:cNvSpPr>
              <p:nvPr/>
            </p:nvSpPr>
            <p:spPr>
              <a:xfrm>
                <a:off x="2935098" y="348087"/>
                <a:ext cx="803425"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057171" y="348087"/>
                <a:ext cx="1213730" cy="461665"/>
              </a:xfrm>
              <a:prstGeom prst="rect">
                <a:avLst/>
              </a:prstGeom>
              <a:noFill/>
            </p:spPr>
            <p:txBody>
              <a:bodyPr wrap="none" rtlCol="0">
                <a:spAutoFit/>
              </a:bodyPr>
              <a:lstStyle/>
              <a:p>
                <a:pPr lvl="0" algn="ctr" defTabSz="685800">
                  <a:defRPr/>
                </a:pPr>
                <a:r>
                  <a:rPr lang="en-GB" sz="1200" noProof="0" dirty="0"/>
                  <a:t>c)</a:t>
                </a:r>
                <a14:m>
                  <m:oMath xmlns:m="http://schemas.openxmlformats.org/officeDocument/2006/math">
                    <m:r>
                      <a:rPr lang="en-GB" sz="1200" b="0" i="0" noProof="0" smtClean="0">
                        <a:latin typeface="Cambria Math" panose="02040503050406030204" pitchFamily="18" charset="0"/>
                      </a:rPr>
                      <m:t> </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𝑦</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=50</m:t>
                    </m:r>
                  </m:oMath>
                </a14:m>
                <a:endParaRPr lang="en-GB" sz="1200" b="0" noProof="0" dirty="0"/>
              </a:p>
              <a:p>
                <a:pPr lvl="0" algn="ctr" defTabSz="685800">
                  <a:defRPr/>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oMath>
                  </m:oMathPara>
                </a14:m>
                <a:endParaRPr lang="en-GB" sz="1200" noProof="0" dirty="0"/>
              </a:p>
            </p:txBody>
          </p:sp>
        </mc:Choice>
        <mc:Fallback xmlns="">
          <p:sp>
            <p:nvSpPr>
              <p:cNvPr id="9" name="TextBox 8"/>
              <p:cNvSpPr txBox="1">
                <a:spLocks noRot="1" noChangeAspect="1" noMove="1" noResize="1" noEditPoints="1" noAdjustHandles="1" noChangeArrowheads="1" noChangeShapeType="1" noTextEdit="1"/>
              </p:cNvSpPr>
              <p:nvPr/>
            </p:nvSpPr>
            <p:spPr>
              <a:xfrm>
                <a:off x="5057171" y="348087"/>
                <a:ext cx="1213730" cy="461665"/>
              </a:xfrm>
              <a:prstGeom prst="rect">
                <a:avLst/>
              </a:prstGeom>
              <a:blipFill>
                <a:blip r:embed="rId4"/>
                <a:stretch>
                  <a:fillRect l="-503"/>
                </a:stretch>
              </a:blipFill>
            </p:spPr>
            <p:txBody>
              <a:bodyPr/>
              <a:lstStyle/>
              <a:p>
                <a:r>
                  <a:rPr lang="en-US">
                    <a:noFill/>
                  </a:rPr>
                  <a:t> </a:t>
                </a:r>
              </a:p>
            </p:txBody>
          </p:sp>
        </mc:Fallback>
      </mc:AlternateContent>
      <p:sp>
        <p:nvSpPr>
          <p:cNvPr id="10" name="Rectangle 9"/>
          <p:cNvSpPr/>
          <p:nvPr/>
        </p:nvSpPr>
        <p:spPr>
          <a:xfrm>
            <a:off x="238597" y="889025"/>
            <a:ext cx="2119082" cy="38884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Rectangle 10"/>
          <p:cNvSpPr/>
          <p:nvPr/>
        </p:nvSpPr>
        <p:spPr>
          <a:xfrm>
            <a:off x="2423632" y="889025"/>
            <a:ext cx="2097801" cy="38884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Rectangle 11"/>
          <p:cNvSpPr/>
          <p:nvPr/>
        </p:nvSpPr>
        <p:spPr>
          <a:xfrm>
            <a:off x="4612549" y="889025"/>
            <a:ext cx="2097801" cy="38884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Rectangle 18">
            <a:extLst>
              <a:ext uri="{FF2B5EF4-FFF2-40B4-BE49-F238E27FC236}">
                <a16:creationId xmlns:a16="http://schemas.microsoft.com/office/drawing/2014/main" id="{EFEA5655-F8B4-E44B-AD11-37BDE174E0E4}"/>
              </a:ext>
            </a:extLst>
          </p:cNvPr>
          <p:cNvSpPr/>
          <p:nvPr/>
        </p:nvSpPr>
        <p:spPr>
          <a:xfrm>
            <a:off x="1141656" y="439599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0" name="Rectangle 19">
            <a:extLst>
              <a:ext uri="{FF2B5EF4-FFF2-40B4-BE49-F238E27FC236}">
                <a16:creationId xmlns:a16="http://schemas.microsoft.com/office/drawing/2014/main" id="{FB12ABF5-462E-6044-8D21-BD0BF63C4036}"/>
              </a:ext>
            </a:extLst>
          </p:cNvPr>
          <p:cNvSpPr/>
          <p:nvPr/>
        </p:nvSpPr>
        <p:spPr>
          <a:xfrm>
            <a:off x="1928679" y="439287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AC357ECC-A710-0A49-95CD-DEF7B6D6DED8}"/>
                  </a:ext>
                </a:extLst>
              </p:cNvPr>
              <p:cNvSpPr/>
              <p:nvPr/>
            </p:nvSpPr>
            <p:spPr>
              <a:xfrm>
                <a:off x="654421" y="435302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1" name="Rectangle 20">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654421" y="4353027"/>
                <a:ext cx="1381880" cy="369332"/>
              </a:xfrm>
              <a:prstGeom prst="rect">
                <a:avLst/>
              </a:prstGeom>
              <a:blipFill>
                <a:blip r:embed="rId5"/>
                <a:stretch>
                  <a:fillRect r="-12335" b="-16393"/>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EFEA5655-F8B4-E44B-AD11-37BDE174E0E4}"/>
              </a:ext>
            </a:extLst>
          </p:cNvPr>
          <p:cNvSpPr/>
          <p:nvPr/>
        </p:nvSpPr>
        <p:spPr>
          <a:xfrm>
            <a:off x="3313707" y="4396728"/>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3" name="Rectangle 22">
            <a:extLst>
              <a:ext uri="{FF2B5EF4-FFF2-40B4-BE49-F238E27FC236}">
                <a16:creationId xmlns:a16="http://schemas.microsoft.com/office/drawing/2014/main" id="{FB12ABF5-462E-6044-8D21-BD0BF63C4036}"/>
              </a:ext>
            </a:extLst>
          </p:cNvPr>
          <p:cNvSpPr/>
          <p:nvPr/>
        </p:nvSpPr>
        <p:spPr>
          <a:xfrm>
            <a:off x="4100730" y="4393610"/>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AC357ECC-A710-0A49-95CD-DEF7B6D6DED8}"/>
                  </a:ext>
                </a:extLst>
              </p:cNvPr>
              <p:cNvSpPr/>
              <p:nvPr/>
            </p:nvSpPr>
            <p:spPr>
              <a:xfrm>
                <a:off x="2826472" y="4353762"/>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4" name="Rectangle 23">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2826472" y="4353762"/>
                <a:ext cx="1381880" cy="369332"/>
              </a:xfrm>
              <a:prstGeom prst="rect">
                <a:avLst/>
              </a:prstGeom>
              <a:blipFill>
                <a:blip r:embed="rId5"/>
                <a:stretch>
                  <a:fillRect r="-12832" b="-16393"/>
                </a:stretch>
              </a:blipFill>
            </p:spPr>
            <p:txBody>
              <a:bodyPr/>
              <a:lstStyle/>
              <a:p>
                <a:r>
                  <a:rPr lang="en-US">
                    <a:noFill/>
                  </a:rPr>
                  <a:t> </a:t>
                </a:r>
              </a:p>
            </p:txBody>
          </p:sp>
        </mc:Fallback>
      </mc:AlternateContent>
      <p:sp>
        <p:nvSpPr>
          <p:cNvPr id="25" name="Rectangle 24">
            <a:extLst>
              <a:ext uri="{FF2B5EF4-FFF2-40B4-BE49-F238E27FC236}">
                <a16:creationId xmlns:a16="http://schemas.microsoft.com/office/drawing/2014/main" id="{EFEA5655-F8B4-E44B-AD11-37BDE174E0E4}"/>
              </a:ext>
            </a:extLst>
          </p:cNvPr>
          <p:cNvSpPr/>
          <p:nvPr/>
        </p:nvSpPr>
        <p:spPr>
          <a:xfrm>
            <a:off x="5477461" y="4395001"/>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6" name="Rectangle 25">
            <a:extLst>
              <a:ext uri="{FF2B5EF4-FFF2-40B4-BE49-F238E27FC236}">
                <a16:creationId xmlns:a16="http://schemas.microsoft.com/office/drawing/2014/main" id="{FB12ABF5-462E-6044-8D21-BD0BF63C4036}"/>
              </a:ext>
            </a:extLst>
          </p:cNvPr>
          <p:cNvSpPr/>
          <p:nvPr/>
        </p:nvSpPr>
        <p:spPr>
          <a:xfrm>
            <a:off x="6264484" y="439188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AC357ECC-A710-0A49-95CD-DEF7B6D6DED8}"/>
                  </a:ext>
                </a:extLst>
              </p:cNvPr>
              <p:cNvSpPr/>
              <p:nvPr/>
            </p:nvSpPr>
            <p:spPr>
              <a:xfrm>
                <a:off x="4990226" y="4352035"/>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27" name="Rectangle 26">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4990226" y="4352035"/>
                <a:ext cx="1381880" cy="369332"/>
              </a:xfrm>
              <a:prstGeom prst="rect">
                <a:avLst/>
              </a:prstGeom>
              <a:blipFill>
                <a:blip r:embed="rId6"/>
                <a:stretch>
                  <a:fillRect r="-12832" b="-14754"/>
                </a:stretch>
              </a:blipFill>
            </p:spPr>
            <p:txBody>
              <a:bodyPr/>
              <a:lstStyle/>
              <a:p>
                <a:r>
                  <a:rPr lang="en-US">
                    <a:noFill/>
                  </a:rPr>
                  <a:t> </a:t>
                </a:r>
              </a:p>
            </p:txBody>
          </p:sp>
        </mc:Fallback>
      </mc:AlternateContent>
      <p:sp>
        <p:nvSpPr>
          <p:cNvPr id="37" name="TextBox 36"/>
          <p:cNvSpPr txBox="1"/>
          <p:nvPr/>
        </p:nvSpPr>
        <p:spPr>
          <a:xfrm>
            <a:off x="-675622" y="5848"/>
            <a:ext cx="4620374" cy="276999"/>
          </a:xfrm>
          <a:prstGeom prst="rect">
            <a:avLst/>
          </a:prstGeom>
          <a:noFill/>
        </p:spPr>
        <p:txBody>
          <a:bodyPr wrap="square" rtlCol="0">
            <a:spAutoFit/>
          </a:bodyPr>
          <a:lstStyle/>
          <a:p>
            <a:pPr algn="ctr"/>
            <a:r>
              <a:rPr lang="en-GB" sz="1200" noProof="0" dirty="0"/>
              <a:t>5. Solve the quadratic simultaneous equations. </a:t>
            </a:r>
          </a:p>
        </p:txBody>
      </p:sp>
      <p:sp>
        <p:nvSpPr>
          <p:cNvPr id="38" name="Rectangle 37">
            <a:extLst>
              <a:ext uri="{FF2B5EF4-FFF2-40B4-BE49-F238E27FC236}">
                <a16:creationId xmlns:a16="http://schemas.microsoft.com/office/drawing/2014/main" id="{EFEA5655-F8B4-E44B-AD11-37BDE174E0E4}"/>
              </a:ext>
            </a:extLst>
          </p:cNvPr>
          <p:cNvSpPr/>
          <p:nvPr/>
        </p:nvSpPr>
        <p:spPr>
          <a:xfrm>
            <a:off x="1143744" y="3984723"/>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39" name="Rectangle 38">
            <a:extLst>
              <a:ext uri="{FF2B5EF4-FFF2-40B4-BE49-F238E27FC236}">
                <a16:creationId xmlns:a16="http://schemas.microsoft.com/office/drawing/2014/main" id="{FB12ABF5-462E-6044-8D21-BD0BF63C4036}"/>
              </a:ext>
            </a:extLst>
          </p:cNvPr>
          <p:cNvSpPr/>
          <p:nvPr/>
        </p:nvSpPr>
        <p:spPr>
          <a:xfrm>
            <a:off x="1930767" y="3981605"/>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AC357ECC-A710-0A49-95CD-DEF7B6D6DED8}"/>
                  </a:ext>
                </a:extLst>
              </p:cNvPr>
              <p:cNvSpPr/>
              <p:nvPr/>
            </p:nvSpPr>
            <p:spPr>
              <a:xfrm>
                <a:off x="656509" y="3941757"/>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0" name="Rectangle 39">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656509" y="3941757"/>
                <a:ext cx="1381880" cy="369332"/>
              </a:xfrm>
              <a:prstGeom prst="rect">
                <a:avLst/>
              </a:prstGeom>
              <a:blipFill>
                <a:blip r:embed="rId6"/>
                <a:stretch>
                  <a:fillRect r="-12832" b="-16667"/>
                </a:stretch>
              </a:blipFill>
            </p:spPr>
            <p:txBody>
              <a:bodyPr/>
              <a:lstStyle/>
              <a:p>
                <a:r>
                  <a:rPr lang="en-US">
                    <a:noFill/>
                  </a:rPr>
                  <a:t> </a:t>
                </a:r>
              </a:p>
            </p:txBody>
          </p:sp>
        </mc:Fallback>
      </mc:AlternateContent>
      <p:sp>
        <p:nvSpPr>
          <p:cNvPr id="41" name="Rectangle 40">
            <a:extLst>
              <a:ext uri="{FF2B5EF4-FFF2-40B4-BE49-F238E27FC236}">
                <a16:creationId xmlns:a16="http://schemas.microsoft.com/office/drawing/2014/main" id="{EFEA5655-F8B4-E44B-AD11-37BDE174E0E4}"/>
              </a:ext>
            </a:extLst>
          </p:cNvPr>
          <p:cNvSpPr/>
          <p:nvPr/>
        </p:nvSpPr>
        <p:spPr>
          <a:xfrm>
            <a:off x="3323268" y="3997249"/>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42" name="Rectangle 41">
            <a:extLst>
              <a:ext uri="{FF2B5EF4-FFF2-40B4-BE49-F238E27FC236}">
                <a16:creationId xmlns:a16="http://schemas.microsoft.com/office/drawing/2014/main" id="{FB12ABF5-462E-6044-8D21-BD0BF63C4036}"/>
              </a:ext>
            </a:extLst>
          </p:cNvPr>
          <p:cNvSpPr/>
          <p:nvPr/>
        </p:nvSpPr>
        <p:spPr>
          <a:xfrm>
            <a:off x="4110291" y="3994131"/>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AC357ECC-A710-0A49-95CD-DEF7B6D6DED8}"/>
                  </a:ext>
                </a:extLst>
              </p:cNvPr>
              <p:cNvSpPr/>
              <p:nvPr/>
            </p:nvSpPr>
            <p:spPr>
              <a:xfrm>
                <a:off x="2836033" y="3954283"/>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3" name="Rectangle 42">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2836033" y="3954283"/>
                <a:ext cx="1381880" cy="369332"/>
              </a:xfrm>
              <a:prstGeom prst="rect">
                <a:avLst/>
              </a:prstGeom>
              <a:blipFill>
                <a:blip r:embed="rId6"/>
                <a:stretch>
                  <a:fillRect r="-12335" b="-16667"/>
                </a:stretch>
              </a:blipFill>
            </p:spPr>
            <p:txBody>
              <a:bodyPr/>
              <a:lstStyle/>
              <a:p>
                <a:r>
                  <a:rPr lang="en-US">
                    <a:noFill/>
                  </a:rPr>
                  <a:t> </a:t>
                </a:r>
              </a:p>
            </p:txBody>
          </p:sp>
        </mc:Fallback>
      </mc:AlternateContent>
      <p:sp>
        <p:nvSpPr>
          <p:cNvPr id="44" name="Rectangle 43">
            <a:extLst>
              <a:ext uri="{FF2B5EF4-FFF2-40B4-BE49-F238E27FC236}">
                <a16:creationId xmlns:a16="http://schemas.microsoft.com/office/drawing/2014/main" id="{EFEA5655-F8B4-E44B-AD11-37BDE174E0E4}"/>
              </a:ext>
            </a:extLst>
          </p:cNvPr>
          <p:cNvSpPr/>
          <p:nvPr/>
        </p:nvSpPr>
        <p:spPr>
          <a:xfrm>
            <a:off x="5477740" y="3997249"/>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45" name="Rectangle 44">
            <a:extLst>
              <a:ext uri="{FF2B5EF4-FFF2-40B4-BE49-F238E27FC236}">
                <a16:creationId xmlns:a16="http://schemas.microsoft.com/office/drawing/2014/main" id="{FB12ABF5-462E-6044-8D21-BD0BF63C4036}"/>
              </a:ext>
            </a:extLst>
          </p:cNvPr>
          <p:cNvSpPr/>
          <p:nvPr/>
        </p:nvSpPr>
        <p:spPr>
          <a:xfrm>
            <a:off x="6264763" y="3994131"/>
            <a:ext cx="338673" cy="30452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AC357ECC-A710-0A49-95CD-DEF7B6D6DED8}"/>
                  </a:ext>
                </a:extLst>
              </p:cNvPr>
              <p:cNvSpPr/>
              <p:nvPr/>
            </p:nvSpPr>
            <p:spPr>
              <a:xfrm>
                <a:off x="4990505" y="3954283"/>
                <a:ext cx="1381880" cy="369332"/>
              </a:xfrm>
              <a:prstGeom prst="rect">
                <a:avLst/>
              </a:prstGeom>
            </p:spPr>
            <p:txBody>
              <a:bodyPr wrap="square">
                <a:spAutoFit/>
              </a:bodyPr>
              <a:lstStyle/>
              <a:p>
                <a:endParaRPr lang="en-GB" sz="400" noProof="0" dirty="0"/>
              </a:p>
              <a:p>
                <a:pPr lvl="0" algn="ctr"/>
                <a14:m>
                  <m:oMath xmlns:m="http://schemas.openxmlformats.org/officeDocument/2006/math">
                    <m:r>
                      <a:rPr lang="en-GB" sz="1400" b="0" i="1" noProof="0" smtClean="0">
                        <a:solidFill>
                          <a:prstClr val="black"/>
                        </a:solidFill>
                        <a:latin typeface="Cambria Math" panose="02040503050406030204" pitchFamily="18" charset="0"/>
                      </a:rPr>
                      <m:t>𝑥</m:t>
                    </m:r>
                  </m:oMath>
                </a14:m>
                <a:r>
                  <a:rPr lang="en-GB" sz="1400" noProof="0" dirty="0">
                    <a:solidFill>
                      <a:prstClr val="black"/>
                    </a:solidFill>
                  </a:rPr>
                  <a:t>  =            , </a:t>
                </a:r>
                <a14:m>
                  <m:oMath xmlns:m="http://schemas.openxmlformats.org/officeDocument/2006/math">
                    <m:r>
                      <a:rPr lang="en-GB" sz="1400" b="0" i="1" noProof="0" smtClean="0">
                        <a:solidFill>
                          <a:prstClr val="black"/>
                        </a:solidFill>
                        <a:latin typeface="Cambria Math" panose="02040503050406030204" pitchFamily="18" charset="0"/>
                      </a:rPr>
                      <m:t>𝑦</m:t>
                    </m:r>
                  </m:oMath>
                </a14:m>
                <a:r>
                  <a:rPr lang="en-GB" sz="1400" noProof="0" dirty="0">
                    <a:solidFill>
                      <a:prstClr val="black"/>
                    </a:solidFill>
                  </a:rPr>
                  <a:t>  =     </a:t>
                </a:r>
              </a:p>
            </p:txBody>
          </p:sp>
        </mc:Choice>
        <mc:Fallback xmlns="">
          <p:sp>
            <p:nvSpPr>
              <p:cNvPr id="46" name="Rectangle 45">
                <a:extLst>
                  <a:ext uri="{FF2B5EF4-FFF2-40B4-BE49-F238E27FC236}">
                    <a16:creationId xmlns:a16="http://schemas.microsoft.com/office/drawing/2014/main" id="{AC357ECC-A710-0A49-95CD-DEF7B6D6DED8}"/>
                  </a:ext>
                </a:extLst>
              </p:cNvPr>
              <p:cNvSpPr>
                <a:spLocks noRot="1" noChangeAspect="1" noMove="1" noResize="1" noEditPoints="1" noAdjustHandles="1" noChangeArrowheads="1" noChangeShapeType="1" noTextEdit="1"/>
              </p:cNvSpPr>
              <p:nvPr/>
            </p:nvSpPr>
            <p:spPr>
              <a:xfrm>
                <a:off x="4990505" y="3954283"/>
                <a:ext cx="1381880" cy="369332"/>
              </a:xfrm>
              <a:prstGeom prst="rect">
                <a:avLst/>
              </a:prstGeom>
              <a:blipFill>
                <a:blip r:embed="rId6"/>
                <a:stretch>
                  <a:fillRect r="-12832" b="-16667"/>
                </a:stretch>
              </a:blipFill>
            </p:spPr>
            <p:txBody>
              <a:bodyPr/>
              <a:lstStyle/>
              <a:p>
                <a:r>
                  <a:rPr lang="en-US">
                    <a:noFill/>
                  </a:rPr>
                  <a:t> </a:t>
                </a:r>
              </a:p>
            </p:txBody>
          </p:sp>
        </mc:Fallback>
      </mc:AlternateContent>
      <p:sp>
        <p:nvSpPr>
          <p:cNvPr id="61" name="TextBox 60"/>
          <p:cNvSpPr txBox="1"/>
          <p:nvPr/>
        </p:nvSpPr>
        <p:spPr>
          <a:xfrm>
            <a:off x="-2236478" y="4859256"/>
            <a:ext cx="5422852" cy="276999"/>
          </a:xfrm>
          <a:prstGeom prst="rect">
            <a:avLst/>
          </a:prstGeom>
          <a:noFill/>
        </p:spPr>
        <p:txBody>
          <a:bodyPr wrap="square" rtlCol="0">
            <a:spAutoFit/>
          </a:bodyPr>
          <a:lstStyle/>
          <a:p>
            <a:pPr algn="ctr"/>
            <a:r>
              <a:rPr lang="en-GB" sz="1200" noProof="0" dirty="0"/>
              <a:t>6**.</a:t>
            </a:r>
          </a:p>
        </p:txBody>
      </p:sp>
      <p:sp>
        <p:nvSpPr>
          <p:cNvPr id="62" name="Rectangle 61"/>
          <p:cNvSpPr/>
          <p:nvPr/>
        </p:nvSpPr>
        <p:spPr>
          <a:xfrm>
            <a:off x="238597" y="4856743"/>
            <a:ext cx="6508329" cy="48429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6" name="Picture 5"/>
          <p:cNvPicPr>
            <a:picLocks noChangeAspect="1"/>
          </p:cNvPicPr>
          <p:nvPr/>
        </p:nvPicPr>
        <p:blipFill>
          <a:blip r:embed="rId7"/>
          <a:stretch>
            <a:fillRect/>
          </a:stretch>
        </p:blipFill>
        <p:spPr>
          <a:xfrm>
            <a:off x="2374699" y="2057158"/>
            <a:ext cx="2097801" cy="220507"/>
          </a:xfrm>
          <a:prstGeom prst="rect">
            <a:avLst/>
          </a:prstGeom>
        </p:spPr>
      </p:pic>
      <p:pic>
        <p:nvPicPr>
          <p:cNvPr id="13" name="Picture 12"/>
          <p:cNvPicPr>
            <a:picLocks noChangeAspect="1"/>
          </p:cNvPicPr>
          <p:nvPr/>
        </p:nvPicPr>
        <p:blipFill>
          <a:blip r:embed="rId8"/>
          <a:stretch>
            <a:fillRect/>
          </a:stretch>
        </p:blipFill>
        <p:spPr>
          <a:xfrm>
            <a:off x="3960232" y="2735949"/>
            <a:ext cx="2878657" cy="220133"/>
          </a:xfrm>
          <a:prstGeom prst="rect">
            <a:avLst/>
          </a:prstGeom>
        </p:spPr>
      </p:pic>
      <p:pic>
        <p:nvPicPr>
          <p:cNvPr id="14" name="Picture 13"/>
          <p:cNvPicPr>
            <a:picLocks noChangeAspect="1"/>
          </p:cNvPicPr>
          <p:nvPr/>
        </p:nvPicPr>
        <p:blipFill>
          <a:blip r:embed="rId9"/>
          <a:stretch>
            <a:fillRect/>
          </a:stretch>
        </p:blipFill>
        <p:spPr>
          <a:xfrm>
            <a:off x="814226" y="2129207"/>
            <a:ext cx="967824" cy="472481"/>
          </a:xfrm>
          <a:prstGeom prst="rect">
            <a:avLst/>
          </a:prstGeom>
        </p:spPr>
      </p:pic>
      <p:pic>
        <p:nvPicPr>
          <p:cNvPr id="4" name="Picture 3">
            <a:extLst>
              <a:ext uri="{FF2B5EF4-FFF2-40B4-BE49-F238E27FC236}">
                <a16:creationId xmlns:a16="http://schemas.microsoft.com/office/drawing/2014/main" id="{131C8539-221F-175C-AE75-7CA25457486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00967" y="4953000"/>
            <a:ext cx="5002513" cy="1929383"/>
          </a:xfrm>
          <a:prstGeom prst="rect">
            <a:avLst/>
          </a:prstGeom>
        </p:spPr>
      </p:pic>
    </p:spTree>
    <p:extLst>
      <p:ext uri="{BB962C8B-B14F-4D97-AF65-F5344CB8AC3E}">
        <p14:creationId xmlns:p14="http://schemas.microsoft.com/office/powerpoint/2010/main" val="37521200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557E9-EC97-34F5-723E-75BA1E7D83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CFB2B1-B5F3-5A1C-825A-0BE949B6487F}"/>
              </a:ext>
            </a:extLst>
          </p:cNvPr>
          <p:cNvSpPr>
            <a:spLocks noGrp="1"/>
          </p:cNvSpPr>
          <p:nvPr>
            <p:ph type="sldNum" sz="quarter" idx="12"/>
          </p:nvPr>
        </p:nvSpPr>
        <p:spPr/>
        <p:txBody>
          <a:bodyPr/>
          <a:lstStyle/>
          <a:p>
            <a:fld id="{9BD3B4A0-BFF9-422C-B253-48BA94BE2F5B}" type="slidenum">
              <a:rPr lang="en-GB" noProof="0" smtClean="0"/>
              <a:t>68</a:t>
            </a:fld>
            <a:endParaRPr lang="en-GB" noProof="0" dirty="0"/>
          </a:p>
        </p:txBody>
      </p:sp>
      <p:sp>
        <p:nvSpPr>
          <p:cNvPr id="3" name="TextBox 2">
            <a:extLst>
              <a:ext uri="{FF2B5EF4-FFF2-40B4-BE49-F238E27FC236}">
                <a16:creationId xmlns:a16="http://schemas.microsoft.com/office/drawing/2014/main" id="{F4787514-A73C-8065-6563-5D7DAA255E6E}"/>
              </a:ext>
            </a:extLst>
          </p:cNvPr>
          <p:cNvSpPr txBox="1"/>
          <p:nvPr/>
        </p:nvSpPr>
        <p:spPr>
          <a:xfrm>
            <a:off x="0" y="-25400"/>
            <a:ext cx="1294200" cy="276999"/>
          </a:xfrm>
          <a:prstGeom prst="rect">
            <a:avLst/>
          </a:prstGeom>
          <a:solidFill>
            <a:srgbClr val="0070C0"/>
          </a:solidFill>
        </p:spPr>
        <p:txBody>
          <a:bodyPr wrap="none" rtlCol="0" anchor="ctr">
            <a:spAutoFit/>
          </a:bodyPr>
          <a:lstStyle/>
          <a:p>
            <a:pPr algn="r"/>
            <a:r>
              <a:rPr lang="en-GB" sz="1200" b="1" noProof="0" dirty="0">
                <a:solidFill>
                  <a:schemeClr val="bg1"/>
                </a:solidFill>
              </a:rPr>
              <a:t>GCSE QUESTIONS</a:t>
            </a:r>
          </a:p>
        </p:txBody>
      </p:sp>
      <p:pic>
        <p:nvPicPr>
          <p:cNvPr id="5" name="Picture 4" descr="A white background with black text&#10;&#10;AI-generated content may be incorrect.">
            <a:extLst>
              <a:ext uri="{FF2B5EF4-FFF2-40B4-BE49-F238E27FC236}">
                <a16:creationId xmlns:a16="http://schemas.microsoft.com/office/drawing/2014/main" id="{5D68A1B8-1938-3972-D928-D85049EA95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51600"/>
            <a:ext cx="6435151" cy="4599800"/>
          </a:xfrm>
          <a:prstGeom prst="rect">
            <a:avLst/>
          </a:prstGeom>
        </p:spPr>
      </p:pic>
      <p:cxnSp>
        <p:nvCxnSpPr>
          <p:cNvPr id="7" name="Straight Connector 6">
            <a:extLst>
              <a:ext uri="{FF2B5EF4-FFF2-40B4-BE49-F238E27FC236}">
                <a16:creationId xmlns:a16="http://schemas.microsoft.com/office/drawing/2014/main" id="{A97EB695-C523-92F4-0D7C-2E5AB0081B80}"/>
              </a:ext>
            </a:extLst>
          </p:cNvPr>
          <p:cNvCxnSpPr/>
          <p:nvPr/>
        </p:nvCxnSpPr>
        <p:spPr>
          <a:xfrm>
            <a:off x="-1" y="4851400"/>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9" name="Picture 8" descr="A white sheet with black text&#10;&#10;AI-generated content may be incorrect.">
            <a:extLst>
              <a:ext uri="{FF2B5EF4-FFF2-40B4-BE49-F238E27FC236}">
                <a16:creationId xmlns:a16="http://schemas.microsoft.com/office/drawing/2014/main" id="{7DD8EA46-0763-1D78-0741-6088DFABAF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86" y="4952999"/>
            <a:ext cx="6275923" cy="4701399"/>
          </a:xfrm>
          <a:prstGeom prst="rect">
            <a:avLst/>
          </a:prstGeom>
        </p:spPr>
      </p:pic>
    </p:spTree>
    <p:extLst>
      <p:ext uri="{BB962C8B-B14F-4D97-AF65-F5344CB8AC3E}">
        <p14:creationId xmlns:p14="http://schemas.microsoft.com/office/powerpoint/2010/main" val="1484442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A7F2F6-CB63-80A9-0815-F36E051DEA56}"/>
              </a:ext>
            </a:extLst>
          </p:cNvPr>
          <p:cNvSpPr>
            <a:spLocks noGrp="1"/>
          </p:cNvSpPr>
          <p:nvPr>
            <p:ph type="sldNum" sz="quarter" idx="12"/>
          </p:nvPr>
        </p:nvSpPr>
        <p:spPr/>
        <p:txBody>
          <a:bodyPr/>
          <a:lstStyle/>
          <a:p>
            <a:fld id="{9BD3B4A0-BFF9-422C-B253-48BA94BE2F5B}" type="slidenum">
              <a:rPr lang="en-GB" noProof="0" smtClean="0"/>
              <a:t>69</a:t>
            </a:fld>
            <a:endParaRPr lang="en-GB" noProof="0" dirty="0"/>
          </a:p>
        </p:txBody>
      </p:sp>
      <p:pic>
        <p:nvPicPr>
          <p:cNvPr id="4" name="Picture 3" descr="A white background with black text&#10;&#10;AI-generated content may be incorrect.">
            <a:extLst>
              <a:ext uri="{FF2B5EF4-FFF2-40B4-BE49-F238E27FC236}">
                <a16:creationId xmlns:a16="http://schemas.microsoft.com/office/drawing/2014/main" id="{5F445AA0-176F-D9BD-9154-16F6A90E09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294" y="0"/>
            <a:ext cx="6609411" cy="4374800"/>
          </a:xfrm>
          <a:prstGeom prst="rect">
            <a:avLst/>
          </a:prstGeom>
        </p:spPr>
      </p:pic>
      <p:cxnSp>
        <p:nvCxnSpPr>
          <p:cNvPr id="5" name="Straight Connector 4">
            <a:extLst>
              <a:ext uri="{FF2B5EF4-FFF2-40B4-BE49-F238E27FC236}">
                <a16:creationId xmlns:a16="http://schemas.microsoft.com/office/drawing/2014/main" id="{F4EB75F4-F314-1549-4D82-90E8E18AF62A}"/>
              </a:ext>
            </a:extLst>
          </p:cNvPr>
          <p:cNvCxnSpPr/>
          <p:nvPr/>
        </p:nvCxnSpPr>
        <p:spPr>
          <a:xfrm>
            <a:off x="0" y="4425600"/>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7" name="Picture 6" descr="A graph paper with a circle and a line&#10;&#10;AI-generated content may be incorrect.">
            <a:extLst>
              <a:ext uri="{FF2B5EF4-FFF2-40B4-BE49-F238E27FC236}">
                <a16:creationId xmlns:a16="http://schemas.microsoft.com/office/drawing/2014/main" id="{A5202CC1-C437-F549-2CBC-EB20975CF8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294" y="4476401"/>
            <a:ext cx="4930306" cy="4070190"/>
          </a:xfrm>
          <a:prstGeom prst="rect">
            <a:avLst/>
          </a:prstGeom>
        </p:spPr>
      </p:pic>
      <p:pic>
        <p:nvPicPr>
          <p:cNvPr id="9" name="Picture 8" descr="A black text on a white background&#10;&#10;AI-generated content may be incorrect.">
            <a:extLst>
              <a:ext uri="{FF2B5EF4-FFF2-40B4-BE49-F238E27FC236}">
                <a16:creationId xmlns:a16="http://schemas.microsoft.com/office/drawing/2014/main" id="{141EBCB1-1757-C108-FA24-E57CF274D0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961" y="8368881"/>
            <a:ext cx="6155761" cy="1537119"/>
          </a:xfrm>
          <a:prstGeom prst="rect">
            <a:avLst/>
          </a:prstGeom>
        </p:spPr>
      </p:pic>
    </p:spTree>
    <p:extLst>
      <p:ext uri="{BB962C8B-B14F-4D97-AF65-F5344CB8AC3E}">
        <p14:creationId xmlns:p14="http://schemas.microsoft.com/office/powerpoint/2010/main" val="6254102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paper with a grid of lines&#10;&#10;AI-generated content may be incorrect.">
            <a:extLst>
              <a:ext uri="{FF2B5EF4-FFF2-40B4-BE49-F238E27FC236}">
                <a16:creationId xmlns:a16="http://schemas.microsoft.com/office/drawing/2014/main" id="{E95A8C88-F4ED-849E-5DD5-65919A2FB9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813" y="3502952"/>
            <a:ext cx="5868987" cy="4565542"/>
          </a:xfrm>
          <a:prstGeom prst="rect">
            <a:avLst/>
          </a:prstGeom>
        </p:spPr>
      </p:pic>
      <p:sp>
        <p:nvSpPr>
          <p:cNvPr id="2" name="Slide Number Placeholder 1">
            <a:extLst>
              <a:ext uri="{FF2B5EF4-FFF2-40B4-BE49-F238E27FC236}">
                <a16:creationId xmlns:a16="http://schemas.microsoft.com/office/drawing/2014/main" id="{E1EBA14C-56D9-994E-D170-BEA6D76874F9}"/>
              </a:ext>
            </a:extLst>
          </p:cNvPr>
          <p:cNvSpPr>
            <a:spLocks noGrp="1"/>
          </p:cNvSpPr>
          <p:nvPr>
            <p:ph type="sldNum" sz="quarter" idx="12"/>
          </p:nvPr>
        </p:nvSpPr>
        <p:spPr/>
        <p:txBody>
          <a:bodyPr/>
          <a:lstStyle/>
          <a:p>
            <a:fld id="{9BD3B4A0-BFF9-422C-B253-48BA94BE2F5B}" type="slidenum">
              <a:rPr lang="en-GB" noProof="0" smtClean="0"/>
              <a:t>70</a:t>
            </a:fld>
            <a:endParaRPr lang="en-GB" noProof="0" dirty="0"/>
          </a:p>
        </p:txBody>
      </p:sp>
      <p:pic>
        <p:nvPicPr>
          <p:cNvPr id="4" name="Picture 3" descr="A white background with black text&#10;&#10;AI-generated content may be incorrect.">
            <a:extLst>
              <a:ext uri="{FF2B5EF4-FFF2-40B4-BE49-F238E27FC236}">
                <a16:creationId xmlns:a16="http://schemas.microsoft.com/office/drawing/2014/main" id="{EAB6C643-E05C-5D07-553C-8264EEDFA3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813" y="0"/>
            <a:ext cx="6235700" cy="3502952"/>
          </a:xfrm>
          <a:prstGeom prst="rect">
            <a:avLst/>
          </a:prstGeom>
        </p:spPr>
      </p:pic>
      <p:cxnSp>
        <p:nvCxnSpPr>
          <p:cNvPr id="5" name="Straight Connector 4">
            <a:extLst>
              <a:ext uri="{FF2B5EF4-FFF2-40B4-BE49-F238E27FC236}">
                <a16:creationId xmlns:a16="http://schemas.microsoft.com/office/drawing/2014/main" id="{E6924374-E7D7-732B-EAEE-B815809E1AF0}"/>
              </a:ext>
            </a:extLst>
          </p:cNvPr>
          <p:cNvCxnSpPr/>
          <p:nvPr/>
        </p:nvCxnSpPr>
        <p:spPr>
          <a:xfrm>
            <a:off x="0" y="3502952"/>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9" name="Picture 8" descr="A white background with black text&#10;&#10;AI-generated content may be incorrect.">
            <a:extLst>
              <a:ext uri="{FF2B5EF4-FFF2-40B4-BE49-F238E27FC236}">
                <a16:creationId xmlns:a16="http://schemas.microsoft.com/office/drawing/2014/main" id="{61C57C1D-2534-2541-A1C9-E975A54581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813" y="8155981"/>
            <a:ext cx="6097381" cy="1457913"/>
          </a:xfrm>
          <a:prstGeom prst="rect">
            <a:avLst/>
          </a:prstGeom>
        </p:spPr>
      </p:pic>
    </p:spTree>
    <p:extLst>
      <p:ext uri="{BB962C8B-B14F-4D97-AF65-F5344CB8AC3E}">
        <p14:creationId xmlns:p14="http://schemas.microsoft.com/office/powerpoint/2010/main" val="21029293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AAB6388F5B3DD48A4F5524A84895604" ma:contentTypeVersion="14" ma:contentTypeDescription="Create a new document." ma:contentTypeScope="" ma:versionID="d122bacdc6e0e52b1daab86e5e474f38">
  <xsd:schema xmlns:xsd="http://www.w3.org/2001/XMLSchema" xmlns:xs="http://www.w3.org/2001/XMLSchema" xmlns:p="http://schemas.microsoft.com/office/2006/metadata/properties" xmlns:ns2="e30b71df-48f4-4db7-95c3-a9033c265cb9" xmlns:ns3="608ebbb4-e88b-4c99-b506-21d9362781c6" targetNamespace="http://schemas.microsoft.com/office/2006/metadata/properties" ma:root="true" ma:fieldsID="c50e756327527929f9f40a94500ed9ef" ns2:_="" ns3:_="">
    <xsd:import namespace="e30b71df-48f4-4db7-95c3-a9033c265cb9"/>
    <xsd:import namespace="608ebbb4-e88b-4c99-b506-21d9362781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b71df-48f4-4db7-95c3-a9033c265c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8ebbb4-e88b-4c99-b506-21d9362781c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53D74A-5336-454B-8D4D-7A76286864F0}">
  <ds:schemaRefs>
    <ds:schemaRef ds:uri="http://schemas.microsoft.com/sharepoint/v3/contenttype/forms"/>
  </ds:schemaRefs>
</ds:datastoreItem>
</file>

<file path=customXml/itemProps2.xml><?xml version="1.0" encoding="utf-8"?>
<ds:datastoreItem xmlns:ds="http://schemas.openxmlformats.org/officeDocument/2006/customXml" ds:itemID="{00F551DF-02B3-45E2-A83E-993D28DAF02D}">
  <ds:schemaRefs>
    <ds:schemaRef ds:uri="608ebbb4-e88b-4c99-b506-21d9362781c6"/>
    <ds:schemaRef ds:uri="e30b71df-48f4-4db7-95c3-a9033c265cb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8993FAD-BC98-4BC4-9AAA-9B0B2AFC55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0b71df-48f4-4db7-95c3-a9033c265cb9"/>
    <ds:schemaRef ds:uri="608ebbb4-e88b-4c99-b506-21d9362781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10685</Words>
  <Application>Microsoft Office PowerPoint</Application>
  <PresentationFormat>A4 Paper (210x297 mm)</PresentationFormat>
  <Paragraphs>2056</Paragraphs>
  <Slides>70</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70</vt:i4>
      </vt:variant>
    </vt:vector>
  </HeadingPairs>
  <TitlesOfParts>
    <vt:vector size="79" baseType="lpstr">
      <vt:lpstr>.AppleSystemUIFont</vt:lpstr>
      <vt:lpstr>Arial</vt:lpstr>
      <vt:lpstr>Bitstream Vera Sans</vt:lpstr>
      <vt:lpstr>Calibri</vt:lpstr>
      <vt:lpstr>Calibri Light</vt:lpstr>
      <vt:lpstr>Cambria Math</vt:lpstr>
      <vt:lpstr>Times</vt:lpstr>
      <vt:lpstr>Tinos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Marcus Lindley (Staff, Astrea Academy Sheffield)</dc:creator>
  <cp:lastModifiedBy>Adam Brown (Astrea Central)</cp:lastModifiedBy>
  <cp:revision>9</cp:revision>
  <cp:lastPrinted>2023-02-02T08:32:36Z</cp:lastPrinted>
  <dcterms:created xsi:type="dcterms:W3CDTF">2022-06-06T15:50:05Z</dcterms:created>
  <dcterms:modified xsi:type="dcterms:W3CDTF">2025-08-06T13:12:44Z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0x010100CAAB6388F5B3DD48A4F5524A84895604</vt:lpwstr>
  </property>
</Properties>
</file>