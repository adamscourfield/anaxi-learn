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1"/>
  </p:notesMasterIdLst>
  <p:sldIdLst>
    <p:sldId id="257" r:id="rId5"/>
    <p:sldId id="2728" r:id="rId6"/>
    <p:sldId id="258" r:id="rId7"/>
    <p:sldId id="2729" r:id="rId8"/>
    <p:sldId id="2762" r:id="rId9"/>
    <p:sldId id="2759" r:id="rId10"/>
    <p:sldId id="322" r:id="rId11"/>
    <p:sldId id="323" r:id="rId12"/>
    <p:sldId id="329" r:id="rId13"/>
    <p:sldId id="324" r:id="rId14"/>
    <p:sldId id="325" r:id="rId15"/>
    <p:sldId id="326" r:id="rId16"/>
    <p:sldId id="331" r:id="rId17"/>
    <p:sldId id="375" r:id="rId18"/>
    <p:sldId id="374" r:id="rId19"/>
    <p:sldId id="330" r:id="rId20"/>
    <p:sldId id="327" r:id="rId21"/>
    <p:sldId id="328" r:id="rId22"/>
    <p:sldId id="264" r:id="rId23"/>
    <p:sldId id="265" r:id="rId24"/>
    <p:sldId id="266" r:id="rId25"/>
    <p:sldId id="2760" r:id="rId26"/>
    <p:sldId id="2761" r:id="rId27"/>
    <p:sldId id="2750" r:id="rId28"/>
    <p:sldId id="2763" r:id="rId29"/>
    <p:sldId id="2764" r:id="rId30"/>
    <p:sldId id="2765" r:id="rId31"/>
    <p:sldId id="267" r:id="rId32"/>
    <p:sldId id="268" r:id="rId33"/>
    <p:sldId id="269" r:id="rId34"/>
    <p:sldId id="376" r:id="rId35"/>
    <p:sldId id="334" r:id="rId36"/>
    <p:sldId id="335" r:id="rId37"/>
    <p:sldId id="336" r:id="rId38"/>
    <p:sldId id="277" r:id="rId39"/>
    <p:sldId id="2751" r:id="rId40"/>
    <p:sldId id="2766" r:id="rId41"/>
    <p:sldId id="286" r:id="rId42"/>
    <p:sldId id="287" r:id="rId43"/>
    <p:sldId id="344" r:id="rId44"/>
    <p:sldId id="288" r:id="rId45"/>
    <p:sldId id="291" r:id="rId46"/>
    <p:sldId id="292" r:id="rId47"/>
    <p:sldId id="293" r:id="rId48"/>
    <p:sldId id="294" r:id="rId49"/>
    <p:sldId id="289" r:id="rId50"/>
    <p:sldId id="290" r:id="rId51"/>
    <p:sldId id="345" r:id="rId52"/>
    <p:sldId id="346" r:id="rId53"/>
    <p:sldId id="2752" r:id="rId54"/>
    <p:sldId id="2767" r:id="rId55"/>
    <p:sldId id="2768" r:id="rId56"/>
    <p:sldId id="2769" r:id="rId57"/>
    <p:sldId id="2770" r:id="rId58"/>
    <p:sldId id="296" r:id="rId59"/>
    <p:sldId id="347" r:id="rId60"/>
    <p:sldId id="303" r:id="rId61"/>
    <p:sldId id="2719" r:id="rId62"/>
    <p:sldId id="2723" r:id="rId63"/>
    <p:sldId id="2724" r:id="rId64"/>
    <p:sldId id="348" r:id="rId65"/>
    <p:sldId id="355" r:id="rId66"/>
    <p:sldId id="379" r:id="rId67"/>
    <p:sldId id="353" r:id="rId68"/>
    <p:sldId id="349" r:id="rId69"/>
    <p:sldId id="378" r:id="rId70"/>
    <p:sldId id="2720" r:id="rId71"/>
    <p:sldId id="350" r:id="rId72"/>
    <p:sldId id="377" r:id="rId73"/>
    <p:sldId id="2721" r:id="rId74"/>
    <p:sldId id="2722" r:id="rId75"/>
    <p:sldId id="2725" r:id="rId76"/>
    <p:sldId id="2726" r:id="rId77"/>
    <p:sldId id="2727" r:id="rId78"/>
    <p:sldId id="313" r:id="rId79"/>
    <p:sldId id="2771" r:id="rId80"/>
    <p:sldId id="2772" r:id="rId81"/>
    <p:sldId id="356" r:id="rId82"/>
    <p:sldId id="372" r:id="rId83"/>
    <p:sldId id="314" r:id="rId84"/>
    <p:sldId id="357" r:id="rId85"/>
    <p:sldId id="358" r:id="rId86"/>
    <p:sldId id="373" r:id="rId87"/>
    <p:sldId id="2773" r:id="rId88"/>
    <p:sldId id="2753" r:id="rId89"/>
    <p:sldId id="2774" r:id="rId90"/>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98" autoAdjust="0"/>
    <p:restoredTop sz="94660"/>
  </p:normalViewPr>
  <p:slideViewPr>
    <p:cSldViewPr snapToGrid="0">
      <p:cViewPr varScale="1">
        <p:scale>
          <a:sx n="77" d="100"/>
          <a:sy n="77" d="100"/>
        </p:scale>
        <p:origin x="3252"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notesMaster" Target="notesMasters/notesMaster1.xml"/><Relationship Id="rId9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197ED90E-1539-4B42-93FB-B8C5C71BECF3}"/>
    <pc:docChg chg="custSel delSld modSld">
      <pc:chgData name="Adam Brown (Astrea Central)" userId="e4577f1c-a0ea-4eef-9851-9bdbe8619e58" providerId="ADAL" clId="{197ED90E-1539-4B42-93FB-B8C5C71BECF3}" dt="2025-08-07T13:19:01.434" v="45" actId="20577"/>
      <pc:docMkLst>
        <pc:docMk/>
      </pc:docMkLst>
      <pc:sldChg chg="modSp mod">
        <pc:chgData name="Adam Brown (Astrea Central)" userId="e4577f1c-a0ea-4eef-9851-9bdbe8619e58" providerId="ADAL" clId="{197ED90E-1539-4B42-93FB-B8C5C71BECF3}" dt="2025-08-06T13:16:18.476" v="15" actId="20577"/>
        <pc:sldMkLst>
          <pc:docMk/>
          <pc:sldMk cId="2420724009" sldId="257"/>
        </pc:sldMkLst>
        <pc:graphicFrameChg chg="modGraphic">
          <ac:chgData name="Adam Brown (Astrea Central)" userId="e4577f1c-a0ea-4eef-9851-9bdbe8619e58" providerId="ADAL" clId="{197ED90E-1539-4B42-93FB-B8C5C71BECF3}" dt="2025-08-06T13:16:18.476" v="15" actId="20577"/>
          <ac:graphicFrameMkLst>
            <pc:docMk/>
            <pc:sldMk cId="2420724009" sldId="257"/>
            <ac:graphicFrameMk id="3" creationId="{00000000-0000-0000-0000-000000000000}"/>
          </ac:graphicFrameMkLst>
        </pc:graphicFrameChg>
      </pc:sldChg>
      <pc:sldChg chg="modSp mod">
        <pc:chgData name="Adam Brown (Astrea Central)" userId="e4577f1c-a0ea-4eef-9851-9bdbe8619e58" providerId="ADAL" clId="{197ED90E-1539-4B42-93FB-B8C5C71BECF3}" dt="2025-08-07T13:19:01.434" v="45" actId="20577"/>
        <pc:sldMkLst>
          <pc:docMk/>
          <pc:sldMk cId="1005434100" sldId="258"/>
        </pc:sldMkLst>
        <pc:graphicFrameChg chg="modGraphic">
          <ac:chgData name="Adam Brown (Astrea Central)" userId="e4577f1c-a0ea-4eef-9851-9bdbe8619e58" providerId="ADAL" clId="{197ED90E-1539-4B42-93FB-B8C5C71BECF3}" dt="2025-08-07T13:19:01.434" v="45" actId="20577"/>
          <ac:graphicFrameMkLst>
            <pc:docMk/>
            <pc:sldMk cId="1005434100" sldId="258"/>
            <ac:graphicFrameMk id="22" creationId="{00000000-0000-0000-0000-000000000000}"/>
          </ac:graphicFrameMkLst>
        </pc:graphicFrameChg>
      </pc:sldChg>
      <pc:sldChg chg="del">
        <pc:chgData name="Adam Brown (Astrea Central)" userId="e4577f1c-a0ea-4eef-9851-9bdbe8619e58" providerId="ADAL" clId="{197ED90E-1539-4B42-93FB-B8C5C71BECF3}" dt="2025-08-06T13:17:18.131" v="18" actId="47"/>
        <pc:sldMkLst>
          <pc:docMk/>
          <pc:sldMk cId="1544988901" sldId="260"/>
        </pc:sldMkLst>
      </pc:sldChg>
      <pc:sldChg chg="del">
        <pc:chgData name="Adam Brown (Astrea Central)" userId="e4577f1c-a0ea-4eef-9851-9bdbe8619e58" providerId="ADAL" clId="{197ED90E-1539-4B42-93FB-B8C5C71BECF3}" dt="2025-08-06T13:17:18.131" v="18" actId="47"/>
        <pc:sldMkLst>
          <pc:docMk/>
          <pc:sldMk cId="1298809760" sldId="261"/>
        </pc:sldMkLst>
      </pc:sldChg>
      <pc:sldChg chg="del">
        <pc:chgData name="Adam Brown (Astrea Central)" userId="e4577f1c-a0ea-4eef-9851-9bdbe8619e58" providerId="ADAL" clId="{197ED90E-1539-4B42-93FB-B8C5C71BECF3}" dt="2025-08-06T13:17:18.131" v="18" actId="47"/>
        <pc:sldMkLst>
          <pc:docMk/>
          <pc:sldMk cId="2535812588" sldId="262"/>
        </pc:sldMkLst>
      </pc:sldChg>
      <pc:sldChg chg="del">
        <pc:chgData name="Adam Brown (Astrea Central)" userId="e4577f1c-a0ea-4eef-9851-9bdbe8619e58" providerId="ADAL" clId="{197ED90E-1539-4B42-93FB-B8C5C71BECF3}" dt="2025-08-06T13:17:18.131" v="18" actId="47"/>
        <pc:sldMkLst>
          <pc:docMk/>
          <pc:sldMk cId="314270034" sldId="263"/>
        </pc:sldMkLst>
      </pc:sldChg>
      <pc:sldChg chg="del">
        <pc:chgData name="Adam Brown (Astrea Central)" userId="e4577f1c-a0ea-4eef-9851-9bdbe8619e58" providerId="ADAL" clId="{197ED90E-1539-4B42-93FB-B8C5C71BECF3}" dt="2025-08-06T13:17:18.131" v="18" actId="47"/>
        <pc:sldMkLst>
          <pc:docMk/>
          <pc:sldMk cId="814084658" sldId="270"/>
        </pc:sldMkLst>
      </pc:sldChg>
      <pc:sldChg chg="del">
        <pc:chgData name="Adam Brown (Astrea Central)" userId="e4577f1c-a0ea-4eef-9851-9bdbe8619e58" providerId="ADAL" clId="{197ED90E-1539-4B42-93FB-B8C5C71BECF3}" dt="2025-08-06T13:17:18.131" v="18" actId="47"/>
        <pc:sldMkLst>
          <pc:docMk/>
          <pc:sldMk cId="4023999436" sldId="272"/>
        </pc:sldMkLst>
      </pc:sldChg>
      <pc:sldChg chg="del">
        <pc:chgData name="Adam Brown (Astrea Central)" userId="e4577f1c-a0ea-4eef-9851-9bdbe8619e58" providerId="ADAL" clId="{197ED90E-1539-4B42-93FB-B8C5C71BECF3}" dt="2025-08-06T13:17:18.131" v="18" actId="47"/>
        <pc:sldMkLst>
          <pc:docMk/>
          <pc:sldMk cId="1555687156" sldId="273"/>
        </pc:sldMkLst>
      </pc:sldChg>
      <pc:sldChg chg="del">
        <pc:chgData name="Adam Brown (Astrea Central)" userId="e4577f1c-a0ea-4eef-9851-9bdbe8619e58" providerId="ADAL" clId="{197ED90E-1539-4B42-93FB-B8C5C71BECF3}" dt="2025-08-06T13:17:18.131" v="18" actId="47"/>
        <pc:sldMkLst>
          <pc:docMk/>
          <pc:sldMk cId="488137902" sldId="275"/>
        </pc:sldMkLst>
      </pc:sldChg>
      <pc:sldChg chg="del">
        <pc:chgData name="Adam Brown (Astrea Central)" userId="e4577f1c-a0ea-4eef-9851-9bdbe8619e58" providerId="ADAL" clId="{197ED90E-1539-4B42-93FB-B8C5C71BECF3}" dt="2025-08-06T13:17:18.131" v="18" actId="47"/>
        <pc:sldMkLst>
          <pc:docMk/>
          <pc:sldMk cId="2889196625" sldId="279"/>
        </pc:sldMkLst>
      </pc:sldChg>
      <pc:sldChg chg="del">
        <pc:chgData name="Adam Brown (Astrea Central)" userId="e4577f1c-a0ea-4eef-9851-9bdbe8619e58" providerId="ADAL" clId="{197ED90E-1539-4B42-93FB-B8C5C71BECF3}" dt="2025-08-06T13:17:18.131" v="18" actId="47"/>
        <pc:sldMkLst>
          <pc:docMk/>
          <pc:sldMk cId="2672236804" sldId="280"/>
        </pc:sldMkLst>
      </pc:sldChg>
      <pc:sldChg chg="del">
        <pc:chgData name="Adam Brown (Astrea Central)" userId="e4577f1c-a0ea-4eef-9851-9bdbe8619e58" providerId="ADAL" clId="{197ED90E-1539-4B42-93FB-B8C5C71BECF3}" dt="2025-08-06T13:17:18.131" v="18" actId="47"/>
        <pc:sldMkLst>
          <pc:docMk/>
          <pc:sldMk cId="1868544672" sldId="281"/>
        </pc:sldMkLst>
      </pc:sldChg>
      <pc:sldChg chg="del">
        <pc:chgData name="Adam Brown (Astrea Central)" userId="e4577f1c-a0ea-4eef-9851-9bdbe8619e58" providerId="ADAL" clId="{197ED90E-1539-4B42-93FB-B8C5C71BECF3}" dt="2025-08-06T13:17:18.131" v="18" actId="47"/>
        <pc:sldMkLst>
          <pc:docMk/>
          <pc:sldMk cId="3971028310" sldId="284"/>
        </pc:sldMkLst>
      </pc:sldChg>
      <pc:sldChg chg="del">
        <pc:chgData name="Adam Brown (Astrea Central)" userId="e4577f1c-a0ea-4eef-9851-9bdbe8619e58" providerId="ADAL" clId="{197ED90E-1539-4B42-93FB-B8C5C71BECF3}" dt="2025-08-06T13:17:18.131" v="18" actId="47"/>
        <pc:sldMkLst>
          <pc:docMk/>
          <pc:sldMk cId="1733324030" sldId="285"/>
        </pc:sldMkLst>
      </pc:sldChg>
      <pc:sldChg chg="del">
        <pc:chgData name="Adam Brown (Astrea Central)" userId="e4577f1c-a0ea-4eef-9851-9bdbe8619e58" providerId="ADAL" clId="{197ED90E-1539-4B42-93FB-B8C5C71BECF3}" dt="2025-08-06T13:17:18.131" v="18" actId="47"/>
        <pc:sldMkLst>
          <pc:docMk/>
          <pc:sldMk cId="3063108936" sldId="952"/>
        </pc:sldMkLst>
      </pc:sldChg>
      <pc:sldChg chg="del">
        <pc:chgData name="Adam Brown (Astrea Central)" userId="e4577f1c-a0ea-4eef-9851-9bdbe8619e58" providerId="ADAL" clId="{197ED90E-1539-4B42-93FB-B8C5C71BECF3}" dt="2025-08-06T13:17:18.131" v="18" actId="47"/>
        <pc:sldMkLst>
          <pc:docMk/>
          <pc:sldMk cId="2587464780" sldId="957"/>
        </pc:sldMkLst>
      </pc:sldChg>
      <pc:sldChg chg="del">
        <pc:chgData name="Adam Brown (Astrea Central)" userId="e4577f1c-a0ea-4eef-9851-9bdbe8619e58" providerId="ADAL" clId="{197ED90E-1539-4B42-93FB-B8C5C71BECF3}" dt="2025-08-06T13:17:18.131" v="18" actId="47"/>
        <pc:sldMkLst>
          <pc:docMk/>
          <pc:sldMk cId="151953142" sldId="963"/>
        </pc:sldMkLst>
      </pc:sldChg>
      <pc:sldChg chg="del">
        <pc:chgData name="Adam Brown (Astrea Central)" userId="e4577f1c-a0ea-4eef-9851-9bdbe8619e58" providerId="ADAL" clId="{197ED90E-1539-4B42-93FB-B8C5C71BECF3}" dt="2025-08-06T13:17:18.131" v="18" actId="47"/>
        <pc:sldMkLst>
          <pc:docMk/>
          <pc:sldMk cId="3651128130" sldId="964"/>
        </pc:sldMkLst>
      </pc:sldChg>
      <pc:sldChg chg="del">
        <pc:chgData name="Adam Brown (Astrea Central)" userId="e4577f1c-a0ea-4eef-9851-9bdbe8619e58" providerId="ADAL" clId="{197ED90E-1539-4B42-93FB-B8C5C71BECF3}" dt="2025-08-06T13:17:18.131" v="18" actId="47"/>
        <pc:sldMkLst>
          <pc:docMk/>
          <pc:sldMk cId="2962015683" sldId="967"/>
        </pc:sldMkLst>
      </pc:sldChg>
      <pc:sldChg chg="del">
        <pc:chgData name="Adam Brown (Astrea Central)" userId="e4577f1c-a0ea-4eef-9851-9bdbe8619e58" providerId="ADAL" clId="{197ED90E-1539-4B42-93FB-B8C5C71BECF3}" dt="2025-08-06T13:17:18.131" v="18" actId="47"/>
        <pc:sldMkLst>
          <pc:docMk/>
          <pc:sldMk cId="8561353" sldId="968"/>
        </pc:sldMkLst>
      </pc:sldChg>
      <pc:sldChg chg="del">
        <pc:chgData name="Adam Brown (Astrea Central)" userId="e4577f1c-a0ea-4eef-9851-9bdbe8619e58" providerId="ADAL" clId="{197ED90E-1539-4B42-93FB-B8C5C71BECF3}" dt="2025-08-06T13:17:18.131" v="18" actId="47"/>
        <pc:sldMkLst>
          <pc:docMk/>
          <pc:sldMk cId="3956224976" sldId="971"/>
        </pc:sldMkLst>
      </pc:sldChg>
      <pc:sldChg chg="del">
        <pc:chgData name="Adam Brown (Astrea Central)" userId="e4577f1c-a0ea-4eef-9851-9bdbe8619e58" providerId="ADAL" clId="{197ED90E-1539-4B42-93FB-B8C5C71BECF3}" dt="2025-08-06T13:17:18.131" v="18" actId="47"/>
        <pc:sldMkLst>
          <pc:docMk/>
          <pc:sldMk cId="4031722019" sldId="972"/>
        </pc:sldMkLst>
      </pc:sldChg>
      <pc:sldChg chg="del">
        <pc:chgData name="Adam Brown (Astrea Central)" userId="e4577f1c-a0ea-4eef-9851-9bdbe8619e58" providerId="ADAL" clId="{197ED90E-1539-4B42-93FB-B8C5C71BECF3}" dt="2025-08-06T13:17:18.131" v="18" actId="47"/>
        <pc:sldMkLst>
          <pc:docMk/>
          <pc:sldMk cId="396356508" sldId="974"/>
        </pc:sldMkLst>
      </pc:sldChg>
      <pc:sldChg chg="del">
        <pc:chgData name="Adam Brown (Astrea Central)" userId="e4577f1c-a0ea-4eef-9851-9bdbe8619e58" providerId="ADAL" clId="{197ED90E-1539-4B42-93FB-B8C5C71BECF3}" dt="2025-08-06T13:17:18.131" v="18" actId="47"/>
        <pc:sldMkLst>
          <pc:docMk/>
          <pc:sldMk cId="3752120071" sldId="979"/>
        </pc:sldMkLst>
      </pc:sldChg>
      <pc:sldChg chg="del">
        <pc:chgData name="Adam Brown (Astrea Central)" userId="e4577f1c-a0ea-4eef-9851-9bdbe8619e58" providerId="ADAL" clId="{197ED90E-1539-4B42-93FB-B8C5C71BECF3}" dt="2025-08-06T13:17:18.131" v="18" actId="47"/>
        <pc:sldMkLst>
          <pc:docMk/>
          <pc:sldMk cId="4195919322" sldId="981"/>
        </pc:sldMkLst>
      </pc:sldChg>
      <pc:sldChg chg="del">
        <pc:chgData name="Adam Brown (Astrea Central)" userId="e4577f1c-a0ea-4eef-9851-9bdbe8619e58" providerId="ADAL" clId="{197ED90E-1539-4B42-93FB-B8C5C71BECF3}" dt="2025-08-06T13:17:18.131" v="18" actId="47"/>
        <pc:sldMkLst>
          <pc:docMk/>
          <pc:sldMk cId="2599061422" sldId="982"/>
        </pc:sldMkLst>
      </pc:sldChg>
      <pc:sldChg chg="del">
        <pc:chgData name="Adam Brown (Astrea Central)" userId="e4577f1c-a0ea-4eef-9851-9bdbe8619e58" providerId="ADAL" clId="{197ED90E-1539-4B42-93FB-B8C5C71BECF3}" dt="2025-08-06T13:17:18.131" v="18" actId="47"/>
        <pc:sldMkLst>
          <pc:docMk/>
          <pc:sldMk cId="1696658123" sldId="985"/>
        </pc:sldMkLst>
      </pc:sldChg>
      <pc:sldChg chg="del">
        <pc:chgData name="Adam Brown (Astrea Central)" userId="e4577f1c-a0ea-4eef-9851-9bdbe8619e58" providerId="ADAL" clId="{197ED90E-1539-4B42-93FB-B8C5C71BECF3}" dt="2025-08-06T13:17:18.131" v="18" actId="47"/>
        <pc:sldMkLst>
          <pc:docMk/>
          <pc:sldMk cId="1328723957" sldId="987"/>
        </pc:sldMkLst>
      </pc:sldChg>
      <pc:sldChg chg="del">
        <pc:chgData name="Adam Brown (Astrea Central)" userId="e4577f1c-a0ea-4eef-9851-9bdbe8619e58" providerId="ADAL" clId="{197ED90E-1539-4B42-93FB-B8C5C71BECF3}" dt="2025-08-06T13:17:18.131" v="18" actId="47"/>
        <pc:sldMkLst>
          <pc:docMk/>
          <pc:sldMk cId="1206986322" sldId="988"/>
        </pc:sldMkLst>
      </pc:sldChg>
      <pc:sldChg chg="del">
        <pc:chgData name="Adam Brown (Astrea Central)" userId="e4577f1c-a0ea-4eef-9851-9bdbe8619e58" providerId="ADAL" clId="{197ED90E-1539-4B42-93FB-B8C5C71BECF3}" dt="2025-08-06T13:17:18.131" v="18" actId="47"/>
        <pc:sldMkLst>
          <pc:docMk/>
          <pc:sldMk cId="1594028101" sldId="989"/>
        </pc:sldMkLst>
      </pc:sldChg>
      <pc:sldChg chg="del">
        <pc:chgData name="Adam Brown (Astrea Central)" userId="e4577f1c-a0ea-4eef-9851-9bdbe8619e58" providerId="ADAL" clId="{197ED90E-1539-4B42-93FB-B8C5C71BECF3}" dt="2025-08-06T13:17:18.131" v="18" actId="47"/>
        <pc:sldMkLst>
          <pc:docMk/>
          <pc:sldMk cId="2219029894" sldId="990"/>
        </pc:sldMkLst>
      </pc:sldChg>
      <pc:sldChg chg="del">
        <pc:chgData name="Adam Brown (Astrea Central)" userId="e4577f1c-a0ea-4eef-9851-9bdbe8619e58" providerId="ADAL" clId="{197ED90E-1539-4B42-93FB-B8C5C71BECF3}" dt="2025-08-06T13:17:18.131" v="18" actId="47"/>
        <pc:sldMkLst>
          <pc:docMk/>
          <pc:sldMk cId="1135025790" sldId="1162"/>
        </pc:sldMkLst>
      </pc:sldChg>
      <pc:sldChg chg="del">
        <pc:chgData name="Adam Brown (Astrea Central)" userId="e4577f1c-a0ea-4eef-9851-9bdbe8619e58" providerId="ADAL" clId="{197ED90E-1539-4B42-93FB-B8C5C71BECF3}" dt="2025-08-06T13:17:18.131" v="18" actId="47"/>
        <pc:sldMkLst>
          <pc:docMk/>
          <pc:sldMk cId="863086105" sldId="1163"/>
        </pc:sldMkLst>
      </pc:sldChg>
      <pc:sldChg chg="del">
        <pc:chgData name="Adam Brown (Astrea Central)" userId="e4577f1c-a0ea-4eef-9851-9bdbe8619e58" providerId="ADAL" clId="{197ED90E-1539-4B42-93FB-B8C5C71BECF3}" dt="2025-08-06T13:17:18.131" v="18" actId="47"/>
        <pc:sldMkLst>
          <pc:docMk/>
          <pc:sldMk cId="1779407553" sldId="1173"/>
        </pc:sldMkLst>
      </pc:sldChg>
      <pc:sldChg chg="del">
        <pc:chgData name="Adam Brown (Astrea Central)" userId="e4577f1c-a0ea-4eef-9851-9bdbe8619e58" providerId="ADAL" clId="{197ED90E-1539-4B42-93FB-B8C5C71BECF3}" dt="2025-08-06T13:17:18.131" v="18" actId="47"/>
        <pc:sldMkLst>
          <pc:docMk/>
          <pc:sldMk cId="271517831" sldId="2696"/>
        </pc:sldMkLst>
      </pc:sldChg>
      <pc:sldChg chg="del">
        <pc:chgData name="Adam Brown (Astrea Central)" userId="e4577f1c-a0ea-4eef-9851-9bdbe8619e58" providerId="ADAL" clId="{197ED90E-1539-4B42-93FB-B8C5C71BECF3}" dt="2025-08-06T13:17:18.131" v="18" actId="47"/>
        <pc:sldMkLst>
          <pc:docMk/>
          <pc:sldMk cId="1380726865" sldId="2698"/>
        </pc:sldMkLst>
      </pc:sldChg>
      <pc:sldChg chg="del">
        <pc:chgData name="Adam Brown (Astrea Central)" userId="e4577f1c-a0ea-4eef-9851-9bdbe8619e58" providerId="ADAL" clId="{197ED90E-1539-4B42-93FB-B8C5C71BECF3}" dt="2025-08-06T13:17:18.131" v="18" actId="47"/>
        <pc:sldMkLst>
          <pc:docMk/>
          <pc:sldMk cId="1343043793" sldId="2700"/>
        </pc:sldMkLst>
      </pc:sldChg>
      <pc:sldChg chg="del">
        <pc:chgData name="Adam Brown (Astrea Central)" userId="e4577f1c-a0ea-4eef-9851-9bdbe8619e58" providerId="ADAL" clId="{197ED90E-1539-4B42-93FB-B8C5C71BECF3}" dt="2025-08-06T13:17:18.131" v="18" actId="47"/>
        <pc:sldMkLst>
          <pc:docMk/>
          <pc:sldMk cId="3301299181" sldId="2701"/>
        </pc:sldMkLst>
      </pc:sldChg>
      <pc:sldChg chg="del">
        <pc:chgData name="Adam Brown (Astrea Central)" userId="e4577f1c-a0ea-4eef-9851-9bdbe8619e58" providerId="ADAL" clId="{197ED90E-1539-4B42-93FB-B8C5C71BECF3}" dt="2025-08-06T13:17:18.131" v="18" actId="47"/>
        <pc:sldMkLst>
          <pc:docMk/>
          <pc:sldMk cId="3757623286" sldId="2702"/>
        </pc:sldMkLst>
      </pc:sldChg>
      <pc:sldChg chg="del">
        <pc:chgData name="Adam Brown (Astrea Central)" userId="e4577f1c-a0ea-4eef-9851-9bdbe8619e58" providerId="ADAL" clId="{197ED90E-1539-4B42-93FB-B8C5C71BECF3}" dt="2025-08-06T13:17:18.131" v="18" actId="47"/>
        <pc:sldMkLst>
          <pc:docMk/>
          <pc:sldMk cId="3911472027" sldId="2704"/>
        </pc:sldMkLst>
      </pc:sldChg>
      <pc:sldChg chg="del">
        <pc:chgData name="Adam Brown (Astrea Central)" userId="e4577f1c-a0ea-4eef-9851-9bdbe8619e58" providerId="ADAL" clId="{197ED90E-1539-4B42-93FB-B8C5C71BECF3}" dt="2025-08-06T13:17:18.131" v="18" actId="47"/>
        <pc:sldMkLst>
          <pc:docMk/>
          <pc:sldMk cId="1845416459" sldId="2705"/>
        </pc:sldMkLst>
      </pc:sldChg>
      <pc:sldChg chg="del">
        <pc:chgData name="Adam Brown (Astrea Central)" userId="e4577f1c-a0ea-4eef-9851-9bdbe8619e58" providerId="ADAL" clId="{197ED90E-1539-4B42-93FB-B8C5C71BECF3}" dt="2025-08-06T13:17:18.131" v="18" actId="47"/>
        <pc:sldMkLst>
          <pc:docMk/>
          <pc:sldMk cId="1886488787" sldId="2706"/>
        </pc:sldMkLst>
      </pc:sldChg>
      <pc:sldChg chg="del">
        <pc:chgData name="Adam Brown (Astrea Central)" userId="e4577f1c-a0ea-4eef-9851-9bdbe8619e58" providerId="ADAL" clId="{197ED90E-1539-4B42-93FB-B8C5C71BECF3}" dt="2025-08-06T13:17:18.131" v="18" actId="47"/>
        <pc:sldMkLst>
          <pc:docMk/>
          <pc:sldMk cId="3400159256" sldId="2707"/>
        </pc:sldMkLst>
      </pc:sldChg>
      <pc:sldChg chg="del">
        <pc:chgData name="Adam Brown (Astrea Central)" userId="e4577f1c-a0ea-4eef-9851-9bdbe8619e58" providerId="ADAL" clId="{197ED90E-1539-4B42-93FB-B8C5C71BECF3}" dt="2025-08-06T13:17:18.131" v="18" actId="47"/>
        <pc:sldMkLst>
          <pc:docMk/>
          <pc:sldMk cId="2664751948" sldId="2709"/>
        </pc:sldMkLst>
      </pc:sldChg>
      <pc:sldChg chg="del">
        <pc:chgData name="Adam Brown (Astrea Central)" userId="e4577f1c-a0ea-4eef-9851-9bdbe8619e58" providerId="ADAL" clId="{197ED90E-1539-4B42-93FB-B8C5C71BECF3}" dt="2025-08-06T13:17:18.131" v="18" actId="47"/>
        <pc:sldMkLst>
          <pc:docMk/>
          <pc:sldMk cId="3722714943" sldId="2711"/>
        </pc:sldMkLst>
      </pc:sldChg>
      <pc:sldChg chg="del">
        <pc:chgData name="Adam Brown (Astrea Central)" userId="e4577f1c-a0ea-4eef-9851-9bdbe8619e58" providerId="ADAL" clId="{197ED90E-1539-4B42-93FB-B8C5C71BECF3}" dt="2025-08-06T13:17:18.131" v="18" actId="47"/>
        <pc:sldMkLst>
          <pc:docMk/>
          <pc:sldMk cId="2752550148" sldId="2714"/>
        </pc:sldMkLst>
      </pc:sldChg>
      <pc:sldChg chg="del">
        <pc:chgData name="Adam Brown (Astrea Central)" userId="e4577f1c-a0ea-4eef-9851-9bdbe8619e58" providerId="ADAL" clId="{197ED90E-1539-4B42-93FB-B8C5C71BECF3}" dt="2025-08-06T13:17:18.131" v="18" actId="47"/>
        <pc:sldMkLst>
          <pc:docMk/>
          <pc:sldMk cId="3615378340" sldId="2715"/>
        </pc:sldMkLst>
      </pc:sldChg>
      <pc:sldChg chg="del">
        <pc:chgData name="Adam Brown (Astrea Central)" userId="e4577f1c-a0ea-4eef-9851-9bdbe8619e58" providerId="ADAL" clId="{197ED90E-1539-4B42-93FB-B8C5C71BECF3}" dt="2025-08-06T13:17:18.131" v="18" actId="47"/>
        <pc:sldMkLst>
          <pc:docMk/>
          <pc:sldMk cId="2217025205" sldId="2716"/>
        </pc:sldMkLst>
      </pc:sldChg>
      <pc:sldChg chg="del">
        <pc:chgData name="Adam Brown (Astrea Central)" userId="e4577f1c-a0ea-4eef-9851-9bdbe8619e58" providerId="ADAL" clId="{197ED90E-1539-4B42-93FB-B8C5C71BECF3}" dt="2025-08-06T13:17:18.131" v="18" actId="47"/>
        <pc:sldMkLst>
          <pc:docMk/>
          <pc:sldMk cId="2572306068" sldId="2717"/>
        </pc:sldMkLst>
      </pc:sldChg>
      <pc:sldChg chg="del">
        <pc:chgData name="Adam Brown (Astrea Central)" userId="e4577f1c-a0ea-4eef-9851-9bdbe8619e58" providerId="ADAL" clId="{197ED90E-1539-4B42-93FB-B8C5C71BECF3}" dt="2025-08-06T13:17:18.131" v="18" actId="47"/>
        <pc:sldMkLst>
          <pc:docMk/>
          <pc:sldMk cId="1685474441" sldId="2718"/>
        </pc:sldMkLst>
      </pc:sldChg>
      <pc:sldChg chg="del">
        <pc:chgData name="Adam Brown (Astrea Central)" userId="e4577f1c-a0ea-4eef-9851-9bdbe8619e58" providerId="ADAL" clId="{197ED90E-1539-4B42-93FB-B8C5C71BECF3}" dt="2025-08-06T13:17:18.131" v="18" actId="47"/>
        <pc:sldMkLst>
          <pc:docMk/>
          <pc:sldMk cId="1894790025" sldId="2730"/>
        </pc:sldMkLst>
      </pc:sldChg>
      <pc:sldChg chg="del">
        <pc:chgData name="Adam Brown (Astrea Central)" userId="e4577f1c-a0ea-4eef-9851-9bdbe8619e58" providerId="ADAL" clId="{197ED90E-1539-4B42-93FB-B8C5C71BECF3}" dt="2025-08-06T13:17:18.131" v="18" actId="47"/>
        <pc:sldMkLst>
          <pc:docMk/>
          <pc:sldMk cId="3800818377" sldId="2731"/>
        </pc:sldMkLst>
      </pc:sldChg>
      <pc:sldChg chg="del">
        <pc:chgData name="Adam Brown (Astrea Central)" userId="e4577f1c-a0ea-4eef-9851-9bdbe8619e58" providerId="ADAL" clId="{197ED90E-1539-4B42-93FB-B8C5C71BECF3}" dt="2025-08-06T13:17:18.131" v="18" actId="47"/>
        <pc:sldMkLst>
          <pc:docMk/>
          <pc:sldMk cId="2522769965" sldId="2732"/>
        </pc:sldMkLst>
      </pc:sldChg>
      <pc:sldChg chg="del">
        <pc:chgData name="Adam Brown (Astrea Central)" userId="e4577f1c-a0ea-4eef-9851-9bdbe8619e58" providerId="ADAL" clId="{197ED90E-1539-4B42-93FB-B8C5C71BECF3}" dt="2025-08-06T13:17:18.131" v="18" actId="47"/>
        <pc:sldMkLst>
          <pc:docMk/>
          <pc:sldMk cId="1710446999" sldId="2733"/>
        </pc:sldMkLst>
      </pc:sldChg>
      <pc:sldChg chg="del">
        <pc:chgData name="Adam Brown (Astrea Central)" userId="e4577f1c-a0ea-4eef-9851-9bdbe8619e58" providerId="ADAL" clId="{197ED90E-1539-4B42-93FB-B8C5C71BECF3}" dt="2025-08-06T13:17:18.131" v="18" actId="47"/>
        <pc:sldMkLst>
          <pc:docMk/>
          <pc:sldMk cId="2556719208" sldId="2734"/>
        </pc:sldMkLst>
      </pc:sldChg>
      <pc:sldChg chg="del">
        <pc:chgData name="Adam Brown (Astrea Central)" userId="e4577f1c-a0ea-4eef-9851-9bdbe8619e58" providerId="ADAL" clId="{197ED90E-1539-4B42-93FB-B8C5C71BECF3}" dt="2025-08-06T13:17:18.131" v="18" actId="47"/>
        <pc:sldMkLst>
          <pc:docMk/>
          <pc:sldMk cId="3087637966" sldId="2738"/>
        </pc:sldMkLst>
      </pc:sldChg>
      <pc:sldChg chg="del">
        <pc:chgData name="Adam Brown (Astrea Central)" userId="e4577f1c-a0ea-4eef-9851-9bdbe8619e58" providerId="ADAL" clId="{197ED90E-1539-4B42-93FB-B8C5C71BECF3}" dt="2025-08-06T13:17:18.131" v="18" actId="47"/>
        <pc:sldMkLst>
          <pc:docMk/>
          <pc:sldMk cId="1083040939" sldId="2740"/>
        </pc:sldMkLst>
      </pc:sldChg>
      <pc:sldChg chg="del">
        <pc:chgData name="Adam Brown (Astrea Central)" userId="e4577f1c-a0ea-4eef-9851-9bdbe8619e58" providerId="ADAL" clId="{197ED90E-1539-4B42-93FB-B8C5C71BECF3}" dt="2025-08-06T13:17:18.131" v="18" actId="47"/>
        <pc:sldMkLst>
          <pc:docMk/>
          <pc:sldMk cId="2874314852" sldId="2742"/>
        </pc:sldMkLst>
      </pc:sldChg>
      <pc:sldChg chg="del">
        <pc:chgData name="Adam Brown (Astrea Central)" userId="e4577f1c-a0ea-4eef-9851-9bdbe8619e58" providerId="ADAL" clId="{197ED90E-1539-4B42-93FB-B8C5C71BECF3}" dt="2025-08-06T13:17:18.131" v="18" actId="47"/>
        <pc:sldMkLst>
          <pc:docMk/>
          <pc:sldMk cId="623754354" sldId="2743"/>
        </pc:sldMkLst>
      </pc:sldChg>
      <pc:sldChg chg="del">
        <pc:chgData name="Adam Brown (Astrea Central)" userId="e4577f1c-a0ea-4eef-9851-9bdbe8619e58" providerId="ADAL" clId="{197ED90E-1539-4B42-93FB-B8C5C71BECF3}" dt="2025-08-06T13:17:18.131" v="18" actId="47"/>
        <pc:sldMkLst>
          <pc:docMk/>
          <pc:sldMk cId="953605078" sldId="2745"/>
        </pc:sldMkLst>
      </pc:sldChg>
      <pc:sldChg chg="del">
        <pc:chgData name="Adam Brown (Astrea Central)" userId="e4577f1c-a0ea-4eef-9851-9bdbe8619e58" providerId="ADAL" clId="{197ED90E-1539-4B42-93FB-B8C5C71BECF3}" dt="2025-08-06T13:17:18.131" v="18" actId="47"/>
        <pc:sldMkLst>
          <pc:docMk/>
          <pc:sldMk cId="1123673023" sldId="2747"/>
        </pc:sldMkLst>
      </pc:sldChg>
      <pc:sldChg chg="del">
        <pc:chgData name="Adam Brown (Astrea Central)" userId="e4577f1c-a0ea-4eef-9851-9bdbe8619e58" providerId="ADAL" clId="{197ED90E-1539-4B42-93FB-B8C5C71BECF3}" dt="2025-08-06T13:17:18.131" v="18" actId="47"/>
        <pc:sldMkLst>
          <pc:docMk/>
          <pc:sldMk cId="2554891542" sldId="2748"/>
        </pc:sldMkLst>
      </pc:sldChg>
      <pc:sldChg chg="del">
        <pc:chgData name="Adam Brown (Astrea Central)" userId="e4577f1c-a0ea-4eef-9851-9bdbe8619e58" providerId="ADAL" clId="{197ED90E-1539-4B42-93FB-B8C5C71BECF3}" dt="2025-08-06T13:17:18.131" v="18" actId="47"/>
        <pc:sldMkLst>
          <pc:docMk/>
          <pc:sldMk cId="148444291" sldId="2749"/>
        </pc:sldMkLst>
      </pc:sldChg>
      <pc:sldChg chg="del">
        <pc:chgData name="Adam Brown (Astrea Central)" userId="e4577f1c-a0ea-4eef-9851-9bdbe8619e58" providerId="ADAL" clId="{197ED90E-1539-4B42-93FB-B8C5C71BECF3}" dt="2025-08-06T13:17:18.131" v="18" actId="47"/>
        <pc:sldMkLst>
          <pc:docMk/>
          <pc:sldMk cId="594926883" sldId="2754"/>
        </pc:sldMkLst>
      </pc:sldChg>
      <pc:sldChg chg="del">
        <pc:chgData name="Adam Brown (Astrea Central)" userId="e4577f1c-a0ea-4eef-9851-9bdbe8619e58" providerId="ADAL" clId="{197ED90E-1539-4B42-93FB-B8C5C71BECF3}" dt="2025-08-06T13:17:18.131" v="18" actId="47"/>
        <pc:sldMkLst>
          <pc:docMk/>
          <pc:sldMk cId="450469358" sldId="2755"/>
        </pc:sldMkLst>
      </pc:sldChg>
      <pc:sldChg chg="del">
        <pc:chgData name="Adam Brown (Astrea Central)" userId="e4577f1c-a0ea-4eef-9851-9bdbe8619e58" providerId="ADAL" clId="{197ED90E-1539-4B42-93FB-B8C5C71BECF3}" dt="2025-08-06T13:17:18.131" v="18" actId="47"/>
        <pc:sldMkLst>
          <pc:docMk/>
          <pc:sldMk cId="1755945383" sldId="2756"/>
        </pc:sldMkLst>
      </pc:sldChg>
      <pc:sldChg chg="del">
        <pc:chgData name="Adam Brown (Astrea Central)" userId="e4577f1c-a0ea-4eef-9851-9bdbe8619e58" providerId="ADAL" clId="{197ED90E-1539-4B42-93FB-B8C5C71BECF3}" dt="2025-08-06T13:17:18.131" v="18" actId="47"/>
        <pc:sldMkLst>
          <pc:docMk/>
          <pc:sldMk cId="625410266" sldId="2757"/>
        </pc:sldMkLst>
      </pc:sldChg>
      <pc:sldChg chg="del">
        <pc:chgData name="Adam Brown (Astrea Central)" userId="e4577f1c-a0ea-4eef-9851-9bdbe8619e58" providerId="ADAL" clId="{197ED90E-1539-4B42-93FB-B8C5C71BECF3}" dt="2025-08-06T13:17:18.131" v="18" actId="47"/>
        <pc:sldMkLst>
          <pc:docMk/>
          <pc:sldMk cId="2102929360" sldId="27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BD887872-9236-460B-BC2A-E44A8AC6C1EB}" type="datetimeFigureOut">
              <a:rPr lang="en-GB" smtClean="0"/>
              <a:t>07/08/2025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A65AC23A-D8C2-4808-8C51-A2299E24BAA4}" type="slidenum">
              <a:rPr lang="en-GB" smtClean="0"/>
              <a:t>‹#›</a:t>
            </a:fld>
            <a:endParaRPr lang="en-GB"/>
          </a:p>
        </p:txBody>
      </p:sp>
    </p:spTree>
    <p:extLst>
      <p:ext uri="{BB962C8B-B14F-4D97-AF65-F5344CB8AC3E}">
        <p14:creationId xmlns:p14="http://schemas.microsoft.com/office/powerpoint/2010/main" val="3461726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1</a:t>
            </a:fld>
            <a:endParaRPr lang="en-GB"/>
          </a:p>
        </p:txBody>
      </p:sp>
    </p:spTree>
    <p:extLst>
      <p:ext uri="{BB962C8B-B14F-4D97-AF65-F5344CB8AC3E}">
        <p14:creationId xmlns:p14="http://schemas.microsoft.com/office/powerpoint/2010/main" val="3950531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75E70-0397-97F5-E3BC-DE882E31D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DE30F0-0CA6-6717-75E8-BECA90740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B1BF4-89C5-F2C3-B855-18858756DA76}"/>
              </a:ext>
            </a:extLst>
          </p:cNvPr>
          <p:cNvSpPr>
            <a:spLocks noGrp="1"/>
          </p:cNvSpPr>
          <p:nvPr>
            <p:ph type="body" idx="1"/>
          </p:nvPr>
        </p:nvSpPr>
        <p:spPr/>
        <p:txBody>
          <a:bodyPr/>
          <a:lstStyle/>
          <a:p>
            <a:endParaRPr lang="en-US"/>
          </a:p>
          <a:p>
            <a:endParaRPr lang="en-US"/>
          </a:p>
          <a:p>
            <a:endParaRPr lang="en-GB"/>
          </a:p>
        </p:txBody>
      </p:sp>
      <p:sp>
        <p:nvSpPr>
          <p:cNvPr id="4" name="Slide Number Placeholder 3">
            <a:extLst>
              <a:ext uri="{FF2B5EF4-FFF2-40B4-BE49-F238E27FC236}">
                <a16:creationId xmlns:a16="http://schemas.microsoft.com/office/drawing/2014/main" id="{77B341FF-7058-F59B-4D43-F9C81ADB260B}"/>
              </a:ext>
            </a:extLst>
          </p:cNvPr>
          <p:cNvSpPr>
            <a:spLocks noGrp="1"/>
          </p:cNvSpPr>
          <p:nvPr>
            <p:ph type="sldNum" sz="quarter" idx="10"/>
          </p:nvPr>
        </p:nvSpPr>
        <p:spPr/>
        <p:txBody>
          <a:bodyPr/>
          <a:lstStyle/>
          <a:p>
            <a:fld id="{6C24A783-C653-C444-A1FE-7D3BC73388DB}" type="slidenum">
              <a:rPr lang="en-GB" smtClean="0"/>
              <a:t>2</a:t>
            </a:fld>
            <a:endParaRPr lang="en-GB"/>
          </a:p>
        </p:txBody>
      </p:sp>
    </p:spTree>
    <p:extLst>
      <p:ext uri="{BB962C8B-B14F-4D97-AF65-F5344CB8AC3E}">
        <p14:creationId xmlns:p14="http://schemas.microsoft.com/office/powerpoint/2010/main" val="3186478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2FC71-A416-F403-9CF8-FA9BACE3FD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1D3E6-F9D9-B380-472A-03C54A80F0CB}"/>
              </a:ext>
            </a:extLst>
          </p:cNvPr>
          <p:cNvSpPr>
            <a:spLocks noGrp="1" noRot="1" noChangeAspect="1"/>
          </p:cNvSpPr>
          <p:nvPr>
            <p:ph type="sldImg"/>
          </p:nvPr>
        </p:nvSpPr>
        <p:spPr>
          <a:xfrm>
            <a:off x="2268538" y="1243013"/>
            <a:ext cx="2320925" cy="3355975"/>
          </a:xfrm>
        </p:spPr>
      </p:sp>
      <p:sp>
        <p:nvSpPr>
          <p:cNvPr id="3" name="Notes Placeholder 2">
            <a:extLst>
              <a:ext uri="{FF2B5EF4-FFF2-40B4-BE49-F238E27FC236}">
                <a16:creationId xmlns:a16="http://schemas.microsoft.com/office/drawing/2014/main" id="{742902D2-E33E-279A-898E-F8E7247E9D8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D4470AA-BF4B-FCEE-0BBE-A92127456E17}"/>
              </a:ext>
            </a:extLst>
          </p:cNvPr>
          <p:cNvSpPr>
            <a:spLocks noGrp="1"/>
          </p:cNvSpPr>
          <p:nvPr>
            <p:ph type="sldNum" sz="quarter" idx="5"/>
          </p:nvPr>
        </p:nvSpPr>
        <p:spPr/>
        <p:txBody>
          <a:bodyPr/>
          <a:lstStyle/>
          <a:p>
            <a:fld id="{6C24A783-C653-C444-A1FE-7D3BC73388DB}" type="slidenum">
              <a:rPr lang="en-GB" smtClean="0">
                <a:solidFill>
                  <a:prstClr val="black"/>
                </a:solidFill>
              </a:rPr>
              <a:pPr/>
              <a:t>4</a:t>
            </a:fld>
            <a:endParaRPr lang="en-GB">
              <a:solidFill>
                <a:prstClr val="black"/>
              </a:solidFill>
            </a:endParaRPr>
          </a:p>
        </p:txBody>
      </p:sp>
    </p:spTree>
    <p:extLst>
      <p:ext uri="{BB962C8B-B14F-4D97-AF65-F5344CB8AC3E}">
        <p14:creationId xmlns:p14="http://schemas.microsoft.com/office/powerpoint/2010/main" val="462952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5E708-5875-3E17-99F4-9F89760C1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01127-9840-A172-A725-EBB4F25C22F1}"/>
              </a:ext>
            </a:extLst>
          </p:cNvPr>
          <p:cNvSpPr>
            <a:spLocks noGrp="1" noRot="1" noChangeAspect="1"/>
          </p:cNvSpPr>
          <p:nvPr>
            <p:ph type="sldImg"/>
          </p:nvPr>
        </p:nvSpPr>
        <p:spPr>
          <a:xfrm>
            <a:off x="2268538" y="1243013"/>
            <a:ext cx="2320925" cy="3355975"/>
          </a:xfrm>
        </p:spPr>
      </p:sp>
      <p:sp>
        <p:nvSpPr>
          <p:cNvPr id="3" name="Notes Placeholder 2">
            <a:extLst>
              <a:ext uri="{FF2B5EF4-FFF2-40B4-BE49-F238E27FC236}">
                <a16:creationId xmlns:a16="http://schemas.microsoft.com/office/drawing/2014/main" id="{7821D153-0D08-76C3-FDF9-52A144F7FF3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F39E1E7-8A87-A03E-2935-E0A3237E5C76}"/>
              </a:ext>
            </a:extLst>
          </p:cNvPr>
          <p:cNvSpPr>
            <a:spLocks noGrp="1"/>
          </p:cNvSpPr>
          <p:nvPr>
            <p:ph type="sldNum" sz="quarter" idx="5"/>
          </p:nvPr>
        </p:nvSpPr>
        <p:spPr/>
        <p:txBody>
          <a:bodyPr/>
          <a:lstStyle/>
          <a:p>
            <a:fld id="{6C24A783-C653-C444-A1FE-7D3BC73388DB}" type="slidenum">
              <a:rPr lang="en-GB" smtClean="0">
                <a:solidFill>
                  <a:prstClr val="black"/>
                </a:solidFill>
              </a:rPr>
              <a:pPr/>
              <a:t>6</a:t>
            </a:fld>
            <a:endParaRPr lang="en-GB">
              <a:solidFill>
                <a:prstClr val="black"/>
              </a:solidFill>
            </a:endParaRPr>
          </a:p>
        </p:txBody>
      </p:sp>
    </p:spTree>
    <p:extLst>
      <p:ext uri="{BB962C8B-B14F-4D97-AF65-F5344CB8AC3E}">
        <p14:creationId xmlns:p14="http://schemas.microsoft.com/office/powerpoint/2010/main" val="2712256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68538" y="1243013"/>
            <a:ext cx="2320925" cy="33559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C24A783-C653-C444-A1FE-7D3BC73388DB}" type="slidenum">
              <a:rPr lang="en-GB" smtClean="0">
                <a:solidFill>
                  <a:prstClr val="black"/>
                </a:solidFill>
              </a:rPr>
              <a:pPr/>
              <a:t>38</a:t>
            </a:fld>
            <a:endParaRPr lang="en-GB">
              <a:solidFill>
                <a:prstClr val="black"/>
              </a:solidFill>
            </a:endParaRPr>
          </a:p>
        </p:txBody>
      </p:sp>
    </p:spTree>
    <p:extLst>
      <p:ext uri="{BB962C8B-B14F-4D97-AF65-F5344CB8AC3E}">
        <p14:creationId xmlns:p14="http://schemas.microsoft.com/office/powerpoint/2010/main" val="3561211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68538" y="1243013"/>
            <a:ext cx="2320925" cy="33559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C24A783-C653-C444-A1FE-7D3BC73388DB}" type="slidenum">
              <a:rPr lang="en-GB" smtClean="0">
                <a:solidFill>
                  <a:prstClr val="black"/>
                </a:solidFill>
              </a:rPr>
              <a:pPr/>
              <a:t>55</a:t>
            </a:fld>
            <a:endParaRPr lang="en-GB">
              <a:solidFill>
                <a:prstClr val="black"/>
              </a:solidFill>
            </a:endParaRPr>
          </a:p>
        </p:txBody>
      </p:sp>
    </p:spTree>
    <p:extLst>
      <p:ext uri="{BB962C8B-B14F-4D97-AF65-F5344CB8AC3E}">
        <p14:creationId xmlns:p14="http://schemas.microsoft.com/office/powerpoint/2010/main" val="3317151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68538" y="1243013"/>
            <a:ext cx="2320925" cy="33559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C24A783-C653-C444-A1FE-7D3BC73388DB}" type="slidenum">
              <a:rPr lang="en-GB" smtClean="0">
                <a:solidFill>
                  <a:prstClr val="black"/>
                </a:solidFill>
              </a:rPr>
              <a:pPr/>
              <a:t>75</a:t>
            </a:fld>
            <a:endParaRPr lang="en-GB">
              <a:solidFill>
                <a:prstClr val="black"/>
              </a:solidFill>
            </a:endParaRPr>
          </a:p>
        </p:txBody>
      </p:sp>
    </p:spTree>
    <p:extLst>
      <p:ext uri="{BB962C8B-B14F-4D97-AF65-F5344CB8AC3E}">
        <p14:creationId xmlns:p14="http://schemas.microsoft.com/office/powerpoint/2010/main" val="4143223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BECCA-2026-881E-26E6-A258BF8DA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AC5ADD-9A4D-7EF7-20F3-C9CCC304966B}"/>
              </a:ext>
            </a:extLst>
          </p:cNvPr>
          <p:cNvSpPr>
            <a:spLocks noGrp="1" noRot="1" noChangeAspect="1"/>
          </p:cNvSpPr>
          <p:nvPr>
            <p:ph type="sldImg"/>
          </p:nvPr>
        </p:nvSpPr>
        <p:spPr>
          <a:xfrm>
            <a:off x="2268538" y="1243013"/>
            <a:ext cx="2320925" cy="3355975"/>
          </a:xfrm>
        </p:spPr>
      </p:sp>
      <p:sp>
        <p:nvSpPr>
          <p:cNvPr id="3" name="Notes Placeholder 2">
            <a:extLst>
              <a:ext uri="{FF2B5EF4-FFF2-40B4-BE49-F238E27FC236}">
                <a16:creationId xmlns:a16="http://schemas.microsoft.com/office/drawing/2014/main" id="{0EEFA98E-7D60-5AD9-2F4A-1F633EFD6F4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FE18A46-262C-7A32-59A4-F5D54F5C07DA}"/>
              </a:ext>
            </a:extLst>
          </p:cNvPr>
          <p:cNvSpPr>
            <a:spLocks noGrp="1"/>
          </p:cNvSpPr>
          <p:nvPr>
            <p:ph type="sldNum" sz="quarter" idx="5"/>
          </p:nvPr>
        </p:nvSpPr>
        <p:spPr/>
        <p:txBody>
          <a:bodyPr/>
          <a:lstStyle/>
          <a:p>
            <a:fld id="{6C24A783-C653-C444-A1FE-7D3BC73388DB}" type="slidenum">
              <a:rPr lang="en-GB" smtClean="0">
                <a:solidFill>
                  <a:prstClr val="black"/>
                </a:solidFill>
              </a:rPr>
              <a:pPr/>
              <a:t>76</a:t>
            </a:fld>
            <a:endParaRPr lang="en-GB">
              <a:solidFill>
                <a:prstClr val="black"/>
              </a:solidFill>
            </a:endParaRPr>
          </a:p>
        </p:txBody>
      </p:sp>
    </p:spTree>
    <p:extLst>
      <p:ext uri="{BB962C8B-B14F-4D97-AF65-F5344CB8AC3E}">
        <p14:creationId xmlns:p14="http://schemas.microsoft.com/office/powerpoint/2010/main" val="1594808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98A6-BF0B-60CF-47EA-691011901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4ED14-81C7-1DF1-080D-847CEA385290}"/>
              </a:ext>
            </a:extLst>
          </p:cNvPr>
          <p:cNvSpPr>
            <a:spLocks noGrp="1" noRot="1" noChangeAspect="1"/>
          </p:cNvSpPr>
          <p:nvPr>
            <p:ph type="sldImg"/>
          </p:nvPr>
        </p:nvSpPr>
        <p:spPr>
          <a:xfrm>
            <a:off x="2268538" y="1243013"/>
            <a:ext cx="2320925" cy="3355975"/>
          </a:xfrm>
        </p:spPr>
      </p:sp>
      <p:sp>
        <p:nvSpPr>
          <p:cNvPr id="3" name="Notes Placeholder 2">
            <a:extLst>
              <a:ext uri="{FF2B5EF4-FFF2-40B4-BE49-F238E27FC236}">
                <a16:creationId xmlns:a16="http://schemas.microsoft.com/office/drawing/2014/main" id="{A698E7DD-C1F7-C38A-80C2-2C1CF8B487F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7166F1C-A9B4-6E76-ACE3-586683D107B8}"/>
              </a:ext>
            </a:extLst>
          </p:cNvPr>
          <p:cNvSpPr>
            <a:spLocks noGrp="1"/>
          </p:cNvSpPr>
          <p:nvPr>
            <p:ph type="sldNum" sz="quarter" idx="5"/>
          </p:nvPr>
        </p:nvSpPr>
        <p:spPr/>
        <p:txBody>
          <a:bodyPr/>
          <a:lstStyle/>
          <a:p>
            <a:fld id="{6C24A783-C653-C444-A1FE-7D3BC73388DB}" type="slidenum">
              <a:rPr lang="en-GB" smtClean="0">
                <a:solidFill>
                  <a:prstClr val="black"/>
                </a:solidFill>
              </a:rPr>
              <a:pPr/>
              <a:t>77</a:t>
            </a:fld>
            <a:endParaRPr lang="en-GB">
              <a:solidFill>
                <a:prstClr val="black"/>
              </a:solidFill>
            </a:endParaRPr>
          </a:p>
        </p:txBody>
      </p:sp>
    </p:spTree>
    <p:extLst>
      <p:ext uri="{BB962C8B-B14F-4D97-AF65-F5344CB8AC3E}">
        <p14:creationId xmlns:p14="http://schemas.microsoft.com/office/powerpoint/2010/main" val="2789686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36645BB-F530-4C6B-ABAE-E32F8A251980}" type="datetime1">
              <a:rPr lang="en-GB" smtClean="0"/>
              <a:t>07/08/2025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868696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EDB0C-8CB1-4E4B-A7D2-72D1E989F74F}" type="datetime1">
              <a:rPr lang="en-GB" smtClean="0"/>
              <a:t>07/08/2025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62873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418B7CF-AD3A-412E-A236-AD334123F5DC}" type="datetime1">
              <a:rPr lang="en-GB" smtClean="0"/>
              <a:t>07/08/2025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965247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5F8CF75-DE73-4975-8438-DCC60FF5A9C7}" type="datetime1">
              <a:rPr lang="en-GB" smtClean="0"/>
              <a:t>07/08/2025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642259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D433DA-9DCC-4C1C-BE87-1B843446F1E2}" type="datetime1">
              <a:rPr lang="en-GB" smtClean="0"/>
              <a:t>07/08/2025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66026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36B931-B1B4-4301-9FA3-4AC76251F969}" type="datetime1">
              <a:rPr lang="en-GB" smtClean="0"/>
              <a:t>07/08/2025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416073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EB317-EAB0-4C19-A195-2782EA19078C}" type="datetime1">
              <a:rPr lang="en-GB" smtClean="0"/>
              <a:t>07/08/2025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77690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EEE7F5A2-2F3B-430C-BD43-6D2323C7CD6A}" type="datetime1">
              <a:rPr lang="en-GB" smtClean="0"/>
              <a:t>07/08/2025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03242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D6AD09F-1297-4193-9BA9-680759B76EE0}" type="datetime1">
              <a:rPr lang="en-GB" smtClean="0"/>
              <a:t>07/08/2025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23588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ED7873-3A83-4840-BD06-EB3A5B53B6DA}" type="datetime1">
              <a:rPr lang="en-GB" smtClean="0"/>
              <a:t>07/08/2025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130277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E7EED6-F9AB-4871-A4A9-4EB7B43E5F99}" type="datetime1">
              <a:rPr lang="en-GB" smtClean="0"/>
              <a:t>07/08/2025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883891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80118337-BCAC-4A6B-9508-65A0DEBA7F58}" type="datetime1">
              <a:rPr lang="en-GB" smtClean="0"/>
              <a:t>07/08/2025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BD3B4A0-BFF9-422C-B253-48BA94BE2F5B}" type="slidenum">
              <a:rPr lang="en-GB" smtClean="0"/>
              <a:t>‹#›</a:t>
            </a:fld>
            <a:endParaRPr lang="en-GB"/>
          </a:p>
        </p:txBody>
      </p:sp>
    </p:spTree>
    <p:extLst>
      <p:ext uri="{BB962C8B-B14F-4D97-AF65-F5344CB8AC3E}">
        <p14:creationId xmlns:p14="http://schemas.microsoft.com/office/powerpoint/2010/main" val="2819756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93.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95.png"/><Relationship Id="rId7" Type="http://schemas.openxmlformats.org/officeDocument/2006/relationships/image" Target="../media/image499.png"/><Relationship Id="rId2" Type="http://schemas.openxmlformats.org/officeDocument/2006/relationships/image" Target="../media/image494.png"/><Relationship Id="rId1" Type="http://schemas.openxmlformats.org/officeDocument/2006/relationships/slideLayout" Target="../slideLayouts/slideLayout7.xml"/><Relationship Id="rId6" Type="http://schemas.openxmlformats.org/officeDocument/2006/relationships/image" Target="../media/image498.png"/><Relationship Id="rId5" Type="http://schemas.openxmlformats.org/officeDocument/2006/relationships/image" Target="../media/image497.png"/><Relationship Id="rId4" Type="http://schemas.openxmlformats.org/officeDocument/2006/relationships/image" Target="../media/image496.png"/></Relationships>
</file>

<file path=ppt/slides/_rels/slide6.xml.rels><?xml version="1.0" encoding="UTF-8" standalone="yes"?>
<Relationships xmlns="http://schemas.openxmlformats.org/package/2006/relationships"><Relationship Id="rId8" Type="http://schemas.openxmlformats.org/officeDocument/2006/relationships/image" Target="../media/image505.png"/><Relationship Id="rId13" Type="http://schemas.openxmlformats.org/officeDocument/2006/relationships/image" Target="../media/image510.png"/><Relationship Id="rId3" Type="http://schemas.openxmlformats.org/officeDocument/2006/relationships/image" Target="../media/image500.png"/><Relationship Id="rId7" Type="http://schemas.openxmlformats.org/officeDocument/2006/relationships/image" Target="../media/image504.png"/><Relationship Id="rId12" Type="http://schemas.openxmlformats.org/officeDocument/2006/relationships/image" Target="../media/image50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03.png"/><Relationship Id="rId11" Type="http://schemas.openxmlformats.org/officeDocument/2006/relationships/image" Target="../media/image508.png"/><Relationship Id="rId5" Type="http://schemas.openxmlformats.org/officeDocument/2006/relationships/image" Target="../media/image502.png"/><Relationship Id="rId10" Type="http://schemas.openxmlformats.org/officeDocument/2006/relationships/image" Target="../media/image507.png"/><Relationship Id="rId4" Type="http://schemas.openxmlformats.org/officeDocument/2006/relationships/image" Target="../media/image501.png"/><Relationship Id="rId9" Type="http://schemas.openxmlformats.org/officeDocument/2006/relationships/image" Target="../media/image506.png"/><Relationship Id="rId1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518.png"/><Relationship Id="rId13" Type="http://schemas.openxmlformats.org/officeDocument/2006/relationships/image" Target="../media/image523.png"/><Relationship Id="rId3" Type="http://schemas.openxmlformats.org/officeDocument/2006/relationships/image" Target="../media/image513.png"/><Relationship Id="rId7" Type="http://schemas.openxmlformats.org/officeDocument/2006/relationships/image" Target="../media/image517.png"/><Relationship Id="rId12" Type="http://schemas.openxmlformats.org/officeDocument/2006/relationships/image" Target="../media/image522.png"/><Relationship Id="rId17" Type="http://schemas.openxmlformats.org/officeDocument/2006/relationships/image" Target="../media/image527.png"/><Relationship Id="rId2" Type="http://schemas.openxmlformats.org/officeDocument/2006/relationships/image" Target="../media/image512.png"/><Relationship Id="rId16" Type="http://schemas.openxmlformats.org/officeDocument/2006/relationships/image" Target="../media/image526.png"/><Relationship Id="rId1" Type="http://schemas.openxmlformats.org/officeDocument/2006/relationships/slideLayout" Target="../slideLayouts/slideLayout7.xml"/><Relationship Id="rId6" Type="http://schemas.openxmlformats.org/officeDocument/2006/relationships/image" Target="../media/image516.png"/><Relationship Id="rId11" Type="http://schemas.openxmlformats.org/officeDocument/2006/relationships/image" Target="../media/image521.png"/><Relationship Id="rId5" Type="http://schemas.openxmlformats.org/officeDocument/2006/relationships/image" Target="../media/image515.png"/><Relationship Id="rId15" Type="http://schemas.openxmlformats.org/officeDocument/2006/relationships/image" Target="../media/image525.png"/><Relationship Id="rId10" Type="http://schemas.openxmlformats.org/officeDocument/2006/relationships/image" Target="../media/image520.png"/><Relationship Id="rId4" Type="http://schemas.openxmlformats.org/officeDocument/2006/relationships/image" Target="../media/image514.png"/><Relationship Id="rId9" Type="http://schemas.openxmlformats.org/officeDocument/2006/relationships/image" Target="../media/image519.png"/><Relationship Id="rId14" Type="http://schemas.openxmlformats.org/officeDocument/2006/relationships/image" Target="../media/image524.png"/></Relationships>
</file>

<file path=ppt/slides/_rels/slide8.xml.rels><?xml version="1.0" encoding="UTF-8" standalone="yes"?>
<Relationships xmlns="http://schemas.openxmlformats.org/package/2006/relationships"><Relationship Id="rId8" Type="http://schemas.openxmlformats.org/officeDocument/2006/relationships/image" Target="../media/image534.png"/><Relationship Id="rId3" Type="http://schemas.openxmlformats.org/officeDocument/2006/relationships/image" Target="../media/image529.png"/><Relationship Id="rId7" Type="http://schemas.openxmlformats.org/officeDocument/2006/relationships/image" Target="../media/image533.png"/><Relationship Id="rId12" Type="http://schemas.openxmlformats.org/officeDocument/2006/relationships/image" Target="../media/image538.png"/><Relationship Id="rId2" Type="http://schemas.openxmlformats.org/officeDocument/2006/relationships/image" Target="../media/image528.png"/><Relationship Id="rId1" Type="http://schemas.openxmlformats.org/officeDocument/2006/relationships/slideLayout" Target="../slideLayouts/slideLayout7.xml"/><Relationship Id="rId6" Type="http://schemas.openxmlformats.org/officeDocument/2006/relationships/image" Target="../media/image532.png"/><Relationship Id="rId11" Type="http://schemas.openxmlformats.org/officeDocument/2006/relationships/image" Target="../media/image537.png"/><Relationship Id="rId5" Type="http://schemas.openxmlformats.org/officeDocument/2006/relationships/image" Target="../media/image531.png"/><Relationship Id="rId10" Type="http://schemas.openxmlformats.org/officeDocument/2006/relationships/image" Target="../media/image536.png"/><Relationship Id="rId4" Type="http://schemas.openxmlformats.org/officeDocument/2006/relationships/image" Target="../media/image530.png"/><Relationship Id="rId9" Type="http://schemas.openxmlformats.org/officeDocument/2006/relationships/image" Target="../media/image535.png"/></Relationships>
</file>

<file path=ppt/slides/_rels/slide9.xml.rels><?xml version="1.0" encoding="UTF-8" standalone="yes"?>
<Relationships xmlns="http://schemas.openxmlformats.org/package/2006/relationships"><Relationship Id="rId8" Type="http://schemas.openxmlformats.org/officeDocument/2006/relationships/image" Target="../media/image545.png"/><Relationship Id="rId3" Type="http://schemas.openxmlformats.org/officeDocument/2006/relationships/image" Target="../media/image540.png"/><Relationship Id="rId7" Type="http://schemas.openxmlformats.org/officeDocument/2006/relationships/image" Target="../media/image544.png"/><Relationship Id="rId2" Type="http://schemas.openxmlformats.org/officeDocument/2006/relationships/image" Target="../media/image539.png"/><Relationship Id="rId1" Type="http://schemas.openxmlformats.org/officeDocument/2006/relationships/slideLayout" Target="../slideLayouts/slideLayout7.xml"/><Relationship Id="rId6" Type="http://schemas.openxmlformats.org/officeDocument/2006/relationships/image" Target="../media/image543.png"/><Relationship Id="rId11" Type="http://schemas.openxmlformats.org/officeDocument/2006/relationships/image" Target="../media/image548.png"/><Relationship Id="rId5" Type="http://schemas.openxmlformats.org/officeDocument/2006/relationships/image" Target="../media/image542.png"/><Relationship Id="rId10" Type="http://schemas.openxmlformats.org/officeDocument/2006/relationships/image" Target="../media/image547.png"/><Relationship Id="rId4" Type="http://schemas.openxmlformats.org/officeDocument/2006/relationships/image" Target="../media/image541.png"/><Relationship Id="rId9" Type="http://schemas.openxmlformats.org/officeDocument/2006/relationships/image" Target="../media/image546.png"/></Relationships>
</file>

<file path=ppt/slides/_rels/slide10.xml.rels><?xml version="1.0" encoding="UTF-8" standalone="yes"?>
<Relationships xmlns="http://schemas.openxmlformats.org/package/2006/relationships"><Relationship Id="rId8" Type="http://schemas.openxmlformats.org/officeDocument/2006/relationships/image" Target="../media/image555.png"/><Relationship Id="rId13" Type="http://schemas.openxmlformats.org/officeDocument/2006/relationships/image" Target="../media/image560.png"/><Relationship Id="rId3" Type="http://schemas.openxmlformats.org/officeDocument/2006/relationships/image" Target="../media/image550.png"/><Relationship Id="rId7" Type="http://schemas.openxmlformats.org/officeDocument/2006/relationships/image" Target="../media/image554.png"/><Relationship Id="rId12" Type="http://schemas.openxmlformats.org/officeDocument/2006/relationships/image" Target="../media/image559.png"/><Relationship Id="rId2" Type="http://schemas.openxmlformats.org/officeDocument/2006/relationships/image" Target="../media/image549.png"/><Relationship Id="rId1" Type="http://schemas.openxmlformats.org/officeDocument/2006/relationships/slideLayout" Target="../slideLayouts/slideLayout7.xml"/><Relationship Id="rId6" Type="http://schemas.openxmlformats.org/officeDocument/2006/relationships/image" Target="../media/image553.png"/><Relationship Id="rId11" Type="http://schemas.openxmlformats.org/officeDocument/2006/relationships/image" Target="../media/image558.png"/><Relationship Id="rId5" Type="http://schemas.openxmlformats.org/officeDocument/2006/relationships/image" Target="../media/image552.png"/><Relationship Id="rId10" Type="http://schemas.openxmlformats.org/officeDocument/2006/relationships/image" Target="../media/image557.png"/><Relationship Id="rId4" Type="http://schemas.openxmlformats.org/officeDocument/2006/relationships/image" Target="../media/image551.png"/><Relationship Id="rId9" Type="http://schemas.openxmlformats.org/officeDocument/2006/relationships/image" Target="../media/image556.png"/></Relationships>
</file>

<file path=ppt/slides/_rels/slide11.xml.rels><?xml version="1.0" encoding="UTF-8" standalone="yes"?>
<Relationships xmlns="http://schemas.openxmlformats.org/package/2006/relationships"><Relationship Id="rId8" Type="http://schemas.openxmlformats.org/officeDocument/2006/relationships/image" Target="../media/image577.png"/><Relationship Id="rId3" Type="http://schemas.openxmlformats.org/officeDocument/2006/relationships/image" Target="../media/image572.png"/><Relationship Id="rId7" Type="http://schemas.openxmlformats.org/officeDocument/2006/relationships/image" Target="../media/image576.png"/><Relationship Id="rId2" Type="http://schemas.openxmlformats.org/officeDocument/2006/relationships/image" Target="../media/image571.png"/><Relationship Id="rId1" Type="http://schemas.openxmlformats.org/officeDocument/2006/relationships/slideLayout" Target="../slideLayouts/slideLayout7.xml"/><Relationship Id="rId6" Type="http://schemas.openxmlformats.org/officeDocument/2006/relationships/image" Target="../media/image575.png"/><Relationship Id="rId5" Type="http://schemas.openxmlformats.org/officeDocument/2006/relationships/image" Target="../media/image574.png"/><Relationship Id="rId10" Type="http://schemas.openxmlformats.org/officeDocument/2006/relationships/image" Target="../media/image579.png"/><Relationship Id="rId4" Type="http://schemas.openxmlformats.org/officeDocument/2006/relationships/image" Target="../media/image573.png"/><Relationship Id="rId9" Type="http://schemas.openxmlformats.org/officeDocument/2006/relationships/image" Target="../media/image578.png"/></Relationships>
</file>

<file path=ppt/slides/_rels/slide12.xml.rels><?xml version="1.0" encoding="UTF-8" standalone="yes"?>
<Relationships xmlns="http://schemas.openxmlformats.org/package/2006/relationships"><Relationship Id="rId3" Type="http://schemas.openxmlformats.org/officeDocument/2006/relationships/image" Target="../media/image581.png"/><Relationship Id="rId7" Type="http://schemas.openxmlformats.org/officeDocument/2006/relationships/image" Target="../media/image585.png"/><Relationship Id="rId2" Type="http://schemas.openxmlformats.org/officeDocument/2006/relationships/image" Target="../media/image580.png"/><Relationship Id="rId1" Type="http://schemas.openxmlformats.org/officeDocument/2006/relationships/slideLayout" Target="../slideLayouts/slideLayout7.xml"/><Relationship Id="rId6" Type="http://schemas.openxmlformats.org/officeDocument/2006/relationships/image" Target="../media/image584.png"/><Relationship Id="rId5" Type="http://schemas.openxmlformats.org/officeDocument/2006/relationships/image" Target="../media/image583.png"/><Relationship Id="rId4" Type="http://schemas.openxmlformats.org/officeDocument/2006/relationships/image" Target="../media/image582.png"/></Relationships>
</file>

<file path=ppt/slides/_rels/slide13.xml.rels><?xml version="1.0" encoding="UTF-8" standalone="yes"?>
<Relationships xmlns="http://schemas.openxmlformats.org/package/2006/relationships"><Relationship Id="rId3" Type="http://schemas.openxmlformats.org/officeDocument/2006/relationships/image" Target="../media/image587.png"/><Relationship Id="rId2" Type="http://schemas.openxmlformats.org/officeDocument/2006/relationships/image" Target="../media/image586.png"/><Relationship Id="rId1" Type="http://schemas.openxmlformats.org/officeDocument/2006/relationships/slideLayout" Target="../slideLayouts/slideLayout7.xml"/><Relationship Id="rId5" Type="http://schemas.openxmlformats.org/officeDocument/2006/relationships/image" Target="../media/image589.png"/><Relationship Id="rId4" Type="http://schemas.openxmlformats.org/officeDocument/2006/relationships/image" Target="../media/image588.png"/></Relationships>
</file>

<file path=ppt/slides/_rels/slide14.xml.rels><?xml version="1.0" encoding="UTF-8" standalone="yes"?>
<Relationships xmlns="http://schemas.openxmlformats.org/package/2006/relationships"><Relationship Id="rId3" Type="http://schemas.openxmlformats.org/officeDocument/2006/relationships/image" Target="../media/image591.png"/><Relationship Id="rId2" Type="http://schemas.openxmlformats.org/officeDocument/2006/relationships/image" Target="../media/image590.png"/><Relationship Id="rId1" Type="http://schemas.openxmlformats.org/officeDocument/2006/relationships/slideLayout" Target="../slideLayouts/slideLayout7.xml"/><Relationship Id="rId5" Type="http://schemas.openxmlformats.org/officeDocument/2006/relationships/image" Target="../media/image593.png"/><Relationship Id="rId4" Type="http://schemas.openxmlformats.org/officeDocument/2006/relationships/image" Target="../media/image592.png"/></Relationships>
</file>

<file path=ppt/slides/_rels/slide15.xml.rels><?xml version="1.0" encoding="UTF-8" standalone="yes"?>
<Relationships xmlns="http://schemas.openxmlformats.org/package/2006/relationships"><Relationship Id="rId3" Type="http://schemas.openxmlformats.org/officeDocument/2006/relationships/image" Target="../media/image595.png"/><Relationship Id="rId2" Type="http://schemas.openxmlformats.org/officeDocument/2006/relationships/image" Target="../media/image594.png"/><Relationship Id="rId1" Type="http://schemas.openxmlformats.org/officeDocument/2006/relationships/slideLayout" Target="../slideLayouts/slideLayout7.xml"/><Relationship Id="rId5" Type="http://schemas.openxmlformats.org/officeDocument/2006/relationships/image" Target="../media/image597.png"/><Relationship Id="rId4" Type="http://schemas.openxmlformats.org/officeDocument/2006/relationships/image" Target="../media/image596.png"/></Relationships>
</file>

<file path=ppt/slides/_rels/slide16.xml.rels><?xml version="1.0" encoding="UTF-8" standalone="yes"?>
<Relationships xmlns="http://schemas.openxmlformats.org/package/2006/relationships"><Relationship Id="rId3" Type="http://schemas.openxmlformats.org/officeDocument/2006/relationships/image" Target="../media/image599.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600.png"/></Relationships>
</file>

<file path=ppt/slides/_rels/slide17.xml.rels><?xml version="1.0" encoding="UTF-8" standalone="yes"?>
<Relationships xmlns="http://schemas.openxmlformats.org/package/2006/relationships"><Relationship Id="rId8" Type="http://schemas.openxmlformats.org/officeDocument/2006/relationships/image" Target="../media/image607.png"/><Relationship Id="rId3" Type="http://schemas.openxmlformats.org/officeDocument/2006/relationships/image" Target="../media/image602.png"/><Relationship Id="rId7" Type="http://schemas.openxmlformats.org/officeDocument/2006/relationships/image" Target="../media/image606.png"/><Relationship Id="rId2" Type="http://schemas.openxmlformats.org/officeDocument/2006/relationships/image" Target="../media/image601.png"/><Relationship Id="rId1" Type="http://schemas.openxmlformats.org/officeDocument/2006/relationships/slideLayout" Target="../slideLayouts/slideLayout7.xml"/><Relationship Id="rId6" Type="http://schemas.openxmlformats.org/officeDocument/2006/relationships/image" Target="../media/image605.png"/><Relationship Id="rId5" Type="http://schemas.openxmlformats.org/officeDocument/2006/relationships/image" Target="../media/image604.png"/><Relationship Id="rId4" Type="http://schemas.openxmlformats.org/officeDocument/2006/relationships/image" Target="../media/image603.png"/><Relationship Id="rId9"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609.png"/><Relationship Id="rId1" Type="http://schemas.openxmlformats.org/officeDocument/2006/relationships/slideLayout" Target="../slideLayouts/slideLayout7.xml"/><Relationship Id="rId6" Type="http://schemas.openxmlformats.org/officeDocument/2006/relationships/image" Target="../media/image613.png"/><Relationship Id="rId5" Type="http://schemas.openxmlformats.org/officeDocument/2006/relationships/image" Target="../media/image612.png"/><Relationship Id="rId4" Type="http://schemas.openxmlformats.org/officeDocument/2006/relationships/image" Target="../media/image611.png"/></Relationships>
</file>

<file path=ppt/slides/_rels/slide19.xml.rels><?xml version="1.0" encoding="UTF-8" standalone="yes"?>
<Relationships xmlns="http://schemas.openxmlformats.org/package/2006/relationships"><Relationship Id="rId8" Type="http://schemas.openxmlformats.org/officeDocument/2006/relationships/image" Target="../media/image620.png"/><Relationship Id="rId13" Type="http://schemas.openxmlformats.org/officeDocument/2006/relationships/image" Target="../media/image625.png"/><Relationship Id="rId3" Type="http://schemas.openxmlformats.org/officeDocument/2006/relationships/image" Target="../media/image615.png"/><Relationship Id="rId7" Type="http://schemas.openxmlformats.org/officeDocument/2006/relationships/image" Target="../media/image619.png"/><Relationship Id="rId12" Type="http://schemas.openxmlformats.org/officeDocument/2006/relationships/image" Target="../media/image624.png"/><Relationship Id="rId2" Type="http://schemas.openxmlformats.org/officeDocument/2006/relationships/image" Target="../media/image614.png"/><Relationship Id="rId1" Type="http://schemas.openxmlformats.org/officeDocument/2006/relationships/slideLayout" Target="../slideLayouts/slideLayout7.xml"/><Relationship Id="rId6" Type="http://schemas.openxmlformats.org/officeDocument/2006/relationships/image" Target="../media/image618.png"/><Relationship Id="rId11" Type="http://schemas.openxmlformats.org/officeDocument/2006/relationships/image" Target="../media/image623.png"/><Relationship Id="rId5" Type="http://schemas.openxmlformats.org/officeDocument/2006/relationships/image" Target="../media/image617.png"/><Relationship Id="rId15" Type="http://schemas.openxmlformats.org/officeDocument/2006/relationships/image" Target="../media/image627.png"/><Relationship Id="rId10" Type="http://schemas.openxmlformats.org/officeDocument/2006/relationships/image" Target="../media/image13.png"/><Relationship Id="rId4" Type="http://schemas.openxmlformats.org/officeDocument/2006/relationships/image" Target="../media/image616.png"/><Relationship Id="rId9" Type="http://schemas.openxmlformats.org/officeDocument/2006/relationships/image" Target="../media/image621.png"/><Relationship Id="rId14" Type="http://schemas.openxmlformats.org/officeDocument/2006/relationships/image" Target="../media/image626.png"/></Relationships>
</file>

<file path=ppt/slides/_rels/slide20.xml.rels><?xml version="1.0" encoding="UTF-8" standalone="yes"?>
<Relationships xmlns="http://schemas.openxmlformats.org/package/2006/relationships"><Relationship Id="rId8" Type="http://schemas.openxmlformats.org/officeDocument/2006/relationships/image" Target="../media/image634.png"/><Relationship Id="rId3" Type="http://schemas.openxmlformats.org/officeDocument/2006/relationships/image" Target="../media/image629.png"/><Relationship Id="rId7" Type="http://schemas.openxmlformats.org/officeDocument/2006/relationships/image" Target="../media/image633.png"/><Relationship Id="rId12" Type="http://schemas.openxmlformats.org/officeDocument/2006/relationships/image" Target="../media/image638.png"/><Relationship Id="rId2" Type="http://schemas.openxmlformats.org/officeDocument/2006/relationships/image" Target="../media/image628.png"/><Relationship Id="rId1" Type="http://schemas.openxmlformats.org/officeDocument/2006/relationships/slideLayout" Target="../slideLayouts/slideLayout7.xml"/><Relationship Id="rId6" Type="http://schemas.openxmlformats.org/officeDocument/2006/relationships/image" Target="../media/image632.png"/><Relationship Id="rId11" Type="http://schemas.openxmlformats.org/officeDocument/2006/relationships/image" Target="../media/image637.png"/><Relationship Id="rId5" Type="http://schemas.openxmlformats.org/officeDocument/2006/relationships/image" Target="../media/image631.png"/><Relationship Id="rId10" Type="http://schemas.openxmlformats.org/officeDocument/2006/relationships/image" Target="../media/image636.png"/><Relationship Id="rId4" Type="http://schemas.openxmlformats.org/officeDocument/2006/relationships/image" Target="../media/image630.png"/><Relationship Id="rId9" Type="http://schemas.openxmlformats.org/officeDocument/2006/relationships/image" Target="../media/image635.png"/></Relationships>
</file>

<file path=ppt/slides/_rels/slide21.xml.rels><?xml version="1.0" encoding="UTF-8" standalone="yes"?>
<Relationships xmlns="http://schemas.openxmlformats.org/package/2006/relationships"><Relationship Id="rId8" Type="http://schemas.openxmlformats.org/officeDocument/2006/relationships/image" Target="../media/image645.png"/><Relationship Id="rId13" Type="http://schemas.openxmlformats.org/officeDocument/2006/relationships/image" Target="../media/image650.png"/><Relationship Id="rId3" Type="http://schemas.openxmlformats.org/officeDocument/2006/relationships/image" Target="../media/image640.png"/><Relationship Id="rId7" Type="http://schemas.openxmlformats.org/officeDocument/2006/relationships/image" Target="../media/image644.png"/><Relationship Id="rId12" Type="http://schemas.openxmlformats.org/officeDocument/2006/relationships/image" Target="../media/image649.png"/><Relationship Id="rId2" Type="http://schemas.openxmlformats.org/officeDocument/2006/relationships/image" Target="../media/image639.png"/><Relationship Id="rId1" Type="http://schemas.openxmlformats.org/officeDocument/2006/relationships/slideLayout" Target="../slideLayouts/slideLayout7.xml"/><Relationship Id="rId6" Type="http://schemas.openxmlformats.org/officeDocument/2006/relationships/image" Target="../media/image643.png"/><Relationship Id="rId11" Type="http://schemas.openxmlformats.org/officeDocument/2006/relationships/image" Target="../media/image648.png"/><Relationship Id="rId5" Type="http://schemas.openxmlformats.org/officeDocument/2006/relationships/image" Target="../media/image642.png"/><Relationship Id="rId10" Type="http://schemas.openxmlformats.org/officeDocument/2006/relationships/image" Target="../media/image647.png"/><Relationship Id="rId4" Type="http://schemas.openxmlformats.org/officeDocument/2006/relationships/image" Target="../media/image641.png"/></Relationships>
</file>

<file path=ppt/slides/_rels/slide22.xml.rels><?xml version="1.0" encoding="UTF-8" standalone="yes"?>
<Relationships xmlns="http://schemas.openxmlformats.org/package/2006/relationships"><Relationship Id="rId3" Type="http://schemas.openxmlformats.org/officeDocument/2006/relationships/image" Target="../media/image652.png"/><Relationship Id="rId2" Type="http://schemas.openxmlformats.org/officeDocument/2006/relationships/image" Target="../media/image651.png"/><Relationship Id="rId1" Type="http://schemas.openxmlformats.org/officeDocument/2006/relationships/slideLayout" Target="../slideLayouts/slideLayout7.xml"/><Relationship Id="rId5" Type="http://schemas.openxmlformats.org/officeDocument/2006/relationships/image" Target="../media/image654.png"/><Relationship Id="rId4" Type="http://schemas.openxmlformats.org/officeDocument/2006/relationships/image" Target="../media/image653.png"/></Relationships>
</file>

<file path=ppt/slides/_rels/slide23.xml.rels><?xml version="1.0" encoding="UTF-8" standalone="yes"?>
<Relationships xmlns="http://schemas.openxmlformats.org/package/2006/relationships"><Relationship Id="rId2" Type="http://schemas.openxmlformats.org/officeDocument/2006/relationships/image" Target="../media/image65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681.png"/><Relationship Id="rId3" Type="http://schemas.openxmlformats.org/officeDocument/2006/relationships/image" Target="../media/image676.png"/><Relationship Id="rId7" Type="http://schemas.openxmlformats.org/officeDocument/2006/relationships/image" Target="../media/image680.png"/><Relationship Id="rId2" Type="http://schemas.openxmlformats.org/officeDocument/2006/relationships/image" Target="../media/image675.png"/><Relationship Id="rId1" Type="http://schemas.openxmlformats.org/officeDocument/2006/relationships/slideLayout" Target="../slideLayouts/slideLayout7.xml"/><Relationship Id="rId6" Type="http://schemas.openxmlformats.org/officeDocument/2006/relationships/image" Target="../media/image679.png"/><Relationship Id="rId5" Type="http://schemas.openxmlformats.org/officeDocument/2006/relationships/image" Target="../media/image678.png"/><Relationship Id="rId4" Type="http://schemas.openxmlformats.org/officeDocument/2006/relationships/image" Target="../media/image677.png"/><Relationship Id="rId9" Type="http://schemas.openxmlformats.org/officeDocument/2006/relationships/image" Target="../media/image682.png"/></Relationships>
</file>

<file path=ppt/slides/_rels/slide29.xml.rels><?xml version="1.0" encoding="UTF-8" standalone="yes"?>
<Relationships xmlns="http://schemas.openxmlformats.org/package/2006/relationships"><Relationship Id="rId3" Type="http://schemas.openxmlformats.org/officeDocument/2006/relationships/image" Target="../media/image684.png"/><Relationship Id="rId2" Type="http://schemas.openxmlformats.org/officeDocument/2006/relationships/image" Target="../media/image683.png"/><Relationship Id="rId1" Type="http://schemas.openxmlformats.org/officeDocument/2006/relationships/slideLayout" Target="../slideLayouts/slideLayout7.xml"/><Relationship Id="rId5" Type="http://schemas.openxmlformats.org/officeDocument/2006/relationships/image" Target="../media/image686.png"/><Relationship Id="rId4" Type="http://schemas.openxmlformats.org/officeDocument/2006/relationships/image" Target="../media/image685.png"/></Relationships>
</file>

<file path=ppt/slides/_rels/slide30.xml.rels><?xml version="1.0" encoding="UTF-8" standalone="yes"?>
<Relationships xmlns="http://schemas.openxmlformats.org/package/2006/relationships"><Relationship Id="rId2" Type="http://schemas.openxmlformats.org/officeDocument/2006/relationships/image" Target="../media/image68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8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90.png"/><Relationship Id="rId7" Type="http://schemas.openxmlformats.org/officeDocument/2006/relationships/image" Target="../media/image694.png"/><Relationship Id="rId2" Type="http://schemas.openxmlformats.org/officeDocument/2006/relationships/image" Target="../media/image689.png"/><Relationship Id="rId1" Type="http://schemas.openxmlformats.org/officeDocument/2006/relationships/slideLayout" Target="../slideLayouts/slideLayout7.xml"/><Relationship Id="rId6" Type="http://schemas.openxmlformats.org/officeDocument/2006/relationships/image" Target="../media/image693.png"/><Relationship Id="rId5" Type="http://schemas.openxmlformats.org/officeDocument/2006/relationships/image" Target="../media/image692.png"/><Relationship Id="rId4" Type="http://schemas.openxmlformats.org/officeDocument/2006/relationships/image" Target="../media/image691.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699.png"/><Relationship Id="rId5" Type="http://schemas.openxmlformats.org/officeDocument/2006/relationships/image" Target="../media/image698.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699.png"/><Relationship Id="rId2" Type="http://schemas.openxmlformats.org/officeDocument/2006/relationships/image" Target="../media/image698.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698.png"/><Relationship Id="rId5" Type="http://schemas.openxmlformats.org/officeDocument/2006/relationships/image" Target="../media/image699.png"/><Relationship Id="rId4" Type="http://schemas.openxmlformats.org/officeDocument/2006/relationships/image" Target="../media/image703.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717.png"/><Relationship Id="rId3" Type="http://schemas.openxmlformats.org/officeDocument/2006/relationships/image" Target="../media/image34.png"/><Relationship Id="rId7" Type="http://schemas.openxmlformats.org/officeDocument/2006/relationships/image" Target="../media/image716.png"/><Relationship Id="rId12" Type="http://schemas.openxmlformats.org/officeDocument/2006/relationships/image" Target="../media/image72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15.png"/><Relationship Id="rId11" Type="http://schemas.openxmlformats.org/officeDocument/2006/relationships/image" Target="../media/image720.png"/><Relationship Id="rId5" Type="http://schemas.openxmlformats.org/officeDocument/2006/relationships/image" Target="../media/image714.png"/><Relationship Id="rId10" Type="http://schemas.openxmlformats.org/officeDocument/2006/relationships/image" Target="../media/image719.png"/><Relationship Id="rId4" Type="http://schemas.openxmlformats.org/officeDocument/2006/relationships/image" Target="../media/image35.png"/><Relationship Id="rId9" Type="http://schemas.openxmlformats.org/officeDocument/2006/relationships/image" Target="../media/image718.png"/></Relationships>
</file>

<file path=ppt/slides/_rels/slide39.xml.rels><?xml version="1.0" encoding="UTF-8" standalone="yes"?>
<Relationships xmlns="http://schemas.openxmlformats.org/package/2006/relationships"><Relationship Id="rId8" Type="http://schemas.openxmlformats.org/officeDocument/2006/relationships/image" Target="../media/image728.png"/><Relationship Id="rId3" Type="http://schemas.openxmlformats.org/officeDocument/2006/relationships/image" Target="../media/image723.png"/><Relationship Id="rId7" Type="http://schemas.openxmlformats.org/officeDocument/2006/relationships/image" Target="../media/image727.png"/><Relationship Id="rId2" Type="http://schemas.openxmlformats.org/officeDocument/2006/relationships/image" Target="../media/image722.png"/><Relationship Id="rId1" Type="http://schemas.openxmlformats.org/officeDocument/2006/relationships/slideLayout" Target="../slideLayouts/slideLayout7.xml"/><Relationship Id="rId6" Type="http://schemas.openxmlformats.org/officeDocument/2006/relationships/image" Target="../media/image726.png"/><Relationship Id="rId5" Type="http://schemas.openxmlformats.org/officeDocument/2006/relationships/image" Target="../media/image725.png"/><Relationship Id="rId4" Type="http://schemas.openxmlformats.org/officeDocument/2006/relationships/image" Target="../media/image724.png"/></Relationships>
</file>

<file path=ppt/slides/_rels/slide40.xml.rels><?xml version="1.0" encoding="UTF-8" standalone="yes"?>
<Relationships xmlns="http://schemas.openxmlformats.org/package/2006/relationships"><Relationship Id="rId8" Type="http://schemas.openxmlformats.org/officeDocument/2006/relationships/image" Target="../media/image737.png"/><Relationship Id="rId3" Type="http://schemas.openxmlformats.org/officeDocument/2006/relationships/image" Target="../media/image732.png"/><Relationship Id="rId7" Type="http://schemas.openxmlformats.org/officeDocument/2006/relationships/image" Target="../media/image736.png"/><Relationship Id="rId2" Type="http://schemas.openxmlformats.org/officeDocument/2006/relationships/image" Target="../media/image731.png"/><Relationship Id="rId1" Type="http://schemas.openxmlformats.org/officeDocument/2006/relationships/slideLayout" Target="../slideLayouts/slideLayout7.xml"/><Relationship Id="rId6" Type="http://schemas.openxmlformats.org/officeDocument/2006/relationships/image" Target="../media/image735.png"/><Relationship Id="rId11" Type="http://schemas.openxmlformats.org/officeDocument/2006/relationships/image" Target="../media/image740.png"/><Relationship Id="rId5" Type="http://schemas.openxmlformats.org/officeDocument/2006/relationships/image" Target="../media/image734.png"/><Relationship Id="rId10" Type="http://schemas.openxmlformats.org/officeDocument/2006/relationships/image" Target="../media/image739.png"/><Relationship Id="rId4" Type="http://schemas.openxmlformats.org/officeDocument/2006/relationships/image" Target="../media/image733.png"/><Relationship Id="rId9" Type="http://schemas.openxmlformats.org/officeDocument/2006/relationships/image" Target="../media/image738.png"/></Relationships>
</file>

<file path=ppt/slides/_rels/slide41.xml.rels><?xml version="1.0" encoding="UTF-8" standalone="yes"?>
<Relationships xmlns="http://schemas.openxmlformats.org/package/2006/relationships"><Relationship Id="rId8" Type="http://schemas.openxmlformats.org/officeDocument/2006/relationships/image" Target="../media/image747.png"/><Relationship Id="rId3" Type="http://schemas.openxmlformats.org/officeDocument/2006/relationships/image" Target="../media/image742.png"/><Relationship Id="rId7" Type="http://schemas.openxmlformats.org/officeDocument/2006/relationships/image" Target="../media/image746.png"/><Relationship Id="rId2" Type="http://schemas.openxmlformats.org/officeDocument/2006/relationships/image" Target="../media/image741.png"/><Relationship Id="rId1" Type="http://schemas.openxmlformats.org/officeDocument/2006/relationships/slideLayout" Target="../slideLayouts/slideLayout7.xml"/><Relationship Id="rId6" Type="http://schemas.openxmlformats.org/officeDocument/2006/relationships/image" Target="../media/image745.png"/><Relationship Id="rId11" Type="http://schemas.openxmlformats.org/officeDocument/2006/relationships/image" Target="../media/image750.png"/><Relationship Id="rId5" Type="http://schemas.openxmlformats.org/officeDocument/2006/relationships/image" Target="../media/image744.png"/><Relationship Id="rId10" Type="http://schemas.openxmlformats.org/officeDocument/2006/relationships/image" Target="../media/image749.png"/><Relationship Id="rId4" Type="http://schemas.openxmlformats.org/officeDocument/2006/relationships/image" Target="../media/image743.png"/><Relationship Id="rId9" Type="http://schemas.openxmlformats.org/officeDocument/2006/relationships/image" Target="../media/image748.png"/></Relationships>
</file>

<file path=ppt/slides/_rels/slide42.xml.rels><?xml version="1.0" encoding="UTF-8" standalone="yes"?>
<Relationships xmlns="http://schemas.openxmlformats.org/package/2006/relationships"><Relationship Id="rId8" Type="http://schemas.openxmlformats.org/officeDocument/2006/relationships/image" Target="../media/image757.png"/><Relationship Id="rId13" Type="http://schemas.openxmlformats.org/officeDocument/2006/relationships/image" Target="../media/image153.png"/><Relationship Id="rId3" Type="http://schemas.openxmlformats.org/officeDocument/2006/relationships/image" Target="../media/image145.png"/><Relationship Id="rId7" Type="http://schemas.openxmlformats.org/officeDocument/2006/relationships/image" Target="../media/image756.png"/><Relationship Id="rId12" Type="http://schemas.openxmlformats.org/officeDocument/2006/relationships/image" Target="../media/image152.png"/><Relationship Id="rId2" Type="http://schemas.openxmlformats.org/officeDocument/2006/relationships/image" Target="../media/image144.png"/><Relationship Id="rId1" Type="http://schemas.openxmlformats.org/officeDocument/2006/relationships/slideLayout" Target="../slideLayouts/slideLayout7.xml"/><Relationship Id="rId6" Type="http://schemas.openxmlformats.org/officeDocument/2006/relationships/image" Target="../media/image148.png"/><Relationship Id="rId11" Type="http://schemas.openxmlformats.org/officeDocument/2006/relationships/image" Target="../media/image150.png"/><Relationship Id="rId5" Type="http://schemas.openxmlformats.org/officeDocument/2006/relationships/image" Target="../media/image147.png"/><Relationship Id="rId10" Type="http://schemas.openxmlformats.org/officeDocument/2006/relationships/image" Target="../media/image149.png"/><Relationship Id="rId4" Type="http://schemas.openxmlformats.org/officeDocument/2006/relationships/image" Target="../media/image146.png"/><Relationship Id="rId9" Type="http://schemas.openxmlformats.org/officeDocument/2006/relationships/image" Target="../media/image758.png"/><Relationship Id="rId14" Type="http://schemas.openxmlformats.org/officeDocument/2006/relationships/image" Target="../media/image763.png"/></Relationships>
</file>

<file path=ppt/slides/_rels/slide4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65.png"/><Relationship Id="rId7" Type="http://schemas.openxmlformats.org/officeDocument/2006/relationships/image" Target="../media/image769.png"/><Relationship Id="rId12" Type="http://schemas.openxmlformats.org/officeDocument/2006/relationships/image" Target="../media/image774.png"/><Relationship Id="rId2" Type="http://schemas.openxmlformats.org/officeDocument/2006/relationships/image" Target="../media/image764.png"/><Relationship Id="rId1" Type="http://schemas.openxmlformats.org/officeDocument/2006/relationships/slideLayout" Target="../slideLayouts/slideLayout7.xml"/><Relationship Id="rId6" Type="http://schemas.openxmlformats.org/officeDocument/2006/relationships/image" Target="../media/image768.png"/><Relationship Id="rId11" Type="http://schemas.openxmlformats.org/officeDocument/2006/relationships/image" Target="../media/image773.png"/><Relationship Id="rId5" Type="http://schemas.openxmlformats.org/officeDocument/2006/relationships/image" Target="../media/image767.png"/><Relationship Id="rId10" Type="http://schemas.openxmlformats.org/officeDocument/2006/relationships/image" Target="../media/image772.png"/><Relationship Id="rId4" Type="http://schemas.openxmlformats.org/officeDocument/2006/relationships/image" Target="../media/image766.png"/><Relationship Id="rId9" Type="http://schemas.openxmlformats.org/officeDocument/2006/relationships/image" Target="../media/image771.png"/></Relationships>
</file>

<file path=ppt/slides/_rels/slide44.xml.rels><?xml version="1.0" encoding="UTF-8" standalone="yes"?>
<Relationships xmlns="http://schemas.openxmlformats.org/package/2006/relationships"><Relationship Id="rId8" Type="http://schemas.openxmlformats.org/officeDocument/2006/relationships/image" Target="../media/image780.png"/><Relationship Id="rId13" Type="http://schemas.openxmlformats.org/officeDocument/2006/relationships/image" Target="../media/image785.png"/><Relationship Id="rId3" Type="http://schemas.openxmlformats.org/officeDocument/2006/relationships/image" Target="../media/image776.png"/><Relationship Id="rId7" Type="http://schemas.openxmlformats.org/officeDocument/2006/relationships/image" Target="../media/image779.png"/><Relationship Id="rId12" Type="http://schemas.openxmlformats.org/officeDocument/2006/relationships/image" Target="../media/image784.png"/><Relationship Id="rId2" Type="http://schemas.openxmlformats.org/officeDocument/2006/relationships/image" Target="../media/image775.png"/><Relationship Id="rId16" Type="http://schemas.openxmlformats.org/officeDocument/2006/relationships/image" Target="../media/image788.png"/><Relationship Id="rId1" Type="http://schemas.openxmlformats.org/officeDocument/2006/relationships/slideLayout" Target="../slideLayouts/slideLayout7.xml"/><Relationship Id="rId6" Type="http://schemas.openxmlformats.org/officeDocument/2006/relationships/image" Target="../media/image778.png"/><Relationship Id="rId11" Type="http://schemas.openxmlformats.org/officeDocument/2006/relationships/image" Target="../media/image783.png"/><Relationship Id="rId5" Type="http://schemas.openxmlformats.org/officeDocument/2006/relationships/image" Target="../media/image773.png"/><Relationship Id="rId15" Type="http://schemas.openxmlformats.org/officeDocument/2006/relationships/image" Target="../media/image787.png"/><Relationship Id="rId10" Type="http://schemas.openxmlformats.org/officeDocument/2006/relationships/image" Target="../media/image782.png"/><Relationship Id="rId4" Type="http://schemas.openxmlformats.org/officeDocument/2006/relationships/image" Target="../media/image777.png"/><Relationship Id="rId9" Type="http://schemas.openxmlformats.org/officeDocument/2006/relationships/image" Target="../media/image781.png"/><Relationship Id="rId14" Type="http://schemas.openxmlformats.org/officeDocument/2006/relationships/image" Target="../media/image786.png"/></Relationships>
</file>

<file path=ppt/slides/_rels/slide45.xml.rels><?xml version="1.0" encoding="UTF-8" standalone="yes"?>
<Relationships xmlns="http://schemas.openxmlformats.org/package/2006/relationships"><Relationship Id="rId8" Type="http://schemas.openxmlformats.org/officeDocument/2006/relationships/image" Target="../media/image795.png"/><Relationship Id="rId13" Type="http://schemas.openxmlformats.org/officeDocument/2006/relationships/image" Target="../media/image800.png"/><Relationship Id="rId3" Type="http://schemas.openxmlformats.org/officeDocument/2006/relationships/image" Target="../media/image790.png"/><Relationship Id="rId12" Type="http://schemas.openxmlformats.org/officeDocument/2006/relationships/image" Target="../media/image799.png"/><Relationship Id="rId2" Type="http://schemas.openxmlformats.org/officeDocument/2006/relationships/image" Target="../media/image789.png"/><Relationship Id="rId1" Type="http://schemas.openxmlformats.org/officeDocument/2006/relationships/slideLayout" Target="../slideLayouts/slideLayout7.xml"/><Relationship Id="rId6" Type="http://schemas.openxmlformats.org/officeDocument/2006/relationships/image" Target="../media/image793.png"/><Relationship Id="rId11" Type="http://schemas.openxmlformats.org/officeDocument/2006/relationships/image" Target="../media/image798.png"/><Relationship Id="rId5" Type="http://schemas.openxmlformats.org/officeDocument/2006/relationships/image" Target="../media/image792.png"/><Relationship Id="rId10" Type="http://schemas.openxmlformats.org/officeDocument/2006/relationships/image" Target="../media/image797.png"/><Relationship Id="rId4" Type="http://schemas.openxmlformats.org/officeDocument/2006/relationships/image" Target="../media/image791.png"/><Relationship Id="rId9" Type="http://schemas.openxmlformats.org/officeDocument/2006/relationships/image" Target="../media/image796.png"/></Relationships>
</file>

<file path=ppt/slides/_rels/slide46.xml.rels><?xml version="1.0" encoding="UTF-8" standalone="yes"?>
<Relationships xmlns="http://schemas.openxmlformats.org/package/2006/relationships"><Relationship Id="rId8" Type="http://schemas.openxmlformats.org/officeDocument/2006/relationships/image" Target="../media/image808.png"/><Relationship Id="rId3" Type="http://schemas.openxmlformats.org/officeDocument/2006/relationships/image" Target="../media/image803.png"/><Relationship Id="rId7" Type="http://schemas.openxmlformats.org/officeDocument/2006/relationships/image" Target="../media/image807.png"/><Relationship Id="rId2" Type="http://schemas.openxmlformats.org/officeDocument/2006/relationships/image" Target="../media/image802.png"/><Relationship Id="rId1" Type="http://schemas.openxmlformats.org/officeDocument/2006/relationships/slideLayout" Target="../slideLayouts/slideLayout7.xml"/><Relationship Id="rId6" Type="http://schemas.openxmlformats.org/officeDocument/2006/relationships/image" Target="../media/image806.png"/><Relationship Id="rId11" Type="http://schemas.openxmlformats.org/officeDocument/2006/relationships/image" Target="../media/image811.png"/><Relationship Id="rId5" Type="http://schemas.openxmlformats.org/officeDocument/2006/relationships/image" Target="../media/image805.png"/><Relationship Id="rId10" Type="http://schemas.openxmlformats.org/officeDocument/2006/relationships/image" Target="../media/image810.png"/><Relationship Id="rId4" Type="http://schemas.openxmlformats.org/officeDocument/2006/relationships/image" Target="../media/image804.png"/><Relationship Id="rId9" Type="http://schemas.openxmlformats.org/officeDocument/2006/relationships/image" Target="../media/image809.png"/></Relationships>
</file>

<file path=ppt/slides/_rels/slide47.xml.rels><?xml version="1.0" encoding="UTF-8" standalone="yes"?>
<Relationships xmlns="http://schemas.openxmlformats.org/package/2006/relationships"><Relationship Id="rId8" Type="http://schemas.openxmlformats.org/officeDocument/2006/relationships/image" Target="../media/image818.png"/><Relationship Id="rId13" Type="http://schemas.openxmlformats.org/officeDocument/2006/relationships/image" Target="../media/image823.png"/><Relationship Id="rId3" Type="http://schemas.openxmlformats.org/officeDocument/2006/relationships/image" Target="../media/image813.png"/><Relationship Id="rId7" Type="http://schemas.openxmlformats.org/officeDocument/2006/relationships/image" Target="../media/image817.png"/><Relationship Id="rId12" Type="http://schemas.openxmlformats.org/officeDocument/2006/relationships/image" Target="../media/image822.png"/><Relationship Id="rId2" Type="http://schemas.openxmlformats.org/officeDocument/2006/relationships/image" Target="../media/image812.png"/><Relationship Id="rId1" Type="http://schemas.openxmlformats.org/officeDocument/2006/relationships/slideLayout" Target="../slideLayouts/slideLayout7.xml"/><Relationship Id="rId6" Type="http://schemas.openxmlformats.org/officeDocument/2006/relationships/image" Target="../media/image816.png"/><Relationship Id="rId11" Type="http://schemas.openxmlformats.org/officeDocument/2006/relationships/image" Target="../media/image821.png"/><Relationship Id="rId5" Type="http://schemas.openxmlformats.org/officeDocument/2006/relationships/image" Target="../media/image815.png"/><Relationship Id="rId15" Type="http://schemas.openxmlformats.org/officeDocument/2006/relationships/image" Target="../media/image825.png"/><Relationship Id="rId10" Type="http://schemas.openxmlformats.org/officeDocument/2006/relationships/image" Target="../media/image820.png"/><Relationship Id="rId4" Type="http://schemas.openxmlformats.org/officeDocument/2006/relationships/image" Target="../media/image814.png"/><Relationship Id="rId9" Type="http://schemas.openxmlformats.org/officeDocument/2006/relationships/image" Target="../media/image819.png"/></Relationships>
</file>

<file path=ppt/slides/_rels/slide48.xml.rels><?xml version="1.0" encoding="UTF-8" standalone="yes"?>
<Relationships xmlns="http://schemas.openxmlformats.org/package/2006/relationships"><Relationship Id="rId3" Type="http://schemas.openxmlformats.org/officeDocument/2006/relationships/image" Target="../media/image699.png"/><Relationship Id="rId7" Type="http://schemas.openxmlformats.org/officeDocument/2006/relationships/image" Target="../media/image38.png"/><Relationship Id="rId2" Type="http://schemas.openxmlformats.org/officeDocument/2006/relationships/image" Target="../media/image829.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698.png"/></Relationships>
</file>

<file path=ppt/slides/_rels/slide4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833.png"/><Relationship Id="rId7" Type="http://schemas.openxmlformats.org/officeDocument/2006/relationships/image" Target="../media/image41.png"/><Relationship Id="rId2" Type="http://schemas.openxmlformats.org/officeDocument/2006/relationships/image" Target="../media/image699.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698.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834.png"/><Relationship Id="rId9" Type="http://schemas.openxmlformats.org/officeDocument/2006/relationships/image" Target="../media/image43.png"/></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863.png"/><Relationship Id="rId7" Type="http://schemas.openxmlformats.org/officeDocument/2006/relationships/image" Target="../media/image86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66.png"/><Relationship Id="rId5" Type="http://schemas.openxmlformats.org/officeDocument/2006/relationships/image" Target="../media/image865.png"/><Relationship Id="rId4" Type="http://schemas.openxmlformats.org/officeDocument/2006/relationships/image" Target="../media/image864.png"/></Relationships>
</file>

<file path=ppt/slides/_rels/slide56.xml.rels><?xml version="1.0" encoding="UTF-8" standalone="yes"?>
<Relationships xmlns="http://schemas.openxmlformats.org/package/2006/relationships"><Relationship Id="rId8" Type="http://schemas.openxmlformats.org/officeDocument/2006/relationships/image" Target="../media/image874.png"/><Relationship Id="rId13" Type="http://schemas.openxmlformats.org/officeDocument/2006/relationships/image" Target="../media/image879.png"/><Relationship Id="rId3" Type="http://schemas.openxmlformats.org/officeDocument/2006/relationships/image" Target="../media/image869.png"/><Relationship Id="rId7" Type="http://schemas.openxmlformats.org/officeDocument/2006/relationships/image" Target="../media/image873.png"/><Relationship Id="rId12" Type="http://schemas.openxmlformats.org/officeDocument/2006/relationships/image" Target="../media/image878.png"/><Relationship Id="rId17" Type="http://schemas.openxmlformats.org/officeDocument/2006/relationships/image" Target="../media/image883.png"/><Relationship Id="rId2" Type="http://schemas.openxmlformats.org/officeDocument/2006/relationships/image" Target="../media/image868.png"/><Relationship Id="rId16" Type="http://schemas.openxmlformats.org/officeDocument/2006/relationships/image" Target="../media/image882.png"/><Relationship Id="rId1" Type="http://schemas.openxmlformats.org/officeDocument/2006/relationships/slideLayout" Target="../slideLayouts/slideLayout7.xml"/><Relationship Id="rId6" Type="http://schemas.openxmlformats.org/officeDocument/2006/relationships/image" Target="../media/image872.png"/><Relationship Id="rId11" Type="http://schemas.openxmlformats.org/officeDocument/2006/relationships/image" Target="../media/image877.png"/><Relationship Id="rId5" Type="http://schemas.openxmlformats.org/officeDocument/2006/relationships/image" Target="../media/image871.png"/><Relationship Id="rId15" Type="http://schemas.openxmlformats.org/officeDocument/2006/relationships/image" Target="../media/image881.png"/><Relationship Id="rId10" Type="http://schemas.openxmlformats.org/officeDocument/2006/relationships/image" Target="../media/image876.png"/><Relationship Id="rId4" Type="http://schemas.openxmlformats.org/officeDocument/2006/relationships/image" Target="../media/image870.png"/><Relationship Id="rId9" Type="http://schemas.openxmlformats.org/officeDocument/2006/relationships/image" Target="../media/image875.png"/><Relationship Id="rId14" Type="http://schemas.openxmlformats.org/officeDocument/2006/relationships/image" Target="../media/image880.png"/></Relationships>
</file>

<file path=ppt/slides/_rels/slide57.xml.rels><?xml version="1.0" encoding="UTF-8" standalone="yes"?>
<Relationships xmlns="http://schemas.openxmlformats.org/package/2006/relationships"><Relationship Id="rId8" Type="http://schemas.openxmlformats.org/officeDocument/2006/relationships/image" Target="../media/image890.png"/><Relationship Id="rId3" Type="http://schemas.openxmlformats.org/officeDocument/2006/relationships/image" Target="../media/image885.png"/><Relationship Id="rId7" Type="http://schemas.openxmlformats.org/officeDocument/2006/relationships/image" Target="../media/image889.png"/><Relationship Id="rId2" Type="http://schemas.openxmlformats.org/officeDocument/2006/relationships/image" Target="../media/image884.png"/><Relationship Id="rId1" Type="http://schemas.openxmlformats.org/officeDocument/2006/relationships/slideLayout" Target="../slideLayouts/slideLayout7.xml"/><Relationship Id="rId6" Type="http://schemas.openxmlformats.org/officeDocument/2006/relationships/image" Target="../media/image888.png"/><Relationship Id="rId5" Type="http://schemas.openxmlformats.org/officeDocument/2006/relationships/image" Target="../media/image887.png"/><Relationship Id="rId10" Type="http://schemas.openxmlformats.org/officeDocument/2006/relationships/image" Target="../media/image892.png"/><Relationship Id="rId4" Type="http://schemas.openxmlformats.org/officeDocument/2006/relationships/image" Target="../media/image886.png"/><Relationship Id="rId9" Type="http://schemas.openxmlformats.org/officeDocument/2006/relationships/image" Target="../media/image89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8" Type="http://schemas.openxmlformats.org/officeDocument/2006/relationships/image" Target="../media/image909.png"/><Relationship Id="rId3" Type="http://schemas.openxmlformats.org/officeDocument/2006/relationships/image" Target="../media/image904.png"/><Relationship Id="rId7" Type="http://schemas.openxmlformats.org/officeDocument/2006/relationships/image" Target="../media/image908.png"/><Relationship Id="rId2" Type="http://schemas.openxmlformats.org/officeDocument/2006/relationships/image" Target="../media/image903.png"/><Relationship Id="rId1" Type="http://schemas.openxmlformats.org/officeDocument/2006/relationships/slideLayout" Target="../slideLayouts/slideLayout7.xml"/><Relationship Id="rId6" Type="http://schemas.openxmlformats.org/officeDocument/2006/relationships/image" Target="../media/image907.png"/><Relationship Id="rId5" Type="http://schemas.openxmlformats.org/officeDocument/2006/relationships/image" Target="../media/image906.png"/><Relationship Id="rId4" Type="http://schemas.openxmlformats.org/officeDocument/2006/relationships/image" Target="../media/image905.png"/></Relationships>
</file>

<file path=ppt/slides/_rels/slide62.xml.rels><?xml version="1.0" encoding="UTF-8" standalone="yes"?>
<Relationships xmlns="http://schemas.openxmlformats.org/package/2006/relationships"><Relationship Id="rId2" Type="http://schemas.openxmlformats.org/officeDocument/2006/relationships/image" Target="../media/image91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912.png"/><Relationship Id="rId2" Type="http://schemas.openxmlformats.org/officeDocument/2006/relationships/image" Target="../media/image911.png"/><Relationship Id="rId1" Type="http://schemas.openxmlformats.org/officeDocument/2006/relationships/slideLayout" Target="../slideLayouts/slideLayout7.xml"/><Relationship Id="rId4" Type="http://schemas.openxmlformats.org/officeDocument/2006/relationships/image" Target="../media/image913.png"/></Relationships>
</file>

<file path=ppt/slides/_rels/slide64.xml.rels><?xml version="1.0" encoding="UTF-8" standalone="yes"?>
<Relationships xmlns="http://schemas.openxmlformats.org/package/2006/relationships"><Relationship Id="rId3" Type="http://schemas.openxmlformats.org/officeDocument/2006/relationships/image" Target="../media/image915.png"/><Relationship Id="rId2" Type="http://schemas.openxmlformats.org/officeDocument/2006/relationships/image" Target="../media/image914.png"/><Relationship Id="rId1" Type="http://schemas.openxmlformats.org/officeDocument/2006/relationships/slideLayout" Target="../slideLayouts/slideLayout7.xml"/><Relationship Id="rId5" Type="http://schemas.openxmlformats.org/officeDocument/2006/relationships/image" Target="../media/image917.png"/><Relationship Id="rId4" Type="http://schemas.openxmlformats.org/officeDocument/2006/relationships/image" Target="../media/image916.png"/></Relationships>
</file>

<file path=ppt/slides/_rels/slide65.xml.rels><?xml version="1.0" encoding="UTF-8" standalone="yes"?>
<Relationships xmlns="http://schemas.openxmlformats.org/package/2006/relationships"><Relationship Id="rId2" Type="http://schemas.openxmlformats.org/officeDocument/2006/relationships/image" Target="../media/image91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91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92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92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92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92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43.png"/><Relationship Id="rId5" Type="http://schemas.openxmlformats.org/officeDocument/2006/relationships/image" Target="../media/image942.png"/><Relationship Id="rId4" Type="http://schemas.openxmlformats.org/officeDocument/2006/relationships/image" Target="../media/image941.png"/></Relationships>
</file>

<file path=ppt/slides/_rels/slide76.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945.png"/><Relationship Id="rId5" Type="http://schemas.openxmlformats.org/officeDocument/2006/relationships/image" Target="../media/image944.png"/><Relationship Id="rId4" Type="http://schemas.openxmlformats.org/officeDocument/2006/relationships/image" Target="../media/image941.png"/></Relationships>
</file>

<file path=ppt/slides/_rels/slide77.xml.rels><?xml version="1.0" encoding="UTF-8" standalone="yes"?>
<Relationships xmlns="http://schemas.openxmlformats.org/package/2006/relationships"><Relationship Id="rId3" Type="http://schemas.openxmlformats.org/officeDocument/2006/relationships/image" Target="../media/image946.png"/><Relationship Id="rId7" Type="http://schemas.openxmlformats.org/officeDocument/2006/relationships/image" Target="../media/image94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947.png"/><Relationship Id="rId5" Type="http://schemas.openxmlformats.org/officeDocument/2006/relationships/image" Target="../media/image941.png"/><Relationship Id="rId4" Type="http://schemas.openxmlformats.org/officeDocument/2006/relationships/image" Target="../media/image94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949.png"/><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3" Type="http://schemas.openxmlformats.org/officeDocument/2006/relationships/image" Target="../media/image951.png"/><Relationship Id="rId2" Type="http://schemas.openxmlformats.org/officeDocument/2006/relationships/image" Target="../media/image200.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8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0" y="0"/>
            <a:ext cx="6858000" cy="9906000"/>
          </a:xfrm>
          <a:custGeom>
            <a:avLst/>
            <a:gdLst>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811060 w 6488483"/>
              <a:gd name="connsiteY5" fmla="*/ 811060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811060 w 6488483"/>
              <a:gd name="connsiteY9" fmla="*/ 811060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6228568 w 6488483"/>
              <a:gd name="connsiteY8" fmla="*/ 272441 h 9394520"/>
              <a:gd name="connsiteX9" fmla="*/ 284967 w 6488483"/>
              <a:gd name="connsiteY9" fmla="*/ 272441 h 939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8483" h="9394520">
                <a:moveTo>
                  <a:pt x="0" y="0"/>
                </a:moveTo>
                <a:lnTo>
                  <a:pt x="6488483" y="0"/>
                </a:lnTo>
                <a:lnTo>
                  <a:pt x="6488483" y="9394520"/>
                </a:lnTo>
                <a:lnTo>
                  <a:pt x="0" y="9394520"/>
                </a:lnTo>
                <a:lnTo>
                  <a:pt x="0" y="0"/>
                </a:lnTo>
                <a:close/>
                <a:moveTo>
                  <a:pt x="284967" y="272441"/>
                </a:moveTo>
                <a:cubicBezTo>
                  <a:pt x="280792" y="3226496"/>
                  <a:pt x="276616" y="6180550"/>
                  <a:pt x="272441" y="9134605"/>
                </a:cubicBezTo>
                <a:lnTo>
                  <a:pt x="6216042" y="9134606"/>
                </a:lnTo>
                <a:cubicBezTo>
                  <a:pt x="6220217" y="6180551"/>
                  <a:pt x="6224393" y="3226496"/>
                  <a:pt x="6228568" y="272441"/>
                </a:cubicBezTo>
                <a:lnTo>
                  <a:pt x="284967" y="272441"/>
                </a:lnTo>
                <a:close/>
              </a:path>
            </a:pathLst>
          </a:cu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AutoShape 6" descr="Image result for expression fun maths"/>
          <p:cNvSpPr>
            <a:spLocks noChangeAspect="1" noChangeArrowheads="1"/>
          </p:cNvSpPr>
          <p:nvPr/>
        </p:nvSpPr>
        <p:spPr bwMode="auto">
          <a:xfrm>
            <a:off x="155575" y="-623888"/>
            <a:ext cx="1924050" cy="13144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 name="Table 2"/>
          <p:cNvGraphicFramePr>
            <a:graphicFrameLocks noGrp="1"/>
          </p:cNvGraphicFramePr>
          <p:nvPr>
            <p:extLst>
              <p:ext uri="{D42A27DB-BD31-4B8C-83A1-F6EECF244321}">
                <p14:modId xmlns:p14="http://schemas.microsoft.com/office/powerpoint/2010/main" val="2174141240"/>
              </p:ext>
            </p:extLst>
          </p:nvPr>
        </p:nvGraphicFramePr>
        <p:xfrm>
          <a:off x="524173" y="2057401"/>
          <a:ext cx="5862340" cy="2407920"/>
        </p:xfrm>
        <a:graphic>
          <a:graphicData uri="http://schemas.openxmlformats.org/drawingml/2006/table">
            <a:tbl>
              <a:tblPr firstRow="1" bandRow="1">
                <a:tableStyleId>{5C22544A-7EE6-4342-B048-85BDC9FD1C3A}</a:tableStyleId>
              </a:tblPr>
              <a:tblGrid>
                <a:gridCol w="5862340">
                  <a:extLst>
                    <a:ext uri="{9D8B030D-6E8A-4147-A177-3AD203B41FA5}">
                      <a16:colId xmlns:a16="http://schemas.microsoft.com/office/drawing/2014/main" val="3141629024"/>
                    </a:ext>
                  </a:extLst>
                </a:gridCol>
              </a:tblGrid>
              <a:tr h="594104">
                <a:tc>
                  <a:txBody>
                    <a:bodyPr/>
                    <a:lstStyle/>
                    <a:p>
                      <a:pPr algn="ctr"/>
                      <a:r>
                        <a:rPr lang="en-GB" sz="4000" b="0" noProof="0" dirty="0">
                          <a:solidFill>
                            <a:sysClr val="windowText" lastClr="000000"/>
                          </a:solidFill>
                          <a:latin typeface="+mn-lt"/>
                        </a:rPr>
                        <a:t>YEAR 11 MATHEMATICS</a:t>
                      </a:r>
                    </a:p>
                  </a:txBody>
                  <a:tcPr anchor="ctr">
                    <a:lnB w="12700" cap="flat" cmpd="sng" algn="ctr">
                      <a:solidFill>
                        <a:schemeClr val="tx1"/>
                      </a:solidFill>
                      <a:prstDash val="dot"/>
                      <a:round/>
                      <a:headEnd type="none" w="med" len="med"/>
                      <a:tailEnd type="none" w="med" len="med"/>
                    </a:lnB>
                    <a:solidFill>
                      <a:schemeClr val="bg1"/>
                    </a:solidFill>
                  </a:tcPr>
                </a:tc>
                <a:extLst>
                  <a:ext uri="{0D108BD9-81ED-4DB2-BD59-A6C34878D82A}">
                    <a16:rowId xmlns:a16="http://schemas.microsoft.com/office/drawing/2014/main" val="2360724906"/>
                  </a:ext>
                </a:extLst>
              </a:tr>
              <a:tr h="59410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2000" b="1" baseline="0" noProof="0" dirty="0"/>
                        <a:t>Unit 1: Further Algebra PART 2</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2000" b="1" baseline="0" noProof="0" dirty="0">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2000" b="1" baseline="0" noProof="0" dirty="0">
                          <a:latin typeface="+mn-lt"/>
                        </a:rPr>
                        <a:t>PART 2: Algebraic Fractions, </a:t>
                      </a:r>
                    </a:p>
                    <a:p>
                      <a:pPr marL="0" marR="0" lvl="0" indent="0" algn="ctr" defTabSz="685800" rtl="0" eaLnBrk="1" fontAlgn="auto" latinLnBrk="0" hangingPunct="1">
                        <a:lnSpc>
                          <a:spcPct val="100000"/>
                        </a:lnSpc>
                        <a:spcBef>
                          <a:spcPts val="0"/>
                        </a:spcBef>
                        <a:spcAft>
                          <a:spcPts val="0"/>
                        </a:spcAft>
                        <a:buClrTx/>
                        <a:buSzTx/>
                        <a:buFontTx/>
                        <a:buNone/>
                        <a:tabLst/>
                        <a:defRPr/>
                      </a:pPr>
                      <a:r>
                        <a:rPr lang="en-GB" sz="2000" b="1" baseline="0" noProof="0" dirty="0">
                          <a:latin typeface="+mn-lt"/>
                        </a:rPr>
                        <a:t>Functions, Iteration, Proof</a:t>
                      </a:r>
                      <a:endParaRPr lang="en-GB" sz="2000" b="1" noProof="0" dirty="0">
                        <a:latin typeface="+mn-lt"/>
                      </a:endParaRP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chemeClr val="bg1"/>
                    </a:solidFill>
                  </a:tcPr>
                </a:tc>
                <a:extLst>
                  <a:ext uri="{0D108BD9-81ED-4DB2-BD59-A6C34878D82A}">
                    <a16:rowId xmlns:a16="http://schemas.microsoft.com/office/drawing/2014/main" val="1410125024"/>
                  </a:ext>
                </a:extLst>
              </a:tr>
              <a:tr h="366272">
                <a:tc>
                  <a:txBody>
                    <a:bodyPr/>
                    <a:lstStyle/>
                    <a:p>
                      <a:pPr algn="ctr"/>
                      <a:endParaRPr lang="en-GB" sz="2000" noProof="0" dirty="0">
                        <a:solidFill>
                          <a:sysClr val="windowText" lastClr="000000"/>
                        </a:solidFill>
                        <a:latin typeface="+mj-lt"/>
                      </a:endParaRPr>
                    </a:p>
                  </a:txBody>
                  <a:tcPr anchor="ctr">
                    <a:lnT w="12700" cap="flat" cmpd="sng" algn="ctr">
                      <a:solidFill>
                        <a:schemeClr val="tx1"/>
                      </a:solidFill>
                      <a:prstDash val="dot"/>
                      <a:round/>
                      <a:headEnd type="none" w="med" len="med"/>
                      <a:tailEnd type="none" w="med" len="med"/>
                    </a:lnT>
                    <a:solidFill>
                      <a:schemeClr val="bg1"/>
                    </a:solidFill>
                  </a:tcPr>
                </a:tc>
                <a:extLst>
                  <a:ext uri="{0D108BD9-81ED-4DB2-BD59-A6C34878D82A}">
                    <a16:rowId xmlns:a16="http://schemas.microsoft.com/office/drawing/2014/main" val="4079067449"/>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408313148"/>
              </p:ext>
            </p:extLst>
          </p:nvPr>
        </p:nvGraphicFramePr>
        <p:xfrm>
          <a:off x="3440212" y="393970"/>
          <a:ext cx="2972792" cy="1554480"/>
        </p:xfrm>
        <a:graphic>
          <a:graphicData uri="http://schemas.openxmlformats.org/drawingml/2006/table">
            <a:tbl>
              <a:tblPr firstRow="1" bandRow="1">
                <a:tableStyleId>{5C22544A-7EE6-4342-B048-85BDC9FD1C3A}</a:tableStyleId>
              </a:tblPr>
              <a:tblGrid>
                <a:gridCol w="1000861">
                  <a:extLst>
                    <a:ext uri="{9D8B030D-6E8A-4147-A177-3AD203B41FA5}">
                      <a16:colId xmlns:a16="http://schemas.microsoft.com/office/drawing/2014/main" val="3141629024"/>
                    </a:ext>
                  </a:extLst>
                </a:gridCol>
                <a:gridCol w="1971931">
                  <a:extLst>
                    <a:ext uri="{9D8B030D-6E8A-4147-A177-3AD203B41FA5}">
                      <a16:colId xmlns:a16="http://schemas.microsoft.com/office/drawing/2014/main" val="312534935"/>
                    </a:ext>
                  </a:extLst>
                </a:gridCol>
              </a:tblGrid>
              <a:tr h="518160">
                <a:tc>
                  <a:txBody>
                    <a:bodyPr/>
                    <a:lstStyle/>
                    <a:p>
                      <a:pPr algn="ctr"/>
                      <a:r>
                        <a:rPr lang="en-GB" sz="1400" b="0" noProof="0" dirty="0">
                          <a:solidFill>
                            <a:sysClr val="windowText" lastClr="000000"/>
                          </a:solidFill>
                          <a:latin typeface="+mj-lt"/>
                        </a:rPr>
                        <a:t>Name</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noProof="0" dirty="0">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0724906"/>
                  </a:ext>
                </a:extLst>
              </a:tr>
              <a:tr h="518160">
                <a:tc>
                  <a:txBody>
                    <a:bodyPr/>
                    <a:lstStyle/>
                    <a:p>
                      <a:pPr algn="ctr"/>
                      <a:r>
                        <a:rPr lang="en-GB" sz="1400" b="0" noProof="0" dirty="0">
                          <a:solidFill>
                            <a:sysClr val="windowText" lastClr="000000"/>
                          </a:solidFill>
                          <a:latin typeface="+mj-lt"/>
                        </a:rPr>
                        <a:t>Class</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noProof="0" dirty="0">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3583755"/>
                  </a:ext>
                </a:extLst>
              </a:tr>
              <a:tr h="518160">
                <a:tc>
                  <a:txBody>
                    <a:bodyPr/>
                    <a:lstStyle/>
                    <a:p>
                      <a:pPr algn="ctr"/>
                      <a:r>
                        <a:rPr lang="en-GB" sz="1400" b="0" noProof="0" dirty="0">
                          <a:solidFill>
                            <a:sysClr val="windowText" lastClr="000000"/>
                          </a:solidFill>
                          <a:latin typeface="+mj-lt"/>
                        </a:rPr>
                        <a:t>Tutor Group</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noProof="0" dirty="0">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9808098"/>
                  </a:ext>
                </a:extLst>
              </a:tr>
            </a:tbl>
          </a:graphicData>
        </a:graphic>
      </p:graphicFrame>
      <p:sp>
        <p:nvSpPr>
          <p:cNvPr id="8" name="TextBox 7">
            <a:extLst>
              <a:ext uri="{FF2B5EF4-FFF2-40B4-BE49-F238E27FC236}">
                <a16:creationId xmlns:a16="http://schemas.microsoft.com/office/drawing/2014/main" id="{9B4B40E0-2FC5-2646-9739-124F7623AC2B}"/>
              </a:ext>
            </a:extLst>
          </p:cNvPr>
          <p:cNvSpPr txBox="1"/>
          <p:nvPr/>
        </p:nvSpPr>
        <p:spPr>
          <a:xfrm>
            <a:off x="2459472" y="6885789"/>
            <a:ext cx="174018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7E2341"/>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79F4FE82-4863-834C-ABBC-12E9AD9BCA20}"/>
                  </a:ext>
                </a:extLst>
              </p:cNvPr>
              <p:cNvGraphicFramePr>
                <a:graphicFrameLocks noGrp="1"/>
              </p:cNvGraphicFramePr>
              <p:nvPr>
                <p:extLst>
                  <p:ext uri="{D42A27DB-BD31-4B8C-83A1-F6EECF244321}">
                    <p14:modId xmlns:p14="http://schemas.microsoft.com/office/powerpoint/2010/main" val="2728663029"/>
                  </p:ext>
                </p:extLst>
              </p:nvPr>
            </p:nvGraphicFramePr>
            <p:xfrm>
              <a:off x="445936" y="5468177"/>
              <a:ext cx="6026121" cy="4043853"/>
            </p:xfrm>
            <a:graphic>
              <a:graphicData uri="http://schemas.openxmlformats.org/drawingml/2006/table">
                <a:tbl>
                  <a:tblPr firstRow="1" bandRow="1">
                    <a:tableStyleId>{7E9639D4-E3E2-4D34-9284-5A2195B3D0D7}</a:tableStyleId>
                  </a:tblPr>
                  <a:tblGrid>
                    <a:gridCol w="1650231">
                      <a:extLst>
                        <a:ext uri="{9D8B030D-6E8A-4147-A177-3AD203B41FA5}">
                          <a16:colId xmlns:a16="http://schemas.microsoft.com/office/drawing/2014/main" val="3563799444"/>
                        </a:ext>
                      </a:extLst>
                    </a:gridCol>
                    <a:gridCol w="4375890">
                      <a:extLst>
                        <a:ext uri="{9D8B030D-6E8A-4147-A177-3AD203B41FA5}">
                          <a16:colId xmlns:a16="http://schemas.microsoft.com/office/drawing/2014/main" val="2581643566"/>
                        </a:ext>
                      </a:extLst>
                    </a:gridCol>
                  </a:tblGrid>
                  <a:tr h="290034">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bg1"/>
                              </a:solidFill>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FABAB"/>
                        </a:solidFill>
                      </a:tcPr>
                    </a:tc>
                    <a:tc hMerge="1">
                      <a:txBody>
                        <a:bodyPr/>
                        <a:lstStyle/>
                        <a:p>
                          <a:endParaRPr lang="en-GB"/>
                        </a:p>
                      </a:txBody>
                      <a:tcPr>
                        <a:solidFill>
                          <a:srgbClr val="7E2341"/>
                        </a:solidFill>
                      </a:tcPr>
                    </a:tc>
                    <a:extLst>
                      <a:ext uri="{0D108BD9-81ED-4DB2-BD59-A6C34878D82A}">
                        <a16:rowId xmlns:a16="http://schemas.microsoft.com/office/drawing/2014/main" val="163826269"/>
                      </a:ext>
                    </a:extLst>
                  </a:tr>
                  <a:tr h="290034">
                    <a:tc>
                      <a:txBody>
                        <a:bodyPr/>
                        <a:lstStyle/>
                        <a:p>
                          <a:pPr algn="l"/>
                          <a:r>
                            <a:rPr lang="en-GB" sz="1200" b="1" noProof="0" dirty="0">
                              <a:latin typeface="+mn-lt"/>
                            </a:rPr>
                            <a:t>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GB" sz="1200" b="0" i="0" kern="1200" noProof="0" dirty="0">
                              <a:solidFill>
                                <a:schemeClr val="tx1"/>
                              </a:solidFill>
                              <a:effectLst/>
                              <a:latin typeface="+mn-lt"/>
                              <a:ea typeface="+mn-ea"/>
                              <a:cs typeface="+mn-cs"/>
                            </a:rPr>
                            <a:t>Fractions represent equal parts of a whole or a collection.</a:t>
                          </a:r>
                          <a:endParaRPr lang="en-GB" sz="1200" b="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320498"/>
                      </a:ext>
                    </a:extLst>
                  </a:tr>
                  <a:tr h="317517">
                    <a:tc>
                      <a:txBody>
                        <a:bodyPr/>
                        <a:lstStyle/>
                        <a:p>
                          <a:pPr algn="l"/>
                          <a:r>
                            <a:rPr lang="en-GB" sz="1200" b="1" noProof="0" dirty="0">
                              <a:effectLst/>
                              <a:latin typeface="+mn-lt"/>
                            </a:rPr>
                            <a:t>Numerator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noProof="0" dirty="0">
                              <a:effectLst/>
                              <a:latin typeface="+mn-lt"/>
                            </a:rPr>
                            <a:t>The top number</a:t>
                          </a:r>
                          <a:r>
                            <a:rPr lang="en-GB" sz="1200" b="0" baseline="0" noProof="0" dirty="0">
                              <a:effectLst/>
                              <a:latin typeface="+mn-lt"/>
                            </a:rPr>
                            <a:t> in a fraction, represents the parts. </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2487135"/>
                      </a:ext>
                    </a:extLst>
                  </a:tr>
                  <a:tr h="314203">
                    <a:tc>
                      <a:txBody>
                        <a:bodyPr/>
                        <a:lstStyle/>
                        <a:p>
                          <a:pPr algn="l"/>
                          <a:r>
                            <a:rPr lang="en-GB" sz="1200" b="1" noProof="0" dirty="0">
                              <a:effectLst/>
                              <a:latin typeface="+mn-lt"/>
                            </a:rPr>
                            <a:t>Denominator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noProof="0" dirty="0">
                              <a:effectLst/>
                              <a:latin typeface="+mn-lt"/>
                            </a:rPr>
                            <a:t>The bottom number in</a:t>
                          </a:r>
                          <a:r>
                            <a:rPr lang="en-GB" sz="1200" b="0" baseline="0" noProof="0" dirty="0">
                              <a:effectLst/>
                              <a:latin typeface="+mn-lt"/>
                            </a:rPr>
                            <a:t> a fraction, represents the whole. </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676052"/>
                      </a:ext>
                    </a:extLst>
                  </a:tr>
                  <a:tr h="414872">
                    <a:tc>
                      <a:txBody>
                        <a:bodyPr/>
                        <a:lstStyle/>
                        <a:p>
                          <a:pPr algn="l"/>
                          <a:r>
                            <a:rPr lang="en-GB" sz="1200" b="1" noProof="0" dirty="0">
                              <a:effectLst/>
                              <a:latin typeface="+mn-lt"/>
                            </a:rPr>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dirty="0">
                              <a:solidFill>
                                <a:schemeClr val="tx1"/>
                              </a:solidFill>
                              <a:effectLst/>
                              <a:latin typeface="+mn-lt"/>
                              <a:ea typeface="+mn-ea"/>
                              <a:cs typeface="+mn-cs"/>
                            </a:rPr>
                            <a:t>A special relationship where each input has a single output,</a:t>
                          </a:r>
                          <a:r>
                            <a:rPr lang="en-GB" sz="1200" b="0" i="0" kern="1200" baseline="0" noProof="0" dirty="0">
                              <a:solidFill>
                                <a:schemeClr val="tx1"/>
                              </a:solidFill>
                              <a:effectLst/>
                              <a:latin typeface="+mn-lt"/>
                              <a:ea typeface="+mn-ea"/>
                              <a:cs typeface="+mn-cs"/>
                            </a:rPr>
                            <a:t> usually written as </a:t>
                          </a:r>
                          <a14:m>
                            <m:oMath xmlns:m="http://schemas.openxmlformats.org/officeDocument/2006/math">
                              <m:r>
                                <a:rPr lang="en-GB" sz="1200" b="0" i="1" kern="1200" baseline="0" noProof="0" smtClean="0">
                                  <a:solidFill>
                                    <a:schemeClr val="tx1"/>
                                  </a:solidFill>
                                  <a:effectLst/>
                                  <a:latin typeface="Cambria Math" panose="02040503050406030204" pitchFamily="18" charset="0"/>
                                  <a:ea typeface="+mn-ea"/>
                                  <a:cs typeface="+mn-cs"/>
                                </a:rPr>
                                <m:t>𝑓</m:t>
                              </m:r>
                              <m:r>
                                <a:rPr lang="en-GB" sz="1200" b="0" i="1" kern="1200" baseline="0" noProof="0" smtClean="0">
                                  <a:solidFill>
                                    <a:schemeClr val="tx1"/>
                                  </a:solidFill>
                                  <a:effectLst/>
                                  <a:latin typeface="Cambria Math" panose="02040503050406030204" pitchFamily="18" charset="0"/>
                                  <a:ea typeface="+mn-ea"/>
                                  <a:cs typeface="+mn-cs"/>
                                </a:rPr>
                                <m:t>(</m:t>
                              </m:r>
                              <m:r>
                                <a:rPr lang="en-GB" sz="1200" b="0" i="1" kern="1200" baseline="0" noProof="0" smtClean="0">
                                  <a:solidFill>
                                    <a:schemeClr val="tx1"/>
                                  </a:solidFill>
                                  <a:effectLst/>
                                  <a:latin typeface="Cambria Math" panose="02040503050406030204" pitchFamily="18" charset="0"/>
                                  <a:ea typeface="+mn-ea"/>
                                  <a:cs typeface="+mn-cs"/>
                                </a:rPr>
                                <m:t>𝑥</m:t>
                              </m:r>
                              <m:r>
                                <a:rPr lang="en-GB" sz="1200" b="0" i="1" kern="1200" baseline="0" noProof="0" smtClean="0">
                                  <a:solidFill>
                                    <a:schemeClr val="tx1"/>
                                  </a:solidFill>
                                  <a:effectLst/>
                                  <a:latin typeface="Cambria Math" panose="02040503050406030204" pitchFamily="18" charset="0"/>
                                  <a:ea typeface="+mn-ea"/>
                                  <a:cs typeface="+mn-cs"/>
                                </a:rPr>
                                <m:t>)</m:t>
                              </m:r>
                            </m:oMath>
                          </a14:m>
                          <a:r>
                            <a:rPr lang="en-GB" sz="1200" b="0" i="0" kern="1200" baseline="0" noProof="0" dirty="0">
                              <a:solidFill>
                                <a:schemeClr val="tx1"/>
                              </a:solidFill>
                              <a:effectLst/>
                              <a:latin typeface="+mn-lt"/>
                              <a:ea typeface="+mn-ea"/>
                              <a:cs typeface="+mn-cs"/>
                            </a:rPr>
                            <a:t>. </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0977367"/>
                      </a:ext>
                    </a:extLst>
                  </a:tr>
                  <a:tr h="754313">
                    <a:tc>
                      <a:txBody>
                        <a:bodyPr/>
                        <a:lstStyle/>
                        <a:p>
                          <a:pPr algn="l"/>
                          <a:r>
                            <a:rPr lang="en-GB" sz="1200" b="1" noProof="0" dirty="0">
                              <a:effectLst/>
                              <a:latin typeface="+mn-lt"/>
                            </a:rPr>
                            <a:t>Inverse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dirty="0">
                              <a:solidFill>
                                <a:schemeClr val="tx1"/>
                              </a:solidFill>
                              <a:effectLst/>
                              <a:latin typeface="+mn-lt"/>
                              <a:ea typeface="+mn-ea"/>
                              <a:cs typeface="+mn-cs"/>
                            </a:rPr>
                            <a:t>An inverse function is a function that undoes the action of the original function.</a:t>
                          </a:r>
                          <a:endParaRPr lang="en-GB" sz="1200" b="0" u="none"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4850777"/>
                      </a:ext>
                    </a:extLst>
                  </a:tr>
                  <a:tr h="483389">
                    <a:tc>
                      <a:txBody>
                        <a:bodyPr/>
                        <a:lstStyle/>
                        <a:p>
                          <a:pPr algn="l"/>
                          <a:r>
                            <a:rPr lang="en-GB" sz="1200" b="1" noProof="0" dirty="0">
                              <a:effectLst/>
                              <a:latin typeface="+mn-lt"/>
                            </a:rPr>
                            <a:t>Composite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dirty="0">
                              <a:solidFill>
                                <a:schemeClr val="tx1"/>
                              </a:solidFill>
                              <a:effectLst/>
                              <a:latin typeface="+mn-lt"/>
                              <a:ea typeface="+mn-ea"/>
                              <a:cs typeface="+mn-cs"/>
                            </a:rPr>
                            <a:t>Composite functions are where more than one function is applied to an input, in a specific order.</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7968051"/>
                      </a:ext>
                    </a:extLst>
                  </a:tr>
                  <a:tr h="314203">
                    <a:tc>
                      <a:txBody>
                        <a:bodyPr/>
                        <a:lstStyle/>
                        <a:p>
                          <a:pPr algn="l"/>
                          <a:r>
                            <a:rPr lang="en-GB" sz="1200" b="1" noProof="0" dirty="0">
                              <a:effectLst/>
                              <a:latin typeface="+mn-lt"/>
                            </a:rPr>
                            <a:t>Formula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dirty="0">
                              <a:solidFill>
                                <a:schemeClr val="tx1"/>
                              </a:solidFill>
                              <a:effectLst/>
                              <a:latin typeface="+mn-lt"/>
                              <a:ea typeface="+mn-ea"/>
                              <a:cs typeface="+mn-cs"/>
                            </a:rPr>
                            <a:t>A formula is special equation that links two or more variables.</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8179897"/>
                      </a:ext>
                    </a:extLst>
                  </a:tr>
                  <a:tr h="314203">
                    <a:tc>
                      <a:txBody>
                        <a:bodyPr/>
                        <a:lstStyle/>
                        <a:p>
                          <a:pPr algn="l"/>
                          <a:r>
                            <a:rPr lang="en-GB" sz="1200" b="1" noProof="0" dirty="0">
                              <a:effectLst/>
                              <a:latin typeface="+mn-lt"/>
                            </a:rPr>
                            <a:t>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dirty="0">
                              <a:solidFill>
                                <a:schemeClr val="tx1"/>
                              </a:solidFill>
                              <a:effectLst/>
                              <a:latin typeface="+mn-lt"/>
                              <a:ea typeface="+mn-ea"/>
                              <a:cs typeface="+mn-cs"/>
                            </a:rPr>
                            <a:t>Iteration means repeatedly carrying out a process. In this unit, start with an initial value and substitute this into the iteration formula to obtain a new value, then use the new value for the next substitution, and so on.</a:t>
                          </a:r>
                          <a:endParaRPr lang="en-GB" sz="1200" b="0" noProof="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804088"/>
                      </a:ext>
                    </a:extLst>
                  </a:tr>
                </a:tbl>
              </a:graphicData>
            </a:graphic>
          </p:graphicFrame>
        </mc:Choice>
        <mc:Fallback xmlns="">
          <p:graphicFrame>
            <p:nvGraphicFramePr>
              <p:cNvPr id="10" name="Table 9">
                <a:extLst>
                  <a:ext uri="{FF2B5EF4-FFF2-40B4-BE49-F238E27FC236}">
                    <a16:creationId xmlns:a16="http://schemas.microsoft.com/office/drawing/2014/main" id="{79F4FE82-4863-834C-ABBC-12E9AD9BCA20}"/>
                  </a:ext>
                </a:extLst>
              </p:cNvPr>
              <p:cNvGraphicFramePr>
                <a:graphicFrameLocks noGrp="1"/>
              </p:cNvGraphicFramePr>
              <p:nvPr>
                <p:extLst>
                  <p:ext uri="{D42A27DB-BD31-4B8C-83A1-F6EECF244321}">
                    <p14:modId xmlns:p14="http://schemas.microsoft.com/office/powerpoint/2010/main" val="2728663029"/>
                  </p:ext>
                </p:extLst>
              </p:nvPr>
            </p:nvGraphicFramePr>
            <p:xfrm>
              <a:off x="445936" y="5468177"/>
              <a:ext cx="6026121" cy="4043853"/>
            </p:xfrm>
            <a:graphic>
              <a:graphicData uri="http://schemas.openxmlformats.org/drawingml/2006/table">
                <a:tbl>
                  <a:tblPr firstRow="1" bandRow="1">
                    <a:tableStyleId>{7E9639D4-E3E2-4D34-9284-5A2195B3D0D7}</a:tableStyleId>
                  </a:tblPr>
                  <a:tblGrid>
                    <a:gridCol w="1650231">
                      <a:extLst>
                        <a:ext uri="{9D8B030D-6E8A-4147-A177-3AD203B41FA5}">
                          <a16:colId xmlns:a16="http://schemas.microsoft.com/office/drawing/2014/main" val="3563799444"/>
                        </a:ext>
                      </a:extLst>
                    </a:gridCol>
                    <a:gridCol w="4375890">
                      <a:extLst>
                        <a:ext uri="{9D8B030D-6E8A-4147-A177-3AD203B41FA5}">
                          <a16:colId xmlns:a16="http://schemas.microsoft.com/office/drawing/2014/main" val="2581643566"/>
                        </a:ext>
                      </a:extLst>
                    </a:gridCol>
                  </a:tblGrid>
                  <a:tr h="290034">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noProof="0">
                              <a:solidFill>
                                <a:schemeClr val="bg1"/>
                              </a:solidFill>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FABAB"/>
                        </a:solidFill>
                      </a:tcPr>
                    </a:tc>
                    <a:tc hMerge="1">
                      <a:txBody>
                        <a:bodyPr/>
                        <a:lstStyle/>
                        <a:p>
                          <a:endParaRPr lang="en-GB"/>
                        </a:p>
                      </a:txBody>
                      <a:tcPr>
                        <a:solidFill>
                          <a:srgbClr val="7E2341"/>
                        </a:solidFill>
                      </a:tcPr>
                    </a:tc>
                    <a:extLst>
                      <a:ext uri="{0D108BD9-81ED-4DB2-BD59-A6C34878D82A}">
                        <a16:rowId xmlns:a16="http://schemas.microsoft.com/office/drawing/2014/main" val="163826269"/>
                      </a:ext>
                    </a:extLst>
                  </a:tr>
                  <a:tr h="290034">
                    <a:tc>
                      <a:txBody>
                        <a:bodyPr/>
                        <a:lstStyle/>
                        <a:p>
                          <a:pPr algn="l"/>
                          <a:r>
                            <a:rPr lang="en-GB" sz="1200" b="1" noProof="0">
                              <a:latin typeface="+mn-lt"/>
                            </a:rPr>
                            <a:t>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GB" sz="1200" b="0" i="0" kern="1200" noProof="0">
                              <a:solidFill>
                                <a:schemeClr val="tx1"/>
                              </a:solidFill>
                              <a:effectLst/>
                              <a:latin typeface="+mn-lt"/>
                              <a:ea typeface="+mn-ea"/>
                              <a:cs typeface="+mn-cs"/>
                            </a:rPr>
                            <a:t>Fractions represent equal parts of a whole or a collection.</a:t>
                          </a:r>
                          <a:endParaRPr lang="en-GB" sz="1200" b="0"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320498"/>
                      </a:ext>
                    </a:extLst>
                  </a:tr>
                  <a:tr h="317517">
                    <a:tc>
                      <a:txBody>
                        <a:bodyPr/>
                        <a:lstStyle/>
                        <a:p>
                          <a:pPr algn="l"/>
                          <a:r>
                            <a:rPr lang="en-GB" sz="1200" b="1" noProof="0">
                              <a:effectLst/>
                              <a:latin typeface="+mn-lt"/>
                            </a:rPr>
                            <a:t>Numerator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noProof="0">
                              <a:effectLst/>
                              <a:latin typeface="+mn-lt"/>
                            </a:rPr>
                            <a:t>The top number</a:t>
                          </a:r>
                          <a:r>
                            <a:rPr lang="en-GB" sz="1200" b="0" baseline="0" noProof="0">
                              <a:effectLst/>
                              <a:latin typeface="+mn-lt"/>
                            </a:rPr>
                            <a:t> in a fraction, represents the parts. </a:t>
                          </a:r>
                          <a:endParaRPr lang="en-GB" sz="1200" b="0"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2487135"/>
                      </a:ext>
                    </a:extLst>
                  </a:tr>
                  <a:tr h="314203">
                    <a:tc>
                      <a:txBody>
                        <a:bodyPr/>
                        <a:lstStyle/>
                        <a:p>
                          <a:pPr algn="l"/>
                          <a:r>
                            <a:rPr lang="en-GB" sz="1200" b="1" noProof="0">
                              <a:effectLst/>
                              <a:latin typeface="+mn-lt"/>
                            </a:rPr>
                            <a:t>Denominator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noProof="0">
                              <a:effectLst/>
                              <a:latin typeface="+mn-lt"/>
                            </a:rPr>
                            <a:t>The bottom number in</a:t>
                          </a:r>
                          <a:r>
                            <a:rPr lang="en-GB" sz="1200" b="0" baseline="0" noProof="0">
                              <a:effectLst/>
                              <a:latin typeface="+mn-lt"/>
                            </a:rPr>
                            <a:t> a fraction, represents the whole. </a:t>
                          </a:r>
                          <a:endParaRPr lang="en-GB" sz="1200" b="0"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676052"/>
                      </a:ext>
                    </a:extLst>
                  </a:tr>
                  <a:tr h="457200">
                    <a:tc>
                      <a:txBody>
                        <a:bodyPr/>
                        <a:lstStyle/>
                        <a:p>
                          <a:pPr algn="l"/>
                          <a:r>
                            <a:rPr lang="en-GB" sz="1200" b="1" noProof="0">
                              <a:effectLst/>
                              <a:latin typeface="+mn-lt"/>
                            </a:rPr>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883" t="-268000" r="-279" b="-529333"/>
                          </a:stretch>
                        </a:blipFill>
                      </a:tcPr>
                    </a:tc>
                    <a:extLst>
                      <a:ext uri="{0D108BD9-81ED-4DB2-BD59-A6C34878D82A}">
                        <a16:rowId xmlns:a16="http://schemas.microsoft.com/office/drawing/2014/main" val="1390977367"/>
                      </a:ext>
                    </a:extLst>
                  </a:tr>
                  <a:tr h="754313">
                    <a:tc>
                      <a:txBody>
                        <a:bodyPr/>
                        <a:lstStyle/>
                        <a:p>
                          <a:pPr algn="l"/>
                          <a:r>
                            <a:rPr lang="en-GB" sz="1200" b="1" noProof="0">
                              <a:effectLst/>
                              <a:latin typeface="+mn-lt"/>
                            </a:rPr>
                            <a:t>Inverse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a:solidFill>
                                <a:schemeClr val="tx1"/>
                              </a:solidFill>
                              <a:effectLst/>
                              <a:latin typeface="+mn-lt"/>
                              <a:ea typeface="+mn-ea"/>
                              <a:cs typeface="+mn-cs"/>
                            </a:rPr>
                            <a:t>An inverse function is a function that undoes the action of the original function.</a:t>
                          </a:r>
                          <a:endParaRPr lang="en-GB" sz="1200" b="0" u="none"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4850777"/>
                      </a:ext>
                    </a:extLst>
                  </a:tr>
                  <a:tr h="483389">
                    <a:tc>
                      <a:txBody>
                        <a:bodyPr/>
                        <a:lstStyle/>
                        <a:p>
                          <a:pPr algn="l"/>
                          <a:r>
                            <a:rPr lang="en-GB" sz="1200" b="1" noProof="0">
                              <a:effectLst/>
                              <a:latin typeface="+mn-lt"/>
                            </a:rPr>
                            <a:t>Composite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a:solidFill>
                                <a:schemeClr val="tx1"/>
                              </a:solidFill>
                              <a:effectLst/>
                              <a:latin typeface="+mn-lt"/>
                              <a:ea typeface="+mn-ea"/>
                              <a:cs typeface="+mn-cs"/>
                            </a:rPr>
                            <a:t>Composite functions are where more than one function is applied to an input, in a specific order.</a:t>
                          </a:r>
                          <a:endParaRPr lang="en-GB" sz="1200" b="0"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7968051"/>
                      </a:ext>
                    </a:extLst>
                  </a:tr>
                  <a:tr h="314203">
                    <a:tc>
                      <a:txBody>
                        <a:bodyPr/>
                        <a:lstStyle/>
                        <a:p>
                          <a:pPr algn="l"/>
                          <a:r>
                            <a:rPr lang="en-GB" sz="1200" b="1" noProof="0">
                              <a:effectLst/>
                              <a:latin typeface="+mn-lt"/>
                            </a:rPr>
                            <a:t>Formula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a:solidFill>
                                <a:schemeClr val="tx1"/>
                              </a:solidFill>
                              <a:effectLst/>
                              <a:latin typeface="+mn-lt"/>
                              <a:ea typeface="+mn-ea"/>
                              <a:cs typeface="+mn-cs"/>
                            </a:rPr>
                            <a:t>A formula is special equation that links two or more variables.</a:t>
                          </a:r>
                          <a:endParaRPr lang="en-GB" sz="1200" b="0"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8179897"/>
                      </a:ext>
                    </a:extLst>
                  </a:tr>
                  <a:tr h="822960">
                    <a:tc>
                      <a:txBody>
                        <a:bodyPr/>
                        <a:lstStyle/>
                        <a:p>
                          <a:pPr algn="l"/>
                          <a:r>
                            <a:rPr lang="en-GB" sz="1200" b="1" noProof="0">
                              <a:effectLst/>
                              <a:latin typeface="+mn-lt"/>
                            </a:rPr>
                            <a:t>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i="0" kern="1200" noProof="0">
                              <a:solidFill>
                                <a:schemeClr val="tx1"/>
                              </a:solidFill>
                              <a:effectLst/>
                              <a:latin typeface="+mn-lt"/>
                              <a:ea typeface="+mn-ea"/>
                              <a:cs typeface="+mn-cs"/>
                            </a:rPr>
                            <a:t>Iteration means repeatedly carrying out a process. In this unit, start with an initial value and substitute this into the iteration formula to obtain a new value, then use the new value for the next substitution, and so on.</a:t>
                          </a:r>
                          <a:endParaRPr lang="en-GB" sz="1200" b="0" noProof="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804088"/>
                      </a:ext>
                    </a:extLst>
                  </a:tr>
                </a:tbl>
              </a:graphicData>
            </a:graphic>
          </p:graphicFrame>
        </mc:Fallback>
      </mc:AlternateContent>
      <p:pic>
        <p:nvPicPr>
          <p:cNvPr id="5" name="Picture 4"/>
          <p:cNvPicPr>
            <a:picLocks noChangeAspect="1"/>
          </p:cNvPicPr>
          <p:nvPr/>
        </p:nvPicPr>
        <p:blipFill>
          <a:blip r:embed="rId4"/>
          <a:stretch>
            <a:fillRect/>
          </a:stretch>
        </p:blipFill>
        <p:spPr>
          <a:xfrm>
            <a:off x="524173" y="4459020"/>
            <a:ext cx="1384365" cy="769092"/>
          </a:xfrm>
          <a:prstGeom prst="rect">
            <a:avLst/>
          </a:prstGeom>
        </p:spPr>
      </p:pic>
      <p:pic>
        <p:nvPicPr>
          <p:cNvPr id="6" name="Picture 2" descr="GCSE 9-1 Inverse Functions | Teaching Resources"/>
          <p:cNvPicPr>
            <a:picLocks noChangeAspect="1" noChangeArrowheads="1"/>
          </p:cNvPicPr>
          <p:nvPr/>
        </p:nvPicPr>
        <p:blipFill rotWithShape="1">
          <a:blip r:embed="rId5">
            <a:extLst>
              <a:ext uri="{28A0092B-C50C-407E-A947-70E740481C1C}">
                <a14:useLocalDpi xmlns:a14="http://schemas.microsoft.com/office/drawing/2010/main" val="0"/>
              </a:ext>
            </a:extLst>
          </a:blip>
          <a:srcRect l="37390" t="3557" r="21254" b="62026"/>
          <a:stretch/>
        </p:blipFill>
        <p:spPr bwMode="auto">
          <a:xfrm>
            <a:off x="4335645" y="4438809"/>
            <a:ext cx="2136412" cy="9617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2325339" y="4837737"/>
            <a:ext cx="1874317" cy="559100"/>
          </a:xfrm>
          <a:prstGeom prst="rect">
            <a:avLst/>
          </a:prstGeom>
        </p:spPr>
      </p:pic>
      <p:pic>
        <p:nvPicPr>
          <p:cNvPr id="13" name="Picture 4" descr="Astrea Academy Trust"/>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8030" t="10183" r="18353" b="17160"/>
          <a:stretch/>
        </p:blipFill>
        <p:spPr bwMode="auto">
          <a:xfrm>
            <a:off x="411234" y="393186"/>
            <a:ext cx="1979272" cy="1186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724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24263-3AAA-9B51-FD43-2284072AD704}"/>
            </a:ext>
          </a:extLst>
        </p:cNvPr>
        <p:cNvGrpSpPr/>
        <p:nvPr/>
      </p:nvGrpSpPr>
      <p:grpSpPr>
        <a:xfrm>
          <a:off x="0" y="0"/>
          <a:ext cx="0" cy="0"/>
          <a:chOff x="0" y="0"/>
          <a:chExt cx="0" cy="0"/>
        </a:xfrm>
      </p:grpSpPr>
      <p:sp>
        <p:nvSpPr>
          <p:cNvPr id="4" name="Frame 3">
            <a:extLst>
              <a:ext uri="{FF2B5EF4-FFF2-40B4-BE49-F238E27FC236}">
                <a16:creationId xmlns:a16="http://schemas.microsoft.com/office/drawing/2014/main" id="{9F4EB9C8-94AD-CB87-95ED-8DAB4ACC244A}"/>
              </a:ext>
            </a:extLst>
          </p:cNvPr>
          <p:cNvSpPr/>
          <p:nvPr/>
        </p:nvSpPr>
        <p:spPr>
          <a:xfrm>
            <a:off x="0" y="0"/>
            <a:ext cx="6858000" cy="9906000"/>
          </a:xfrm>
          <a:custGeom>
            <a:avLst/>
            <a:gdLst>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811060 w 6488483"/>
              <a:gd name="connsiteY5" fmla="*/ 811060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811060 w 6488483"/>
              <a:gd name="connsiteY9" fmla="*/ 811060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6228568 w 6488483"/>
              <a:gd name="connsiteY8" fmla="*/ 272441 h 9394520"/>
              <a:gd name="connsiteX9" fmla="*/ 284967 w 6488483"/>
              <a:gd name="connsiteY9" fmla="*/ 272441 h 939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8483" h="9394520">
                <a:moveTo>
                  <a:pt x="0" y="0"/>
                </a:moveTo>
                <a:lnTo>
                  <a:pt x="6488483" y="0"/>
                </a:lnTo>
                <a:lnTo>
                  <a:pt x="6488483" y="9394520"/>
                </a:lnTo>
                <a:lnTo>
                  <a:pt x="0" y="9394520"/>
                </a:lnTo>
                <a:lnTo>
                  <a:pt x="0" y="0"/>
                </a:lnTo>
                <a:close/>
                <a:moveTo>
                  <a:pt x="284967" y="272441"/>
                </a:moveTo>
                <a:cubicBezTo>
                  <a:pt x="280792" y="3226496"/>
                  <a:pt x="276616" y="6180550"/>
                  <a:pt x="272441" y="9134605"/>
                </a:cubicBezTo>
                <a:lnTo>
                  <a:pt x="6216042" y="9134606"/>
                </a:lnTo>
                <a:cubicBezTo>
                  <a:pt x="6220217" y="6180551"/>
                  <a:pt x="6224393" y="3226496"/>
                  <a:pt x="6228568" y="272441"/>
                </a:cubicBezTo>
                <a:lnTo>
                  <a:pt x="284967" y="272441"/>
                </a:lnTo>
                <a:close/>
              </a:path>
            </a:pathLst>
          </a:cu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AutoShape 6" descr="Image result for expression fun maths">
            <a:extLst>
              <a:ext uri="{FF2B5EF4-FFF2-40B4-BE49-F238E27FC236}">
                <a16:creationId xmlns:a16="http://schemas.microsoft.com/office/drawing/2014/main" id="{1F66249B-5918-B58B-6741-CFCFAC076D39}"/>
              </a:ext>
            </a:extLst>
          </p:cNvPr>
          <p:cNvSpPr>
            <a:spLocks noChangeAspect="1" noChangeArrowheads="1"/>
          </p:cNvSpPr>
          <p:nvPr/>
        </p:nvSpPr>
        <p:spPr bwMode="auto">
          <a:xfrm>
            <a:off x="155575" y="-623888"/>
            <a:ext cx="1924050" cy="13144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7548EBE0-5A64-B498-3664-8298FCB34EE2}"/>
                  </a:ext>
                </a:extLst>
              </p:cNvPr>
              <p:cNvGraphicFramePr>
                <a:graphicFrameLocks noGrp="1"/>
              </p:cNvGraphicFramePr>
              <p:nvPr>
                <p:extLst>
                  <p:ext uri="{D42A27DB-BD31-4B8C-83A1-F6EECF244321}">
                    <p14:modId xmlns:p14="http://schemas.microsoft.com/office/powerpoint/2010/main" val="716392135"/>
                  </p:ext>
                </p:extLst>
              </p:nvPr>
            </p:nvGraphicFramePr>
            <p:xfrm>
              <a:off x="350715" y="346554"/>
              <a:ext cx="6156570" cy="5059680"/>
            </p:xfrm>
            <a:graphic>
              <a:graphicData uri="http://schemas.openxmlformats.org/drawingml/2006/table">
                <a:tbl>
                  <a:tblPr firstRow="1" bandRow="1">
                    <a:tableStyleId>{7E9639D4-E3E2-4D34-9284-5A2195B3D0D7}</a:tableStyleId>
                  </a:tblPr>
                  <a:tblGrid>
                    <a:gridCol w="1595651">
                      <a:extLst>
                        <a:ext uri="{9D8B030D-6E8A-4147-A177-3AD203B41FA5}">
                          <a16:colId xmlns:a16="http://schemas.microsoft.com/office/drawing/2014/main" val="3563799444"/>
                        </a:ext>
                      </a:extLst>
                    </a:gridCol>
                    <a:gridCol w="4560919">
                      <a:extLst>
                        <a:ext uri="{9D8B030D-6E8A-4147-A177-3AD203B41FA5}">
                          <a16:colId xmlns:a16="http://schemas.microsoft.com/office/drawing/2014/main" val="2581643566"/>
                        </a:ext>
                      </a:extLst>
                    </a:gridCol>
                  </a:tblGrid>
                  <a:tr h="288034">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600" b="1" noProof="0" dirty="0">
                              <a:solidFill>
                                <a:schemeClr val="bg1"/>
                              </a:solidFill>
                              <a:latin typeface="+mn-lt"/>
                              <a:cs typeface="Calibri Light" panose="020F0302020204030204" pitchFamily="34" charset="0"/>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hMerge="1">
                      <a:txBody>
                        <a:bodyPr/>
                        <a:lstStyle/>
                        <a:p>
                          <a:endParaRPr lang="en-GB" dirty="0"/>
                        </a:p>
                      </a:txBody>
                      <a:tcPr>
                        <a:solidFill>
                          <a:srgbClr val="7E2341"/>
                        </a:solidFill>
                      </a:tcPr>
                    </a:tc>
                    <a:extLst>
                      <a:ext uri="{0D108BD9-81ED-4DB2-BD59-A6C34878D82A}">
                        <a16:rowId xmlns:a16="http://schemas.microsoft.com/office/drawing/2014/main" val="163826269"/>
                      </a:ext>
                    </a:extLst>
                  </a:tr>
                  <a:tr h="366589">
                    <a:tc>
                      <a:txBody>
                        <a:bodyPr/>
                        <a:lstStyle/>
                        <a:p>
                          <a:pPr algn="l"/>
                          <a:r>
                            <a:rPr lang="en-GB" sz="1000" b="1" noProof="0" dirty="0"/>
                            <a:t>Solve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GB" sz="1100" i="0" noProof="0" dirty="0"/>
                            <a:t>To solve means to find</a:t>
                          </a:r>
                          <a:r>
                            <a:rPr lang="en-GB" sz="1100" i="0" baseline="0" noProof="0" dirty="0"/>
                            <a:t> a solution. Simultaneous equations have </a:t>
                          </a:r>
                          <a:r>
                            <a:rPr lang="en-GB" sz="1100" b="1" i="0" baseline="0" noProof="0" dirty="0"/>
                            <a:t>two</a:t>
                          </a:r>
                          <a:r>
                            <a:rPr lang="en-GB" sz="1100" i="0" baseline="0" noProof="0" dirty="0"/>
                            <a:t> solutions. </a:t>
                          </a:r>
                          <a:endParaRPr lang="en-GB" sz="1100" i="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7817825"/>
                      </a:ext>
                    </a:extLst>
                  </a:tr>
                  <a:tr h="36658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t>Quadratic 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GB" sz="1000" noProof="0" dirty="0"/>
                            <a:t>Quadratic simultaneous</a:t>
                          </a:r>
                          <a:r>
                            <a:rPr lang="en-GB" sz="1000" baseline="0" noProof="0" dirty="0"/>
                            <a:t> equations are two or more equations that share variables which include </a:t>
                          </a:r>
                          <a14:m>
                            <m:oMath xmlns:m="http://schemas.openxmlformats.org/officeDocument/2006/math">
                              <m:sSup>
                                <m:sSupPr>
                                  <m:ctrlPr>
                                    <a:rPr lang="en-GB" sz="1000" i="1" baseline="0" noProof="0" smtClean="0">
                                      <a:latin typeface="Cambria Math" panose="02040503050406030204" pitchFamily="18" charset="0"/>
                                    </a:rPr>
                                  </m:ctrlPr>
                                </m:sSupPr>
                                <m:e>
                                  <m:r>
                                    <a:rPr lang="en-GB" sz="1000" b="0" i="1" baseline="0" noProof="0" smtClean="0">
                                      <a:latin typeface="Cambria Math" panose="02040503050406030204" pitchFamily="18" charset="0"/>
                                    </a:rPr>
                                    <m:t>𝑥</m:t>
                                  </m:r>
                                </m:e>
                                <m:sup>
                                  <m:r>
                                    <a:rPr lang="en-GB" sz="1000" b="0" i="1" baseline="0" noProof="0" smtClean="0">
                                      <a:latin typeface="Cambria Math" panose="02040503050406030204" pitchFamily="18" charset="0"/>
                                    </a:rPr>
                                    <m:t>2</m:t>
                                  </m:r>
                                </m:sup>
                              </m:sSup>
                            </m:oMath>
                          </a14:m>
                          <a:r>
                            <a:rPr lang="en-GB" sz="1000" noProof="0" dirty="0"/>
                            <a:t> and </a:t>
                          </a:r>
                          <a14:m>
                            <m:oMath xmlns:m="http://schemas.openxmlformats.org/officeDocument/2006/math">
                              <m:sSup>
                                <m:sSupPr>
                                  <m:ctrlPr>
                                    <a:rPr lang="en-GB" sz="1000" i="1" noProof="0" smtClean="0">
                                      <a:latin typeface="Cambria Math" panose="02040503050406030204" pitchFamily="18" charset="0"/>
                                    </a:rPr>
                                  </m:ctrlPr>
                                </m:sSupPr>
                                <m:e>
                                  <m:r>
                                    <a:rPr lang="en-GB" sz="1000" b="0" i="1" noProof="0" smtClean="0">
                                      <a:latin typeface="Cambria Math" panose="02040503050406030204" pitchFamily="18" charset="0"/>
                                    </a:rPr>
                                    <m:t>𝑦</m:t>
                                  </m:r>
                                </m:e>
                                <m:sup>
                                  <m:r>
                                    <a:rPr lang="en-GB" sz="1000" b="0" i="1" noProof="0" smtClean="0">
                                      <a:latin typeface="Cambria Math" panose="02040503050406030204" pitchFamily="18" charset="0"/>
                                    </a:rPr>
                                    <m:t>2</m:t>
                                  </m:r>
                                </m:sup>
                              </m:sSup>
                            </m:oMath>
                          </a14:m>
                          <a:endParaRPr lang="en-GB" sz="10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320498"/>
                      </a:ext>
                    </a:extLst>
                  </a:tr>
                  <a:tr h="36658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solidFill>
                                <a:schemeClr val="tx1"/>
                              </a:solidFill>
                              <a:effectLst/>
                              <a:latin typeface="+mn-lt"/>
                              <a:ea typeface="Calibri" panose="020F0502020204030204" pitchFamily="34" charset="0"/>
                              <a:cs typeface="Times New Roman" panose="02020603050405020304" pitchFamily="18" charset="0"/>
                            </a:rPr>
                            <a:t>Constant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000" b="1"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effectLst/>
                              <a:latin typeface="Calibri" panose="020F0502020204030204" pitchFamily="34" charset="0"/>
                              <a:cs typeface="Times New Roman" panose="02020603050405020304" pitchFamily="18" charset="0"/>
                            </a:rPr>
                            <a:t>In algebra, a constant is a number on its own, or sometimes a letter such as a, b or c that stands for a fixed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9412819"/>
                      </a:ext>
                    </a:extLst>
                  </a:tr>
                  <a:tr h="36658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latin typeface="+mn-lt"/>
                            </a:rPr>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Variable, in algebra, a symbol (usually a letter) standing in for an unknown numerical value in an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315645"/>
                      </a:ext>
                    </a:extLst>
                  </a:tr>
                  <a:tr h="6546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latin typeface="+mn-lt"/>
                            </a:rPr>
                            <a:t>Linear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dirty="0">
                              <a:solidFill>
                                <a:schemeClr val="tx1"/>
                              </a:solidFill>
                            </a:rPr>
                            <a:t>those whose graph is a straight line.</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dirty="0">
                              <a:solidFill>
                                <a:schemeClr val="tx1"/>
                              </a:solidFill>
                            </a:rPr>
                            <a:t>has the following form. y = mx + c.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dirty="0">
                              <a:solidFill>
                                <a:schemeClr val="tx1"/>
                              </a:solidFill>
                            </a:rPr>
                            <a:t>has one independent variable and one dependent variable. The independent variable is x and the dependent variable is 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4030373"/>
                      </a:ext>
                    </a:extLst>
                  </a:tr>
                  <a:tr h="6546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latin typeface="+mn-lt"/>
                            </a:rPr>
                            <a:t>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Two or more equations that share variables.</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Example: two equations that share the variables x and y:</a:t>
                          </a:r>
                          <a:br>
                            <a:rPr lang="en-GB" sz="1100" b="0" baseline="0" noProof="0" dirty="0">
                              <a:solidFill>
                                <a:schemeClr val="tx1"/>
                              </a:solidFill>
                            </a:rPr>
                          </a:br>
                          <a:r>
                            <a:rPr lang="en-GB" sz="1100" b="0" baseline="0" noProof="0" dirty="0">
                              <a:solidFill>
                                <a:schemeClr val="tx1"/>
                              </a:solidFill>
                            </a:rPr>
                            <a:t>x + y = 6</a:t>
                          </a:r>
                          <a:br>
                            <a:rPr lang="en-GB" sz="1100" b="0" baseline="0" noProof="0" dirty="0">
                              <a:solidFill>
                                <a:schemeClr val="tx1"/>
                              </a:solidFill>
                            </a:rPr>
                          </a:br>
                          <a:r>
                            <a:rPr lang="en-GB" sz="1100" b="0" baseline="0" noProof="0" dirty="0">
                              <a:solidFill>
                                <a:schemeClr val="tx1"/>
                              </a:solidFill>
                            </a:rPr>
                            <a:t>−3x + y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153645"/>
                      </a:ext>
                    </a:extLst>
                  </a:tr>
                  <a:tr h="6546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latin typeface="+mn-lt"/>
                            </a:rPr>
                            <a:t>Elimination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Eliminate" means to remove: this method works by removing variables until there is just one left.</a:t>
                          </a:r>
                        </a:p>
                        <a:p>
                          <a:r>
                            <a:rPr lang="en-GB" sz="1100" b="0" i="0" kern="1200" noProof="0" dirty="0">
                              <a:solidFill>
                                <a:schemeClr val="tx1"/>
                              </a:solidFill>
                              <a:effectLst/>
                              <a:latin typeface="+mn-lt"/>
                              <a:ea typeface="+mn-ea"/>
                              <a:cs typeface="+mn-cs"/>
                            </a:rPr>
                            <a:t>The idea is that we </a:t>
                          </a:r>
                          <a:r>
                            <a:rPr lang="en-GB" sz="1100" b="1" i="0" kern="1200" noProof="0" dirty="0">
                              <a:solidFill>
                                <a:schemeClr val="tx1"/>
                              </a:solidFill>
                              <a:effectLst/>
                              <a:latin typeface="+mn-lt"/>
                              <a:ea typeface="+mn-ea"/>
                              <a:cs typeface="+mn-cs"/>
                            </a:rPr>
                            <a:t>can safely</a:t>
                          </a:r>
                          <a:r>
                            <a:rPr lang="en-GB" sz="1100" b="0" i="0" kern="1200" noProof="0" dirty="0">
                              <a:solidFill>
                                <a:schemeClr val="tx1"/>
                              </a:solidFill>
                              <a:effectLst/>
                              <a:latin typeface="+mn-lt"/>
                              <a:ea typeface="+mn-ea"/>
                              <a:cs typeface="+mn-cs"/>
                            </a:rPr>
                            <a:t>: </a:t>
                          </a:r>
                          <a:r>
                            <a:rPr lang="en-GB" sz="1100" b="1" i="0" kern="1200" noProof="0" dirty="0">
                              <a:solidFill>
                                <a:schemeClr val="tx1"/>
                              </a:solidFill>
                              <a:effectLst/>
                              <a:latin typeface="+mn-lt"/>
                              <a:ea typeface="+mn-ea"/>
                              <a:cs typeface="+mn-cs"/>
                            </a:rPr>
                            <a:t>multiply</a:t>
                          </a:r>
                          <a:r>
                            <a:rPr lang="en-GB" sz="1100" b="0" i="0" kern="1200" noProof="0" dirty="0">
                              <a:solidFill>
                                <a:schemeClr val="tx1"/>
                              </a:solidFill>
                              <a:effectLst/>
                              <a:latin typeface="+mn-lt"/>
                              <a:ea typeface="+mn-ea"/>
                              <a:cs typeface="+mn-cs"/>
                            </a:rPr>
                            <a:t> an equation by a constant (except zero), </a:t>
                          </a:r>
                          <a:r>
                            <a:rPr lang="en-GB" sz="1100" b="1" i="0" kern="1200" noProof="0" dirty="0">
                              <a:solidFill>
                                <a:schemeClr val="tx1"/>
                              </a:solidFill>
                              <a:effectLst/>
                              <a:latin typeface="+mn-lt"/>
                              <a:ea typeface="+mn-ea"/>
                              <a:cs typeface="+mn-cs"/>
                            </a:rPr>
                            <a:t>add</a:t>
                          </a:r>
                          <a:r>
                            <a:rPr lang="en-GB" sz="1100" b="0" i="0" kern="1200" noProof="0" dirty="0">
                              <a:solidFill>
                                <a:schemeClr val="tx1"/>
                              </a:solidFill>
                              <a:effectLst/>
                              <a:latin typeface="+mn-lt"/>
                              <a:ea typeface="+mn-ea"/>
                              <a:cs typeface="+mn-cs"/>
                            </a:rPr>
                            <a:t> (or subtract) an equation on to another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9520429"/>
                      </a:ext>
                    </a:extLst>
                  </a:tr>
                  <a:tr h="6546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dirty="0">
                              <a:latin typeface="+mn-lt"/>
                            </a:rPr>
                            <a:t>Substitution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These are the steps:</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Write one of the equations so it is in the style "variable =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dirty="0">
                              <a:solidFill>
                                <a:schemeClr val="tx1"/>
                              </a:solidFill>
                            </a:rPr>
                            <a:t>Replace (i.e. substitute) that variable in the other equation(s). Solve the other equation(s)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4645289"/>
                      </a:ext>
                    </a:extLst>
                  </a:tr>
                </a:tbl>
              </a:graphicData>
            </a:graphic>
          </p:graphicFrame>
        </mc:Choice>
        <mc:Fallback xmlns="">
          <p:graphicFrame>
            <p:nvGraphicFramePr>
              <p:cNvPr id="2" name="Table 1">
                <a:extLst>
                  <a:ext uri="{FF2B5EF4-FFF2-40B4-BE49-F238E27FC236}">
                    <a16:creationId xmlns:a16="http://schemas.microsoft.com/office/drawing/2014/main" id="{7548EBE0-5A64-B498-3664-8298FCB34EE2}"/>
                  </a:ext>
                </a:extLst>
              </p:cNvPr>
              <p:cNvGraphicFramePr>
                <a:graphicFrameLocks noGrp="1"/>
              </p:cNvGraphicFramePr>
              <p:nvPr>
                <p:extLst>
                  <p:ext uri="{D42A27DB-BD31-4B8C-83A1-F6EECF244321}">
                    <p14:modId xmlns:p14="http://schemas.microsoft.com/office/powerpoint/2010/main" val="716392135"/>
                  </p:ext>
                </p:extLst>
              </p:nvPr>
            </p:nvGraphicFramePr>
            <p:xfrm>
              <a:off x="350715" y="346554"/>
              <a:ext cx="6156570" cy="5059680"/>
            </p:xfrm>
            <a:graphic>
              <a:graphicData uri="http://schemas.openxmlformats.org/drawingml/2006/table">
                <a:tbl>
                  <a:tblPr firstRow="1" bandRow="1">
                    <a:tableStyleId>{7E9639D4-E3E2-4D34-9284-5A2195B3D0D7}</a:tableStyleId>
                  </a:tblPr>
                  <a:tblGrid>
                    <a:gridCol w="1595651">
                      <a:extLst>
                        <a:ext uri="{9D8B030D-6E8A-4147-A177-3AD203B41FA5}">
                          <a16:colId xmlns:a16="http://schemas.microsoft.com/office/drawing/2014/main" val="3563799444"/>
                        </a:ext>
                      </a:extLst>
                    </a:gridCol>
                    <a:gridCol w="4560919">
                      <a:extLst>
                        <a:ext uri="{9D8B030D-6E8A-4147-A177-3AD203B41FA5}">
                          <a16:colId xmlns:a16="http://schemas.microsoft.com/office/drawing/2014/main" val="2581643566"/>
                        </a:ext>
                      </a:extLst>
                    </a:gridCol>
                  </a:tblGrid>
                  <a:tr h="335280">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600" b="1" noProof="0">
                              <a:solidFill>
                                <a:schemeClr val="bg1"/>
                              </a:solidFill>
                              <a:latin typeface="+mn-lt"/>
                              <a:cs typeface="Calibri Light" panose="020F0302020204030204" pitchFamily="34" charset="0"/>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hMerge="1">
                      <a:txBody>
                        <a:bodyPr/>
                        <a:lstStyle/>
                        <a:p>
                          <a:endParaRPr lang="en-GB"/>
                        </a:p>
                      </a:txBody>
                      <a:tcPr>
                        <a:solidFill>
                          <a:srgbClr val="7E2341"/>
                        </a:solidFill>
                      </a:tcPr>
                    </a:tc>
                    <a:extLst>
                      <a:ext uri="{0D108BD9-81ED-4DB2-BD59-A6C34878D82A}">
                        <a16:rowId xmlns:a16="http://schemas.microsoft.com/office/drawing/2014/main" val="163826269"/>
                      </a:ext>
                    </a:extLst>
                  </a:tr>
                  <a:tr h="426720">
                    <a:tc>
                      <a:txBody>
                        <a:bodyPr/>
                        <a:lstStyle/>
                        <a:p>
                          <a:pPr algn="l"/>
                          <a:r>
                            <a:rPr lang="en-GB" sz="1000" b="1" noProof="0"/>
                            <a:t>Solve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GB" sz="1100" i="0" noProof="0"/>
                            <a:t>To solve means to find</a:t>
                          </a:r>
                          <a:r>
                            <a:rPr lang="en-GB" sz="1100" i="0" baseline="0" noProof="0"/>
                            <a:t> a solution. Simultaneous equations have </a:t>
                          </a:r>
                          <a:r>
                            <a:rPr lang="en-GB" sz="1100" b="1" i="0" baseline="0" noProof="0"/>
                            <a:t>two</a:t>
                          </a:r>
                          <a:r>
                            <a:rPr lang="en-GB" sz="1100" i="0" baseline="0" noProof="0"/>
                            <a:t> solutions. </a:t>
                          </a:r>
                          <a:endParaRPr lang="en-GB" sz="1100" i="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7817825"/>
                      </a:ext>
                    </a:extLst>
                  </a:tr>
                  <a:tr h="3962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t>Quadratic 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113" t="-195385" r="-267" b="-996923"/>
                          </a:stretch>
                        </a:blipFill>
                      </a:tcPr>
                    </a:tc>
                    <a:extLst>
                      <a:ext uri="{0D108BD9-81ED-4DB2-BD59-A6C34878D82A}">
                        <a16:rowId xmlns:a16="http://schemas.microsoft.com/office/drawing/2014/main" val="2294320498"/>
                      </a:ext>
                    </a:extLst>
                  </a:tr>
                  <a:tr h="4267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solidFill>
                                <a:schemeClr val="tx1"/>
                              </a:solidFill>
                              <a:effectLst/>
                              <a:latin typeface="+mn-lt"/>
                              <a:ea typeface="Calibri" panose="020F0502020204030204" pitchFamily="34" charset="0"/>
                              <a:cs typeface="Times New Roman" panose="02020603050405020304" pitchFamily="18" charset="0"/>
                            </a:rPr>
                            <a:t>Constant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000" b="1" noProof="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a:solidFill>
                                <a:schemeClr val="tx1"/>
                              </a:solidFill>
                              <a:effectLst/>
                              <a:latin typeface="Calibri" panose="020F0502020204030204" pitchFamily="34" charset="0"/>
                              <a:cs typeface="Times New Roman" panose="02020603050405020304" pitchFamily="18" charset="0"/>
                            </a:rPr>
                            <a:t>In algebra, a constant is a number on its own, or sometimes a letter such as a, b or c that stands for a fixed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9412819"/>
                      </a:ext>
                    </a:extLst>
                  </a:tr>
                  <a:tr h="4267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latin typeface="+mn-lt"/>
                            </a:rPr>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Variable, in algebra, a symbol (usually a letter) standing in for an unknown numerical value in an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315645"/>
                      </a:ext>
                    </a:extLst>
                  </a:tr>
                  <a:tr h="762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latin typeface="+mn-lt"/>
                            </a:rPr>
                            <a:t>Linear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a:solidFill>
                                <a:schemeClr val="tx1"/>
                              </a:solidFill>
                            </a:rPr>
                            <a:t>those whose graph is a straight line.</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a:solidFill>
                                <a:schemeClr val="tx1"/>
                              </a:solidFill>
                            </a:rPr>
                            <a:t>has the following form. y = mx + c.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sz="1100" b="0" baseline="0" noProof="0">
                              <a:solidFill>
                                <a:schemeClr val="tx1"/>
                              </a:solidFill>
                            </a:rPr>
                            <a:t>has one independent variable and one dependent variable. The independent variable is x and the dependent variable is 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4030373"/>
                      </a:ext>
                    </a:extLst>
                  </a:tr>
                  <a:tr h="762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latin typeface="+mn-lt"/>
                            </a:rPr>
                            <a:t>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Two or more equations that share variables.</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Example: two equations that share the variables x and y:</a:t>
                          </a:r>
                          <a:br>
                            <a:rPr lang="en-GB" sz="1100" b="0" baseline="0" noProof="0">
                              <a:solidFill>
                                <a:schemeClr val="tx1"/>
                              </a:solidFill>
                            </a:rPr>
                          </a:br>
                          <a:r>
                            <a:rPr lang="en-GB" sz="1100" b="0" baseline="0" noProof="0">
                              <a:solidFill>
                                <a:schemeClr val="tx1"/>
                              </a:solidFill>
                            </a:rPr>
                            <a:t>x + y = 6</a:t>
                          </a:r>
                          <a:br>
                            <a:rPr lang="en-GB" sz="1100" b="0" baseline="0" noProof="0">
                              <a:solidFill>
                                <a:schemeClr val="tx1"/>
                              </a:solidFill>
                            </a:rPr>
                          </a:br>
                          <a:r>
                            <a:rPr lang="en-GB" sz="1100" b="0" baseline="0" noProof="0">
                              <a:solidFill>
                                <a:schemeClr val="tx1"/>
                              </a:solidFill>
                            </a:rPr>
                            <a:t>−3x + y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153645"/>
                      </a:ext>
                    </a:extLst>
                  </a:tr>
                  <a:tr h="762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latin typeface="+mn-lt"/>
                            </a:rPr>
                            <a:t>Elimination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Eliminate" means to remove: this method works by removing variables until there is just one left.</a:t>
                          </a:r>
                        </a:p>
                        <a:p>
                          <a:r>
                            <a:rPr lang="en-GB" sz="1100" b="0" i="0" kern="1200" noProof="0">
                              <a:solidFill>
                                <a:schemeClr val="tx1"/>
                              </a:solidFill>
                              <a:effectLst/>
                              <a:latin typeface="+mn-lt"/>
                              <a:ea typeface="+mn-ea"/>
                              <a:cs typeface="+mn-cs"/>
                            </a:rPr>
                            <a:t>The idea is that we </a:t>
                          </a:r>
                          <a:r>
                            <a:rPr lang="en-GB" sz="1100" b="1" i="0" kern="1200" noProof="0">
                              <a:solidFill>
                                <a:schemeClr val="tx1"/>
                              </a:solidFill>
                              <a:effectLst/>
                              <a:latin typeface="+mn-lt"/>
                              <a:ea typeface="+mn-ea"/>
                              <a:cs typeface="+mn-cs"/>
                            </a:rPr>
                            <a:t>can safely</a:t>
                          </a:r>
                          <a:r>
                            <a:rPr lang="en-GB" sz="1100" b="0" i="0" kern="1200" noProof="0">
                              <a:solidFill>
                                <a:schemeClr val="tx1"/>
                              </a:solidFill>
                              <a:effectLst/>
                              <a:latin typeface="+mn-lt"/>
                              <a:ea typeface="+mn-ea"/>
                              <a:cs typeface="+mn-cs"/>
                            </a:rPr>
                            <a:t>: </a:t>
                          </a:r>
                          <a:r>
                            <a:rPr lang="en-GB" sz="1100" b="1" i="0" kern="1200" noProof="0">
                              <a:solidFill>
                                <a:schemeClr val="tx1"/>
                              </a:solidFill>
                              <a:effectLst/>
                              <a:latin typeface="+mn-lt"/>
                              <a:ea typeface="+mn-ea"/>
                              <a:cs typeface="+mn-cs"/>
                            </a:rPr>
                            <a:t>multiply</a:t>
                          </a:r>
                          <a:r>
                            <a:rPr lang="en-GB" sz="1100" b="0" i="0" kern="1200" noProof="0">
                              <a:solidFill>
                                <a:schemeClr val="tx1"/>
                              </a:solidFill>
                              <a:effectLst/>
                              <a:latin typeface="+mn-lt"/>
                              <a:ea typeface="+mn-ea"/>
                              <a:cs typeface="+mn-cs"/>
                            </a:rPr>
                            <a:t> an equation by a constant (except zero), </a:t>
                          </a:r>
                          <a:r>
                            <a:rPr lang="en-GB" sz="1100" b="1" i="0" kern="1200" noProof="0">
                              <a:solidFill>
                                <a:schemeClr val="tx1"/>
                              </a:solidFill>
                              <a:effectLst/>
                              <a:latin typeface="+mn-lt"/>
                              <a:ea typeface="+mn-ea"/>
                              <a:cs typeface="+mn-cs"/>
                            </a:rPr>
                            <a:t>add</a:t>
                          </a:r>
                          <a:r>
                            <a:rPr lang="en-GB" sz="1100" b="0" i="0" kern="1200" noProof="0">
                              <a:solidFill>
                                <a:schemeClr val="tx1"/>
                              </a:solidFill>
                              <a:effectLst/>
                              <a:latin typeface="+mn-lt"/>
                              <a:ea typeface="+mn-ea"/>
                              <a:cs typeface="+mn-cs"/>
                            </a:rPr>
                            <a:t> (or subtract) an equation on to another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9520429"/>
                      </a:ext>
                    </a:extLst>
                  </a:tr>
                  <a:tr h="762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noProof="0">
                              <a:latin typeface="+mn-lt"/>
                            </a:rPr>
                            <a:t>Substitution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These are the steps:</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Write one of the equations so it is in the style "variable =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baseline="0" noProof="0">
                              <a:solidFill>
                                <a:schemeClr val="tx1"/>
                              </a:solidFill>
                            </a:rPr>
                            <a:t>Replace (i.e. substitute) that variable in the other equation(s). Solve the other equation(s)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4645289"/>
                      </a:ext>
                    </a:extLst>
                  </a:tr>
                </a:tbl>
              </a:graphicData>
            </a:graphic>
          </p:graphicFrame>
        </mc:Fallback>
      </mc:AlternateContent>
    </p:spTree>
    <p:extLst>
      <p:ext uri="{BB962C8B-B14F-4D97-AF65-F5344CB8AC3E}">
        <p14:creationId xmlns:p14="http://schemas.microsoft.com/office/powerpoint/2010/main" val="933153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21"/>
          <p:cNvGraphicFramePr>
            <a:graphicFrameLocks noGrp="1"/>
          </p:cNvGraphicFramePr>
          <p:nvPr>
            <p:extLst>
              <p:ext uri="{D42A27DB-BD31-4B8C-83A1-F6EECF244321}">
                <p14:modId xmlns:p14="http://schemas.microsoft.com/office/powerpoint/2010/main" val="1375035180"/>
              </p:ext>
            </p:extLst>
          </p:nvPr>
        </p:nvGraphicFramePr>
        <p:xfrm>
          <a:off x="415186" y="398891"/>
          <a:ext cx="6049393" cy="6309360"/>
        </p:xfrm>
        <a:graphic>
          <a:graphicData uri="http://schemas.openxmlformats.org/drawingml/2006/table">
            <a:tbl>
              <a:tblPr firstRow="1" bandRow="1">
                <a:tableStyleId>{7E9639D4-E3E2-4D34-9284-5A2195B3D0D7}</a:tableStyleId>
              </a:tblPr>
              <a:tblGrid>
                <a:gridCol w="1073980">
                  <a:extLst>
                    <a:ext uri="{9D8B030D-6E8A-4147-A177-3AD203B41FA5}">
                      <a16:colId xmlns:a16="http://schemas.microsoft.com/office/drawing/2014/main" val="3563799444"/>
                    </a:ext>
                  </a:extLst>
                </a:gridCol>
                <a:gridCol w="4397283">
                  <a:extLst>
                    <a:ext uri="{9D8B030D-6E8A-4147-A177-3AD203B41FA5}">
                      <a16:colId xmlns:a16="http://schemas.microsoft.com/office/drawing/2014/main" val="2581643566"/>
                    </a:ext>
                  </a:extLst>
                </a:gridCol>
                <a:gridCol w="578130">
                  <a:extLst>
                    <a:ext uri="{9D8B030D-6E8A-4147-A177-3AD203B41FA5}">
                      <a16:colId xmlns:a16="http://schemas.microsoft.com/office/drawing/2014/main" val="1859878977"/>
                    </a:ext>
                  </a:extLst>
                </a:gridCol>
              </a:tblGrid>
              <a:tr h="264484">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bg1"/>
                          </a:solidFill>
                        </a:rPr>
                        <a:t>CONTENTS  </a:t>
                      </a:r>
                      <a:endParaRPr lang="en-GB" sz="1200" b="1" noProof="0" dirty="0">
                        <a:solidFill>
                          <a:schemeClr val="bg1"/>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GB"/>
                    </a:p>
                  </a:txBody>
                  <a:tcPr>
                    <a:lnL w="12700" cap="flat" cmpd="sng" algn="ctr">
                      <a:solidFill>
                        <a:schemeClr val="tx1"/>
                      </a:solidFill>
                      <a:prstDash val="dot"/>
                      <a:round/>
                      <a:headEnd type="none" w="med" len="med"/>
                      <a:tailEnd type="none" w="med" len="med"/>
                    </a:lnL>
                    <a:solidFill>
                      <a:srgbClr val="7E234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bg1"/>
                          </a:solidFill>
                        </a:rPr>
                        <a:t>PAGE</a:t>
                      </a:r>
                      <a:endParaRPr lang="en-GB" sz="1600" b="1" noProof="0" dirty="0">
                        <a:solidFill>
                          <a:schemeClr val="bg1"/>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826269"/>
                  </a:ext>
                </a:extLst>
              </a:tr>
              <a:tr h="264484">
                <a:tc>
                  <a:txBody>
                    <a:bodyPr/>
                    <a:lstStyle/>
                    <a:p>
                      <a:pPr algn="l" rtl="0" fontAlgn="base"/>
                      <a:r>
                        <a:rPr lang="en-GB" sz="1200" b="0" noProof="0" dirty="0">
                          <a:solidFill>
                            <a:schemeClr val="bg1">
                              <a:lumMod val="85000"/>
                            </a:schemeClr>
                          </a:solidFill>
                          <a:effectLst/>
                        </a:rPr>
                        <a:t>SUBTOPIC</a:t>
                      </a:r>
                      <a:r>
                        <a:rPr lang="en-GB" sz="1200" b="0" baseline="0" noProof="0" dirty="0">
                          <a:solidFill>
                            <a:schemeClr val="bg1">
                              <a:lumMod val="85000"/>
                            </a:schemeClr>
                          </a:solidFill>
                          <a:effectLst/>
                        </a:rPr>
                        <a:t> 1</a:t>
                      </a: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rPr>
                        <a:t>Rearranging Formulae/ Changing the Subject</a:t>
                      </a:r>
                      <a:endParaRPr lang="en-GB" sz="1200"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320498"/>
                  </a:ext>
                </a:extLst>
              </a:tr>
              <a:tr h="264484">
                <a:tc>
                  <a:txBody>
                    <a:bodyPr/>
                    <a:lstStyle/>
                    <a:p>
                      <a:pPr algn="l" rtl="0" fontAlgn="base"/>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1" noProof="0" dirty="0">
                          <a:solidFill>
                            <a:schemeClr val="bg1">
                              <a:lumMod val="85000"/>
                            </a:schemeClr>
                          </a:solidFill>
                        </a:rPr>
                        <a:t>GCSE QUESTIONS</a:t>
                      </a:r>
                      <a:endParaRPr lang="en-GB" sz="1200" b="1"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4006052"/>
                  </a:ext>
                </a:extLst>
              </a:tr>
              <a:tr h="264484">
                <a:tc>
                  <a:txBody>
                    <a:bodyPr/>
                    <a:lstStyle/>
                    <a:p>
                      <a:pPr algn="l" rtl="0" fontAlgn="base"/>
                      <a:r>
                        <a:rPr lang="en-GB" sz="1200" b="0" noProof="0" dirty="0">
                          <a:solidFill>
                            <a:schemeClr val="bg1">
                              <a:lumMod val="85000"/>
                            </a:schemeClr>
                          </a:solidFill>
                          <a:effectLst/>
                        </a:rPr>
                        <a:t>SUBTOPIC</a:t>
                      </a:r>
                      <a:r>
                        <a:rPr lang="en-GB" sz="1200" b="0" baseline="0" noProof="0" dirty="0">
                          <a:solidFill>
                            <a:schemeClr val="bg1">
                              <a:lumMod val="85000"/>
                            </a:schemeClr>
                          </a:solidFill>
                          <a:effectLst/>
                        </a:rPr>
                        <a:t> 2</a:t>
                      </a: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latin typeface="Calibri" panose="020F0502020204030204" pitchFamily="34" charset="0"/>
                          <a:cs typeface="Calibri" panose="020F0502020204030204" pitchFamily="34" charset="0"/>
                        </a:rPr>
                        <a:t>Recap/ Prior Knowledge Quiz: Solving Quadratic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0815257"/>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noProof="0" dirty="0">
                          <a:solidFill>
                            <a:schemeClr val="bg1">
                              <a:lumMod val="85000"/>
                            </a:schemeClr>
                          </a:solidFill>
                          <a:effectLst/>
                        </a:rPr>
                        <a:t>SUBTOPIC</a:t>
                      </a:r>
                      <a:r>
                        <a:rPr lang="en-GB" sz="1200" b="0" baseline="0" noProof="0" dirty="0">
                          <a:solidFill>
                            <a:schemeClr val="bg1">
                              <a:lumMod val="85000"/>
                            </a:schemeClr>
                          </a:solidFill>
                          <a:effectLst/>
                        </a:rPr>
                        <a:t> 3a</a:t>
                      </a: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rPr>
                        <a:t>Simultaneous Equations – elimination and graphical solving</a:t>
                      </a:r>
                      <a:endParaRPr lang="en-GB" sz="1200"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399566"/>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noProof="0" dirty="0">
                          <a:solidFill>
                            <a:schemeClr val="bg1">
                              <a:lumMod val="85000"/>
                            </a:schemeClr>
                          </a:solidFill>
                          <a:effectLst/>
                        </a:rPr>
                        <a:t>SUBTOPIC</a:t>
                      </a:r>
                      <a:r>
                        <a:rPr lang="en-GB" sz="1200" b="0" baseline="0" noProof="0" dirty="0">
                          <a:solidFill>
                            <a:schemeClr val="bg1">
                              <a:lumMod val="85000"/>
                            </a:schemeClr>
                          </a:solidFill>
                          <a:effectLst/>
                        </a:rPr>
                        <a:t> 3b</a:t>
                      </a: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latin typeface="Calibri" panose="020F0502020204030204" pitchFamily="34" charset="0"/>
                          <a:cs typeface="Calibri" panose="020F0502020204030204" pitchFamily="34" charset="0"/>
                        </a:rPr>
                        <a:t>Recap: Solving Simultaneous Equations by Elimination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0891299"/>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noProof="0" dirty="0">
                          <a:solidFill>
                            <a:schemeClr val="bg1">
                              <a:lumMod val="85000"/>
                            </a:schemeClr>
                          </a:solidFill>
                          <a:effectLst/>
                        </a:rPr>
                        <a:t>SUBTOPIC</a:t>
                      </a:r>
                      <a:r>
                        <a:rPr lang="en-GB" sz="1200" b="0" baseline="0" noProof="0" dirty="0">
                          <a:solidFill>
                            <a:schemeClr val="bg1">
                              <a:lumMod val="85000"/>
                            </a:schemeClr>
                          </a:solidFill>
                          <a:effectLst/>
                        </a:rPr>
                        <a:t> 3c</a:t>
                      </a: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latin typeface="Calibri" panose="020F0502020204030204" pitchFamily="34" charset="0"/>
                          <a:cs typeface="Calibri" panose="020F0502020204030204" pitchFamily="34" charset="0"/>
                        </a:rPr>
                        <a:t>Worded 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9580398"/>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solidFill>
                            <a:schemeClr val="bg1">
                              <a:lumMod val="85000"/>
                            </a:schemeClr>
                          </a:solidFill>
                        </a:rPr>
                        <a:t>GCSE QUESTIONS</a:t>
                      </a:r>
                      <a:endParaRPr lang="en-GB" sz="1200" b="1"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4808750"/>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noProof="0" dirty="0">
                          <a:solidFill>
                            <a:schemeClr val="bg1">
                              <a:lumMod val="85000"/>
                            </a:schemeClr>
                          </a:solidFill>
                          <a:effectLst/>
                        </a:rPr>
                        <a:t>SUBTOPIC</a:t>
                      </a:r>
                      <a:r>
                        <a:rPr lang="en-GB" sz="1200" b="0" baseline="0" noProof="0" dirty="0">
                          <a:solidFill>
                            <a:schemeClr val="bg1">
                              <a:lumMod val="85000"/>
                            </a:schemeClr>
                          </a:solidFill>
                          <a:effectLst/>
                        </a:rPr>
                        <a:t> 3d</a:t>
                      </a:r>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latin typeface="Calibri" panose="020F0502020204030204" pitchFamily="34" charset="0"/>
                          <a:cs typeface="Calibri" panose="020F0502020204030204" pitchFamily="34" charset="0"/>
                        </a:rPr>
                        <a:t>Solving Simultaneous Equations using Substitution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9569616"/>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i="0" noProof="0" dirty="0">
                          <a:solidFill>
                            <a:schemeClr val="bg1">
                              <a:lumMod val="85000"/>
                            </a:schemeClr>
                          </a:solidFill>
                          <a:effectLst/>
                          <a:latin typeface="Calibri" panose="020F0502020204030204" pitchFamily="34" charset="0"/>
                          <a:cs typeface="Calibri" panose="020F0502020204030204" pitchFamily="34" charset="0"/>
                        </a:rPr>
                        <a:t>SUBTOPIC 3e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noProof="0" dirty="0">
                          <a:solidFill>
                            <a:schemeClr val="bg1">
                              <a:lumMod val="85000"/>
                            </a:schemeClr>
                          </a:solidFill>
                          <a:latin typeface="Calibri" panose="020F0502020204030204" pitchFamily="34" charset="0"/>
                          <a:cs typeface="Calibri" panose="020F0502020204030204" pitchFamily="34" charset="0"/>
                        </a:rPr>
                        <a:t>Quadratic Simultaneous Equations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3303212"/>
                  </a:ext>
                </a:extLst>
              </a:tr>
              <a:tr h="264484">
                <a:tc>
                  <a:txBody>
                    <a:bodyPr/>
                    <a:lstStyle/>
                    <a:p>
                      <a:pPr algn="l" rtl="0" fontAlgn="base"/>
                      <a:endParaRPr lang="en-GB" sz="1200" b="0" i="0" noProof="0" dirty="0">
                        <a:solidFill>
                          <a:schemeClr val="bg1">
                            <a:lumMod val="85000"/>
                          </a:schemeClr>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solidFill>
                            <a:schemeClr val="bg1">
                              <a:lumMod val="85000"/>
                            </a:schemeClr>
                          </a:solidFill>
                        </a:rPr>
                        <a:t>GCSE QUESTIONS</a:t>
                      </a:r>
                      <a:endParaRPr lang="en-GB" sz="1200" b="1" noProof="0" dirty="0">
                        <a:solidFill>
                          <a:schemeClr val="bg1">
                            <a:lumMod val="85000"/>
                          </a:schemeClr>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GB" sz="1200" noProof="0" dirty="0">
                        <a:solidFill>
                          <a:schemeClr val="bg1">
                            <a:lumMod val="85000"/>
                          </a:schemeClr>
                        </a:solidFill>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5335505"/>
                  </a:ext>
                </a:extLst>
              </a:tr>
              <a:tr h="264484">
                <a:tc>
                  <a:txBody>
                    <a:bodyPr/>
                    <a:lstStyle/>
                    <a:p>
                      <a:pPr algn="l" rtl="0" fontAlgn="base"/>
                      <a:r>
                        <a:rPr lang="en-GB" sz="1200" b="0" noProof="0" dirty="0">
                          <a:solidFill>
                            <a:srgbClr val="000000"/>
                          </a:solidFill>
                          <a:effectLst/>
                        </a:rPr>
                        <a:t>SUBTOPIC 4a</a:t>
                      </a: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t>Algebraic Fractions – Manipulation and Simplifying</a:t>
                      </a:r>
                      <a:endParaRPr lang="en-GB" sz="1200"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8475363"/>
                  </a:ext>
                </a:extLst>
              </a:tr>
              <a:tr h="264484">
                <a:tc>
                  <a:txBody>
                    <a:bodyPr/>
                    <a:lstStyle/>
                    <a:p>
                      <a:pPr algn="l" rtl="0" fontAlgn="base"/>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t>GCSE QUESTIONS</a:t>
                      </a:r>
                      <a:endParaRPr lang="en-GB" sz="1200" b="1"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5888622"/>
                  </a:ext>
                </a:extLst>
              </a:tr>
              <a:tr h="264484">
                <a:tc>
                  <a:txBody>
                    <a:bodyPr/>
                    <a:lstStyle/>
                    <a:p>
                      <a:pPr algn="l" rtl="0" fontAlgn="base"/>
                      <a:r>
                        <a:rPr lang="en-GB" sz="1200" b="0" i="0" noProof="0" dirty="0">
                          <a:solidFill>
                            <a:srgbClr val="000000"/>
                          </a:solidFill>
                          <a:effectLst/>
                          <a:latin typeface="Calibri" panose="020F0502020204030204" pitchFamily="34" charset="0"/>
                          <a:cs typeface="Calibri" panose="020F0502020204030204" pitchFamily="34" charset="0"/>
                        </a:rPr>
                        <a:t>SUBTOPIC 4b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latin typeface="Calibri" panose="020F0502020204030204" pitchFamily="34" charset="0"/>
                          <a:cs typeface="Calibri" panose="020F0502020204030204" pitchFamily="34" charset="0"/>
                        </a:rPr>
                        <a:t>Algebraic Fractions – Solving (including Quadratics)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1880812"/>
                  </a:ext>
                </a:extLst>
              </a:tr>
              <a:tr h="264484">
                <a:tc>
                  <a:txBody>
                    <a:bodyPr/>
                    <a:lstStyle/>
                    <a:p>
                      <a:pPr algn="l" rtl="0" fontAlgn="base"/>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t>GCSE QUESTIONS</a:t>
                      </a:r>
                      <a:endParaRPr lang="en-GB" sz="1200" b="1"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48847"/>
                  </a:ext>
                </a:extLst>
              </a:tr>
              <a:tr h="264484">
                <a:tc>
                  <a:txBody>
                    <a:bodyPr/>
                    <a:lstStyle/>
                    <a:p>
                      <a:pPr algn="l" rtl="0" fontAlgn="base"/>
                      <a:r>
                        <a:rPr lang="en-GB" sz="1200" b="0" noProof="0" dirty="0">
                          <a:solidFill>
                            <a:srgbClr val="000000"/>
                          </a:solidFill>
                          <a:effectLst/>
                        </a:rPr>
                        <a:t>SUBTOPIC 5</a:t>
                      </a: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t>Functions</a:t>
                      </a:r>
                      <a:endParaRPr lang="en-GB" sz="1200"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5873933"/>
                  </a:ext>
                </a:extLst>
              </a:tr>
              <a:tr h="264484">
                <a:tc>
                  <a:txBody>
                    <a:bodyPr/>
                    <a:lstStyle/>
                    <a:p>
                      <a:pPr algn="l" rtl="0" fontAlgn="base"/>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t>GCSE QUESTIONS</a:t>
                      </a:r>
                      <a:endParaRPr lang="en-GB" sz="1200" b="1"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078180"/>
                  </a:ext>
                </a:extLst>
              </a:tr>
              <a:tr h="264484">
                <a:tc>
                  <a:txBody>
                    <a:bodyPr/>
                    <a:lstStyle/>
                    <a:p>
                      <a:pPr algn="l" rtl="0" fontAlgn="base"/>
                      <a:r>
                        <a:rPr lang="en-GB" sz="1200" b="0" noProof="0" dirty="0">
                          <a:solidFill>
                            <a:srgbClr val="000000"/>
                          </a:solidFill>
                          <a:effectLst/>
                        </a:rPr>
                        <a:t>SUBTOPIC</a:t>
                      </a:r>
                      <a:r>
                        <a:rPr lang="en-GB" sz="1200" b="0" baseline="0" noProof="0" dirty="0">
                          <a:solidFill>
                            <a:srgbClr val="000000"/>
                          </a:solidFill>
                          <a:effectLst/>
                        </a:rPr>
                        <a:t> 6a</a:t>
                      </a: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t>Iteration 1: Recurrence Relationships</a:t>
                      </a:r>
                      <a:endParaRPr lang="en-GB" sz="1200"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0564557"/>
                  </a:ext>
                </a:extLst>
              </a:tr>
              <a:tr h="264484">
                <a:tc>
                  <a:txBody>
                    <a:bodyPr/>
                    <a:lstStyle/>
                    <a:p>
                      <a:pPr algn="l" rtl="0" fontAlgn="base"/>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t>GCSE QUESTIONS</a:t>
                      </a:r>
                      <a:endParaRPr lang="en-GB" sz="1200" b="1"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855155"/>
                  </a:ext>
                </a:extLst>
              </a:tr>
              <a:tr h="26448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0" noProof="0" dirty="0">
                          <a:solidFill>
                            <a:srgbClr val="000000"/>
                          </a:solidFill>
                          <a:effectLst/>
                        </a:rPr>
                        <a:t>SUBTOPIC</a:t>
                      </a:r>
                      <a:r>
                        <a:rPr lang="en-GB" sz="1200" b="0" baseline="0" noProof="0" dirty="0">
                          <a:solidFill>
                            <a:srgbClr val="000000"/>
                          </a:solidFill>
                          <a:effectLst/>
                        </a:rPr>
                        <a:t> 6b</a:t>
                      </a: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t>Iteration 2: Estimating Solutions</a:t>
                      </a:r>
                      <a:endParaRPr lang="en-GB" sz="1200"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2825702"/>
                  </a:ext>
                </a:extLst>
              </a:tr>
              <a:tr h="264484">
                <a:tc>
                  <a:txBody>
                    <a:bodyPr/>
                    <a:lstStyle/>
                    <a:p>
                      <a:pPr algn="l" rtl="0" fontAlgn="base"/>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t>GCSE QUESTIONS</a:t>
                      </a:r>
                      <a:endParaRPr lang="en-GB" sz="1200" b="1"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1016720"/>
                  </a:ext>
                </a:extLst>
              </a:tr>
              <a:tr h="264484">
                <a:tc>
                  <a:txBody>
                    <a:bodyPr/>
                    <a:lstStyle/>
                    <a:p>
                      <a:pPr algn="l" rtl="0" fontAlgn="base"/>
                      <a:r>
                        <a:rPr lang="en-GB" sz="1200" b="0" noProof="0" dirty="0">
                          <a:solidFill>
                            <a:srgbClr val="000000"/>
                          </a:solidFill>
                          <a:effectLst/>
                        </a:rPr>
                        <a:t>SUBTOPIC 7</a:t>
                      </a:r>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noProof="0" dirty="0"/>
                        <a:t>Algebraic Proof</a:t>
                      </a:r>
                      <a:endParaRPr lang="en-GB" sz="1200"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2517490"/>
                  </a:ext>
                </a:extLst>
              </a:tr>
              <a:tr h="264484">
                <a:tc>
                  <a:txBody>
                    <a:bodyPr/>
                    <a:lstStyle/>
                    <a:p>
                      <a:pPr algn="l" rtl="0" fontAlgn="base"/>
                      <a:endParaRPr lang="en-GB" sz="1200" b="0" i="0" noProof="0" dirty="0">
                        <a:solidFill>
                          <a:srgbClr val="000000"/>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noProof="0" dirty="0"/>
                        <a:t>GCSE QUESTIONS</a:t>
                      </a:r>
                      <a:endParaRPr lang="en-GB" sz="1200" b="1" noProof="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noProof="0" dirty="0">
                          <a:latin typeface="Calibri Light" panose="020F0302020204030204" pitchFamily="34" charset="0"/>
                          <a:cs typeface="Calibri Light" panose="020F0302020204030204" pitchFamily="34" charset="0"/>
                        </a:rPr>
                        <a:t>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3511353"/>
                  </a:ext>
                </a:extLst>
              </a:tr>
            </a:tbl>
          </a:graphicData>
        </a:graphic>
      </p:graphicFrame>
      <p:sp>
        <p:nvSpPr>
          <p:cNvPr id="36" name="Frame 3">
            <a:extLst>
              <a:ext uri="{FF2B5EF4-FFF2-40B4-BE49-F238E27FC236}">
                <a16:creationId xmlns:a16="http://schemas.microsoft.com/office/drawing/2014/main" id="{3117BEEC-0E58-1341-A11D-9DBDBB61BE29}"/>
              </a:ext>
            </a:extLst>
          </p:cNvPr>
          <p:cNvSpPr/>
          <p:nvPr/>
        </p:nvSpPr>
        <p:spPr>
          <a:xfrm>
            <a:off x="0" y="0"/>
            <a:ext cx="6858000" cy="9906000"/>
          </a:xfrm>
          <a:custGeom>
            <a:avLst/>
            <a:gdLst>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811060 w 6488483"/>
              <a:gd name="connsiteY5" fmla="*/ 811060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811060 w 6488483"/>
              <a:gd name="connsiteY9" fmla="*/ 811060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6228568 w 6488483"/>
              <a:gd name="connsiteY8" fmla="*/ 272441 h 9394520"/>
              <a:gd name="connsiteX9" fmla="*/ 284967 w 6488483"/>
              <a:gd name="connsiteY9" fmla="*/ 272441 h 939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8483" h="9394520">
                <a:moveTo>
                  <a:pt x="0" y="0"/>
                </a:moveTo>
                <a:lnTo>
                  <a:pt x="6488483" y="0"/>
                </a:lnTo>
                <a:lnTo>
                  <a:pt x="6488483" y="9394520"/>
                </a:lnTo>
                <a:lnTo>
                  <a:pt x="0" y="9394520"/>
                </a:lnTo>
                <a:lnTo>
                  <a:pt x="0" y="0"/>
                </a:lnTo>
                <a:close/>
                <a:moveTo>
                  <a:pt x="284967" y="272441"/>
                </a:moveTo>
                <a:cubicBezTo>
                  <a:pt x="280792" y="3226496"/>
                  <a:pt x="276616" y="6180550"/>
                  <a:pt x="272441" y="9134605"/>
                </a:cubicBezTo>
                <a:lnTo>
                  <a:pt x="6216042" y="9134606"/>
                </a:lnTo>
                <a:cubicBezTo>
                  <a:pt x="6220217" y="6180551"/>
                  <a:pt x="6224393" y="3226496"/>
                  <a:pt x="6228568" y="272441"/>
                </a:cubicBezTo>
                <a:lnTo>
                  <a:pt x="284967" y="272441"/>
                </a:lnTo>
                <a:close/>
              </a:path>
            </a:pathLst>
          </a:cu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lide Number Placeholder 1"/>
          <p:cNvSpPr>
            <a:spLocks noGrp="1"/>
          </p:cNvSpPr>
          <p:nvPr>
            <p:ph type="sldNum" sz="quarter" idx="12"/>
          </p:nvPr>
        </p:nvSpPr>
        <p:spPr>
          <a:xfrm>
            <a:off x="6593433" y="9658352"/>
            <a:ext cx="376738" cy="33474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1000" b="0" i="0" u="none" strike="noStrike" kern="1200" cap="none" spc="0" normalizeH="0" baseline="0" noProof="0" smtClean="0">
                <a:ln>
                  <a:noFill/>
                </a:ln>
                <a:solidFill>
                  <a:schemeClr val="bg1"/>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GB" sz="5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EC73D5DE-9CB0-D39B-52D5-3BD330AEEF90}"/>
              </a:ext>
            </a:extLst>
          </p:cNvPr>
          <p:cNvSpPr txBox="1"/>
          <p:nvPr/>
        </p:nvSpPr>
        <p:spPr>
          <a:xfrm>
            <a:off x="461639" y="7209952"/>
            <a:ext cx="6002939" cy="230832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Start of subtopic:</a:t>
            </a:r>
            <a:endParaRPr kumimoji="0" lang="en-GB" sz="1200" b="1" i="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endParaRPr>
          </a:p>
          <a:p>
            <a:pPr marL="628650" lvl="1" indent="-171450">
              <a:buFont typeface="Arial" panose="020B0604020202020204" pitchFamily="34" charset="0"/>
              <a:buChar char="•"/>
              <a:defRPr/>
            </a:pPr>
            <a:r>
              <a:rPr lang="en-GB" sz="1200" noProof="0" dirty="0">
                <a:solidFill>
                  <a:prstClr val="black"/>
                </a:solidFill>
                <a:latin typeface="Calibri" panose="020F0502020204030204" pitchFamily="34" charset="0"/>
                <a:cs typeface="Calibri" panose="020F0502020204030204" pitchFamily="34" charset="0"/>
              </a:rPr>
              <a:t>Read  and annotate the information in the Frayer model or introduction text</a:t>
            </a:r>
          </a:p>
          <a:p>
            <a:pPr marL="628650" lvl="1" indent="-171450">
              <a:buFont typeface="Arial" panose="020B0604020202020204" pitchFamily="34" charset="0"/>
              <a:buChar char="•"/>
              <a:defRPr/>
            </a:pPr>
            <a:r>
              <a:rPr kumimoji="0" lang="en-GB" sz="1200" i="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rPr>
              <a:t>I do (teacher led example).</a:t>
            </a:r>
          </a:p>
          <a:p>
            <a:pPr marL="628650" lvl="1" indent="-171450">
              <a:buFont typeface="Arial" panose="020B0604020202020204" pitchFamily="34" charset="0"/>
              <a:buChar char="•"/>
              <a:defRPr/>
            </a:pPr>
            <a:r>
              <a:rPr lang="en-GB" sz="1200" noProof="0" dirty="0">
                <a:solidFill>
                  <a:prstClr val="black"/>
                </a:solidFill>
                <a:latin typeface="Calibri" panose="020F0502020204030204" pitchFamily="34" charset="0"/>
                <a:cs typeface="Calibri" panose="020F0502020204030204" pitchFamily="34" charset="0"/>
              </a:rPr>
              <a:t>We do (teacher and scholar led example).</a:t>
            </a:r>
          </a:p>
          <a:p>
            <a:pPr marL="628650" lvl="1" indent="-171450">
              <a:buFont typeface="Arial" panose="020B0604020202020204" pitchFamily="34" charset="0"/>
              <a:buChar char="•"/>
              <a:defRPr/>
            </a:pPr>
            <a:r>
              <a:rPr kumimoji="0" lang="en-GB" sz="1200" i="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rPr>
              <a:t>You do (independent scholar example).</a:t>
            </a:r>
          </a:p>
          <a:p>
            <a:pPr marL="628650" lvl="1" indent="-171450">
              <a:buFont typeface="Arial" panose="020B0604020202020204" pitchFamily="34" charset="0"/>
              <a:buChar char="•"/>
              <a:defRPr/>
            </a:pPr>
            <a:r>
              <a:rPr lang="en-GB" sz="1200" baseline="0" noProof="0" dirty="0">
                <a:solidFill>
                  <a:prstClr val="black"/>
                </a:solidFill>
                <a:latin typeface="Calibri" panose="020F0502020204030204" pitchFamily="34" charset="0"/>
                <a:cs typeface="Calibri" panose="020F0502020204030204" pitchFamily="34" charset="0"/>
              </a:rPr>
              <a:t>Whiteboard</a:t>
            </a:r>
            <a:r>
              <a:rPr lang="en-GB" sz="1200" noProof="0" dirty="0">
                <a:solidFill>
                  <a:prstClr val="black"/>
                </a:solidFill>
                <a:latin typeface="Calibri" panose="020F0502020204030204" pitchFamily="34" charset="0"/>
                <a:cs typeface="Calibri" panose="020F0502020204030204" pitchFamily="34" charset="0"/>
              </a:rPr>
              <a:t> check.</a:t>
            </a:r>
          </a:p>
          <a:p>
            <a:pPr marL="628650" lvl="1" indent="-171450">
              <a:buFont typeface="Arial" panose="020B0604020202020204" pitchFamily="34" charset="0"/>
              <a:buChar char="•"/>
              <a:defRPr/>
            </a:pPr>
            <a:r>
              <a:rPr kumimoji="0" lang="en-GB" sz="120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Independent</a:t>
            </a:r>
            <a:r>
              <a:rPr kumimoji="0" lang="en-GB" sz="120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rPr>
              <a:t> practice and mixed practice.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1" noProof="0" dirty="0">
                <a:solidFill>
                  <a:prstClr val="black"/>
                </a:solidFill>
                <a:latin typeface="Calibri" panose="020F0502020204030204" pitchFamily="34" charset="0"/>
                <a:cs typeface="Calibri" panose="020F0502020204030204" pitchFamily="34" charset="0"/>
              </a:rPr>
              <a:t>End of subtopic:</a:t>
            </a:r>
            <a:r>
              <a:rPr kumimoji="0" lang="en-GB" sz="1200" b="1"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rPr>
              <a:t> </a:t>
            </a:r>
          </a:p>
          <a:p>
            <a:pPr marL="628650" lvl="1" indent="-171450">
              <a:buFont typeface="Arial" panose="020B0604020202020204" pitchFamily="34" charset="0"/>
              <a:buChar char="•"/>
              <a:defRPr/>
            </a:pPr>
            <a:r>
              <a:rPr lang="en-GB" sz="1200" baseline="0" noProof="0" dirty="0">
                <a:solidFill>
                  <a:prstClr val="black"/>
                </a:solidFill>
                <a:latin typeface="Calibri" panose="020F0502020204030204" pitchFamily="34" charset="0"/>
                <a:cs typeface="Calibri" panose="020F0502020204030204" pitchFamily="34" charset="0"/>
              </a:rPr>
              <a:t>GCSE questions – to ensure you are confident with the style you will encounter in your exams</a:t>
            </a:r>
            <a:endParaRPr kumimoji="0" lang="en-GB" sz="1200" u="none" strike="noStrike" kern="1200" cap="none" spc="0" normalizeH="0" noProof="0" dirty="0">
              <a:ln>
                <a:noFill/>
              </a:ln>
              <a:solidFill>
                <a:prstClr val="black"/>
              </a:solidFill>
              <a:effectLst/>
              <a:uLnTx/>
              <a:uFillTx/>
              <a:latin typeface="Calibri" panose="020F0502020204030204" pitchFamily="34" charset="0"/>
              <a:cs typeface="Calibri" panose="020F0502020204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F77D4097-6D68-B5AB-7F97-1990F73B0961}"/>
              </a:ext>
            </a:extLst>
          </p:cNvPr>
          <p:cNvSpPr/>
          <p:nvPr/>
        </p:nvSpPr>
        <p:spPr>
          <a:xfrm>
            <a:off x="390015" y="6916998"/>
            <a:ext cx="6074564" cy="258839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F11EB924-471F-4BFC-6F4A-EFE903C7E4BC}"/>
              </a:ext>
            </a:extLst>
          </p:cNvPr>
          <p:cNvSpPr txBox="1"/>
          <p:nvPr/>
        </p:nvSpPr>
        <p:spPr>
          <a:xfrm>
            <a:off x="1715348" y="6880176"/>
            <a:ext cx="338376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BOOKLET STRUCTURE</a:t>
            </a:r>
          </a:p>
        </p:txBody>
      </p:sp>
    </p:spTree>
    <p:extLst>
      <p:ext uri="{BB962C8B-B14F-4D97-AF65-F5344CB8AC3E}">
        <p14:creationId xmlns:p14="http://schemas.microsoft.com/office/powerpoint/2010/main" val="1005434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B3779-C269-C16C-25AB-1788B2645D0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25DA89B-6965-C064-B55E-A2738716478E}"/>
              </a:ext>
            </a:extLst>
          </p:cNvPr>
          <p:cNvSpPr/>
          <p:nvPr/>
        </p:nvSpPr>
        <p:spPr>
          <a:xfrm>
            <a:off x="102618" y="317359"/>
            <a:ext cx="6647773" cy="1654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11" name="Rectangle 10">
            <a:extLst>
              <a:ext uri="{FF2B5EF4-FFF2-40B4-BE49-F238E27FC236}">
                <a16:creationId xmlns:a16="http://schemas.microsoft.com/office/drawing/2014/main" id="{23A2F89F-D366-0638-6761-31BFDDD2FB78}"/>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prstClr val="white"/>
                </a:solidFill>
              </a:rPr>
              <a:t>Subtopic 4a – Algebraic Fractions: Manipulation and Simplifying</a:t>
            </a:r>
            <a:endParaRPr lang="en-GB" b="1" noProof="0" dirty="0">
              <a:solidFill>
                <a:prstClr val="white"/>
              </a:solidFill>
            </a:endParaRPr>
          </a:p>
        </p:txBody>
      </p:sp>
      <p:sp>
        <p:nvSpPr>
          <p:cNvPr id="13" name="TextBox 12">
            <a:extLst>
              <a:ext uri="{FF2B5EF4-FFF2-40B4-BE49-F238E27FC236}">
                <a16:creationId xmlns:a16="http://schemas.microsoft.com/office/drawing/2014/main" id="{31751232-F474-10C3-318B-FDD766E13000}"/>
              </a:ext>
            </a:extLst>
          </p:cNvPr>
          <p:cNvSpPr txBox="1"/>
          <p:nvPr/>
        </p:nvSpPr>
        <p:spPr>
          <a:xfrm>
            <a:off x="265577" y="780711"/>
            <a:ext cx="2647189" cy="307777"/>
          </a:xfrm>
          <a:prstGeom prst="rect">
            <a:avLst/>
          </a:prstGeom>
          <a:noFill/>
        </p:spPr>
        <p:txBody>
          <a:bodyPr wrap="square" rtlCol="0">
            <a:spAutoFit/>
          </a:bodyPr>
          <a:lstStyle/>
          <a:p>
            <a:r>
              <a:rPr lang="en-GB" sz="1400" b="1" noProof="0" dirty="0"/>
              <a:t>Objectives:</a:t>
            </a:r>
          </a:p>
        </p:txBody>
      </p:sp>
      <p:sp>
        <p:nvSpPr>
          <p:cNvPr id="59" name="TextBox 58">
            <a:extLst>
              <a:ext uri="{FF2B5EF4-FFF2-40B4-BE49-F238E27FC236}">
                <a16:creationId xmlns:a16="http://schemas.microsoft.com/office/drawing/2014/main" id="{CA38BBD4-C585-F8C2-64F6-648AD45A921B}"/>
              </a:ext>
            </a:extLst>
          </p:cNvPr>
          <p:cNvSpPr txBox="1"/>
          <p:nvPr/>
        </p:nvSpPr>
        <p:spPr>
          <a:xfrm>
            <a:off x="865735" y="408701"/>
            <a:ext cx="4991042" cy="276999"/>
          </a:xfrm>
          <a:prstGeom prst="rect">
            <a:avLst/>
          </a:prstGeom>
          <a:noFill/>
          <a:ln>
            <a:solidFill>
              <a:schemeClr val="tx1"/>
            </a:solidFill>
          </a:ln>
        </p:spPr>
        <p:txBody>
          <a:bodyPr wrap="square" rtlCol="0">
            <a:spAutoFit/>
          </a:bodyPr>
          <a:lstStyle/>
          <a:p>
            <a:pPr algn="ctr"/>
            <a:r>
              <a:rPr lang="en-GB" sz="1200" noProof="0" dirty="0"/>
              <a:t>LEARNING OUTCOME:  To simplify and solve algebraic fractions. </a:t>
            </a:r>
          </a:p>
        </p:txBody>
      </p:sp>
      <p:sp>
        <p:nvSpPr>
          <p:cNvPr id="61" name="TextBox 60">
            <a:extLst>
              <a:ext uri="{FF2B5EF4-FFF2-40B4-BE49-F238E27FC236}">
                <a16:creationId xmlns:a16="http://schemas.microsoft.com/office/drawing/2014/main" id="{A1D44562-F4FB-07A2-B7D0-72CA9B3FE7DD}"/>
              </a:ext>
            </a:extLst>
          </p:cNvPr>
          <p:cNvSpPr txBox="1"/>
          <p:nvPr/>
        </p:nvSpPr>
        <p:spPr>
          <a:xfrm>
            <a:off x="840920" y="1065117"/>
            <a:ext cx="3888646" cy="1015663"/>
          </a:xfrm>
          <a:prstGeom prst="rect">
            <a:avLst/>
          </a:prstGeom>
          <a:noFill/>
        </p:spPr>
        <p:txBody>
          <a:bodyPr wrap="square" rtlCol="0">
            <a:spAutoFit/>
          </a:bodyPr>
          <a:lstStyle/>
          <a:p>
            <a:pPr marL="228600" indent="-228600">
              <a:buFont typeface="+mj-lt"/>
              <a:buAutoNum type="arabicPeriod"/>
              <a:defRPr/>
            </a:pPr>
            <a:r>
              <a:rPr lang="en-GB" sz="1200" noProof="0" dirty="0"/>
              <a:t>To be able to simplify basic algebraic fractions.</a:t>
            </a:r>
          </a:p>
          <a:p>
            <a:pPr marL="228600" indent="-228600">
              <a:buFont typeface="+mj-lt"/>
              <a:buAutoNum type="arabicPeriod"/>
              <a:defRPr/>
            </a:pPr>
            <a:r>
              <a:rPr lang="en-GB" sz="1200" noProof="0" dirty="0"/>
              <a:t>To be able to simplify algebraic fractions by factorising.</a:t>
            </a:r>
          </a:p>
          <a:p>
            <a:pPr marL="228600" indent="-228600">
              <a:buFont typeface="+mj-lt"/>
              <a:buAutoNum type="arabicPeriod"/>
              <a:defRPr/>
            </a:pPr>
            <a:r>
              <a:rPr lang="en-GB" sz="1200" noProof="0" dirty="0"/>
              <a:t>To multiply and divide with algebraic fractions.</a:t>
            </a:r>
          </a:p>
          <a:p>
            <a:pPr marL="228600" indent="-228600">
              <a:buFont typeface="+mj-lt"/>
              <a:buAutoNum type="arabicPeriod"/>
              <a:defRPr/>
            </a:pPr>
            <a:r>
              <a:rPr lang="en-GB" sz="1200" noProof="0" dirty="0"/>
              <a:t>To solve equations involving algebraic fractions.</a:t>
            </a:r>
          </a:p>
          <a:p>
            <a:pPr marL="228600" indent="-228600">
              <a:buFont typeface="+mj-lt"/>
              <a:buAutoNum type="arabicPeriod"/>
              <a:defRPr/>
            </a:pPr>
            <a:endParaRPr lang="en-GB" sz="1200" noProof="0" dirty="0"/>
          </a:p>
        </p:txBody>
      </p:sp>
      <p:sp>
        <p:nvSpPr>
          <p:cNvPr id="74" name="TextBox 73">
            <a:extLst>
              <a:ext uri="{FF2B5EF4-FFF2-40B4-BE49-F238E27FC236}">
                <a16:creationId xmlns:a16="http://schemas.microsoft.com/office/drawing/2014/main" id="{C7457118-6CA5-C49D-31C3-6A4A82E8E64F}"/>
              </a:ext>
            </a:extLst>
          </p:cNvPr>
          <p:cNvSpPr txBox="1"/>
          <p:nvPr/>
        </p:nvSpPr>
        <p:spPr>
          <a:xfrm>
            <a:off x="5386356" y="908248"/>
            <a:ext cx="1235531" cy="1015663"/>
          </a:xfrm>
          <a:prstGeom prst="rect">
            <a:avLst/>
          </a:prstGeom>
          <a:noFill/>
          <a:ln w="12700">
            <a:solidFill>
              <a:schemeClr val="tx1"/>
            </a:solidFill>
          </a:ln>
        </p:spPr>
        <p:txBody>
          <a:bodyPr wrap="square" rtlCol="0">
            <a:spAutoFit/>
          </a:bodyPr>
          <a:lstStyle/>
          <a:p>
            <a:r>
              <a:rPr lang="en-GB" sz="1200" b="1" u="sng" noProof="0" dirty="0"/>
              <a:t>Keywords:</a:t>
            </a:r>
          </a:p>
          <a:p>
            <a:pPr marL="171450" indent="-171450">
              <a:buFontTx/>
              <a:buChar char="-"/>
            </a:pPr>
            <a:r>
              <a:rPr lang="en-GB" sz="1200" noProof="0" dirty="0"/>
              <a:t>Fraction</a:t>
            </a:r>
          </a:p>
          <a:p>
            <a:pPr marL="171450" indent="-171450">
              <a:buFontTx/>
              <a:buChar char="-"/>
            </a:pPr>
            <a:r>
              <a:rPr lang="en-GB" sz="1200" noProof="0" dirty="0"/>
              <a:t>Solve</a:t>
            </a:r>
          </a:p>
          <a:p>
            <a:pPr marL="171450" indent="-171450">
              <a:buFontTx/>
              <a:buChar char="-"/>
            </a:pPr>
            <a:r>
              <a:rPr lang="en-GB" sz="1200" noProof="0" dirty="0"/>
              <a:t>Factorise</a:t>
            </a:r>
          </a:p>
          <a:p>
            <a:pPr marL="171450" indent="-171450">
              <a:buFontTx/>
              <a:buChar char="-"/>
            </a:pPr>
            <a:r>
              <a:rPr lang="en-GB" sz="1200" noProof="0" dirty="0"/>
              <a:t>Denominator</a:t>
            </a:r>
          </a:p>
        </p:txBody>
      </p:sp>
      <p:sp>
        <p:nvSpPr>
          <p:cNvPr id="18" name="Slide Number Placeholder 17">
            <a:extLst>
              <a:ext uri="{FF2B5EF4-FFF2-40B4-BE49-F238E27FC236}">
                <a16:creationId xmlns:a16="http://schemas.microsoft.com/office/drawing/2014/main" id="{016AE37C-7D68-210E-A261-3AAE5F0E7C8F}"/>
              </a:ext>
            </a:extLst>
          </p:cNvPr>
          <p:cNvSpPr>
            <a:spLocks noGrp="1"/>
          </p:cNvSpPr>
          <p:nvPr>
            <p:ph type="sldNum" sz="quarter" idx="12"/>
          </p:nvPr>
        </p:nvSpPr>
        <p:spPr>
          <a:xfrm>
            <a:off x="5370231" y="9548817"/>
            <a:ext cx="1543050" cy="527403"/>
          </a:xfrm>
        </p:spPr>
        <p:txBody>
          <a:bodyPr/>
          <a:lstStyle/>
          <a:p>
            <a:fld id="{19F1D9CC-7119-45EC-A96C-D8C0660F3AAB}" type="slidenum">
              <a:rPr lang="en-GB" noProof="0" smtClean="0">
                <a:solidFill>
                  <a:schemeClr val="bg1"/>
                </a:solidFill>
              </a:rPr>
              <a:t>4</a:t>
            </a:fld>
            <a:endParaRPr lang="en-GB" noProof="0" dirty="0">
              <a:solidFill>
                <a:schemeClr val="bg1"/>
              </a:solidFill>
            </a:endParaRPr>
          </a:p>
        </p:txBody>
      </p:sp>
      <p:sp>
        <p:nvSpPr>
          <p:cNvPr id="65" name="Slide Number Placeholder 16">
            <a:extLst>
              <a:ext uri="{FF2B5EF4-FFF2-40B4-BE49-F238E27FC236}">
                <a16:creationId xmlns:a16="http://schemas.microsoft.com/office/drawing/2014/main" id="{FE14516E-8265-25D4-E435-D5309CAE3D80}"/>
              </a:ext>
            </a:extLst>
          </p:cNvPr>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4</a:t>
            </a:fld>
            <a:endParaRPr lang="en-GB" noProof="0" dirty="0"/>
          </a:p>
        </p:txBody>
      </p:sp>
      <p:graphicFrame>
        <p:nvGraphicFramePr>
          <p:cNvPr id="86" name="Table 85">
            <a:extLst>
              <a:ext uri="{FF2B5EF4-FFF2-40B4-BE49-F238E27FC236}">
                <a16:creationId xmlns:a16="http://schemas.microsoft.com/office/drawing/2014/main" id="{D569697E-B078-FC7F-CD59-DBDFB89BF100}"/>
              </a:ext>
            </a:extLst>
          </p:cNvPr>
          <p:cNvGraphicFramePr>
            <a:graphicFrameLocks noGrp="1"/>
          </p:cNvGraphicFramePr>
          <p:nvPr>
            <p:extLst>
              <p:ext uri="{D42A27DB-BD31-4B8C-83A1-F6EECF244321}">
                <p14:modId xmlns:p14="http://schemas.microsoft.com/office/powerpoint/2010/main" val="3554971881"/>
              </p:ext>
            </p:extLst>
          </p:nvPr>
        </p:nvGraphicFramePr>
        <p:xfrm>
          <a:off x="1053570" y="9110814"/>
          <a:ext cx="2534231" cy="498474"/>
        </p:xfrm>
        <a:graphic>
          <a:graphicData uri="http://schemas.openxmlformats.org/drawingml/2006/table">
            <a:tbl>
              <a:tblPr/>
              <a:tblGrid>
                <a:gridCol w="687493">
                  <a:extLst>
                    <a:ext uri="{9D8B030D-6E8A-4147-A177-3AD203B41FA5}">
                      <a16:colId xmlns:a16="http://schemas.microsoft.com/office/drawing/2014/main" val="4222988301"/>
                    </a:ext>
                  </a:extLst>
                </a:gridCol>
                <a:gridCol w="1846738">
                  <a:extLst>
                    <a:ext uri="{9D8B030D-6E8A-4147-A177-3AD203B41FA5}">
                      <a16:colId xmlns:a16="http://schemas.microsoft.com/office/drawing/2014/main" val="3473966253"/>
                    </a:ext>
                  </a:extLst>
                </a:gridCol>
              </a:tblGrid>
              <a:tr h="162338">
                <a:tc>
                  <a:txBody>
                    <a:bodyPr/>
                    <a:lstStyle/>
                    <a:p>
                      <a:r>
                        <a:rPr lang="en-GB" sz="1000" noProof="0" dirty="0">
                          <a:solidFill>
                            <a:schemeClr val="bg1"/>
                          </a:solidFill>
                          <a:effectLst/>
                          <a:latin typeface="Calibri" panose="020F0502020204030204" pitchFamily="34" charset="0"/>
                          <a:cs typeface="Calibri" panose="020F0502020204030204" pitchFamily="34" charset="0"/>
                        </a:rPr>
                        <a:t>1 × 20 = 20</a:t>
                      </a:r>
                    </a:p>
                  </a:txBody>
                  <a:tcPr marL="6879" marR="6879" marT="6879" marB="6879" anchor="ctr">
                    <a:lnL>
                      <a:noFill/>
                    </a:lnL>
                    <a:lnR>
                      <a:noFill/>
                    </a:lnR>
                    <a:lnT>
                      <a:noFill/>
                    </a:lnT>
                    <a:lnB>
                      <a:noFill/>
                    </a:lnB>
                    <a:noFill/>
                  </a:tcPr>
                </a:tc>
                <a:tc>
                  <a:txBody>
                    <a:bodyPr/>
                    <a:lstStyle/>
                    <a:p>
                      <a:r>
                        <a:rPr lang="en-GB" sz="1000" noProof="0" dirty="0">
                          <a:solidFill>
                            <a:schemeClr val="bg1"/>
                          </a:solidFill>
                          <a:effectLst/>
                          <a:latin typeface="Calibri" panose="020F0502020204030204" pitchFamily="34" charset="0"/>
                          <a:cs typeface="Calibri" panose="020F0502020204030204" pitchFamily="34" charset="0"/>
                        </a:rPr>
                        <a:t>so 1 and 20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154864005"/>
                  </a:ext>
                </a:extLst>
              </a:tr>
              <a:tr h="162338">
                <a:tc>
                  <a:txBody>
                    <a:bodyPr/>
                    <a:lstStyle/>
                    <a:p>
                      <a:r>
                        <a:rPr lang="en-GB" sz="1000" noProof="0" dirty="0">
                          <a:solidFill>
                            <a:schemeClr val="bg1"/>
                          </a:solidFill>
                          <a:effectLst/>
                          <a:latin typeface="Calibri" panose="020F0502020204030204" pitchFamily="34" charset="0"/>
                          <a:cs typeface="Calibri" panose="020F0502020204030204" pitchFamily="34" charset="0"/>
                        </a:rPr>
                        <a:t>2 × 10 = 20</a:t>
                      </a:r>
                    </a:p>
                  </a:txBody>
                  <a:tcPr marL="6879" marR="6879" marT="6879" marB="6879" anchor="ctr">
                    <a:lnL>
                      <a:noFill/>
                    </a:lnL>
                    <a:lnR>
                      <a:noFill/>
                    </a:lnR>
                    <a:lnT>
                      <a:noFill/>
                    </a:lnT>
                    <a:lnB>
                      <a:noFill/>
                    </a:lnB>
                    <a:noFill/>
                  </a:tcPr>
                </a:tc>
                <a:tc>
                  <a:txBody>
                    <a:bodyPr/>
                    <a:lstStyle/>
                    <a:p>
                      <a:r>
                        <a:rPr lang="en-GB" sz="1000" noProof="0" dirty="0">
                          <a:solidFill>
                            <a:schemeClr val="bg1"/>
                          </a:solidFill>
                          <a:effectLst/>
                          <a:latin typeface="Calibri" panose="020F0502020204030204" pitchFamily="34" charset="0"/>
                          <a:cs typeface="Calibri" panose="020F0502020204030204" pitchFamily="34" charset="0"/>
                        </a:rPr>
                        <a:t>so 2 and 10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006170939"/>
                  </a:ext>
                </a:extLst>
              </a:tr>
              <a:tr h="162338">
                <a:tc>
                  <a:txBody>
                    <a:bodyPr/>
                    <a:lstStyle/>
                    <a:p>
                      <a:r>
                        <a:rPr lang="en-GB" sz="1000" noProof="0" dirty="0">
                          <a:solidFill>
                            <a:schemeClr val="bg1"/>
                          </a:solidFill>
                          <a:effectLst/>
                          <a:latin typeface="Calibri" panose="020F0502020204030204" pitchFamily="34" charset="0"/>
                          <a:cs typeface="Calibri" panose="020F0502020204030204" pitchFamily="34" charset="0"/>
                        </a:rPr>
                        <a:t>4 × 5 = 20</a:t>
                      </a:r>
                    </a:p>
                  </a:txBody>
                  <a:tcPr marL="6879" marR="6879" marT="6879" marB="6879" anchor="ctr">
                    <a:lnL>
                      <a:noFill/>
                    </a:lnL>
                    <a:lnR>
                      <a:noFill/>
                    </a:lnR>
                    <a:lnT>
                      <a:noFill/>
                    </a:lnT>
                    <a:lnB>
                      <a:noFill/>
                    </a:lnB>
                    <a:noFill/>
                  </a:tcPr>
                </a:tc>
                <a:tc>
                  <a:txBody>
                    <a:bodyPr/>
                    <a:lstStyle/>
                    <a:p>
                      <a:r>
                        <a:rPr lang="en-GB" sz="1000" noProof="0" dirty="0">
                          <a:solidFill>
                            <a:schemeClr val="bg1"/>
                          </a:solidFill>
                          <a:effectLst/>
                          <a:latin typeface="Calibri" panose="020F0502020204030204" pitchFamily="34" charset="0"/>
                          <a:cs typeface="Calibri" panose="020F0502020204030204" pitchFamily="34" charset="0"/>
                        </a:rPr>
                        <a:t>so 4 and 5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2319069970"/>
                  </a:ext>
                </a:extLst>
              </a:tr>
            </a:tbl>
          </a:graphicData>
        </a:graphic>
      </p:graphicFrame>
      <p:cxnSp>
        <p:nvCxnSpPr>
          <p:cNvPr id="87" name="Straight Connector 86">
            <a:extLst>
              <a:ext uri="{FF2B5EF4-FFF2-40B4-BE49-F238E27FC236}">
                <a16:creationId xmlns:a16="http://schemas.microsoft.com/office/drawing/2014/main" id="{1FBA791A-FC4B-CABC-0658-3821DDB0E3AE}"/>
              </a:ext>
            </a:extLst>
          </p:cNvPr>
          <p:cNvCxnSpPr/>
          <p:nvPr/>
        </p:nvCxnSpPr>
        <p:spPr>
          <a:xfrm flipV="1">
            <a:off x="985418" y="9120231"/>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8" name="Rectangle 87">
            <a:extLst>
              <a:ext uri="{FF2B5EF4-FFF2-40B4-BE49-F238E27FC236}">
                <a16:creationId xmlns:a16="http://schemas.microsoft.com/office/drawing/2014/main" id="{321967A2-901C-270F-445E-79859DDB4107}"/>
              </a:ext>
            </a:extLst>
          </p:cNvPr>
          <p:cNvSpPr/>
          <p:nvPr/>
        </p:nvSpPr>
        <p:spPr>
          <a:xfrm>
            <a:off x="130738" y="7189636"/>
            <a:ext cx="6654034" cy="2459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89" name="Straight Connector 88">
            <a:extLst>
              <a:ext uri="{FF2B5EF4-FFF2-40B4-BE49-F238E27FC236}">
                <a16:creationId xmlns:a16="http://schemas.microsoft.com/office/drawing/2014/main" id="{BB12CEB4-921E-1774-5D1F-916336A273CF}"/>
              </a:ext>
            </a:extLst>
          </p:cNvPr>
          <p:cNvCxnSpPr>
            <a:stCxn id="88" idx="1"/>
            <a:endCxn id="88" idx="3"/>
          </p:cNvCxnSpPr>
          <p:nvPr/>
        </p:nvCxnSpPr>
        <p:spPr>
          <a:xfrm>
            <a:off x="130738" y="8419278"/>
            <a:ext cx="6654034" cy="0"/>
          </a:xfrm>
          <a:prstGeom prst="line">
            <a:avLst/>
          </a:prstGeom>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0F4223FA-4188-B85E-45FF-237054C113C9}"/>
              </a:ext>
            </a:extLst>
          </p:cNvPr>
          <p:cNvCxnSpPr>
            <a:stCxn id="88" idx="2"/>
            <a:endCxn id="88" idx="0"/>
          </p:cNvCxnSpPr>
          <p:nvPr/>
        </p:nvCxnSpPr>
        <p:spPr>
          <a:xfrm flipV="1">
            <a:off x="3457755" y="7189636"/>
            <a:ext cx="0" cy="2459284"/>
          </a:xfrm>
          <a:prstGeom prst="line">
            <a:avLst/>
          </a:prstGeom>
        </p:spPr>
        <p:style>
          <a:lnRef idx="1">
            <a:schemeClr val="dk1"/>
          </a:lnRef>
          <a:fillRef idx="0">
            <a:schemeClr val="dk1"/>
          </a:fillRef>
          <a:effectRef idx="0">
            <a:schemeClr val="dk1"/>
          </a:effectRef>
          <a:fontRef idx="minor">
            <a:schemeClr val="tx1"/>
          </a:fontRef>
        </p:style>
      </p:cxnSp>
      <p:sp>
        <p:nvSpPr>
          <p:cNvPr id="91" name="TextBox 90">
            <a:extLst>
              <a:ext uri="{FF2B5EF4-FFF2-40B4-BE49-F238E27FC236}">
                <a16:creationId xmlns:a16="http://schemas.microsoft.com/office/drawing/2014/main" id="{9F097476-D6E4-39E5-2183-23046721E438}"/>
              </a:ext>
            </a:extLst>
          </p:cNvPr>
          <p:cNvSpPr txBox="1"/>
          <p:nvPr/>
        </p:nvSpPr>
        <p:spPr>
          <a:xfrm>
            <a:off x="148492" y="7189635"/>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92" name="TextBox 91">
            <a:extLst>
              <a:ext uri="{FF2B5EF4-FFF2-40B4-BE49-F238E27FC236}">
                <a16:creationId xmlns:a16="http://schemas.microsoft.com/office/drawing/2014/main" id="{B53D2AD2-5D2F-F9B2-FE01-DD9ED0B353C5}"/>
              </a:ext>
            </a:extLst>
          </p:cNvPr>
          <p:cNvSpPr txBox="1"/>
          <p:nvPr/>
        </p:nvSpPr>
        <p:spPr>
          <a:xfrm>
            <a:off x="5672543" y="7157249"/>
            <a:ext cx="1112228" cy="276999"/>
          </a:xfrm>
          <a:prstGeom prst="rect">
            <a:avLst/>
          </a:prstGeom>
          <a:noFill/>
        </p:spPr>
        <p:txBody>
          <a:bodyPr wrap="none" rtlCol="0">
            <a:spAutoFit/>
          </a:bodyPr>
          <a:lstStyle/>
          <a:p>
            <a:r>
              <a:rPr lang="en-GB" sz="1200" b="1" noProof="0" dirty="0"/>
              <a:t>Characteristics</a:t>
            </a:r>
          </a:p>
        </p:txBody>
      </p:sp>
      <p:sp>
        <p:nvSpPr>
          <p:cNvPr id="93" name="TextBox 92">
            <a:extLst>
              <a:ext uri="{FF2B5EF4-FFF2-40B4-BE49-F238E27FC236}">
                <a16:creationId xmlns:a16="http://schemas.microsoft.com/office/drawing/2014/main" id="{26F04805-222B-0CA9-4318-FEBF7C2A7B44}"/>
              </a:ext>
            </a:extLst>
          </p:cNvPr>
          <p:cNvSpPr txBox="1"/>
          <p:nvPr/>
        </p:nvSpPr>
        <p:spPr>
          <a:xfrm>
            <a:off x="163639" y="8447643"/>
            <a:ext cx="788164" cy="276999"/>
          </a:xfrm>
          <a:prstGeom prst="rect">
            <a:avLst/>
          </a:prstGeom>
          <a:noFill/>
        </p:spPr>
        <p:txBody>
          <a:bodyPr wrap="none" rtlCol="0">
            <a:spAutoFit/>
          </a:bodyPr>
          <a:lstStyle/>
          <a:p>
            <a:r>
              <a:rPr lang="en-GB" sz="1200" b="1" noProof="0" dirty="0"/>
              <a:t>Examples</a:t>
            </a:r>
          </a:p>
        </p:txBody>
      </p:sp>
      <p:sp>
        <p:nvSpPr>
          <p:cNvPr id="94" name="TextBox 93">
            <a:extLst>
              <a:ext uri="{FF2B5EF4-FFF2-40B4-BE49-F238E27FC236}">
                <a16:creationId xmlns:a16="http://schemas.microsoft.com/office/drawing/2014/main" id="{E7E4332C-D3D0-3C7A-664B-4CE4AAF07F11}"/>
              </a:ext>
            </a:extLst>
          </p:cNvPr>
          <p:cNvSpPr txBox="1"/>
          <p:nvPr/>
        </p:nvSpPr>
        <p:spPr>
          <a:xfrm>
            <a:off x="5601056" y="8423262"/>
            <a:ext cx="1172885" cy="276999"/>
          </a:xfrm>
          <a:prstGeom prst="rect">
            <a:avLst/>
          </a:prstGeom>
          <a:noFill/>
        </p:spPr>
        <p:txBody>
          <a:bodyPr wrap="none" rtlCol="0">
            <a:spAutoFit/>
          </a:bodyPr>
          <a:lstStyle/>
          <a:p>
            <a:r>
              <a:rPr lang="en-GB" sz="1200" b="1" noProof="0" dirty="0"/>
              <a:t>Non - Examples</a:t>
            </a:r>
          </a:p>
        </p:txBody>
      </p:sp>
      <p:sp>
        <p:nvSpPr>
          <p:cNvPr id="95" name="TextBox 94">
            <a:extLst>
              <a:ext uri="{FF2B5EF4-FFF2-40B4-BE49-F238E27FC236}">
                <a16:creationId xmlns:a16="http://schemas.microsoft.com/office/drawing/2014/main" id="{5393360D-B5F0-C688-1AD3-2FC5E5A0CC15}"/>
              </a:ext>
            </a:extLst>
          </p:cNvPr>
          <p:cNvSpPr txBox="1"/>
          <p:nvPr/>
        </p:nvSpPr>
        <p:spPr>
          <a:xfrm>
            <a:off x="260792" y="7581548"/>
            <a:ext cx="3230335" cy="646331"/>
          </a:xfrm>
          <a:prstGeom prst="rect">
            <a:avLst/>
          </a:prstGeom>
          <a:noFill/>
        </p:spPr>
        <p:txBody>
          <a:bodyPr wrap="square" rtlCol="0">
            <a:spAutoFit/>
          </a:bodyPr>
          <a:lstStyle/>
          <a:p>
            <a:r>
              <a:rPr lang="en-GB" sz="1200" noProof="0" dirty="0"/>
              <a:t>A fraction represents a proportion - the number of parts of a whole when the whole has been split into equal parts. </a:t>
            </a:r>
          </a:p>
        </p:txBody>
      </p:sp>
      <p:sp>
        <p:nvSpPr>
          <p:cNvPr id="96" name="TextBox 95">
            <a:extLst>
              <a:ext uri="{FF2B5EF4-FFF2-40B4-BE49-F238E27FC236}">
                <a16:creationId xmlns:a16="http://schemas.microsoft.com/office/drawing/2014/main" id="{0975A043-A0A7-90BC-B2CD-21284251DB31}"/>
              </a:ext>
            </a:extLst>
          </p:cNvPr>
          <p:cNvSpPr txBox="1"/>
          <p:nvPr/>
        </p:nvSpPr>
        <p:spPr>
          <a:xfrm>
            <a:off x="3545374" y="7342469"/>
            <a:ext cx="3230335" cy="1200329"/>
          </a:xfrm>
          <a:prstGeom prst="rect">
            <a:avLst/>
          </a:prstGeom>
          <a:noFill/>
        </p:spPr>
        <p:txBody>
          <a:bodyPr wrap="square" rtlCol="0">
            <a:spAutoFit/>
          </a:bodyPr>
          <a:lstStyle/>
          <a:p>
            <a:pPr marL="171450" indent="-171450">
              <a:buFont typeface="Arial" panose="020B0604020202020204" pitchFamily="34" charset="0"/>
              <a:buChar char="•"/>
            </a:pPr>
            <a:r>
              <a:rPr lang="en-GB" sz="1200" noProof="0" dirty="0"/>
              <a:t>The numerator (top number) represents number of parts.</a:t>
            </a:r>
          </a:p>
          <a:p>
            <a:pPr marL="171450" indent="-171450">
              <a:buFont typeface="Arial" panose="020B0604020202020204" pitchFamily="34" charset="0"/>
              <a:buChar char="•"/>
            </a:pPr>
            <a:r>
              <a:rPr lang="en-GB" sz="1200" noProof="0" dirty="0"/>
              <a:t>The denominator (bottom number) represents how many parts in the whole.</a:t>
            </a:r>
          </a:p>
          <a:p>
            <a:pPr marL="171450" indent="-171450">
              <a:buFont typeface="Arial" panose="020B0604020202020204" pitchFamily="34" charset="0"/>
              <a:buChar char="•"/>
            </a:pPr>
            <a:r>
              <a:rPr lang="en-GB" sz="1200" noProof="0" dirty="0"/>
              <a:t>Each part must be equal.</a:t>
            </a:r>
          </a:p>
          <a:p>
            <a:pPr marL="171450" indent="-171450">
              <a:buFont typeface="Arial" panose="020B0604020202020204" pitchFamily="34" charset="0"/>
              <a:buChar char="•"/>
            </a:pPr>
            <a:endParaRPr lang="en-GB" sz="1200" noProof="0" dirty="0"/>
          </a:p>
        </p:txBody>
      </p:sp>
      <p:sp>
        <p:nvSpPr>
          <p:cNvPr id="97" name="TextBox 96">
            <a:extLst>
              <a:ext uri="{FF2B5EF4-FFF2-40B4-BE49-F238E27FC236}">
                <a16:creationId xmlns:a16="http://schemas.microsoft.com/office/drawing/2014/main" id="{977AAAFA-7E7A-EB32-2B81-E0D5AD98577E}"/>
              </a:ext>
            </a:extLst>
          </p:cNvPr>
          <p:cNvSpPr txBox="1"/>
          <p:nvPr/>
        </p:nvSpPr>
        <p:spPr>
          <a:xfrm>
            <a:off x="2898181" y="8296387"/>
            <a:ext cx="1037528" cy="369332"/>
          </a:xfrm>
          <a:prstGeom prst="rect">
            <a:avLst/>
          </a:prstGeom>
          <a:solidFill>
            <a:schemeClr val="bg1"/>
          </a:solidFill>
          <a:ln>
            <a:solidFill>
              <a:schemeClr val="tx1"/>
            </a:solidFill>
          </a:ln>
        </p:spPr>
        <p:txBody>
          <a:bodyPr wrap="none" rtlCol="0">
            <a:spAutoFit/>
          </a:bodyPr>
          <a:lstStyle/>
          <a:p>
            <a:r>
              <a:rPr lang="en-GB" noProof="0" dirty="0"/>
              <a:t>Fractions</a:t>
            </a:r>
          </a:p>
        </p:txBody>
      </p:sp>
      <p:sp>
        <p:nvSpPr>
          <p:cNvPr id="98" name="TextBox 97">
            <a:extLst>
              <a:ext uri="{FF2B5EF4-FFF2-40B4-BE49-F238E27FC236}">
                <a16:creationId xmlns:a16="http://schemas.microsoft.com/office/drawing/2014/main" id="{87C7880F-45C7-5C73-4D03-21CA7E490AFF}"/>
              </a:ext>
            </a:extLst>
          </p:cNvPr>
          <p:cNvSpPr txBox="1"/>
          <p:nvPr/>
        </p:nvSpPr>
        <p:spPr>
          <a:xfrm>
            <a:off x="4480794" y="8957081"/>
            <a:ext cx="508012" cy="338554"/>
          </a:xfrm>
          <a:prstGeom prst="rect">
            <a:avLst/>
          </a:prstGeom>
          <a:noFill/>
        </p:spPr>
        <p:txBody>
          <a:bodyPr wrap="square" rtlCol="0">
            <a:spAutoFit/>
          </a:bodyPr>
          <a:lstStyle/>
          <a:p>
            <a:r>
              <a:rPr lang="en-GB" sz="1600" noProof="0" dirty="0"/>
              <a:t>= ⅕</a:t>
            </a:r>
          </a:p>
        </p:txBody>
      </p:sp>
      <p:pic>
        <p:nvPicPr>
          <p:cNvPr id="99" name="Picture 98">
            <a:extLst>
              <a:ext uri="{FF2B5EF4-FFF2-40B4-BE49-F238E27FC236}">
                <a16:creationId xmlns:a16="http://schemas.microsoft.com/office/drawing/2014/main" id="{7DC34114-7F6D-9131-195A-A7A69AE53DA1}"/>
              </a:ext>
            </a:extLst>
          </p:cNvPr>
          <p:cNvPicPr>
            <a:picLocks noChangeAspect="1"/>
          </p:cNvPicPr>
          <p:nvPr/>
        </p:nvPicPr>
        <p:blipFill>
          <a:blip r:embed="rId3"/>
          <a:stretch>
            <a:fillRect/>
          </a:stretch>
        </p:blipFill>
        <p:spPr>
          <a:xfrm>
            <a:off x="5167088" y="8712222"/>
            <a:ext cx="936964" cy="855724"/>
          </a:xfrm>
          <a:prstGeom prst="rect">
            <a:avLst/>
          </a:prstGeom>
        </p:spPr>
      </p:pic>
      <p:sp>
        <p:nvSpPr>
          <p:cNvPr id="100" name="TextBox 99">
            <a:extLst>
              <a:ext uri="{FF2B5EF4-FFF2-40B4-BE49-F238E27FC236}">
                <a16:creationId xmlns:a16="http://schemas.microsoft.com/office/drawing/2014/main" id="{0735C08B-4686-DB1A-D9AE-A838DFFB09BA}"/>
              </a:ext>
            </a:extLst>
          </p:cNvPr>
          <p:cNvSpPr txBox="1"/>
          <p:nvPr/>
        </p:nvSpPr>
        <p:spPr>
          <a:xfrm>
            <a:off x="6065996" y="8924466"/>
            <a:ext cx="508012" cy="338554"/>
          </a:xfrm>
          <a:prstGeom prst="rect">
            <a:avLst/>
          </a:prstGeom>
          <a:noFill/>
        </p:spPr>
        <p:txBody>
          <a:bodyPr wrap="square" rtlCol="0">
            <a:spAutoFit/>
          </a:bodyPr>
          <a:lstStyle/>
          <a:p>
            <a:r>
              <a:rPr lang="en-GB" sz="1600" noProof="0" dirty="0"/>
              <a:t>= 3</a:t>
            </a:r>
          </a:p>
        </p:txBody>
      </p:sp>
      <p:pic>
        <p:nvPicPr>
          <p:cNvPr id="101" name="Picture 100">
            <a:extLst>
              <a:ext uri="{FF2B5EF4-FFF2-40B4-BE49-F238E27FC236}">
                <a16:creationId xmlns:a16="http://schemas.microsoft.com/office/drawing/2014/main" id="{ADB0A0CA-1A1C-471F-A3CA-ABCC10D1B795}"/>
              </a:ext>
            </a:extLst>
          </p:cNvPr>
          <p:cNvPicPr>
            <a:picLocks noChangeAspect="1"/>
          </p:cNvPicPr>
          <p:nvPr/>
        </p:nvPicPr>
        <p:blipFill>
          <a:blip r:embed="rId4"/>
          <a:stretch>
            <a:fillRect/>
          </a:stretch>
        </p:blipFill>
        <p:spPr>
          <a:xfrm>
            <a:off x="301739" y="8740851"/>
            <a:ext cx="776530" cy="821330"/>
          </a:xfrm>
          <a:prstGeom prst="rect">
            <a:avLst/>
          </a:prstGeom>
        </p:spPr>
      </p:pic>
      <p:sp>
        <p:nvSpPr>
          <p:cNvPr id="102" name="TextBox 101">
            <a:extLst>
              <a:ext uri="{FF2B5EF4-FFF2-40B4-BE49-F238E27FC236}">
                <a16:creationId xmlns:a16="http://schemas.microsoft.com/office/drawing/2014/main" id="{A99F744D-C738-6BAF-B252-5C2715A42041}"/>
              </a:ext>
            </a:extLst>
          </p:cNvPr>
          <p:cNvSpPr txBox="1"/>
          <p:nvPr/>
        </p:nvSpPr>
        <p:spPr>
          <a:xfrm>
            <a:off x="1049387" y="8928889"/>
            <a:ext cx="508012" cy="338554"/>
          </a:xfrm>
          <a:prstGeom prst="rect">
            <a:avLst/>
          </a:prstGeom>
          <a:noFill/>
        </p:spPr>
        <p:txBody>
          <a:bodyPr wrap="square" rtlCol="0">
            <a:spAutoFit/>
          </a:bodyPr>
          <a:lstStyle/>
          <a:p>
            <a:r>
              <a:rPr lang="en-GB" sz="1600" noProof="0" dirty="0"/>
              <a:t>= ⅔</a:t>
            </a:r>
          </a:p>
        </p:txBody>
      </p:sp>
      <p:pic>
        <p:nvPicPr>
          <p:cNvPr id="103" name="Picture 102">
            <a:extLst>
              <a:ext uri="{FF2B5EF4-FFF2-40B4-BE49-F238E27FC236}">
                <a16:creationId xmlns:a16="http://schemas.microsoft.com/office/drawing/2014/main" id="{DF411091-DC73-9921-BB8C-2168295240F2}"/>
              </a:ext>
            </a:extLst>
          </p:cNvPr>
          <p:cNvPicPr>
            <a:picLocks noChangeAspect="1"/>
          </p:cNvPicPr>
          <p:nvPr/>
        </p:nvPicPr>
        <p:blipFill>
          <a:blip r:embed="rId3"/>
          <a:stretch>
            <a:fillRect/>
          </a:stretch>
        </p:blipFill>
        <p:spPr>
          <a:xfrm>
            <a:off x="1694799" y="8744837"/>
            <a:ext cx="886133" cy="809300"/>
          </a:xfrm>
          <a:prstGeom prst="rect">
            <a:avLst/>
          </a:prstGeom>
        </p:spPr>
      </p:pic>
      <p:sp>
        <p:nvSpPr>
          <p:cNvPr id="104" name="TextBox 103">
            <a:extLst>
              <a:ext uri="{FF2B5EF4-FFF2-40B4-BE49-F238E27FC236}">
                <a16:creationId xmlns:a16="http://schemas.microsoft.com/office/drawing/2014/main" id="{989A6C75-A32C-BB90-B886-E8F3DEEA1757}"/>
              </a:ext>
            </a:extLst>
          </p:cNvPr>
          <p:cNvSpPr txBox="1"/>
          <p:nvPr/>
        </p:nvSpPr>
        <p:spPr>
          <a:xfrm>
            <a:off x="2570547" y="8948077"/>
            <a:ext cx="508012" cy="338554"/>
          </a:xfrm>
          <a:prstGeom prst="rect">
            <a:avLst/>
          </a:prstGeom>
          <a:noFill/>
        </p:spPr>
        <p:txBody>
          <a:bodyPr wrap="square" rtlCol="0">
            <a:spAutoFit/>
          </a:bodyPr>
          <a:lstStyle/>
          <a:p>
            <a:r>
              <a:rPr lang="en-GB" sz="1600" noProof="0" dirty="0"/>
              <a:t>= 1</a:t>
            </a:r>
          </a:p>
        </p:txBody>
      </p:sp>
      <p:pic>
        <p:nvPicPr>
          <p:cNvPr id="105" name="Picture 104">
            <a:extLst>
              <a:ext uri="{FF2B5EF4-FFF2-40B4-BE49-F238E27FC236}">
                <a16:creationId xmlns:a16="http://schemas.microsoft.com/office/drawing/2014/main" id="{59B5D735-15F9-BA33-ABB7-A7DCB67E7292}"/>
              </a:ext>
            </a:extLst>
          </p:cNvPr>
          <p:cNvPicPr>
            <a:picLocks noChangeAspect="1"/>
          </p:cNvPicPr>
          <p:nvPr/>
        </p:nvPicPr>
        <p:blipFill>
          <a:blip r:embed="rId5"/>
          <a:stretch>
            <a:fillRect/>
          </a:stretch>
        </p:blipFill>
        <p:spPr>
          <a:xfrm>
            <a:off x="3669311" y="8695589"/>
            <a:ext cx="847960" cy="864189"/>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71FF107-DE2B-BC4F-59E1-157DD67C274D}"/>
                  </a:ext>
                </a:extLst>
              </p:cNvPr>
              <p:cNvSpPr txBox="1"/>
              <p:nvPr/>
            </p:nvSpPr>
            <p:spPr>
              <a:xfrm>
                <a:off x="102618" y="2094901"/>
                <a:ext cx="6675899" cy="4990790"/>
              </a:xfrm>
              <a:prstGeom prst="rect">
                <a:avLst/>
              </a:prstGeom>
              <a:noFill/>
              <a:ln>
                <a:solidFill>
                  <a:schemeClr val="tx1"/>
                </a:solidFill>
              </a:ln>
            </p:spPr>
            <p:txBody>
              <a:bodyPr wrap="square" rtlCol="0">
                <a:spAutoFit/>
              </a:bodyPr>
              <a:lstStyle/>
              <a:p>
                <a:r>
                  <a:rPr lang="en-GB" sz="1200" noProof="0" dirty="0"/>
                  <a:t>An algebraic fraction is a fraction that has an algebraic term/expression in either the numerator, denominator or both. In a previous unit, we learned how to deal with simple algebraic fractions involving only single terms in the numerator or denominator. In this unit we will learn how to solve problems involving more complex algebraic fractions.</a:t>
                </a:r>
              </a:p>
              <a:p>
                <a:endParaRPr lang="en-GB" sz="1200" noProof="0" dirty="0"/>
              </a:p>
              <a:p>
                <a:r>
                  <a:rPr lang="en-GB" sz="1200" noProof="0" dirty="0"/>
                  <a:t>There are two types of expressions where it is unclear whether we should classify them as algebraic fractions or not:</a:t>
                </a:r>
              </a:p>
              <a:p>
                <a:endParaRPr lang="en-GB" sz="1200" noProof="0" dirty="0"/>
              </a:p>
              <a:p>
                <a:pPr marL="171450" lvl="0" indent="-171450">
                  <a:buFont typeface="Arial" panose="020B0604020202020204" pitchFamily="34" charset="0"/>
                  <a:buChar char="•"/>
                </a:pPr>
                <a:r>
                  <a:rPr lang="en-GB" sz="1200" noProof="0" dirty="0"/>
                  <a:t>A fraction of the form </a:t>
                </a:r>
                <a14:m>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𝑎𝑥</m:t>
                        </m:r>
                      </m:num>
                      <m:den>
                        <m:r>
                          <a:rPr lang="en-GB" sz="1200" i="1" noProof="0">
                            <a:latin typeface="Cambria Math" panose="02040503050406030204" pitchFamily="18" charset="0"/>
                          </a:rPr>
                          <m:t>𝑏</m:t>
                        </m:r>
                      </m:den>
                    </m:f>
                  </m:oMath>
                </a14:m>
                <a:r>
                  <a:rPr lang="en-GB" sz="1200" noProof="0" dirty="0"/>
                  <a:t> can be written as </a:t>
                </a:r>
                <a14:m>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𝑎</m:t>
                        </m:r>
                      </m:num>
                      <m:den>
                        <m:r>
                          <a:rPr lang="en-GB" sz="1200" i="1" noProof="0">
                            <a:latin typeface="Cambria Math" panose="02040503050406030204" pitchFamily="18" charset="0"/>
                          </a:rPr>
                          <m:t>𝑏</m:t>
                        </m:r>
                      </m:den>
                    </m:f>
                    <m:r>
                      <a:rPr lang="en-GB" sz="1200" i="1" noProof="0">
                        <a:latin typeface="Cambria Math" panose="02040503050406030204" pitchFamily="18" charset="0"/>
                      </a:rPr>
                      <m:t>𝑥</m:t>
                    </m:r>
                  </m:oMath>
                </a14:m>
                <a:r>
                  <a:rPr lang="en-GB" sz="1200" noProof="0" dirty="0"/>
                  <a:t>. The first form fits our definition of an algebraic fraction, as it has a term in the denominator. The second form does not: it is just a variable with a fractional coefficient. Whether we will consider these terms as algebraic fractions or not will depend on the context.</a:t>
                </a:r>
              </a:p>
              <a:p>
                <a:pPr marL="171450" lvl="0" indent="-171450">
                  <a:buFont typeface="Arial" panose="020B0604020202020204" pitchFamily="34" charset="0"/>
                  <a:buChar char="•"/>
                </a:pPr>
                <a:endParaRPr lang="en-GB" sz="1200" noProof="0" dirty="0"/>
              </a:p>
              <a:p>
                <a:pPr marL="171450" lvl="0" indent="-171450">
                  <a:buFont typeface="Arial" panose="020B0604020202020204" pitchFamily="34" charset="0"/>
                  <a:buChar char="•"/>
                </a:pPr>
                <a:r>
                  <a:rPr lang="en-GB" sz="1200" noProof="0" dirty="0"/>
                  <a:t>An algebraic fraction that can be simplified. For example:</a:t>
                </a:r>
              </a:p>
              <a:p>
                <a:pPr marL="171450" lvl="0" indent="-171450">
                  <a:buFont typeface="Arial" panose="020B0604020202020204" pitchFamily="34" charset="0"/>
                  <a:buChar char="•"/>
                </a:pPr>
                <a:endParaRPr lang="en-GB" sz="1200" noProof="0" dirty="0"/>
              </a:p>
              <a:p>
                <a:pPr/>
                <a14:m>
                  <m:oMathPara xmlns:m="http://schemas.openxmlformats.org/officeDocument/2006/math">
                    <m:oMathParaPr>
                      <m:jc m:val="centerGroup"/>
                    </m:oMathParaPr>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6</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3</m:t>
                              </m:r>
                            </m:sup>
                          </m:sSup>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𝑦</m:t>
                              </m:r>
                            </m:e>
                            <m:sup>
                              <m:r>
                                <a:rPr lang="en-GB" sz="1200" i="1" noProof="0">
                                  <a:latin typeface="Cambria Math" panose="02040503050406030204" pitchFamily="18" charset="0"/>
                                </a:rPr>
                                <m:t>2</m:t>
                              </m:r>
                            </m:sup>
                          </m:sSup>
                        </m:num>
                        <m:den>
                          <m:r>
                            <a:rPr lang="en-GB" sz="1200" i="1" noProof="0">
                              <a:latin typeface="Cambria Math" panose="02040503050406030204" pitchFamily="18" charset="0"/>
                            </a:rPr>
                            <m:t>2</m:t>
                          </m:r>
                          <m:r>
                            <a:rPr lang="en-GB" sz="1200" i="1" noProof="0">
                              <a:latin typeface="Cambria Math" panose="02040503050406030204" pitchFamily="18" charset="0"/>
                            </a:rPr>
                            <m:t>𝑥</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𝑦</m:t>
                              </m:r>
                            </m:e>
                            <m:sup>
                              <m:r>
                                <a:rPr lang="en-GB" sz="1200" i="1" noProof="0">
                                  <a:latin typeface="Cambria Math" panose="02040503050406030204" pitchFamily="18" charset="0"/>
                                </a:rPr>
                                <m:t>2</m:t>
                              </m:r>
                            </m:sup>
                          </m:sSup>
                        </m:den>
                      </m:f>
                      <m:r>
                        <a:rPr lang="en-GB" sz="1200" i="1" noProof="0">
                          <a:latin typeface="Cambria Math" panose="02040503050406030204" pitchFamily="18" charset="0"/>
                        </a:rPr>
                        <m:t>≡3</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oMath>
                  </m:oMathPara>
                </a14:m>
                <a:endParaRPr lang="en-GB" sz="1200" noProof="0" dirty="0"/>
              </a:p>
              <a:p>
                <a:endParaRPr lang="en-GB" sz="1200" noProof="0" dirty="0"/>
              </a:p>
              <a:p>
                <a:r>
                  <a:rPr lang="en-GB" sz="1200" noProof="0" dirty="0"/>
                  <a:t>The fraction on the left has algebraic terms in both its numerator and denominator, so we could consider it an algebraic fraction. The simplified expression is not an algebraic fraction. </a:t>
                </a:r>
              </a:p>
              <a:p>
                <a:endParaRPr lang="en-GB" sz="1200" noProof="0" dirty="0"/>
              </a:p>
              <a:p>
                <a:r>
                  <a:rPr lang="en-GB" sz="1200" noProof="0" dirty="0"/>
                  <a:t>In higher tier GCSE, there are two broad categories of ‘algebraic fractions’ questions: the first involved evaluating and simplifying by accurately applying operations to fractions. The second involves solving equations involving algebraic fractions. Each of these families of questions can be relatively straightforward or extremely complicated – the following pages cover the full range of difficulty.</a:t>
                </a:r>
              </a:p>
            </p:txBody>
          </p:sp>
        </mc:Choice>
        <mc:Fallback xmlns="">
          <p:sp>
            <p:nvSpPr>
              <p:cNvPr id="2" name="TextBox 1">
                <a:extLst>
                  <a:ext uri="{FF2B5EF4-FFF2-40B4-BE49-F238E27FC236}">
                    <a16:creationId xmlns:a16="http://schemas.microsoft.com/office/drawing/2014/main" id="{C71FF107-DE2B-BC4F-59E1-157DD67C274D}"/>
                  </a:ext>
                </a:extLst>
              </p:cNvPr>
              <p:cNvSpPr txBox="1">
                <a:spLocks noRot="1" noChangeAspect="1" noMove="1" noResize="1" noEditPoints="1" noAdjustHandles="1" noChangeArrowheads="1" noChangeShapeType="1" noTextEdit="1"/>
              </p:cNvSpPr>
              <p:nvPr/>
            </p:nvSpPr>
            <p:spPr>
              <a:xfrm>
                <a:off x="102618" y="2094901"/>
                <a:ext cx="6675899" cy="4990790"/>
              </a:xfrm>
              <a:prstGeom prst="rect">
                <a:avLst/>
              </a:prstGeom>
              <a:blipFill>
                <a:blip r:embed="rId6"/>
                <a:stretch>
                  <a:fillRect r="-182"/>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290489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4" name="Table 23">
                <a:extLst>
                  <a:ext uri="{FF2B5EF4-FFF2-40B4-BE49-F238E27FC236}">
                    <a16:creationId xmlns:a16="http://schemas.microsoft.com/office/drawing/2014/main" id="{7695B750-E8AE-0965-8CA0-670C80ADDCE9}"/>
                  </a:ext>
                </a:extLst>
              </p:cNvPr>
              <p:cNvGraphicFramePr>
                <a:graphicFrameLocks noGrp="1"/>
              </p:cNvGraphicFramePr>
              <p:nvPr>
                <p:extLst>
                  <p:ext uri="{D42A27DB-BD31-4B8C-83A1-F6EECF244321}">
                    <p14:modId xmlns:p14="http://schemas.microsoft.com/office/powerpoint/2010/main" val="1461167234"/>
                  </p:ext>
                </p:extLst>
              </p:nvPr>
            </p:nvGraphicFramePr>
            <p:xfrm>
              <a:off x="101599" y="8785649"/>
              <a:ext cx="6565900" cy="972777"/>
            </p:xfrm>
            <a:graphic>
              <a:graphicData uri="http://schemas.openxmlformats.org/drawingml/2006/table">
                <a:tbl>
                  <a:tblPr firstRow="1" firstCol="1" bandRow="1">
                    <a:tableStyleId>{5C22544A-7EE6-4342-B048-85BDC9FD1C3A}</a:tableStyleId>
                  </a:tblPr>
                  <a:tblGrid>
                    <a:gridCol w="1641475">
                      <a:extLst>
                        <a:ext uri="{9D8B030D-6E8A-4147-A177-3AD203B41FA5}">
                          <a16:colId xmlns:a16="http://schemas.microsoft.com/office/drawing/2014/main" val="3082044314"/>
                        </a:ext>
                      </a:extLst>
                    </a:gridCol>
                    <a:gridCol w="1641475">
                      <a:extLst>
                        <a:ext uri="{9D8B030D-6E8A-4147-A177-3AD203B41FA5}">
                          <a16:colId xmlns:a16="http://schemas.microsoft.com/office/drawing/2014/main" val="2999308126"/>
                        </a:ext>
                      </a:extLst>
                    </a:gridCol>
                    <a:gridCol w="1641475">
                      <a:extLst>
                        <a:ext uri="{9D8B030D-6E8A-4147-A177-3AD203B41FA5}">
                          <a16:colId xmlns:a16="http://schemas.microsoft.com/office/drawing/2014/main" val="2540098112"/>
                        </a:ext>
                      </a:extLst>
                    </a:gridCol>
                    <a:gridCol w="1641475">
                      <a:extLst>
                        <a:ext uri="{9D8B030D-6E8A-4147-A177-3AD203B41FA5}">
                          <a16:colId xmlns:a16="http://schemas.microsoft.com/office/drawing/2014/main" val="3720403999"/>
                        </a:ext>
                      </a:extLst>
                    </a:gridCol>
                  </a:tblGrid>
                  <a:tr h="972777">
                    <a:tc>
                      <a:txBody>
                        <a:bodyPr/>
                        <a:lstStyle/>
                        <a:p>
                          <a:pPr>
                            <a:lnSpc>
                              <a:spcPct val="107000"/>
                            </a:lnSpc>
                            <a:spcAft>
                              <a:spcPts val="800"/>
                            </a:spcAft>
                            <a:buNone/>
                          </a:pPr>
                          <a:r>
                            <a:rPr lang="en-GB" sz="1000" noProof="0" dirty="0">
                              <a:solidFill>
                                <a:schemeClr val="tx1"/>
                              </a:solidFill>
                              <a:effectLst/>
                            </a:rPr>
                            <a:t>a) </a:t>
                          </a:r>
                          <a14:m>
                            <m:oMath xmlns:m="http://schemas.openxmlformats.org/officeDocument/2006/math">
                              <m:r>
                                <a:rPr lang="en-GB" sz="1000" noProof="0">
                                  <a:solidFill>
                                    <a:schemeClr val="tx1"/>
                                  </a:solidFill>
                                  <a:effectLst/>
                                  <a:latin typeface="Cambria Math" panose="02040503050406030204" pitchFamily="18" charset="0"/>
                                </a:rPr>
                                <m:t>45</m:t>
                              </m:r>
                              <m:sSup>
                                <m:sSupPr>
                                  <m:ctrlPr>
                                    <a:rPr lang="en-GB" sz="1000" i="1" noProof="0" smtClean="0">
                                      <a:solidFill>
                                        <a:schemeClr val="tx1"/>
                                      </a:solidFill>
                                      <a:effectLst/>
                                      <a:latin typeface="Cambria Math" panose="02040503050406030204" pitchFamily="18" charset="0"/>
                                    </a:rPr>
                                  </m:ctrlPr>
                                </m:sSupPr>
                                <m:e>
                                  <m:r>
                                    <a:rPr lang="en-GB" sz="1000" noProof="0">
                                      <a:solidFill>
                                        <a:schemeClr val="tx1"/>
                                      </a:solidFill>
                                      <a:effectLst/>
                                      <a:latin typeface="Cambria Math" panose="02040503050406030204" pitchFamily="18" charset="0"/>
                                    </a:rPr>
                                    <m:t>𝑥</m:t>
                                  </m:r>
                                </m:e>
                                <m:sup>
                                  <m:r>
                                    <a:rPr lang="en-GB" sz="1000" noProof="0">
                                      <a:solidFill>
                                        <a:schemeClr val="tx1"/>
                                      </a:solidFill>
                                      <a:effectLst/>
                                      <a:latin typeface="Cambria Math" panose="02040503050406030204" pitchFamily="18" charset="0"/>
                                    </a:rPr>
                                    <m:t>2</m:t>
                                  </m:r>
                                </m:sup>
                              </m:sSup>
                              <m:r>
                                <a:rPr lang="en-GB" sz="1000" noProof="0">
                                  <a:solidFill>
                                    <a:schemeClr val="tx1"/>
                                  </a:solidFill>
                                  <a:effectLst/>
                                  <a:latin typeface="Cambria Math" panose="02040503050406030204" pitchFamily="18" charset="0"/>
                                </a:rPr>
                                <m:t>+18</m:t>
                              </m:r>
                              <m:r>
                                <a:rPr lang="en-GB" sz="1000" noProof="0">
                                  <a:solidFill>
                                    <a:schemeClr val="tx1"/>
                                  </a:solidFill>
                                  <a:effectLst/>
                                  <a:latin typeface="Cambria Math" panose="02040503050406030204" pitchFamily="18" charset="0"/>
                                </a:rPr>
                                <m:t>𝑥</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b) </a:t>
                          </a:r>
                          <a14:m>
                            <m:oMath xmlns:m="http://schemas.openxmlformats.org/officeDocument/2006/math">
                              <m:r>
                                <a:rPr lang="en-GB" sz="1000" noProof="0">
                                  <a:solidFill>
                                    <a:schemeClr val="tx1"/>
                                  </a:solidFill>
                                  <a:effectLst/>
                                  <a:latin typeface="Cambria Math" panose="02040503050406030204" pitchFamily="18" charset="0"/>
                                </a:rPr>
                                <m:t>−6</m:t>
                              </m:r>
                              <m:sSup>
                                <m:sSupPr>
                                  <m:ctrlPr>
                                    <a:rPr lang="en-GB" sz="1000" i="1" noProof="0" smtClean="0">
                                      <a:solidFill>
                                        <a:schemeClr val="tx1"/>
                                      </a:solidFill>
                                      <a:effectLst/>
                                      <a:latin typeface="Cambria Math" panose="02040503050406030204" pitchFamily="18" charset="0"/>
                                    </a:rPr>
                                  </m:ctrlPr>
                                </m:sSupPr>
                                <m:e>
                                  <m:r>
                                    <a:rPr lang="en-GB" sz="1000" noProof="0">
                                      <a:solidFill>
                                        <a:schemeClr val="tx1"/>
                                      </a:solidFill>
                                      <a:effectLst/>
                                      <a:latin typeface="Cambria Math" panose="02040503050406030204" pitchFamily="18" charset="0"/>
                                    </a:rPr>
                                    <m:t>𝑥</m:t>
                                  </m:r>
                                </m:e>
                                <m:sup>
                                  <m:r>
                                    <a:rPr lang="en-GB" sz="1000" noProof="0">
                                      <a:solidFill>
                                        <a:schemeClr val="tx1"/>
                                      </a:solidFill>
                                      <a:effectLst/>
                                      <a:latin typeface="Cambria Math" panose="02040503050406030204" pitchFamily="18" charset="0"/>
                                    </a:rPr>
                                    <m:t>2</m:t>
                                  </m:r>
                                </m:sup>
                              </m:sSup>
                              <m:r>
                                <a:rPr lang="en-GB" sz="1000" noProof="0">
                                  <a:solidFill>
                                    <a:schemeClr val="tx1"/>
                                  </a:solidFill>
                                  <a:effectLst/>
                                  <a:latin typeface="Cambria Math" panose="02040503050406030204" pitchFamily="18" charset="0"/>
                                </a:rPr>
                                <m:t>+12</m:t>
                              </m:r>
                              <m:r>
                                <a:rPr lang="en-GB" sz="1000" noProof="0">
                                  <a:solidFill>
                                    <a:schemeClr val="tx1"/>
                                  </a:solidFill>
                                  <a:effectLst/>
                                  <a:latin typeface="Cambria Math" panose="02040503050406030204" pitchFamily="18" charset="0"/>
                                </a:rPr>
                                <m:t>𝑥</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c) </a:t>
                          </a:r>
                          <a14:m>
                            <m:oMath xmlns:m="http://schemas.openxmlformats.org/officeDocument/2006/math">
                              <m:r>
                                <a:rPr lang="en-GB" sz="1000" noProof="0">
                                  <a:solidFill>
                                    <a:schemeClr val="tx1"/>
                                  </a:solidFill>
                                  <a:effectLst/>
                                  <a:latin typeface="Cambria Math" panose="02040503050406030204" pitchFamily="18" charset="0"/>
                                </a:rPr>
                                <m:t>32</m:t>
                              </m:r>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−28</m:t>
                              </m:r>
                              <m:sSup>
                                <m:sSupPr>
                                  <m:ctrlPr>
                                    <a:rPr lang="en-GB" sz="1000" i="1" noProof="0" smtClean="0">
                                      <a:solidFill>
                                        <a:schemeClr val="tx1"/>
                                      </a:solidFill>
                                      <a:effectLst/>
                                      <a:latin typeface="Cambria Math" panose="02040503050406030204" pitchFamily="18" charset="0"/>
                                    </a:rPr>
                                  </m:ctrlPr>
                                </m:sSupPr>
                                <m:e>
                                  <m:r>
                                    <a:rPr lang="en-GB" sz="1000" noProof="0">
                                      <a:solidFill>
                                        <a:schemeClr val="tx1"/>
                                      </a:solidFill>
                                      <a:effectLst/>
                                      <a:latin typeface="Cambria Math" panose="02040503050406030204" pitchFamily="18" charset="0"/>
                                    </a:rPr>
                                    <m:t>𝑥</m:t>
                                  </m:r>
                                </m:e>
                                <m:sup>
                                  <m:r>
                                    <a:rPr lang="en-GB" sz="1000" noProof="0">
                                      <a:solidFill>
                                        <a:schemeClr val="tx1"/>
                                      </a:solidFill>
                                      <a:effectLst/>
                                      <a:latin typeface="Cambria Math" panose="02040503050406030204" pitchFamily="18" charset="0"/>
                                    </a:rPr>
                                    <m:t>2</m:t>
                                  </m:r>
                                </m:sup>
                              </m:sSup>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d) </a:t>
                          </a:r>
                          <a14:m>
                            <m:oMath xmlns:m="http://schemas.openxmlformats.org/officeDocument/2006/math">
                              <m:r>
                                <a:rPr lang="en-GB" sz="1000" noProof="0">
                                  <a:solidFill>
                                    <a:schemeClr val="tx1"/>
                                  </a:solidFill>
                                  <a:effectLst/>
                                  <a:latin typeface="Cambria Math" panose="02040503050406030204" pitchFamily="18" charset="0"/>
                                </a:rPr>
                                <m:t>5</m:t>
                              </m:r>
                              <m:r>
                                <a:rPr lang="en-GB" sz="1000" noProof="0">
                                  <a:solidFill>
                                    <a:schemeClr val="tx1"/>
                                  </a:solidFill>
                                  <a:effectLst/>
                                  <a:latin typeface="Cambria Math" panose="02040503050406030204" pitchFamily="18" charset="0"/>
                                </a:rPr>
                                <m:t>𝑥</m:t>
                              </m:r>
                              <m:d>
                                <m:dPr>
                                  <m:ctrlPr>
                                    <a:rPr lang="en-GB" sz="1000" i="1" noProof="0" smtClean="0">
                                      <a:solidFill>
                                        <a:schemeClr val="tx1"/>
                                      </a:solidFill>
                                      <a:effectLst/>
                                      <a:latin typeface="Cambria Math" panose="02040503050406030204" pitchFamily="18" charset="0"/>
                                    </a:rPr>
                                  </m:ctrlPr>
                                </m:dPr>
                                <m:e>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+3</m:t>
                                  </m:r>
                                </m:e>
                              </m:d>
                              <m:r>
                                <a:rPr lang="en-GB" sz="1000" noProof="0">
                                  <a:solidFill>
                                    <a:schemeClr val="tx1"/>
                                  </a:solidFill>
                                  <a:effectLst/>
                                  <a:latin typeface="Cambria Math" panose="02040503050406030204" pitchFamily="18" charset="0"/>
                                </a:rPr>
                                <m:t>+6</m:t>
                              </m:r>
                              <m:r>
                                <a:rPr lang="en-GB" sz="1000" noProof="0">
                                  <a:solidFill>
                                    <a:schemeClr val="tx1"/>
                                  </a:solidFill>
                                  <a:effectLst/>
                                  <a:latin typeface="Cambria Math" panose="02040503050406030204" pitchFamily="18" charset="0"/>
                                </a:rPr>
                                <m:t>𝑥</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775861"/>
                      </a:ext>
                    </a:extLst>
                  </a:tr>
                </a:tbl>
              </a:graphicData>
            </a:graphic>
          </p:graphicFrame>
        </mc:Choice>
        <mc:Fallback xmlns="">
          <p:graphicFrame>
            <p:nvGraphicFramePr>
              <p:cNvPr id="24" name="Table 23">
                <a:extLst>
                  <a:ext uri="{FF2B5EF4-FFF2-40B4-BE49-F238E27FC236}">
                    <a16:creationId xmlns:a16="http://schemas.microsoft.com/office/drawing/2014/main" id="{7695B750-E8AE-0965-8CA0-670C80ADDCE9}"/>
                  </a:ext>
                </a:extLst>
              </p:cNvPr>
              <p:cNvGraphicFramePr>
                <a:graphicFrameLocks noGrp="1"/>
              </p:cNvGraphicFramePr>
              <p:nvPr>
                <p:extLst>
                  <p:ext uri="{D42A27DB-BD31-4B8C-83A1-F6EECF244321}">
                    <p14:modId xmlns:p14="http://schemas.microsoft.com/office/powerpoint/2010/main" val="1461167234"/>
                  </p:ext>
                </p:extLst>
              </p:nvPr>
            </p:nvGraphicFramePr>
            <p:xfrm>
              <a:off x="101599" y="8785649"/>
              <a:ext cx="6565900" cy="972777"/>
            </p:xfrm>
            <a:graphic>
              <a:graphicData uri="http://schemas.openxmlformats.org/drawingml/2006/table">
                <a:tbl>
                  <a:tblPr firstRow="1" firstCol="1" bandRow="1">
                    <a:tableStyleId>{5C22544A-7EE6-4342-B048-85BDC9FD1C3A}</a:tableStyleId>
                  </a:tblPr>
                  <a:tblGrid>
                    <a:gridCol w="1641475">
                      <a:extLst>
                        <a:ext uri="{9D8B030D-6E8A-4147-A177-3AD203B41FA5}">
                          <a16:colId xmlns:a16="http://schemas.microsoft.com/office/drawing/2014/main" val="3082044314"/>
                        </a:ext>
                      </a:extLst>
                    </a:gridCol>
                    <a:gridCol w="1641475">
                      <a:extLst>
                        <a:ext uri="{9D8B030D-6E8A-4147-A177-3AD203B41FA5}">
                          <a16:colId xmlns:a16="http://schemas.microsoft.com/office/drawing/2014/main" val="2999308126"/>
                        </a:ext>
                      </a:extLst>
                    </a:gridCol>
                    <a:gridCol w="1641475">
                      <a:extLst>
                        <a:ext uri="{9D8B030D-6E8A-4147-A177-3AD203B41FA5}">
                          <a16:colId xmlns:a16="http://schemas.microsoft.com/office/drawing/2014/main" val="2540098112"/>
                        </a:ext>
                      </a:extLst>
                    </a:gridCol>
                    <a:gridCol w="1641475">
                      <a:extLst>
                        <a:ext uri="{9D8B030D-6E8A-4147-A177-3AD203B41FA5}">
                          <a16:colId xmlns:a16="http://schemas.microsoft.com/office/drawing/2014/main" val="3720403999"/>
                        </a:ext>
                      </a:extLst>
                    </a:gridCol>
                  </a:tblGrid>
                  <a:tr h="972777">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0" t="-3750" r="-300000" b="-1250"/>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43" t="-3750" r="-201115" b="-1250"/>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3750" r="-100370" b="-1250"/>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115" t="-3750" r="-743" b="-1250"/>
                          </a:stretch>
                        </a:blipFill>
                      </a:tcPr>
                    </a:tc>
                    <a:extLst>
                      <a:ext uri="{0D108BD9-81ED-4DB2-BD59-A6C34878D82A}">
                        <a16:rowId xmlns:a16="http://schemas.microsoft.com/office/drawing/2014/main" val="2470775861"/>
                      </a:ext>
                    </a:extLst>
                  </a:tr>
                </a:tbl>
              </a:graphicData>
            </a:graphic>
          </p:graphicFrame>
        </mc:Fallback>
      </mc:AlternateContent>
      <p:sp>
        <p:nvSpPr>
          <p:cNvPr id="2" name="Slide Number Placeholder 1">
            <a:extLst>
              <a:ext uri="{FF2B5EF4-FFF2-40B4-BE49-F238E27FC236}">
                <a16:creationId xmlns:a16="http://schemas.microsoft.com/office/drawing/2014/main" id="{7E6CD9A5-19BD-FF1A-6BDD-D0C543EE74A9}"/>
              </a:ext>
            </a:extLst>
          </p:cNvPr>
          <p:cNvSpPr>
            <a:spLocks noGrp="1"/>
          </p:cNvSpPr>
          <p:nvPr>
            <p:ph type="sldNum" sz="quarter" idx="12"/>
          </p:nvPr>
        </p:nvSpPr>
        <p:spPr>
          <a:xfrm>
            <a:off x="5314950" y="9530965"/>
            <a:ext cx="1543050" cy="527403"/>
          </a:xfrm>
        </p:spPr>
        <p:txBody>
          <a:bodyPr/>
          <a:lstStyle/>
          <a:p>
            <a:fld id="{9BD3B4A0-BFF9-422C-B253-48BA94BE2F5B}" type="slidenum">
              <a:rPr lang="en-GB" noProof="0" smtClean="0"/>
              <a:t>5</a:t>
            </a:fld>
            <a:endParaRPr lang="en-GB" noProof="0" dirty="0"/>
          </a:p>
        </p:txBody>
      </p:sp>
      <p:sp>
        <p:nvSpPr>
          <p:cNvPr id="3" name="TextBox 2">
            <a:extLst>
              <a:ext uri="{FF2B5EF4-FFF2-40B4-BE49-F238E27FC236}">
                <a16:creationId xmlns:a16="http://schemas.microsoft.com/office/drawing/2014/main" id="{47F6B1F3-ADF0-BCA2-B02F-27F3DCA78A6D}"/>
              </a:ext>
            </a:extLst>
          </p:cNvPr>
          <p:cNvSpPr txBox="1"/>
          <p:nvPr/>
        </p:nvSpPr>
        <p:spPr>
          <a:xfrm>
            <a:off x="0" y="0"/>
            <a:ext cx="1853584" cy="276999"/>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Writing in the correct form</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4B39EE9-AA91-A0FE-A380-8DEA9626ADC3}"/>
                  </a:ext>
                </a:extLst>
              </p:cNvPr>
              <p:cNvSpPr txBox="1"/>
              <p:nvPr/>
            </p:nvSpPr>
            <p:spPr>
              <a:xfrm>
                <a:off x="101600" y="276999"/>
                <a:ext cx="6565900" cy="4229556"/>
              </a:xfrm>
              <a:prstGeom prst="rect">
                <a:avLst/>
              </a:prstGeom>
              <a:noFill/>
              <a:ln>
                <a:solidFill>
                  <a:schemeClr val="tx1"/>
                </a:solidFill>
              </a:ln>
            </p:spPr>
            <p:txBody>
              <a:bodyPr wrap="square" rtlCol="0">
                <a:spAutoFit/>
              </a:bodyPr>
              <a:lstStyle/>
              <a:p>
                <a:r>
                  <a:rPr lang="en-GB" sz="1200" noProof="0" dirty="0"/>
                  <a:t>Later in this unit we will be asked to express algebraic fractions in a particular form - “write in the form…” is the most common way these questions are asked in your GCSE exam. </a:t>
                </a:r>
              </a:p>
              <a:p>
                <a:endParaRPr lang="en-GB" sz="1200" noProof="0" dirty="0"/>
              </a:p>
              <a:p>
                <a:r>
                  <a:rPr lang="en-GB" sz="1200" noProof="0" dirty="0"/>
                  <a:t>The skills required for this involve expanding brackets, factorising, and simplifying. We can practice these skills on individual expressions first, before applying them to algebraic fractions.</a:t>
                </a:r>
              </a:p>
              <a:p>
                <a:endParaRPr lang="en-GB" sz="1200" noProof="0" dirty="0"/>
              </a:p>
              <a:p>
                <a:r>
                  <a:rPr lang="en-GB" sz="1200" noProof="0" dirty="0"/>
                  <a:t>Look carefully at the questions in the following task, before deciding on your answer:</a:t>
                </a:r>
              </a:p>
              <a:p>
                <a:endParaRPr lang="en-GB" sz="1200" noProof="0" dirty="0"/>
              </a:p>
              <a:p>
                <a:r>
                  <a:rPr lang="en-GB" sz="1400" b="1" noProof="0" dirty="0"/>
                  <a:t>Task: </a:t>
                </a:r>
                <a:r>
                  <a:rPr lang="en-GB" sz="1400" noProof="0" dirty="0"/>
                  <a:t>Decide if the following expressions are in the correct form. If they are in correct form what are </a:t>
                </a:r>
                <a14:m>
                  <m:oMath xmlns:m="http://schemas.openxmlformats.org/officeDocument/2006/math">
                    <m:r>
                      <a:rPr lang="en-GB" sz="1400" i="1" noProof="0">
                        <a:latin typeface="Cambria Math" panose="02040503050406030204" pitchFamily="18" charset="0"/>
                      </a:rPr>
                      <m:t>𝑎</m:t>
                    </m:r>
                    <m:r>
                      <a:rPr lang="en-GB" sz="1400" i="1" noProof="0">
                        <a:latin typeface="Cambria Math" panose="02040503050406030204" pitchFamily="18" charset="0"/>
                      </a:rPr>
                      <m:t>, </m:t>
                    </m:r>
                    <m:r>
                      <a:rPr lang="en-GB" sz="1400" i="1" noProof="0">
                        <a:latin typeface="Cambria Math" panose="02040503050406030204" pitchFamily="18" charset="0"/>
                      </a:rPr>
                      <m:t>𝑏</m:t>
                    </m:r>
                  </m:oMath>
                </a14:m>
                <a:r>
                  <a:rPr lang="en-GB" sz="1400" noProof="0" dirty="0"/>
                  <a:t> and </a:t>
                </a:r>
                <a14:m>
                  <m:oMath xmlns:m="http://schemas.openxmlformats.org/officeDocument/2006/math">
                    <m:r>
                      <a:rPr lang="en-GB" sz="1400" i="1" noProof="0">
                        <a:latin typeface="Cambria Math" panose="02040503050406030204" pitchFamily="18" charset="0"/>
                      </a:rPr>
                      <m:t>𝑐</m:t>
                    </m:r>
                  </m:oMath>
                </a14:m>
                <a:r>
                  <a:rPr lang="en-GB" sz="1400" noProof="0" dirty="0"/>
                  <a:t>?</a:t>
                </a:r>
              </a:p>
              <a:p>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7</m:t>
                    </m:r>
                    <m:r>
                      <a:rPr lang="en-GB" sz="1400" i="1" noProof="0">
                        <a:latin typeface="Cambria Math" panose="02040503050406030204" pitchFamily="18" charset="0"/>
                      </a:rPr>
                      <m:t>𝑥</m:t>
                    </m:r>
                    <m:r>
                      <a:rPr lang="en-GB" sz="1400" i="1" noProof="0">
                        <a:latin typeface="Cambria Math" panose="02040503050406030204" pitchFamily="18" charset="0"/>
                      </a:rPr>
                      <m:t>+9</m:t>
                    </m:r>
                  </m:oMath>
                </a14:m>
                <a:r>
                  <a:rPr lang="en-GB" sz="1400" noProof="0" dirty="0"/>
                  <a:t> in the form </a:t>
                </a:r>
                <a14:m>
                  <m:oMath xmlns:m="http://schemas.openxmlformats.org/officeDocument/2006/math">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5</m:t>
                    </m:r>
                    <m:r>
                      <a:rPr lang="en-GB" sz="1400" i="1" noProof="0">
                        <a:latin typeface="Cambria Math" panose="02040503050406030204" pitchFamily="18" charset="0"/>
                      </a:rPr>
                      <m:t>𝑥</m:t>
                    </m:r>
                    <m:r>
                      <a:rPr lang="en-GB" sz="1400" i="1" noProof="0">
                        <a:latin typeface="Cambria Math" panose="02040503050406030204" pitchFamily="18" charset="0"/>
                      </a:rPr>
                      <m:t>−3</m:t>
                    </m:r>
                  </m:oMath>
                </a14:m>
                <a:r>
                  <a:rPr lang="en-GB" sz="1400" noProof="0" dirty="0"/>
                  <a:t> in the form </a:t>
                </a:r>
                <a14:m>
                  <m:oMath xmlns:m="http://schemas.openxmlformats.org/officeDocument/2006/math">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5</m:t>
                    </m:r>
                    <m:d>
                      <m:dPr>
                        <m:ctrlPr>
                          <a:rPr lang="en-GB" sz="1400" i="1" noProof="0" smtClean="0">
                            <a:latin typeface="Cambria Math" panose="02040503050406030204" pitchFamily="18" charset="0"/>
                          </a:rPr>
                        </m:ctrlPr>
                      </m:dPr>
                      <m:e>
                        <m:r>
                          <a:rPr lang="en-GB" sz="1400" i="1" noProof="0">
                            <a:latin typeface="Cambria Math" panose="02040503050406030204" pitchFamily="18" charset="0"/>
                          </a:rPr>
                          <m:t>2</m:t>
                        </m:r>
                        <m:r>
                          <a:rPr lang="en-GB" sz="1400" i="1" noProof="0">
                            <a:latin typeface="Cambria Math" panose="02040503050406030204" pitchFamily="18" charset="0"/>
                          </a:rPr>
                          <m:t>𝑥</m:t>
                        </m:r>
                        <m:r>
                          <a:rPr lang="en-GB" sz="1400" i="1" noProof="0">
                            <a:latin typeface="Cambria Math" panose="02040503050406030204" pitchFamily="18" charset="0"/>
                          </a:rPr>
                          <m:t>+3</m:t>
                        </m:r>
                      </m:e>
                    </m:d>
                  </m:oMath>
                </a14:m>
                <a:r>
                  <a:rPr lang="en-GB" sz="1400" noProof="0" dirty="0"/>
                  <a:t> in the form </a:t>
                </a:r>
                <a14:m>
                  <m:oMath xmlns:m="http://schemas.openxmlformats.org/officeDocument/2006/math">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4</m:t>
                    </m:r>
                    <m:sSup>
                      <m:sSupPr>
                        <m:ctrlPr>
                          <a:rPr lang="en-GB" sz="1400" i="1" noProof="0" smtClean="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−5</m:t>
                    </m:r>
                    <m:r>
                      <a:rPr lang="en-GB" sz="1400" i="1" noProof="0">
                        <a:latin typeface="Cambria Math" panose="02040503050406030204" pitchFamily="18" charset="0"/>
                      </a:rPr>
                      <m:t>𝑥</m:t>
                    </m:r>
                  </m:oMath>
                </a14:m>
                <a:r>
                  <a:rPr lang="en-GB" sz="1400" noProof="0" dirty="0"/>
                  <a:t> in the form </a:t>
                </a:r>
                <a14:m>
                  <m:oMath xmlns:m="http://schemas.openxmlformats.org/officeDocument/2006/math">
                    <m:r>
                      <a:rPr lang="en-GB" sz="1400" i="1" noProof="0">
                        <a:latin typeface="Cambria Math" panose="02040503050406030204" pitchFamily="18" charset="0"/>
                      </a:rPr>
                      <m:t>𝑥</m:t>
                    </m:r>
                    <m:r>
                      <a:rPr lang="en-GB" sz="1400" i="1" noProof="0">
                        <a:latin typeface="Cambria Math" panose="02040503050406030204" pitchFamily="18" charset="0"/>
                      </a:rPr>
                      <m:t>(</m:t>
                    </m:r>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4</m:t>
                    </m:r>
                    <m:sSup>
                      <m:sSupPr>
                        <m:ctrlPr>
                          <a:rPr lang="en-GB" sz="1400" i="1" noProof="0" smtClean="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−5</m:t>
                    </m:r>
                    <m:r>
                      <a:rPr lang="en-GB" sz="1400" i="1" noProof="0">
                        <a:latin typeface="Cambria Math" panose="02040503050406030204" pitchFamily="18" charset="0"/>
                      </a:rPr>
                      <m:t>𝑥</m:t>
                    </m:r>
                  </m:oMath>
                </a14:m>
                <a:r>
                  <a:rPr lang="en-GB" sz="1400" noProof="0" dirty="0"/>
                  <a:t> in the form </a:t>
                </a:r>
                <a14:m>
                  <m:oMath xmlns:m="http://schemas.openxmlformats.org/officeDocument/2006/math">
                    <m:r>
                      <a:rPr lang="en-GB" sz="1400" i="1" noProof="0">
                        <a:latin typeface="Cambria Math" panose="02040503050406030204" pitchFamily="18" charset="0"/>
                      </a:rPr>
                      <m:t>𝑎</m:t>
                    </m:r>
                    <m:sSup>
                      <m:sSupPr>
                        <m:ctrlPr>
                          <a:rPr lang="en-GB" sz="1400" i="1" noProof="0" smtClean="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m:t>
                    </m:r>
                    <m:r>
                      <a:rPr lang="en-GB" sz="1400" i="1" noProof="0">
                        <a:latin typeface="Cambria Math" panose="02040503050406030204" pitchFamily="18" charset="0"/>
                      </a:rPr>
                      <m:t>𝑏𝑥</m:t>
                    </m:r>
                  </m:oMath>
                </a14:m>
                <a:r>
                  <a:rPr lang="en-GB" sz="1400" noProof="0" dirty="0"/>
                  <a:t>?</a:t>
                </a:r>
              </a:p>
              <a:p>
                <a:pPr marL="342900" lvl="0" indent="-342900">
                  <a:buFont typeface="+mj-lt"/>
                  <a:buAutoNum type="alphaLcParenR"/>
                </a:pPr>
                <a:r>
                  <a:rPr lang="en-GB" sz="1400" noProof="0" dirty="0"/>
                  <a:t>Is </a:t>
                </a:r>
                <a14:m>
                  <m:oMath xmlns:m="http://schemas.openxmlformats.org/officeDocument/2006/math">
                    <m:f>
                      <m:fPr>
                        <m:ctrlPr>
                          <a:rPr lang="en-GB" sz="1400" i="1" noProof="0" smtClean="0">
                            <a:latin typeface="Cambria Math" panose="02040503050406030204" pitchFamily="18" charset="0"/>
                          </a:rPr>
                        </m:ctrlPr>
                      </m:fPr>
                      <m:num>
                        <m:r>
                          <a:rPr lang="en-GB" sz="1400" i="1" noProof="0">
                            <a:latin typeface="Cambria Math" panose="02040503050406030204" pitchFamily="18" charset="0"/>
                          </a:rPr>
                          <m:t>3</m:t>
                        </m:r>
                      </m:num>
                      <m:den>
                        <m:r>
                          <a:rPr lang="en-GB" sz="1400" i="1" noProof="0">
                            <a:latin typeface="Cambria Math" panose="02040503050406030204" pitchFamily="18" charset="0"/>
                          </a:rPr>
                          <m:t>5</m:t>
                        </m:r>
                      </m:den>
                    </m:f>
                    <m:r>
                      <a:rPr lang="en-GB" sz="1400" i="1" noProof="0">
                        <a:latin typeface="Cambria Math" panose="02040503050406030204" pitchFamily="18" charset="0"/>
                      </a:rPr>
                      <m:t>𝑥</m:t>
                    </m:r>
                    <m:r>
                      <a:rPr lang="en-GB" sz="1400" i="1" noProof="0">
                        <a:latin typeface="Cambria Math" panose="02040503050406030204" pitchFamily="18" charset="0"/>
                      </a:rPr>
                      <m:t>+2</m:t>
                    </m:r>
                  </m:oMath>
                </a14:m>
                <a:r>
                  <a:rPr lang="en-GB" sz="1400" noProof="0" dirty="0"/>
                  <a:t> in the form </a:t>
                </a:r>
                <a14:m>
                  <m:oMath xmlns:m="http://schemas.openxmlformats.org/officeDocument/2006/math">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lvl="0" indent="-342900">
                  <a:buFont typeface="+mj-lt"/>
                  <a:buAutoNum type="alphaLcParenR"/>
                </a:pPr>
                <a:r>
                  <a:rPr lang="en-GB" sz="1400" noProof="0" dirty="0"/>
                  <a:t>Is </a:t>
                </a:r>
                <a14:m>
                  <m:oMath xmlns:m="http://schemas.openxmlformats.org/officeDocument/2006/math">
                    <m:r>
                      <a:rPr lang="en-GB" sz="1400" i="1" noProof="0">
                        <a:latin typeface="Cambria Math" panose="02040503050406030204" pitchFamily="18" charset="0"/>
                      </a:rPr>
                      <m:t>𝑥</m:t>
                    </m:r>
                    <m:r>
                      <a:rPr lang="en-GB" sz="1400" i="1" noProof="0">
                        <a:latin typeface="Cambria Math" panose="02040503050406030204" pitchFamily="18" charset="0"/>
                      </a:rPr>
                      <m:t>−3</m:t>
                    </m:r>
                  </m:oMath>
                </a14:m>
                <a:r>
                  <a:rPr lang="en-GB" sz="1400" noProof="0" dirty="0"/>
                  <a:t> in the form </a:t>
                </a:r>
                <a14:m>
                  <m:oMath xmlns:m="http://schemas.openxmlformats.org/officeDocument/2006/math">
                    <m:r>
                      <a:rPr lang="en-GB" sz="1400" i="1" noProof="0">
                        <a:latin typeface="Cambria Math" panose="02040503050406030204" pitchFamily="18" charset="0"/>
                      </a:rPr>
                      <m:t>𝑎𝑥</m:t>
                    </m:r>
                    <m:r>
                      <a:rPr lang="en-GB" sz="1400" i="1" noProof="0">
                        <a:latin typeface="Cambria Math" panose="02040503050406030204" pitchFamily="18" charset="0"/>
                      </a:rPr>
                      <m:t>+</m:t>
                    </m:r>
                    <m:r>
                      <a:rPr lang="en-GB" sz="1400" i="1" noProof="0">
                        <a:latin typeface="Cambria Math" panose="02040503050406030204" pitchFamily="18" charset="0"/>
                      </a:rPr>
                      <m:t>𝑏</m:t>
                    </m:r>
                    <m:r>
                      <a:rPr lang="en-GB" sz="1400" i="1" noProof="0">
                        <a:latin typeface="Cambria Math" panose="02040503050406030204" pitchFamily="18" charset="0"/>
                      </a:rPr>
                      <m:t>?</m:t>
                    </m:r>
                  </m:oMath>
                </a14:m>
                <a:endParaRPr lang="en-GB" sz="1400" noProof="0" dirty="0"/>
              </a:p>
              <a:p>
                <a:pPr marL="342900" indent="-342900">
                  <a:buFont typeface="+mj-lt"/>
                  <a:buAutoNum type="alphaLcParenR"/>
                </a:pPr>
                <a:r>
                  <a:rPr lang="en-GB" sz="1400" noProof="0" dirty="0"/>
                  <a:t>If </a:t>
                </a:r>
                <a14:m>
                  <m:oMath xmlns:m="http://schemas.openxmlformats.org/officeDocument/2006/math">
                    <m:r>
                      <a:rPr lang="en-GB" sz="1400" i="1" noProof="0">
                        <a:latin typeface="Cambria Math" panose="02040503050406030204" pitchFamily="18" charset="0"/>
                      </a:rPr>
                      <m:t>4</m:t>
                    </m:r>
                    <m:d>
                      <m:dPr>
                        <m:ctrlPr>
                          <a:rPr lang="en-GB" sz="1400" i="1" noProof="0" smtClean="0">
                            <a:latin typeface="Cambria Math" panose="02040503050406030204" pitchFamily="18" charset="0"/>
                          </a:rPr>
                        </m:ctrlPr>
                      </m:dPr>
                      <m:e>
                        <m:r>
                          <a:rPr lang="en-GB" sz="1400" i="1" noProof="0">
                            <a:latin typeface="Cambria Math" panose="02040503050406030204" pitchFamily="18" charset="0"/>
                          </a:rPr>
                          <m:t>𝑥</m:t>
                        </m:r>
                        <m:r>
                          <a:rPr lang="en-GB" sz="1400" i="1" noProof="0">
                            <a:latin typeface="Cambria Math" panose="02040503050406030204" pitchFamily="18" charset="0"/>
                          </a:rPr>
                          <m:t>+4</m:t>
                        </m:r>
                      </m:e>
                    </m:d>
                    <m:r>
                      <a:rPr lang="en-GB" sz="1400" i="1" noProof="0">
                        <a:latin typeface="Cambria Math" panose="02040503050406030204" pitchFamily="18" charset="0"/>
                      </a:rPr>
                      <m:t>+5</m:t>
                    </m:r>
                    <m:d>
                      <m:dPr>
                        <m:ctrlPr>
                          <a:rPr lang="en-GB" sz="1400" i="1" noProof="0" smtClean="0">
                            <a:latin typeface="Cambria Math" panose="02040503050406030204" pitchFamily="18" charset="0"/>
                          </a:rPr>
                        </m:ctrlPr>
                      </m:dPr>
                      <m:e>
                        <m:r>
                          <a:rPr lang="en-GB" sz="1400" i="1" noProof="0">
                            <a:latin typeface="Cambria Math" panose="02040503050406030204" pitchFamily="18" charset="0"/>
                          </a:rPr>
                          <m:t>𝑥</m:t>
                        </m:r>
                        <m:r>
                          <a:rPr lang="en-GB" sz="1400" i="1" noProof="0">
                            <a:latin typeface="Cambria Math" panose="02040503050406030204" pitchFamily="18" charset="0"/>
                          </a:rPr>
                          <m:t>+1</m:t>
                        </m:r>
                      </m:e>
                    </m:d>
                  </m:oMath>
                </a14:m>
                <a:r>
                  <a:rPr lang="en-GB" sz="1400" noProof="0" dirty="0"/>
                  <a:t> in the form </a:t>
                </a:r>
                <a14:m>
                  <m:oMath xmlns:m="http://schemas.openxmlformats.org/officeDocument/2006/math">
                    <m:r>
                      <a:rPr lang="en-GB" sz="1400" i="1" noProof="0">
                        <a:latin typeface="Cambria Math" panose="02040503050406030204" pitchFamily="18" charset="0"/>
                      </a:rPr>
                      <m:t>𝑎</m:t>
                    </m:r>
                    <m:r>
                      <a:rPr lang="en-GB" sz="1400" i="1" noProof="0">
                        <a:latin typeface="Cambria Math" panose="02040503050406030204" pitchFamily="18" charset="0"/>
                      </a:rPr>
                      <m:t>(</m:t>
                    </m:r>
                    <m:r>
                      <a:rPr lang="en-GB" sz="1400" i="1" noProof="0">
                        <a:latin typeface="Cambria Math" panose="02040503050406030204" pitchFamily="18" charset="0"/>
                      </a:rPr>
                      <m:t>𝑏𝑥</m:t>
                    </m:r>
                    <m:r>
                      <a:rPr lang="en-GB" sz="1400" i="1" noProof="0">
                        <a:latin typeface="Cambria Math" panose="02040503050406030204" pitchFamily="18" charset="0"/>
                      </a:rPr>
                      <m:t>+</m:t>
                    </m:r>
                    <m:r>
                      <a:rPr lang="en-GB" sz="1400" i="1" noProof="0">
                        <a:latin typeface="Cambria Math" panose="02040503050406030204" pitchFamily="18" charset="0"/>
                      </a:rPr>
                      <m:t>𝑐</m:t>
                    </m:r>
                    <m:r>
                      <a:rPr lang="en-GB" sz="1400" i="1" noProof="0">
                        <a:latin typeface="Cambria Math" panose="02040503050406030204" pitchFamily="18" charset="0"/>
                      </a:rPr>
                      <m:t>)</m:t>
                    </m:r>
                  </m:oMath>
                </a14:m>
                <a:r>
                  <a:rPr lang="en-GB" sz="1400" noProof="0" dirty="0"/>
                  <a:t>?</a:t>
                </a:r>
              </a:p>
              <a:p>
                <a:endParaRPr lang="en-GB" sz="1200" noProof="0" dirty="0"/>
              </a:p>
            </p:txBody>
          </p:sp>
        </mc:Choice>
        <mc:Fallback xmlns="">
          <p:sp>
            <p:nvSpPr>
              <p:cNvPr id="4" name="TextBox 3">
                <a:extLst>
                  <a:ext uri="{FF2B5EF4-FFF2-40B4-BE49-F238E27FC236}">
                    <a16:creationId xmlns:a16="http://schemas.microsoft.com/office/drawing/2014/main" id="{F4B39EE9-AA91-A0FE-A380-8DEA9626ADC3}"/>
                  </a:ext>
                </a:extLst>
              </p:cNvPr>
              <p:cNvSpPr txBox="1">
                <a:spLocks noRot="1" noChangeAspect="1" noMove="1" noResize="1" noEditPoints="1" noAdjustHandles="1" noChangeArrowheads="1" noChangeShapeType="1" noTextEdit="1"/>
              </p:cNvSpPr>
              <p:nvPr/>
            </p:nvSpPr>
            <p:spPr>
              <a:xfrm>
                <a:off x="101600" y="276999"/>
                <a:ext cx="6565900" cy="4229556"/>
              </a:xfrm>
              <a:prstGeom prst="rect">
                <a:avLst/>
              </a:prstGeom>
              <a:blipFill>
                <a:blip r:embed="rId3"/>
                <a:stretch>
                  <a:fillRect l="-278"/>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8841FE5-FE64-9193-C440-2F985BB4901A}"/>
                  </a:ext>
                </a:extLst>
              </p:cNvPr>
              <p:cNvGraphicFramePr>
                <a:graphicFrameLocks noGrp="1"/>
              </p:cNvGraphicFramePr>
              <p:nvPr>
                <p:extLst>
                  <p:ext uri="{D42A27DB-BD31-4B8C-83A1-F6EECF244321}">
                    <p14:modId xmlns:p14="http://schemas.microsoft.com/office/powerpoint/2010/main" val="3166796245"/>
                  </p:ext>
                </p:extLst>
              </p:nvPr>
            </p:nvGraphicFramePr>
            <p:xfrm>
              <a:off x="101600" y="4783555"/>
              <a:ext cx="6565899" cy="2381999"/>
            </p:xfrm>
            <a:graphic>
              <a:graphicData uri="http://schemas.openxmlformats.org/drawingml/2006/table">
                <a:tbl>
                  <a:tblPr firstRow="1" bandRow="1">
                    <a:tableStyleId>{5C22544A-7EE6-4342-B048-85BDC9FD1C3A}</a:tableStyleId>
                  </a:tblPr>
                  <a:tblGrid>
                    <a:gridCol w="1029430">
                      <a:extLst>
                        <a:ext uri="{9D8B030D-6E8A-4147-A177-3AD203B41FA5}">
                          <a16:colId xmlns:a16="http://schemas.microsoft.com/office/drawing/2014/main" val="1568142362"/>
                        </a:ext>
                      </a:extLst>
                    </a:gridCol>
                    <a:gridCol w="1743866">
                      <a:extLst>
                        <a:ext uri="{9D8B030D-6E8A-4147-A177-3AD203B41FA5}">
                          <a16:colId xmlns:a16="http://schemas.microsoft.com/office/drawing/2014/main" val="3551711160"/>
                        </a:ext>
                      </a:extLst>
                    </a:gridCol>
                    <a:gridCol w="1952204">
                      <a:extLst>
                        <a:ext uri="{9D8B030D-6E8A-4147-A177-3AD203B41FA5}">
                          <a16:colId xmlns:a16="http://schemas.microsoft.com/office/drawing/2014/main" val="925597041"/>
                        </a:ext>
                      </a:extLst>
                    </a:gridCol>
                    <a:gridCol w="1840399">
                      <a:extLst>
                        <a:ext uri="{9D8B030D-6E8A-4147-A177-3AD203B41FA5}">
                          <a16:colId xmlns:a16="http://schemas.microsoft.com/office/drawing/2014/main" val="4095172789"/>
                        </a:ext>
                      </a:extLst>
                    </a:gridCol>
                  </a:tblGrid>
                  <a:tr h="519848">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kern="1200" noProof="0" dirty="0">
                              <a:solidFill>
                                <a:schemeClr val="tx1"/>
                              </a:solidFill>
                              <a:effectLst/>
                              <a:latin typeface="+mn-lt"/>
                              <a:ea typeface="+mn-ea"/>
                              <a:cs typeface="+mn-cs"/>
                            </a:rPr>
                            <a:t>Express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6(2</m:t>
                              </m:r>
                              <m:r>
                                <a:rPr lang="en-GB" sz="1200" b="0" i="1" kern="1200" noProof="0">
                                  <a:solidFill>
                                    <a:schemeClr val="tx1"/>
                                  </a:solidFill>
                                  <a:effectLst/>
                                  <a:latin typeface="Cambria Math" panose="02040503050406030204" pitchFamily="18" charset="0"/>
                                  <a:ea typeface="+mn-ea"/>
                                  <a:cs typeface="+mn-cs"/>
                                </a:rPr>
                                <m:t>𝑥</m:t>
                              </m:r>
                              <m:r>
                                <a:rPr lang="en-GB" sz="1200" b="0" i="1" kern="1200" noProof="0">
                                  <a:solidFill>
                                    <a:schemeClr val="tx1"/>
                                  </a:solidFill>
                                  <a:effectLst/>
                                  <a:latin typeface="Cambria Math" panose="02040503050406030204" pitchFamily="18" charset="0"/>
                                  <a:ea typeface="+mn-ea"/>
                                  <a:cs typeface="+mn-cs"/>
                                </a:rPr>
                                <m:t>−3)</m:t>
                              </m:r>
                            </m:oMath>
                          </a14:m>
                          <a:r>
                            <a:rPr lang="en-GB" sz="1200" b="0" kern="1200" noProof="0" dirty="0">
                              <a:solidFill>
                                <a:schemeClr val="tx1"/>
                              </a:solidFill>
                              <a:effectLst/>
                              <a:latin typeface="+mn-lt"/>
                              <a:ea typeface="+mn-ea"/>
                              <a:cs typeface="+mn-cs"/>
                            </a:rPr>
                            <a:t> in the form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𝑎𝑥</m:t>
                              </m:r>
                              <m:r>
                                <a:rPr lang="en-GB" sz="1200" b="0" i="1" kern="1200" noProof="0">
                                  <a:solidFill>
                                    <a:schemeClr val="tx1"/>
                                  </a:solidFill>
                                  <a:effectLst/>
                                  <a:latin typeface="Cambria Math" panose="02040503050406030204" pitchFamily="18" charset="0"/>
                                  <a:ea typeface="+mn-ea"/>
                                  <a:cs typeface="+mn-cs"/>
                                </a:rPr>
                                <m:t>+</m:t>
                              </m:r>
                              <m:r>
                                <a:rPr lang="en-GB" sz="1200" b="0" i="1" kern="1200" noProof="0">
                                  <a:solidFill>
                                    <a:schemeClr val="tx1"/>
                                  </a:solidFill>
                                  <a:effectLst/>
                                  <a:latin typeface="Cambria Math" panose="02040503050406030204" pitchFamily="18" charset="0"/>
                                  <a:ea typeface="+mn-ea"/>
                                  <a:cs typeface="+mn-cs"/>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kern="1200" noProof="0" dirty="0">
                              <a:solidFill>
                                <a:schemeClr val="tx1"/>
                              </a:solidFill>
                              <a:effectLst/>
                              <a:latin typeface="+mn-lt"/>
                              <a:ea typeface="+mn-ea"/>
                              <a:cs typeface="+mn-cs"/>
                            </a:rPr>
                            <a:t>Express:</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kern="1200" noProof="0" dirty="0">
                              <a:solidFill>
                                <a:schemeClr val="tx1"/>
                              </a:solidFill>
                              <a:effectLst/>
                              <a:latin typeface="+mn-lt"/>
                              <a:ea typeface="+mn-ea"/>
                              <a:cs typeface="+mn-cs"/>
                            </a:rPr>
                            <a:t>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3</m:t>
                              </m:r>
                              <m:d>
                                <m:dPr>
                                  <m:ctrlPr>
                                    <a:rPr lang="en-GB" sz="1200" b="0" i="1" kern="1200" noProof="0" smtClean="0">
                                      <a:solidFill>
                                        <a:schemeClr val="tx1"/>
                                      </a:solidFill>
                                      <a:effectLst/>
                                      <a:latin typeface="Cambria Math" panose="02040503050406030204" pitchFamily="18" charset="0"/>
                                      <a:ea typeface="+mn-ea"/>
                                      <a:cs typeface="+mn-cs"/>
                                    </a:rPr>
                                  </m:ctrlPr>
                                </m:dPr>
                                <m:e>
                                  <m:r>
                                    <a:rPr lang="en-GB" sz="1200" b="0" i="1" kern="1200" noProof="0">
                                      <a:solidFill>
                                        <a:schemeClr val="tx1"/>
                                      </a:solidFill>
                                      <a:effectLst/>
                                      <a:latin typeface="Cambria Math" panose="02040503050406030204" pitchFamily="18" charset="0"/>
                                      <a:ea typeface="+mn-ea"/>
                                      <a:cs typeface="+mn-cs"/>
                                    </a:rPr>
                                    <m:t>𝑥</m:t>
                                  </m:r>
                                  <m:r>
                                    <a:rPr lang="en-GB" sz="1200" b="0" i="1" kern="1200" noProof="0">
                                      <a:solidFill>
                                        <a:schemeClr val="tx1"/>
                                      </a:solidFill>
                                      <a:effectLst/>
                                      <a:latin typeface="Cambria Math" panose="02040503050406030204" pitchFamily="18" charset="0"/>
                                      <a:ea typeface="+mn-ea"/>
                                      <a:cs typeface="+mn-cs"/>
                                    </a:rPr>
                                    <m:t>+2</m:t>
                                  </m:r>
                                </m:e>
                              </m:d>
                              <m:r>
                                <a:rPr lang="en-GB" sz="1200" b="0" i="1" kern="1200" noProof="0">
                                  <a:solidFill>
                                    <a:schemeClr val="tx1"/>
                                  </a:solidFill>
                                  <a:effectLst/>
                                  <a:latin typeface="Cambria Math" panose="02040503050406030204" pitchFamily="18" charset="0"/>
                                  <a:ea typeface="+mn-ea"/>
                                  <a:cs typeface="+mn-cs"/>
                                </a:rPr>
                                <m:t>+6(3</m:t>
                              </m:r>
                              <m:r>
                                <a:rPr lang="en-GB" sz="1200" b="0" i="1" kern="1200" noProof="0">
                                  <a:solidFill>
                                    <a:schemeClr val="tx1"/>
                                  </a:solidFill>
                                  <a:effectLst/>
                                  <a:latin typeface="Cambria Math" panose="02040503050406030204" pitchFamily="18" charset="0"/>
                                  <a:ea typeface="+mn-ea"/>
                                  <a:cs typeface="+mn-cs"/>
                                </a:rPr>
                                <m:t>𝑥</m:t>
                              </m:r>
                              <m:r>
                                <a:rPr lang="en-GB" sz="1200" b="0" i="1" kern="1200" noProof="0">
                                  <a:solidFill>
                                    <a:schemeClr val="tx1"/>
                                  </a:solidFill>
                                  <a:effectLst/>
                                  <a:latin typeface="Cambria Math" panose="02040503050406030204" pitchFamily="18" charset="0"/>
                                  <a:ea typeface="+mn-ea"/>
                                  <a:cs typeface="+mn-cs"/>
                                </a:rPr>
                                <m:t>+5)</m:t>
                              </m:r>
                            </m:oMath>
                          </a14:m>
                          <a:r>
                            <a:rPr lang="en-GB" sz="1200" b="0" kern="1200" noProof="0" dirty="0">
                              <a:solidFill>
                                <a:schemeClr val="tx1"/>
                              </a:solidFill>
                              <a:effectLst/>
                              <a:latin typeface="+mn-lt"/>
                              <a:ea typeface="+mn-ea"/>
                              <a:cs typeface="+mn-cs"/>
                            </a:rPr>
                            <a:t> in the form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𝑎</m:t>
                              </m:r>
                              <m:r>
                                <a:rPr lang="en-GB" sz="1200" b="0" i="1" kern="1200" noProof="0">
                                  <a:solidFill>
                                    <a:schemeClr val="tx1"/>
                                  </a:solidFill>
                                  <a:effectLst/>
                                  <a:latin typeface="Cambria Math" panose="02040503050406030204" pitchFamily="18" charset="0"/>
                                  <a:ea typeface="+mn-ea"/>
                                  <a:cs typeface="+mn-cs"/>
                                </a:rPr>
                                <m:t>(</m:t>
                              </m:r>
                              <m:r>
                                <a:rPr lang="en-GB" sz="1200" b="0" i="1" kern="1200" noProof="0">
                                  <a:solidFill>
                                    <a:schemeClr val="tx1"/>
                                  </a:solidFill>
                                  <a:effectLst/>
                                  <a:latin typeface="Cambria Math" panose="02040503050406030204" pitchFamily="18" charset="0"/>
                                  <a:ea typeface="+mn-ea"/>
                                  <a:cs typeface="+mn-cs"/>
                                </a:rPr>
                                <m:t>𝑏𝑥</m:t>
                              </m:r>
                              <m:r>
                                <a:rPr lang="en-GB" sz="1200" b="0" i="1" kern="1200" noProof="0">
                                  <a:solidFill>
                                    <a:schemeClr val="tx1"/>
                                  </a:solidFill>
                                  <a:effectLst/>
                                  <a:latin typeface="Cambria Math" panose="02040503050406030204" pitchFamily="18" charset="0"/>
                                  <a:ea typeface="+mn-ea"/>
                                  <a:cs typeface="+mn-cs"/>
                                </a:rPr>
                                <m:t>+</m:t>
                              </m:r>
                              <m:r>
                                <a:rPr lang="en-GB" sz="1200" b="0" i="1" kern="1200" noProof="0">
                                  <a:solidFill>
                                    <a:schemeClr val="tx1"/>
                                  </a:solidFill>
                                  <a:effectLst/>
                                  <a:latin typeface="Cambria Math" panose="02040503050406030204" pitchFamily="18" charset="0"/>
                                  <a:ea typeface="+mn-ea"/>
                                  <a:cs typeface="+mn-cs"/>
                                </a:rPr>
                                <m:t>𝑐</m:t>
                              </m:r>
                              <m:r>
                                <a:rPr lang="en-GB" sz="1200" b="0" i="1" kern="1200" noProof="0">
                                  <a:solidFill>
                                    <a:schemeClr val="tx1"/>
                                  </a:solidFill>
                                  <a:effectLst/>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kern="1200" noProof="0" dirty="0">
                              <a:solidFill>
                                <a:schemeClr val="tx1"/>
                              </a:solidFill>
                              <a:effectLst/>
                              <a:latin typeface="+mn-lt"/>
                              <a:ea typeface="+mn-ea"/>
                              <a:cs typeface="+mn-cs"/>
                            </a:rPr>
                            <a:t>Express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12</m:t>
                              </m:r>
                              <m:sSup>
                                <m:sSupPr>
                                  <m:ctrlPr>
                                    <a:rPr lang="en-GB" sz="1200" b="0" i="1" kern="1200" noProof="0" smtClean="0">
                                      <a:solidFill>
                                        <a:schemeClr val="tx1"/>
                                      </a:solidFill>
                                      <a:effectLst/>
                                      <a:latin typeface="Cambria Math" panose="02040503050406030204" pitchFamily="18" charset="0"/>
                                      <a:ea typeface="+mn-ea"/>
                                      <a:cs typeface="+mn-cs"/>
                                    </a:rPr>
                                  </m:ctrlPr>
                                </m:sSupPr>
                                <m:e>
                                  <m:r>
                                    <a:rPr lang="en-GB" sz="1200" b="0" i="1" kern="1200" noProof="0">
                                      <a:solidFill>
                                        <a:schemeClr val="tx1"/>
                                      </a:solidFill>
                                      <a:effectLst/>
                                      <a:latin typeface="Cambria Math" panose="02040503050406030204" pitchFamily="18" charset="0"/>
                                      <a:ea typeface="+mn-ea"/>
                                      <a:cs typeface="+mn-cs"/>
                                    </a:rPr>
                                    <m:t>𝑥</m:t>
                                  </m:r>
                                </m:e>
                                <m:sup>
                                  <m:r>
                                    <a:rPr lang="en-GB" sz="1200" b="0" i="1" kern="1200" noProof="0">
                                      <a:solidFill>
                                        <a:schemeClr val="tx1"/>
                                      </a:solidFill>
                                      <a:effectLst/>
                                      <a:latin typeface="Cambria Math" panose="02040503050406030204" pitchFamily="18" charset="0"/>
                                      <a:ea typeface="+mn-ea"/>
                                      <a:cs typeface="+mn-cs"/>
                                    </a:rPr>
                                    <m:t>2</m:t>
                                  </m:r>
                                </m:sup>
                              </m:sSup>
                              <m:r>
                                <a:rPr lang="en-GB" sz="1200" b="0" i="1" kern="1200" noProof="0">
                                  <a:solidFill>
                                    <a:schemeClr val="tx1"/>
                                  </a:solidFill>
                                  <a:effectLst/>
                                  <a:latin typeface="Cambria Math" panose="02040503050406030204" pitchFamily="18" charset="0"/>
                                  <a:ea typeface="+mn-ea"/>
                                  <a:cs typeface="+mn-cs"/>
                                </a:rPr>
                                <m:t>−18</m:t>
                              </m:r>
                              <m:sSup>
                                <m:sSupPr>
                                  <m:ctrlPr>
                                    <a:rPr lang="en-GB" sz="1200" b="0" i="1" kern="1200" noProof="0" smtClean="0">
                                      <a:solidFill>
                                        <a:schemeClr val="tx1"/>
                                      </a:solidFill>
                                      <a:effectLst/>
                                      <a:latin typeface="Cambria Math" panose="02040503050406030204" pitchFamily="18" charset="0"/>
                                      <a:ea typeface="+mn-ea"/>
                                      <a:cs typeface="+mn-cs"/>
                                    </a:rPr>
                                  </m:ctrlPr>
                                </m:sSupPr>
                                <m:e>
                                  <m:r>
                                    <a:rPr lang="en-GB" sz="1200" b="0" i="1" kern="1200" noProof="0">
                                      <a:solidFill>
                                        <a:schemeClr val="tx1"/>
                                      </a:solidFill>
                                      <a:effectLst/>
                                      <a:latin typeface="Cambria Math" panose="02040503050406030204" pitchFamily="18" charset="0"/>
                                      <a:ea typeface="+mn-ea"/>
                                      <a:cs typeface="+mn-cs"/>
                                    </a:rPr>
                                    <m:t>𝑥</m:t>
                                  </m:r>
                                </m:e>
                                <m:sup>
                                  <m:r>
                                    <a:rPr lang="en-GB" sz="1200" b="0" i="1" kern="1200" noProof="0">
                                      <a:solidFill>
                                        <a:schemeClr val="tx1"/>
                                      </a:solidFill>
                                      <a:effectLst/>
                                      <a:latin typeface="Cambria Math" panose="02040503050406030204" pitchFamily="18" charset="0"/>
                                      <a:ea typeface="+mn-ea"/>
                                      <a:cs typeface="+mn-cs"/>
                                    </a:rPr>
                                    <m:t>5</m:t>
                                  </m:r>
                                </m:sup>
                              </m:sSup>
                            </m:oMath>
                          </a14:m>
                          <a:r>
                            <a:rPr lang="en-GB" sz="1200" b="0" kern="1200" noProof="0" dirty="0">
                              <a:solidFill>
                                <a:schemeClr val="tx1"/>
                              </a:solidFill>
                              <a:effectLst/>
                              <a:latin typeface="+mn-lt"/>
                              <a:ea typeface="+mn-ea"/>
                              <a:cs typeface="+mn-cs"/>
                            </a:rPr>
                            <a:t> in the form </a:t>
                          </a:r>
                          <a14:m>
                            <m:oMath xmlns:m="http://schemas.openxmlformats.org/officeDocument/2006/math">
                              <m:r>
                                <a:rPr lang="en-GB" sz="1200" b="0" i="1" kern="1200" noProof="0">
                                  <a:solidFill>
                                    <a:schemeClr val="tx1"/>
                                  </a:solidFill>
                                  <a:effectLst/>
                                  <a:latin typeface="Cambria Math" panose="02040503050406030204" pitchFamily="18" charset="0"/>
                                  <a:ea typeface="+mn-ea"/>
                                  <a:cs typeface="+mn-cs"/>
                                </a:rPr>
                                <m:t>𝑎</m:t>
                              </m:r>
                              <m:sSup>
                                <m:sSupPr>
                                  <m:ctrlPr>
                                    <a:rPr lang="en-GB" sz="1200" b="0" i="1" kern="1200" noProof="0" smtClean="0">
                                      <a:solidFill>
                                        <a:schemeClr val="tx1"/>
                                      </a:solidFill>
                                      <a:effectLst/>
                                      <a:latin typeface="Cambria Math" panose="02040503050406030204" pitchFamily="18" charset="0"/>
                                      <a:ea typeface="+mn-ea"/>
                                      <a:cs typeface="+mn-cs"/>
                                    </a:rPr>
                                  </m:ctrlPr>
                                </m:sSupPr>
                                <m:e>
                                  <m:r>
                                    <a:rPr lang="en-GB" sz="1200" b="0" i="1" kern="1200" noProof="0">
                                      <a:solidFill>
                                        <a:schemeClr val="tx1"/>
                                      </a:solidFill>
                                      <a:effectLst/>
                                      <a:latin typeface="Cambria Math" panose="02040503050406030204" pitchFamily="18" charset="0"/>
                                      <a:ea typeface="+mn-ea"/>
                                      <a:cs typeface="+mn-cs"/>
                                    </a:rPr>
                                    <m:t>𝑥</m:t>
                                  </m:r>
                                </m:e>
                                <m:sup>
                                  <m:r>
                                    <a:rPr lang="en-GB" sz="1200" b="0" i="1" kern="1200" noProof="0">
                                      <a:solidFill>
                                        <a:schemeClr val="tx1"/>
                                      </a:solidFill>
                                      <a:effectLst/>
                                      <a:latin typeface="Cambria Math" panose="02040503050406030204" pitchFamily="18" charset="0"/>
                                      <a:ea typeface="+mn-ea"/>
                                      <a:cs typeface="+mn-cs"/>
                                    </a:rPr>
                                    <m:t>2</m:t>
                                  </m:r>
                                </m:sup>
                              </m:sSup>
                              <m:r>
                                <a:rPr lang="en-GB" sz="1200" b="0" i="1" kern="1200" noProof="0">
                                  <a:solidFill>
                                    <a:schemeClr val="tx1"/>
                                  </a:solidFill>
                                  <a:effectLst/>
                                  <a:latin typeface="Cambria Math" panose="02040503050406030204" pitchFamily="18" charset="0"/>
                                  <a:ea typeface="+mn-ea"/>
                                  <a:cs typeface="+mn-cs"/>
                                </a:rPr>
                                <m:t>(</m:t>
                              </m:r>
                              <m:r>
                                <a:rPr lang="en-GB" sz="1200" b="0" i="1" kern="1200" noProof="0">
                                  <a:solidFill>
                                    <a:schemeClr val="tx1"/>
                                  </a:solidFill>
                                  <a:effectLst/>
                                  <a:latin typeface="Cambria Math" panose="02040503050406030204" pitchFamily="18" charset="0"/>
                                  <a:ea typeface="+mn-ea"/>
                                  <a:cs typeface="+mn-cs"/>
                                </a:rPr>
                                <m:t>𝑏</m:t>
                              </m:r>
                              <m:r>
                                <a:rPr lang="en-GB" sz="1200" b="0" i="1" kern="1200" noProof="0">
                                  <a:solidFill>
                                    <a:schemeClr val="tx1"/>
                                  </a:solidFill>
                                  <a:effectLst/>
                                  <a:latin typeface="Cambria Math" panose="02040503050406030204" pitchFamily="18" charset="0"/>
                                  <a:ea typeface="+mn-ea"/>
                                  <a:cs typeface="+mn-cs"/>
                                </a:rPr>
                                <m:t>+</m:t>
                              </m:r>
                              <m:r>
                                <a:rPr lang="en-GB" sz="1200" b="0" i="1" kern="1200" noProof="0">
                                  <a:solidFill>
                                    <a:schemeClr val="tx1"/>
                                  </a:solidFill>
                                  <a:effectLst/>
                                  <a:latin typeface="Cambria Math" panose="02040503050406030204" pitchFamily="18" charset="0"/>
                                  <a:ea typeface="+mn-ea"/>
                                  <a:cs typeface="+mn-cs"/>
                                </a:rPr>
                                <m:t>𝑐</m:t>
                              </m:r>
                              <m:sSup>
                                <m:sSupPr>
                                  <m:ctrlPr>
                                    <a:rPr lang="en-GB" sz="1200" b="0" i="1" kern="1200" noProof="0" smtClean="0">
                                      <a:solidFill>
                                        <a:schemeClr val="tx1"/>
                                      </a:solidFill>
                                      <a:effectLst/>
                                      <a:latin typeface="Cambria Math" panose="02040503050406030204" pitchFamily="18" charset="0"/>
                                      <a:ea typeface="+mn-ea"/>
                                      <a:cs typeface="+mn-cs"/>
                                    </a:rPr>
                                  </m:ctrlPr>
                                </m:sSupPr>
                                <m:e>
                                  <m:r>
                                    <a:rPr lang="en-GB" sz="1200" b="0" i="1" kern="1200" noProof="0">
                                      <a:solidFill>
                                        <a:schemeClr val="tx1"/>
                                      </a:solidFill>
                                      <a:effectLst/>
                                      <a:latin typeface="Cambria Math" panose="02040503050406030204" pitchFamily="18" charset="0"/>
                                      <a:ea typeface="+mn-ea"/>
                                      <a:cs typeface="+mn-cs"/>
                                    </a:rPr>
                                    <m:t>𝑥</m:t>
                                  </m:r>
                                </m:e>
                                <m:sup>
                                  <m:r>
                                    <a:rPr lang="en-GB" sz="1200" b="0" i="1" kern="1200" noProof="0">
                                      <a:solidFill>
                                        <a:schemeClr val="tx1"/>
                                      </a:solidFill>
                                      <a:effectLst/>
                                      <a:latin typeface="Cambria Math" panose="02040503050406030204" pitchFamily="18" charset="0"/>
                                      <a:ea typeface="+mn-ea"/>
                                      <a:cs typeface="+mn-cs"/>
                                    </a:rPr>
                                    <m:t>3</m:t>
                                  </m:r>
                                </m:sup>
                              </m:sSup>
                              <m:r>
                                <a:rPr lang="en-GB" sz="1200" b="0" i="1" kern="1200" noProof="0">
                                  <a:solidFill>
                                    <a:schemeClr val="tx1"/>
                                  </a:solidFill>
                                  <a:effectLst/>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12279">
                    <a:tc>
                      <a:txBody>
                        <a:bodyPr/>
                        <a:lstStyle/>
                        <a:p>
                          <a:r>
                            <a:rPr lang="en-GB" sz="1100" noProof="0" dirty="0">
                              <a:solidFill>
                                <a:schemeClr val="tx1"/>
                              </a:solidFill>
                            </a:rPr>
                            <a:t>1) Expand and collect like terms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55018">
                    <a:tc>
                      <a:txBody>
                        <a:bodyPr/>
                        <a:lstStyle/>
                        <a:p>
                          <a:r>
                            <a:rPr lang="en-GB" sz="1100" noProof="0" dirty="0">
                              <a:solidFill>
                                <a:schemeClr val="tx1"/>
                              </a:solidFill>
                            </a:rPr>
                            <a:t>2) Check the required form and you may need to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GB"/>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44271317"/>
                      </a:ext>
                    </a:extLst>
                  </a:tr>
                </a:tbl>
              </a:graphicData>
            </a:graphic>
          </p:graphicFrame>
        </mc:Choice>
        <mc:Fallback xmlns="">
          <p:graphicFrame>
            <p:nvGraphicFramePr>
              <p:cNvPr id="5" name="Table 4">
                <a:extLst>
                  <a:ext uri="{FF2B5EF4-FFF2-40B4-BE49-F238E27FC236}">
                    <a16:creationId xmlns:a16="http://schemas.microsoft.com/office/drawing/2014/main" id="{E8841FE5-FE64-9193-C440-2F985BB4901A}"/>
                  </a:ext>
                </a:extLst>
              </p:cNvPr>
              <p:cNvGraphicFramePr>
                <a:graphicFrameLocks noGrp="1"/>
              </p:cNvGraphicFramePr>
              <p:nvPr>
                <p:extLst>
                  <p:ext uri="{D42A27DB-BD31-4B8C-83A1-F6EECF244321}">
                    <p14:modId xmlns:p14="http://schemas.microsoft.com/office/powerpoint/2010/main" val="3166796245"/>
                  </p:ext>
                </p:extLst>
              </p:nvPr>
            </p:nvGraphicFramePr>
            <p:xfrm>
              <a:off x="101600" y="4783555"/>
              <a:ext cx="6565899" cy="2381999"/>
            </p:xfrm>
            <a:graphic>
              <a:graphicData uri="http://schemas.openxmlformats.org/drawingml/2006/table">
                <a:tbl>
                  <a:tblPr firstRow="1" bandRow="1">
                    <a:tableStyleId>{5C22544A-7EE6-4342-B048-85BDC9FD1C3A}</a:tableStyleId>
                  </a:tblPr>
                  <a:tblGrid>
                    <a:gridCol w="1029430">
                      <a:extLst>
                        <a:ext uri="{9D8B030D-6E8A-4147-A177-3AD203B41FA5}">
                          <a16:colId xmlns:a16="http://schemas.microsoft.com/office/drawing/2014/main" val="1568142362"/>
                        </a:ext>
                      </a:extLst>
                    </a:gridCol>
                    <a:gridCol w="1743866">
                      <a:extLst>
                        <a:ext uri="{9D8B030D-6E8A-4147-A177-3AD203B41FA5}">
                          <a16:colId xmlns:a16="http://schemas.microsoft.com/office/drawing/2014/main" val="3551711160"/>
                        </a:ext>
                      </a:extLst>
                    </a:gridCol>
                    <a:gridCol w="1952204">
                      <a:extLst>
                        <a:ext uri="{9D8B030D-6E8A-4147-A177-3AD203B41FA5}">
                          <a16:colId xmlns:a16="http://schemas.microsoft.com/office/drawing/2014/main" val="925597041"/>
                        </a:ext>
                      </a:extLst>
                    </a:gridCol>
                    <a:gridCol w="1840399">
                      <a:extLst>
                        <a:ext uri="{9D8B030D-6E8A-4147-A177-3AD203B41FA5}">
                          <a16:colId xmlns:a16="http://schemas.microsoft.com/office/drawing/2014/main" val="4095172789"/>
                        </a:ext>
                      </a:extLst>
                    </a:gridCol>
                  </a:tblGrid>
                  <a:tr h="64008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9441" t="-952" r="-218531" b="-27904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2056" t="-952" r="-94704" b="-27904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57285" t="-952" r="-662" b="-279048"/>
                          </a:stretch>
                        </a:blipFill>
                      </a:tcPr>
                    </a:tc>
                    <a:extLst>
                      <a:ext uri="{0D108BD9-81ED-4DB2-BD59-A6C34878D82A}">
                        <a16:rowId xmlns:a16="http://schemas.microsoft.com/office/drawing/2014/main" val="2357201933"/>
                      </a:ext>
                    </a:extLst>
                  </a:tr>
                  <a:tr h="812279">
                    <a:tc>
                      <a:txBody>
                        <a:bodyPr/>
                        <a:lstStyle/>
                        <a:p>
                          <a:r>
                            <a:rPr lang="en-GB" sz="1100" noProof="0">
                              <a:solidFill>
                                <a:schemeClr val="tx1"/>
                              </a:solidFill>
                            </a:rPr>
                            <a:t>1) Expand and collect like terms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29640">
                    <a:tc>
                      <a:txBody>
                        <a:bodyPr/>
                        <a:lstStyle/>
                        <a:p>
                          <a:r>
                            <a:rPr lang="en-GB" sz="1100" noProof="0">
                              <a:solidFill>
                                <a:schemeClr val="tx1"/>
                              </a:solidFill>
                            </a:rPr>
                            <a:t>2) Check the required form and you may need to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GB"/>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44271317"/>
                      </a:ext>
                    </a:extLst>
                  </a:tr>
                </a:tbl>
              </a:graphicData>
            </a:graphic>
          </p:graphicFrame>
        </mc:Fallback>
      </mc:AlternateContent>
      <p:sp>
        <p:nvSpPr>
          <p:cNvPr id="6" name="TextBox 5">
            <a:extLst>
              <a:ext uri="{FF2B5EF4-FFF2-40B4-BE49-F238E27FC236}">
                <a16:creationId xmlns:a16="http://schemas.microsoft.com/office/drawing/2014/main" id="{ABB0F5F8-CB9D-DF89-F651-573560D51D14}"/>
              </a:ext>
            </a:extLst>
          </p:cNvPr>
          <p:cNvSpPr txBox="1"/>
          <p:nvPr/>
        </p:nvSpPr>
        <p:spPr>
          <a:xfrm>
            <a:off x="4853492" y="4506555"/>
            <a:ext cx="1517734" cy="276999"/>
          </a:xfrm>
          <a:prstGeom prst="rect">
            <a:avLst/>
          </a:prstGeom>
          <a:noFill/>
          <a:ln>
            <a:noFill/>
          </a:ln>
        </p:spPr>
        <p:txBody>
          <a:bodyPr wrap="squar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3 - You do…</a:t>
            </a:r>
          </a:p>
        </p:txBody>
      </p:sp>
      <p:sp>
        <p:nvSpPr>
          <p:cNvPr id="7" name="TextBox 6">
            <a:extLst>
              <a:ext uri="{FF2B5EF4-FFF2-40B4-BE49-F238E27FC236}">
                <a16:creationId xmlns:a16="http://schemas.microsoft.com/office/drawing/2014/main" id="{526B67B6-4416-2CCD-0566-2E5A0EC9F606}"/>
              </a:ext>
            </a:extLst>
          </p:cNvPr>
          <p:cNvSpPr txBox="1"/>
          <p:nvPr/>
        </p:nvSpPr>
        <p:spPr>
          <a:xfrm>
            <a:off x="3051789" y="4514183"/>
            <a:ext cx="1494425" cy="276999"/>
          </a:xfrm>
          <a:prstGeom prst="rect">
            <a:avLst/>
          </a:prstGeom>
          <a:noFill/>
          <a:ln>
            <a:noFill/>
          </a:ln>
        </p:spPr>
        <p:txBody>
          <a:bodyPr wrap="squar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2 - We do…</a:t>
            </a:r>
          </a:p>
        </p:txBody>
      </p:sp>
      <p:sp>
        <p:nvSpPr>
          <p:cNvPr id="8" name="TextBox 7">
            <a:extLst>
              <a:ext uri="{FF2B5EF4-FFF2-40B4-BE49-F238E27FC236}">
                <a16:creationId xmlns:a16="http://schemas.microsoft.com/office/drawing/2014/main" id="{300516A7-4320-95EE-0410-FBE1C5204371}"/>
              </a:ext>
            </a:extLst>
          </p:cNvPr>
          <p:cNvSpPr txBox="1"/>
          <p:nvPr/>
        </p:nvSpPr>
        <p:spPr>
          <a:xfrm>
            <a:off x="1310633" y="4523541"/>
            <a:ext cx="1325023" cy="276999"/>
          </a:xfrm>
          <a:prstGeom prst="rect">
            <a:avLst/>
          </a:prstGeom>
          <a:noFill/>
          <a:ln>
            <a:noFill/>
          </a:ln>
        </p:spPr>
        <p:txBody>
          <a:bodyPr wrap="squar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1 - I do…</a:t>
            </a:r>
          </a:p>
        </p:txBody>
      </p:sp>
      <p:sp>
        <p:nvSpPr>
          <p:cNvPr id="9" name="TextBox 8">
            <a:extLst>
              <a:ext uri="{FF2B5EF4-FFF2-40B4-BE49-F238E27FC236}">
                <a16:creationId xmlns:a16="http://schemas.microsoft.com/office/drawing/2014/main" id="{0CD51B4F-5479-53C0-1058-7C3344658B5D}"/>
              </a:ext>
            </a:extLst>
          </p:cNvPr>
          <p:cNvSpPr txBox="1"/>
          <p:nvPr/>
        </p:nvSpPr>
        <p:spPr>
          <a:xfrm>
            <a:off x="0" y="7236070"/>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F32B9A4B-178D-AFCA-C18B-9EDF06B144C2}"/>
                  </a:ext>
                </a:extLst>
              </p:cNvPr>
              <p:cNvGraphicFramePr>
                <a:graphicFrameLocks noGrp="1"/>
              </p:cNvGraphicFramePr>
              <p:nvPr>
                <p:extLst>
                  <p:ext uri="{D42A27DB-BD31-4B8C-83A1-F6EECF244321}">
                    <p14:modId xmlns:p14="http://schemas.microsoft.com/office/powerpoint/2010/main" val="2428008078"/>
                  </p:ext>
                </p:extLst>
              </p:nvPr>
            </p:nvGraphicFramePr>
            <p:xfrm>
              <a:off x="101599" y="7623041"/>
              <a:ext cx="6565900" cy="862666"/>
            </p:xfrm>
            <a:graphic>
              <a:graphicData uri="http://schemas.openxmlformats.org/drawingml/2006/table">
                <a:tbl>
                  <a:tblPr firstRow="1" firstCol="1" bandRow="1">
                    <a:tableStyleId>{5C22544A-7EE6-4342-B048-85BDC9FD1C3A}</a:tableStyleId>
                  </a:tblPr>
                  <a:tblGrid>
                    <a:gridCol w="1641475">
                      <a:extLst>
                        <a:ext uri="{9D8B030D-6E8A-4147-A177-3AD203B41FA5}">
                          <a16:colId xmlns:a16="http://schemas.microsoft.com/office/drawing/2014/main" val="2027684108"/>
                        </a:ext>
                      </a:extLst>
                    </a:gridCol>
                    <a:gridCol w="1641475">
                      <a:extLst>
                        <a:ext uri="{9D8B030D-6E8A-4147-A177-3AD203B41FA5}">
                          <a16:colId xmlns:a16="http://schemas.microsoft.com/office/drawing/2014/main" val="3518772541"/>
                        </a:ext>
                      </a:extLst>
                    </a:gridCol>
                    <a:gridCol w="1641475">
                      <a:extLst>
                        <a:ext uri="{9D8B030D-6E8A-4147-A177-3AD203B41FA5}">
                          <a16:colId xmlns:a16="http://schemas.microsoft.com/office/drawing/2014/main" val="3643976726"/>
                        </a:ext>
                      </a:extLst>
                    </a:gridCol>
                    <a:gridCol w="1641475">
                      <a:extLst>
                        <a:ext uri="{9D8B030D-6E8A-4147-A177-3AD203B41FA5}">
                          <a16:colId xmlns:a16="http://schemas.microsoft.com/office/drawing/2014/main" val="3385755172"/>
                        </a:ext>
                      </a:extLst>
                    </a:gridCol>
                  </a:tblGrid>
                  <a:tr h="862666">
                    <a:tc>
                      <a:txBody>
                        <a:bodyPr/>
                        <a:lstStyle/>
                        <a:p>
                          <a:pPr>
                            <a:lnSpc>
                              <a:spcPct val="107000"/>
                            </a:lnSpc>
                            <a:spcAft>
                              <a:spcPts val="800"/>
                            </a:spcAft>
                            <a:buNone/>
                          </a:pPr>
                          <a:r>
                            <a:rPr lang="en-GB" sz="1000" noProof="0" dirty="0">
                              <a:solidFill>
                                <a:schemeClr val="tx1"/>
                              </a:solidFill>
                              <a:effectLst/>
                            </a:rPr>
                            <a:t>a) </a:t>
                          </a:r>
                          <a14:m>
                            <m:oMath xmlns:m="http://schemas.openxmlformats.org/officeDocument/2006/math">
                              <m:r>
                                <a:rPr lang="en-GB" sz="1000" noProof="0">
                                  <a:solidFill>
                                    <a:schemeClr val="tx1"/>
                                  </a:solidFill>
                                  <a:effectLst/>
                                  <a:latin typeface="Cambria Math" panose="02040503050406030204" pitchFamily="18" charset="0"/>
                                </a:rPr>
                                <m:t>7(2</m:t>
                              </m:r>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+3)</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b) </a:t>
                          </a:r>
                          <a14:m>
                            <m:oMath xmlns:m="http://schemas.openxmlformats.org/officeDocument/2006/math">
                              <m:r>
                                <a:rPr lang="en-GB" sz="1000" noProof="0">
                                  <a:solidFill>
                                    <a:schemeClr val="tx1"/>
                                  </a:solidFill>
                                  <a:effectLst/>
                                  <a:latin typeface="Cambria Math" panose="02040503050406030204" pitchFamily="18" charset="0"/>
                                </a:rPr>
                                <m:t>−2(</m:t>
                              </m:r>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+4)</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c) </a:t>
                          </a:r>
                          <a14:m>
                            <m:oMath xmlns:m="http://schemas.openxmlformats.org/officeDocument/2006/math">
                              <m:f>
                                <m:fPr>
                                  <m:ctrlPr>
                                    <a:rPr lang="en-GB" sz="1000" i="1" noProof="0" smtClean="0">
                                      <a:solidFill>
                                        <a:schemeClr val="tx1"/>
                                      </a:solidFill>
                                      <a:effectLst/>
                                      <a:latin typeface="Cambria Math" panose="02040503050406030204" pitchFamily="18" charset="0"/>
                                    </a:rPr>
                                  </m:ctrlPr>
                                </m:fPr>
                                <m:num>
                                  <m:r>
                                    <a:rPr lang="en-GB" sz="1000" noProof="0">
                                      <a:solidFill>
                                        <a:schemeClr val="tx1"/>
                                      </a:solidFill>
                                      <a:effectLst/>
                                      <a:latin typeface="Cambria Math" panose="02040503050406030204" pitchFamily="18" charset="0"/>
                                    </a:rPr>
                                    <m:t>1</m:t>
                                  </m:r>
                                </m:num>
                                <m:den>
                                  <m:r>
                                    <a:rPr lang="en-GB" sz="1000" noProof="0">
                                      <a:solidFill>
                                        <a:schemeClr val="tx1"/>
                                      </a:solidFill>
                                      <a:effectLst/>
                                      <a:latin typeface="Cambria Math" panose="02040503050406030204" pitchFamily="18" charset="0"/>
                                    </a:rPr>
                                    <m:t>2</m:t>
                                  </m:r>
                                </m:den>
                              </m:f>
                              <m:r>
                                <a:rPr lang="en-GB" sz="1000" noProof="0">
                                  <a:solidFill>
                                    <a:schemeClr val="tx1"/>
                                  </a:solidFill>
                                  <a:effectLst/>
                                  <a:latin typeface="Cambria Math" panose="02040503050406030204" pitchFamily="18" charset="0"/>
                                </a:rPr>
                                <m:t>(6</m:t>
                              </m:r>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+8)</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noProof="0" dirty="0">
                              <a:solidFill>
                                <a:schemeClr val="tx1"/>
                              </a:solidFill>
                              <a:effectLst/>
                            </a:rPr>
                            <a:t>d) </a:t>
                          </a:r>
                          <a14:m>
                            <m:oMath xmlns:m="http://schemas.openxmlformats.org/officeDocument/2006/math">
                              <m:r>
                                <a:rPr lang="en-GB" sz="1000" noProof="0">
                                  <a:solidFill>
                                    <a:schemeClr val="tx1"/>
                                  </a:solidFill>
                                  <a:effectLst/>
                                  <a:latin typeface="Cambria Math" panose="02040503050406030204" pitchFamily="18" charset="0"/>
                                </a:rPr>
                                <m:t>−8(4−3</m:t>
                              </m:r>
                              <m:r>
                                <a:rPr lang="en-GB" sz="1000" noProof="0">
                                  <a:solidFill>
                                    <a:schemeClr val="tx1"/>
                                  </a:solidFill>
                                  <a:effectLst/>
                                  <a:latin typeface="Cambria Math" panose="02040503050406030204" pitchFamily="18" charset="0"/>
                                </a:rPr>
                                <m:t>𝑥</m:t>
                              </m:r>
                              <m:r>
                                <a:rPr lang="en-GB" sz="1000" noProof="0">
                                  <a:solidFill>
                                    <a:schemeClr val="tx1"/>
                                  </a:solidFill>
                                  <a:effectLst/>
                                  <a:latin typeface="Cambria Math" panose="02040503050406030204" pitchFamily="18" charset="0"/>
                                </a:rPr>
                                <m:t>)</m:t>
                              </m:r>
                            </m:oMath>
                          </a14:m>
                          <a:endParaRPr lang="en-GB" sz="10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4852782"/>
                      </a:ext>
                    </a:extLst>
                  </a:tr>
                </a:tbl>
              </a:graphicData>
            </a:graphic>
          </p:graphicFrame>
        </mc:Choice>
        <mc:Fallback xmlns="">
          <p:graphicFrame>
            <p:nvGraphicFramePr>
              <p:cNvPr id="19" name="Table 18">
                <a:extLst>
                  <a:ext uri="{FF2B5EF4-FFF2-40B4-BE49-F238E27FC236}">
                    <a16:creationId xmlns:a16="http://schemas.microsoft.com/office/drawing/2014/main" id="{F32B9A4B-178D-AFCA-C18B-9EDF06B144C2}"/>
                  </a:ext>
                </a:extLst>
              </p:cNvPr>
              <p:cNvGraphicFramePr>
                <a:graphicFrameLocks noGrp="1"/>
              </p:cNvGraphicFramePr>
              <p:nvPr>
                <p:extLst>
                  <p:ext uri="{D42A27DB-BD31-4B8C-83A1-F6EECF244321}">
                    <p14:modId xmlns:p14="http://schemas.microsoft.com/office/powerpoint/2010/main" val="2428008078"/>
                  </p:ext>
                </p:extLst>
              </p:nvPr>
            </p:nvGraphicFramePr>
            <p:xfrm>
              <a:off x="101599" y="7623041"/>
              <a:ext cx="6565900" cy="862666"/>
            </p:xfrm>
            <a:graphic>
              <a:graphicData uri="http://schemas.openxmlformats.org/drawingml/2006/table">
                <a:tbl>
                  <a:tblPr firstRow="1" firstCol="1" bandRow="1">
                    <a:tableStyleId>{5C22544A-7EE6-4342-B048-85BDC9FD1C3A}</a:tableStyleId>
                  </a:tblPr>
                  <a:tblGrid>
                    <a:gridCol w="1641475">
                      <a:extLst>
                        <a:ext uri="{9D8B030D-6E8A-4147-A177-3AD203B41FA5}">
                          <a16:colId xmlns:a16="http://schemas.microsoft.com/office/drawing/2014/main" val="2027684108"/>
                        </a:ext>
                      </a:extLst>
                    </a:gridCol>
                    <a:gridCol w="1641475">
                      <a:extLst>
                        <a:ext uri="{9D8B030D-6E8A-4147-A177-3AD203B41FA5}">
                          <a16:colId xmlns:a16="http://schemas.microsoft.com/office/drawing/2014/main" val="3518772541"/>
                        </a:ext>
                      </a:extLst>
                    </a:gridCol>
                    <a:gridCol w="1641475">
                      <a:extLst>
                        <a:ext uri="{9D8B030D-6E8A-4147-A177-3AD203B41FA5}">
                          <a16:colId xmlns:a16="http://schemas.microsoft.com/office/drawing/2014/main" val="3643976726"/>
                        </a:ext>
                      </a:extLst>
                    </a:gridCol>
                    <a:gridCol w="1641475">
                      <a:extLst>
                        <a:ext uri="{9D8B030D-6E8A-4147-A177-3AD203B41FA5}">
                          <a16:colId xmlns:a16="http://schemas.microsoft.com/office/drawing/2014/main" val="3385755172"/>
                        </a:ext>
                      </a:extLst>
                    </a:gridCol>
                  </a:tblGrid>
                  <a:tr h="862666">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70" t="-3497" r="-300000" b="-1399"/>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743" t="-3497" r="-201115" b="-1399"/>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3497" r="-100370" b="-1399"/>
                          </a:stretch>
                        </a:blipFill>
                      </a:tcPr>
                    </a:tc>
                    <a:tc>
                      <a:txBody>
                        <a:bodyPr/>
                        <a:lstStyle/>
                        <a:p>
                          <a:endParaRPr lang="en-US"/>
                        </a:p>
                      </a:txBody>
                      <a:tcPr marL="61096" marR="6109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1115" t="-3497" r="-743" b="-1399"/>
                          </a:stretch>
                        </a:blipFill>
                      </a:tcPr>
                    </a:tc>
                    <a:extLst>
                      <a:ext uri="{0D108BD9-81ED-4DB2-BD59-A6C34878D82A}">
                        <a16:rowId xmlns:a16="http://schemas.microsoft.com/office/drawing/2014/main" val="1514852782"/>
                      </a:ext>
                    </a:extLst>
                  </a:tr>
                </a:tbl>
              </a:graphicData>
            </a:graphic>
          </p:graphicFrame>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92B44FB-3D92-6AF9-7B14-70CAB0A961AA}"/>
                  </a:ext>
                </a:extLst>
              </p:cNvPr>
              <p:cNvSpPr txBox="1"/>
              <p:nvPr/>
            </p:nvSpPr>
            <p:spPr>
              <a:xfrm>
                <a:off x="0" y="8485707"/>
                <a:ext cx="3460750" cy="276999"/>
              </a:xfrm>
              <a:prstGeom prst="rect">
                <a:avLst/>
              </a:prstGeom>
              <a:noFill/>
            </p:spPr>
            <p:txBody>
              <a:bodyPr wrap="square">
                <a:spAutoFit/>
              </a:bodyPr>
              <a:lstStyle/>
              <a:p>
                <a:r>
                  <a:rPr lang="en-GB" sz="1200" noProof="0" dirty="0"/>
                  <a:t>Question 2: Express in the form </a:t>
                </a:r>
                <a14:m>
                  <m:oMath xmlns:m="http://schemas.openxmlformats.org/officeDocument/2006/math">
                    <m:r>
                      <a:rPr lang="en-GB" sz="1200" b="0" i="1" noProof="0">
                        <a:latin typeface="Cambria Math" panose="02040503050406030204" pitchFamily="18" charset="0"/>
                      </a:rPr>
                      <m:t>𝑎𝑥</m:t>
                    </m:r>
                    <m:r>
                      <a:rPr lang="en-GB" sz="1200" b="0" i="1" noProof="0">
                        <a:latin typeface="Cambria Math" panose="02040503050406030204" pitchFamily="18" charset="0"/>
                      </a:rPr>
                      <m:t>(</m:t>
                    </m:r>
                    <m:r>
                      <a:rPr lang="en-GB" sz="1200" b="0" i="1" noProof="0">
                        <a:latin typeface="Cambria Math" panose="02040503050406030204" pitchFamily="18" charset="0"/>
                      </a:rPr>
                      <m:t>𝑏𝑥</m:t>
                    </m:r>
                    <m:r>
                      <a:rPr lang="en-GB" sz="1200" b="0" i="1" noProof="0">
                        <a:latin typeface="Cambria Math" panose="02040503050406030204" pitchFamily="18" charset="0"/>
                      </a:rPr>
                      <m:t>+</m:t>
                    </m:r>
                    <m:r>
                      <a:rPr lang="en-GB" sz="1200" b="0" i="1" noProof="0">
                        <a:latin typeface="Cambria Math" panose="02040503050406030204" pitchFamily="18" charset="0"/>
                      </a:rPr>
                      <m:t>𝑐</m:t>
                    </m:r>
                    <m:r>
                      <a:rPr lang="en-GB" sz="1200" b="0" i="1" noProof="0">
                        <a:latin typeface="Cambria Math" panose="02040503050406030204" pitchFamily="18" charset="0"/>
                      </a:rPr>
                      <m:t>)</m:t>
                    </m:r>
                  </m:oMath>
                </a14:m>
                <a:endParaRPr lang="en-GB" sz="1200" noProof="0" dirty="0"/>
              </a:p>
            </p:txBody>
          </p:sp>
        </mc:Choice>
        <mc:Fallback xmlns="">
          <p:sp>
            <p:nvSpPr>
              <p:cNvPr id="21" name="TextBox 20">
                <a:extLst>
                  <a:ext uri="{FF2B5EF4-FFF2-40B4-BE49-F238E27FC236}">
                    <a16:creationId xmlns:a16="http://schemas.microsoft.com/office/drawing/2014/main" id="{A92B44FB-3D92-6AF9-7B14-70CAB0A961AA}"/>
                  </a:ext>
                </a:extLst>
              </p:cNvPr>
              <p:cNvSpPr txBox="1">
                <a:spLocks noRot="1" noChangeAspect="1" noMove="1" noResize="1" noEditPoints="1" noAdjustHandles="1" noChangeArrowheads="1" noChangeShapeType="1" noTextEdit="1"/>
              </p:cNvSpPr>
              <p:nvPr/>
            </p:nvSpPr>
            <p:spPr>
              <a:xfrm>
                <a:off x="0" y="8485707"/>
                <a:ext cx="3460750" cy="276999"/>
              </a:xfrm>
              <a:prstGeom prst="rect">
                <a:avLst/>
              </a:prstGeom>
              <a:blipFill>
                <a:blip r:embed="rId6"/>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35AA76C-EB88-9EED-F0DE-FAC0F5D1FAE0}"/>
                  </a:ext>
                </a:extLst>
              </p:cNvPr>
              <p:cNvSpPr txBox="1"/>
              <p:nvPr/>
            </p:nvSpPr>
            <p:spPr>
              <a:xfrm>
                <a:off x="1654174" y="7195791"/>
                <a:ext cx="3460750" cy="280718"/>
              </a:xfrm>
              <a:prstGeom prst="rect">
                <a:avLst/>
              </a:prstGeom>
              <a:noFill/>
            </p:spPr>
            <p:txBody>
              <a:bodyPr wrap="square">
                <a:spAutoFit/>
              </a:bodyPr>
              <a:lstStyle/>
              <a:p>
                <a:pPr>
                  <a:lnSpc>
                    <a:spcPct val="107000"/>
                  </a:lnSpc>
                  <a:spcAft>
                    <a:spcPts val="800"/>
                  </a:spcAft>
                </a:pPr>
                <a:r>
                  <a:rPr lang="en-GB" sz="1200" noProof="0" dirty="0">
                    <a:effectLst/>
                    <a:latin typeface="Calibri" panose="020F0502020204030204" pitchFamily="34" charset="0"/>
                    <a:ea typeface="Calibri" panose="020F0502020204030204" pitchFamily="34" charset="0"/>
                    <a:cs typeface="Times New Roman" panose="02020603050405020304" pitchFamily="18" charset="0"/>
                  </a:rPr>
                  <a:t>Question 1: Express in the form </a:t>
                </a:r>
                <a14:m>
                  <m:oMath xmlns:m="http://schemas.openxmlformats.org/officeDocument/2006/math">
                    <m:r>
                      <a:rPr lang="en-GB" sz="1200" b="0" i="1" noProof="0">
                        <a:effectLst/>
                        <a:latin typeface="Cambria Math" panose="02040503050406030204" pitchFamily="18" charset="0"/>
                        <a:ea typeface="Calibri" panose="020F0502020204030204" pitchFamily="34" charset="0"/>
                        <a:cs typeface="Times New Roman" panose="02020603050405020304" pitchFamily="18" charset="0"/>
                      </a:rPr>
                      <m:t>𝑎𝑥</m:t>
                    </m:r>
                    <m:r>
                      <a:rPr lang="en-GB" sz="1200" b="0" i="1" noProof="0">
                        <a:effectLst/>
                        <a:latin typeface="Cambria Math" panose="02040503050406030204" pitchFamily="18" charset="0"/>
                        <a:ea typeface="Calibri" panose="020F0502020204030204" pitchFamily="34" charset="0"/>
                        <a:cs typeface="Times New Roman" panose="02020603050405020304" pitchFamily="18" charset="0"/>
                      </a:rPr>
                      <m:t>+</m:t>
                    </m:r>
                    <m:r>
                      <a:rPr lang="en-GB" sz="1200" b="0" i="1" noProof="0">
                        <a:effectLst/>
                        <a:latin typeface="Cambria Math" panose="02040503050406030204" pitchFamily="18" charset="0"/>
                        <a:ea typeface="Calibri" panose="020F0502020204030204" pitchFamily="34" charset="0"/>
                        <a:cs typeface="Times New Roman" panose="02020603050405020304" pitchFamily="18" charset="0"/>
                      </a:rPr>
                      <m:t>𝑏</m:t>
                    </m:r>
                  </m:oMath>
                </a14:m>
                <a:endParaRPr lang="en-GB" sz="1200" noProof="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TextBox 22">
                <a:extLst>
                  <a:ext uri="{FF2B5EF4-FFF2-40B4-BE49-F238E27FC236}">
                    <a16:creationId xmlns:a16="http://schemas.microsoft.com/office/drawing/2014/main" id="{535AA76C-EB88-9EED-F0DE-FAC0F5D1FAE0}"/>
                  </a:ext>
                </a:extLst>
              </p:cNvPr>
              <p:cNvSpPr txBox="1">
                <a:spLocks noRot="1" noChangeAspect="1" noMove="1" noResize="1" noEditPoints="1" noAdjustHandles="1" noChangeArrowheads="1" noChangeShapeType="1" noTextEdit="1"/>
              </p:cNvSpPr>
              <p:nvPr/>
            </p:nvSpPr>
            <p:spPr>
              <a:xfrm>
                <a:off x="1654174" y="7195791"/>
                <a:ext cx="3460750" cy="280718"/>
              </a:xfrm>
              <a:prstGeom prst="rect">
                <a:avLst/>
              </a:prstGeom>
              <a:blipFill>
                <a:blip r:embed="rId7"/>
                <a:stretch>
                  <a:fillRect b="-17391"/>
                </a:stretch>
              </a:blipFill>
            </p:spPr>
            <p:txBody>
              <a:bodyPr/>
              <a:lstStyle/>
              <a:p>
                <a:r>
                  <a:rPr lang="en-US">
                    <a:noFill/>
                  </a:rPr>
                  <a:t> </a:t>
                </a:r>
              </a:p>
            </p:txBody>
          </p:sp>
        </mc:Fallback>
      </mc:AlternateContent>
    </p:spTree>
    <p:extLst>
      <p:ext uri="{BB962C8B-B14F-4D97-AF65-F5344CB8AC3E}">
        <p14:creationId xmlns:p14="http://schemas.microsoft.com/office/powerpoint/2010/main" val="3135394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0E7B5-983D-076A-106A-033E582014E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7785FE6-1F71-1293-1C84-53063610C28F}"/>
                  </a:ext>
                </a:extLst>
              </p:cNvPr>
              <p:cNvGraphicFramePr>
                <a:graphicFrameLocks noGrp="1"/>
              </p:cNvGraphicFramePr>
              <p:nvPr>
                <p:extLst>
                  <p:ext uri="{D42A27DB-BD31-4B8C-83A1-F6EECF244321}">
                    <p14:modId xmlns:p14="http://schemas.microsoft.com/office/powerpoint/2010/main" val="297653761"/>
                  </p:ext>
                </p:extLst>
              </p:nvPr>
            </p:nvGraphicFramePr>
            <p:xfrm>
              <a:off x="186989" y="1537289"/>
              <a:ext cx="6484022" cy="3055233"/>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332266">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     </a:t>
                          </a:r>
                          <a14:m>
                            <m:oMath xmlns:m="http://schemas.openxmlformats.org/officeDocument/2006/math">
                              <m:f>
                                <m:fPr>
                                  <m:ctrlPr>
                                    <a:rPr lang="en-GB" sz="1400" b="1" i="1" kern="1200" noProof="0" smtClean="0">
                                      <a:solidFill>
                                        <a:schemeClr val="tx1"/>
                                      </a:solidFill>
                                      <a:effectLst/>
                                      <a:latin typeface="Cambria Math" panose="02040503050406030204" pitchFamily="18" charset="0"/>
                                      <a:ea typeface="+mn-ea"/>
                                      <a:cs typeface="+mn-cs"/>
                                    </a:rPr>
                                  </m:ctrlPr>
                                </m:fPr>
                                <m:num>
                                  <m:r>
                                    <a:rPr lang="en-GB" sz="1400" b="1" i="1" kern="1200" noProof="0">
                                      <a:solidFill>
                                        <a:schemeClr val="tx1"/>
                                      </a:solidFill>
                                      <a:effectLst/>
                                      <a:latin typeface="Cambria Math" panose="02040503050406030204" pitchFamily="18" charset="0"/>
                                      <a:ea typeface="+mn-ea"/>
                                      <a:cs typeface="+mn-cs"/>
                                    </a:rPr>
                                    <m:t>12</m:t>
                                  </m:r>
                                  <m:sSup>
                                    <m:sSupPr>
                                      <m:ctrlPr>
                                        <a:rPr lang="en-GB" sz="1400" b="1" i="1" kern="1200" noProof="0" smtClean="0">
                                          <a:solidFill>
                                            <a:schemeClr val="tx1"/>
                                          </a:solidFill>
                                          <a:effectLst/>
                                          <a:latin typeface="Cambria Math" panose="02040503050406030204" pitchFamily="18" charset="0"/>
                                          <a:ea typeface="+mn-ea"/>
                                          <a:cs typeface="+mn-cs"/>
                                        </a:rPr>
                                      </m:ctrlPr>
                                    </m:sSupPr>
                                    <m:e>
                                      <m:r>
                                        <a:rPr lang="en-GB" sz="1400" b="1" i="1" kern="1200" noProof="0">
                                          <a:solidFill>
                                            <a:schemeClr val="tx1"/>
                                          </a:solidFill>
                                          <a:effectLst/>
                                          <a:latin typeface="Cambria Math" panose="02040503050406030204" pitchFamily="18" charset="0"/>
                                          <a:ea typeface="+mn-ea"/>
                                          <a:cs typeface="+mn-cs"/>
                                        </a:rPr>
                                        <m:t>𝑥</m:t>
                                      </m:r>
                                    </m:e>
                                    <m:sup>
                                      <m:r>
                                        <a:rPr lang="en-GB" sz="1400" b="1" i="1" kern="1200" noProof="0">
                                          <a:solidFill>
                                            <a:schemeClr val="tx1"/>
                                          </a:solidFill>
                                          <a:effectLst/>
                                          <a:latin typeface="Cambria Math" panose="02040503050406030204" pitchFamily="18" charset="0"/>
                                          <a:ea typeface="+mn-ea"/>
                                          <a:cs typeface="+mn-cs"/>
                                        </a:rPr>
                                        <m:t>4</m:t>
                                      </m:r>
                                    </m:sup>
                                  </m:sSup>
                                  <m:sSup>
                                    <m:sSupPr>
                                      <m:ctrlPr>
                                        <a:rPr lang="en-GB" sz="1400" b="1" i="1" kern="1200" noProof="0" smtClean="0">
                                          <a:solidFill>
                                            <a:schemeClr val="tx1"/>
                                          </a:solidFill>
                                          <a:effectLst/>
                                          <a:latin typeface="Cambria Math" panose="02040503050406030204" pitchFamily="18" charset="0"/>
                                          <a:ea typeface="+mn-ea"/>
                                          <a:cs typeface="+mn-cs"/>
                                        </a:rPr>
                                      </m:ctrlPr>
                                    </m:sSupPr>
                                    <m:e>
                                      <m:r>
                                        <a:rPr lang="en-GB" sz="1400" b="1" i="1" kern="1200" noProof="0">
                                          <a:solidFill>
                                            <a:schemeClr val="tx1"/>
                                          </a:solidFill>
                                          <a:effectLst/>
                                          <a:latin typeface="Cambria Math" panose="02040503050406030204" pitchFamily="18" charset="0"/>
                                          <a:ea typeface="+mn-ea"/>
                                          <a:cs typeface="+mn-cs"/>
                                        </a:rPr>
                                        <m:t>𝑦</m:t>
                                      </m:r>
                                    </m:e>
                                    <m:sup>
                                      <m:r>
                                        <a:rPr lang="en-GB" sz="1400" b="1" i="1" kern="1200" noProof="0">
                                          <a:solidFill>
                                            <a:schemeClr val="tx1"/>
                                          </a:solidFill>
                                          <a:effectLst/>
                                          <a:latin typeface="Cambria Math" panose="02040503050406030204" pitchFamily="18" charset="0"/>
                                          <a:ea typeface="+mn-ea"/>
                                          <a:cs typeface="+mn-cs"/>
                                        </a:rPr>
                                        <m:t>3</m:t>
                                      </m:r>
                                    </m:sup>
                                  </m:sSup>
                                </m:num>
                                <m:den>
                                  <m:r>
                                    <a:rPr lang="en-GB" sz="1400" b="1" i="1" kern="1200" noProof="0">
                                      <a:solidFill>
                                        <a:schemeClr val="tx1"/>
                                      </a:solidFill>
                                      <a:effectLst/>
                                      <a:latin typeface="Cambria Math" panose="02040503050406030204" pitchFamily="18" charset="0"/>
                                      <a:ea typeface="+mn-ea"/>
                                      <a:cs typeface="+mn-cs"/>
                                    </a:rPr>
                                    <m:t>9</m:t>
                                  </m:r>
                                  <m:r>
                                    <a:rPr lang="en-GB" sz="1400" b="1" i="1" kern="1200" noProof="0">
                                      <a:solidFill>
                                        <a:schemeClr val="tx1"/>
                                      </a:solidFill>
                                      <a:effectLst/>
                                      <a:latin typeface="Cambria Math" panose="02040503050406030204" pitchFamily="18" charset="0"/>
                                      <a:ea typeface="+mn-ea"/>
                                      <a:cs typeface="+mn-cs"/>
                                    </a:rPr>
                                    <m:t>𝑥</m:t>
                                  </m:r>
                                  <m:sSup>
                                    <m:sSupPr>
                                      <m:ctrlPr>
                                        <a:rPr lang="en-GB" sz="1400" b="1" i="1" kern="1200" noProof="0" smtClean="0">
                                          <a:solidFill>
                                            <a:schemeClr val="tx1"/>
                                          </a:solidFill>
                                          <a:effectLst/>
                                          <a:latin typeface="Cambria Math" panose="02040503050406030204" pitchFamily="18" charset="0"/>
                                          <a:ea typeface="+mn-ea"/>
                                          <a:cs typeface="+mn-cs"/>
                                        </a:rPr>
                                      </m:ctrlPr>
                                    </m:sSupPr>
                                    <m:e>
                                      <m:r>
                                        <a:rPr lang="en-GB" sz="1400" b="1" i="1" kern="1200" noProof="0">
                                          <a:solidFill>
                                            <a:schemeClr val="tx1"/>
                                          </a:solidFill>
                                          <a:effectLst/>
                                          <a:latin typeface="Cambria Math" panose="02040503050406030204" pitchFamily="18" charset="0"/>
                                          <a:ea typeface="+mn-ea"/>
                                          <a:cs typeface="+mn-cs"/>
                                        </a:rPr>
                                        <m:t>𝑦</m:t>
                                      </m:r>
                                    </m:e>
                                    <m:sup>
                                      <m:r>
                                        <a:rPr lang="en-GB" sz="1400" b="1" i="1" kern="1200" noProof="0">
                                          <a:solidFill>
                                            <a:schemeClr val="tx1"/>
                                          </a:solidFill>
                                          <a:effectLst/>
                                          <a:latin typeface="Cambria Math" panose="02040503050406030204" pitchFamily="18" charset="0"/>
                                          <a:ea typeface="+mn-ea"/>
                                          <a:cs typeface="+mn-cs"/>
                                        </a:rPr>
                                        <m:t>2</m:t>
                                      </m:r>
                                    </m:sup>
                                  </m:sSup>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a:t>
                          </a:r>
                          <a:r>
                            <a:rPr lang="en-GB" sz="1100" b="0" baseline="0" noProof="0" dirty="0">
                              <a:solidFill>
                                <a:schemeClr val="tx1"/>
                              </a:solidFill>
                            </a:rPr>
                            <a:t>   </a:t>
                          </a:r>
                          <a14:m>
                            <m:oMath xmlns:m="http://schemas.openxmlformats.org/officeDocument/2006/math">
                              <m:f>
                                <m:fPr>
                                  <m:ctrlPr>
                                    <a:rPr lang="en-GB" sz="1350" b="1" i="1" kern="1200" noProof="0" smtClean="0">
                                      <a:solidFill>
                                        <a:schemeClr val="tx1"/>
                                      </a:solidFill>
                                      <a:effectLst/>
                                      <a:latin typeface="Cambria Math" panose="02040503050406030204" pitchFamily="18" charset="0"/>
                                      <a:ea typeface="+mn-ea"/>
                                      <a:cs typeface="+mn-cs"/>
                                    </a:rPr>
                                  </m:ctrlPr>
                                </m:fPr>
                                <m:num>
                                  <m:r>
                                    <a:rPr lang="en-GB" sz="1350" b="1" i="1" kern="1200" noProof="0">
                                      <a:solidFill>
                                        <a:schemeClr val="tx1"/>
                                      </a:solidFill>
                                      <a:effectLst/>
                                      <a:latin typeface="Cambria Math" panose="02040503050406030204" pitchFamily="18" charset="0"/>
                                      <a:ea typeface="+mn-ea"/>
                                      <a:cs typeface="+mn-cs"/>
                                    </a:rPr>
                                    <m:t>28</m:t>
                                  </m:r>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𝑥</m:t>
                                      </m:r>
                                    </m:e>
                                    <m:sup>
                                      <m:r>
                                        <a:rPr lang="en-GB" sz="1350" b="1" i="1" kern="1200" noProof="0">
                                          <a:solidFill>
                                            <a:schemeClr val="tx1"/>
                                          </a:solidFill>
                                          <a:effectLst/>
                                          <a:latin typeface="Cambria Math" panose="02040503050406030204" pitchFamily="18" charset="0"/>
                                          <a:ea typeface="+mn-ea"/>
                                          <a:cs typeface="+mn-cs"/>
                                        </a:rPr>
                                        <m:t>5</m:t>
                                      </m:r>
                                    </m:sup>
                                  </m:sSup>
                                  <m:r>
                                    <a:rPr lang="en-GB" sz="1350" b="1" i="1" kern="1200" noProof="0">
                                      <a:solidFill>
                                        <a:schemeClr val="tx1"/>
                                      </a:solidFill>
                                      <a:effectLst/>
                                      <a:latin typeface="Cambria Math" panose="02040503050406030204" pitchFamily="18" charset="0"/>
                                      <a:ea typeface="+mn-ea"/>
                                      <a:cs typeface="+mn-cs"/>
                                    </a:rPr>
                                    <m:t>𝑦</m:t>
                                  </m:r>
                                </m:num>
                                <m:den>
                                  <m:r>
                                    <a:rPr lang="en-GB" sz="1350" b="1" i="1" kern="1200" noProof="0">
                                      <a:solidFill>
                                        <a:schemeClr val="tx1"/>
                                      </a:solidFill>
                                      <a:effectLst/>
                                      <a:latin typeface="Cambria Math" panose="02040503050406030204" pitchFamily="18" charset="0"/>
                                      <a:ea typeface="+mn-ea"/>
                                      <a:cs typeface="+mn-cs"/>
                                    </a:rPr>
                                    <m:t>49</m:t>
                                  </m:r>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𝑥</m:t>
                                      </m:r>
                                    </m:e>
                                    <m:sup>
                                      <m:r>
                                        <a:rPr lang="en-GB" sz="1350" b="1" i="1" kern="1200" noProof="0">
                                          <a:solidFill>
                                            <a:schemeClr val="tx1"/>
                                          </a:solidFill>
                                          <a:effectLst/>
                                          <a:latin typeface="Cambria Math" panose="02040503050406030204" pitchFamily="18" charset="0"/>
                                          <a:ea typeface="+mn-ea"/>
                                          <a:cs typeface="+mn-cs"/>
                                        </a:rPr>
                                        <m:t>5</m:t>
                                      </m:r>
                                    </m:sup>
                                  </m:sSup>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𝑦</m:t>
                                      </m:r>
                                    </m:e>
                                    <m:sup>
                                      <m:r>
                                        <a:rPr lang="en-GB" sz="1350" b="1" i="1" kern="1200" noProof="0">
                                          <a:solidFill>
                                            <a:schemeClr val="tx1"/>
                                          </a:solidFill>
                                          <a:effectLst/>
                                          <a:latin typeface="Cambria Math" panose="02040503050406030204" pitchFamily="18" charset="0"/>
                                          <a:ea typeface="+mn-ea"/>
                                          <a:cs typeface="+mn-cs"/>
                                        </a:rPr>
                                        <m:t>3</m:t>
                                      </m:r>
                                    </m:sup>
                                  </m:sSup>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100" b="0" noProof="0" dirty="0">
                              <a:solidFill>
                                <a:schemeClr val="tx1"/>
                              </a:solidFill>
                            </a:rPr>
                            <a:t>Simplify</a:t>
                          </a:r>
                          <a:r>
                            <a:rPr lang="en-GB" sz="1100" b="0" baseline="0" noProof="0" dirty="0">
                              <a:solidFill>
                                <a:schemeClr val="tx1"/>
                              </a:solidFill>
                            </a:rPr>
                            <a:t>   </a:t>
                          </a:r>
                          <a14:m>
                            <m:oMath xmlns:m="http://schemas.openxmlformats.org/officeDocument/2006/math">
                              <m:f>
                                <m:fPr>
                                  <m:ctrlPr>
                                    <a:rPr lang="en-GB" sz="1350" b="1" i="1" kern="1200" noProof="0" smtClean="0">
                                      <a:solidFill>
                                        <a:schemeClr val="tx1"/>
                                      </a:solidFill>
                                      <a:effectLst/>
                                      <a:latin typeface="Cambria Math" panose="02040503050406030204" pitchFamily="18" charset="0"/>
                                      <a:ea typeface="+mn-ea"/>
                                      <a:cs typeface="+mn-cs"/>
                                    </a:rPr>
                                  </m:ctrlPr>
                                </m:fPr>
                                <m:num>
                                  <m:r>
                                    <a:rPr lang="en-GB" sz="1350" b="1" i="1" kern="1200" noProof="0">
                                      <a:solidFill>
                                        <a:schemeClr val="tx1"/>
                                      </a:solidFill>
                                      <a:effectLst/>
                                      <a:latin typeface="Cambria Math" panose="02040503050406030204" pitchFamily="18" charset="0"/>
                                      <a:ea typeface="+mn-ea"/>
                                      <a:cs typeface="+mn-cs"/>
                                    </a:rPr>
                                    <m:t>30</m:t>
                                  </m:r>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𝑥</m:t>
                                      </m:r>
                                    </m:e>
                                    <m:sup>
                                      <m:r>
                                        <a:rPr lang="en-GB" sz="1350" b="1" i="1" kern="1200" noProof="0">
                                          <a:solidFill>
                                            <a:schemeClr val="tx1"/>
                                          </a:solidFill>
                                          <a:effectLst/>
                                          <a:latin typeface="Cambria Math" panose="02040503050406030204" pitchFamily="18" charset="0"/>
                                          <a:ea typeface="+mn-ea"/>
                                          <a:cs typeface="+mn-cs"/>
                                        </a:rPr>
                                        <m:t>5</m:t>
                                      </m:r>
                                    </m:sup>
                                  </m:sSup>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𝑦</m:t>
                                      </m:r>
                                    </m:e>
                                    <m:sup>
                                      <m:r>
                                        <a:rPr lang="en-GB" sz="1350" b="1" i="1" kern="1200" noProof="0">
                                          <a:solidFill>
                                            <a:schemeClr val="tx1"/>
                                          </a:solidFill>
                                          <a:effectLst/>
                                          <a:latin typeface="Cambria Math" panose="02040503050406030204" pitchFamily="18" charset="0"/>
                                          <a:ea typeface="+mn-ea"/>
                                          <a:cs typeface="+mn-cs"/>
                                        </a:rPr>
                                        <m:t>3</m:t>
                                      </m:r>
                                    </m:sup>
                                  </m:sSup>
                                </m:num>
                                <m:den>
                                  <m:r>
                                    <a:rPr lang="en-GB" sz="1350" b="1" i="1" kern="1200" noProof="0">
                                      <a:solidFill>
                                        <a:schemeClr val="tx1"/>
                                      </a:solidFill>
                                      <a:effectLst/>
                                      <a:latin typeface="Cambria Math" panose="02040503050406030204" pitchFamily="18" charset="0"/>
                                      <a:ea typeface="+mn-ea"/>
                                      <a:cs typeface="+mn-cs"/>
                                    </a:rPr>
                                    <m:t>18</m:t>
                                  </m:r>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𝑥</m:t>
                                      </m:r>
                                    </m:e>
                                    <m:sup>
                                      <m:r>
                                        <a:rPr lang="en-GB" sz="1350" b="1" i="1" kern="1200" noProof="0">
                                          <a:solidFill>
                                            <a:schemeClr val="tx1"/>
                                          </a:solidFill>
                                          <a:effectLst/>
                                          <a:latin typeface="Cambria Math" panose="02040503050406030204" pitchFamily="18" charset="0"/>
                                          <a:ea typeface="+mn-ea"/>
                                          <a:cs typeface="+mn-cs"/>
                                        </a:rPr>
                                        <m:t>10</m:t>
                                      </m:r>
                                    </m:sup>
                                  </m:sSup>
                                  <m:sSup>
                                    <m:sSupPr>
                                      <m:ctrlPr>
                                        <a:rPr lang="en-GB" sz="1350" b="1" i="1" kern="1200" noProof="0" smtClean="0">
                                          <a:solidFill>
                                            <a:schemeClr val="tx1"/>
                                          </a:solidFill>
                                          <a:effectLst/>
                                          <a:latin typeface="Cambria Math" panose="02040503050406030204" pitchFamily="18" charset="0"/>
                                          <a:ea typeface="+mn-ea"/>
                                          <a:cs typeface="+mn-cs"/>
                                        </a:rPr>
                                      </m:ctrlPr>
                                    </m:sSupPr>
                                    <m:e>
                                      <m:r>
                                        <a:rPr lang="en-GB" sz="1350" b="1" i="1" kern="1200" noProof="0">
                                          <a:solidFill>
                                            <a:schemeClr val="tx1"/>
                                          </a:solidFill>
                                          <a:effectLst/>
                                          <a:latin typeface="Cambria Math" panose="02040503050406030204" pitchFamily="18" charset="0"/>
                                          <a:ea typeface="+mn-ea"/>
                                          <a:cs typeface="+mn-cs"/>
                                        </a:rPr>
                                        <m:t>𝑦</m:t>
                                      </m:r>
                                    </m:e>
                                    <m:sup>
                                      <m:r>
                                        <a:rPr lang="en-GB" sz="1350" b="1" i="1" kern="1200" noProof="0">
                                          <a:solidFill>
                                            <a:schemeClr val="tx1"/>
                                          </a:solidFill>
                                          <a:effectLst/>
                                          <a:latin typeface="Cambria Math" panose="02040503050406030204" pitchFamily="18" charset="0"/>
                                          <a:ea typeface="+mn-ea"/>
                                          <a:cs typeface="+mn-cs"/>
                                        </a:rPr>
                                        <m:t>3</m:t>
                                      </m:r>
                                    </m:sup>
                                  </m:sSup>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09960">
                    <a:tc>
                      <a:txBody>
                        <a:bodyPr/>
                        <a:lstStyle/>
                        <a:p>
                          <a:r>
                            <a:rPr lang="en-GB" sz="1100" noProof="0" dirty="0">
                              <a:solidFill>
                                <a:schemeClr val="tx1"/>
                              </a:solidFill>
                            </a:rPr>
                            <a:t>1) Check</a:t>
                          </a:r>
                          <a:r>
                            <a:rPr lang="en-GB" sz="1100" baseline="0" noProof="0" dirty="0">
                              <a:solidFill>
                                <a:schemeClr val="tx1"/>
                              </a:solidFill>
                            </a:rPr>
                            <a:t> if the numerator/denominator for common factors.</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35284">
                    <a:tc>
                      <a:txBody>
                        <a:bodyPr/>
                        <a:lstStyle/>
                        <a:p>
                          <a:r>
                            <a:rPr lang="en-GB" sz="1100" noProof="0" dirty="0">
                              <a:solidFill>
                                <a:schemeClr val="tx1"/>
                              </a:solidFill>
                            </a:rPr>
                            <a:t>2) Cancel</a:t>
                          </a:r>
                          <a:r>
                            <a:rPr lang="en-GB" sz="1100" baseline="0" noProof="0" dirty="0">
                              <a:solidFill>
                                <a:schemeClr val="tx1"/>
                              </a:solidFill>
                            </a:rPr>
                            <a:t> common factors, being careful if powers are involved</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GB"/>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44271317"/>
                      </a:ext>
                    </a:extLst>
                  </a:tr>
                </a:tbl>
              </a:graphicData>
            </a:graphic>
          </p:graphicFrame>
        </mc:Choice>
        <mc:Fallback xmlns="">
          <p:graphicFrame>
            <p:nvGraphicFramePr>
              <p:cNvPr id="4" name="Table 3">
                <a:extLst>
                  <a:ext uri="{FF2B5EF4-FFF2-40B4-BE49-F238E27FC236}">
                    <a16:creationId xmlns:a16="http://schemas.microsoft.com/office/drawing/2014/main" id="{E7785FE6-1F71-1293-1C84-53063610C28F}"/>
                  </a:ext>
                </a:extLst>
              </p:cNvPr>
              <p:cNvGraphicFramePr>
                <a:graphicFrameLocks noGrp="1"/>
              </p:cNvGraphicFramePr>
              <p:nvPr>
                <p:extLst>
                  <p:ext uri="{D42A27DB-BD31-4B8C-83A1-F6EECF244321}">
                    <p14:modId xmlns:p14="http://schemas.microsoft.com/office/powerpoint/2010/main" val="297653761"/>
                  </p:ext>
                </p:extLst>
              </p:nvPr>
            </p:nvGraphicFramePr>
            <p:xfrm>
              <a:off x="186989" y="1537289"/>
              <a:ext cx="6484022" cy="3055233"/>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47993">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9364" t="-1351" r="-218021" b="-5864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2722" t="-1351" r="-95253" b="-5864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6522" t="-1351" r="-669" b="-586486"/>
                          </a:stretch>
                        </a:blipFill>
                      </a:tcPr>
                    </a:tc>
                    <a:extLst>
                      <a:ext uri="{0D108BD9-81ED-4DB2-BD59-A6C34878D82A}">
                        <a16:rowId xmlns:a16="http://schemas.microsoft.com/office/drawing/2014/main" val="2357201933"/>
                      </a:ext>
                    </a:extLst>
                  </a:tr>
                  <a:tr h="1509960">
                    <a:tc>
                      <a:txBody>
                        <a:bodyPr/>
                        <a:lstStyle/>
                        <a:p>
                          <a:r>
                            <a:rPr lang="en-GB" sz="1100" noProof="0">
                              <a:solidFill>
                                <a:schemeClr val="tx1"/>
                              </a:solidFill>
                            </a:rPr>
                            <a:t>1) Check</a:t>
                          </a:r>
                          <a:r>
                            <a:rPr lang="en-GB" sz="1100" baseline="0" noProof="0">
                              <a:solidFill>
                                <a:schemeClr val="tx1"/>
                              </a:solidFill>
                            </a:rPr>
                            <a:t> if the numerator/denominator for common factors.</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97280">
                    <a:tc>
                      <a:txBody>
                        <a:bodyPr/>
                        <a:lstStyle/>
                        <a:p>
                          <a:r>
                            <a:rPr lang="en-GB" sz="1100" noProof="0">
                              <a:solidFill>
                                <a:schemeClr val="tx1"/>
                              </a:solidFill>
                            </a:rPr>
                            <a:t>2) Cancel</a:t>
                          </a:r>
                          <a:r>
                            <a:rPr lang="en-GB" sz="1100" baseline="0" noProof="0">
                              <a:solidFill>
                                <a:schemeClr val="tx1"/>
                              </a:solidFill>
                            </a:rPr>
                            <a:t> common factors, being careful if powers are involved</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GB"/>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44271317"/>
                      </a:ext>
                    </a:extLst>
                  </a:tr>
                </a:tbl>
              </a:graphicData>
            </a:graphic>
          </p:graphicFrame>
        </mc:Fallback>
      </mc:AlternateContent>
      <p:sp>
        <p:nvSpPr>
          <p:cNvPr id="5" name="TextBox 4">
            <a:extLst>
              <a:ext uri="{FF2B5EF4-FFF2-40B4-BE49-F238E27FC236}">
                <a16:creationId xmlns:a16="http://schemas.microsoft.com/office/drawing/2014/main" id="{11AE4A52-39BA-662C-5154-3A281AB98554}"/>
              </a:ext>
            </a:extLst>
          </p:cNvPr>
          <p:cNvSpPr txBox="1"/>
          <p:nvPr/>
        </p:nvSpPr>
        <p:spPr>
          <a:xfrm>
            <a:off x="4938881" y="1260290"/>
            <a:ext cx="1498808"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3 - You do…</a:t>
            </a:r>
          </a:p>
        </p:txBody>
      </p:sp>
      <p:sp>
        <p:nvSpPr>
          <p:cNvPr id="7" name="TextBox 6">
            <a:extLst>
              <a:ext uri="{FF2B5EF4-FFF2-40B4-BE49-F238E27FC236}">
                <a16:creationId xmlns:a16="http://schemas.microsoft.com/office/drawing/2014/main" id="{23DD0580-E84F-F69C-8CFE-C9C4DAC5F6EB}"/>
              </a:ext>
            </a:extLst>
          </p:cNvPr>
          <p:cNvSpPr txBox="1"/>
          <p:nvPr/>
        </p:nvSpPr>
        <p:spPr>
          <a:xfrm>
            <a:off x="3137178" y="1267918"/>
            <a:ext cx="1475789"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2 - We do…</a:t>
            </a:r>
          </a:p>
        </p:txBody>
      </p:sp>
      <p:sp>
        <p:nvSpPr>
          <p:cNvPr id="8" name="TextBox 7">
            <a:extLst>
              <a:ext uri="{FF2B5EF4-FFF2-40B4-BE49-F238E27FC236}">
                <a16:creationId xmlns:a16="http://schemas.microsoft.com/office/drawing/2014/main" id="{B027A708-D0E2-CA2D-3277-6C1EBB198ED4}"/>
              </a:ext>
            </a:extLst>
          </p:cNvPr>
          <p:cNvSpPr txBox="1"/>
          <p:nvPr/>
        </p:nvSpPr>
        <p:spPr>
          <a:xfrm>
            <a:off x="1396023" y="1277276"/>
            <a:ext cx="1308500"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1 - I do…</a:t>
            </a:r>
          </a:p>
        </p:txBody>
      </p:sp>
      <p:sp>
        <p:nvSpPr>
          <p:cNvPr id="9" name="TextBox 8">
            <a:extLst>
              <a:ext uri="{FF2B5EF4-FFF2-40B4-BE49-F238E27FC236}">
                <a16:creationId xmlns:a16="http://schemas.microsoft.com/office/drawing/2014/main" id="{D8747270-963E-9927-A1E3-3B87A0B78C5B}"/>
              </a:ext>
            </a:extLst>
          </p:cNvPr>
          <p:cNvSpPr txBox="1"/>
          <p:nvPr/>
        </p:nvSpPr>
        <p:spPr>
          <a:xfrm>
            <a:off x="15240" y="4728887"/>
            <a:ext cx="1601721" cy="261610"/>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INDEPENDENT PRACTICE</a:t>
            </a:r>
          </a:p>
        </p:txBody>
      </p:sp>
      <p:sp>
        <p:nvSpPr>
          <p:cNvPr id="12" name="TextBox 11">
            <a:extLst>
              <a:ext uri="{FF2B5EF4-FFF2-40B4-BE49-F238E27FC236}">
                <a16:creationId xmlns:a16="http://schemas.microsoft.com/office/drawing/2014/main" id="{E73DC8E0-8E9A-9868-6924-03AA26569D89}"/>
              </a:ext>
            </a:extLst>
          </p:cNvPr>
          <p:cNvSpPr txBox="1"/>
          <p:nvPr/>
        </p:nvSpPr>
        <p:spPr>
          <a:xfrm>
            <a:off x="1619220" y="4746755"/>
            <a:ext cx="2433295" cy="276999"/>
          </a:xfrm>
          <a:prstGeom prst="rect">
            <a:avLst/>
          </a:prstGeom>
          <a:noFill/>
        </p:spPr>
        <p:txBody>
          <a:bodyPr wrap="none" rtlCol="0">
            <a:spAutoFit/>
          </a:bodyPr>
          <a:lstStyle/>
          <a:p>
            <a:r>
              <a:rPr lang="en-GB" sz="1200" noProof="0" dirty="0"/>
              <a:t>1. Simplify these algebraic fractions:</a:t>
            </a:r>
          </a:p>
        </p:txBody>
      </p:sp>
      <p:sp>
        <p:nvSpPr>
          <p:cNvPr id="14" name="Rectangle 13">
            <a:extLst>
              <a:ext uri="{FF2B5EF4-FFF2-40B4-BE49-F238E27FC236}">
                <a16:creationId xmlns:a16="http://schemas.microsoft.com/office/drawing/2014/main" id="{94F870DD-D025-D767-C0EF-CF1C189DD001}"/>
              </a:ext>
            </a:extLst>
          </p:cNvPr>
          <p:cNvSpPr/>
          <p:nvPr/>
        </p:nvSpPr>
        <p:spPr>
          <a:xfrm>
            <a:off x="504051" y="5469547"/>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2F0CB70-BD27-8C51-DC9A-ABE3CA4BA584}"/>
                  </a:ext>
                </a:extLst>
              </p:cNvPr>
              <p:cNvSpPr txBox="1"/>
              <p:nvPr/>
            </p:nvSpPr>
            <p:spPr>
              <a:xfrm>
                <a:off x="477208" y="5111128"/>
                <a:ext cx="286938" cy="261162"/>
              </a:xfrm>
              <a:prstGeom prst="rect">
                <a:avLst/>
              </a:prstGeom>
              <a:noFill/>
            </p:spPr>
            <p:txBody>
              <a:bodyPr wrap="none" lIns="0" tIns="0" rIns="0" bIns="0" rtlCol="0">
                <a:spAutoFit/>
              </a:bodyPr>
              <a:lstStyle/>
              <a:p>
                <a:r>
                  <a:rPr lang="en-GB" sz="1200" b="0" noProof="0" dirty="0"/>
                  <a:t>a)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12</m:t>
                        </m:r>
                      </m:den>
                    </m:f>
                  </m:oMath>
                </a14:m>
                <a:endParaRPr lang="en-GB" sz="1200" noProof="0" dirty="0"/>
              </a:p>
            </p:txBody>
          </p:sp>
        </mc:Choice>
        <mc:Fallback xmlns="">
          <p:sp>
            <p:nvSpPr>
              <p:cNvPr id="15" name="TextBox 14">
                <a:extLst>
                  <a:ext uri="{FF2B5EF4-FFF2-40B4-BE49-F238E27FC236}">
                    <a16:creationId xmlns:a16="http://schemas.microsoft.com/office/drawing/2014/main" id="{42F0CB70-BD27-8C51-DC9A-ABE3CA4BA584}"/>
                  </a:ext>
                </a:extLst>
              </p:cNvPr>
              <p:cNvSpPr txBox="1">
                <a:spLocks noRot="1" noChangeAspect="1" noMove="1" noResize="1" noEditPoints="1" noAdjustHandles="1" noChangeArrowheads="1" noChangeShapeType="1" noTextEdit="1"/>
              </p:cNvSpPr>
              <p:nvPr/>
            </p:nvSpPr>
            <p:spPr>
              <a:xfrm>
                <a:off x="477208" y="5111128"/>
                <a:ext cx="286938" cy="261162"/>
              </a:xfrm>
              <a:prstGeom prst="rect">
                <a:avLst/>
              </a:prstGeom>
              <a:blipFill>
                <a:blip r:embed="rId4"/>
                <a:stretch>
                  <a:fillRect l="-31915" t="-2326" r="-10638"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2493607-D7CA-A12A-A7BC-BD79E0FBE274}"/>
                  </a:ext>
                </a:extLst>
              </p:cNvPr>
              <p:cNvSpPr txBox="1"/>
              <p:nvPr/>
            </p:nvSpPr>
            <p:spPr>
              <a:xfrm>
                <a:off x="1782906" y="5116241"/>
                <a:ext cx="296363" cy="261162"/>
              </a:xfrm>
              <a:prstGeom prst="rect">
                <a:avLst/>
              </a:prstGeom>
              <a:noFill/>
            </p:spPr>
            <p:txBody>
              <a:bodyPr wrap="none" lIns="0" tIns="0" rIns="0" bIns="0" rtlCol="0">
                <a:spAutoFit/>
              </a:bodyPr>
              <a:lstStyle/>
              <a:p>
                <a:r>
                  <a:rPr lang="en-GB" sz="1200" noProof="0" dirty="0"/>
                  <a:t>b</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12</m:t>
                        </m:r>
                      </m:den>
                    </m:f>
                  </m:oMath>
                </a14:m>
                <a:endParaRPr lang="en-GB" sz="1200" noProof="0" dirty="0"/>
              </a:p>
            </p:txBody>
          </p:sp>
        </mc:Choice>
        <mc:Fallback xmlns="">
          <p:sp>
            <p:nvSpPr>
              <p:cNvPr id="16" name="TextBox 15">
                <a:extLst>
                  <a:ext uri="{FF2B5EF4-FFF2-40B4-BE49-F238E27FC236}">
                    <a16:creationId xmlns:a16="http://schemas.microsoft.com/office/drawing/2014/main" id="{F2493607-D7CA-A12A-A7BC-BD79E0FBE274}"/>
                  </a:ext>
                </a:extLst>
              </p:cNvPr>
              <p:cNvSpPr txBox="1">
                <a:spLocks noRot="1" noChangeAspect="1" noMove="1" noResize="1" noEditPoints="1" noAdjustHandles="1" noChangeArrowheads="1" noChangeShapeType="1" noTextEdit="1"/>
              </p:cNvSpPr>
              <p:nvPr/>
            </p:nvSpPr>
            <p:spPr>
              <a:xfrm>
                <a:off x="1782906" y="5116241"/>
                <a:ext cx="296363" cy="261162"/>
              </a:xfrm>
              <a:prstGeom prst="rect">
                <a:avLst/>
              </a:prstGeom>
              <a:blipFill>
                <a:blip r:embed="rId5"/>
                <a:stretch>
                  <a:fillRect l="-30612" t="-2326" r="-8163" b="-23256"/>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CFB39FDC-19B2-32CA-E752-3D4E60C63ED9}"/>
              </a:ext>
            </a:extLst>
          </p:cNvPr>
          <p:cNvSpPr/>
          <p:nvPr/>
        </p:nvSpPr>
        <p:spPr>
          <a:xfrm>
            <a:off x="1709233" y="5471097"/>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9" name="Rectangle 18">
            <a:extLst>
              <a:ext uri="{FF2B5EF4-FFF2-40B4-BE49-F238E27FC236}">
                <a16:creationId xmlns:a16="http://schemas.microsoft.com/office/drawing/2014/main" id="{9165BEA1-D313-6359-CE0E-146FE6B0E122}"/>
              </a:ext>
            </a:extLst>
          </p:cNvPr>
          <p:cNvSpPr/>
          <p:nvPr/>
        </p:nvSpPr>
        <p:spPr>
          <a:xfrm>
            <a:off x="2914415" y="5458785"/>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0" name="Rectangle 19">
            <a:extLst>
              <a:ext uri="{FF2B5EF4-FFF2-40B4-BE49-F238E27FC236}">
                <a16:creationId xmlns:a16="http://schemas.microsoft.com/office/drawing/2014/main" id="{666D956D-ECA6-1FBB-5F70-E159A0BB81C0}"/>
              </a:ext>
            </a:extLst>
          </p:cNvPr>
          <p:cNvSpPr/>
          <p:nvPr/>
        </p:nvSpPr>
        <p:spPr>
          <a:xfrm>
            <a:off x="4119597" y="5460335"/>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1" name="Rectangle 20">
            <a:extLst>
              <a:ext uri="{FF2B5EF4-FFF2-40B4-BE49-F238E27FC236}">
                <a16:creationId xmlns:a16="http://schemas.microsoft.com/office/drawing/2014/main" id="{2C62D4F5-8C49-4653-2F7F-200AB7DAEB27}"/>
              </a:ext>
            </a:extLst>
          </p:cNvPr>
          <p:cNvSpPr/>
          <p:nvPr/>
        </p:nvSpPr>
        <p:spPr>
          <a:xfrm>
            <a:off x="5324779" y="5458785"/>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8E6B488-D755-AFDE-F847-1CF657483281}"/>
                  </a:ext>
                </a:extLst>
              </p:cNvPr>
              <p:cNvSpPr txBox="1"/>
              <p:nvPr/>
            </p:nvSpPr>
            <p:spPr>
              <a:xfrm>
                <a:off x="2924007" y="5141750"/>
                <a:ext cx="347659" cy="262188"/>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den>
                    </m:f>
                  </m:oMath>
                </a14:m>
                <a:endParaRPr lang="en-GB" sz="1200" noProof="0" dirty="0"/>
              </a:p>
            </p:txBody>
          </p:sp>
        </mc:Choice>
        <mc:Fallback xmlns="">
          <p:sp>
            <p:nvSpPr>
              <p:cNvPr id="22" name="TextBox 21">
                <a:extLst>
                  <a:ext uri="{FF2B5EF4-FFF2-40B4-BE49-F238E27FC236}">
                    <a16:creationId xmlns:a16="http://schemas.microsoft.com/office/drawing/2014/main" id="{58E6B488-D755-AFDE-F847-1CF657483281}"/>
                  </a:ext>
                </a:extLst>
              </p:cNvPr>
              <p:cNvSpPr txBox="1">
                <a:spLocks noRot="1" noChangeAspect="1" noMove="1" noResize="1" noEditPoints="1" noAdjustHandles="1" noChangeArrowheads="1" noChangeShapeType="1" noTextEdit="1"/>
              </p:cNvSpPr>
              <p:nvPr/>
            </p:nvSpPr>
            <p:spPr>
              <a:xfrm>
                <a:off x="2924007" y="5141750"/>
                <a:ext cx="347659" cy="262188"/>
              </a:xfrm>
              <a:prstGeom prst="rect">
                <a:avLst/>
              </a:prstGeom>
              <a:blipFill>
                <a:blip r:embed="rId6"/>
                <a:stretch>
                  <a:fillRect l="-28070" t="-2326" r="-7018"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C590EC3-ABB6-3EDA-DC05-D723D45FBA84}"/>
                  </a:ext>
                </a:extLst>
              </p:cNvPr>
              <p:cNvSpPr txBox="1"/>
              <p:nvPr/>
            </p:nvSpPr>
            <p:spPr>
              <a:xfrm>
                <a:off x="4116404" y="5141750"/>
                <a:ext cx="362087" cy="262188"/>
              </a:xfrm>
              <a:prstGeom prst="rect">
                <a:avLst/>
              </a:prstGeom>
              <a:noFill/>
            </p:spPr>
            <p:txBody>
              <a:bodyPr wrap="none" lIns="0" tIns="0" rIns="0" bIns="0" rtlCol="0">
                <a:spAutoFit/>
              </a:bodyPr>
              <a:lstStyle/>
              <a:p>
                <a:r>
                  <a:rPr lang="en-GB" sz="1200" noProof="0" dirty="0"/>
                  <a:t>d</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6</m:t>
                        </m:r>
                      </m:den>
                    </m:f>
                  </m:oMath>
                </a14:m>
                <a:endParaRPr lang="en-GB" sz="1200" noProof="0" dirty="0"/>
              </a:p>
            </p:txBody>
          </p:sp>
        </mc:Choice>
        <mc:Fallback xmlns="">
          <p:sp>
            <p:nvSpPr>
              <p:cNvPr id="23" name="TextBox 22">
                <a:extLst>
                  <a:ext uri="{FF2B5EF4-FFF2-40B4-BE49-F238E27FC236}">
                    <a16:creationId xmlns:a16="http://schemas.microsoft.com/office/drawing/2014/main" id="{3C590EC3-ABB6-3EDA-DC05-D723D45FBA84}"/>
                  </a:ext>
                </a:extLst>
              </p:cNvPr>
              <p:cNvSpPr txBox="1">
                <a:spLocks noRot="1" noChangeAspect="1" noMove="1" noResize="1" noEditPoints="1" noAdjustHandles="1" noChangeArrowheads="1" noChangeShapeType="1" noTextEdit="1"/>
              </p:cNvSpPr>
              <p:nvPr/>
            </p:nvSpPr>
            <p:spPr>
              <a:xfrm>
                <a:off x="4116404" y="5141750"/>
                <a:ext cx="362087" cy="262188"/>
              </a:xfrm>
              <a:prstGeom prst="rect">
                <a:avLst/>
              </a:prstGeom>
              <a:blipFill>
                <a:blip r:embed="rId7"/>
                <a:stretch>
                  <a:fillRect l="-25000" t="-2326" r="-6667"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CA933F2-E98B-077D-8200-0AB00D2A62E2}"/>
                  </a:ext>
                </a:extLst>
              </p:cNvPr>
              <p:cNvSpPr txBox="1"/>
              <p:nvPr/>
            </p:nvSpPr>
            <p:spPr>
              <a:xfrm>
                <a:off x="5323229" y="5122324"/>
                <a:ext cx="358881" cy="262316"/>
              </a:xfrm>
              <a:prstGeom prst="rect">
                <a:avLst/>
              </a:prstGeom>
              <a:noFill/>
            </p:spPr>
            <p:txBody>
              <a:bodyPr wrap="none" lIns="0" tIns="0" rIns="0" bIns="0" rtlCol="0">
                <a:spAutoFit/>
              </a:bodyPr>
              <a:lstStyle/>
              <a:p>
                <a:r>
                  <a:rPr lang="en-GB" sz="1200" noProof="0" dirty="0"/>
                  <a:t>e</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6</m:t>
                        </m:r>
                        <m:r>
                          <a:rPr lang="en-GB" sz="1200" b="0" i="1" noProof="0" smtClean="0">
                            <a:latin typeface="Cambria Math" panose="02040503050406030204" pitchFamily="18" charset="0"/>
                          </a:rPr>
                          <m:t>𝑥</m:t>
                        </m:r>
                      </m:den>
                    </m:f>
                  </m:oMath>
                </a14:m>
                <a:endParaRPr lang="en-GB" sz="1200" noProof="0" dirty="0"/>
              </a:p>
            </p:txBody>
          </p:sp>
        </mc:Choice>
        <mc:Fallback xmlns="">
          <p:sp>
            <p:nvSpPr>
              <p:cNvPr id="24" name="TextBox 23">
                <a:extLst>
                  <a:ext uri="{FF2B5EF4-FFF2-40B4-BE49-F238E27FC236}">
                    <a16:creationId xmlns:a16="http://schemas.microsoft.com/office/drawing/2014/main" id="{5CA933F2-E98B-077D-8200-0AB00D2A62E2}"/>
                  </a:ext>
                </a:extLst>
              </p:cNvPr>
              <p:cNvSpPr txBox="1">
                <a:spLocks noRot="1" noChangeAspect="1" noMove="1" noResize="1" noEditPoints="1" noAdjustHandles="1" noChangeArrowheads="1" noChangeShapeType="1" noTextEdit="1"/>
              </p:cNvSpPr>
              <p:nvPr/>
            </p:nvSpPr>
            <p:spPr>
              <a:xfrm>
                <a:off x="5323229" y="5122324"/>
                <a:ext cx="358881" cy="262316"/>
              </a:xfrm>
              <a:prstGeom prst="rect">
                <a:avLst/>
              </a:prstGeom>
              <a:blipFill>
                <a:blip r:embed="rId8"/>
                <a:stretch>
                  <a:fillRect l="-25424" t="-2326" r="-6780" b="-23256"/>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7A75DF4F-4400-40CF-4677-70E01F63994D}"/>
              </a:ext>
            </a:extLst>
          </p:cNvPr>
          <p:cNvSpPr/>
          <p:nvPr/>
        </p:nvSpPr>
        <p:spPr>
          <a:xfrm>
            <a:off x="504051" y="7038260"/>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EB3061E-17EF-3111-99F0-801DBF29ED44}"/>
                  </a:ext>
                </a:extLst>
              </p:cNvPr>
              <p:cNvSpPr txBox="1"/>
              <p:nvPr/>
            </p:nvSpPr>
            <p:spPr>
              <a:xfrm>
                <a:off x="477208" y="6679841"/>
                <a:ext cx="392030" cy="287002"/>
              </a:xfrm>
              <a:prstGeom prst="rect">
                <a:avLst/>
              </a:prstGeom>
              <a:noFill/>
            </p:spPr>
            <p:txBody>
              <a:bodyPr wrap="none" lIns="0" tIns="0" rIns="0" bIns="0" rtlCol="0">
                <a:spAutoFit/>
              </a:bodyPr>
              <a:lstStyle/>
              <a:p>
                <a:r>
                  <a:rPr lang="en-GB" sz="1200" noProof="0" dirty="0"/>
                  <a:t>f</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3</m:t>
                        </m:r>
                      </m:den>
                    </m:f>
                  </m:oMath>
                </a14:m>
                <a:endParaRPr lang="en-GB" sz="1200" noProof="0" dirty="0"/>
              </a:p>
            </p:txBody>
          </p:sp>
        </mc:Choice>
        <mc:Fallback xmlns="">
          <p:sp>
            <p:nvSpPr>
              <p:cNvPr id="26" name="TextBox 25">
                <a:extLst>
                  <a:ext uri="{FF2B5EF4-FFF2-40B4-BE49-F238E27FC236}">
                    <a16:creationId xmlns:a16="http://schemas.microsoft.com/office/drawing/2014/main" id="{FEB3061E-17EF-3111-99F0-801DBF29ED44}"/>
                  </a:ext>
                </a:extLst>
              </p:cNvPr>
              <p:cNvSpPr txBox="1">
                <a:spLocks noRot="1" noChangeAspect="1" noMove="1" noResize="1" noEditPoints="1" noAdjustHandles="1" noChangeArrowheads="1" noChangeShapeType="1" noTextEdit="1"/>
              </p:cNvSpPr>
              <p:nvPr/>
            </p:nvSpPr>
            <p:spPr>
              <a:xfrm>
                <a:off x="477208" y="6679841"/>
                <a:ext cx="392030" cy="287002"/>
              </a:xfrm>
              <a:prstGeom prst="rect">
                <a:avLst/>
              </a:prstGeom>
              <a:blipFill>
                <a:blip r:embed="rId9"/>
                <a:stretch>
                  <a:fillRect l="-23077" r="-4615" b="-191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AA0EFEE-B265-2FA2-559D-DC8E70DA1603}"/>
                  </a:ext>
                </a:extLst>
              </p:cNvPr>
              <p:cNvSpPr txBox="1"/>
              <p:nvPr/>
            </p:nvSpPr>
            <p:spPr>
              <a:xfrm>
                <a:off x="1782906" y="6684954"/>
                <a:ext cx="415435" cy="287002"/>
              </a:xfrm>
              <a:prstGeom prst="rect">
                <a:avLst/>
              </a:prstGeom>
              <a:noFill/>
            </p:spPr>
            <p:txBody>
              <a:bodyPr wrap="none" lIns="0" tIns="0" rIns="0" bIns="0" rtlCol="0">
                <a:spAutoFit/>
              </a:bodyPr>
              <a:lstStyle/>
              <a:p>
                <a:r>
                  <a:rPr lang="en-GB" sz="1200" noProof="0" dirty="0"/>
                  <a:t>g</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3</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4</m:t>
                            </m:r>
                          </m:sup>
                        </m:sSup>
                      </m:den>
                    </m:f>
                  </m:oMath>
                </a14:m>
                <a:endParaRPr lang="en-GB" sz="1200" noProof="0" dirty="0"/>
              </a:p>
            </p:txBody>
          </p:sp>
        </mc:Choice>
        <mc:Fallback xmlns="">
          <p:sp>
            <p:nvSpPr>
              <p:cNvPr id="27" name="TextBox 26">
                <a:extLst>
                  <a:ext uri="{FF2B5EF4-FFF2-40B4-BE49-F238E27FC236}">
                    <a16:creationId xmlns:a16="http://schemas.microsoft.com/office/drawing/2014/main" id="{3AA0EFEE-B265-2FA2-559D-DC8E70DA1603}"/>
                  </a:ext>
                </a:extLst>
              </p:cNvPr>
              <p:cNvSpPr txBox="1">
                <a:spLocks noRot="1" noChangeAspect="1" noMove="1" noResize="1" noEditPoints="1" noAdjustHandles="1" noChangeArrowheads="1" noChangeShapeType="1" noTextEdit="1"/>
              </p:cNvSpPr>
              <p:nvPr/>
            </p:nvSpPr>
            <p:spPr>
              <a:xfrm>
                <a:off x="1782906" y="6684954"/>
                <a:ext cx="415435" cy="287002"/>
              </a:xfrm>
              <a:prstGeom prst="rect">
                <a:avLst/>
              </a:prstGeom>
              <a:blipFill>
                <a:blip r:embed="rId10"/>
                <a:stretch>
                  <a:fillRect l="-21739" r="-2899" b="-19149"/>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58FD2CD6-5A79-9E96-4A7B-4DDC41A89473}"/>
              </a:ext>
            </a:extLst>
          </p:cNvPr>
          <p:cNvSpPr/>
          <p:nvPr/>
        </p:nvSpPr>
        <p:spPr>
          <a:xfrm>
            <a:off x="1709233" y="7039810"/>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9" name="Rectangle 28">
            <a:extLst>
              <a:ext uri="{FF2B5EF4-FFF2-40B4-BE49-F238E27FC236}">
                <a16:creationId xmlns:a16="http://schemas.microsoft.com/office/drawing/2014/main" id="{1A21E8E1-191D-53FC-3E65-4257EDEDB169}"/>
              </a:ext>
            </a:extLst>
          </p:cNvPr>
          <p:cNvSpPr/>
          <p:nvPr/>
        </p:nvSpPr>
        <p:spPr>
          <a:xfrm>
            <a:off x="2914415" y="7027498"/>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0" name="Rectangle 29">
            <a:extLst>
              <a:ext uri="{FF2B5EF4-FFF2-40B4-BE49-F238E27FC236}">
                <a16:creationId xmlns:a16="http://schemas.microsoft.com/office/drawing/2014/main" id="{26F928C0-7C67-4F80-E7C6-AE142BB3802C}"/>
              </a:ext>
            </a:extLst>
          </p:cNvPr>
          <p:cNvSpPr/>
          <p:nvPr/>
        </p:nvSpPr>
        <p:spPr>
          <a:xfrm>
            <a:off x="4119597" y="7029048"/>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2" name="Rectangle 31">
            <a:extLst>
              <a:ext uri="{FF2B5EF4-FFF2-40B4-BE49-F238E27FC236}">
                <a16:creationId xmlns:a16="http://schemas.microsoft.com/office/drawing/2014/main" id="{E1373CE6-B8B1-F47A-3202-33A2D458BAD0}"/>
              </a:ext>
            </a:extLst>
          </p:cNvPr>
          <p:cNvSpPr/>
          <p:nvPr/>
        </p:nvSpPr>
        <p:spPr>
          <a:xfrm>
            <a:off x="5324779" y="7027498"/>
            <a:ext cx="1112910" cy="10905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9B6A1FF-4B36-D757-D109-FEF9CBE8FBB1}"/>
                  </a:ext>
                </a:extLst>
              </p:cNvPr>
              <p:cNvSpPr txBox="1"/>
              <p:nvPr/>
            </p:nvSpPr>
            <p:spPr>
              <a:xfrm>
                <a:off x="2924007" y="6710463"/>
                <a:ext cx="555921" cy="288028"/>
              </a:xfrm>
              <a:prstGeom prst="rect">
                <a:avLst/>
              </a:prstGeom>
              <a:noFill/>
            </p:spPr>
            <p:txBody>
              <a:bodyPr wrap="none" lIns="0" tIns="0" rIns="0" bIns="0" rtlCol="0">
                <a:spAutoFit/>
              </a:bodyPr>
              <a:lstStyle/>
              <a:p>
                <a:r>
                  <a:rPr lang="en-GB" sz="1200" noProof="0" dirty="0"/>
                  <a:t>h</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𝑎</m:t>
                            </m:r>
                          </m:e>
                          <m:sup>
                            <m:r>
                              <a:rPr lang="en-GB" sz="1200" b="0" i="1" noProof="0" smtClean="0">
                                <a:latin typeface="Cambria Math" panose="02040503050406030204" pitchFamily="18" charset="0"/>
                              </a:rPr>
                              <m:t>3</m:t>
                            </m:r>
                          </m:sup>
                        </m:sSup>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3</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oMath>
                </a14:m>
                <a:endParaRPr lang="en-GB" sz="1200" noProof="0" dirty="0"/>
              </a:p>
            </p:txBody>
          </p:sp>
        </mc:Choice>
        <mc:Fallback xmlns="">
          <p:sp>
            <p:nvSpPr>
              <p:cNvPr id="33" name="TextBox 32">
                <a:extLst>
                  <a:ext uri="{FF2B5EF4-FFF2-40B4-BE49-F238E27FC236}">
                    <a16:creationId xmlns:a16="http://schemas.microsoft.com/office/drawing/2014/main" id="{89B6A1FF-4B36-D757-D109-FEF9CBE8FBB1}"/>
                  </a:ext>
                </a:extLst>
              </p:cNvPr>
              <p:cNvSpPr txBox="1">
                <a:spLocks noRot="1" noChangeAspect="1" noMove="1" noResize="1" noEditPoints="1" noAdjustHandles="1" noChangeArrowheads="1" noChangeShapeType="1" noTextEdit="1"/>
              </p:cNvSpPr>
              <p:nvPr/>
            </p:nvSpPr>
            <p:spPr>
              <a:xfrm>
                <a:off x="2924007" y="6710463"/>
                <a:ext cx="555921" cy="288028"/>
              </a:xfrm>
              <a:prstGeom prst="rect">
                <a:avLst/>
              </a:prstGeom>
              <a:blipFill>
                <a:blip r:embed="rId11"/>
                <a:stretch>
                  <a:fillRect l="-17582" r="-3297" b="-191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9C7BE6B-8066-073C-E519-05A3C1C07741}"/>
                  </a:ext>
                </a:extLst>
              </p:cNvPr>
              <p:cNvSpPr txBox="1"/>
              <p:nvPr/>
            </p:nvSpPr>
            <p:spPr>
              <a:xfrm>
                <a:off x="4116404" y="6710463"/>
                <a:ext cx="317203" cy="262188"/>
              </a:xfrm>
              <a:prstGeom prst="rect">
                <a:avLst/>
              </a:prstGeom>
              <a:noFill/>
            </p:spPr>
            <p:txBody>
              <a:bodyPr wrap="none" lIns="0" tIns="0" rIns="0" bIns="0" rtlCol="0">
                <a:spAutoFit/>
              </a:bodyPr>
              <a:lstStyle/>
              <a:p>
                <a:r>
                  <a:rPr lang="en-GB" sz="1200" noProof="0" dirty="0" err="1"/>
                  <a:t>i</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3</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oMath>
                </a14:m>
                <a:endParaRPr lang="en-GB" sz="1200" noProof="0" dirty="0"/>
              </a:p>
            </p:txBody>
          </p:sp>
        </mc:Choice>
        <mc:Fallback xmlns="">
          <p:sp>
            <p:nvSpPr>
              <p:cNvPr id="52" name="TextBox 51">
                <a:extLst>
                  <a:ext uri="{FF2B5EF4-FFF2-40B4-BE49-F238E27FC236}">
                    <a16:creationId xmlns:a16="http://schemas.microsoft.com/office/drawing/2014/main" id="{89C7BE6B-8066-073C-E519-05A3C1C07741}"/>
                  </a:ext>
                </a:extLst>
              </p:cNvPr>
              <p:cNvSpPr txBox="1">
                <a:spLocks noRot="1" noChangeAspect="1" noMove="1" noResize="1" noEditPoints="1" noAdjustHandles="1" noChangeArrowheads="1" noChangeShapeType="1" noTextEdit="1"/>
              </p:cNvSpPr>
              <p:nvPr/>
            </p:nvSpPr>
            <p:spPr>
              <a:xfrm>
                <a:off x="4116404" y="6710463"/>
                <a:ext cx="317203" cy="262188"/>
              </a:xfrm>
              <a:prstGeom prst="rect">
                <a:avLst/>
              </a:prstGeom>
              <a:blipFill>
                <a:blip r:embed="rId12"/>
                <a:stretch>
                  <a:fillRect l="-28846" t="-2326" r="-7692"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1B52B83-9DCD-1000-6875-3070F307E3F0}"/>
                  </a:ext>
                </a:extLst>
              </p:cNvPr>
              <p:cNvSpPr txBox="1"/>
              <p:nvPr/>
            </p:nvSpPr>
            <p:spPr>
              <a:xfrm>
                <a:off x="5323229" y="6691037"/>
                <a:ext cx="453457" cy="287002"/>
              </a:xfrm>
              <a:prstGeom prst="rect">
                <a:avLst/>
              </a:prstGeom>
              <a:noFill/>
            </p:spPr>
            <p:txBody>
              <a:bodyPr wrap="none" lIns="0" tIns="0" rIns="0" bIns="0" rtlCol="0">
                <a:spAutoFit/>
              </a:bodyPr>
              <a:lstStyle/>
              <a:p>
                <a:r>
                  <a:rPr lang="en-GB" sz="1200" noProof="0" dirty="0"/>
                  <a:t>j</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10</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7</m:t>
                            </m:r>
                          </m:sup>
                        </m:sSup>
                        <m:r>
                          <a:rPr lang="en-GB" sz="1200" b="0" i="1" noProof="0" smtClean="0">
                            <a:latin typeface="Cambria Math" panose="02040503050406030204" pitchFamily="18" charset="0"/>
                          </a:rPr>
                          <m:t>𝑦</m:t>
                        </m:r>
                      </m:num>
                      <m:den>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den>
                    </m:f>
                  </m:oMath>
                </a14:m>
                <a:endParaRPr lang="en-GB" sz="1200" noProof="0" dirty="0"/>
              </a:p>
            </p:txBody>
          </p:sp>
        </mc:Choice>
        <mc:Fallback xmlns="">
          <p:sp>
            <p:nvSpPr>
              <p:cNvPr id="53" name="TextBox 52">
                <a:extLst>
                  <a:ext uri="{FF2B5EF4-FFF2-40B4-BE49-F238E27FC236}">
                    <a16:creationId xmlns:a16="http://schemas.microsoft.com/office/drawing/2014/main" id="{41B52B83-9DCD-1000-6875-3070F307E3F0}"/>
                  </a:ext>
                </a:extLst>
              </p:cNvPr>
              <p:cNvSpPr txBox="1">
                <a:spLocks noRot="1" noChangeAspect="1" noMove="1" noResize="1" noEditPoints="1" noAdjustHandles="1" noChangeArrowheads="1" noChangeShapeType="1" noTextEdit="1"/>
              </p:cNvSpPr>
              <p:nvPr/>
            </p:nvSpPr>
            <p:spPr>
              <a:xfrm>
                <a:off x="5323229" y="6691037"/>
                <a:ext cx="453457" cy="287002"/>
              </a:xfrm>
              <a:prstGeom prst="rect">
                <a:avLst/>
              </a:prstGeom>
              <a:blipFill>
                <a:blip r:embed="rId13"/>
                <a:stretch>
                  <a:fillRect l="-20000" r="-6667" b="-19149"/>
                </a:stretch>
              </a:blipFill>
            </p:spPr>
            <p:txBody>
              <a:bodyPr/>
              <a:lstStyle/>
              <a:p>
                <a:r>
                  <a:rPr lang="en-US">
                    <a:noFill/>
                  </a:rPr>
                  <a:t> </a:t>
                </a:r>
              </a:p>
            </p:txBody>
          </p:sp>
        </mc:Fallback>
      </mc:AlternateContent>
      <p:sp>
        <p:nvSpPr>
          <p:cNvPr id="54" name="TextBox 53">
            <a:extLst>
              <a:ext uri="{FF2B5EF4-FFF2-40B4-BE49-F238E27FC236}">
                <a16:creationId xmlns:a16="http://schemas.microsoft.com/office/drawing/2014/main" id="{9C028328-FAC8-ACA4-89F0-432C3A3252CE}"/>
              </a:ext>
            </a:extLst>
          </p:cNvPr>
          <p:cNvSpPr txBox="1"/>
          <p:nvPr/>
        </p:nvSpPr>
        <p:spPr>
          <a:xfrm>
            <a:off x="0" y="-13289"/>
            <a:ext cx="2396426" cy="276999"/>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Simplifying basic algebraic fractions</a:t>
            </a:r>
          </a:p>
        </p:txBody>
      </p:sp>
      <p:sp>
        <p:nvSpPr>
          <p:cNvPr id="55" name="TextBox 54">
            <a:extLst>
              <a:ext uri="{FF2B5EF4-FFF2-40B4-BE49-F238E27FC236}">
                <a16:creationId xmlns:a16="http://schemas.microsoft.com/office/drawing/2014/main" id="{E7F97A79-E6CC-0858-7327-707A0A5DEB57}"/>
              </a:ext>
            </a:extLst>
          </p:cNvPr>
          <p:cNvSpPr txBox="1"/>
          <p:nvPr/>
        </p:nvSpPr>
        <p:spPr>
          <a:xfrm>
            <a:off x="169583" y="263710"/>
            <a:ext cx="6501428" cy="830997"/>
          </a:xfrm>
          <a:prstGeom prst="rect">
            <a:avLst/>
          </a:prstGeom>
          <a:noFill/>
          <a:ln>
            <a:solidFill>
              <a:schemeClr val="tx1"/>
            </a:solidFill>
          </a:ln>
        </p:spPr>
        <p:txBody>
          <a:bodyPr wrap="square" rtlCol="0">
            <a:spAutoFit/>
          </a:bodyPr>
          <a:lstStyle/>
          <a:p>
            <a:r>
              <a:rPr lang="en-GB" sz="1200" noProof="0" dirty="0"/>
              <a:t>The rules for simplifying algebraic fractions are like those for simplifying a normal fraction: divide (or occasionally multiply) the numerator and denominator by the same amount. </a:t>
            </a:r>
          </a:p>
          <a:p>
            <a:endParaRPr lang="en-GB" sz="1200" noProof="0" dirty="0"/>
          </a:p>
          <a:p>
            <a:r>
              <a:rPr lang="en-GB" sz="1200" noProof="0" dirty="0"/>
              <a:t>We begin below by simplifying fractions with only single terms in numerator and denominator:</a:t>
            </a:r>
          </a:p>
        </p:txBody>
      </p:sp>
      <p:sp>
        <p:nvSpPr>
          <p:cNvPr id="56" name="TextBox 55">
            <a:extLst>
              <a:ext uri="{FF2B5EF4-FFF2-40B4-BE49-F238E27FC236}">
                <a16:creationId xmlns:a16="http://schemas.microsoft.com/office/drawing/2014/main" id="{3E79164E-BDB8-4E01-3F9D-94412D7D21FA}"/>
              </a:ext>
            </a:extLst>
          </p:cNvPr>
          <p:cNvSpPr txBox="1"/>
          <p:nvPr/>
        </p:nvSpPr>
        <p:spPr>
          <a:xfrm>
            <a:off x="36766" y="8182234"/>
            <a:ext cx="3465436" cy="276999"/>
          </a:xfrm>
          <a:prstGeom prst="rect">
            <a:avLst/>
          </a:prstGeom>
          <a:noFill/>
        </p:spPr>
        <p:txBody>
          <a:bodyPr wrap="none" rtlCol="0">
            <a:spAutoFit/>
          </a:bodyPr>
          <a:lstStyle/>
          <a:p>
            <a:r>
              <a:rPr lang="en-GB" sz="1200" noProof="0" dirty="0"/>
              <a:t>2. Explain the mistake in the following simplification:</a:t>
            </a:r>
          </a:p>
        </p:txBody>
      </p:sp>
      <p:pic>
        <p:nvPicPr>
          <p:cNvPr id="62" name="Picture 61" descr="A math problem with numbers&#10;&#10;AI-generated content may be incorrect.">
            <a:extLst>
              <a:ext uri="{FF2B5EF4-FFF2-40B4-BE49-F238E27FC236}">
                <a16:creationId xmlns:a16="http://schemas.microsoft.com/office/drawing/2014/main" id="{2B300E51-057F-1D4A-4F8F-E6C8CE3D4B2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61089" y="8534316"/>
            <a:ext cx="6076600" cy="1253667"/>
          </a:xfrm>
          <a:prstGeom prst="rect">
            <a:avLst/>
          </a:prstGeom>
        </p:spPr>
      </p:pic>
    </p:spTree>
    <p:extLst>
      <p:ext uri="{BB962C8B-B14F-4D97-AF65-F5344CB8AC3E}">
        <p14:creationId xmlns:p14="http://schemas.microsoft.com/office/powerpoint/2010/main" val="1389947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C65E48-8C3D-6849-AD77-7AD8678AD8DA}"/>
              </a:ext>
            </a:extLst>
          </p:cNvPr>
          <p:cNvSpPr txBox="1"/>
          <p:nvPr/>
        </p:nvSpPr>
        <p:spPr>
          <a:xfrm>
            <a:off x="1355" y="14281"/>
            <a:ext cx="3775136" cy="276999"/>
          </a:xfrm>
          <a:prstGeom prst="rect">
            <a:avLst/>
          </a:prstGeom>
          <a:solidFill>
            <a:srgbClr val="0070C0"/>
          </a:solidFill>
        </p:spPr>
        <p:txBody>
          <a:bodyPr wrap="none" rtlCol="0" anchor="ctr">
            <a:spAutoFit/>
          </a:bodyPr>
          <a:lstStyle/>
          <a:p>
            <a:pPr algn="r"/>
            <a:r>
              <a:rPr lang="en-GB" sz="1200" b="1" noProof="0" dirty="0">
                <a:solidFill>
                  <a:schemeClr val="bg1"/>
                </a:solidFill>
              </a:rPr>
              <a:t>Simplifying simple algebraic fractions using factorisation</a:t>
            </a:r>
          </a:p>
        </p:txBody>
      </p:sp>
      <p:sp>
        <p:nvSpPr>
          <p:cNvPr id="3" name="TextBox 2">
            <a:extLst>
              <a:ext uri="{FF2B5EF4-FFF2-40B4-BE49-F238E27FC236}">
                <a16:creationId xmlns:a16="http://schemas.microsoft.com/office/drawing/2014/main" id="{6EAE242C-3BEA-324C-B746-6B1087575622}"/>
              </a:ext>
            </a:extLst>
          </p:cNvPr>
          <p:cNvSpPr txBox="1"/>
          <p:nvPr/>
        </p:nvSpPr>
        <p:spPr>
          <a:xfrm>
            <a:off x="0" y="786834"/>
            <a:ext cx="1194558" cy="261610"/>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Knowledge Check</a:t>
            </a:r>
          </a:p>
        </p:txBody>
      </p:sp>
      <p:sp>
        <p:nvSpPr>
          <p:cNvPr id="4" name="TextBox 3"/>
          <p:cNvSpPr txBox="1"/>
          <p:nvPr/>
        </p:nvSpPr>
        <p:spPr>
          <a:xfrm>
            <a:off x="1301274" y="835643"/>
            <a:ext cx="1936428" cy="276999"/>
          </a:xfrm>
          <a:prstGeom prst="rect">
            <a:avLst/>
          </a:prstGeom>
          <a:noFill/>
        </p:spPr>
        <p:txBody>
          <a:bodyPr wrap="none" rtlCol="0">
            <a:spAutoFit/>
          </a:bodyPr>
          <a:lstStyle/>
          <a:p>
            <a:r>
              <a:rPr lang="en-GB" sz="1200" noProof="0" dirty="0"/>
              <a:t>Factorise these expressions:</a:t>
            </a:r>
          </a:p>
        </p:txBody>
      </p:sp>
      <p:sp>
        <p:nvSpPr>
          <p:cNvPr id="5" name="Rectangle 4">
            <a:extLst>
              <a:ext uri="{FF2B5EF4-FFF2-40B4-BE49-F238E27FC236}">
                <a16:creationId xmlns:a16="http://schemas.microsoft.com/office/drawing/2014/main" id="{B16CFEF2-A65A-6142-861C-58ACADF7EEFB}"/>
              </a:ext>
            </a:extLst>
          </p:cNvPr>
          <p:cNvSpPr/>
          <p:nvPr/>
        </p:nvSpPr>
        <p:spPr>
          <a:xfrm>
            <a:off x="151059" y="1432584"/>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6" name="TextBox 5"/>
              <p:cNvSpPr txBox="1"/>
              <p:nvPr/>
            </p:nvSpPr>
            <p:spPr>
              <a:xfrm>
                <a:off x="182172" y="1090142"/>
                <a:ext cx="680571" cy="184666"/>
              </a:xfrm>
              <a:prstGeom prst="rect">
                <a:avLst/>
              </a:prstGeom>
              <a:noFill/>
            </p:spPr>
            <p:txBody>
              <a:bodyPr wrap="none" lIns="0" tIns="0" rIns="0" bIns="0" rtlCol="0">
                <a:spAutoFit/>
              </a:bodyPr>
              <a:lstStyle/>
              <a:p>
                <a:r>
                  <a:rPr lang="en-GB" sz="1200" noProof="0" dirty="0"/>
                  <a:t>a</a:t>
                </a:r>
                <a:r>
                  <a:rPr lang="en-GB" sz="1200" b="0" noProof="0" dirty="0"/>
                  <a:t>) </a:t>
                </a:r>
                <a14:m>
                  <m:oMath xmlns:m="http://schemas.openxmlformats.org/officeDocument/2006/math">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+12</m:t>
                    </m:r>
                  </m:oMath>
                </a14:m>
                <a:endParaRPr lang="en-GB" sz="1200" noProof="0" dirty="0"/>
              </a:p>
            </p:txBody>
          </p:sp>
        </mc:Choice>
        <mc:Fallback xmlns="">
          <p:sp>
            <p:nvSpPr>
              <p:cNvPr id="6" name="TextBox 5"/>
              <p:cNvSpPr txBox="1">
                <a:spLocks noRot="1" noChangeAspect="1" noMove="1" noResize="1" noEditPoints="1" noAdjustHandles="1" noChangeArrowheads="1" noChangeShapeType="1" noTextEdit="1"/>
              </p:cNvSpPr>
              <p:nvPr/>
            </p:nvSpPr>
            <p:spPr>
              <a:xfrm>
                <a:off x="182172" y="1090142"/>
                <a:ext cx="680571" cy="184666"/>
              </a:xfrm>
              <a:prstGeom prst="rect">
                <a:avLst/>
              </a:prstGeom>
              <a:blipFill>
                <a:blip r:embed="rId2"/>
                <a:stretch>
                  <a:fillRect l="-14286" t="-26667" r="-7143"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870164" y="1090270"/>
                <a:ext cx="602024" cy="184666"/>
              </a:xfrm>
              <a:prstGeom prst="rect">
                <a:avLst/>
              </a:prstGeom>
              <a:noFill/>
            </p:spPr>
            <p:txBody>
              <a:bodyPr wrap="none" lIns="0" tIns="0" rIns="0" bIns="0" rtlCol="0">
                <a:spAutoFit/>
              </a:bodyPr>
              <a:lstStyle/>
              <a:p>
                <a:r>
                  <a:rPr lang="en-GB" sz="1200" noProof="0" dirty="0"/>
                  <a:t>b</a:t>
                </a:r>
                <a:r>
                  <a:rPr lang="en-GB" sz="1200" b="0" noProof="0" dirty="0"/>
                  <a:t>) </a:t>
                </a:r>
                <a14:m>
                  <m:oMath xmlns:m="http://schemas.openxmlformats.org/officeDocument/2006/math">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−9</m:t>
                    </m:r>
                  </m:oMath>
                </a14:m>
                <a:endParaRPr lang="en-GB" sz="1200" noProof="0" dirty="0"/>
              </a:p>
            </p:txBody>
          </p:sp>
        </mc:Choice>
        <mc:Fallback xmlns="">
          <p:sp>
            <p:nvSpPr>
              <p:cNvPr id="7" name="TextBox 6"/>
              <p:cNvSpPr txBox="1">
                <a:spLocks noRot="1" noChangeAspect="1" noMove="1" noResize="1" noEditPoints="1" noAdjustHandles="1" noChangeArrowheads="1" noChangeShapeType="1" noTextEdit="1"/>
              </p:cNvSpPr>
              <p:nvPr/>
            </p:nvSpPr>
            <p:spPr>
              <a:xfrm>
                <a:off x="1870164" y="1090270"/>
                <a:ext cx="602024" cy="184666"/>
              </a:xfrm>
              <a:prstGeom prst="rect">
                <a:avLst/>
              </a:prstGeom>
              <a:blipFill>
                <a:blip r:embed="rId3"/>
                <a:stretch>
                  <a:fillRect l="-16162" t="-26667" r="-8081" b="-50000"/>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B16CFEF2-A65A-6142-861C-58ACADF7EEFB}"/>
              </a:ext>
            </a:extLst>
          </p:cNvPr>
          <p:cNvSpPr/>
          <p:nvPr/>
        </p:nvSpPr>
        <p:spPr>
          <a:xfrm>
            <a:off x="1811271" y="1432584"/>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 name="Rectangle 8">
            <a:extLst>
              <a:ext uri="{FF2B5EF4-FFF2-40B4-BE49-F238E27FC236}">
                <a16:creationId xmlns:a16="http://schemas.microsoft.com/office/drawing/2014/main" id="{B16CFEF2-A65A-6142-861C-58ACADF7EEFB}"/>
              </a:ext>
            </a:extLst>
          </p:cNvPr>
          <p:cNvSpPr/>
          <p:nvPr/>
        </p:nvSpPr>
        <p:spPr>
          <a:xfrm>
            <a:off x="3483058" y="1432584"/>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0" name="Rectangle 9">
            <a:extLst>
              <a:ext uri="{FF2B5EF4-FFF2-40B4-BE49-F238E27FC236}">
                <a16:creationId xmlns:a16="http://schemas.microsoft.com/office/drawing/2014/main" id="{B16CFEF2-A65A-6142-861C-58ACADF7EEFB}"/>
              </a:ext>
            </a:extLst>
          </p:cNvPr>
          <p:cNvSpPr/>
          <p:nvPr/>
        </p:nvSpPr>
        <p:spPr>
          <a:xfrm>
            <a:off x="5160057" y="1432584"/>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1" name="TextBox 10"/>
              <p:cNvSpPr txBox="1"/>
              <p:nvPr/>
            </p:nvSpPr>
            <p:spPr>
              <a:xfrm>
                <a:off x="3482558" y="1090270"/>
                <a:ext cx="587597" cy="184666"/>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r>
                      <a:rPr lang="en-GB" sz="1200" i="1" noProof="0" smtClean="0">
                        <a:latin typeface="Cambria Math" panose="02040503050406030204" pitchFamily="18" charset="0"/>
                      </a:rPr>
                      <m:t>6</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−8</m:t>
                    </m:r>
                  </m:oMath>
                </a14:m>
                <a:endParaRPr lang="en-GB" sz="1200" noProof="0" dirty="0"/>
              </a:p>
            </p:txBody>
          </p:sp>
        </mc:Choice>
        <mc:Fallback xmlns="">
          <p:sp>
            <p:nvSpPr>
              <p:cNvPr id="11" name="TextBox 10"/>
              <p:cNvSpPr txBox="1">
                <a:spLocks noRot="1" noChangeAspect="1" noMove="1" noResize="1" noEditPoints="1" noAdjustHandles="1" noChangeArrowheads="1" noChangeShapeType="1" noTextEdit="1"/>
              </p:cNvSpPr>
              <p:nvPr/>
            </p:nvSpPr>
            <p:spPr>
              <a:xfrm>
                <a:off x="3482558" y="1090270"/>
                <a:ext cx="587597" cy="184666"/>
              </a:xfrm>
              <a:prstGeom prst="rect">
                <a:avLst/>
              </a:prstGeom>
              <a:blipFill>
                <a:blip r:embed="rId4"/>
                <a:stretch>
                  <a:fillRect l="-15464" t="-26667" r="-8247"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120219" y="1079776"/>
                <a:ext cx="771943" cy="184666"/>
              </a:xfrm>
              <a:prstGeom prst="rect">
                <a:avLst/>
              </a:prstGeom>
              <a:noFill/>
            </p:spPr>
            <p:txBody>
              <a:bodyPr wrap="none" lIns="0" tIns="0" rIns="0" bIns="0" rtlCol="0">
                <a:spAutoFit/>
              </a:bodyPr>
              <a:lstStyle/>
              <a:p>
                <a:r>
                  <a:rPr lang="en-GB" sz="1200" noProof="0" dirty="0"/>
                  <a:t>d</a:t>
                </a:r>
                <a:r>
                  <a:rPr lang="en-GB" sz="1200" b="0" noProof="0" dirty="0"/>
                  <a:t>) </a:t>
                </a:r>
                <a14:m>
                  <m:oMath xmlns:m="http://schemas.openxmlformats.org/officeDocument/2006/math">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+30</m:t>
                    </m:r>
                  </m:oMath>
                </a14:m>
                <a:endParaRPr lang="en-GB" sz="1200" noProof="0" dirty="0"/>
              </a:p>
            </p:txBody>
          </p:sp>
        </mc:Choice>
        <mc:Fallback xmlns="">
          <p:sp>
            <p:nvSpPr>
              <p:cNvPr id="12" name="TextBox 11"/>
              <p:cNvSpPr txBox="1">
                <a:spLocks noRot="1" noChangeAspect="1" noMove="1" noResize="1" noEditPoints="1" noAdjustHandles="1" noChangeArrowheads="1" noChangeShapeType="1" noTextEdit="1"/>
              </p:cNvSpPr>
              <p:nvPr/>
            </p:nvSpPr>
            <p:spPr>
              <a:xfrm>
                <a:off x="5120219" y="1079776"/>
                <a:ext cx="771943" cy="184666"/>
              </a:xfrm>
              <a:prstGeom prst="rect">
                <a:avLst/>
              </a:prstGeom>
              <a:blipFill>
                <a:blip r:embed="rId5"/>
                <a:stretch>
                  <a:fillRect l="-12598" t="-26667" r="-6299" b="-5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02080" y="3285930"/>
                <a:ext cx="944939" cy="184666"/>
              </a:xfrm>
              <a:prstGeom prst="rect">
                <a:avLst/>
              </a:prstGeom>
              <a:noFill/>
            </p:spPr>
            <p:txBody>
              <a:bodyPr wrap="none" lIns="0" tIns="0" rIns="0" bIns="0" rtlCol="0">
                <a:spAutoFit/>
              </a:bodyPr>
              <a:lstStyle/>
              <a:p>
                <a:r>
                  <a:rPr lang="en-GB" sz="1200" noProof="0" dirty="0"/>
                  <a:t>e</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a14:m>
                <a:endParaRPr lang="en-GB" sz="1200" noProof="0" dirty="0"/>
              </a:p>
            </p:txBody>
          </p:sp>
        </mc:Choice>
        <mc:Fallback xmlns="">
          <p:sp>
            <p:nvSpPr>
              <p:cNvPr id="18" name="TextBox 17"/>
              <p:cNvSpPr txBox="1">
                <a:spLocks noRot="1" noChangeAspect="1" noMove="1" noResize="1" noEditPoints="1" noAdjustHandles="1" noChangeArrowheads="1" noChangeShapeType="1" noTextEdit="1"/>
              </p:cNvSpPr>
              <p:nvPr/>
            </p:nvSpPr>
            <p:spPr>
              <a:xfrm>
                <a:off x="202080" y="3285930"/>
                <a:ext cx="944939" cy="184666"/>
              </a:xfrm>
              <a:prstGeom prst="rect">
                <a:avLst/>
              </a:prstGeom>
              <a:blipFill>
                <a:blip r:embed="rId6"/>
                <a:stretch>
                  <a:fillRect l="-9677" t="-23333" r="-5161"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890072" y="3286058"/>
                <a:ext cx="923330" cy="184666"/>
              </a:xfrm>
              <a:prstGeom prst="rect">
                <a:avLst/>
              </a:prstGeom>
              <a:noFill/>
            </p:spPr>
            <p:txBody>
              <a:bodyPr wrap="none" lIns="0" tIns="0" rIns="0" bIns="0" rtlCol="0">
                <a:spAutoFit/>
              </a:bodyPr>
              <a:lstStyle/>
              <a:p>
                <a:r>
                  <a:rPr lang="en-GB" sz="1200" noProof="0" dirty="0"/>
                  <a:t>f</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𝑦</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+9</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+8</m:t>
                    </m:r>
                  </m:oMath>
                </a14:m>
                <a:endParaRPr lang="en-GB" sz="1200" noProof="0" dirty="0"/>
              </a:p>
            </p:txBody>
          </p:sp>
        </mc:Choice>
        <mc:Fallback xmlns="">
          <p:sp>
            <p:nvSpPr>
              <p:cNvPr id="19" name="TextBox 18"/>
              <p:cNvSpPr txBox="1">
                <a:spLocks noRot="1" noChangeAspect="1" noMove="1" noResize="1" noEditPoints="1" noAdjustHandles="1" noChangeArrowheads="1" noChangeShapeType="1" noTextEdit="1"/>
              </p:cNvSpPr>
              <p:nvPr/>
            </p:nvSpPr>
            <p:spPr>
              <a:xfrm>
                <a:off x="1890072" y="3286058"/>
                <a:ext cx="923330" cy="184666"/>
              </a:xfrm>
              <a:prstGeom prst="rect">
                <a:avLst/>
              </a:prstGeom>
              <a:blipFill>
                <a:blip r:embed="rId7"/>
                <a:stretch>
                  <a:fillRect l="-9868" t="-23333" r="-4605"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3502466" y="3286058"/>
                <a:ext cx="945067" cy="184666"/>
              </a:xfrm>
              <a:prstGeom prst="rect">
                <a:avLst/>
              </a:prstGeom>
              <a:noFill/>
            </p:spPr>
            <p:txBody>
              <a:bodyPr wrap="none" lIns="0" tIns="0" rIns="0" bIns="0" rtlCol="0">
                <a:spAutoFit/>
              </a:bodyPr>
              <a:lstStyle/>
              <a:p>
                <a:r>
                  <a:rPr lang="en-GB" sz="1200" noProof="0" dirty="0"/>
                  <a:t>g</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𝑛</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+6</m:t>
                    </m:r>
                    <m:r>
                      <a:rPr lang="en-GB" sz="1200" b="0" i="1" noProof="0" smtClean="0">
                        <a:latin typeface="Cambria Math" panose="02040503050406030204" pitchFamily="18" charset="0"/>
                      </a:rPr>
                      <m:t>𝑛</m:t>
                    </m:r>
                    <m:r>
                      <a:rPr lang="en-GB" sz="1200" b="0" i="1" noProof="0" smtClean="0">
                        <a:latin typeface="Cambria Math" panose="02040503050406030204" pitchFamily="18" charset="0"/>
                      </a:rPr>
                      <m:t>+5</m:t>
                    </m:r>
                  </m:oMath>
                </a14:m>
                <a:endParaRPr lang="en-GB" sz="1200" noProof="0" dirty="0"/>
              </a:p>
            </p:txBody>
          </p:sp>
        </mc:Choice>
        <mc:Fallback xmlns="">
          <p:sp>
            <p:nvSpPr>
              <p:cNvPr id="23" name="TextBox 22"/>
              <p:cNvSpPr txBox="1">
                <a:spLocks noRot="1" noChangeAspect="1" noMove="1" noResize="1" noEditPoints="1" noAdjustHandles="1" noChangeArrowheads="1" noChangeShapeType="1" noTextEdit="1"/>
              </p:cNvSpPr>
              <p:nvPr/>
            </p:nvSpPr>
            <p:spPr>
              <a:xfrm>
                <a:off x="3502466" y="3286058"/>
                <a:ext cx="945067" cy="184666"/>
              </a:xfrm>
              <a:prstGeom prst="rect">
                <a:avLst/>
              </a:prstGeom>
              <a:blipFill>
                <a:blip r:embed="rId8"/>
                <a:stretch>
                  <a:fillRect l="-10323" t="-23333" r="-5161"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5140127" y="3275564"/>
                <a:ext cx="1117037" cy="184666"/>
              </a:xfrm>
              <a:prstGeom prst="rect">
                <a:avLst/>
              </a:prstGeom>
              <a:noFill/>
            </p:spPr>
            <p:txBody>
              <a:bodyPr wrap="none" lIns="0" tIns="0" rIns="0" bIns="0" rtlCol="0">
                <a:spAutoFit/>
              </a:bodyPr>
              <a:lstStyle/>
              <a:p>
                <a:r>
                  <a:rPr lang="en-GB" sz="1200" noProof="0" dirty="0"/>
                  <a:t>h</a:t>
                </a:r>
                <a:r>
                  <a:rPr lang="en-GB" sz="1200" b="0" noProof="0" dirty="0"/>
                  <a:t>)</a:t>
                </a:r>
                <a:r>
                  <a:rPr lang="en-GB" sz="1200" b="0" i="1"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𝑘</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𝑘</m:t>
                    </m:r>
                    <m:r>
                      <a:rPr lang="en-GB" sz="1200" b="0" i="1" noProof="0" smtClean="0">
                        <a:latin typeface="Cambria Math" panose="02040503050406030204" pitchFamily="18" charset="0"/>
                      </a:rPr>
                      <m:t>+35</m:t>
                    </m:r>
                  </m:oMath>
                </a14:m>
                <a:endParaRPr lang="en-GB" sz="1200" noProof="0" dirty="0"/>
              </a:p>
            </p:txBody>
          </p:sp>
        </mc:Choice>
        <mc:Fallback xmlns="">
          <p:sp>
            <p:nvSpPr>
              <p:cNvPr id="24" name="TextBox 23"/>
              <p:cNvSpPr txBox="1">
                <a:spLocks noRot="1" noChangeAspect="1" noMove="1" noResize="1" noEditPoints="1" noAdjustHandles="1" noChangeArrowheads="1" noChangeShapeType="1" noTextEdit="1"/>
              </p:cNvSpPr>
              <p:nvPr/>
            </p:nvSpPr>
            <p:spPr>
              <a:xfrm>
                <a:off x="5140127" y="3275564"/>
                <a:ext cx="1117037" cy="184666"/>
              </a:xfrm>
              <a:prstGeom prst="rect">
                <a:avLst/>
              </a:prstGeom>
              <a:blipFill>
                <a:blip r:embed="rId9"/>
                <a:stretch>
                  <a:fillRect l="-8197" t="-22581" r="-5464" b="-51613"/>
                </a:stretch>
              </a:blipFill>
            </p:spPr>
            <p:txBody>
              <a:bodyPr/>
              <a:lstStyle/>
              <a:p>
                <a:r>
                  <a:rPr lang="en-US">
                    <a:noFill/>
                  </a:rPr>
                  <a:t> </a:t>
                </a:r>
              </a:p>
            </p:txBody>
          </p:sp>
        </mc:Fallback>
      </mc:AlternateContent>
      <p:sp>
        <p:nvSpPr>
          <p:cNvPr id="30" name="Rectangle 29">
            <a:extLst>
              <a:ext uri="{FF2B5EF4-FFF2-40B4-BE49-F238E27FC236}">
                <a16:creationId xmlns:a16="http://schemas.microsoft.com/office/drawing/2014/main" id="{B16CFEF2-A65A-6142-861C-58ACADF7EEFB}"/>
              </a:ext>
            </a:extLst>
          </p:cNvPr>
          <p:cNvSpPr/>
          <p:nvPr/>
        </p:nvSpPr>
        <p:spPr>
          <a:xfrm>
            <a:off x="151059" y="3553992"/>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1" name="Rectangle 30">
            <a:extLst>
              <a:ext uri="{FF2B5EF4-FFF2-40B4-BE49-F238E27FC236}">
                <a16:creationId xmlns:a16="http://schemas.microsoft.com/office/drawing/2014/main" id="{B16CFEF2-A65A-6142-861C-58ACADF7EEFB}"/>
              </a:ext>
            </a:extLst>
          </p:cNvPr>
          <p:cNvSpPr/>
          <p:nvPr/>
        </p:nvSpPr>
        <p:spPr>
          <a:xfrm>
            <a:off x="1811271" y="3553992"/>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2" name="Rectangle 31">
            <a:extLst>
              <a:ext uri="{FF2B5EF4-FFF2-40B4-BE49-F238E27FC236}">
                <a16:creationId xmlns:a16="http://schemas.microsoft.com/office/drawing/2014/main" id="{B16CFEF2-A65A-6142-861C-58ACADF7EEFB}"/>
              </a:ext>
            </a:extLst>
          </p:cNvPr>
          <p:cNvSpPr/>
          <p:nvPr/>
        </p:nvSpPr>
        <p:spPr>
          <a:xfrm>
            <a:off x="3483058" y="3553992"/>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3" name="Rectangle 32">
            <a:extLst>
              <a:ext uri="{FF2B5EF4-FFF2-40B4-BE49-F238E27FC236}">
                <a16:creationId xmlns:a16="http://schemas.microsoft.com/office/drawing/2014/main" id="{B16CFEF2-A65A-6142-861C-58ACADF7EEFB}"/>
              </a:ext>
            </a:extLst>
          </p:cNvPr>
          <p:cNvSpPr/>
          <p:nvPr/>
        </p:nvSpPr>
        <p:spPr>
          <a:xfrm>
            <a:off x="5160057" y="3553992"/>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8" name="TextBox 37"/>
              <p:cNvSpPr txBox="1"/>
              <p:nvPr/>
            </p:nvSpPr>
            <p:spPr>
              <a:xfrm>
                <a:off x="182150" y="5407338"/>
                <a:ext cx="548099" cy="184666"/>
              </a:xfrm>
              <a:prstGeom prst="rect">
                <a:avLst/>
              </a:prstGeom>
              <a:noFill/>
            </p:spPr>
            <p:txBody>
              <a:bodyPr wrap="none" lIns="0" tIns="0" rIns="0" bIns="0" rtlCol="0">
                <a:spAutoFit/>
              </a:bodyPr>
              <a:lstStyle/>
              <a:p>
                <a:r>
                  <a:rPr lang="en-GB" sz="1200" noProof="0" dirty="0" err="1"/>
                  <a:t>i</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−4</m:t>
                    </m:r>
                  </m:oMath>
                </a14:m>
                <a:endParaRPr lang="en-GB" sz="1200" noProof="0" dirty="0"/>
              </a:p>
            </p:txBody>
          </p:sp>
        </mc:Choice>
        <mc:Fallback xmlns="">
          <p:sp>
            <p:nvSpPr>
              <p:cNvPr id="38" name="TextBox 37"/>
              <p:cNvSpPr txBox="1">
                <a:spLocks noRot="1" noChangeAspect="1" noMove="1" noResize="1" noEditPoints="1" noAdjustHandles="1" noChangeArrowheads="1" noChangeShapeType="1" noTextEdit="1"/>
              </p:cNvSpPr>
              <p:nvPr/>
            </p:nvSpPr>
            <p:spPr>
              <a:xfrm>
                <a:off x="182150" y="5407338"/>
                <a:ext cx="548099" cy="184666"/>
              </a:xfrm>
              <a:prstGeom prst="rect">
                <a:avLst/>
              </a:prstGeom>
              <a:blipFill>
                <a:blip r:embed="rId10"/>
                <a:stretch>
                  <a:fillRect l="-17778" t="-23333" r="-8889"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1870142" y="5407466"/>
                <a:ext cx="638508" cy="184666"/>
              </a:xfrm>
              <a:prstGeom prst="rect">
                <a:avLst/>
              </a:prstGeom>
              <a:noFill/>
            </p:spPr>
            <p:txBody>
              <a:bodyPr wrap="none" lIns="0" tIns="0" rIns="0" bIns="0" rtlCol="0">
                <a:spAutoFit/>
              </a:bodyPr>
              <a:lstStyle/>
              <a:p>
                <a:r>
                  <a:rPr lang="en-GB" sz="1200" noProof="0" dirty="0"/>
                  <a:t>j</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𝑦</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−16</m:t>
                    </m:r>
                  </m:oMath>
                </a14:m>
                <a:endParaRPr lang="en-GB" sz="1200" noProof="0" dirty="0"/>
              </a:p>
            </p:txBody>
          </p:sp>
        </mc:Choice>
        <mc:Fallback xmlns="">
          <p:sp>
            <p:nvSpPr>
              <p:cNvPr id="39" name="TextBox 38"/>
              <p:cNvSpPr txBox="1">
                <a:spLocks noRot="1" noChangeAspect="1" noMove="1" noResize="1" noEditPoints="1" noAdjustHandles="1" noChangeArrowheads="1" noChangeShapeType="1" noTextEdit="1"/>
              </p:cNvSpPr>
              <p:nvPr/>
            </p:nvSpPr>
            <p:spPr>
              <a:xfrm>
                <a:off x="1870142" y="5407466"/>
                <a:ext cx="638508" cy="184666"/>
              </a:xfrm>
              <a:prstGeom prst="rect">
                <a:avLst/>
              </a:prstGeom>
              <a:blipFill>
                <a:blip r:embed="rId11"/>
                <a:stretch>
                  <a:fillRect l="-15238" t="-23333" r="-7619"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482536" y="5407466"/>
                <a:ext cx="668324" cy="184666"/>
              </a:xfrm>
              <a:prstGeom prst="rect">
                <a:avLst/>
              </a:prstGeom>
              <a:noFill/>
            </p:spPr>
            <p:txBody>
              <a:bodyPr wrap="none" lIns="0" tIns="0" rIns="0" bIns="0" rtlCol="0">
                <a:spAutoFit/>
              </a:bodyPr>
              <a:lstStyle/>
              <a:p>
                <a:r>
                  <a:rPr lang="en-GB" sz="1200" noProof="0" dirty="0"/>
                  <a:t>k</a:t>
                </a:r>
                <a:r>
                  <a:rPr lang="en-GB" sz="1200" b="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−49</m:t>
                    </m:r>
                  </m:oMath>
                </a14:m>
                <a:endParaRPr lang="en-GB" sz="1200" noProof="0" dirty="0"/>
              </a:p>
            </p:txBody>
          </p:sp>
        </mc:Choice>
        <mc:Fallback xmlns="">
          <p:sp>
            <p:nvSpPr>
              <p:cNvPr id="40" name="TextBox 39"/>
              <p:cNvSpPr txBox="1">
                <a:spLocks noRot="1" noChangeAspect="1" noMove="1" noResize="1" noEditPoints="1" noAdjustHandles="1" noChangeArrowheads="1" noChangeShapeType="1" noTextEdit="1"/>
              </p:cNvSpPr>
              <p:nvPr/>
            </p:nvSpPr>
            <p:spPr>
              <a:xfrm>
                <a:off x="3482536" y="5407466"/>
                <a:ext cx="668324" cy="184666"/>
              </a:xfrm>
              <a:prstGeom prst="rect">
                <a:avLst/>
              </a:prstGeom>
              <a:blipFill>
                <a:blip r:embed="rId12"/>
                <a:stretch>
                  <a:fillRect l="-13636" t="-23333" r="-7273" b="-5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5120197" y="5396972"/>
                <a:ext cx="718017" cy="184666"/>
              </a:xfrm>
              <a:prstGeom prst="rect">
                <a:avLst/>
              </a:prstGeom>
              <a:noFill/>
            </p:spPr>
            <p:txBody>
              <a:bodyPr wrap="none" lIns="0" tIns="0" rIns="0" bIns="0" rtlCol="0">
                <a:spAutoFit/>
              </a:bodyPr>
              <a:lstStyle/>
              <a:p>
                <a:r>
                  <a:rPr lang="en-GB" sz="1200" noProof="0" dirty="0"/>
                  <a:t>l</a:t>
                </a:r>
                <a:r>
                  <a:rPr lang="en-GB" sz="1200" b="0" noProof="0" dirty="0"/>
                  <a:t>)</a:t>
                </a:r>
                <a:r>
                  <a:rPr lang="en-GB" sz="1200" b="0" i="1"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−121</m:t>
                    </m:r>
                  </m:oMath>
                </a14:m>
                <a:endParaRPr lang="en-GB" sz="1200" noProof="0" dirty="0"/>
              </a:p>
            </p:txBody>
          </p:sp>
        </mc:Choice>
        <mc:Fallback xmlns="">
          <p:sp>
            <p:nvSpPr>
              <p:cNvPr id="41" name="TextBox 40"/>
              <p:cNvSpPr txBox="1">
                <a:spLocks noRot="1" noChangeAspect="1" noMove="1" noResize="1" noEditPoints="1" noAdjustHandles="1" noChangeArrowheads="1" noChangeShapeType="1" noTextEdit="1"/>
              </p:cNvSpPr>
              <p:nvPr/>
            </p:nvSpPr>
            <p:spPr>
              <a:xfrm>
                <a:off x="5120197" y="5396972"/>
                <a:ext cx="718017" cy="184666"/>
              </a:xfrm>
              <a:prstGeom prst="rect">
                <a:avLst/>
              </a:prstGeom>
              <a:blipFill>
                <a:blip r:embed="rId13"/>
                <a:stretch>
                  <a:fillRect l="-13559" t="-22581" r="-6780" b="-51613"/>
                </a:stretch>
              </a:blipFill>
            </p:spPr>
            <p:txBody>
              <a:bodyPr/>
              <a:lstStyle/>
              <a:p>
                <a:r>
                  <a:rPr lang="en-US">
                    <a:noFill/>
                  </a:rPr>
                  <a:t> </a:t>
                </a:r>
              </a:p>
            </p:txBody>
          </p:sp>
        </mc:Fallback>
      </mc:AlternateContent>
      <p:sp>
        <p:nvSpPr>
          <p:cNvPr id="42" name="Rectangle 41">
            <a:extLst>
              <a:ext uri="{FF2B5EF4-FFF2-40B4-BE49-F238E27FC236}">
                <a16:creationId xmlns:a16="http://schemas.microsoft.com/office/drawing/2014/main" id="{B16CFEF2-A65A-6142-861C-58ACADF7EEFB}"/>
              </a:ext>
            </a:extLst>
          </p:cNvPr>
          <p:cNvSpPr/>
          <p:nvPr/>
        </p:nvSpPr>
        <p:spPr>
          <a:xfrm>
            <a:off x="131129" y="5675400"/>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3" name="Rectangle 42">
            <a:extLst>
              <a:ext uri="{FF2B5EF4-FFF2-40B4-BE49-F238E27FC236}">
                <a16:creationId xmlns:a16="http://schemas.microsoft.com/office/drawing/2014/main" id="{B16CFEF2-A65A-6142-861C-58ACADF7EEFB}"/>
              </a:ext>
            </a:extLst>
          </p:cNvPr>
          <p:cNvSpPr/>
          <p:nvPr/>
        </p:nvSpPr>
        <p:spPr>
          <a:xfrm>
            <a:off x="1791341" y="5675400"/>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4" name="Rectangle 43">
            <a:extLst>
              <a:ext uri="{FF2B5EF4-FFF2-40B4-BE49-F238E27FC236}">
                <a16:creationId xmlns:a16="http://schemas.microsoft.com/office/drawing/2014/main" id="{B16CFEF2-A65A-6142-861C-58ACADF7EEFB}"/>
              </a:ext>
            </a:extLst>
          </p:cNvPr>
          <p:cNvSpPr/>
          <p:nvPr/>
        </p:nvSpPr>
        <p:spPr>
          <a:xfrm>
            <a:off x="3463128" y="5675400"/>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5" name="Rectangle 44">
            <a:extLst>
              <a:ext uri="{FF2B5EF4-FFF2-40B4-BE49-F238E27FC236}">
                <a16:creationId xmlns:a16="http://schemas.microsoft.com/office/drawing/2014/main" id="{B16CFEF2-A65A-6142-861C-58ACADF7EEFB}"/>
              </a:ext>
            </a:extLst>
          </p:cNvPr>
          <p:cNvSpPr/>
          <p:nvPr/>
        </p:nvSpPr>
        <p:spPr>
          <a:xfrm>
            <a:off x="5140127" y="5675400"/>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63" name="TextBox 62"/>
              <p:cNvSpPr txBox="1"/>
              <p:nvPr/>
            </p:nvSpPr>
            <p:spPr>
              <a:xfrm>
                <a:off x="182150" y="7671397"/>
                <a:ext cx="1076385" cy="184666"/>
              </a:xfrm>
              <a:prstGeom prst="rect">
                <a:avLst/>
              </a:prstGeom>
              <a:noFill/>
            </p:spPr>
            <p:txBody>
              <a:bodyPr wrap="none" lIns="0" tIns="0" rIns="0" bIns="0" rtlCol="0">
                <a:spAutoFit/>
              </a:bodyPr>
              <a:lstStyle/>
              <a:p>
                <a:r>
                  <a:rPr lang="en-GB" sz="1200" noProof="0" dirty="0"/>
                  <a:t>m</a:t>
                </a:r>
                <a:r>
                  <a:rPr lang="en-GB" sz="1200" b="0" noProof="0" dirty="0"/>
                  <a:t>)</a:t>
                </a:r>
                <a:r>
                  <a:rPr lang="en-GB" sz="1200" noProof="0" dirty="0"/>
                  <a:t> </a:t>
                </a:r>
                <a14:m>
                  <m:oMath xmlns:m="http://schemas.openxmlformats.org/officeDocument/2006/math">
                    <m:r>
                      <a:rPr lang="en-GB" sz="1200" i="1" noProof="0" smtClean="0">
                        <a:latin typeface="Cambria Math" panose="02040503050406030204" pitchFamily="18" charset="0"/>
                      </a:rPr>
                      <m:t>2</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−3</m:t>
                    </m:r>
                    <m:r>
                      <a:rPr lang="en-GB" sz="1200" i="1" noProof="0" smtClean="0">
                        <a:latin typeface="Cambria Math" panose="02040503050406030204" pitchFamily="18" charset="0"/>
                      </a:rPr>
                      <m:t>𝑥</m:t>
                    </m:r>
                    <m:r>
                      <a:rPr lang="en-GB" sz="1200" i="1" noProof="0" smtClean="0">
                        <a:latin typeface="Cambria Math" panose="02040503050406030204" pitchFamily="18" charset="0"/>
                      </a:rPr>
                      <m:t>−9</m:t>
                    </m:r>
                  </m:oMath>
                </a14:m>
                <a:endParaRPr lang="en-GB" sz="1200" noProof="0" dirty="0"/>
              </a:p>
            </p:txBody>
          </p:sp>
        </mc:Choice>
        <mc:Fallback xmlns="">
          <p:sp>
            <p:nvSpPr>
              <p:cNvPr id="63" name="TextBox 62"/>
              <p:cNvSpPr txBox="1">
                <a:spLocks noRot="1" noChangeAspect="1" noMove="1" noResize="1" noEditPoints="1" noAdjustHandles="1" noChangeArrowheads="1" noChangeShapeType="1" noTextEdit="1"/>
              </p:cNvSpPr>
              <p:nvPr/>
            </p:nvSpPr>
            <p:spPr>
              <a:xfrm>
                <a:off x="182150" y="7671397"/>
                <a:ext cx="1076385" cy="184666"/>
              </a:xfrm>
              <a:prstGeom prst="rect">
                <a:avLst/>
              </a:prstGeom>
              <a:blipFill>
                <a:blip r:embed="rId14"/>
                <a:stretch>
                  <a:fillRect l="-9091" t="-22581" r="-4545" b="-516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1870142" y="7671525"/>
                <a:ext cx="1033103" cy="184666"/>
              </a:xfrm>
              <a:prstGeom prst="rect">
                <a:avLst/>
              </a:prstGeom>
              <a:noFill/>
            </p:spPr>
            <p:txBody>
              <a:bodyPr wrap="none" lIns="0" tIns="0" rIns="0" bIns="0" rtlCol="0">
                <a:spAutoFit/>
              </a:bodyPr>
              <a:lstStyle/>
              <a:p>
                <a:r>
                  <a:rPr lang="en-GB" sz="1200" noProof="0" dirty="0"/>
                  <a:t>n</a:t>
                </a:r>
                <a:r>
                  <a:rPr lang="en-GB" sz="1200" b="0" noProof="0" dirty="0"/>
                  <a:t>) </a:t>
                </a:r>
                <a14:m>
                  <m:oMath xmlns:m="http://schemas.openxmlformats.org/officeDocument/2006/math">
                    <m:r>
                      <a:rPr lang="en-GB" sz="1200" i="1" noProof="0" smtClean="0">
                        <a:latin typeface="Cambria Math" panose="02040503050406030204" pitchFamily="18" charset="0"/>
                      </a:rPr>
                      <m:t>3</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+8</m:t>
                    </m:r>
                    <m:r>
                      <a:rPr lang="en-GB" sz="1200" i="1" noProof="0" smtClean="0">
                        <a:latin typeface="Cambria Math" panose="02040503050406030204" pitchFamily="18" charset="0"/>
                      </a:rPr>
                      <m:t>𝑥</m:t>
                    </m:r>
                    <m:r>
                      <a:rPr lang="en-GB" sz="1200" i="1" noProof="0" smtClean="0">
                        <a:latin typeface="Cambria Math" panose="02040503050406030204" pitchFamily="18" charset="0"/>
                      </a:rPr>
                      <m:t>+4</m:t>
                    </m:r>
                  </m:oMath>
                </a14:m>
                <a:endParaRPr lang="en-GB" sz="1200" noProof="0" dirty="0"/>
              </a:p>
            </p:txBody>
          </p:sp>
        </mc:Choice>
        <mc:Fallback xmlns="">
          <p:sp>
            <p:nvSpPr>
              <p:cNvPr id="64" name="TextBox 63"/>
              <p:cNvSpPr txBox="1">
                <a:spLocks noRot="1" noChangeAspect="1" noMove="1" noResize="1" noEditPoints="1" noAdjustHandles="1" noChangeArrowheads="1" noChangeShapeType="1" noTextEdit="1"/>
              </p:cNvSpPr>
              <p:nvPr/>
            </p:nvSpPr>
            <p:spPr>
              <a:xfrm>
                <a:off x="1870142" y="7671525"/>
                <a:ext cx="1033103" cy="184666"/>
              </a:xfrm>
              <a:prstGeom prst="rect">
                <a:avLst/>
              </a:prstGeom>
              <a:blipFill>
                <a:blip r:embed="rId15"/>
                <a:stretch>
                  <a:fillRect l="-9467" t="-22581" r="-4734" b="-516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3482536" y="7671525"/>
                <a:ext cx="1034707" cy="184666"/>
              </a:xfrm>
              <a:prstGeom prst="rect">
                <a:avLst/>
              </a:prstGeom>
              <a:noFill/>
            </p:spPr>
            <p:txBody>
              <a:bodyPr wrap="none" lIns="0" tIns="0" rIns="0" bIns="0" rtlCol="0">
                <a:spAutoFit/>
              </a:bodyPr>
              <a:lstStyle/>
              <a:p>
                <a:r>
                  <a:rPr lang="en-GB" sz="1200" noProof="0" dirty="0"/>
                  <a:t>o</a:t>
                </a:r>
                <a:r>
                  <a:rPr lang="en-GB" sz="1200" b="0" noProof="0" dirty="0"/>
                  <a:t>) </a:t>
                </a:r>
                <a14:m>
                  <m:oMath xmlns:m="http://schemas.openxmlformats.org/officeDocument/2006/math">
                    <m:r>
                      <a:rPr lang="en-GB" sz="1200" i="1" noProof="0" smtClean="0">
                        <a:latin typeface="Cambria Math" panose="02040503050406030204" pitchFamily="18" charset="0"/>
                      </a:rPr>
                      <m:t>4</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−9</m:t>
                    </m:r>
                    <m:r>
                      <a:rPr lang="en-GB" sz="1200" i="1" noProof="0" smtClean="0">
                        <a:latin typeface="Cambria Math" panose="02040503050406030204" pitchFamily="18" charset="0"/>
                      </a:rPr>
                      <m:t>𝑥</m:t>
                    </m:r>
                    <m:r>
                      <a:rPr lang="en-GB" sz="1200" i="1" noProof="0" smtClean="0">
                        <a:latin typeface="Cambria Math" panose="02040503050406030204" pitchFamily="18" charset="0"/>
                      </a:rPr>
                      <m:t>+2</m:t>
                    </m:r>
                  </m:oMath>
                </a14:m>
                <a:endParaRPr lang="en-GB" sz="1200" noProof="0" dirty="0"/>
              </a:p>
            </p:txBody>
          </p:sp>
        </mc:Choice>
        <mc:Fallback xmlns="">
          <p:sp>
            <p:nvSpPr>
              <p:cNvPr id="65" name="TextBox 64"/>
              <p:cNvSpPr txBox="1">
                <a:spLocks noRot="1" noChangeAspect="1" noMove="1" noResize="1" noEditPoints="1" noAdjustHandles="1" noChangeArrowheads="1" noChangeShapeType="1" noTextEdit="1"/>
              </p:cNvSpPr>
              <p:nvPr/>
            </p:nvSpPr>
            <p:spPr>
              <a:xfrm>
                <a:off x="3482536" y="7671525"/>
                <a:ext cx="1034707" cy="184666"/>
              </a:xfrm>
              <a:prstGeom prst="rect">
                <a:avLst/>
              </a:prstGeom>
              <a:blipFill>
                <a:blip r:embed="rId16"/>
                <a:stretch>
                  <a:fillRect l="-8824" t="-22581" r="-4118" b="-516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5120197" y="7661031"/>
                <a:ext cx="1118063" cy="369332"/>
              </a:xfrm>
              <a:prstGeom prst="rect">
                <a:avLst/>
              </a:prstGeom>
              <a:noFill/>
            </p:spPr>
            <p:txBody>
              <a:bodyPr wrap="none" lIns="0" tIns="0" rIns="0" bIns="0" rtlCol="0">
                <a:spAutoFit/>
              </a:bodyPr>
              <a:lstStyle/>
              <a:p>
                <a:r>
                  <a:rPr lang="en-GB" sz="1200" noProof="0" dirty="0"/>
                  <a:t>p)</a:t>
                </a:r>
                <a:r>
                  <a:rPr lang="en-GB" sz="1200" b="0" i="1" noProof="0" dirty="0"/>
                  <a:t> </a:t>
                </a:r>
                <a14:m>
                  <m:oMath xmlns:m="http://schemas.openxmlformats.org/officeDocument/2006/math">
                    <m:r>
                      <a:rPr lang="en-GB" sz="1200" i="1" noProof="0" smtClean="0">
                        <a:latin typeface="Cambria Math" panose="02040503050406030204" pitchFamily="18" charset="0"/>
                      </a:rPr>
                      <m:t>3</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2</m:t>
                        </m:r>
                      </m:sup>
                    </m:sSup>
                    <m:r>
                      <a:rPr lang="en-GB" sz="1200" i="1" noProof="0" smtClean="0">
                        <a:latin typeface="Cambria Math" panose="02040503050406030204" pitchFamily="18" charset="0"/>
                      </a:rPr>
                      <m:t>+10</m:t>
                    </m:r>
                    <m:r>
                      <a:rPr lang="en-GB" sz="1200" i="1" noProof="0" smtClean="0">
                        <a:latin typeface="Cambria Math" panose="02040503050406030204" pitchFamily="18" charset="0"/>
                      </a:rPr>
                      <m:t>𝑥</m:t>
                    </m:r>
                    <m:r>
                      <a:rPr lang="en-GB" sz="1200" i="1" noProof="0" smtClean="0">
                        <a:latin typeface="Cambria Math" panose="02040503050406030204" pitchFamily="18" charset="0"/>
                      </a:rPr>
                      <m:t>+7</m:t>
                    </m:r>
                  </m:oMath>
                </a14:m>
                <a:endParaRPr lang="en-GB" sz="1200" noProof="0" dirty="0"/>
              </a:p>
              <a:p>
                <a:endParaRPr lang="en-GB" sz="1200" noProof="0" dirty="0"/>
              </a:p>
            </p:txBody>
          </p:sp>
        </mc:Choice>
        <mc:Fallback xmlns="">
          <p:sp>
            <p:nvSpPr>
              <p:cNvPr id="66" name="TextBox 65"/>
              <p:cNvSpPr txBox="1">
                <a:spLocks noRot="1" noChangeAspect="1" noMove="1" noResize="1" noEditPoints="1" noAdjustHandles="1" noChangeArrowheads="1" noChangeShapeType="1" noTextEdit="1"/>
              </p:cNvSpPr>
              <p:nvPr/>
            </p:nvSpPr>
            <p:spPr>
              <a:xfrm>
                <a:off x="5120197" y="7661031"/>
                <a:ext cx="1118063" cy="369332"/>
              </a:xfrm>
              <a:prstGeom prst="rect">
                <a:avLst/>
              </a:prstGeom>
              <a:blipFill>
                <a:blip r:embed="rId17"/>
                <a:stretch>
                  <a:fillRect l="-8743" t="-11667" r="-4372"/>
                </a:stretch>
              </a:blipFill>
            </p:spPr>
            <p:txBody>
              <a:bodyPr/>
              <a:lstStyle/>
              <a:p>
                <a:r>
                  <a:rPr lang="en-US">
                    <a:noFill/>
                  </a:rPr>
                  <a:t> </a:t>
                </a:r>
              </a:p>
            </p:txBody>
          </p:sp>
        </mc:Fallback>
      </mc:AlternateContent>
      <p:sp>
        <p:nvSpPr>
          <p:cNvPr id="67" name="Rectangle 66">
            <a:extLst>
              <a:ext uri="{FF2B5EF4-FFF2-40B4-BE49-F238E27FC236}">
                <a16:creationId xmlns:a16="http://schemas.microsoft.com/office/drawing/2014/main" id="{B16CFEF2-A65A-6142-861C-58ACADF7EEFB}"/>
              </a:ext>
            </a:extLst>
          </p:cNvPr>
          <p:cNvSpPr/>
          <p:nvPr/>
        </p:nvSpPr>
        <p:spPr>
          <a:xfrm>
            <a:off x="131129" y="7939459"/>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8" name="Rectangle 67">
            <a:extLst>
              <a:ext uri="{FF2B5EF4-FFF2-40B4-BE49-F238E27FC236}">
                <a16:creationId xmlns:a16="http://schemas.microsoft.com/office/drawing/2014/main" id="{B16CFEF2-A65A-6142-861C-58ACADF7EEFB}"/>
              </a:ext>
            </a:extLst>
          </p:cNvPr>
          <p:cNvSpPr/>
          <p:nvPr/>
        </p:nvSpPr>
        <p:spPr>
          <a:xfrm>
            <a:off x="1791341" y="7939459"/>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9" name="Rectangle 68">
            <a:extLst>
              <a:ext uri="{FF2B5EF4-FFF2-40B4-BE49-F238E27FC236}">
                <a16:creationId xmlns:a16="http://schemas.microsoft.com/office/drawing/2014/main" id="{B16CFEF2-A65A-6142-861C-58ACADF7EEFB}"/>
              </a:ext>
            </a:extLst>
          </p:cNvPr>
          <p:cNvSpPr/>
          <p:nvPr/>
        </p:nvSpPr>
        <p:spPr>
          <a:xfrm>
            <a:off x="3463128" y="7939459"/>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0" name="Rectangle 69">
            <a:extLst>
              <a:ext uri="{FF2B5EF4-FFF2-40B4-BE49-F238E27FC236}">
                <a16:creationId xmlns:a16="http://schemas.microsoft.com/office/drawing/2014/main" id="{B16CFEF2-A65A-6142-861C-58ACADF7EEFB}"/>
              </a:ext>
            </a:extLst>
          </p:cNvPr>
          <p:cNvSpPr/>
          <p:nvPr/>
        </p:nvSpPr>
        <p:spPr>
          <a:xfrm>
            <a:off x="5140127" y="7939459"/>
            <a:ext cx="1589928" cy="167483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7" name="Slide Number Placeholder 16"/>
          <p:cNvSpPr>
            <a:spLocks noGrp="1"/>
          </p:cNvSpPr>
          <p:nvPr>
            <p:ph type="sldNum" sz="quarter" idx="12"/>
          </p:nvPr>
        </p:nvSpPr>
        <p:spPr>
          <a:xfrm>
            <a:off x="5257814" y="9488376"/>
            <a:ext cx="1543050" cy="527403"/>
          </a:xfrm>
        </p:spPr>
        <p:txBody>
          <a:bodyPr/>
          <a:lstStyle/>
          <a:p>
            <a:fld id="{9BD3B4A0-BFF9-422C-B253-48BA94BE2F5B}" type="slidenum">
              <a:rPr lang="en-GB" noProof="0" smtClean="0"/>
              <a:t>7</a:t>
            </a:fld>
            <a:endParaRPr lang="en-GB" noProof="0" dirty="0"/>
          </a:p>
        </p:txBody>
      </p:sp>
      <p:sp>
        <p:nvSpPr>
          <p:cNvPr id="20" name="TextBox 19">
            <a:extLst>
              <a:ext uri="{FF2B5EF4-FFF2-40B4-BE49-F238E27FC236}">
                <a16:creationId xmlns:a16="http://schemas.microsoft.com/office/drawing/2014/main" id="{47CFFC68-2B81-CCD0-EF97-A5F5B20ECF30}"/>
              </a:ext>
            </a:extLst>
          </p:cNvPr>
          <p:cNvSpPr txBox="1"/>
          <p:nvPr/>
        </p:nvSpPr>
        <p:spPr>
          <a:xfrm>
            <a:off x="76121" y="291703"/>
            <a:ext cx="6672715" cy="461665"/>
          </a:xfrm>
          <a:prstGeom prst="rect">
            <a:avLst/>
          </a:prstGeom>
          <a:noFill/>
          <a:ln>
            <a:solidFill>
              <a:schemeClr val="tx1"/>
            </a:solidFill>
          </a:ln>
        </p:spPr>
        <p:txBody>
          <a:bodyPr wrap="square" rtlCol="0">
            <a:spAutoFit/>
          </a:bodyPr>
          <a:lstStyle/>
          <a:p>
            <a:r>
              <a:rPr lang="en-GB" sz="1200" noProof="0" dirty="0"/>
              <a:t>Simplifying Algebraic Fractions will often use your knowledge of factorising – either into singe brackets or double brackets. </a:t>
            </a:r>
          </a:p>
        </p:txBody>
      </p:sp>
    </p:spTree>
    <p:extLst>
      <p:ext uri="{BB962C8B-B14F-4D97-AF65-F5344CB8AC3E}">
        <p14:creationId xmlns:p14="http://schemas.microsoft.com/office/powerpoint/2010/main" val="826102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5270368" y="9534239"/>
            <a:ext cx="1543050" cy="527403"/>
          </a:xfrm>
        </p:spPr>
        <p:txBody>
          <a:bodyPr/>
          <a:lstStyle/>
          <a:p>
            <a:fld id="{9BD3B4A0-BFF9-422C-B253-48BA94BE2F5B}" type="slidenum">
              <a:rPr lang="en-GB" noProof="0" smtClean="0"/>
              <a:t>8</a:t>
            </a:fld>
            <a:endParaRPr lang="en-GB" noProof="0" dirty="0"/>
          </a:p>
        </p:txBody>
      </p:sp>
      <mc:AlternateContent xmlns:mc="http://schemas.openxmlformats.org/markup-compatibility/2006" xmlns:a14="http://schemas.microsoft.com/office/drawing/2010/main">
        <mc:Choice Requires="a14">
          <p:graphicFrame>
            <p:nvGraphicFramePr>
              <p:cNvPr id="83" name="Table 82"/>
              <p:cNvGraphicFramePr>
                <a:graphicFrameLocks noGrp="1"/>
              </p:cNvGraphicFramePr>
              <p:nvPr>
                <p:extLst>
                  <p:ext uri="{D42A27DB-BD31-4B8C-83A1-F6EECF244321}">
                    <p14:modId xmlns:p14="http://schemas.microsoft.com/office/powerpoint/2010/main" val="2128830723"/>
                  </p:ext>
                </p:extLst>
              </p:nvPr>
            </p:nvGraphicFramePr>
            <p:xfrm>
              <a:off x="210129" y="276999"/>
              <a:ext cx="6484022" cy="3575348"/>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363131">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+2)</m:t>
                                  </m:r>
                                </m:num>
                                <m:den>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+2</m:t>
                                  </m:r>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num>
                                <m:den>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1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4(</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num>
                                <m:den>
                                  <m:r>
                                    <a:rPr lang="en-GB" sz="1600" b="0" i="1" noProof="0" smtClean="0">
                                      <a:solidFill>
                                        <a:schemeClr val="tx1"/>
                                      </a:solidFill>
                                      <a:latin typeface="Cambria Math" panose="02040503050406030204" pitchFamily="18" charset="0"/>
                                    </a:rPr>
                                    <m:t>(</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+2)</m:t>
                                  </m:r>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68032">
                    <a:tc>
                      <a:txBody>
                        <a:bodyPr/>
                        <a:lstStyle/>
                        <a:p>
                          <a:r>
                            <a:rPr lang="en-GB" sz="1100" noProof="0" dirty="0">
                              <a:solidFill>
                                <a:schemeClr val="tx1"/>
                              </a:solidFill>
                            </a:rPr>
                            <a:t>1) Check</a:t>
                          </a:r>
                          <a:r>
                            <a:rPr lang="en-GB" sz="1100" baseline="0" noProof="0" dirty="0">
                              <a:solidFill>
                                <a:schemeClr val="tx1"/>
                              </a:solidFill>
                            </a:rPr>
                            <a:t> if the numerator/denominator need to be factorised.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13723">
                    <a:tc>
                      <a:txBody>
                        <a:bodyPr/>
                        <a:lstStyle/>
                        <a:p>
                          <a:r>
                            <a:rPr lang="en-GB" sz="1100" noProof="0" dirty="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013723">
                    <a:tc>
                      <a:txBody>
                        <a:bodyPr/>
                        <a:lstStyle/>
                        <a:p>
                          <a:r>
                            <a:rPr lang="en-GB" sz="1100" noProof="0" dirty="0">
                              <a:solidFill>
                                <a:schemeClr val="tx1"/>
                              </a:solidFill>
                            </a:rPr>
                            <a:t>3) Cancel</a:t>
                          </a:r>
                          <a:r>
                            <a:rPr lang="en-GB" sz="1100" baseline="0" noProof="0" dirty="0">
                              <a:solidFill>
                                <a:schemeClr val="tx1"/>
                              </a:solidFill>
                            </a:rPr>
                            <a:t> common factors.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83" name="Table 82"/>
              <p:cNvGraphicFramePr>
                <a:graphicFrameLocks noGrp="1"/>
              </p:cNvGraphicFramePr>
              <p:nvPr>
                <p:extLst>
                  <p:ext uri="{D42A27DB-BD31-4B8C-83A1-F6EECF244321}">
                    <p14:modId xmlns:p14="http://schemas.microsoft.com/office/powerpoint/2010/main" val="2128830723"/>
                  </p:ext>
                </p:extLst>
              </p:nvPr>
            </p:nvGraphicFramePr>
            <p:xfrm>
              <a:off x="210129" y="276999"/>
              <a:ext cx="6484022" cy="3575348"/>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7987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9364" t="-1266" r="-218021" b="-6468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2722" t="-1266" r="-95253" b="-6468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522" t="-1266" r="-669" b="-646835"/>
                          </a:stretch>
                        </a:blipFill>
                      </a:tcPr>
                    </a:tc>
                    <a:extLst>
                      <a:ext uri="{0D108BD9-81ED-4DB2-BD59-A6C34878D82A}">
                        <a16:rowId xmlns:a16="http://schemas.microsoft.com/office/drawing/2014/main" val="2357201933"/>
                      </a:ext>
                    </a:extLst>
                  </a:tr>
                  <a:tr h="1068032">
                    <a:tc>
                      <a:txBody>
                        <a:bodyPr/>
                        <a:lstStyle/>
                        <a:p>
                          <a:r>
                            <a:rPr lang="en-GB" sz="1100" noProof="0">
                              <a:solidFill>
                                <a:schemeClr val="tx1"/>
                              </a:solidFill>
                            </a:rPr>
                            <a:t>1) Check</a:t>
                          </a:r>
                          <a:r>
                            <a:rPr lang="en-GB" sz="1100" baseline="0" noProof="0">
                              <a:solidFill>
                                <a:schemeClr val="tx1"/>
                              </a:solidFill>
                            </a:rPr>
                            <a:t> if the numerator/denominator need to be factorised.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13723">
                    <a:tc>
                      <a:txBody>
                        <a:bodyPr/>
                        <a:lstStyle/>
                        <a:p>
                          <a:r>
                            <a:rPr lang="en-GB" sz="1100" noProof="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013723">
                    <a:tc>
                      <a:txBody>
                        <a:bodyPr/>
                        <a:lstStyle/>
                        <a:p>
                          <a:r>
                            <a:rPr lang="en-GB" sz="1100" noProof="0">
                              <a:solidFill>
                                <a:schemeClr val="tx1"/>
                              </a:solidFill>
                            </a:rPr>
                            <a:t>3) Cancel</a:t>
                          </a:r>
                          <a:r>
                            <a:rPr lang="en-GB" sz="1100" baseline="0" noProof="0">
                              <a:solidFill>
                                <a:schemeClr val="tx1"/>
                              </a:solidFill>
                            </a:rPr>
                            <a:t> common factors.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p:sp>
        <p:nvSpPr>
          <p:cNvPr id="84" name="TextBox 83">
            <a:extLst>
              <a:ext uri="{FF2B5EF4-FFF2-40B4-BE49-F238E27FC236}">
                <a16:creationId xmlns:a16="http://schemas.microsoft.com/office/drawing/2014/main" id="{72FAE9BB-D81F-4207-9FF8-E6BE971A99D9}"/>
              </a:ext>
            </a:extLst>
          </p:cNvPr>
          <p:cNvSpPr txBox="1"/>
          <p:nvPr/>
        </p:nvSpPr>
        <p:spPr>
          <a:xfrm>
            <a:off x="4962021" y="0"/>
            <a:ext cx="1498808"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3 - You do…</a:t>
            </a:r>
          </a:p>
        </p:txBody>
      </p:sp>
      <p:sp>
        <p:nvSpPr>
          <p:cNvPr id="85" name="TextBox 84">
            <a:extLst>
              <a:ext uri="{FF2B5EF4-FFF2-40B4-BE49-F238E27FC236}">
                <a16:creationId xmlns:a16="http://schemas.microsoft.com/office/drawing/2014/main" id="{337F58E6-37DE-4890-BDE3-0101DB4D4F11}"/>
              </a:ext>
            </a:extLst>
          </p:cNvPr>
          <p:cNvSpPr txBox="1"/>
          <p:nvPr/>
        </p:nvSpPr>
        <p:spPr>
          <a:xfrm>
            <a:off x="3160318" y="7628"/>
            <a:ext cx="1475789"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2 - We do…</a:t>
            </a:r>
          </a:p>
        </p:txBody>
      </p:sp>
      <p:sp>
        <p:nvSpPr>
          <p:cNvPr id="86" name="TextBox 85">
            <a:extLst>
              <a:ext uri="{FF2B5EF4-FFF2-40B4-BE49-F238E27FC236}">
                <a16:creationId xmlns:a16="http://schemas.microsoft.com/office/drawing/2014/main" id="{20EB31B5-3203-4E48-8A19-892EA568053E}"/>
              </a:ext>
            </a:extLst>
          </p:cNvPr>
          <p:cNvSpPr txBox="1"/>
          <p:nvPr/>
        </p:nvSpPr>
        <p:spPr>
          <a:xfrm>
            <a:off x="1419163" y="16986"/>
            <a:ext cx="1308500"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1 - I do…</a:t>
            </a:r>
          </a:p>
        </p:txBody>
      </p:sp>
      <p:sp>
        <p:nvSpPr>
          <p:cNvPr id="91" name="TextBox 90">
            <a:extLst>
              <a:ext uri="{FF2B5EF4-FFF2-40B4-BE49-F238E27FC236}">
                <a16:creationId xmlns:a16="http://schemas.microsoft.com/office/drawing/2014/main" id="{C3C65E48-8C3D-6849-AD77-7AD8678AD8DA}"/>
              </a:ext>
            </a:extLst>
          </p:cNvPr>
          <p:cNvSpPr txBox="1"/>
          <p:nvPr/>
        </p:nvSpPr>
        <p:spPr>
          <a:xfrm>
            <a:off x="-22412" y="3823273"/>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92" name="Rectangle 91">
            <a:extLst>
              <a:ext uri="{FF2B5EF4-FFF2-40B4-BE49-F238E27FC236}">
                <a16:creationId xmlns:a16="http://schemas.microsoft.com/office/drawing/2014/main" id="{B16CFEF2-A65A-6142-861C-58ACADF7EEFB}"/>
              </a:ext>
            </a:extLst>
          </p:cNvPr>
          <p:cNvSpPr/>
          <p:nvPr/>
        </p:nvSpPr>
        <p:spPr>
          <a:xfrm>
            <a:off x="161315" y="4743085"/>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93" name="TextBox 92"/>
              <p:cNvSpPr txBox="1"/>
              <p:nvPr/>
            </p:nvSpPr>
            <p:spPr>
              <a:xfrm>
                <a:off x="239326" y="6222088"/>
                <a:ext cx="1036566" cy="398635"/>
              </a:xfrm>
              <a:prstGeom prst="rect">
                <a:avLst/>
              </a:prstGeom>
              <a:noFill/>
            </p:spPr>
            <p:txBody>
              <a:bodyPr wrap="none" lIns="0" tIns="0" rIns="0" bIns="0" rtlCol="0">
                <a:spAutoFit/>
              </a:bodyPr>
              <a:lstStyle/>
              <a:p>
                <a:r>
                  <a:rPr lang="en-GB" sz="1600" noProof="0" dirty="0"/>
                  <a:t>e</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d>
                          <m:dPr>
                            <m:ctrlPr>
                              <a:rPr lang="en-GB" sz="1600" b="0" i="1" noProof="0" smtClean="0">
                                <a:latin typeface="Cambria Math" panose="02040503050406030204" pitchFamily="18" charset="0"/>
                              </a:rPr>
                            </m:ctrlPr>
                          </m:dPr>
                          <m:e>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e>
                        </m:d>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num>
                      <m:den>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93" name="TextBox 92"/>
              <p:cNvSpPr txBox="1">
                <a:spLocks noRot="1" noChangeAspect="1" noMove="1" noResize="1" noEditPoints="1" noAdjustHandles="1" noChangeArrowheads="1" noChangeShapeType="1" noTextEdit="1"/>
              </p:cNvSpPr>
              <p:nvPr/>
            </p:nvSpPr>
            <p:spPr>
              <a:xfrm>
                <a:off x="239326" y="6222088"/>
                <a:ext cx="1036566" cy="398635"/>
              </a:xfrm>
              <a:prstGeom prst="rect">
                <a:avLst/>
              </a:prstGeom>
              <a:blipFill>
                <a:blip r:embed="rId3"/>
                <a:stretch>
                  <a:fillRect l="-11765" r="-5882"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p:cNvSpPr txBox="1"/>
              <p:nvPr/>
            </p:nvSpPr>
            <p:spPr>
              <a:xfrm>
                <a:off x="1927318" y="6222216"/>
                <a:ext cx="999504" cy="398635"/>
              </a:xfrm>
              <a:prstGeom prst="rect">
                <a:avLst/>
              </a:prstGeom>
              <a:noFill/>
            </p:spPr>
            <p:txBody>
              <a:bodyPr wrap="none" lIns="0" tIns="0" rIns="0" bIns="0" rtlCol="0">
                <a:spAutoFit/>
              </a:bodyPr>
              <a:lstStyle/>
              <a:p>
                <a:r>
                  <a:rPr lang="en-GB" sz="1600" noProof="0" dirty="0"/>
                  <a:t>f</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b="0" i="1" noProof="0" smtClean="0">
                                <a:latin typeface="Cambria Math" panose="02040503050406030204" pitchFamily="18" charset="0"/>
                              </a:rPr>
                              <m:t>−1</m:t>
                            </m:r>
                          </m:e>
                        </m:d>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+1)</m:t>
                        </m:r>
                      </m:num>
                      <m:den>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−1</m:t>
                        </m:r>
                        <m:r>
                          <a:rPr lang="en-GB" sz="1600" i="1" noProof="0" smtClean="0">
                            <a:latin typeface="Cambria Math" panose="02040503050406030204" pitchFamily="18" charset="0"/>
                          </a:rPr>
                          <m:t>)</m:t>
                        </m:r>
                      </m:den>
                    </m:f>
                  </m:oMath>
                </a14:m>
                <a:endParaRPr lang="en-GB" sz="1600" noProof="0" dirty="0"/>
              </a:p>
            </p:txBody>
          </p:sp>
        </mc:Choice>
        <mc:Fallback xmlns="">
          <p:sp>
            <p:nvSpPr>
              <p:cNvPr id="94" name="TextBox 93"/>
              <p:cNvSpPr txBox="1">
                <a:spLocks noRot="1" noChangeAspect="1" noMove="1" noResize="1" noEditPoints="1" noAdjustHandles="1" noChangeArrowheads="1" noChangeShapeType="1" noTextEdit="1"/>
              </p:cNvSpPr>
              <p:nvPr/>
            </p:nvSpPr>
            <p:spPr>
              <a:xfrm>
                <a:off x="1927318" y="6222216"/>
                <a:ext cx="999504" cy="398635"/>
              </a:xfrm>
              <a:prstGeom prst="rect">
                <a:avLst/>
              </a:prstGeom>
              <a:blipFill>
                <a:blip r:embed="rId4"/>
                <a:stretch>
                  <a:fillRect l="-12195" r="-6098" b="-16923"/>
                </a:stretch>
              </a:blipFill>
            </p:spPr>
            <p:txBody>
              <a:bodyPr/>
              <a:lstStyle/>
              <a:p>
                <a:r>
                  <a:rPr lang="en-US">
                    <a:noFill/>
                  </a:rPr>
                  <a:t> </a:t>
                </a:r>
              </a:p>
            </p:txBody>
          </p:sp>
        </mc:Fallback>
      </mc:AlternateContent>
      <p:sp>
        <p:nvSpPr>
          <p:cNvPr id="95" name="Rectangle 94">
            <a:extLst>
              <a:ext uri="{FF2B5EF4-FFF2-40B4-BE49-F238E27FC236}">
                <a16:creationId xmlns:a16="http://schemas.microsoft.com/office/drawing/2014/main" id="{B16CFEF2-A65A-6142-861C-58ACADF7EEFB}"/>
              </a:ext>
            </a:extLst>
          </p:cNvPr>
          <p:cNvSpPr/>
          <p:nvPr/>
        </p:nvSpPr>
        <p:spPr>
          <a:xfrm>
            <a:off x="1821527" y="4743085"/>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6" name="Rectangle 95">
            <a:extLst>
              <a:ext uri="{FF2B5EF4-FFF2-40B4-BE49-F238E27FC236}">
                <a16:creationId xmlns:a16="http://schemas.microsoft.com/office/drawing/2014/main" id="{B16CFEF2-A65A-6142-861C-58ACADF7EEFB}"/>
              </a:ext>
            </a:extLst>
          </p:cNvPr>
          <p:cNvSpPr/>
          <p:nvPr/>
        </p:nvSpPr>
        <p:spPr>
          <a:xfrm>
            <a:off x="3493314" y="4743085"/>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7" name="Rectangle 96">
            <a:extLst>
              <a:ext uri="{FF2B5EF4-FFF2-40B4-BE49-F238E27FC236}">
                <a16:creationId xmlns:a16="http://schemas.microsoft.com/office/drawing/2014/main" id="{B16CFEF2-A65A-6142-861C-58ACADF7EEFB}"/>
              </a:ext>
            </a:extLst>
          </p:cNvPr>
          <p:cNvSpPr/>
          <p:nvPr/>
        </p:nvSpPr>
        <p:spPr>
          <a:xfrm>
            <a:off x="5170313" y="4743085"/>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98" name="TextBox 97"/>
              <p:cNvSpPr txBox="1"/>
              <p:nvPr/>
            </p:nvSpPr>
            <p:spPr>
              <a:xfrm>
                <a:off x="3539712" y="6222216"/>
                <a:ext cx="1030795" cy="398635"/>
              </a:xfrm>
              <a:prstGeom prst="rect">
                <a:avLst/>
              </a:prstGeom>
              <a:noFill/>
            </p:spPr>
            <p:txBody>
              <a:bodyPr wrap="none" lIns="0" tIns="0" rIns="0" bIns="0" rtlCol="0">
                <a:spAutoFit/>
              </a:bodyPr>
              <a:lstStyle/>
              <a:p>
                <a:r>
                  <a:rPr lang="en-GB" sz="1600" noProof="0" dirty="0"/>
                  <a:t>g</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e>
                        </m:d>
                      </m:num>
                      <m:den>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98" name="TextBox 97"/>
              <p:cNvSpPr txBox="1">
                <a:spLocks noRot="1" noChangeAspect="1" noMove="1" noResize="1" noEditPoints="1" noAdjustHandles="1" noChangeArrowheads="1" noChangeShapeType="1" noTextEdit="1"/>
              </p:cNvSpPr>
              <p:nvPr/>
            </p:nvSpPr>
            <p:spPr>
              <a:xfrm>
                <a:off x="3539712" y="6222216"/>
                <a:ext cx="1030795" cy="398635"/>
              </a:xfrm>
              <a:prstGeom prst="rect">
                <a:avLst/>
              </a:prstGeom>
              <a:blipFill>
                <a:blip r:embed="rId5"/>
                <a:stretch>
                  <a:fillRect l="-12426" r="-5325"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a:off x="5177373" y="6211722"/>
                <a:ext cx="1041375" cy="398635"/>
              </a:xfrm>
              <a:prstGeom prst="rect">
                <a:avLst/>
              </a:prstGeom>
              <a:noFill/>
            </p:spPr>
            <p:txBody>
              <a:bodyPr wrap="none" lIns="0" tIns="0" rIns="0" bIns="0" rtlCol="0">
                <a:spAutoFit/>
              </a:bodyPr>
              <a:lstStyle/>
              <a:p>
                <a:r>
                  <a:rPr lang="en-GB" sz="1600" noProof="0" dirty="0"/>
                  <a:t>h</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e>
                        </m:d>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+2)</m:t>
                        </m:r>
                      </m:num>
                      <m:den>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+2</m:t>
                        </m:r>
                        <m:r>
                          <a:rPr lang="en-GB" sz="1600" i="1" noProof="0" smtClean="0">
                            <a:latin typeface="Cambria Math" panose="02040503050406030204" pitchFamily="18" charset="0"/>
                          </a:rPr>
                          <m:t>)</m:t>
                        </m:r>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+9)</m:t>
                        </m:r>
                      </m:den>
                    </m:f>
                  </m:oMath>
                </a14:m>
                <a:endParaRPr lang="en-GB" sz="1600" noProof="0" dirty="0"/>
              </a:p>
            </p:txBody>
          </p:sp>
        </mc:Choice>
        <mc:Fallback xmlns="">
          <p:sp>
            <p:nvSpPr>
              <p:cNvPr id="99" name="TextBox 98"/>
              <p:cNvSpPr txBox="1">
                <a:spLocks noRot="1" noChangeAspect="1" noMove="1" noResize="1" noEditPoints="1" noAdjustHandles="1" noChangeArrowheads="1" noChangeShapeType="1" noTextEdit="1"/>
              </p:cNvSpPr>
              <p:nvPr/>
            </p:nvSpPr>
            <p:spPr>
              <a:xfrm>
                <a:off x="5177373" y="6211722"/>
                <a:ext cx="1041375" cy="398635"/>
              </a:xfrm>
              <a:prstGeom prst="rect">
                <a:avLst/>
              </a:prstGeom>
              <a:blipFill>
                <a:blip r:embed="rId6"/>
                <a:stretch>
                  <a:fillRect l="-11696" r="-5848" b="-16923"/>
                </a:stretch>
              </a:blipFill>
            </p:spPr>
            <p:txBody>
              <a:bodyPr/>
              <a:lstStyle/>
              <a:p>
                <a:r>
                  <a:rPr lang="en-US">
                    <a:noFill/>
                  </a:rPr>
                  <a:t> </a:t>
                </a:r>
              </a:p>
            </p:txBody>
          </p:sp>
        </mc:Fallback>
      </mc:AlternateContent>
      <p:sp>
        <p:nvSpPr>
          <p:cNvPr id="104" name="TextBox 103"/>
          <p:cNvSpPr txBox="1"/>
          <p:nvPr/>
        </p:nvSpPr>
        <p:spPr>
          <a:xfrm>
            <a:off x="1751243" y="3871679"/>
            <a:ext cx="2292231" cy="276999"/>
          </a:xfrm>
          <a:prstGeom prst="rect">
            <a:avLst/>
          </a:prstGeom>
          <a:noFill/>
        </p:spPr>
        <p:txBody>
          <a:bodyPr wrap="none" rtlCol="0">
            <a:spAutoFit/>
          </a:bodyPr>
          <a:lstStyle/>
          <a:p>
            <a:pPr algn="ctr"/>
            <a:r>
              <a:rPr lang="en-GB" sz="1200" noProof="0" dirty="0"/>
              <a:t>1. Simplify the algebraic fractions.</a:t>
            </a:r>
          </a:p>
        </p:txBody>
      </p:sp>
      <p:sp>
        <p:nvSpPr>
          <p:cNvPr id="105" name="Rectangle 104">
            <a:extLst>
              <a:ext uri="{FF2B5EF4-FFF2-40B4-BE49-F238E27FC236}">
                <a16:creationId xmlns:a16="http://schemas.microsoft.com/office/drawing/2014/main" id="{B16CFEF2-A65A-6142-861C-58ACADF7EEFB}"/>
              </a:ext>
            </a:extLst>
          </p:cNvPr>
          <p:cNvSpPr/>
          <p:nvPr/>
        </p:nvSpPr>
        <p:spPr>
          <a:xfrm>
            <a:off x="168823" y="6595443"/>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06" name="TextBox 105"/>
              <p:cNvSpPr txBox="1"/>
              <p:nvPr/>
            </p:nvSpPr>
            <p:spPr>
              <a:xfrm>
                <a:off x="212343" y="4333540"/>
                <a:ext cx="706155" cy="392223"/>
              </a:xfrm>
              <a:prstGeom prst="rect">
                <a:avLst/>
              </a:prstGeom>
              <a:noFill/>
            </p:spPr>
            <p:txBody>
              <a:bodyPr wrap="none" lIns="0" tIns="0" rIns="0" bIns="0" rtlCol="0">
                <a:spAutoFit/>
              </a:bodyPr>
              <a:lstStyle/>
              <a:p>
                <a:r>
                  <a:rPr lang="en-GB" sz="1600" noProof="0" dirty="0"/>
                  <a:t>a</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106" name="TextBox 105"/>
              <p:cNvSpPr txBox="1">
                <a:spLocks noRot="1" noChangeAspect="1" noMove="1" noResize="1" noEditPoints="1" noAdjustHandles="1" noChangeArrowheads="1" noChangeShapeType="1" noTextEdit="1"/>
              </p:cNvSpPr>
              <p:nvPr/>
            </p:nvSpPr>
            <p:spPr>
              <a:xfrm>
                <a:off x="212343" y="4333540"/>
                <a:ext cx="706155" cy="392223"/>
              </a:xfrm>
              <a:prstGeom prst="rect">
                <a:avLst/>
              </a:prstGeom>
              <a:blipFill>
                <a:blip r:embed="rId7"/>
                <a:stretch>
                  <a:fillRect l="-18103" r="-8621"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TextBox 106"/>
              <p:cNvSpPr txBox="1"/>
              <p:nvPr/>
            </p:nvSpPr>
            <p:spPr>
              <a:xfrm>
                <a:off x="1903071" y="4374090"/>
                <a:ext cx="669286" cy="392223"/>
              </a:xfrm>
              <a:prstGeom prst="rect">
                <a:avLst/>
              </a:prstGeom>
              <a:noFill/>
            </p:spPr>
            <p:txBody>
              <a:bodyPr wrap="none" lIns="0" tIns="0" rIns="0" bIns="0" rtlCol="0">
                <a:spAutoFit/>
              </a:bodyPr>
              <a:lstStyle/>
              <a:p>
                <a:r>
                  <a:rPr lang="en-GB" sz="1600" noProof="0" dirty="0"/>
                  <a:t>b</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2</m:t>
                        </m:r>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+1)</m:t>
                        </m:r>
                      </m:num>
                      <m:den>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+3</m:t>
                        </m:r>
                        <m:r>
                          <a:rPr lang="en-GB" sz="1600" i="1" noProof="0" smtClean="0">
                            <a:latin typeface="Cambria Math" panose="02040503050406030204" pitchFamily="18" charset="0"/>
                          </a:rPr>
                          <m:t>)</m:t>
                        </m:r>
                      </m:den>
                    </m:f>
                  </m:oMath>
                </a14:m>
                <a:endParaRPr lang="en-GB" sz="1600" noProof="0" dirty="0"/>
              </a:p>
            </p:txBody>
          </p:sp>
        </mc:Choice>
        <mc:Fallback xmlns="">
          <p:sp>
            <p:nvSpPr>
              <p:cNvPr id="107" name="TextBox 106"/>
              <p:cNvSpPr txBox="1">
                <a:spLocks noRot="1" noChangeAspect="1" noMove="1" noResize="1" noEditPoints="1" noAdjustHandles="1" noChangeArrowheads="1" noChangeShapeType="1" noTextEdit="1"/>
              </p:cNvSpPr>
              <p:nvPr/>
            </p:nvSpPr>
            <p:spPr>
              <a:xfrm>
                <a:off x="1903071" y="4374090"/>
                <a:ext cx="669286" cy="392223"/>
              </a:xfrm>
              <a:prstGeom prst="rect">
                <a:avLst/>
              </a:prstGeom>
              <a:blipFill>
                <a:blip r:embed="rId8"/>
                <a:stretch>
                  <a:fillRect l="-18182" r="-9091" b="-17188"/>
                </a:stretch>
              </a:blipFill>
            </p:spPr>
            <p:txBody>
              <a:bodyPr/>
              <a:lstStyle/>
              <a:p>
                <a:r>
                  <a:rPr lang="en-US">
                    <a:noFill/>
                  </a:rPr>
                  <a:t> </a:t>
                </a:r>
              </a:p>
            </p:txBody>
          </p:sp>
        </mc:Fallback>
      </mc:AlternateContent>
      <p:sp>
        <p:nvSpPr>
          <p:cNvPr id="108" name="Rectangle 107">
            <a:extLst>
              <a:ext uri="{FF2B5EF4-FFF2-40B4-BE49-F238E27FC236}">
                <a16:creationId xmlns:a16="http://schemas.microsoft.com/office/drawing/2014/main" id="{B16CFEF2-A65A-6142-861C-58ACADF7EEFB}"/>
              </a:ext>
            </a:extLst>
          </p:cNvPr>
          <p:cNvSpPr/>
          <p:nvPr/>
        </p:nvSpPr>
        <p:spPr>
          <a:xfrm>
            <a:off x="1829035" y="6595443"/>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09" name="Rectangle 108">
            <a:extLst>
              <a:ext uri="{FF2B5EF4-FFF2-40B4-BE49-F238E27FC236}">
                <a16:creationId xmlns:a16="http://schemas.microsoft.com/office/drawing/2014/main" id="{B16CFEF2-A65A-6142-861C-58ACADF7EEFB}"/>
              </a:ext>
            </a:extLst>
          </p:cNvPr>
          <p:cNvSpPr/>
          <p:nvPr/>
        </p:nvSpPr>
        <p:spPr>
          <a:xfrm>
            <a:off x="3500822" y="6595443"/>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10" name="Rectangle 109">
            <a:extLst>
              <a:ext uri="{FF2B5EF4-FFF2-40B4-BE49-F238E27FC236}">
                <a16:creationId xmlns:a16="http://schemas.microsoft.com/office/drawing/2014/main" id="{B16CFEF2-A65A-6142-861C-58ACADF7EEFB}"/>
              </a:ext>
            </a:extLst>
          </p:cNvPr>
          <p:cNvSpPr/>
          <p:nvPr/>
        </p:nvSpPr>
        <p:spPr>
          <a:xfrm>
            <a:off x="5177821" y="6595443"/>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11" name="TextBox 110"/>
              <p:cNvSpPr txBox="1"/>
              <p:nvPr/>
            </p:nvSpPr>
            <p:spPr>
              <a:xfrm>
                <a:off x="3515465" y="4374090"/>
                <a:ext cx="648447" cy="398635"/>
              </a:xfrm>
              <a:prstGeom prst="rect">
                <a:avLst/>
              </a:prstGeom>
              <a:noFill/>
            </p:spPr>
            <p:txBody>
              <a:bodyPr wrap="none" lIns="0" tIns="0" rIns="0" bIns="0" rtlCol="0">
                <a:spAutoFit/>
              </a:bodyPr>
              <a:lstStyle/>
              <a:p>
                <a:r>
                  <a:rPr lang="en-GB" sz="1600" noProof="0" dirty="0"/>
                  <a:t>c</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b="0" i="1" noProof="0" smtClean="0">
                                <a:latin typeface="Cambria Math" panose="02040503050406030204" pitchFamily="18" charset="0"/>
                              </a:rPr>
                              <m:t>+3</m:t>
                            </m:r>
                          </m:e>
                        </m:d>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111" name="TextBox 110"/>
              <p:cNvSpPr txBox="1">
                <a:spLocks noRot="1" noChangeAspect="1" noMove="1" noResize="1" noEditPoints="1" noAdjustHandles="1" noChangeArrowheads="1" noChangeShapeType="1" noTextEdit="1"/>
              </p:cNvSpPr>
              <p:nvPr/>
            </p:nvSpPr>
            <p:spPr>
              <a:xfrm>
                <a:off x="3515465" y="4374090"/>
                <a:ext cx="648447" cy="398635"/>
              </a:xfrm>
              <a:prstGeom prst="rect">
                <a:avLst/>
              </a:prstGeom>
              <a:blipFill>
                <a:blip r:embed="rId9"/>
                <a:stretch>
                  <a:fillRect l="-19811" r="-9434"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p:cNvSpPr txBox="1"/>
              <p:nvPr/>
            </p:nvSpPr>
            <p:spPr>
              <a:xfrm>
                <a:off x="5153126" y="4363596"/>
                <a:ext cx="669286" cy="381258"/>
              </a:xfrm>
              <a:prstGeom prst="rect">
                <a:avLst/>
              </a:prstGeom>
              <a:noFill/>
            </p:spPr>
            <p:txBody>
              <a:bodyPr wrap="none" lIns="0" tIns="0" rIns="0" bIns="0" rtlCol="0">
                <a:spAutoFit/>
              </a:bodyPr>
              <a:lstStyle/>
              <a:p>
                <a:r>
                  <a:rPr lang="en-GB" sz="1600" noProof="0" dirty="0"/>
                  <a:t>d</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112" name="TextBox 111"/>
              <p:cNvSpPr txBox="1">
                <a:spLocks noRot="1" noChangeAspect="1" noMove="1" noResize="1" noEditPoints="1" noAdjustHandles="1" noChangeArrowheads="1" noChangeShapeType="1" noTextEdit="1"/>
              </p:cNvSpPr>
              <p:nvPr/>
            </p:nvSpPr>
            <p:spPr>
              <a:xfrm>
                <a:off x="5153126" y="4363596"/>
                <a:ext cx="669286" cy="381258"/>
              </a:xfrm>
              <a:prstGeom prst="rect">
                <a:avLst/>
              </a:prstGeom>
              <a:blipFill>
                <a:blip r:embed="rId10"/>
                <a:stretch>
                  <a:fillRect l="-18182" t="-3226" r="-9091" b="-177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p:cNvSpPr txBox="1"/>
              <p:nvPr/>
            </p:nvSpPr>
            <p:spPr>
              <a:xfrm>
                <a:off x="161315" y="8191965"/>
                <a:ext cx="1393908" cy="398635"/>
              </a:xfrm>
              <a:prstGeom prst="rect">
                <a:avLst/>
              </a:prstGeom>
              <a:noFill/>
            </p:spPr>
            <p:txBody>
              <a:bodyPr wrap="none" lIns="0" tIns="0" rIns="0" bIns="0" rtlCol="0">
                <a:spAutoFit/>
              </a:bodyPr>
              <a:lstStyle/>
              <a:p>
                <a:r>
                  <a:rPr lang="en-GB" sz="1600" noProof="0" dirty="0" err="1"/>
                  <a:t>i</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d>
                          <m:dPr>
                            <m:ctrlPr>
                              <a:rPr lang="en-GB" sz="1600" b="0" i="1" noProof="0" smtClean="0">
                                <a:latin typeface="Cambria Math" panose="02040503050406030204" pitchFamily="18" charset="0"/>
                              </a:rPr>
                            </m:ctrlPr>
                          </m:dPr>
                          <m:e>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e>
                        </m:d>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num>
                      <m:den>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−4)</m:t>
                        </m:r>
                      </m:den>
                    </m:f>
                  </m:oMath>
                </a14:m>
                <a:endParaRPr lang="en-GB" sz="1600" noProof="0" dirty="0"/>
              </a:p>
            </p:txBody>
          </p:sp>
        </mc:Choice>
        <mc:Fallback xmlns="">
          <p:sp>
            <p:nvSpPr>
              <p:cNvPr id="117" name="TextBox 116"/>
              <p:cNvSpPr txBox="1">
                <a:spLocks noRot="1" noChangeAspect="1" noMove="1" noResize="1" noEditPoints="1" noAdjustHandles="1" noChangeArrowheads="1" noChangeShapeType="1" noTextEdit="1"/>
              </p:cNvSpPr>
              <p:nvPr/>
            </p:nvSpPr>
            <p:spPr>
              <a:xfrm>
                <a:off x="161315" y="8191965"/>
                <a:ext cx="1393908" cy="398635"/>
              </a:xfrm>
              <a:prstGeom prst="rect">
                <a:avLst/>
              </a:prstGeom>
              <a:blipFill>
                <a:blip r:embed="rId11"/>
                <a:stretch>
                  <a:fillRect l="-8734" r="-3930"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p:cNvSpPr txBox="1"/>
              <p:nvPr/>
            </p:nvSpPr>
            <p:spPr>
              <a:xfrm>
                <a:off x="3527627" y="8177523"/>
                <a:ext cx="1437188" cy="398635"/>
              </a:xfrm>
              <a:prstGeom prst="rect">
                <a:avLst/>
              </a:prstGeom>
              <a:noFill/>
            </p:spPr>
            <p:txBody>
              <a:bodyPr wrap="none" lIns="0" tIns="0" rIns="0" bIns="0" rtlCol="0">
                <a:spAutoFit/>
              </a:bodyPr>
              <a:lstStyle/>
              <a:p>
                <a:r>
                  <a:rPr lang="en-GB" sz="1600" noProof="0" dirty="0"/>
                  <a:t>j</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b="0" i="1" noProof="0" smtClean="0">
                                <a:latin typeface="Cambria Math" panose="02040503050406030204" pitchFamily="18" charset="0"/>
                              </a:rPr>
                              <m:t>−</m:t>
                            </m:r>
                            <m:r>
                              <a:rPr lang="en-GB" sz="1600" i="1" noProof="0" smtClean="0">
                                <a:latin typeface="Cambria Math" panose="02040503050406030204" pitchFamily="18" charset="0"/>
                              </a:rPr>
                              <m:t>3</m:t>
                            </m:r>
                          </m:e>
                        </m:d>
                        <m:r>
                          <a:rPr lang="en-GB" sz="1600" i="1" noProof="0" smtClean="0">
                            <a:latin typeface="Cambria Math" panose="02040503050406030204" pitchFamily="18" charset="0"/>
                          </a:rPr>
                          <m:t>(</m:t>
                        </m:r>
                        <m:r>
                          <a:rPr lang="en-GB" sz="1600" b="0" i="1" noProof="0" smtClean="0">
                            <a:latin typeface="Cambria Math" panose="02040503050406030204" pitchFamily="18" charset="0"/>
                          </a:rPr>
                          <m:t>2</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−1</m:t>
                        </m:r>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+2)</m:t>
                        </m:r>
                      </m:num>
                      <m:den>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m:t>
                        </m:r>
                        <m:r>
                          <a:rPr lang="en-GB" sz="160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i="1" noProof="0" smtClean="0">
                            <a:latin typeface="Cambria Math" panose="02040503050406030204" pitchFamily="18" charset="0"/>
                          </a:rPr>
                          <m:t>+2)(2</m:t>
                        </m:r>
                        <m:r>
                          <a:rPr lang="en-GB" sz="1600" i="1" noProof="0" smtClean="0">
                            <a:latin typeface="Cambria Math" panose="02040503050406030204" pitchFamily="18" charset="0"/>
                          </a:rPr>
                          <m:t>𝑥</m:t>
                        </m:r>
                        <m:r>
                          <a:rPr lang="en-GB" sz="1600" i="1" noProof="0" smtClean="0">
                            <a:latin typeface="Cambria Math" panose="02040503050406030204" pitchFamily="18" charset="0"/>
                          </a:rPr>
                          <m:t>−1)</m:t>
                        </m:r>
                      </m:den>
                    </m:f>
                  </m:oMath>
                </a14:m>
                <a:endParaRPr lang="en-GB" sz="1600" noProof="0" dirty="0"/>
              </a:p>
            </p:txBody>
          </p:sp>
        </mc:Choice>
        <mc:Fallback xmlns="">
          <p:sp>
            <p:nvSpPr>
              <p:cNvPr id="118" name="TextBox 117"/>
              <p:cNvSpPr txBox="1">
                <a:spLocks noRot="1" noChangeAspect="1" noMove="1" noResize="1" noEditPoints="1" noAdjustHandles="1" noChangeArrowheads="1" noChangeShapeType="1" noTextEdit="1"/>
              </p:cNvSpPr>
              <p:nvPr/>
            </p:nvSpPr>
            <p:spPr>
              <a:xfrm>
                <a:off x="3527627" y="8177523"/>
                <a:ext cx="1437188" cy="398635"/>
              </a:xfrm>
              <a:prstGeom prst="rect">
                <a:avLst/>
              </a:prstGeom>
              <a:blipFill>
                <a:blip r:embed="rId12"/>
                <a:stretch>
                  <a:fillRect l="-8936" r="-3830" b="-16667"/>
                </a:stretch>
              </a:blipFill>
            </p:spPr>
            <p:txBody>
              <a:bodyPr/>
              <a:lstStyle/>
              <a:p>
                <a:r>
                  <a:rPr lang="en-US">
                    <a:noFill/>
                  </a:rPr>
                  <a:t> </a:t>
                </a:r>
              </a:p>
            </p:txBody>
          </p:sp>
        </mc:Fallback>
      </mc:AlternateContent>
      <p:sp>
        <p:nvSpPr>
          <p:cNvPr id="119" name="Rectangle 118">
            <a:extLst>
              <a:ext uri="{FF2B5EF4-FFF2-40B4-BE49-F238E27FC236}">
                <a16:creationId xmlns:a16="http://schemas.microsoft.com/office/drawing/2014/main" id="{B16CFEF2-A65A-6142-861C-58ACADF7EEFB}"/>
              </a:ext>
            </a:extLst>
          </p:cNvPr>
          <p:cNvSpPr/>
          <p:nvPr/>
        </p:nvSpPr>
        <p:spPr>
          <a:xfrm>
            <a:off x="161315" y="8577935"/>
            <a:ext cx="3257648" cy="11680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20" name="Rectangle 119">
            <a:extLst>
              <a:ext uri="{FF2B5EF4-FFF2-40B4-BE49-F238E27FC236}">
                <a16:creationId xmlns:a16="http://schemas.microsoft.com/office/drawing/2014/main" id="{B16CFEF2-A65A-6142-861C-58ACADF7EEFB}"/>
              </a:ext>
            </a:extLst>
          </p:cNvPr>
          <p:cNvSpPr/>
          <p:nvPr/>
        </p:nvSpPr>
        <p:spPr>
          <a:xfrm>
            <a:off x="3493314" y="8577934"/>
            <a:ext cx="3257648" cy="11680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Tree>
    <p:extLst>
      <p:ext uri="{BB962C8B-B14F-4D97-AF65-F5344CB8AC3E}">
        <p14:creationId xmlns:p14="http://schemas.microsoft.com/office/powerpoint/2010/main" val="2304709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9" name="Table 28"/>
              <p:cNvGraphicFramePr>
                <a:graphicFrameLocks noGrp="1"/>
              </p:cNvGraphicFramePr>
              <p:nvPr>
                <p:extLst>
                  <p:ext uri="{D42A27DB-BD31-4B8C-83A1-F6EECF244321}">
                    <p14:modId xmlns:p14="http://schemas.microsoft.com/office/powerpoint/2010/main" val="1303524096"/>
                  </p:ext>
                </p:extLst>
              </p:nvPr>
            </p:nvGraphicFramePr>
            <p:xfrm>
              <a:off x="196644" y="276998"/>
              <a:ext cx="6484022" cy="2591654"/>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394334">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Simplify</a:t>
                          </a:r>
                          <a:r>
                            <a:rPr lang="en-GB" sz="1400" b="0" noProof="0" dirty="0">
                              <a:solidFill>
                                <a:schemeClr val="tx1"/>
                              </a:solidFill>
                            </a:rPr>
                            <a:t>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5</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+10</m:t>
                                  </m:r>
                                </m:num>
                                <m:den>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+2</m:t>
                                  </m:r>
                                </m:den>
                              </m:f>
                            </m:oMath>
                          </a14:m>
                          <a:endParaRPr lang="en-GB" sz="14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1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5</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+15</m:t>
                                  </m:r>
                                </m:num>
                                <m:den>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1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r>
                                    <a:rPr lang="en-GB" sz="1600" b="0" i="1" noProof="0" smtClean="0">
                                      <a:solidFill>
                                        <a:schemeClr val="tx1"/>
                                      </a:solidFill>
                                      <a:latin typeface="Cambria Math" panose="02040503050406030204" pitchFamily="18" charset="0"/>
                                    </a:rPr>
                                    <m:t>4</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+12</m:t>
                                  </m:r>
                                </m:num>
                                <m:den>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+6</m:t>
                                  </m:r>
                                </m:den>
                              </m:f>
                            </m:oMath>
                          </a14:m>
                          <a:endParaRPr lang="en-GB" sz="11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65930">
                    <a:tc>
                      <a:txBody>
                        <a:bodyPr/>
                        <a:lstStyle/>
                        <a:p>
                          <a:r>
                            <a:rPr lang="en-GB" sz="1100" noProof="0" dirty="0">
                              <a:solidFill>
                                <a:schemeClr val="tx1"/>
                              </a:solidFill>
                            </a:rPr>
                            <a:t>1) Check</a:t>
                          </a:r>
                          <a:r>
                            <a:rPr lang="en-GB" sz="1100" baseline="0" noProof="0" dirty="0">
                              <a:solidFill>
                                <a:schemeClr val="tx1"/>
                              </a:solidFill>
                            </a:rPr>
                            <a:t> if the numerator/denominator need to be factorised.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94755">
                    <a:tc>
                      <a:txBody>
                        <a:bodyPr/>
                        <a:lstStyle/>
                        <a:p>
                          <a:r>
                            <a:rPr lang="en-GB" sz="1100" noProof="0" dirty="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594755">
                    <a:tc>
                      <a:txBody>
                        <a:bodyPr/>
                        <a:lstStyle/>
                        <a:p>
                          <a:r>
                            <a:rPr lang="en-GB" sz="1100" noProof="0" dirty="0">
                              <a:solidFill>
                                <a:schemeClr val="tx1"/>
                              </a:solidFill>
                            </a:rPr>
                            <a:t>3) Cancel</a:t>
                          </a:r>
                          <a:r>
                            <a:rPr lang="en-GB" sz="1100" baseline="0" noProof="0" dirty="0">
                              <a:solidFill>
                                <a:schemeClr val="tx1"/>
                              </a:solidFill>
                            </a:rPr>
                            <a:t> common factors.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29" name="Table 28"/>
              <p:cNvGraphicFramePr>
                <a:graphicFrameLocks noGrp="1"/>
              </p:cNvGraphicFramePr>
              <p:nvPr>
                <p:extLst>
                  <p:ext uri="{D42A27DB-BD31-4B8C-83A1-F6EECF244321}">
                    <p14:modId xmlns:p14="http://schemas.microsoft.com/office/powerpoint/2010/main" val="1303524096"/>
                  </p:ext>
                </p:extLst>
              </p:nvPr>
            </p:nvGraphicFramePr>
            <p:xfrm>
              <a:off x="196644" y="276998"/>
              <a:ext cx="6484022" cy="2591654"/>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72504">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9574" t="-1282" r="-218794" b="-45384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1956" t="-1282" r="-94637" b="-45384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7383" t="-1282" r="-671" b="-453846"/>
                          </a:stretch>
                        </a:blipFill>
                      </a:tcPr>
                    </a:tc>
                    <a:extLst>
                      <a:ext uri="{0D108BD9-81ED-4DB2-BD59-A6C34878D82A}">
                        <a16:rowId xmlns:a16="http://schemas.microsoft.com/office/drawing/2014/main" val="2357201933"/>
                      </a:ext>
                    </a:extLst>
                  </a:tr>
                  <a:tr h="929640">
                    <a:tc>
                      <a:txBody>
                        <a:bodyPr/>
                        <a:lstStyle/>
                        <a:p>
                          <a:r>
                            <a:rPr lang="en-GB" sz="1100" noProof="0">
                              <a:solidFill>
                                <a:schemeClr val="tx1"/>
                              </a:solidFill>
                            </a:rPr>
                            <a:t>1) Check</a:t>
                          </a:r>
                          <a:r>
                            <a:rPr lang="en-GB" sz="1100" baseline="0" noProof="0">
                              <a:solidFill>
                                <a:schemeClr val="tx1"/>
                              </a:solidFill>
                            </a:rPr>
                            <a:t> if the numerator/denominator need to be factorised.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94755">
                    <a:tc>
                      <a:txBody>
                        <a:bodyPr/>
                        <a:lstStyle/>
                        <a:p>
                          <a:r>
                            <a:rPr lang="en-GB" sz="1100" noProof="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594755">
                    <a:tc>
                      <a:txBody>
                        <a:bodyPr/>
                        <a:lstStyle/>
                        <a:p>
                          <a:r>
                            <a:rPr lang="en-GB" sz="1100" noProof="0">
                              <a:solidFill>
                                <a:schemeClr val="tx1"/>
                              </a:solidFill>
                            </a:rPr>
                            <a:t>3) Cancel</a:t>
                          </a:r>
                          <a:r>
                            <a:rPr lang="en-GB" sz="1100" baseline="0" noProof="0">
                              <a:solidFill>
                                <a:schemeClr val="tx1"/>
                              </a:solidFill>
                            </a:rPr>
                            <a:t> common factors.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p:sp>
        <p:nvSpPr>
          <p:cNvPr id="30" name="TextBox 29">
            <a:extLst>
              <a:ext uri="{FF2B5EF4-FFF2-40B4-BE49-F238E27FC236}">
                <a16:creationId xmlns:a16="http://schemas.microsoft.com/office/drawing/2014/main" id="{72FAE9BB-D81F-4207-9FF8-E6BE971A99D9}"/>
              </a:ext>
            </a:extLst>
          </p:cNvPr>
          <p:cNvSpPr txBox="1"/>
          <p:nvPr/>
        </p:nvSpPr>
        <p:spPr>
          <a:xfrm>
            <a:off x="4948536" y="0"/>
            <a:ext cx="1498808"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6 - You do…</a:t>
            </a:r>
          </a:p>
        </p:txBody>
      </p:sp>
      <p:sp>
        <p:nvSpPr>
          <p:cNvPr id="31" name="TextBox 30">
            <a:extLst>
              <a:ext uri="{FF2B5EF4-FFF2-40B4-BE49-F238E27FC236}">
                <a16:creationId xmlns:a16="http://schemas.microsoft.com/office/drawing/2014/main" id="{337F58E6-37DE-4890-BDE3-0101DB4D4F11}"/>
              </a:ext>
            </a:extLst>
          </p:cNvPr>
          <p:cNvSpPr txBox="1"/>
          <p:nvPr/>
        </p:nvSpPr>
        <p:spPr>
          <a:xfrm>
            <a:off x="3146833" y="7628"/>
            <a:ext cx="1475789"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5 - We do…</a:t>
            </a:r>
          </a:p>
        </p:txBody>
      </p:sp>
      <p:sp>
        <p:nvSpPr>
          <p:cNvPr id="32" name="TextBox 31">
            <a:extLst>
              <a:ext uri="{FF2B5EF4-FFF2-40B4-BE49-F238E27FC236}">
                <a16:creationId xmlns:a16="http://schemas.microsoft.com/office/drawing/2014/main" id="{20EB31B5-3203-4E48-8A19-892EA568053E}"/>
              </a:ext>
            </a:extLst>
          </p:cNvPr>
          <p:cNvSpPr txBox="1"/>
          <p:nvPr/>
        </p:nvSpPr>
        <p:spPr>
          <a:xfrm>
            <a:off x="1405678" y="16986"/>
            <a:ext cx="1308500"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4 - I do…</a:t>
            </a:r>
          </a:p>
        </p:txBody>
      </p:sp>
      <p:sp>
        <p:nvSpPr>
          <p:cNvPr id="37" name="Rectangle 36">
            <a:extLst>
              <a:ext uri="{FF2B5EF4-FFF2-40B4-BE49-F238E27FC236}">
                <a16:creationId xmlns:a16="http://schemas.microsoft.com/office/drawing/2014/main" id="{B16CFEF2-A65A-6142-861C-58ACADF7EEFB}"/>
              </a:ext>
            </a:extLst>
          </p:cNvPr>
          <p:cNvSpPr/>
          <p:nvPr/>
        </p:nvSpPr>
        <p:spPr>
          <a:xfrm>
            <a:off x="166832" y="3556159"/>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8" name="TextBox 37"/>
              <p:cNvSpPr txBox="1"/>
              <p:nvPr/>
            </p:nvSpPr>
            <p:spPr>
              <a:xfrm>
                <a:off x="244837" y="5011795"/>
                <a:ext cx="710964" cy="381258"/>
              </a:xfrm>
              <a:prstGeom prst="rect">
                <a:avLst/>
              </a:prstGeom>
              <a:noFill/>
            </p:spPr>
            <p:txBody>
              <a:bodyPr wrap="none" lIns="0" tIns="0" rIns="0" bIns="0" rtlCol="0">
                <a:spAutoFit/>
              </a:bodyPr>
              <a:lstStyle/>
              <a:p>
                <a:r>
                  <a:rPr lang="en-GB" sz="1600" noProof="0" dirty="0"/>
                  <a:t>e</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38" name="TextBox 37"/>
              <p:cNvSpPr txBox="1">
                <a:spLocks noRot="1" noChangeAspect="1" noMove="1" noResize="1" noEditPoints="1" noAdjustHandles="1" noChangeArrowheads="1" noChangeShapeType="1" noTextEdit="1"/>
              </p:cNvSpPr>
              <p:nvPr/>
            </p:nvSpPr>
            <p:spPr>
              <a:xfrm>
                <a:off x="244837" y="5011795"/>
                <a:ext cx="710964" cy="381258"/>
              </a:xfrm>
              <a:prstGeom prst="rect">
                <a:avLst/>
              </a:prstGeom>
              <a:blipFill>
                <a:blip r:embed="rId3"/>
                <a:stretch>
                  <a:fillRect l="-17094" t="-1587" r="-8547"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1932829" y="5011923"/>
                <a:ext cx="1000146" cy="381258"/>
              </a:xfrm>
              <a:prstGeom prst="rect">
                <a:avLst/>
              </a:prstGeom>
              <a:noFill/>
            </p:spPr>
            <p:txBody>
              <a:bodyPr wrap="none" lIns="0" tIns="0" rIns="0" bIns="0" rtlCol="0">
                <a:spAutoFit/>
              </a:bodyPr>
              <a:lstStyle/>
              <a:p>
                <a:r>
                  <a:rPr lang="en-GB" sz="1600" noProof="0" dirty="0"/>
                  <a:t>f</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+3</m:t>
                        </m:r>
                        <m:r>
                          <a:rPr lang="en-GB" sz="1600" i="1" noProof="0" smtClean="0">
                            <a:latin typeface="Cambria Math" panose="02040503050406030204" pitchFamily="18" charset="0"/>
                          </a:rPr>
                          <m:t>)</m:t>
                        </m:r>
                      </m:den>
                    </m:f>
                  </m:oMath>
                </a14:m>
                <a:endParaRPr lang="en-GB" sz="1600" noProof="0" dirty="0"/>
              </a:p>
            </p:txBody>
          </p:sp>
        </mc:Choice>
        <mc:Fallback xmlns="">
          <p:sp>
            <p:nvSpPr>
              <p:cNvPr id="39" name="TextBox 38"/>
              <p:cNvSpPr txBox="1">
                <a:spLocks noRot="1" noChangeAspect="1" noMove="1" noResize="1" noEditPoints="1" noAdjustHandles="1" noChangeArrowheads="1" noChangeShapeType="1" noTextEdit="1"/>
              </p:cNvSpPr>
              <p:nvPr/>
            </p:nvSpPr>
            <p:spPr>
              <a:xfrm>
                <a:off x="1932829" y="5011923"/>
                <a:ext cx="1000146" cy="381258"/>
              </a:xfrm>
              <a:prstGeom prst="rect">
                <a:avLst/>
              </a:prstGeom>
              <a:blipFill>
                <a:blip r:embed="rId4"/>
                <a:stretch>
                  <a:fillRect l="-12195" t="-1587" r="-6098" b="-17460"/>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B16CFEF2-A65A-6142-861C-58ACADF7EEFB}"/>
              </a:ext>
            </a:extLst>
          </p:cNvPr>
          <p:cNvSpPr/>
          <p:nvPr/>
        </p:nvSpPr>
        <p:spPr>
          <a:xfrm>
            <a:off x="1827044" y="3556159"/>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1" name="Rectangle 40">
            <a:extLst>
              <a:ext uri="{FF2B5EF4-FFF2-40B4-BE49-F238E27FC236}">
                <a16:creationId xmlns:a16="http://schemas.microsoft.com/office/drawing/2014/main" id="{B16CFEF2-A65A-6142-861C-58ACADF7EEFB}"/>
              </a:ext>
            </a:extLst>
          </p:cNvPr>
          <p:cNvSpPr/>
          <p:nvPr/>
        </p:nvSpPr>
        <p:spPr>
          <a:xfrm>
            <a:off x="3498831" y="3556159"/>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2" name="Rectangle 41">
            <a:extLst>
              <a:ext uri="{FF2B5EF4-FFF2-40B4-BE49-F238E27FC236}">
                <a16:creationId xmlns:a16="http://schemas.microsoft.com/office/drawing/2014/main" id="{B16CFEF2-A65A-6142-861C-58ACADF7EEFB}"/>
              </a:ext>
            </a:extLst>
          </p:cNvPr>
          <p:cNvSpPr/>
          <p:nvPr/>
        </p:nvSpPr>
        <p:spPr>
          <a:xfrm>
            <a:off x="5175830" y="3556159"/>
            <a:ext cx="1589928" cy="1398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43" name="TextBox 42"/>
              <p:cNvSpPr txBox="1"/>
              <p:nvPr/>
            </p:nvSpPr>
            <p:spPr>
              <a:xfrm>
                <a:off x="3545223" y="5011923"/>
                <a:ext cx="666080" cy="349455"/>
              </a:xfrm>
              <a:prstGeom prst="rect">
                <a:avLst/>
              </a:prstGeom>
              <a:noFill/>
            </p:spPr>
            <p:txBody>
              <a:bodyPr wrap="none" lIns="0" tIns="0" rIns="0" bIns="0" rtlCol="0">
                <a:spAutoFit/>
              </a:bodyPr>
              <a:lstStyle/>
              <a:p>
                <a:r>
                  <a:rPr lang="en-GB" sz="1600" noProof="0" dirty="0"/>
                  <a:t>g</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den>
                    </m:f>
                  </m:oMath>
                </a14:m>
                <a:endParaRPr lang="en-GB" sz="1600" noProof="0" dirty="0"/>
              </a:p>
            </p:txBody>
          </p:sp>
        </mc:Choice>
        <mc:Fallback xmlns="">
          <p:sp>
            <p:nvSpPr>
              <p:cNvPr id="43" name="TextBox 42"/>
              <p:cNvSpPr txBox="1">
                <a:spLocks noRot="1" noChangeAspect="1" noMove="1" noResize="1" noEditPoints="1" noAdjustHandles="1" noChangeArrowheads="1" noChangeShapeType="1" noTextEdit="1"/>
              </p:cNvSpPr>
              <p:nvPr/>
            </p:nvSpPr>
            <p:spPr>
              <a:xfrm>
                <a:off x="3545223" y="5011923"/>
                <a:ext cx="666080" cy="349455"/>
              </a:xfrm>
              <a:prstGeom prst="rect">
                <a:avLst/>
              </a:prstGeom>
              <a:blipFill>
                <a:blip r:embed="rId5"/>
                <a:stretch>
                  <a:fillRect l="-19266" t="-1754" r="-6422" b="-228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5182884" y="5001429"/>
                <a:ext cx="677301" cy="352982"/>
              </a:xfrm>
              <a:prstGeom prst="rect">
                <a:avLst/>
              </a:prstGeom>
              <a:noFill/>
            </p:spPr>
            <p:txBody>
              <a:bodyPr wrap="none" lIns="0" tIns="0" rIns="0" bIns="0" rtlCol="0">
                <a:spAutoFit/>
              </a:bodyPr>
              <a:lstStyle/>
              <a:p>
                <a:r>
                  <a:rPr lang="en-GB" sz="1600" noProof="0" dirty="0"/>
                  <a:t>h</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5</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+15</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44" name="TextBox 43"/>
              <p:cNvSpPr txBox="1">
                <a:spLocks noRot="1" noChangeAspect="1" noMove="1" noResize="1" noEditPoints="1" noAdjustHandles="1" noChangeArrowheads="1" noChangeShapeType="1" noTextEdit="1"/>
              </p:cNvSpPr>
              <p:nvPr/>
            </p:nvSpPr>
            <p:spPr>
              <a:xfrm>
                <a:off x="5182884" y="5001429"/>
                <a:ext cx="677301" cy="352982"/>
              </a:xfrm>
              <a:prstGeom prst="rect">
                <a:avLst/>
              </a:prstGeom>
              <a:blipFill>
                <a:blip r:embed="rId6"/>
                <a:stretch>
                  <a:fillRect l="-18018" t="-1724" r="-7207" b="-20690"/>
                </a:stretch>
              </a:blipFill>
            </p:spPr>
            <p:txBody>
              <a:bodyPr/>
              <a:lstStyle/>
              <a:p>
                <a:r>
                  <a:rPr lang="en-US">
                    <a:noFill/>
                  </a:rPr>
                  <a:t> </a:t>
                </a:r>
              </a:p>
            </p:txBody>
          </p:sp>
        </mc:Fallback>
      </mc:AlternateContent>
      <p:sp>
        <p:nvSpPr>
          <p:cNvPr id="49" name="TextBox 48"/>
          <p:cNvSpPr txBox="1"/>
          <p:nvPr/>
        </p:nvSpPr>
        <p:spPr>
          <a:xfrm>
            <a:off x="1764268" y="2884161"/>
            <a:ext cx="2292231" cy="276999"/>
          </a:xfrm>
          <a:prstGeom prst="rect">
            <a:avLst/>
          </a:prstGeom>
          <a:noFill/>
        </p:spPr>
        <p:txBody>
          <a:bodyPr wrap="none" rtlCol="0">
            <a:spAutoFit/>
          </a:bodyPr>
          <a:lstStyle/>
          <a:p>
            <a:pPr algn="ctr"/>
            <a:r>
              <a:rPr lang="en-GB" sz="1200" noProof="0" dirty="0"/>
              <a:t>2. Simplify the algebraic fractions.</a:t>
            </a:r>
          </a:p>
        </p:txBody>
      </p:sp>
      <p:sp>
        <p:nvSpPr>
          <p:cNvPr id="50" name="Rectangle 49">
            <a:extLst>
              <a:ext uri="{FF2B5EF4-FFF2-40B4-BE49-F238E27FC236}">
                <a16:creationId xmlns:a16="http://schemas.microsoft.com/office/drawing/2014/main" id="{B16CFEF2-A65A-6142-861C-58ACADF7EEFB}"/>
              </a:ext>
            </a:extLst>
          </p:cNvPr>
          <p:cNvSpPr/>
          <p:nvPr/>
        </p:nvSpPr>
        <p:spPr>
          <a:xfrm>
            <a:off x="174340" y="5408517"/>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51" name="TextBox 50"/>
              <p:cNvSpPr txBox="1"/>
              <p:nvPr/>
            </p:nvSpPr>
            <p:spPr>
              <a:xfrm>
                <a:off x="220590" y="3163669"/>
                <a:ext cx="706155" cy="381258"/>
              </a:xfrm>
              <a:prstGeom prst="rect">
                <a:avLst/>
              </a:prstGeom>
              <a:noFill/>
            </p:spPr>
            <p:txBody>
              <a:bodyPr wrap="none" lIns="0" tIns="0" rIns="0" bIns="0" rtlCol="0">
                <a:spAutoFit/>
              </a:bodyPr>
              <a:lstStyle/>
              <a:p>
                <a:r>
                  <a:rPr lang="en-GB" sz="1600" noProof="0" dirty="0"/>
                  <a:t>a</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num>
                      <m:den>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m:t>
                        </m:r>
                      </m:den>
                    </m:f>
                  </m:oMath>
                </a14:m>
                <a:endParaRPr lang="en-GB" sz="1600" noProof="0" dirty="0"/>
              </a:p>
            </p:txBody>
          </p:sp>
        </mc:Choice>
        <mc:Fallback xmlns="">
          <p:sp>
            <p:nvSpPr>
              <p:cNvPr id="51" name="TextBox 50"/>
              <p:cNvSpPr txBox="1">
                <a:spLocks noRot="1" noChangeAspect="1" noMove="1" noResize="1" noEditPoints="1" noAdjustHandles="1" noChangeArrowheads="1" noChangeShapeType="1" noTextEdit="1"/>
              </p:cNvSpPr>
              <p:nvPr/>
            </p:nvSpPr>
            <p:spPr>
              <a:xfrm>
                <a:off x="220590" y="3163669"/>
                <a:ext cx="706155" cy="381258"/>
              </a:xfrm>
              <a:prstGeom prst="rect">
                <a:avLst/>
              </a:prstGeom>
              <a:blipFill>
                <a:blip r:embed="rId7"/>
                <a:stretch>
                  <a:fillRect l="-17241" t="-3175" r="-9483" b="-158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1908582" y="3163797"/>
                <a:ext cx="589136" cy="349455"/>
              </a:xfrm>
              <a:prstGeom prst="rect">
                <a:avLst/>
              </a:prstGeom>
              <a:noFill/>
            </p:spPr>
            <p:txBody>
              <a:bodyPr wrap="none" lIns="0" tIns="0" rIns="0" bIns="0" rtlCol="0">
                <a:spAutoFit/>
              </a:bodyPr>
              <a:lstStyle/>
              <a:p>
                <a:r>
                  <a:rPr lang="en-GB" sz="1600" noProof="0" dirty="0"/>
                  <a:t>b</a:t>
                </a:r>
                <a:r>
                  <a:rPr lang="en-GB" sz="1600" b="0" noProof="0" dirty="0"/>
                  <a:t>)</a:t>
                </a:r>
                <a14:m>
                  <m:oMath xmlns:m="http://schemas.openxmlformats.org/officeDocument/2006/math">
                    <m:r>
                      <a:rPr lang="en-GB" sz="1600" b="0" i="0" noProof="0" smtClean="0">
                        <a:latin typeface="Cambria Math" panose="02040503050406030204" pitchFamily="18" charset="0"/>
                      </a:rPr>
                      <m:t> </m:t>
                    </m:r>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num>
                      <m:den>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52" name="TextBox 51"/>
              <p:cNvSpPr txBox="1">
                <a:spLocks noRot="1" noChangeAspect="1" noMove="1" noResize="1" noEditPoints="1" noAdjustHandles="1" noChangeArrowheads="1" noChangeShapeType="1" noTextEdit="1"/>
              </p:cNvSpPr>
              <p:nvPr/>
            </p:nvSpPr>
            <p:spPr>
              <a:xfrm>
                <a:off x="1908582" y="3163797"/>
                <a:ext cx="589136" cy="349455"/>
              </a:xfrm>
              <a:prstGeom prst="rect">
                <a:avLst/>
              </a:prstGeom>
              <a:blipFill>
                <a:blip r:embed="rId8"/>
                <a:stretch>
                  <a:fillRect l="-20619" t="-3509" r="-6186" b="-21053"/>
                </a:stretch>
              </a:blipFill>
            </p:spPr>
            <p:txBody>
              <a:bodyPr/>
              <a:lstStyle/>
              <a:p>
                <a:r>
                  <a:rPr lang="en-US">
                    <a:noFill/>
                  </a:rPr>
                  <a:t> </a:t>
                </a:r>
              </a:p>
            </p:txBody>
          </p:sp>
        </mc:Fallback>
      </mc:AlternateContent>
      <p:sp>
        <p:nvSpPr>
          <p:cNvPr id="53" name="Rectangle 52">
            <a:extLst>
              <a:ext uri="{FF2B5EF4-FFF2-40B4-BE49-F238E27FC236}">
                <a16:creationId xmlns:a16="http://schemas.microsoft.com/office/drawing/2014/main" id="{B16CFEF2-A65A-6142-861C-58ACADF7EEFB}"/>
              </a:ext>
            </a:extLst>
          </p:cNvPr>
          <p:cNvSpPr/>
          <p:nvPr/>
        </p:nvSpPr>
        <p:spPr>
          <a:xfrm>
            <a:off x="1834552" y="5408517"/>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4" name="Rectangle 53">
            <a:extLst>
              <a:ext uri="{FF2B5EF4-FFF2-40B4-BE49-F238E27FC236}">
                <a16:creationId xmlns:a16="http://schemas.microsoft.com/office/drawing/2014/main" id="{B16CFEF2-A65A-6142-861C-58ACADF7EEFB}"/>
              </a:ext>
            </a:extLst>
          </p:cNvPr>
          <p:cNvSpPr/>
          <p:nvPr/>
        </p:nvSpPr>
        <p:spPr>
          <a:xfrm>
            <a:off x="3506339" y="5408517"/>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5" name="Rectangle 54">
            <a:extLst>
              <a:ext uri="{FF2B5EF4-FFF2-40B4-BE49-F238E27FC236}">
                <a16:creationId xmlns:a16="http://schemas.microsoft.com/office/drawing/2014/main" id="{B16CFEF2-A65A-6142-861C-58ACADF7EEFB}"/>
              </a:ext>
            </a:extLst>
          </p:cNvPr>
          <p:cNvSpPr/>
          <p:nvPr/>
        </p:nvSpPr>
        <p:spPr>
          <a:xfrm>
            <a:off x="5183338" y="5408517"/>
            <a:ext cx="1589928" cy="14722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56" name="TextBox 55"/>
              <p:cNvSpPr txBox="1"/>
              <p:nvPr/>
            </p:nvSpPr>
            <p:spPr>
              <a:xfrm>
                <a:off x="3520976" y="3163797"/>
                <a:ext cx="648447" cy="381258"/>
              </a:xfrm>
              <a:prstGeom prst="rect">
                <a:avLst/>
              </a:prstGeom>
              <a:noFill/>
            </p:spPr>
            <p:txBody>
              <a:bodyPr wrap="none" lIns="0" tIns="0" rIns="0" bIns="0" rtlCol="0">
                <a:spAutoFit/>
              </a:bodyPr>
              <a:lstStyle/>
              <a:p>
                <a:r>
                  <a:rPr lang="en-GB" sz="1600" noProof="0" dirty="0"/>
                  <a:t>c</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r>
                          <a:rPr lang="en-GB" sz="160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m:t>
                        </m:r>
                      </m:den>
                    </m:f>
                  </m:oMath>
                </a14:m>
                <a:endParaRPr lang="en-GB" sz="1600" noProof="0" dirty="0"/>
              </a:p>
            </p:txBody>
          </p:sp>
        </mc:Choice>
        <mc:Fallback xmlns="">
          <p:sp>
            <p:nvSpPr>
              <p:cNvPr id="56" name="TextBox 55"/>
              <p:cNvSpPr txBox="1">
                <a:spLocks noRot="1" noChangeAspect="1" noMove="1" noResize="1" noEditPoints="1" noAdjustHandles="1" noChangeArrowheads="1" noChangeShapeType="1" noTextEdit="1"/>
              </p:cNvSpPr>
              <p:nvPr/>
            </p:nvSpPr>
            <p:spPr>
              <a:xfrm>
                <a:off x="3520976" y="3163797"/>
                <a:ext cx="648447" cy="381258"/>
              </a:xfrm>
              <a:prstGeom prst="rect">
                <a:avLst/>
              </a:prstGeom>
              <a:blipFill>
                <a:blip r:embed="rId9"/>
                <a:stretch>
                  <a:fillRect l="-19811" t="-3175" r="-9434" b="-158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5158637" y="3153303"/>
                <a:ext cx="669286" cy="381258"/>
              </a:xfrm>
              <a:prstGeom prst="rect">
                <a:avLst/>
              </a:prstGeom>
              <a:noFill/>
            </p:spPr>
            <p:txBody>
              <a:bodyPr wrap="none" lIns="0" tIns="0" rIns="0" bIns="0" rtlCol="0">
                <a:spAutoFit/>
              </a:bodyPr>
              <a:lstStyle/>
              <a:p>
                <a:r>
                  <a:rPr lang="en-GB" sz="1600" noProof="0" dirty="0"/>
                  <a:t>d</a:t>
                </a:r>
                <a:r>
                  <a:rPr lang="en-GB" sz="1600" b="0" noProof="0" dirty="0"/>
                  <a:t>)</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den>
                    </m:f>
                  </m:oMath>
                </a14:m>
                <a:endParaRPr lang="en-GB" sz="1600" noProof="0" dirty="0"/>
              </a:p>
            </p:txBody>
          </p:sp>
        </mc:Choice>
        <mc:Fallback xmlns="">
          <p:sp>
            <p:nvSpPr>
              <p:cNvPr id="57" name="TextBox 56"/>
              <p:cNvSpPr txBox="1">
                <a:spLocks noRot="1" noChangeAspect="1" noMove="1" noResize="1" noEditPoints="1" noAdjustHandles="1" noChangeArrowheads="1" noChangeShapeType="1" noTextEdit="1"/>
              </p:cNvSpPr>
              <p:nvPr/>
            </p:nvSpPr>
            <p:spPr>
              <a:xfrm>
                <a:off x="5158637" y="3153303"/>
                <a:ext cx="669286" cy="381258"/>
              </a:xfrm>
              <a:prstGeom prst="rect">
                <a:avLst/>
              </a:prstGeom>
              <a:blipFill>
                <a:blip r:embed="rId10"/>
                <a:stretch>
                  <a:fillRect l="-18182" t="-1587" r="-9091"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2" name="Table 61"/>
              <p:cNvGraphicFramePr>
                <a:graphicFrameLocks noGrp="1"/>
              </p:cNvGraphicFramePr>
              <p:nvPr>
                <p:extLst>
                  <p:ext uri="{D42A27DB-BD31-4B8C-83A1-F6EECF244321}">
                    <p14:modId xmlns:p14="http://schemas.microsoft.com/office/powerpoint/2010/main" val="1257581570"/>
                  </p:ext>
                </p:extLst>
              </p:nvPr>
            </p:nvGraphicFramePr>
            <p:xfrm>
              <a:off x="196644" y="7229459"/>
              <a:ext cx="6576621" cy="2566791"/>
            </p:xfrm>
            <a:graphic>
              <a:graphicData uri="http://schemas.openxmlformats.org/drawingml/2006/table">
                <a:tbl>
                  <a:tblPr firstRow="1" bandRow="1">
                    <a:tableStyleId>{5C22544A-7EE6-4342-B048-85BDC9FD1C3A}</a:tableStyleId>
                  </a:tblPr>
                  <a:tblGrid>
                    <a:gridCol w="1012396">
                      <a:extLst>
                        <a:ext uri="{9D8B030D-6E8A-4147-A177-3AD203B41FA5}">
                          <a16:colId xmlns:a16="http://schemas.microsoft.com/office/drawing/2014/main" val="1568142362"/>
                        </a:ext>
                      </a:extLst>
                    </a:gridCol>
                    <a:gridCol w="1765429">
                      <a:extLst>
                        <a:ext uri="{9D8B030D-6E8A-4147-A177-3AD203B41FA5}">
                          <a16:colId xmlns:a16="http://schemas.microsoft.com/office/drawing/2014/main" val="3551711160"/>
                        </a:ext>
                      </a:extLst>
                    </a:gridCol>
                    <a:gridCol w="1955392">
                      <a:extLst>
                        <a:ext uri="{9D8B030D-6E8A-4147-A177-3AD203B41FA5}">
                          <a16:colId xmlns:a16="http://schemas.microsoft.com/office/drawing/2014/main" val="925597041"/>
                        </a:ext>
                      </a:extLst>
                    </a:gridCol>
                    <a:gridCol w="1843404">
                      <a:extLst>
                        <a:ext uri="{9D8B030D-6E8A-4147-A177-3AD203B41FA5}">
                          <a16:colId xmlns:a16="http://schemas.microsoft.com/office/drawing/2014/main" val="4095172789"/>
                        </a:ext>
                      </a:extLst>
                    </a:gridCol>
                  </a:tblGrid>
                  <a:tr h="463583">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sSup>
                                    <m:sSupPr>
                                      <m:ctrlPr>
                                        <a:rPr lang="en-GB" sz="1600" b="0" i="1" noProof="0" smtClean="0">
                                          <a:solidFill>
                                            <a:schemeClr val="tx1"/>
                                          </a:solidFill>
                                          <a:latin typeface="Cambria Math" panose="02040503050406030204" pitchFamily="18" charset="0"/>
                                        </a:rPr>
                                      </m:ctrlPr>
                                    </m:sSupPr>
                                    <m:e>
                                      <m:r>
                                        <a:rPr lang="en-GB" sz="1600" b="0" i="1" noProof="0" smtClean="0">
                                          <a:solidFill>
                                            <a:schemeClr val="tx1"/>
                                          </a:solidFill>
                                          <a:latin typeface="Cambria Math" panose="02040503050406030204" pitchFamily="18" charset="0"/>
                                        </a:rPr>
                                        <m:t>𝑥</m:t>
                                      </m:r>
                                    </m:e>
                                    <m:sup>
                                      <m:r>
                                        <a:rPr lang="en-GB" sz="1600" b="0" i="1" noProof="0" smtClean="0">
                                          <a:solidFill>
                                            <a:schemeClr val="tx1"/>
                                          </a:solidFill>
                                          <a:latin typeface="Cambria Math" panose="02040503050406030204" pitchFamily="18" charset="0"/>
                                        </a:rPr>
                                        <m:t>2</m:t>
                                      </m:r>
                                    </m:sup>
                                  </m:sSup>
                                  <m:r>
                                    <a:rPr lang="en-GB" sz="1600" b="0" i="1" noProof="0" smtClean="0">
                                      <a:solidFill>
                                        <a:schemeClr val="tx1"/>
                                      </a:solidFill>
                                      <a:latin typeface="Cambria Math" panose="02040503050406030204" pitchFamily="18" charset="0"/>
                                    </a:rPr>
                                    <m:t>+5</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+6</m:t>
                                  </m:r>
                                </m:num>
                                <m:den>
                                  <m:r>
                                    <a:rPr lang="en-GB" sz="1600" b="0" i="1" noProof="0" smtClean="0">
                                      <a:solidFill>
                                        <a:schemeClr val="tx1"/>
                                      </a:solidFill>
                                      <a:latin typeface="Cambria Math" panose="02040503050406030204" pitchFamily="18" charset="0"/>
                                    </a:rPr>
                                    <m:t>(</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+3)(</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+4)</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sSup>
                                    <m:sSupPr>
                                      <m:ctrlPr>
                                        <a:rPr lang="en-GB" sz="1600" b="0" i="1" noProof="0" smtClean="0">
                                          <a:solidFill>
                                            <a:schemeClr val="tx1"/>
                                          </a:solidFill>
                                          <a:latin typeface="Cambria Math" panose="02040503050406030204" pitchFamily="18" charset="0"/>
                                        </a:rPr>
                                      </m:ctrlPr>
                                    </m:sSupPr>
                                    <m:e>
                                      <m:r>
                                        <a:rPr lang="en-GB" sz="1600" b="0" i="1" noProof="0" smtClean="0">
                                          <a:solidFill>
                                            <a:schemeClr val="tx1"/>
                                          </a:solidFill>
                                          <a:latin typeface="Cambria Math" panose="02040503050406030204" pitchFamily="18" charset="0"/>
                                        </a:rPr>
                                        <m:t>𝑥</m:t>
                                      </m:r>
                                    </m:e>
                                    <m:sup>
                                      <m:r>
                                        <a:rPr lang="en-GB" sz="1600" b="0" i="1" noProof="0" smtClean="0">
                                          <a:solidFill>
                                            <a:schemeClr val="tx1"/>
                                          </a:solidFill>
                                          <a:latin typeface="Cambria Math" panose="02040503050406030204" pitchFamily="18" charset="0"/>
                                        </a:rPr>
                                        <m:t>2</m:t>
                                      </m:r>
                                    </m:sup>
                                  </m:sSup>
                                  <m:r>
                                    <a:rPr lang="en-GB" sz="1600" b="0" i="1" noProof="0" smtClean="0">
                                      <a:solidFill>
                                        <a:schemeClr val="tx1"/>
                                      </a:solidFill>
                                      <a:latin typeface="Cambria Math" panose="02040503050406030204" pitchFamily="18" charset="0"/>
                                    </a:rPr>
                                    <m:t>−</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−12</m:t>
                                  </m:r>
                                </m:num>
                                <m:den>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+6</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Simplify </a:t>
                          </a:r>
                          <a14:m>
                            <m:oMath xmlns:m="http://schemas.openxmlformats.org/officeDocument/2006/math">
                              <m:f>
                                <m:fPr>
                                  <m:ctrlPr>
                                    <a:rPr lang="en-GB" sz="1600" b="0" i="1" noProof="0" smtClean="0">
                                      <a:solidFill>
                                        <a:schemeClr val="tx1"/>
                                      </a:solidFill>
                                      <a:latin typeface="Cambria Math" panose="02040503050406030204" pitchFamily="18" charset="0"/>
                                    </a:rPr>
                                  </m:ctrlPr>
                                </m:fPr>
                                <m:num>
                                  <m:sSup>
                                    <m:sSupPr>
                                      <m:ctrlPr>
                                        <a:rPr lang="en-GB" sz="1600" b="0" i="1" noProof="0" smtClean="0">
                                          <a:solidFill>
                                            <a:schemeClr val="tx1"/>
                                          </a:solidFill>
                                          <a:latin typeface="Cambria Math" panose="02040503050406030204" pitchFamily="18" charset="0"/>
                                        </a:rPr>
                                      </m:ctrlPr>
                                    </m:sSupPr>
                                    <m:e>
                                      <m:r>
                                        <a:rPr lang="en-GB" sz="1600" b="0" i="1" noProof="0" smtClean="0">
                                          <a:solidFill>
                                            <a:schemeClr val="tx1"/>
                                          </a:solidFill>
                                          <a:latin typeface="Cambria Math" panose="02040503050406030204" pitchFamily="18" charset="0"/>
                                        </a:rPr>
                                        <m:t>𝑥</m:t>
                                      </m:r>
                                    </m:e>
                                    <m:sup>
                                      <m:r>
                                        <a:rPr lang="en-GB" sz="1600" b="0" i="1" noProof="0" smtClean="0">
                                          <a:solidFill>
                                            <a:schemeClr val="tx1"/>
                                          </a:solidFill>
                                          <a:latin typeface="Cambria Math" panose="02040503050406030204" pitchFamily="18" charset="0"/>
                                        </a:rPr>
                                        <m:t>2</m:t>
                                      </m:r>
                                    </m:sup>
                                  </m:sSup>
                                  <m:r>
                                    <a:rPr lang="en-GB" sz="1600" b="0" i="1" noProof="0" smtClean="0">
                                      <a:solidFill>
                                        <a:schemeClr val="tx1"/>
                                      </a:solidFill>
                                      <a:latin typeface="Cambria Math" panose="02040503050406030204" pitchFamily="18" charset="0"/>
                                    </a:rPr>
                                    <m:t>−</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−12</m:t>
                                  </m:r>
                                </m:num>
                                <m:den>
                                  <m:r>
                                    <a:rPr lang="en-GB" sz="1600" b="0" i="1" noProof="0" smtClean="0">
                                      <a:solidFill>
                                        <a:schemeClr val="tx1"/>
                                      </a:solidFill>
                                      <a:latin typeface="Cambria Math" panose="02040503050406030204" pitchFamily="18" charset="0"/>
                                    </a:rPr>
                                    <m:t>2</m:t>
                                  </m:r>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−8</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56601">
                    <a:tc>
                      <a:txBody>
                        <a:bodyPr/>
                        <a:lstStyle/>
                        <a:p>
                          <a:r>
                            <a:rPr lang="en-GB" sz="1100" noProof="0" dirty="0">
                              <a:solidFill>
                                <a:schemeClr val="tx1"/>
                              </a:solidFill>
                            </a:rPr>
                            <a:t>1) Check</a:t>
                          </a:r>
                          <a:r>
                            <a:rPr lang="en-GB" sz="1100" baseline="0" noProof="0" dirty="0">
                              <a:solidFill>
                                <a:schemeClr val="tx1"/>
                              </a:solidFill>
                            </a:rPr>
                            <a:t> if the numerator/</a:t>
                          </a:r>
                        </a:p>
                        <a:p>
                          <a:r>
                            <a:rPr lang="en-GB" sz="1100" baseline="0" noProof="0" dirty="0">
                              <a:solidFill>
                                <a:schemeClr val="tx1"/>
                              </a:solidFill>
                            </a:rPr>
                            <a:t>denominator need to be factorised.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39680">
                    <a:tc>
                      <a:txBody>
                        <a:bodyPr/>
                        <a:lstStyle/>
                        <a:p>
                          <a:r>
                            <a:rPr lang="en-GB" sz="1100" noProof="0" dirty="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539680">
                    <a:tc>
                      <a:txBody>
                        <a:bodyPr/>
                        <a:lstStyle/>
                        <a:p>
                          <a:r>
                            <a:rPr lang="en-GB" sz="1100" noProof="0" dirty="0">
                              <a:solidFill>
                                <a:schemeClr val="tx1"/>
                              </a:solidFill>
                            </a:rPr>
                            <a:t>3) Cancel</a:t>
                          </a:r>
                          <a:r>
                            <a:rPr lang="en-GB" sz="1100" baseline="0" noProof="0" dirty="0">
                              <a:solidFill>
                                <a:schemeClr val="tx1"/>
                              </a:solidFill>
                            </a:rPr>
                            <a:t> common factors.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62" name="Table 61"/>
              <p:cNvGraphicFramePr>
                <a:graphicFrameLocks noGrp="1"/>
              </p:cNvGraphicFramePr>
              <p:nvPr>
                <p:extLst>
                  <p:ext uri="{D42A27DB-BD31-4B8C-83A1-F6EECF244321}">
                    <p14:modId xmlns:p14="http://schemas.microsoft.com/office/powerpoint/2010/main" val="1257581570"/>
                  </p:ext>
                </p:extLst>
              </p:nvPr>
            </p:nvGraphicFramePr>
            <p:xfrm>
              <a:off x="196644" y="7229459"/>
              <a:ext cx="6576621" cy="2566791"/>
            </p:xfrm>
            <a:graphic>
              <a:graphicData uri="http://schemas.openxmlformats.org/drawingml/2006/table">
                <a:tbl>
                  <a:tblPr firstRow="1" bandRow="1">
                    <a:tableStyleId>{5C22544A-7EE6-4342-B048-85BDC9FD1C3A}</a:tableStyleId>
                  </a:tblPr>
                  <a:tblGrid>
                    <a:gridCol w="1012396">
                      <a:extLst>
                        <a:ext uri="{9D8B030D-6E8A-4147-A177-3AD203B41FA5}">
                          <a16:colId xmlns:a16="http://schemas.microsoft.com/office/drawing/2014/main" val="1568142362"/>
                        </a:ext>
                      </a:extLst>
                    </a:gridCol>
                    <a:gridCol w="1765429">
                      <a:extLst>
                        <a:ext uri="{9D8B030D-6E8A-4147-A177-3AD203B41FA5}">
                          <a16:colId xmlns:a16="http://schemas.microsoft.com/office/drawing/2014/main" val="3551711160"/>
                        </a:ext>
                      </a:extLst>
                    </a:gridCol>
                    <a:gridCol w="1955392">
                      <a:extLst>
                        <a:ext uri="{9D8B030D-6E8A-4147-A177-3AD203B41FA5}">
                          <a16:colId xmlns:a16="http://schemas.microsoft.com/office/drawing/2014/main" val="925597041"/>
                        </a:ext>
                      </a:extLst>
                    </a:gridCol>
                    <a:gridCol w="1843404">
                      <a:extLst>
                        <a:ext uri="{9D8B030D-6E8A-4147-A177-3AD203B41FA5}">
                          <a16:colId xmlns:a16="http://schemas.microsoft.com/office/drawing/2014/main" val="4095172789"/>
                        </a:ext>
                      </a:extLst>
                    </a:gridCol>
                  </a:tblGrid>
                  <a:tr h="503111">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57586" t="-1205" r="-215862" b="-4156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142368" t="-1205" r="-95016" b="-4156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256766" t="-1205" r="-660" b="-415663"/>
                          </a:stretch>
                        </a:blipFill>
                      </a:tcPr>
                    </a:tc>
                    <a:extLst>
                      <a:ext uri="{0D108BD9-81ED-4DB2-BD59-A6C34878D82A}">
                        <a16:rowId xmlns:a16="http://schemas.microsoft.com/office/drawing/2014/main" val="2357201933"/>
                      </a:ext>
                    </a:extLst>
                  </a:tr>
                  <a:tr h="929640">
                    <a:tc>
                      <a:txBody>
                        <a:bodyPr/>
                        <a:lstStyle/>
                        <a:p>
                          <a:r>
                            <a:rPr lang="en-GB" sz="1100" noProof="0">
                              <a:solidFill>
                                <a:schemeClr val="tx1"/>
                              </a:solidFill>
                            </a:rPr>
                            <a:t>1) Check</a:t>
                          </a:r>
                          <a:r>
                            <a:rPr lang="en-GB" sz="1100" baseline="0" noProof="0">
                              <a:solidFill>
                                <a:schemeClr val="tx1"/>
                              </a:solidFill>
                            </a:rPr>
                            <a:t> if the numerator/</a:t>
                          </a:r>
                        </a:p>
                        <a:p>
                          <a:r>
                            <a:rPr lang="en-GB" sz="1100" baseline="0" noProof="0">
                              <a:solidFill>
                                <a:schemeClr val="tx1"/>
                              </a:solidFill>
                            </a:rPr>
                            <a:t>denominator need to be factorised.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39680">
                    <a:tc>
                      <a:txBody>
                        <a:bodyPr/>
                        <a:lstStyle/>
                        <a:p>
                          <a:r>
                            <a:rPr lang="en-GB" sz="1100" noProof="0">
                              <a:solidFill>
                                <a:schemeClr val="tx1"/>
                              </a:solidFill>
                            </a:rPr>
                            <a:t>2) Factorise.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594360">
                    <a:tc>
                      <a:txBody>
                        <a:bodyPr/>
                        <a:lstStyle/>
                        <a:p>
                          <a:r>
                            <a:rPr lang="en-GB" sz="1100" noProof="0">
                              <a:solidFill>
                                <a:schemeClr val="tx1"/>
                              </a:solidFill>
                            </a:rPr>
                            <a:t>3) Cancel</a:t>
                          </a:r>
                          <a:r>
                            <a:rPr lang="en-GB" sz="1100" baseline="0" noProof="0">
                              <a:solidFill>
                                <a:schemeClr val="tx1"/>
                              </a:solidFill>
                            </a:rPr>
                            <a:t> common factors.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p:sp>
        <p:nvSpPr>
          <p:cNvPr id="63" name="TextBox 62">
            <a:extLst>
              <a:ext uri="{FF2B5EF4-FFF2-40B4-BE49-F238E27FC236}">
                <a16:creationId xmlns:a16="http://schemas.microsoft.com/office/drawing/2014/main" id="{72FAE9BB-D81F-4207-9FF8-E6BE971A99D9}"/>
              </a:ext>
            </a:extLst>
          </p:cNvPr>
          <p:cNvSpPr txBox="1"/>
          <p:nvPr/>
        </p:nvSpPr>
        <p:spPr>
          <a:xfrm>
            <a:off x="4948536" y="6952461"/>
            <a:ext cx="1498808"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9 - You do…</a:t>
            </a:r>
          </a:p>
        </p:txBody>
      </p:sp>
      <p:sp>
        <p:nvSpPr>
          <p:cNvPr id="64" name="TextBox 63">
            <a:extLst>
              <a:ext uri="{FF2B5EF4-FFF2-40B4-BE49-F238E27FC236}">
                <a16:creationId xmlns:a16="http://schemas.microsoft.com/office/drawing/2014/main" id="{337F58E6-37DE-4890-BDE3-0101DB4D4F11}"/>
              </a:ext>
            </a:extLst>
          </p:cNvPr>
          <p:cNvSpPr txBox="1"/>
          <p:nvPr/>
        </p:nvSpPr>
        <p:spPr>
          <a:xfrm>
            <a:off x="3146833" y="6960089"/>
            <a:ext cx="1475789"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8 - We do…</a:t>
            </a:r>
          </a:p>
        </p:txBody>
      </p:sp>
      <p:sp>
        <p:nvSpPr>
          <p:cNvPr id="65" name="TextBox 64">
            <a:extLst>
              <a:ext uri="{FF2B5EF4-FFF2-40B4-BE49-F238E27FC236}">
                <a16:creationId xmlns:a16="http://schemas.microsoft.com/office/drawing/2014/main" id="{20EB31B5-3203-4E48-8A19-892EA568053E}"/>
              </a:ext>
            </a:extLst>
          </p:cNvPr>
          <p:cNvSpPr txBox="1"/>
          <p:nvPr/>
        </p:nvSpPr>
        <p:spPr>
          <a:xfrm>
            <a:off x="1405678" y="6969447"/>
            <a:ext cx="1308500"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7 - I do…</a:t>
            </a:r>
          </a:p>
        </p:txBody>
      </p:sp>
      <p:sp>
        <p:nvSpPr>
          <p:cNvPr id="70" name="Slide Number Placeholder 16"/>
          <p:cNvSpPr>
            <a:spLocks noGrp="1"/>
          </p:cNvSpPr>
          <p:nvPr>
            <p:ph type="sldNum" sz="quarter" idx="12"/>
          </p:nvPr>
        </p:nvSpPr>
        <p:spPr>
          <a:xfrm>
            <a:off x="5377082" y="9514880"/>
            <a:ext cx="1543050" cy="527403"/>
          </a:xfrm>
        </p:spPr>
        <p:txBody>
          <a:bodyPr/>
          <a:lstStyle/>
          <a:p>
            <a:fld id="{9BD3B4A0-BFF9-422C-B253-48BA94BE2F5B}" type="slidenum">
              <a:rPr lang="en-GB" noProof="0" smtClean="0"/>
              <a:t>9</a:t>
            </a:fld>
            <a:endParaRPr lang="en-GB" noProof="0" dirty="0"/>
          </a:p>
        </p:txBody>
      </p:sp>
      <p:sp>
        <p:nvSpPr>
          <p:cNvPr id="71" name="TextBox 70">
            <a:extLst>
              <a:ext uri="{FF2B5EF4-FFF2-40B4-BE49-F238E27FC236}">
                <a16:creationId xmlns:a16="http://schemas.microsoft.com/office/drawing/2014/main" id="{C3C65E48-8C3D-6849-AD77-7AD8678AD8DA}"/>
              </a:ext>
            </a:extLst>
          </p:cNvPr>
          <p:cNvSpPr txBox="1"/>
          <p:nvPr/>
        </p:nvSpPr>
        <p:spPr>
          <a:xfrm>
            <a:off x="166832" y="2888768"/>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2219975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Table 48">
            <a:extLst>
              <a:ext uri="{FF2B5EF4-FFF2-40B4-BE49-F238E27FC236}">
                <a16:creationId xmlns:a16="http://schemas.microsoft.com/office/drawing/2014/main" id="{73A53F37-DB3C-B28F-3B16-CE09A2E26C64}"/>
              </a:ext>
            </a:extLst>
          </p:cNvPr>
          <p:cNvGraphicFramePr>
            <a:graphicFrameLocks noGrp="1"/>
          </p:cNvGraphicFramePr>
          <p:nvPr>
            <p:extLst>
              <p:ext uri="{D42A27DB-BD31-4B8C-83A1-F6EECF244321}">
                <p14:modId xmlns:p14="http://schemas.microsoft.com/office/powerpoint/2010/main" val="3354538178"/>
              </p:ext>
            </p:extLst>
          </p:nvPr>
        </p:nvGraphicFramePr>
        <p:xfrm>
          <a:off x="74287" y="103164"/>
          <a:ext cx="6644544" cy="9689178"/>
        </p:xfrm>
        <a:graphic>
          <a:graphicData uri="http://schemas.openxmlformats.org/drawingml/2006/table">
            <a:tbl>
              <a:tblPr firstRow="1" bandRow="1">
                <a:tableStyleId>{5C22544A-7EE6-4342-B048-85BDC9FD1C3A}</a:tableStyleId>
              </a:tblPr>
              <a:tblGrid>
                <a:gridCol w="1661136">
                  <a:extLst>
                    <a:ext uri="{9D8B030D-6E8A-4147-A177-3AD203B41FA5}">
                      <a16:colId xmlns:a16="http://schemas.microsoft.com/office/drawing/2014/main" val="3452299810"/>
                    </a:ext>
                  </a:extLst>
                </a:gridCol>
                <a:gridCol w="1661136">
                  <a:extLst>
                    <a:ext uri="{9D8B030D-6E8A-4147-A177-3AD203B41FA5}">
                      <a16:colId xmlns:a16="http://schemas.microsoft.com/office/drawing/2014/main" val="2626305464"/>
                    </a:ext>
                  </a:extLst>
                </a:gridCol>
                <a:gridCol w="1661136">
                  <a:extLst>
                    <a:ext uri="{9D8B030D-6E8A-4147-A177-3AD203B41FA5}">
                      <a16:colId xmlns:a16="http://schemas.microsoft.com/office/drawing/2014/main" val="2560868093"/>
                    </a:ext>
                  </a:extLst>
                </a:gridCol>
                <a:gridCol w="1661136">
                  <a:extLst>
                    <a:ext uri="{9D8B030D-6E8A-4147-A177-3AD203B41FA5}">
                      <a16:colId xmlns:a16="http://schemas.microsoft.com/office/drawing/2014/main" val="2298434427"/>
                    </a:ext>
                  </a:extLst>
                </a:gridCol>
              </a:tblGrid>
              <a:tr h="322972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3310359"/>
                  </a:ext>
                </a:extLst>
              </a:tr>
              <a:tr h="322972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765916"/>
                  </a:ext>
                </a:extLst>
              </a:tr>
              <a:tr h="322972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2396120"/>
                  </a:ext>
                </a:extLst>
              </a:tr>
            </a:tbl>
          </a:graphicData>
        </a:graphic>
      </p:graphicFrame>
      <mc:AlternateContent xmlns:mc="http://schemas.openxmlformats.org/markup-compatibility/2006" xmlns:a14="http://schemas.microsoft.com/office/drawing/2010/main">
        <mc:Choice Requires="a14">
          <p:sp>
            <p:nvSpPr>
              <p:cNvPr id="4" name="TextBox 3"/>
              <p:cNvSpPr txBox="1"/>
              <p:nvPr/>
            </p:nvSpPr>
            <p:spPr>
              <a:xfrm>
                <a:off x="164789" y="113530"/>
                <a:ext cx="980461" cy="367088"/>
              </a:xfrm>
              <a:prstGeom prst="rect">
                <a:avLst/>
              </a:prstGeom>
              <a:noFill/>
            </p:spPr>
            <p:txBody>
              <a:bodyPr wrap="none" lIns="0" tIns="0" rIns="0" bIns="0" rtlCol="0">
                <a:spAutoFit/>
              </a:bodyPr>
              <a:lstStyle/>
              <a:p>
                <a:r>
                  <a:rPr lang="en-GB" sz="1600" noProof="0" dirty="0" err="1"/>
                  <a:t>i</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d>
                          <m:dPr>
                            <m:ctrlPr>
                              <a:rPr lang="en-GB" sz="1600" b="0" i="1" noProof="0" smtClean="0">
                                <a:latin typeface="Cambria Math" panose="02040503050406030204" pitchFamily="18" charset="0"/>
                              </a:rPr>
                            </m:ctrlPr>
                          </m:dPr>
                          <m:e>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e>
                        </m:d>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den>
                    </m:f>
                  </m:oMath>
                </a14:m>
                <a:endParaRPr lang="en-GB" sz="1600" noProof="0" dirty="0"/>
              </a:p>
            </p:txBody>
          </p:sp>
        </mc:Choice>
        <mc:Fallback xmlns="">
          <p:sp>
            <p:nvSpPr>
              <p:cNvPr id="4" name="TextBox 3"/>
              <p:cNvSpPr txBox="1">
                <a:spLocks noRot="1" noChangeAspect="1" noMove="1" noResize="1" noEditPoints="1" noAdjustHandles="1" noChangeArrowheads="1" noChangeShapeType="1" noTextEdit="1"/>
              </p:cNvSpPr>
              <p:nvPr/>
            </p:nvSpPr>
            <p:spPr>
              <a:xfrm>
                <a:off x="164789" y="113530"/>
                <a:ext cx="980461" cy="367088"/>
              </a:xfrm>
              <a:prstGeom prst="rect">
                <a:avLst/>
              </a:prstGeom>
              <a:blipFill>
                <a:blip r:embed="rId2"/>
                <a:stretch>
                  <a:fillRect l="-12422" r="-6211"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852781" y="113658"/>
                <a:ext cx="983667" cy="367088"/>
              </a:xfrm>
              <a:prstGeom prst="rect">
                <a:avLst/>
              </a:prstGeom>
              <a:noFill/>
            </p:spPr>
            <p:txBody>
              <a:bodyPr wrap="none" lIns="0" tIns="0" rIns="0" bIns="0" rtlCol="0">
                <a:spAutoFit/>
              </a:bodyPr>
              <a:lstStyle/>
              <a:p>
                <a:r>
                  <a:rPr lang="en-GB" sz="1600" noProof="0" dirty="0"/>
                  <a:t>j</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b="0" i="1" noProof="0" smtClean="0">
                                <a:latin typeface="Cambria Math" panose="02040503050406030204" pitchFamily="18" charset="0"/>
                              </a:rPr>
                              <m:t>+3</m:t>
                            </m:r>
                          </m:e>
                        </m:d>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+4)</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den>
                    </m:f>
                  </m:oMath>
                </a14:m>
                <a:endParaRPr lang="en-GB" sz="1600" noProof="0" dirty="0"/>
              </a:p>
            </p:txBody>
          </p:sp>
        </mc:Choice>
        <mc:Fallback xmlns="">
          <p:sp>
            <p:nvSpPr>
              <p:cNvPr id="5" name="TextBox 4"/>
              <p:cNvSpPr txBox="1">
                <a:spLocks noRot="1" noChangeAspect="1" noMove="1" noResize="1" noEditPoints="1" noAdjustHandles="1" noChangeArrowheads="1" noChangeShapeType="1" noTextEdit="1"/>
              </p:cNvSpPr>
              <p:nvPr/>
            </p:nvSpPr>
            <p:spPr>
              <a:xfrm>
                <a:off x="1852781" y="113658"/>
                <a:ext cx="983667" cy="367088"/>
              </a:xfrm>
              <a:prstGeom prst="rect">
                <a:avLst/>
              </a:prstGeom>
              <a:blipFill>
                <a:blip r:embed="rId3"/>
                <a:stretch>
                  <a:fillRect l="-13043" r="-6211"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465175" y="113658"/>
                <a:ext cx="1026948" cy="613438"/>
              </a:xfrm>
              <a:prstGeom prst="rect">
                <a:avLst/>
              </a:prstGeom>
              <a:noFill/>
            </p:spPr>
            <p:txBody>
              <a:bodyPr wrap="none" lIns="0" tIns="0" rIns="0" bIns="0" rtlCol="0">
                <a:spAutoFit/>
              </a:bodyPr>
              <a:lstStyle/>
              <a:p>
                <a:r>
                  <a:rPr lang="en-GB" sz="1600" noProof="0" dirty="0"/>
                  <a:t>k</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d>
                          <m:dPr>
                            <m:ctrlPr>
                              <a:rPr lang="en-GB" sz="160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e>
                        </m:d>
                        <m:r>
                          <a:rPr lang="en-GB" sz="1600" i="1" noProof="0" smtClean="0">
                            <a:latin typeface="Cambria Math" panose="02040503050406030204" pitchFamily="18" charset="0"/>
                          </a:rPr>
                          <m:t>(</m:t>
                        </m:r>
                        <m:r>
                          <a:rPr lang="en-GB" sz="1600" i="1" noProof="0" smtClean="0">
                            <a:latin typeface="Cambria Math" panose="02040503050406030204" pitchFamily="18" charset="0"/>
                          </a:rPr>
                          <m:t>𝑥</m:t>
                        </m:r>
                        <m:r>
                          <a:rPr lang="en-GB" sz="1600" i="1" noProof="0" smtClean="0">
                            <a:latin typeface="Cambria Math" panose="02040503050406030204" pitchFamily="18" charset="0"/>
                          </a:rPr>
                          <m:t>+4)</m:t>
                        </m:r>
                      </m:num>
                      <m:den>
                        <m:r>
                          <a:rPr lang="en-GB" sz="1600" i="1" noProof="0" smtClean="0">
                            <a:latin typeface="Cambria Math" panose="02040503050406030204" pitchFamily="18" charset="0"/>
                          </a:rPr>
                          <m:t>2</m:t>
                        </m:r>
                        <m:r>
                          <a:rPr lang="en-GB" sz="1600" i="1" noProof="0" smtClean="0">
                            <a:latin typeface="Cambria Math" panose="02040503050406030204" pitchFamily="18" charset="0"/>
                          </a:rPr>
                          <m:t>𝑥</m:t>
                        </m:r>
                        <m:r>
                          <a:rPr lang="en-GB" sz="1600" i="1" noProof="0" smtClean="0">
                            <a:latin typeface="Cambria Math" panose="02040503050406030204" pitchFamily="18" charset="0"/>
                          </a:rPr>
                          <m:t>+8</m:t>
                        </m:r>
                      </m:den>
                    </m:f>
                  </m:oMath>
                </a14:m>
                <a:endParaRPr lang="en-GB" sz="1600" noProof="0" dirty="0"/>
              </a:p>
              <a:p>
                <a:endParaRPr lang="en-GB" sz="1600" noProof="0" dirty="0"/>
              </a:p>
            </p:txBody>
          </p:sp>
        </mc:Choice>
        <mc:Fallback xmlns="">
          <p:sp>
            <p:nvSpPr>
              <p:cNvPr id="9" name="TextBox 8"/>
              <p:cNvSpPr txBox="1">
                <a:spLocks noRot="1" noChangeAspect="1" noMove="1" noResize="1" noEditPoints="1" noAdjustHandles="1" noChangeArrowheads="1" noChangeShapeType="1" noTextEdit="1"/>
              </p:cNvSpPr>
              <p:nvPr/>
            </p:nvSpPr>
            <p:spPr>
              <a:xfrm>
                <a:off x="3465175" y="113658"/>
                <a:ext cx="1026948" cy="613438"/>
              </a:xfrm>
              <a:prstGeom prst="rect">
                <a:avLst/>
              </a:prstGeom>
              <a:blipFill>
                <a:blip r:embed="rId4"/>
                <a:stretch>
                  <a:fillRect l="-11834" r="-59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003578" y="103164"/>
                <a:ext cx="898900" cy="384272"/>
              </a:xfrm>
              <a:prstGeom prst="rect">
                <a:avLst/>
              </a:prstGeom>
              <a:noFill/>
            </p:spPr>
            <p:txBody>
              <a:bodyPr wrap="none" lIns="0" tIns="0" rIns="0" bIns="0" rtlCol="0">
                <a:spAutoFit/>
              </a:bodyPr>
              <a:lstStyle/>
              <a:p>
                <a:pPr algn="ctr"/>
                <a:r>
                  <a:rPr lang="en-GB" sz="1600" noProof="0" dirty="0"/>
                  <a:t>l</a:t>
                </a:r>
                <a:r>
                  <a:rPr lang="en-GB" sz="1600" b="0" noProof="0" dirty="0"/>
                  <a:t>)</a:t>
                </a:r>
                <a14:m>
                  <m:oMath xmlns:m="http://schemas.openxmlformats.org/officeDocument/2006/math">
                    <m:r>
                      <a:rPr lang="en-GB" sz="1600" b="0" i="0" noProof="0" smtClean="0">
                        <a:latin typeface="Cambria Math" panose="02040503050406030204" pitchFamily="18" charset="0"/>
                      </a:rPr>
                      <m:t> </m:t>
                    </m:r>
                    <m:f>
                      <m:fPr>
                        <m:ctrlPr>
                          <a:rPr lang="en-GB" sz="1600" i="1" noProof="0" smtClean="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+7</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+8</m:t>
                        </m:r>
                      </m:den>
                    </m:f>
                  </m:oMath>
                </a14:m>
                <a:endParaRPr lang="en-GB" sz="1600" noProof="0" dirty="0"/>
              </a:p>
            </p:txBody>
          </p:sp>
        </mc:Choice>
        <mc:Fallback xmlns="">
          <p:sp>
            <p:nvSpPr>
              <p:cNvPr id="10" name="TextBox 9"/>
              <p:cNvSpPr txBox="1">
                <a:spLocks noRot="1" noChangeAspect="1" noMove="1" noResize="1" noEditPoints="1" noAdjustHandles="1" noChangeArrowheads="1" noChangeShapeType="1" noTextEdit="1"/>
              </p:cNvSpPr>
              <p:nvPr/>
            </p:nvSpPr>
            <p:spPr>
              <a:xfrm>
                <a:off x="5003578" y="103164"/>
                <a:ext cx="898900" cy="384272"/>
              </a:xfrm>
              <a:prstGeom prst="rect">
                <a:avLst/>
              </a:prstGeom>
              <a:blipFill>
                <a:blip r:embed="rId5"/>
                <a:stretch>
                  <a:fillRect l="-14286" r="-4762"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154844" y="3381265"/>
                <a:ext cx="1094915" cy="415691"/>
              </a:xfrm>
              <a:prstGeom prst="rect">
                <a:avLst/>
              </a:prstGeom>
              <a:noFill/>
            </p:spPr>
            <p:txBody>
              <a:bodyPr wrap="square" lIns="0" tIns="0" rIns="0" bIns="0" rtlCol="0">
                <a:spAutoFit/>
              </a:bodyPr>
              <a:lstStyle/>
              <a:p>
                <a:r>
                  <a:rPr lang="en-GB" sz="1600" noProof="0" dirty="0"/>
                  <a:t>m</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+7</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−9)</m:t>
                        </m:r>
                      </m:den>
                    </m:f>
                  </m:oMath>
                </a14:m>
                <a:endParaRPr lang="en-GB" sz="1600" noProof="0" dirty="0"/>
              </a:p>
            </p:txBody>
          </p:sp>
        </mc:Choice>
        <mc:Fallback xmlns="">
          <p:sp>
            <p:nvSpPr>
              <p:cNvPr id="16" name="TextBox 15"/>
              <p:cNvSpPr txBox="1">
                <a:spLocks noRot="1" noChangeAspect="1" noMove="1" noResize="1" noEditPoints="1" noAdjustHandles="1" noChangeArrowheads="1" noChangeShapeType="1" noTextEdit="1"/>
              </p:cNvSpPr>
              <p:nvPr/>
            </p:nvSpPr>
            <p:spPr>
              <a:xfrm>
                <a:off x="154844" y="3381265"/>
                <a:ext cx="1094915" cy="415691"/>
              </a:xfrm>
              <a:prstGeom prst="rect">
                <a:avLst/>
              </a:prstGeom>
              <a:blipFill>
                <a:blip r:embed="rId6"/>
                <a:stretch>
                  <a:fillRect l="-11111" r="-5556" b="-1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1842836" y="3381393"/>
                <a:ext cx="961417" cy="384144"/>
              </a:xfrm>
              <a:prstGeom prst="rect">
                <a:avLst/>
              </a:prstGeom>
              <a:noFill/>
            </p:spPr>
            <p:txBody>
              <a:bodyPr wrap="square" lIns="0" tIns="0" rIns="0" bIns="0" rtlCol="0">
                <a:spAutoFit/>
              </a:bodyPr>
              <a:lstStyle/>
              <a:p>
                <a:r>
                  <a:rPr lang="en-GB" sz="1600" noProof="0" dirty="0"/>
                  <a:t>n</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+7</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−5</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−36</m:t>
                        </m:r>
                      </m:den>
                    </m:f>
                  </m:oMath>
                </a14:m>
                <a:endParaRPr lang="en-GB" sz="1600" noProof="0" dirty="0"/>
              </a:p>
            </p:txBody>
          </p:sp>
        </mc:Choice>
        <mc:Fallback xmlns="">
          <p:sp>
            <p:nvSpPr>
              <p:cNvPr id="17" name="TextBox 16"/>
              <p:cNvSpPr txBox="1">
                <a:spLocks noRot="1" noChangeAspect="1" noMove="1" noResize="1" noEditPoints="1" noAdjustHandles="1" noChangeArrowheads="1" noChangeShapeType="1" noTextEdit="1"/>
              </p:cNvSpPr>
              <p:nvPr/>
            </p:nvSpPr>
            <p:spPr>
              <a:xfrm>
                <a:off x="1842836" y="3381393"/>
                <a:ext cx="961417" cy="384144"/>
              </a:xfrm>
              <a:prstGeom prst="rect">
                <a:avLst/>
              </a:prstGeom>
              <a:blipFill>
                <a:blip r:embed="rId7"/>
                <a:stretch>
                  <a:fillRect l="-12658" r="-3797"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455230" y="3381393"/>
                <a:ext cx="1136145" cy="384144"/>
              </a:xfrm>
              <a:prstGeom prst="rect">
                <a:avLst/>
              </a:prstGeom>
              <a:noFill/>
            </p:spPr>
            <p:txBody>
              <a:bodyPr wrap="square" lIns="0" tIns="0" rIns="0" bIns="0" rtlCol="0">
                <a:spAutoFit/>
              </a:bodyPr>
              <a:lstStyle/>
              <a:p>
                <a:r>
                  <a:rPr lang="en-GB" sz="1600" noProof="0" dirty="0"/>
                  <a:t>o</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2</m:t>
                        </m:r>
                        <m:sSup>
                          <m:sSupPr>
                            <m:ctrlPr>
                              <a:rPr lang="en-GB" sz="1600" b="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+14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+24</m:t>
                        </m:r>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−5</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−36</m:t>
                        </m:r>
                      </m:den>
                    </m:f>
                  </m:oMath>
                </a14:m>
                <a:endParaRPr lang="en-GB" sz="1600" noProof="0" dirty="0"/>
              </a:p>
            </p:txBody>
          </p:sp>
        </mc:Choice>
        <mc:Fallback xmlns="">
          <p:sp>
            <p:nvSpPr>
              <p:cNvPr id="21" name="TextBox 20"/>
              <p:cNvSpPr txBox="1">
                <a:spLocks noRot="1" noChangeAspect="1" noMove="1" noResize="1" noEditPoints="1" noAdjustHandles="1" noChangeArrowheads="1" noChangeShapeType="1" noTextEdit="1"/>
              </p:cNvSpPr>
              <p:nvPr/>
            </p:nvSpPr>
            <p:spPr>
              <a:xfrm>
                <a:off x="3455230" y="3381393"/>
                <a:ext cx="1136145" cy="384144"/>
              </a:xfrm>
              <a:prstGeom prst="rect">
                <a:avLst/>
              </a:prstGeom>
              <a:blipFill>
                <a:blip r:embed="rId8"/>
                <a:stretch>
                  <a:fillRect l="-11290" r="-3226"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092891" y="3370899"/>
                <a:ext cx="1221104" cy="384272"/>
              </a:xfrm>
              <a:prstGeom prst="rect">
                <a:avLst/>
              </a:prstGeom>
              <a:noFill/>
            </p:spPr>
            <p:txBody>
              <a:bodyPr wrap="square" lIns="0" tIns="0" rIns="0" bIns="0" rtlCol="0">
                <a:spAutoFit/>
              </a:bodyPr>
              <a:lstStyle/>
              <a:p>
                <a:r>
                  <a:rPr lang="en-GB" sz="1600" noProof="0" dirty="0"/>
                  <a:t>p</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2</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+14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+24</m:t>
                        </m:r>
                      </m:num>
                      <m:den>
                        <m:r>
                          <a:rPr lang="en-GB" sz="1600" b="0" i="1" noProof="0" smtClean="0">
                            <a:latin typeface="Cambria Math" panose="02040503050406030204" pitchFamily="18" charset="0"/>
                          </a:rPr>
                          <m:t>3</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−15</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−108</m:t>
                        </m:r>
                      </m:den>
                    </m:f>
                  </m:oMath>
                </a14:m>
                <a:endParaRPr lang="en-GB" sz="1600" noProof="0" dirty="0"/>
              </a:p>
            </p:txBody>
          </p:sp>
        </mc:Choice>
        <mc:Fallback xmlns="">
          <p:sp>
            <p:nvSpPr>
              <p:cNvPr id="22" name="TextBox 21"/>
              <p:cNvSpPr txBox="1">
                <a:spLocks noRot="1" noChangeAspect="1" noMove="1" noResize="1" noEditPoints="1" noAdjustHandles="1" noChangeArrowheads="1" noChangeShapeType="1" noTextEdit="1"/>
              </p:cNvSpPr>
              <p:nvPr/>
            </p:nvSpPr>
            <p:spPr>
              <a:xfrm>
                <a:off x="5092891" y="3370899"/>
                <a:ext cx="1221104" cy="384272"/>
              </a:xfrm>
              <a:prstGeom prst="rect">
                <a:avLst/>
              </a:prstGeom>
              <a:blipFill>
                <a:blip r:embed="rId9"/>
                <a:stretch>
                  <a:fillRect l="-9950" r="-2488"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154844" y="6707969"/>
                <a:ext cx="1134541" cy="384144"/>
              </a:xfrm>
              <a:prstGeom prst="rect">
                <a:avLst/>
              </a:prstGeom>
              <a:noFill/>
            </p:spPr>
            <p:txBody>
              <a:bodyPr wrap="square" lIns="0" tIns="0" rIns="0" bIns="0" rtlCol="0">
                <a:spAutoFit/>
              </a:bodyPr>
              <a:lstStyle/>
              <a:p>
                <a:r>
                  <a:rPr lang="en-GB" sz="1600" noProof="0" dirty="0"/>
                  <a:t>q</a:t>
                </a:r>
                <a:r>
                  <a:rPr lang="en-GB" sz="1600" b="0" noProof="0" dirty="0"/>
                  <a:t>) </a:t>
                </a:r>
                <a14:m>
                  <m:oMath xmlns:m="http://schemas.openxmlformats.org/officeDocument/2006/math">
                    <m:f>
                      <m:fPr>
                        <m:ctrlPr>
                          <a:rPr lang="en-GB" sz="1600" b="0" i="1" noProof="0" smtClean="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+14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+24</m:t>
                        </m:r>
                      </m:num>
                      <m:den>
                        <m:r>
                          <a:rPr lang="en-GB" sz="1600" b="0" i="1" noProof="0" smtClean="0">
                            <a:latin typeface="Cambria Math" panose="02040503050406030204" pitchFamily="18" charset="0"/>
                          </a:rPr>
                          <m:t>3</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−15</m:t>
                        </m:r>
                      </m:den>
                    </m:f>
                  </m:oMath>
                </a14:m>
                <a:endParaRPr lang="en-GB" sz="1600" noProof="0" dirty="0"/>
              </a:p>
            </p:txBody>
          </p:sp>
        </mc:Choice>
        <mc:Fallback xmlns="">
          <p:sp>
            <p:nvSpPr>
              <p:cNvPr id="28" name="TextBox 27"/>
              <p:cNvSpPr txBox="1">
                <a:spLocks noRot="1" noChangeAspect="1" noMove="1" noResize="1" noEditPoints="1" noAdjustHandles="1" noChangeArrowheads="1" noChangeShapeType="1" noTextEdit="1"/>
              </p:cNvSpPr>
              <p:nvPr/>
            </p:nvSpPr>
            <p:spPr>
              <a:xfrm>
                <a:off x="154844" y="6707969"/>
                <a:ext cx="1134541" cy="384144"/>
              </a:xfrm>
              <a:prstGeom prst="rect">
                <a:avLst/>
              </a:prstGeom>
              <a:blipFill>
                <a:blip r:embed="rId10"/>
                <a:stretch>
                  <a:fillRect l="-10695" r="-2674"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1842836" y="6708097"/>
                <a:ext cx="1099275" cy="384144"/>
              </a:xfrm>
              <a:prstGeom prst="rect">
                <a:avLst/>
              </a:prstGeom>
              <a:noFill/>
            </p:spPr>
            <p:txBody>
              <a:bodyPr wrap="square" lIns="0" tIns="0" rIns="0" bIns="0" rtlCol="0">
                <a:spAutoFit/>
              </a:bodyPr>
              <a:lstStyle/>
              <a:p>
                <a:r>
                  <a:rPr lang="en-GB" sz="1600" noProof="0" dirty="0"/>
                  <a:t>r</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14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−24−2</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−15</m:t>
                        </m:r>
                      </m:den>
                    </m:f>
                  </m:oMath>
                </a14:m>
                <a:endParaRPr lang="en-GB" sz="1600" noProof="0" dirty="0"/>
              </a:p>
            </p:txBody>
          </p:sp>
        </mc:Choice>
        <mc:Fallback xmlns="">
          <p:sp>
            <p:nvSpPr>
              <p:cNvPr id="29" name="TextBox 28"/>
              <p:cNvSpPr txBox="1">
                <a:spLocks noRot="1" noChangeAspect="1" noMove="1" noResize="1" noEditPoints="1" noAdjustHandles="1" noChangeArrowheads="1" noChangeShapeType="1" noTextEdit="1"/>
              </p:cNvSpPr>
              <p:nvPr/>
            </p:nvSpPr>
            <p:spPr>
              <a:xfrm>
                <a:off x="1842836" y="6708097"/>
                <a:ext cx="1099275" cy="384144"/>
              </a:xfrm>
              <a:prstGeom prst="rect">
                <a:avLst/>
              </a:prstGeom>
              <a:blipFill>
                <a:blip r:embed="rId11"/>
                <a:stretch>
                  <a:fillRect l="-11050" r="-1657"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3455230" y="6708097"/>
                <a:ext cx="1107291" cy="384144"/>
              </a:xfrm>
              <a:prstGeom prst="rect">
                <a:avLst/>
              </a:prstGeom>
              <a:noFill/>
            </p:spPr>
            <p:txBody>
              <a:bodyPr wrap="square" lIns="0" tIns="0" rIns="0" bIns="0" rtlCol="0">
                <a:spAutoFit/>
              </a:bodyPr>
              <a:lstStyle/>
              <a:p>
                <a:r>
                  <a:rPr lang="en-GB" sz="1600" noProof="0" dirty="0"/>
                  <a:t>s</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14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−24−2</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num>
                      <m:den>
                        <m:r>
                          <a:rPr lang="en-GB" sz="1600" b="0" i="1" noProof="0" smtClean="0">
                            <a:latin typeface="Cambria Math" panose="02040503050406030204" pitchFamily="18" charset="0"/>
                          </a:rPr>
                          <m:t>3</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−15</m:t>
                        </m:r>
                      </m:den>
                    </m:f>
                  </m:oMath>
                </a14:m>
                <a:endParaRPr lang="en-GB" sz="1600" noProof="0" dirty="0"/>
              </a:p>
            </p:txBody>
          </p:sp>
        </mc:Choice>
        <mc:Fallback xmlns="">
          <p:sp>
            <p:nvSpPr>
              <p:cNvPr id="33" name="TextBox 32"/>
              <p:cNvSpPr txBox="1">
                <a:spLocks noRot="1" noChangeAspect="1" noMove="1" noResize="1" noEditPoints="1" noAdjustHandles="1" noChangeArrowheads="1" noChangeShapeType="1" noTextEdit="1"/>
              </p:cNvSpPr>
              <p:nvPr/>
            </p:nvSpPr>
            <p:spPr>
              <a:xfrm>
                <a:off x="3455230" y="6708097"/>
                <a:ext cx="1107291" cy="384144"/>
              </a:xfrm>
              <a:prstGeom prst="rect">
                <a:avLst/>
              </a:prstGeom>
              <a:blipFill>
                <a:blip r:embed="rId12"/>
                <a:stretch>
                  <a:fillRect l="-11602" r="-1657"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5092891" y="6697603"/>
                <a:ext cx="1182631" cy="384144"/>
              </a:xfrm>
              <a:prstGeom prst="rect">
                <a:avLst/>
              </a:prstGeom>
              <a:noFill/>
            </p:spPr>
            <p:txBody>
              <a:bodyPr wrap="square" lIns="0" tIns="0" rIns="0" bIns="0" rtlCol="0">
                <a:spAutoFit/>
              </a:bodyPr>
              <a:lstStyle/>
              <a:p>
                <a:r>
                  <a:rPr lang="en-GB" sz="1600" noProof="0" dirty="0"/>
                  <a:t>t</a:t>
                </a:r>
                <a:r>
                  <a:rPr lang="en-GB" sz="1600" b="0" noProof="0" dirty="0"/>
                  <a:t>) </a:t>
                </a:r>
                <a14:m>
                  <m:oMath xmlns:m="http://schemas.openxmlformats.org/officeDocument/2006/math">
                    <m:f>
                      <m:fPr>
                        <m:ctrlPr>
                          <a:rPr lang="en-GB" sz="1600" i="1" noProof="0" smtClean="0">
                            <a:latin typeface="Cambria Math" panose="02040503050406030204" pitchFamily="18" charset="0"/>
                          </a:rPr>
                        </m:ctrlPr>
                      </m:fPr>
                      <m:num>
                        <m:r>
                          <a:rPr lang="en-GB" sz="1600" b="0" i="1" noProof="0" smtClean="0">
                            <a:latin typeface="Cambria Math" panose="02040503050406030204" pitchFamily="18" charset="0"/>
                          </a:rPr>
                          <m:t>10</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−23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+12</m:t>
                        </m:r>
                      </m:num>
                      <m:den>
                        <m:r>
                          <a:rPr lang="en-GB" sz="1600" b="0" i="1" noProof="0" smtClean="0">
                            <a:latin typeface="Cambria Math" panose="02040503050406030204" pitchFamily="18" charset="0"/>
                          </a:rPr>
                          <m:t>4</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+4</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−15</m:t>
                        </m:r>
                      </m:den>
                    </m:f>
                  </m:oMath>
                </a14:m>
                <a:endParaRPr lang="en-GB" sz="1600" noProof="0" dirty="0"/>
              </a:p>
            </p:txBody>
          </p:sp>
        </mc:Choice>
        <mc:Fallback xmlns="">
          <p:sp>
            <p:nvSpPr>
              <p:cNvPr id="34" name="TextBox 33"/>
              <p:cNvSpPr txBox="1">
                <a:spLocks noRot="1" noChangeAspect="1" noMove="1" noResize="1" noEditPoints="1" noAdjustHandles="1" noChangeArrowheads="1" noChangeShapeType="1" noTextEdit="1"/>
              </p:cNvSpPr>
              <p:nvPr/>
            </p:nvSpPr>
            <p:spPr>
              <a:xfrm>
                <a:off x="5092891" y="6697603"/>
                <a:ext cx="1182631" cy="384144"/>
              </a:xfrm>
              <a:prstGeom prst="rect">
                <a:avLst/>
              </a:prstGeom>
              <a:blipFill>
                <a:blip r:embed="rId13"/>
                <a:stretch>
                  <a:fillRect l="-10309" r="-3093" b="-17460"/>
                </a:stretch>
              </a:blipFill>
            </p:spPr>
            <p:txBody>
              <a:bodyPr/>
              <a:lstStyle/>
              <a:p>
                <a:r>
                  <a:rPr lang="en-US">
                    <a:noFill/>
                  </a:rPr>
                  <a:t> </a:t>
                </a:r>
              </a:p>
            </p:txBody>
          </p:sp>
        </mc:Fallback>
      </mc:AlternateContent>
      <p:sp>
        <p:nvSpPr>
          <p:cNvPr id="40" name="Slide Number Placeholder 39"/>
          <p:cNvSpPr>
            <a:spLocks noGrp="1"/>
          </p:cNvSpPr>
          <p:nvPr>
            <p:ph type="sldNum" sz="quarter" idx="12"/>
          </p:nvPr>
        </p:nvSpPr>
        <p:spPr>
          <a:xfrm>
            <a:off x="5299983" y="9589478"/>
            <a:ext cx="1543050" cy="527403"/>
          </a:xfrm>
        </p:spPr>
        <p:txBody>
          <a:bodyPr/>
          <a:lstStyle/>
          <a:p>
            <a:fld id="{9BD3B4A0-BFF9-422C-B253-48BA94BE2F5B}" type="slidenum">
              <a:rPr lang="en-GB" noProof="0" smtClean="0"/>
              <a:t>10</a:t>
            </a:fld>
            <a:endParaRPr lang="en-GB" noProof="0" dirty="0"/>
          </a:p>
        </p:txBody>
      </p:sp>
    </p:spTree>
    <p:extLst>
      <p:ext uri="{BB962C8B-B14F-4D97-AF65-F5344CB8AC3E}">
        <p14:creationId xmlns:p14="http://schemas.microsoft.com/office/powerpoint/2010/main" val="969948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195224" y="2489462"/>
                <a:ext cx="1779880" cy="357277"/>
              </a:xfrm>
              <a:prstGeom prst="rect">
                <a:avLst/>
              </a:prstGeom>
            </p:spPr>
            <p:txBody>
              <a:bodyPr wrap="square">
                <a:spAutoFit/>
              </a:bodyPr>
              <a:lstStyle/>
              <a:p>
                <a:r>
                  <a:rPr lang="en-GB" sz="1200" noProof="0" dirty="0"/>
                  <a:t>a)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3</m:t>
                        </m:r>
                      </m:num>
                      <m:den>
                        <m:r>
                          <a:rPr lang="en-GB" sz="1200" i="1" noProof="0" smtClean="0">
                            <a:latin typeface="Cambria Math" panose="02040503050406030204" pitchFamily="18" charset="0"/>
                          </a:rPr>
                          <m:t>15</m:t>
                        </m:r>
                      </m:den>
                    </m:f>
                    <m:r>
                      <a:rPr lang="en-GB" sz="1200" i="1" noProof="0">
                        <a:latin typeface="Cambria Math" panose="02040503050406030204" pitchFamily="18" charset="0"/>
                      </a:rPr>
                      <m:t>×</m:t>
                    </m:r>
                    <m:f>
                      <m:fPr>
                        <m:ctrlPr>
                          <a:rPr lang="en-GB" sz="1200" i="1" noProof="0">
                            <a:latin typeface="Cambria Math" panose="02040503050406030204" pitchFamily="18" charset="0"/>
                          </a:rPr>
                        </m:ctrlPr>
                      </m:fPr>
                      <m:num>
                        <m:r>
                          <a:rPr lang="en-GB" sz="1200" i="1" noProof="0">
                            <a:latin typeface="Cambria Math" panose="02040503050406030204" pitchFamily="18" charset="0"/>
                          </a:rPr>
                          <m:t>5</m:t>
                        </m:r>
                      </m:num>
                      <m:den>
                        <m:r>
                          <a:rPr lang="en-GB" sz="1200" i="1" noProof="0">
                            <a:latin typeface="Cambria Math" panose="02040503050406030204" pitchFamily="18" charset="0"/>
                          </a:rPr>
                          <m:t>11</m:t>
                        </m:r>
                      </m:den>
                    </m:f>
                    <m:r>
                      <a:rPr lang="en-GB" sz="1200" i="1" noProof="0">
                        <a:latin typeface="Cambria Math" panose="02040503050406030204" pitchFamily="18" charset="0"/>
                      </a:rPr>
                      <m:t>=</m:t>
                    </m:r>
                  </m:oMath>
                </a14:m>
                <a:endParaRPr lang="en-GB" sz="1200" noProof="0" dirty="0"/>
              </a:p>
            </p:txBody>
          </p:sp>
        </mc:Choice>
        <mc:Fallback xmlns="">
          <p:sp>
            <p:nvSpPr>
              <p:cNvPr id="2" name="Rectangle 1"/>
              <p:cNvSpPr>
                <a:spLocks noRot="1" noChangeAspect="1" noMove="1" noResize="1" noEditPoints="1" noAdjustHandles="1" noChangeArrowheads="1" noChangeShapeType="1" noTextEdit="1"/>
              </p:cNvSpPr>
              <p:nvPr/>
            </p:nvSpPr>
            <p:spPr>
              <a:xfrm>
                <a:off x="195224" y="2489462"/>
                <a:ext cx="1779880" cy="357277"/>
              </a:xfrm>
              <a:prstGeom prst="rect">
                <a:avLst/>
              </a:prstGeom>
              <a:blipFill>
                <a:blip r:embed="rId2"/>
                <a:stretch>
                  <a:fillRect b="-169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6EAE242C-3BEA-324C-B746-6B1087575622}"/>
              </a:ext>
            </a:extLst>
          </p:cNvPr>
          <p:cNvSpPr txBox="1"/>
          <p:nvPr/>
        </p:nvSpPr>
        <p:spPr>
          <a:xfrm>
            <a:off x="0" y="2098062"/>
            <a:ext cx="2579682" cy="276999"/>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Knowledge Check: Cross Simplification</a:t>
            </a:r>
          </a:p>
        </p:txBody>
      </p:sp>
      <mc:AlternateContent xmlns:mc="http://schemas.openxmlformats.org/markup-compatibility/2006" xmlns:a14="http://schemas.microsoft.com/office/drawing/2010/main">
        <mc:Choice Requires="a14">
          <p:sp>
            <p:nvSpPr>
              <p:cNvPr id="4" name="Rectangle 3"/>
              <p:cNvSpPr/>
              <p:nvPr/>
            </p:nvSpPr>
            <p:spPr>
              <a:xfrm>
                <a:off x="4509393" y="2504006"/>
                <a:ext cx="932178" cy="354777"/>
              </a:xfrm>
              <a:prstGeom prst="rect">
                <a:avLst/>
              </a:prstGeom>
            </p:spPr>
            <p:txBody>
              <a:bodyPr wrap="none">
                <a:spAutoFit/>
              </a:bodyPr>
              <a:lstStyle/>
              <a:p>
                <a:r>
                  <a:rPr lang="en-GB" sz="1200" noProof="0" dirty="0"/>
                  <a:t>c)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13</m:t>
                        </m:r>
                      </m:num>
                      <m:den>
                        <m:r>
                          <a:rPr lang="en-GB" sz="1200" i="1" noProof="0">
                            <a:latin typeface="Cambria Math" panose="02040503050406030204" pitchFamily="18" charset="0"/>
                          </a:rPr>
                          <m:t>80</m:t>
                        </m:r>
                      </m:den>
                    </m:f>
                    <m:r>
                      <a:rPr lang="en-GB" sz="1200" i="1" noProof="0">
                        <a:latin typeface="Cambria Math" panose="02040503050406030204" pitchFamily="18" charset="0"/>
                      </a:rPr>
                      <m:t>×</m:t>
                    </m:r>
                    <m:f>
                      <m:fPr>
                        <m:ctrlPr>
                          <a:rPr lang="en-GB" sz="1200" i="1" noProof="0">
                            <a:latin typeface="Cambria Math" panose="02040503050406030204" pitchFamily="18" charset="0"/>
                          </a:rPr>
                        </m:ctrlPr>
                      </m:fPr>
                      <m:num>
                        <m:r>
                          <a:rPr lang="en-GB" sz="1200" i="1" noProof="0">
                            <a:latin typeface="Cambria Math" panose="02040503050406030204" pitchFamily="18" charset="0"/>
                          </a:rPr>
                          <m:t>20</m:t>
                        </m:r>
                      </m:num>
                      <m:den>
                        <m:r>
                          <a:rPr lang="en-GB" sz="1200" i="1" noProof="0">
                            <a:latin typeface="Cambria Math" panose="02040503050406030204" pitchFamily="18" charset="0"/>
                          </a:rPr>
                          <m:t>39</m:t>
                        </m:r>
                      </m:den>
                    </m:f>
                    <m:r>
                      <a:rPr lang="en-GB" sz="1200" i="1" noProof="0">
                        <a:latin typeface="Cambria Math" panose="02040503050406030204" pitchFamily="18" charset="0"/>
                      </a:rPr>
                      <m:t>=</m:t>
                    </m:r>
                  </m:oMath>
                </a14:m>
                <a:endParaRPr lang="en-GB" sz="1200" noProof="0" dirty="0"/>
              </a:p>
            </p:txBody>
          </p:sp>
        </mc:Choice>
        <mc:Fallback xmlns="">
          <p:sp>
            <p:nvSpPr>
              <p:cNvPr id="4" name="Rectangle 3"/>
              <p:cNvSpPr>
                <a:spLocks noRot="1" noChangeAspect="1" noMove="1" noResize="1" noEditPoints="1" noAdjustHandles="1" noChangeArrowheads="1" noChangeShapeType="1" noTextEdit="1"/>
              </p:cNvSpPr>
              <p:nvPr/>
            </p:nvSpPr>
            <p:spPr>
              <a:xfrm>
                <a:off x="4509393" y="2504006"/>
                <a:ext cx="932178" cy="354777"/>
              </a:xfrm>
              <a:prstGeom prst="rect">
                <a:avLst/>
              </a:prstGeom>
              <a:blipFill>
                <a:blip r:embed="rId3"/>
                <a:stretch>
                  <a:fillRect l="-654"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453342" y="2501506"/>
                <a:ext cx="946606" cy="357277"/>
              </a:xfrm>
              <a:prstGeom prst="rect">
                <a:avLst/>
              </a:prstGeom>
            </p:spPr>
            <p:txBody>
              <a:bodyPr wrap="none">
                <a:spAutoFit/>
              </a:bodyPr>
              <a:lstStyle/>
              <a:p>
                <a:r>
                  <a:rPr lang="en-GB" sz="1200" noProof="0" dirty="0"/>
                  <a:t>b)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5</m:t>
                        </m:r>
                      </m:num>
                      <m:den>
                        <m:r>
                          <a:rPr lang="en-GB" sz="1200" i="1" noProof="0">
                            <a:latin typeface="Cambria Math" panose="02040503050406030204" pitchFamily="18" charset="0"/>
                          </a:rPr>
                          <m:t>14</m:t>
                        </m:r>
                      </m:den>
                    </m:f>
                    <m:r>
                      <a:rPr lang="en-GB" sz="1200" i="1" noProof="0">
                        <a:latin typeface="Cambria Math" panose="02040503050406030204" pitchFamily="18" charset="0"/>
                      </a:rPr>
                      <m:t>×</m:t>
                    </m:r>
                    <m:f>
                      <m:fPr>
                        <m:ctrlPr>
                          <a:rPr lang="en-GB" sz="1200" i="1" noProof="0">
                            <a:latin typeface="Cambria Math" panose="02040503050406030204" pitchFamily="18" charset="0"/>
                          </a:rPr>
                        </m:ctrlPr>
                      </m:fPr>
                      <m:num>
                        <m:r>
                          <a:rPr lang="en-GB" sz="1200" i="1" noProof="0">
                            <a:latin typeface="Cambria Math" panose="02040503050406030204" pitchFamily="18" charset="0"/>
                          </a:rPr>
                          <m:t>21</m:t>
                        </m:r>
                      </m:num>
                      <m:den>
                        <m:r>
                          <a:rPr lang="en-GB" sz="1200" i="1" noProof="0">
                            <a:latin typeface="Cambria Math" panose="02040503050406030204" pitchFamily="18" charset="0"/>
                          </a:rPr>
                          <m:t>15</m:t>
                        </m:r>
                      </m:den>
                    </m:f>
                    <m:r>
                      <a:rPr lang="en-GB" sz="1200" i="1" noProof="0">
                        <a:latin typeface="Cambria Math" panose="02040503050406030204" pitchFamily="18" charset="0"/>
                      </a:rPr>
                      <m:t>=</m:t>
                    </m:r>
                  </m:oMath>
                </a14:m>
                <a:endParaRPr lang="en-GB" sz="1200" noProof="0" dirty="0"/>
              </a:p>
            </p:txBody>
          </p:sp>
        </mc:Choice>
        <mc:Fallback xmlns="">
          <p:sp>
            <p:nvSpPr>
              <p:cNvPr id="5" name="Rectangle 4"/>
              <p:cNvSpPr>
                <a:spLocks noRot="1" noChangeAspect="1" noMove="1" noResize="1" noEditPoints="1" noAdjustHandles="1" noChangeArrowheads="1" noChangeShapeType="1" noTextEdit="1"/>
              </p:cNvSpPr>
              <p:nvPr/>
            </p:nvSpPr>
            <p:spPr>
              <a:xfrm>
                <a:off x="2453342" y="2501506"/>
                <a:ext cx="946606" cy="357277"/>
              </a:xfrm>
              <a:prstGeom prst="rect">
                <a:avLst/>
              </a:prstGeom>
              <a:blipFill>
                <a:blip r:embed="rId4"/>
                <a:stretch>
                  <a:fillRect b="-1695"/>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B16CFEF2-A65A-6142-861C-58ACADF7EEFB}"/>
              </a:ext>
            </a:extLst>
          </p:cNvPr>
          <p:cNvSpPr/>
          <p:nvPr/>
        </p:nvSpPr>
        <p:spPr>
          <a:xfrm>
            <a:off x="155211" y="2873166"/>
            <a:ext cx="2051643" cy="15243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 name="Rectangle 6">
            <a:extLst>
              <a:ext uri="{FF2B5EF4-FFF2-40B4-BE49-F238E27FC236}">
                <a16:creationId xmlns:a16="http://schemas.microsoft.com/office/drawing/2014/main" id="{B16CFEF2-A65A-6142-861C-58ACADF7EEFB}"/>
              </a:ext>
            </a:extLst>
          </p:cNvPr>
          <p:cNvSpPr/>
          <p:nvPr/>
        </p:nvSpPr>
        <p:spPr>
          <a:xfrm>
            <a:off x="2333045" y="2873166"/>
            <a:ext cx="2051643" cy="15243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 name="Rectangle 7">
            <a:extLst>
              <a:ext uri="{FF2B5EF4-FFF2-40B4-BE49-F238E27FC236}">
                <a16:creationId xmlns:a16="http://schemas.microsoft.com/office/drawing/2014/main" id="{B16CFEF2-A65A-6142-861C-58ACADF7EEFB}"/>
              </a:ext>
            </a:extLst>
          </p:cNvPr>
          <p:cNvSpPr/>
          <p:nvPr/>
        </p:nvSpPr>
        <p:spPr>
          <a:xfrm>
            <a:off x="4474887" y="2873166"/>
            <a:ext cx="2051643" cy="15243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 name="Slide Number Placeholder 8"/>
          <p:cNvSpPr>
            <a:spLocks noGrp="1"/>
          </p:cNvSpPr>
          <p:nvPr>
            <p:ph type="sldNum" sz="quarter" idx="12"/>
          </p:nvPr>
        </p:nvSpPr>
        <p:spPr>
          <a:xfrm>
            <a:off x="5353086" y="9570305"/>
            <a:ext cx="1543050" cy="527403"/>
          </a:xfrm>
        </p:spPr>
        <p:txBody>
          <a:bodyPr/>
          <a:lstStyle/>
          <a:p>
            <a:fld id="{9BD3B4A0-BFF9-422C-B253-48BA94BE2F5B}" type="slidenum">
              <a:rPr lang="en-GB" noProof="0" smtClean="0"/>
              <a:t>11</a:t>
            </a:fld>
            <a:endParaRPr lang="en-GB" noProof="0" dirty="0"/>
          </a:p>
        </p:txBody>
      </p:sp>
      <mc:AlternateContent xmlns:mc="http://schemas.openxmlformats.org/markup-compatibility/2006" xmlns:a14="http://schemas.microsoft.com/office/drawing/2010/main">
        <mc:Choice Requires="a14">
          <p:graphicFrame>
            <p:nvGraphicFramePr>
              <p:cNvPr id="59" name="Table 58"/>
              <p:cNvGraphicFramePr>
                <a:graphicFrameLocks noGrp="1"/>
              </p:cNvGraphicFramePr>
              <p:nvPr>
                <p:extLst>
                  <p:ext uri="{D42A27DB-BD31-4B8C-83A1-F6EECF244321}">
                    <p14:modId xmlns:p14="http://schemas.microsoft.com/office/powerpoint/2010/main" val="851739092"/>
                  </p:ext>
                </p:extLst>
              </p:nvPr>
            </p:nvGraphicFramePr>
            <p:xfrm>
              <a:off x="157937" y="4821039"/>
              <a:ext cx="6484022" cy="2382262"/>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30744">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latin typeface="+mn-lt"/>
                            </a:rPr>
                            <a:t>Simplify</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2</m:t>
                                  </m:r>
                                  <m:r>
                                    <a:rPr lang="en-GB" sz="1200" b="0" i="1" noProof="0">
                                      <a:solidFill>
                                        <a:schemeClr val="tx1"/>
                                      </a:solidFill>
                                      <a:latin typeface="Cambria Math" panose="02040503050406030204" pitchFamily="18" charset="0"/>
                                    </a:rPr>
                                    <m:t>𝑏</m:t>
                                  </m:r>
                                </m:num>
                                <m:den>
                                  <m:r>
                                    <a:rPr lang="en-GB" sz="1200" b="0" i="1" noProof="0">
                                      <a:solidFill>
                                        <a:schemeClr val="tx1"/>
                                      </a:solidFill>
                                      <a:latin typeface="Cambria Math" panose="02040503050406030204" pitchFamily="18" charset="0"/>
                                    </a:rPr>
                                    <m:t>3</m:t>
                                  </m:r>
                                </m:den>
                              </m:f>
                              <m:r>
                                <a:rPr lang="en-GB" sz="1200" b="0" i="1" noProof="0">
                                  <a:solidFill>
                                    <a:schemeClr val="tx1"/>
                                  </a:solidFill>
                                  <a:latin typeface="Cambria Math" panose="02040503050406030204" pitchFamily="18" charset="0"/>
                                  <a:ea typeface="Cambria Math" panose="02040503050406030204" pitchFamily="18" charset="0"/>
                                </a:rPr>
                                <m:t>×</m:t>
                              </m:r>
                              <m:f>
                                <m:fPr>
                                  <m:ctrlPr>
                                    <a:rPr lang="en-GB" sz="1200" b="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4</m:t>
                                  </m:r>
                                </m:num>
                                <m:den>
                                  <m:r>
                                    <a:rPr lang="en-GB" sz="1200" b="0" i="1" noProof="0" smtClean="0">
                                      <a:solidFill>
                                        <a:schemeClr val="tx1"/>
                                      </a:solidFill>
                                      <a:latin typeface="Cambria Math" panose="02040503050406030204" pitchFamily="18" charset="0"/>
                                    </a:rPr>
                                    <m:t>𝑏</m:t>
                                  </m:r>
                                </m:den>
                              </m:f>
                            </m:oMath>
                          </a14:m>
                          <a:r>
                            <a:rPr lang="en-GB" sz="1200" b="0" noProof="0" dirty="0">
                              <a:solidFill>
                                <a:schemeClr val="tx1"/>
                              </a:solidFill>
                              <a:latin typeface="+mn-l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Simplify</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sSup>
                                    <m:sSupPr>
                                      <m:ctrlPr>
                                        <a:rPr lang="en-GB" sz="1200" b="0" i="1" noProof="0" smtClean="0">
                                          <a:solidFill>
                                            <a:schemeClr val="tx1"/>
                                          </a:solidFill>
                                          <a:latin typeface="Cambria Math" panose="02040503050406030204" pitchFamily="18" charset="0"/>
                                        </a:rPr>
                                      </m:ctrlPr>
                                    </m:sSupPr>
                                    <m:e>
                                      <m:r>
                                        <a:rPr lang="en-GB" sz="1200" b="0" i="1" noProof="0">
                                          <a:solidFill>
                                            <a:schemeClr val="tx1"/>
                                          </a:solidFill>
                                          <a:latin typeface="Cambria Math" panose="02040503050406030204" pitchFamily="18" charset="0"/>
                                        </a:rPr>
                                        <m:t>𝑏</m:t>
                                      </m:r>
                                    </m:e>
                                    <m:sup>
                                      <m:r>
                                        <a:rPr lang="en-GB" sz="1200" b="0" i="1" noProof="0" smtClean="0">
                                          <a:solidFill>
                                            <a:schemeClr val="tx1"/>
                                          </a:solidFill>
                                          <a:latin typeface="Cambria Math" panose="02040503050406030204" pitchFamily="18" charset="0"/>
                                        </a:rPr>
                                        <m:t>2</m:t>
                                      </m:r>
                                    </m:sup>
                                  </m:sSup>
                                </m:num>
                                <m:den>
                                  <m:r>
                                    <a:rPr lang="en-GB" sz="1200" b="0" i="1" noProof="0" smtClean="0">
                                      <a:solidFill>
                                        <a:schemeClr val="tx1"/>
                                      </a:solidFill>
                                      <a:latin typeface="Cambria Math" panose="02040503050406030204" pitchFamily="18" charset="0"/>
                                    </a:rPr>
                                    <m:t>2</m:t>
                                  </m:r>
                                </m:den>
                              </m:f>
                              <m:r>
                                <a:rPr lang="en-GB" sz="1200" b="0" i="1" noProof="0">
                                  <a:solidFill>
                                    <a:schemeClr val="tx1"/>
                                  </a:solidFill>
                                  <a:latin typeface="Cambria Math" panose="02040503050406030204" pitchFamily="18" charset="0"/>
                                  <a:ea typeface="Cambria Math" panose="02040503050406030204" pitchFamily="18" charset="0"/>
                                </a:rPr>
                                <m:t>×</m:t>
                              </m:r>
                              <m:f>
                                <m:fPr>
                                  <m:ctrlPr>
                                    <a:rPr lang="en-GB" sz="1200" b="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8</m:t>
                                  </m:r>
                                </m:num>
                                <m:den>
                                  <m:r>
                                    <a:rPr lang="en-GB" sz="1200" b="0" i="1" noProof="0" smtClean="0">
                                      <a:solidFill>
                                        <a:schemeClr val="tx1"/>
                                      </a:solidFill>
                                      <a:latin typeface="Cambria Math" panose="02040503050406030204" pitchFamily="18" charset="0"/>
                                    </a:rPr>
                                    <m:t>𝑏</m:t>
                                  </m:r>
                                </m:den>
                              </m:f>
                            </m:oMath>
                          </a14:m>
                          <a:r>
                            <a:rPr lang="en-GB" sz="1200" b="0" noProof="0" dirty="0">
                              <a:solidFill>
                                <a:schemeClr val="tx1"/>
                              </a:solidFill>
                              <a:latin typeface="+mn-l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Simplify</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2</m:t>
                                  </m:r>
                                  <m:sSup>
                                    <m:sSupPr>
                                      <m:ctrlPr>
                                        <a:rPr lang="en-GB" sz="1200" b="0" i="1" noProof="0" smtClean="0">
                                          <a:solidFill>
                                            <a:schemeClr val="tx1"/>
                                          </a:solidFill>
                                          <a:latin typeface="Cambria Math" panose="02040503050406030204" pitchFamily="18" charset="0"/>
                                        </a:rPr>
                                      </m:ctrlPr>
                                    </m:sSupPr>
                                    <m:e>
                                      <m:r>
                                        <a:rPr lang="en-GB" sz="1200" b="0" i="1" noProof="0">
                                          <a:solidFill>
                                            <a:schemeClr val="tx1"/>
                                          </a:solidFill>
                                          <a:latin typeface="Cambria Math" panose="02040503050406030204" pitchFamily="18" charset="0"/>
                                        </a:rPr>
                                        <m:t>𝑏</m:t>
                                      </m:r>
                                    </m:e>
                                    <m:sup>
                                      <m:r>
                                        <a:rPr lang="en-GB" sz="1200" b="0" i="1" noProof="0" smtClean="0">
                                          <a:solidFill>
                                            <a:schemeClr val="tx1"/>
                                          </a:solidFill>
                                          <a:latin typeface="Cambria Math" panose="02040503050406030204" pitchFamily="18" charset="0"/>
                                        </a:rPr>
                                        <m:t>3</m:t>
                                      </m:r>
                                    </m:sup>
                                  </m:sSup>
                                </m:num>
                                <m:den>
                                  <m:r>
                                    <a:rPr lang="en-GB" sz="1200" b="0" i="1" noProof="0">
                                      <a:solidFill>
                                        <a:schemeClr val="tx1"/>
                                      </a:solidFill>
                                      <a:latin typeface="Cambria Math" panose="02040503050406030204" pitchFamily="18" charset="0"/>
                                    </a:rPr>
                                    <m:t>3</m:t>
                                  </m:r>
                                </m:den>
                              </m:f>
                              <m:r>
                                <a:rPr lang="en-GB" sz="1200" b="0" i="1" noProof="0">
                                  <a:solidFill>
                                    <a:schemeClr val="tx1"/>
                                  </a:solidFill>
                                  <a:latin typeface="Cambria Math" panose="02040503050406030204" pitchFamily="18" charset="0"/>
                                  <a:ea typeface="Cambria Math" panose="02040503050406030204" pitchFamily="18" charset="0"/>
                                </a:rPr>
                                <m:t>×</m:t>
                              </m:r>
                              <m:f>
                                <m:fPr>
                                  <m:ctrlPr>
                                    <a:rPr lang="en-GB" sz="1200" b="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4</m:t>
                                  </m:r>
                                </m:num>
                                <m:den>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𝑏</m:t>
                                  </m:r>
                                </m:den>
                              </m:f>
                            </m:oMath>
                          </a14:m>
                          <a:r>
                            <a:rPr lang="en-GB" sz="1200" b="0" noProof="0" dirty="0">
                              <a:solidFill>
                                <a:schemeClr val="tx1"/>
                              </a:solidFill>
                              <a:latin typeface="+mn-l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75759">
                    <a:tc>
                      <a:txBody>
                        <a:bodyPr/>
                        <a:lstStyle/>
                        <a:p>
                          <a:pPr marL="228600" indent="-228600">
                            <a:buAutoNum type="arabicParenR"/>
                          </a:pPr>
                          <a:r>
                            <a:rPr lang="en-GB" sz="1100" noProof="0" dirty="0">
                              <a:solidFill>
                                <a:schemeClr val="tx1"/>
                              </a:solidFill>
                            </a:rPr>
                            <a:t>Cross cancel.</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757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Simplify</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585410849"/>
                      </a:ext>
                    </a:extLst>
                  </a:tr>
                </a:tbl>
              </a:graphicData>
            </a:graphic>
          </p:graphicFrame>
        </mc:Choice>
        <mc:Fallback xmlns="">
          <p:graphicFrame>
            <p:nvGraphicFramePr>
              <p:cNvPr id="59" name="Table 58"/>
              <p:cNvGraphicFramePr>
                <a:graphicFrameLocks noGrp="1"/>
              </p:cNvGraphicFramePr>
              <p:nvPr>
                <p:extLst>
                  <p:ext uri="{D42A27DB-BD31-4B8C-83A1-F6EECF244321}">
                    <p14:modId xmlns:p14="http://schemas.microsoft.com/office/powerpoint/2010/main" val="851739092"/>
                  </p:ext>
                </p:extLst>
              </p:nvPr>
            </p:nvGraphicFramePr>
            <p:xfrm>
              <a:off x="157937" y="4821039"/>
              <a:ext cx="6484022" cy="2382262"/>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30744">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9364" t="-1408" r="-218021" b="-4549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42722" t="-1408" r="-95253" b="-4549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56522" t="-1408" r="-669" b="-454930"/>
                          </a:stretch>
                        </a:blipFill>
                      </a:tcPr>
                    </a:tc>
                    <a:extLst>
                      <a:ext uri="{0D108BD9-81ED-4DB2-BD59-A6C34878D82A}">
                        <a16:rowId xmlns:a16="http://schemas.microsoft.com/office/drawing/2014/main" val="2357201933"/>
                      </a:ext>
                    </a:extLst>
                  </a:tr>
                  <a:tr h="975759">
                    <a:tc>
                      <a:txBody>
                        <a:bodyPr/>
                        <a:lstStyle/>
                        <a:p>
                          <a:pPr marL="228600" indent="-228600">
                            <a:buAutoNum type="arabicParenR"/>
                          </a:pPr>
                          <a:r>
                            <a:rPr lang="en-GB" sz="1100" noProof="0">
                              <a:solidFill>
                                <a:schemeClr val="tx1"/>
                              </a:solidFill>
                            </a:rPr>
                            <a:t>Cross cancel.</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757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a:solidFill>
                                <a:schemeClr val="tx1"/>
                              </a:solidFill>
                            </a:rPr>
                            <a:t>2)    Simplify</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585410849"/>
                      </a:ext>
                    </a:extLst>
                  </a:tr>
                </a:tbl>
              </a:graphicData>
            </a:graphic>
          </p:graphicFrame>
        </mc:Fallback>
      </mc:AlternateContent>
      <p:sp>
        <p:nvSpPr>
          <p:cNvPr id="62" name="TextBox 61">
            <a:extLst>
              <a:ext uri="{FF2B5EF4-FFF2-40B4-BE49-F238E27FC236}">
                <a16:creationId xmlns:a16="http://schemas.microsoft.com/office/drawing/2014/main" id="{72FAE9BB-D81F-4207-9FF8-E6BE971A99D9}"/>
              </a:ext>
            </a:extLst>
          </p:cNvPr>
          <p:cNvSpPr txBox="1"/>
          <p:nvPr/>
        </p:nvSpPr>
        <p:spPr>
          <a:xfrm>
            <a:off x="4949175" y="4511926"/>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15 - You do…</a:t>
            </a:r>
          </a:p>
        </p:txBody>
      </p:sp>
      <p:sp>
        <p:nvSpPr>
          <p:cNvPr id="63" name="TextBox 62">
            <a:extLst>
              <a:ext uri="{FF2B5EF4-FFF2-40B4-BE49-F238E27FC236}">
                <a16:creationId xmlns:a16="http://schemas.microsoft.com/office/drawing/2014/main" id="{337F58E6-37DE-4890-BDE3-0101DB4D4F11}"/>
              </a:ext>
            </a:extLst>
          </p:cNvPr>
          <p:cNvSpPr txBox="1"/>
          <p:nvPr/>
        </p:nvSpPr>
        <p:spPr>
          <a:xfrm>
            <a:off x="3156108" y="4511927"/>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14 - We do…</a:t>
            </a:r>
          </a:p>
        </p:txBody>
      </p:sp>
      <p:sp>
        <p:nvSpPr>
          <p:cNvPr id="64" name="TextBox 63">
            <a:extLst>
              <a:ext uri="{FF2B5EF4-FFF2-40B4-BE49-F238E27FC236}">
                <a16:creationId xmlns:a16="http://schemas.microsoft.com/office/drawing/2014/main" id="{20EB31B5-3203-4E48-8A19-892EA568053E}"/>
              </a:ext>
            </a:extLst>
          </p:cNvPr>
          <p:cNvSpPr txBox="1"/>
          <p:nvPr/>
        </p:nvSpPr>
        <p:spPr>
          <a:xfrm>
            <a:off x="1313547" y="4511928"/>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13 - I do…</a:t>
            </a:r>
          </a:p>
        </p:txBody>
      </p:sp>
      <p:sp>
        <p:nvSpPr>
          <p:cNvPr id="76" name="TextBox 75"/>
          <p:cNvSpPr txBox="1"/>
          <p:nvPr/>
        </p:nvSpPr>
        <p:spPr>
          <a:xfrm>
            <a:off x="1780529" y="7245280"/>
            <a:ext cx="2292231" cy="276999"/>
          </a:xfrm>
          <a:prstGeom prst="rect">
            <a:avLst/>
          </a:prstGeom>
          <a:noFill/>
        </p:spPr>
        <p:txBody>
          <a:bodyPr wrap="none" rtlCol="0">
            <a:spAutoFit/>
          </a:bodyPr>
          <a:lstStyle/>
          <a:p>
            <a:pPr algn="ctr"/>
            <a:r>
              <a:rPr lang="en-GB" sz="1200" noProof="0" dirty="0"/>
              <a:t>3. Simplify the algebraic fractions.</a:t>
            </a:r>
          </a:p>
        </p:txBody>
      </p:sp>
      <mc:AlternateContent xmlns:mc="http://schemas.openxmlformats.org/markup-compatibility/2006" xmlns:a14="http://schemas.microsoft.com/office/drawing/2010/main">
        <mc:Choice Requires="a14">
          <p:sp>
            <p:nvSpPr>
              <p:cNvPr id="13" name="TextBox 12"/>
              <p:cNvSpPr txBox="1"/>
              <p:nvPr/>
            </p:nvSpPr>
            <p:spPr>
              <a:xfrm>
                <a:off x="296824" y="7609046"/>
                <a:ext cx="695062" cy="542969"/>
              </a:xfrm>
              <a:prstGeom prst="rect">
                <a:avLst/>
              </a:prstGeom>
              <a:noFill/>
            </p:spPr>
            <p:txBody>
              <a:bodyPr wrap="none" rtlCol="0">
                <a:spAutoFit/>
              </a:bodyPr>
              <a:lstStyle/>
              <a:p>
                <a:r>
                  <a:rPr lang="en-GB" sz="1200" noProof="0" dirty="0"/>
                  <a:t>a)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𝑏</m:t>
                        </m:r>
                      </m:num>
                      <m:den>
                        <m:r>
                          <a:rPr lang="en-GB" sz="1200" b="0" i="1" noProof="0" smtClean="0">
                            <a:latin typeface="Cambria Math" panose="02040503050406030204" pitchFamily="18" charset="0"/>
                          </a:rPr>
                          <m:t>4</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num>
                      <m:den>
                        <m:r>
                          <a:rPr lang="en-GB" sz="1200" i="1" noProof="0" smtClean="0">
                            <a:latin typeface="Cambria Math" panose="02040503050406030204" pitchFamily="18" charset="0"/>
                          </a:rPr>
                          <m:t>𝑏</m:t>
                        </m:r>
                      </m:den>
                    </m:f>
                  </m:oMath>
                </a14:m>
                <a:r>
                  <a:rPr lang="en-GB" sz="1200" noProof="0" dirty="0"/>
                  <a:t> </a:t>
                </a:r>
              </a:p>
              <a:p>
                <a:r>
                  <a:rPr lang="en-GB" sz="1200" noProof="0" dirty="0"/>
                  <a:t> </a:t>
                </a:r>
              </a:p>
            </p:txBody>
          </p:sp>
        </mc:Choice>
        <mc:Fallback xmlns="">
          <p:sp>
            <p:nvSpPr>
              <p:cNvPr id="13" name="TextBox 12"/>
              <p:cNvSpPr txBox="1">
                <a:spLocks noRot="1" noChangeAspect="1" noMove="1" noResize="1" noEditPoints="1" noAdjustHandles="1" noChangeArrowheads="1" noChangeShapeType="1" noTextEdit="1"/>
              </p:cNvSpPr>
              <p:nvPr/>
            </p:nvSpPr>
            <p:spPr>
              <a:xfrm>
                <a:off x="296824" y="7609046"/>
                <a:ext cx="695062" cy="542969"/>
              </a:xfrm>
              <a:prstGeom prst="rect">
                <a:avLst/>
              </a:prstGeom>
              <a:blipFill>
                <a:blip r:embed="rId6"/>
                <a:stretch>
                  <a:fillRect l="-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1568477" y="7609647"/>
                <a:ext cx="760657" cy="564963"/>
              </a:xfrm>
              <a:prstGeom prst="rect">
                <a:avLst/>
              </a:prstGeom>
              <a:noFill/>
            </p:spPr>
            <p:txBody>
              <a:bodyPr wrap="none" rtlCol="0">
                <a:spAutoFit/>
              </a:bodyPr>
              <a:lstStyle/>
              <a:p>
                <a:r>
                  <a:rPr lang="en-GB" sz="1200" noProof="0" dirty="0"/>
                  <a:t>b) </a:t>
                </a:r>
                <a14:m>
                  <m:oMath xmlns:m="http://schemas.openxmlformats.org/officeDocument/2006/math">
                    <m:f>
                      <m:fPr>
                        <m:ctrlPr>
                          <a:rPr lang="en-GB" sz="1200" i="1" noProof="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i="1" noProof="0">
                                <a:latin typeface="Cambria Math" panose="02040503050406030204" pitchFamily="18" charset="0"/>
                              </a:rPr>
                              <m:t>𝑏</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4</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num>
                      <m:den>
                        <m:r>
                          <a:rPr lang="en-GB" sz="1200" i="1" noProof="0" smtClean="0">
                            <a:latin typeface="Cambria Math" panose="02040503050406030204" pitchFamily="18" charset="0"/>
                          </a:rPr>
                          <m:t>𝑏</m:t>
                        </m:r>
                      </m:den>
                    </m:f>
                  </m:oMath>
                </a14:m>
                <a:r>
                  <a:rPr lang="en-GB" sz="1200" noProof="0" dirty="0"/>
                  <a:t> </a:t>
                </a:r>
              </a:p>
              <a:p>
                <a:r>
                  <a:rPr lang="en-GB" sz="1200" noProof="0" dirty="0"/>
                  <a:t> </a:t>
                </a:r>
              </a:p>
            </p:txBody>
          </p:sp>
        </mc:Choice>
        <mc:Fallback xmlns="">
          <p:sp>
            <p:nvSpPr>
              <p:cNvPr id="77" name="TextBox 76"/>
              <p:cNvSpPr txBox="1">
                <a:spLocks noRot="1" noChangeAspect="1" noMove="1" noResize="1" noEditPoints="1" noAdjustHandles="1" noChangeArrowheads="1" noChangeShapeType="1" noTextEdit="1"/>
              </p:cNvSpPr>
              <p:nvPr/>
            </p:nvSpPr>
            <p:spPr>
              <a:xfrm>
                <a:off x="1568477" y="7609647"/>
                <a:ext cx="760657" cy="56496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2905726" y="7609046"/>
                <a:ext cx="871136" cy="564963"/>
              </a:xfrm>
              <a:prstGeom prst="rect">
                <a:avLst/>
              </a:prstGeom>
              <a:noFill/>
            </p:spPr>
            <p:txBody>
              <a:bodyPr wrap="none" rtlCol="0">
                <a:spAutoFit/>
              </a:bodyPr>
              <a:lstStyle/>
              <a:p>
                <a:r>
                  <a:rPr lang="en-GB" sz="1200" noProof="0" dirty="0"/>
                  <a:t>c) </a:t>
                </a:r>
                <a14:m>
                  <m:oMath xmlns:m="http://schemas.openxmlformats.org/officeDocument/2006/math">
                    <m:f>
                      <m:fPr>
                        <m:ctrlPr>
                          <a:rPr lang="en-GB" sz="1200" i="1" noProof="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i="1" noProof="0">
                                <a:latin typeface="Cambria Math" panose="02040503050406030204" pitchFamily="18" charset="0"/>
                              </a:rPr>
                              <m:t>𝑏</m:t>
                            </m:r>
                          </m:e>
                          <m:sup>
                            <m:r>
                              <a:rPr lang="en-GB" sz="1200" b="0" i="1" noProof="0" smtClean="0">
                                <a:latin typeface="Cambria Math" panose="02040503050406030204" pitchFamily="18" charset="0"/>
                              </a:rPr>
                              <m:t>3</m:t>
                            </m:r>
                          </m:sup>
                        </m:sSup>
                      </m:num>
                      <m:den>
                        <m:r>
                          <a:rPr lang="en-GB" sz="1200" b="0" i="1" noProof="0" smtClean="0">
                            <a:latin typeface="Cambria Math" panose="02040503050406030204" pitchFamily="18" charset="0"/>
                          </a:rPr>
                          <m:t>4</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num>
                      <m:den>
                        <m:r>
                          <a:rPr lang="en-GB" sz="1200" b="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𝑏</m:t>
                            </m:r>
                          </m:e>
                          <m:sup>
                            <m:r>
                              <a:rPr lang="en-GB" sz="1200" b="0" i="1" noProof="0" smtClean="0">
                                <a:latin typeface="Cambria Math" panose="02040503050406030204" pitchFamily="18" charset="0"/>
                              </a:rPr>
                              <m:t>2</m:t>
                            </m:r>
                          </m:sup>
                        </m:sSup>
                      </m:den>
                    </m:f>
                  </m:oMath>
                </a14:m>
                <a:r>
                  <a:rPr lang="en-GB" sz="1200" noProof="0" dirty="0"/>
                  <a:t> </a:t>
                </a:r>
              </a:p>
              <a:p>
                <a:r>
                  <a:rPr lang="en-GB" sz="1200" noProof="0" dirty="0"/>
                  <a:t> </a:t>
                </a:r>
              </a:p>
            </p:txBody>
          </p:sp>
        </mc:Choice>
        <mc:Fallback xmlns="">
          <p:sp>
            <p:nvSpPr>
              <p:cNvPr id="78" name="TextBox 77"/>
              <p:cNvSpPr txBox="1">
                <a:spLocks noRot="1" noChangeAspect="1" noMove="1" noResize="1" noEditPoints="1" noAdjustHandles="1" noChangeArrowheads="1" noChangeShapeType="1" noTextEdit="1"/>
              </p:cNvSpPr>
              <p:nvPr/>
            </p:nvSpPr>
            <p:spPr>
              <a:xfrm>
                <a:off x="2905726" y="7609046"/>
                <a:ext cx="871136" cy="564963"/>
              </a:xfrm>
              <a:prstGeom prst="rect">
                <a:avLst/>
              </a:prstGeom>
              <a:blipFill>
                <a:blip r:embed="rId8"/>
                <a:stretch>
                  <a:fillRect l="-6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p:cNvSpPr txBox="1"/>
              <p:nvPr/>
            </p:nvSpPr>
            <p:spPr>
              <a:xfrm>
                <a:off x="4244602" y="7633640"/>
                <a:ext cx="885563" cy="564963"/>
              </a:xfrm>
              <a:prstGeom prst="rect">
                <a:avLst/>
              </a:prstGeom>
              <a:noFill/>
            </p:spPr>
            <p:txBody>
              <a:bodyPr wrap="none" rtlCol="0">
                <a:spAutoFit/>
              </a:bodyPr>
              <a:lstStyle/>
              <a:p>
                <a:r>
                  <a:rPr lang="en-GB" sz="1200" noProof="0" dirty="0"/>
                  <a:t>d) </a:t>
                </a:r>
                <a14:m>
                  <m:oMath xmlns:m="http://schemas.openxmlformats.org/officeDocument/2006/math">
                    <m:f>
                      <m:fPr>
                        <m:ctrlPr>
                          <a:rPr lang="en-GB" sz="1200" i="1" noProof="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i="1" noProof="0">
                                <a:latin typeface="Cambria Math" panose="02040503050406030204" pitchFamily="18" charset="0"/>
                              </a:rPr>
                              <m:t>𝑏</m:t>
                            </m:r>
                          </m:e>
                          <m:sup>
                            <m:r>
                              <a:rPr lang="en-GB" sz="1200" b="0" i="1" noProof="0" smtClean="0">
                                <a:latin typeface="Cambria Math" panose="02040503050406030204" pitchFamily="18" charset="0"/>
                              </a:rPr>
                              <m:t>3</m:t>
                            </m:r>
                          </m:sup>
                        </m:sSup>
                      </m:num>
                      <m:den>
                        <m:r>
                          <a:rPr lang="en-GB" sz="1200" b="0" i="1" noProof="0" smtClean="0">
                            <a:latin typeface="Cambria Math" panose="02040503050406030204" pitchFamily="18" charset="0"/>
                          </a:rPr>
                          <m:t>4</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b="0" i="1" noProof="0" smtClean="0">
                            <a:latin typeface="Cambria Math" panose="02040503050406030204" pitchFamily="18" charset="0"/>
                          </a:rPr>
                          <m:t>8</m:t>
                        </m:r>
                      </m:num>
                      <m:den>
                        <m:r>
                          <a:rPr lang="en-GB" sz="1200" b="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𝑏</m:t>
                            </m:r>
                          </m:e>
                          <m:sup>
                            <m:r>
                              <a:rPr lang="en-GB" sz="1200" b="0" i="1" noProof="0" smtClean="0">
                                <a:latin typeface="Cambria Math" panose="02040503050406030204" pitchFamily="18" charset="0"/>
                              </a:rPr>
                              <m:t>2</m:t>
                            </m:r>
                          </m:sup>
                        </m:sSup>
                      </m:den>
                    </m:f>
                  </m:oMath>
                </a14:m>
                <a:r>
                  <a:rPr lang="en-GB" sz="1200" noProof="0" dirty="0"/>
                  <a:t> </a:t>
                </a:r>
              </a:p>
              <a:p>
                <a:r>
                  <a:rPr lang="en-GB" sz="1200" noProof="0" dirty="0"/>
                  <a:t> </a:t>
                </a:r>
              </a:p>
            </p:txBody>
          </p:sp>
        </mc:Choice>
        <mc:Fallback xmlns="">
          <p:sp>
            <p:nvSpPr>
              <p:cNvPr id="79" name="TextBox 78"/>
              <p:cNvSpPr txBox="1">
                <a:spLocks noRot="1" noChangeAspect="1" noMove="1" noResize="1" noEditPoints="1" noAdjustHandles="1" noChangeArrowheads="1" noChangeShapeType="1" noTextEdit="1"/>
              </p:cNvSpPr>
              <p:nvPr/>
            </p:nvSpPr>
            <p:spPr>
              <a:xfrm>
                <a:off x="4244602" y="7633640"/>
                <a:ext cx="885563" cy="56496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5534926" y="7644853"/>
                <a:ext cx="882357" cy="564963"/>
              </a:xfrm>
              <a:prstGeom prst="rect">
                <a:avLst/>
              </a:prstGeom>
              <a:noFill/>
            </p:spPr>
            <p:txBody>
              <a:bodyPr wrap="none" rtlCol="0">
                <a:spAutoFit/>
              </a:bodyPr>
              <a:lstStyle/>
              <a:p>
                <a:r>
                  <a:rPr lang="en-GB" sz="1200" noProof="0" dirty="0"/>
                  <a:t>e) </a:t>
                </a:r>
                <a14:m>
                  <m:oMath xmlns:m="http://schemas.openxmlformats.org/officeDocument/2006/math">
                    <m:f>
                      <m:fPr>
                        <m:ctrlPr>
                          <a:rPr lang="en-GB" sz="1200" i="1" noProof="0">
                            <a:latin typeface="Cambria Math" panose="02040503050406030204" pitchFamily="18" charset="0"/>
                          </a:rPr>
                        </m:ctrlPr>
                      </m:fPr>
                      <m:num>
                        <m:r>
                          <a:rPr lang="en-GB" sz="1200" b="0" i="1" noProof="0" smtClean="0">
                            <a:latin typeface="Cambria Math" panose="02040503050406030204" pitchFamily="18" charset="0"/>
                          </a:rPr>
                          <m:t>8</m:t>
                        </m:r>
                      </m:num>
                      <m:den>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𝑏</m:t>
                            </m:r>
                          </m:e>
                          <m:sup>
                            <m:r>
                              <a:rPr lang="en-GB" sz="1200" b="0" i="1" noProof="0" smtClean="0">
                                <a:latin typeface="Cambria Math" panose="02040503050406030204" pitchFamily="18" charset="0"/>
                              </a:rPr>
                              <m:t>3</m:t>
                            </m:r>
                          </m:sup>
                        </m:sSup>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b="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𝑏</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4</m:t>
                        </m:r>
                      </m:den>
                    </m:f>
                  </m:oMath>
                </a14:m>
                <a:r>
                  <a:rPr lang="en-GB" sz="1200" noProof="0" dirty="0"/>
                  <a:t> </a:t>
                </a:r>
              </a:p>
              <a:p>
                <a:r>
                  <a:rPr lang="en-GB" sz="1200" noProof="0" dirty="0"/>
                  <a:t> </a:t>
                </a:r>
              </a:p>
            </p:txBody>
          </p:sp>
        </mc:Choice>
        <mc:Fallback xmlns="">
          <p:sp>
            <p:nvSpPr>
              <p:cNvPr id="80" name="TextBox 79"/>
              <p:cNvSpPr txBox="1">
                <a:spLocks noRot="1" noChangeAspect="1" noMove="1" noResize="1" noEditPoints="1" noAdjustHandles="1" noChangeArrowheads="1" noChangeShapeType="1" noTextEdit="1"/>
              </p:cNvSpPr>
              <p:nvPr/>
            </p:nvSpPr>
            <p:spPr>
              <a:xfrm>
                <a:off x="5534926" y="7644853"/>
                <a:ext cx="882357" cy="564963"/>
              </a:xfrm>
              <a:prstGeom prst="rect">
                <a:avLst/>
              </a:prstGeom>
              <a:blipFill>
                <a:blip r:embed="rId10"/>
                <a:stretch>
                  <a:fillRect l="-690"/>
                </a:stretch>
              </a:blipFill>
            </p:spPr>
            <p:txBody>
              <a:bodyPr/>
              <a:lstStyle/>
              <a:p>
                <a:r>
                  <a:rPr lang="en-US">
                    <a:noFill/>
                  </a:rPr>
                  <a:t> </a:t>
                </a:r>
              </a:p>
            </p:txBody>
          </p:sp>
        </mc:Fallback>
      </mc:AlternateContent>
      <p:sp>
        <p:nvSpPr>
          <p:cNvPr id="81" name="Rectangle 80">
            <a:extLst>
              <a:ext uri="{FF2B5EF4-FFF2-40B4-BE49-F238E27FC236}">
                <a16:creationId xmlns:a16="http://schemas.microsoft.com/office/drawing/2014/main" id="{B16CFEF2-A65A-6142-861C-58ACADF7EEFB}"/>
              </a:ext>
            </a:extLst>
          </p:cNvPr>
          <p:cNvSpPr/>
          <p:nvPr/>
        </p:nvSpPr>
        <p:spPr>
          <a:xfrm>
            <a:off x="101493" y="8059578"/>
            <a:ext cx="1229095" cy="16603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2" name="Rectangle 81">
            <a:extLst>
              <a:ext uri="{FF2B5EF4-FFF2-40B4-BE49-F238E27FC236}">
                <a16:creationId xmlns:a16="http://schemas.microsoft.com/office/drawing/2014/main" id="{B16CFEF2-A65A-6142-861C-58ACADF7EEFB}"/>
              </a:ext>
            </a:extLst>
          </p:cNvPr>
          <p:cNvSpPr/>
          <p:nvPr/>
        </p:nvSpPr>
        <p:spPr>
          <a:xfrm>
            <a:off x="1444469" y="8054512"/>
            <a:ext cx="1229095" cy="16603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3" name="Rectangle 82">
            <a:extLst>
              <a:ext uri="{FF2B5EF4-FFF2-40B4-BE49-F238E27FC236}">
                <a16:creationId xmlns:a16="http://schemas.microsoft.com/office/drawing/2014/main" id="{B16CFEF2-A65A-6142-861C-58ACADF7EEFB}"/>
              </a:ext>
            </a:extLst>
          </p:cNvPr>
          <p:cNvSpPr/>
          <p:nvPr/>
        </p:nvSpPr>
        <p:spPr>
          <a:xfrm>
            <a:off x="2802151" y="8054511"/>
            <a:ext cx="1229095" cy="16603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4" name="Rectangle 83">
            <a:extLst>
              <a:ext uri="{FF2B5EF4-FFF2-40B4-BE49-F238E27FC236}">
                <a16:creationId xmlns:a16="http://schemas.microsoft.com/office/drawing/2014/main" id="{B16CFEF2-A65A-6142-861C-58ACADF7EEFB}"/>
              </a:ext>
            </a:extLst>
          </p:cNvPr>
          <p:cNvSpPr/>
          <p:nvPr/>
        </p:nvSpPr>
        <p:spPr>
          <a:xfrm>
            <a:off x="5521300" y="8054511"/>
            <a:ext cx="1229095" cy="16603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5" name="Rectangle 84">
            <a:extLst>
              <a:ext uri="{FF2B5EF4-FFF2-40B4-BE49-F238E27FC236}">
                <a16:creationId xmlns:a16="http://schemas.microsoft.com/office/drawing/2014/main" id="{B16CFEF2-A65A-6142-861C-58ACADF7EEFB}"/>
              </a:ext>
            </a:extLst>
          </p:cNvPr>
          <p:cNvSpPr/>
          <p:nvPr/>
        </p:nvSpPr>
        <p:spPr>
          <a:xfrm>
            <a:off x="4150522" y="8054511"/>
            <a:ext cx="1229095" cy="16603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0" name="TextBox 49">
            <a:extLst>
              <a:ext uri="{FF2B5EF4-FFF2-40B4-BE49-F238E27FC236}">
                <a16:creationId xmlns:a16="http://schemas.microsoft.com/office/drawing/2014/main" id="{C3C65E48-8C3D-6849-AD77-7AD8678AD8DA}"/>
              </a:ext>
            </a:extLst>
          </p:cNvPr>
          <p:cNvSpPr txBox="1"/>
          <p:nvPr/>
        </p:nvSpPr>
        <p:spPr>
          <a:xfrm>
            <a:off x="155211" y="7256822"/>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14" name="TextBox 13">
            <a:extLst>
              <a:ext uri="{FF2B5EF4-FFF2-40B4-BE49-F238E27FC236}">
                <a16:creationId xmlns:a16="http://schemas.microsoft.com/office/drawing/2014/main" id="{A098A075-6B7C-3536-25A7-36BB65EE413A}"/>
              </a:ext>
            </a:extLst>
          </p:cNvPr>
          <p:cNvSpPr txBox="1"/>
          <p:nvPr/>
        </p:nvSpPr>
        <p:spPr>
          <a:xfrm>
            <a:off x="-9512" y="-12700"/>
            <a:ext cx="4381519" cy="369332"/>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algn="r">
              <a:defRPr/>
            </a:pPr>
            <a:r>
              <a:rPr lang="en-GB" b="1" noProof="0" dirty="0"/>
              <a:t>Multiplying and Dividing Algebraic Fractions</a:t>
            </a:r>
            <a:endParaRPr kumimoji="0" lang="en-GB"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F90E1DC9-7E7B-A407-F469-380F415DE148}"/>
              </a:ext>
            </a:extLst>
          </p:cNvPr>
          <p:cNvSpPr txBox="1"/>
          <p:nvPr/>
        </p:nvSpPr>
        <p:spPr>
          <a:xfrm>
            <a:off x="37886" y="419855"/>
            <a:ext cx="6641959" cy="1569660"/>
          </a:xfrm>
          <a:prstGeom prst="rect">
            <a:avLst/>
          </a:prstGeom>
          <a:noFill/>
          <a:ln>
            <a:solidFill>
              <a:schemeClr val="tx1"/>
            </a:solidFill>
          </a:ln>
        </p:spPr>
        <p:txBody>
          <a:bodyPr wrap="square" rtlCol="0">
            <a:spAutoFit/>
          </a:bodyPr>
          <a:lstStyle/>
          <a:p>
            <a:r>
              <a:rPr lang="en-GB" sz="1200" noProof="0" dirty="0"/>
              <a:t>Multiplying and diving single term algebraic fractions works similarly to the numerical case:</a:t>
            </a:r>
          </a:p>
          <a:p>
            <a:endParaRPr lang="en-GB" sz="1200" noProof="0" dirty="0"/>
          </a:p>
          <a:p>
            <a:pPr marL="171450" lvl="0" indent="-171450">
              <a:buFont typeface="Arial" panose="020B0604020202020204" pitchFamily="34" charset="0"/>
              <a:buChar char="•"/>
            </a:pPr>
            <a:r>
              <a:rPr lang="en-GB" sz="1200" noProof="0" dirty="0"/>
              <a:t>For multiplication, the new numerator is the product of the numerators, the new denominator is the product of the denominators. Once the numerator and denominator are calculated, simplify if possible.</a:t>
            </a:r>
          </a:p>
          <a:p>
            <a:pPr lvl="0"/>
            <a:endParaRPr lang="en-GB" sz="1200" noProof="0" dirty="0"/>
          </a:p>
          <a:p>
            <a:pPr marL="171450" lvl="0" indent="-171450">
              <a:buFont typeface="Arial" panose="020B0604020202020204" pitchFamily="34" charset="0"/>
              <a:buChar char="•"/>
            </a:pPr>
            <a:r>
              <a:rPr lang="en-GB" sz="1200" noProof="0" dirty="0"/>
              <a:t>For division we need to rewrite the calculation so that we are multiplying by the reciprocal of the second fraction. </a:t>
            </a:r>
          </a:p>
        </p:txBody>
      </p:sp>
    </p:spTree>
    <p:extLst>
      <p:ext uri="{BB962C8B-B14F-4D97-AF65-F5344CB8AC3E}">
        <p14:creationId xmlns:p14="http://schemas.microsoft.com/office/powerpoint/2010/main" val="4032890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lide Number Placeholder 40"/>
          <p:cNvSpPr>
            <a:spLocks noGrp="1"/>
          </p:cNvSpPr>
          <p:nvPr>
            <p:ph type="sldNum" sz="quarter" idx="12"/>
          </p:nvPr>
        </p:nvSpPr>
        <p:spPr>
          <a:xfrm>
            <a:off x="5387983" y="9544918"/>
            <a:ext cx="1543050" cy="527403"/>
          </a:xfrm>
        </p:spPr>
        <p:txBody>
          <a:bodyPr/>
          <a:lstStyle/>
          <a:p>
            <a:fld id="{9BD3B4A0-BFF9-422C-B253-48BA94BE2F5B}" type="slidenum">
              <a:rPr lang="en-GB" noProof="0" smtClean="0"/>
              <a:t>12</a:t>
            </a:fld>
            <a:endParaRPr lang="en-GB" noProof="0" dirty="0"/>
          </a:p>
        </p:txBody>
      </p:sp>
      <mc:AlternateContent xmlns:mc="http://schemas.openxmlformats.org/markup-compatibility/2006" xmlns:a14="http://schemas.microsoft.com/office/drawing/2010/main">
        <mc:Choice Requires="a14">
          <p:graphicFrame>
            <p:nvGraphicFramePr>
              <p:cNvPr id="64" name="Table 63"/>
              <p:cNvGraphicFramePr>
                <a:graphicFrameLocks noGrp="1"/>
              </p:cNvGraphicFramePr>
              <p:nvPr>
                <p:extLst>
                  <p:ext uri="{D42A27DB-BD31-4B8C-83A1-F6EECF244321}">
                    <p14:modId xmlns:p14="http://schemas.microsoft.com/office/powerpoint/2010/main" val="2424439282"/>
                  </p:ext>
                </p:extLst>
              </p:nvPr>
            </p:nvGraphicFramePr>
            <p:xfrm>
              <a:off x="197694" y="309113"/>
              <a:ext cx="6484022" cy="2382810"/>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30744">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b="0" noProof="0" dirty="0">
                              <a:solidFill>
                                <a:schemeClr val="tx1"/>
                              </a:solidFill>
                            </a:rPr>
                            <a:t>Simplify</a:t>
                          </a:r>
                          <a14:m>
                            <m:oMath xmlns:m="http://schemas.openxmlformats.org/officeDocument/2006/math">
                              <m:r>
                                <a:rPr lang="en-GB" sz="1400" b="0" i="0" noProof="0" smtClean="0">
                                  <a:solidFill>
                                    <a:schemeClr val="tx1"/>
                                  </a:solidFill>
                                  <a:latin typeface="Cambria Math" panose="02040503050406030204" pitchFamily="18" charset="0"/>
                                </a:rPr>
                                <m:t> </m:t>
                              </m:r>
                              <m:f>
                                <m:fPr>
                                  <m:ctrlPr>
                                    <a:rPr lang="en-GB" sz="1400" b="0" i="1" noProof="0" smtClean="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2(</m:t>
                                  </m:r>
                                  <m:r>
                                    <a:rPr lang="en-GB" sz="1400" b="0" i="1" noProof="0">
                                      <a:solidFill>
                                        <a:schemeClr val="tx1"/>
                                      </a:solidFill>
                                      <a:latin typeface="Cambria Math" panose="02040503050406030204" pitchFamily="18" charset="0"/>
                                    </a:rPr>
                                    <m:t>𝑏</m:t>
                                  </m:r>
                                  <m:r>
                                    <a:rPr lang="en-GB" sz="1400" b="0" i="1" noProof="0" smtClean="0">
                                      <a:solidFill>
                                        <a:schemeClr val="tx1"/>
                                      </a:solidFill>
                                      <a:latin typeface="Cambria Math" panose="02040503050406030204" pitchFamily="18" charset="0"/>
                                    </a:rPr>
                                    <m:t>+2)</m:t>
                                  </m:r>
                                </m:num>
                                <m:den>
                                  <m:r>
                                    <a:rPr lang="en-GB" sz="1400" b="0" i="1" noProof="0" smtClean="0">
                                      <a:solidFill>
                                        <a:schemeClr val="tx1"/>
                                      </a:solidFill>
                                      <a:latin typeface="Cambria Math" panose="02040503050406030204" pitchFamily="18" charset="0"/>
                                    </a:rPr>
                                    <m:t>2</m:t>
                                  </m:r>
                                  <m:r>
                                    <a:rPr lang="en-GB" sz="1400" b="0" i="1" noProof="0" smtClean="0">
                                      <a:solidFill>
                                        <a:schemeClr val="tx1"/>
                                      </a:solidFill>
                                      <a:latin typeface="Cambria Math" panose="02040503050406030204" pitchFamily="18" charset="0"/>
                                    </a:rPr>
                                    <m:t>𝑐</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4</m:t>
                                  </m:r>
                                  <m:r>
                                    <a:rPr lang="en-GB" sz="1400" b="0" i="1" noProof="0" smtClean="0">
                                      <a:solidFill>
                                        <a:schemeClr val="tx1"/>
                                      </a:solidFill>
                                      <a:latin typeface="Cambria Math" panose="02040503050406030204" pitchFamily="18" charset="0"/>
                                    </a:rPr>
                                    <m:t>𝑐</m:t>
                                  </m:r>
                                </m:num>
                                <m:den>
                                  <m:r>
                                    <a:rPr lang="en-GB" sz="1400" b="0" i="1" noProof="0" smtClean="0">
                                      <a:solidFill>
                                        <a:schemeClr val="tx1"/>
                                      </a:solidFill>
                                      <a:latin typeface="Cambria Math" panose="02040503050406030204" pitchFamily="18" charset="0"/>
                                    </a:rPr>
                                    <m:t>𝑏</m:t>
                                  </m:r>
                                  <m:r>
                                    <a:rPr lang="en-GB" sz="1400" b="0" i="1" noProof="0" smtClean="0">
                                      <a:solidFill>
                                        <a:schemeClr val="tx1"/>
                                      </a:solidFill>
                                      <a:latin typeface="Cambria Math" panose="02040503050406030204" pitchFamily="18" charset="0"/>
                                    </a:rPr>
                                    <m:t>+2</m:t>
                                  </m:r>
                                </m:den>
                              </m:f>
                            </m:oMath>
                          </a14:m>
                          <a:r>
                            <a:rPr lang="en-GB"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 </a:t>
                          </a:r>
                          <a14:m>
                            <m:oMath xmlns:m="http://schemas.openxmlformats.org/officeDocument/2006/math">
                              <m:f>
                                <m:fPr>
                                  <m:ctrlPr>
                                    <a:rPr lang="en-GB" sz="1400" b="0" i="1" noProof="0" smtClean="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2(</m:t>
                                  </m:r>
                                  <m:r>
                                    <a:rPr lang="en-GB" sz="1400" b="0" i="1" noProof="0" smtClean="0">
                                      <a:solidFill>
                                        <a:schemeClr val="tx1"/>
                                      </a:solidFill>
                                      <a:latin typeface="Cambria Math" panose="02040503050406030204" pitchFamily="18" charset="0"/>
                                    </a:rPr>
                                    <m:t>𝑎</m:t>
                                  </m:r>
                                  <m:r>
                                    <a:rPr lang="en-GB" sz="1400" b="0" i="1" noProof="0" smtClean="0">
                                      <a:solidFill>
                                        <a:schemeClr val="tx1"/>
                                      </a:solidFill>
                                      <a:latin typeface="Cambria Math" panose="02040503050406030204" pitchFamily="18" charset="0"/>
                                    </a:rPr>
                                    <m:t>+4)</m:t>
                                  </m:r>
                                </m:num>
                                <m:den>
                                  <m:r>
                                    <a:rPr lang="en-GB" sz="1400" b="0" i="1" noProof="0" smtClean="0">
                                      <a:solidFill>
                                        <a:schemeClr val="tx1"/>
                                      </a:solidFill>
                                      <a:latin typeface="Cambria Math" panose="02040503050406030204" pitchFamily="18" charset="0"/>
                                    </a:rPr>
                                    <m:t>2</m:t>
                                  </m:r>
                                  <m:r>
                                    <a:rPr lang="en-GB" sz="1400" b="0" i="1" noProof="0" smtClean="0">
                                      <a:solidFill>
                                        <a:schemeClr val="tx1"/>
                                      </a:solidFill>
                                      <a:latin typeface="Cambria Math" panose="02040503050406030204" pitchFamily="18" charset="0"/>
                                    </a:rPr>
                                    <m:t>𝑐</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4</m:t>
                                  </m:r>
                                  <m:r>
                                    <a:rPr lang="en-GB" sz="1400" b="0" i="1" noProof="0" smtClean="0">
                                      <a:solidFill>
                                        <a:schemeClr val="tx1"/>
                                      </a:solidFill>
                                      <a:latin typeface="Cambria Math" panose="02040503050406030204" pitchFamily="18" charset="0"/>
                                    </a:rPr>
                                    <m:t>𝑐</m:t>
                                  </m:r>
                                </m:num>
                                <m:den>
                                  <m:r>
                                    <a:rPr lang="en-GB" sz="1400" b="0" i="1" noProof="0" smtClean="0">
                                      <a:solidFill>
                                        <a:schemeClr val="tx1"/>
                                      </a:solidFill>
                                      <a:latin typeface="Cambria Math" panose="02040503050406030204" pitchFamily="18" charset="0"/>
                                    </a:rPr>
                                    <m:t>2(</m:t>
                                  </m:r>
                                  <m:r>
                                    <a:rPr lang="en-GB" sz="1400" b="0" i="1" noProof="0" smtClean="0">
                                      <a:solidFill>
                                        <a:schemeClr val="tx1"/>
                                      </a:solidFill>
                                      <a:latin typeface="Cambria Math" panose="02040503050406030204" pitchFamily="18" charset="0"/>
                                    </a:rPr>
                                    <m:t>𝑎</m:t>
                                  </m:r>
                                  <m:r>
                                    <a:rPr lang="en-GB" sz="1400" b="0" i="1" noProof="0" smtClean="0">
                                      <a:solidFill>
                                        <a:schemeClr val="tx1"/>
                                      </a:solidFill>
                                      <a:latin typeface="Cambria Math" panose="02040503050406030204" pitchFamily="18" charset="0"/>
                                    </a:rPr>
                                    <m:t>+4)</m:t>
                                  </m:r>
                                </m:den>
                              </m:f>
                            </m:oMath>
                          </a14:m>
                          <a:r>
                            <a:rPr lang="en-GB" sz="14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Simplify </a:t>
                          </a:r>
                          <a14:m>
                            <m:oMath xmlns:m="http://schemas.openxmlformats.org/officeDocument/2006/math">
                              <m:f>
                                <m:fPr>
                                  <m:ctrlPr>
                                    <a:rPr lang="en-GB" sz="1400" b="0" i="1" noProof="0" smtClean="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3(</m:t>
                                  </m:r>
                                  <m:r>
                                    <a:rPr lang="en-GB" sz="1400" b="0" i="1" noProof="0" smtClean="0">
                                      <a:solidFill>
                                        <a:schemeClr val="tx1"/>
                                      </a:solidFill>
                                      <a:latin typeface="Cambria Math" panose="02040503050406030204" pitchFamily="18" charset="0"/>
                                    </a:rPr>
                                    <m:t>𝑐</m:t>
                                  </m:r>
                                  <m:r>
                                    <a:rPr lang="en-GB" sz="1400" b="0" i="1" noProof="0" smtClean="0">
                                      <a:solidFill>
                                        <a:schemeClr val="tx1"/>
                                      </a:solidFill>
                                      <a:latin typeface="Cambria Math" panose="02040503050406030204" pitchFamily="18" charset="0"/>
                                    </a:rPr>
                                    <m:t>+2)</m:t>
                                  </m:r>
                                </m:num>
                                <m:den>
                                  <m:r>
                                    <a:rPr lang="en-GB" sz="1400" b="0" i="1" noProof="0" smtClean="0">
                                      <a:solidFill>
                                        <a:schemeClr val="tx1"/>
                                      </a:solidFill>
                                      <a:latin typeface="Cambria Math" panose="02040503050406030204" pitchFamily="18" charset="0"/>
                                    </a:rPr>
                                    <m:t>8</m:t>
                                  </m:r>
                                  <m:r>
                                    <a:rPr lang="en-GB" sz="1400" b="0" i="1" noProof="0" smtClean="0">
                                      <a:solidFill>
                                        <a:schemeClr val="tx1"/>
                                      </a:solidFill>
                                      <a:latin typeface="Cambria Math" panose="02040503050406030204" pitchFamily="18" charset="0"/>
                                    </a:rPr>
                                    <m:t>𝑐</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2</m:t>
                                  </m:r>
                                  <m:r>
                                    <a:rPr lang="en-GB" sz="1400" b="0" i="1" noProof="0" smtClean="0">
                                      <a:solidFill>
                                        <a:schemeClr val="tx1"/>
                                      </a:solidFill>
                                      <a:latin typeface="Cambria Math" panose="02040503050406030204" pitchFamily="18" charset="0"/>
                                    </a:rPr>
                                    <m:t>𝑐</m:t>
                                  </m:r>
                                  <m:r>
                                    <a:rPr lang="en-GB" sz="1400" b="0" i="1" noProof="0" smtClean="0">
                                      <a:solidFill>
                                        <a:schemeClr val="tx1"/>
                                      </a:solidFill>
                                      <a:latin typeface="Cambria Math" panose="02040503050406030204" pitchFamily="18" charset="0"/>
                                    </a:rPr>
                                    <m:t>(</m:t>
                                  </m:r>
                                  <m:r>
                                    <a:rPr lang="en-GB" sz="1400" b="0" i="1" noProof="0" smtClean="0">
                                      <a:solidFill>
                                        <a:schemeClr val="tx1"/>
                                      </a:solidFill>
                                      <a:latin typeface="Cambria Math" panose="02040503050406030204" pitchFamily="18" charset="0"/>
                                    </a:rPr>
                                    <m:t>𝑐</m:t>
                                  </m:r>
                                  <m:r>
                                    <a:rPr lang="en-GB" sz="1400" b="0" i="1" noProof="0" smtClean="0">
                                      <a:solidFill>
                                        <a:schemeClr val="tx1"/>
                                      </a:solidFill>
                                      <a:latin typeface="Cambria Math" panose="02040503050406030204" pitchFamily="18" charset="0"/>
                                    </a:rPr>
                                    <m:t>−1)</m:t>
                                  </m:r>
                                </m:num>
                                <m:den>
                                  <m:r>
                                    <a:rPr lang="en-GB" sz="1400" b="0" i="1" noProof="0" smtClean="0">
                                      <a:solidFill>
                                        <a:schemeClr val="tx1"/>
                                      </a:solidFill>
                                      <a:latin typeface="Cambria Math" panose="02040503050406030204" pitchFamily="18" charset="0"/>
                                    </a:rPr>
                                    <m:t>𝑐</m:t>
                                  </m:r>
                                  <m:r>
                                    <a:rPr lang="en-GB" sz="1400" b="0" i="1" noProof="0" smtClean="0">
                                      <a:solidFill>
                                        <a:schemeClr val="tx1"/>
                                      </a:solidFill>
                                      <a:latin typeface="Cambria Math" panose="02040503050406030204" pitchFamily="18" charset="0"/>
                                    </a:rPr>
                                    <m:t>+2</m:t>
                                  </m:r>
                                </m:den>
                              </m:f>
                            </m:oMath>
                          </a14:m>
                          <a:r>
                            <a:rPr lang="en-GB" sz="14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75759">
                    <a:tc>
                      <a:txBody>
                        <a:bodyPr/>
                        <a:lstStyle/>
                        <a:p>
                          <a:pPr marL="228600" indent="-228600">
                            <a:buAutoNum type="arabicParenR"/>
                          </a:pPr>
                          <a:r>
                            <a:rPr lang="en-GB" sz="1100" noProof="0" dirty="0">
                              <a:solidFill>
                                <a:schemeClr val="tx1"/>
                              </a:solidFill>
                            </a:rPr>
                            <a:t>Cross cancel.</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757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Simplify</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805106717"/>
                      </a:ext>
                    </a:extLst>
                  </a:tr>
                </a:tbl>
              </a:graphicData>
            </a:graphic>
          </p:graphicFrame>
        </mc:Choice>
        <mc:Fallback xmlns="">
          <p:graphicFrame>
            <p:nvGraphicFramePr>
              <p:cNvPr id="64" name="Table 63"/>
              <p:cNvGraphicFramePr>
                <a:graphicFrameLocks noGrp="1"/>
              </p:cNvGraphicFramePr>
              <p:nvPr>
                <p:extLst>
                  <p:ext uri="{D42A27DB-BD31-4B8C-83A1-F6EECF244321}">
                    <p14:modId xmlns:p14="http://schemas.microsoft.com/office/powerpoint/2010/main" val="2424439282"/>
                  </p:ext>
                </p:extLst>
              </p:nvPr>
            </p:nvGraphicFramePr>
            <p:xfrm>
              <a:off x="197694" y="309113"/>
              <a:ext cx="6484022" cy="2382810"/>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31292">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9364" t="-1408" r="-218021" b="-4549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2722" t="-1408" r="-95253" b="-4549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522" t="-1408" r="-669" b="-454930"/>
                          </a:stretch>
                        </a:blipFill>
                      </a:tcPr>
                    </a:tc>
                    <a:extLst>
                      <a:ext uri="{0D108BD9-81ED-4DB2-BD59-A6C34878D82A}">
                        <a16:rowId xmlns:a16="http://schemas.microsoft.com/office/drawing/2014/main" val="2357201933"/>
                      </a:ext>
                    </a:extLst>
                  </a:tr>
                  <a:tr h="975759">
                    <a:tc>
                      <a:txBody>
                        <a:bodyPr/>
                        <a:lstStyle/>
                        <a:p>
                          <a:pPr marL="228600" indent="-228600">
                            <a:buAutoNum type="arabicParenR"/>
                          </a:pPr>
                          <a:r>
                            <a:rPr lang="en-GB" sz="1100" noProof="0">
                              <a:solidFill>
                                <a:schemeClr val="tx1"/>
                              </a:solidFill>
                            </a:rPr>
                            <a:t>Cross cancel.</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757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a:solidFill>
                                <a:schemeClr val="tx1"/>
                              </a:solidFill>
                            </a:rPr>
                            <a:t>2) Simplify</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805106717"/>
                      </a:ext>
                    </a:extLst>
                  </a:tr>
                </a:tbl>
              </a:graphicData>
            </a:graphic>
          </p:graphicFrame>
        </mc:Fallback>
      </mc:AlternateContent>
      <p:sp>
        <p:nvSpPr>
          <p:cNvPr id="65" name="TextBox 64">
            <a:extLst>
              <a:ext uri="{FF2B5EF4-FFF2-40B4-BE49-F238E27FC236}">
                <a16:creationId xmlns:a16="http://schemas.microsoft.com/office/drawing/2014/main" id="{72FAE9BB-D81F-4207-9FF8-E6BE971A99D9}"/>
              </a:ext>
            </a:extLst>
          </p:cNvPr>
          <p:cNvSpPr txBox="1"/>
          <p:nvPr/>
        </p:nvSpPr>
        <p:spPr>
          <a:xfrm>
            <a:off x="4988932" y="0"/>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18 - You do…</a:t>
            </a:r>
          </a:p>
        </p:txBody>
      </p:sp>
      <p:sp>
        <p:nvSpPr>
          <p:cNvPr id="66" name="TextBox 65">
            <a:extLst>
              <a:ext uri="{FF2B5EF4-FFF2-40B4-BE49-F238E27FC236}">
                <a16:creationId xmlns:a16="http://schemas.microsoft.com/office/drawing/2014/main" id="{337F58E6-37DE-4890-BDE3-0101DB4D4F11}"/>
              </a:ext>
            </a:extLst>
          </p:cNvPr>
          <p:cNvSpPr txBox="1"/>
          <p:nvPr/>
        </p:nvSpPr>
        <p:spPr>
          <a:xfrm>
            <a:off x="3195865" y="1"/>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17 - We do…</a:t>
            </a:r>
          </a:p>
        </p:txBody>
      </p:sp>
      <p:sp>
        <p:nvSpPr>
          <p:cNvPr id="69" name="TextBox 68">
            <a:extLst>
              <a:ext uri="{FF2B5EF4-FFF2-40B4-BE49-F238E27FC236}">
                <a16:creationId xmlns:a16="http://schemas.microsoft.com/office/drawing/2014/main" id="{20EB31B5-3203-4E48-8A19-892EA568053E}"/>
              </a:ext>
            </a:extLst>
          </p:cNvPr>
          <p:cNvSpPr txBox="1"/>
          <p:nvPr/>
        </p:nvSpPr>
        <p:spPr>
          <a:xfrm>
            <a:off x="1353304" y="2"/>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16 - I do…</a:t>
            </a:r>
          </a:p>
        </p:txBody>
      </p:sp>
      <mc:AlternateContent xmlns:mc="http://schemas.openxmlformats.org/markup-compatibility/2006" xmlns:a14="http://schemas.microsoft.com/office/drawing/2010/main">
        <mc:Choice Requires="a14">
          <p:sp>
            <p:nvSpPr>
              <p:cNvPr id="71" name="TextBox 70"/>
              <p:cNvSpPr txBox="1"/>
              <p:nvPr/>
            </p:nvSpPr>
            <p:spPr>
              <a:xfrm>
                <a:off x="298288" y="3026955"/>
                <a:ext cx="1110240" cy="547394"/>
              </a:xfrm>
              <a:prstGeom prst="rect">
                <a:avLst/>
              </a:prstGeom>
              <a:noFill/>
            </p:spPr>
            <p:txBody>
              <a:bodyPr wrap="none" rtlCol="0">
                <a:spAutoFit/>
              </a:bodyPr>
              <a:lstStyle/>
              <a:p>
                <a:r>
                  <a:rPr lang="en-GB" sz="1200" noProof="0" dirty="0"/>
                  <a:t>a) </a:t>
                </a:r>
                <a14:m>
                  <m:oMath xmlns:m="http://schemas.openxmlformats.org/officeDocument/2006/math">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i="1" noProof="0" smtClean="0">
                            <a:latin typeface="Cambria Math" panose="02040503050406030204" pitchFamily="18" charset="0"/>
                          </a:rPr>
                          <m:t>+2)</m:t>
                        </m:r>
                      </m:num>
                      <m:den>
                        <m:r>
                          <a:rPr lang="en-GB" sz="1200" i="1" noProof="0" smtClean="0">
                            <a:latin typeface="Cambria Math" panose="02040503050406030204" pitchFamily="18" charset="0"/>
                          </a:rPr>
                          <m:t>2</m:t>
                        </m:r>
                        <m:r>
                          <a:rPr lang="en-GB" sz="1200" i="1" noProof="0" smtClean="0">
                            <a:latin typeface="Cambria Math" panose="02040503050406030204" pitchFamily="18" charset="0"/>
                          </a:rPr>
                          <m:t>𝑐</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r>
                          <a:rPr lang="en-GB" sz="1200" i="1" noProof="0" smtClean="0">
                            <a:latin typeface="Cambria Math" panose="02040503050406030204" pitchFamily="18" charset="0"/>
                          </a:rPr>
                          <m:t>𝑐</m:t>
                        </m:r>
                      </m:num>
                      <m:den>
                        <m:r>
                          <a:rPr lang="en-GB" sz="1200" b="0" i="1" noProof="0" smtClean="0">
                            <a:latin typeface="Cambria Math" panose="02040503050406030204" pitchFamily="18" charset="0"/>
                          </a:rPr>
                          <m:t>𝑥</m:t>
                        </m:r>
                        <m:r>
                          <a:rPr lang="en-GB" sz="1200" i="1" noProof="0" smtClean="0">
                            <a:latin typeface="Cambria Math" panose="02040503050406030204" pitchFamily="18" charset="0"/>
                          </a:rPr>
                          <m:t>+2</m:t>
                        </m:r>
                      </m:den>
                    </m:f>
                  </m:oMath>
                </a14:m>
                <a:endParaRPr lang="en-GB" sz="1200" noProof="0" dirty="0"/>
              </a:p>
              <a:p>
                <a:r>
                  <a:rPr lang="en-GB" sz="1200" noProof="0" dirty="0"/>
                  <a:t> </a:t>
                </a:r>
              </a:p>
            </p:txBody>
          </p:sp>
        </mc:Choice>
        <mc:Fallback xmlns="">
          <p:sp>
            <p:nvSpPr>
              <p:cNvPr id="71" name="TextBox 70"/>
              <p:cNvSpPr txBox="1">
                <a:spLocks noRot="1" noChangeAspect="1" noMove="1" noResize="1" noEditPoints="1" noAdjustHandles="1" noChangeArrowheads="1" noChangeShapeType="1" noTextEdit="1"/>
              </p:cNvSpPr>
              <p:nvPr/>
            </p:nvSpPr>
            <p:spPr>
              <a:xfrm>
                <a:off x="298288" y="3026955"/>
                <a:ext cx="1110240" cy="547394"/>
              </a:xfrm>
              <a:prstGeom prst="rect">
                <a:avLst/>
              </a:prstGeom>
              <a:blipFill>
                <a:blip r:embed="rId3"/>
                <a:stretch>
                  <a:fillRect l="-5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1897250" y="3032622"/>
                <a:ext cx="1116652" cy="547394"/>
              </a:xfrm>
              <a:prstGeom prst="rect">
                <a:avLst/>
              </a:prstGeom>
              <a:noFill/>
            </p:spPr>
            <p:txBody>
              <a:bodyPr wrap="none" rtlCol="0">
                <a:spAutoFit/>
              </a:bodyPr>
              <a:lstStyle/>
              <a:p>
                <a:r>
                  <a:rPr lang="en-GB" sz="1200" noProof="0" dirty="0"/>
                  <a:t>b) </a:t>
                </a:r>
                <a14:m>
                  <m:oMath xmlns:m="http://schemas.openxmlformats.org/officeDocument/2006/math">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i="1" noProof="0" smtClean="0">
                            <a:latin typeface="Cambria Math" panose="02040503050406030204" pitchFamily="18" charset="0"/>
                          </a:rPr>
                          <m:t>2</m:t>
                        </m:r>
                        <m:r>
                          <a:rPr lang="en-GB" sz="1200" i="1" noProof="0" smtClean="0">
                            <a:latin typeface="Cambria Math" panose="02040503050406030204" pitchFamily="18" charset="0"/>
                          </a:rPr>
                          <m:t>𝑐</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r>
                          <a:rPr lang="en-GB" sz="1200" i="1" noProof="0" smtClean="0">
                            <a:latin typeface="Cambria Math" panose="02040503050406030204" pitchFamily="18" charset="0"/>
                          </a:rPr>
                          <m:t>𝑐</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den>
                    </m:f>
                  </m:oMath>
                </a14:m>
                <a:endParaRPr lang="en-GB" sz="1200" noProof="0" dirty="0"/>
              </a:p>
              <a:p>
                <a:r>
                  <a:rPr lang="en-GB" sz="1200" noProof="0" dirty="0"/>
                  <a:t> </a:t>
                </a:r>
              </a:p>
            </p:txBody>
          </p:sp>
        </mc:Choice>
        <mc:Fallback xmlns="">
          <p:sp>
            <p:nvSpPr>
              <p:cNvPr id="72" name="TextBox 71"/>
              <p:cNvSpPr txBox="1">
                <a:spLocks noRot="1" noChangeAspect="1" noMove="1" noResize="1" noEditPoints="1" noAdjustHandles="1" noChangeArrowheads="1" noChangeShapeType="1" noTextEdit="1"/>
              </p:cNvSpPr>
              <p:nvPr/>
            </p:nvSpPr>
            <p:spPr>
              <a:xfrm>
                <a:off x="1897250" y="3032622"/>
                <a:ext cx="1116652" cy="54739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3677012" y="3056616"/>
                <a:ext cx="1103828" cy="565026"/>
              </a:xfrm>
              <a:prstGeom prst="rect">
                <a:avLst/>
              </a:prstGeom>
              <a:noFill/>
            </p:spPr>
            <p:txBody>
              <a:bodyPr wrap="none" rtlCol="0">
                <a:spAutoFit/>
              </a:bodyPr>
              <a:lstStyle/>
              <a:p>
                <a:r>
                  <a:rPr lang="en-GB" sz="1200" noProof="0" dirty="0"/>
                  <a:t>c) </a:t>
                </a:r>
                <a14:m>
                  <m:oMath xmlns:m="http://schemas.openxmlformats.org/officeDocument/2006/math">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i="1" noProof="0" smtClean="0">
                            <a:latin typeface="Cambria Math" panose="02040503050406030204" pitchFamily="18" charset="0"/>
                          </a:rPr>
                          <m:t>+2)</m:t>
                        </m:r>
                      </m:num>
                      <m:den>
                        <m:r>
                          <a:rPr lang="en-GB" sz="120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𝑐</m:t>
                            </m:r>
                          </m:e>
                          <m:sup>
                            <m:r>
                              <a:rPr lang="en-GB" sz="1200" b="0" i="1" noProof="0" smtClean="0">
                                <a:latin typeface="Cambria Math" panose="02040503050406030204" pitchFamily="18" charset="0"/>
                              </a:rPr>
                              <m:t>3</m:t>
                            </m:r>
                          </m:sup>
                        </m:sSup>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𝑐</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𝑥</m:t>
                        </m:r>
                        <m:r>
                          <a:rPr lang="en-GB" sz="1200" i="1" noProof="0" smtClean="0">
                            <a:latin typeface="Cambria Math" panose="02040503050406030204" pitchFamily="18" charset="0"/>
                          </a:rPr>
                          <m:t>+2</m:t>
                        </m:r>
                      </m:den>
                    </m:f>
                  </m:oMath>
                </a14:m>
                <a:endParaRPr lang="en-GB" sz="1200" noProof="0" dirty="0"/>
              </a:p>
              <a:p>
                <a:r>
                  <a:rPr lang="en-GB" sz="1200" noProof="0" dirty="0"/>
                  <a:t> </a:t>
                </a:r>
              </a:p>
            </p:txBody>
          </p:sp>
        </mc:Choice>
        <mc:Fallback xmlns="">
          <p:sp>
            <p:nvSpPr>
              <p:cNvPr id="73" name="TextBox 72"/>
              <p:cNvSpPr txBox="1">
                <a:spLocks noRot="1" noChangeAspect="1" noMove="1" noResize="1" noEditPoints="1" noAdjustHandles="1" noChangeArrowheads="1" noChangeShapeType="1" noTextEdit="1"/>
              </p:cNvSpPr>
              <p:nvPr/>
            </p:nvSpPr>
            <p:spPr>
              <a:xfrm>
                <a:off x="3677012" y="3056616"/>
                <a:ext cx="1103828" cy="56502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5452420" y="3026955"/>
                <a:ext cx="1023678" cy="565026"/>
              </a:xfrm>
              <a:prstGeom prst="rect">
                <a:avLst/>
              </a:prstGeom>
              <a:noFill/>
            </p:spPr>
            <p:txBody>
              <a:bodyPr wrap="none" rtlCol="0">
                <a:spAutoFit/>
              </a:bodyPr>
              <a:lstStyle/>
              <a:p>
                <a:r>
                  <a:rPr lang="en-GB" sz="1200" noProof="0" dirty="0"/>
                  <a:t>d) </a:t>
                </a:r>
                <a14:m>
                  <m:oMath xmlns:m="http://schemas.openxmlformats.org/officeDocument/2006/math">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num>
                      <m:den>
                        <m:r>
                          <a:rPr lang="en-GB" sz="1200" i="1" noProof="0" smtClean="0">
                            <a:latin typeface="Cambria Math" panose="02040503050406030204" pitchFamily="18" charset="0"/>
                          </a:rPr>
                          <m:t>2</m:t>
                        </m:r>
                        <m:r>
                          <a:rPr lang="en-GB" sz="1200" i="1" noProof="0" smtClean="0">
                            <a:latin typeface="Cambria Math" panose="02040503050406030204" pitchFamily="18" charset="0"/>
                          </a:rPr>
                          <m:t>𝑐</m:t>
                        </m:r>
                      </m:den>
                    </m:f>
                    <m:r>
                      <a:rPr lang="en-GB" sz="1200" i="1" noProof="0">
                        <a:latin typeface="Cambria Math" panose="02040503050406030204" pitchFamily="18" charset="0"/>
                        <a:ea typeface="Cambria Math" panose="02040503050406030204" pitchFamily="18" charset="0"/>
                      </a:rPr>
                      <m:t>×</m:t>
                    </m:r>
                    <m:f>
                      <m:fPr>
                        <m:ctrlPr>
                          <a:rPr lang="en-GB" sz="1200" i="1" noProof="0">
                            <a:latin typeface="Cambria Math" panose="02040503050406030204" pitchFamily="18" charset="0"/>
                          </a:rPr>
                        </m:ctrlPr>
                      </m:fPr>
                      <m:num>
                        <m:r>
                          <a:rPr lang="en-GB" sz="1200" i="1" noProof="0" smtClean="0">
                            <a:latin typeface="Cambria Math" panose="02040503050406030204" pitchFamily="18" charset="0"/>
                          </a:rPr>
                          <m:t>4</m:t>
                        </m:r>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𝑐</m:t>
                            </m:r>
                          </m:e>
                          <m:sup>
                            <m:r>
                              <a:rPr lang="en-GB" sz="1200" b="0" i="1" noProof="0" smtClean="0">
                                <a:latin typeface="Cambria Math" panose="02040503050406030204" pitchFamily="18" charset="0"/>
                              </a:rPr>
                              <m:t>3</m:t>
                            </m:r>
                          </m:sup>
                        </m:sSup>
                      </m:num>
                      <m:den>
                        <m:r>
                          <a:rPr lang="en-GB" sz="1200" b="0" i="1" noProof="0" smtClean="0">
                            <a:latin typeface="Cambria Math" panose="02040503050406030204" pitchFamily="18" charset="0"/>
                          </a:rPr>
                          <m:t>𝑥</m:t>
                        </m:r>
                        <m:r>
                          <a:rPr lang="en-GB" sz="1200" i="1" noProof="0" smtClean="0">
                            <a:latin typeface="Cambria Math" panose="02040503050406030204" pitchFamily="18" charset="0"/>
                          </a:rPr>
                          <m:t>+2</m:t>
                        </m:r>
                      </m:den>
                    </m:f>
                  </m:oMath>
                </a14:m>
                <a:endParaRPr lang="en-GB" sz="1200" noProof="0" dirty="0"/>
              </a:p>
              <a:p>
                <a:r>
                  <a:rPr lang="en-GB" sz="1200" noProof="0" dirty="0"/>
                  <a:t> </a:t>
                </a:r>
              </a:p>
            </p:txBody>
          </p:sp>
        </mc:Choice>
        <mc:Fallback xmlns="">
          <p:sp>
            <p:nvSpPr>
              <p:cNvPr id="74" name="TextBox 73"/>
              <p:cNvSpPr txBox="1">
                <a:spLocks noRot="1" noChangeAspect="1" noMove="1" noResize="1" noEditPoints="1" noAdjustHandles="1" noChangeArrowheads="1" noChangeShapeType="1" noTextEdit="1"/>
              </p:cNvSpPr>
              <p:nvPr/>
            </p:nvSpPr>
            <p:spPr>
              <a:xfrm>
                <a:off x="5452420" y="3026955"/>
                <a:ext cx="1023678" cy="565026"/>
              </a:xfrm>
              <a:prstGeom prst="rect">
                <a:avLst/>
              </a:prstGeom>
              <a:blipFill>
                <a:blip r:embed="rId6"/>
                <a:stretch>
                  <a:fillRect/>
                </a:stretch>
              </a:blipFill>
            </p:spPr>
            <p:txBody>
              <a:bodyPr/>
              <a:lstStyle/>
              <a:p>
                <a:r>
                  <a:rPr lang="en-US">
                    <a:noFill/>
                  </a:rPr>
                  <a:t> </a:t>
                </a:r>
              </a:p>
            </p:txBody>
          </p:sp>
        </mc:Fallback>
      </mc:AlternateContent>
      <p:sp>
        <p:nvSpPr>
          <p:cNvPr id="75" name="Rectangle 74">
            <a:extLst>
              <a:ext uri="{FF2B5EF4-FFF2-40B4-BE49-F238E27FC236}">
                <a16:creationId xmlns:a16="http://schemas.microsoft.com/office/drawing/2014/main" id="{B16CFEF2-A65A-6142-861C-58ACADF7EEFB}"/>
              </a:ext>
            </a:extLst>
          </p:cNvPr>
          <p:cNvSpPr/>
          <p:nvPr/>
        </p:nvSpPr>
        <p:spPr>
          <a:xfrm>
            <a:off x="102957" y="3477487"/>
            <a:ext cx="1471816" cy="203939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6" name="Rectangle 75">
            <a:extLst>
              <a:ext uri="{FF2B5EF4-FFF2-40B4-BE49-F238E27FC236}">
                <a16:creationId xmlns:a16="http://schemas.microsoft.com/office/drawing/2014/main" id="{B16CFEF2-A65A-6142-861C-58ACADF7EEFB}"/>
              </a:ext>
            </a:extLst>
          </p:cNvPr>
          <p:cNvSpPr/>
          <p:nvPr/>
        </p:nvSpPr>
        <p:spPr>
          <a:xfrm>
            <a:off x="1812606" y="3477487"/>
            <a:ext cx="1492184" cy="203939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7" name="Rectangle 76">
            <a:extLst>
              <a:ext uri="{FF2B5EF4-FFF2-40B4-BE49-F238E27FC236}">
                <a16:creationId xmlns:a16="http://schemas.microsoft.com/office/drawing/2014/main" id="{B16CFEF2-A65A-6142-861C-58ACADF7EEFB}"/>
              </a:ext>
            </a:extLst>
          </p:cNvPr>
          <p:cNvSpPr/>
          <p:nvPr/>
        </p:nvSpPr>
        <p:spPr>
          <a:xfrm>
            <a:off x="3535680" y="3477486"/>
            <a:ext cx="1494047" cy="203939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8" name="Rectangle 77">
            <a:extLst>
              <a:ext uri="{FF2B5EF4-FFF2-40B4-BE49-F238E27FC236}">
                <a16:creationId xmlns:a16="http://schemas.microsoft.com/office/drawing/2014/main" id="{B16CFEF2-A65A-6142-861C-58ACADF7EEFB}"/>
              </a:ext>
            </a:extLst>
          </p:cNvPr>
          <p:cNvSpPr/>
          <p:nvPr/>
        </p:nvSpPr>
        <p:spPr>
          <a:xfrm>
            <a:off x="5236818" y="3477486"/>
            <a:ext cx="1511439" cy="203939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4" name="TextBox 83"/>
          <p:cNvSpPr txBox="1"/>
          <p:nvPr/>
        </p:nvSpPr>
        <p:spPr>
          <a:xfrm>
            <a:off x="1967862" y="2712708"/>
            <a:ext cx="2292231" cy="276999"/>
          </a:xfrm>
          <a:prstGeom prst="rect">
            <a:avLst/>
          </a:prstGeom>
          <a:noFill/>
        </p:spPr>
        <p:txBody>
          <a:bodyPr wrap="none" rtlCol="0">
            <a:spAutoFit/>
          </a:bodyPr>
          <a:lstStyle/>
          <a:p>
            <a:pPr algn="ctr"/>
            <a:r>
              <a:rPr lang="en-GB" sz="1200" noProof="0" dirty="0"/>
              <a:t>4. Simplify the algebraic fractions.</a:t>
            </a:r>
          </a:p>
        </p:txBody>
      </p:sp>
      <mc:AlternateContent xmlns:mc="http://schemas.openxmlformats.org/markup-compatibility/2006" xmlns:a14="http://schemas.microsoft.com/office/drawing/2010/main">
        <mc:Choice Requires="a14">
          <p:graphicFrame>
            <p:nvGraphicFramePr>
              <p:cNvPr id="97" name="Table 96"/>
              <p:cNvGraphicFramePr>
                <a:graphicFrameLocks noGrp="1"/>
              </p:cNvGraphicFramePr>
              <p:nvPr>
                <p:extLst>
                  <p:ext uri="{D42A27DB-BD31-4B8C-83A1-F6EECF244321}">
                    <p14:modId xmlns:p14="http://schemas.microsoft.com/office/powerpoint/2010/main" val="1949807000"/>
                  </p:ext>
                </p:extLst>
              </p:nvPr>
            </p:nvGraphicFramePr>
            <p:xfrm>
              <a:off x="181779" y="5937749"/>
              <a:ext cx="6484022" cy="3863301"/>
            </p:xfrm>
            <a:graphic>
              <a:graphicData uri="http://schemas.openxmlformats.org/drawingml/2006/table">
                <a:tbl>
                  <a:tblPr firstRow="1" bandRow="1">
                    <a:tableStyleId>{5C22544A-7EE6-4342-B048-85BDC9FD1C3A}</a:tableStyleId>
                  </a:tblPr>
                  <a:tblGrid>
                    <a:gridCol w="1113621">
                      <a:extLst>
                        <a:ext uri="{9D8B030D-6E8A-4147-A177-3AD203B41FA5}">
                          <a16:colId xmlns:a16="http://schemas.microsoft.com/office/drawing/2014/main" val="1568142362"/>
                        </a:ext>
                      </a:extLst>
                    </a:gridCol>
                    <a:gridCol w="1625092">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80585">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 xmlns:m="http://schemas.openxmlformats.org/officeDocument/2006/math">
                              <m:f>
                                <m:fPr>
                                  <m:ctrlPr>
                                    <a:rPr lang="en-GB" sz="1400" b="0" i="1" noProof="0" smtClean="0">
                                      <a:solidFill>
                                        <a:schemeClr val="tx1"/>
                                      </a:solidFill>
                                      <a:latin typeface="Cambria Math" panose="02040503050406030204" pitchFamily="18" charset="0"/>
                                    </a:rPr>
                                  </m:ctrlPr>
                                </m:fPr>
                                <m:num>
                                  <m:sSup>
                                    <m:sSupPr>
                                      <m:ctrlPr>
                                        <a:rPr lang="en-GB" sz="1400" b="0" i="1" noProof="0" smtClean="0">
                                          <a:solidFill>
                                            <a:schemeClr val="tx1"/>
                                          </a:solidFill>
                                          <a:latin typeface="Cambria Math" panose="02040503050406030204" pitchFamily="18" charset="0"/>
                                        </a:rPr>
                                      </m:ctrlPr>
                                    </m:sSupPr>
                                    <m:e>
                                      <m:r>
                                        <a:rPr lang="en-GB" sz="1400" b="0" i="1" noProof="0" smtClean="0">
                                          <a:solidFill>
                                            <a:schemeClr val="tx1"/>
                                          </a:solidFill>
                                          <a:latin typeface="Cambria Math" panose="02040503050406030204" pitchFamily="18" charset="0"/>
                                        </a:rPr>
                                        <m:t>𝑥</m:t>
                                      </m:r>
                                    </m:e>
                                    <m:sup>
                                      <m:r>
                                        <a:rPr lang="en-GB" sz="1400" b="0" i="1" noProof="0" smtClean="0">
                                          <a:solidFill>
                                            <a:schemeClr val="tx1"/>
                                          </a:solidFill>
                                          <a:latin typeface="Cambria Math" panose="02040503050406030204" pitchFamily="18" charset="0"/>
                                        </a:rPr>
                                        <m:t>2</m:t>
                                      </m:r>
                                    </m:sup>
                                  </m:sSup>
                                  <m:r>
                                    <a:rPr lang="en-GB" sz="1400" b="0" i="1" noProof="0" smtClean="0">
                                      <a:solidFill>
                                        <a:schemeClr val="tx1"/>
                                      </a:solidFill>
                                      <a:latin typeface="Cambria Math" panose="02040503050406030204" pitchFamily="18" charset="0"/>
                                    </a:rPr>
                                    <m:t>+5</m:t>
                                  </m:r>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+6</m:t>
                                  </m:r>
                                </m:num>
                                <m:den>
                                  <m:r>
                                    <a:rPr lang="en-GB" sz="1400" b="0" i="1" noProof="0" smtClean="0">
                                      <a:solidFill>
                                        <a:schemeClr val="tx1"/>
                                      </a:solidFill>
                                      <a:latin typeface="Cambria Math" panose="02040503050406030204" pitchFamily="18" charset="0"/>
                                    </a:rPr>
                                    <m:t>4</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2</m:t>
                                  </m:r>
                                </m:num>
                                <m:den>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+2</m:t>
                                  </m:r>
                                </m:den>
                              </m:f>
                            </m:oMath>
                          </a14:m>
                          <a:r>
                            <a:rPr lang="en-GB"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 </a:t>
                          </a:r>
                          <a14:m>
                            <m:oMath xmlns:m="http://schemas.openxmlformats.org/officeDocument/2006/math">
                              <m:f>
                                <m:fPr>
                                  <m:ctrlPr>
                                    <a:rPr lang="en-GB" sz="1400" b="0" i="1" noProof="0" smtClean="0">
                                      <a:solidFill>
                                        <a:schemeClr val="tx1"/>
                                      </a:solidFill>
                                      <a:latin typeface="Cambria Math" panose="02040503050406030204" pitchFamily="18" charset="0"/>
                                    </a:rPr>
                                  </m:ctrlPr>
                                </m:fPr>
                                <m:num>
                                  <m:sSup>
                                    <m:sSupPr>
                                      <m:ctrlPr>
                                        <a:rPr lang="en-GB" sz="1400" b="0" i="1" noProof="0" smtClean="0">
                                          <a:solidFill>
                                            <a:schemeClr val="tx1"/>
                                          </a:solidFill>
                                          <a:latin typeface="Cambria Math" panose="02040503050406030204" pitchFamily="18" charset="0"/>
                                        </a:rPr>
                                      </m:ctrlPr>
                                    </m:sSupPr>
                                    <m:e>
                                      <m:r>
                                        <a:rPr lang="en-GB" sz="1400" b="0" i="1" noProof="0" smtClean="0">
                                          <a:solidFill>
                                            <a:schemeClr val="tx1"/>
                                          </a:solidFill>
                                          <a:latin typeface="Cambria Math" panose="02040503050406030204" pitchFamily="18" charset="0"/>
                                        </a:rPr>
                                        <m:t>𝑥</m:t>
                                      </m:r>
                                    </m:e>
                                    <m:sup>
                                      <m:r>
                                        <a:rPr lang="en-GB" sz="1400" b="0" i="1" noProof="0" smtClean="0">
                                          <a:solidFill>
                                            <a:schemeClr val="tx1"/>
                                          </a:solidFill>
                                          <a:latin typeface="Cambria Math" panose="02040503050406030204" pitchFamily="18" charset="0"/>
                                        </a:rPr>
                                        <m:t>2</m:t>
                                      </m:r>
                                    </m:sup>
                                  </m:sSup>
                                  <m:r>
                                    <a:rPr lang="en-GB" sz="1400" b="0" i="1" noProof="0" smtClean="0">
                                      <a:solidFill>
                                        <a:schemeClr val="tx1"/>
                                      </a:solidFill>
                                      <a:latin typeface="Cambria Math" panose="02040503050406030204" pitchFamily="18" charset="0"/>
                                    </a:rPr>
                                    <m:t>+5</m:t>
                                  </m:r>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+6</m:t>
                                  </m:r>
                                </m:num>
                                <m:den>
                                  <m:sSup>
                                    <m:sSupPr>
                                      <m:ctrlPr>
                                        <a:rPr lang="en-GB" sz="1400" b="0" i="1" noProof="0" smtClean="0">
                                          <a:solidFill>
                                            <a:schemeClr val="tx1"/>
                                          </a:solidFill>
                                          <a:latin typeface="Cambria Math" panose="02040503050406030204" pitchFamily="18" charset="0"/>
                                        </a:rPr>
                                      </m:ctrlPr>
                                    </m:sSupPr>
                                    <m:e>
                                      <m:r>
                                        <a:rPr lang="en-GB" sz="1400" b="0" i="1" noProof="0" smtClean="0">
                                          <a:solidFill>
                                            <a:schemeClr val="tx1"/>
                                          </a:solidFill>
                                          <a:latin typeface="Cambria Math" panose="02040503050406030204" pitchFamily="18" charset="0"/>
                                        </a:rPr>
                                        <m:t>𝑥</m:t>
                                      </m:r>
                                    </m:e>
                                    <m:sup>
                                      <m:r>
                                        <a:rPr lang="en-GB" sz="1400" b="0" i="1" noProof="0" smtClean="0">
                                          <a:solidFill>
                                            <a:schemeClr val="tx1"/>
                                          </a:solidFill>
                                          <a:latin typeface="Cambria Math" panose="02040503050406030204" pitchFamily="18" charset="0"/>
                                        </a:rPr>
                                        <m:t>2</m:t>
                                      </m:r>
                                    </m:sup>
                                  </m:sSup>
                                  <m:r>
                                    <a:rPr lang="en-GB" sz="1400" b="0" i="1" noProof="0" smtClean="0">
                                      <a:solidFill>
                                        <a:schemeClr val="tx1"/>
                                      </a:solidFill>
                                      <a:latin typeface="Cambria Math" panose="02040503050406030204" pitchFamily="18" charset="0"/>
                                    </a:rPr>
                                    <m:t>+9</m:t>
                                  </m:r>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+20</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+4</m:t>
                                  </m:r>
                                </m:num>
                                <m:den>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+2</m:t>
                                  </m:r>
                                </m:den>
                              </m:f>
                            </m:oMath>
                          </a14:m>
                          <a:r>
                            <a:rPr lang="en-GB" sz="14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noProof="0" dirty="0">
                              <a:solidFill>
                                <a:schemeClr val="tx1"/>
                              </a:solidFill>
                            </a:rPr>
                            <a:t> </a:t>
                          </a:r>
                          <a14:m>
                            <m:oMath xmlns:m="http://schemas.openxmlformats.org/officeDocument/2006/math">
                              <m:f>
                                <m:fPr>
                                  <m:ctrlPr>
                                    <a:rPr lang="en-GB" sz="1400" b="0" i="1" noProof="0" smtClean="0">
                                      <a:solidFill>
                                        <a:schemeClr val="tx1"/>
                                      </a:solidFill>
                                      <a:latin typeface="Cambria Math" panose="02040503050406030204" pitchFamily="18" charset="0"/>
                                    </a:rPr>
                                  </m:ctrlPr>
                                </m:fPr>
                                <m:num>
                                  <m:sSup>
                                    <m:sSupPr>
                                      <m:ctrlPr>
                                        <a:rPr lang="en-GB" sz="1400" b="0" i="1" noProof="0" smtClean="0">
                                          <a:solidFill>
                                            <a:schemeClr val="tx1"/>
                                          </a:solidFill>
                                          <a:latin typeface="Cambria Math" panose="02040503050406030204" pitchFamily="18" charset="0"/>
                                        </a:rPr>
                                      </m:ctrlPr>
                                    </m:sSupPr>
                                    <m:e>
                                      <m:r>
                                        <a:rPr lang="en-GB" sz="1400" b="0" i="1" noProof="0" smtClean="0">
                                          <a:solidFill>
                                            <a:schemeClr val="tx1"/>
                                          </a:solidFill>
                                          <a:latin typeface="Cambria Math" panose="02040503050406030204" pitchFamily="18" charset="0"/>
                                        </a:rPr>
                                        <m:t>𝑥</m:t>
                                      </m:r>
                                    </m:e>
                                    <m:sup>
                                      <m:r>
                                        <a:rPr lang="en-GB" sz="1400" b="0" i="1" noProof="0" smtClean="0">
                                          <a:solidFill>
                                            <a:schemeClr val="tx1"/>
                                          </a:solidFill>
                                          <a:latin typeface="Cambria Math" panose="02040503050406030204" pitchFamily="18" charset="0"/>
                                        </a:rPr>
                                        <m:t>2</m:t>
                                      </m:r>
                                    </m:sup>
                                  </m:sSup>
                                  <m:r>
                                    <a:rPr lang="en-GB" sz="1400" b="0" i="1" noProof="0" smtClean="0">
                                      <a:solidFill>
                                        <a:schemeClr val="tx1"/>
                                      </a:solidFill>
                                      <a:latin typeface="Cambria Math" panose="02040503050406030204" pitchFamily="18" charset="0"/>
                                    </a:rPr>
                                    <m:t>+</m:t>
                                  </m:r>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−6</m:t>
                                  </m:r>
                                </m:num>
                                <m:den>
                                  <m:sSup>
                                    <m:sSupPr>
                                      <m:ctrlPr>
                                        <a:rPr lang="en-GB" sz="1400" b="0" i="1" noProof="0" smtClean="0">
                                          <a:solidFill>
                                            <a:schemeClr val="tx1"/>
                                          </a:solidFill>
                                          <a:latin typeface="Cambria Math" panose="02040503050406030204" pitchFamily="18" charset="0"/>
                                        </a:rPr>
                                      </m:ctrlPr>
                                    </m:sSupPr>
                                    <m:e>
                                      <m:r>
                                        <a:rPr lang="en-GB" sz="1400" b="0" i="1" noProof="0" smtClean="0">
                                          <a:solidFill>
                                            <a:schemeClr val="tx1"/>
                                          </a:solidFill>
                                          <a:latin typeface="Cambria Math" panose="02040503050406030204" pitchFamily="18" charset="0"/>
                                        </a:rPr>
                                        <m:t>𝑥</m:t>
                                      </m:r>
                                    </m:e>
                                    <m:sup>
                                      <m:r>
                                        <a:rPr lang="en-GB" sz="1400" b="0" i="1" noProof="0" smtClean="0">
                                          <a:solidFill>
                                            <a:schemeClr val="tx1"/>
                                          </a:solidFill>
                                          <a:latin typeface="Cambria Math" panose="02040503050406030204" pitchFamily="18" charset="0"/>
                                        </a:rPr>
                                        <m:t>2</m:t>
                                      </m:r>
                                    </m:sup>
                                  </m:sSup>
                                  <m:r>
                                    <a:rPr lang="en-GB" sz="1400" b="0" i="1" noProof="0" smtClean="0">
                                      <a:solidFill>
                                        <a:schemeClr val="tx1"/>
                                      </a:solidFill>
                                      <a:latin typeface="Cambria Math" panose="02040503050406030204" pitchFamily="18" charset="0"/>
                                    </a:rPr>
                                    <m:t>+9</m:t>
                                  </m:r>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+20</m:t>
                                  </m:r>
                                </m:den>
                              </m:f>
                              <m:r>
                                <a:rPr lang="en-GB" sz="1400" b="0" i="1" noProof="0">
                                  <a:solidFill>
                                    <a:schemeClr val="tx1"/>
                                  </a:solidFill>
                                  <a:latin typeface="Cambria Math" panose="02040503050406030204" pitchFamily="18" charset="0"/>
                                  <a:ea typeface="Cambria Math" panose="02040503050406030204" pitchFamily="18" charset="0"/>
                                </a:rPr>
                                <m:t>×</m:t>
                              </m:r>
                              <m:f>
                                <m:fPr>
                                  <m:ctrlPr>
                                    <a:rPr lang="en-GB" sz="1400" b="0" i="1" noProof="0">
                                      <a:solidFill>
                                        <a:schemeClr val="tx1"/>
                                      </a:solidFill>
                                      <a:latin typeface="Cambria Math" panose="02040503050406030204" pitchFamily="18" charset="0"/>
                                    </a:rPr>
                                  </m:ctrlPr>
                                </m:fPr>
                                <m:num>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+4</m:t>
                                  </m:r>
                                </m:num>
                                <m:den>
                                  <m:r>
                                    <a:rPr lang="en-GB" sz="1400" b="0" i="1" noProof="0" smtClean="0">
                                      <a:solidFill>
                                        <a:schemeClr val="tx1"/>
                                      </a:solidFill>
                                      <a:latin typeface="Cambria Math" panose="02040503050406030204" pitchFamily="18" charset="0"/>
                                    </a:rPr>
                                    <m:t>𝑥</m:t>
                                  </m:r>
                                  <m:r>
                                    <a:rPr lang="en-GB" sz="1400" b="0" i="1" noProof="0" smtClean="0">
                                      <a:solidFill>
                                        <a:schemeClr val="tx1"/>
                                      </a:solidFill>
                                      <a:latin typeface="Cambria Math" panose="02040503050406030204" pitchFamily="18" charset="0"/>
                                    </a:rPr>
                                    <m:t>−2</m:t>
                                  </m:r>
                                </m:den>
                              </m:f>
                            </m:oMath>
                          </a14:m>
                          <a:r>
                            <a:rPr lang="en-GB" sz="14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58898">
                    <a:tc>
                      <a:txBody>
                        <a:bodyPr/>
                        <a:lstStyle/>
                        <a:p>
                          <a:pPr marL="228600" indent="-228600">
                            <a:buAutoNum type="arabicParenR"/>
                          </a:pPr>
                          <a:r>
                            <a:rPr lang="en-GB" sz="1100" noProof="0" dirty="0">
                              <a:solidFill>
                                <a:schemeClr val="tx1"/>
                              </a:solidFill>
                            </a:rPr>
                            <a:t>Where possible, factorise any parts of the expression</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5889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Look to see if any terms can be cancelled out.</a:t>
                          </a:r>
                        </a:p>
                        <a:p>
                          <a:pPr marL="228600" indent="-228600">
                            <a:buAutoNum type="arabicParenR"/>
                          </a:pP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805106717"/>
                      </a:ext>
                    </a:extLst>
                  </a:tr>
                  <a:tr h="1058898">
                    <a:tc>
                      <a:txBody>
                        <a:bodyPr/>
                        <a:lstStyle/>
                        <a:p>
                          <a:pPr marL="0" indent="0">
                            <a:buNone/>
                          </a:pPr>
                          <a:r>
                            <a:rPr lang="en-GB" sz="1100" noProof="0" dirty="0">
                              <a:solidFill>
                                <a:schemeClr val="tx1"/>
                              </a:solidFill>
                            </a:rPr>
                            <a:t>3)</a:t>
                          </a:r>
                          <a:r>
                            <a:rPr lang="en-GB" sz="1100" baseline="0" noProof="0" dirty="0">
                              <a:solidFill>
                                <a:schemeClr val="tx1"/>
                              </a:solidFill>
                            </a:rPr>
                            <a:t> Simplify as appropriate.</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4131530"/>
                      </a:ext>
                    </a:extLst>
                  </a:tr>
                </a:tbl>
              </a:graphicData>
            </a:graphic>
          </p:graphicFrame>
        </mc:Choice>
        <mc:Fallback xmlns="">
          <p:graphicFrame>
            <p:nvGraphicFramePr>
              <p:cNvPr id="97" name="Table 96"/>
              <p:cNvGraphicFramePr>
                <a:graphicFrameLocks noGrp="1"/>
              </p:cNvGraphicFramePr>
              <p:nvPr>
                <p:extLst>
                  <p:ext uri="{D42A27DB-BD31-4B8C-83A1-F6EECF244321}">
                    <p14:modId xmlns:p14="http://schemas.microsoft.com/office/powerpoint/2010/main" val="1949807000"/>
                  </p:ext>
                </p:extLst>
              </p:nvPr>
            </p:nvGraphicFramePr>
            <p:xfrm>
              <a:off x="181779" y="5937749"/>
              <a:ext cx="6484022" cy="3863301"/>
            </p:xfrm>
            <a:graphic>
              <a:graphicData uri="http://schemas.openxmlformats.org/drawingml/2006/table">
                <a:tbl>
                  <a:tblPr firstRow="1" bandRow="1">
                    <a:tableStyleId>{5C22544A-7EE6-4342-B048-85BDC9FD1C3A}</a:tableStyleId>
                  </a:tblPr>
                  <a:tblGrid>
                    <a:gridCol w="1113621">
                      <a:extLst>
                        <a:ext uri="{9D8B030D-6E8A-4147-A177-3AD203B41FA5}">
                          <a16:colId xmlns:a16="http://schemas.microsoft.com/office/drawing/2014/main" val="1568142362"/>
                        </a:ext>
                      </a:extLst>
                    </a:gridCol>
                    <a:gridCol w="1625092">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80585">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68914" t="-2532" r="-231086" b="-7050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42722" t="-2532" r="-95253" b="-7050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56522" t="-2532" r="-669" b="-705063"/>
                          </a:stretch>
                        </a:blipFill>
                      </a:tcPr>
                    </a:tc>
                    <a:extLst>
                      <a:ext uri="{0D108BD9-81ED-4DB2-BD59-A6C34878D82A}">
                        <a16:rowId xmlns:a16="http://schemas.microsoft.com/office/drawing/2014/main" val="2357201933"/>
                      </a:ext>
                    </a:extLst>
                  </a:tr>
                  <a:tr h="1264920">
                    <a:tc>
                      <a:txBody>
                        <a:bodyPr/>
                        <a:lstStyle/>
                        <a:p>
                          <a:pPr marL="228600" indent="-228600">
                            <a:buAutoNum type="arabicParenR"/>
                          </a:pPr>
                          <a:r>
                            <a:rPr lang="en-GB" sz="1100" noProof="0">
                              <a:solidFill>
                                <a:schemeClr val="tx1"/>
                              </a:solidFill>
                            </a:rPr>
                            <a:t>Where possible, factorise any parts of the expression</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5889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a:solidFill>
                                <a:schemeClr val="tx1"/>
                              </a:solidFill>
                            </a:rPr>
                            <a:t>2) Look to see if any terms can be cancelled out.</a:t>
                          </a:r>
                        </a:p>
                        <a:p>
                          <a:pPr marL="228600" indent="-228600">
                            <a:buAutoNum type="arabicParenR"/>
                          </a:pP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805106717"/>
                      </a:ext>
                    </a:extLst>
                  </a:tr>
                  <a:tr h="1058898">
                    <a:tc>
                      <a:txBody>
                        <a:bodyPr/>
                        <a:lstStyle/>
                        <a:p>
                          <a:pPr marL="0" indent="0">
                            <a:buNone/>
                          </a:pPr>
                          <a:r>
                            <a:rPr lang="en-GB" sz="1100" noProof="0">
                              <a:solidFill>
                                <a:schemeClr val="tx1"/>
                              </a:solidFill>
                            </a:rPr>
                            <a:t>3)</a:t>
                          </a:r>
                          <a:r>
                            <a:rPr lang="en-GB" sz="1100" baseline="0" noProof="0">
                              <a:solidFill>
                                <a:schemeClr val="tx1"/>
                              </a:solidFill>
                            </a:rPr>
                            <a:t> Simplify as appropriate.</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4131530"/>
                      </a:ext>
                    </a:extLst>
                  </a:tr>
                </a:tbl>
              </a:graphicData>
            </a:graphic>
          </p:graphicFrame>
        </mc:Fallback>
      </mc:AlternateContent>
      <p:sp>
        <p:nvSpPr>
          <p:cNvPr id="98" name="TextBox 97">
            <a:extLst>
              <a:ext uri="{FF2B5EF4-FFF2-40B4-BE49-F238E27FC236}">
                <a16:creationId xmlns:a16="http://schemas.microsoft.com/office/drawing/2014/main" id="{72FAE9BB-D81F-4207-9FF8-E6BE971A99D9}"/>
              </a:ext>
            </a:extLst>
          </p:cNvPr>
          <p:cNvSpPr txBox="1"/>
          <p:nvPr/>
        </p:nvSpPr>
        <p:spPr>
          <a:xfrm>
            <a:off x="4973017" y="5628637"/>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18 - You do…</a:t>
            </a:r>
          </a:p>
        </p:txBody>
      </p:sp>
      <p:sp>
        <p:nvSpPr>
          <p:cNvPr id="99" name="TextBox 98">
            <a:extLst>
              <a:ext uri="{FF2B5EF4-FFF2-40B4-BE49-F238E27FC236}">
                <a16:creationId xmlns:a16="http://schemas.microsoft.com/office/drawing/2014/main" id="{337F58E6-37DE-4890-BDE3-0101DB4D4F11}"/>
              </a:ext>
            </a:extLst>
          </p:cNvPr>
          <p:cNvSpPr txBox="1"/>
          <p:nvPr/>
        </p:nvSpPr>
        <p:spPr>
          <a:xfrm>
            <a:off x="3179950" y="5628638"/>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17 - We do…</a:t>
            </a:r>
          </a:p>
        </p:txBody>
      </p:sp>
      <p:sp>
        <p:nvSpPr>
          <p:cNvPr id="100" name="TextBox 99">
            <a:extLst>
              <a:ext uri="{FF2B5EF4-FFF2-40B4-BE49-F238E27FC236}">
                <a16:creationId xmlns:a16="http://schemas.microsoft.com/office/drawing/2014/main" id="{20EB31B5-3203-4E48-8A19-892EA568053E}"/>
              </a:ext>
            </a:extLst>
          </p:cNvPr>
          <p:cNvSpPr txBox="1"/>
          <p:nvPr/>
        </p:nvSpPr>
        <p:spPr>
          <a:xfrm>
            <a:off x="1337389" y="5628639"/>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16 - I do…</a:t>
            </a:r>
          </a:p>
        </p:txBody>
      </p:sp>
      <p:sp>
        <p:nvSpPr>
          <p:cNvPr id="27" name="TextBox 26">
            <a:extLst>
              <a:ext uri="{FF2B5EF4-FFF2-40B4-BE49-F238E27FC236}">
                <a16:creationId xmlns:a16="http://schemas.microsoft.com/office/drawing/2014/main" id="{C3C65E48-8C3D-6849-AD77-7AD8678AD8DA}"/>
              </a:ext>
            </a:extLst>
          </p:cNvPr>
          <p:cNvSpPr txBox="1"/>
          <p:nvPr/>
        </p:nvSpPr>
        <p:spPr>
          <a:xfrm>
            <a:off x="197694" y="2732481"/>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2502521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403616" y="9576100"/>
            <a:ext cx="1543050" cy="527403"/>
          </a:xfrm>
        </p:spPr>
        <p:txBody>
          <a:bodyPr/>
          <a:lstStyle/>
          <a:p>
            <a:fld id="{9BD3B4A0-BFF9-422C-B253-48BA94BE2F5B}" type="slidenum">
              <a:rPr lang="en-GB" noProof="0" smtClean="0"/>
              <a:t>13</a:t>
            </a:fld>
            <a:endParaRPr lang="en-GB" noProof="0" dirty="0"/>
          </a:p>
        </p:txBody>
      </p:sp>
      <p:sp>
        <p:nvSpPr>
          <p:cNvPr id="4" name="TextBox 3"/>
          <p:cNvSpPr txBox="1"/>
          <p:nvPr/>
        </p:nvSpPr>
        <p:spPr>
          <a:xfrm>
            <a:off x="1627607" y="80152"/>
            <a:ext cx="2292231" cy="276999"/>
          </a:xfrm>
          <a:prstGeom prst="rect">
            <a:avLst/>
          </a:prstGeom>
          <a:noFill/>
        </p:spPr>
        <p:txBody>
          <a:bodyPr wrap="none" rtlCol="0">
            <a:spAutoFit/>
          </a:bodyPr>
          <a:lstStyle/>
          <a:p>
            <a:pPr algn="ctr"/>
            <a:r>
              <a:rPr lang="en-GB" sz="1200" noProof="0" dirty="0"/>
              <a:t>5. Simplify the algebraic fractions.</a:t>
            </a:r>
          </a:p>
        </p:txBody>
      </p:sp>
      <mc:AlternateContent xmlns:mc="http://schemas.openxmlformats.org/markup-compatibility/2006" xmlns:a14="http://schemas.microsoft.com/office/drawing/2010/main">
        <mc:Choice Requires="a14">
          <p:sp>
            <p:nvSpPr>
              <p:cNvPr id="6" name="TextBox 5"/>
              <p:cNvSpPr txBox="1"/>
              <p:nvPr/>
            </p:nvSpPr>
            <p:spPr>
              <a:xfrm>
                <a:off x="3540498" y="465985"/>
                <a:ext cx="1734642" cy="722698"/>
              </a:xfrm>
              <a:prstGeom prst="rect">
                <a:avLst/>
              </a:prstGeom>
              <a:noFill/>
            </p:spPr>
            <p:txBody>
              <a:bodyPr wrap="none" rtlCol="0">
                <a:spAutoFit/>
              </a:bodyPr>
              <a:lstStyle/>
              <a:p>
                <a:r>
                  <a:rPr lang="en-GB" sz="1600" noProof="0" dirty="0"/>
                  <a:t>b) </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m:t>
                        </m:r>
                        <m:r>
                          <a:rPr lang="en-GB" sz="1600" b="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−4</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num>
                      <m:den>
                        <m:r>
                          <a:rPr lang="en-GB" sz="1600" b="0" i="1" noProof="0" smtClean="0">
                            <a:latin typeface="Cambria Math" panose="02040503050406030204" pitchFamily="18" charset="0"/>
                          </a:rPr>
                          <m:t>6</m:t>
                        </m:r>
                        <m:r>
                          <a:rPr lang="en-GB" sz="1600" i="1" noProof="0" smtClean="0">
                            <a:latin typeface="Cambria Math" panose="02040503050406030204" pitchFamily="18" charset="0"/>
                          </a:rPr>
                          <m:t>𝑥</m:t>
                        </m:r>
                        <m:r>
                          <a:rPr lang="en-GB" sz="1600" i="1" noProof="0" smtClean="0">
                            <a:latin typeface="Cambria Math" panose="02040503050406030204" pitchFamily="18" charset="0"/>
                          </a:rPr>
                          <m:t>+24</m:t>
                        </m:r>
                      </m:den>
                    </m:f>
                  </m:oMath>
                </a14:m>
                <a:endParaRPr lang="en-GB" sz="1600" noProof="0" dirty="0"/>
              </a:p>
              <a:p>
                <a:r>
                  <a:rPr lang="en-GB" sz="1600" noProof="0" dirty="0"/>
                  <a:t> </a:t>
                </a:r>
              </a:p>
            </p:txBody>
          </p:sp>
        </mc:Choice>
        <mc:Fallback xmlns="">
          <p:sp>
            <p:nvSpPr>
              <p:cNvPr id="6" name="TextBox 5"/>
              <p:cNvSpPr txBox="1">
                <a:spLocks noRot="1" noChangeAspect="1" noMove="1" noResize="1" noEditPoints="1" noAdjustHandles="1" noChangeArrowheads="1" noChangeShapeType="1" noTextEdit="1"/>
              </p:cNvSpPr>
              <p:nvPr/>
            </p:nvSpPr>
            <p:spPr>
              <a:xfrm>
                <a:off x="3540498" y="465985"/>
                <a:ext cx="1734642" cy="722698"/>
              </a:xfrm>
              <a:prstGeom prst="rect">
                <a:avLst/>
              </a:prstGeom>
              <a:blipFill>
                <a:blip r:embed="rId2"/>
                <a:stretch>
                  <a:fillRect l="-21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589218" y="4876023"/>
                <a:ext cx="1561518" cy="476221"/>
              </a:xfrm>
              <a:prstGeom prst="rect">
                <a:avLst/>
              </a:prstGeom>
              <a:noFill/>
            </p:spPr>
            <p:txBody>
              <a:bodyPr wrap="none" rtlCol="0">
                <a:spAutoFit/>
              </a:bodyPr>
              <a:lstStyle/>
              <a:p>
                <a:r>
                  <a:rPr lang="en-GB" sz="1600" noProof="0" dirty="0"/>
                  <a:t>d) </a:t>
                </a:r>
                <a14:m>
                  <m:oMath xmlns:m="http://schemas.openxmlformats.org/officeDocument/2006/math">
                    <m:f>
                      <m:fPr>
                        <m:ctrlPr>
                          <a:rPr lang="en-GB" sz="1600" i="1" noProof="0">
                            <a:latin typeface="Cambria Math" panose="02040503050406030204" pitchFamily="18" charset="0"/>
                          </a:rPr>
                        </m:ctrlPr>
                      </m:fPr>
                      <m:num>
                        <m:sSup>
                          <m:sSupPr>
                            <m:ctrlPr>
                              <a:rPr lang="en-GB" sz="1600" b="0" i="1" noProof="0" smtClean="0">
                                <a:latin typeface="Cambria Math" panose="02040503050406030204" pitchFamily="18" charset="0"/>
                              </a:rPr>
                            </m:ctrlPr>
                          </m:sSupPr>
                          <m:e>
                            <m:d>
                              <m:dPr>
                                <m:ctrlPr>
                                  <a:rPr lang="en-GB" sz="1600" b="0" i="1" noProof="0" smtClean="0">
                                    <a:latin typeface="Cambria Math" panose="02040503050406030204" pitchFamily="18" charset="0"/>
                                  </a:rPr>
                                </m:ctrlPr>
                              </m:dPr>
                              <m:e>
                                <m:r>
                                  <a:rPr lang="en-GB" sz="1600" i="1" noProof="0" smtClean="0">
                                    <a:latin typeface="Cambria Math" panose="02040503050406030204" pitchFamily="18" charset="0"/>
                                  </a:rPr>
                                  <m:t>𝑥</m:t>
                                </m:r>
                                <m:r>
                                  <a:rPr lang="en-GB" sz="1600" i="1" noProof="0" smtClean="0">
                                    <a:latin typeface="Cambria Math" panose="02040503050406030204" pitchFamily="18" charset="0"/>
                                  </a:rPr>
                                  <m:t>+1</m:t>
                                </m:r>
                              </m:e>
                            </m:d>
                          </m:e>
                          <m:sup>
                            <m:r>
                              <a:rPr lang="en-GB" sz="1600" b="0" i="1" noProof="0" smtClean="0">
                                <a:latin typeface="Cambria Math" panose="02040503050406030204" pitchFamily="18" charset="0"/>
                              </a:rPr>
                              <m:t>2</m:t>
                            </m:r>
                          </m:sup>
                        </m:sSup>
                      </m:num>
                      <m:den>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i="1" noProof="0" smtClean="0">
                            <a:latin typeface="Cambria Math" panose="02040503050406030204" pitchFamily="18" charset="0"/>
                          </a:rPr>
                          <m:t>−4</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m:t>
                        </m:r>
                      </m:num>
                      <m:den>
                        <m:r>
                          <a:rPr lang="en-GB" sz="1600" i="1" noProof="0" smtClean="0">
                            <a:latin typeface="Cambria Math" panose="02040503050406030204" pitchFamily="18" charset="0"/>
                          </a:rPr>
                          <m:t>𝑥</m:t>
                        </m:r>
                        <m:r>
                          <a:rPr lang="en-GB" sz="1600" i="1" noProof="0" smtClean="0">
                            <a:latin typeface="Cambria Math" panose="02040503050406030204" pitchFamily="18" charset="0"/>
                          </a:rPr>
                          <m:t>+1</m:t>
                        </m:r>
                      </m:den>
                    </m:f>
                  </m:oMath>
                </a14:m>
                <a:endParaRPr lang="en-GB" sz="1600" noProof="0" dirty="0"/>
              </a:p>
            </p:txBody>
          </p:sp>
        </mc:Choice>
        <mc:Fallback xmlns="">
          <p:sp>
            <p:nvSpPr>
              <p:cNvPr id="8" name="TextBox 7"/>
              <p:cNvSpPr txBox="1">
                <a:spLocks noRot="1" noChangeAspect="1" noMove="1" noResize="1" noEditPoints="1" noAdjustHandles="1" noChangeArrowheads="1" noChangeShapeType="1" noTextEdit="1"/>
              </p:cNvSpPr>
              <p:nvPr/>
            </p:nvSpPr>
            <p:spPr>
              <a:xfrm>
                <a:off x="3589218" y="4876023"/>
                <a:ext cx="1561518" cy="476221"/>
              </a:xfrm>
              <a:prstGeom prst="rect">
                <a:avLst/>
              </a:prstGeom>
              <a:blipFill>
                <a:blip r:embed="rId3"/>
                <a:stretch>
                  <a:fillRect l="-2344" b="-5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210500" y="4876023"/>
                <a:ext cx="1713802" cy="688009"/>
              </a:xfrm>
              <a:prstGeom prst="rect">
                <a:avLst/>
              </a:prstGeom>
              <a:noFill/>
            </p:spPr>
            <p:txBody>
              <a:bodyPr wrap="none" rtlCol="0">
                <a:spAutoFit/>
              </a:bodyPr>
              <a:lstStyle/>
              <a:p>
                <a:r>
                  <a:rPr lang="en-GB" sz="1600" noProof="0" dirty="0"/>
                  <a:t>c) </a:t>
                </a:r>
                <a14:m>
                  <m:oMath xmlns:m="http://schemas.openxmlformats.org/officeDocument/2006/math">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𝑥</m:t>
                        </m:r>
                        <m:r>
                          <a:rPr lang="en-GB" sz="1600" i="1" noProof="0" smtClean="0">
                            <a:latin typeface="Cambria Math" panose="02040503050406030204" pitchFamily="18" charset="0"/>
                          </a:rPr>
                          <m:t>+2</m:t>
                        </m:r>
                      </m:num>
                      <m:den>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i="1" noProof="0" smtClean="0">
                            <a:latin typeface="Cambria Math" panose="02040503050406030204" pitchFamily="18" charset="0"/>
                          </a:rPr>
                          <m:t>−4</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6</m:t>
                        </m:r>
                        <m:r>
                          <a:rPr lang="en-GB" sz="1600" i="1" noProof="0" smtClean="0">
                            <a:latin typeface="Cambria Math" panose="02040503050406030204" pitchFamily="18" charset="0"/>
                          </a:rPr>
                          <m:t>𝑥</m:t>
                        </m:r>
                        <m:r>
                          <a:rPr lang="en-GB" sz="1600" i="1" noProof="0" smtClean="0">
                            <a:latin typeface="Cambria Math" panose="02040503050406030204" pitchFamily="18" charset="0"/>
                          </a:rPr>
                          <m:t>+24</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den>
                    </m:f>
                  </m:oMath>
                </a14:m>
                <a:endParaRPr lang="en-GB" sz="1600" noProof="0" dirty="0"/>
              </a:p>
              <a:p>
                <a:r>
                  <a:rPr lang="en-GB" sz="1600" noProof="0" dirty="0"/>
                  <a:t> </a:t>
                </a:r>
              </a:p>
            </p:txBody>
          </p:sp>
        </mc:Choice>
        <mc:Fallback xmlns="">
          <p:sp>
            <p:nvSpPr>
              <p:cNvPr id="46" name="TextBox 45"/>
              <p:cNvSpPr txBox="1">
                <a:spLocks noRot="1" noChangeAspect="1" noMove="1" noResize="1" noEditPoints="1" noAdjustHandles="1" noChangeArrowheads="1" noChangeShapeType="1" noTextEdit="1"/>
              </p:cNvSpPr>
              <p:nvPr/>
            </p:nvSpPr>
            <p:spPr>
              <a:xfrm>
                <a:off x="210500" y="4876023"/>
                <a:ext cx="1713802" cy="688009"/>
              </a:xfrm>
              <a:prstGeom prst="rect">
                <a:avLst/>
              </a:prstGeom>
              <a:blipFill>
                <a:blip r:embed="rId4"/>
                <a:stretch>
                  <a:fillRect l="-2135"/>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C3C65E48-8C3D-6849-AD77-7AD8678AD8DA}"/>
              </a:ext>
            </a:extLst>
          </p:cNvPr>
          <p:cNvSpPr txBox="1"/>
          <p:nvPr/>
        </p:nvSpPr>
        <p:spPr>
          <a:xfrm>
            <a:off x="67565" y="80152"/>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7" name="Rectangle 6">
            <a:extLst>
              <a:ext uri="{FF2B5EF4-FFF2-40B4-BE49-F238E27FC236}">
                <a16:creationId xmlns:a16="http://schemas.microsoft.com/office/drawing/2014/main" id="{7252113D-CAC0-6418-7D60-2176B7A34E38}"/>
              </a:ext>
            </a:extLst>
          </p:cNvPr>
          <p:cNvSpPr/>
          <p:nvPr/>
        </p:nvSpPr>
        <p:spPr>
          <a:xfrm>
            <a:off x="168184"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1" name="Rectangle 20">
            <a:extLst>
              <a:ext uri="{FF2B5EF4-FFF2-40B4-BE49-F238E27FC236}">
                <a16:creationId xmlns:a16="http://schemas.microsoft.com/office/drawing/2014/main" id="{25F405E5-41A0-0760-7319-011AEE606013}"/>
              </a:ext>
            </a:extLst>
          </p:cNvPr>
          <p:cNvSpPr/>
          <p:nvPr/>
        </p:nvSpPr>
        <p:spPr>
          <a:xfrm>
            <a:off x="3540498"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2" name="Rectangle 21">
            <a:extLst>
              <a:ext uri="{FF2B5EF4-FFF2-40B4-BE49-F238E27FC236}">
                <a16:creationId xmlns:a16="http://schemas.microsoft.com/office/drawing/2014/main" id="{6253F134-D554-FAEA-86F0-0B21C6CA1773}"/>
              </a:ext>
            </a:extLst>
          </p:cNvPr>
          <p:cNvSpPr/>
          <p:nvPr/>
        </p:nvSpPr>
        <p:spPr>
          <a:xfrm>
            <a:off x="168184"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3" name="Rectangle 22">
            <a:extLst>
              <a:ext uri="{FF2B5EF4-FFF2-40B4-BE49-F238E27FC236}">
                <a16:creationId xmlns:a16="http://schemas.microsoft.com/office/drawing/2014/main" id="{B0E2BE88-667E-1611-589A-E458ABB8ABEB}"/>
              </a:ext>
            </a:extLst>
          </p:cNvPr>
          <p:cNvSpPr/>
          <p:nvPr/>
        </p:nvSpPr>
        <p:spPr>
          <a:xfrm>
            <a:off x="3540498"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90EBD13-8391-246C-0842-8946B70D8D72}"/>
                  </a:ext>
                </a:extLst>
              </p:cNvPr>
              <p:cNvSpPr txBox="1"/>
              <p:nvPr/>
            </p:nvSpPr>
            <p:spPr>
              <a:xfrm>
                <a:off x="160806" y="478383"/>
                <a:ext cx="1763496" cy="754245"/>
              </a:xfrm>
              <a:prstGeom prst="rect">
                <a:avLst/>
              </a:prstGeom>
              <a:noFill/>
            </p:spPr>
            <p:txBody>
              <a:bodyPr wrap="none" rtlCol="0">
                <a:spAutoFit/>
              </a:bodyPr>
              <a:lstStyle/>
              <a:p>
                <a:r>
                  <a:rPr lang="en-GB" sz="1600" noProof="0" dirty="0"/>
                  <a:t>a) </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m:t>
                        </m:r>
                        <m:r>
                          <a:rPr lang="en-GB" sz="1600" b="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−4</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m:t>
                        </m:r>
                      </m:num>
                      <m:den>
                        <m:r>
                          <a:rPr lang="en-GB" sz="1600" b="0" i="1" noProof="0" smtClean="0">
                            <a:latin typeface="Cambria Math" panose="02040503050406030204" pitchFamily="18" charset="0"/>
                          </a:rPr>
                          <m:t>6(</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+4)</m:t>
                        </m:r>
                      </m:den>
                    </m:f>
                  </m:oMath>
                </a14:m>
                <a:endParaRPr lang="en-GB" sz="1600" noProof="0" dirty="0"/>
              </a:p>
              <a:p>
                <a:r>
                  <a:rPr lang="en-GB" sz="1600" noProof="0" dirty="0"/>
                  <a:t> </a:t>
                </a:r>
              </a:p>
            </p:txBody>
          </p:sp>
        </mc:Choice>
        <mc:Fallback xmlns="">
          <p:sp>
            <p:nvSpPr>
              <p:cNvPr id="27" name="TextBox 26">
                <a:extLst>
                  <a:ext uri="{FF2B5EF4-FFF2-40B4-BE49-F238E27FC236}">
                    <a16:creationId xmlns:a16="http://schemas.microsoft.com/office/drawing/2014/main" id="{990EBD13-8391-246C-0842-8946B70D8D72}"/>
                  </a:ext>
                </a:extLst>
              </p:cNvPr>
              <p:cNvSpPr txBox="1">
                <a:spLocks noRot="1" noChangeAspect="1" noMove="1" noResize="1" noEditPoints="1" noAdjustHandles="1" noChangeArrowheads="1" noChangeShapeType="1" noTextEdit="1"/>
              </p:cNvSpPr>
              <p:nvPr/>
            </p:nvSpPr>
            <p:spPr>
              <a:xfrm>
                <a:off x="160806" y="478383"/>
                <a:ext cx="1763496" cy="754245"/>
              </a:xfrm>
              <a:prstGeom prst="rect">
                <a:avLst/>
              </a:prstGeom>
              <a:blipFill>
                <a:blip r:embed="rId5"/>
                <a:stretch>
                  <a:fillRect l="-1724"/>
                </a:stretch>
              </a:blipFill>
            </p:spPr>
            <p:txBody>
              <a:bodyPr/>
              <a:lstStyle/>
              <a:p>
                <a:r>
                  <a:rPr lang="en-US">
                    <a:noFill/>
                  </a:rPr>
                  <a:t> </a:t>
                </a:r>
              </a:p>
            </p:txBody>
          </p:sp>
        </mc:Fallback>
      </mc:AlternateContent>
    </p:spTree>
    <p:extLst>
      <p:ext uri="{BB962C8B-B14F-4D97-AF65-F5344CB8AC3E}">
        <p14:creationId xmlns:p14="http://schemas.microsoft.com/office/powerpoint/2010/main" val="962353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1714BD-EF17-527A-9BD4-018BE8CA55C6}"/>
              </a:ext>
            </a:extLst>
          </p:cNvPr>
          <p:cNvSpPr>
            <a:spLocks noGrp="1"/>
          </p:cNvSpPr>
          <p:nvPr>
            <p:ph type="sldNum" sz="quarter" idx="12"/>
          </p:nvPr>
        </p:nvSpPr>
        <p:spPr>
          <a:xfrm>
            <a:off x="5314950" y="9378597"/>
            <a:ext cx="1543050" cy="527403"/>
          </a:xfrm>
        </p:spPr>
        <p:txBody>
          <a:bodyPr/>
          <a:lstStyle/>
          <a:p>
            <a:fld id="{9BD3B4A0-BFF9-422C-B253-48BA94BE2F5B}" type="slidenum">
              <a:rPr lang="en-GB" noProof="0" smtClean="0"/>
              <a:t>14</a:t>
            </a:fld>
            <a:endParaRPr lang="en-GB" noProof="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C053CA-035C-B76B-4F59-9CDF4B0F72CF}"/>
                  </a:ext>
                </a:extLst>
              </p:cNvPr>
              <p:cNvSpPr txBox="1"/>
              <p:nvPr/>
            </p:nvSpPr>
            <p:spPr>
              <a:xfrm>
                <a:off x="168184" y="414069"/>
                <a:ext cx="2351028" cy="754245"/>
              </a:xfrm>
              <a:prstGeom prst="rect">
                <a:avLst/>
              </a:prstGeom>
              <a:noFill/>
            </p:spPr>
            <p:txBody>
              <a:bodyPr wrap="none" rtlCol="0">
                <a:spAutoFit/>
              </a:bodyPr>
              <a:lstStyle/>
              <a:p>
                <a:r>
                  <a:rPr lang="en-GB" sz="1600" noProof="0" dirty="0"/>
                  <a:t>e) </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m:t>
                        </m:r>
                        <m:r>
                          <a:rPr lang="en-GB" sz="1600" b="0" i="1" noProof="0" smtClean="0">
                            <a:latin typeface="Cambria Math" panose="02040503050406030204" pitchFamily="18" charset="0"/>
                          </a:rPr>
                          <m:t>16</m:t>
                        </m:r>
                        <m:r>
                          <a:rPr lang="en-GB" sz="1600" i="1" noProof="0" smtClean="0">
                            <a:latin typeface="Cambria Math" panose="02040503050406030204" pitchFamily="18" charset="0"/>
                          </a:rPr>
                          <m:t>𝑥</m:t>
                        </m:r>
                        <m:r>
                          <a:rPr lang="en-GB" sz="1600" b="0" i="1" noProof="0" smtClean="0">
                            <a:latin typeface="Cambria Math" panose="02040503050406030204" pitchFamily="18" charset="0"/>
                          </a:rPr>
                          <m:t>+63</m:t>
                        </m:r>
                      </m:num>
                      <m:den>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num>
                      <m:den>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+9)(</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−14)</m:t>
                        </m:r>
                      </m:den>
                    </m:f>
                  </m:oMath>
                </a14:m>
                <a:endParaRPr lang="en-GB" sz="1600" noProof="0" dirty="0"/>
              </a:p>
              <a:p>
                <a:r>
                  <a:rPr lang="en-GB" sz="1600" noProof="0" dirty="0"/>
                  <a:t> </a:t>
                </a:r>
              </a:p>
            </p:txBody>
          </p:sp>
        </mc:Choice>
        <mc:Fallback xmlns="">
          <p:sp>
            <p:nvSpPr>
              <p:cNvPr id="3" name="TextBox 2">
                <a:extLst>
                  <a:ext uri="{FF2B5EF4-FFF2-40B4-BE49-F238E27FC236}">
                    <a16:creationId xmlns:a16="http://schemas.microsoft.com/office/drawing/2014/main" id="{DCC053CA-035C-B76B-4F59-9CDF4B0F72CF}"/>
                  </a:ext>
                </a:extLst>
              </p:cNvPr>
              <p:cNvSpPr txBox="1">
                <a:spLocks noRot="1" noChangeAspect="1" noMove="1" noResize="1" noEditPoints="1" noAdjustHandles="1" noChangeArrowheads="1" noChangeShapeType="1" noTextEdit="1"/>
              </p:cNvSpPr>
              <p:nvPr/>
            </p:nvSpPr>
            <p:spPr>
              <a:xfrm>
                <a:off x="168184" y="414069"/>
                <a:ext cx="2351028" cy="754245"/>
              </a:xfrm>
              <a:prstGeom prst="rect">
                <a:avLst/>
              </a:prstGeom>
              <a:blipFill>
                <a:blip r:embed="rId2"/>
                <a:stretch>
                  <a:fillRect l="-1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FA7A3F5-9F52-DFBD-5859-7C830FE7F1FF}"/>
                  </a:ext>
                </a:extLst>
              </p:cNvPr>
              <p:cNvSpPr txBox="1"/>
              <p:nvPr/>
            </p:nvSpPr>
            <p:spPr>
              <a:xfrm>
                <a:off x="3484609" y="478102"/>
                <a:ext cx="1864678" cy="476284"/>
              </a:xfrm>
              <a:prstGeom prst="rect">
                <a:avLst/>
              </a:prstGeom>
              <a:noFill/>
            </p:spPr>
            <p:txBody>
              <a:bodyPr wrap="none" rtlCol="0">
                <a:spAutoFit/>
              </a:bodyPr>
              <a:lstStyle/>
              <a:p>
                <a:r>
                  <a:rPr lang="en-GB" sz="1600" noProof="0" dirty="0"/>
                  <a:t>f) </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+16</m:t>
                        </m:r>
                        <m:r>
                          <a:rPr lang="en-GB" sz="1600" i="1" noProof="0" smtClean="0">
                            <a:latin typeface="Cambria Math" panose="02040503050406030204" pitchFamily="18" charset="0"/>
                          </a:rPr>
                          <m:t>𝑥</m:t>
                        </m:r>
                        <m:r>
                          <a:rPr lang="en-GB" sz="1600" i="1" noProof="0" smtClean="0">
                            <a:latin typeface="Cambria Math" panose="02040503050406030204" pitchFamily="18" charset="0"/>
                          </a:rPr>
                          <m:t>+63</m:t>
                        </m:r>
                      </m:num>
                      <m:den>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+9</m:t>
                        </m:r>
                        <m:r>
                          <a:rPr lang="en-GB" sz="1600" b="0" i="1" noProof="0" smtClean="0">
                            <a:latin typeface="Cambria Math" panose="02040503050406030204" pitchFamily="18" charset="0"/>
                          </a:rPr>
                          <m:t>𝑥</m:t>
                        </m:r>
                      </m:den>
                    </m:f>
                  </m:oMath>
                </a14:m>
                <a:endParaRPr lang="en-GB" sz="1600" noProof="0" dirty="0"/>
              </a:p>
            </p:txBody>
          </p:sp>
        </mc:Choice>
        <mc:Fallback xmlns="">
          <p:sp>
            <p:nvSpPr>
              <p:cNvPr id="4" name="TextBox 3">
                <a:extLst>
                  <a:ext uri="{FF2B5EF4-FFF2-40B4-BE49-F238E27FC236}">
                    <a16:creationId xmlns:a16="http://schemas.microsoft.com/office/drawing/2014/main" id="{1FA7A3F5-9F52-DFBD-5859-7C830FE7F1FF}"/>
                  </a:ext>
                </a:extLst>
              </p:cNvPr>
              <p:cNvSpPr txBox="1">
                <a:spLocks noRot="1" noChangeAspect="1" noMove="1" noResize="1" noEditPoints="1" noAdjustHandles="1" noChangeArrowheads="1" noChangeShapeType="1" noTextEdit="1"/>
              </p:cNvSpPr>
              <p:nvPr/>
            </p:nvSpPr>
            <p:spPr>
              <a:xfrm>
                <a:off x="3484609" y="478102"/>
                <a:ext cx="1864678" cy="476284"/>
              </a:xfrm>
              <a:prstGeom prst="rect">
                <a:avLst/>
              </a:prstGeom>
              <a:blipFill>
                <a:blip r:embed="rId3"/>
                <a:stretch>
                  <a:fillRect l="-1961" b="-37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B572ED4-C54D-C2A0-FD14-4590157B5172}"/>
                  </a:ext>
                </a:extLst>
              </p:cNvPr>
              <p:cNvSpPr txBox="1"/>
              <p:nvPr/>
            </p:nvSpPr>
            <p:spPr>
              <a:xfrm>
                <a:off x="202690" y="4981175"/>
                <a:ext cx="1848839" cy="968727"/>
              </a:xfrm>
              <a:prstGeom prst="rect">
                <a:avLst/>
              </a:prstGeom>
              <a:noFill/>
            </p:spPr>
            <p:txBody>
              <a:bodyPr wrap="none" rtlCol="0">
                <a:spAutoFit/>
              </a:bodyPr>
              <a:lstStyle/>
              <a:p>
                <a:r>
                  <a:rPr lang="en-GB" sz="1600" noProof="0" dirty="0"/>
                  <a:t>g)</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+16</m:t>
                        </m:r>
                        <m:r>
                          <a:rPr lang="en-GB" sz="1600" i="1" noProof="0" smtClean="0">
                            <a:latin typeface="Cambria Math" panose="02040503050406030204" pitchFamily="18" charset="0"/>
                          </a:rPr>
                          <m:t>𝑥</m:t>
                        </m:r>
                        <m:r>
                          <a:rPr lang="en-GB" sz="1600" i="1" noProof="0" smtClean="0">
                            <a:latin typeface="Cambria Math" panose="02040503050406030204" pitchFamily="18" charset="0"/>
                          </a:rPr>
                          <m:t>+63</m:t>
                        </m:r>
                      </m:num>
                      <m:den>
                        <m:r>
                          <a:rPr lang="en-GB" sz="1600" b="0" i="1" noProof="0" smtClean="0">
                            <a:latin typeface="Cambria Math" panose="02040503050406030204" pitchFamily="18" charset="0"/>
                          </a:rPr>
                          <m:t>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+9</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num>
                      <m:den>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+9</m:t>
                        </m:r>
                        <m:r>
                          <a:rPr lang="en-GB" sz="1600" i="1" noProof="0" smtClean="0">
                            <a:latin typeface="Cambria Math" panose="02040503050406030204" pitchFamily="18" charset="0"/>
                          </a:rPr>
                          <m:t>𝑥</m:t>
                        </m:r>
                      </m:den>
                    </m:f>
                  </m:oMath>
                </a14:m>
                <a:endParaRPr lang="en-GB" sz="1600" noProof="0" dirty="0"/>
              </a:p>
              <a:p>
                <a:endParaRPr lang="en-GB" sz="1600" noProof="0" dirty="0"/>
              </a:p>
              <a:p>
                <a:r>
                  <a:rPr lang="en-GB" sz="1600" noProof="0" dirty="0"/>
                  <a:t> </a:t>
                </a:r>
              </a:p>
            </p:txBody>
          </p:sp>
        </mc:Choice>
        <mc:Fallback xmlns="">
          <p:sp>
            <p:nvSpPr>
              <p:cNvPr id="5" name="TextBox 4">
                <a:extLst>
                  <a:ext uri="{FF2B5EF4-FFF2-40B4-BE49-F238E27FC236}">
                    <a16:creationId xmlns:a16="http://schemas.microsoft.com/office/drawing/2014/main" id="{EB572ED4-C54D-C2A0-FD14-4590157B5172}"/>
                  </a:ext>
                </a:extLst>
              </p:cNvPr>
              <p:cNvSpPr txBox="1">
                <a:spLocks noRot="1" noChangeAspect="1" noMove="1" noResize="1" noEditPoints="1" noAdjustHandles="1" noChangeArrowheads="1" noChangeShapeType="1" noTextEdit="1"/>
              </p:cNvSpPr>
              <p:nvPr/>
            </p:nvSpPr>
            <p:spPr>
              <a:xfrm>
                <a:off x="202690" y="4981175"/>
                <a:ext cx="1848839" cy="968727"/>
              </a:xfrm>
              <a:prstGeom prst="rect">
                <a:avLst/>
              </a:prstGeom>
              <a:blipFill>
                <a:blip r:embed="rId4"/>
                <a:stretch>
                  <a:fillRect l="-16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7FF3D0C-4BFC-229C-10D3-B84CC7B6C5FA}"/>
                  </a:ext>
                </a:extLst>
              </p:cNvPr>
              <p:cNvSpPr txBox="1"/>
              <p:nvPr/>
            </p:nvSpPr>
            <p:spPr>
              <a:xfrm>
                <a:off x="3540498" y="4943506"/>
                <a:ext cx="1906548" cy="722698"/>
              </a:xfrm>
              <a:prstGeom prst="rect">
                <a:avLst/>
              </a:prstGeom>
              <a:noFill/>
            </p:spPr>
            <p:txBody>
              <a:bodyPr wrap="none" rtlCol="0">
                <a:spAutoFit/>
              </a:bodyPr>
              <a:lstStyle/>
              <a:p>
                <a:r>
                  <a:rPr lang="en-GB" sz="1600" noProof="0" dirty="0"/>
                  <a:t>h) </a:t>
                </a:r>
                <a14:m>
                  <m:oMath xmlns:m="http://schemas.openxmlformats.org/officeDocument/2006/math">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3</m:t>
                        </m:r>
                        <m:r>
                          <a:rPr lang="en-GB" sz="1600" i="1" noProof="0" smtClean="0">
                            <a:latin typeface="Cambria Math" panose="02040503050406030204" pitchFamily="18" charset="0"/>
                          </a:rPr>
                          <m:t>𝑥</m:t>
                        </m:r>
                        <m:r>
                          <a:rPr lang="en-GB" sz="1600" i="1" noProof="0" smtClean="0">
                            <a:latin typeface="Cambria Math" panose="02040503050406030204" pitchFamily="18" charset="0"/>
                          </a:rPr>
                          <m:t>+9</m:t>
                        </m:r>
                      </m:num>
                      <m:den>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+16</m:t>
                        </m:r>
                        <m:r>
                          <a:rPr lang="en-GB" sz="1600" i="1" noProof="0" smtClean="0">
                            <a:latin typeface="Cambria Math" panose="02040503050406030204" pitchFamily="18" charset="0"/>
                          </a:rPr>
                          <m:t>𝑥</m:t>
                        </m:r>
                        <m:r>
                          <a:rPr lang="en-GB" sz="1600" i="1" noProof="0" smtClean="0">
                            <a:latin typeface="Cambria Math" panose="02040503050406030204" pitchFamily="18" charset="0"/>
                          </a:rPr>
                          <m:t>+63</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+9</m:t>
                        </m:r>
                        <m:r>
                          <a:rPr lang="en-GB" sz="1600" i="1" noProof="0" smtClean="0">
                            <a:latin typeface="Cambria Math" panose="02040503050406030204" pitchFamily="18" charset="0"/>
                          </a:rPr>
                          <m:t>𝑥</m:t>
                        </m:r>
                      </m:num>
                      <m:den>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den>
                    </m:f>
                  </m:oMath>
                </a14:m>
                <a:endParaRPr lang="en-GB" sz="1600" noProof="0" dirty="0"/>
              </a:p>
              <a:p>
                <a:r>
                  <a:rPr lang="en-GB" sz="1600" noProof="0" dirty="0"/>
                  <a:t> </a:t>
                </a:r>
              </a:p>
            </p:txBody>
          </p:sp>
        </mc:Choice>
        <mc:Fallback xmlns="">
          <p:sp>
            <p:nvSpPr>
              <p:cNvPr id="6" name="TextBox 5">
                <a:extLst>
                  <a:ext uri="{FF2B5EF4-FFF2-40B4-BE49-F238E27FC236}">
                    <a16:creationId xmlns:a16="http://schemas.microsoft.com/office/drawing/2014/main" id="{B7FF3D0C-4BFC-229C-10D3-B84CC7B6C5FA}"/>
                  </a:ext>
                </a:extLst>
              </p:cNvPr>
              <p:cNvSpPr txBox="1">
                <a:spLocks noRot="1" noChangeAspect="1" noMove="1" noResize="1" noEditPoints="1" noAdjustHandles="1" noChangeArrowheads="1" noChangeShapeType="1" noTextEdit="1"/>
              </p:cNvSpPr>
              <p:nvPr/>
            </p:nvSpPr>
            <p:spPr>
              <a:xfrm>
                <a:off x="3540498" y="4943506"/>
                <a:ext cx="1906548" cy="722698"/>
              </a:xfrm>
              <a:prstGeom prst="rect">
                <a:avLst/>
              </a:prstGeom>
              <a:blipFill>
                <a:blip r:embed="rId5"/>
                <a:stretch>
                  <a:fillRect l="-1917"/>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A5078945-FF95-A8C1-1D55-8B613A5301C4}"/>
              </a:ext>
            </a:extLst>
          </p:cNvPr>
          <p:cNvSpPr/>
          <p:nvPr/>
        </p:nvSpPr>
        <p:spPr>
          <a:xfrm>
            <a:off x="168184"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 name="Rectangle 8">
            <a:extLst>
              <a:ext uri="{FF2B5EF4-FFF2-40B4-BE49-F238E27FC236}">
                <a16:creationId xmlns:a16="http://schemas.microsoft.com/office/drawing/2014/main" id="{28EF55DD-C30C-19F2-0028-139B1E71CDFB}"/>
              </a:ext>
            </a:extLst>
          </p:cNvPr>
          <p:cNvSpPr/>
          <p:nvPr/>
        </p:nvSpPr>
        <p:spPr>
          <a:xfrm>
            <a:off x="3540498"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0" name="Rectangle 9">
            <a:extLst>
              <a:ext uri="{FF2B5EF4-FFF2-40B4-BE49-F238E27FC236}">
                <a16:creationId xmlns:a16="http://schemas.microsoft.com/office/drawing/2014/main" id="{53578517-0EB2-EABF-3344-F0CFD7865BB0}"/>
              </a:ext>
            </a:extLst>
          </p:cNvPr>
          <p:cNvSpPr/>
          <p:nvPr/>
        </p:nvSpPr>
        <p:spPr>
          <a:xfrm>
            <a:off x="168184"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1" name="Rectangle 10">
            <a:extLst>
              <a:ext uri="{FF2B5EF4-FFF2-40B4-BE49-F238E27FC236}">
                <a16:creationId xmlns:a16="http://schemas.microsoft.com/office/drawing/2014/main" id="{29A7BE61-74D8-9851-CF6E-75842D04FF88}"/>
              </a:ext>
            </a:extLst>
          </p:cNvPr>
          <p:cNvSpPr/>
          <p:nvPr/>
        </p:nvSpPr>
        <p:spPr>
          <a:xfrm>
            <a:off x="3540498"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Tree>
    <p:extLst>
      <p:ext uri="{BB962C8B-B14F-4D97-AF65-F5344CB8AC3E}">
        <p14:creationId xmlns:p14="http://schemas.microsoft.com/office/powerpoint/2010/main" val="1627169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ECBDF3-1220-95CD-F41D-546845CECEB8}"/>
              </a:ext>
            </a:extLst>
          </p:cNvPr>
          <p:cNvSpPr>
            <a:spLocks noGrp="1"/>
          </p:cNvSpPr>
          <p:nvPr>
            <p:ph type="sldNum" sz="quarter" idx="12"/>
          </p:nvPr>
        </p:nvSpPr>
        <p:spPr/>
        <p:txBody>
          <a:bodyPr/>
          <a:lstStyle/>
          <a:p>
            <a:fld id="{9BD3B4A0-BFF9-422C-B253-48BA94BE2F5B}" type="slidenum">
              <a:rPr lang="en-GB" noProof="0" smtClean="0"/>
              <a:t>15</a:t>
            </a:fld>
            <a:endParaRPr lang="en-GB" noProof="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5CFB7F8-D909-C63F-2994-0519CB0346C4}"/>
                  </a:ext>
                </a:extLst>
              </p:cNvPr>
              <p:cNvSpPr txBox="1"/>
              <p:nvPr/>
            </p:nvSpPr>
            <p:spPr>
              <a:xfrm>
                <a:off x="119558" y="203050"/>
                <a:ext cx="1471300" cy="722442"/>
              </a:xfrm>
              <a:prstGeom prst="rect">
                <a:avLst/>
              </a:prstGeom>
              <a:noFill/>
            </p:spPr>
            <p:txBody>
              <a:bodyPr wrap="none" rtlCol="0">
                <a:spAutoFit/>
              </a:bodyPr>
              <a:lstStyle/>
              <a:p>
                <a:r>
                  <a:rPr lang="en-GB" sz="1600" noProof="0" dirty="0" err="1"/>
                  <a:t>i</a:t>
                </a:r>
                <a:r>
                  <a:rPr lang="en-GB" sz="1600" noProof="0" dirty="0"/>
                  <a:t>) </a:t>
                </a:r>
                <a14:m>
                  <m:oMath xmlns:m="http://schemas.openxmlformats.org/officeDocument/2006/math">
                    <m:f>
                      <m:fPr>
                        <m:ctrlPr>
                          <a:rPr lang="en-GB" sz="1600" i="1" noProof="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−9</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+4</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2</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+8</m:t>
                        </m:r>
                        <m:r>
                          <a:rPr lang="en-GB" sz="1600" b="0" i="1" noProof="0" smtClean="0">
                            <a:latin typeface="Cambria Math" panose="02040503050406030204" pitchFamily="18" charset="0"/>
                          </a:rPr>
                          <m:t>𝑥</m:t>
                        </m:r>
                      </m:num>
                      <m:den>
                        <m:r>
                          <a:rPr lang="en-GB" sz="1600" b="0" i="1" noProof="0" smtClean="0">
                            <a:latin typeface="Cambria Math" panose="02040503050406030204" pitchFamily="18" charset="0"/>
                          </a:rPr>
                          <m:t>𝑥</m:t>
                        </m:r>
                        <m:r>
                          <a:rPr lang="en-GB" sz="1600" i="1" noProof="0" smtClean="0">
                            <a:latin typeface="Cambria Math" panose="02040503050406030204" pitchFamily="18" charset="0"/>
                          </a:rPr>
                          <m:t>+</m:t>
                        </m:r>
                        <m:r>
                          <a:rPr lang="en-GB" sz="1600" b="0" i="1" noProof="0" smtClean="0">
                            <a:latin typeface="Cambria Math" panose="02040503050406030204" pitchFamily="18" charset="0"/>
                          </a:rPr>
                          <m:t>3</m:t>
                        </m:r>
                      </m:den>
                    </m:f>
                  </m:oMath>
                </a14:m>
                <a:endParaRPr lang="en-GB" sz="1600" noProof="0" dirty="0"/>
              </a:p>
              <a:p>
                <a:r>
                  <a:rPr lang="en-GB" sz="1600" noProof="0" dirty="0"/>
                  <a:t> </a:t>
                </a:r>
              </a:p>
            </p:txBody>
          </p:sp>
        </mc:Choice>
        <mc:Fallback xmlns="">
          <p:sp>
            <p:nvSpPr>
              <p:cNvPr id="3" name="TextBox 2">
                <a:extLst>
                  <a:ext uri="{FF2B5EF4-FFF2-40B4-BE49-F238E27FC236}">
                    <a16:creationId xmlns:a16="http://schemas.microsoft.com/office/drawing/2014/main" id="{65CFB7F8-D909-C63F-2994-0519CB0346C4}"/>
                  </a:ext>
                </a:extLst>
              </p:cNvPr>
              <p:cNvSpPr txBox="1">
                <a:spLocks noRot="1" noChangeAspect="1" noMove="1" noResize="1" noEditPoints="1" noAdjustHandles="1" noChangeArrowheads="1" noChangeShapeType="1" noTextEdit="1"/>
              </p:cNvSpPr>
              <p:nvPr/>
            </p:nvSpPr>
            <p:spPr>
              <a:xfrm>
                <a:off x="119558" y="203050"/>
                <a:ext cx="1471300" cy="722442"/>
              </a:xfrm>
              <a:prstGeom prst="rect">
                <a:avLst/>
              </a:prstGeom>
              <a:blipFill>
                <a:blip r:embed="rId2"/>
                <a:stretch>
                  <a:fillRect l="-24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5ED5538-47CF-45B8-0877-AE8689C24219}"/>
                  </a:ext>
                </a:extLst>
              </p:cNvPr>
              <p:cNvSpPr txBox="1"/>
              <p:nvPr/>
            </p:nvSpPr>
            <p:spPr>
              <a:xfrm>
                <a:off x="3540498" y="203050"/>
                <a:ext cx="1302601" cy="722698"/>
              </a:xfrm>
              <a:prstGeom prst="rect">
                <a:avLst/>
              </a:prstGeom>
              <a:noFill/>
            </p:spPr>
            <p:txBody>
              <a:bodyPr wrap="none" rtlCol="0">
                <a:spAutoFit/>
              </a:bodyPr>
              <a:lstStyle/>
              <a:p>
                <a:r>
                  <a:rPr lang="en-GB" sz="1600" noProof="0" dirty="0"/>
                  <a:t>j) </a:t>
                </a:r>
                <a14:m>
                  <m:oMath xmlns:m="http://schemas.openxmlformats.org/officeDocument/2006/math">
                    <m:f>
                      <m:fPr>
                        <m:ctrlPr>
                          <a:rPr lang="en-GB" sz="1600" i="1" noProof="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−36</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2</m:t>
                        </m:r>
                        <m:r>
                          <a:rPr lang="en-GB" sz="1600" b="0" i="1" noProof="0" smtClean="0">
                            <a:latin typeface="Cambria Math" panose="02040503050406030204" pitchFamily="18" charset="0"/>
                          </a:rPr>
                          <m:t>𝑥</m:t>
                        </m:r>
                      </m:num>
                      <m:den>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den>
                    </m:f>
                  </m:oMath>
                </a14:m>
                <a:endParaRPr lang="en-GB" sz="1600" noProof="0" dirty="0"/>
              </a:p>
              <a:p>
                <a:r>
                  <a:rPr lang="en-GB" sz="1600" noProof="0" dirty="0"/>
                  <a:t> </a:t>
                </a:r>
              </a:p>
            </p:txBody>
          </p:sp>
        </mc:Choice>
        <mc:Fallback xmlns="">
          <p:sp>
            <p:nvSpPr>
              <p:cNvPr id="4" name="TextBox 3">
                <a:extLst>
                  <a:ext uri="{FF2B5EF4-FFF2-40B4-BE49-F238E27FC236}">
                    <a16:creationId xmlns:a16="http://schemas.microsoft.com/office/drawing/2014/main" id="{D5ED5538-47CF-45B8-0877-AE8689C24219}"/>
                  </a:ext>
                </a:extLst>
              </p:cNvPr>
              <p:cNvSpPr txBox="1">
                <a:spLocks noRot="1" noChangeAspect="1" noMove="1" noResize="1" noEditPoints="1" noAdjustHandles="1" noChangeArrowheads="1" noChangeShapeType="1" noTextEdit="1"/>
              </p:cNvSpPr>
              <p:nvPr/>
            </p:nvSpPr>
            <p:spPr>
              <a:xfrm>
                <a:off x="3540498" y="203050"/>
                <a:ext cx="1302601" cy="722698"/>
              </a:xfrm>
              <a:prstGeom prst="rect">
                <a:avLst/>
              </a:prstGeom>
              <a:blipFill>
                <a:blip r:embed="rId3"/>
                <a:stretch>
                  <a:fillRect l="-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8A62369-701A-F2E6-7705-43698F449631}"/>
                  </a:ext>
                </a:extLst>
              </p:cNvPr>
              <p:cNvSpPr txBox="1"/>
              <p:nvPr/>
            </p:nvSpPr>
            <p:spPr>
              <a:xfrm>
                <a:off x="168184" y="4744342"/>
                <a:ext cx="2004331" cy="722698"/>
              </a:xfrm>
              <a:prstGeom prst="rect">
                <a:avLst/>
              </a:prstGeom>
              <a:noFill/>
            </p:spPr>
            <p:txBody>
              <a:bodyPr wrap="none" rtlCol="0">
                <a:spAutoFit/>
              </a:bodyPr>
              <a:lstStyle/>
              <a:p>
                <a:r>
                  <a:rPr lang="en-GB" sz="1600" noProof="0" dirty="0"/>
                  <a:t>k) </a:t>
                </a:r>
                <a14:m>
                  <m:oMath xmlns:m="http://schemas.openxmlformats.org/officeDocument/2006/math">
                    <m:f>
                      <m:fPr>
                        <m:ctrlPr>
                          <a:rPr lang="en-GB" sz="1600" i="1" noProof="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−6</m:t>
                        </m:r>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−25</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+10</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+25</m:t>
                        </m:r>
                      </m:num>
                      <m:den>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−4</m:t>
                        </m:r>
                      </m:den>
                    </m:f>
                  </m:oMath>
                </a14:m>
                <a:endParaRPr lang="en-GB" sz="1600" noProof="0" dirty="0"/>
              </a:p>
              <a:p>
                <a:r>
                  <a:rPr lang="en-GB" sz="1600" noProof="0" dirty="0"/>
                  <a:t> </a:t>
                </a:r>
              </a:p>
            </p:txBody>
          </p:sp>
        </mc:Choice>
        <mc:Fallback xmlns="">
          <p:sp>
            <p:nvSpPr>
              <p:cNvPr id="5" name="TextBox 4">
                <a:extLst>
                  <a:ext uri="{FF2B5EF4-FFF2-40B4-BE49-F238E27FC236}">
                    <a16:creationId xmlns:a16="http://schemas.microsoft.com/office/drawing/2014/main" id="{58A62369-701A-F2E6-7705-43698F449631}"/>
                  </a:ext>
                </a:extLst>
              </p:cNvPr>
              <p:cNvSpPr txBox="1">
                <a:spLocks noRot="1" noChangeAspect="1" noMove="1" noResize="1" noEditPoints="1" noAdjustHandles="1" noChangeArrowheads="1" noChangeShapeType="1" noTextEdit="1"/>
              </p:cNvSpPr>
              <p:nvPr/>
            </p:nvSpPr>
            <p:spPr>
              <a:xfrm>
                <a:off x="168184" y="4744342"/>
                <a:ext cx="2004331" cy="722698"/>
              </a:xfrm>
              <a:prstGeom prst="rect">
                <a:avLst/>
              </a:prstGeom>
              <a:blipFill>
                <a:blip r:embed="rId4"/>
                <a:stretch>
                  <a:fillRect l="-18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F36C1E-8F0D-5EB3-8458-FF88D728140D}"/>
                  </a:ext>
                </a:extLst>
              </p:cNvPr>
              <p:cNvSpPr txBox="1"/>
              <p:nvPr/>
            </p:nvSpPr>
            <p:spPr>
              <a:xfrm>
                <a:off x="3540498" y="4744342"/>
                <a:ext cx="2130968" cy="722698"/>
              </a:xfrm>
              <a:prstGeom prst="rect">
                <a:avLst/>
              </a:prstGeom>
              <a:noFill/>
            </p:spPr>
            <p:txBody>
              <a:bodyPr wrap="none" rtlCol="0">
                <a:spAutoFit/>
              </a:bodyPr>
              <a:lstStyle/>
              <a:p>
                <a:r>
                  <a:rPr lang="en-GB" sz="1600" noProof="0" dirty="0"/>
                  <a:t>l) </a:t>
                </a:r>
                <a14:m>
                  <m:oMath xmlns:m="http://schemas.openxmlformats.org/officeDocument/2006/math">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3</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b="0" i="1" noProof="0" smtClean="0">
                            <a:latin typeface="Cambria Math" panose="02040503050406030204" pitchFamily="18" charset="0"/>
                          </a:rPr>
                          <m:t>+8</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−3</m:t>
                        </m:r>
                      </m:num>
                      <m:den>
                        <m:r>
                          <a:rPr lang="en-GB" sz="1600" i="1" noProof="0" smtClean="0">
                            <a:latin typeface="Cambria Math" panose="02040503050406030204" pitchFamily="18" charset="0"/>
                          </a:rPr>
                          <m:t>2</m:t>
                        </m:r>
                        <m:r>
                          <a:rPr lang="en-GB" sz="1600" b="0" i="1" noProof="0" smtClean="0">
                            <a:latin typeface="Cambria Math" panose="02040503050406030204" pitchFamily="18" charset="0"/>
                          </a:rPr>
                          <m:t>5</m:t>
                        </m:r>
                      </m:den>
                    </m:f>
                    <m:r>
                      <a:rPr lang="en-GB" sz="1600" i="1" noProof="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b="0" i="1" noProof="0" smtClean="0">
                            <a:latin typeface="Cambria Math" panose="02040503050406030204" pitchFamily="18" charset="0"/>
                          </a:rPr>
                          <m:t>30</m:t>
                        </m:r>
                      </m:num>
                      <m:den>
                        <m:r>
                          <a:rPr lang="en-GB" sz="1600" b="0" i="1" noProof="0" smtClean="0">
                            <a:latin typeface="Cambria Math" panose="02040503050406030204" pitchFamily="18" charset="0"/>
                          </a:rPr>
                          <m:t>6</m:t>
                        </m:r>
                        <m:sSup>
                          <m:sSupPr>
                            <m:ctrlPr>
                              <a:rPr lang="en-GB" sz="1600" b="0" i="1" noProof="0" smtClean="0">
                                <a:latin typeface="Cambria Math" panose="02040503050406030204" pitchFamily="18" charset="0"/>
                              </a:rPr>
                            </m:ctrlPr>
                          </m:sSupPr>
                          <m:e>
                            <m:r>
                              <a:rPr lang="en-GB" sz="1600" b="0" i="1" noProof="0" smtClean="0">
                                <a:latin typeface="Cambria Math" panose="02040503050406030204" pitchFamily="18" charset="0"/>
                              </a:rPr>
                              <m:t>𝑥</m:t>
                            </m:r>
                          </m:e>
                          <m:sup>
                            <m:r>
                              <a:rPr lang="en-GB" sz="1600" b="0" i="1" noProof="0" smtClean="0">
                                <a:latin typeface="Cambria Math" panose="02040503050406030204" pitchFamily="18" charset="0"/>
                              </a:rPr>
                              <m:t>2</m:t>
                            </m:r>
                          </m:sup>
                        </m:sSup>
                        <m:r>
                          <a:rPr lang="en-GB" sz="1600" i="1" noProof="0" smtClean="0">
                            <a:latin typeface="Cambria Math" panose="02040503050406030204" pitchFamily="18" charset="0"/>
                          </a:rPr>
                          <m:t>+</m:t>
                        </m:r>
                        <m:r>
                          <a:rPr lang="en-GB" sz="1600" b="0" i="1" noProof="0" smtClean="0">
                            <a:latin typeface="Cambria Math" panose="02040503050406030204" pitchFamily="18" charset="0"/>
                          </a:rPr>
                          <m:t>13</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−5</m:t>
                        </m:r>
                      </m:den>
                    </m:f>
                  </m:oMath>
                </a14:m>
                <a:endParaRPr lang="en-GB" sz="1600" noProof="0" dirty="0"/>
              </a:p>
              <a:p>
                <a:r>
                  <a:rPr lang="en-GB" sz="1600" noProof="0" dirty="0"/>
                  <a:t> </a:t>
                </a:r>
              </a:p>
            </p:txBody>
          </p:sp>
        </mc:Choice>
        <mc:Fallback xmlns="">
          <p:sp>
            <p:nvSpPr>
              <p:cNvPr id="6" name="TextBox 5">
                <a:extLst>
                  <a:ext uri="{FF2B5EF4-FFF2-40B4-BE49-F238E27FC236}">
                    <a16:creationId xmlns:a16="http://schemas.microsoft.com/office/drawing/2014/main" id="{0CF36C1E-8F0D-5EB3-8458-FF88D728140D}"/>
                  </a:ext>
                </a:extLst>
              </p:cNvPr>
              <p:cNvSpPr txBox="1">
                <a:spLocks noRot="1" noChangeAspect="1" noMove="1" noResize="1" noEditPoints="1" noAdjustHandles="1" noChangeArrowheads="1" noChangeShapeType="1" noTextEdit="1"/>
              </p:cNvSpPr>
              <p:nvPr/>
            </p:nvSpPr>
            <p:spPr>
              <a:xfrm>
                <a:off x="3540498" y="4744342"/>
                <a:ext cx="2130968" cy="722698"/>
              </a:xfrm>
              <a:prstGeom prst="rect">
                <a:avLst/>
              </a:prstGeom>
              <a:blipFill>
                <a:blip r:embed="rId5"/>
                <a:stretch>
                  <a:fillRect l="-1719"/>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7BAB7E8E-3B30-F345-E358-83033AD022F3}"/>
              </a:ext>
            </a:extLst>
          </p:cNvPr>
          <p:cNvSpPr/>
          <p:nvPr/>
        </p:nvSpPr>
        <p:spPr>
          <a:xfrm>
            <a:off x="168184"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5" name="Rectangle 14">
            <a:extLst>
              <a:ext uri="{FF2B5EF4-FFF2-40B4-BE49-F238E27FC236}">
                <a16:creationId xmlns:a16="http://schemas.microsoft.com/office/drawing/2014/main" id="{B8B3731D-F5A4-5BB2-86B9-53AA03920061}"/>
              </a:ext>
            </a:extLst>
          </p:cNvPr>
          <p:cNvSpPr/>
          <p:nvPr/>
        </p:nvSpPr>
        <p:spPr>
          <a:xfrm>
            <a:off x="3540498" y="1006701"/>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6" name="Rectangle 15">
            <a:extLst>
              <a:ext uri="{FF2B5EF4-FFF2-40B4-BE49-F238E27FC236}">
                <a16:creationId xmlns:a16="http://schemas.microsoft.com/office/drawing/2014/main" id="{CB052A1D-EF82-2EB1-5B40-6188F4E829AD}"/>
              </a:ext>
            </a:extLst>
          </p:cNvPr>
          <p:cNvSpPr/>
          <p:nvPr/>
        </p:nvSpPr>
        <p:spPr>
          <a:xfrm>
            <a:off x="168184"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7" name="Rectangle 16">
            <a:extLst>
              <a:ext uri="{FF2B5EF4-FFF2-40B4-BE49-F238E27FC236}">
                <a16:creationId xmlns:a16="http://schemas.microsoft.com/office/drawing/2014/main" id="{5AA09A9C-243C-FA79-10C5-C363F623EE89}"/>
              </a:ext>
            </a:extLst>
          </p:cNvPr>
          <p:cNvSpPr/>
          <p:nvPr/>
        </p:nvSpPr>
        <p:spPr>
          <a:xfrm>
            <a:off x="3540498" y="5498416"/>
            <a:ext cx="3112898" cy="3499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Tree>
    <p:extLst>
      <p:ext uri="{BB962C8B-B14F-4D97-AF65-F5344CB8AC3E}">
        <p14:creationId xmlns:p14="http://schemas.microsoft.com/office/powerpoint/2010/main" val="4144469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Picture 62"/>
          <p:cNvPicPr>
            <a:picLocks noChangeAspect="1"/>
          </p:cNvPicPr>
          <p:nvPr/>
        </p:nvPicPr>
        <p:blipFill rotWithShape="1">
          <a:blip r:embed="rId2"/>
          <a:srcRect l="38753" t="34966" r="43224" b="33859"/>
          <a:stretch/>
        </p:blipFill>
        <p:spPr>
          <a:xfrm>
            <a:off x="288510" y="6985267"/>
            <a:ext cx="1342055" cy="370663"/>
          </a:xfrm>
          <a:prstGeom prst="rect">
            <a:avLst/>
          </a:prstGeom>
        </p:spPr>
      </p:pic>
      <p:pic>
        <p:nvPicPr>
          <p:cNvPr id="64" name="Picture 63"/>
          <p:cNvPicPr>
            <a:picLocks noChangeAspect="1"/>
          </p:cNvPicPr>
          <p:nvPr/>
        </p:nvPicPr>
        <p:blipFill rotWithShape="1">
          <a:blip r:embed="rId2"/>
          <a:srcRect l="71783" t="34920" r="7105" b="28530"/>
          <a:stretch/>
        </p:blipFill>
        <p:spPr>
          <a:xfrm>
            <a:off x="1777759" y="6967076"/>
            <a:ext cx="1572121" cy="434569"/>
          </a:xfrm>
          <a:prstGeom prst="rect">
            <a:avLst/>
          </a:prstGeom>
        </p:spPr>
      </p:pic>
      <p:pic>
        <p:nvPicPr>
          <p:cNvPr id="65" name="Picture 64"/>
          <p:cNvPicPr>
            <a:picLocks noChangeAspect="1"/>
          </p:cNvPicPr>
          <p:nvPr/>
        </p:nvPicPr>
        <p:blipFill rotWithShape="1">
          <a:blip r:embed="rId2"/>
          <a:srcRect l="4520" t="67123" r="74883" b="1702"/>
          <a:stretch/>
        </p:blipFill>
        <p:spPr>
          <a:xfrm>
            <a:off x="3411485" y="6973833"/>
            <a:ext cx="1533778" cy="370663"/>
          </a:xfrm>
          <a:prstGeom prst="rect">
            <a:avLst/>
          </a:prstGeom>
        </p:spPr>
      </p:pic>
      <p:sp>
        <p:nvSpPr>
          <p:cNvPr id="2" name="Slide Number Placeholder 1"/>
          <p:cNvSpPr>
            <a:spLocks noGrp="1"/>
          </p:cNvSpPr>
          <p:nvPr>
            <p:ph type="sldNum" sz="quarter" idx="12"/>
          </p:nvPr>
        </p:nvSpPr>
        <p:spPr>
          <a:xfrm>
            <a:off x="5402002" y="9479115"/>
            <a:ext cx="1543050" cy="527403"/>
          </a:xfrm>
        </p:spPr>
        <p:txBody>
          <a:bodyPr/>
          <a:lstStyle/>
          <a:p>
            <a:fld id="{9BD3B4A0-BFF9-422C-B253-48BA94BE2F5B}" type="slidenum">
              <a:rPr lang="en-GB" noProof="0" smtClean="0"/>
              <a:t>16</a:t>
            </a:fld>
            <a:endParaRPr lang="en-GB" noProof="0" dirty="0"/>
          </a:p>
        </p:txBody>
      </p:sp>
      <p:sp>
        <p:nvSpPr>
          <p:cNvPr id="6" name="TextBox 5">
            <a:extLst>
              <a:ext uri="{FF2B5EF4-FFF2-40B4-BE49-F238E27FC236}">
                <a16:creationId xmlns:a16="http://schemas.microsoft.com/office/drawing/2014/main" id="{337F58E6-37DE-4890-BDE3-0101DB4D4F11}"/>
              </a:ext>
            </a:extLst>
          </p:cNvPr>
          <p:cNvSpPr txBox="1"/>
          <p:nvPr/>
        </p:nvSpPr>
        <p:spPr>
          <a:xfrm>
            <a:off x="3146464" y="-30807"/>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20 - We do…</a:t>
            </a:r>
          </a:p>
        </p:txBody>
      </p:sp>
      <p:sp>
        <p:nvSpPr>
          <p:cNvPr id="7" name="TextBox 6">
            <a:extLst>
              <a:ext uri="{FF2B5EF4-FFF2-40B4-BE49-F238E27FC236}">
                <a16:creationId xmlns:a16="http://schemas.microsoft.com/office/drawing/2014/main" id="{20EB31B5-3203-4E48-8A19-892EA568053E}"/>
              </a:ext>
            </a:extLst>
          </p:cNvPr>
          <p:cNvSpPr txBox="1"/>
          <p:nvPr/>
        </p:nvSpPr>
        <p:spPr>
          <a:xfrm>
            <a:off x="1363853" y="-25519"/>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19 - I do…</a:t>
            </a:r>
          </a:p>
        </p:txBody>
      </p:sp>
      <p:sp>
        <p:nvSpPr>
          <p:cNvPr id="29" name="TextBox 28">
            <a:extLst>
              <a:ext uri="{FF2B5EF4-FFF2-40B4-BE49-F238E27FC236}">
                <a16:creationId xmlns:a16="http://schemas.microsoft.com/office/drawing/2014/main" id="{72FAE9BB-D81F-4207-9FF8-E6BE971A99D9}"/>
              </a:ext>
            </a:extLst>
          </p:cNvPr>
          <p:cNvSpPr txBox="1"/>
          <p:nvPr/>
        </p:nvSpPr>
        <p:spPr>
          <a:xfrm>
            <a:off x="5047975" y="-29235"/>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21 - You do…</a:t>
            </a:r>
          </a:p>
        </p:txBody>
      </p:sp>
      <mc:AlternateContent xmlns:mc="http://schemas.openxmlformats.org/markup-compatibility/2006" xmlns:a14="http://schemas.microsoft.com/office/drawing/2010/main">
        <mc:Choice Requires="a14">
          <p:graphicFrame>
            <p:nvGraphicFramePr>
              <p:cNvPr id="48" name="Table 47"/>
              <p:cNvGraphicFramePr>
                <a:graphicFrameLocks noGrp="1"/>
              </p:cNvGraphicFramePr>
              <p:nvPr>
                <p:extLst>
                  <p:ext uri="{D42A27DB-BD31-4B8C-83A1-F6EECF244321}">
                    <p14:modId xmlns:p14="http://schemas.microsoft.com/office/powerpoint/2010/main" val="2275691215"/>
                  </p:ext>
                </p:extLst>
              </p:nvPr>
            </p:nvGraphicFramePr>
            <p:xfrm>
              <a:off x="115354" y="231837"/>
              <a:ext cx="6640749" cy="3770321"/>
            </p:xfrm>
            <a:graphic>
              <a:graphicData uri="http://schemas.openxmlformats.org/drawingml/2006/table">
                <a:tbl>
                  <a:tblPr firstRow="1" bandRow="1">
                    <a:tableStyleId>{5C22544A-7EE6-4342-B048-85BDC9FD1C3A}</a:tableStyleId>
                  </a:tblPr>
                  <a:tblGrid>
                    <a:gridCol w="1041165">
                      <a:extLst>
                        <a:ext uri="{9D8B030D-6E8A-4147-A177-3AD203B41FA5}">
                          <a16:colId xmlns:a16="http://schemas.microsoft.com/office/drawing/2014/main" val="1568142362"/>
                        </a:ext>
                      </a:extLst>
                    </a:gridCol>
                    <a:gridCol w="1763746">
                      <a:extLst>
                        <a:ext uri="{9D8B030D-6E8A-4147-A177-3AD203B41FA5}">
                          <a16:colId xmlns:a16="http://schemas.microsoft.com/office/drawing/2014/main" val="3551711160"/>
                        </a:ext>
                      </a:extLst>
                    </a:gridCol>
                    <a:gridCol w="1974459">
                      <a:extLst>
                        <a:ext uri="{9D8B030D-6E8A-4147-A177-3AD203B41FA5}">
                          <a16:colId xmlns:a16="http://schemas.microsoft.com/office/drawing/2014/main" val="925597041"/>
                        </a:ext>
                      </a:extLst>
                    </a:gridCol>
                    <a:gridCol w="1861379">
                      <a:extLst>
                        <a:ext uri="{9D8B030D-6E8A-4147-A177-3AD203B41FA5}">
                          <a16:colId xmlns:a16="http://schemas.microsoft.com/office/drawing/2014/main" val="4095172789"/>
                        </a:ext>
                      </a:extLst>
                    </a:gridCol>
                  </a:tblGrid>
                  <a:tr h="509971">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Simplify </a:t>
                          </a:r>
                          <a14:m>
                            <m:oMath xmlns:m="http://schemas.openxmlformats.org/officeDocument/2006/math">
                              <m:f>
                                <m:fPr>
                                  <m:ctrlPr>
                                    <a:rPr lang="en-GB" sz="1200" i="1" noProof="0" smtClean="0">
                                      <a:solidFill>
                                        <a:schemeClr val="tx1"/>
                                      </a:solidFill>
                                      <a:latin typeface="Cambria Math" panose="02040503050406030204" pitchFamily="18" charset="0"/>
                                    </a:rPr>
                                  </m:ctrlPr>
                                </m:fPr>
                                <m:num>
                                  <m:r>
                                    <a:rPr lang="en-GB" sz="1200" i="1" noProof="0">
                                      <a:solidFill>
                                        <a:schemeClr val="tx1"/>
                                      </a:solidFill>
                                      <a:latin typeface="Cambria Math" panose="02040503050406030204" pitchFamily="18" charset="0"/>
                                    </a:rPr>
                                    <m:t>𝑏</m:t>
                                  </m:r>
                                </m:num>
                                <m:den>
                                  <m:r>
                                    <a:rPr lang="en-GB" sz="1200" i="1" noProof="0">
                                      <a:solidFill>
                                        <a:schemeClr val="tx1"/>
                                      </a:solidFill>
                                      <a:latin typeface="Cambria Math" panose="02040503050406030204" pitchFamily="18" charset="0"/>
                                    </a:rPr>
                                    <m:t>3</m:t>
                                  </m:r>
                                </m:den>
                              </m:f>
                              <m:r>
                                <a:rPr lang="en-GB" sz="1200" i="1" noProof="0">
                                  <a:solidFill>
                                    <a:schemeClr val="tx1"/>
                                  </a:solidFill>
                                  <a:latin typeface="Cambria Math" panose="02040503050406030204" pitchFamily="18" charset="0"/>
                                  <a:ea typeface="Cambria Math" panose="02040503050406030204" pitchFamily="18" charset="0"/>
                                </a:rPr>
                                <m:t>÷</m:t>
                              </m:r>
                              <m:f>
                                <m:fPr>
                                  <m:ctrlPr>
                                    <a:rPr lang="en-GB" sz="120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6</m:t>
                                  </m:r>
                                </m:num>
                                <m:den>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𝑏</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Simplify </a:t>
                          </a:r>
                          <a14:m>
                            <m:oMath xmlns:m="http://schemas.openxmlformats.org/officeDocument/2006/math">
                              <m:f>
                                <m:fPr>
                                  <m:ctrlPr>
                                    <a:rPr lang="en-GB" sz="120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num>
                                <m:den>
                                  <m:r>
                                    <a:rPr lang="en-GB" sz="1200" b="0" i="1" noProof="0" smtClean="0">
                                      <a:solidFill>
                                        <a:schemeClr val="tx1"/>
                                      </a:solidFill>
                                      <a:latin typeface="Cambria Math" panose="02040503050406030204" pitchFamily="18" charset="0"/>
                                    </a:rPr>
                                    <m:t>8</m:t>
                                  </m:r>
                                </m:den>
                              </m:f>
                              <m:r>
                                <a:rPr lang="en-GB" sz="1200" i="1" noProof="0">
                                  <a:solidFill>
                                    <a:schemeClr val="tx1"/>
                                  </a:solidFill>
                                  <a:latin typeface="Cambria Math" panose="02040503050406030204" pitchFamily="18" charset="0"/>
                                  <a:ea typeface="Cambria Math" panose="02040503050406030204" pitchFamily="18" charset="0"/>
                                </a:rPr>
                                <m:t>÷</m:t>
                              </m:r>
                              <m:f>
                                <m:fPr>
                                  <m:ctrlPr>
                                    <a:rPr lang="en-GB" sz="120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num>
                                <m:den>
                                  <m:r>
                                    <a:rPr lang="en-GB" sz="1200" b="0" i="1" noProof="0" smtClean="0">
                                      <a:solidFill>
                                        <a:schemeClr val="tx1"/>
                                      </a:solidFill>
                                      <a:latin typeface="Cambria Math" panose="02040503050406030204" pitchFamily="18" charset="0"/>
                                    </a:rPr>
                                    <m:t>2</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Simplify </a:t>
                          </a:r>
                          <a14:m>
                            <m:oMath xmlns:m="http://schemas.openxmlformats.org/officeDocument/2006/math">
                              <m:f>
                                <m:fPr>
                                  <m:ctrlPr>
                                    <a:rPr lang="en-GB" sz="1200" i="1" noProof="0" smtClean="0">
                                      <a:solidFill>
                                        <a:schemeClr val="tx1"/>
                                      </a:solidFill>
                                      <a:latin typeface="Cambria Math" panose="02040503050406030204" pitchFamily="18" charset="0"/>
                                    </a:rPr>
                                  </m:ctrlPr>
                                </m:fPr>
                                <m:num>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num>
                                <m:den>
                                  <m:r>
                                    <a:rPr lang="en-GB" sz="1200" b="0" i="1" noProof="0" smtClean="0">
                                      <a:solidFill>
                                        <a:schemeClr val="tx1"/>
                                      </a:solidFill>
                                      <a:latin typeface="Cambria Math" panose="02040503050406030204" pitchFamily="18" charset="0"/>
                                    </a:rPr>
                                    <m:t>8</m:t>
                                  </m:r>
                                </m:den>
                              </m:f>
                              <m:r>
                                <a:rPr lang="en-GB" sz="1200" i="1" noProof="0">
                                  <a:solidFill>
                                    <a:schemeClr val="tx1"/>
                                  </a:solidFill>
                                  <a:latin typeface="Cambria Math" panose="02040503050406030204" pitchFamily="18" charset="0"/>
                                  <a:ea typeface="Cambria Math" panose="02040503050406030204" pitchFamily="18" charset="0"/>
                                </a:rPr>
                                <m:t>÷</m:t>
                              </m:r>
                              <m:f>
                                <m:fPr>
                                  <m:ctrlPr>
                                    <a:rPr lang="en-GB" sz="1200" i="1" noProof="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num>
                                <m:den>
                                  <m:r>
                                    <a:rPr lang="en-GB" sz="1200" b="0" i="1" noProof="0" smtClean="0">
                                      <a:solidFill>
                                        <a:schemeClr val="tx1"/>
                                      </a:solidFill>
                                      <a:latin typeface="Cambria Math" panose="02040503050406030204" pitchFamily="18" charset="0"/>
                                    </a:rPr>
                                    <m:t>2</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16823">
                    <a:tc>
                      <a:txBody>
                        <a:bodyPr/>
                        <a:lstStyle/>
                        <a:p>
                          <a:r>
                            <a:rPr lang="en-GB" sz="1100" noProof="0" dirty="0">
                              <a:solidFill>
                                <a:schemeClr val="tx1"/>
                              </a:solidFill>
                            </a:rPr>
                            <a:t>1) Multiply</a:t>
                          </a:r>
                          <a:r>
                            <a:rPr lang="en-GB" sz="1100" baseline="0" noProof="0" dirty="0">
                              <a:solidFill>
                                <a:schemeClr val="tx1"/>
                              </a:solidFill>
                            </a:rPr>
                            <a:t> the first fraction by the </a:t>
                          </a:r>
                          <a:r>
                            <a:rPr lang="en-GB" sz="1100" b="1" baseline="0" noProof="0" dirty="0">
                              <a:solidFill>
                                <a:schemeClr val="tx1"/>
                              </a:solidFill>
                            </a:rPr>
                            <a:t>reciprocal </a:t>
                          </a:r>
                          <a:r>
                            <a:rPr lang="en-GB" sz="1100" baseline="0" noProof="0" dirty="0">
                              <a:solidFill>
                                <a:schemeClr val="tx1"/>
                              </a:solidFill>
                            </a:rPr>
                            <a:t>of the second.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14509">
                    <a:tc>
                      <a:txBody>
                        <a:bodyPr/>
                        <a:lstStyle/>
                        <a:p>
                          <a:r>
                            <a:rPr lang="en-GB" sz="1100" noProof="0" dirty="0">
                              <a:solidFill>
                                <a:schemeClr val="tx1"/>
                              </a:solidFill>
                            </a:rPr>
                            <a:t>2) Check if it can be factorised.</a:t>
                          </a:r>
                          <a:r>
                            <a:rPr lang="en-GB" sz="1100" baseline="0" noProof="0" dirty="0">
                              <a:solidFill>
                                <a:schemeClr val="tx1"/>
                              </a:solidFill>
                            </a:rPr>
                            <a:t>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4290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3) Cross Cancel and simplify</a:t>
                          </a:r>
                        </a:p>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48" name="Table 47"/>
              <p:cNvGraphicFramePr>
                <a:graphicFrameLocks noGrp="1"/>
              </p:cNvGraphicFramePr>
              <p:nvPr>
                <p:extLst>
                  <p:ext uri="{D42A27DB-BD31-4B8C-83A1-F6EECF244321}">
                    <p14:modId xmlns:p14="http://schemas.microsoft.com/office/powerpoint/2010/main" val="2275691215"/>
                  </p:ext>
                </p:extLst>
              </p:nvPr>
            </p:nvGraphicFramePr>
            <p:xfrm>
              <a:off x="115354" y="231837"/>
              <a:ext cx="6640749" cy="3770321"/>
            </p:xfrm>
            <a:graphic>
              <a:graphicData uri="http://schemas.openxmlformats.org/drawingml/2006/table">
                <a:tbl>
                  <a:tblPr firstRow="1" bandRow="1">
                    <a:tableStyleId>{5C22544A-7EE6-4342-B048-85BDC9FD1C3A}</a:tableStyleId>
                  </a:tblPr>
                  <a:tblGrid>
                    <a:gridCol w="1041165">
                      <a:extLst>
                        <a:ext uri="{9D8B030D-6E8A-4147-A177-3AD203B41FA5}">
                          <a16:colId xmlns:a16="http://schemas.microsoft.com/office/drawing/2014/main" val="1568142362"/>
                        </a:ext>
                      </a:extLst>
                    </a:gridCol>
                    <a:gridCol w="1763746">
                      <a:extLst>
                        <a:ext uri="{9D8B030D-6E8A-4147-A177-3AD203B41FA5}">
                          <a16:colId xmlns:a16="http://schemas.microsoft.com/office/drawing/2014/main" val="3551711160"/>
                        </a:ext>
                      </a:extLst>
                    </a:gridCol>
                    <a:gridCol w="1974459">
                      <a:extLst>
                        <a:ext uri="{9D8B030D-6E8A-4147-A177-3AD203B41FA5}">
                          <a16:colId xmlns:a16="http://schemas.microsoft.com/office/drawing/2014/main" val="925597041"/>
                        </a:ext>
                      </a:extLst>
                    </a:gridCol>
                    <a:gridCol w="1861379">
                      <a:extLst>
                        <a:ext uri="{9D8B030D-6E8A-4147-A177-3AD203B41FA5}">
                          <a16:colId xmlns:a16="http://schemas.microsoft.com/office/drawing/2014/main" val="4095172789"/>
                        </a:ext>
                      </a:extLst>
                    </a:gridCol>
                  </a:tblGrid>
                  <a:tr h="509971">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9310" t="-2381" r="-217931" b="-6392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2593" t="-2381" r="-95062" b="-6392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6863" t="-2381" r="-654" b="-639286"/>
                          </a:stretch>
                        </a:blipFill>
                      </a:tcPr>
                    </a:tc>
                    <a:extLst>
                      <a:ext uri="{0D108BD9-81ED-4DB2-BD59-A6C34878D82A}">
                        <a16:rowId xmlns:a16="http://schemas.microsoft.com/office/drawing/2014/main" val="2357201933"/>
                      </a:ext>
                    </a:extLst>
                  </a:tr>
                  <a:tr h="1116823">
                    <a:tc>
                      <a:txBody>
                        <a:bodyPr/>
                        <a:lstStyle/>
                        <a:p>
                          <a:r>
                            <a:rPr lang="en-GB" sz="1100" noProof="0">
                              <a:solidFill>
                                <a:schemeClr val="tx1"/>
                              </a:solidFill>
                            </a:rPr>
                            <a:t>1) Multiply</a:t>
                          </a:r>
                          <a:r>
                            <a:rPr lang="en-GB" sz="1100" baseline="0" noProof="0">
                              <a:solidFill>
                                <a:schemeClr val="tx1"/>
                              </a:solidFill>
                            </a:rPr>
                            <a:t> the first fraction by the </a:t>
                          </a:r>
                          <a:r>
                            <a:rPr lang="en-GB" sz="1100" b="1" baseline="0" noProof="0">
                              <a:solidFill>
                                <a:schemeClr val="tx1"/>
                              </a:solidFill>
                            </a:rPr>
                            <a:t>reciprocal </a:t>
                          </a:r>
                          <a:r>
                            <a:rPr lang="en-GB" sz="1100" baseline="0" noProof="0">
                              <a:solidFill>
                                <a:schemeClr val="tx1"/>
                              </a:solidFill>
                            </a:rPr>
                            <a:t>of the second.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14509">
                    <a:tc>
                      <a:txBody>
                        <a:bodyPr/>
                        <a:lstStyle/>
                        <a:p>
                          <a:r>
                            <a:rPr lang="en-GB" sz="1100" noProof="0">
                              <a:solidFill>
                                <a:schemeClr val="tx1"/>
                              </a:solidFill>
                            </a:rPr>
                            <a:t>2) Check if it can be factorised.</a:t>
                          </a:r>
                          <a:r>
                            <a:rPr lang="en-GB" sz="1100" baseline="0" noProof="0">
                              <a:solidFill>
                                <a:schemeClr val="tx1"/>
                              </a:solidFill>
                            </a:rPr>
                            <a:t>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4290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a:solidFill>
                                <a:schemeClr val="tx1"/>
                              </a:solidFill>
                            </a:rPr>
                            <a:t>3) Cross Cancel and simplify</a:t>
                          </a:r>
                        </a:p>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p:sp>
        <p:nvSpPr>
          <p:cNvPr id="50" name="TextBox 49"/>
          <p:cNvSpPr txBox="1"/>
          <p:nvPr/>
        </p:nvSpPr>
        <p:spPr>
          <a:xfrm>
            <a:off x="2316559" y="4054846"/>
            <a:ext cx="2292231" cy="276999"/>
          </a:xfrm>
          <a:prstGeom prst="rect">
            <a:avLst/>
          </a:prstGeom>
          <a:noFill/>
        </p:spPr>
        <p:txBody>
          <a:bodyPr wrap="none" rtlCol="0">
            <a:spAutoFit/>
          </a:bodyPr>
          <a:lstStyle/>
          <a:p>
            <a:pPr algn="ctr"/>
            <a:r>
              <a:rPr lang="en-GB" sz="1200" noProof="0" dirty="0"/>
              <a:t>6. Simplify the algebraic fractions.</a:t>
            </a:r>
          </a:p>
        </p:txBody>
      </p:sp>
      <p:pic>
        <p:nvPicPr>
          <p:cNvPr id="51" name="Picture 50"/>
          <p:cNvPicPr>
            <a:picLocks noChangeAspect="1"/>
          </p:cNvPicPr>
          <p:nvPr/>
        </p:nvPicPr>
        <p:blipFill rotWithShape="1">
          <a:blip r:embed="rId2"/>
          <a:srcRect r="81289" b="70309"/>
          <a:stretch/>
        </p:blipFill>
        <p:spPr>
          <a:xfrm>
            <a:off x="0" y="4335633"/>
            <a:ext cx="1492054" cy="378074"/>
          </a:xfrm>
          <a:prstGeom prst="rect">
            <a:avLst/>
          </a:prstGeom>
        </p:spPr>
      </p:pic>
      <p:sp>
        <p:nvSpPr>
          <p:cNvPr id="52" name="Rectangle 51">
            <a:extLst>
              <a:ext uri="{FF2B5EF4-FFF2-40B4-BE49-F238E27FC236}">
                <a16:creationId xmlns:a16="http://schemas.microsoft.com/office/drawing/2014/main" id="{B16CFEF2-A65A-6142-861C-58ACADF7EEFB}"/>
              </a:ext>
            </a:extLst>
          </p:cNvPr>
          <p:cNvSpPr/>
          <p:nvPr/>
        </p:nvSpPr>
        <p:spPr>
          <a:xfrm>
            <a:off x="205164" y="4762621"/>
            <a:ext cx="1504055"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3" name="Rectangle 52">
            <a:extLst>
              <a:ext uri="{FF2B5EF4-FFF2-40B4-BE49-F238E27FC236}">
                <a16:creationId xmlns:a16="http://schemas.microsoft.com/office/drawing/2014/main" id="{B16CFEF2-A65A-6142-861C-58ACADF7EEFB}"/>
              </a:ext>
            </a:extLst>
          </p:cNvPr>
          <p:cNvSpPr/>
          <p:nvPr/>
        </p:nvSpPr>
        <p:spPr>
          <a:xfrm>
            <a:off x="1808324" y="4762619"/>
            <a:ext cx="1553841"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4" name="Rectangle 53">
            <a:extLst>
              <a:ext uri="{FF2B5EF4-FFF2-40B4-BE49-F238E27FC236}">
                <a16:creationId xmlns:a16="http://schemas.microsoft.com/office/drawing/2014/main" id="{B16CFEF2-A65A-6142-861C-58ACADF7EEFB}"/>
              </a:ext>
            </a:extLst>
          </p:cNvPr>
          <p:cNvSpPr/>
          <p:nvPr/>
        </p:nvSpPr>
        <p:spPr>
          <a:xfrm>
            <a:off x="3472445" y="4762619"/>
            <a:ext cx="1603159"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pic>
        <p:nvPicPr>
          <p:cNvPr id="55" name="Picture 54"/>
          <p:cNvPicPr>
            <a:picLocks noChangeAspect="1"/>
          </p:cNvPicPr>
          <p:nvPr/>
        </p:nvPicPr>
        <p:blipFill rotWithShape="1">
          <a:blip r:embed="rId2"/>
          <a:srcRect l="39597" t="-767" r="45984" b="68518"/>
          <a:stretch/>
        </p:blipFill>
        <p:spPr>
          <a:xfrm>
            <a:off x="1882218" y="4348690"/>
            <a:ext cx="1040331" cy="371547"/>
          </a:xfrm>
          <a:prstGeom prst="rect">
            <a:avLst/>
          </a:prstGeom>
        </p:spPr>
      </p:pic>
      <p:pic>
        <p:nvPicPr>
          <p:cNvPr id="56" name="Picture 55"/>
          <p:cNvPicPr>
            <a:picLocks noChangeAspect="1"/>
          </p:cNvPicPr>
          <p:nvPr/>
        </p:nvPicPr>
        <p:blipFill rotWithShape="1">
          <a:blip r:embed="rId2"/>
          <a:srcRect l="73012" t="-1534" r="7076" b="73584"/>
          <a:stretch/>
        </p:blipFill>
        <p:spPr>
          <a:xfrm>
            <a:off x="3435726" y="4357803"/>
            <a:ext cx="1587875" cy="355903"/>
          </a:xfrm>
          <a:prstGeom prst="rect">
            <a:avLst/>
          </a:prstGeom>
        </p:spPr>
      </p:pic>
      <p:pic>
        <p:nvPicPr>
          <p:cNvPr id="57" name="Picture 56"/>
          <p:cNvPicPr>
            <a:picLocks noChangeAspect="1"/>
          </p:cNvPicPr>
          <p:nvPr/>
        </p:nvPicPr>
        <p:blipFill rotWithShape="1">
          <a:blip r:embed="rId2"/>
          <a:srcRect l="3949" t="33173" r="75453" b="35651"/>
          <a:stretch/>
        </p:blipFill>
        <p:spPr>
          <a:xfrm>
            <a:off x="5056211" y="4351028"/>
            <a:ext cx="1642627" cy="396967"/>
          </a:xfrm>
          <a:prstGeom prst="rect">
            <a:avLst/>
          </a:prstGeom>
        </p:spPr>
      </p:pic>
      <p:sp>
        <p:nvSpPr>
          <p:cNvPr id="58" name="Rectangle 57">
            <a:extLst>
              <a:ext uri="{FF2B5EF4-FFF2-40B4-BE49-F238E27FC236}">
                <a16:creationId xmlns:a16="http://schemas.microsoft.com/office/drawing/2014/main" id="{B16CFEF2-A65A-6142-861C-58ACADF7EEFB}"/>
              </a:ext>
            </a:extLst>
          </p:cNvPr>
          <p:cNvSpPr/>
          <p:nvPr/>
        </p:nvSpPr>
        <p:spPr>
          <a:xfrm>
            <a:off x="5185884" y="4747996"/>
            <a:ext cx="1610685"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66" name="TextBox 65"/>
              <p:cNvSpPr txBox="1"/>
              <p:nvPr/>
            </p:nvSpPr>
            <p:spPr>
              <a:xfrm>
                <a:off x="5185884" y="6966089"/>
                <a:ext cx="1216910" cy="396968"/>
              </a:xfrm>
              <a:prstGeom prst="rect">
                <a:avLst/>
              </a:prstGeom>
              <a:noFill/>
            </p:spPr>
            <p:txBody>
              <a:bodyPr wrap="square" rtlCol="0">
                <a:spAutoFit/>
              </a:bodyPr>
              <a:lstStyle/>
              <a:p>
                <a:r>
                  <a:rPr lang="en-GB" sz="1200" noProof="0" dirty="0"/>
                  <a:t>h.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3</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+9</m:t>
                        </m:r>
                      </m:num>
                      <m:den>
                        <m:r>
                          <a:rPr lang="en-GB" sz="1400" b="0" i="1" noProof="0" smtClean="0">
                            <a:latin typeface="Cambria Math" panose="02040503050406030204" pitchFamily="18" charset="0"/>
                          </a:rPr>
                          <m:t>2</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+3</m:t>
                        </m:r>
                      </m:num>
                      <m:den>
                        <m:r>
                          <a:rPr lang="en-GB" sz="1400" b="0" i="1" noProof="0" smtClean="0">
                            <a:latin typeface="Cambria Math" panose="02040503050406030204" pitchFamily="18" charset="0"/>
                            <a:ea typeface="Cambria Math" panose="02040503050406030204" pitchFamily="18" charset="0"/>
                          </a:rPr>
                          <m:t>4</m:t>
                        </m:r>
                      </m:den>
                    </m:f>
                  </m:oMath>
                </a14:m>
                <a:endParaRPr lang="en-GB" sz="1200" noProof="0" dirty="0"/>
              </a:p>
            </p:txBody>
          </p:sp>
        </mc:Choice>
        <mc:Fallback xmlns="">
          <p:sp>
            <p:nvSpPr>
              <p:cNvPr id="66" name="TextBox 65"/>
              <p:cNvSpPr txBox="1">
                <a:spLocks noRot="1" noChangeAspect="1" noMove="1" noResize="1" noEditPoints="1" noAdjustHandles="1" noChangeArrowheads="1" noChangeShapeType="1" noTextEdit="1"/>
              </p:cNvSpPr>
              <p:nvPr/>
            </p:nvSpPr>
            <p:spPr>
              <a:xfrm>
                <a:off x="5185884" y="6966089"/>
                <a:ext cx="1216910" cy="396968"/>
              </a:xfrm>
              <a:prstGeom prst="rect">
                <a:avLst/>
              </a:prstGeom>
              <a:blipFill>
                <a:blip r:embed="rId4"/>
                <a:stretch>
                  <a:fillRect l="-503"/>
                </a:stretch>
              </a:blipFill>
            </p:spPr>
            <p:txBody>
              <a:bodyPr/>
              <a:lstStyle/>
              <a:p>
                <a:r>
                  <a:rPr lang="en-US">
                    <a:noFill/>
                  </a:rPr>
                  <a:t> </a:t>
                </a:r>
              </a:p>
            </p:txBody>
          </p:sp>
        </mc:Fallback>
      </mc:AlternateContent>
      <p:sp>
        <p:nvSpPr>
          <p:cNvPr id="67" name="Rectangle 66">
            <a:extLst>
              <a:ext uri="{FF2B5EF4-FFF2-40B4-BE49-F238E27FC236}">
                <a16:creationId xmlns:a16="http://schemas.microsoft.com/office/drawing/2014/main" id="{B16CFEF2-A65A-6142-861C-58ACADF7EEFB}"/>
              </a:ext>
            </a:extLst>
          </p:cNvPr>
          <p:cNvSpPr/>
          <p:nvPr/>
        </p:nvSpPr>
        <p:spPr>
          <a:xfrm>
            <a:off x="179573" y="7422647"/>
            <a:ext cx="1504055"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8" name="Rectangle 67">
            <a:extLst>
              <a:ext uri="{FF2B5EF4-FFF2-40B4-BE49-F238E27FC236}">
                <a16:creationId xmlns:a16="http://schemas.microsoft.com/office/drawing/2014/main" id="{B16CFEF2-A65A-6142-861C-58ACADF7EEFB}"/>
              </a:ext>
            </a:extLst>
          </p:cNvPr>
          <p:cNvSpPr/>
          <p:nvPr/>
        </p:nvSpPr>
        <p:spPr>
          <a:xfrm>
            <a:off x="1782733" y="7422645"/>
            <a:ext cx="1553841"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9" name="Rectangle 68">
            <a:extLst>
              <a:ext uri="{FF2B5EF4-FFF2-40B4-BE49-F238E27FC236}">
                <a16:creationId xmlns:a16="http://schemas.microsoft.com/office/drawing/2014/main" id="{B16CFEF2-A65A-6142-861C-58ACADF7EEFB}"/>
              </a:ext>
            </a:extLst>
          </p:cNvPr>
          <p:cNvSpPr/>
          <p:nvPr/>
        </p:nvSpPr>
        <p:spPr>
          <a:xfrm>
            <a:off x="3446854" y="7422645"/>
            <a:ext cx="1603159"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70" name="Rectangle 69">
            <a:extLst>
              <a:ext uri="{FF2B5EF4-FFF2-40B4-BE49-F238E27FC236}">
                <a16:creationId xmlns:a16="http://schemas.microsoft.com/office/drawing/2014/main" id="{B16CFEF2-A65A-6142-861C-58ACADF7EEFB}"/>
              </a:ext>
            </a:extLst>
          </p:cNvPr>
          <p:cNvSpPr/>
          <p:nvPr/>
        </p:nvSpPr>
        <p:spPr>
          <a:xfrm>
            <a:off x="5160293" y="7408022"/>
            <a:ext cx="1610685" cy="22226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4" name="TextBox 33">
            <a:extLst>
              <a:ext uri="{FF2B5EF4-FFF2-40B4-BE49-F238E27FC236}">
                <a16:creationId xmlns:a16="http://schemas.microsoft.com/office/drawing/2014/main" id="{C3C65E48-8C3D-6849-AD77-7AD8678AD8DA}"/>
              </a:ext>
            </a:extLst>
          </p:cNvPr>
          <p:cNvSpPr txBox="1"/>
          <p:nvPr/>
        </p:nvSpPr>
        <p:spPr>
          <a:xfrm>
            <a:off x="94275" y="4048269"/>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2599370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 name="TextBox 22"/>
              <p:cNvSpPr txBox="1"/>
              <p:nvPr/>
            </p:nvSpPr>
            <p:spPr>
              <a:xfrm>
                <a:off x="388670" y="391624"/>
                <a:ext cx="1161472" cy="398122"/>
              </a:xfrm>
              <a:prstGeom prst="rect">
                <a:avLst/>
              </a:prstGeom>
              <a:noFill/>
            </p:spPr>
            <p:txBody>
              <a:bodyPr wrap="square" rtlCol="0">
                <a:spAutoFit/>
              </a:bodyPr>
              <a:lstStyle/>
              <a:p>
                <a:r>
                  <a:rPr lang="en-GB" sz="1200" noProof="0" dirty="0" err="1"/>
                  <a:t>i</a:t>
                </a:r>
                <a:r>
                  <a:rPr lang="en-GB" sz="1200" noProof="0" dirty="0"/>
                  <a:t>.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4</m:t>
                        </m:r>
                      </m:num>
                      <m:den>
                        <m:r>
                          <a:rPr lang="en-GB" sz="1400" b="0" i="1" noProof="0" smtClean="0">
                            <a:latin typeface="Cambria Math" panose="02040503050406030204" pitchFamily="18" charset="0"/>
                          </a:rPr>
                          <m:t>𝑥</m:t>
                        </m:r>
                        <m:r>
                          <a:rPr lang="en-GB" sz="1400" b="0" i="1" noProof="0" smtClean="0">
                            <a:latin typeface="Cambria Math" panose="02040503050406030204" pitchFamily="18" charset="0"/>
                          </a:rPr>
                          <m:t>−2</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3</m:t>
                        </m:r>
                      </m:num>
                      <m:den>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r>
                          <a:rPr lang="en-GB" sz="1400" b="0" i="1" noProof="0" smtClean="0">
                            <a:latin typeface="Cambria Math" panose="02040503050406030204" pitchFamily="18" charset="0"/>
                            <a:ea typeface="Cambria Math" panose="02040503050406030204" pitchFamily="18" charset="0"/>
                          </a:rPr>
                          <m:t>−2</m:t>
                        </m:r>
                        <m:r>
                          <a:rPr lang="en-GB" sz="1400" b="0" i="1" noProof="0" smtClean="0">
                            <a:latin typeface="Cambria Math" panose="02040503050406030204" pitchFamily="18" charset="0"/>
                            <a:ea typeface="Cambria Math" panose="02040503050406030204" pitchFamily="18" charset="0"/>
                          </a:rPr>
                          <m:t>𝑥</m:t>
                        </m:r>
                      </m:den>
                    </m:f>
                  </m:oMath>
                </a14:m>
                <a:endParaRPr lang="en-GB" sz="1400" noProof="0" dirty="0"/>
              </a:p>
            </p:txBody>
          </p:sp>
        </mc:Choice>
        <mc:Fallback xmlns="">
          <p:sp>
            <p:nvSpPr>
              <p:cNvPr id="23" name="TextBox 22"/>
              <p:cNvSpPr txBox="1">
                <a:spLocks noRot="1" noChangeAspect="1" noMove="1" noResize="1" noEditPoints="1" noAdjustHandles="1" noChangeArrowheads="1" noChangeShapeType="1" noTextEdit="1"/>
              </p:cNvSpPr>
              <p:nvPr/>
            </p:nvSpPr>
            <p:spPr>
              <a:xfrm>
                <a:off x="388670" y="391624"/>
                <a:ext cx="1161472" cy="398122"/>
              </a:xfrm>
              <a:prstGeom prst="rect">
                <a:avLst/>
              </a:prstGeom>
              <a:blipFill>
                <a:blip r:embed="rId2"/>
                <a:stretch>
                  <a:fillRect l="-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1998081" y="423479"/>
                <a:ext cx="1313758" cy="398122"/>
              </a:xfrm>
              <a:prstGeom prst="rect">
                <a:avLst/>
              </a:prstGeom>
              <a:noFill/>
            </p:spPr>
            <p:txBody>
              <a:bodyPr wrap="none" rtlCol="0">
                <a:spAutoFit/>
              </a:bodyPr>
              <a:lstStyle/>
              <a:p>
                <a:r>
                  <a:rPr lang="en-GB" sz="1200" noProof="0" dirty="0"/>
                  <a:t>j.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11</m:t>
                        </m:r>
                      </m:num>
                      <m:den>
                        <m:r>
                          <a:rPr lang="en-GB" sz="1400" b="0" i="1" noProof="0" smtClean="0">
                            <a:latin typeface="Cambria Math" panose="02040503050406030204" pitchFamily="18" charset="0"/>
                          </a:rPr>
                          <m:t>4</m:t>
                        </m:r>
                        <m:sSup>
                          <m:sSupPr>
                            <m:ctrlPr>
                              <a:rPr lang="en-GB" sz="1400" b="0" i="1" noProof="0" smtClean="0">
                                <a:latin typeface="Cambria Math" panose="02040503050406030204" pitchFamily="18" charset="0"/>
                              </a:rPr>
                            </m:ctrlPr>
                          </m:sSupPr>
                          <m:e>
                            <m:r>
                              <a:rPr lang="en-GB" sz="1400" b="0" i="1" noProof="0" smtClean="0">
                                <a:latin typeface="Cambria Math" panose="02040503050406030204" pitchFamily="18" charset="0"/>
                              </a:rPr>
                              <m:t>𝑥</m:t>
                            </m:r>
                          </m:e>
                          <m:sup>
                            <m:r>
                              <a:rPr lang="en-GB" sz="1400" b="0" i="1" noProof="0" smtClean="0">
                                <a:latin typeface="Cambria Math" panose="02040503050406030204" pitchFamily="18" charset="0"/>
                              </a:rPr>
                              <m:t>2</m:t>
                            </m:r>
                          </m:sup>
                        </m:sSup>
                        <m:r>
                          <a:rPr lang="en-GB" sz="1400" b="0" i="1" noProof="0" smtClean="0">
                            <a:latin typeface="Cambria Math" panose="02040503050406030204" pitchFamily="18" charset="0"/>
                          </a:rPr>
                          <m:t>+2</m:t>
                        </m:r>
                        <m:r>
                          <a:rPr lang="en-GB" sz="1400" b="0" i="1" noProof="0" smtClean="0">
                            <a:latin typeface="Cambria Math" panose="02040503050406030204" pitchFamily="18" charset="0"/>
                          </a:rPr>
                          <m:t>𝑥</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3</m:t>
                        </m:r>
                      </m:num>
                      <m:den>
                        <m:r>
                          <a:rPr lang="en-GB" sz="1400" b="0" i="1" noProof="0" smtClean="0">
                            <a:latin typeface="Cambria Math" panose="02040503050406030204" pitchFamily="18" charset="0"/>
                            <a:ea typeface="Cambria Math" panose="02040503050406030204" pitchFamily="18" charset="0"/>
                          </a:rPr>
                          <m:t>2</m:t>
                        </m:r>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+1</m:t>
                        </m:r>
                      </m:den>
                    </m:f>
                  </m:oMath>
                </a14:m>
                <a:endParaRPr lang="en-GB" sz="14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1998081" y="423479"/>
                <a:ext cx="1313758" cy="398122"/>
              </a:xfrm>
              <a:prstGeom prst="rect">
                <a:avLst/>
              </a:prstGeom>
              <a:blipFill>
                <a:blip r:embed="rId3"/>
                <a:stretch>
                  <a:fillRect l="-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3672403" y="423479"/>
                <a:ext cx="1233671" cy="420308"/>
              </a:xfrm>
              <a:prstGeom prst="rect">
                <a:avLst/>
              </a:prstGeom>
              <a:noFill/>
            </p:spPr>
            <p:txBody>
              <a:bodyPr wrap="none" rtlCol="0">
                <a:spAutoFit/>
              </a:bodyPr>
              <a:lstStyle/>
              <a:p>
                <a:r>
                  <a:rPr lang="en-GB" sz="1200" noProof="0" dirty="0"/>
                  <a:t>k</a:t>
                </a:r>
                <a:r>
                  <a:rPr lang="en-GB" sz="1400" noProof="0" dirty="0"/>
                  <a:t>.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+3</m:t>
                        </m:r>
                      </m:num>
                      <m:den>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𝑥</m:t>
                        </m:r>
                      </m:num>
                      <m:den>
                        <m:sSup>
                          <m:sSupPr>
                            <m:ctrlPr>
                              <a:rPr lang="en-GB" sz="1400" b="0" i="1" noProof="0" smtClean="0">
                                <a:latin typeface="Cambria Math" panose="02040503050406030204" pitchFamily="18" charset="0"/>
                                <a:ea typeface="Cambria Math" panose="02040503050406030204" pitchFamily="18" charset="0"/>
                              </a:rPr>
                            </m:ctrlPr>
                          </m:sSupPr>
                          <m:e>
                            <m:d>
                              <m:dPr>
                                <m:ctrlPr>
                                  <a:rPr lang="en-GB" sz="1400" b="0" i="1" noProof="0" smtClean="0">
                                    <a:latin typeface="Cambria Math" panose="02040503050406030204" pitchFamily="18" charset="0"/>
                                    <a:ea typeface="Cambria Math" panose="02040503050406030204" pitchFamily="18" charset="0"/>
                                  </a:rPr>
                                </m:ctrlPr>
                              </m:dPr>
                              <m:e>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+1</m:t>
                                </m:r>
                              </m:e>
                            </m:d>
                          </m:e>
                          <m:sup>
                            <m:r>
                              <a:rPr lang="en-GB" sz="1400" b="0" i="1" noProof="0" smtClean="0">
                                <a:latin typeface="Cambria Math" panose="02040503050406030204" pitchFamily="18" charset="0"/>
                                <a:ea typeface="Cambria Math" panose="02040503050406030204" pitchFamily="18" charset="0"/>
                              </a:rPr>
                              <m:t>2</m:t>
                            </m:r>
                          </m:sup>
                        </m:sSup>
                      </m:den>
                    </m:f>
                  </m:oMath>
                </a14:m>
                <a:endParaRPr lang="en-GB" sz="1400" noProof="0" dirty="0"/>
              </a:p>
            </p:txBody>
          </p:sp>
        </mc:Choice>
        <mc:Fallback xmlns="">
          <p:sp>
            <p:nvSpPr>
              <p:cNvPr id="33" name="TextBox 32"/>
              <p:cNvSpPr txBox="1">
                <a:spLocks noRot="1" noChangeAspect="1" noMove="1" noResize="1" noEditPoints="1" noAdjustHandles="1" noChangeArrowheads="1" noChangeShapeType="1" noTextEdit="1"/>
              </p:cNvSpPr>
              <p:nvPr/>
            </p:nvSpPr>
            <p:spPr>
              <a:xfrm>
                <a:off x="3672403" y="423479"/>
                <a:ext cx="1233671" cy="42030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5305153" y="361424"/>
                <a:ext cx="1211165" cy="428322"/>
              </a:xfrm>
              <a:prstGeom prst="rect">
                <a:avLst/>
              </a:prstGeom>
              <a:noFill/>
            </p:spPr>
            <p:txBody>
              <a:bodyPr wrap="none" rtlCol="0">
                <a:spAutoFit/>
              </a:bodyPr>
              <a:lstStyle/>
              <a:p>
                <a:r>
                  <a:rPr lang="en-GB" sz="1200" noProof="0" dirty="0"/>
                  <a:t>l. </a:t>
                </a:r>
                <a14:m>
                  <m:oMath xmlns:m="http://schemas.openxmlformats.org/officeDocument/2006/math">
                    <m:f>
                      <m:fPr>
                        <m:ctrlPr>
                          <a:rPr lang="en-GB" sz="1400" i="1" noProof="0" smtClean="0">
                            <a:latin typeface="Cambria Math" panose="02040503050406030204" pitchFamily="18" charset="0"/>
                          </a:rPr>
                        </m:ctrlPr>
                      </m:fPr>
                      <m:num>
                        <m:sSup>
                          <m:sSupPr>
                            <m:ctrlPr>
                              <a:rPr lang="en-GB" sz="1400" b="0" i="1" noProof="0" smtClean="0">
                                <a:latin typeface="Cambria Math" panose="02040503050406030204" pitchFamily="18" charset="0"/>
                              </a:rPr>
                            </m:ctrlPr>
                          </m:sSupPr>
                          <m:e>
                            <m:r>
                              <a:rPr lang="en-GB" sz="1400" b="0" i="1" noProof="0" smtClean="0">
                                <a:latin typeface="Cambria Math" panose="02040503050406030204" pitchFamily="18" charset="0"/>
                              </a:rPr>
                              <m:t>𝑥</m:t>
                            </m:r>
                          </m:e>
                          <m:sup>
                            <m:r>
                              <a:rPr lang="en-GB" sz="1400" b="0" i="1" noProof="0" smtClean="0">
                                <a:latin typeface="Cambria Math" panose="02040503050406030204" pitchFamily="18" charset="0"/>
                              </a:rPr>
                              <m:t>2</m:t>
                            </m:r>
                          </m:sup>
                        </m:sSup>
                      </m:num>
                      <m:den>
                        <m:r>
                          <a:rPr lang="en-GB" sz="1400" b="0" i="1" noProof="0" smtClean="0">
                            <a:latin typeface="Cambria Math" panose="02040503050406030204" pitchFamily="18" charset="0"/>
                          </a:rPr>
                          <m:t>7</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6</m:t>
                        </m:r>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3</m:t>
                            </m:r>
                          </m:sup>
                        </m:sSup>
                        <m:r>
                          <a:rPr lang="en-GB" sz="1400" b="0" i="1" noProof="0" smtClean="0">
                            <a:latin typeface="Cambria Math" panose="02040503050406030204" pitchFamily="18" charset="0"/>
                            <a:ea typeface="Cambria Math" panose="02040503050406030204" pitchFamily="18" charset="0"/>
                          </a:rPr>
                          <m:t>+8</m:t>
                        </m:r>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num>
                      <m:den>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r>
                          <a:rPr lang="en-GB" sz="1400" b="0" i="1" noProof="0" smtClean="0">
                            <a:latin typeface="Cambria Math" panose="02040503050406030204" pitchFamily="18" charset="0"/>
                            <a:ea typeface="Cambria Math" panose="02040503050406030204" pitchFamily="18" charset="0"/>
                          </a:rPr>
                          <m:t>−7</m:t>
                        </m:r>
                        <m:r>
                          <a:rPr lang="en-GB" sz="1400" b="0" i="1" noProof="0" smtClean="0">
                            <a:latin typeface="Cambria Math" panose="02040503050406030204" pitchFamily="18" charset="0"/>
                            <a:ea typeface="Cambria Math" panose="02040503050406030204" pitchFamily="18" charset="0"/>
                          </a:rPr>
                          <m:t>𝑥</m:t>
                        </m:r>
                      </m:den>
                    </m:f>
                  </m:oMath>
                </a14:m>
                <a:endParaRPr lang="en-GB" sz="1400" noProof="0" dirty="0"/>
              </a:p>
            </p:txBody>
          </p:sp>
        </mc:Choice>
        <mc:Fallback xmlns="">
          <p:sp>
            <p:nvSpPr>
              <p:cNvPr id="34" name="TextBox 33"/>
              <p:cNvSpPr txBox="1">
                <a:spLocks noRot="1" noChangeAspect="1" noMove="1" noResize="1" noEditPoints="1" noAdjustHandles="1" noChangeArrowheads="1" noChangeShapeType="1" noTextEdit="1"/>
              </p:cNvSpPr>
              <p:nvPr/>
            </p:nvSpPr>
            <p:spPr>
              <a:xfrm>
                <a:off x="5305153" y="361424"/>
                <a:ext cx="1211165" cy="428322"/>
              </a:xfrm>
              <a:prstGeom prst="rect">
                <a:avLst/>
              </a:prstGeom>
              <a:blipFill>
                <a:blip r:embed="rId5"/>
                <a:stretch>
                  <a:fillRect/>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B16CFEF2-A65A-6142-861C-58ACADF7EEFB}"/>
              </a:ext>
            </a:extLst>
          </p:cNvPr>
          <p:cNvSpPr/>
          <p:nvPr/>
        </p:nvSpPr>
        <p:spPr>
          <a:xfrm>
            <a:off x="324433" y="846603"/>
            <a:ext cx="1454735"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6" name="Rectangle 35">
            <a:extLst>
              <a:ext uri="{FF2B5EF4-FFF2-40B4-BE49-F238E27FC236}">
                <a16:creationId xmlns:a16="http://schemas.microsoft.com/office/drawing/2014/main" id="{B16CFEF2-A65A-6142-861C-58ACADF7EEFB}"/>
              </a:ext>
            </a:extLst>
          </p:cNvPr>
          <p:cNvSpPr/>
          <p:nvPr/>
        </p:nvSpPr>
        <p:spPr>
          <a:xfrm>
            <a:off x="1927593" y="846601"/>
            <a:ext cx="1454735"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7" name="Rectangle 36">
            <a:extLst>
              <a:ext uri="{FF2B5EF4-FFF2-40B4-BE49-F238E27FC236}">
                <a16:creationId xmlns:a16="http://schemas.microsoft.com/office/drawing/2014/main" id="{B16CFEF2-A65A-6142-861C-58ACADF7EEFB}"/>
              </a:ext>
            </a:extLst>
          </p:cNvPr>
          <p:cNvSpPr/>
          <p:nvPr/>
        </p:nvSpPr>
        <p:spPr>
          <a:xfrm>
            <a:off x="3530754" y="846602"/>
            <a:ext cx="1454735"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8" name="Rectangle 37">
            <a:extLst>
              <a:ext uri="{FF2B5EF4-FFF2-40B4-BE49-F238E27FC236}">
                <a16:creationId xmlns:a16="http://schemas.microsoft.com/office/drawing/2014/main" id="{B16CFEF2-A65A-6142-861C-58ACADF7EEFB}"/>
              </a:ext>
            </a:extLst>
          </p:cNvPr>
          <p:cNvSpPr/>
          <p:nvPr/>
        </p:nvSpPr>
        <p:spPr>
          <a:xfrm>
            <a:off x="5133914" y="846601"/>
            <a:ext cx="1454735"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 name="Slide Number Placeholder 2"/>
          <p:cNvSpPr>
            <a:spLocks noGrp="1"/>
          </p:cNvSpPr>
          <p:nvPr>
            <p:ph type="sldNum" sz="quarter" idx="12"/>
          </p:nvPr>
        </p:nvSpPr>
        <p:spPr>
          <a:xfrm>
            <a:off x="5285427" y="9450958"/>
            <a:ext cx="1543050" cy="527403"/>
          </a:xfrm>
        </p:spPr>
        <p:txBody>
          <a:bodyPr/>
          <a:lstStyle/>
          <a:p>
            <a:fld id="{9BD3B4A0-BFF9-422C-B253-48BA94BE2F5B}" type="slidenum">
              <a:rPr lang="en-GB" noProof="0" smtClean="0"/>
              <a:t>17</a:t>
            </a:fld>
            <a:endParaRPr lang="en-GB" noProof="0" dirty="0"/>
          </a:p>
        </p:txBody>
      </p:sp>
      <mc:AlternateContent xmlns:mc="http://schemas.openxmlformats.org/markup-compatibility/2006" xmlns:a14="http://schemas.microsoft.com/office/drawing/2010/main">
        <mc:Choice Requires="a14">
          <p:sp>
            <p:nvSpPr>
              <p:cNvPr id="44" name="TextBox 43"/>
              <p:cNvSpPr txBox="1"/>
              <p:nvPr/>
            </p:nvSpPr>
            <p:spPr>
              <a:xfrm>
                <a:off x="434327" y="3491010"/>
                <a:ext cx="1817421" cy="427168"/>
              </a:xfrm>
              <a:prstGeom prst="rect">
                <a:avLst/>
              </a:prstGeom>
              <a:noFill/>
            </p:spPr>
            <p:txBody>
              <a:bodyPr wrap="none" rtlCol="0">
                <a:spAutoFit/>
              </a:bodyPr>
              <a:lstStyle/>
              <a:p>
                <a:r>
                  <a:rPr lang="en-GB" sz="1200" noProof="0" dirty="0"/>
                  <a:t>m. </a:t>
                </a:r>
                <a14:m>
                  <m:oMath xmlns:m="http://schemas.openxmlformats.org/officeDocument/2006/math">
                    <m:f>
                      <m:fPr>
                        <m:ctrlPr>
                          <a:rPr lang="en-GB" sz="1400" i="1" noProof="0" smtClean="0">
                            <a:latin typeface="Cambria Math" panose="02040503050406030204" pitchFamily="18" charset="0"/>
                          </a:rPr>
                        </m:ctrlPr>
                      </m:fPr>
                      <m:num>
                        <m:sSup>
                          <m:sSupPr>
                            <m:ctrlPr>
                              <a:rPr lang="en-GB" sz="1400" b="0" i="1" noProof="0" smtClean="0">
                                <a:latin typeface="Cambria Math" panose="02040503050406030204" pitchFamily="18" charset="0"/>
                              </a:rPr>
                            </m:ctrlPr>
                          </m:sSupPr>
                          <m:e>
                            <m:r>
                              <a:rPr lang="en-GB" sz="1400" b="0" i="1" noProof="0" smtClean="0">
                                <a:latin typeface="Cambria Math" panose="02040503050406030204" pitchFamily="18" charset="0"/>
                              </a:rPr>
                              <m:t>𝑥</m:t>
                            </m:r>
                          </m:e>
                          <m:sup>
                            <m:r>
                              <a:rPr lang="en-GB" sz="1400" b="0" i="1" noProof="0" smtClean="0">
                                <a:latin typeface="Cambria Math" panose="02040503050406030204" pitchFamily="18" charset="0"/>
                              </a:rPr>
                              <m:t>2</m:t>
                            </m:r>
                          </m:sup>
                        </m:sSup>
                        <m:r>
                          <a:rPr lang="en-GB" sz="1400" b="0" i="1" noProof="0" smtClean="0">
                            <a:latin typeface="Cambria Math" panose="02040503050406030204" pitchFamily="18" charset="0"/>
                          </a:rPr>
                          <m:t>+7</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+10</m:t>
                        </m:r>
                      </m:num>
                      <m:den>
                        <m:r>
                          <a:rPr lang="en-GB" sz="1400" b="0" i="1" noProof="0" smtClean="0">
                            <a:latin typeface="Cambria Math" panose="02040503050406030204" pitchFamily="18" charset="0"/>
                          </a:rPr>
                          <m:t>2</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r>
                          <a:rPr lang="en-GB" sz="1400" b="0" i="1" noProof="0" smtClean="0">
                            <a:latin typeface="Cambria Math" panose="02040503050406030204" pitchFamily="18" charset="0"/>
                            <a:ea typeface="Cambria Math" panose="02040503050406030204" pitchFamily="18" charset="0"/>
                          </a:rPr>
                          <m:t>+4</m:t>
                        </m:r>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−5</m:t>
                        </m:r>
                      </m:num>
                      <m:den>
                        <m:r>
                          <a:rPr lang="en-GB" sz="1400" b="0" i="1" noProof="0" smtClean="0">
                            <a:latin typeface="Cambria Math" panose="02040503050406030204" pitchFamily="18" charset="0"/>
                            <a:ea typeface="Cambria Math" panose="02040503050406030204" pitchFamily="18" charset="0"/>
                          </a:rPr>
                          <m:t>4</m:t>
                        </m:r>
                      </m:den>
                    </m:f>
                  </m:oMath>
                </a14:m>
                <a:endParaRPr lang="en-GB" sz="1200" noProof="0" dirty="0"/>
              </a:p>
            </p:txBody>
          </p:sp>
        </mc:Choice>
        <mc:Fallback xmlns="">
          <p:sp>
            <p:nvSpPr>
              <p:cNvPr id="44" name="TextBox 43"/>
              <p:cNvSpPr txBox="1">
                <a:spLocks noRot="1" noChangeAspect="1" noMove="1" noResize="1" noEditPoints="1" noAdjustHandles="1" noChangeArrowheads="1" noChangeShapeType="1" noTextEdit="1"/>
              </p:cNvSpPr>
              <p:nvPr/>
            </p:nvSpPr>
            <p:spPr>
              <a:xfrm>
                <a:off x="434327" y="3491010"/>
                <a:ext cx="1817421" cy="42716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2793732" y="3491010"/>
                <a:ext cx="1774140" cy="397866"/>
              </a:xfrm>
              <a:prstGeom prst="rect">
                <a:avLst/>
              </a:prstGeom>
              <a:noFill/>
            </p:spPr>
            <p:txBody>
              <a:bodyPr wrap="none" rtlCol="0">
                <a:spAutoFit/>
              </a:bodyPr>
              <a:lstStyle/>
              <a:p>
                <a:r>
                  <a:rPr lang="en-GB" sz="1200" noProof="0" dirty="0"/>
                  <a:t>n.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14</m:t>
                        </m:r>
                      </m:num>
                      <m:den>
                        <m:sSup>
                          <m:sSupPr>
                            <m:ctrlPr>
                              <a:rPr lang="en-GB" sz="1400" b="0" i="1" noProof="0" smtClean="0">
                                <a:latin typeface="Cambria Math" panose="02040503050406030204" pitchFamily="18" charset="0"/>
                              </a:rPr>
                            </m:ctrlPr>
                          </m:sSupPr>
                          <m:e>
                            <m:r>
                              <a:rPr lang="en-GB" sz="1400" b="0" i="1" noProof="0" smtClean="0">
                                <a:latin typeface="Cambria Math" panose="02040503050406030204" pitchFamily="18" charset="0"/>
                              </a:rPr>
                              <m:t>𝑥</m:t>
                            </m:r>
                          </m:e>
                          <m:sup>
                            <m:r>
                              <a:rPr lang="en-GB" sz="1400" b="0" i="1" noProof="0" smtClean="0">
                                <a:latin typeface="Cambria Math" panose="02040503050406030204" pitchFamily="18" charset="0"/>
                              </a:rPr>
                              <m:t>2</m:t>
                            </m:r>
                          </m:sup>
                        </m:sSup>
                        <m:r>
                          <a:rPr lang="en-GB" sz="1400" b="0" i="1" noProof="0" smtClean="0">
                            <a:latin typeface="Cambria Math" panose="02040503050406030204" pitchFamily="18" charset="0"/>
                          </a:rPr>
                          <m:t>−5</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+6</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7</m:t>
                        </m:r>
                      </m:num>
                      <m:den>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r>
                          <a:rPr lang="en-GB" sz="1400" b="0" i="1" noProof="0" smtClean="0">
                            <a:latin typeface="Cambria Math" panose="02040503050406030204" pitchFamily="18" charset="0"/>
                            <a:ea typeface="Cambria Math" panose="02040503050406030204" pitchFamily="18" charset="0"/>
                          </a:rPr>
                          <m:t>+3</m:t>
                        </m:r>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−10</m:t>
                        </m:r>
                      </m:den>
                    </m:f>
                  </m:oMath>
                </a14:m>
                <a:endParaRPr lang="en-GB" sz="1400" noProof="0" dirty="0"/>
              </a:p>
            </p:txBody>
          </p:sp>
        </mc:Choice>
        <mc:Fallback xmlns="">
          <p:sp>
            <p:nvSpPr>
              <p:cNvPr id="45" name="TextBox 44"/>
              <p:cNvSpPr txBox="1">
                <a:spLocks noRot="1" noChangeAspect="1" noMove="1" noResize="1" noEditPoints="1" noAdjustHandles="1" noChangeArrowheads="1" noChangeShapeType="1" noTextEdit="1"/>
              </p:cNvSpPr>
              <p:nvPr/>
            </p:nvSpPr>
            <p:spPr>
              <a:xfrm>
                <a:off x="2793732" y="3491010"/>
                <a:ext cx="1774140" cy="39786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4906074" y="3497871"/>
                <a:ext cx="1206036" cy="398314"/>
              </a:xfrm>
              <a:prstGeom prst="rect">
                <a:avLst/>
              </a:prstGeom>
              <a:noFill/>
            </p:spPr>
            <p:txBody>
              <a:bodyPr wrap="none" rtlCol="0">
                <a:spAutoFit/>
              </a:bodyPr>
              <a:lstStyle/>
              <a:p>
                <a:r>
                  <a:rPr lang="en-GB" sz="1200" noProof="0" dirty="0"/>
                  <a:t>o.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+4</m:t>
                        </m:r>
                      </m:num>
                      <m:den>
                        <m:r>
                          <a:rPr lang="en-GB" sz="1400" b="0" i="1" noProof="0" smtClean="0">
                            <a:latin typeface="Cambria Math" panose="02040503050406030204" pitchFamily="18" charset="0"/>
                          </a:rPr>
                          <m:t>𝑥</m:t>
                        </m:r>
                        <m:r>
                          <a:rPr lang="en-GB" sz="1400" b="0" i="1" noProof="0" smtClean="0">
                            <a:latin typeface="Cambria Math" panose="02040503050406030204" pitchFamily="18" charset="0"/>
                          </a:rPr>
                          <m:t>+5</m:t>
                        </m:r>
                      </m:den>
                    </m:f>
                    <m:r>
                      <a:rPr lang="en-GB" sz="1400" i="1" noProof="0" smtClean="0">
                        <a:latin typeface="Cambria Math" panose="02040503050406030204" pitchFamily="18" charset="0"/>
                        <a:ea typeface="Cambria Math" panose="02040503050406030204" pitchFamily="18" charset="0"/>
                      </a:rPr>
                      <m:t>÷</m:t>
                    </m:r>
                    <m:f>
                      <m:fPr>
                        <m:ctrlPr>
                          <a:rPr lang="en-GB" sz="1400" b="0" i="1" noProof="0" smtClean="0">
                            <a:latin typeface="Cambria Math" panose="02040503050406030204" pitchFamily="18" charset="0"/>
                            <a:ea typeface="Cambria Math" panose="02040503050406030204" pitchFamily="18" charset="0"/>
                          </a:rPr>
                        </m:ctrlPr>
                      </m:fPr>
                      <m:num>
                        <m:r>
                          <a:rPr lang="en-GB" sz="1400" b="0" i="1" noProof="0" smtClean="0">
                            <a:latin typeface="Cambria Math" panose="02040503050406030204" pitchFamily="18" charset="0"/>
                            <a:ea typeface="Cambria Math" panose="02040503050406030204" pitchFamily="18" charset="0"/>
                          </a:rPr>
                          <m:t>3</m:t>
                        </m:r>
                        <m:r>
                          <a:rPr lang="en-GB" sz="1400" b="0" i="1" noProof="0" smtClean="0">
                            <a:latin typeface="Cambria Math" panose="02040503050406030204" pitchFamily="18" charset="0"/>
                            <a:ea typeface="Cambria Math" panose="02040503050406030204" pitchFamily="18" charset="0"/>
                          </a:rPr>
                          <m:t>𝑥</m:t>
                        </m:r>
                        <m:r>
                          <a:rPr lang="en-GB" sz="1400" b="0" i="1" noProof="0" smtClean="0">
                            <a:latin typeface="Cambria Math" panose="02040503050406030204" pitchFamily="18" charset="0"/>
                            <a:ea typeface="Cambria Math" panose="02040503050406030204" pitchFamily="18" charset="0"/>
                          </a:rPr>
                          <m:t>+12</m:t>
                        </m:r>
                      </m:num>
                      <m:den>
                        <m:sSup>
                          <m:sSupPr>
                            <m:ctrlPr>
                              <a:rPr lang="en-GB" sz="1400" b="0" i="1" noProof="0" smtClean="0">
                                <a:latin typeface="Cambria Math" panose="02040503050406030204" pitchFamily="18" charset="0"/>
                                <a:ea typeface="Cambria Math" panose="02040503050406030204" pitchFamily="18" charset="0"/>
                              </a:rPr>
                            </m:ctrlPr>
                          </m:sSupPr>
                          <m:e>
                            <m:r>
                              <a:rPr lang="en-GB" sz="1400" b="0" i="1" noProof="0" smtClean="0">
                                <a:latin typeface="Cambria Math" panose="02040503050406030204" pitchFamily="18" charset="0"/>
                                <a:ea typeface="Cambria Math" panose="02040503050406030204" pitchFamily="18" charset="0"/>
                              </a:rPr>
                              <m:t>𝑥</m:t>
                            </m:r>
                          </m:e>
                          <m:sup>
                            <m:r>
                              <a:rPr lang="en-GB" sz="1400" b="0" i="1" noProof="0" smtClean="0">
                                <a:latin typeface="Cambria Math" panose="02040503050406030204" pitchFamily="18" charset="0"/>
                                <a:ea typeface="Cambria Math" panose="02040503050406030204" pitchFamily="18" charset="0"/>
                              </a:rPr>
                              <m:t>2</m:t>
                            </m:r>
                          </m:sup>
                        </m:sSup>
                        <m:r>
                          <a:rPr lang="en-GB" sz="1400" b="0" i="1" noProof="0" smtClean="0">
                            <a:latin typeface="Cambria Math" panose="02040503050406030204" pitchFamily="18" charset="0"/>
                            <a:ea typeface="Cambria Math" panose="02040503050406030204" pitchFamily="18" charset="0"/>
                          </a:rPr>
                          <m:t>−25</m:t>
                        </m:r>
                      </m:den>
                    </m:f>
                  </m:oMath>
                </a14:m>
                <a:endParaRPr lang="en-GB" sz="1400" noProof="0" dirty="0"/>
              </a:p>
            </p:txBody>
          </p:sp>
        </mc:Choice>
        <mc:Fallback xmlns="">
          <p:sp>
            <p:nvSpPr>
              <p:cNvPr id="46" name="TextBox 45"/>
              <p:cNvSpPr txBox="1">
                <a:spLocks noRot="1" noChangeAspect="1" noMove="1" noResize="1" noEditPoints="1" noAdjustHandles="1" noChangeArrowheads="1" noChangeShapeType="1" noTextEdit="1"/>
              </p:cNvSpPr>
              <p:nvPr/>
            </p:nvSpPr>
            <p:spPr>
              <a:xfrm>
                <a:off x="4906074" y="3497871"/>
                <a:ext cx="1206036" cy="398314"/>
              </a:xfrm>
              <a:prstGeom prst="rect">
                <a:avLst/>
              </a:prstGeom>
              <a:blipFill>
                <a:blip r:embed="rId8"/>
                <a:stretch>
                  <a:fillRect l="-505"/>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B16CFEF2-A65A-6142-861C-58ACADF7EEFB}"/>
              </a:ext>
            </a:extLst>
          </p:cNvPr>
          <p:cNvSpPr/>
          <p:nvPr/>
        </p:nvSpPr>
        <p:spPr>
          <a:xfrm>
            <a:off x="291965" y="3987344"/>
            <a:ext cx="1989396"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8" name="Rectangle 47">
            <a:extLst>
              <a:ext uri="{FF2B5EF4-FFF2-40B4-BE49-F238E27FC236}">
                <a16:creationId xmlns:a16="http://schemas.microsoft.com/office/drawing/2014/main" id="{B16CFEF2-A65A-6142-861C-58ACADF7EEFB}"/>
              </a:ext>
            </a:extLst>
          </p:cNvPr>
          <p:cNvSpPr/>
          <p:nvPr/>
        </p:nvSpPr>
        <p:spPr>
          <a:xfrm>
            <a:off x="2397807" y="3987344"/>
            <a:ext cx="2043824"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0" name="Rectangle 49">
            <a:extLst>
              <a:ext uri="{FF2B5EF4-FFF2-40B4-BE49-F238E27FC236}">
                <a16:creationId xmlns:a16="http://schemas.microsoft.com/office/drawing/2014/main" id="{B16CFEF2-A65A-6142-861C-58ACADF7EEFB}"/>
              </a:ext>
            </a:extLst>
          </p:cNvPr>
          <p:cNvSpPr/>
          <p:nvPr/>
        </p:nvSpPr>
        <p:spPr>
          <a:xfrm>
            <a:off x="4558077" y="3987344"/>
            <a:ext cx="2043824"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3" name="TextBox 52"/>
          <p:cNvSpPr txBox="1"/>
          <p:nvPr/>
        </p:nvSpPr>
        <p:spPr>
          <a:xfrm>
            <a:off x="219393" y="6729772"/>
            <a:ext cx="338554" cy="276999"/>
          </a:xfrm>
          <a:prstGeom prst="rect">
            <a:avLst/>
          </a:prstGeom>
          <a:noFill/>
        </p:spPr>
        <p:txBody>
          <a:bodyPr wrap="none" rtlCol="0">
            <a:spAutoFit/>
          </a:bodyPr>
          <a:lstStyle/>
          <a:p>
            <a:r>
              <a:rPr lang="en-GB" sz="1200" noProof="0" dirty="0"/>
              <a:t>p. </a:t>
            </a:r>
            <a:endParaRPr lang="en-GB" sz="1400" noProof="0" dirty="0"/>
          </a:p>
        </p:txBody>
      </p:sp>
      <p:sp>
        <p:nvSpPr>
          <p:cNvPr id="54" name="TextBox 53"/>
          <p:cNvSpPr txBox="1"/>
          <p:nvPr/>
        </p:nvSpPr>
        <p:spPr>
          <a:xfrm>
            <a:off x="3619453" y="6729772"/>
            <a:ext cx="338554" cy="276999"/>
          </a:xfrm>
          <a:prstGeom prst="rect">
            <a:avLst/>
          </a:prstGeom>
          <a:noFill/>
        </p:spPr>
        <p:txBody>
          <a:bodyPr wrap="none" rtlCol="0">
            <a:spAutoFit/>
          </a:bodyPr>
          <a:lstStyle/>
          <a:p>
            <a:r>
              <a:rPr lang="en-GB" sz="1200" noProof="0" dirty="0"/>
              <a:t>q. </a:t>
            </a:r>
            <a:endParaRPr lang="en-GB" sz="1400" noProof="0" dirty="0"/>
          </a:p>
        </p:txBody>
      </p:sp>
      <p:pic>
        <p:nvPicPr>
          <p:cNvPr id="55" name="Picture 54"/>
          <p:cNvPicPr>
            <a:picLocks noChangeAspect="1"/>
          </p:cNvPicPr>
          <p:nvPr/>
        </p:nvPicPr>
        <p:blipFill rotWithShape="1">
          <a:blip r:embed="rId9"/>
          <a:srcRect l="61589" t="33994" r="9628" b="40159"/>
          <a:stretch/>
        </p:blipFill>
        <p:spPr>
          <a:xfrm>
            <a:off x="545659" y="6675566"/>
            <a:ext cx="1482008" cy="506725"/>
          </a:xfrm>
          <a:prstGeom prst="rect">
            <a:avLst/>
          </a:prstGeom>
        </p:spPr>
      </p:pic>
      <p:sp>
        <p:nvSpPr>
          <p:cNvPr id="56" name="Rectangle 55">
            <a:extLst>
              <a:ext uri="{FF2B5EF4-FFF2-40B4-BE49-F238E27FC236}">
                <a16:creationId xmlns:a16="http://schemas.microsoft.com/office/drawing/2014/main" id="{B16CFEF2-A65A-6142-861C-58ACADF7EEFB}"/>
              </a:ext>
            </a:extLst>
          </p:cNvPr>
          <p:cNvSpPr/>
          <p:nvPr/>
        </p:nvSpPr>
        <p:spPr>
          <a:xfrm>
            <a:off x="294584" y="7201104"/>
            <a:ext cx="3167943"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57" name="Rectangle 56">
            <a:extLst>
              <a:ext uri="{FF2B5EF4-FFF2-40B4-BE49-F238E27FC236}">
                <a16:creationId xmlns:a16="http://schemas.microsoft.com/office/drawing/2014/main" id="{B16CFEF2-A65A-6142-861C-58ACADF7EEFB}"/>
              </a:ext>
            </a:extLst>
          </p:cNvPr>
          <p:cNvSpPr/>
          <p:nvPr/>
        </p:nvSpPr>
        <p:spPr>
          <a:xfrm>
            <a:off x="3530754" y="7201104"/>
            <a:ext cx="3057895" cy="26191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pic>
        <p:nvPicPr>
          <p:cNvPr id="60" name="Picture 59"/>
          <p:cNvPicPr>
            <a:picLocks noChangeAspect="1"/>
          </p:cNvPicPr>
          <p:nvPr/>
        </p:nvPicPr>
        <p:blipFill rotWithShape="1">
          <a:blip r:embed="rId9"/>
          <a:srcRect l="9909" t="65998" r="55875" b="5706"/>
          <a:stretch/>
        </p:blipFill>
        <p:spPr>
          <a:xfrm>
            <a:off x="3908836" y="6649981"/>
            <a:ext cx="1609271" cy="506725"/>
          </a:xfrm>
          <a:prstGeom prst="rect">
            <a:avLst/>
          </a:prstGeom>
        </p:spPr>
      </p:pic>
      <p:sp>
        <p:nvSpPr>
          <p:cNvPr id="61" name="TextBox 60">
            <a:extLst>
              <a:ext uri="{FF2B5EF4-FFF2-40B4-BE49-F238E27FC236}">
                <a16:creationId xmlns:a16="http://schemas.microsoft.com/office/drawing/2014/main" id="{C3C65E48-8C3D-6849-AD77-7AD8678AD8DA}"/>
              </a:ext>
            </a:extLst>
          </p:cNvPr>
          <p:cNvSpPr txBox="1"/>
          <p:nvPr/>
        </p:nvSpPr>
        <p:spPr>
          <a:xfrm>
            <a:off x="101511" y="7623"/>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3767051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 name="Rectangle 31"/>
              <p:cNvSpPr/>
              <p:nvPr/>
            </p:nvSpPr>
            <p:spPr>
              <a:xfrm>
                <a:off x="262314" y="-99029"/>
                <a:ext cx="1807033" cy="637034"/>
              </a:xfrm>
              <a:prstGeom prst="rect">
                <a:avLst/>
              </a:prstGeom>
            </p:spPr>
            <p:txBody>
              <a:bodyPr wrap="none">
                <a:spAutoFit/>
              </a:bodyPr>
              <a:lstStyle/>
              <a:p>
                <a:endParaRPr lang="en-GB" sz="1200" i="1" noProof="0" dirty="0">
                  <a:latin typeface="Cambria Math" panose="02040503050406030204" pitchFamily="18" charset="0"/>
                </a:endParaRPr>
              </a:p>
              <a:p>
                <a:r>
                  <a:rPr lang="en-GB" sz="1200" noProof="0" dirty="0"/>
                  <a:t>r) </a:t>
                </a:r>
                <a14:m>
                  <m:oMath xmlns:m="http://schemas.openxmlformats.org/officeDocument/2006/math">
                    <m:f>
                      <m:fPr>
                        <m:ctrlPr>
                          <a:rPr lang="en-GB" sz="1400" i="1" noProof="0">
                            <a:latin typeface="Cambria Math" panose="02040503050406030204" pitchFamily="18" charset="0"/>
                          </a:rPr>
                        </m:ctrlPr>
                      </m:fPr>
                      <m:num>
                        <m:r>
                          <a:rPr lang="en-GB" sz="1400" i="1" noProof="0">
                            <a:latin typeface="Cambria Math"/>
                          </a:rPr>
                          <m:t>2</m:t>
                        </m:r>
                        <m:sSup>
                          <m:sSupPr>
                            <m:ctrlPr>
                              <a:rPr lang="en-GB" sz="1400" i="1" noProof="0">
                                <a:latin typeface="Cambria Math" panose="02040503050406030204" pitchFamily="18" charset="0"/>
                              </a:rPr>
                            </m:ctrlPr>
                          </m:sSupPr>
                          <m:e>
                            <m:r>
                              <a:rPr lang="en-GB" sz="1400" i="1" noProof="0">
                                <a:latin typeface="Cambria Math"/>
                              </a:rPr>
                              <m:t>𝑦</m:t>
                            </m:r>
                          </m:e>
                          <m:sup>
                            <m:r>
                              <a:rPr lang="en-GB" sz="1400" i="1" noProof="0">
                                <a:latin typeface="Cambria Math"/>
                              </a:rPr>
                              <m:t>2</m:t>
                            </m:r>
                          </m:sup>
                        </m:sSup>
                        <m:r>
                          <a:rPr lang="en-GB" sz="1400" i="1" noProof="0">
                            <a:latin typeface="Cambria Math"/>
                          </a:rPr>
                          <m:t>+4</m:t>
                        </m:r>
                        <m:r>
                          <a:rPr lang="en-GB" sz="1400" i="1" noProof="0">
                            <a:latin typeface="Cambria Math"/>
                          </a:rPr>
                          <m:t>𝑦</m:t>
                        </m:r>
                      </m:num>
                      <m:den>
                        <m:r>
                          <a:rPr lang="en-GB" sz="1400" i="1" noProof="0">
                            <a:latin typeface="Cambria Math"/>
                          </a:rPr>
                          <m:t>3</m:t>
                        </m:r>
                        <m:sSup>
                          <m:sSupPr>
                            <m:ctrlPr>
                              <a:rPr lang="en-GB" sz="1400" i="1" noProof="0">
                                <a:latin typeface="Cambria Math" panose="02040503050406030204" pitchFamily="18" charset="0"/>
                              </a:rPr>
                            </m:ctrlPr>
                          </m:sSupPr>
                          <m:e>
                            <m:r>
                              <a:rPr lang="en-GB" sz="1400" i="1" noProof="0">
                                <a:latin typeface="Cambria Math"/>
                              </a:rPr>
                              <m:t>𝑦</m:t>
                            </m:r>
                          </m:e>
                          <m:sup>
                            <m:r>
                              <a:rPr lang="en-GB" sz="1400" i="1" noProof="0">
                                <a:latin typeface="Cambria Math"/>
                              </a:rPr>
                              <m:t>2</m:t>
                            </m:r>
                          </m:sup>
                        </m:sSup>
                        <m:r>
                          <a:rPr lang="en-GB" sz="1400" i="1" noProof="0">
                            <a:latin typeface="Cambria Math"/>
                          </a:rPr>
                          <m:t>+7</m:t>
                        </m:r>
                        <m:r>
                          <a:rPr lang="en-GB" sz="1400" i="1" noProof="0">
                            <a:latin typeface="Cambria Math"/>
                          </a:rPr>
                          <m:t>𝑦</m:t>
                        </m:r>
                        <m:r>
                          <a:rPr lang="en-GB" sz="1400" i="1" noProof="0">
                            <a:latin typeface="Cambria Math"/>
                          </a:rPr>
                          <m:t>+2</m:t>
                        </m:r>
                      </m:den>
                    </m:f>
                    <m:r>
                      <a:rPr lang="en-GB" sz="1400" i="1" noProof="0" smtClean="0">
                        <a:latin typeface="Cambria Math" panose="02040503050406030204" pitchFamily="18" charset="0"/>
                        <a:ea typeface="Cambria Math" panose="02040503050406030204" pitchFamily="18" charset="0"/>
                      </a:rPr>
                      <m:t>÷</m:t>
                    </m:r>
                    <m:f>
                      <m:fPr>
                        <m:ctrlPr>
                          <a:rPr lang="en-GB" sz="1400" i="1" noProof="0">
                            <a:latin typeface="Cambria Math" panose="02040503050406030204" pitchFamily="18" charset="0"/>
                          </a:rPr>
                        </m:ctrlPr>
                      </m:fPr>
                      <m:num>
                        <m:r>
                          <a:rPr lang="en-GB" sz="1400" i="1" noProof="0">
                            <a:latin typeface="Cambria Math"/>
                          </a:rPr>
                          <m:t>9</m:t>
                        </m:r>
                        <m:sSup>
                          <m:sSupPr>
                            <m:ctrlPr>
                              <a:rPr lang="en-GB" sz="1400" i="1" noProof="0">
                                <a:latin typeface="Cambria Math" panose="02040503050406030204" pitchFamily="18" charset="0"/>
                              </a:rPr>
                            </m:ctrlPr>
                          </m:sSupPr>
                          <m:e>
                            <m:r>
                              <a:rPr lang="en-GB" sz="1400" i="1" noProof="0">
                                <a:latin typeface="Cambria Math"/>
                              </a:rPr>
                              <m:t>𝑦</m:t>
                            </m:r>
                          </m:e>
                          <m:sup>
                            <m:r>
                              <a:rPr lang="en-GB" sz="1400" i="1" noProof="0">
                                <a:latin typeface="Cambria Math"/>
                              </a:rPr>
                              <m:t>2</m:t>
                            </m:r>
                          </m:sup>
                        </m:sSup>
                        <m:r>
                          <a:rPr lang="en-GB" sz="1400" i="1" noProof="0">
                            <a:latin typeface="Cambria Math"/>
                          </a:rPr>
                          <m:t>−1</m:t>
                        </m:r>
                      </m:num>
                      <m:den>
                        <m:r>
                          <a:rPr lang="en-GB" sz="1400" i="1" noProof="0">
                            <a:latin typeface="Cambria Math"/>
                          </a:rPr>
                          <m:t>3</m:t>
                        </m:r>
                        <m:sSup>
                          <m:sSupPr>
                            <m:ctrlPr>
                              <a:rPr lang="en-GB" sz="1400" i="1" noProof="0">
                                <a:latin typeface="Cambria Math" panose="02040503050406030204" pitchFamily="18" charset="0"/>
                              </a:rPr>
                            </m:ctrlPr>
                          </m:sSupPr>
                          <m:e>
                            <m:r>
                              <a:rPr lang="en-GB" sz="1400" i="1" noProof="0">
                                <a:latin typeface="Cambria Math"/>
                              </a:rPr>
                              <m:t>𝑦</m:t>
                            </m:r>
                          </m:e>
                          <m:sup>
                            <m:r>
                              <a:rPr lang="en-GB" sz="1400" i="1" noProof="0">
                                <a:latin typeface="Cambria Math"/>
                              </a:rPr>
                              <m:t>2</m:t>
                            </m:r>
                          </m:sup>
                        </m:sSup>
                        <m:r>
                          <a:rPr lang="en-GB" sz="1400" i="1" noProof="0">
                            <a:latin typeface="Cambria Math"/>
                          </a:rPr>
                          <m:t>−</m:t>
                        </m:r>
                        <m:r>
                          <a:rPr lang="en-GB" sz="1400" i="1" noProof="0">
                            <a:latin typeface="Cambria Math"/>
                          </a:rPr>
                          <m:t>𝑦</m:t>
                        </m:r>
                      </m:den>
                    </m:f>
                    <m:r>
                      <a:rPr lang="en-GB" sz="1400" i="1" noProof="0">
                        <a:latin typeface="Cambria Math"/>
                      </a:rPr>
                      <m:t>=</m:t>
                    </m:r>
                  </m:oMath>
                </a14:m>
                <a:endParaRPr lang="en-GB" sz="1400" noProof="0" dirty="0"/>
              </a:p>
            </p:txBody>
          </p:sp>
        </mc:Choice>
        <mc:Fallback xmlns="">
          <p:sp>
            <p:nvSpPr>
              <p:cNvPr id="32" name="Rectangle 31"/>
              <p:cNvSpPr>
                <a:spLocks noRot="1" noChangeAspect="1" noMove="1" noResize="1" noEditPoints="1" noAdjustHandles="1" noChangeArrowheads="1" noChangeShapeType="1" noTextEdit="1"/>
              </p:cNvSpPr>
              <p:nvPr/>
            </p:nvSpPr>
            <p:spPr>
              <a:xfrm>
                <a:off x="262314" y="-99029"/>
                <a:ext cx="1807033" cy="637034"/>
              </a:xfrm>
              <a:prstGeom prst="rect">
                <a:avLst/>
              </a:prstGeom>
              <a:blipFill>
                <a:blip r:embed="rId2"/>
                <a:stretch>
                  <a:fillRect b="-9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2409114" y="-107346"/>
                <a:ext cx="1809598" cy="613181"/>
              </a:xfrm>
              <a:prstGeom prst="rect">
                <a:avLst/>
              </a:prstGeom>
            </p:spPr>
            <p:txBody>
              <a:bodyPr wrap="none">
                <a:spAutoFit/>
              </a:bodyPr>
              <a:lstStyle/>
              <a:p>
                <a:endParaRPr lang="en-GB" sz="1200" i="1" noProof="0" dirty="0">
                  <a:latin typeface="Cambria Math" panose="02040503050406030204" pitchFamily="18" charset="0"/>
                </a:endParaRPr>
              </a:p>
              <a:p>
                <a:r>
                  <a:rPr lang="en-GB" sz="1200" noProof="0" dirty="0"/>
                  <a:t>s)</a:t>
                </a:r>
                <a14:m>
                  <m:oMath xmlns:m="http://schemas.openxmlformats.org/officeDocument/2006/math">
                    <m:r>
                      <a:rPr lang="en-GB" sz="1400" b="0" i="0" noProof="0" smtClean="0">
                        <a:latin typeface="Cambria Math" panose="02040503050406030204" pitchFamily="18" charset="0"/>
                      </a:rPr>
                      <m:t> </m:t>
                    </m:r>
                    <m:f>
                      <m:fPr>
                        <m:ctrlPr>
                          <a:rPr lang="en-GB" sz="1400" i="1" noProof="0">
                            <a:latin typeface="Cambria Math" panose="02040503050406030204" pitchFamily="18" charset="0"/>
                          </a:rPr>
                        </m:ctrlPr>
                      </m:fPr>
                      <m:num>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+4</m:t>
                        </m:r>
                        <m:r>
                          <a:rPr lang="en-GB" sz="1400" i="1" noProof="0">
                            <a:latin typeface="Cambria Math" panose="02040503050406030204" pitchFamily="18" charset="0"/>
                          </a:rPr>
                          <m:t>𝑥</m:t>
                        </m:r>
                        <m:r>
                          <a:rPr lang="en-GB" sz="1400" i="1" noProof="0">
                            <a:latin typeface="Cambria Math" panose="02040503050406030204" pitchFamily="18" charset="0"/>
                          </a:rPr>
                          <m:t>−12</m:t>
                        </m:r>
                      </m:num>
                      <m:den>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−25</m:t>
                        </m:r>
                      </m:den>
                    </m:f>
                    <m:r>
                      <a:rPr lang="en-GB" sz="1400" i="1" noProof="0">
                        <a:latin typeface="Cambria Math" panose="02040503050406030204" pitchFamily="18" charset="0"/>
                      </a:rPr>
                      <m:t>÷</m:t>
                    </m:r>
                    <m:f>
                      <m:fPr>
                        <m:ctrlPr>
                          <a:rPr lang="en-GB" sz="1400" i="1" noProof="0">
                            <a:latin typeface="Cambria Math" panose="02040503050406030204" pitchFamily="18" charset="0"/>
                          </a:rPr>
                        </m:ctrlPr>
                      </m:fPr>
                      <m:num>
                        <m:r>
                          <a:rPr lang="en-GB" sz="1400" i="1" noProof="0">
                            <a:latin typeface="Cambria Math" panose="02040503050406030204" pitchFamily="18" charset="0"/>
                          </a:rPr>
                          <m:t>𝑥</m:t>
                        </m:r>
                        <m:r>
                          <a:rPr lang="en-GB" sz="1400" i="1" noProof="0">
                            <a:latin typeface="Cambria Math" panose="02040503050406030204" pitchFamily="18" charset="0"/>
                          </a:rPr>
                          <m:t>+6</m:t>
                        </m:r>
                      </m:num>
                      <m:den>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−5</m:t>
                        </m:r>
                        <m:r>
                          <a:rPr lang="en-GB" sz="1400" i="1" noProof="0">
                            <a:latin typeface="Cambria Math" panose="02040503050406030204" pitchFamily="18" charset="0"/>
                          </a:rPr>
                          <m:t>𝑥</m:t>
                        </m:r>
                      </m:den>
                    </m:f>
                    <m:r>
                      <a:rPr lang="en-GB" sz="1600" i="1" noProof="0">
                        <a:latin typeface="Cambria Math"/>
                      </a:rPr>
                      <m:t>=</m:t>
                    </m:r>
                  </m:oMath>
                </a14:m>
                <a:endParaRPr lang="en-GB" sz="1400" noProof="0" dirty="0"/>
              </a:p>
            </p:txBody>
          </p:sp>
        </mc:Choice>
        <mc:Fallback xmlns="">
          <p:sp>
            <p:nvSpPr>
              <p:cNvPr id="35" name="Rectangle 34"/>
              <p:cNvSpPr>
                <a:spLocks noRot="1" noChangeAspect="1" noMove="1" noResize="1" noEditPoints="1" noAdjustHandles="1" noChangeArrowheads="1" noChangeShapeType="1" noTextEdit="1"/>
              </p:cNvSpPr>
              <p:nvPr/>
            </p:nvSpPr>
            <p:spPr>
              <a:xfrm>
                <a:off x="2409114" y="-107346"/>
                <a:ext cx="1809598" cy="61318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4539745" y="77192"/>
                <a:ext cx="1843069" cy="428643"/>
              </a:xfrm>
              <a:prstGeom prst="rect">
                <a:avLst/>
              </a:prstGeom>
            </p:spPr>
            <p:txBody>
              <a:bodyPr wrap="none">
                <a:spAutoFit/>
              </a:bodyPr>
              <a:lstStyle/>
              <a:p>
                <a:r>
                  <a:rPr lang="en-GB" sz="1200" noProof="0" dirty="0"/>
                  <a:t>t) </a:t>
                </a:r>
                <a14:m>
                  <m:oMath xmlns:m="http://schemas.openxmlformats.org/officeDocument/2006/math">
                    <m:f>
                      <m:fPr>
                        <m:ctrlPr>
                          <a:rPr lang="en-GB" sz="1400" i="1" noProof="0">
                            <a:latin typeface="Cambria Math" panose="02040503050406030204" pitchFamily="18" charset="0"/>
                          </a:rPr>
                        </m:ctrlPr>
                      </m:fPr>
                      <m:num>
                        <m:r>
                          <a:rPr lang="en-GB" sz="1400" i="1" noProof="0">
                            <a:latin typeface="Cambria Math" panose="02040503050406030204" pitchFamily="18" charset="0"/>
                          </a:rPr>
                          <m:t>3</m:t>
                        </m:r>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−5</m:t>
                        </m:r>
                        <m:r>
                          <a:rPr lang="en-GB" sz="1400" i="1" noProof="0">
                            <a:latin typeface="Cambria Math" panose="02040503050406030204" pitchFamily="18" charset="0"/>
                          </a:rPr>
                          <m:t>𝑥</m:t>
                        </m:r>
                        <m:r>
                          <a:rPr lang="en-GB" sz="1400" i="1" noProof="0">
                            <a:latin typeface="Cambria Math" panose="02040503050406030204" pitchFamily="18" charset="0"/>
                          </a:rPr>
                          <m:t>−2</m:t>
                        </m:r>
                      </m:num>
                      <m:den>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−4</m:t>
                        </m:r>
                        <m:r>
                          <a:rPr lang="en-GB" sz="1400" i="1" noProof="0">
                            <a:latin typeface="Cambria Math" panose="02040503050406030204" pitchFamily="18" charset="0"/>
                          </a:rPr>
                          <m:t>𝑥</m:t>
                        </m:r>
                      </m:den>
                    </m:f>
                    <m:r>
                      <a:rPr lang="en-GB" sz="1400" i="1" noProof="0">
                        <a:latin typeface="Cambria Math" panose="02040503050406030204" pitchFamily="18" charset="0"/>
                      </a:rPr>
                      <m:t>÷</m:t>
                    </m:r>
                    <m:f>
                      <m:fPr>
                        <m:ctrlPr>
                          <a:rPr lang="en-GB" sz="1400" i="1" noProof="0">
                            <a:latin typeface="Cambria Math" panose="02040503050406030204" pitchFamily="18" charset="0"/>
                          </a:rPr>
                        </m:ctrlPr>
                      </m:fPr>
                      <m:num>
                        <m:r>
                          <a:rPr lang="en-GB" sz="1400" i="1" noProof="0">
                            <a:latin typeface="Cambria Math" panose="02040503050406030204" pitchFamily="18" charset="0"/>
                          </a:rPr>
                          <m:t>3</m:t>
                        </m:r>
                        <m:r>
                          <a:rPr lang="en-GB" sz="1400" i="1" noProof="0">
                            <a:latin typeface="Cambria Math" panose="02040503050406030204" pitchFamily="18" charset="0"/>
                          </a:rPr>
                          <m:t>𝑥</m:t>
                        </m:r>
                        <m:r>
                          <a:rPr lang="en-GB" sz="1400" i="1" noProof="0">
                            <a:latin typeface="Cambria Math" panose="02040503050406030204" pitchFamily="18" charset="0"/>
                          </a:rPr>
                          <m:t>+1</m:t>
                        </m:r>
                      </m:num>
                      <m:den>
                        <m:sSup>
                          <m:sSupPr>
                            <m:ctrlPr>
                              <a:rPr lang="en-GB" sz="1400" i="1" noProof="0">
                                <a:latin typeface="Cambria Math" panose="02040503050406030204" pitchFamily="18" charset="0"/>
                              </a:rPr>
                            </m:ctrlPr>
                          </m:sSupPr>
                          <m:e>
                            <m:r>
                              <a:rPr lang="en-GB" sz="1400" i="1" noProof="0">
                                <a:latin typeface="Cambria Math" panose="02040503050406030204" pitchFamily="18" charset="0"/>
                              </a:rPr>
                              <m:t>𝑥</m:t>
                            </m:r>
                          </m:e>
                          <m:sup>
                            <m:r>
                              <a:rPr lang="en-GB" sz="1400" i="1" noProof="0">
                                <a:latin typeface="Cambria Math" panose="02040503050406030204" pitchFamily="18" charset="0"/>
                              </a:rPr>
                              <m:t>2</m:t>
                            </m:r>
                          </m:sup>
                        </m:sSup>
                        <m:r>
                          <a:rPr lang="en-GB" sz="1400" i="1" noProof="0">
                            <a:latin typeface="Cambria Math" panose="02040503050406030204" pitchFamily="18" charset="0"/>
                          </a:rPr>
                          <m:t>−8</m:t>
                        </m:r>
                        <m:r>
                          <a:rPr lang="en-GB" sz="1400" i="1" noProof="0">
                            <a:latin typeface="Cambria Math" panose="02040503050406030204" pitchFamily="18" charset="0"/>
                          </a:rPr>
                          <m:t>𝑥</m:t>
                        </m:r>
                        <m:r>
                          <a:rPr lang="en-GB" sz="1400" i="1" noProof="0">
                            <a:latin typeface="Cambria Math" panose="02040503050406030204" pitchFamily="18" charset="0"/>
                          </a:rPr>
                          <m:t>+16</m:t>
                        </m:r>
                      </m:den>
                    </m:f>
                  </m:oMath>
                </a14:m>
                <a:endParaRPr lang="en-GB" noProof="0" dirty="0"/>
              </a:p>
            </p:txBody>
          </p:sp>
        </mc:Choice>
        <mc:Fallback xmlns="">
          <p:sp>
            <p:nvSpPr>
              <p:cNvPr id="36" name="Rectangle 35"/>
              <p:cNvSpPr>
                <a:spLocks noRot="1" noChangeAspect="1" noMove="1" noResize="1" noEditPoints="1" noAdjustHandles="1" noChangeArrowheads="1" noChangeShapeType="1" noTextEdit="1"/>
              </p:cNvSpPr>
              <p:nvPr/>
            </p:nvSpPr>
            <p:spPr>
              <a:xfrm>
                <a:off x="4539745" y="77192"/>
                <a:ext cx="1843069" cy="428643"/>
              </a:xfrm>
              <a:prstGeom prst="rect">
                <a:avLst/>
              </a:prstGeom>
              <a:blipFill>
                <a:blip r:embed="rId4"/>
                <a:stretch>
                  <a:fillRect l="-331"/>
                </a:stretch>
              </a:blipFill>
            </p:spPr>
            <p:txBody>
              <a:bodyPr/>
              <a:lstStyle/>
              <a:p>
                <a:r>
                  <a:rPr lang="en-US">
                    <a:noFill/>
                  </a:rPr>
                  <a:t> </a:t>
                </a:r>
              </a:p>
            </p:txBody>
          </p:sp>
        </mc:Fallback>
      </mc:AlternateContent>
      <p:sp>
        <p:nvSpPr>
          <p:cNvPr id="37" name="Rectangle 36">
            <a:extLst>
              <a:ext uri="{FF2B5EF4-FFF2-40B4-BE49-F238E27FC236}">
                <a16:creationId xmlns:a16="http://schemas.microsoft.com/office/drawing/2014/main" id="{B16CFEF2-A65A-6142-861C-58ACADF7EEFB}"/>
              </a:ext>
            </a:extLst>
          </p:cNvPr>
          <p:cNvSpPr/>
          <p:nvPr/>
        </p:nvSpPr>
        <p:spPr>
          <a:xfrm>
            <a:off x="330894" y="610378"/>
            <a:ext cx="1989396" cy="344478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8" name="Rectangle 37">
            <a:extLst>
              <a:ext uri="{FF2B5EF4-FFF2-40B4-BE49-F238E27FC236}">
                <a16:creationId xmlns:a16="http://schemas.microsoft.com/office/drawing/2014/main" id="{B16CFEF2-A65A-6142-861C-58ACADF7EEFB}"/>
              </a:ext>
            </a:extLst>
          </p:cNvPr>
          <p:cNvSpPr/>
          <p:nvPr/>
        </p:nvSpPr>
        <p:spPr>
          <a:xfrm>
            <a:off x="2436736" y="610378"/>
            <a:ext cx="2043824" cy="344478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0" name="Rectangle 39">
            <a:extLst>
              <a:ext uri="{FF2B5EF4-FFF2-40B4-BE49-F238E27FC236}">
                <a16:creationId xmlns:a16="http://schemas.microsoft.com/office/drawing/2014/main" id="{B16CFEF2-A65A-6142-861C-58ACADF7EEFB}"/>
              </a:ext>
            </a:extLst>
          </p:cNvPr>
          <p:cNvSpPr/>
          <p:nvPr/>
        </p:nvSpPr>
        <p:spPr>
          <a:xfrm>
            <a:off x="4597006" y="610378"/>
            <a:ext cx="2043824" cy="344478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43" name="Rectangle 42"/>
              <p:cNvSpPr/>
              <p:nvPr/>
            </p:nvSpPr>
            <p:spPr>
              <a:xfrm>
                <a:off x="262314" y="4063206"/>
                <a:ext cx="2222724" cy="476477"/>
              </a:xfrm>
              <a:prstGeom prst="rect">
                <a:avLst/>
              </a:prstGeom>
            </p:spPr>
            <p:txBody>
              <a:bodyPr wrap="none">
                <a:spAutoFit/>
              </a:bodyPr>
              <a:lstStyle/>
              <a:p>
                <a:r>
                  <a:rPr lang="en-GB" sz="1600" noProof="0" dirty="0"/>
                  <a:t>u) </a:t>
                </a:r>
                <a14:m>
                  <m:oMath xmlns:m="http://schemas.openxmlformats.org/officeDocument/2006/math">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3</m:t>
                        </m:r>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+8</m:t>
                        </m:r>
                        <m:r>
                          <a:rPr lang="en-GB" sz="1600" i="1" noProof="0" smtClean="0">
                            <a:latin typeface="Cambria Math" panose="02040503050406030204" pitchFamily="18" charset="0"/>
                          </a:rPr>
                          <m:t>𝑥</m:t>
                        </m:r>
                        <m:r>
                          <a:rPr lang="en-GB" sz="1600" i="1" noProof="0" smtClean="0">
                            <a:latin typeface="Cambria Math" panose="02040503050406030204" pitchFamily="18" charset="0"/>
                          </a:rPr>
                          <m:t>−3</m:t>
                        </m:r>
                      </m:num>
                      <m:den>
                        <m:r>
                          <a:rPr lang="en-GB" sz="1600" i="1" noProof="0" smtClean="0">
                            <a:latin typeface="Cambria Math" panose="02040503050406030204" pitchFamily="18" charset="0"/>
                          </a:rPr>
                          <m:t>25</m:t>
                        </m:r>
                      </m:den>
                    </m:f>
                    <m:r>
                      <a:rPr lang="en-GB" sz="1600" i="1" noProof="0" smtClean="0">
                        <a:latin typeface="Cambria Math" panose="02040503050406030204" pitchFamily="18" charset="0"/>
                        <a:ea typeface="Cambria Math" panose="02040503050406030204" pitchFamily="18" charset="0"/>
                      </a:rPr>
                      <m:t>÷</m:t>
                    </m:r>
                    <m:f>
                      <m:fPr>
                        <m:ctrlPr>
                          <a:rPr lang="en-GB" sz="1600" i="1" noProof="0">
                            <a:latin typeface="Cambria Math" panose="02040503050406030204" pitchFamily="18" charset="0"/>
                          </a:rPr>
                        </m:ctrlPr>
                      </m:fPr>
                      <m:num>
                        <m:r>
                          <a:rPr lang="en-GB" sz="1600" i="1" noProof="0" smtClean="0">
                            <a:latin typeface="Cambria Math" panose="02040503050406030204" pitchFamily="18" charset="0"/>
                          </a:rPr>
                          <m:t>6</m:t>
                        </m:r>
                        <m:sSup>
                          <m:sSupPr>
                            <m:ctrlPr>
                              <a:rPr lang="en-GB" sz="1600" i="1" noProof="0" smtClean="0">
                                <a:latin typeface="Cambria Math" panose="02040503050406030204" pitchFamily="18" charset="0"/>
                              </a:rPr>
                            </m:ctrlPr>
                          </m:sSupPr>
                          <m:e>
                            <m:r>
                              <a:rPr lang="en-GB" sz="1600" i="1" noProof="0" smtClean="0">
                                <a:latin typeface="Cambria Math" panose="02040503050406030204" pitchFamily="18" charset="0"/>
                              </a:rPr>
                              <m:t>𝑥</m:t>
                            </m:r>
                          </m:e>
                          <m:sup>
                            <m:r>
                              <a:rPr lang="en-GB" sz="1600" i="1" noProof="0" smtClean="0">
                                <a:latin typeface="Cambria Math" panose="02040503050406030204" pitchFamily="18" charset="0"/>
                              </a:rPr>
                              <m:t>2</m:t>
                            </m:r>
                          </m:sup>
                        </m:sSup>
                        <m:r>
                          <a:rPr lang="en-GB" sz="1600" i="1" noProof="0" smtClean="0">
                            <a:latin typeface="Cambria Math" panose="02040503050406030204" pitchFamily="18" charset="0"/>
                          </a:rPr>
                          <m:t>+13</m:t>
                        </m:r>
                        <m:r>
                          <a:rPr lang="en-GB" sz="1600" i="1" noProof="0" smtClean="0">
                            <a:latin typeface="Cambria Math" panose="02040503050406030204" pitchFamily="18" charset="0"/>
                          </a:rPr>
                          <m:t>𝑥</m:t>
                        </m:r>
                        <m:r>
                          <a:rPr lang="en-GB" sz="1600" i="1" noProof="0" smtClean="0">
                            <a:latin typeface="Cambria Math" panose="02040503050406030204" pitchFamily="18" charset="0"/>
                          </a:rPr>
                          <m:t>−5</m:t>
                        </m:r>
                      </m:num>
                      <m:den>
                        <m:r>
                          <a:rPr lang="en-GB" sz="1600" b="0" i="1" noProof="0" smtClean="0">
                            <a:latin typeface="Cambria Math" panose="02040503050406030204" pitchFamily="18" charset="0"/>
                          </a:rPr>
                          <m:t>30</m:t>
                        </m:r>
                      </m:den>
                    </m:f>
                  </m:oMath>
                </a14:m>
                <a:endParaRPr lang="en-GB" sz="1600" noProof="0" dirty="0"/>
              </a:p>
            </p:txBody>
          </p:sp>
        </mc:Choice>
        <mc:Fallback xmlns="">
          <p:sp>
            <p:nvSpPr>
              <p:cNvPr id="43" name="Rectangle 42"/>
              <p:cNvSpPr>
                <a:spLocks noRot="1" noChangeAspect="1" noMove="1" noResize="1" noEditPoints="1" noAdjustHandles="1" noChangeArrowheads="1" noChangeShapeType="1" noTextEdit="1"/>
              </p:cNvSpPr>
              <p:nvPr/>
            </p:nvSpPr>
            <p:spPr>
              <a:xfrm>
                <a:off x="262314" y="4063206"/>
                <a:ext cx="2222724" cy="476477"/>
              </a:xfrm>
              <a:prstGeom prst="rect">
                <a:avLst/>
              </a:prstGeom>
              <a:blipFill>
                <a:blip r:embed="rId5"/>
                <a:stretch>
                  <a:fillRect l="-1370" b="-5128"/>
                </a:stretch>
              </a:blipFill>
            </p:spPr>
            <p:txBody>
              <a:bodyPr/>
              <a:lstStyle/>
              <a:p>
                <a:r>
                  <a:rPr lang="en-US">
                    <a:noFill/>
                  </a:rPr>
                  <a:t> </a:t>
                </a:r>
              </a:p>
            </p:txBody>
          </p:sp>
        </mc:Fallback>
      </mc:AlternateContent>
      <p:sp>
        <p:nvSpPr>
          <p:cNvPr id="44" name="Rectangle 43">
            <a:extLst>
              <a:ext uri="{FF2B5EF4-FFF2-40B4-BE49-F238E27FC236}">
                <a16:creationId xmlns:a16="http://schemas.microsoft.com/office/drawing/2014/main" id="{B16CFEF2-A65A-6142-861C-58ACADF7EEFB}"/>
              </a:ext>
            </a:extLst>
          </p:cNvPr>
          <p:cNvSpPr/>
          <p:nvPr/>
        </p:nvSpPr>
        <p:spPr>
          <a:xfrm>
            <a:off x="330894" y="4635006"/>
            <a:ext cx="6302860" cy="20281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 name="Slide Number Placeholder 2"/>
          <p:cNvSpPr>
            <a:spLocks noGrp="1"/>
          </p:cNvSpPr>
          <p:nvPr>
            <p:ph type="sldNum" sz="quarter" idx="12"/>
          </p:nvPr>
        </p:nvSpPr>
        <p:spPr>
          <a:xfrm>
            <a:off x="5314950" y="9466431"/>
            <a:ext cx="1543050" cy="527403"/>
          </a:xfrm>
        </p:spPr>
        <p:txBody>
          <a:bodyPr/>
          <a:lstStyle/>
          <a:p>
            <a:fld id="{9BD3B4A0-BFF9-422C-B253-48BA94BE2F5B}" type="slidenum">
              <a:rPr lang="en-GB" noProof="0" smtClean="0"/>
              <a:t>18</a:t>
            </a:fld>
            <a:endParaRPr lang="en-GB" noProof="0" dirty="0"/>
          </a:p>
        </p:txBody>
      </p:sp>
      <mc:AlternateContent xmlns:mc="http://schemas.openxmlformats.org/markup-compatibility/2006" xmlns:a14="http://schemas.microsoft.com/office/drawing/2010/main">
        <mc:Choice Requires="a14">
          <p:sp>
            <p:nvSpPr>
              <p:cNvPr id="47" name="Rectangle 46"/>
              <p:cNvSpPr/>
              <p:nvPr/>
            </p:nvSpPr>
            <p:spPr>
              <a:xfrm>
                <a:off x="292631" y="6856076"/>
                <a:ext cx="1684768" cy="476221"/>
              </a:xfrm>
              <a:prstGeom prst="rect">
                <a:avLst/>
              </a:prstGeom>
            </p:spPr>
            <p:txBody>
              <a:bodyPr wrap="square">
                <a:spAutoFit/>
              </a:bodyPr>
              <a:lstStyle/>
              <a:p>
                <a:r>
                  <a:rPr lang="en-GB" sz="1600" noProof="0" dirty="0"/>
                  <a:t>v) </a:t>
                </a:r>
                <a14:m>
                  <m:oMath xmlns:m="http://schemas.openxmlformats.org/officeDocument/2006/math">
                    <m:f>
                      <m:fPr>
                        <m:ctrlPr>
                          <a:rPr lang="en-GB" sz="1600" i="1" noProof="0">
                            <a:latin typeface="Cambria Math" panose="02040503050406030204" pitchFamily="18" charset="0"/>
                          </a:rPr>
                        </m:ctrlPr>
                      </m:fPr>
                      <m:num>
                        <m:sSup>
                          <m:sSupPr>
                            <m:ctrlPr>
                              <a:rPr lang="en-GB" sz="1600" i="1" noProof="0">
                                <a:latin typeface="Cambria Math" panose="02040503050406030204" pitchFamily="18" charset="0"/>
                              </a:rPr>
                            </m:ctrlPr>
                          </m:sSupPr>
                          <m:e>
                            <m:r>
                              <a:rPr lang="en-GB" sz="1600" i="1" noProof="0">
                                <a:latin typeface="Cambria Math" panose="02040503050406030204" pitchFamily="18" charset="0"/>
                              </a:rPr>
                              <m:t>𝑥</m:t>
                            </m:r>
                          </m:e>
                          <m:sup>
                            <m:r>
                              <a:rPr lang="en-GB" sz="1600" i="1" noProof="0">
                                <a:latin typeface="Cambria Math" panose="02040503050406030204" pitchFamily="18" charset="0"/>
                              </a:rPr>
                              <m:t>3</m:t>
                            </m:r>
                          </m:sup>
                        </m:sSup>
                        <m:r>
                          <a:rPr lang="en-GB" sz="1600" i="1" noProof="0">
                            <a:latin typeface="Cambria Math" panose="02040503050406030204" pitchFamily="18" charset="0"/>
                          </a:rPr>
                          <m:t>−</m:t>
                        </m:r>
                        <m:r>
                          <a:rPr lang="en-GB" sz="1600" i="1" noProof="0">
                            <a:latin typeface="Cambria Math" panose="02040503050406030204" pitchFamily="18" charset="0"/>
                          </a:rPr>
                          <m:t>𝑥</m:t>
                        </m:r>
                      </m:num>
                      <m:den>
                        <m:sSup>
                          <m:sSupPr>
                            <m:ctrlPr>
                              <a:rPr lang="en-GB" sz="1600" i="1" noProof="0">
                                <a:latin typeface="Cambria Math" panose="02040503050406030204" pitchFamily="18" charset="0"/>
                              </a:rPr>
                            </m:ctrlPr>
                          </m:sSupPr>
                          <m:e>
                            <m:r>
                              <a:rPr lang="en-GB" sz="1600" i="1" noProof="0">
                                <a:latin typeface="Cambria Math" panose="02040503050406030204" pitchFamily="18" charset="0"/>
                              </a:rPr>
                              <m:t>𝑥</m:t>
                            </m:r>
                          </m:e>
                          <m:sup>
                            <m:r>
                              <a:rPr lang="en-GB" sz="1600" i="1" noProof="0">
                                <a:latin typeface="Cambria Math" panose="02040503050406030204" pitchFamily="18" charset="0"/>
                              </a:rPr>
                              <m:t>4</m:t>
                            </m:r>
                          </m:sup>
                        </m:sSup>
                        <m:r>
                          <a:rPr lang="en-GB" sz="1600" i="1" noProof="0">
                            <a:latin typeface="Cambria Math" panose="02040503050406030204" pitchFamily="18" charset="0"/>
                          </a:rPr>
                          <m:t>−1</m:t>
                        </m:r>
                      </m:den>
                    </m:f>
                    <m:r>
                      <a:rPr lang="en-GB" sz="1600" i="1" noProof="0">
                        <a:latin typeface="Cambria Math" panose="02040503050406030204" pitchFamily="18" charset="0"/>
                      </a:rPr>
                      <m:t>÷</m:t>
                    </m:r>
                    <m:f>
                      <m:fPr>
                        <m:ctrlPr>
                          <a:rPr lang="en-GB" sz="1600" i="1" noProof="0">
                            <a:latin typeface="Cambria Math" panose="02040503050406030204" pitchFamily="18" charset="0"/>
                          </a:rPr>
                        </m:ctrlPr>
                      </m:fPr>
                      <m:num>
                        <m:r>
                          <a:rPr lang="en-GB" sz="1600" i="1" noProof="0">
                            <a:latin typeface="Cambria Math" panose="02040503050406030204" pitchFamily="18" charset="0"/>
                          </a:rPr>
                          <m:t>𝑥</m:t>
                        </m:r>
                        <m:r>
                          <a:rPr lang="en-GB" sz="1600" i="1" noProof="0">
                            <a:latin typeface="Cambria Math" panose="02040503050406030204" pitchFamily="18" charset="0"/>
                          </a:rPr>
                          <m:t>+1</m:t>
                        </m:r>
                      </m:num>
                      <m:den>
                        <m:sSup>
                          <m:sSupPr>
                            <m:ctrlPr>
                              <a:rPr lang="en-GB" sz="1600" i="1" noProof="0">
                                <a:latin typeface="Cambria Math" panose="02040503050406030204" pitchFamily="18" charset="0"/>
                              </a:rPr>
                            </m:ctrlPr>
                          </m:sSupPr>
                          <m:e>
                            <m:r>
                              <a:rPr lang="en-GB" sz="1600" i="1" noProof="0">
                                <a:latin typeface="Cambria Math" panose="02040503050406030204" pitchFamily="18" charset="0"/>
                              </a:rPr>
                              <m:t>𝑥</m:t>
                            </m:r>
                          </m:e>
                          <m:sup>
                            <m:r>
                              <a:rPr lang="en-GB" sz="1600" i="1" noProof="0">
                                <a:latin typeface="Cambria Math" panose="02040503050406030204" pitchFamily="18" charset="0"/>
                              </a:rPr>
                              <m:t>3</m:t>
                            </m:r>
                          </m:sup>
                        </m:sSup>
                        <m:r>
                          <a:rPr lang="en-GB" sz="1600" i="1" noProof="0">
                            <a:latin typeface="Cambria Math" panose="02040503050406030204" pitchFamily="18" charset="0"/>
                          </a:rPr>
                          <m:t>+</m:t>
                        </m:r>
                        <m:r>
                          <a:rPr lang="en-GB" sz="1600" i="1" noProof="0">
                            <a:latin typeface="Cambria Math" panose="02040503050406030204" pitchFamily="18" charset="0"/>
                          </a:rPr>
                          <m:t>𝑥</m:t>
                        </m:r>
                      </m:den>
                    </m:f>
                  </m:oMath>
                </a14:m>
                <a:endParaRPr lang="en-GB" sz="1600" noProof="0" dirty="0"/>
              </a:p>
            </p:txBody>
          </p:sp>
        </mc:Choice>
        <mc:Fallback xmlns="">
          <p:sp>
            <p:nvSpPr>
              <p:cNvPr id="47" name="Rectangle 46"/>
              <p:cNvSpPr>
                <a:spLocks noRot="1" noChangeAspect="1" noMove="1" noResize="1" noEditPoints="1" noAdjustHandles="1" noChangeArrowheads="1" noChangeShapeType="1" noTextEdit="1"/>
              </p:cNvSpPr>
              <p:nvPr/>
            </p:nvSpPr>
            <p:spPr>
              <a:xfrm>
                <a:off x="292631" y="6856076"/>
                <a:ext cx="1684768" cy="476221"/>
              </a:xfrm>
              <a:prstGeom prst="rect">
                <a:avLst/>
              </a:prstGeom>
              <a:blipFill>
                <a:blip r:embed="rId6"/>
                <a:stretch>
                  <a:fillRect l="-1812" b="-5128"/>
                </a:stretch>
              </a:blipFill>
            </p:spPr>
            <p:txBody>
              <a:bodyPr/>
              <a:lstStyle/>
              <a:p>
                <a:r>
                  <a:rPr lang="en-US">
                    <a:noFill/>
                  </a:rPr>
                  <a:t> </a:t>
                </a:r>
              </a:p>
            </p:txBody>
          </p:sp>
        </mc:Fallback>
      </mc:AlternateContent>
      <p:sp>
        <p:nvSpPr>
          <p:cNvPr id="48" name="Rectangle 47">
            <a:extLst>
              <a:ext uri="{FF2B5EF4-FFF2-40B4-BE49-F238E27FC236}">
                <a16:creationId xmlns:a16="http://schemas.microsoft.com/office/drawing/2014/main" id="{B16CFEF2-A65A-6142-861C-58ACADF7EEFB}"/>
              </a:ext>
            </a:extLst>
          </p:cNvPr>
          <p:cNvSpPr/>
          <p:nvPr/>
        </p:nvSpPr>
        <p:spPr>
          <a:xfrm>
            <a:off x="361211" y="7337440"/>
            <a:ext cx="6302860" cy="230346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Tree>
    <p:extLst>
      <p:ext uri="{BB962C8B-B14F-4D97-AF65-F5344CB8AC3E}">
        <p14:creationId xmlns:p14="http://schemas.microsoft.com/office/powerpoint/2010/main" val="4281584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AE242C-3BEA-324C-B746-6B1087575622}"/>
              </a:ext>
            </a:extLst>
          </p:cNvPr>
          <p:cNvSpPr txBox="1"/>
          <p:nvPr/>
        </p:nvSpPr>
        <p:spPr>
          <a:xfrm>
            <a:off x="16395" y="1315282"/>
            <a:ext cx="1194558" cy="261610"/>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Knowledge Check</a:t>
            </a:r>
          </a:p>
        </p:txBody>
      </p:sp>
      <p:sp>
        <p:nvSpPr>
          <p:cNvPr id="3" name="TextBox 2"/>
          <p:cNvSpPr txBox="1"/>
          <p:nvPr/>
        </p:nvSpPr>
        <p:spPr>
          <a:xfrm>
            <a:off x="1473801" y="1338176"/>
            <a:ext cx="2397708" cy="276999"/>
          </a:xfrm>
          <a:prstGeom prst="rect">
            <a:avLst/>
          </a:prstGeom>
          <a:noFill/>
        </p:spPr>
        <p:txBody>
          <a:bodyPr wrap="none" rtlCol="0">
            <a:spAutoFit/>
          </a:bodyPr>
          <a:lstStyle/>
          <a:p>
            <a:r>
              <a:rPr lang="en-GB" sz="1200" noProof="0" dirty="0"/>
              <a:t>Evaluate and simplify the following:</a:t>
            </a:r>
          </a:p>
        </p:txBody>
      </p:sp>
      <p:sp>
        <p:nvSpPr>
          <p:cNvPr id="4" name="Rectangle 3">
            <a:extLst>
              <a:ext uri="{FF2B5EF4-FFF2-40B4-BE49-F238E27FC236}">
                <a16:creationId xmlns:a16="http://schemas.microsoft.com/office/drawing/2014/main" id="{B16CFEF2-A65A-6142-861C-58ACADF7EEFB}"/>
              </a:ext>
            </a:extLst>
          </p:cNvPr>
          <p:cNvSpPr/>
          <p:nvPr/>
        </p:nvSpPr>
        <p:spPr>
          <a:xfrm>
            <a:off x="540623" y="2087113"/>
            <a:ext cx="1112910" cy="163121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5" name="TextBox 4"/>
              <p:cNvSpPr txBox="1"/>
              <p:nvPr/>
            </p:nvSpPr>
            <p:spPr>
              <a:xfrm>
                <a:off x="540623" y="1699387"/>
                <a:ext cx="470706" cy="261675"/>
              </a:xfrm>
              <a:prstGeom prst="rect">
                <a:avLst/>
              </a:prstGeom>
              <a:noFill/>
            </p:spPr>
            <p:txBody>
              <a:bodyPr wrap="none" lIns="0" tIns="0" rIns="0" bIns="0" rtlCol="0">
                <a:spAutoFit/>
              </a:bodyPr>
              <a:lstStyle/>
              <a:p>
                <a:r>
                  <a:rPr lang="en-GB" sz="1200" b="0" noProof="0" dirty="0"/>
                  <a:t>a)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3</m:t>
                        </m:r>
                      </m:den>
                    </m:f>
                  </m:oMath>
                </a14:m>
                <a:endParaRPr lang="en-GB" sz="1200" noProof="0" dirty="0"/>
              </a:p>
            </p:txBody>
          </p:sp>
        </mc:Choice>
        <mc:Fallback xmlns="">
          <p:sp>
            <p:nvSpPr>
              <p:cNvPr id="5" name="TextBox 4"/>
              <p:cNvSpPr txBox="1">
                <a:spLocks noRot="1" noChangeAspect="1" noMove="1" noResize="1" noEditPoints="1" noAdjustHandles="1" noChangeArrowheads="1" noChangeShapeType="1" noTextEdit="1"/>
              </p:cNvSpPr>
              <p:nvPr/>
            </p:nvSpPr>
            <p:spPr>
              <a:xfrm>
                <a:off x="540623" y="1699387"/>
                <a:ext cx="470706" cy="261675"/>
              </a:xfrm>
              <a:prstGeom prst="rect">
                <a:avLst/>
              </a:prstGeom>
              <a:blipFill>
                <a:blip r:embed="rId2"/>
                <a:stretch>
                  <a:fillRect l="-20779" t="-2326" r="-6494"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846321" y="1704500"/>
                <a:ext cx="477118" cy="262316"/>
              </a:xfrm>
              <a:prstGeom prst="rect">
                <a:avLst/>
              </a:prstGeom>
              <a:noFill/>
            </p:spPr>
            <p:txBody>
              <a:bodyPr wrap="none" lIns="0" tIns="0" rIns="0" bIns="0" rtlCol="0">
                <a:spAutoFit/>
              </a:bodyPr>
              <a:lstStyle/>
              <a:p>
                <a:r>
                  <a:rPr lang="en-GB" sz="1200" noProof="0" dirty="0"/>
                  <a:t>b</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6" name="TextBox 5"/>
              <p:cNvSpPr txBox="1">
                <a:spLocks noRot="1" noChangeAspect="1" noMove="1" noResize="1" noEditPoints="1" noAdjustHandles="1" noChangeArrowheads="1" noChangeShapeType="1" noTextEdit="1"/>
              </p:cNvSpPr>
              <p:nvPr/>
            </p:nvSpPr>
            <p:spPr>
              <a:xfrm>
                <a:off x="1846321" y="1704500"/>
                <a:ext cx="477118" cy="262316"/>
              </a:xfrm>
              <a:prstGeom prst="rect">
                <a:avLst/>
              </a:prstGeom>
              <a:blipFill>
                <a:blip r:embed="rId3"/>
                <a:stretch>
                  <a:fillRect l="-20513" t="-2326" r="-6410" b="-20930"/>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B16CFEF2-A65A-6142-861C-58ACADF7EEFB}"/>
              </a:ext>
            </a:extLst>
          </p:cNvPr>
          <p:cNvSpPr/>
          <p:nvPr/>
        </p:nvSpPr>
        <p:spPr>
          <a:xfrm>
            <a:off x="1745805" y="2088663"/>
            <a:ext cx="1112910" cy="163121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 name="Rectangle 7">
            <a:extLst>
              <a:ext uri="{FF2B5EF4-FFF2-40B4-BE49-F238E27FC236}">
                <a16:creationId xmlns:a16="http://schemas.microsoft.com/office/drawing/2014/main" id="{B16CFEF2-A65A-6142-861C-58ACADF7EEFB}"/>
              </a:ext>
            </a:extLst>
          </p:cNvPr>
          <p:cNvSpPr/>
          <p:nvPr/>
        </p:nvSpPr>
        <p:spPr>
          <a:xfrm>
            <a:off x="2950987" y="2076351"/>
            <a:ext cx="1112910" cy="163121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9" name="Rectangle 8">
            <a:extLst>
              <a:ext uri="{FF2B5EF4-FFF2-40B4-BE49-F238E27FC236}">
                <a16:creationId xmlns:a16="http://schemas.microsoft.com/office/drawing/2014/main" id="{B16CFEF2-A65A-6142-861C-58ACADF7EEFB}"/>
              </a:ext>
            </a:extLst>
          </p:cNvPr>
          <p:cNvSpPr/>
          <p:nvPr/>
        </p:nvSpPr>
        <p:spPr>
          <a:xfrm>
            <a:off x="4156169" y="2077901"/>
            <a:ext cx="1112910" cy="163121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0" name="Rectangle 9">
            <a:extLst>
              <a:ext uri="{FF2B5EF4-FFF2-40B4-BE49-F238E27FC236}">
                <a16:creationId xmlns:a16="http://schemas.microsoft.com/office/drawing/2014/main" id="{B16CFEF2-A65A-6142-861C-58ACADF7EEFB}"/>
              </a:ext>
            </a:extLst>
          </p:cNvPr>
          <p:cNvSpPr/>
          <p:nvPr/>
        </p:nvSpPr>
        <p:spPr>
          <a:xfrm>
            <a:off x="5361351" y="2076351"/>
            <a:ext cx="1112910" cy="163121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1" name="TextBox 10"/>
              <p:cNvSpPr txBox="1"/>
              <p:nvPr/>
            </p:nvSpPr>
            <p:spPr>
              <a:xfrm>
                <a:off x="2987422" y="1730009"/>
                <a:ext cx="528414" cy="262316"/>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10</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11" name="TextBox 10"/>
              <p:cNvSpPr txBox="1">
                <a:spLocks noRot="1" noChangeAspect="1" noMove="1" noResize="1" noEditPoints="1" noAdjustHandles="1" noChangeArrowheads="1" noChangeShapeType="1" noTextEdit="1"/>
              </p:cNvSpPr>
              <p:nvPr/>
            </p:nvSpPr>
            <p:spPr>
              <a:xfrm>
                <a:off x="2987422" y="1730009"/>
                <a:ext cx="528414" cy="262316"/>
              </a:xfrm>
              <a:prstGeom prst="rect">
                <a:avLst/>
              </a:prstGeom>
              <a:blipFill>
                <a:blip r:embed="rId4"/>
                <a:stretch>
                  <a:fillRect l="-17241" t="-2326" r="-5747"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179819" y="1730009"/>
                <a:ext cx="477118" cy="262316"/>
              </a:xfrm>
              <a:prstGeom prst="rect">
                <a:avLst/>
              </a:prstGeom>
              <a:noFill/>
            </p:spPr>
            <p:txBody>
              <a:bodyPr wrap="none" lIns="0" tIns="0" rIns="0" bIns="0" rtlCol="0">
                <a:spAutoFit/>
              </a:bodyPr>
              <a:lstStyle/>
              <a:p>
                <a:r>
                  <a:rPr lang="en-GB" sz="1200" noProof="0" dirty="0"/>
                  <a:t>d</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7</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12" name="TextBox 11"/>
              <p:cNvSpPr txBox="1">
                <a:spLocks noRot="1" noChangeAspect="1" noMove="1" noResize="1" noEditPoints="1" noAdjustHandles="1" noChangeArrowheads="1" noChangeShapeType="1" noTextEdit="1"/>
              </p:cNvSpPr>
              <p:nvPr/>
            </p:nvSpPr>
            <p:spPr>
              <a:xfrm>
                <a:off x="4179819" y="1730009"/>
                <a:ext cx="477118" cy="262316"/>
              </a:xfrm>
              <a:prstGeom prst="rect">
                <a:avLst/>
              </a:prstGeom>
              <a:blipFill>
                <a:blip r:embed="rId5"/>
                <a:stretch>
                  <a:fillRect l="-20513" t="-2326" r="-6410"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386644" y="1710583"/>
                <a:ext cx="473912" cy="264944"/>
              </a:xfrm>
              <a:prstGeom prst="rect">
                <a:avLst/>
              </a:prstGeom>
              <a:noFill/>
            </p:spPr>
            <p:txBody>
              <a:bodyPr wrap="none" lIns="0" tIns="0" rIns="0" bIns="0" rtlCol="0">
                <a:spAutoFit/>
              </a:bodyPr>
              <a:lstStyle/>
              <a:p>
                <a:r>
                  <a:rPr lang="en-GB" sz="1200" noProof="0" dirty="0"/>
                  <a:t>e</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7</m:t>
                        </m:r>
                      </m:den>
                    </m:f>
                  </m:oMath>
                </a14:m>
                <a:endParaRPr lang="en-GB" sz="1200" noProof="0" dirty="0"/>
              </a:p>
            </p:txBody>
          </p:sp>
        </mc:Choice>
        <mc:Fallback xmlns="">
          <p:sp>
            <p:nvSpPr>
              <p:cNvPr id="13" name="TextBox 12"/>
              <p:cNvSpPr txBox="1">
                <a:spLocks noRot="1" noChangeAspect="1" noMove="1" noResize="1" noEditPoints="1" noAdjustHandles="1" noChangeArrowheads="1" noChangeShapeType="1" noTextEdit="1"/>
              </p:cNvSpPr>
              <p:nvPr/>
            </p:nvSpPr>
            <p:spPr>
              <a:xfrm>
                <a:off x="5386644" y="1710583"/>
                <a:ext cx="473912" cy="264944"/>
              </a:xfrm>
              <a:prstGeom prst="rect">
                <a:avLst/>
              </a:prstGeom>
              <a:blipFill>
                <a:blip r:embed="rId6"/>
                <a:stretch>
                  <a:fillRect l="-20779" t="-2326" r="-6494" b="-20930"/>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72FAE9BB-D81F-4207-9FF8-E6BE971A99D9}"/>
              </a:ext>
            </a:extLst>
          </p:cNvPr>
          <p:cNvSpPr txBox="1"/>
          <p:nvPr/>
        </p:nvSpPr>
        <p:spPr>
          <a:xfrm>
            <a:off x="5054276" y="3783801"/>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24 - You do…</a:t>
            </a:r>
          </a:p>
        </p:txBody>
      </p:sp>
      <p:sp>
        <p:nvSpPr>
          <p:cNvPr id="22" name="TextBox 21">
            <a:extLst>
              <a:ext uri="{FF2B5EF4-FFF2-40B4-BE49-F238E27FC236}">
                <a16:creationId xmlns:a16="http://schemas.microsoft.com/office/drawing/2014/main" id="{337F58E6-37DE-4890-BDE3-0101DB4D4F11}"/>
              </a:ext>
            </a:extLst>
          </p:cNvPr>
          <p:cNvSpPr txBox="1"/>
          <p:nvPr/>
        </p:nvSpPr>
        <p:spPr>
          <a:xfrm>
            <a:off x="3165754" y="3765814"/>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23 - We do…</a:t>
            </a:r>
          </a:p>
        </p:txBody>
      </p:sp>
      <p:sp>
        <p:nvSpPr>
          <p:cNvPr id="23" name="TextBox 22">
            <a:extLst>
              <a:ext uri="{FF2B5EF4-FFF2-40B4-BE49-F238E27FC236}">
                <a16:creationId xmlns:a16="http://schemas.microsoft.com/office/drawing/2014/main" id="{20EB31B5-3203-4E48-8A19-892EA568053E}"/>
              </a:ext>
            </a:extLst>
          </p:cNvPr>
          <p:cNvSpPr txBox="1"/>
          <p:nvPr/>
        </p:nvSpPr>
        <p:spPr>
          <a:xfrm>
            <a:off x="1477909" y="3765815"/>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22 - I do…</a:t>
            </a:r>
          </a:p>
        </p:txBody>
      </p:sp>
      <p:graphicFrame>
        <p:nvGraphicFramePr>
          <p:cNvPr id="59" name="Table 58"/>
          <p:cNvGraphicFramePr>
            <a:graphicFrameLocks noGrp="1"/>
          </p:cNvGraphicFramePr>
          <p:nvPr>
            <p:extLst>
              <p:ext uri="{D42A27DB-BD31-4B8C-83A1-F6EECF244321}">
                <p14:modId xmlns:p14="http://schemas.microsoft.com/office/powerpoint/2010/main" val="2086870092"/>
              </p:ext>
            </p:extLst>
          </p:nvPr>
        </p:nvGraphicFramePr>
        <p:xfrm>
          <a:off x="183760" y="4050898"/>
          <a:ext cx="6484022" cy="2901856"/>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290359">
                <a:tc>
                  <a:txBody>
                    <a:bodyPr/>
                    <a:lstStyle/>
                    <a:p>
                      <a:r>
                        <a:rPr lang="en-GB" sz="1100" b="1" noProof="0" dirty="0">
                          <a:solidFill>
                            <a:schemeClr val="tx1"/>
                          </a:solidFill>
                        </a:rPr>
                        <a:t>Steps</a:t>
                      </a:r>
                    </a:p>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53996">
                <a:tc>
                  <a:txBody>
                    <a:bodyPr/>
                    <a:lstStyle/>
                    <a:p>
                      <a:r>
                        <a:rPr lang="en-GB" sz="1100" noProof="0" dirty="0">
                          <a:solidFill>
                            <a:schemeClr val="tx1"/>
                          </a:solidFill>
                        </a:rPr>
                        <a:t>1) Find the Lowest</a:t>
                      </a:r>
                      <a:r>
                        <a:rPr lang="en-GB" sz="1100" baseline="0" noProof="0" dirty="0">
                          <a:solidFill>
                            <a:schemeClr val="tx1"/>
                          </a:solidFill>
                        </a:rPr>
                        <a:t> common denominator</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10570">
                <a:tc>
                  <a:txBody>
                    <a:bodyPr/>
                    <a:lstStyle/>
                    <a:p>
                      <a:r>
                        <a:rPr lang="en-GB" sz="1100" noProof="0" dirty="0">
                          <a:solidFill>
                            <a:schemeClr val="tx1"/>
                          </a:solidFill>
                        </a:rPr>
                        <a:t>2) Multiply the numerators.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810570">
                <a:tc>
                  <a:txBody>
                    <a:bodyPr/>
                    <a:lstStyle/>
                    <a:p>
                      <a:r>
                        <a:rPr lang="en-GB" sz="1100" noProof="0" dirty="0">
                          <a:solidFill>
                            <a:schemeClr val="tx1"/>
                          </a:solidFill>
                        </a:rPr>
                        <a:t>3) Write</a:t>
                      </a:r>
                      <a:r>
                        <a:rPr lang="en-GB" sz="1100" baseline="0" noProof="0" dirty="0">
                          <a:solidFill>
                            <a:schemeClr val="tx1"/>
                          </a:solidFill>
                        </a:rPr>
                        <a:t> in simplest form.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AlternateContent xmlns:mc="http://schemas.openxmlformats.org/markup-compatibility/2006" xmlns:a14="http://schemas.microsoft.com/office/drawing/2010/main">
        <mc:Choice Requires="a14">
          <p:sp>
            <p:nvSpPr>
              <p:cNvPr id="60" name="TextBox 59"/>
              <p:cNvSpPr txBox="1"/>
              <p:nvPr/>
            </p:nvSpPr>
            <p:spPr>
              <a:xfrm>
                <a:off x="1535960" y="4077783"/>
                <a:ext cx="1102994" cy="354777"/>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8</m:t>
                        </m:r>
                      </m:den>
                    </m:f>
                  </m:oMath>
                </a14:m>
                <a:endParaRPr lang="en-GB" sz="1200" noProof="0" dirty="0"/>
              </a:p>
            </p:txBody>
          </p:sp>
        </mc:Choice>
        <mc:Fallback xmlns="">
          <p:sp>
            <p:nvSpPr>
              <p:cNvPr id="60" name="TextBox 59"/>
              <p:cNvSpPr txBox="1">
                <a:spLocks noRot="1" noChangeAspect="1" noMove="1" noResize="1" noEditPoints="1" noAdjustHandles="1" noChangeArrowheads="1" noChangeShapeType="1" noTextEdit="1"/>
              </p:cNvSpPr>
              <p:nvPr/>
            </p:nvSpPr>
            <p:spPr>
              <a:xfrm>
                <a:off x="1535960" y="4077783"/>
                <a:ext cx="1102994" cy="354777"/>
              </a:xfrm>
              <a:prstGeom prst="rect">
                <a:avLst/>
              </a:prstGeom>
              <a:blipFill>
                <a:blip r:embed="rId7"/>
                <a:stretch>
                  <a:fillRect l="-552"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3413519" y="4049951"/>
                <a:ext cx="1102994" cy="354777"/>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7</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8</m:t>
                        </m:r>
                      </m:den>
                    </m:f>
                  </m:oMath>
                </a14:m>
                <a:endParaRPr lang="en-GB" sz="1200" noProof="0" dirty="0"/>
              </a:p>
            </p:txBody>
          </p:sp>
        </mc:Choice>
        <mc:Fallback xmlns="">
          <p:sp>
            <p:nvSpPr>
              <p:cNvPr id="63" name="TextBox 62"/>
              <p:cNvSpPr txBox="1">
                <a:spLocks noRot="1" noChangeAspect="1" noMove="1" noResize="1" noEditPoints="1" noAdjustHandles="1" noChangeArrowheads="1" noChangeShapeType="1" noTextEdit="1"/>
              </p:cNvSpPr>
              <p:nvPr/>
            </p:nvSpPr>
            <p:spPr>
              <a:xfrm>
                <a:off x="3413519" y="4049951"/>
                <a:ext cx="1102994" cy="354777"/>
              </a:xfrm>
              <a:prstGeom prst="rect">
                <a:avLst/>
              </a:prstGeom>
              <a:blipFill>
                <a:blip r:embed="rId8"/>
                <a:stretch>
                  <a:fillRect l="-552"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5090740" y="4088797"/>
                <a:ext cx="1168718" cy="354649"/>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7</m:t>
                        </m:r>
                      </m:den>
                    </m:f>
                  </m:oMath>
                </a14:m>
                <a:endParaRPr lang="en-GB" sz="1200" noProof="0" dirty="0"/>
              </a:p>
            </p:txBody>
          </p:sp>
        </mc:Choice>
        <mc:Fallback xmlns="">
          <p:sp>
            <p:nvSpPr>
              <p:cNvPr id="64" name="TextBox 63"/>
              <p:cNvSpPr txBox="1">
                <a:spLocks noRot="1" noChangeAspect="1" noMove="1" noResize="1" noEditPoints="1" noAdjustHandles="1" noChangeArrowheads="1" noChangeShapeType="1" noTextEdit="1"/>
              </p:cNvSpPr>
              <p:nvPr/>
            </p:nvSpPr>
            <p:spPr>
              <a:xfrm>
                <a:off x="5090740" y="4088797"/>
                <a:ext cx="1168718" cy="354649"/>
              </a:xfrm>
              <a:prstGeom prst="rect">
                <a:avLst/>
              </a:prstGeom>
              <a:blipFill>
                <a:blip r:embed="rId9"/>
                <a:stretch>
                  <a:fillRect b="-3448"/>
                </a:stretch>
              </a:blipFill>
            </p:spPr>
            <p:txBody>
              <a:bodyPr/>
              <a:lstStyle/>
              <a:p>
                <a:r>
                  <a:rPr lang="en-US">
                    <a:noFill/>
                  </a:rPr>
                  <a:t> </a:t>
                </a:r>
              </a:p>
            </p:txBody>
          </p:sp>
        </mc:Fallback>
      </mc:AlternateContent>
      <p:pic>
        <p:nvPicPr>
          <p:cNvPr id="66" name="Picture 65"/>
          <p:cNvPicPr>
            <a:picLocks noChangeAspect="1"/>
          </p:cNvPicPr>
          <p:nvPr/>
        </p:nvPicPr>
        <p:blipFill>
          <a:blip r:embed="rId10"/>
          <a:stretch>
            <a:fillRect/>
          </a:stretch>
        </p:blipFill>
        <p:spPr>
          <a:xfrm>
            <a:off x="3965016" y="-1274334"/>
            <a:ext cx="7334250" cy="1114425"/>
          </a:xfrm>
          <a:prstGeom prst="rect">
            <a:avLst/>
          </a:prstGeom>
        </p:spPr>
      </p:pic>
      <p:sp>
        <p:nvSpPr>
          <p:cNvPr id="33" name="Rectangle 32">
            <a:extLst>
              <a:ext uri="{FF2B5EF4-FFF2-40B4-BE49-F238E27FC236}">
                <a16:creationId xmlns:a16="http://schemas.microsoft.com/office/drawing/2014/main" id="{B16CFEF2-A65A-6142-861C-58ACADF7EEFB}"/>
              </a:ext>
            </a:extLst>
          </p:cNvPr>
          <p:cNvSpPr/>
          <p:nvPr/>
        </p:nvSpPr>
        <p:spPr>
          <a:xfrm>
            <a:off x="469542" y="7686699"/>
            <a:ext cx="1112910" cy="20487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4" name="TextBox 33"/>
              <p:cNvSpPr txBox="1"/>
              <p:nvPr/>
            </p:nvSpPr>
            <p:spPr>
              <a:xfrm>
                <a:off x="540623" y="7310169"/>
                <a:ext cx="608180" cy="262059"/>
              </a:xfrm>
              <a:prstGeom prst="rect">
                <a:avLst/>
              </a:prstGeom>
              <a:noFill/>
            </p:spPr>
            <p:txBody>
              <a:bodyPr wrap="none" lIns="0" tIns="0" rIns="0" bIns="0" rtlCol="0">
                <a:spAutoFit/>
              </a:bodyPr>
              <a:lstStyle/>
              <a:p>
                <a:r>
                  <a:rPr lang="en-GB" sz="1200" b="0" noProof="0" dirty="0"/>
                  <a:t>a)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34" name="TextBox 33"/>
              <p:cNvSpPr txBox="1">
                <a:spLocks noRot="1" noChangeAspect="1" noMove="1" noResize="1" noEditPoints="1" noAdjustHandles="1" noChangeArrowheads="1" noChangeShapeType="1" noTextEdit="1"/>
              </p:cNvSpPr>
              <p:nvPr/>
            </p:nvSpPr>
            <p:spPr>
              <a:xfrm>
                <a:off x="540623" y="7310169"/>
                <a:ext cx="608180" cy="262059"/>
              </a:xfrm>
              <a:prstGeom prst="rect">
                <a:avLst/>
              </a:prstGeom>
              <a:blipFill>
                <a:blip r:embed="rId11"/>
                <a:stretch>
                  <a:fillRect l="-16162" t="-2326" r="-5051"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1786642" y="7303019"/>
                <a:ext cx="548868" cy="261546"/>
              </a:xfrm>
              <a:prstGeom prst="rect">
                <a:avLst/>
              </a:prstGeom>
              <a:noFill/>
            </p:spPr>
            <p:txBody>
              <a:bodyPr wrap="none" lIns="0" tIns="0" rIns="0" bIns="0" rtlCol="0">
                <a:spAutoFit/>
              </a:bodyPr>
              <a:lstStyle/>
              <a:p>
                <a:r>
                  <a:rPr lang="en-GB" sz="1200" noProof="0" dirty="0"/>
                  <a:t>b</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35" name="TextBox 34"/>
              <p:cNvSpPr txBox="1">
                <a:spLocks noRot="1" noChangeAspect="1" noMove="1" noResize="1" noEditPoints="1" noAdjustHandles="1" noChangeArrowheads="1" noChangeShapeType="1" noTextEdit="1"/>
              </p:cNvSpPr>
              <p:nvPr/>
            </p:nvSpPr>
            <p:spPr>
              <a:xfrm>
                <a:off x="1786642" y="7303019"/>
                <a:ext cx="548868" cy="261546"/>
              </a:xfrm>
              <a:prstGeom prst="rect">
                <a:avLst/>
              </a:prstGeom>
              <a:blipFill>
                <a:blip r:embed="rId12"/>
                <a:stretch>
                  <a:fillRect l="-16667" t="-2326" r="-4444" b="-23256"/>
                </a:stretch>
              </a:blipFill>
            </p:spPr>
            <p:txBody>
              <a:bodyPr/>
              <a:lstStyle/>
              <a:p>
                <a:r>
                  <a:rPr lang="en-US">
                    <a:noFill/>
                  </a:rPr>
                  <a:t> </a:t>
                </a:r>
              </a:p>
            </p:txBody>
          </p:sp>
        </mc:Fallback>
      </mc:AlternateContent>
      <p:sp>
        <p:nvSpPr>
          <p:cNvPr id="36" name="Rectangle 35">
            <a:extLst>
              <a:ext uri="{FF2B5EF4-FFF2-40B4-BE49-F238E27FC236}">
                <a16:creationId xmlns:a16="http://schemas.microsoft.com/office/drawing/2014/main" id="{B16CFEF2-A65A-6142-861C-58ACADF7EEFB}"/>
              </a:ext>
            </a:extLst>
          </p:cNvPr>
          <p:cNvSpPr/>
          <p:nvPr/>
        </p:nvSpPr>
        <p:spPr>
          <a:xfrm>
            <a:off x="1674724" y="7688249"/>
            <a:ext cx="1112910" cy="20487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7" name="Rectangle 36">
            <a:extLst>
              <a:ext uri="{FF2B5EF4-FFF2-40B4-BE49-F238E27FC236}">
                <a16:creationId xmlns:a16="http://schemas.microsoft.com/office/drawing/2014/main" id="{B16CFEF2-A65A-6142-861C-58ACADF7EEFB}"/>
              </a:ext>
            </a:extLst>
          </p:cNvPr>
          <p:cNvSpPr/>
          <p:nvPr/>
        </p:nvSpPr>
        <p:spPr>
          <a:xfrm>
            <a:off x="2879906" y="7675937"/>
            <a:ext cx="1112910" cy="20487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8" name="Rectangle 37">
            <a:extLst>
              <a:ext uri="{FF2B5EF4-FFF2-40B4-BE49-F238E27FC236}">
                <a16:creationId xmlns:a16="http://schemas.microsoft.com/office/drawing/2014/main" id="{B16CFEF2-A65A-6142-861C-58ACADF7EEFB}"/>
              </a:ext>
            </a:extLst>
          </p:cNvPr>
          <p:cNvSpPr/>
          <p:nvPr/>
        </p:nvSpPr>
        <p:spPr>
          <a:xfrm>
            <a:off x="4085088" y="7677487"/>
            <a:ext cx="1112910" cy="20487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9" name="Rectangle 38">
            <a:extLst>
              <a:ext uri="{FF2B5EF4-FFF2-40B4-BE49-F238E27FC236}">
                <a16:creationId xmlns:a16="http://schemas.microsoft.com/office/drawing/2014/main" id="{B16CFEF2-A65A-6142-861C-58ACADF7EEFB}"/>
              </a:ext>
            </a:extLst>
          </p:cNvPr>
          <p:cNvSpPr/>
          <p:nvPr/>
        </p:nvSpPr>
        <p:spPr>
          <a:xfrm>
            <a:off x="5290270" y="7675937"/>
            <a:ext cx="1112910" cy="20487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40" name="TextBox 39"/>
              <p:cNvSpPr txBox="1"/>
              <p:nvPr/>
            </p:nvSpPr>
            <p:spPr>
              <a:xfrm>
                <a:off x="2916341" y="7329595"/>
                <a:ext cx="468718" cy="247247"/>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40" name="TextBox 39"/>
              <p:cNvSpPr txBox="1">
                <a:spLocks noRot="1" noChangeAspect="1" noMove="1" noResize="1" noEditPoints="1" noAdjustHandles="1" noChangeArrowheads="1" noChangeShapeType="1" noTextEdit="1"/>
              </p:cNvSpPr>
              <p:nvPr/>
            </p:nvSpPr>
            <p:spPr>
              <a:xfrm>
                <a:off x="2916341" y="7329595"/>
                <a:ext cx="468718" cy="247247"/>
              </a:xfrm>
              <a:prstGeom prst="rect">
                <a:avLst/>
              </a:prstGeom>
              <a:blipFill>
                <a:blip r:embed="rId13"/>
                <a:stretch>
                  <a:fillRect l="-19481" t="-9756" r="-6494" b="-219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4108738" y="7329595"/>
                <a:ext cx="483146" cy="247247"/>
              </a:xfrm>
              <a:prstGeom prst="rect">
                <a:avLst/>
              </a:prstGeom>
              <a:noFill/>
            </p:spPr>
            <p:txBody>
              <a:bodyPr wrap="none" lIns="0" tIns="0" rIns="0" bIns="0" rtlCol="0">
                <a:spAutoFit/>
              </a:bodyPr>
              <a:lstStyle/>
              <a:p>
                <a:r>
                  <a:rPr lang="en-GB" sz="1200" noProof="0" dirty="0"/>
                  <a:t>d</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41" name="TextBox 40"/>
              <p:cNvSpPr txBox="1">
                <a:spLocks noRot="1" noChangeAspect="1" noMove="1" noResize="1" noEditPoints="1" noAdjustHandles="1" noChangeArrowheads="1" noChangeShapeType="1" noTextEdit="1"/>
              </p:cNvSpPr>
              <p:nvPr/>
            </p:nvSpPr>
            <p:spPr>
              <a:xfrm>
                <a:off x="4108738" y="7329595"/>
                <a:ext cx="483146" cy="247247"/>
              </a:xfrm>
              <a:prstGeom prst="rect">
                <a:avLst/>
              </a:prstGeom>
              <a:blipFill>
                <a:blip r:embed="rId14"/>
                <a:stretch>
                  <a:fillRect l="-18987" t="-9756" r="-6329" b="-219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5315563" y="7310169"/>
                <a:ext cx="545662" cy="264944"/>
              </a:xfrm>
              <a:prstGeom prst="rect">
                <a:avLst/>
              </a:prstGeom>
              <a:noFill/>
            </p:spPr>
            <p:txBody>
              <a:bodyPr wrap="none" lIns="0" tIns="0" rIns="0" bIns="0" rtlCol="0">
                <a:spAutoFit/>
              </a:bodyPr>
              <a:lstStyle/>
              <a:p>
                <a:r>
                  <a:rPr lang="en-GB" sz="1200" noProof="0" dirty="0"/>
                  <a:t>e</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oMath>
                </a14:m>
                <a:endParaRPr lang="en-GB" sz="1200" noProof="0" dirty="0"/>
              </a:p>
            </p:txBody>
          </p:sp>
        </mc:Choice>
        <mc:Fallback xmlns="">
          <p:sp>
            <p:nvSpPr>
              <p:cNvPr id="42" name="TextBox 41"/>
              <p:cNvSpPr txBox="1">
                <a:spLocks noRot="1" noChangeAspect="1" noMove="1" noResize="1" noEditPoints="1" noAdjustHandles="1" noChangeArrowheads="1" noChangeShapeType="1" noTextEdit="1"/>
              </p:cNvSpPr>
              <p:nvPr/>
            </p:nvSpPr>
            <p:spPr>
              <a:xfrm>
                <a:off x="5315563" y="7310169"/>
                <a:ext cx="545662" cy="264944"/>
              </a:xfrm>
              <a:prstGeom prst="rect">
                <a:avLst/>
              </a:prstGeom>
              <a:blipFill>
                <a:blip r:embed="rId15"/>
                <a:stretch>
                  <a:fillRect l="-17978" t="-2273" r="-4494" b="-20455"/>
                </a:stretch>
              </a:blipFill>
            </p:spPr>
            <p:txBody>
              <a:bodyPr/>
              <a:lstStyle/>
              <a:p>
                <a:r>
                  <a:rPr lang="en-US">
                    <a:noFill/>
                  </a:rPr>
                  <a:t> </a:t>
                </a:r>
              </a:p>
            </p:txBody>
          </p:sp>
        </mc:Fallback>
      </mc:AlternateContent>
      <p:sp>
        <p:nvSpPr>
          <p:cNvPr id="49" name="TextBox 48">
            <a:extLst>
              <a:ext uri="{FF2B5EF4-FFF2-40B4-BE49-F238E27FC236}">
                <a16:creationId xmlns:a16="http://schemas.microsoft.com/office/drawing/2014/main" id="{6EAE242C-3BEA-324C-B746-6B1087575622}"/>
              </a:ext>
            </a:extLst>
          </p:cNvPr>
          <p:cNvSpPr txBox="1"/>
          <p:nvPr/>
        </p:nvSpPr>
        <p:spPr>
          <a:xfrm>
            <a:off x="0" y="6997081"/>
            <a:ext cx="1601721" cy="261610"/>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INDEPENDENT PRACTICE</a:t>
            </a:r>
          </a:p>
        </p:txBody>
      </p:sp>
      <p:sp>
        <p:nvSpPr>
          <p:cNvPr id="25" name="Slide Number Placeholder 24"/>
          <p:cNvSpPr>
            <a:spLocks noGrp="1"/>
          </p:cNvSpPr>
          <p:nvPr>
            <p:ph type="sldNum" sz="quarter" idx="12"/>
          </p:nvPr>
        </p:nvSpPr>
        <p:spPr>
          <a:xfrm>
            <a:off x="5243735" y="9425796"/>
            <a:ext cx="1543050" cy="527403"/>
          </a:xfrm>
        </p:spPr>
        <p:txBody>
          <a:bodyPr/>
          <a:lstStyle/>
          <a:p>
            <a:fld id="{9BD3B4A0-BFF9-422C-B253-48BA94BE2F5B}" type="slidenum">
              <a:rPr lang="en-GB" noProof="0" smtClean="0"/>
              <a:t>19</a:t>
            </a:fld>
            <a:endParaRPr lang="en-GB" noProof="0" dirty="0"/>
          </a:p>
        </p:txBody>
      </p:sp>
      <p:sp>
        <p:nvSpPr>
          <p:cNvPr id="19" name="TextBox 18">
            <a:extLst>
              <a:ext uri="{FF2B5EF4-FFF2-40B4-BE49-F238E27FC236}">
                <a16:creationId xmlns:a16="http://schemas.microsoft.com/office/drawing/2014/main" id="{B97C74F5-8A46-B1E1-9EAD-6A3B5F6E5F3F}"/>
              </a:ext>
            </a:extLst>
          </p:cNvPr>
          <p:cNvSpPr txBox="1"/>
          <p:nvPr/>
        </p:nvSpPr>
        <p:spPr>
          <a:xfrm>
            <a:off x="0" y="-19269"/>
            <a:ext cx="4272966" cy="369332"/>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algn="r">
              <a:defRPr/>
            </a:pPr>
            <a:r>
              <a:rPr lang="en-GB" b="1" noProof="0" dirty="0"/>
              <a:t>Adding and Subtracting Algebraic Fractions</a:t>
            </a:r>
            <a:endParaRPr kumimoji="0" lang="en-GB" sz="12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F7989BE2-444C-6A2A-A866-CCFFA9B9C472}"/>
              </a:ext>
            </a:extLst>
          </p:cNvPr>
          <p:cNvSpPr txBox="1"/>
          <p:nvPr/>
        </p:nvSpPr>
        <p:spPr>
          <a:xfrm>
            <a:off x="117616" y="533400"/>
            <a:ext cx="6550166" cy="646331"/>
          </a:xfrm>
          <a:prstGeom prst="rect">
            <a:avLst/>
          </a:prstGeom>
          <a:noFill/>
          <a:ln>
            <a:solidFill>
              <a:schemeClr val="tx1"/>
            </a:solidFill>
          </a:ln>
        </p:spPr>
        <p:txBody>
          <a:bodyPr wrap="square" rtlCol="0">
            <a:spAutoFit/>
          </a:bodyPr>
          <a:lstStyle/>
          <a:p>
            <a:r>
              <a:rPr lang="en-GB" sz="1200" noProof="0" dirty="0"/>
              <a:t>When the algebraic fractions we want to add or subtract have different denominators, it is necessary to find a common denominator. As with numerical fractions we do this by finding the lowest common multiple of the denominators. </a:t>
            </a:r>
          </a:p>
        </p:txBody>
      </p:sp>
    </p:spTree>
    <p:extLst>
      <p:ext uri="{BB962C8B-B14F-4D97-AF65-F5344CB8AC3E}">
        <p14:creationId xmlns:p14="http://schemas.microsoft.com/office/powerpoint/2010/main" val="171837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16CFEF2-A65A-6142-861C-58ACADF7EEFB}"/>
              </a:ext>
            </a:extLst>
          </p:cNvPr>
          <p:cNvSpPr/>
          <p:nvPr/>
        </p:nvSpPr>
        <p:spPr>
          <a:xfrm>
            <a:off x="64417" y="4289129"/>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5530" y="3946688"/>
                <a:ext cx="771686" cy="262316"/>
              </a:xfrm>
              <a:prstGeom prst="rect">
                <a:avLst/>
              </a:prstGeom>
              <a:noFill/>
            </p:spPr>
            <p:txBody>
              <a:bodyPr wrap="none" lIns="0" tIns="0" rIns="0" bIns="0" rtlCol="0">
                <a:spAutoFit/>
              </a:bodyPr>
              <a:lstStyle/>
              <a:p>
                <a:r>
                  <a:rPr lang="en-GB" sz="1200" noProof="0" dirty="0"/>
                  <a:t>a</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30" name="TextBox 29"/>
              <p:cNvSpPr txBox="1">
                <a:spLocks noRot="1" noChangeAspect="1" noMove="1" noResize="1" noEditPoints="1" noAdjustHandles="1" noChangeArrowheads="1" noChangeShapeType="1" noTextEdit="1"/>
              </p:cNvSpPr>
              <p:nvPr/>
            </p:nvSpPr>
            <p:spPr>
              <a:xfrm>
                <a:off x="95530" y="3946688"/>
                <a:ext cx="771686" cy="262316"/>
              </a:xfrm>
              <a:prstGeom prst="rect">
                <a:avLst/>
              </a:prstGeom>
              <a:blipFill>
                <a:blip r:embed="rId2"/>
                <a:stretch>
                  <a:fillRect l="-12698" t="-2326" r="-3968"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1783522" y="3946816"/>
                <a:ext cx="763671" cy="262059"/>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3</m:t>
                        </m:r>
                      </m:den>
                    </m:f>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1783522" y="3946816"/>
                <a:ext cx="763671" cy="262059"/>
              </a:xfrm>
              <a:prstGeom prst="rect">
                <a:avLst/>
              </a:prstGeom>
              <a:blipFill>
                <a:blip r:embed="rId3"/>
                <a:stretch>
                  <a:fillRect l="-12800" t="-2326" r="-3200" b="-23256"/>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B16CFEF2-A65A-6142-861C-58ACADF7EEFB}"/>
              </a:ext>
            </a:extLst>
          </p:cNvPr>
          <p:cNvSpPr/>
          <p:nvPr/>
        </p:nvSpPr>
        <p:spPr>
          <a:xfrm>
            <a:off x="1724629" y="4289129"/>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6" name="Rectangle 35">
            <a:extLst>
              <a:ext uri="{FF2B5EF4-FFF2-40B4-BE49-F238E27FC236}">
                <a16:creationId xmlns:a16="http://schemas.microsoft.com/office/drawing/2014/main" id="{B16CFEF2-A65A-6142-861C-58ACADF7EEFB}"/>
              </a:ext>
            </a:extLst>
          </p:cNvPr>
          <p:cNvSpPr/>
          <p:nvPr/>
        </p:nvSpPr>
        <p:spPr>
          <a:xfrm>
            <a:off x="3396416" y="4289129"/>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7" name="Rectangle 36">
            <a:extLst>
              <a:ext uri="{FF2B5EF4-FFF2-40B4-BE49-F238E27FC236}">
                <a16:creationId xmlns:a16="http://schemas.microsoft.com/office/drawing/2014/main" id="{B16CFEF2-A65A-6142-861C-58ACADF7EEFB}"/>
              </a:ext>
            </a:extLst>
          </p:cNvPr>
          <p:cNvSpPr/>
          <p:nvPr/>
        </p:nvSpPr>
        <p:spPr>
          <a:xfrm>
            <a:off x="5073415" y="4289129"/>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8" name="TextBox 37"/>
              <p:cNvSpPr txBox="1"/>
              <p:nvPr/>
            </p:nvSpPr>
            <p:spPr>
              <a:xfrm>
                <a:off x="3395916" y="3859927"/>
                <a:ext cx="1159485" cy="403444"/>
              </a:xfrm>
              <a:prstGeom prst="rect">
                <a:avLst/>
              </a:prstGeom>
              <a:noFill/>
            </p:spPr>
            <p:txBody>
              <a:bodyPr wrap="none" lIns="0" tIns="0" rIns="0" bIns="0" rtlCol="0">
                <a:spAutoFit/>
              </a:bodyPr>
              <a:lstStyle/>
              <a:p>
                <a:r>
                  <a:rPr lang="en-GB" sz="1200" noProof="0" dirty="0"/>
                  <a:t>d</a:t>
                </a:r>
                <a:r>
                  <a:rPr lang="en-GB" sz="1200" b="0" noProof="0" dirty="0"/>
                  <a:t>)</a:t>
                </a:r>
                <a:r>
                  <a:rPr lang="en-GB" sz="1200" noProof="0" dirty="0"/>
                  <a:t> </a:t>
                </a:r>
                <a14:m>
                  <m:oMath xmlns:m="http://schemas.openxmlformats.org/officeDocument/2006/math">
                    <m:f>
                      <m:fPr>
                        <m:ctrlPr>
                          <a:rPr lang="en-GB" i="1" noProof="0" smtClean="0">
                            <a:latin typeface="Cambria Math" panose="02040503050406030204" pitchFamily="18" charset="0"/>
                          </a:rPr>
                        </m:ctrlPr>
                      </m:fPr>
                      <m:num>
                        <m:r>
                          <a:rPr lang="en-GB" i="1" noProof="0">
                            <a:latin typeface="Cambria Math" panose="02040503050406030204" pitchFamily="18" charset="0"/>
                          </a:rPr>
                          <m:t>3</m:t>
                        </m:r>
                      </m:num>
                      <m:den>
                        <m:r>
                          <a:rPr lang="en-GB" i="1" noProof="0">
                            <a:latin typeface="Cambria Math" panose="02040503050406030204" pitchFamily="18" charset="0"/>
                          </a:rPr>
                          <m:t>𝑥</m:t>
                        </m:r>
                        <m:r>
                          <a:rPr lang="en-GB" i="1" noProof="0">
                            <a:latin typeface="Cambria Math" panose="02040503050406030204" pitchFamily="18" charset="0"/>
                          </a:rPr>
                          <m:t>−1</m:t>
                        </m:r>
                      </m:den>
                    </m:f>
                    <m:r>
                      <a:rPr lang="en-GB" i="1" noProof="0">
                        <a:latin typeface="Cambria Math" panose="02040503050406030204" pitchFamily="18" charset="0"/>
                      </a:rPr>
                      <m:t>+</m:t>
                    </m:r>
                    <m:f>
                      <m:fPr>
                        <m:ctrlPr>
                          <a:rPr lang="en-GB" i="1" noProof="0" smtClean="0">
                            <a:latin typeface="Cambria Math" panose="02040503050406030204" pitchFamily="18" charset="0"/>
                          </a:rPr>
                        </m:ctrlPr>
                      </m:fPr>
                      <m:num>
                        <m:r>
                          <a:rPr lang="en-GB" i="1" noProof="0">
                            <a:latin typeface="Cambria Math" panose="02040503050406030204" pitchFamily="18" charset="0"/>
                          </a:rPr>
                          <m:t>4</m:t>
                        </m:r>
                      </m:num>
                      <m:den>
                        <m:r>
                          <a:rPr lang="en-GB" i="1" noProof="0">
                            <a:latin typeface="Cambria Math" panose="02040503050406030204" pitchFamily="18" charset="0"/>
                          </a:rPr>
                          <m:t>3</m:t>
                        </m:r>
                        <m:r>
                          <a:rPr lang="en-GB" i="1" noProof="0">
                            <a:latin typeface="Cambria Math" panose="02040503050406030204" pitchFamily="18" charset="0"/>
                          </a:rPr>
                          <m:t>𝑥</m:t>
                        </m:r>
                        <m:r>
                          <a:rPr lang="en-GB" i="1" noProof="0">
                            <a:latin typeface="Cambria Math" panose="02040503050406030204" pitchFamily="18" charset="0"/>
                          </a:rPr>
                          <m:t>+2</m:t>
                        </m:r>
                      </m:den>
                    </m:f>
                  </m:oMath>
                </a14:m>
                <a:endParaRPr lang="en-GB" sz="1200" noProof="0" dirty="0"/>
              </a:p>
            </p:txBody>
          </p:sp>
        </mc:Choice>
        <mc:Fallback xmlns="">
          <p:sp>
            <p:nvSpPr>
              <p:cNvPr id="38" name="TextBox 37"/>
              <p:cNvSpPr txBox="1">
                <a:spLocks noRot="1" noChangeAspect="1" noMove="1" noResize="1" noEditPoints="1" noAdjustHandles="1" noChangeArrowheads="1" noChangeShapeType="1" noTextEdit="1"/>
              </p:cNvSpPr>
              <p:nvPr/>
            </p:nvSpPr>
            <p:spPr>
              <a:xfrm>
                <a:off x="3395916" y="3859927"/>
                <a:ext cx="1159485" cy="403444"/>
              </a:xfrm>
              <a:prstGeom prst="rect">
                <a:avLst/>
              </a:prstGeom>
              <a:blipFill>
                <a:blip r:embed="rId4"/>
                <a:stretch>
                  <a:fillRect l="-7895" r="-5789" b="-10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5033577" y="3936322"/>
                <a:ext cx="774892" cy="262316"/>
              </a:xfrm>
              <a:prstGeom prst="rect">
                <a:avLst/>
              </a:prstGeom>
              <a:noFill/>
            </p:spPr>
            <p:txBody>
              <a:bodyPr wrap="none" lIns="0" tIns="0" rIns="0" bIns="0" rtlCol="0">
                <a:spAutoFit/>
              </a:bodyPr>
              <a:lstStyle/>
              <a:p>
                <a:r>
                  <a:rPr lang="en-GB" sz="1200" noProof="0" dirty="0"/>
                  <a:t>e</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5</m:t>
                        </m:r>
                      </m:den>
                    </m:f>
                    <m:r>
                      <a:rPr lang="en-GB" sz="120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i="1" noProof="0" smtClean="0">
                            <a:latin typeface="Cambria Math" panose="02040503050406030204" pitchFamily="18" charset="0"/>
                          </a:rPr>
                          <m:t>3</m:t>
                        </m:r>
                      </m:den>
                    </m:f>
                  </m:oMath>
                </a14:m>
                <a:endParaRPr lang="en-GB" sz="1200" noProof="0" dirty="0"/>
              </a:p>
            </p:txBody>
          </p:sp>
        </mc:Choice>
        <mc:Fallback xmlns="">
          <p:sp>
            <p:nvSpPr>
              <p:cNvPr id="39" name="TextBox 38"/>
              <p:cNvSpPr txBox="1">
                <a:spLocks noRot="1" noChangeAspect="1" noMove="1" noResize="1" noEditPoints="1" noAdjustHandles="1" noChangeArrowheads="1" noChangeShapeType="1" noTextEdit="1"/>
              </p:cNvSpPr>
              <p:nvPr/>
            </p:nvSpPr>
            <p:spPr>
              <a:xfrm>
                <a:off x="5033577" y="3936322"/>
                <a:ext cx="774892" cy="262316"/>
              </a:xfrm>
              <a:prstGeom prst="rect">
                <a:avLst/>
              </a:prstGeom>
              <a:blipFill>
                <a:blip r:embed="rId5"/>
                <a:stretch>
                  <a:fillRect l="-12598" t="-2326" r="-3150" b="-20930"/>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B16CFEF2-A65A-6142-861C-58ACADF7EEFB}"/>
              </a:ext>
            </a:extLst>
          </p:cNvPr>
          <p:cNvSpPr/>
          <p:nvPr/>
        </p:nvSpPr>
        <p:spPr>
          <a:xfrm>
            <a:off x="64417" y="7225704"/>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41" name="TextBox 40"/>
              <p:cNvSpPr txBox="1"/>
              <p:nvPr/>
            </p:nvSpPr>
            <p:spPr>
              <a:xfrm>
                <a:off x="95530" y="6883263"/>
                <a:ext cx="812402" cy="262316"/>
              </a:xfrm>
              <a:prstGeom prst="rect">
                <a:avLst/>
              </a:prstGeom>
              <a:noFill/>
            </p:spPr>
            <p:txBody>
              <a:bodyPr wrap="none" lIns="0" tIns="0" rIns="0" bIns="0" rtlCol="0">
                <a:spAutoFit/>
              </a:bodyPr>
              <a:lstStyle/>
              <a:p>
                <a:r>
                  <a:rPr lang="en-GB" sz="1200" noProof="0" dirty="0"/>
                  <a:t>f</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2</m:t>
                        </m:r>
                      </m:den>
                    </m:f>
                  </m:oMath>
                </a14:m>
                <a:endParaRPr lang="en-GB" sz="1200" noProof="0" dirty="0"/>
              </a:p>
            </p:txBody>
          </p:sp>
        </mc:Choice>
        <mc:Fallback xmlns="">
          <p:sp>
            <p:nvSpPr>
              <p:cNvPr id="41" name="TextBox 40"/>
              <p:cNvSpPr txBox="1">
                <a:spLocks noRot="1" noChangeAspect="1" noMove="1" noResize="1" noEditPoints="1" noAdjustHandles="1" noChangeArrowheads="1" noChangeShapeType="1" noTextEdit="1"/>
              </p:cNvSpPr>
              <p:nvPr/>
            </p:nvSpPr>
            <p:spPr>
              <a:xfrm>
                <a:off x="95530" y="6883263"/>
                <a:ext cx="812402" cy="262316"/>
              </a:xfrm>
              <a:prstGeom prst="rect">
                <a:avLst/>
              </a:prstGeom>
              <a:blipFill>
                <a:blip r:embed="rId6"/>
                <a:stretch>
                  <a:fillRect l="-12030" t="-2326" r="-3008"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1783522" y="6883391"/>
                <a:ext cx="835806" cy="262316"/>
              </a:xfrm>
              <a:prstGeom prst="rect">
                <a:avLst/>
              </a:prstGeom>
              <a:noFill/>
            </p:spPr>
            <p:txBody>
              <a:bodyPr wrap="none" lIns="0" tIns="0" rIns="0" bIns="0" rtlCol="0">
                <a:spAutoFit/>
              </a:bodyPr>
              <a:lstStyle/>
              <a:p>
                <a:r>
                  <a:rPr lang="en-GB" sz="1200" noProof="0" dirty="0"/>
                  <a:t>g</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42" name="TextBox 41"/>
              <p:cNvSpPr txBox="1">
                <a:spLocks noRot="1" noChangeAspect="1" noMove="1" noResize="1" noEditPoints="1" noAdjustHandles="1" noChangeArrowheads="1" noChangeShapeType="1" noTextEdit="1"/>
              </p:cNvSpPr>
              <p:nvPr/>
            </p:nvSpPr>
            <p:spPr>
              <a:xfrm>
                <a:off x="1783522" y="6883391"/>
                <a:ext cx="835806" cy="262316"/>
              </a:xfrm>
              <a:prstGeom prst="rect">
                <a:avLst/>
              </a:prstGeom>
              <a:blipFill>
                <a:blip r:embed="rId7"/>
                <a:stretch>
                  <a:fillRect l="-11679" t="-2326" r="-2920" b="-23256"/>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B16CFEF2-A65A-6142-861C-58ACADF7EEFB}"/>
              </a:ext>
            </a:extLst>
          </p:cNvPr>
          <p:cNvSpPr/>
          <p:nvPr/>
        </p:nvSpPr>
        <p:spPr>
          <a:xfrm>
            <a:off x="1724629" y="7225704"/>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4" name="Rectangle 43">
            <a:extLst>
              <a:ext uri="{FF2B5EF4-FFF2-40B4-BE49-F238E27FC236}">
                <a16:creationId xmlns:a16="http://schemas.microsoft.com/office/drawing/2014/main" id="{B16CFEF2-A65A-6142-861C-58ACADF7EEFB}"/>
              </a:ext>
            </a:extLst>
          </p:cNvPr>
          <p:cNvSpPr/>
          <p:nvPr/>
        </p:nvSpPr>
        <p:spPr>
          <a:xfrm>
            <a:off x="3396416" y="7225704"/>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45" name="Rectangle 44">
            <a:extLst>
              <a:ext uri="{FF2B5EF4-FFF2-40B4-BE49-F238E27FC236}">
                <a16:creationId xmlns:a16="http://schemas.microsoft.com/office/drawing/2014/main" id="{B16CFEF2-A65A-6142-861C-58ACADF7EEFB}"/>
              </a:ext>
            </a:extLst>
          </p:cNvPr>
          <p:cNvSpPr/>
          <p:nvPr/>
        </p:nvSpPr>
        <p:spPr>
          <a:xfrm>
            <a:off x="5073415" y="7225704"/>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46" name="TextBox 45"/>
              <p:cNvSpPr txBox="1"/>
              <p:nvPr/>
            </p:nvSpPr>
            <p:spPr>
              <a:xfrm>
                <a:off x="3395916" y="6883391"/>
                <a:ext cx="843821" cy="262059"/>
              </a:xfrm>
              <a:prstGeom prst="rect">
                <a:avLst/>
              </a:prstGeom>
              <a:noFill/>
            </p:spPr>
            <p:txBody>
              <a:bodyPr wrap="none" lIns="0" tIns="0" rIns="0" bIns="0" rtlCol="0">
                <a:spAutoFit/>
              </a:bodyPr>
              <a:lstStyle/>
              <a:p>
                <a:r>
                  <a:rPr lang="en-GB" sz="1200" noProof="0" dirty="0"/>
                  <a:t>h</a:t>
                </a:r>
                <a:r>
                  <a:rPr lang="en-GB" sz="1200" b="0" noProof="0" dirty="0"/>
                  <a:t>) </a:t>
                </a:r>
                <a14:m>
                  <m:oMath xmlns:m="http://schemas.openxmlformats.org/officeDocument/2006/math">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4</m:t>
                        </m:r>
                        <m:r>
                          <a:rPr lang="en-GB" sz="120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i="1" noProof="0" smtClean="0">
                            <a:latin typeface="Cambria Math" panose="02040503050406030204" pitchFamily="18" charset="0"/>
                          </a:rPr>
                          <m:t>3</m:t>
                        </m:r>
                      </m:den>
                    </m:f>
                  </m:oMath>
                </a14:m>
                <a:endParaRPr lang="en-GB" sz="1200" noProof="0" dirty="0"/>
              </a:p>
            </p:txBody>
          </p:sp>
        </mc:Choice>
        <mc:Fallback xmlns="">
          <p:sp>
            <p:nvSpPr>
              <p:cNvPr id="46" name="TextBox 45"/>
              <p:cNvSpPr txBox="1">
                <a:spLocks noRot="1" noChangeAspect="1" noMove="1" noResize="1" noEditPoints="1" noAdjustHandles="1" noChangeArrowheads="1" noChangeShapeType="1" noTextEdit="1"/>
              </p:cNvSpPr>
              <p:nvPr/>
            </p:nvSpPr>
            <p:spPr>
              <a:xfrm>
                <a:off x="3395916" y="6883391"/>
                <a:ext cx="843821" cy="262059"/>
              </a:xfrm>
              <a:prstGeom prst="rect">
                <a:avLst/>
              </a:prstGeom>
              <a:blipFill>
                <a:blip r:embed="rId8"/>
                <a:stretch>
                  <a:fillRect l="-10870" t="-2326" r="-2899"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5033577" y="6872897"/>
                <a:ext cx="864660" cy="262059"/>
              </a:xfrm>
              <a:prstGeom prst="rect">
                <a:avLst/>
              </a:prstGeom>
              <a:noFill/>
            </p:spPr>
            <p:txBody>
              <a:bodyPr wrap="none" lIns="0" tIns="0" rIns="0" bIns="0" rtlCol="0">
                <a:spAutoFit/>
              </a:bodyPr>
              <a:lstStyle/>
              <a:p>
                <a:r>
                  <a:rPr lang="en-GB" sz="1200" noProof="0" dirty="0" err="1"/>
                  <a:t>i</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3</m:t>
                        </m:r>
                      </m:den>
                    </m:f>
                  </m:oMath>
                </a14:m>
                <a:endParaRPr lang="en-GB" sz="1200" noProof="0" dirty="0"/>
              </a:p>
            </p:txBody>
          </p:sp>
        </mc:Choice>
        <mc:Fallback xmlns="">
          <p:sp>
            <p:nvSpPr>
              <p:cNvPr id="47" name="TextBox 46"/>
              <p:cNvSpPr txBox="1">
                <a:spLocks noRot="1" noChangeAspect="1" noMove="1" noResize="1" noEditPoints="1" noAdjustHandles="1" noChangeArrowheads="1" noChangeShapeType="1" noTextEdit="1"/>
              </p:cNvSpPr>
              <p:nvPr/>
            </p:nvSpPr>
            <p:spPr>
              <a:xfrm>
                <a:off x="5033577" y="6872897"/>
                <a:ext cx="864660" cy="262059"/>
              </a:xfrm>
              <a:prstGeom prst="rect">
                <a:avLst/>
              </a:prstGeom>
              <a:blipFill>
                <a:blip r:embed="rId9"/>
                <a:stretch>
                  <a:fillRect l="-11268" t="-2326" r="-2817" b="-23256"/>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a:xfrm>
            <a:off x="5343553" y="9378597"/>
            <a:ext cx="1543050" cy="527403"/>
          </a:xfrm>
        </p:spPr>
        <p:txBody>
          <a:bodyPr/>
          <a:lstStyle/>
          <a:p>
            <a:fld id="{9BD3B4A0-BFF9-422C-B253-48BA94BE2F5B}" type="slidenum">
              <a:rPr lang="en-GB" noProof="0" smtClean="0"/>
              <a:t>20</a:t>
            </a:fld>
            <a:endParaRPr lang="en-GB" noProof="0" dirty="0"/>
          </a:p>
        </p:txBody>
      </p:sp>
      <p:sp>
        <p:nvSpPr>
          <p:cNvPr id="57" name="TextBox 56">
            <a:extLst>
              <a:ext uri="{FF2B5EF4-FFF2-40B4-BE49-F238E27FC236}">
                <a16:creationId xmlns:a16="http://schemas.microsoft.com/office/drawing/2014/main" id="{72FAE9BB-D81F-4207-9FF8-E6BE971A99D9}"/>
              </a:ext>
            </a:extLst>
          </p:cNvPr>
          <p:cNvSpPr txBox="1"/>
          <p:nvPr/>
        </p:nvSpPr>
        <p:spPr>
          <a:xfrm>
            <a:off x="5038610" y="13728"/>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27 - You do…</a:t>
            </a:r>
          </a:p>
        </p:txBody>
      </p:sp>
      <p:sp>
        <p:nvSpPr>
          <p:cNvPr id="58" name="TextBox 57">
            <a:extLst>
              <a:ext uri="{FF2B5EF4-FFF2-40B4-BE49-F238E27FC236}">
                <a16:creationId xmlns:a16="http://schemas.microsoft.com/office/drawing/2014/main" id="{337F58E6-37DE-4890-BDE3-0101DB4D4F11}"/>
              </a:ext>
            </a:extLst>
          </p:cNvPr>
          <p:cNvSpPr txBox="1"/>
          <p:nvPr/>
        </p:nvSpPr>
        <p:spPr>
          <a:xfrm>
            <a:off x="3150088" y="-4259"/>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26 - We do…</a:t>
            </a:r>
          </a:p>
        </p:txBody>
      </p:sp>
      <p:sp>
        <p:nvSpPr>
          <p:cNvPr id="59" name="TextBox 58">
            <a:extLst>
              <a:ext uri="{FF2B5EF4-FFF2-40B4-BE49-F238E27FC236}">
                <a16:creationId xmlns:a16="http://schemas.microsoft.com/office/drawing/2014/main" id="{20EB31B5-3203-4E48-8A19-892EA568053E}"/>
              </a:ext>
            </a:extLst>
          </p:cNvPr>
          <p:cNvSpPr txBox="1"/>
          <p:nvPr/>
        </p:nvSpPr>
        <p:spPr>
          <a:xfrm>
            <a:off x="1462243" y="-4258"/>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25 - I do…</a:t>
            </a:r>
          </a:p>
        </p:txBody>
      </p:sp>
      <mc:AlternateContent xmlns:mc="http://schemas.openxmlformats.org/markup-compatibility/2006" xmlns:a14="http://schemas.microsoft.com/office/drawing/2010/main">
        <mc:Choice Requires="a14">
          <p:graphicFrame>
            <p:nvGraphicFramePr>
              <p:cNvPr id="60" name="Table 59"/>
              <p:cNvGraphicFramePr>
                <a:graphicFrameLocks noGrp="1"/>
              </p:cNvGraphicFramePr>
              <p:nvPr>
                <p:extLst>
                  <p:ext uri="{D42A27DB-BD31-4B8C-83A1-F6EECF244321}">
                    <p14:modId xmlns:p14="http://schemas.microsoft.com/office/powerpoint/2010/main" val="1088075279"/>
                  </p:ext>
                </p:extLst>
              </p:nvPr>
            </p:nvGraphicFramePr>
            <p:xfrm>
              <a:off x="179321" y="292192"/>
              <a:ext cx="6484022" cy="3261733"/>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59833">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f>
                                  <m:fPr>
                                    <m:ctrlPr>
                                      <a:rPr lang="en-GB" sz="1350" b="1" i="1" kern="1200" noProof="0" smtClean="0">
                                        <a:solidFill>
                                          <a:schemeClr val="tx1"/>
                                        </a:solidFill>
                                        <a:effectLst/>
                                        <a:latin typeface="Cambria Math" panose="02040503050406030204" pitchFamily="18" charset="0"/>
                                        <a:ea typeface="+mn-ea"/>
                                        <a:cs typeface="+mn-cs"/>
                                      </a:rPr>
                                    </m:ctrlPr>
                                  </m:fPr>
                                  <m:num>
                                    <m:r>
                                      <a:rPr lang="en-GB" sz="1350" b="1" i="1" kern="1200" noProof="0">
                                        <a:solidFill>
                                          <a:schemeClr val="tx1"/>
                                        </a:solidFill>
                                        <a:effectLst/>
                                        <a:latin typeface="Cambria Math" panose="02040503050406030204" pitchFamily="18" charset="0"/>
                                        <a:ea typeface="+mn-ea"/>
                                        <a:cs typeface="+mn-cs"/>
                                      </a:rPr>
                                      <m:t>5</m:t>
                                    </m:r>
                                  </m:num>
                                  <m:den>
                                    <m:r>
                                      <a:rPr lang="en-GB" sz="1350" b="1" i="1" kern="1200" noProof="0">
                                        <a:solidFill>
                                          <a:schemeClr val="tx1"/>
                                        </a:solidFill>
                                        <a:effectLst/>
                                        <a:latin typeface="Cambria Math" panose="02040503050406030204" pitchFamily="18" charset="0"/>
                                        <a:ea typeface="+mn-ea"/>
                                        <a:cs typeface="+mn-cs"/>
                                      </a:rPr>
                                      <m:t>𝑥</m:t>
                                    </m:r>
                                    <m:r>
                                      <a:rPr lang="en-GB" sz="1350" b="1" i="1" kern="1200" noProof="0">
                                        <a:solidFill>
                                          <a:schemeClr val="tx1"/>
                                        </a:solidFill>
                                        <a:effectLst/>
                                        <a:latin typeface="Cambria Math" panose="02040503050406030204" pitchFamily="18" charset="0"/>
                                        <a:ea typeface="+mn-ea"/>
                                        <a:cs typeface="+mn-cs"/>
                                      </a:rPr>
                                      <m:t>+7</m:t>
                                    </m:r>
                                  </m:den>
                                </m:f>
                                <m:r>
                                  <a:rPr lang="en-GB" sz="1350" b="1" i="1" kern="1200" noProof="0">
                                    <a:solidFill>
                                      <a:schemeClr val="tx1"/>
                                    </a:solidFill>
                                    <a:effectLst/>
                                    <a:latin typeface="Cambria Math" panose="02040503050406030204" pitchFamily="18" charset="0"/>
                                    <a:ea typeface="+mn-ea"/>
                                    <a:cs typeface="+mn-cs"/>
                                  </a:rPr>
                                  <m:t>+</m:t>
                                </m:r>
                                <m:f>
                                  <m:fPr>
                                    <m:ctrlPr>
                                      <a:rPr lang="en-GB" sz="1350" b="1" i="1" kern="1200" noProof="0" smtClean="0">
                                        <a:solidFill>
                                          <a:schemeClr val="tx1"/>
                                        </a:solidFill>
                                        <a:effectLst/>
                                        <a:latin typeface="Cambria Math" panose="02040503050406030204" pitchFamily="18" charset="0"/>
                                        <a:ea typeface="+mn-ea"/>
                                        <a:cs typeface="+mn-cs"/>
                                      </a:rPr>
                                    </m:ctrlPr>
                                  </m:fPr>
                                  <m:num>
                                    <m:r>
                                      <a:rPr lang="en-GB" sz="1350" b="1" i="1" kern="1200" noProof="0">
                                        <a:solidFill>
                                          <a:schemeClr val="tx1"/>
                                        </a:solidFill>
                                        <a:effectLst/>
                                        <a:latin typeface="Cambria Math" panose="02040503050406030204" pitchFamily="18" charset="0"/>
                                        <a:ea typeface="+mn-ea"/>
                                        <a:cs typeface="+mn-cs"/>
                                      </a:rPr>
                                      <m:t>1</m:t>
                                    </m:r>
                                  </m:num>
                                  <m:den>
                                    <m:r>
                                      <a:rPr lang="en-GB" sz="1350" b="1" i="1" kern="1200" noProof="0">
                                        <a:solidFill>
                                          <a:schemeClr val="tx1"/>
                                        </a:solidFill>
                                        <a:effectLst/>
                                        <a:latin typeface="Cambria Math" panose="02040503050406030204" pitchFamily="18" charset="0"/>
                                        <a:ea typeface="+mn-ea"/>
                                        <a:cs typeface="+mn-cs"/>
                                      </a:rPr>
                                      <m:t>2</m:t>
                                    </m:r>
                                    <m:r>
                                      <a:rPr lang="en-GB" sz="1350" b="1" i="1" kern="1200" noProof="0">
                                        <a:solidFill>
                                          <a:schemeClr val="tx1"/>
                                        </a:solidFill>
                                        <a:effectLst/>
                                        <a:latin typeface="Cambria Math" panose="02040503050406030204" pitchFamily="18" charset="0"/>
                                        <a:ea typeface="+mn-ea"/>
                                        <a:cs typeface="+mn-cs"/>
                                      </a:rPr>
                                      <m:t>𝑥</m:t>
                                    </m:r>
                                    <m:r>
                                      <a:rPr lang="en-GB" sz="1350" b="1" i="1" kern="1200" noProof="0">
                                        <a:solidFill>
                                          <a:schemeClr val="tx1"/>
                                        </a:solidFill>
                                        <a:effectLst/>
                                        <a:latin typeface="Cambria Math" panose="02040503050406030204" pitchFamily="18" charset="0"/>
                                        <a:ea typeface="+mn-ea"/>
                                        <a:cs typeface="+mn-cs"/>
                                      </a:rPr>
                                      <m:t>−1</m:t>
                                    </m:r>
                                  </m:den>
                                </m:f>
                              </m:oMath>
                            </m:oMathPara>
                          </a14:m>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47340">
                    <a:tc>
                      <a:txBody>
                        <a:bodyPr/>
                        <a:lstStyle/>
                        <a:p>
                          <a:r>
                            <a:rPr lang="en-GB" sz="1100" noProof="0" dirty="0">
                              <a:solidFill>
                                <a:schemeClr val="tx1"/>
                              </a:solidFill>
                            </a:rPr>
                            <a:t>1) Find the Lowest</a:t>
                          </a:r>
                          <a:r>
                            <a:rPr lang="en-GB" sz="1100" baseline="0" noProof="0" dirty="0">
                              <a:solidFill>
                                <a:schemeClr val="tx1"/>
                              </a:solidFill>
                            </a:rPr>
                            <a:t> common denominator</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99168">
                    <a:tc>
                      <a:txBody>
                        <a:bodyPr/>
                        <a:lstStyle/>
                        <a:p>
                          <a:r>
                            <a:rPr lang="en-GB" sz="1100" noProof="0" dirty="0">
                              <a:solidFill>
                                <a:schemeClr val="tx1"/>
                              </a:solidFill>
                            </a:rPr>
                            <a:t>2) Multiply the numerators</a:t>
                          </a:r>
                          <a:r>
                            <a:rPr lang="en-GB" sz="1100" baseline="0" noProof="0" dirty="0">
                              <a:solidFill>
                                <a:schemeClr val="tx1"/>
                              </a:solidFill>
                            </a:rPr>
                            <a:t> and expand and simplify.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899168">
                    <a:tc>
                      <a:txBody>
                        <a:bodyPr/>
                        <a:lstStyle/>
                        <a:p>
                          <a:r>
                            <a:rPr lang="en-GB" sz="1100" noProof="0" dirty="0">
                              <a:solidFill>
                                <a:schemeClr val="tx1"/>
                              </a:solidFill>
                            </a:rPr>
                            <a:t>3) Write</a:t>
                          </a:r>
                          <a:r>
                            <a:rPr lang="en-GB" sz="1100" baseline="0" noProof="0" dirty="0">
                              <a:solidFill>
                                <a:schemeClr val="tx1"/>
                              </a:solidFill>
                            </a:rPr>
                            <a:t> in simplest form.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60" name="Table 59"/>
              <p:cNvGraphicFramePr>
                <a:graphicFrameLocks noGrp="1"/>
              </p:cNvGraphicFramePr>
              <p:nvPr>
                <p:extLst>
                  <p:ext uri="{D42A27DB-BD31-4B8C-83A1-F6EECF244321}">
                    <p14:modId xmlns:p14="http://schemas.microsoft.com/office/powerpoint/2010/main" val="1088075279"/>
                  </p:ext>
                </p:extLst>
              </p:nvPr>
            </p:nvGraphicFramePr>
            <p:xfrm>
              <a:off x="179321" y="292192"/>
              <a:ext cx="6484022" cy="3261733"/>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485585">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42722" t="-1250" r="-95253" b="-573750"/>
                          </a:stretch>
                        </a:blipFill>
                      </a:tcPr>
                    </a:tc>
                    <a:tc>
                      <a:txBody>
                        <a:bodyPr/>
                        <a:lstStyle/>
                        <a:p>
                          <a:endParaRPr lang="en-GB" sz="1100" b="1"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47340">
                    <a:tc>
                      <a:txBody>
                        <a:bodyPr/>
                        <a:lstStyle/>
                        <a:p>
                          <a:r>
                            <a:rPr lang="en-GB" sz="1100" noProof="0">
                              <a:solidFill>
                                <a:schemeClr val="tx1"/>
                              </a:solidFill>
                            </a:rPr>
                            <a:t>1) Find the Lowest</a:t>
                          </a:r>
                          <a:r>
                            <a:rPr lang="en-GB" sz="1100" baseline="0" noProof="0">
                              <a:solidFill>
                                <a:schemeClr val="tx1"/>
                              </a:solidFill>
                            </a:rPr>
                            <a:t> common denominator</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29640">
                    <a:tc>
                      <a:txBody>
                        <a:bodyPr/>
                        <a:lstStyle/>
                        <a:p>
                          <a:r>
                            <a:rPr lang="en-GB" sz="1100" noProof="0">
                              <a:solidFill>
                                <a:schemeClr val="tx1"/>
                              </a:solidFill>
                            </a:rPr>
                            <a:t>2) Multiply the numerators</a:t>
                          </a:r>
                          <a:r>
                            <a:rPr lang="en-GB" sz="1100" baseline="0" noProof="0">
                              <a:solidFill>
                                <a:schemeClr val="tx1"/>
                              </a:solidFill>
                            </a:rPr>
                            <a:t> and expand and simplify.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899168">
                    <a:tc>
                      <a:txBody>
                        <a:bodyPr/>
                        <a:lstStyle/>
                        <a:p>
                          <a:r>
                            <a:rPr lang="en-GB" sz="1100" noProof="0">
                              <a:solidFill>
                                <a:schemeClr val="tx1"/>
                              </a:solidFill>
                            </a:rPr>
                            <a:t>3) Write</a:t>
                          </a:r>
                          <a:r>
                            <a:rPr lang="en-GB" sz="1100" baseline="0" noProof="0">
                              <a:solidFill>
                                <a:schemeClr val="tx1"/>
                              </a:solidFill>
                            </a:rPr>
                            <a:t> in simplest form.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mc:AlternateContent xmlns:mc="http://schemas.openxmlformats.org/markup-compatibility/2006" xmlns:a14="http://schemas.microsoft.com/office/drawing/2010/main">
        <mc:Choice Requires="a14">
          <p:sp>
            <p:nvSpPr>
              <p:cNvPr id="61" name="TextBox 60"/>
              <p:cNvSpPr txBox="1"/>
              <p:nvPr/>
            </p:nvSpPr>
            <p:spPr>
              <a:xfrm>
                <a:off x="1356684" y="281919"/>
                <a:ext cx="1332224" cy="354392"/>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i="1" noProof="0" smtClean="0">
                            <a:latin typeface="Cambria Math" panose="02040503050406030204" pitchFamily="18" charset="0"/>
                          </a:rPr>
                        </m:ctrlPr>
                      </m:fPr>
                      <m:num>
                        <m:r>
                          <a:rPr lang="en-GB" sz="1200" i="1" noProof="0" smtClean="0">
                            <a:latin typeface="Cambria Math" panose="02040503050406030204" pitchFamily="18" charset="0"/>
                          </a:rPr>
                          <m:t>𝑥</m:t>
                        </m:r>
                        <m:r>
                          <a:rPr lang="en-GB" sz="1200" i="1" noProof="0" smtClean="0">
                            <a:latin typeface="Cambria Math" panose="02040503050406030204" pitchFamily="18" charset="0"/>
                          </a:rPr>
                          <m:t>+1</m:t>
                        </m:r>
                      </m:num>
                      <m:den>
                        <m:r>
                          <a:rPr lang="en-GB" sz="1200" i="1" noProof="0" smtClean="0">
                            <a:latin typeface="Cambria Math" panose="02040503050406030204" pitchFamily="18" charset="0"/>
                          </a:rPr>
                          <m:t>2</m:t>
                        </m:r>
                      </m:den>
                    </m:f>
                    <m:r>
                      <a:rPr lang="en-GB" sz="120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smtClean="0">
                            <a:latin typeface="Cambria Math" panose="02040503050406030204" pitchFamily="18" charset="0"/>
                          </a:rPr>
                          <m:t>𝑥</m:t>
                        </m:r>
                        <m:r>
                          <a:rPr lang="en-GB" sz="1200" i="1" noProof="0" smtClean="0">
                            <a:latin typeface="Cambria Math" panose="02040503050406030204" pitchFamily="18" charset="0"/>
                          </a:rPr>
                          <m:t>+3</m:t>
                        </m:r>
                      </m:num>
                      <m:den>
                        <m:r>
                          <a:rPr lang="en-GB" sz="1200" i="1" noProof="0" smtClean="0">
                            <a:latin typeface="Cambria Math" panose="02040503050406030204" pitchFamily="18" charset="0"/>
                          </a:rPr>
                          <m:t>3</m:t>
                        </m:r>
                      </m:den>
                    </m:f>
                  </m:oMath>
                </a14:m>
                <a:endParaRPr lang="en-GB" sz="1200" noProof="0" dirty="0"/>
              </a:p>
            </p:txBody>
          </p:sp>
        </mc:Choice>
        <mc:Fallback xmlns="">
          <p:sp>
            <p:nvSpPr>
              <p:cNvPr id="61" name="TextBox 60"/>
              <p:cNvSpPr txBox="1">
                <a:spLocks noRot="1" noChangeAspect="1" noMove="1" noResize="1" noEditPoints="1" noAdjustHandles="1" noChangeArrowheads="1" noChangeShapeType="1" noTextEdit="1"/>
              </p:cNvSpPr>
              <p:nvPr/>
            </p:nvSpPr>
            <p:spPr>
              <a:xfrm>
                <a:off x="1356684" y="281919"/>
                <a:ext cx="1332224" cy="354392"/>
              </a:xfrm>
              <a:prstGeom prst="rect">
                <a:avLst/>
              </a:prstGeom>
              <a:blipFill>
                <a:blip r:embed="rId11"/>
                <a:stretch>
                  <a:fillRect l="-459"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4986344" y="280518"/>
                <a:ext cx="1332224" cy="357021"/>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i="1" noProof="0" smtClean="0">
                            <a:latin typeface="Cambria Math" panose="02040503050406030204" pitchFamily="18" charset="0"/>
                          </a:rPr>
                        </m:ctrlPr>
                      </m:fPr>
                      <m:num>
                        <m:r>
                          <a:rPr lang="en-GB" sz="1200" i="1" noProof="0" smtClean="0">
                            <a:latin typeface="Cambria Math" panose="02040503050406030204" pitchFamily="18" charset="0"/>
                          </a:rPr>
                          <m:t>𝑥</m:t>
                        </m:r>
                        <m:r>
                          <a:rPr lang="en-GB" sz="1200" i="1" noProof="0" smtClean="0">
                            <a:latin typeface="Cambria Math" panose="02040503050406030204" pitchFamily="18" charset="0"/>
                          </a:rPr>
                          <m:t>+5</m:t>
                        </m:r>
                      </m:num>
                      <m:den>
                        <m:r>
                          <a:rPr lang="en-GB" sz="1200" i="1" noProof="0" smtClean="0">
                            <a:latin typeface="Cambria Math" panose="02040503050406030204" pitchFamily="18" charset="0"/>
                          </a:rPr>
                          <m:t>3</m:t>
                        </m:r>
                      </m:den>
                    </m:f>
                    <m:r>
                      <a:rPr lang="en-GB" sz="120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smtClean="0">
                            <a:latin typeface="Cambria Math" panose="02040503050406030204" pitchFamily="18" charset="0"/>
                          </a:rPr>
                          <m:t>𝑥</m:t>
                        </m:r>
                        <m:r>
                          <a:rPr lang="en-GB" sz="1200" b="0" i="1" noProof="0" smtClean="0">
                            <a:latin typeface="Cambria Math" panose="02040503050406030204" pitchFamily="18" charset="0"/>
                          </a:rPr>
                          <m:t>−</m:t>
                        </m:r>
                        <m:r>
                          <a:rPr lang="en-GB" sz="1200" i="1" noProof="0" smtClean="0">
                            <a:latin typeface="Cambria Math" panose="02040503050406030204" pitchFamily="18" charset="0"/>
                          </a:rPr>
                          <m:t>2</m:t>
                        </m:r>
                      </m:num>
                      <m:den>
                        <m:r>
                          <a:rPr lang="en-GB" sz="1200" i="1" noProof="0" smtClean="0">
                            <a:latin typeface="Cambria Math" panose="02040503050406030204" pitchFamily="18" charset="0"/>
                          </a:rPr>
                          <m:t>4</m:t>
                        </m:r>
                      </m:den>
                    </m:f>
                  </m:oMath>
                </a14:m>
                <a:endParaRPr lang="en-GB" sz="1200" noProof="0" dirty="0"/>
              </a:p>
            </p:txBody>
          </p:sp>
        </mc:Choice>
        <mc:Fallback xmlns="">
          <p:sp>
            <p:nvSpPr>
              <p:cNvPr id="63" name="TextBox 62"/>
              <p:cNvSpPr txBox="1">
                <a:spLocks noRot="1" noChangeAspect="1" noMove="1" noResize="1" noEditPoints="1" noAdjustHandles="1" noChangeArrowheads="1" noChangeShapeType="1" noTextEdit="1"/>
              </p:cNvSpPr>
              <p:nvPr/>
            </p:nvSpPr>
            <p:spPr>
              <a:xfrm>
                <a:off x="4986344" y="280518"/>
                <a:ext cx="1332224" cy="357021"/>
              </a:xfrm>
              <a:prstGeom prst="rect">
                <a:avLst/>
              </a:prstGeom>
              <a:blipFill>
                <a:blip r:embed="rId12"/>
                <a:stretch>
                  <a:fillRect l="-457" b="-1695"/>
                </a:stretch>
              </a:blipFill>
            </p:spPr>
            <p:txBody>
              <a:bodyPr/>
              <a:lstStyle/>
              <a:p>
                <a:r>
                  <a:rPr lang="en-US">
                    <a:noFill/>
                  </a:rPr>
                  <a:t> </a:t>
                </a:r>
              </a:p>
            </p:txBody>
          </p:sp>
        </mc:Fallback>
      </mc:AlternateContent>
      <p:sp>
        <p:nvSpPr>
          <p:cNvPr id="64" name="TextBox 63"/>
          <p:cNvSpPr txBox="1"/>
          <p:nvPr/>
        </p:nvSpPr>
        <p:spPr>
          <a:xfrm>
            <a:off x="1759898" y="3594626"/>
            <a:ext cx="2292231" cy="276999"/>
          </a:xfrm>
          <a:prstGeom prst="rect">
            <a:avLst/>
          </a:prstGeom>
          <a:noFill/>
        </p:spPr>
        <p:txBody>
          <a:bodyPr wrap="none" rtlCol="0">
            <a:spAutoFit/>
          </a:bodyPr>
          <a:lstStyle/>
          <a:p>
            <a:pPr algn="ctr"/>
            <a:r>
              <a:rPr lang="en-GB" sz="1200" noProof="0" dirty="0"/>
              <a:t>7. Simplify the algebraic fractions.</a:t>
            </a:r>
          </a:p>
        </p:txBody>
      </p:sp>
      <p:sp>
        <p:nvSpPr>
          <p:cNvPr id="48" name="TextBox 47">
            <a:extLst>
              <a:ext uri="{FF2B5EF4-FFF2-40B4-BE49-F238E27FC236}">
                <a16:creationId xmlns:a16="http://schemas.microsoft.com/office/drawing/2014/main" id="{C3C65E48-8C3D-6849-AD77-7AD8678AD8DA}"/>
              </a:ext>
            </a:extLst>
          </p:cNvPr>
          <p:cNvSpPr txBox="1"/>
          <p:nvPr/>
        </p:nvSpPr>
        <p:spPr>
          <a:xfrm>
            <a:off x="164587" y="3595237"/>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1580091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Table 44"/>
          <p:cNvGraphicFramePr>
            <a:graphicFrameLocks noGrp="1"/>
          </p:cNvGraphicFramePr>
          <p:nvPr>
            <p:extLst>
              <p:ext uri="{D42A27DB-BD31-4B8C-83A1-F6EECF244321}">
                <p14:modId xmlns:p14="http://schemas.microsoft.com/office/powerpoint/2010/main" val="1785353571"/>
              </p:ext>
            </p:extLst>
          </p:nvPr>
        </p:nvGraphicFramePr>
        <p:xfrm>
          <a:off x="137667" y="3358742"/>
          <a:ext cx="6484022" cy="3547578"/>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1722120">
                  <a:extLst>
                    <a:ext uri="{9D8B030D-6E8A-4147-A177-3AD203B41FA5}">
                      <a16:colId xmlns:a16="http://schemas.microsoft.com/office/drawing/2014/main" val="3551711160"/>
                    </a:ext>
                  </a:extLst>
                </a:gridCol>
                <a:gridCol w="1927860">
                  <a:extLst>
                    <a:ext uri="{9D8B030D-6E8A-4147-A177-3AD203B41FA5}">
                      <a16:colId xmlns:a16="http://schemas.microsoft.com/office/drawing/2014/main" val="925597041"/>
                    </a:ext>
                  </a:extLst>
                </a:gridCol>
                <a:gridCol w="1817449">
                  <a:extLst>
                    <a:ext uri="{9D8B030D-6E8A-4147-A177-3AD203B41FA5}">
                      <a16:colId xmlns:a16="http://schemas.microsoft.com/office/drawing/2014/main" val="4095172789"/>
                    </a:ext>
                  </a:extLst>
                </a:gridCol>
              </a:tblGrid>
              <a:tr h="372472">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95506">
                <a:tc>
                  <a:txBody>
                    <a:bodyPr/>
                    <a:lstStyle/>
                    <a:p>
                      <a:r>
                        <a:rPr lang="en-GB" sz="1100" noProof="0" dirty="0">
                          <a:solidFill>
                            <a:schemeClr val="tx1"/>
                          </a:solidFill>
                        </a:rPr>
                        <a:t>1) Find the Lowest</a:t>
                      </a:r>
                      <a:r>
                        <a:rPr lang="en-GB" sz="1100" baseline="0" noProof="0" dirty="0">
                          <a:solidFill>
                            <a:schemeClr val="tx1"/>
                          </a:solidFill>
                        </a:rPr>
                        <a:t> common denominator</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398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Multiply the numerators</a:t>
                      </a:r>
                      <a:r>
                        <a:rPr lang="en-GB" sz="1100" baseline="0" noProof="0" dirty="0">
                          <a:solidFill>
                            <a:schemeClr val="tx1"/>
                          </a:solidFill>
                        </a:rPr>
                        <a:t> and expand and simplify.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039800">
                <a:tc>
                  <a:txBody>
                    <a:bodyPr/>
                    <a:lstStyle/>
                    <a:p>
                      <a:r>
                        <a:rPr lang="en-GB" sz="1100" noProof="0" dirty="0">
                          <a:solidFill>
                            <a:schemeClr val="tx1"/>
                          </a:solidFill>
                        </a:rPr>
                        <a:t>3) Write</a:t>
                      </a:r>
                      <a:r>
                        <a:rPr lang="en-GB" sz="1100" baseline="0" noProof="0" dirty="0">
                          <a:solidFill>
                            <a:schemeClr val="tx1"/>
                          </a:solidFill>
                        </a:rPr>
                        <a:t> in simplest form.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p:sp>
        <p:nvSpPr>
          <p:cNvPr id="3" name="TextBox 2">
            <a:extLst>
              <a:ext uri="{FF2B5EF4-FFF2-40B4-BE49-F238E27FC236}">
                <a16:creationId xmlns:a16="http://schemas.microsoft.com/office/drawing/2014/main" id="{72FAE9BB-D81F-4207-9FF8-E6BE971A99D9}"/>
              </a:ext>
            </a:extLst>
          </p:cNvPr>
          <p:cNvSpPr txBox="1"/>
          <p:nvPr/>
        </p:nvSpPr>
        <p:spPr>
          <a:xfrm>
            <a:off x="4959526" y="3033722"/>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30 - You do…</a:t>
            </a:r>
          </a:p>
        </p:txBody>
      </p:sp>
      <p:sp>
        <p:nvSpPr>
          <p:cNvPr id="5" name="TextBox 4">
            <a:extLst>
              <a:ext uri="{FF2B5EF4-FFF2-40B4-BE49-F238E27FC236}">
                <a16:creationId xmlns:a16="http://schemas.microsoft.com/office/drawing/2014/main" id="{337F58E6-37DE-4890-BDE3-0101DB4D4F11}"/>
              </a:ext>
            </a:extLst>
          </p:cNvPr>
          <p:cNvSpPr txBox="1"/>
          <p:nvPr/>
        </p:nvSpPr>
        <p:spPr>
          <a:xfrm>
            <a:off x="3155472" y="3053309"/>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29 - We do…</a:t>
            </a:r>
          </a:p>
        </p:txBody>
      </p:sp>
      <p:sp>
        <p:nvSpPr>
          <p:cNvPr id="6" name="TextBox 5">
            <a:extLst>
              <a:ext uri="{FF2B5EF4-FFF2-40B4-BE49-F238E27FC236}">
                <a16:creationId xmlns:a16="http://schemas.microsoft.com/office/drawing/2014/main" id="{20EB31B5-3203-4E48-8A19-892EA568053E}"/>
              </a:ext>
            </a:extLst>
          </p:cNvPr>
          <p:cNvSpPr txBox="1"/>
          <p:nvPr/>
        </p:nvSpPr>
        <p:spPr>
          <a:xfrm>
            <a:off x="1356677" y="3029634"/>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28 - I do…</a:t>
            </a:r>
          </a:p>
        </p:txBody>
      </p:sp>
      <mc:AlternateContent xmlns:mc="http://schemas.openxmlformats.org/markup-compatibility/2006" xmlns:a14="http://schemas.microsoft.com/office/drawing/2010/main">
        <mc:Choice Requires="a14">
          <p:sp>
            <p:nvSpPr>
              <p:cNvPr id="9" name="TextBox 8"/>
              <p:cNvSpPr txBox="1"/>
              <p:nvPr/>
            </p:nvSpPr>
            <p:spPr>
              <a:xfrm>
                <a:off x="1344497" y="3358742"/>
                <a:ext cx="1102994" cy="357149"/>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𝑥</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8</m:t>
                        </m:r>
                      </m:num>
                      <m:den>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den>
                    </m:f>
                  </m:oMath>
                </a14:m>
                <a:endParaRPr lang="en-GB" sz="1200" noProof="0" dirty="0"/>
              </a:p>
            </p:txBody>
          </p:sp>
        </mc:Choice>
        <mc:Fallback xmlns="">
          <p:sp>
            <p:nvSpPr>
              <p:cNvPr id="9" name="TextBox 8"/>
              <p:cNvSpPr txBox="1">
                <a:spLocks noRot="1" noChangeAspect="1" noMove="1" noResize="1" noEditPoints="1" noAdjustHandles="1" noChangeArrowheads="1" noChangeShapeType="1" noTextEdit="1"/>
              </p:cNvSpPr>
              <p:nvPr/>
            </p:nvSpPr>
            <p:spPr>
              <a:xfrm>
                <a:off x="1344497" y="3358742"/>
                <a:ext cx="1102994" cy="357149"/>
              </a:xfrm>
              <a:prstGeom prst="rect">
                <a:avLst/>
              </a:prstGeom>
              <a:blipFill>
                <a:blip r:embed="rId2"/>
                <a:stretch>
                  <a:fillRect l="-556"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193266" y="3371589"/>
                <a:ext cx="1164358" cy="354521"/>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7</m:t>
                        </m:r>
                      </m:num>
                      <m:den>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oMath>
                </a14:m>
                <a:endParaRPr lang="en-GB" sz="1200" noProof="0" dirty="0"/>
              </a:p>
            </p:txBody>
          </p:sp>
        </mc:Choice>
        <mc:Fallback xmlns="">
          <p:sp>
            <p:nvSpPr>
              <p:cNvPr id="12" name="TextBox 11"/>
              <p:cNvSpPr txBox="1">
                <a:spLocks noRot="1" noChangeAspect="1" noMove="1" noResize="1" noEditPoints="1" noAdjustHandles="1" noChangeArrowheads="1" noChangeShapeType="1" noTextEdit="1"/>
              </p:cNvSpPr>
              <p:nvPr/>
            </p:nvSpPr>
            <p:spPr>
              <a:xfrm>
                <a:off x="3193266" y="3371589"/>
                <a:ext cx="1164358" cy="354521"/>
              </a:xfrm>
              <a:prstGeom prst="rect">
                <a:avLst/>
              </a:prstGeom>
              <a:blipFill>
                <a:blip r:embed="rId3"/>
                <a:stretch>
                  <a:fillRect l="-524"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051465" y="3350977"/>
                <a:ext cx="1164358" cy="357149"/>
              </a:xfrm>
              <a:prstGeom prst="rect">
                <a:avLst/>
              </a:prstGeom>
              <a:noFill/>
            </p:spPr>
            <p:txBody>
              <a:bodyPr wrap="none" rtlCol="0">
                <a:spAutoFit/>
              </a:bodyPr>
              <a:lstStyle/>
              <a:p>
                <a:r>
                  <a:rPr lang="en-GB" sz="1200" noProof="0" dirty="0"/>
                  <a:t>Simplify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7</m:t>
                        </m:r>
                      </m:num>
                      <m:den>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oMath>
                </a14:m>
                <a:endParaRPr lang="en-GB" sz="1200" noProof="0" dirty="0"/>
              </a:p>
            </p:txBody>
          </p:sp>
        </mc:Choice>
        <mc:Fallback xmlns="">
          <p:sp>
            <p:nvSpPr>
              <p:cNvPr id="13" name="TextBox 12"/>
              <p:cNvSpPr txBox="1">
                <a:spLocks noRot="1" noChangeAspect="1" noMove="1" noResize="1" noEditPoints="1" noAdjustHandles="1" noChangeArrowheads="1" noChangeShapeType="1" noTextEdit="1"/>
              </p:cNvSpPr>
              <p:nvPr/>
            </p:nvSpPr>
            <p:spPr>
              <a:xfrm>
                <a:off x="5051465" y="3350977"/>
                <a:ext cx="1164358" cy="357149"/>
              </a:xfrm>
              <a:prstGeom prst="rect">
                <a:avLst/>
              </a:prstGeom>
              <a:blipFill>
                <a:blip r:embed="rId4"/>
                <a:stretch>
                  <a:fillRect l="-524" b="-3448"/>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B16CFEF2-A65A-6142-861C-58ACADF7EEFB}"/>
              </a:ext>
            </a:extLst>
          </p:cNvPr>
          <p:cNvSpPr/>
          <p:nvPr/>
        </p:nvSpPr>
        <p:spPr>
          <a:xfrm>
            <a:off x="129538" y="391996"/>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15" name="TextBox 14"/>
              <p:cNvSpPr txBox="1"/>
              <p:nvPr/>
            </p:nvSpPr>
            <p:spPr>
              <a:xfrm>
                <a:off x="160651" y="49555"/>
                <a:ext cx="866263" cy="262316"/>
              </a:xfrm>
              <a:prstGeom prst="rect">
                <a:avLst/>
              </a:prstGeom>
              <a:noFill/>
            </p:spPr>
            <p:txBody>
              <a:bodyPr wrap="none" lIns="0" tIns="0" rIns="0" bIns="0" rtlCol="0">
                <a:spAutoFit/>
              </a:bodyPr>
              <a:lstStyle/>
              <a:p>
                <a:r>
                  <a:rPr lang="en-GB" sz="1200" noProof="0" dirty="0"/>
                  <a:t>j</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4</m:t>
                        </m:r>
                      </m:den>
                    </m:f>
                  </m:oMath>
                </a14:m>
                <a:endParaRPr lang="en-GB" sz="1200" noProof="0" dirty="0"/>
              </a:p>
            </p:txBody>
          </p:sp>
        </mc:Choice>
        <mc:Fallback xmlns="">
          <p:sp>
            <p:nvSpPr>
              <p:cNvPr id="15" name="TextBox 14"/>
              <p:cNvSpPr txBox="1">
                <a:spLocks noRot="1" noChangeAspect="1" noMove="1" noResize="1" noEditPoints="1" noAdjustHandles="1" noChangeArrowheads="1" noChangeShapeType="1" noTextEdit="1"/>
              </p:cNvSpPr>
              <p:nvPr/>
            </p:nvSpPr>
            <p:spPr>
              <a:xfrm>
                <a:off x="160651" y="49555"/>
                <a:ext cx="866263" cy="262316"/>
              </a:xfrm>
              <a:prstGeom prst="rect">
                <a:avLst/>
              </a:prstGeom>
              <a:blipFill>
                <a:blip r:embed="rId5"/>
                <a:stretch>
                  <a:fillRect l="-10563" t="-2326" r="-2817"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1848643" y="49683"/>
                <a:ext cx="899926" cy="261162"/>
              </a:xfrm>
              <a:prstGeom prst="rect">
                <a:avLst/>
              </a:prstGeom>
              <a:noFill/>
            </p:spPr>
            <p:txBody>
              <a:bodyPr wrap="none" lIns="0" tIns="0" rIns="0" bIns="0" rtlCol="0">
                <a:spAutoFit/>
              </a:bodyPr>
              <a:lstStyle/>
              <a:p>
                <a:r>
                  <a:rPr lang="en-GB" sz="1200" noProof="0" dirty="0"/>
                  <a:t>k</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4</m:t>
                        </m:r>
                      </m:den>
                    </m:f>
                  </m:oMath>
                </a14:m>
                <a:endParaRPr lang="en-GB" sz="1200" noProof="0" dirty="0"/>
              </a:p>
            </p:txBody>
          </p:sp>
        </mc:Choice>
        <mc:Fallback xmlns="">
          <p:sp>
            <p:nvSpPr>
              <p:cNvPr id="16" name="TextBox 15"/>
              <p:cNvSpPr txBox="1">
                <a:spLocks noRot="1" noChangeAspect="1" noMove="1" noResize="1" noEditPoints="1" noAdjustHandles="1" noChangeArrowheads="1" noChangeShapeType="1" noTextEdit="1"/>
              </p:cNvSpPr>
              <p:nvPr/>
            </p:nvSpPr>
            <p:spPr>
              <a:xfrm>
                <a:off x="1848643" y="49683"/>
                <a:ext cx="899926" cy="261162"/>
              </a:xfrm>
              <a:prstGeom prst="rect">
                <a:avLst/>
              </a:prstGeom>
              <a:blipFill>
                <a:blip r:embed="rId6"/>
                <a:stretch>
                  <a:fillRect l="-10135" t="-2326" r="-2703" b="-23256"/>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B16CFEF2-A65A-6142-861C-58ACADF7EEFB}"/>
              </a:ext>
            </a:extLst>
          </p:cNvPr>
          <p:cNvSpPr/>
          <p:nvPr/>
        </p:nvSpPr>
        <p:spPr>
          <a:xfrm>
            <a:off x="1789750" y="391996"/>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8" name="Rectangle 17">
            <a:extLst>
              <a:ext uri="{FF2B5EF4-FFF2-40B4-BE49-F238E27FC236}">
                <a16:creationId xmlns:a16="http://schemas.microsoft.com/office/drawing/2014/main" id="{B16CFEF2-A65A-6142-861C-58ACADF7EEFB}"/>
              </a:ext>
            </a:extLst>
          </p:cNvPr>
          <p:cNvSpPr/>
          <p:nvPr/>
        </p:nvSpPr>
        <p:spPr>
          <a:xfrm>
            <a:off x="3461537" y="391996"/>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9" name="Rectangle 18">
            <a:extLst>
              <a:ext uri="{FF2B5EF4-FFF2-40B4-BE49-F238E27FC236}">
                <a16:creationId xmlns:a16="http://schemas.microsoft.com/office/drawing/2014/main" id="{B16CFEF2-A65A-6142-861C-58ACADF7EEFB}"/>
              </a:ext>
            </a:extLst>
          </p:cNvPr>
          <p:cNvSpPr/>
          <p:nvPr/>
        </p:nvSpPr>
        <p:spPr>
          <a:xfrm>
            <a:off x="5138536" y="391996"/>
            <a:ext cx="1589928" cy="25427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20" name="TextBox 19"/>
              <p:cNvSpPr txBox="1"/>
              <p:nvPr/>
            </p:nvSpPr>
            <p:spPr>
              <a:xfrm>
                <a:off x="3461037" y="49683"/>
                <a:ext cx="864660" cy="263790"/>
              </a:xfrm>
              <a:prstGeom prst="rect">
                <a:avLst/>
              </a:prstGeom>
              <a:noFill/>
            </p:spPr>
            <p:txBody>
              <a:bodyPr wrap="none" lIns="0" tIns="0" rIns="0" bIns="0" rtlCol="0">
                <a:spAutoFit/>
              </a:bodyPr>
              <a:lstStyle/>
              <a:p>
                <a:r>
                  <a:rPr lang="en-GB" sz="1200" noProof="0" dirty="0"/>
                  <a:t>l</a:t>
                </a:r>
                <a:r>
                  <a:rPr lang="en-GB" sz="1200" b="0" noProof="0" dirty="0"/>
                  <a:t>) </a:t>
                </a:r>
                <a14:m>
                  <m:oMath xmlns:m="http://schemas.openxmlformats.org/officeDocument/2006/math">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5</m:t>
                        </m:r>
                        <m:r>
                          <a:rPr lang="en-GB" sz="1200" i="1" noProof="0" smtClean="0">
                            <a:latin typeface="Cambria Math" panose="02040503050406030204" pitchFamily="18" charset="0"/>
                          </a:rPr>
                          <m:t>𝑥</m:t>
                        </m:r>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2</m:t>
                        </m:r>
                      </m:den>
                    </m:f>
                  </m:oMath>
                </a14:m>
                <a:endParaRPr lang="en-GB" sz="1200" noProof="0" dirty="0"/>
              </a:p>
            </p:txBody>
          </p:sp>
        </mc:Choice>
        <mc:Fallback xmlns="">
          <p:sp>
            <p:nvSpPr>
              <p:cNvPr id="20" name="TextBox 19"/>
              <p:cNvSpPr txBox="1">
                <a:spLocks noRot="1" noChangeAspect="1" noMove="1" noResize="1" noEditPoints="1" noAdjustHandles="1" noChangeArrowheads="1" noChangeShapeType="1" noTextEdit="1"/>
              </p:cNvSpPr>
              <p:nvPr/>
            </p:nvSpPr>
            <p:spPr>
              <a:xfrm>
                <a:off x="3461037" y="49683"/>
                <a:ext cx="864660" cy="263790"/>
              </a:xfrm>
              <a:prstGeom prst="rect">
                <a:avLst/>
              </a:prstGeom>
              <a:blipFill>
                <a:blip r:embed="rId7"/>
                <a:stretch>
                  <a:fillRect l="-11268" t="-2326" r="-2817" b="-23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5098698" y="39189"/>
                <a:ext cx="952825" cy="264944"/>
              </a:xfrm>
              <a:prstGeom prst="rect">
                <a:avLst/>
              </a:prstGeom>
              <a:noFill/>
            </p:spPr>
            <p:txBody>
              <a:bodyPr wrap="none" lIns="0" tIns="0" rIns="0" bIns="0" rtlCol="0">
                <a:spAutoFit/>
              </a:bodyPr>
              <a:lstStyle/>
              <a:p>
                <a:r>
                  <a:rPr lang="en-GB" sz="1200" noProof="0" dirty="0"/>
                  <a:t>m</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7</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i="1" noProof="0" smtClean="0">
                            <a:latin typeface="Cambria Math" panose="02040503050406030204" pitchFamily="18" charset="0"/>
                          </a:rPr>
                          <m:t>𝑥</m:t>
                        </m:r>
                        <m:r>
                          <a:rPr lang="en-GB" sz="1200" i="1" noProof="0" smtClean="0">
                            <a:latin typeface="Cambria Math" panose="02040503050406030204" pitchFamily="18" charset="0"/>
                          </a:rPr>
                          <m:t>+1</m:t>
                        </m:r>
                      </m:num>
                      <m:den>
                        <m:r>
                          <a:rPr lang="en-GB" sz="1200" i="1" noProof="0" smtClean="0">
                            <a:latin typeface="Cambria Math" panose="02040503050406030204" pitchFamily="18" charset="0"/>
                          </a:rPr>
                          <m:t>3</m:t>
                        </m:r>
                      </m:den>
                    </m:f>
                  </m:oMath>
                </a14:m>
                <a:endParaRPr lang="en-GB" sz="1200" noProof="0" dirty="0"/>
              </a:p>
            </p:txBody>
          </p:sp>
        </mc:Choice>
        <mc:Fallback xmlns="">
          <p:sp>
            <p:nvSpPr>
              <p:cNvPr id="21" name="TextBox 20"/>
              <p:cNvSpPr txBox="1">
                <a:spLocks noRot="1" noChangeAspect="1" noMove="1" noResize="1" noEditPoints="1" noAdjustHandles="1" noChangeArrowheads="1" noChangeShapeType="1" noTextEdit="1"/>
              </p:cNvSpPr>
              <p:nvPr/>
            </p:nvSpPr>
            <p:spPr>
              <a:xfrm>
                <a:off x="5098698" y="39189"/>
                <a:ext cx="952825" cy="264944"/>
              </a:xfrm>
              <a:prstGeom prst="rect">
                <a:avLst/>
              </a:prstGeom>
              <a:blipFill>
                <a:blip r:embed="rId8"/>
                <a:stretch>
                  <a:fillRect l="-9554" t="-2273" r="-1911" b="-20455"/>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B16CFEF2-A65A-6142-861C-58ACADF7EEFB}"/>
              </a:ext>
            </a:extLst>
          </p:cNvPr>
          <p:cNvSpPr/>
          <p:nvPr/>
        </p:nvSpPr>
        <p:spPr>
          <a:xfrm>
            <a:off x="129538" y="7636944"/>
            <a:ext cx="1589928" cy="21210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26" name="TextBox 25"/>
              <p:cNvSpPr txBox="1"/>
              <p:nvPr/>
            </p:nvSpPr>
            <p:spPr>
              <a:xfrm>
                <a:off x="160651" y="7294503"/>
                <a:ext cx="476734" cy="264816"/>
              </a:xfrm>
              <a:prstGeom prst="rect">
                <a:avLst/>
              </a:prstGeom>
              <a:noFill/>
            </p:spPr>
            <p:txBody>
              <a:bodyPr wrap="none" lIns="0" tIns="0" rIns="0" bIns="0" rtlCol="0">
                <a:spAutoFit/>
              </a:bodyPr>
              <a:lstStyle/>
              <a:p>
                <a:r>
                  <a:rPr lang="en-GB" sz="1200" noProof="0" dirty="0"/>
                  <a:t>a</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𝑥</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den>
                    </m:f>
                  </m:oMath>
                </a14:m>
                <a:endParaRPr lang="en-GB" sz="1200" noProof="0" dirty="0"/>
              </a:p>
            </p:txBody>
          </p:sp>
        </mc:Choice>
        <mc:Fallback xmlns="">
          <p:sp>
            <p:nvSpPr>
              <p:cNvPr id="26" name="TextBox 25"/>
              <p:cNvSpPr txBox="1">
                <a:spLocks noRot="1" noChangeAspect="1" noMove="1" noResize="1" noEditPoints="1" noAdjustHandles="1" noChangeArrowheads="1" noChangeShapeType="1" noTextEdit="1"/>
              </p:cNvSpPr>
              <p:nvPr/>
            </p:nvSpPr>
            <p:spPr>
              <a:xfrm>
                <a:off x="160651" y="7294503"/>
                <a:ext cx="476734" cy="264816"/>
              </a:xfrm>
              <a:prstGeom prst="rect">
                <a:avLst/>
              </a:prstGeom>
              <a:blipFill>
                <a:blip r:embed="rId10"/>
                <a:stretch>
                  <a:fillRect l="-18987" t="-2326" r="-3797"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1848643" y="7294631"/>
                <a:ext cx="544508" cy="264816"/>
              </a:xfrm>
              <a:prstGeom prst="rect">
                <a:avLst/>
              </a:prstGeom>
              <a:noFill/>
            </p:spPr>
            <p:txBody>
              <a:bodyPr wrap="none" lIns="0" tIns="0" rIns="0" bIns="0" rtlCol="0">
                <a:spAutoFit/>
              </a:bodyPr>
              <a:lstStyle/>
              <a:p>
                <a:r>
                  <a:rPr lang="en-GB" sz="1200" noProof="0" dirty="0"/>
                  <a:t>b</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den>
                    </m:f>
                  </m:oMath>
                </a14:m>
                <a:endParaRPr lang="en-GB" sz="1200" noProof="0" dirty="0"/>
              </a:p>
            </p:txBody>
          </p:sp>
        </mc:Choice>
        <mc:Fallback xmlns="">
          <p:sp>
            <p:nvSpPr>
              <p:cNvPr id="27" name="TextBox 26"/>
              <p:cNvSpPr txBox="1">
                <a:spLocks noRot="1" noChangeAspect="1" noMove="1" noResize="1" noEditPoints="1" noAdjustHandles="1" noChangeArrowheads="1" noChangeShapeType="1" noTextEdit="1"/>
              </p:cNvSpPr>
              <p:nvPr/>
            </p:nvSpPr>
            <p:spPr>
              <a:xfrm>
                <a:off x="1848643" y="7294631"/>
                <a:ext cx="544508" cy="264816"/>
              </a:xfrm>
              <a:prstGeom prst="rect">
                <a:avLst/>
              </a:prstGeom>
              <a:blipFill>
                <a:blip r:embed="rId11"/>
                <a:stretch>
                  <a:fillRect l="-16667" t="-2326" r="-3333" b="-20930"/>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B16CFEF2-A65A-6142-861C-58ACADF7EEFB}"/>
              </a:ext>
            </a:extLst>
          </p:cNvPr>
          <p:cNvSpPr/>
          <p:nvPr/>
        </p:nvSpPr>
        <p:spPr>
          <a:xfrm>
            <a:off x="1789750" y="7636944"/>
            <a:ext cx="1589928" cy="21210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9" name="Rectangle 28">
            <a:extLst>
              <a:ext uri="{FF2B5EF4-FFF2-40B4-BE49-F238E27FC236}">
                <a16:creationId xmlns:a16="http://schemas.microsoft.com/office/drawing/2014/main" id="{B16CFEF2-A65A-6142-861C-58ACADF7EEFB}"/>
              </a:ext>
            </a:extLst>
          </p:cNvPr>
          <p:cNvSpPr/>
          <p:nvPr/>
        </p:nvSpPr>
        <p:spPr>
          <a:xfrm>
            <a:off x="3461537" y="7636944"/>
            <a:ext cx="1589928" cy="21210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0" name="Rectangle 29">
            <a:extLst>
              <a:ext uri="{FF2B5EF4-FFF2-40B4-BE49-F238E27FC236}">
                <a16:creationId xmlns:a16="http://schemas.microsoft.com/office/drawing/2014/main" id="{B16CFEF2-A65A-6142-861C-58ACADF7EEFB}"/>
              </a:ext>
            </a:extLst>
          </p:cNvPr>
          <p:cNvSpPr/>
          <p:nvPr/>
        </p:nvSpPr>
        <p:spPr>
          <a:xfrm>
            <a:off x="5138536" y="7636944"/>
            <a:ext cx="1589928" cy="21210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31" name="TextBox 30"/>
              <p:cNvSpPr txBox="1"/>
              <p:nvPr/>
            </p:nvSpPr>
            <p:spPr>
              <a:xfrm>
                <a:off x="3461037" y="7294631"/>
                <a:ext cx="595804" cy="264816"/>
              </a:xfrm>
              <a:prstGeom prst="rect">
                <a:avLst/>
              </a:prstGeom>
              <a:noFill/>
            </p:spPr>
            <p:txBody>
              <a:bodyPr wrap="none" lIns="0" tIns="0" rIns="0" bIns="0" rtlCol="0">
                <a:spAutoFit/>
              </a:bodyPr>
              <a:lstStyle/>
              <a:p>
                <a:r>
                  <a:rPr lang="en-GB" sz="1200" noProof="0" dirty="0"/>
                  <a:t>c</a:t>
                </a:r>
                <a:r>
                  <a:rPr lang="en-GB" sz="1200" b="0" noProof="0" dirty="0"/>
                  <a:t>) </a:t>
                </a:r>
                <a14:m>
                  <m:oMath xmlns:m="http://schemas.openxmlformats.org/officeDocument/2006/math">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den>
                    </m:f>
                  </m:oMath>
                </a14:m>
                <a:endParaRPr lang="en-GB" sz="1200" noProof="0" dirty="0"/>
              </a:p>
            </p:txBody>
          </p:sp>
        </mc:Choice>
        <mc:Fallback xmlns="">
          <p:sp>
            <p:nvSpPr>
              <p:cNvPr id="31" name="TextBox 30"/>
              <p:cNvSpPr txBox="1">
                <a:spLocks noRot="1" noChangeAspect="1" noMove="1" noResize="1" noEditPoints="1" noAdjustHandles="1" noChangeArrowheads="1" noChangeShapeType="1" noTextEdit="1"/>
              </p:cNvSpPr>
              <p:nvPr/>
            </p:nvSpPr>
            <p:spPr>
              <a:xfrm>
                <a:off x="3461037" y="7294631"/>
                <a:ext cx="595804" cy="264816"/>
              </a:xfrm>
              <a:prstGeom prst="rect">
                <a:avLst/>
              </a:prstGeom>
              <a:blipFill>
                <a:blip r:embed="rId12"/>
                <a:stretch>
                  <a:fillRect l="-16495" t="-2326" r="-5155"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5098698" y="7284137"/>
                <a:ext cx="610232" cy="262188"/>
              </a:xfrm>
              <a:prstGeom prst="rect">
                <a:avLst/>
              </a:prstGeom>
              <a:noFill/>
            </p:spPr>
            <p:txBody>
              <a:bodyPr wrap="none" lIns="0" tIns="0" rIns="0" bIns="0" rtlCol="0">
                <a:spAutoFit/>
              </a:bodyPr>
              <a:lstStyle/>
              <a:p>
                <a:r>
                  <a:rPr lang="en-GB" sz="1200" noProof="0" dirty="0"/>
                  <a:t>d</a:t>
                </a:r>
                <a:r>
                  <a:rPr lang="en-GB" sz="1200" b="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6</m:t>
                        </m:r>
                      </m:num>
                      <m:den>
                        <m:r>
                          <a:rPr lang="en-GB" sz="1200" b="0" i="1" noProof="0" smtClean="0">
                            <a:latin typeface="Cambria Math" panose="02040503050406030204" pitchFamily="18" charset="0"/>
                          </a:rPr>
                          <m:t>2</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den>
                    </m:f>
                    <m:r>
                      <a:rPr lang="en-GB" sz="1200" b="0" i="1" noProof="0" smtClean="0">
                        <a:latin typeface="Cambria Math" panose="02040503050406030204" pitchFamily="18" charset="0"/>
                      </a:rPr>
                      <m:t>−</m:t>
                    </m:r>
                    <m:f>
                      <m:fPr>
                        <m:ctrlPr>
                          <a:rPr lang="en-GB" sz="120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den>
                    </m:f>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5098698" y="7284137"/>
                <a:ext cx="610232" cy="262188"/>
              </a:xfrm>
              <a:prstGeom prst="rect">
                <a:avLst/>
              </a:prstGeom>
              <a:blipFill>
                <a:blip r:embed="rId13"/>
                <a:stretch>
                  <a:fillRect l="-14851" t="-2326" r="-2970" b="-20930"/>
                </a:stretch>
              </a:blipFill>
            </p:spPr>
            <p:txBody>
              <a:bodyPr/>
              <a:lstStyle/>
              <a:p>
                <a:r>
                  <a:rPr lang="en-US">
                    <a:noFill/>
                  </a:rPr>
                  <a:t> </a:t>
                </a:r>
              </a:p>
            </p:txBody>
          </p:sp>
        </mc:Fallback>
      </mc:AlternateContent>
      <p:sp>
        <p:nvSpPr>
          <p:cNvPr id="22" name="Slide Number Placeholder 21"/>
          <p:cNvSpPr>
            <a:spLocks noGrp="1"/>
          </p:cNvSpPr>
          <p:nvPr>
            <p:ph type="sldNum" sz="quarter" idx="12"/>
          </p:nvPr>
        </p:nvSpPr>
        <p:spPr>
          <a:xfrm>
            <a:off x="5350660" y="9564384"/>
            <a:ext cx="1543050" cy="527403"/>
          </a:xfrm>
        </p:spPr>
        <p:txBody>
          <a:bodyPr/>
          <a:lstStyle/>
          <a:p>
            <a:fld id="{9BD3B4A0-BFF9-422C-B253-48BA94BE2F5B}" type="slidenum">
              <a:rPr lang="en-GB" noProof="0" smtClean="0"/>
              <a:t>21</a:t>
            </a:fld>
            <a:endParaRPr lang="en-GB" noProof="0" dirty="0"/>
          </a:p>
        </p:txBody>
      </p:sp>
      <p:sp>
        <p:nvSpPr>
          <p:cNvPr id="46" name="TextBox 45"/>
          <p:cNvSpPr txBox="1"/>
          <p:nvPr/>
        </p:nvSpPr>
        <p:spPr>
          <a:xfrm>
            <a:off x="2233562" y="6914085"/>
            <a:ext cx="2292231" cy="276999"/>
          </a:xfrm>
          <a:prstGeom prst="rect">
            <a:avLst/>
          </a:prstGeom>
          <a:noFill/>
        </p:spPr>
        <p:txBody>
          <a:bodyPr wrap="none" rtlCol="0">
            <a:spAutoFit/>
          </a:bodyPr>
          <a:lstStyle/>
          <a:p>
            <a:pPr algn="ctr"/>
            <a:r>
              <a:rPr lang="en-GB" sz="1200" noProof="0" dirty="0"/>
              <a:t>8. Simplify the algebraic fractions.</a:t>
            </a:r>
          </a:p>
        </p:txBody>
      </p:sp>
      <p:sp>
        <p:nvSpPr>
          <p:cNvPr id="48" name="TextBox 47">
            <a:extLst>
              <a:ext uri="{FF2B5EF4-FFF2-40B4-BE49-F238E27FC236}">
                <a16:creationId xmlns:a16="http://schemas.microsoft.com/office/drawing/2014/main" id="{C3C65E48-8C3D-6849-AD77-7AD8678AD8DA}"/>
              </a:ext>
            </a:extLst>
          </p:cNvPr>
          <p:cNvSpPr txBox="1"/>
          <p:nvPr/>
        </p:nvSpPr>
        <p:spPr>
          <a:xfrm>
            <a:off x="129538" y="6962962"/>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2414722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A293FF-7BB0-3E22-5E72-35B769001027}"/>
              </a:ext>
            </a:extLst>
          </p:cNvPr>
          <p:cNvSpPr>
            <a:spLocks noGrp="1"/>
          </p:cNvSpPr>
          <p:nvPr>
            <p:ph type="sldNum" sz="quarter" idx="12"/>
          </p:nvPr>
        </p:nvSpPr>
        <p:spPr/>
        <p:txBody>
          <a:bodyPr/>
          <a:lstStyle/>
          <a:p>
            <a:fld id="{9BD3B4A0-BFF9-422C-B253-48BA94BE2F5B}" type="slidenum">
              <a:rPr lang="en-GB" noProof="0" smtClean="0"/>
              <a:t>22</a:t>
            </a:fld>
            <a:endParaRPr lang="en-GB" noProof="0" dirty="0"/>
          </a:p>
        </p:txBody>
      </p:sp>
      <p:graphicFrame>
        <p:nvGraphicFramePr>
          <p:cNvPr id="3" name="Table 2">
            <a:extLst>
              <a:ext uri="{FF2B5EF4-FFF2-40B4-BE49-F238E27FC236}">
                <a16:creationId xmlns:a16="http://schemas.microsoft.com/office/drawing/2014/main" id="{943FECA0-5B15-88AB-BB9E-CE05EE2DCDFD}"/>
              </a:ext>
            </a:extLst>
          </p:cNvPr>
          <p:cNvGraphicFramePr>
            <a:graphicFrameLocks noGrp="1"/>
          </p:cNvGraphicFramePr>
          <p:nvPr>
            <p:extLst>
              <p:ext uri="{D42A27DB-BD31-4B8C-83A1-F6EECF244321}">
                <p14:modId xmlns:p14="http://schemas.microsoft.com/office/powerpoint/2010/main" val="996091623"/>
              </p:ext>
            </p:extLst>
          </p:nvPr>
        </p:nvGraphicFramePr>
        <p:xfrm>
          <a:off x="186989" y="863131"/>
          <a:ext cx="6417011" cy="4088794"/>
        </p:xfrm>
        <a:graphic>
          <a:graphicData uri="http://schemas.openxmlformats.org/drawingml/2006/table">
            <a:tbl>
              <a:tblPr firstRow="1" bandRow="1">
                <a:tableStyleId>{5C22544A-7EE6-4342-B048-85BDC9FD1C3A}</a:tableStyleId>
              </a:tblPr>
              <a:tblGrid>
                <a:gridCol w="1016593">
                  <a:extLst>
                    <a:ext uri="{9D8B030D-6E8A-4147-A177-3AD203B41FA5}">
                      <a16:colId xmlns:a16="http://schemas.microsoft.com/office/drawing/2014/main" val="1568142362"/>
                    </a:ext>
                  </a:extLst>
                </a:gridCol>
                <a:gridCol w="2700209">
                  <a:extLst>
                    <a:ext uri="{9D8B030D-6E8A-4147-A177-3AD203B41FA5}">
                      <a16:colId xmlns:a16="http://schemas.microsoft.com/office/drawing/2014/main" val="3551711160"/>
                    </a:ext>
                  </a:extLst>
                </a:gridCol>
                <a:gridCol w="2700209">
                  <a:extLst>
                    <a:ext uri="{9D8B030D-6E8A-4147-A177-3AD203B41FA5}">
                      <a16:colId xmlns:a16="http://schemas.microsoft.com/office/drawing/2014/main" val="4095172789"/>
                    </a:ext>
                  </a:extLst>
                </a:gridCol>
              </a:tblGrid>
              <a:tr h="1314067">
                <a:tc>
                  <a:txBody>
                    <a:bodyPr/>
                    <a:lstStyle/>
                    <a:p>
                      <a:r>
                        <a:rPr lang="en-GB" sz="1100" b="1" noProof="0" dirty="0">
                          <a:solidFill>
                            <a:schemeClr val="tx1"/>
                          </a:solidFill>
                        </a:rPr>
                        <a:t>Steps</a:t>
                      </a: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96954">
                <a:tc>
                  <a:txBody>
                    <a:bodyPr/>
                    <a:lstStyle/>
                    <a:p>
                      <a:r>
                        <a:rPr lang="en-GB" sz="1100" noProof="0" dirty="0">
                          <a:solidFill>
                            <a:schemeClr val="tx1"/>
                          </a:solidFill>
                        </a:rPr>
                        <a:t>1) Find the Lowest</a:t>
                      </a:r>
                      <a:r>
                        <a:rPr lang="en-GB" sz="1100" baseline="0" noProof="0" dirty="0">
                          <a:solidFill>
                            <a:schemeClr val="tx1"/>
                          </a:solidFill>
                        </a:rPr>
                        <a:t> common denominator</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065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Multiply the numerators</a:t>
                      </a:r>
                      <a:r>
                        <a:rPr lang="en-GB" sz="1100" baseline="0" noProof="0" dirty="0">
                          <a:solidFill>
                            <a:schemeClr val="tx1"/>
                          </a:solidFill>
                        </a:rPr>
                        <a:t> and expand and collect terms..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756429">
                <a:tc>
                  <a:txBody>
                    <a:bodyPr/>
                    <a:lstStyle/>
                    <a:p>
                      <a:r>
                        <a:rPr lang="en-GB" sz="1100" noProof="0" dirty="0">
                          <a:solidFill>
                            <a:schemeClr val="tx1"/>
                          </a:solidFill>
                        </a:rPr>
                        <a:t>3) Check if any final simplification is possible </a:t>
                      </a:r>
                      <a:r>
                        <a:rPr lang="en-GB" sz="1100" baseline="0" noProof="0" dirty="0">
                          <a:solidFill>
                            <a:schemeClr val="tx1"/>
                          </a:solidFill>
                        </a:rPr>
                        <a:t>.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bl>
          </a:graphicData>
        </a:graphic>
      </p:graphicFrame>
      <p:sp>
        <p:nvSpPr>
          <p:cNvPr id="4" name="TextBox 3">
            <a:extLst>
              <a:ext uri="{FF2B5EF4-FFF2-40B4-BE49-F238E27FC236}">
                <a16:creationId xmlns:a16="http://schemas.microsoft.com/office/drawing/2014/main" id="{5CA86938-5FF9-6066-7F85-6A8BE658E290}"/>
              </a:ext>
            </a:extLst>
          </p:cNvPr>
          <p:cNvSpPr txBox="1"/>
          <p:nvPr/>
        </p:nvSpPr>
        <p:spPr>
          <a:xfrm>
            <a:off x="4564348" y="894033"/>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32 - You do…</a:t>
            </a:r>
          </a:p>
        </p:txBody>
      </p:sp>
      <p:sp>
        <p:nvSpPr>
          <p:cNvPr id="6" name="TextBox 5">
            <a:extLst>
              <a:ext uri="{FF2B5EF4-FFF2-40B4-BE49-F238E27FC236}">
                <a16:creationId xmlns:a16="http://schemas.microsoft.com/office/drawing/2014/main" id="{47A84327-3737-FA4C-FA85-D0083D9C4789}"/>
              </a:ext>
            </a:extLst>
          </p:cNvPr>
          <p:cNvSpPr txBox="1"/>
          <p:nvPr/>
        </p:nvSpPr>
        <p:spPr>
          <a:xfrm>
            <a:off x="1405999" y="887872"/>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31 - I do…</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E6A84B3-7A41-F587-F8C9-C938E47BD5ED}"/>
                  </a:ext>
                </a:extLst>
              </p:cNvPr>
              <p:cNvSpPr txBox="1"/>
              <p:nvPr/>
            </p:nvSpPr>
            <p:spPr>
              <a:xfrm>
                <a:off x="1265764" y="1114852"/>
                <a:ext cx="1442903" cy="1000082"/>
              </a:xfrm>
              <a:prstGeom prst="rect">
                <a:avLst/>
              </a:prstGeom>
              <a:noFill/>
            </p:spPr>
            <p:txBody>
              <a:bodyPr wrap="square" rtlCol="0">
                <a:spAutoFit/>
              </a:bodyPr>
              <a:lstStyle/>
              <a:p>
                <a:r>
                  <a:rPr lang="en-GB" sz="1200" noProof="0" dirty="0"/>
                  <a:t>Express the following as a single simplified fraction.</a:t>
                </a:r>
              </a:p>
              <a:p>
                <a:pPr/>
                <a14:m>
                  <m:oMathPara xmlns:m="http://schemas.openxmlformats.org/officeDocument/2006/math">
                    <m:oMathParaPr>
                      <m:jc m:val="centerGroup"/>
                    </m:oMathParaPr>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𝑥</m:t>
                          </m:r>
                          <m:r>
                            <a:rPr lang="en-GB" sz="1200" i="1" noProof="0">
                              <a:latin typeface="Cambria Math" panose="02040503050406030204" pitchFamily="18" charset="0"/>
                            </a:rPr>
                            <m:t>−3</m:t>
                          </m:r>
                        </m:num>
                        <m:den>
                          <m:r>
                            <a:rPr lang="en-GB" sz="1200" i="1" noProof="0">
                              <a:latin typeface="Cambria Math" panose="02040503050406030204" pitchFamily="18" charset="0"/>
                            </a:rPr>
                            <m:t>𝑥</m:t>
                          </m:r>
                          <m:r>
                            <a:rPr lang="en-GB" sz="1200" i="1" noProof="0">
                              <a:latin typeface="Cambria Math" panose="02040503050406030204" pitchFamily="18" charset="0"/>
                            </a:rPr>
                            <m:t>+2</m:t>
                          </m:r>
                        </m:den>
                      </m:f>
                      <m:r>
                        <a:rPr lang="en-GB" sz="1200" i="1" noProof="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𝑥</m:t>
                          </m:r>
                          <m:r>
                            <a:rPr lang="en-GB" sz="1200" i="1" noProof="0">
                              <a:latin typeface="Cambria Math" panose="02040503050406030204" pitchFamily="18" charset="0"/>
                            </a:rPr>
                            <m:t>+5</m:t>
                          </m:r>
                        </m:num>
                        <m:den>
                          <m:r>
                            <a:rPr lang="en-GB" sz="1200" i="1" noProof="0">
                              <a:latin typeface="Cambria Math" panose="02040503050406030204" pitchFamily="18" charset="0"/>
                            </a:rPr>
                            <m:t>𝑥</m:t>
                          </m:r>
                          <m:r>
                            <a:rPr lang="en-GB" sz="1200" i="1" noProof="0">
                              <a:latin typeface="Cambria Math" panose="02040503050406030204" pitchFamily="18" charset="0"/>
                            </a:rPr>
                            <m:t>−2</m:t>
                          </m:r>
                        </m:den>
                      </m:f>
                    </m:oMath>
                  </m:oMathPara>
                </a14:m>
                <a:endParaRPr lang="en-GB" sz="1200" noProof="0" dirty="0"/>
              </a:p>
            </p:txBody>
          </p:sp>
        </mc:Choice>
        <mc:Fallback xmlns="">
          <p:sp>
            <p:nvSpPr>
              <p:cNvPr id="7" name="TextBox 6">
                <a:extLst>
                  <a:ext uri="{FF2B5EF4-FFF2-40B4-BE49-F238E27FC236}">
                    <a16:creationId xmlns:a16="http://schemas.microsoft.com/office/drawing/2014/main" id="{0E6A84B3-7A41-F587-F8C9-C938E47BD5ED}"/>
                  </a:ext>
                </a:extLst>
              </p:cNvPr>
              <p:cNvSpPr txBox="1">
                <a:spLocks noRot="1" noChangeAspect="1" noMove="1" noResize="1" noEditPoints="1" noAdjustHandles="1" noChangeArrowheads="1" noChangeShapeType="1" noTextEdit="1"/>
              </p:cNvSpPr>
              <p:nvPr/>
            </p:nvSpPr>
            <p:spPr>
              <a:xfrm>
                <a:off x="1265764" y="1114852"/>
                <a:ext cx="1442903" cy="1000082"/>
              </a:xfrm>
              <a:prstGeom prst="rect">
                <a:avLst/>
              </a:prstGeom>
              <a:blipFill>
                <a:blip r:embed="rId2"/>
                <a:stretch>
                  <a:fillRect l="-424" t="-610" r="-12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7C08837-8AB4-3051-1926-6729964425B8}"/>
                  </a:ext>
                </a:extLst>
              </p:cNvPr>
              <p:cNvSpPr txBox="1"/>
              <p:nvPr/>
            </p:nvSpPr>
            <p:spPr>
              <a:xfrm>
                <a:off x="4516053" y="1164871"/>
                <a:ext cx="1570223" cy="996298"/>
              </a:xfrm>
              <a:prstGeom prst="rect">
                <a:avLst/>
              </a:prstGeom>
              <a:noFill/>
            </p:spPr>
            <p:txBody>
              <a:bodyPr wrap="square" rtlCol="0">
                <a:spAutoFit/>
              </a:bodyPr>
              <a:lstStyle/>
              <a:p>
                <a:r>
                  <a:rPr lang="en-GB" sz="1200" noProof="0" dirty="0"/>
                  <a:t>Express the following as a single simplified fraction.</a:t>
                </a:r>
              </a:p>
              <a:p>
                <a:pPr/>
                <a14:m>
                  <m:oMathPara xmlns:m="http://schemas.openxmlformats.org/officeDocument/2006/math">
                    <m:oMathParaPr>
                      <m:jc m:val="centerGroup"/>
                    </m:oMathParaPr>
                    <m:oMath xmlns:m="http://schemas.openxmlformats.org/officeDocument/2006/math">
                      <m:f>
                        <m:fPr>
                          <m:ctrlPr>
                            <a:rPr lang="en-GB" sz="1200" b="1" i="1" noProof="0" smtClean="0">
                              <a:latin typeface="Cambria Math" panose="02040503050406030204" pitchFamily="18" charset="0"/>
                            </a:rPr>
                          </m:ctrlPr>
                        </m:fPr>
                        <m:num>
                          <m:r>
                            <a:rPr lang="en-GB" sz="1200" i="1" noProof="0">
                              <a:latin typeface="Cambria Math" panose="02040503050406030204" pitchFamily="18" charset="0"/>
                            </a:rPr>
                            <m:t>𝑥</m:t>
                          </m:r>
                          <m:r>
                            <a:rPr lang="en-GB" sz="1200" i="1" noProof="0">
                              <a:latin typeface="Cambria Math" panose="02040503050406030204" pitchFamily="18" charset="0"/>
                            </a:rPr>
                            <m:t>+7</m:t>
                          </m:r>
                        </m:num>
                        <m:den>
                          <m:r>
                            <a:rPr lang="en-GB" sz="1200" i="1" noProof="0">
                              <a:latin typeface="Cambria Math" panose="02040503050406030204" pitchFamily="18" charset="0"/>
                            </a:rPr>
                            <m:t>𝑥</m:t>
                          </m:r>
                          <m:r>
                            <a:rPr lang="en-GB" sz="1200" i="1" noProof="0">
                              <a:latin typeface="Cambria Math" panose="02040503050406030204" pitchFamily="18" charset="0"/>
                            </a:rPr>
                            <m:t>−3</m:t>
                          </m:r>
                        </m:den>
                      </m:f>
                      <m:r>
                        <a:rPr lang="en-GB" sz="1200" b="1" i="1" noProof="0">
                          <a:latin typeface="Cambria Math" panose="02040503050406030204" pitchFamily="18" charset="0"/>
                        </a:rPr>
                        <m:t>+</m:t>
                      </m:r>
                      <m:f>
                        <m:fPr>
                          <m:ctrlPr>
                            <a:rPr lang="en-GB" sz="1200" b="1" i="1" noProof="0" smtClean="0">
                              <a:latin typeface="Cambria Math" panose="02040503050406030204" pitchFamily="18" charset="0"/>
                            </a:rPr>
                          </m:ctrlPr>
                        </m:fPr>
                        <m:num>
                          <m:r>
                            <a:rPr lang="en-GB" sz="1200" i="1" noProof="0">
                              <a:latin typeface="Cambria Math" panose="02040503050406030204" pitchFamily="18" charset="0"/>
                            </a:rPr>
                            <m:t>𝑥</m:t>
                          </m:r>
                          <m:r>
                            <a:rPr lang="en-GB" sz="1200" i="1" noProof="0">
                              <a:latin typeface="Cambria Math" panose="02040503050406030204" pitchFamily="18" charset="0"/>
                            </a:rPr>
                            <m:t>−2</m:t>
                          </m:r>
                        </m:num>
                        <m:den>
                          <m:r>
                            <a:rPr lang="en-GB" sz="1200" i="1" noProof="0">
                              <a:latin typeface="Cambria Math" panose="02040503050406030204" pitchFamily="18" charset="0"/>
                            </a:rPr>
                            <m:t>𝑥</m:t>
                          </m:r>
                          <m:r>
                            <a:rPr lang="en-GB" sz="1200" i="1" noProof="0">
                              <a:latin typeface="Cambria Math" panose="02040503050406030204" pitchFamily="18" charset="0"/>
                            </a:rPr>
                            <m:t>+4</m:t>
                          </m:r>
                        </m:den>
                      </m:f>
                    </m:oMath>
                  </m:oMathPara>
                </a14:m>
                <a:endParaRPr lang="en-GB" sz="1200" noProof="0" dirty="0"/>
              </a:p>
            </p:txBody>
          </p:sp>
        </mc:Choice>
        <mc:Fallback xmlns="">
          <p:sp>
            <p:nvSpPr>
              <p:cNvPr id="9" name="TextBox 8">
                <a:extLst>
                  <a:ext uri="{FF2B5EF4-FFF2-40B4-BE49-F238E27FC236}">
                    <a16:creationId xmlns:a16="http://schemas.microsoft.com/office/drawing/2014/main" id="{07C08837-8AB4-3051-1926-6729964425B8}"/>
                  </a:ext>
                </a:extLst>
              </p:cNvPr>
              <p:cNvSpPr txBox="1">
                <a:spLocks noRot="1" noChangeAspect="1" noMove="1" noResize="1" noEditPoints="1" noAdjustHandles="1" noChangeArrowheads="1" noChangeShapeType="1" noTextEdit="1"/>
              </p:cNvSpPr>
              <p:nvPr/>
            </p:nvSpPr>
            <p:spPr>
              <a:xfrm>
                <a:off x="4516053" y="1164871"/>
                <a:ext cx="1570223" cy="996298"/>
              </a:xfrm>
              <a:prstGeom prst="rect">
                <a:avLst/>
              </a:prstGeom>
              <a:blipFill>
                <a:blip r:embed="rId3"/>
                <a:stretch>
                  <a:fillRect l="-389"/>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44EA543D-8D66-E481-7D65-2E2E2B58E2FD}"/>
              </a:ext>
            </a:extLst>
          </p:cNvPr>
          <p:cNvSpPr txBox="1"/>
          <p:nvPr/>
        </p:nvSpPr>
        <p:spPr>
          <a:xfrm>
            <a:off x="-16536" y="-25400"/>
            <a:ext cx="4775666" cy="253916"/>
          </a:xfrm>
          <a:prstGeom prst="rect">
            <a:avLst/>
          </a:prstGeom>
          <a:solidFill>
            <a:srgbClr val="0070C0"/>
          </a:solidFill>
        </p:spPr>
        <p:txBody>
          <a:bodyPr wrap="none" rtlCol="0" anchor="ctr">
            <a:spAutoFit/>
          </a:bodyPr>
          <a:lstStyle/>
          <a:p>
            <a:pPr algn="r"/>
            <a:r>
              <a:rPr lang="en-GB" sz="1050" b="1" noProof="0" dirty="0">
                <a:solidFill>
                  <a:schemeClr val="bg1"/>
                </a:solidFill>
              </a:rPr>
              <a:t>DEPTH: ADDING AND SUBTRACTING INVOLVING QUADRATICS/DOUBLE BRACKETS</a:t>
            </a:r>
          </a:p>
        </p:txBody>
      </p:sp>
      <p:sp>
        <p:nvSpPr>
          <p:cNvPr id="11" name="TextBox 10">
            <a:extLst>
              <a:ext uri="{FF2B5EF4-FFF2-40B4-BE49-F238E27FC236}">
                <a16:creationId xmlns:a16="http://schemas.microsoft.com/office/drawing/2014/main" id="{390305F7-B865-F74A-56EF-9BDE29E3B854}"/>
              </a:ext>
            </a:extLst>
          </p:cNvPr>
          <p:cNvSpPr txBox="1"/>
          <p:nvPr/>
        </p:nvSpPr>
        <p:spPr>
          <a:xfrm>
            <a:off x="186989" y="393700"/>
            <a:ext cx="6484022" cy="461665"/>
          </a:xfrm>
          <a:prstGeom prst="rect">
            <a:avLst/>
          </a:prstGeom>
          <a:noFill/>
          <a:ln>
            <a:solidFill>
              <a:schemeClr val="tx1"/>
            </a:solidFill>
          </a:ln>
        </p:spPr>
        <p:txBody>
          <a:bodyPr wrap="square" rtlCol="0">
            <a:spAutoFit/>
          </a:bodyPr>
          <a:lstStyle/>
          <a:p>
            <a:r>
              <a:rPr lang="en-GB" sz="1200" noProof="0" dirty="0"/>
              <a:t>When we are adding and subtracting algebraic fractions, it is sometimes necessary to either expand double brackets or factorise quadratics. </a:t>
            </a:r>
          </a:p>
        </p:txBody>
      </p:sp>
      <p:graphicFrame>
        <p:nvGraphicFramePr>
          <p:cNvPr id="12" name="Table 11">
            <a:extLst>
              <a:ext uri="{FF2B5EF4-FFF2-40B4-BE49-F238E27FC236}">
                <a16:creationId xmlns:a16="http://schemas.microsoft.com/office/drawing/2014/main" id="{183ECC56-34D0-F880-ADEB-7B8B7F6F7D5D}"/>
              </a:ext>
            </a:extLst>
          </p:cNvPr>
          <p:cNvGraphicFramePr>
            <a:graphicFrameLocks noGrp="1"/>
          </p:cNvGraphicFramePr>
          <p:nvPr>
            <p:extLst>
              <p:ext uri="{D42A27DB-BD31-4B8C-83A1-F6EECF244321}">
                <p14:modId xmlns:p14="http://schemas.microsoft.com/office/powerpoint/2010/main" val="2299613535"/>
              </p:ext>
            </p:extLst>
          </p:nvPr>
        </p:nvGraphicFramePr>
        <p:xfrm>
          <a:off x="186989" y="5091514"/>
          <a:ext cx="6399214" cy="4440026"/>
        </p:xfrm>
        <a:graphic>
          <a:graphicData uri="http://schemas.openxmlformats.org/drawingml/2006/table">
            <a:tbl>
              <a:tblPr firstRow="1" bandRow="1">
                <a:tableStyleId>{5C22544A-7EE6-4342-B048-85BDC9FD1C3A}</a:tableStyleId>
              </a:tblPr>
              <a:tblGrid>
                <a:gridCol w="1019511">
                  <a:extLst>
                    <a:ext uri="{9D8B030D-6E8A-4147-A177-3AD203B41FA5}">
                      <a16:colId xmlns:a16="http://schemas.microsoft.com/office/drawing/2014/main" val="1568142362"/>
                    </a:ext>
                  </a:extLst>
                </a:gridCol>
                <a:gridCol w="2827062">
                  <a:extLst>
                    <a:ext uri="{9D8B030D-6E8A-4147-A177-3AD203B41FA5}">
                      <a16:colId xmlns:a16="http://schemas.microsoft.com/office/drawing/2014/main" val="3551711160"/>
                    </a:ext>
                  </a:extLst>
                </a:gridCol>
                <a:gridCol w="2552641">
                  <a:extLst>
                    <a:ext uri="{9D8B030D-6E8A-4147-A177-3AD203B41FA5}">
                      <a16:colId xmlns:a16="http://schemas.microsoft.com/office/drawing/2014/main" val="4095172789"/>
                    </a:ext>
                  </a:extLst>
                </a:gridCol>
              </a:tblGrid>
              <a:tr h="372472">
                <a:tc>
                  <a:txBody>
                    <a:bodyPr/>
                    <a:lstStyle/>
                    <a:p>
                      <a:r>
                        <a:rPr lang="en-GB" sz="1100" b="1" noProof="0" dirty="0">
                          <a:solidFill>
                            <a:schemeClr val="tx1"/>
                          </a:solidFill>
                        </a:rPr>
                        <a:t>Steps</a:t>
                      </a: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1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95506">
                <a:tc>
                  <a:txBody>
                    <a:bodyPr/>
                    <a:lstStyle/>
                    <a:p>
                      <a:r>
                        <a:rPr lang="en-GB" sz="1100" noProof="0" dirty="0">
                          <a:solidFill>
                            <a:schemeClr val="tx1"/>
                          </a:solidFill>
                        </a:rPr>
                        <a:t>1) Find the Lowest</a:t>
                      </a:r>
                      <a:r>
                        <a:rPr lang="en-GB" sz="1100" baseline="0" noProof="0" dirty="0">
                          <a:solidFill>
                            <a:schemeClr val="tx1"/>
                          </a:solidFill>
                        </a:rPr>
                        <a:t> common denominator</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398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noProof="0" dirty="0">
                          <a:solidFill>
                            <a:schemeClr val="tx1"/>
                          </a:solidFill>
                        </a:rPr>
                        <a:t>2) Multiply the numerators</a:t>
                      </a:r>
                      <a:r>
                        <a:rPr lang="en-GB" sz="1100" baseline="0" noProof="0" dirty="0">
                          <a:solidFill>
                            <a:schemeClr val="tx1"/>
                          </a:solidFill>
                        </a:rPr>
                        <a:t> and expand and collect terms..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1039800">
                <a:tc>
                  <a:txBody>
                    <a:bodyPr/>
                    <a:lstStyle/>
                    <a:p>
                      <a:r>
                        <a:rPr lang="en-GB" sz="1100" noProof="0" dirty="0">
                          <a:solidFill>
                            <a:schemeClr val="tx1"/>
                          </a:solidFill>
                        </a:rPr>
                        <a:t>3) Check if any final simplification is possible </a:t>
                      </a:r>
                      <a:r>
                        <a:rPr lang="en-GB" sz="1100" baseline="0" noProof="0" dirty="0">
                          <a:solidFill>
                            <a:schemeClr val="tx1"/>
                          </a:solidFill>
                        </a:rPr>
                        <a:t>.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bl>
          </a:graphicData>
        </a:graphic>
      </p:graphicFrame>
      <p:sp>
        <p:nvSpPr>
          <p:cNvPr id="13" name="TextBox 12">
            <a:extLst>
              <a:ext uri="{FF2B5EF4-FFF2-40B4-BE49-F238E27FC236}">
                <a16:creationId xmlns:a16="http://schemas.microsoft.com/office/drawing/2014/main" id="{20CC889E-D1D6-5033-4348-E0BE6226C796}"/>
              </a:ext>
            </a:extLst>
          </p:cNvPr>
          <p:cNvSpPr txBox="1"/>
          <p:nvPr/>
        </p:nvSpPr>
        <p:spPr>
          <a:xfrm>
            <a:off x="4312109" y="5111135"/>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34 - You do…</a:t>
            </a:r>
          </a:p>
        </p:txBody>
      </p:sp>
      <p:sp>
        <p:nvSpPr>
          <p:cNvPr id="15" name="TextBox 14">
            <a:extLst>
              <a:ext uri="{FF2B5EF4-FFF2-40B4-BE49-F238E27FC236}">
                <a16:creationId xmlns:a16="http://schemas.microsoft.com/office/drawing/2014/main" id="{4E9062C4-C1F1-A77B-D01F-69C076AB1B0B}"/>
              </a:ext>
            </a:extLst>
          </p:cNvPr>
          <p:cNvSpPr txBox="1"/>
          <p:nvPr/>
        </p:nvSpPr>
        <p:spPr>
          <a:xfrm>
            <a:off x="1677774" y="5111136"/>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33 - I do…</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D62BAB3-5A1B-6D44-FF9A-41FCE4D22E88}"/>
                  </a:ext>
                </a:extLst>
              </p:cNvPr>
              <p:cNvSpPr txBox="1"/>
              <p:nvPr/>
            </p:nvSpPr>
            <p:spPr>
              <a:xfrm>
                <a:off x="1593803" y="5388134"/>
                <a:ext cx="2229727" cy="811632"/>
              </a:xfrm>
              <a:prstGeom prst="rect">
                <a:avLst/>
              </a:prstGeom>
              <a:noFill/>
            </p:spPr>
            <p:txBody>
              <a:bodyPr wrap="square" rtlCol="0">
                <a:spAutoFit/>
              </a:bodyPr>
              <a:lstStyle/>
              <a:p>
                <a:r>
                  <a:rPr lang="en-GB" sz="1200" noProof="0" dirty="0"/>
                  <a:t>Express the following a single simplified fraction.</a:t>
                </a:r>
              </a:p>
              <a:p>
                <a:pPr/>
                <a14:m>
                  <m:oMathPara xmlns:m="http://schemas.openxmlformats.org/officeDocument/2006/math">
                    <m:oMathParaPr>
                      <m:jc m:val="centerGroup"/>
                    </m:oMathParaPr>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10</m:t>
                          </m:r>
                          <m:r>
                            <a:rPr lang="en-GB" sz="1200" i="1" noProof="0">
                              <a:latin typeface="Cambria Math" panose="02040503050406030204" pitchFamily="18" charset="0"/>
                            </a:rPr>
                            <m:t>𝑥</m:t>
                          </m:r>
                          <m:r>
                            <a:rPr lang="en-GB" sz="1200" i="1" noProof="0">
                              <a:latin typeface="Cambria Math" panose="02040503050406030204" pitchFamily="18" charset="0"/>
                            </a:rPr>
                            <m:t>+9</m:t>
                          </m:r>
                        </m:num>
                        <m:den>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r>
                            <a:rPr lang="en-GB" sz="1200" i="1" noProof="0">
                              <a:latin typeface="Cambria Math" panose="02040503050406030204" pitchFamily="18" charset="0"/>
                            </a:rPr>
                            <m:t>+6</m:t>
                          </m:r>
                          <m:r>
                            <a:rPr lang="en-GB" sz="1200" i="1" noProof="0">
                              <a:latin typeface="Cambria Math" panose="02040503050406030204" pitchFamily="18" charset="0"/>
                            </a:rPr>
                            <m:t>𝑥</m:t>
                          </m:r>
                          <m:r>
                            <a:rPr lang="en-GB" sz="1200" i="1" noProof="0">
                              <a:latin typeface="Cambria Math" panose="02040503050406030204" pitchFamily="18" charset="0"/>
                            </a:rPr>
                            <m:t>+5</m:t>
                          </m:r>
                        </m:den>
                      </m:f>
                      <m:r>
                        <a:rPr lang="en-GB" sz="1200" i="1" noProof="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3</m:t>
                          </m:r>
                        </m:num>
                        <m:den>
                          <m:r>
                            <a:rPr lang="en-GB" sz="1200" i="1" noProof="0">
                              <a:latin typeface="Cambria Math" panose="02040503050406030204" pitchFamily="18" charset="0"/>
                            </a:rPr>
                            <m:t>𝑥</m:t>
                          </m:r>
                          <m:r>
                            <a:rPr lang="en-GB" sz="1200" i="1" noProof="0">
                              <a:latin typeface="Cambria Math" panose="02040503050406030204" pitchFamily="18" charset="0"/>
                            </a:rPr>
                            <m:t>+5</m:t>
                          </m:r>
                        </m:den>
                      </m:f>
                    </m:oMath>
                  </m:oMathPara>
                </a14:m>
                <a:endParaRPr lang="en-GB" sz="1200" noProof="0" dirty="0"/>
              </a:p>
            </p:txBody>
          </p:sp>
        </mc:Choice>
        <mc:Fallback xmlns="">
          <p:sp>
            <p:nvSpPr>
              <p:cNvPr id="16" name="TextBox 15">
                <a:extLst>
                  <a:ext uri="{FF2B5EF4-FFF2-40B4-BE49-F238E27FC236}">
                    <a16:creationId xmlns:a16="http://schemas.microsoft.com/office/drawing/2014/main" id="{CD62BAB3-5A1B-6D44-FF9A-41FCE4D22E88}"/>
                  </a:ext>
                </a:extLst>
              </p:cNvPr>
              <p:cNvSpPr txBox="1">
                <a:spLocks noRot="1" noChangeAspect="1" noMove="1" noResize="1" noEditPoints="1" noAdjustHandles="1" noChangeArrowheads="1" noChangeShapeType="1" noTextEdit="1"/>
              </p:cNvSpPr>
              <p:nvPr/>
            </p:nvSpPr>
            <p:spPr>
              <a:xfrm>
                <a:off x="1593803" y="5388134"/>
                <a:ext cx="2229727" cy="811632"/>
              </a:xfrm>
              <a:prstGeom prst="rect">
                <a:avLst/>
              </a:prstGeom>
              <a:blipFill>
                <a:blip r:embed="rId4"/>
                <a:stretch>
                  <a:fillRect t="-7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44A76F6-0297-F7BA-8AA5-34CD954605E5}"/>
                  </a:ext>
                </a:extLst>
              </p:cNvPr>
              <p:cNvSpPr txBox="1"/>
              <p:nvPr/>
            </p:nvSpPr>
            <p:spPr>
              <a:xfrm>
                <a:off x="4346808" y="5388134"/>
                <a:ext cx="1935013" cy="811632"/>
              </a:xfrm>
              <a:prstGeom prst="rect">
                <a:avLst/>
              </a:prstGeom>
              <a:noFill/>
            </p:spPr>
            <p:txBody>
              <a:bodyPr wrap="square" rtlCol="0">
                <a:spAutoFit/>
              </a:bodyPr>
              <a:lstStyle/>
              <a:p>
                <a:r>
                  <a:rPr lang="en-GB" sz="1200" noProof="0" dirty="0"/>
                  <a:t>Express the following a single simplified fraction.</a:t>
                </a:r>
              </a:p>
              <a:p>
                <a:pPr/>
                <a14:m>
                  <m:oMathPara xmlns:m="http://schemas.openxmlformats.org/officeDocument/2006/math">
                    <m:oMathParaPr>
                      <m:jc m:val="centerGroup"/>
                    </m:oMathParaPr>
                    <m:oMath xmlns:m="http://schemas.openxmlformats.org/officeDocument/2006/math">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4</m:t>
                          </m:r>
                          <m:r>
                            <a:rPr lang="en-GB" sz="1200" i="1" noProof="0">
                              <a:latin typeface="Cambria Math" panose="02040503050406030204" pitchFamily="18" charset="0"/>
                            </a:rPr>
                            <m:t>𝑥</m:t>
                          </m:r>
                          <m:r>
                            <a:rPr lang="en-GB" sz="1200" i="1" noProof="0">
                              <a:latin typeface="Cambria Math" panose="02040503050406030204" pitchFamily="18" charset="0"/>
                            </a:rPr>
                            <m:t>+1</m:t>
                          </m:r>
                        </m:num>
                        <m:den>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r>
                            <a:rPr lang="en-GB" sz="1200" i="1" noProof="0">
                              <a:latin typeface="Cambria Math" panose="02040503050406030204" pitchFamily="18" charset="0"/>
                            </a:rPr>
                            <m:t>−2</m:t>
                          </m:r>
                          <m:r>
                            <a:rPr lang="en-GB" sz="1200" i="1" noProof="0">
                              <a:latin typeface="Cambria Math" panose="02040503050406030204" pitchFamily="18" charset="0"/>
                            </a:rPr>
                            <m:t>𝑥</m:t>
                          </m:r>
                          <m:r>
                            <a:rPr lang="en-GB" sz="1200" i="1" noProof="0">
                              <a:latin typeface="Cambria Math" panose="02040503050406030204" pitchFamily="18" charset="0"/>
                            </a:rPr>
                            <m:t>−15</m:t>
                          </m:r>
                        </m:den>
                      </m:f>
                      <m:r>
                        <a:rPr lang="en-GB" sz="1200" i="1" noProof="0">
                          <a:latin typeface="Cambria Math" panose="02040503050406030204" pitchFamily="18" charset="0"/>
                        </a:rPr>
                        <m:t>−</m:t>
                      </m:r>
                      <m:f>
                        <m:fPr>
                          <m:ctrlPr>
                            <a:rPr lang="en-GB" sz="1200" i="1" noProof="0" smtClean="0">
                              <a:latin typeface="Cambria Math" panose="02040503050406030204" pitchFamily="18" charset="0"/>
                            </a:rPr>
                          </m:ctrlPr>
                        </m:fPr>
                        <m:num>
                          <m:r>
                            <a:rPr lang="en-GB" sz="1200" i="1" noProof="0">
                              <a:latin typeface="Cambria Math" panose="02040503050406030204" pitchFamily="18" charset="0"/>
                            </a:rPr>
                            <m:t>3</m:t>
                          </m:r>
                        </m:num>
                        <m:den>
                          <m:r>
                            <a:rPr lang="en-GB" sz="1200" i="1" noProof="0">
                              <a:latin typeface="Cambria Math" panose="02040503050406030204" pitchFamily="18" charset="0"/>
                            </a:rPr>
                            <m:t>𝑥</m:t>
                          </m:r>
                          <m:r>
                            <a:rPr lang="en-GB" sz="1200" i="1" noProof="0">
                              <a:latin typeface="Cambria Math" panose="02040503050406030204" pitchFamily="18" charset="0"/>
                            </a:rPr>
                            <m:t>+3</m:t>
                          </m:r>
                        </m:den>
                      </m:f>
                    </m:oMath>
                  </m:oMathPara>
                </a14:m>
                <a:endParaRPr lang="en-GB" sz="1200" noProof="0" dirty="0"/>
              </a:p>
            </p:txBody>
          </p:sp>
        </mc:Choice>
        <mc:Fallback xmlns="">
          <p:sp>
            <p:nvSpPr>
              <p:cNvPr id="18" name="TextBox 17">
                <a:extLst>
                  <a:ext uri="{FF2B5EF4-FFF2-40B4-BE49-F238E27FC236}">
                    <a16:creationId xmlns:a16="http://schemas.microsoft.com/office/drawing/2014/main" id="{A44A76F6-0297-F7BA-8AA5-34CD954605E5}"/>
                  </a:ext>
                </a:extLst>
              </p:cNvPr>
              <p:cNvSpPr txBox="1">
                <a:spLocks noRot="1" noChangeAspect="1" noMove="1" noResize="1" noEditPoints="1" noAdjustHandles="1" noChangeArrowheads="1" noChangeShapeType="1" noTextEdit="1"/>
              </p:cNvSpPr>
              <p:nvPr/>
            </p:nvSpPr>
            <p:spPr>
              <a:xfrm>
                <a:off x="4346808" y="5388134"/>
                <a:ext cx="1935013" cy="811632"/>
              </a:xfrm>
              <a:prstGeom prst="rect">
                <a:avLst/>
              </a:prstGeom>
              <a:blipFill>
                <a:blip r:embed="rId5"/>
                <a:stretch>
                  <a:fillRect t="-752"/>
                </a:stretch>
              </a:blipFill>
            </p:spPr>
            <p:txBody>
              <a:bodyPr/>
              <a:lstStyle/>
              <a:p>
                <a:r>
                  <a:rPr lang="en-US">
                    <a:noFill/>
                  </a:rPr>
                  <a:t> </a:t>
                </a:r>
              </a:p>
            </p:txBody>
          </p:sp>
        </mc:Fallback>
      </mc:AlternateContent>
    </p:spTree>
    <p:extLst>
      <p:ext uri="{BB962C8B-B14F-4D97-AF65-F5344CB8AC3E}">
        <p14:creationId xmlns:p14="http://schemas.microsoft.com/office/powerpoint/2010/main" val="22907346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D30FA-786E-FF2E-7FC5-44D46660B24C}"/>
              </a:ext>
            </a:extLst>
          </p:cNvPr>
          <p:cNvSpPr>
            <a:spLocks noGrp="1"/>
          </p:cNvSpPr>
          <p:nvPr>
            <p:ph type="sldNum" sz="quarter" idx="12"/>
          </p:nvPr>
        </p:nvSpPr>
        <p:spPr/>
        <p:txBody>
          <a:bodyPr/>
          <a:lstStyle/>
          <a:p>
            <a:fld id="{9BD3B4A0-BFF9-422C-B253-48BA94BE2F5B}" type="slidenum">
              <a:rPr lang="en-GB" noProof="0" smtClean="0"/>
              <a:t>23</a:t>
            </a:fld>
            <a:endParaRPr lang="en-GB" noProof="0"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B2B182E9-6C31-6897-795A-A4268CFB7B28}"/>
                  </a:ext>
                </a:extLst>
              </p:cNvPr>
              <p:cNvGraphicFramePr>
                <a:graphicFrameLocks noGrp="1"/>
              </p:cNvGraphicFramePr>
              <p:nvPr>
                <p:extLst>
                  <p:ext uri="{D42A27DB-BD31-4B8C-83A1-F6EECF244321}">
                    <p14:modId xmlns:p14="http://schemas.microsoft.com/office/powerpoint/2010/main" val="4291544963"/>
                  </p:ext>
                </p:extLst>
              </p:nvPr>
            </p:nvGraphicFramePr>
            <p:xfrm>
              <a:off x="114300" y="515526"/>
              <a:ext cx="6527799" cy="8768174"/>
            </p:xfrm>
            <a:graphic>
              <a:graphicData uri="http://schemas.openxmlformats.org/drawingml/2006/table">
                <a:tbl>
                  <a:tblPr firstRow="1" firstCol="1" bandRow="1"/>
                  <a:tblGrid>
                    <a:gridCol w="262711">
                      <a:extLst>
                        <a:ext uri="{9D8B030D-6E8A-4147-A177-3AD203B41FA5}">
                          <a16:colId xmlns:a16="http://schemas.microsoft.com/office/drawing/2014/main" val="1937511295"/>
                        </a:ext>
                      </a:extLst>
                    </a:gridCol>
                    <a:gridCol w="3001188">
                      <a:extLst>
                        <a:ext uri="{9D8B030D-6E8A-4147-A177-3AD203B41FA5}">
                          <a16:colId xmlns:a16="http://schemas.microsoft.com/office/drawing/2014/main" val="322496139"/>
                        </a:ext>
                      </a:extLst>
                    </a:gridCol>
                    <a:gridCol w="272556">
                      <a:extLst>
                        <a:ext uri="{9D8B030D-6E8A-4147-A177-3AD203B41FA5}">
                          <a16:colId xmlns:a16="http://schemas.microsoft.com/office/drawing/2014/main" val="3964146266"/>
                        </a:ext>
                      </a:extLst>
                    </a:gridCol>
                    <a:gridCol w="2991344">
                      <a:extLst>
                        <a:ext uri="{9D8B030D-6E8A-4147-A177-3AD203B41FA5}">
                          <a16:colId xmlns:a16="http://schemas.microsoft.com/office/drawing/2014/main" val="688376738"/>
                        </a:ext>
                      </a:extLst>
                    </a:gridCol>
                  </a:tblGrid>
                  <a:tr h="3110072">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a)</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−7</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−1</m:t>
                                    </m:r>
                                  </m:den>
                                </m:f>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3</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b)</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+1</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den>
                                </m:f>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3</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+4</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1479174"/>
                      </a:ext>
                    </a:extLst>
                  </a:tr>
                  <a:tr h="2878715">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c)</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4</m:t>
                                    </m:r>
                                  </m:num>
                                  <m:den>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+1</m:t>
                                    </m:r>
                                  </m:den>
                                </m:f>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+1</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d)</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+1</m:t>
                                    </m:r>
                                  </m:num>
                                  <m:den>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−6</m:t>
                                    </m:r>
                                  </m:den>
                                </m:f>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1000" i="1" noProof="0"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2</m:t>
                                    </m:r>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𝑥</m:t>
                                    </m:r>
                                  </m:num>
                                  <m:den>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−3</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4791554"/>
                      </a:ext>
                    </a:extLst>
                  </a:tr>
                  <a:tr h="2779387">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e)</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8</m:t>
                                    </m:r>
                                  </m:num>
                                  <m:den>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+4</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den>
                                </m:f>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5</m:t>
                                    </m:r>
                                  </m:num>
                                  <m:den>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−4</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GB" sz="1000" b="1" noProof="0" dirty="0">
                              <a:effectLst/>
                              <a:latin typeface="Calibri" panose="020F0502020204030204" pitchFamily="34" charset="0"/>
                              <a:ea typeface="Calibri" panose="020F0502020204030204" pitchFamily="34" charset="0"/>
                              <a:cs typeface="Times New Roman" panose="02020603050405020304" pitchFamily="18" charset="0"/>
                            </a:rPr>
                            <a:t>f)</a:t>
                          </a:r>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f>
                                  <m:f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5</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num>
                                  <m:den>
                                    <m:sSup>
                                      <m:sSupPr>
                                        <m:ctrlPr>
                                          <a:rPr lang="en-GB" sz="1000" i="1" noProof="0"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e>
                                      <m: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2</m:t>
                                        </m:r>
                                      </m:sup>
                                    </m:sSup>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+5</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𝑥</m:t>
                                    </m:r>
                                    <m:r>
                                      <a:rPr lang="en-GB" sz="1000" i="1" noProof="0">
                                        <a:effectLst/>
                                        <a:latin typeface="Cambria Math" panose="02040503050406030204" pitchFamily="18" charset="0"/>
                                        <a:ea typeface="Calibri" panose="020F0502020204030204" pitchFamily="34" charset="0"/>
                                        <a:cs typeface="Times New Roman" panose="02020603050405020304" pitchFamily="18" charset="0"/>
                                      </a:rPr>
                                      <m:t>+6</m:t>
                                    </m:r>
                                  </m:den>
                                </m:f>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1000" i="1" noProof="0"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7</m:t>
                                    </m:r>
                                  </m:num>
                                  <m:den>
                                    <m:sSup>
                                      <m:sSupPr>
                                        <m:ctrlPr>
                                          <a:rPr lang="en-GB" sz="1000" i="1"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𝑥</m:t>
                                    </m:r>
                                    <m:r>
                                      <a:rPr lang="en-GB" sz="1000" i="1" noProof="0">
                                        <a:effectLst/>
                                        <a:latin typeface="Cambria Math" panose="02040503050406030204" pitchFamily="18" charset="0"/>
                                        <a:ea typeface="Times New Roman" panose="02020603050405020304" pitchFamily="18" charset="0"/>
                                        <a:cs typeface="Times New Roman" panose="02020603050405020304" pitchFamily="18" charset="0"/>
                                      </a:rPr>
                                      <m:t>−6</m:t>
                                    </m:r>
                                  </m:den>
                                </m:f>
                              </m:oMath>
                            </m:oMathPara>
                          </a14:m>
                          <a:endParaRPr lang="en-GB" sz="1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3271540"/>
                      </a:ext>
                    </a:extLst>
                  </a:tr>
                </a:tbl>
              </a:graphicData>
            </a:graphic>
          </p:graphicFrame>
        </mc:Choice>
        <mc:Fallback xmlns="">
          <p:graphicFrame>
            <p:nvGraphicFramePr>
              <p:cNvPr id="5" name="Table 4">
                <a:extLst>
                  <a:ext uri="{FF2B5EF4-FFF2-40B4-BE49-F238E27FC236}">
                    <a16:creationId xmlns:a16="http://schemas.microsoft.com/office/drawing/2014/main" id="{B2B182E9-6C31-6897-795A-A4268CFB7B28}"/>
                  </a:ext>
                </a:extLst>
              </p:cNvPr>
              <p:cNvGraphicFramePr>
                <a:graphicFrameLocks noGrp="1"/>
              </p:cNvGraphicFramePr>
              <p:nvPr>
                <p:extLst>
                  <p:ext uri="{D42A27DB-BD31-4B8C-83A1-F6EECF244321}">
                    <p14:modId xmlns:p14="http://schemas.microsoft.com/office/powerpoint/2010/main" val="4291544963"/>
                  </p:ext>
                </p:extLst>
              </p:nvPr>
            </p:nvGraphicFramePr>
            <p:xfrm>
              <a:off x="114300" y="515526"/>
              <a:ext cx="6527799" cy="8768174"/>
            </p:xfrm>
            <a:graphic>
              <a:graphicData uri="http://schemas.openxmlformats.org/drawingml/2006/table">
                <a:tbl>
                  <a:tblPr firstRow="1" firstCol="1" bandRow="1"/>
                  <a:tblGrid>
                    <a:gridCol w="262711">
                      <a:extLst>
                        <a:ext uri="{9D8B030D-6E8A-4147-A177-3AD203B41FA5}">
                          <a16:colId xmlns:a16="http://schemas.microsoft.com/office/drawing/2014/main" val="1937511295"/>
                        </a:ext>
                      </a:extLst>
                    </a:gridCol>
                    <a:gridCol w="3001188">
                      <a:extLst>
                        <a:ext uri="{9D8B030D-6E8A-4147-A177-3AD203B41FA5}">
                          <a16:colId xmlns:a16="http://schemas.microsoft.com/office/drawing/2014/main" val="322496139"/>
                        </a:ext>
                      </a:extLst>
                    </a:gridCol>
                    <a:gridCol w="272556">
                      <a:extLst>
                        <a:ext uri="{9D8B030D-6E8A-4147-A177-3AD203B41FA5}">
                          <a16:colId xmlns:a16="http://schemas.microsoft.com/office/drawing/2014/main" val="3964146266"/>
                        </a:ext>
                      </a:extLst>
                    </a:gridCol>
                    <a:gridCol w="2991344">
                      <a:extLst>
                        <a:ext uri="{9D8B030D-6E8A-4147-A177-3AD203B41FA5}">
                          <a16:colId xmlns:a16="http://schemas.microsoft.com/office/drawing/2014/main" val="688376738"/>
                        </a:ext>
                      </a:extLst>
                    </a:gridCol>
                  </a:tblGrid>
                  <a:tr h="3110072">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a)</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25" t="-980" r="-109128" b="-182549"/>
                          </a:stretch>
                        </a:blipFill>
                      </a:tcPr>
                    </a:tc>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b)</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8534" t="-980" r="-407" b="-182549"/>
                          </a:stretch>
                        </a:blipFill>
                      </a:tcPr>
                    </a:tc>
                    <a:extLst>
                      <a:ext uri="{0D108BD9-81ED-4DB2-BD59-A6C34878D82A}">
                        <a16:rowId xmlns:a16="http://schemas.microsoft.com/office/drawing/2014/main" val="1141479174"/>
                      </a:ext>
                    </a:extLst>
                  </a:tr>
                  <a:tr h="2878715">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c)</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25" t="-108879" r="-109128" b="-96829"/>
                          </a:stretch>
                        </a:blipFill>
                      </a:tcPr>
                    </a:tc>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d)</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8534" t="-108879" r="-407" b="-96829"/>
                          </a:stretch>
                        </a:blipFill>
                      </a:tcPr>
                    </a:tc>
                    <a:extLst>
                      <a:ext uri="{0D108BD9-81ED-4DB2-BD59-A6C34878D82A}">
                        <a16:rowId xmlns:a16="http://schemas.microsoft.com/office/drawing/2014/main" val="2654791554"/>
                      </a:ext>
                    </a:extLst>
                  </a:tr>
                  <a:tr h="2779387">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e)</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25" t="-216667" r="-109128" b="-439"/>
                          </a:stretch>
                        </a:blipFill>
                      </a:tcPr>
                    </a:tc>
                    <a:tc>
                      <a:txBody>
                        <a:bodyPr/>
                        <a:lstStyle/>
                        <a:p>
                          <a:pPr>
                            <a:lnSpc>
                              <a:spcPct val="107000"/>
                            </a:lnSpc>
                            <a:spcAft>
                              <a:spcPts val="800"/>
                            </a:spcAft>
                            <a:buNone/>
                          </a:pPr>
                          <a:r>
                            <a:rPr lang="en-GB" sz="1000" b="1" noProof="0">
                              <a:effectLst/>
                              <a:latin typeface="Calibri" panose="020F0502020204030204" pitchFamily="34" charset="0"/>
                              <a:ea typeface="Calibri" panose="020F0502020204030204" pitchFamily="34" charset="0"/>
                              <a:cs typeface="Times New Roman" panose="02020603050405020304" pitchFamily="18" charset="0"/>
                            </a:rPr>
                            <a:t>f)</a:t>
                          </a:r>
                          <a:endParaRPr lang="en-GB" sz="1000" noProof="0">
                            <a:effectLst/>
                            <a:latin typeface="Calibri" panose="020F0502020204030204" pitchFamily="34" charset="0"/>
                            <a:ea typeface="Calibri" panose="020F0502020204030204" pitchFamily="34" charset="0"/>
                            <a:cs typeface="Times New Roman" panose="02020603050405020304" pitchFamily="18" charset="0"/>
                          </a:endParaRPr>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209" marR="60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8534" t="-216667" r="-407" b="-439"/>
                          </a:stretch>
                        </a:blipFill>
                      </a:tcPr>
                    </a:tc>
                    <a:extLst>
                      <a:ext uri="{0D108BD9-81ED-4DB2-BD59-A6C34878D82A}">
                        <a16:rowId xmlns:a16="http://schemas.microsoft.com/office/drawing/2014/main" val="1893271540"/>
                      </a:ext>
                    </a:extLst>
                  </a:tr>
                </a:tbl>
              </a:graphicData>
            </a:graphic>
          </p:graphicFrame>
        </mc:Fallback>
      </mc:AlternateContent>
      <p:sp>
        <p:nvSpPr>
          <p:cNvPr id="6" name="Rectangle 2">
            <a:extLst>
              <a:ext uri="{FF2B5EF4-FFF2-40B4-BE49-F238E27FC236}">
                <a16:creationId xmlns:a16="http://schemas.microsoft.com/office/drawing/2014/main" id="{7E6BE284-2532-733E-ADD7-B6A26F765A16}"/>
              </a:ext>
            </a:extLst>
          </p:cNvPr>
          <p:cNvSpPr>
            <a:spLocks noChangeArrowheads="1"/>
          </p:cNvSpPr>
          <p:nvPr/>
        </p:nvSpPr>
        <p:spPr bwMode="auto">
          <a:xfrm>
            <a:off x="56121" y="253916"/>
            <a:ext cx="378180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1" i="0" u="none" strike="noStrike" cap="none" normalizeH="0" baseline="0" noProof="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Question 9. </a:t>
            </a:r>
            <a:r>
              <a:rPr kumimoji="0" lang="en-GB" sz="1100" b="0" i="0" u="none" strike="noStrike" cap="none" normalizeH="0" baseline="0" noProof="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Write as a single fraction, simplify where possible. </a:t>
            </a: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681CDC46-A7F6-50E5-5A79-6F73A61873F3}"/>
              </a:ext>
            </a:extLst>
          </p:cNvPr>
          <p:cNvSpPr txBox="1"/>
          <p:nvPr/>
        </p:nvSpPr>
        <p:spPr>
          <a:xfrm>
            <a:off x="0" y="0"/>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1729915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1D132-C138-ABE5-9F72-5301B1B56FD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39FD48-E91B-EAE8-99DB-920EAC0FB1AF}"/>
              </a:ext>
            </a:extLst>
          </p:cNvPr>
          <p:cNvSpPr>
            <a:spLocks noGrp="1"/>
          </p:cNvSpPr>
          <p:nvPr>
            <p:ph type="sldNum" sz="quarter" idx="12"/>
          </p:nvPr>
        </p:nvSpPr>
        <p:spPr/>
        <p:txBody>
          <a:bodyPr/>
          <a:lstStyle/>
          <a:p>
            <a:fld id="{9BD3B4A0-BFF9-422C-B253-48BA94BE2F5B}" type="slidenum">
              <a:rPr lang="en-GB" noProof="0" smtClean="0"/>
              <a:t>24</a:t>
            </a:fld>
            <a:endParaRPr lang="en-GB" noProof="0" dirty="0"/>
          </a:p>
        </p:txBody>
      </p:sp>
      <p:sp>
        <p:nvSpPr>
          <p:cNvPr id="3" name="TextBox 2">
            <a:extLst>
              <a:ext uri="{FF2B5EF4-FFF2-40B4-BE49-F238E27FC236}">
                <a16:creationId xmlns:a16="http://schemas.microsoft.com/office/drawing/2014/main" id="{6FF9CD61-9D93-CAB7-1FD5-82D66C87C830}"/>
              </a:ext>
            </a:extLst>
          </p:cNvPr>
          <p:cNvSpPr txBox="1"/>
          <p:nvPr/>
        </p:nvSpPr>
        <p:spPr>
          <a:xfrm>
            <a:off x="0" y="-2540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5" name="Picture 4" descr="A math equations on a white background&#10;&#10;AI-generated content may be incorrect.">
            <a:extLst>
              <a:ext uri="{FF2B5EF4-FFF2-40B4-BE49-F238E27FC236}">
                <a16:creationId xmlns:a16="http://schemas.microsoft.com/office/drawing/2014/main" id="{A490D116-E1B2-D39C-935C-30C37813F8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00" y="251599"/>
            <a:ext cx="6801200" cy="2108308"/>
          </a:xfrm>
          <a:prstGeom prst="rect">
            <a:avLst/>
          </a:prstGeom>
        </p:spPr>
      </p:pic>
      <p:pic>
        <p:nvPicPr>
          <p:cNvPr id="7" name="Picture 6" descr="A white background with black text&#10;&#10;AI-generated content may be incorrect.">
            <a:extLst>
              <a:ext uri="{FF2B5EF4-FFF2-40B4-BE49-F238E27FC236}">
                <a16:creationId xmlns:a16="http://schemas.microsoft.com/office/drawing/2014/main" id="{34D59341-EA60-BCF0-8767-1FFAFD326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15507"/>
            <a:ext cx="6858000" cy="2873287"/>
          </a:xfrm>
          <a:prstGeom prst="rect">
            <a:avLst/>
          </a:prstGeom>
        </p:spPr>
      </p:pic>
      <p:pic>
        <p:nvPicPr>
          <p:cNvPr id="9" name="Picture 8" descr="A white background with black text&#10;&#10;AI-generated content may be incorrect.">
            <a:extLst>
              <a:ext uri="{FF2B5EF4-FFF2-40B4-BE49-F238E27FC236}">
                <a16:creationId xmlns:a16="http://schemas.microsoft.com/office/drawing/2014/main" id="{3669DD90-FCA4-CA4D-4413-4CBE4F19BD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53" y="5944394"/>
            <a:ext cx="6756747" cy="3048157"/>
          </a:xfrm>
          <a:prstGeom prst="rect">
            <a:avLst/>
          </a:prstGeom>
        </p:spPr>
      </p:pic>
      <p:cxnSp>
        <p:nvCxnSpPr>
          <p:cNvPr id="11" name="Straight Connector 10">
            <a:extLst>
              <a:ext uri="{FF2B5EF4-FFF2-40B4-BE49-F238E27FC236}">
                <a16:creationId xmlns:a16="http://schemas.microsoft.com/office/drawing/2014/main" id="{0DD82219-FB88-B57A-CF7A-2DD950C5CD1C}"/>
              </a:ext>
            </a:extLst>
          </p:cNvPr>
          <p:cNvCxnSpPr/>
          <p:nvPr/>
        </p:nvCxnSpPr>
        <p:spPr>
          <a:xfrm>
            <a:off x="0" y="2715507"/>
            <a:ext cx="6829600"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018E997-8303-EEDF-986A-FED99D1507A6}"/>
              </a:ext>
            </a:extLst>
          </p:cNvPr>
          <p:cNvCxnSpPr/>
          <p:nvPr/>
        </p:nvCxnSpPr>
        <p:spPr>
          <a:xfrm>
            <a:off x="14200" y="5944394"/>
            <a:ext cx="68296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59071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9BB91-C737-25DD-9CF8-76CBF2E3A7D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557C4E-0229-77D7-189D-6F7241AE9095}"/>
              </a:ext>
            </a:extLst>
          </p:cNvPr>
          <p:cNvSpPr>
            <a:spLocks noGrp="1"/>
          </p:cNvSpPr>
          <p:nvPr>
            <p:ph type="sldNum" sz="quarter" idx="12"/>
          </p:nvPr>
        </p:nvSpPr>
        <p:spPr/>
        <p:txBody>
          <a:bodyPr/>
          <a:lstStyle/>
          <a:p>
            <a:fld id="{9BD3B4A0-BFF9-422C-B253-48BA94BE2F5B}" type="slidenum">
              <a:rPr lang="en-GB" noProof="0" smtClean="0"/>
              <a:t>25</a:t>
            </a:fld>
            <a:endParaRPr lang="en-GB" noProof="0" dirty="0"/>
          </a:p>
        </p:txBody>
      </p:sp>
      <p:cxnSp>
        <p:nvCxnSpPr>
          <p:cNvPr id="11" name="Straight Connector 10">
            <a:extLst>
              <a:ext uri="{FF2B5EF4-FFF2-40B4-BE49-F238E27FC236}">
                <a16:creationId xmlns:a16="http://schemas.microsoft.com/office/drawing/2014/main" id="{F7B4994E-1EC2-DA13-7E22-14914C96E100}"/>
              </a:ext>
            </a:extLst>
          </p:cNvPr>
          <p:cNvCxnSpPr/>
          <p:nvPr/>
        </p:nvCxnSpPr>
        <p:spPr>
          <a:xfrm>
            <a:off x="14200" y="4544307"/>
            <a:ext cx="6829600" cy="0"/>
          </a:xfrm>
          <a:prstGeom prst="line">
            <a:avLst/>
          </a:prstGeom>
        </p:spPr>
        <p:style>
          <a:lnRef idx="1">
            <a:schemeClr val="dk1"/>
          </a:lnRef>
          <a:fillRef idx="0">
            <a:schemeClr val="dk1"/>
          </a:fillRef>
          <a:effectRef idx="0">
            <a:schemeClr val="dk1"/>
          </a:effectRef>
          <a:fontRef idx="minor">
            <a:schemeClr val="tx1"/>
          </a:fontRef>
        </p:style>
      </p:cxnSp>
      <p:pic>
        <p:nvPicPr>
          <p:cNvPr id="6" name="Picture 5" descr="A white paper with black text&#10;&#10;AI-generated content may be incorrect.">
            <a:extLst>
              <a:ext uri="{FF2B5EF4-FFF2-40B4-BE49-F238E27FC236}">
                <a16:creationId xmlns:a16="http://schemas.microsoft.com/office/drawing/2014/main" id="{880F3285-A2AA-59DA-5527-15CA2B767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00" y="124708"/>
            <a:ext cx="6965532" cy="3850391"/>
          </a:xfrm>
          <a:prstGeom prst="rect">
            <a:avLst/>
          </a:prstGeom>
        </p:spPr>
      </p:pic>
      <p:pic>
        <p:nvPicPr>
          <p:cNvPr id="10" name="Picture 9" descr="A white sheet with black text&#10;&#10;AI-generated content may be incorrect.">
            <a:extLst>
              <a:ext uri="{FF2B5EF4-FFF2-40B4-BE49-F238E27FC236}">
                <a16:creationId xmlns:a16="http://schemas.microsoft.com/office/drawing/2014/main" id="{D2B731D4-5B14-824F-6344-A8C2CCECC2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04" y="4709293"/>
            <a:ext cx="6648792" cy="4394426"/>
          </a:xfrm>
          <a:prstGeom prst="rect">
            <a:avLst/>
          </a:prstGeom>
        </p:spPr>
      </p:pic>
    </p:spTree>
    <p:extLst>
      <p:ext uri="{BB962C8B-B14F-4D97-AF65-F5344CB8AC3E}">
        <p14:creationId xmlns:p14="http://schemas.microsoft.com/office/powerpoint/2010/main" val="2000600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D5C043-F232-B8B1-5834-BB79AADFC814}"/>
              </a:ext>
            </a:extLst>
          </p:cNvPr>
          <p:cNvSpPr>
            <a:spLocks noGrp="1"/>
          </p:cNvSpPr>
          <p:nvPr>
            <p:ph type="sldNum" sz="quarter" idx="12"/>
          </p:nvPr>
        </p:nvSpPr>
        <p:spPr/>
        <p:txBody>
          <a:bodyPr/>
          <a:lstStyle/>
          <a:p>
            <a:fld id="{9BD3B4A0-BFF9-422C-B253-48BA94BE2F5B}" type="slidenum">
              <a:rPr lang="en-GB" noProof="0" smtClean="0"/>
              <a:t>26</a:t>
            </a:fld>
            <a:endParaRPr lang="en-GB" noProof="0" dirty="0"/>
          </a:p>
        </p:txBody>
      </p:sp>
      <p:pic>
        <p:nvPicPr>
          <p:cNvPr id="4" name="Picture 3" descr="A white background with black text&#10;&#10;AI-generated content may be incorrect.">
            <a:extLst>
              <a:ext uri="{FF2B5EF4-FFF2-40B4-BE49-F238E27FC236}">
                <a16:creationId xmlns:a16="http://schemas.microsoft.com/office/drawing/2014/main" id="{61DD2B84-51A4-EC47-B12D-DFB46C574E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782149" cy="3175163"/>
          </a:xfrm>
          <a:prstGeom prst="rect">
            <a:avLst/>
          </a:prstGeom>
        </p:spPr>
      </p:pic>
      <p:cxnSp>
        <p:nvCxnSpPr>
          <p:cNvPr id="5" name="Straight Connector 4">
            <a:extLst>
              <a:ext uri="{FF2B5EF4-FFF2-40B4-BE49-F238E27FC236}">
                <a16:creationId xmlns:a16="http://schemas.microsoft.com/office/drawing/2014/main" id="{5F7E54DD-040C-4A8A-120A-B6271E54FF18}"/>
              </a:ext>
            </a:extLst>
          </p:cNvPr>
          <p:cNvCxnSpPr/>
          <p:nvPr/>
        </p:nvCxnSpPr>
        <p:spPr>
          <a:xfrm>
            <a:off x="28400" y="3175163"/>
            <a:ext cx="6829600" cy="0"/>
          </a:xfrm>
          <a:prstGeom prst="line">
            <a:avLst/>
          </a:prstGeom>
        </p:spPr>
        <p:style>
          <a:lnRef idx="1">
            <a:schemeClr val="dk1"/>
          </a:lnRef>
          <a:fillRef idx="0">
            <a:schemeClr val="dk1"/>
          </a:fillRef>
          <a:effectRef idx="0">
            <a:schemeClr val="dk1"/>
          </a:effectRef>
          <a:fontRef idx="minor">
            <a:schemeClr val="tx1"/>
          </a:fontRef>
        </p:style>
      </p:cxnSp>
      <p:pic>
        <p:nvPicPr>
          <p:cNvPr id="7" name="Picture 6" descr="A math equations on a white background&#10;&#10;AI-generated content may be incorrect.">
            <a:extLst>
              <a:ext uri="{FF2B5EF4-FFF2-40B4-BE49-F238E27FC236}">
                <a16:creationId xmlns:a16="http://schemas.microsoft.com/office/drawing/2014/main" id="{7C1AC995-6F10-08BB-53EB-5ADD34F217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02" y="3327329"/>
            <a:ext cx="6756747" cy="2743341"/>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5B88F142-2538-2836-4841-D101D8DC5C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50" y="6219436"/>
            <a:ext cx="6813900" cy="2813195"/>
          </a:xfrm>
          <a:prstGeom prst="rect">
            <a:avLst/>
          </a:prstGeom>
        </p:spPr>
      </p:pic>
    </p:spTree>
    <p:extLst>
      <p:ext uri="{BB962C8B-B14F-4D97-AF65-F5344CB8AC3E}">
        <p14:creationId xmlns:p14="http://schemas.microsoft.com/office/powerpoint/2010/main" val="2547779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BE6D7E-1EFA-1470-7D3A-D84AE239D39C}"/>
              </a:ext>
            </a:extLst>
          </p:cNvPr>
          <p:cNvSpPr>
            <a:spLocks noGrp="1"/>
          </p:cNvSpPr>
          <p:nvPr>
            <p:ph type="sldNum" sz="quarter" idx="12"/>
          </p:nvPr>
        </p:nvSpPr>
        <p:spPr/>
        <p:txBody>
          <a:bodyPr/>
          <a:lstStyle/>
          <a:p>
            <a:fld id="{9BD3B4A0-BFF9-422C-B253-48BA94BE2F5B}" type="slidenum">
              <a:rPr lang="en-GB" noProof="0" smtClean="0"/>
              <a:t>27</a:t>
            </a:fld>
            <a:endParaRPr lang="en-GB" noProof="0" dirty="0"/>
          </a:p>
        </p:txBody>
      </p:sp>
      <p:pic>
        <p:nvPicPr>
          <p:cNvPr id="4" name="Picture 3" descr="A white paper with black text&#10;&#10;AI-generated content may be incorrect.">
            <a:extLst>
              <a:ext uri="{FF2B5EF4-FFF2-40B4-BE49-F238E27FC236}">
                <a16:creationId xmlns:a16="http://schemas.microsoft.com/office/drawing/2014/main" id="{ABB3452F-15BA-DFAF-BB3D-D73151E503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54" y="0"/>
            <a:ext cx="6661492" cy="3956253"/>
          </a:xfrm>
          <a:prstGeom prst="rect">
            <a:avLst/>
          </a:prstGeom>
        </p:spPr>
      </p:pic>
      <p:cxnSp>
        <p:nvCxnSpPr>
          <p:cNvPr id="5" name="Straight Connector 4">
            <a:extLst>
              <a:ext uri="{FF2B5EF4-FFF2-40B4-BE49-F238E27FC236}">
                <a16:creationId xmlns:a16="http://schemas.microsoft.com/office/drawing/2014/main" id="{65033E99-FFCA-44E7-1E99-2C7D1D4151A9}"/>
              </a:ext>
            </a:extLst>
          </p:cNvPr>
          <p:cNvCxnSpPr/>
          <p:nvPr/>
        </p:nvCxnSpPr>
        <p:spPr>
          <a:xfrm>
            <a:off x="0" y="3956253"/>
            <a:ext cx="6829600" cy="0"/>
          </a:xfrm>
          <a:prstGeom prst="line">
            <a:avLst/>
          </a:prstGeom>
        </p:spPr>
        <p:style>
          <a:lnRef idx="1">
            <a:schemeClr val="dk1"/>
          </a:lnRef>
          <a:fillRef idx="0">
            <a:schemeClr val="dk1"/>
          </a:fillRef>
          <a:effectRef idx="0">
            <a:schemeClr val="dk1"/>
          </a:effectRef>
          <a:fontRef idx="minor">
            <a:schemeClr val="tx1"/>
          </a:fontRef>
        </p:style>
      </p:cxnSp>
      <p:pic>
        <p:nvPicPr>
          <p:cNvPr id="7" name="Picture 6" descr="A white paper with black text&#10;&#10;AI-generated content may be incorrect.">
            <a:extLst>
              <a:ext uri="{FF2B5EF4-FFF2-40B4-BE49-F238E27FC236}">
                <a16:creationId xmlns:a16="http://schemas.microsoft.com/office/drawing/2014/main" id="{E564143D-2773-6871-78EA-35B96BDF2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27" y="4305504"/>
            <a:ext cx="6731346" cy="3924502"/>
          </a:xfrm>
          <a:prstGeom prst="rect">
            <a:avLst/>
          </a:prstGeom>
        </p:spPr>
      </p:pic>
    </p:spTree>
    <p:extLst>
      <p:ext uri="{BB962C8B-B14F-4D97-AF65-F5344CB8AC3E}">
        <p14:creationId xmlns:p14="http://schemas.microsoft.com/office/powerpoint/2010/main" val="649580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 name="Rectangle 22"/>
              <p:cNvSpPr/>
              <p:nvPr/>
            </p:nvSpPr>
            <p:spPr>
              <a:xfrm>
                <a:off x="161742" y="3220474"/>
                <a:ext cx="842282" cy="356380"/>
              </a:xfrm>
              <a:prstGeom prst="rect">
                <a:avLst/>
              </a:prstGeom>
            </p:spPr>
            <p:txBody>
              <a:bodyPr wrap="none">
                <a:spAutoFit/>
              </a:bodyPr>
              <a:lstStyle/>
              <a:p>
                <a:r>
                  <a:rPr lang="en-GB" sz="1200" noProof="0" dirty="0"/>
                  <a:t>a)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𝑥</m:t>
                        </m:r>
                        <m:r>
                          <a:rPr lang="en-GB" sz="1200" i="1" noProof="0">
                            <a:latin typeface="Cambria Math" panose="02040503050406030204" pitchFamily="18" charset="0"/>
                          </a:rPr>
                          <m:t>+5</m:t>
                        </m:r>
                      </m:num>
                      <m:den>
                        <m:r>
                          <a:rPr lang="en-GB" sz="1200" i="1" noProof="0">
                            <a:latin typeface="Cambria Math" panose="02040503050406030204" pitchFamily="18" charset="0"/>
                          </a:rPr>
                          <m:t>7</m:t>
                        </m:r>
                      </m:den>
                    </m:f>
                    <m:r>
                      <a:rPr lang="en-GB" sz="1200" i="1" noProof="0">
                        <a:latin typeface="Cambria Math" panose="02040503050406030204" pitchFamily="18" charset="0"/>
                      </a:rPr>
                      <m:t>=5</m:t>
                    </m:r>
                  </m:oMath>
                </a14:m>
                <a:endParaRPr lang="en-GB" sz="1200" noProof="0" dirty="0"/>
              </a:p>
            </p:txBody>
          </p:sp>
        </mc:Choice>
        <mc:Fallback xmlns="">
          <p:sp>
            <p:nvSpPr>
              <p:cNvPr id="23" name="Rectangle 22"/>
              <p:cNvSpPr>
                <a:spLocks noRot="1" noChangeAspect="1" noMove="1" noResize="1" noEditPoints="1" noAdjustHandles="1" noChangeArrowheads="1" noChangeShapeType="1" noTextEdit="1"/>
              </p:cNvSpPr>
              <p:nvPr/>
            </p:nvSpPr>
            <p:spPr>
              <a:xfrm>
                <a:off x="161742" y="3220474"/>
                <a:ext cx="842282" cy="356380"/>
              </a:xfrm>
              <a:prstGeom prst="rect">
                <a:avLst/>
              </a:prstGeom>
              <a:blipFill>
                <a:blip r:embed="rId2"/>
                <a:stretch>
                  <a:fillRect l="-725" b="-1695"/>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6EAE242C-3BEA-324C-B746-6B1087575622}"/>
              </a:ext>
            </a:extLst>
          </p:cNvPr>
          <p:cNvSpPr txBox="1"/>
          <p:nvPr/>
        </p:nvSpPr>
        <p:spPr>
          <a:xfrm>
            <a:off x="107531" y="2819965"/>
            <a:ext cx="1194558" cy="261610"/>
          </a:xfrm>
          <a:prstGeom prst="rect">
            <a:avLst/>
          </a:prstGeom>
          <a:solidFill>
            <a:srgbClr val="0070C0"/>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Knowledge Check</a:t>
            </a:r>
          </a:p>
        </p:txBody>
      </p:sp>
      <mc:AlternateContent xmlns:mc="http://schemas.openxmlformats.org/markup-compatibility/2006" xmlns:a14="http://schemas.microsoft.com/office/drawing/2010/main">
        <mc:Choice Requires="a14">
          <p:sp>
            <p:nvSpPr>
              <p:cNvPr id="26" name="Rectangle 25"/>
              <p:cNvSpPr/>
              <p:nvPr/>
            </p:nvSpPr>
            <p:spPr>
              <a:xfrm>
                <a:off x="1584933" y="3220474"/>
                <a:ext cx="879151" cy="354649"/>
              </a:xfrm>
              <a:prstGeom prst="rect">
                <a:avLst/>
              </a:prstGeom>
            </p:spPr>
            <p:txBody>
              <a:bodyPr wrap="none">
                <a:spAutoFit/>
              </a:bodyPr>
              <a:lstStyle/>
              <a:p>
                <a:r>
                  <a:rPr lang="en-GB" sz="1200" noProof="0" dirty="0"/>
                  <a:t>b)</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3</m:t>
                        </m:r>
                        <m:r>
                          <a:rPr lang="en-GB" sz="1200" i="1" noProof="0">
                            <a:latin typeface="Cambria Math" panose="02040503050406030204" pitchFamily="18" charset="0"/>
                          </a:rPr>
                          <m:t>𝑥</m:t>
                        </m:r>
                        <m:r>
                          <a:rPr lang="en-GB" sz="1200" i="1" noProof="0">
                            <a:latin typeface="Cambria Math" panose="02040503050406030204" pitchFamily="18" charset="0"/>
                          </a:rPr>
                          <m:t>−2</m:t>
                        </m:r>
                      </m:num>
                      <m:den>
                        <m:r>
                          <a:rPr lang="en-GB" sz="1200" i="1" noProof="0">
                            <a:latin typeface="Cambria Math" panose="02040503050406030204" pitchFamily="18" charset="0"/>
                          </a:rPr>
                          <m:t>5</m:t>
                        </m:r>
                      </m:den>
                    </m:f>
                    <m:r>
                      <a:rPr lang="en-GB" sz="1200" i="1" noProof="0">
                        <a:latin typeface="Cambria Math" panose="02040503050406030204" pitchFamily="18" charset="0"/>
                      </a:rPr>
                      <m:t>=4</m:t>
                    </m:r>
                  </m:oMath>
                </a14:m>
                <a:endParaRPr lang="en-GB" sz="1200" noProof="0" dirty="0"/>
              </a:p>
            </p:txBody>
          </p:sp>
        </mc:Choice>
        <mc:Fallback xmlns="">
          <p:sp>
            <p:nvSpPr>
              <p:cNvPr id="26" name="Rectangle 25"/>
              <p:cNvSpPr>
                <a:spLocks noRot="1" noChangeAspect="1" noMove="1" noResize="1" noEditPoints="1" noAdjustHandles="1" noChangeArrowheads="1" noChangeShapeType="1" noTextEdit="1"/>
              </p:cNvSpPr>
              <p:nvPr/>
            </p:nvSpPr>
            <p:spPr>
              <a:xfrm>
                <a:off x="1584933" y="3220474"/>
                <a:ext cx="879151" cy="354649"/>
              </a:xfrm>
              <a:prstGeom prst="rect">
                <a:avLst/>
              </a:prstGeom>
              <a:blipFill>
                <a:blip r:embed="rId3"/>
                <a:stretch>
                  <a:fillRect l="-694"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2874488" y="3220474"/>
                <a:ext cx="834267" cy="352982"/>
              </a:xfrm>
              <a:prstGeom prst="rect">
                <a:avLst/>
              </a:prstGeom>
            </p:spPr>
            <p:txBody>
              <a:bodyPr wrap="none">
                <a:spAutoFit/>
              </a:bodyPr>
              <a:lstStyle/>
              <a:p>
                <a:pPr algn="ctr"/>
                <a:r>
                  <a:rPr lang="en-GB" sz="1200" noProof="0" dirty="0"/>
                  <a:t>c)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a:rPr>
                          <m:t>𝑥</m:t>
                        </m:r>
                        <m:r>
                          <a:rPr lang="en-GB" sz="1200" i="1" noProof="0">
                            <a:latin typeface="Cambria Math"/>
                          </a:rPr>
                          <m:t>−4</m:t>
                        </m:r>
                      </m:num>
                      <m:den>
                        <m:r>
                          <a:rPr lang="en-GB" sz="1200" i="1" noProof="0">
                            <a:latin typeface="Cambria Math"/>
                          </a:rPr>
                          <m:t>7</m:t>
                        </m:r>
                      </m:den>
                    </m:f>
                    <m:r>
                      <a:rPr lang="en-GB" sz="1200" i="1" noProof="0">
                        <a:latin typeface="Cambria Math"/>
                      </a:rPr>
                      <m:t>=3</m:t>
                    </m:r>
                  </m:oMath>
                </a14:m>
                <a:endParaRPr lang="en-GB" sz="1200" noProof="0" dirty="0"/>
              </a:p>
            </p:txBody>
          </p:sp>
        </mc:Choice>
        <mc:Fallback xmlns="">
          <p:sp>
            <p:nvSpPr>
              <p:cNvPr id="27" name="Rectangle 26"/>
              <p:cNvSpPr>
                <a:spLocks noRot="1" noChangeAspect="1" noMove="1" noResize="1" noEditPoints="1" noAdjustHandles="1" noChangeArrowheads="1" noChangeShapeType="1" noTextEdit="1"/>
              </p:cNvSpPr>
              <p:nvPr/>
            </p:nvSpPr>
            <p:spPr>
              <a:xfrm>
                <a:off x="2874488" y="3220474"/>
                <a:ext cx="834267" cy="352982"/>
              </a:xfrm>
              <a:prstGeom prst="rect">
                <a:avLst/>
              </a:prstGeom>
              <a:blipFill>
                <a:blip r:embed="rId4"/>
                <a:stretch>
                  <a:fillRect l="-735"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4133586" y="3218807"/>
                <a:ext cx="918970" cy="354649"/>
              </a:xfrm>
              <a:prstGeom prst="rect">
                <a:avLst/>
              </a:prstGeom>
            </p:spPr>
            <p:txBody>
              <a:bodyPr wrap="none">
                <a:spAutoFit/>
              </a:bodyPr>
              <a:lstStyle/>
              <a:p>
                <a:r>
                  <a:rPr lang="en-GB" sz="1200" noProof="0" dirty="0"/>
                  <a:t>d) </a:t>
                </a:r>
                <a14:m>
                  <m:oMath xmlns:m="http://schemas.openxmlformats.org/officeDocument/2006/math">
                    <m:r>
                      <a:rPr lang="en-GB" sz="1200" i="1" noProof="0">
                        <a:latin typeface="Cambria Math"/>
                      </a:rPr>
                      <m:t>3=</m:t>
                    </m:r>
                    <m:f>
                      <m:fPr>
                        <m:ctrlPr>
                          <a:rPr lang="en-GB" sz="1200" i="1" noProof="0">
                            <a:latin typeface="Cambria Math" panose="02040503050406030204" pitchFamily="18" charset="0"/>
                          </a:rPr>
                        </m:ctrlPr>
                      </m:fPr>
                      <m:num>
                        <m:r>
                          <a:rPr lang="en-GB" sz="1200" i="1" noProof="0">
                            <a:latin typeface="Cambria Math"/>
                          </a:rPr>
                          <m:t>2</m:t>
                        </m:r>
                        <m:r>
                          <a:rPr lang="en-GB" sz="1200" i="1" noProof="0">
                            <a:latin typeface="Cambria Math"/>
                          </a:rPr>
                          <m:t>𝑦</m:t>
                        </m:r>
                        <m:r>
                          <a:rPr lang="en-GB" sz="1200" i="1" noProof="0">
                            <a:latin typeface="Cambria Math"/>
                          </a:rPr>
                          <m:t>+1</m:t>
                        </m:r>
                      </m:num>
                      <m:den>
                        <m:r>
                          <a:rPr lang="en-GB" sz="1200" i="1" noProof="0">
                            <a:latin typeface="Cambria Math"/>
                          </a:rPr>
                          <m:t>5</m:t>
                        </m:r>
                      </m:den>
                    </m:f>
                  </m:oMath>
                </a14:m>
                <a:endParaRPr lang="en-GB" sz="1200" noProof="0" dirty="0"/>
              </a:p>
            </p:txBody>
          </p:sp>
        </mc:Choice>
        <mc:Fallback xmlns="">
          <p:sp>
            <p:nvSpPr>
              <p:cNvPr id="28" name="Rectangle 27"/>
              <p:cNvSpPr>
                <a:spLocks noRot="1" noChangeAspect="1" noMove="1" noResize="1" noEditPoints="1" noAdjustHandles="1" noChangeArrowheads="1" noChangeShapeType="1" noTextEdit="1"/>
              </p:cNvSpPr>
              <p:nvPr/>
            </p:nvSpPr>
            <p:spPr>
              <a:xfrm>
                <a:off x="4133586" y="3218807"/>
                <a:ext cx="918970" cy="354649"/>
              </a:xfrm>
              <a:prstGeom prst="rect">
                <a:avLst/>
              </a:prstGeom>
              <a:blipFill>
                <a:blip r:embed="rId5"/>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5476709" y="3217333"/>
                <a:ext cx="915764" cy="356123"/>
              </a:xfrm>
              <a:prstGeom prst="rect">
                <a:avLst/>
              </a:prstGeom>
            </p:spPr>
            <p:txBody>
              <a:bodyPr wrap="none">
                <a:spAutoFit/>
              </a:bodyPr>
              <a:lstStyle/>
              <a:p>
                <a:pPr algn="ctr"/>
                <a:r>
                  <a:rPr lang="en-GB" sz="1200" noProof="0" dirty="0"/>
                  <a:t>e)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a:rPr>
                          <m:t>5</m:t>
                        </m:r>
                        <m:r>
                          <a:rPr lang="en-GB" sz="1200" i="1" noProof="0">
                            <a:latin typeface="Cambria Math"/>
                          </a:rPr>
                          <m:t>𝑎</m:t>
                        </m:r>
                        <m:r>
                          <a:rPr lang="en-GB" sz="1200" i="1" noProof="0">
                            <a:latin typeface="Cambria Math"/>
                          </a:rPr>
                          <m:t>+3</m:t>
                        </m:r>
                      </m:num>
                      <m:den>
                        <m:r>
                          <a:rPr lang="en-GB" sz="1200" i="1" noProof="0">
                            <a:latin typeface="Cambria Math"/>
                          </a:rPr>
                          <m:t>4</m:t>
                        </m:r>
                      </m:den>
                    </m:f>
                    <m:r>
                      <a:rPr lang="en-GB" sz="1200" i="1" noProof="0">
                        <a:latin typeface="Cambria Math"/>
                      </a:rPr>
                      <m:t>=7</m:t>
                    </m:r>
                  </m:oMath>
                </a14:m>
                <a:endParaRPr lang="en-GB" sz="1200" noProof="0" dirty="0"/>
              </a:p>
            </p:txBody>
          </p:sp>
        </mc:Choice>
        <mc:Fallback xmlns="">
          <p:sp>
            <p:nvSpPr>
              <p:cNvPr id="29" name="Rectangle 28"/>
              <p:cNvSpPr>
                <a:spLocks noRot="1" noChangeAspect="1" noMove="1" noResize="1" noEditPoints="1" noAdjustHandles="1" noChangeArrowheads="1" noChangeShapeType="1" noTextEdit="1"/>
              </p:cNvSpPr>
              <p:nvPr/>
            </p:nvSpPr>
            <p:spPr>
              <a:xfrm>
                <a:off x="5476709" y="3217333"/>
                <a:ext cx="915764" cy="356123"/>
              </a:xfrm>
              <a:prstGeom prst="rect">
                <a:avLst/>
              </a:prstGeom>
              <a:blipFill>
                <a:blip r:embed="rId6"/>
                <a:stretch>
                  <a:fillRect b="-3448"/>
                </a:stretch>
              </a:blipFill>
            </p:spPr>
            <p:txBody>
              <a:bodyPr/>
              <a:lstStyle/>
              <a:p>
                <a:r>
                  <a:rPr lang="en-US">
                    <a:noFill/>
                  </a:rPr>
                  <a:t> </a:t>
                </a:r>
              </a:p>
            </p:txBody>
          </p:sp>
        </mc:Fallback>
      </mc:AlternateContent>
      <p:sp>
        <p:nvSpPr>
          <p:cNvPr id="30" name="Rectangle 29">
            <a:extLst>
              <a:ext uri="{FF2B5EF4-FFF2-40B4-BE49-F238E27FC236}">
                <a16:creationId xmlns:a16="http://schemas.microsoft.com/office/drawing/2014/main" id="{B16CFEF2-A65A-6142-861C-58ACADF7EEFB}"/>
              </a:ext>
            </a:extLst>
          </p:cNvPr>
          <p:cNvSpPr/>
          <p:nvPr/>
        </p:nvSpPr>
        <p:spPr>
          <a:xfrm>
            <a:off x="90263" y="3611766"/>
            <a:ext cx="1229095" cy="258575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1" name="Rectangle 30">
            <a:extLst>
              <a:ext uri="{FF2B5EF4-FFF2-40B4-BE49-F238E27FC236}">
                <a16:creationId xmlns:a16="http://schemas.microsoft.com/office/drawing/2014/main" id="{B16CFEF2-A65A-6142-861C-58ACADF7EEFB}"/>
              </a:ext>
            </a:extLst>
          </p:cNvPr>
          <p:cNvSpPr/>
          <p:nvPr/>
        </p:nvSpPr>
        <p:spPr>
          <a:xfrm>
            <a:off x="1433239" y="3606700"/>
            <a:ext cx="1229095" cy="258575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2" name="Rectangle 31">
            <a:extLst>
              <a:ext uri="{FF2B5EF4-FFF2-40B4-BE49-F238E27FC236}">
                <a16:creationId xmlns:a16="http://schemas.microsoft.com/office/drawing/2014/main" id="{B16CFEF2-A65A-6142-861C-58ACADF7EEFB}"/>
              </a:ext>
            </a:extLst>
          </p:cNvPr>
          <p:cNvSpPr/>
          <p:nvPr/>
        </p:nvSpPr>
        <p:spPr>
          <a:xfrm>
            <a:off x="2790921" y="3606699"/>
            <a:ext cx="1229095" cy="258575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3" name="Rectangle 32">
            <a:extLst>
              <a:ext uri="{FF2B5EF4-FFF2-40B4-BE49-F238E27FC236}">
                <a16:creationId xmlns:a16="http://schemas.microsoft.com/office/drawing/2014/main" id="{B16CFEF2-A65A-6142-861C-58ACADF7EEFB}"/>
              </a:ext>
            </a:extLst>
          </p:cNvPr>
          <p:cNvSpPr/>
          <p:nvPr/>
        </p:nvSpPr>
        <p:spPr>
          <a:xfrm>
            <a:off x="5510070" y="3606699"/>
            <a:ext cx="1229095" cy="258575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34" name="Rectangle 33">
            <a:extLst>
              <a:ext uri="{FF2B5EF4-FFF2-40B4-BE49-F238E27FC236}">
                <a16:creationId xmlns:a16="http://schemas.microsoft.com/office/drawing/2014/main" id="{B16CFEF2-A65A-6142-861C-58ACADF7EEFB}"/>
              </a:ext>
            </a:extLst>
          </p:cNvPr>
          <p:cNvSpPr/>
          <p:nvPr/>
        </p:nvSpPr>
        <p:spPr>
          <a:xfrm>
            <a:off x="4139292" y="3606699"/>
            <a:ext cx="1229095" cy="258575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mc:AlternateContent xmlns:mc="http://schemas.openxmlformats.org/markup-compatibility/2006" xmlns:a14="http://schemas.microsoft.com/office/drawing/2010/main">
        <mc:Choice Requires="a14">
          <p:sp>
            <p:nvSpPr>
              <p:cNvPr id="59" name="TextBox 58"/>
              <p:cNvSpPr txBox="1"/>
              <p:nvPr/>
            </p:nvSpPr>
            <p:spPr>
              <a:xfrm>
                <a:off x="49843" y="6251518"/>
                <a:ext cx="1233992" cy="354649"/>
              </a:xfrm>
              <a:prstGeom prst="rect">
                <a:avLst/>
              </a:prstGeom>
              <a:noFill/>
            </p:spPr>
            <p:txBody>
              <a:bodyPr wrap="none" rtlCol="0">
                <a:spAutoFit/>
              </a:bodyPr>
              <a:lstStyle/>
              <a:p>
                <a:r>
                  <a:rPr lang="en-GB" sz="1200" noProof="0" dirty="0"/>
                  <a:t>f) 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10</m:t>
                        </m:r>
                      </m:den>
                    </m:f>
                  </m:oMath>
                </a14:m>
                <a:endParaRPr lang="en-GB" sz="1200" noProof="0" dirty="0"/>
              </a:p>
            </p:txBody>
          </p:sp>
        </mc:Choice>
        <mc:Fallback xmlns="">
          <p:sp>
            <p:nvSpPr>
              <p:cNvPr id="59" name="TextBox 58"/>
              <p:cNvSpPr txBox="1">
                <a:spLocks noRot="1" noChangeAspect="1" noMove="1" noResize="1" noEditPoints="1" noAdjustHandles="1" noChangeArrowheads="1" noChangeShapeType="1" noTextEdit="1"/>
              </p:cNvSpPr>
              <p:nvPr/>
            </p:nvSpPr>
            <p:spPr>
              <a:xfrm>
                <a:off x="49843" y="6251518"/>
                <a:ext cx="1233992" cy="354649"/>
              </a:xfrm>
              <a:prstGeom prst="rect">
                <a:avLst/>
              </a:prstGeom>
              <a:blipFill>
                <a:blip r:embed="rId7"/>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2426363" y="6251775"/>
                <a:ext cx="1404872" cy="354392"/>
              </a:xfrm>
              <a:prstGeom prst="rect">
                <a:avLst/>
              </a:prstGeom>
              <a:noFill/>
            </p:spPr>
            <p:txBody>
              <a:bodyPr wrap="none" rtlCol="0">
                <a:spAutoFit/>
              </a:bodyPr>
              <a:lstStyle/>
              <a:p>
                <a:r>
                  <a:rPr lang="en-GB" sz="1200" noProof="0" dirty="0"/>
                  <a:t>g) 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+10</m:t>
                        </m:r>
                      </m:num>
                      <m:den>
                        <m:r>
                          <a:rPr lang="en-GB" sz="1200" b="0" i="1" noProof="0" smtClean="0">
                            <a:latin typeface="Cambria Math" panose="02040503050406030204" pitchFamily="18" charset="0"/>
                          </a:rPr>
                          <m:t>3</m:t>
                        </m:r>
                      </m:den>
                    </m:f>
                  </m:oMath>
                </a14:m>
                <a:endParaRPr lang="en-GB" sz="1200" noProof="0" dirty="0"/>
              </a:p>
            </p:txBody>
          </p:sp>
        </mc:Choice>
        <mc:Fallback xmlns="">
          <p:sp>
            <p:nvSpPr>
              <p:cNvPr id="60" name="TextBox 59"/>
              <p:cNvSpPr txBox="1">
                <a:spLocks noRot="1" noChangeAspect="1" noMove="1" noResize="1" noEditPoints="1" noAdjustHandles="1" noChangeArrowheads="1" noChangeShapeType="1" noTextEdit="1"/>
              </p:cNvSpPr>
              <p:nvPr/>
            </p:nvSpPr>
            <p:spPr>
              <a:xfrm>
                <a:off x="2426363" y="6251775"/>
                <a:ext cx="1404872" cy="354392"/>
              </a:xfrm>
              <a:prstGeom prst="rect">
                <a:avLst/>
              </a:prstGeom>
              <a:blipFill>
                <a:blip r:embed="rId8"/>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5027183" y="6252573"/>
                <a:ext cx="1347164" cy="354649"/>
              </a:xfrm>
              <a:prstGeom prst="rect">
                <a:avLst/>
              </a:prstGeom>
              <a:noFill/>
            </p:spPr>
            <p:txBody>
              <a:bodyPr wrap="none" rtlCol="0">
                <a:spAutoFit/>
              </a:bodyPr>
              <a:lstStyle/>
              <a:p>
                <a:r>
                  <a:rPr lang="en-GB" sz="1200" noProof="0" dirty="0"/>
                  <a:t>h) 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3</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5</m:t>
                        </m:r>
                      </m:den>
                    </m:f>
                  </m:oMath>
                </a14:m>
                <a:endParaRPr lang="en-GB" sz="1200" noProof="0" dirty="0"/>
              </a:p>
            </p:txBody>
          </p:sp>
        </mc:Choice>
        <mc:Fallback xmlns="">
          <p:sp>
            <p:nvSpPr>
              <p:cNvPr id="61" name="TextBox 60"/>
              <p:cNvSpPr txBox="1">
                <a:spLocks noRot="1" noChangeAspect="1" noMove="1" noResize="1" noEditPoints="1" noAdjustHandles="1" noChangeArrowheads="1" noChangeShapeType="1" noTextEdit="1"/>
              </p:cNvSpPr>
              <p:nvPr/>
            </p:nvSpPr>
            <p:spPr>
              <a:xfrm>
                <a:off x="5027183" y="6252573"/>
                <a:ext cx="1347164" cy="354649"/>
              </a:xfrm>
              <a:prstGeom prst="rect">
                <a:avLst/>
              </a:prstGeom>
              <a:blipFill>
                <a:blip r:embed="rId9"/>
                <a:stretch>
                  <a:fillRect l="-452" b="-3448"/>
                </a:stretch>
              </a:blipFill>
            </p:spPr>
            <p:txBody>
              <a:bodyPr/>
              <a:lstStyle/>
              <a:p>
                <a:r>
                  <a:rPr lang="en-US">
                    <a:noFill/>
                  </a:rPr>
                  <a:t> </a:t>
                </a:r>
              </a:p>
            </p:txBody>
          </p:sp>
        </mc:Fallback>
      </mc:AlternateContent>
      <p:sp>
        <p:nvSpPr>
          <p:cNvPr id="62" name="Rectangle 61">
            <a:extLst>
              <a:ext uri="{FF2B5EF4-FFF2-40B4-BE49-F238E27FC236}">
                <a16:creationId xmlns:a16="http://schemas.microsoft.com/office/drawing/2014/main" id="{B16CFEF2-A65A-6142-861C-58ACADF7EEFB}"/>
              </a:ext>
            </a:extLst>
          </p:cNvPr>
          <p:cNvSpPr/>
          <p:nvPr/>
        </p:nvSpPr>
        <p:spPr>
          <a:xfrm>
            <a:off x="127205" y="6749040"/>
            <a:ext cx="2071985" cy="29273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3" name="Rectangle 62">
            <a:extLst>
              <a:ext uri="{FF2B5EF4-FFF2-40B4-BE49-F238E27FC236}">
                <a16:creationId xmlns:a16="http://schemas.microsoft.com/office/drawing/2014/main" id="{B16CFEF2-A65A-6142-861C-58ACADF7EEFB}"/>
              </a:ext>
            </a:extLst>
          </p:cNvPr>
          <p:cNvSpPr/>
          <p:nvPr/>
        </p:nvSpPr>
        <p:spPr>
          <a:xfrm>
            <a:off x="2369475" y="6749039"/>
            <a:ext cx="2071985" cy="29273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64" name="Rectangle 63">
            <a:extLst>
              <a:ext uri="{FF2B5EF4-FFF2-40B4-BE49-F238E27FC236}">
                <a16:creationId xmlns:a16="http://schemas.microsoft.com/office/drawing/2014/main" id="{B16CFEF2-A65A-6142-861C-58ACADF7EEFB}"/>
              </a:ext>
            </a:extLst>
          </p:cNvPr>
          <p:cNvSpPr/>
          <p:nvPr/>
        </p:nvSpPr>
        <p:spPr>
          <a:xfrm>
            <a:off x="4657570" y="6749039"/>
            <a:ext cx="2071985" cy="29273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1" name="Slide Number Placeholder 10"/>
          <p:cNvSpPr>
            <a:spLocks noGrp="1"/>
          </p:cNvSpPr>
          <p:nvPr>
            <p:ph type="sldNum" sz="quarter" idx="12"/>
          </p:nvPr>
        </p:nvSpPr>
        <p:spPr>
          <a:xfrm>
            <a:off x="5289271" y="9553695"/>
            <a:ext cx="1543050" cy="527403"/>
          </a:xfrm>
        </p:spPr>
        <p:txBody>
          <a:bodyPr/>
          <a:lstStyle/>
          <a:p>
            <a:fld id="{9BD3B4A0-BFF9-422C-B253-48BA94BE2F5B}" type="slidenum">
              <a:rPr lang="en-GB" noProof="0" smtClean="0"/>
              <a:t>28</a:t>
            </a:fld>
            <a:endParaRPr lang="en-GB" noProof="0" dirty="0"/>
          </a:p>
        </p:txBody>
      </p:sp>
      <p:sp>
        <p:nvSpPr>
          <p:cNvPr id="12" name="Rectangle 11">
            <a:extLst>
              <a:ext uri="{FF2B5EF4-FFF2-40B4-BE49-F238E27FC236}">
                <a16:creationId xmlns:a16="http://schemas.microsoft.com/office/drawing/2014/main" id="{F0F2CFDC-C15F-0A4F-50DF-BD9B04B5CA10}"/>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prstClr val="white"/>
                </a:solidFill>
              </a:rPr>
              <a:t>Subtopic 4b – Algebraic Fractions: Solving</a:t>
            </a:r>
            <a:endParaRPr lang="en-GB" b="1" noProof="0" dirty="0">
              <a:solidFill>
                <a:prstClr val="white"/>
              </a:solidFill>
            </a:endParaRPr>
          </a:p>
        </p:txBody>
      </p:sp>
      <p:sp>
        <p:nvSpPr>
          <p:cNvPr id="13" name="TextBox 12">
            <a:extLst>
              <a:ext uri="{FF2B5EF4-FFF2-40B4-BE49-F238E27FC236}">
                <a16:creationId xmlns:a16="http://schemas.microsoft.com/office/drawing/2014/main" id="{341F84E3-3023-AAD4-DA0D-7442D0FF33C9}"/>
              </a:ext>
            </a:extLst>
          </p:cNvPr>
          <p:cNvSpPr txBox="1"/>
          <p:nvPr/>
        </p:nvSpPr>
        <p:spPr>
          <a:xfrm>
            <a:off x="90263" y="406400"/>
            <a:ext cx="6648901" cy="2123658"/>
          </a:xfrm>
          <a:prstGeom prst="rect">
            <a:avLst/>
          </a:prstGeom>
          <a:noFill/>
          <a:ln>
            <a:solidFill>
              <a:schemeClr val="tx1"/>
            </a:solidFill>
          </a:ln>
        </p:spPr>
        <p:txBody>
          <a:bodyPr wrap="square" rtlCol="0">
            <a:spAutoFit/>
          </a:bodyPr>
          <a:lstStyle/>
          <a:p>
            <a:r>
              <a:rPr lang="en-GB" sz="1200" noProof="0" dirty="0"/>
              <a:t>We can solve equations involving algebraic fractions in one of two ways:</a:t>
            </a:r>
          </a:p>
          <a:p>
            <a:endParaRPr lang="en-GB" sz="1200" noProof="0" dirty="0"/>
          </a:p>
          <a:p>
            <a:pPr marL="228600" lvl="0" indent="-228600">
              <a:buAutoNum type="arabicPeriod"/>
            </a:pPr>
            <a:r>
              <a:rPr lang="en-GB" sz="1200" noProof="0" dirty="0"/>
              <a:t>Simplify the equation so that each side is either a single algebraic fraction or an expression. Multiply through by the denominators of any algebraic fractions – leaving an equation with no algebraic fractions to be solved.</a:t>
            </a:r>
          </a:p>
          <a:p>
            <a:pPr marL="228600" lvl="0" indent="-228600">
              <a:buAutoNum type="arabicPeriod"/>
            </a:pPr>
            <a:r>
              <a:rPr lang="en-GB" sz="1200" noProof="0" dirty="0"/>
              <a:t>Calculate the lowest common multiple of the denominators of the algebraic fractions. Multiply through by this expression to again reach an equation free of algebraic fractions. </a:t>
            </a:r>
          </a:p>
          <a:p>
            <a:pPr marL="228600" lvl="0" indent="-228600">
              <a:buAutoNum type="arabicPeriod"/>
            </a:pPr>
            <a:endParaRPr lang="en-GB" sz="1200" noProof="0" dirty="0"/>
          </a:p>
          <a:p>
            <a:pPr lvl="0"/>
            <a:r>
              <a:rPr lang="en-GB" sz="1200" noProof="0" dirty="0"/>
              <a:t>Before we do this, we need to recap the solving of equations involving fractions that you have seen before. Attempt the questions below independently, showing clearly what you do for the steps at each stage.</a:t>
            </a:r>
          </a:p>
        </p:txBody>
      </p:sp>
    </p:spTree>
    <p:extLst>
      <p:ext uri="{BB962C8B-B14F-4D97-AF65-F5344CB8AC3E}">
        <p14:creationId xmlns:p14="http://schemas.microsoft.com/office/powerpoint/2010/main" val="3426703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able 34"/>
          <p:cNvGraphicFramePr>
            <a:graphicFrameLocks noGrp="1"/>
          </p:cNvGraphicFramePr>
          <p:nvPr>
            <p:extLst>
              <p:ext uri="{D42A27DB-BD31-4B8C-83A1-F6EECF244321}">
                <p14:modId xmlns:p14="http://schemas.microsoft.com/office/powerpoint/2010/main" val="1664272867"/>
              </p:ext>
            </p:extLst>
          </p:nvPr>
        </p:nvGraphicFramePr>
        <p:xfrm>
          <a:off x="187105" y="338782"/>
          <a:ext cx="6485158" cy="4609469"/>
        </p:xfrm>
        <a:graphic>
          <a:graphicData uri="http://schemas.openxmlformats.org/drawingml/2006/table">
            <a:tbl>
              <a:tblPr firstRow="1" bandRow="1">
                <a:tableStyleId>{5C22544A-7EE6-4342-B048-85BDC9FD1C3A}</a:tableStyleId>
              </a:tblPr>
              <a:tblGrid>
                <a:gridCol w="1400395">
                  <a:extLst>
                    <a:ext uri="{9D8B030D-6E8A-4147-A177-3AD203B41FA5}">
                      <a16:colId xmlns:a16="http://schemas.microsoft.com/office/drawing/2014/main" val="1568142362"/>
                    </a:ext>
                  </a:extLst>
                </a:gridCol>
                <a:gridCol w="2424370">
                  <a:extLst>
                    <a:ext uri="{9D8B030D-6E8A-4147-A177-3AD203B41FA5}">
                      <a16:colId xmlns:a16="http://schemas.microsoft.com/office/drawing/2014/main" val="3551711160"/>
                    </a:ext>
                  </a:extLst>
                </a:gridCol>
                <a:gridCol w="2660393">
                  <a:extLst>
                    <a:ext uri="{9D8B030D-6E8A-4147-A177-3AD203B41FA5}">
                      <a16:colId xmlns:a16="http://schemas.microsoft.com/office/drawing/2014/main" val="3207130226"/>
                    </a:ext>
                  </a:extLst>
                </a:gridCol>
              </a:tblGrid>
              <a:tr h="483964">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423421">
                <a:tc>
                  <a:txBody>
                    <a:bodyPr/>
                    <a:lstStyle/>
                    <a:p>
                      <a:r>
                        <a:rPr lang="en-GB" sz="1060" noProof="0" dirty="0">
                          <a:solidFill>
                            <a:schemeClr val="tx1"/>
                          </a:solidFill>
                        </a:rPr>
                        <a:t>1) Multiply through to make the </a:t>
                      </a:r>
                    </a:p>
                    <a:p>
                      <a:r>
                        <a:rPr lang="en-GB" sz="1060" noProof="0" dirty="0">
                          <a:solidFill>
                            <a:schemeClr val="tx1"/>
                          </a:solidFill>
                        </a:rPr>
                        <a:t>denominators</a:t>
                      </a:r>
                      <a:r>
                        <a:rPr lang="en-GB" sz="1060" baseline="0" noProof="0" dirty="0">
                          <a:solidFill>
                            <a:schemeClr val="tx1"/>
                          </a:solidFill>
                        </a:rPr>
                        <a:t> the same. </a:t>
                      </a:r>
                    </a:p>
                    <a:p>
                      <a:r>
                        <a:rPr lang="en-GB" sz="1060" baseline="0" noProof="0" dirty="0">
                          <a:solidFill>
                            <a:schemeClr val="tx1"/>
                          </a:solidFill>
                        </a:rPr>
                        <a:t>(or: clear the fraction by multiplying both sides appropriately)</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351042">
                <a:tc>
                  <a:txBody>
                    <a:bodyPr/>
                    <a:lstStyle/>
                    <a:p>
                      <a:r>
                        <a:rPr lang="en-GB" sz="1060" noProof="0" dirty="0">
                          <a:solidFill>
                            <a:schemeClr val="tx1"/>
                          </a:solidFill>
                        </a:rPr>
                        <a:t>2) Expand and simplify the numerators.</a:t>
                      </a:r>
                      <a:r>
                        <a:rPr lang="en-GB" sz="1060" baseline="0" noProof="0" dirty="0">
                          <a:solidFill>
                            <a:schemeClr val="tx1"/>
                          </a:solidFill>
                        </a:rPr>
                        <a:t>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1351042">
                <a:tc>
                  <a:txBody>
                    <a:bodyPr/>
                    <a:lstStyle/>
                    <a:p>
                      <a:r>
                        <a:rPr lang="en-GB" sz="1060" noProof="0" dirty="0">
                          <a:solidFill>
                            <a:schemeClr val="tx1"/>
                          </a:solidFill>
                        </a:rPr>
                        <a:t>3) Solve the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2255231599"/>
              </p:ext>
            </p:extLst>
          </p:nvPr>
        </p:nvGraphicFramePr>
        <p:xfrm>
          <a:off x="192198" y="5199567"/>
          <a:ext cx="6480064" cy="4329347"/>
        </p:xfrm>
        <a:graphic>
          <a:graphicData uri="http://schemas.openxmlformats.org/drawingml/2006/table">
            <a:tbl>
              <a:tblPr firstRow="1" bandRow="1">
                <a:tableStyleId>{5C22544A-7EE6-4342-B048-85BDC9FD1C3A}</a:tableStyleId>
              </a:tblPr>
              <a:tblGrid>
                <a:gridCol w="1408002">
                  <a:extLst>
                    <a:ext uri="{9D8B030D-6E8A-4147-A177-3AD203B41FA5}">
                      <a16:colId xmlns:a16="http://schemas.microsoft.com/office/drawing/2014/main" val="1568142362"/>
                    </a:ext>
                  </a:extLst>
                </a:gridCol>
                <a:gridCol w="2474182">
                  <a:extLst>
                    <a:ext uri="{9D8B030D-6E8A-4147-A177-3AD203B41FA5}">
                      <a16:colId xmlns:a16="http://schemas.microsoft.com/office/drawing/2014/main" val="3551711160"/>
                    </a:ext>
                  </a:extLst>
                </a:gridCol>
                <a:gridCol w="2597880">
                  <a:extLst>
                    <a:ext uri="{9D8B030D-6E8A-4147-A177-3AD203B41FA5}">
                      <a16:colId xmlns:a16="http://schemas.microsoft.com/office/drawing/2014/main" val="2093455259"/>
                    </a:ext>
                  </a:extLst>
                </a:gridCol>
              </a:tblGrid>
              <a:tr h="454553">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336918">
                <a:tc>
                  <a:txBody>
                    <a:bodyPr/>
                    <a:lstStyle/>
                    <a:p>
                      <a:r>
                        <a:rPr lang="en-GB" sz="1060" noProof="0" dirty="0">
                          <a:solidFill>
                            <a:schemeClr val="tx1"/>
                          </a:solidFill>
                        </a:rPr>
                        <a:t>1) Multiply through to make the </a:t>
                      </a:r>
                    </a:p>
                    <a:p>
                      <a:r>
                        <a:rPr lang="en-GB" sz="1060" noProof="0" dirty="0">
                          <a:solidFill>
                            <a:schemeClr val="tx1"/>
                          </a:solidFill>
                        </a:rPr>
                        <a:t>denominators</a:t>
                      </a:r>
                      <a:r>
                        <a:rPr lang="en-GB" sz="1060" baseline="0" noProof="0" dirty="0">
                          <a:solidFill>
                            <a:schemeClr val="tx1"/>
                          </a:solidFill>
                        </a:rPr>
                        <a:t> the same. </a:t>
                      </a:r>
                    </a:p>
                    <a:p>
                      <a:r>
                        <a:rPr lang="en-GB" sz="1060" baseline="0" noProof="0" dirty="0">
                          <a:solidFill>
                            <a:schemeClr val="tx1"/>
                          </a:solidFill>
                        </a:rPr>
                        <a:t>(or: clear the fraction by multiplying both sides appropriately)</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268938">
                <a:tc>
                  <a:txBody>
                    <a:bodyPr/>
                    <a:lstStyle/>
                    <a:p>
                      <a:r>
                        <a:rPr lang="en-GB" sz="1060" noProof="0" dirty="0">
                          <a:solidFill>
                            <a:schemeClr val="tx1"/>
                          </a:solidFill>
                        </a:rPr>
                        <a:t>2) Expand and simplify the numerators.</a:t>
                      </a:r>
                      <a:r>
                        <a:rPr lang="en-GB" sz="1060" baseline="0" noProof="0" dirty="0">
                          <a:solidFill>
                            <a:schemeClr val="tx1"/>
                          </a:solidFill>
                        </a:rPr>
                        <a:t>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1268938">
                <a:tc>
                  <a:txBody>
                    <a:bodyPr/>
                    <a:lstStyle/>
                    <a:p>
                      <a:r>
                        <a:rPr lang="en-GB" sz="1060" noProof="0" dirty="0">
                          <a:solidFill>
                            <a:schemeClr val="tx1"/>
                          </a:solidFill>
                        </a:rPr>
                        <a:t>3) Solve the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bl>
          </a:graphicData>
        </a:graphic>
      </p:graphicFrame>
      <p:sp>
        <p:nvSpPr>
          <p:cNvPr id="17" name="TextBox 16">
            <a:extLst>
              <a:ext uri="{FF2B5EF4-FFF2-40B4-BE49-F238E27FC236}">
                <a16:creationId xmlns:a16="http://schemas.microsoft.com/office/drawing/2014/main" id="{72FAE9BB-D81F-4207-9FF8-E6BE971A99D9}"/>
              </a:ext>
            </a:extLst>
          </p:cNvPr>
          <p:cNvSpPr txBox="1"/>
          <p:nvPr/>
        </p:nvSpPr>
        <p:spPr>
          <a:xfrm>
            <a:off x="2121030" y="4934151"/>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33 - You do…</a:t>
            </a:r>
          </a:p>
        </p:txBody>
      </p:sp>
      <p:sp>
        <p:nvSpPr>
          <p:cNvPr id="19" name="TextBox 18">
            <a:extLst>
              <a:ext uri="{FF2B5EF4-FFF2-40B4-BE49-F238E27FC236}">
                <a16:creationId xmlns:a16="http://schemas.microsoft.com/office/drawing/2014/main" id="{337F58E6-37DE-4890-BDE3-0101DB4D4F11}"/>
              </a:ext>
            </a:extLst>
          </p:cNvPr>
          <p:cNvSpPr txBox="1"/>
          <p:nvPr/>
        </p:nvSpPr>
        <p:spPr>
          <a:xfrm>
            <a:off x="4666212" y="-7990"/>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32 - We do…</a:t>
            </a:r>
          </a:p>
        </p:txBody>
      </p:sp>
      <p:sp>
        <p:nvSpPr>
          <p:cNvPr id="20" name="TextBox 19">
            <a:extLst>
              <a:ext uri="{FF2B5EF4-FFF2-40B4-BE49-F238E27FC236}">
                <a16:creationId xmlns:a16="http://schemas.microsoft.com/office/drawing/2014/main" id="{20EB31B5-3203-4E48-8A19-892EA568053E}"/>
              </a:ext>
            </a:extLst>
          </p:cNvPr>
          <p:cNvSpPr txBox="1"/>
          <p:nvPr/>
        </p:nvSpPr>
        <p:spPr>
          <a:xfrm>
            <a:off x="2023984" y="22049"/>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31 - I do…</a:t>
            </a:r>
          </a:p>
        </p:txBody>
      </p:sp>
      <mc:AlternateContent xmlns:mc="http://schemas.openxmlformats.org/markup-compatibility/2006" xmlns:a14="http://schemas.microsoft.com/office/drawing/2010/main">
        <mc:Choice Requires="a14">
          <p:sp>
            <p:nvSpPr>
              <p:cNvPr id="23" name="TextBox 22"/>
              <p:cNvSpPr txBox="1"/>
              <p:nvPr/>
            </p:nvSpPr>
            <p:spPr>
              <a:xfrm>
                <a:off x="2023984" y="383901"/>
                <a:ext cx="1594539" cy="357277"/>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+8</m:t>
                        </m:r>
                      </m:num>
                      <m:den>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=1</m:t>
                    </m:r>
                  </m:oMath>
                </a14:m>
                <a:endParaRPr lang="en-GB" sz="1200" noProof="0" dirty="0"/>
              </a:p>
            </p:txBody>
          </p:sp>
        </mc:Choice>
        <mc:Fallback xmlns="">
          <p:sp>
            <p:nvSpPr>
              <p:cNvPr id="23" name="TextBox 22"/>
              <p:cNvSpPr txBox="1">
                <a:spLocks noRot="1" noChangeAspect="1" noMove="1" noResize="1" noEditPoints="1" noAdjustHandles="1" noChangeArrowheads="1" noChangeShapeType="1" noTextEdit="1"/>
              </p:cNvSpPr>
              <p:nvPr/>
            </p:nvSpPr>
            <p:spPr>
              <a:xfrm>
                <a:off x="2023984" y="383901"/>
                <a:ext cx="1594539" cy="357277"/>
              </a:xfrm>
              <a:prstGeom prst="rect">
                <a:avLst/>
              </a:prstGeom>
              <a:blipFill>
                <a:blip r:embed="rId2"/>
                <a:stretch>
                  <a:fillRect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2121030" y="5248333"/>
                <a:ext cx="1519711" cy="353495"/>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=1</m:t>
                    </m:r>
                  </m:oMath>
                </a14:m>
                <a:endParaRPr lang="en-GB" sz="1200" noProof="0" dirty="0"/>
              </a:p>
            </p:txBody>
          </p:sp>
        </mc:Choice>
        <mc:Fallback xmlns="">
          <p:sp>
            <p:nvSpPr>
              <p:cNvPr id="30" name="TextBox 29"/>
              <p:cNvSpPr txBox="1">
                <a:spLocks noRot="1" noChangeAspect="1" noMove="1" noResize="1" noEditPoints="1" noAdjustHandles="1" noChangeArrowheads="1" noChangeShapeType="1" noTextEdit="1"/>
              </p:cNvSpPr>
              <p:nvPr/>
            </p:nvSpPr>
            <p:spPr>
              <a:xfrm>
                <a:off x="2121030" y="5248333"/>
                <a:ext cx="1519711" cy="353495"/>
              </a:xfrm>
              <a:prstGeom prst="rect">
                <a:avLst/>
              </a:prstGeom>
              <a:blipFill>
                <a:blip r:embed="rId3"/>
                <a:stretch>
                  <a:fillRect l="-402"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4542548" y="393325"/>
                <a:ext cx="1585434" cy="356123"/>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6</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5−2</m:t>
                        </m:r>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=7</m:t>
                    </m:r>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4542548" y="393325"/>
                <a:ext cx="1585434" cy="356123"/>
              </a:xfrm>
              <a:prstGeom prst="rect">
                <a:avLst/>
              </a:prstGeom>
              <a:blipFill>
                <a:blip r:embed="rId4"/>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4700837" y="5244807"/>
                <a:ext cx="1519711" cy="357021"/>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3</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=4</m:t>
                    </m:r>
                  </m:oMath>
                </a14:m>
                <a:endParaRPr lang="en-GB" sz="1200" noProof="0" dirty="0"/>
              </a:p>
            </p:txBody>
          </p:sp>
        </mc:Choice>
        <mc:Fallback xmlns="">
          <p:sp>
            <p:nvSpPr>
              <p:cNvPr id="37" name="TextBox 36"/>
              <p:cNvSpPr txBox="1">
                <a:spLocks noRot="1" noChangeAspect="1" noMove="1" noResize="1" noEditPoints="1" noAdjustHandles="1" noChangeArrowheads="1" noChangeShapeType="1" noTextEdit="1"/>
              </p:cNvSpPr>
              <p:nvPr/>
            </p:nvSpPr>
            <p:spPr>
              <a:xfrm>
                <a:off x="4700837" y="5244807"/>
                <a:ext cx="1519711" cy="357021"/>
              </a:xfrm>
              <a:prstGeom prst="rect">
                <a:avLst/>
              </a:prstGeom>
              <a:blipFill>
                <a:blip r:embed="rId5"/>
                <a:stretch>
                  <a:fillRect b="-1695"/>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72FAE9BB-D81F-4207-9FF8-E6BE971A99D9}"/>
              </a:ext>
            </a:extLst>
          </p:cNvPr>
          <p:cNvSpPr txBox="1"/>
          <p:nvPr/>
        </p:nvSpPr>
        <p:spPr>
          <a:xfrm>
            <a:off x="4838539" y="4919445"/>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34 - You do…</a:t>
            </a:r>
          </a:p>
        </p:txBody>
      </p:sp>
      <p:sp>
        <p:nvSpPr>
          <p:cNvPr id="3" name="Slide Number Placeholder 2"/>
          <p:cNvSpPr>
            <a:spLocks noGrp="1"/>
          </p:cNvSpPr>
          <p:nvPr>
            <p:ph type="sldNum" sz="quarter" idx="12"/>
          </p:nvPr>
        </p:nvSpPr>
        <p:spPr>
          <a:xfrm>
            <a:off x="5396724" y="9512675"/>
            <a:ext cx="1275538" cy="513229"/>
          </a:xfrm>
        </p:spPr>
        <p:txBody>
          <a:bodyPr/>
          <a:lstStyle/>
          <a:p>
            <a:fld id="{9BD3B4A0-BFF9-422C-B253-48BA94BE2F5B}" type="slidenum">
              <a:rPr lang="en-GB" noProof="0" smtClean="0"/>
              <a:t>29</a:t>
            </a:fld>
            <a:endParaRPr lang="en-GB" noProof="0" dirty="0"/>
          </a:p>
        </p:txBody>
      </p:sp>
    </p:spTree>
    <p:extLst>
      <p:ext uri="{BB962C8B-B14F-4D97-AF65-F5344CB8AC3E}">
        <p14:creationId xmlns:p14="http://schemas.microsoft.com/office/powerpoint/2010/main" val="937638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p:cNvSpPr txBox="1"/>
          <p:nvPr/>
        </p:nvSpPr>
        <p:spPr>
          <a:xfrm>
            <a:off x="2115043" y="75571"/>
            <a:ext cx="2128083" cy="276999"/>
          </a:xfrm>
          <a:prstGeom prst="rect">
            <a:avLst/>
          </a:prstGeom>
          <a:noFill/>
        </p:spPr>
        <p:txBody>
          <a:bodyPr wrap="none" rtlCol="0">
            <a:spAutoFit/>
          </a:bodyPr>
          <a:lstStyle/>
          <a:p>
            <a:pPr algn="ctr"/>
            <a:r>
              <a:rPr lang="en-GB" sz="1200" noProof="0" dirty="0"/>
              <a:t>1. Solve the algebraic fractions.</a:t>
            </a:r>
          </a:p>
        </p:txBody>
      </p:sp>
      <p:sp>
        <p:nvSpPr>
          <p:cNvPr id="44" name="TextBox 43">
            <a:extLst>
              <a:ext uri="{FF2B5EF4-FFF2-40B4-BE49-F238E27FC236}">
                <a16:creationId xmlns:a16="http://schemas.microsoft.com/office/drawing/2014/main" id="{C3C65E48-8C3D-6849-AD77-7AD8678AD8DA}"/>
              </a:ext>
            </a:extLst>
          </p:cNvPr>
          <p:cNvSpPr txBox="1"/>
          <p:nvPr/>
        </p:nvSpPr>
        <p:spPr>
          <a:xfrm>
            <a:off x="147355" y="93060"/>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07B6CF91-B50B-E1B0-1B07-0ADDA363BC3E}"/>
                  </a:ext>
                </a:extLst>
              </p:cNvPr>
              <p:cNvGraphicFramePr>
                <a:graphicFrameLocks noGrp="1"/>
              </p:cNvGraphicFramePr>
              <p:nvPr>
                <p:extLst>
                  <p:ext uri="{D42A27DB-BD31-4B8C-83A1-F6EECF244321}">
                    <p14:modId xmlns:p14="http://schemas.microsoft.com/office/powerpoint/2010/main" val="2441136424"/>
                  </p:ext>
                </p:extLst>
              </p:nvPr>
            </p:nvGraphicFramePr>
            <p:xfrm>
              <a:off x="112866" y="436986"/>
              <a:ext cx="6632268" cy="9032028"/>
            </p:xfrm>
            <a:graphic>
              <a:graphicData uri="http://schemas.openxmlformats.org/drawingml/2006/table">
                <a:tbl>
                  <a:tblPr firstRow="1" bandRow="1">
                    <a:tableStyleId>{5940675A-B579-460E-94D1-54222C63F5DA}</a:tableStyleId>
                  </a:tblPr>
                  <a:tblGrid>
                    <a:gridCol w="3316134">
                      <a:extLst>
                        <a:ext uri="{9D8B030D-6E8A-4147-A177-3AD203B41FA5}">
                          <a16:colId xmlns:a16="http://schemas.microsoft.com/office/drawing/2014/main" val="2553790693"/>
                        </a:ext>
                      </a:extLst>
                    </a:gridCol>
                    <a:gridCol w="3316134">
                      <a:extLst>
                        <a:ext uri="{9D8B030D-6E8A-4147-A177-3AD203B41FA5}">
                          <a16:colId xmlns:a16="http://schemas.microsoft.com/office/drawing/2014/main" val="1522167951"/>
                        </a:ext>
                      </a:extLst>
                    </a:gridCol>
                  </a:tblGrid>
                  <a:tr h="451601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400" noProof="0" dirty="0"/>
                            <a:t>a) </a:t>
                          </a:r>
                          <a14:m>
                            <m:oMath xmlns:m="http://schemas.openxmlformats.org/officeDocument/2006/math">
                              <m:f>
                                <m:fPr>
                                  <m:ctrlPr>
                                    <a:rPr lang="en-GB" sz="1400" i="1" noProof="0">
                                      <a:latin typeface="Cambria Math" panose="02040503050406030204" pitchFamily="18" charset="0"/>
                                    </a:rPr>
                                  </m:ctrlPr>
                                </m:fPr>
                                <m:num>
                                  <m:r>
                                    <a:rPr lang="en-GB" sz="1400" i="1" noProof="0">
                                      <a:latin typeface="Cambria Math" panose="02040503050406030204" pitchFamily="18" charset="0"/>
                                    </a:rPr>
                                    <m:t>𝑥</m:t>
                                  </m:r>
                                </m:num>
                                <m:den>
                                  <m:r>
                                    <a:rPr lang="en-GB" sz="1400" i="1" noProof="0">
                                      <a:latin typeface="Cambria Math" panose="02040503050406030204" pitchFamily="18" charset="0"/>
                                    </a:rPr>
                                    <m:t>3</m:t>
                                  </m:r>
                                </m:den>
                              </m:f>
                              <m:r>
                                <a:rPr lang="en-GB" sz="1400" i="1" noProof="0">
                                  <a:latin typeface="Cambria Math" panose="02040503050406030204" pitchFamily="18" charset="0"/>
                                </a:rPr>
                                <m:t>+</m:t>
                              </m:r>
                              <m:f>
                                <m:fPr>
                                  <m:ctrlPr>
                                    <a:rPr lang="en-GB" sz="1400" i="1" noProof="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−2</m:t>
                                  </m:r>
                                </m:num>
                                <m:den>
                                  <m:r>
                                    <a:rPr lang="en-GB" sz="1400" b="0" i="1" noProof="0" smtClean="0">
                                      <a:latin typeface="Cambria Math" panose="02040503050406030204" pitchFamily="18" charset="0"/>
                                    </a:rPr>
                                    <m:t>6</m:t>
                                  </m:r>
                                </m:den>
                              </m:f>
                              <m:r>
                                <a:rPr lang="en-GB" sz="1400" i="1" noProof="0">
                                  <a:latin typeface="Cambria Math" panose="02040503050406030204" pitchFamily="18" charset="0"/>
                                </a:rPr>
                                <m:t>=4</m:t>
                              </m:r>
                            </m:oMath>
                          </a14:m>
                          <a:endParaRPr lang="en-GB" sz="1400" noProof="0" dirty="0"/>
                        </a:p>
                        <a:p>
                          <a:endParaRPr lang="en-GB" noProof="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400" noProof="0" dirty="0"/>
                            <a:t>b) Solve </a:t>
                          </a:r>
                          <a14:m>
                            <m:oMath xmlns:m="http://schemas.openxmlformats.org/officeDocument/2006/math">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+8</m:t>
                                  </m:r>
                                </m:num>
                                <m:den>
                                  <m:r>
                                    <a:rPr lang="en-GB" sz="1400" b="0" i="1" noProof="0" smtClean="0">
                                      <a:latin typeface="Cambria Math" panose="02040503050406030204" pitchFamily="18" charset="0"/>
                                    </a:rPr>
                                    <m:t>2</m:t>
                                  </m:r>
                                </m:den>
                              </m:f>
                              <m:r>
                                <a:rPr lang="en-GB" sz="1400" b="0" i="1" noProof="0" smtClean="0">
                                  <a:latin typeface="Cambria Math" panose="02040503050406030204" pitchFamily="18" charset="0"/>
                                </a:rPr>
                                <m:t>+</m:t>
                              </m:r>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+6</m:t>
                                  </m:r>
                                </m:num>
                                <m:den>
                                  <m:r>
                                    <a:rPr lang="en-GB" sz="1400" b="0" i="1" noProof="0" smtClean="0">
                                      <a:latin typeface="Cambria Math" panose="02040503050406030204" pitchFamily="18" charset="0"/>
                                    </a:rPr>
                                    <m:t>4</m:t>
                                  </m:r>
                                </m:den>
                              </m:f>
                              <m:r>
                                <a:rPr lang="en-GB" sz="1400" b="0" i="1" noProof="0" smtClean="0">
                                  <a:latin typeface="Cambria Math" panose="02040503050406030204" pitchFamily="18" charset="0"/>
                                </a:rPr>
                                <m:t>=7</m:t>
                              </m:r>
                            </m:oMath>
                          </a14:m>
                          <a:endParaRPr lang="en-GB" sz="1400" noProof="0" dirty="0"/>
                        </a:p>
                        <a:p>
                          <a:endParaRPr lang="en-GB" noProof="0" dirty="0"/>
                        </a:p>
                      </a:txBody>
                      <a:tcPr/>
                    </a:tc>
                    <a:extLst>
                      <a:ext uri="{0D108BD9-81ED-4DB2-BD59-A6C34878D82A}">
                        <a16:rowId xmlns:a16="http://schemas.microsoft.com/office/drawing/2014/main" val="2117485703"/>
                      </a:ext>
                    </a:extLst>
                  </a:tr>
                  <a:tr h="451601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400" noProof="0" dirty="0"/>
                            <a:t>c) </a:t>
                          </a:r>
                          <a:r>
                            <a:rPr lang="en-GB" sz="1400" baseline="0" noProof="0" dirty="0"/>
                            <a:t> </a:t>
                          </a:r>
                          <a14:m>
                            <m:oMath xmlns:m="http://schemas.openxmlformats.org/officeDocument/2006/math">
                              <m:f>
                                <m:fPr>
                                  <m:ctrlPr>
                                    <a:rPr lang="en-GB" sz="1400" i="1" noProof="0" smtClean="0">
                                      <a:latin typeface="Cambria Math" panose="02040503050406030204" pitchFamily="18" charset="0"/>
                                    </a:rPr>
                                  </m:ctrlPr>
                                </m:fPr>
                                <m:num>
                                  <m:r>
                                    <a:rPr lang="en-GB" sz="1400" i="1" noProof="0" smtClean="0">
                                      <a:latin typeface="Cambria Math" panose="02040503050406030204" pitchFamily="18" charset="0"/>
                                    </a:rPr>
                                    <m:t>𝑥</m:t>
                                  </m:r>
                                  <m:r>
                                    <a:rPr lang="en-GB" sz="1400" i="1" noProof="0" smtClean="0">
                                      <a:latin typeface="Cambria Math" panose="02040503050406030204" pitchFamily="18" charset="0"/>
                                    </a:rPr>
                                    <m:t>+1</m:t>
                                  </m:r>
                                </m:num>
                                <m:den>
                                  <m:r>
                                    <a:rPr lang="en-GB" sz="1400" i="1" noProof="0" smtClean="0">
                                      <a:latin typeface="Cambria Math" panose="02040503050406030204" pitchFamily="18" charset="0"/>
                                    </a:rPr>
                                    <m:t>2</m:t>
                                  </m:r>
                                </m:den>
                              </m:f>
                              <m:r>
                                <a:rPr lang="en-GB" sz="1400" i="1" noProof="0" smtClean="0">
                                  <a:latin typeface="Cambria Math" panose="02040503050406030204" pitchFamily="18" charset="0"/>
                                </a:rPr>
                                <m:t>+</m:t>
                              </m:r>
                              <m:f>
                                <m:fPr>
                                  <m:ctrlPr>
                                    <a:rPr lang="en-GB" sz="1400" i="1" noProof="0" smtClean="0">
                                      <a:latin typeface="Cambria Math" panose="02040503050406030204" pitchFamily="18" charset="0"/>
                                    </a:rPr>
                                  </m:ctrlPr>
                                </m:fPr>
                                <m:num>
                                  <m:r>
                                    <a:rPr lang="en-GB" sz="1400" i="1" noProof="0" smtClean="0">
                                      <a:latin typeface="Cambria Math" panose="02040503050406030204" pitchFamily="18" charset="0"/>
                                    </a:rPr>
                                    <m:t>𝑥</m:t>
                                  </m:r>
                                  <m:r>
                                    <a:rPr lang="en-GB" sz="1400" i="1" noProof="0" smtClean="0">
                                      <a:latin typeface="Cambria Math" panose="02040503050406030204" pitchFamily="18" charset="0"/>
                                    </a:rPr>
                                    <m:t>+2</m:t>
                                  </m:r>
                                </m:num>
                                <m:den>
                                  <m:r>
                                    <a:rPr lang="en-GB" sz="1400" b="0" i="1" noProof="0" smtClean="0">
                                      <a:latin typeface="Cambria Math" panose="02040503050406030204" pitchFamily="18" charset="0"/>
                                    </a:rPr>
                                    <m:t>5</m:t>
                                  </m:r>
                                </m:den>
                              </m:f>
                              <m:r>
                                <a:rPr lang="en-GB" sz="1400" i="1" noProof="0" smtClean="0">
                                  <a:latin typeface="Cambria Math" panose="02040503050406030204" pitchFamily="18" charset="0"/>
                                </a:rPr>
                                <m:t>=</m:t>
                              </m:r>
                              <m:r>
                                <a:rPr lang="en-GB" sz="1400" b="0" i="1" noProof="0" smtClean="0">
                                  <a:latin typeface="Cambria Math" panose="02040503050406030204" pitchFamily="18" charset="0"/>
                                </a:rPr>
                                <m:t>3</m:t>
                              </m:r>
                            </m:oMath>
                          </a14:m>
                          <a:endParaRPr lang="en-GB" sz="1400" noProof="0" dirty="0"/>
                        </a:p>
                        <a:p>
                          <a:endParaRPr lang="en-GB" noProof="0" dirty="0"/>
                        </a:p>
                      </a:txBody>
                      <a:tcPr/>
                    </a:tc>
                    <a:tc>
                      <a:txBody>
                        <a:bodyPr/>
                        <a:lstStyle/>
                        <a:p>
                          <a:r>
                            <a:rPr lang="en-GB" sz="1400" noProof="0" dirty="0"/>
                            <a:t>d) </a:t>
                          </a:r>
                          <a14:m>
                            <m:oMath xmlns:m="http://schemas.openxmlformats.org/officeDocument/2006/math">
                              <m:f>
                                <m:fPr>
                                  <m:ctrlPr>
                                    <a:rPr lang="en-GB" sz="1400" i="1" noProof="0" smtClean="0">
                                      <a:latin typeface="Cambria Math" panose="02040503050406030204" pitchFamily="18" charset="0"/>
                                    </a:rPr>
                                  </m:ctrlPr>
                                </m:fPr>
                                <m:num>
                                  <m:r>
                                    <a:rPr lang="en-GB" sz="1400" i="1" noProof="0" smtClean="0">
                                      <a:latin typeface="Cambria Math" panose="02040503050406030204" pitchFamily="18" charset="0"/>
                                    </a:rPr>
                                    <m:t>𝑥</m:t>
                                  </m:r>
                                  <m:r>
                                    <a:rPr lang="en-GB" sz="1400" i="1" noProof="0" smtClean="0">
                                      <a:latin typeface="Cambria Math" panose="02040503050406030204" pitchFamily="18" charset="0"/>
                                    </a:rPr>
                                    <m:t>+1</m:t>
                                  </m:r>
                                </m:num>
                                <m:den>
                                  <m:r>
                                    <a:rPr lang="en-GB" sz="1400" i="1" noProof="0" smtClean="0">
                                      <a:latin typeface="Cambria Math" panose="02040503050406030204" pitchFamily="18" charset="0"/>
                                    </a:rPr>
                                    <m:t>2</m:t>
                                  </m:r>
                                </m:den>
                              </m:f>
                              <m:r>
                                <a:rPr lang="en-GB" sz="1400" i="1" noProof="0" smtClean="0">
                                  <a:latin typeface="Cambria Math" panose="02040503050406030204" pitchFamily="18" charset="0"/>
                                </a:rPr>
                                <m:t>+</m:t>
                              </m:r>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2</m:t>
                                  </m:r>
                                  <m:r>
                                    <a:rPr lang="en-GB" sz="1400" i="1" noProof="0" smtClean="0">
                                      <a:latin typeface="Cambria Math" panose="02040503050406030204" pitchFamily="18" charset="0"/>
                                    </a:rPr>
                                    <m:t>𝑥</m:t>
                                  </m:r>
                                  <m:r>
                                    <a:rPr lang="en-GB" sz="1400" i="1" noProof="0" smtClean="0">
                                      <a:latin typeface="Cambria Math" panose="02040503050406030204" pitchFamily="18" charset="0"/>
                                    </a:rPr>
                                    <m:t>+1</m:t>
                                  </m:r>
                                </m:num>
                                <m:den>
                                  <m:r>
                                    <a:rPr lang="en-GB" sz="1400" b="0" i="1" noProof="0" smtClean="0">
                                      <a:latin typeface="Cambria Math" panose="02040503050406030204" pitchFamily="18" charset="0"/>
                                    </a:rPr>
                                    <m:t>3</m:t>
                                  </m:r>
                                </m:den>
                              </m:f>
                              <m:r>
                                <a:rPr lang="en-GB" sz="1400" i="1" noProof="0" smtClean="0">
                                  <a:latin typeface="Cambria Math" panose="02040503050406030204" pitchFamily="18" charset="0"/>
                                </a:rPr>
                                <m:t>=</m:t>
                              </m:r>
                              <m:r>
                                <a:rPr lang="en-GB" sz="1400" b="0" i="1" noProof="0" smtClean="0">
                                  <a:latin typeface="Cambria Math" panose="02040503050406030204" pitchFamily="18" charset="0"/>
                                </a:rPr>
                                <m:t>9</m:t>
                              </m:r>
                            </m:oMath>
                          </a14:m>
                          <a:endParaRPr lang="en-GB" noProof="0" dirty="0"/>
                        </a:p>
                      </a:txBody>
                      <a:tcPr/>
                    </a:tc>
                    <a:extLst>
                      <a:ext uri="{0D108BD9-81ED-4DB2-BD59-A6C34878D82A}">
                        <a16:rowId xmlns:a16="http://schemas.microsoft.com/office/drawing/2014/main" val="4090492603"/>
                      </a:ext>
                    </a:extLst>
                  </a:tr>
                </a:tbl>
              </a:graphicData>
            </a:graphic>
          </p:graphicFrame>
        </mc:Choice>
        <mc:Fallback xmlns="">
          <p:graphicFrame>
            <p:nvGraphicFramePr>
              <p:cNvPr id="2" name="Table 1">
                <a:extLst>
                  <a:ext uri="{FF2B5EF4-FFF2-40B4-BE49-F238E27FC236}">
                    <a16:creationId xmlns:a16="http://schemas.microsoft.com/office/drawing/2014/main" id="{07B6CF91-B50B-E1B0-1B07-0ADDA363BC3E}"/>
                  </a:ext>
                </a:extLst>
              </p:cNvPr>
              <p:cNvGraphicFramePr>
                <a:graphicFrameLocks noGrp="1"/>
              </p:cNvGraphicFramePr>
              <p:nvPr>
                <p:extLst>
                  <p:ext uri="{D42A27DB-BD31-4B8C-83A1-F6EECF244321}">
                    <p14:modId xmlns:p14="http://schemas.microsoft.com/office/powerpoint/2010/main" val="2441136424"/>
                  </p:ext>
                </p:extLst>
              </p:nvPr>
            </p:nvGraphicFramePr>
            <p:xfrm>
              <a:off x="112866" y="436986"/>
              <a:ext cx="6632268" cy="9032028"/>
            </p:xfrm>
            <a:graphic>
              <a:graphicData uri="http://schemas.openxmlformats.org/drawingml/2006/table">
                <a:tbl>
                  <a:tblPr firstRow="1" bandRow="1">
                    <a:tableStyleId>{5940675A-B579-460E-94D1-54222C63F5DA}</a:tableStyleId>
                  </a:tblPr>
                  <a:tblGrid>
                    <a:gridCol w="3316134">
                      <a:extLst>
                        <a:ext uri="{9D8B030D-6E8A-4147-A177-3AD203B41FA5}">
                          <a16:colId xmlns:a16="http://schemas.microsoft.com/office/drawing/2014/main" val="2553790693"/>
                        </a:ext>
                      </a:extLst>
                    </a:gridCol>
                    <a:gridCol w="3316134">
                      <a:extLst>
                        <a:ext uri="{9D8B030D-6E8A-4147-A177-3AD203B41FA5}">
                          <a16:colId xmlns:a16="http://schemas.microsoft.com/office/drawing/2014/main" val="1522167951"/>
                        </a:ext>
                      </a:extLst>
                    </a:gridCol>
                  </a:tblGrid>
                  <a:tr h="4516014">
                    <a:tc>
                      <a:txBody>
                        <a:bodyPr/>
                        <a:lstStyle/>
                        <a:p>
                          <a:endParaRPr lang="en-US"/>
                        </a:p>
                      </a:txBody>
                      <a:tcPr>
                        <a:blipFill>
                          <a:blip r:embed="rId2"/>
                          <a:stretch>
                            <a:fillRect l="-183" t="-135" r="-100183" b="-100135"/>
                          </a:stretch>
                        </a:blipFill>
                      </a:tcPr>
                    </a:tc>
                    <a:tc>
                      <a:txBody>
                        <a:bodyPr/>
                        <a:lstStyle/>
                        <a:p>
                          <a:endParaRPr lang="en-US"/>
                        </a:p>
                      </a:txBody>
                      <a:tcPr>
                        <a:blipFill>
                          <a:blip r:embed="rId2"/>
                          <a:stretch>
                            <a:fillRect l="-100368" t="-135" r="-368" b="-100135"/>
                          </a:stretch>
                        </a:blipFill>
                      </a:tcPr>
                    </a:tc>
                    <a:extLst>
                      <a:ext uri="{0D108BD9-81ED-4DB2-BD59-A6C34878D82A}">
                        <a16:rowId xmlns:a16="http://schemas.microsoft.com/office/drawing/2014/main" val="2117485703"/>
                      </a:ext>
                    </a:extLst>
                  </a:tr>
                  <a:tr h="4516014">
                    <a:tc>
                      <a:txBody>
                        <a:bodyPr/>
                        <a:lstStyle/>
                        <a:p>
                          <a:endParaRPr lang="en-US"/>
                        </a:p>
                      </a:txBody>
                      <a:tcPr>
                        <a:blipFill>
                          <a:blip r:embed="rId2"/>
                          <a:stretch>
                            <a:fillRect l="-183" t="-100270" r="-100183" b="-270"/>
                          </a:stretch>
                        </a:blipFill>
                      </a:tcPr>
                    </a:tc>
                    <a:tc>
                      <a:txBody>
                        <a:bodyPr/>
                        <a:lstStyle/>
                        <a:p>
                          <a:endParaRPr lang="en-US"/>
                        </a:p>
                      </a:txBody>
                      <a:tcPr>
                        <a:blipFill>
                          <a:blip r:embed="rId2"/>
                          <a:stretch>
                            <a:fillRect l="-100368" t="-100270" r="-368" b="-270"/>
                          </a:stretch>
                        </a:blipFill>
                      </a:tcPr>
                    </a:tc>
                    <a:extLst>
                      <a:ext uri="{0D108BD9-81ED-4DB2-BD59-A6C34878D82A}">
                        <a16:rowId xmlns:a16="http://schemas.microsoft.com/office/drawing/2014/main" val="4090492603"/>
                      </a:ext>
                    </a:extLst>
                  </a:tr>
                </a:tbl>
              </a:graphicData>
            </a:graphic>
          </p:graphicFrame>
        </mc:Fallback>
      </mc:AlternateContent>
      <p:sp>
        <p:nvSpPr>
          <p:cNvPr id="7" name="Slide Number Placeholder 2">
            <a:extLst>
              <a:ext uri="{FF2B5EF4-FFF2-40B4-BE49-F238E27FC236}">
                <a16:creationId xmlns:a16="http://schemas.microsoft.com/office/drawing/2014/main" id="{08CE0435-B447-1322-1CD7-0FF7AD4736F8}"/>
              </a:ext>
            </a:extLst>
          </p:cNvPr>
          <p:cNvSpPr txBox="1">
            <a:spLocks/>
          </p:cNvSpPr>
          <p:nvPr/>
        </p:nvSpPr>
        <p:spPr>
          <a:xfrm>
            <a:off x="5396724" y="9512675"/>
            <a:ext cx="1275538" cy="513229"/>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30</a:t>
            </a:fld>
            <a:endParaRPr lang="en-GB" noProof="0" dirty="0"/>
          </a:p>
        </p:txBody>
      </p:sp>
    </p:spTree>
    <p:extLst>
      <p:ext uri="{BB962C8B-B14F-4D97-AF65-F5344CB8AC3E}">
        <p14:creationId xmlns:p14="http://schemas.microsoft.com/office/powerpoint/2010/main" val="2931845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9646DD-38BD-2D47-D215-B8972F632D55}"/>
              </a:ext>
            </a:extLst>
          </p:cNvPr>
          <p:cNvSpPr>
            <a:spLocks noGrp="1"/>
          </p:cNvSpPr>
          <p:nvPr>
            <p:ph type="sldNum" sz="quarter" idx="12"/>
          </p:nvPr>
        </p:nvSpPr>
        <p:spPr>
          <a:xfrm>
            <a:off x="5202084" y="9378597"/>
            <a:ext cx="1543050" cy="527403"/>
          </a:xfrm>
        </p:spPr>
        <p:txBody>
          <a:bodyPr/>
          <a:lstStyle/>
          <a:p>
            <a:fld id="{9BD3B4A0-BFF9-422C-B253-48BA94BE2F5B}" type="slidenum">
              <a:rPr lang="en-GB" noProof="0" smtClean="0"/>
              <a:t>31</a:t>
            </a:fld>
            <a:endParaRPr lang="en-GB" noProof="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56F4F7A-8B5E-1BE4-4875-ABEE13F2C335}"/>
                  </a:ext>
                </a:extLst>
              </p:cNvPr>
              <p:cNvGraphicFramePr>
                <a:graphicFrameLocks noGrp="1"/>
              </p:cNvGraphicFramePr>
              <p:nvPr>
                <p:extLst>
                  <p:ext uri="{D42A27DB-BD31-4B8C-83A1-F6EECF244321}">
                    <p14:modId xmlns:p14="http://schemas.microsoft.com/office/powerpoint/2010/main" val="160239302"/>
                  </p:ext>
                </p:extLst>
              </p:nvPr>
            </p:nvGraphicFramePr>
            <p:xfrm>
              <a:off x="112866" y="413070"/>
              <a:ext cx="6632268" cy="9032028"/>
            </p:xfrm>
            <a:graphic>
              <a:graphicData uri="http://schemas.openxmlformats.org/drawingml/2006/table">
                <a:tbl>
                  <a:tblPr firstRow="1" bandRow="1">
                    <a:tableStyleId>{5940675A-B579-460E-94D1-54222C63F5DA}</a:tableStyleId>
                  </a:tblPr>
                  <a:tblGrid>
                    <a:gridCol w="3316134">
                      <a:extLst>
                        <a:ext uri="{9D8B030D-6E8A-4147-A177-3AD203B41FA5}">
                          <a16:colId xmlns:a16="http://schemas.microsoft.com/office/drawing/2014/main" val="2553790693"/>
                        </a:ext>
                      </a:extLst>
                    </a:gridCol>
                    <a:gridCol w="3316134">
                      <a:extLst>
                        <a:ext uri="{9D8B030D-6E8A-4147-A177-3AD203B41FA5}">
                          <a16:colId xmlns:a16="http://schemas.microsoft.com/office/drawing/2014/main" val="1522167951"/>
                        </a:ext>
                      </a:extLst>
                    </a:gridCol>
                  </a:tblGrid>
                  <a:tr h="451601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400" noProof="0" dirty="0"/>
                            <a:t>e) </a:t>
                          </a:r>
                          <a14:m>
                            <m:oMath xmlns:m="http://schemas.openxmlformats.org/officeDocument/2006/math">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num>
                                <m:den>
                                  <m:r>
                                    <a:rPr lang="en-GB" sz="1400" b="0" i="1" noProof="0" smtClean="0">
                                      <a:latin typeface="Cambria Math" panose="02040503050406030204" pitchFamily="18" charset="0"/>
                                    </a:rPr>
                                    <m:t>2</m:t>
                                  </m:r>
                                </m:den>
                              </m:f>
                              <m:r>
                                <a:rPr lang="en-GB" sz="1400" b="0" i="1" noProof="0" smtClean="0">
                                  <a:latin typeface="Cambria Math" panose="02040503050406030204" pitchFamily="18" charset="0"/>
                                </a:rPr>
                                <m:t>+</m:t>
                              </m:r>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3</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num>
                                <m:den>
                                  <m:r>
                                    <a:rPr lang="en-GB" sz="1400" b="0" i="1" noProof="0" smtClean="0">
                                      <a:latin typeface="Cambria Math" panose="02040503050406030204" pitchFamily="18" charset="0"/>
                                    </a:rPr>
                                    <m:t>4</m:t>
                                  </m:r>
                                </m:den>
                              </m:f>
                              <m:r>
                                <a:rPr lang="en-GB" sz="1400" b="0" i="1" noProof="0" smtClean="0">
                                  <a:latin typeface="Cambria Math" panose="02040503050406030204" pitchFamily="18" charset="0"/>
                                </a:rPr>
                                <m:t>=4</m:t>
                              </m:r>
                            </m:oMath>
                          </a14:m>
                          <a:endParaRPr lang="en-GB" sz="1400" noProof="0" dirty="0"/>
                        </a:p>
                        <a:p>
                          <a:endParaRPr lang="en-GB" noProof="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400" noProof="0" dirty="0"/>
                            <a:t>f)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4</m:t>
                                  </m:r>
                                  <m:r>
                                    <a:rPr lang="en-GB" sz="1400" i="1" noProof="0" smtClean="0">
                                      <a:latin typeface="Cambria Math" panose="02040503050406030204" pitchFamily="18" charset="0"/>
                                    </a:rPr>
                                    <m:t>𝑥</m:t>
                                  </m:r>
                                  <m:r>
                                    <a:rPr lang="en-GB" sz="1400" i="1" noProof="0" smtClean="0">
                                      <a:latin typeface="Cambria Math" panose="02040503050406030204" pitchFamily="18" charset="0"/>
                                    </a:rPr>
                                    <m:t>+1</m:t>
                                  </m:r>
                                </m:num>
                                <m:den>
                                  <m:r>
                                    <a:rPr lang="en-GB" sz="1400" b="0" i="1" noProof="0" smtClean="0">
                                      <a:latin typeface="Cambria Math" panose="02040503050406030204" pitchFamily="18" charset="0"/>
                                    </a:rPr>
                                    <m:t>3</m:t>
                                  </m:r>
                                </m:den>
                              </m:f>
                              <m:r>
                                <a:rPr lang="en-GB" sz="1400" b="0" i="1" noProof="0" smtClean="0">
                                  <a:latin typeface="Cambria Math" panose="02040503050406030204" pitchFamily="18" charset="0"/>
                                </a:rPr>
                                <m:t>−</m:t>
                              </m:r>
                              <m:f>
                                <m:fPr>
                                  <m:ctrlPr>
                                    <a:rPr lang="en-GB" sz="1400" i="1" noProof="0" smtClean="0">
                                      <a:latin typeface="Cambria Math" panose="02040503050406030204" pitchFamily="18" charset="0"/>
                                    </a:rPr>
                                  </m:ctrlPr>
                                </m:fPr>
                                <m:num>
                                  <m:r>
                                    <a:rPr lang="en-GB" sz="1400" i="1" noProof="0" smtClean="0">
                                      <a:latin typeface="Cambria Math" panose="02040503050406030204" pitchFamily="18" charset="0"/>
                                    </a:rPr>
                                    <m:t>𝑥</m:t>
                                  </m:r>
                                  <m:r>
                                    <a:rPr lang="en-GB" sz="1400" i="1" noProof="0" smtClean="0">
                                      <a:latin typeface="Cambria Math" panose="02040503050406030204" pitchFamily="18" charset="0"/>
                                    </a:rPr>
                                    <m:t>+2</m:t>
                                  </m:r>
                                </m:num>
                                <m:den>
                                  <m:r>
                                    <a:rPr lang="en-GB" sz="1400" b="0" i="1" noProof="0" smtClean="0">
                                      <a:latin typeface="Cambria Math" panose="02040503050406030204" pitchFamily="18" charset="0"/>
                                    </a:rPr>
                                    <m:t>4</m:t>
                                  </m:r>
                                </m:den>
                              </m:f>
                              <m:r>
                                <a:rPr lang="en-GB" sz="1400" i="1" noProof="0" smtClean="0">
                                  <a:latin typeface="Cambria Math" panose="02040503050406030204" pitchFamily="18" charset="0"/>
                                </a:rPr>
                                <m:t>=</m:t>
                              </m:r>
                              <m:r>
                                <a:rPr lang="en-GB" sz="1400" b="0" i="1" noProof="0" smtClean="0">
                                  <a:latin typeface="Cambria Math" panose="02040503050406030204" pitchFamily="18" charset="0"/>
                                </a:rPr>
                                <m:t>2</m:t>
                              </m:r>
                            </m:oMath>
                          </a14:m>
                          <a:endParaRPr lang="en-GB" noProof="0" dirty="0"/>
                        </a:p>
                      </a:txBody>
                      <a:tcPr/>
                    </a:tc>
                    <a:extLst>
                      <a:ext uri="{0D108BD9-81ED-4DB2-BD59-A6C34878D82A}">
                        <a16:rowId xmlns:a16="http://schemas.microsoft.com/office/drawing/2014/main" val="2117485703"/>
                      </a:ext>
                    </a:extLst>
                  </a:tr>
                  <a:tr h="4516014">
                    <a:tc>
                      <a:txBody>
                        <a:bodyPr/>
                        <a:lstStyle/>
                        <a:p>
                          <a:r>
                            <a:rPr lang="en-GB" noProof="0" dirty="0"/>
                            <a:t>g) </a:t>
                          </a:r>
                          <a14:m>
                            <m:oMath xmlns:m="http://schemas.openxmlformats.org/officeDocument/2006/math">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2</m:t>
                                  </m:r>
                                  <m:r>
                                    <a:rPr lang="en-GB" sz="1400" i="1" noProof="0" smtClean="0">
                                      <a:latin typeface="Cambria Math" panose="02040503050406030204" pitchFamily="18" charset="0"/>
                                    </a:rPr>
                                    <m:t>𝑥</m:t>
                                  </m:r>
                                  <m:r>
                                    <a:rPr lang="en-GB" sz="1400" i="1" noProof="0" smtClean="0">
                                      <a:latin typeface="Cambria Math" panose="02040503050406030204" pitchFamily="18" charset="0"/>
                                    </a:rPr>
                                    <m:t>+1</m:t>
                                  </m:r>
                                </m:num>
                                <m:den>
                                  <m:r>
                                    <a:rPr lang="en-GB" sz="1400" b="0" i="1" noProof="0" smtClean="0">
                                      <a:latin typeface="Cambria Math" panose="02040503050406030204" pitchFamily="18" charset="0"/>
                                    </a:rPr>
                                    <m:t>2</m:t>
                                  </m:r>
                                </m:den>
                              </m:f>
                              <m:r>
                                <a:rPr lang="en-GB" sz="1400" b="0" i="1" noProof="0" smtClean="0">
                                  <a:latin typeface="Cambria Math" panose="02040503050406030204" pitchFamily="18" charset="0"/>
                                </a:rPr>
                                <m:t>−</m:t>
                              </m:r>
                              <m:f>
                                <m:fPr>
                                  <m:ctrlPr>
                                    <a:rPr lang="en-GB" sz="1400" i="1" noProof="0" smtClean="0">
                                      <a:latin typeface="Cambria Math" panose="02040503050406030204" pitchFamily="18" charset="0"/>
                                    </a:rPr>
                                  </m:ctrlPr>
                                </m:fPr>
                                <m:num>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num>
                                <m:den>
                                  <m:r>
                                    <a:rPr lang="en-GB" sz="1400" b="0" i="1" noProof="0" smtClean="0">
                                      <a:latin typeface="Cambria Math" panose="02040503050406030204" pitchFamily="18" charset="0"/>
                                    </a:rPr>
                                    <m:t>7</m:t>
                                  </m:r>
                                </m:den>
                              </m:f>
                              <m:r>
                                <a:rPr lang="en-GB" sz="1400" i="1" noProof="0" smtClean="0">
                                  <a:latin typeface="Cambria Math" panose="02040503050406030204" pitchFamily="18" charset="0"/>
                                </a:rPr>
                                <m:t>=</m:t>
                              </m:r>
                              <m:r>
                                <a:rPr lang="en-GB" sz="1400" b="0" i="1" noProof="0" smtClean="0">
                                  <a:latin typeface="Cambria Math" panose="02040503050406030204" pitchFamily="18" charset="0"/>
                                </a:rPr>
                                <m:t>1</m:t>
                              </m:r>
                            </m:oMath>
                          </a14:m>
                          <a:endParaRPr lang="en-GB" noProof="0" dirty="0"/>
                        </a:p>
                      </a:txBody>
                      <a:tcPr/>
                    </a:tc>
                    <a:tc>
                      <a:txBody>
                        <a:bodyPr/>
                        <a:lstStyle/>
                        <a:p>
                          <a:r>
                            <a:rPr lang="en-GB" noProof="0" dirty="0"/>
                            <a:t>h) </a:t>
                          </a:r>
                          <a14:m>
                            <m:oMath xmlns:m="http://schemas.openxmlformats.org/officeDocument/2006/math">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3</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num>
                                <m:den>
                                  <m:r>
                                    <a:rPr lang="en-GB" sz="1400" b="0" i="1" noProof="0" smtClean="0">
                                      <a:latin typeface="Cambria Math" panose="02040503050406030204" pitchFamily="18" charset="0"/>
                                    </a:rPr>
                                    <m:t>5</m:t>
                                  </m:r>
                                </m:den>
                              </m:f>
                              <m:r>
                                <a:rPr lang="en-GB" sz="1400" b="0" i="1" noProof="0" smtClean="0">
                                  <a:latin typeface="Cambria Math" panose="02040503050406030204" pitchFamily="18" charset="0"/>
                                </a:rPr>
                                <m:t>−</m:t>
                              </m:r>
                              <m:f>
                                <m:fPr>
                                  <m:ctrlPr>
                                    <a:rPr lang="en-GB" sz="1400" b="0" i="1" noProof="0" smtClean="0">
                                      <a:latin typeface="Cambria Math" panose="02040503050406030204" pitchFamily="18" charset="0"/>
                                    </a:rPr>
                                  </m:ctrlPr>
                                </m:fPr>
                                <m:num>
                                  <m:r>
                                    <a:rPr lang="en-GB" sz="1400" b="0" i="1" noProof="0" smtClean="0">
                                      <a:latin typeface="Cambria Math" panose="02040503050406030204" pitchFamily="18" charset="0"/>
                                    </a:rPr>
                                    <m:t>5</m:t>
                                  </m:r>
                                  <m:r>
                                    <a:rPr lang="en-GB" sz="1400" b="0" i="1" noProof="0" smtClean="0">
                                      <a:latin typeface="Cambria Math" panose="02040503050406030204" pitchFamily="18" charset="0"/>
                                    </a:rPr>
                                    <m:t>𝑥</m:t>
                                  </m:r>
                                  <m:r>
                                    <a:rPr lang="en-GB" sz="1400" b="0" i="1" noProof="0" smtClean="0">
                                      <a:latin typeface="Cambria Math" panose="02040503050406030204" pitchFamily="18" charset="0"/>
                                    </a:rPr>
                                    <m:t>−1</m:t>
                                  </m:r>
                                </m:num>
                                <m:den>
                                  <m:r>
                                    <a:rPr lang="en-GB" sz="1400" b="0" i="1" noProof="0" smtClean="0">
                                      <a:latin typeface="Cambria Math" panose="02040503050406030204" pitchFamily="18" charset="0"/>
                                    </a:rPr>
                                    <m:t>7</m:t>
                                  </m:r>
                                </m:den>
                              </m:f>
                              <m:r>
                                <a:rPr lang="en-GB" sz="1400" b="0" i="1" noProof="0" smtClean="0">
                                  <a:latin typeface="Cambria Math" panose="02040503050406030204" pitchFamily="18" charset="0"/>
                                </a:rPr>
                                <m:t>=0</m:t>
                              </m:r>
                            </m:oMath>
                          </a14:m>
                          <a:endParaRPr lang="en-GB" noProof="0" dirty="0"/>
                        </a:p>
                      </a:txBody>
                      <a:tcPr/>
                    </a:tc>
                    <a:extLst>
                      <a:ext uri="{0D108BD9-81ED-4DB2-BD59-A6C34878D82A}">
                        <a16:rowId xmlns:a16="http://schemas.microsoft.com/office/drawing/2014/main" val="4090492603"/>
                      </a:ext>
                    </a:extLst>
                  </a:tr>
                </a:tbl>
              </a:graphicData>
            </a:graphic>
          </p:graphicFrame>
        </mc:Choice>
        <mc:Fallback xmlns="">
          <p:graphicFrame>
            <p:nvGraphicFramePr>
              <p:cNvPr id="3" name="Table 2">
                <a:extLst>
                  <a:ext uri="{FF2B5EF4-FFF2-40B4-BE49-F238E27FC236}">
                    <a16:creationId xmlns:a16="http://schemas.microsoft.com/office/drawing/2014/main" id="{B56F4F7A-8B5E-1BE4-4875-ABEE13F2C335}"/>
                  </a:ext>
                </a:extLst>
              </p:cNvPr>
              <p:cNvGraphicFramePr>
                <a:graphicFrameLocks noGrp="1"/>
              </p:cNvGraphicFramePr>
              <p:nvPr>
                <p:extLst>
                  <p:ext uri="{D42A27DB-BD31-4B8C-83A1-F6EECF244321}">
                    <p14:modId xmlns:p14="http://schemas.microsoft.com/office/powerpoint/2010/main" val="160239302"/>
                  </p:ext>
                </p:extLst>
              </p:nvPr>
            </p:nvGraphicFramePr>
            <p:xfrm>
              <a:off x="112866" y="413070"/>
              <a:ext cx="6632268" cy="9032028"/>
            </p:xfrm>
            <a:graphic>
              <a:graphicData uri="http://schemas.openxmlformats.org/drawingml/2006/table">
                <a:tbl>
                  <a:tblPr firstRow="1" bandRow="1">
                    <a:tableStyleId>{5940675A-B579-460E-94D1-54222C63F5DA}</a:tableStyleId>
                  </a:tblPr>
                  <a:tblGrid>
                    <a:gridCol w="3316134">
                      <a:extLst>
                        <a:ext uri="{9D8B030D-6E8A-4147-A177-3AD203B41FA5}">
                          <a16:colId xmlns:a16="http://schemas.microsoft.com/office/drawing/2014/main" val="2553790693"/>
                        </a:ext>
                      </a:extLst>
                    </a:gridCol>
                    <a:gridCol w="3316134">
                      <a:extLst>
                        <a:ext uri="{9D8B030D-6E8A-4147-A177-3AD203B41FA5}">
                          <a16:colId xmlns:a16="http://schemas.microsoft.com/office/drawing/2014/main" val="1522167951"/>
                        </a:ext>
                      </a:extLst>
                    </a:gridCol>
                  </a:tblGrid>
                  <a:tr h="4516014">
                    <a:tc>
                      <a:txBody>
                        <a:bodyPr/>
                        <a:lstStyle/>
                        <a:p>
                          <a:endParaRPr lang="en-US"/>
                        </a:p>
                      </a:txBody>
                      <a:tcPr>
                        <a:blipFill>
                          <a:blip r:embed="rId2"/>
                          <a:stretch>
                            <a:fillRect l="-183" t="-135" r="-100183" b="-100135"/>
                          </a:stretch>
                        </a:blipFill>
                      </a:tcPr>
                    </a:tc>
                    <a:tc>
                      <a:txBody>
                        <a:bodyPr/>
                        <a:lstStyle/>
                        <a:p>
                          <a:endParaRPr lang="en-US"/>
                        </a:p>
                      </a:txBody>
                      <a:tcPr>
                        <a:blipFill>
                          <a:blip r:embed="rId2"/>
                          <a:stretch>
                            <a:fillRect l="-100368" t="-135" r="-368" b="-100135"/>
                          </a:stretch>
                        </a:blipFill>
                      </a:tcPr>
                    </a:tc>
                    <a:extLst>
                      <a:ext uri="{0D108BD9-81ED-4DB2-BD59-A6C34878D82A}">
                        <a16:rowId xmlns:a16="http://schemas.microsoft.com/office/drawing/2014/main" val="2117485703"/>
                      </a:ext>
                    </a:extLst>
                  </a:tr>
                  <a:tr h="4516014">
                    <a:tc>
                      <a:txBody>
                        <a:bodyPr/>
                        <a:lstStyle/>
                        <a:p>
                          <a:endParaRPr lang="en-US"/>
                        </a:p>
                      </a:txBody>
                      <a:tcPr>
                        <a:blipFill>
                          <a:blip r:embed="rId2"/>
                          <a:stretch>
                            <a:fillRect l="-183" t="-100270" r="-100183" b="-270"/>
                          </a:stretch>
                        </a:blipFill>
                      </a:tcPr>
                    </a:tc>
                    <a:tc>
                      <a:txBody>
                        <a:bodyPr/>
                        <a:lstStyle/>
                        <a:p>
                          <a:endParaRPr lang="en-US"/>
                        </a:p>
                      </a:txBody>
                      <a:tcPr>
                        <a:blipFill>
                          <a:blip r:embed="rId2"/>
                          <a:stretch>
                            <a:fillRect l="-100368" t="-100270" r="-368" b="-270"/>
                          </a:stretch>
                        </a:blipFill>
                      </a:tcPr>
                    </a:tc>
                    <a:extLst>
                      <a:ext uri="{0D108BD9-81ED-4DB2-BD59-A6C34878D82A}">
                        <a16:rowId xmlns:a16="http://schemas.microsoft.com/office/drawing/2014/main" val="4090492603"/>
                      </a:ext>
                    </a:extLst>
                  </a:tr>
                </a:tbl>
              </a:graphicData>
            </a:graphic>
          </p:graphicFrame>
        </mc:Fallback>
      </mc:AlternateContent>
    </p:spTree>
    <p:extLst>
      <p:ext uri="{BB962C8B-B14F-4D97-AF65-F5344CB8AC3E}">
        <p14:creationId xmlns:p14="http://schemas.microsoft.com/office/powerpoint/2010/main" val="36928864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5" name="Table 34"/>
              <p:cNvGraphicFramePr>
                <a:graphicFrameLocks noGrp="1"/>
              </p:cNvGraphicFramePr>
              <p:nvPr>
                <p:extLst>
                  <p:ext uri="{D42A27DB-BD31-4B8C-83A1-F6EECF244321}">
                    <p14:modId xmlns:p14="http://schemas.microsoft.com/office/powerpoint/2010/main" val="2752998950"/>
                  </p:ext>
                </p:extLst>
              </p:nvPr>
            </p:nvGraphicFramePr>
            <p:xfrm>
              <a:off x="187105" y="338784"/>
              <a:ext cx="6557514" cy="4513767"/>
            </p:xfrm>
            <a:graphic>
              <a:graphicData uri="http://schemas.openxmlformats.org/drawingml/2006/table">
                <a:tbl>
                  <a:tblPr firstRow="1" bandRow="1">
                    <a:tableStyleId>{5C22544A-7EE6-4342-B048-85BDC9FD1C3A}</a:tableStyleId>
                  </a:tblPr>
                  <a:tblGrid>
                    <a:gridCol w="1177364">
                      <a:extLst>
                        <a:ext uri="{9D8B030D-6E8A-4147-A177-3AD203B41FA5}">
                          <a16:colId xmlns:a16="http://schemas.microsoft.com/office/drawing/2014/main" val="1568142362"/>
                        </a:ext>
                      </a:extLst>
                    </a:gridCol>
                    <a:gridCol w="2690075">
                      <a:extLst>
                        <a:ext uri="{9D8B030D-6E8A-4147-A177-3AD203B41FA5}">
                          <a16:colId xmlns:a16="http://schemas.microsoft.com/office/drawing/2014/main" val="3551711160"/>
                        </a:ext>
                      </a:extLst>
                    </a:gridCol>
                    <a:gridCol w="2690075">
                      <a:extLst>
                        <a:ext uri="{9D8B030D-6E8A-4147-A177-3AD203B41FA5}">
                          <a16:colId xmlns:a16="http://schemas.microsoft.com/office/drawing/2014/main" val="2470897508"/>
                        </a:ext>
                      </a:extLst>
                    </a:gridCol>
                  </a:tblGrid>
                  <a:tr h="364371">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4803">
                    <a:tc>
                      <a:txBody>
                        <a:bodyPr/>
                        <a:lstStyle/>
                        <a:p>
                          <a:r>
                            <a:rPr lang="en-GB" sz="1060" noProof="0" dirty="0">
                              <a:solidFill>
                                <a:schemeClr val="tx1"/>
                              </a:solidFill>
                            </a:rPr>
                            <a:t>1) Multiply through the make the </a:t>
                          </a:r>
                        </a:p>
                        <a:p>
                          <a:r>
                            <a:rPr lang="en-GB" sz="1060" noProof="0" dirty="0">
                              <a:solidFill>
                                <a:schemeClr val="tx1"/>
                              </a:solidFill>
                            </a:rPr>
                            <a:t>denominators</a:t>
                          </a:r>
                          <a:r>
                            <a:rPr lang="en-GB" sz="1060" baseline="0" noProof="0" dirty="0">
                              <a:solidFill>
                                <a:schemeClr val="tx1"/>
                              </a:solidFill>
                            </a:rPr>
                            <a:t> the same.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35201">
                    <a:tc>
                      <a:txBody>
                        <a:bodyPr/>
                        <a:lstStyle/>
                        <a:p>
                          <a:r>
                            <a:rPr lang="en-GB" sz="1060" noProof="0" dirty="0">
                              <a:solidFill>
                                <a:schemeClr val="tx1"/>
                              </a:solidFill>
                            </a:rPr>
                            <a:t>2) Expand and simplify the numerators.</a:t>
                          </a:r>
                          <a:r>
                            <a:rPr lang="en-GB" sz="1060" baseline="0" noProof="0" dirty="0">
                              <a:solidFill>
                                <a:schemeClr val="tx1"/>
                              </a:solidFill>
                            </a:rPr>
                            <a:t>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709432">
                    <a:tc>
                      <a:txBody>
                        <a:bodyPr/>
                        <a:lstStyle/>
                        <a:p>
                          <a:r>
                            <a:rPr lang="en-GB" sz="1060" noProof="0" dirty="0">
                              <a:solidFill>
                                <a:schemeClr val="tx1"/>
                              </a:solidFill>
                            </a:rPr>
                            <a:t>3) Multiply</a:t>
                          </a:r>
                          <a:r>
                            <a:rPr lang="en-GB" sz="1060" baseline="0" noProof="0" dirty="0">
                              <a:solidFill>
                                <a:schemeClr val="tx1"/>
                              </a:solidFill>
                            </a:rPr>
                            <a:t> through by the denominator.</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r h="635201">
                    <a:tc>
                      <a:txBody>
                        <a:bodyPr/>
                        <a:lstStyle/>
                        <a:p>
                          <a:r>
                            <a:rPr lang="en-GB" sz="1060" noProof="0" dirty="0">
                              <a:solidFill>
                                <a:schemeClr val="tx1"/>
                              </a:solidFill>
                            </a:rPr>
                            <a:t>4)</a:t>
                          </a:r>
                          <a:r>
                            <a:rPr lang="en-GB" sz="1060" baseline="0" noProof="0" dirty="0">
                              <a:solidFill>
                                <a:schemeClr val="tx1"/>
                              </a:solidFill>
                            </a:rPr>
                            <a:t> Expand and simplify the RHS.</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846642217"/>
                      </a:ext>
                    </a:extLst>
                  </a:tr>
                  <a:tr h="635201">
                    <a:tc>
                      <a:txBody>
                        <a:bodyPr/>
                        <a:lstStyle/>
                        <a:p>
                          <a:r>
                            <a:rPr lang="en-GB" sz="1060" noProof="0" dirty="0">
                              <a:solidFill>
                                <a:schemeClr val="tx1"/>
                              </a:solidFill>
                            </a:rPr>
                            <a:t>5) Rearrange</a:t>
                          </a:r>
                          <a:r>
                            <a:rPr lang="en-GB" sz="1060" baseline="0" noProof="0" dirty="0">
                              <a:solidFill>
                                <a:schemeClr val="tx1"/>
                              </a:solidFill>
                            </a:rPr>
                            <a:t> into form </a:t>
                          </a:r>
                          <a14:m>
                            <m:oMath xmlns:m="http://schemas.openxmlformats.org/officeDocument/2006/math">
                              <m:r>
                                <a:rPr lang="en-GB" sz="800" b="0" i="1" baseline="0" noProof="0" smtClean="0">
                                  <a:solidFill>
                                    <a:schemeClr val="tx1"/>
                                  </a:solidFill>
                                  <a:latin typeface="Cambria Math" panose="02040503050406030204" pitchFamily="18" charset="0"/>
                                </a:rPr>
                                <m:t>𝑎</m:t>
                              </m:r>
                              <m:sSup>
                                <m:sSupPr>
                                  <m:ctrlPr>
                                    <a:rPr lang="en-GB" sz="800" b="0" i="1" baseline="0" noProof="0" smtClean="0">
                                      <a:solidFill>
                                        <a:schemeClr val="tx1"/>
                                      </a:solidFill>
                                      <a:latin typeface="Cambria Math" panose="02040503050406030204" pitchFamily="18" charset="0"/>
                                    </a:rPr>
                                  </m:ctrlPr>
                                </m:sSupPr>
                                <m:e>
                                  <m:r>
                                    <a:rPr lang="en-GB" sz="800" b="0" i="1" baseline="0" noProof="0" smtClean="0">
                                      <a:solidFill>
                                        <a:schemeClr val="tx1"/>
                                      </a:solidFill>
                                      <a:latin typeface="Cambria Math" panose="02040503050406030204" pitchFamily="18" charset="0"/>
                                    </a:rPr>
                                    <m:t>𝑥</m:t>
                                  </m:r>
                                </m:e>
                                <m:sup>
                                  <m:r>
                                    <a:rPr lang="en-GB" sz="800" b="0" i="1" baseline="0" noProof="0" smtClean="0">
                                      <a:solidFill>
                                        <a:schemeClr val="tx1"/>
                                      </a:solidFill>
                                      <a:latin typeface="Cambria Math" panose="02040503050406030204" pitchFamily="18" charset="0"/>
                                    </a:rPr>
                                    <m:t>2</m:t>
                                  </m:r>
                                </m:sup>
                              </m:sSup>
                              <m:r>
                                <a:rPr lang="en-GB" sz="800" b="0" i="1" baseline="0" noProof="0" smtClean="0">
                                  <a:solidFill>
                                    <a:schemeClr val="tx1"/>
                                  </a:solidFill>
                                  <a:latin typeface="Cambria Math" panose="02040503050406030204" pitchFamily="18" charset="0"/>
                                </a:rPr>
                                <m:t>+</m:t>
                              </m:r>
                              <m:r>
                                <a:rPr lang="en-GB" sz="800" b="0" i="1" baseline="0" noProof="0" smtClean="0">
                                  <a:solidFill>
                                    <a:schemeClr val="tx1"/>
                                  </a:solidFill>
                                  <a:latin typeface="Cambria Math" panose="02040503050406030204" pitchFamily="18" charset="0"/>
                                </a:rPr>
                                <m:t>𝑏𝑥</m:t>
                              </m:r>
                              <m:r>
                                <a:rPr lang="en-GB" sz="800" b="0" i="1" baseline="0" noProof="0" smtClean="0">
                                  <a:solidFill>
                                    <a:schemeClr val="tx1"/>
                                  </a:solidFill>
                                  <a:latin typeface="Cambria Math" panose="02040503050406030204" pitchFamily="18" charset="0"/>
                                </a:rPr>
                                <m:t>+</m:t>
                              </m:r>
                              <m:r>
                                <a:rPr lang="en-GB" sz="800" b="0" i="1" baseline="0" noProof="0" smtClean="0">
                                  <a:solidFill>
                                    <a:schemeClr val="tx1"/>
                                  </a:solidFill>
                                  <a:latin typeface="Cambria Math" panose="02040503050406030204" pitchFamily="18" charset="0"/>
                                </a:rPr>
                                <m:t>𝑐</m:t>
                              </m:r>
                              <m:r>
                                <a:rPr lang="en-GB" sz="800" b="0" i="1" baseline="0" noProof="0" smtClean="0">
                                  <a:solidFill>
                                    <a:schemeClr val="tx1"/>
                                  </a:solidFill>
                                  <a:latin typeface="Cambria Math" panose="02040503050406030204" pitchFamily="18" charset="0"/>
                                </a:rPr>
                                <m:t>=0</m:t>
                              </m:r>
                            </m:oMath>
                          </a14:m>
                          <a:endParaRPr lang="en-GB" sz="8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51377966"/>
                      </a:ext>
                    </a:extLst>
                  </a:tr>
                  <a:tr h="635201">
                    <a:tc>
                      <a:txBody>
                        <a:bodyPr/>
                        <a:lstStyle/>
                        <a:p>
                          <a:r>
                            <a:rPr lang="en-GB" sz="1100" noProof="0" dirty="0">
                              <a:solidFill>
                                <a:schemeClr val="tx1"/>
                              </a:solidFill>
                            </a:rPr>
                            <a:t>6) Solve the quadratic equation.</a:t>
                          </a:r>
                          <a:r>
                            <a:rPr lang="en-GB" sz="1100" baseline="0" noProof="0" dirty="0">
                              <a:solidFill>
                                <a:schemeClr val="tx1"/>
                              </a:solidFill>
                            </a:rPr>
                            <a:t>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56251899"/>
                      </a:ext>
                    </a:extLst>
                  </a:tr>
                </a:tbl>
              </a:graphicData>
            </a:graphic>
          </p:graphicFrame>
        </mc:Choice>
        <mc:Fallback xmlns="">
          <p:graphicFrame>
            <p:nvGraphicFramePr>
              <p:cNvPr id="35" name="Table 34"/>
              <p:cNvGraphicFramePr>
                <a:graphicFrameLocks noGrp="1"/>
              </p:cNvGraphicFramePr>
              <p:nvPr>
                <p:extLst>
                  <p:ext uri="{D42A27DB-BD31-4B8C-83A1-F6EECF244321}">
                    <p14:modId xmlns:p14="http://schemas.microsoft.com/office/powerpoint/2010/main" val="2752998950"/>
                  </p:ext>
                </p:extLst>
              </p:nvPr>
            </p:nvGraphicFramePr>
            <p:xfrm>
              <a:off x="187105" y="338784"/>
              <a:ext cx="6557514" cy="4513767"/>
            </p:xfrm>
            <a:graphic>
              <a:graphicData uri="http://schemas.openxmlformats.org/drawingml/2006/table">
                <a:tbl>
                  <a:tblPr firstRow="1" bandRow="1">
                    <a:tableStyleId>{5C22544A-7EE6-4342-B048-85BDC9FD1C3A}</a:tableStyleId>
                  </a:tblPr>
                  <a:tblGrid>
                    <a:gridCol w="1177364">
                      <a:extLst>
                        <a:ext uri="{9D8B030D-6E8A-4147-A177-3AD203B41FA5}">
                          <a16:colId xmlns:a16="http://schemas.microsoft.com/office/drawing/2014/main" val="1568142362"/>
                        </a:ext>
                      </a:extLst>
                    </a:gridCol>
                    <a:gridCol w="2690075">
                      <a:extLst>
                        <a:ext uri="{9D8B030D-6E8A-4147-A177-3AD203B41FA5}">
                          <a16:colId xmlns:a16="http://schemas.microsoft.com/office/drawing/2014/main" val="3551711160"/>
                        </a:ext>
                      </a:extLst>
                    </a:gridCol>
                    <a:gridCol w="2690075">
                      <a:extLst>
                        <a:ext uri="{9D8B030D-6E8A-4147-A177-3AD203B41FA5}">
                          <a16:colId xmlns:a16="http://schemas.microsoft.com/office/drawing/2014/main" val="2470897508"/>
                        </a:ext>
                      </a:extLst>
                    </a:gridCol>
                  </a:tblGrid>
                  <a:tr h="364371">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99160">
                    <a:tc>
                      <a:txBody>
                        <a:bodyPr/>
                        <a:lstStyle/>
                        <a:p>
                          <a:r>
                            <a:rPr lang="en-GB" sz="1060" noProof="0">
                              <a:solidFill>
                                <a:schemeClr val="tx1"/>
                              </a:solidFill>
                            </a:rPr>
                            <a:t>1) Multiply through the make the </a:t>
                          </a:r>
                        </a:p>
                        <a:p>
                          <a:r>
                            <a:rPr lang="en-GB" sz="1060" noProof="0">
                              <a:solidFill>
                                <a:schemeClr val="tx1"/>
                              </a:solidFill>
                            </a:rPr>
                            <a:t>denominators</a:t>
                          </a:r>
                          <a:r>
                            <a:rPr lang="en-GB" sz="1060" baseline="0" noProof="0">
                              <a:solidFill>
                                <a:schemeClr val="tx1"/>
                              </a:solidFill>
                            </a:rPr>
                            <a:t> the same. </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35201">
                    <a:tc>
                      <a:txBody>
                        <a:bodyPr/>
                        <a:lstStyle/>
                        <a:p>
                          <a:r>
                            <a:rPr lang="en-GB" sz="1060" noProof="0">
                              <a:solidFill>
                                <a:schemeClr val="tx1"/>
                              </a:solidFill>
                            </a:rPr>
                            <a:t>2) Expand and simplify the numerators.</a:t>
                          </a:r>
                          <a:r>
                            <a:rPr lang="en-GB" sz="1060" baseline="0" noProof="0">
                              <a:solidFill>
                                <a:schemeClr val="tx1"/>
                              </a:solidFill>
                            </a:rPr>
                            <a:t> </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709432">
                    <a:tc>
                      <a:txBody>
                        <a:bodyPr/>
                        <a:lstStyle/>
                        <a:p>
                          <a:r>
                            <a:rPr lang="en-GB" sz="1060" noProof="0">
                              <a:solidFill>
                                <a:schemeClr val="tx1"/>
                              </a:solidFill>
                            </a:rPr>
                            <a:t>3) Multiply</a:t>
                          </a:r>
                          <a:r>
                            <a:rPr lang="en-GB" sz="1060" baseline="0" noProof="0">
                              <a:solidFill>
                                <a:schemeClr val="tx1"/>
                              </a:solidFill>
                            </a:rPr>
                            <a:t> through by the denominator.</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r h="635201">
                    <a:tc>
                      <a:txBody>
                        <a:bodyPr/>
                        <a:lstStyle/>
                        <a:p>
                          <a:r>
                            <a:rPr lang="en-GB" sz="1060" noProof="0">
                              <a:solidFill>
                                <a:schemeClr val="tx1"/>
                              </a:solidFill>
                            </a:rPr>
                            <a:t>4)</a:t>
                          </a:r>
                          <a:r>
                            <a:rPr lang="en-GB" sz="1060" baseline="0" noProof="0">
                              <a:solidFill>
                                <a:schemeClr val="tx1"/>
                              </a:solidFill>
                            </a:rPr>
                            <a:t> Expand and simplify the RHS.</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846642217"/>
                      </a:ext>
                    </a:extLst>
                  </a:tr>
                  <a:tr h="63520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18" t="-508571" r="-459067" b="-100952"/>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51377966"/>
                      </a:ext>
                    </a:extLst>
                  </a:tr>
                  <a:tr h="635201">
                    <a:tc>
                      <a:txBody>
                        <a:bodyPr/>
                        <a:lstStyle/>
                        <a:p>
                          <a:r>
                            <a:rPr lang="en-GB" sz="1100" noProof="0">
                              <a:solidFill>
                                <a:schemeClr val="tx1"/>
                              </a:solidFill>
                            </a:rPr>
                            <a:t>6) Solve the quadratic equation.</a:t>
                          </a:r>
                          <a:r>
                            <a:rPr lang="en-GB" sz="1100" baseline="0" noProof="0">
                              <a:solidFill>
                                <a:schemeClr val="tx1"/>
                              </a:solidFill>
                            </a:rPr>
                            <a:t>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56251899"/>
                      </a:ext>
                    </a:extLst>
                  </a:tr>
                </a:tbl>
              </a:graphicData>
            </a:graphic>
          </p:graphicFrame>
        </mc:Fallback>
      </mc:AlternateContent>
      <p:sp>
        <p:nvSpPr>
          <p:cNvPr id="17" name="TextBox 16">
            <a:extLst>
              <a:ext uri="{FF2B5EF4-FFF2-40B4-BE49-F238E27FC236}">
                <a16:creationId xmlns:a16="http://schemas.microsoft.com/office/drawing/2014/main" id="{72FAE9BB-D81F-4207-9FF8-E6BE971A99D9}"/>
              </a:ext>
            </a:extLst>
          </p:cNvPr>
          <p:cNvSpPr txBox="1"/>
          <p:nvPr/>
        </p:nvSpPr>
        <p:spPr>
          <a:xfrm>
            <a:off x="2011874" y="4907935"/>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37 - You do…</a:t>
            </a:r>
          </a:p>
        </p:txBody>
      </p:sp>
      <p:sp>
        <p:nvSpPr>
          <p:cNvPr id="19" name="TextBox 18">
            <a:extLst>
              <a:ext uri="{FF2B5EF4-FFF2-40B4-BE49-F238E27FC236}">
                <a16:creationId xmlns:a16="http://schemas.microsoft.com/office/drawing/2014/main" id="{337F58E6-37DE-4890-BDE3-0101DB4D4F11}"/>
              </a:ext>
            </a:extLst>
          </p:cNvPr>
          <p:cNvSpPr txBox="1"/>
          <p:nvPr/>
        </p:nvSpPr>
        <p:spPr>
          <a:xfrm>
            <a:off x="4693637" y="19367"/>
            <a:ext cx="1554336" cy="276999"/>
          </a:xfrm>
          <a:prstGeom prst="rect">
            <a:avLst/>
          </a:prstGeom>
          <a:noFill/>
          <a:ln>
            <a:noFill/>
          </a:ln>
        </p:spPr>
        <p:txBody>
          <a:bodyPr wrap="none" rtlCol="0">
            <a:spAutoFit/>
          </a:bodyPr>
          <a:lstStyle/>
          <a:p>
            <a:r>
              <a:rPr lang="en-GB" sz="1200" b="1" i="1" noProof="0" dirty="0">
                <a:solidFill>
                  <a:schemeClr val="accent2"/>
                </a:solidFill>
                <a:latin typeface="Calibri" panose="020F0502020204030204" pitchFamily="34" charset="0"/>
                <a:cs typeface="Calibri" panose="020F0502020204030204" pitchFamily="34" charset="0"/>
              </a:rPr>
              <a:t>Example 36 - We do…</a:t>
            </a:r>
          </a:p>
        </p:txBody>
      </p:sp>
      <p:sp>
        <p:nvSpPr>
          <p:cNvPr id="20" name="TextBox 19">
            <a:extLst>
              <a:ext uri="{FF2B5EF4-FFF2-40B4-BE49-F238E27FC236}">
                <a16:creationId xmlns:a16="http://schemas.microsoft.com/office/drawing/2014/main" id="{20EB31B5-3203-4E48-8A19-892EA568053E}"/>
              </a:ext>
            </a:extLst>
          </p:cNvPr>
          <p:cNvSpPr txBox="1"/>
          <p:nvPr/>
        </p:nvSpPr>
        <p:spPr>
          <a:xfrm>
            <a:off x="2011874" y="19367"/>
            <a:ext cx="1387046" cy="276999"/>
          </a:xfrm>
          <a:prstGeom prst="rect">
            <a:avLst/>
          </a:prstGeom>
          <a:noFill/>
          <a:ln>
            <a:noFill/>
          </a:ln>
        </p:spPr>
        <p:txBody>
          <a:bodyPr wrap="none" rtlCol="0">
            <a:spAutoFit/>
          </a:bodyPr>
          <a:lstStyle/>
          <a:p>
            <a:r>
              <a:rPr lang="en-GB" sz="1200" b="1" i="1" noProof="0" dirty="0">
                <a:solidFill>
                  <a:srgbClr val="FF0000"/>
                </a:solidFill>
                <a:latin typeface="Calibri" panose="020F0502020204030204" pitchFamily="34" charset="0"/>
                <a:cs typeface="Calibri" panose="020F0502020204030204" pitchFamily="34" charset="0"/>
              </a:rPr>
              <a:t>Example 35 - I do…</a:t>
            </a:r>
          </a:p>
        </p:txBody>
      </p:sp>
      <mc:AlternateContent xmlns:mc="http://schemas.openxmlformats.org/markup-compatibility/2006" xmlns:a14="http://schemas.microsoft.com/office/drawing/2010/main">
        <mc:Choice Requires="a14">
          <p:sp>
            <p:nvSpPr>
              <p:cNvPr id="23" name="TextBox 22"/>
              <p:cNvSpPr txBox="1"/>
              <p:nvPr/>
            </p:nvSpPr>
            <p:spPr>
              <a:xfrm>
                <a:off x="2011874" y="334005"/>
                <a:ext cx="1453988" cy="357406"/>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5</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+8</m:t>
                        </m:r>
                      </m:den>
                    </m:f>
                    <m:r>
                      <a:rPr lang="en-GB" sz="1200" b="0" i="1" noProof="0" smtClean="0">
                        <a:latin typeface="Cambria Math" panose="02040503050406030204" pitchFamily="18" charset="0"/>
                      </a:rPr>
                      <m:t>=1</m:t>
                    </m:r>
                  </m:oMath>
                </a14:m>
                <a:endParaRPr lang="en-GB" sz="1200" noProof="0" dirty="0"/>
              </a:p>
            </p:txBody>
          </p:sp>
        </mc:Choice>
        <mc:Fallback xmlns="">
          <p:sp>
            <p:nvSpPr>
              <p:cNvPr id="23" name="TextBox 22"/>
              <p:cNvSpPr txBox="1">
                <a:spLocks noRot="1" noChangeAspect="1" noMove="1" noResize="1" noEditPoints="1" noAdjustHandles="1" noChangeArrowheads="1" noChangeShapeType="1" noTextEdit="1"/>
              </p:cNvSpPr>
              <p:nvPr/>
            </p:nvSpPr>
            <p:spPr>
              <a:xfrm>
                <a:off x="2011874" y="334005"/>
                <a:ext cx="1453988" cy="357406"/>
              </a:xfrm>
              <a:prstGeom prst="rect">
                <a:avLst/>
              </a:prstGeom>
              <a:blipFill>
                <a:blip r:embed="rId3"/>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4797191" y="338781"/>
                <a:ext cx="1450782" cy="354649"/>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3</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−9</m:t>
                        </m:r>
                      </m:den>
                    </m:f>
                    <m:r>
                      <a:rPr lang="en-GB" sz="1200" b="0" i="1" noProof="0" smtClean="0">
                        <a:latin typeface="Cambria Math" panose="02040503050406030204" pitchFamily="18" charset="0"/>
                      </a:rPr>
                      <m:t>=1</m:t>
                    </m:r>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4797191" y="338781"/>
                <a:ext cx="1450782" cy="354649"/>
              </a:xfrm>
              <a:prstGeom prst="rect">
                <a:avLst/>
              </a:prstGeom>
              <a:blipFill>
                <a:blip r:embed="rId4"/>
                <a:stretch>
                  <a:fillRect l="-420" b="-3448"/>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72FAE9BB-D81F-4207-9FF8-E6BE971A99D9}"/>
              </a:ext>
            </a:extLst>
          </p:cNvPr>
          <p:cNvSpPr txBox="1"/>
          <p:nvPr/>
        </p:nvSpPr>
        <p:spPr>
          <a:xfrm>
            <a:off x="4670618" y="4942007"/>
            <a:ext cx="1577355" cy="276999"/>
          </a:xfrm>
          <a:prstGeom prst="rect">
            <a:avLst/>
          </a:prstGeom>
          <a:noFill/>
          <a:ln>
            <a:noFill/>
          </a:ln>
        </p:spPr>
        <p:txBody>
          <a:bodyPr wrap="none" rtlCol="0">
            <a:spAutoFit/>
          </a:bodyPr>
          <a:lstStyle/>
          <a:p>
            <a:r>
              <a:rPr lang="en-GB" sz="1200" b="1" i="1" noProof="0" dirty="0">
                <a:solidFill>
                  <a:srgbClr val="00B050"/>
                </a:solidFill>
                <a:latin typeface="Calibri" panose="020F0502020204030204" pitchFamily="34" charset="0"/>
                <a:cs typeface="Calibri" panose="020F0502020204030204" pitchFamily="34" charset="0"/>
              </a:rPr>
              <a:t>Example 38 - You do…</a:t>
            </a:r>
          </a:p>
        </p:txBody>
      </p:sp>
      <p:sp>
        <p:nvSpPr>
          <p:cNvPr id="3" name="Slide Number Placeholder 2"/>
          <p:cNvSpPr>
            <a:spLocks noGrp="1"/>
          </p:cNvSpPr>
          <p:nvPr>
            <p:ph type="sldNum" sz="quarter" idx="12"/>
          </p:nvPr>
        </p:nvSpPr>
        <p:spPr>
          <a:xfrm>
            <a:off x="5415629" y="9567950"/>
            <a:ext cx="1543050" cy="527403"/>
          </a:xfrm>
        </p:spPr>
        <p:txBody>
          <a:bodyPr/>
          <a:lstStyle/>
          <a:p>
            <a:fld id="{9BD3B4A0-BFF9-422C-B253-48BA94BE2F5B}" type="slidenum">
              <a:rPr lang="en-GB" noProof="0" smtClean="0"/>
              <a:t>32</a:t>
            </a:fld>
            <a:endParaRPr lang="en-GB" noProof="0" dirty="0"/>
          </a:p>
        </p:txBody>
      </p:sp>
      <mc:AlternateContent xmlns:mc="http://schemas.openxmlformats.org/markup-compatibility/2006" xmlns:a14="http://schemas.microsoft.com/office/drawing/2010/main">
        <mc:Choice Requires="a14">
          <p:graphicFrame>
            <p:nvGraphicFramePr>
              <p:cNvPr id="54" name="Table 53"/>
              <p:cNvGraphicFramePr>
                <a:graphicFrameLocks noGrp="1"/>
              </p:cNvGraphicFramePr>
              <p:nvPr>
                <p:extLst>
                  <p:ext uri="{D42A27DB-BD31-4B8C-83A1-F6EECF244321}">
                    <p14:modId xmlns:p14="http://schemas.microsoft.com/office/powerpoint/2010/main" val="460942507"/>
                  </p:ext>
                </p:extLst>
              </p:nvPr>
            </p:nvGraphicFramePr>
            <p:xfrm>
              <a:off x="187105" y="5204828"/>
              <a:ext cx="6557514" cy="4616163"/>
            </p:xfrm>
            <a:graphic>
              <a:graphicData uri="http://schemas.openxmlformats.org/drawingml/2006/table">
                <a:tbl>
                  <a:tblPr firstRow="1" bandRow="1">
                    <a:tableStyleId>{5C22544A-7EE6-4342-B048-85BDC9FD1C3A}</a:tableStyleId>
                  </a:tblPr>
                  <a:tblGrid>
                    <a:gridCol w="1177364">
                      <a:extLst>
                        <a:ext uri="{9D8B030D-6E8A-4147-A177-3AD203B41FA5}">
                          <a16:colId xmlns:a16="http://schemas.microsoft.com/office/drawing/2014/main" val="1568142362"/>
                        </a:ext>
                      </a:extLst>
                    </a:gridCol>
                    <a:gridCol w="2690075">
                      <a:extLst>
                        <a:ext uri="{9D8B030D-6E8A-4147-A177-3AD203B41FA5}">
                          <a16:colId xmlns:a16="http://schemas.microsoft.com/office/drawing/2014/main" val="3551711160"/>
                        </a:ext>
                      </a:extLst>
                    </a:gridCol>
                    <a:gridCol w="2690075">
                      <a:extLst>
                        <a:ext uri="{9D8B030D-6E8A-4147-A177-3AD203B41FA5}">
                          <a16:colId xmlns:a16="http://schemas.microsoft.com/office/drawing/2014/main" val="3726521677"/>
                        </a:ext>
                      </a:extLst>
                    </a:gridCol>
                  </a:tblGrid>
                  <a:tr h="466767">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4803">
                    <a:tc>
                      <a:txBody>
                        <a:bodyPr/>
                        <a:lstStyle/>
                        <a:p>
                          <a:r>
                            <a:rPr lang="en-GB" sz="1060" noProof="0" dirty="0">
                              <a:solidFill>
                                <a:schemeClr val="tx1"/>
                              </a:solidFill>
                            </a:rPr>
                            <a:t>1) Multiply through the make the </a:t>
                          </a:r>
                        </a:p>
                        <a:p>
                          <a:r>
                            <a:rPr lang="en-GB" sz="1060" noProof="0" dirty="0">
                              <a:solidFill>
                                <a:schemeClr val="tx1"/>
                              </a:solidFill>
                            </a:rPr>
                            <a:t>denominators</a:t>
                          </a:r>
                          <a:r>
                            <a:rPr lang="en-GB" sz="1060" baseline="0" noProof="0" dirty="0">
                              <a:solidFill>
                                <a:schemeClr val="tx1"/>
                              </a:solidFill>
                            </a:rPr>
                            <a:t> the same.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35201">
                    <a:tc>
                      <a:txBody>
                        <a:bodyPr/>
                        <a:lstStyle/>
                        <a:p>
                          <a:r>
                            <a:rPr lang="en-GB" sz="1060" noProof="0" dirty="0">
                              <a:solidFill>
                                <a:schemeClr val="tx1"/>
                              </a:solidFill>
                            </a:rPr>
                            <a:t>2) Expand and simplify the numerators.</a:t>
                          </a:r>
                          <a:r>
                            <a:rPr lang="en-GB" sz="1060" baseline="0" noProof="0" dirty="0">
                              <a:solidFill>
                                <a:schemeClr val="tx1"/>
                              </a:solidFill>
                            </a:rPr>
                            <a:t>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709432">
                    <a:tc>
                      <a:txBody>
                        <a:bodyPr/>
                        <a:lstStyle/>
                        <a:p>
                          <a:r>
                            <a:rPr lang="en-GB" sz="1060" noProof="0" dirty="0">
                              <a:solidFill>
                                <a:schemeClr val="tx1"/>
                              </a:solidFill>
                            </a:rPr>
                            <a:t>3) Multiply</a:t>
                          </a:r>
                          <a:r>
                            <a:rPr lang="en-GB" sz="1060" baseline="0" noProof="0" dirty="0">
                              <a:solidFill>
                                <a:schemeClr val="tx1"/>
                              </a:solidFill>
                            </a:rPr>
                            <a:t> through by the denominator.</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r h="635201">
                    <a:tc>
                      <a:txBody>
                        <a:bodyPr/>
                        <a:lstStyle/>
                        <a:p>
                          <a:r>
                            <a:rPr lang="en-GB" sz="1060" noProof="0" dirty="0">
                              <a:solidFill>
                                <a:schemeClr val="tx1"/>
                              </a:solidFill>
                            </a:rPr>
                            <a:t>4)</a:t>
                          </a:r>
                          <a:r>
                            <a:rPr lang="en-GB" sz="1060" baseline="0" noProof="0" dirty="0">
                              <a:solidFill>
                                <a:schemeClr val="tx1"/>
                              </a:solidFill>
                            </a:rPr>
                            <a:t> Expand and simplify the RHS.</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846642217"/>
                      </a:ext>
                    </a:extLst>
                  </a:tr>
                  <a:tr h="635201">
                    <a:tc>
                      <a:txBody>
                        <a:bodyPr/>
                        <a:lstStyle/>
                        <a:p>
                          <a:r>
                            <a:rPr lang="en-GB" sz="1060" noProof="0" dirty="0">
                              <a:solidFill>
                                <a:schemeClr val="tx1"/>
                              </a:solidFill>
                            </a:rPr>
                            <a:t>5) Rearrange</a:t>
                          </a:r>
                          <a:r>
                            <a:rPr lang="en-GB" sz="1060" baseline="0" noProof="0" dirty="0">
                              <a:solidFill>
                                <a:schemeClr val="tx1"/>
                              </a:solidFill>
                            </a:rPr>
                            <a:t> into form </a:t>
                          </a:r>
                          <a14:m>
                            <m:oMath xmlns:m="http://schemas.openxmlformats.org/officeDocument/2006/math">
                              <m:r>
                                <a:rPr lang="en-GB" sz="800" b="0" i="1" baseline="0" noProof="0" smtClean="0">
                                  <a:solidFill>
                                    <a:schemeClr val="tx1"/>
                                  </a:solidFill>
                                  <a:latin typeface="Cambria Math" panose="02040503050406030204" pitchFamily="18" charset="0"/>
                                </a:rPr>
                                <m:t>𝑎</m:t>
                              </m:r>
                              <m:sSup>
                                <m:sSupPr>
                                  <m:ctrlPr>
                                    <a:rPr lang="en-GB" sz="800" b="0" i="1" baseline="0" noProof="0" smtClean="0">
                                      <a:solidFill>
                                        <a:schemeClr val="tx1"/>
                                      </a:solidFill>
                                      <a:latin typeface="Cambria Math" panose="02040503050406030204" pitchFamily="18" charset="0"/>
                                    </a:rPr>
                                  </m:ctrlPr>
                                </m:sSupPr>
                                <m:e>
                                  <m:r>
                                    <a:rPr lang="en-GB" sz="800" b="0" i="1" baseline="0" noProof="0" smtClean="0">
                                      <a:solidFill>
                                        <a:schemeClr val="tx1"/>
                                      </a:solidFill>
                                      <a:latin typeface="Cambria Math" panose="02040503050406030204" pitchFamily="18" charset="0"/>
                                    </a:rPr>
                                    <m:t>𝑥</m:t>
                                  </m:r>
                                </m:e>
                                <m:sup>
                                  <m:r>
                                    <a:rPr lang="en-GB" sz="800" b="0" i="1" baseline="0" noProof="0" smtClean="0">
                                      <a:solidFill>
                                        <a:schemeClr val="tx1"/>
                                      </a:solidFill>
                                      <a:latin typeface="Cambria Math" panose="02040503050406030204" pitchFamily="18" charset="0"/>
                                    </a:rPr>
                                    <m:t>2</m:t>
                                  </m:r>
                                </m:sup>
                              </m:sSup>
                              <m:r>
                                <a:rPr lang="en-GB" sz="800" b="0" i="1" baseline="0" noProof="0" smtClean="0">
                                  <a:solidFill>
                                    <a:schemeClr val="tx1"/>
                                  </a:solidFill>
                                  <a:latin typeface="Cambria Math" panose="02040503050406030204" pitchFamily="18" charset="0"/>
                                </a:rPr>
                                <m:t>+</m:t>
                              </m:r>
                              <m:r>
                                <a:rPr lang="en-GB" sz="800" b="0" i="1" baseline="0" noProof="0" smtClean="0">
                                  <a:solidFill>
                                    <a:schemeClr val="tx1"/>
                                  </a:solidFill>
                                  <a:latin typeface="Cambria Math" panose="02040503050406030204" pitchFamily="18" charset="0"/>
                                </a:rPr>
                                <m:t>𝑏𝑥</m:t>
                              </m:r>
                              <m:r>
                                <a:rPr lang="en-GB" sz="800" b="0" i="1" baseline="0" noProof="0" smtClean="0">
                                  <a:solidFill>
                                    <a:schemeClr val="tx1"/>
                                  </a:solidFill>
                                  <a:latin typeface="Cambria Math" panose="02040503050406030204" pitchFamily="18" charset="0"/>
                                </a:rPr>
                                <m:t>+</m:t>
                              </m:r>
                              <m:r>
                                <a:rPr lang="en-GB" sz="800" b="0" i="1" baseline="0" noProof="0" smtClean="0">
                                  <a:solidFill>
                                    <a:schemeClr val="tx1"/>
                                  </a:solidFill>
                                  <a:latin typeface="Cambria Math" panose="02040503050406030204" pitchFamily="18" charset="0"/>
                                </a:rPr>
                                <m:t>𝑐</m:t>
                              </m:r>
                              <m:r>
                                <a:rPr lang="en-GB" sz="800" b="0" i="1" baseline="0" noProof="0" smtClean="0">
                                  <a:solidFill>
                                    <a:schemeClr val="tx1"/>
                                  </a:solidFill>
                                  <a:latin typeface="Cambria Math" panose="02040503050406030204" pitchFamily="18" charset="0"/>
                                </a:rPr>
                                <m:t>=0</m:t>
                              </m:r>
                            </m:oMath>
                          </a14:m>
                          <a:endParaRPr lang="en-GB" sz="8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51377966"/>
                      </a:ext>
                    </a:extLst>
                  </a:tr>
                  <a:tr h="635201">
                    <a:tc>
                      <a:txBody>
                        <a:bodyPr/>
                        <a:lstStyle/>
                        <a:p>
                          <a:r>
                            <a:rPr lang="en-GB" sz="1100" noProof="0" dirty="0">
                              <a:solidFill>
                                <a:schemeClr val="tx1"/>
                              </a:solidFill>
                            </a:rPr>
                            <a:t>6) Solve the quadratic equation.</a:t>
                          </a:r>
                          <a:r>
                            <a:rPr lang="en-GB" sz="1100" baseline="0" noProof="0" dirty="0">
                              <a:solidFill>
                                <a:schemeClr val="tx1"/>
                              </a:solidFill>
                            </a:rPr>
                            <a:t> </a:t>
                          </a:r>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56251899"/>
                      </a:ext>
                    </a:extLst>
                  </a:tr>
                </a:tbl>
              </a:graphicData>
            </a:graphic>
          </p:graphicFrame>
        </mc:Choice>
        <mc:Fallback xmlns="">
          <p:graphicFrame>
            <p:nvGraphicFramePr>
              <p:cNvPr id="54" name="Table 53"/>
              <p:cNvGraphicFramePr>
                <a:graphicFrameLocks noGrp="1"/>
              </p:cNvGraphicFramePr>
              <p:nvPr>
                <p:extLst>
                  <p:ext uri="{D42A27DB-BD31-4B8C-83A1-F6EECF244321}">
                    <p14:modId xmlns:p14="http://schemas.microsoft.com/office/powerpoint/2010/main" val="460942507"/>
                  </p:ext>
                </p:extLst>
              </p:nvPr>
            </p:nvGraphicFramePr>
            <p:xfrm>
              <a:off x="187105" y="5204828"/>
              <a:ext cx="6557514" cy="4616163"/>
            </p:xfrm>
            <a:graphic>
              <a:graphicData uri="http://schemas.openxmlformats.org/drawingml/2006/table">
                <a:tbl>
                  <a:tblPr firstRow="1" bandRow="1">
                    <a:tableStyleId>{5C22544A-7EE6-4342-B048-85BDC9FD1C3A}</a:tableStyleId>
                  </a:tblPr>
                  <a:tblGrid>
                    <a:gridCol w="1177364">
                      <a:extLst>
                        <a:ext uri="{9D8B030D-6E8A-4147-A177-3AD203B41FA5}">
                          <a16:colId xmlns:a16="http://schemas.microsoft.com/office/drawing/2014/main" val="1568142362"/>
                        </a:ext>
                      </a:extLst>
                    </a:gridCol>
                    <a:gridCol w="2690075">
                      <a:extLst>
                        <a:ext uri="{9D8B030D-6E8A-4147-A177-3AD203B41FA5}">
                          <a16:colId xmlns:a16="http://schemas.microsoft.com/office/drawing/2014/main" val="3551711160"/>
                        </a:ext>
                      </a:extLst>
                    </a:gridCol>
                    <a:gridCol w="2690075">
                      <a:extLst>
                        <a:ext uri="{9D8B030D-6E8A-4147-A177-3AD203B41FA5}">
                          <a16:colId xmlns:a16="http://schemas.microsoft.com/office/drawing/2014/main" val="3726521677"/>
                        </a:ext>
                      </a:extLst>
                    </a:gridCol>
                  </a:tblGrid>
                  <a:tr h="466767">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99160">
                    <a:tc>
                      <a:txBody>
                        <a:bodyPr/>
                        <a:lstStyle/>
                        <a:p>
                          <a:r>
                            <a:rPr lang="en-GB" sz="1060" noProof="0">
                              <a:solidFill>
                                <a:schemeClr val="tx1"/>
                              </a:solidFill>
                            </a:rPr>
                            <a:t>1) Multiply through the make the </a:t>
                          </a:r>
                        </a:p>
                        <a:p>
                          <a:r>
                            <a:rPr lang="en-GB" sz="1060" noProof="0">
                              <a:solidFill>
                                <a:schemeClr val="tx1"/>
                              </a:solidFill>
                            </a:rPr>
                            <a:t>denominators</a:t>
                          </a:r>
                          <a:r>
                            <a:rPr lang="en-GB" sz="1060" baseline="0" noProof="0">
                              <a:solidFill>
                                <a:schemeClr val="tx1"/>
                              </a:solidFill>
                            </a:rPr>
                            <a:t> the same. </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35201">
                    <a:tc>
                      <a:txBody>
                        <a:bodyPr/>
                        <a:lstStyle/>
                        <a:p>
                          <a:r>
                            <a:rPr lang="en-GB" sz="1060" noProof="0">
                              <a:solidFill>
                                <a:schemeClr val="tx1"/>
                              </a:solidFill>
                            </a:rPr>
                            <a:t>2) Expand and simplify the numerators.</a:t>
                          </a:r>
                          <a:r>
                            <a:rPr lang="en-GB" sz="1060" baseline="0" noProof="0">
                              <a:solidFill>
                                <a:schemeClr val="tx1"/>
                              </a:solidFill>
                            </a:rPr>
                            <a:t> </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709432">
                    <a:tc>
                      <a:txBody>
                        <a:bodyPr/>
                        <a:lstStyle/>
                        <a:p>
                          <a:r>
                            <a:rPr lang="en-GB" sz="1060" noProof="0">
                              <a:solidFill>
                                <a:schemeClr val="tx1"/>
                              </a:solidFill>
                            </a:rPr>
                            <a:t>3) Multiply</a:t>
                          </a:r>
                          <a:r>
                            <a:rPr lang="en-GB" sz="1060" baseline="0" noProof="0">
                              <a:solidFill>
                                <a:schemeClr val="tx1"/>
                              </a:solidFill>
                            </a:rPr>
                            <a:t> through by the denominator.</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3544271317"/>
                      </a:ext>
                    </a:extLst>
                  </a:tr>
                  <a:tr h="635201">
                    <a:tc>
                      <a:txBody>
                        <a:bodyPr/>
                        <a:lstStyle/>
                        <a:p>
                          <a:r>
                            <a:rPr lang="en-GB" sz="1060" noProof="0">
                              <a:solidFill>
                                <a:schemeClr val="tx1"/>
                              </a:solidFill>
                            </a:rPr>
                            <a:t>4)</a:t>
                          </a:r>
                          <a:r>
                            <a:rPr lang="en-GB" sz="1060" baseline="0" noProof="0">
                              <a:solidFill>
                                <a:schemeClr val="tx1"/>
                              </a:solidFill>
                            </a:rPr>
                            <a:t> Expand and simplify the RHS.</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846642217"/>
                      </a:ext>
                    </a:extLst>
                  </a:tr>
                  <a:tr h="63520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18" t="-524762" r="-459067" b="-100952"/>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51377966"/>
                      </a:ext>
                    </a:extLst>
                  </a:tr>
                  <a:tr h="635201">
                    <a:tc>
                      <a:txBody>
                        <a:bodyPr/>
                        <a:lstStyle/>
                        <a:p>
                          <a:r>
                            <a:rPr lang="en-GB" sz="1100" noProof="0">
                              <a:solidFill>
                                <a:schemeClr val="tx1"/>
                              </a:solidFill>
                            </a:rPr>
                            <a:t>6) Solve the quadratic equation.</a:t>
                          </a:r>
                          <a:r>
                            <a:rPr lang="en-GB" sz="1100" baseline="0" noProof="0">
                              <a:solidFill>
                                <a:schemeClr val="tx1"/>
                              </a:solidFill>
                            </a:rPr>
                            <a:t> </a:t>
                          </a:r>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56251899"/>
                      </a:ext>
                    </a:extLst>
                  </a:tr>
                </a:tbl>
              </a:graphicData>
            </a:graphic>
          </p:graphicFrame>
        </mc:Fallback>
      </mc:AlternateContent>
      <mc:AlternateContent xmlns:mc="http://schemas.openxmlformats.org/markup-compatibility/2006" xmlns:a14="http://schemas.microsoft.com/office/drawing/2010/main">
        <mc:Choice Requires="a14">
          <p:sp>
            <p:nvSpPr>
              <p:cNvPr id="55" name="TextBox 54"/>
              <p:cNvSpPr txBox="1"/>
              <p:nvPr/>
            </p:nvSpPr>
            <p:spPr>
              <a:xfrm>
                <a:off x="2011874" y="5269583"/>
                <a:ext cx="1453988" cy="354777"/>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+8</m:t>
                        </m:r>
                      </m:den>
                    </m:f>
                    <m:r>
                      <a:rPr lang="en-GB" sz="1200" b="0" i="1" noProof="0" smtClean="0">
                        <a:latin typeface="Cambria Math" panose="02040503050406030204" pitchFamily="18" charset="0"/>
                      </a:rPr>
                      <m:t>=2</m:t>
                    </m:r>
                  </m:oMath>
                </a14:m>
                <a:endParaRPr lang="en-GB" sz="1200" noProof="0" dirty="0"/>
              </a:p>
            </p:txBody>
          </p:sp>
        </mc:Choice>
        <mc:Fallback xmlns="">
          <p:sp>
            <p:nvSpPr>
              <p:cNvPr id="55" name="TextBox 54"/>
              <p:cNvSpPr txBox="1">
                <a:spLocks noRot="1" noChangeAspect="1" noMove="1" noResize="1" noEditPoints="1" noAdjustHandles="1" noChangeArrowheads="1" noChangeShapeType="1" noTextEdit="1"/>
              </p:cNvSpPr>
              <p:nvPr/>
            </p:nvSpPr>
            <p:spPr>
              <a:xfrm>
                <a:off x="2011874" y="5269583"/>
                <a:ext cx="1453988" cy="354777"/>
              </a:xfrm>
              <a:prstGeom prst="rect">
                <a:avLst/>
              </a:prstGeom>
              <a:blipFill>
                <a:blip r:embed="rId6"/>
                <a:stretch>
                  <a:fillRect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4832357" y="5269583"/>
                <a:ext cx="1453988" cy="354777"/>
              </a:xfrm>
              <a:prstGeom prst="rect">
                <a:avLst/>
              </a:prstGeom>
              <a:noFill/>
            </p:spPr>
            <p:txBody>
              <a:bodyPr wrap="none" rtlCol="0">
                <a:spAutoFit/>
              </a:bodyPr>
              <a:lstStyle/>
              <a:p>
                <a:r>
                  <a:rPr lang="en-GB" sz="1200" noProof="0" dirty="0"/>
                  <a:t>Solve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4</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2</m:t>
                        </m:r>
                      </m:num>
                      <m:den>
                        <m:r>
                          <a:rPr lang="en-GB" sz="1200" b="0" i="1" noProof="0" smtClean="0">
                            <a:latin typeface="Cambria Math" panose="02040503050406030204" pitchFamily="18" charset="0"/>
                          </a:rPr>
                          <m:t>𝑥</m:t>
                        </m:r>
                        <m:r>
                          <a:rPr lang="en-GB" sz="1200" b="0" i="1" noProof="0" smtClean="0">
                            <a:latin typeface="Cambria Math" panose="02040503050406030204" pitchFamily="18" charset="0"/>
                          </a:rPr>
                          <m:t>−8</m:t>
                        </m:r>
                      </m:den>
                    </m:f>
                    <m:r>
                      <a:rPr lang="en-GB" sz="1200" b="0" i="1" noProof="0" smtClean="0">
                        <a:latin typeface="Cambria Math" panose="02040503050406030204" pitchFamily="18" charset="0"/>
                      </a:rPr>
                      <m:t>=3</m:t>
                    </m:r>
                  </m:oMath>
                </a14:m>
                <a:endParaRPr lang="en-GB" sz="1200" noProof="0" dirty="0"/>
              </a:p>
            </p:txBody>
          </p:sp>
        </mc:Choice>
        <mc:Fallback xmlns="">
          <p:sp>
            <p:nvSpPr>
              <p:cNvPr id="56" name="TextBox 55"/>
              <p:cNvSpPr txBox="1">
                <a:spLocks noRot="1" noChangeAspect="1" noMove="1" noResize="1" noEditPoints="1" noAdjustHandles="1" noChangeArrowheads="1" noChangeShapeType="1" noTextEdit="1"/>
              </p:cNvSpPr>
              <p:nvPr/>
            </p:nvSpPr>
            <p:spPr>
              <a:xfrm>
                <a:off x="4832357" y="5269583"/>
                <a:ext cx="1453988" cy="354777"/>
              </a:xfrm>
              <a:prstGeom prst="rect">
                <a:avLst/>
              </a:prstGeom>
              <a:blipFill>
                <a:blip r:embed="rId7"/>
                <a:stretch>
                  <a:fillRect l="-420" b="-1695"/>
                </a:stretch>
              </a:blipFill>
            </p:spPr>
            <p:txBody>
              <a:bodyPr/>
              <a:lstStyle/>
              <a:p>
                <a:r>
                  <a:rPr lang="en-US">
                    <a:noFill/>
                  </a:rPr>
                  <a:t> </a:t>
                </a:r>
              </a:p>
            </p:txBody>
          </p:sp>
        </mc:Fallback>
      </mc:AlternateContent>
    </p:spTree>
    <p:extLst>
      <p:ext uri="{BB962C8B-B14F-4D97-AF65-F5344CB8AC3E}">
        <p14:creationId xmlns:p14="http://schemas.microsoft.com/office/powerpoint/2010/main" val="19083461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485914"/>
            <a:ext cx="1543050" cy="527403"/>
          </a:xfrm>
        </p:spPr>
        <p:txBody>
          <a:bodyPr/>
          <a:lstStyle/>
          <a:p>
            <a:fld id="{9BD3B4A0-BFF9-422C-B253-48BA94BE2F5B}" type="slidenum">
              <a:rPr lang="en-GB" noProof="0" smtClean="0"/>
              <a:t>33</a:t>
            </a:fld>
            <a:endParaRPr lang="en-GB" noProof="0" dirty="0"/>
          </a:p>
        </p:txBody>
      </p:sp>
      <p:sp>
        <p:nvSpPr>
          <p:cNvPr id="5" name="TextBox 4"/>
          <p:cNvSpPr txBox="1"/>
          <p:nvPr/>
        </p:nvSpPr>
        <p:spPr>
          <a:xfrm>
            <a:off x="2075770" y="75571"/>
            <a:ext cx="2206630" cy="276999"/>
          </a:xfrm>
          <a:prstGeom prst="rect">
            <a:avLst/>
          </a:prstGeom>
          <a:noFill/>
        </p:spPr>
        <p:txBody>
          <a:bodyPr wrap="none" rtlCol="0">
            <a:spAutoFit/>
          </a:bodyPr>
          <a:lstStyle/>
          <a:p>
            <a:pPr algn="ctr"/>
            <a:r>
              <a:rPr lang="en-GB" sz="1200" noProof="0" dirty="0"/>
              <a:t>10. Solve the algebraic fractions.</a:t>
            </a:r>
          </a:p>
        </p:txBody>
      </p:sp>
      <p:pic>
        <p:nvPicPr>
          <p:cNvPr id="6" name="Picture 5"/>
          <p:cNvPicPr>
            <a:picLocks noChangeAspect="1"/>
          </p:cNvPicPr>
          <p:nvPr/>
        </p:nvPicPr>
        <p:blipFill rotWithShape="1">
          <a:blip r:embed="rId2"/>
          <a:srcRect l="5618" t="52746" r="69152" b="25952"/>
          <a:stretch/>
        </p:blipFill>
        <p:spPr>
          <a:xfrm>
            <a:off x="360918" y="510171"/>
            <a:ext cx="1227356" cy="377648"/>
          </a:xfrm>
          <a:prstGeom prst="rect">
            <a:avLst/>
          </a:prstGeom>
        </p:spPr>
      </p:pic>
      <p:pic>
        <p:nvPicPr>
          <p:cNvPr id="7" name="Picture 6"/>
          <p:cNvPicPr>
            <a:picLocks noChangeAspect="1"/>
          </p:cNvPicPr>
          <p:nvPr/>
        </p:nvPicPr>
        <p:blipFill rotWithShape="1">
          <a:blip r:embed="rId2"/>
          <a:srcRect l="5618" t="77876" r="69152" b="157"/>
          <a:stretch/>
        </p:blipFill>
        <p:spPr>
          <a:xfrm>
            <a:off x="2517535" y="519457"/>
            <a:ext cx="1258846" cy="399441"/>
          </a:xfrm>
          <a:prstGeom prst="rect">
            <a:avLst/>
          </a:prstGeom>
        </p:spPr>
      </p:pic>
      <p:pic>
        <p:nvPicPr>
          <p:cNvPr id="8" name="Picture 7"/>
          <p:cNvPicPr>
            <a:picLocks noChangeAspect="1"/>
          </p:cNvPicPr>
          <p:nvPr/>
        </p:nvPicPr>
        <p:blipFill rotWithShape="1">
          <a:blip r:embed="rId3"/>
          <a:srcRect b="77529"/>
          <a:stretch/>
        </p:blipFill>
        <p:spPr>
          <a:xfrm>
            <a:off x="4705642" y="525202"/>
            <a:ext cx="1321778" cy="362617"/>
          </a:xfrm>
          <a:prstGeom prst="rect">
            <a:avLst/>
          </a:prstGeom>
        </p:spPr>
      </p:pic>
      <p:sp>
        <p:nvSpPr>
          <p:cNvPr id="9" name="TextBox 8"/>
          <p:cNvSpPr txBox="1"/>
          <p:nvPr/>
        </p:nvSpPr>
        <p:spPr>
          <a:xfrm>
            <a:off x="92353" y="560496"/>
            <a:ext cx="340158" cy="276999"/>
          </a:xfrm>
          <a:prstGeom prst="rect">
            <a:avLst/>
          </a:prstGeom>
          <a:noFill/>
        </p:spPr>
        <p:txBody>
          <a:bodyPr wrap="none" rtlCol="0">
            <a:spAutoFit/>
          </a:bodyPr>
          <a:lstStyle/>
          <a:p>
            <a:r>
              <a:rPr lang="en-GB" sz="1200" noProof="0" dirty="0"/>
              <a:t>a) </a:t>
            </a:r>
          </a:p>
        </p:txBody>
      </p:sp>
      <p:sp>
        <p:nvSpPr>
          <p:cNvPr id="10" name="TextBox 9"/>
          <p:cNvSpPr txBox="1"/>
          <p:nvPr/>
        </p:nvSpPr>
        <p:spPr>
          <a:xfrm>
            <a:off x="2247671" y="554715"/>
            <a:ext cx="346570" cy="276999"/>
          </a:xfrm>
          <a:prstGeom prst="rect">
            <a:avLst/>
          </a:prstGeom>
          <a:noFill/>
        </p:spPr>
        <p:txBody>
          <a:bodyPr wrap="none" rtlCol="0">
            <a:spAutoFit/>
          </a:bodyPr>
          <a:lstStyle/>
          <a:p>
            <a:r>
              <a:rPr lang="en-GB" sz="1200" noProof="0" dirty="0"/>
              <a:t>b) </a:t>
            </a:r>
          </a:p>
        </p:txBody>
      </p:sp>
      <p:sp>
        <p:nvSpPr>
          <p:cNvPr id="11" name="TextBox 10"/>
          <p:cNvSpPr txBox="1"/>
          <p:nvPr/>
        </p:nvSpPr>
        <p:spPr>
          <a:xfrm>
            <a:off x="4445860" y="569746"/>
            <a:ext cx="332142" cy="276999"/>
          </a:xfrm>
          <a:prstGeom prst="rect">
            <a:avLst/>
          </a:prstGeom>
          <a:noFill/>
        </p:spPr>
        <p:txBody>
          <a:bodyPr wrap="none" rtlCol="0">
            <a:spAutoFit/>
          </a:bodyPr>
          <a:lstStyle/>
          <a:p>
            <a:r>
              <a:rPr lang="en-GB" sz="1200" noProof="0" dirty="0"/>
              <a:t>c) </a:t>
            </a:r>
          </a:p>
        </p:txBody>
      </p:sp>
      <p:sp>
        <p:nvSpPr>
          <p:cNvPr id="12" name="Rectangle 11">
            <a:extLst>
              <a:ext uri="{FF2B5EF4-FFF2-40B4-BE49-F238E27FC236}">
                <a16:creationId xmlns:a16="http://schemas.microsoft.com/office/drawing/2014/main" id="{B16CFEF2-A65A-6142-861C-58ACADF7EEFB}"/>
              </a:ext>
            </a:extLst>
          </p:cNvPr>
          <p:cNvSpPr/>
          <p:nvPr/>
        </p:nvSpPr>
        <p:spPr>
          <a:xfrm>
            <a:off x="92353"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3" name="Rectangle 12">
            <a:extLst>
              <a:ext uri="{FF2B5EF4-FFF2-40B4-BE49-F238E27FC236}">
                <a16:creationId xmlns:a16="http://schemas.microsoft.com/office/drawing/2014/main" id="{B16CFEF2-A65A-6142-861C-58ACADF7EEFB}"/>
              </a:ext>
            </a:extLst>
          </p:cNvPr>
          <p:cNvSpPr/>
          <p:nvPr/>
        </p:nvSpPr>
        <p:spPr>
          <a:xfrm>
            <a:off x="2334187"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4" name="Rectangle 13">
            <a:extLst>
              <a:ext uri="{FF2B5EF4-FFF2-40B4-BE49-F238E27FC236}">
                <a16:creationId xmlns:a16="http://schemas.microsoft.com/office/drawing/2014/main" id="{B16CFEF2-A65A-6142-861C-58ACADF7EEFB}"/>
              </a:ext>
            </a:extLst>
          </p:cNvPr>
          <p:cNvSpPr/>
          <p:nvPr/>
        </p:nvSpPr>
        <p:spPr>
          <a:xfrm>
            <a:off x="4569853"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pic>
        <p:nvPicPr>
          <p:cNvPr id="15" name="Picture 14"/>
          <p:cNvPicPr>
            <a:picLocks noChangeAspect="1"/>
          </p:cNvPicPr>
          <p:nvPr/>
        </p:nvPicPr>
        <p:blipFill rotWithShape="1">
          <a:blip r:embed="rId4"/>
          <a:srcRect b="70616"/>
          <a:stretch/>
        </p:blipFill>
        <p:spPr>
          <a:xfrm>
            <a:off x="415968" y="5096228"/>
            <a:ext cx="1495921" cy="429508"/>
          </a:xfrm>
          <a:prstGeom prst="rect">
            <a:avLst/>
          </a:prstGeom>
        </p:spPr>
      </p:pic>
      <p:sp>
        <p:nvSpPr>
          <p:cNvPr id="16" name="TextBox 15"/>
          <p:cNvSpPr txBox="1"/>
          <p:nvPr/>
        </p:nvSpPr>
        <p:spPr>
          <a:xfrm>
            <a:off x="115475" y="5163233"/>
            <a:ext cx="346570" cy="276999"/>
          </a:xfrm>
          <a:prstGeom prst="rect">
            <a:avLst/>
          </a:prstGeom>
          <a:noFill/>
        </p:spPr>
        <p:txBody>
          <a:bodyPr wrap="none" rtlCol="0">
            <a:spAutoFit/>
          </a:bodyPr>
          <a:lstStyle/>
          <a:p>
            <a:r>
              <a:rPr lang="en-GB" sz="1200" noProof="0" dirty="0"/>
              <a:t>d) </a:t>
            </a:r>
          </a:p>
        </p:txBody>
      </p:sp>
      <p:sp>
        <p:nvSpPr>
          <p:cNvPr id="17" name="TextBox 16"/>
          <p:cNvSpPr txBox="1"/>
          <p:nvPr/>
        </p:nvSpPr>
        <p:spPr>
          <a:xfrm>
            <a:off x="2270793" y="5157452"/>
            <a:ext cx="343364" cy="276999"/>
          </a:xfrm>
          <a:prstGeom prst="rect">
            <a:avLst/>
          </a:prstGeom>
          <a:noFill/>
        </p:spPr>
        <p:txBody>
          <a:bodyPr wrap="none" rtlCol="0">
            <a:spAutoFit/>
          </a:bodyPr>
          <a:lstStyle/>
          <a:p>
            <a:r>
              <a:rPr lang="en-GB" sz="1200" noProof="0" dirty="0"/>
              <a:t>e) </a:t>
            </a:r>
          </a:p>
        </p:txBody>
      </p:sp>
      <p:sp>
        <p:nvSpPr>
          <p:cNvPr id="18" name="TextBox 17"/>
          <p:cNvSpPr txBox="1"/>
          <p:nvPr/>
        </p:nvSpPr>
        <p:spPr>
          <a:xfrm>
            <a:off x="4468982" y="5172483"/>
            <a:ext cx="315151" cy="276999"/>
          </a:xfrm>
          <a:prstGeom prst="rect">
            <a:avLst/>
          </a:prstGeom>
          <a:noFill/>
        </p:spPr>
        <p:txBody>
          <a:bodyPr wrap="none" rtlCol="0">
            <a:spAutoFit/>
          </a:bodyPr>
          <a:lstStyle/>
          <a:p>
            <a:r>
              <a:rPr lang="en-GB" sz="1200" noProof="0" dirty="0"/>
              <a:t>f) </a:t>
            </a:r>
          </a:p>
        </p:txBody>
      </p:sp>
      <p:pic>
        <p:nvPicPr>
          <p:cNvPr id="19" name="Picture 18"/>
          <p:cNvPicPr>
            <a:picLocks noChangeAspect="1"/>
          </p:cNvPicPr>
          <p:nvPr/>
        </p:nvPicPr>
        <p:blipFill rotWithShape="1">
          <a:blip r:embed="rId4"/>
          <a:srcRect t="35555" b="35252"/>
          <a:stretch/>
        </p:blipFill>
        <p:spPr>
          <a:xfrm>
            <a:off x="2561685" y="5126972"/>
            <a:ext cx="1495921" cy="426720"/>
          </a:xfrm>
          <a:prstGeom prst="rect">
            <a:avLst/>
          </a:prstGeom>
        </p:spPr>
      </p:pic>
      <p:pic>
        <p:nvPicPr>
          <p:cNvPr id="20" name="Picture 19"/>
          <p:cNvPicPr>
            <a:picLocks noChangeAspect="1"/>
          </p:cNvPicPr>
          <p:nvPr/>
        </p:nvPicPr>
        <p:blipFill rotWithShape="1">
          <a:blip r:embed="rId4"/>
          <a:srcRect t="70050" b="757"/>
          <a:stretch/>
        </p:blipFill>
        <p:spPr>
          <a:xfrm>
            <a:off x="4705642" y="5082591"/>
            <a:ext cx="1495921" cy="426720"/>
          </a:xfrm>
          <a:prstGeom prst="rect">
            <a:avLst/>
          </a:prstGeom>
        </p:spPr>
      </p:pic>
      <p:sp>
        <p:nvSpPr>
          <p:cNvPr id="21" name="Rectangle 20">
            <a:extLst>
              <a:ext uri="{FF2B5EF4-FFF2-40B4-BE49-F238E27FC236}">
                <a16:creationId xmlns:a16="http://schemas.microsoft.com/office/drawing/2014/main" id="{B16CFEF2-A65A-6142-861C-58ACADF7EEFB}"/>
              </a:ext>
            </a:extLst>
          </p:cNvPr>
          <p:cNvSpPr/>
          <p:nvPr/>
        </p:nvSpPr>
        <p:spPr>
          <a:xfrm>
            <a:off x="92353"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2" name="Rectangle 21">
            <a:extLst>
              <a:ext uri="{FF2B5EF4-FFF2-40B4-BE49-F238E27FC236}">
                <a16:creationId xmlns:a16="http://schemas.microsoft.com/office/drawing/2014/main" id="{B16CFEF2-A65A-6142-861C-58ACADF7EEFB}"/>
              </a:ext>
            </a:extLst>
          </p:cNvPr>
          <p:cNvSpPr/>
          <p:nvPr/>
        </p:nvSpPr>
        <p:spPr>
          <a:xfrm>
            <a:off x="2334187"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3" name="Rectangle 22">
            <a:extLst>
              <a:ext uri="{FF2B5EF4-FFF2-40B4-BE49-F238E27FC236}">
                <a16:creationId xmlns:a16="http://schemas.microsoft.com/office/drawing/2014/main" id="{B16CFEF2-A65A-6142-861C-58ACADF7EEFB}"/>
              </a:ext>
            </a:extLst>
          </p:cNvPr>
          <p:cNvSpPr/>
          <p:nvPr/>
        </p:nvSpPr>
        <p:spPr>
          <a:xfrm>
            <a:off x="4569853"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grpSp>
        <p:nvGrpSpPr>
          <p:cNvPr id="30" name="Group 29"/>
          <p:cNvGrpSpPr/>
          <p:nvPr/>
        </p:nvGrpSpPr>
        <p:grpSpPr>
          <a:xfrm>
            <a:off x="503980" y="4600931"/>
            <a:ext cx="1601234" cy="276999"/>
            <a:chOff x="503980" y="4722851"/>
            <a:chExt cx="1601234" cy="276999"/>
          </a:xfrm>
        </p:grpSpPr>
        <mc:AlternateContent xmlns:mc="http://schemas.openxmlformats.org/markup-compatibility/2006" xmlns:a14="http://schemas.microsoft.com/office/drawing/2010/main">
          <mc:Choice Requires="a14">
            <p:sp>
              <p:nvSpPr>
                <p:cNvPr id="25" name="TextBox 24"/>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5" name="TextBox 24"/>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5"/>
                  <a:stretch>
                    <a:fillRect t="-2222" b="-17778"/>
                  </a:stretch>
                </a:blipFill>
              </p:spPr>
              <p:txBody>
                <a:bodyPr/>
                <a:lstStyle/>
                <a:p>
                  <a:r>
                    <a:rPr lang="en-US">
                      <a:noFill/>
                    </a:rPr>
                    <a:t> </a:t>
                  </a:r>
                </a:p>
              </p:txBody>
            </p:sp>
          </mc:Fallback>
        </mc:AlternateContent>
        <p:cxnSp>
          <p:nvCxnSpPr>
            <p:cNvPr id="27" name="Straight Connector 26"/>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1" name="Group 30"/>
          <p:cNvGrpSpPr/>
          <p:nvPr/>
        </p:nvGrpSpPr>
        <p:grpSpPr>
          <a:xfrm>
            <a:off x="2686400" y="4600931"/>
            <a:ext cx="1601234" cy="276999"/>
            <a:chOff x="503980" y="4722851"/>
            <a:chExt cx="1601234" cy="276999"/>
          </a:xfrm>
        </p:grpSpPr>
        <mc:AlternateContent xmlns:mc="http://schemas.openxmlformats.org/markup-compatibility/2006" xmlns:a14="http://schemas.microsoft.com/office/drawing/2010/main">
          <mc:Choice Requires="a14">
            <p:sp>
              <p:nvSpPr>
                <p:cNvPr id="32" name="TextBox 31"/>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5"/>
                  <a:stretch>
                    <a:fillRect t="-2222" b="-17778"/>
                  </a:stretch>
                </a:blipFill>
              </p:spPr>
              <p:txBody>
                <a:bodyPr/>
                <a:lstStyle/>
                <a:p>
                  <a:r>
                    <a:rPr lang="en-US">
                      <a:noFill/>
                    </a:rPr>
                    <a:t> </a:t>
                  </a:r>
                </a:p>
              </p:txBody>
            </p:sp>
          </mc:Fallback>
        </mc:AlternateContent>
        <p:cxnSp>
          <p:nvCxnSpPr>
            <p:cNvPr id="33" name="Straight Connector 32"/>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5" name="Group 34"/>
          <p:cNvGrpSpPr/>
          <p:nvPr/>
        </p:nvGrpSpPr>
        <p:grpSpPr>
          <a:xfrm>
            <a:off x="4871050" y="4603268"/>
            <a:ext cx="1601234" cy="276999"/>
            <a:chOff x="503980" y="4722851"/>
            <a:chExt cx="1601234" cy="276999"/>
          </a:xfrm>
        </p:grpSpPr>
        <mc:AlternateContent xmlns:mc="http://schemas.openxmlformats.org/markup-compatibility/2006" xmlns:a14="http://schemas.microsoft.com/office/drawing/2010/main">
          <mc:Choice Requires="a14">
            <p:sp>
              <p:nvSpPr>
                <p:cNvPr id="36" name="TextBox 35"/>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6" name="TextBox 35"/>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6"/>
                  <a:stretch>
                    <a:fillRect b="-15217"/>
                  </a:stretch>
                </a:blipFill>
              </p:spPr>
              <p:txBody>
                <a:bodyPr/>
                <a:lstStyle/>
                <a:p>
                  <a:r>
                    <a:rPr lang="en-US">
                      <a:noFill/>
                    </a:rPr>
                    <a:t> </a:t>
                  </a:r>
                </a:p>
              </p:txBody>
            </p:sp>
          </mc:Fallback>
        </mc:AlternateContent>
        <p:cxnSp>
          <p:nvCxnSpPr>
            <p:cNvPr id="37" name="Straight Connector 36"/>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9" name="Group 38"/>
          <p:cNvGrpSpPr/>
          <p:nvPr/>
        </p:nvGrpSpPr>
        <p:grpSpPr>
          <a:xfrm>
            <a:off x="511160" y="9365676"/>
            <a:ext cx="1601234" cy="276999"/>
            <a:chOff x="503980" y="4722851"/>
            <a:chExt cx="1601234" cy="276999"/>
          </a:xfrm>
        </p:grpSpPr>
        <mc:AlternateContent xmlns:mc="http://schemas.openxmlformats.org/markup-compatibility/2006" xmlns:a14="http://schemas.microsoft.com/office/drawing/2010/main">
          <mc:Choice Requires="a14">
            <p:sp>
              <p:nvSpPr>
                <p:cNvPr id="40" name="TextBox 39"/>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0" name="TextBox 39"/>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6"/>
                  <a:stretch>
                    <a:fillRect b="-15217"/>
                  </a:stretch>
                </a:blipFill>
              </p:spPr>
              <p:txBody>
                <a:bodyPr/>
                <a:lstStyle/>
                <a:p>
                  <a:r>
                    <a:rPr lang="en-US">
                      <a:noFill/>
                    </a:rPr>
                    <a:t> </a:t>
                  </a:r>
                </a:p>
              </p:txBody>
            </p:sp>
          </mc:Fallback>
        </mc:AlternateContent>
        <p:cxnSp>
          <p:nvCxnSpPr>
            <p:cNvPr id="41" name="Straight Connector 40"/>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43" name="Group 42"/>
          <p:cNvGrpSpPr/>
          <p:nvPr/>
        </p:nvGrpSpPr>
        <p:grpSpPr>
          <a:xfrm>
            <a:off x="2693580" y="9365676"/>
            <a:ext cx="1601234" cy="276999"/>
            <a:chOff x="503980" y="4722851"/>
            <a:chExt cx="1601234" cy="276999"/>
          </a:xfrm>
        </p:grpSpPr>
        <mc:AlternateContent xmlns:mc="http://schemas.openxmlformats.org/markup-compatibility/2006" xmlns:a14="http://schemas.microsoft.com/office/drawing/2010/main">
          <mc:Choice Requires="a14">
            <p:sp>
              <p:nvSpPr>
                <p:cNvPr id="44" name="TextBox 43"/>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4" name="TextBox 43"/>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6"/>
                  <a:stretch>
                    <a:fillRect b="-15217"/>
                  </a:stretch>
                </a:blipFill>
              </p:spPr>
              <p:txBody>
                <a:bodyPr/>
                <a:lstStyle/>
                <a:p>
                  <a:r>
                    <a:rPr lang="en-US">
                      <a:noFill/>
                    </a:rPr>
                    <a:t> </a:t>
                  </a:r>
                </a:p>
              </p:txBody>
            </p:sp>
          </mc:Fallback>
        </mc:AlternateContent>
        <p:cxnSp>
          <p:nvCxnSpPr>
            <p:cNvPr id="45" name="Straight Connector 44"/>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47" name="Group 46"/>
          <p:cNvGrpSpPr/>
          <p:nvPr/>
        </p:nvGrpSpPr>
        <p:grpSpPr>
          <a:xfrm>
            <a:off x="4878230" y="9368013"/>
            <a:ext cx="1601234" cy="276999"/>
            <a:chOff x="503980" y="4722851"/>
            <a:chExt cx="1601234" cy="276999"/>
          </a:xfrm>
        </p:grpSpPr>
        <mc:AlternateContent xmlns:mc="http://schemas.openxmlformats.org/markup-compatibility/2006" xmlns:a14="http://schemas.microsoft.com/office/drawing/2010/main">
          <mc:Choice Requires="a14">
            <p:sp>
              <p:nvSpPr>
                <p:cNvPr id="48" name="TextBox 47"/>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8" name="TextBox 47"/>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5"/>
                  <a:stretch>
                    <a:fillRect t="-2222" b="-17778"/>
                  </a:stretch>
                </a:blipFill>
              </p:spPr>
              <p:txBody>
                <a:bodyPr/>
                <a:lstStyle/>
                <a:p>
                  <a:r>
                    <a:rPr lang="en-US">
                      <a:noFill/>
                    </a:rPr>
                    <a:t> </a:t>
                  </a:r>
                </a:p>
              </p:txBody>
            </p:sp>
          </mc:Fallback>
        </mc:AlternateContent>
        <p:cxnSp>
          <p:nvCxnSpPr>
            <p:cNvPr id="49" name="Straight Connector 48"/>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sp>
        <p:nvSpPr>
          <p:cNvPr id="52" name="TextBox 51">
            <a:extLst>
              <a:ext uri="{FF2B5EF4-FFF2-40B4-BE49-F238E27FC236}">
                <a16:creationId xmlns:a16="http://schemas.microsoft.com/office/drawing/2014/main" id="{C3C65E48-8C3D-6849-AD77-7AD8678AD8DA}"/>
              </a:ext>
            </a:extLst>
          </p:cNvPr>
          <p:cNvSpPr txBox="1"/>
          <p:nvPr/>
        </p:nvSpPr>
        <p:spPr>
          <a:xfrm>
            <a:off x="138772" y="146120"/>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3525067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485914"/>
            <a:ext cx="1543050" cy="527403"/>
          </a:xfrm>
        </p:spPr>
        <p:txBody>
          <a:bodyPr/>
          <a:lstStyle/>
          <a:p>
            <a:fld id="{9BD3B4A0-BFF9-422C-B253-48BA94BE2F5B}" type="slidenum">
              <a:rPr lang="en-GB" noProof="0" smtClean="0"/>
              <a:t>34</a:t>
            </a:fld>
            <a:endParaRPr lang="en-GB" noProof="0" dirty="0"/>
          </a:p>
        </p:txBody>
      </p:sp>
      <p:sp>
        <p:nvSpPr>
          <p:cNvPr id="5" name="TextBox 4"/>
          <p:cNvSpPr txBox="1"/>
          <p:nvPr/>
        </p:nvSpPr>
        <p:spPr>
          <a:xfrm>
            <a:off x="2075770" y="75571"/>
            <a:ext cx="2206630" cy="276999"/>
          </a:xfrm>
          <a:prstGeom prst="rect">
            <a:avLst/>
          </a:prstGeom>
          <a:noFill/>
        </p:spPr>
        <p:txBody>
          <a:bodyPr wrap="none" rtlCol="0">
            <a:spAutoFit/>
          </a:bodyPr>
          <a:lstStyle/>
          <a:p>
            <a:pPr algn="ctr"/>
            <a:r>
              <a:rPr lang="en-GB" sz="1200" noProof="0" dirty="0"/>
              <a:t>10. Solve the algebraic fractions.</a:t>
            </a:r>
          </a:p>
        </p:txBody>
      </p:sp>
      <p:sp>
        <p:nvSpPr>
          <p:cNvPr id="9" name="TextBox 8"/>
          <p:cNvSpPr txBox="1"/>
          <p:nvPr/>
        </p:nvSpPr>
        <p:spPr>
          <a:xfrm>
            <a:off x="92353" y="560496"/>
            <a:ext cx="338554" cy="276999"/>
          </a:xfrm>
          <a:prstGeom prst="rect">
            <a:avLst/>
          </a:prstGeom>
          <a:noFill/>
        </p:spPr>
        <p:txBody>
          <a:bodyPr wrap="none" rtlCol="0">
            <a:spAutoFit/>
          </a:bodyPr>
          <a:lstStyle/>
          <a:p>
            <a:r>
              <a:rPr lang="en-GB" sz="1200" noProof="0" dirty="0"/>
              <a:t>g) </a:t>
            </a:r>
          </a:p>
        </p:txBody>
      </p:sp>
      <p:sp>
        <p:nvSpPr>
          <p:cNvPr id="10" name="TextBox 9"/>
          <p:cNvSpPr txBox="1"/>
          <p:nvPr/>
        </p:nvSpPr>
        <p:spPr>
          <a:xfrm>
            <a:off x="2247671" y="554715"/>
            <a:ext cx="346570" cy="276999"/>
          </a:xfrm>
          <a:prstGeom prst="rect">
            <a:avLst/>
          </a:prstGeom>
          <a:noFill/>
        </p:spPr>
        <p:txBody>
          <a:bodyPr wrap="none" rtlCol="0">
            <a:spAutoFit/>
          </a:bodyPr>
          <a:lstStyle/>
          <a:p>
            <a:r>
              <a:rPr lang="en-GB" sz="1200" noProof="0" dirty="0"/>
              <a:t>h) </a:t>
            </a:r>
          </a:p>
        </p:txBody>
      </p:sp>
      <p:sp>
        <p:nvSpPr>
          <p:cNvPr id="11" name="TextBox 10"/>
          <p:cNvSpPr txBox="1"/>
          <p:nvPr/>
        </p:nvSpPr>
        <p:spPr>
          <a:xfrm>
            <a:off x="4445860" y="569746"/>
            <a:ext cx="301686" cy="276999"/>
          </a:xfrm>
          <a:prstGeom prst="rect">
            <a:avLst/>
          </a:prstGeom>
          <a:noFill/>
        </p:spPr>
        <p:txBody>
          <a:bodyPr wrap="none" rtlCol="0">
            <a:spAutoFit/>
          </a:bodyPr>
          <a:lstStyle/>
          <a:p>
            <a:r>
              <a:rPr lang="en-GB" sz="1200" noProof="0" dirty="0" err="1"/>
              <a:t>i</a:t>
            </a:r>
            <a:r>
              <a:rPr lang="en-GB" sz="1200" noProof="0" dirty="0"/>
              <a:t>) </a:t>
            </a:r>
          </a:p>
        </p:txBody>
      </p:sp>
      <p:sp>
        <p:nvSpPr>
          <p:cNvPr id="12" name="Rectangle 11">
            <a:extLst>
              <a:ext uri="{FF2B5EF4-FFF2-40B4-BE49-F238E27FC236}">
                <a16:creationId xmlns:a16="http://schemas.microsoft.com/office/drawing/2014/main" id="{B16CFEF2-A65A-6142-861C-58ACADF7EEFB}"/>
              </a:ext>
            </a:extLst>
          </p:cNvPr>
          <p:cNvSpPr/>
          <p:nvPr/>
        </p:nvSpPr>
        <p:spPr>
          <a:xfrm>
            <a:off x="92353"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3" name="Rectangle 12">
            <a:extLst>
              <a:ext uri="{FF2B5EF4-FFF2-40B4-BE49-F238E27FC236}">
                <a16:creationId xmlns:a16="http://schemas.microsoft.com/office/drawing/2014/main" id="{B16CFEF2-A65A-6142-861C-58ACADF7EEFB}"/>
              </a:ext>
            </a:extLst>
          </p:cNvPr>
          <p:cNvSpPr/>
          <p:nvPr/>
        </p:nvSpPr>
        <p:spPr>
          <a:xfrm>
            <a:off x="2334187"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4" name="Rectangle 13">
            <a:extLst>
              <a:ext uri="{FF2B5EF4-FFF2-40B4-BE49-F238E27FC236}">
                <a16:creationId xmlns:a16="http://schemas.microsoft.com/office/drawing/2014/main" id="{B16CFEF2-A65A-6142-861C-58ACADF7EEFB}"/>
              </a:ext>
            </a:extLst>
          </p:cNvPr>
          <p:cNvSpPr/>
          <p:nvPr/>
        </p:nvSpPr>
        <p:spPr>
          <a:xfrm>
            <a:off x="4569853" y="997759"/>
            <a:ext cx="2090269" cy="400997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6" name="TextBox 15"/>
          <p:cNvSpPr txBox="1"/>
          <p:nvPr/>
        </p:nvSpPr>
        <p:spPr>
          <a:xfrm>
            <a:off x="115475" y="5163233"/>
            <a:ext cx="303288" cy="276999"/>
          </a:xfrm>
          <a:prstGeom prst="rect">
            <a:avLst/>
          </a:prstGeom>
          <a:noFill/>
        </p:spPr>
        <p:txBody>
          <a:bodyPr wrap="none" rtlCol="0">
            <a:spAutoFit/>
          </a:bodyPr>
          <a:lstStyle/>
          <a:p>
            <a:r>
              <a:rPr lang="en-GB" sz="1200" noProof="0" dirty="0"/>
              <a:t>j) </a:t>
            </a:r>
          </a:p>
        </p:txBody>
      </p:sp>
      <p:sp>
        <p:nvSpPr>
          <p:cNvPr id="17" name="TextBox 16"/>
          <p:cNvSpPr txBox="1"/>
          <p:nvPr/>
        </p:nvSpPr>
        <p:spPr>
          <a:xfrm>
            <a:off x="2270793" y="5157452"/>
            <a:ext cx="336952" cy="276999"/>
          </a:xfrm>
          <a:prstGeom prst="rect">
            <a:avLst/>
          </a:prstGeom>
          <a:noFill/>
        </p:spPr>
        <p:txBody>
          <a:bodyPr wrap="none" rtlCol="0">
            <a:spAutoFit/>
          </a:bodyPr>
          <a:lstStyle/>
          <a:p>
            <a:r>
              <a:rPr lang="en-GB" sz="1200" noProof="0" dirty="0"/>
              <a:t>k) </a:t>
            </a:r>
          </a:p>
        </p:txBody>
      </p:sp>
      <p:sp>
        <p:nvSpPr>
          <p:cNvPr id="18" name="TextBox 17"/>
          <p:cNvSpPr txBox="1"/>
          <p:nvPr/>
        </p:nvSpPr>
        <p:spPr>
          <a:xfrm>
            <a:off x="4468982" y="5172483"/>
            <a:ext cx="301686" cy="276999"/>
          </a:xfrm>
          <a:prstGeom prst="rect">
            <a:avLst/>
          </a:prstGeom>
          <a:noFill/>
        </p:spPr>
        <p:txBody>
          <a:bodyPr wrap="none" rtlCol="0">
            <a:spAutoFit/>
          </a:bodyPr>
          <a:lstStyle/>
          <a:p>
            <a:r>
              <a:rPr lang="en-GB" sz="1200" noProof="0" dirty="0"/>
              <a:t>l) </a:t>
            </a:r>
          </a:p>
        </p:txBody>
      </p:sp>
      <p:sp>
        <p:nvSpPr>
          <p:cNvPr id="21" name="Rectangle 20">
            <a:extLst>
              <a:ext uri="{FF2B5EF4-FFF2-40B4-BE49-F238E27FC236}">
                <a16:creationId xmlns:a16="http://schemas.microsoft.com/office/drawing/2014/main" id="{B16CFEF2-A65A-6142-861C-58ACADF7EEFB}"/>
              </a:ext>
            </a:extLst>
          </p:cNvPr>
          <p:cNvSpPr/>
          <p:nvPr/>
        </p:nvSpPr>
        <p:spPr>
          <a:xfrm>
            <a:off x="92353"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2" name="Rectangle 21">
            <a:extLst>
              <a:ext uri="{FF2B5EF4-FFF2-40B4-BE49-F238E27FC236}">
                <a16:creationId xmlns:a16="http://schemas.microsoft.com/office/drawing/2014/main" id="{B16CFEF2-A65A-6142-861C-58ACADF7EEFB}"/>
              </a:ext>
            </a:extLst>
          </p:cNvPr>
          <p:cNvSpPr/>
          <p:nvPr/>
        </p:nvSpPr>
        <p:spPr>
          <a:xfrm>
            <a:off x="2334187"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23" name="Rectangle 22">
            <a:extLst>
              <a:ext uri="{FF2B5EF4-FFF2-40B4-BE49-F238E27FC236}">
                <a16:creationId xmlns:a16="http://schemas.microsoft.com/office/drawing/2014/main" id="{B16CFEF2-A65A-6142-861C-58ACADF7EEFB}"/>
              </a:ext>
            </a:extLst>
          </p:cNvPr>
          <p:cNvSpPr/>
          <p:nvPr/>
        </p:nvSpPr>
        <p:spPr>
          <a:xfrm>
            <a:off x="4569853" y="5622114"/>
            <a:ext cx="2090269" cy="415310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grpSp>
        <p:nvGrpSpPr>
          <p:cNvPr id="30" name="Group 29"/>
          <p:cNvGrpSpPr/>
          <p:nvPr/>
        </p:nvGrpSpPr>
        <p:grpSpPr>
          <a:xfrm>
            <a:off x="503980" y="4600931"/>
            <a:ext cx="1601234" cy="276999"/>
            <a:chOff x="503980" y="4722851"/>
            <a:chExt cx="1601234" cy="276999"/>
          </a:xfrm>
        </p:grpSpPr>
        <mc:AlternateContent xmlns:mc="http://schemas.openxmlformats.org/markup-compatibility/2006" xmlns:a14="http://schemas.microsoft.com/office/drawing/2010/main">
          <mc:Choice Requires="a14">
            <p:sp>
              <p:nvSpPr>
                <p:cNvPr id="25" name="TextBox 24"/>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5" name="TextBox 24"/>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2"/>
                  <a:stretch>
                    <a:fillRect t="-2222" b="-17778"/>
                  </a:stretch>
                </a:blipFill>
              </p:spPr>
              <p:txBody>
                <a:bodyPr/>
                <a:lstStyle/>
                <a:p>
                  <a:r>
                    <a:rPr lang="en-US">
                      <a:noFill/>
                    </a:rPr>
                    <a:t> </a:t>
                  </a:r>
                </a:p>
              </p:txBody>
            </p:sp>
          </mc:Fallback>
        </mc:AlternateContent>
        <p:cxnSp>
          <p:nvCxnSpPr>
            <p:cNvPr id="27" name="Straight Connector 26"/>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1" name="Group 30"/>
          <p:cNvGrpSpPr/>
          <p:nvPr/>
        </p:nvGrpSpPr>
        <p:grpSpPr>
          <a:xfrm>
            <a:off x="2686400" y="4600931"/>
            <a:ext cx="1601234" cy="276999"/>
            <a:chOff x="503980" y="4722851"/>
            <a:chExt cx="1601234" cy="276999"/>
          </a:xfrm>
        </p:grpSpPr>
        <mc:AlternateContent xmlns:mc="http://schemas.openxmlformats.org/markup-compatibility/2006" xmlns:a14="http://schemas.microsoft.com/office/drawing/2010/main">
          <mc:Choice Requires="a14">
            <p:sp>
              <p:nvSpPr>
                <p:cNvPr id="32" name="TextBox 31"/>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2"/>
                  <a:stretch>
                    <a:fillRect t="-2222" b="-17778"/>
                  </a:stretch>
                </a:blipFill>
              </p:spPr>
              <p:txBody>
                <a:bodyPr/>
                <a:lstStyle/>
                <a:p>
                  <a:r>
                    <a:rPr lang="en-US">
                      <a:noFill/>
                    </a:rPr>
                    <a:t> </a:t>
                  </a:r>
                </a:p>
              </p:txBody>
            </p:sp>
          </mc:Fallback>
        </mc:AlternateContent>
        <p:cxnSp>
          <p:nvCxnSpPr>
            <p:cNvPr id="33" name="Straight Connector 32"/>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5" name="Group 34"/>
          <p:cNvGrpSpPr/>
          <p:nvPr/>
        </p:nvGrpSpPr>
        <p:grpSpPr>
          <a:xfrm>
            <a:off x="4871050" y="4603268"/>
            <a:ext cx="1601234" cy="276999"/>
            <a:chOff x="503980" y="4722851"/>
            <a:chExt cx="1601234" cy="276999"/>
          </a:xfrm>
        </p:grpSpPr>
        <mc:AlternateContent xmlns:mc="http://schemas.openxmlformats.org/markup-compatibility/2006" xmlns:a14="http://schemas.microsoft.com/office/drawing/2010/main">
          <mc:Choice Requires="a14">
            <p:sp>
              <p:nvSpPr>
                <p:cNvPr id="36" name="TextBox 35"/>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6" name="TextBox 35"/>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5217"/>
                  </a:stretch>
                </a:blipFill>
              </p:spPr>
              <p:txBody>
                <a:bodyPr/>
                <a:lstStyle/>
                <a:p>
                  <a:r>
                    <a:rPr lang="en-US">
                      <a:noFill/>
                    </a:rPr>
                    <a:t> </a:t>
                  </a:r>
                </a:p>
              </p:txBody>
            </p:sp>
          </mc:Fallback>
        </mc:AlternateContent>
        <p:cxnSp>
          <p:nvCxnSpPr>
            <p:cNvPr id="37" name="Straight Connector 36"/>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9" name="Group 38"/>
          <p:cNvGrpSpPr/>
          <p:nvPr/>
        </p:nvGrpSpPr>
        <p:grpSpPr>
          <a:xfrm>
            <a:off x="511160" y="9365676"/>
            <a:ext cx="1601234" cy="276999"/>
            <a:chOff x="503980" y="4722851"/>
            <a:chExt cx="1601234" cy="276999"/>
          </a:xfrm>
        </p:grpSpPr>
        <mc:AlternateContent xmlns:mc="http://schemas.openxmlformats.org/markup-compatibility/2006" xmlns:a14="http://schemas.microsoft.com/office/drawing/2010/main">
          <mc:Choice Requires="a14">
            <p:sp>
              <p:nvSpPr>
                <p:cNvPr id="40" name="TextBox 39"/>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0" name="TextBox 39"/>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5217"/>
                  </a:stretch>
                </a:blipFill>
              </p:spPr>
              <p:txBody>
                <a:bodyPr/>
                <a:lstStyle/>
                <a:p>
                  <a:r>
                    <a:rPr lang="en-US">
                      <a:noFill/>
                    </a:rPr>
                    <a:t> </a:t>
                  </a:r>
                </a:p>
              </p:txBody>
            </p:sp>
          </mc:Fallback>
        </mc:AlternateContent>
        <p:cxnSp>
          <p:nvCxnSpPr>
            <p:cNvPr id="41" name="Straight Connector 40"/>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43" name="Group 42"/>
          <p:cNvGrpSpPr/>
          <p:nvPr/>
        </p:nvGrpSpPr>
        <p:grpSpPr>
          <a:xfrm>
            <a:off x="2693580" y="9365676"/>
            <a:ext cx="1601234" cy="276999"/>
            <a:chOff x="503980" y="4722851"/>
            <a:chExt cx="1601234" cy="276999"/>
          </a:xfrm>
        </p:grpSpPr>
        <mc:AlternateContent xmlns:mc="http://schemas.openxmlformats.org/markup-compatibility/2006" xmlns:a14="http://schemas.microsoft.com/office/drawing/2010/main">
          <mc:Choice Requires="a14">
            <p:sp>
              <p:nvSpPr>
                <p:cNvPr id="44" name="TextBox 43"/>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4" name="TextBox 43"/>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5217"/>
                  </a:stretch>
                </a:blipFill>
              </p:spPr>
              <p:txBody>
                <a:bodyPr/>
                <a:lstStyle/>
                <a:p>
                  <a:r>
                    <a:rPr lang="en-US">
                      <a:noFill/>
                    </a:rPr>
                    <a:t> </a:t>
                  </a:r>
                </a:p>
              </p:txBody>
            </p:sp>
          </mc:Fallback>
        </mc:AlternateContent>
        <p:cxnSp>
          <p:nvCxnSpPr>
            <p:cNvPr id="45" name="Straight Connector 44"/>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47" name="Group 46"/>
          <p:cNvGrpSpPr/>
          <p:nvPr/>
        </p:nvGrpSpPr>
        <p:grpSpPr>
          <a:xfrm>
            <a:off x="4878230" y="9368013"/>
            <a:ext cx="1601234" cy="276999"/>
            <a:chOff x="503980" y="4722851"/>
            <a:chExt cx="1601234" cy="276999"/>
          </a:xfrm>
        </p:grpSpPr>
        <mc:AlternateContent xmlns:mc="http://schemas.openxmlformats.org/markup-compatibility/2006" xmlns:a14="http://schemas.microsoft.com/office/drawing/2010/main">
          <mc:Choice Requires="a14">
            <p:sp>
              <p:nvSpPr>
                <p:cNvPr id="48" name="TextBox 47"/>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8" name="TextBox 47"/>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2"/>
                  <a:stretch>
                    <a:fillRect t="-2222" b="-17778"/>
                  </a:stretch>
                </a:blipFill>
              </p:spPr>
              <p:txBody>
                <a:bodyPr/>
                <a:lstStyle/>
                <a:p>
                  <a:r>
                    <a:rPr lang="en-US">
                      <a:noFill/>
                    </a:rPr>
                    <a:t> </a:t>
                  </a:r>
                </a:p>
              </p:txBody>
            </p:sp>
          </mc:Fallback>
        </mc:AlternateContent>
        <p:cxnSp>
          <p:nvCxnSpPr>
            <p:cNvPr id="49" name="Straight Connector 48"/>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pic>
        <p:nvPicPr>
          <p:cNvPr id="3" name="Picture 2"/>
          <p:cNvPicPr>
            <a:picLocks noChangeAspect="1"/>
          </p:cNvPicPr>
          <p:nvPr/>
        </p:nvPicPr>
        <p:blipFill rotWithShape="1">
          <a:blip r:embed="rId4"/>
          <a:srcRect l="5425" t="1919" r="64556" b="76695"/>
          <a:stretch/>
        </p:blipFill>
        <p:spPr>
          <a:xfrm>
            <a:off x="396052" y="554715"/>
            <a:ext cx="1337405" cy="355763"/>
          </a:xfrm>
          <a:prstGeom prst="rect">
            <a:avLst/>
          </a:prstGeom>
        </p:spPr>
      </p:pic>
      <p:pic>
        <p:nvPicPr>
          <p:cNvPr id="51" name="Picture 50"/>
          <p:cNvPicPr>
            <a:picLocks noChangeAspect="1"/>
          </p:cNvPicPr>
          <p:nvPr/>
        </p:nvPicPr>
        <p:blipFill rotWithShape="1">
          <a:blip r:embed="rId4"/>
          <a:srcRect l="5425" t="24458" r="64556" b="50807"/>
          <a:stretch/>
        </p:blipFill>
        <p:spPr>
          <a:xfrm>
            <a:off x="2607435" y="472924"/>
            <a:ext cx="1337405" cy="411480"/>
          </a:xfrm>
          <a:prstGeom prst="rect">
            <a:avLst/>
          </a:prstGeom>
        </p:spPr>
      </p:pic>
      <p:pic>
        <p:nvPicPr>
          <p:cNvPr id="52" name="Picture 51"/>
          <p:cNvPicPr>
            <a:picLocks noChangeAspect="1"/>
          </p:cNvPicPr>
          <p:nvPr/>
        </p:nvPicPr>
        <p:blipFill rotWithShape="1">
          <a:blip r:embed="rId4"/>
          <a:srcRect l="5425" t="52828" r="64556" b="22437"/>
          <a:stretch/>
        </p:blipFill>
        <p:spPr>
          <a:xfrm>
            <a:off x="4770668" y="499963"/>
            <a:ext cx="1337405" cy="411480"/>
          </a:xfrm>
          <a:prstGeom prst="rect">
            <a:avLst/>
          </a:prstGeom>
        </p:spPr>
      </p:pic>
      <p:pic>
        <p:nvPicPr>
          <p:cNvPr id="53" name="Picture 52"/>
          <p:cNvPicPr>
            <a:picLocks noChangeAspect="1"/>
          </p:cNvPicPr>
          <p:nvPr/>
        </p:nvPicPr>
        <p:blipFill rotWithShape="1">
          <a:blip r:embed="rId4"/>
          <a:srcRect l="5425" t="77741" r="64556" b="1189"/>
          <a:stretch/>
        </p:blipFill>
        <p:spPr>
          <a:xfrm>
            <a:off x="430907" y="5105791"/>
            <a:ext cx="1337405" cy="350519"/>
          </a:xfrm>
          <a:prstGeom prst="rect">
            <a:avLst/>
          </a:prstGeom>
        </p:spPr>
      </p:pic>
      <p:pic>
        <p:nvPicPr>
          <p:cNvPr id="54" name="Picture 53"/>
          <p:cNvPicPr>
            <a:picLocks noChangeAspect="1"/>
          </p:cNvPicPr>
          <p:nvPr/>
        </p:nvPicPr>
        <p:blipFill rotWithShape="1">
          <a:blip r:embed="rId4"/>
          <a:srcRect l="54591" t="1683" r="14965" b="71751"/>
          <a:stretch/>
        </p:blipFill>
        <p:spPr>
          <a:xfrm>
            <a:off x="2553260" y="5090211"/>
            <a:ext cx="1356360" cy="441960"/>
          </a:xfrm>
          <a:prstGeom prst="rect">
            <a:avLst/>
          </a:prstGeom>
        </p:spPr>
      </p:pic>
      <p:pic>
        <p:nvPicPr>
          <p:cNvPr id="55" name="Picture 54"/>
          <p:cNvPicPr>
            <a:picLocks noChangeAspect="1"/>
          </p:cNvPicPr>
          <p:nvPr/>
        </p:nvPicPr>
        <p:blipFill rotWithShape="1">
          <a:blip r:embed="rId4"/>
          <a:srcRect l="54591" t="25498" r="14965" b="47936"/>
          <a:stretch/>
        </p:blipFill>
        <p:spPr>
          <a:xfrm>
            <a:off x="4822910" y="5074971"/>
            <a:ext cx="1356360" cy="441959"/>
          </a:xfrm>
          <a:prstGeom prst="rect">
            <a:avLst/>
          </a:prstGeom>
        </p:spPr>
      </p:pic>
      <p:sp>
        <p:nvSpPr>
          <p:cNvPr id="56" name="TextBox 55">
            <a:extLst>
              <a:ext uri="{FF2B5EF4-FFF2-40B4-BE49-F238E27FC236}">
                <a16:creationId xmlns:a16="http://schemas.microsoft.com/office/drawing/2014/main" id="{C3C65E48-8C3D-6849-AD77-7AD8678AD8DA}"/>
              </a:ext>
            </a:extLst>
          </p:cNvPr>
          <p:cNvSpPr txBox="1"/>
          <p:nvPr/>
        </p:nvSpPr>
        <p:spPr>
          <a:xfrm>
            <a:off x="146940" y="88681"/>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724810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3223" y="3929815"/>
            <a:ext cx="5276850" cy="742950"/>
          </a:xfrm>
          <a:prstGeom prst="rect">
            <a:avLst/>
          </a:prstGeom>
        </p:spPr>
      </p:pic>
      <p:pic>
        <p:nvPicPr>
          <p:cNvPr id="3" name="Picture 2"/>
          <p:cNvPicPr>
            <a:picLocks noChangeAspect="1"/>
          </p:cNvPicPr>
          <p:nvPr/>
        </p:nvPicPr>
        <p:blipFill>
          <a:blip r:embed="rId3"/>
          <a:stretch>
            <a:fillRect/>
          </a:stretch>
        </p:blipFill>
        <p:spPr>
          <a:xfrm>
            <a:off x="445063" y="6698991"/>
            <a:ext cx="5524500" cy="1266825"/>
          </a:xfrm>
          <a:prstGeom prst="rect">
            <a:avLst/>
          </a:prstGeom>
        </p:spPr>
      </p:pic>
      <p:sp>
        <p:nvSpPr>
          <p:cNvPr id="4" name="Rectangle 3"/>
          <p:cNvSpPr/>
          <p:nvPr/>
        </p:nvSpPr>
        <p:spPr>
          <a:xfrm>
            <a:off x="216190" y="3745577"/>
            <a:ext cx="344966" cy="276999"/>
          </a:xfrm>
          <a:prstGeom prst="rect">
            <a:avLst/>
          </a:prstGeom>
        </p:spPr>
        <p:txBody>
          <a:bodyPr wrap="none">
            <a:spAutoFit/>
          </a:bodyPr>
          <a:lstStyle/>
          <a:p>
            <a:r>
              <a:rPr lang="en-GB" sz="1200" noProof="0" dirty="0"/>
              <a:t>2) </a:t>
            </a:r>
          </a:p>
        </p:txBody>
      </p:sp>
      <p:sp>
        <p:nvSpPr>
          <p:cNvPr id="5" name="Rectangle 4"/>
          <p:cNvSpPr/>
          <p:nvPr/>
        </p:nvSpPr>
        <p:spPr>
          <a:xfrm>
            <a:off x="216190" y="6744418"/>
            <a:ext cx="344966" cy="276999"/>
          </a:xfrm>
          <a:prstGeom prst="rect">
            <a:avLst/>
          </a:prstGeom>
        </p:spPr>
        <p:txBody>
          <a:bodyPr wrap="none">
            <a:spAutoFit/>
          </a:bodyPr>
          <a:lstStyle/>
          <a:p>
            <a:r>
              <a:rPr lang="en-GB" sz="1200" noProof="0" dirty="0"/>
              <a:t>3) </a:t>
            </a:r>
          </a:p>
        </p:txBody>
      </p:sp>
      <p:sp>
        <p:nvSpPr>
          <p:cNvPr id="6" name="Rectangle 5">
            <a:extLst>
              <a:ext uri="{FF2B5EF4-FFF2-40B4-BE49-F238E27FC236}">
                <a16:creationId xmlns:a16="http://schemas.microsoft.com/office/drawing/2014/main" id="{B16CFEF2-A65A-6142-861C-58ACADF7EEFB}"/>
              </a:ext>
            </a:extLst>
          </p:cNvPr>
          <p:cNvSpPr/>
          <p:nvPr/>
        </p:nvSpPr>
        <p:spPr>
          <a:xfrm>
            <a:off x="295440" y="483675"/>
            <a:ext cx="6436663" cy="100319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0" name="Rectangle 9">
            <a:extLst>
              <a:ext uri="{FF2B5EF4-FFF2-40B4-BE49-F238E27FC236}">
                <a16:creationId xmlns:a16="http://schemas.microsoft.com/office/drawing/2014/main" id="{B16CFEF2-A65A-6142-861C-58ACADF7EEFB}"/>
              </a:ext>
            </a:extLst>
          </p:cNvPr>
          <p:cNvSpPr/>
          <p:nvPr/>
        </p:nvSpPr>
        <p:spPr>
          <a:xfrm>
            <a:off x="3493935" y="4672766"/>
            <a:ext cx="3223370" cy="166844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3" name="Rectangle 12">
            <a:extLst>
              <a:ext uri="{FF2B5EF4-FFF2-40B4-BE49-F238E27FC236}">
                <a16:creationId xmlns:a16="http://schemas.microsoft.com/office/drawing/2014/main" id="{B16CFEF2-A65A-6142-861C-58ACADF7EEFB}"/>
              </a:ext>
            </a:extLst>
          </p:cNvPr>
          <p:cNvSpPr/>
          <p:nvPr/>
        </p:nvSpPr>
        <p:spPr>
          <a:xfrm>
            <a:off x="300121" y="7965817"/>
            <a:ext cx="2981326" cy="174802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15" name="Rectangle 14">
            <a:extLst>
              <a:ext uri="{FF2B5EF4-FFF2-40B4-BE49-F238E27FC236}">
                <a16:creationId xmlns:a16="http://schemas.microsoft.com/office/drawing/2014/main" id="{B16CFEF2-A65A-6142-861C-58ACADF7EEFB}"/>
              </a:ext>
            </a:extLst>
          </p:cNvPr>
          <p:cNvSpPr/>
          <p:nvPr/>
        </p:nvSpPr>
        <p:spPr>
          <a:xfrm>
            <a:off x="3452897" y="7965816"/>
            <a:ext cx="3223370" cy="174802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sp>
        <p:nvSpPr>
          <p:cNvPr id="8" name="Slide Number Placeholder 7"/>
          <p:cNvSpPr>
            <a:spLocks noGrp="1"/>
          </p:cNvSpPr>
          <p:nvPr>
            <p:ph type="sldNum" sz="quarter" idx="12"/>
          </p:nvPr>
        </p:nvSpPr>
        <p:spPr>
          <a:xfrm>
            <a:off x="5352442" y="9537202"/>
            <a:ext cx="1543050" cy="527403"/>
          </a:xfrm>
        </p:spPr>
        <p:txBody>
          <a:bodyPr/>
          <a:lstStyle/>
          <a:p>
            <a:fld id="{9BD3B4A0-BFF9-422C-B253-48BA94BE2F5B}" type="slidenum">
              <a:rPr lang="en-GB" noProof="0" smtClean="0"/>
              <a:t>35</a:t>
            </a:fld>
            <a:endParaRPr lang="en-GB" noProof="0" dirty="0"/>
          </a:p>
        </p:txBody>
      </p:sp>
      <mc:AlternateContent xmlns:mc="http://schemas.openxmlformats.org/markup-compatibility/2006" xmlns:a14="http://schemas.microsoft.com/office/drawing/2010/main">
        <mc:Choice Requires="a14">
          <p:sp>
            <p:nvSpPr>
              <p:cNvPr id="9" name="Rectangle 8"/>
              <p:cNvSpPr/>
              <p:nvPr/>
            </p:nvSpPr>
            <p:spPr>
              <a:xfrm>
                <a:off x="138088" y="112521"/>
                <a:ext cx="6538179" cy="1743682"/>
              </a:xfrm>
              <a:prstGeom prst="rect">
                <a:avLst/>
              </a:prstGeom>
            </p:spPr>
            <p:txBody>
              <a:bodyPr wrap="square">
                <a:spAutoFit/>
              </a:bodyPr>
              <a:lstStyle/>
              <a:p>
                <a:pPr marL="228600" indent="-228600">
                  <a:buAutoNum type="arabicParenR"/>
                </a:pPr>
                <a:r>
                  <a:rPr lang="en-GB" sz="1200" noProof="0" dirty="0"/>
                  <a:t>Show that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4</m:t>
                        </m:r>
                      </m:num>
                      <m:den>
                        <m:r>
                          <a:rPr lang="en-GB" sz="1200" i="1" noProof="0">
                            <a:latin typeface="Cambria Math" panose="02040503050406030204" pitchFamily="18" charset="0"/>
                          </a:rPr>
                          <m:t>𝑥</m:t>
                        </m:r>
                      </m:den>
                    </m:f>
                    <m:r>
                      <a:rPr lang="en-GB" sz="1200" i="1" noProof="0">
                        <a:latin typeface="Cambria Math" panose="02040503050406030204" pitchFamily="18" charset="0"/>
                      </a:rPr>
                      <m:t>+</m:t>
                    </m:r>
                    <m:f>
                      <m:fPr>
                        <m:ctrlPr>
                          <a:rPr lang="en-GB" sz="1200" i="1" noProof="0">
                            <a:latin typeface="Cambria Math" panose="02040503050406030204" pitchFamily="18" charset="0"/>
                          </a:rPr>
                        </m:ctrlPr>
                      </m:fPr>
                      <m:num>
                        <m:r>
                          <a:rPr lang="en-GB" sz="1200" i="1" noProof="0">
                            <a:latin typeface="Cambria Math" panose="02040503050406030204" pitchFamily="18" charset="0"/>
                          </a:rPr>
                          <m:t>2</m:t>
                        </m:r>
                      </m:num>
                      <m:den>
                        <m:r>
                          <a:rPr lang="en-GB" sz="1200" i="1" noProof="0">
                            <a:latin typeface="Cambria Math" panose="02040503050406030204" pitchFamily="18" charset="0"/>
                          </a:rPr>
                          <m:t>𝑥</m:t>
                        </m:r>
                        <m:r>
                          <a:rPr lang="en-GB" sz="1200" i="1" noProof="0">
                            <a:latin typeface="Cambria Math" panose="02040503050406030204" pitchFamily="18" charset="0"/>
                          </a:rPr>
                          <m:t>−1</m:t>
                        </m:r>
                      </m:den>
                    </m:f>
                  </m:oMath>
                </a14:m>
                <a:r>
                  <a:rPr lang="en-GB" sz="1200" noProof="0" dirty="0"/>
                  <a:t> simplifies to </a:t>
                </a:r>
                <a14:m>
                  <m:oMath xmlns:m="http://schemas.openxmlformats.org/officeDocument/2006/math">
                    <m:f>
                      <m:fPr>
                        <m:ctrlPr>
                          <a:rPr lang="en-GB" sz="1200" i="1" noProof="0">
                            <a:latin typeface="Cambria Math" panose="02040503050406030204" pitchFamily="18" charset="0"/>
                          </a:rPr>
                        </m:ctrlPr>
                      </m:fPr>
                      <m:num>
                        <m:r>
                          <a:rPr lang="en-GB" sz="1200" i="1" noProof="0">
                            <a:latin typeface="Cambria Math" panose="02040503050406030204" pitchFamily="18" charset="0"/>
                          </a:rPr>
                          <m:t>6</m:t>
                        </m:r>
                        <m:r>
                          <a:rPr lang="en-GB" sz="1200" i="1" noProof="0">
                            <a:latin typeface="Cambria Math" panose="02040503050406030204" pitchFamily="18" charset="0"/>
                          </a:rPr>
                          <m:t>𝑥</m:t>
                        </m:r>
                        <m:r>
                          <a:rPr lang="en-GB" sz="1200" i="1" noProof="0">
                            <a:latin typeface="Cambria Math" panose="02040503050406030204" pitchFamily="18" charset="0"/>
                          </a:rPr>
                          <m:t>−4</m:t>
                        </m:r>
                      </m:num>
                      <m:den>
                        <m:r>
                          <a:rPr lang="en-GB" sz="1200" i="1" noProof="0">
                            <a:latin typeface="Cambria Math" panose="02040503050406030204" pitchFamily="18" charset="0"/>
                          </a:rPr>
                          <m:t>𝑥</m:t>
                        </m:r>
                        <m:d>
                          <m:dPr>
                            <m:ctrlPr>
                              <a:rPr lang="en-GB" sz="1200" i="1" noProof="0">
                                <a:latin typeface="Cambria Math" panose="02040503050406030204" pitchFamily="18" charset="0"/>
                              </a:rPr>
                            </m:ctrlPr>
                          </m:dPr>
                          <m:e>
                            <m:r>
                              <a:rPr lang="en-GB" sz="1200" i="1" noProof="0">
                                <a:latin typeface="Cambria Math" panose="02040503050406030204" pitchFamily="18" charset="0"/>
                              </a:rPr>
                              <m:t>𝑥</m:t>
                            </m:r>
                            <m:r>
                              <a:rPr lang="en-GB" sz="1200" i="1" noProof="0">
                                <a:latin typeface="Cambria Math" panose="02040503050406030204" pitchFamily="18" charset="0"/>
                              </a:rPr>
                              <m:t>−1</m:t>
                            </m:r>
                          </m:e>
                        </m:d>
                      </m:den>
                    </m:f>
                  </m:oMath>
                </a14:m>
                <a:endParaRPr lang="en-GB" sz="1200" noProof="0" dirty="0"/>
              </a:p>
              <a:p>
                <a:pPr marL="228600" indent="-228600">
                  <a:buAutoNum type="arabicParenR"/>
                </a:pPr>
                <a:endParaRPr lang="en-GB" sz="1200" noProof="0" dirty="0"/>
              </a:p>
              <a:p>
                <a:pPr marL="228600" indent="-228600">
                  <a:buAutoNum type="arabicParenR"/>
                </a:pPr>
                <a:endParaRPr lang="en-GB" sz="1200" noProof="0" dirty="0"/>
              </a:p>
              <a:p>
                <a:endParaRPr lang="en-GB" sz="1200" b="1" noProof="0" dirty="0"/>
              </a:p>
              <a:p>
                <a:endParaRPr lang="en-GB" sz="1200" b="1" noProof="0" dirty="0"/>
              </a:p>
              <a:p>
                <a:endParaRPr lang="en-GB" sz="1200" b="1" noProof="0" dirty="0"/>
              </a:p>
              <a:p>
                <a:endParaRPr lang="en-GB" sz="1200" b="1" noProof="0" dirty="0"/>
              </a:p>
              <a:p>
                <a:r>
                  <a:rPr lang="en-GB" sz="1200" noProof="0" dirty="0"/>
                  <a:t>b) Hence or otherwise, solve </a:t>
                </a:r>
                <a14:m>
                  <m:oMath xmlns:m="http://schemas.openxmlformats.org/officeDocument/2006/math">
                    <m:f>
                      <m:fPr>
                        <m:ctrlPr>
                          <a:rPr lang="en-GB" sz="1200" i="1" noProof="0">
                            <a:latin typeface="Cambria Math" panose="02040503050406030204" pitchFamily="18" charset="0"/>
                          </a:rPr>
                        </m:ctrlPr>
                      </m:fPr>
                      <m:num>
                        <m:r>
                          <a:rPr lang="en-GB" sz="1200" b="0" i="1" noProof="0">
                            <a:latin typeface="Cambria Math" panose="02040503050406030204" pitchFamily="18" charset="0"/>
                          </a:rPr>
                          <m:t>4</m:t>
                        </m:r>
                      </m:num>
                      <m:den>
                        <m:r>
                          <a:rPr lang="en-GB" sz="1200" b="0" i="1" noProof="0">
                            <a:latin typeface="Cambria Math" panose="02040503050406030204" pitchFamily="18" charset="0"/>
                          </a:rPr>
                          <m:t>𝑥</m:t>
                        </m:r>
                      </m:den>
                    </m:f>
                    <m:r>
                      <a:rPr lang="en-GB" sz="1200" b="0" i="1" noProof="0">
                        <a:latin typeface="Cambria Math" panose="02040503050406030204" pitchFamily="18" charset="0"/>
                      </a:rPr>
                      <m:t>+</m:t>
                    </m:r>
                    <m:f>
                      <m:fPr>
                        <m:ctrlPr>
                          <a:rPr lang="en-GB" sz="1200" i="1" noProof="0">
                            <a:latin typeface="Cambria Math" panose="02040503050406030204" pitchFamily="18" charset="0"/>
                          </a:rPr>
                        </m:ctrlPr>
                      </m:fPr>
                      <m:num>
                        <m:r>
                          <a:rPr lang="en-GB" sz="1200" b="0" i="1" noProof="0">
                            <a:latin typeface="Cambria Math" panose="02040503050406030204" pitchFamily="18" charset="0"/>
                          </a:rPr>
                          <m:t>2</m:t>
                        </m:r>
                      </m:num>
                      <m:den>
                        <m:r>
                          <a:rPr lang="en-GB" sz="1200" b="0" i="1" noProof="0">
                            <a:latin typeface="Cambria Math" panose="02040503050406030204" pitchFamily="18" charset="0"/>
                          </a:rPr>
                          <m:t>𝑥</m:t>
                        </m:r>
                        <m:r>
                          <a:rPr lang="en-GB" sz="1200" b="0" i="1" noProof="0">
                            <a:latin typeface="Cambria Math" panose="02040503050406030204" pitchFamily="18" charset="0"/>
                          </a:rPr>
                          <m:t>−1</m:t>
                        </m:r>
                      </m:den>
                    </m:f>
                    <m:r>
                      <a:rPr lang="en-GB" sz="1200" b="0" i="1" noProof="0">
                        <a:latin typeface="Cambria Math" panose="02040503050406030204" pitchFamily="18" charset="0"/>
                      </a:rPr>
                      <m:t>=3</m:t>
                    </m:r>
                  </m:oMath>
                </a14:m>
                <a:r>
                  <a:rPr lang="en-GB" sz="1200" noProof="0" dirty="0"/>
                  <a:t>, giving your solutions correct to 3sf.</a:t>
                </a:r>
              </a:p>
            </p:txBody>
          </p:sp>
        </mc:Choice>
        <mc:Fallback xmlns="">
          <p:sp>
            <p:nvSpPr>
              <p:cNvPr id="9" name="Rectangle 8"/>
              <p:cNvSpPr>
                <a:spLocks noRot="1" noChangeAspect="1" noMove="1" noResize="1" noEditPoints="1" noAdjustHandles="1" noChangeArrowheads="1" noChangeShapeType="1" noTextEdit="1"/>
              </p:cNvSpPr>
              <p:nvPr/>
            </p:nvSpPr>
            <p:spPr>
              <a:xfrm>
                <a:off x="138088" y="112521"/>
                <a:ext cx="6538179" cy="1743682"/>
              </a:xfrm>
              <a:prstGeom prst="rect">
                <a:avLst/>
              </a:prstGeom>
              <a:blipFill>
                <a:blip r:embed="rId4"/>
                <a:stretch>
                  <a:fillRect l="-93"/>
                </a:stretch>
              </a:blipFill>
            </p:spPr>
            <p:txBody>
              <a:bodyPr/>
              <a:lstStyle/>
              <a:p>
                <a:r>
                  <a:rPr lang="en-US">
                    <a:noFill/>
                  </a:rPr>
                  <a:t> </a:t>
                </a:r>
              </a:p>
            </p:txBody>
          </p:sp>
        </mc:Fallback>
      </mc:AlternateContent>
      <p:sp>
        <p:nvSpPr>
          <p:cNvPr id="29" name="Rectangle 28">
            <a:extLst>
              <a:ext uri="{FF2B5EF4-FFF2-40B4-BE49-F238E27FC236}">
                <a16:creationId xmlns:a16="http://schemas.microsoft.com/office/drawing/2014/main" id="{B16CFEF2-A65A-6142-861C-58ACADF7EEFB}"/>
              </a:ext>
            </a:extLst>
          </p:cNvPr>
          <p:cNvSpPr/>
          <p:nvPr/>
        </p:nvSpPr>
        <p:spPr>
          <a:xfrm>
            <a:off x="295438" y="1899908"/>
            <a:ext cx="6436665" cy="174947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grpSp>
        <p:nvGrpSpPr>
          <p:cNvPr id="30" name="Group 29"/>
          <p:cNvGrpSpPr/>
          <p:nvPr/>
        </p:nvGrpSpPr>
        <p:grpSpPr>
          <a:xfrm>
            <a:off x="4771673" y="3207470"/>
            <a:ext cx="1601234" cy="276999"/>
            <a:chOff x="503980" y="4722851"/>
            <a:chExt cx="1601234" cy="276999"/>
          </a:xfrm>
        </p:grpSpPr>
        <mc:AlternateContent xmlns:mc="http://schemas.openxmlformats.org/markup-compatibility/2006" xmlns:a14="http://schemas.microsoft.com/office/drawing/2010/main">
          <mc:Choice Requires="a14">
            <p:sp>
              <p:nvSpPr>
                <p:cNvPr id="31" name="TextBox 30"/>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1" name="TextBox 30"/>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5"/>
                  <a:stretch>
                    <a:fillRect b="-15217"/>
                  </a:stretch>
                </a:blipFill>
              </p:spPr>
              <p:txBody>
                <a:bodyPr/>
                <a:lstStyle/>
                <a:p>
                  <a:r>
                    <a:rPr lang="en-US">
                      <a:noFill/>
                    </a:rPr>
                    <a:t> </a:t>
                  </a:r>
                </a:p>
              </p:txBody>
            </p:sp>
          </mc:Fallback>
        </mc:AlternateContent>
        <p:cxnSp>
          <p:nvCxnSpPr>
            <p:cNvPr id="32" name="Straight Connector 31"/>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sp>
        <p:nvSpPr>
          <p:cNvPr id="34" name="Rectangle 33">
            <a:extLst>
              <a:ext uri="{FF2B5EF4-FFF2-40B4-BE49-F238E27FC236}">
                <a16:creationId xmlns:a16="http://schemas.microsoft.com/office/drawing/2014/main" id="{B16CFEF2-A65A-6142-861C-58ACADF7EEFB}"/>
              </a:ext>
            </a:extLst>
          </p:cNvPr>
          <p:cNvSpPr/>
          <p:nvPr/>
        </p:nvSpPr>
        <p:spPr>
          <a:xfrm>
            <a:off x="307225" y="4684087"/>
            <a:ext cx="2967118" cy="168265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t" anchorCtr="0" forceAA="0" compatLnSpc="1">
            <a:prstTxWarp prst="textNoShape">
              <a:avLst/>
            </a:prstTxWarp>
            <a:noAutofit/>
          </a:bodyPr>
          <a:lstStyle/>
          <a:p>
            <a:endParaRPr lang="en-GB" sz="894" noProof="0" dirty="0">
              <a:solidFill>
                <a:schemeClr val="bg1"/>
              </a:solidFill>
            </a:endParaRPr>
          </a:p>
        </p:txBody>
      </p:sp>
      <p:grpSp>
        <p:nvGrpSpPr>
          <p:cNvPr id="36" name="Group 35"/>
          <p:cNvGrpSpPr/>
          <p:nvPr/>
        </p:nvGrpSpPr>
        <p:grpSpPr>
          <a:xfrm>
            <a:off x="4719296" y="6052661"/>
            <a:ext cx="1601234" cy="276999"/>
            <a:chOff x="503980" y="4722851"/>
            <a:chExt cx="1601234" cy="276999"/>
          </a:xfrm>
        </p:grpSpPr>
        <mc:AlternateContent xmlns:mc="http://schemas.openxmlformats.org/markup-compatibility/2006" xmlns:a14="http://schemas.microsoft.com/office/drawing/2010/main">
          <mc:Choice Requires="a14">
            <p:sp>
              <p:nvSpPr>
                <p:cNvPr id="37" name="TextBox 36"/>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7" name="TextBox 36"/>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6"/>
                  <a:stretch>
                    <a:fillRect t="-2222" b="-17778"/>
                  </a:stretch>
                </a:blipFill>
              </p:spPr>
              <p:txBody>
                <a:bodyPr/>
                <a:lstStyle/>
                <a:p>
                  <a:r>
                    <a:rPr lang="en-US">
                      <a:noFill/>
                    </a:rPr>
                    <a:t> </a:t>
                  </a:r>
                </a:p>
              </p:txBody>
            </p:sp>
          </mc:Fallback>
        </mc:AlternateContent>
        <p:cxnSp>
          <p:nvCxnSpPr>
            <p:cNvPr id="38" name="Straight Connector 37"/>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57951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8E8C9-4318-76BE-7195-B5113EC9675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7078CD-991A-A185-665F-BF1283BC055A}"/>
              </a:ext>
            </a:extLst>
          </p:cNvPr>
          <p:cNvSpPr>
            <a:spLocks noGrp="1"/>
          </p:cNvSpPr>
          <p:nvPr>
            <p:ph type="sldNum" sz="quarter" idx="12"/>
          </p:nvPr>
        </p:nvSpPr>
        <p:spPr/>
        <p:txBody>
          <a:bodyPr/>
          <a:lstStyle/>
          <a:p>
            <a:fld id="{9BD3B4A0-BFF9-422C-B253-48BA94BE2F5B}" type="slidenum">
              <a:rPr lang="en-GB" noProof="0" smtClean="0"/>
              <a:t>36</a:t>
            </a:fld>
            <a:endParaRPr lang="en-GB" noProof="0" dirty="0"/>
          </a:p>
        </p:txBody>
      </p:sp>
      <p:sp>
        <p:nvSpPr>
          <p:cNvPr id="3" name="TextBox 2">
            <a:extLst>
              <a:ext uri="{FF2B5EF4-FFF2-40B4-BE49-F238E27FC236}">
                <a16:creationId xmlns:a16="http://schemas.microsoft.com/office/drawing/2014/main" id="{FE38D70B-1236-75B1-D030-13C3BDB58B36}"/>
              </a:ext>
            </a:extLst>
          </p:cNvPr>
          <p:cNvSpPr txBox="1"/>
          <p:nvPr/>
        </p:nvSpPr>
        <p:spPr>
          <a:xfrm>
            <a:off x="0" y="-2540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5" name="Picture 4" descr="A white background with black lines and numbers&#10;&#10;AI-generated content may be incorrect.">
            <a:extLst>
              <a:ext uri="{FF2B5EF4-FFF2-40B4-BE49-F238E27FC236}">
                <a16:creationId xmlns:a16="http://schemas.microsoft.com/office/drawing/2014/main" id="{9660829A-8D1D-1CCE-0FD5-7C3EBDE6E3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48" y="377725"/>
            <a:ext cx="6845652" cy="3867349"/>
          </a:xfrm>
          <a:prstGeom prst="rect">
            <a:avLst/>
          </a:prstGeom>
        </p:spPr>
      </p:pic>
      <p:cxnSp>
        <p:nvCxnSpPr>
          <p:cNvPr id="7" name="Straight Connector 6">
            <a:extLst>
              <a:ext uri="{FF2B5EF4-FFF2-40B4-BE49-F238E27FC236}">
                <a16:creationId xmlns:a16="http://schemas.microsoft.com/office/drawing/2014/main" id="{1DDCB1D2-F789-D4C0-C654-0F61ACAC88A7}"/>
              </a:ext>
            </a:extLst>
          </p:cNvPr>
          <p:cNvCxnSpPr/>
          <p:nvPr/>
        </p:nvCxnSpPr>
        <p:spPr>
          <a:xfrm>
            <a:off x="12348" y="4381500"/>
            <a:ext cx="68456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white background with black text&#10;&#10;AI-generated content may be incorrect.">
            <a:extLst>
              <a:ext uri="{FF2B5EF4-FFF2-40B4-BE49-F238E27FC236}">
                <a16:creationId xmlns:a16="http://schemas.microsoft.com/office/drawing/2014/main" id="{9F5C9B62-1374-0B46-C143-9BF7892121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48" y="4711242"/>
            <a:ext cx="6705952" cy="4196047"/>
          </a:xfrm>
          <a:prstGeom prst="rect">
            <a:avLst/>
          </a:prstGeom>
        </p:spPr>
      </p:pic>
    </p:spTree>
    <p:extLst>
      <p:ext uri="{BB962C8B-B14F-4D97-AF65-F5344CB8AC3E}">
        <p14:creationId xmlns:p14="http://schemas.microsoft.com/office/powerpoint/2010/main" val="1546075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86116-0ED8-B5E7-470C-BA72FF6763F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D69BDD-6497-C1B8-6729-4F78E2BC6358}"/>
              </a:ext>
            </a:extLst>
          </p:cNvPr>
          <p:cNvSpPr>
            <a:spLocks noGrp="1"/>
          </p:cNvSpPr>
          <p:nvPr>
            <p:ph type="sldNum" sz="quarter" idx="12"/>
          </p:nvPr>
        </p:nvSpPr>
        <p:spPr/>
        <p:txBody>
          <a:bodyPr/>
          <a:lstStyle/>
          <a:p>
            <a:fld id="{9BD3B4A0-BFF9-422C-B253-48BA94BE2F5B}" type="slidenum">
              <a:rPr lang="en-GB" noProof="0" smtClean="0"/>
              <a:t>37</a:t>
            </a:fld>
            <a:endParaRPr lang="en-GB" noProof="0" dirty="0"/>
          </a:p>
        </p:txBody>
      </p:sp>
      <p:cxnSp>
        <p:nvCxnSpPr>
          <p:cNvPr id="7" name="Straight Connector 6">
            <a:extLst>
              <a:ext uri="{FF2B5EF4-FFF2-40B4-BE49-F238E27FC236}">
                <a16:creationId xmlns:a16="http://schemas.microsoft.com/office/drawing/2014/main" id="{C6F0709D-0E79-B72E-3F48-528A50A3311F}"/>
              </a:ext>
            </a:extLst>
          </p:cNvPr>
          <p:cNvCxnSpPr/>
          <p:nvPr/>
        </p:nvCxnSpPr>
        <p:spPr>
          <a:xfrm>
            <a:off x="12348" y="4400776"/>
            <a:ext cx="68456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descr="A white background with black text&#10;&#10;AI-generated content may be incorrect.">
            <a:extLst>
              <a:ext uri="{FF2B5EF4-FFF2-40B4-BE49-F238E27FC236}">
                <a16:creationId xmlns:a16="http://schemas.microsoft.com/office/drawing/2014/main" id="{1A7857CC-88FA-A044-8F42-386812C745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737696" cy="4400776"/>
          </a:xfrm>
          <a:prstGeom prst="rect">
            <a:avLst/>
          </a:prstGeom>
        </p:spPr>
      </p:pic>
      <p:pic>
        <p:nvPicPr>
          <p:cNvPr id="10" name="Picture 9" descr="A white background with black text&#10;&#10;AI-generated content may be incorrect.">
            <a:extLst>
              <a:ext uri="{FF2B5EF4-FFF2-40B4-BE49-F238E27FC236}">
                <a16:creationId xmlns:a16="http://schemas.microsoft.com/office/drawing/2014/main" id="{3BEF3ABF-C785-B949-D246-3A41D70080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32232"/>
            <a:ext cx="6737696" cy="3613336"/>
          </a:xfrm>
          <a:prstGeom prst="rect">
            <a:avLst/>
          </a:prstGeom>
        </p:spPr>
      </p:pic>
    </p:spTree>
    <p:extLst>
      <p:ext uri="{BB962C8B-B14F-4D97-AF65-F5344CB8AC3E}">
        <p14:creationId xmlns:p14="http://schemas.microsoft.com/office/powerpoint/2010/main" val="21090987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F1A3AF-9DF9-429F-95F4-AB8E1E426D51}"/>
              </a:ext>
            </a:extLst>
          </p:cNvPr>
          <p:cNvSpPr/>
          <p:nvPr/>
        </p:nvSpPr>
        <p:spPr>
          <a:xfrm>
            <a:off x="102618" y="317359"/>
            <a:ext cx="6647773" cy="13742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11" name="Rectangle 10">
            <a:extLst>
              <a:ext uri="{FF2B5EF4-FFF2-40B4-BE49-F238E27FC236}">
                <a16:creationId xmlns:a16="http://schemas.microsoft.com/office/drawing/2014/main" id="{9554F5C1-D21B-4CDE-B4FD-998FDBB2B0D6}"/>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prstClr val="white"/>
                </a:solidFill>
              </a:rPr>
              <a:t>Subtopic 5 – Functions</a:t>
            </a:r>
            <a:endParaRPr lang="en-GB" b="1" noProof="0" dirty="0">
              <a:solidFill>
                <a:prstClr val="white"/>
              </a:solidFill>
            </a:endParaRPr>
          </a:p>
        </p:txBody>
      </p:sp>
      <p:sp>
        <p:nvSpPr>
          <p:cNvPr id="13" name="TextBox 12">
            <a:extLst>
              <a:ext uri="{FF2B5EF4-FFF2-40B4-BE49-F238E27FC236}">
                <a16:creationId xmlns:a16="http://schemas.microsoft.com/office/drawing/2014/main" id="{BEC5D410-9446-41B2-BEF5-E64D48C58308}"/>
              </a:ext>
            </a:extLst>
          </p:cNvPr>
          <p:cNvSpPr txBox="1"/>
          <p:nvPr/>
        </p:nvSpPr>
        <p:spPr>
          <a:xfrm>
            <a:off x="265577" y="780711"/>
            <a:ext cx="2647189" cy="307777"/>
          </a:xfrm>
          <a:prstGeom prst="rect">
            <a:avLst/>
          </a:prstGeom>
          <a:noFill/>
        </p:spPr>
        <p:txBody>
          <a:bodyPr wrap="square" rtlCol="0">
            <a:spAutoFit/>
          </a:bodyPr>
          <a:lstStyle/>
          <a:p>
            <a:r>
              <a:rPr lang="en-GB" sz="1400" b="1" noProof="0" dirty="0"/>
              <a:t>Objectives:</a:t>
            </a:r>
          </a:p>
        </p:txBody>
      </p:sp>
      <p:sp>
        <p:nvSpPr>
          <p:cNvPr id="59" name="TextBox 58">
            <a:extLst>
              <a:ext uri="{FF2B5EF4-FFF2-40B4-BE49-F238E27FC236}">
                <a16:creationId xmlns:a16="http://schemas.microsoft.com/office/drawing/2014/main" id="{D58F4060-A0FD-C84C-8A22-502E16E49D73}"/>
              </a:ext>
            </a:extLst>
          </p:cNvPr>
          <p:cNvSpPr txBox="1"/>
          <p:nvPr/>
        </p:nvSpPr>
        <p:spPr>
          <a:xfrm>
            <a:off x="780863" y="419764"/>
            <a:ext cx="5551303" cy="276999"/>
          </a:xfrm>
          <a:prstGeom prst="rect">
            <a:avLst/>
          </a:prstGeom>
          <a:noFill/>
          <a:ln>
            <a:solidFill>
              <a:schemeClr val="tx1"/>
            </a:solidFill>
          </a:ln>
        </p:spPr>
        <p:txBody>
          <a:bodyPr wrap="square" rtlCol="0">
            <a:spAutoFit/>
          </a:bodyPr>
          <a:lstStyle/>
          <a:p>
            <a:pPr algn="ctr"/>
            <a:r>
              <a:rPr lang="en-GB" sz="1200" noProof="0" dirty="0"/>
              <a:t>LEARNING OUTCOME:  To work with functions. </a:t>
            </a:r>
          </a:p>
        </p:txBody>
      </p:sp>
      <p:sp>
        <p:nvSpPr>
          <p:cNvPr id="61" name="TextBox 60">
            <a:extLst>
              <a:ext uri="{FF2B5EF4-FFF2-40B4-BE49-F238E27FC236}">
                <a16:creationId xmlns:a16="http://schemas.microsoft.com/office/drawing/2014/main" id="{AA176BCB-F2F4-854D-9A37-B7D4A0081FB0}"/>
              </a:ext>
            </a:extLst>
          </p:cNvPr>
          <p:cNvSpPr txBox="1"/>
          <p:nvPr/>
        </p:nvSpPr>
        <p:spPr>
          <a:xfrm>
            <a:off x="840920" y="1065117"/>
            <a:ext cx="3888646" cy="646331"/>
          </a:xfrm>
          <a:prstGeom prst="rect">
            <a:avLst/>
          </a:prstGeom>
          <a:noFill/>
        </p:spPr>
        <p:txBody>
          <a:bodyPr wrap="square" rtlCol="0">
            <a:spAutoFit/>
          </a:bodyPr>
          <a:lstStyle/>
          <a:p>
            <a:pPr marL="228600" indent="-228600">
              <a:buFont typeface="+mj-lt"/>
              <a:buAutoNum type="arabicPeriod"/>
              <a:defRPr/>
            </a:pPr>
            <a:r>
              <a:rPr lang="en-GB" sz="1200" noProof="0" dirty="0"/>
              <a:t>To understand what functions are</a:t>
            </a:r>
          </a:p>
          <a:p>
            <a:pPr marL="228600" indent="-228600">
              <a:buFont typeface="+mj-lt"/>
              <a:buAutoNum type="arabicPeriod"/>
              <a:defRPr/>
            </a:pPr>
            <a:r>
              <a:rPr lang="en-GB" sz="1200" noProof="0" dirty="0"/>
              <a:t>To be able to find inverse functions.</a:t>
            </a:r>
          </a:p>
          <a:p>
            <a:pPr marL="228600" indent="-228600">
              <a:buFont typeface="+mj-lt"/>
              <a:buAutoNum type="arabicPeriod"/>
              <a:defRPr/>
            </a:pPr>
            <a:r>
              <a:rPr lang="en-GB" sz="1200" noProof="0" dirty="0"/>
              <a:t>To be able to work with composite functions. </a:t>
            </a:r>
          </a:p>
        </p:txBody>
      </p:sp>
      <p:sp>
        <p:nvSpPr>
          <p:cNvPr id="18" name="Slide Number Placeholder 17"/>
          <p:cNvSpPr>
            <a:spLocks noGrp="1"/>
          </p:cNvSpPr>
          <p:nvPr>
            <p:ph type="sldNum" sz="quarter" idx="12"/>
          </p:nvPr>
        </p:nvSpPr>
        <p:spPr>
          <a:xfrm>
            <a:off x="5370231" y="9548817"/>
            <a:ext cx="1543050" cy="527403"/>
          </a:xfrm>
        </p:spPr>
        <p:txBody>
          <a:bodyPr/>
          <a:lstStyle/>
          <a:p>
            <a:fld id="{19F1D9CC-7119-45EC-A96C-D8C0660F3AAB}" type="slidenum">
              <a:rPr lang="en-GB" noProof="0" smtClean="0">
                <a:solidFill>
                  <a:schemeClr val="tx1"/>
                </a:solidFill>
              </a:rPr>
              <a:t>38</a:t>
            </a:fld>
            <a:endParaRPr lang="en-GB" noProof="0" dirty="0">
              <a:solidFill>
                <a:schemeClr val="tx1"/>
              </a:solidFill>
            </a:endParaRPr>
          </a:p>
        </p:txBody>
      </p:sp>
      <p:sp>
        <p:nvSpPr>
          <p:cNvPr id="77" name="TextBox 76">
            <a:extLst>
              <a:ext uri="{FF2B5EF4-FFF2-40B4-BE49-F238E27FC236}">
                <a16:creationId xmlns:a16="http://schemas.microsoft.com/office/drawing/2014/main" id="{6EAE242C-3BEA-324C-B746-6B1087575622}"/>
              </a:ext>
            </a:extLst>
          </p:cNvPr>
          <p:cNvSpPr txBox="1"/>
          <p:nvPr/>
        </p:nvSpPr>
        <p:spPr>
          <a:xfrm>
            <a:off x="123649" y="4001789"/>
            <a:ext cx="1503938" cy="261610"/>
          </a:xfrm>
          <a:prstGeom prst="rect">
            <a:avLst/>
          </a:prstGeom>
          <a:solidFill>
            <a:schemeClr val="accent1">
              <a:lumMod val="75000"/>
            </a:schemeClr>
          </a:solidFill>
        </p:spPr>
        <p:style>
          <a:lnRef idx="0">
            <a:schemeClr val="accent6"/>
          </a:lnRef>
          <a:fillRef idx="3">
            <a:schemeClr val="accent6"/>
          </a:fillRef>
          <a:effectRef idx="3">
            <a:schemeClr val="accent6"/>
          </a:effectRef>
          <a:fontRef idx="minor">
            <a:schemeClr val="lt1"/>
          </a:fontRef>
        </p:style>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Prior Knowledge Check</a:t>
            </a:r>
          </a:p>
        </p:txBody>
      </p:sp>
      <p:sp>
        <p:nvSpPr>
          <p:cNvPr id="69" name="TextBox 68">
            <a:extLst>
              <a:ext uri="{FF2B5EF4-FFF2-40B4-BE49-F238E27FC236}">
                <a16:creationId xmlns:a16="http://schemas.microsoft.com/office/drawing/2014/main" id="{C11832BB-D28D-4D3E-A9B3-3C442BB4F877}"/>
              </a:ext>
            </a:extLst>
          </p:cNvPr>
          <p:cNvSpPr txBox="1"/>
          <p:nvPr/>
        </p:nvSpPr>
        <p:spPr>
          <a:xfrm>
            <a:off x="4434839" y="858917"/>
            <a:ext cx="2315551" cy="830997"/>
          </a:xfrm>
          <a:prstGeom prst="rect">
            <a:avLst/>
          </a:prstGeom>
          <a:noFill/>
          <a:ln w="12700">
            <a:solidFill>
              <a:schemeClr val="tx1"/>
            </a:solidFill>
          </a:ln>
        </p:spPr>
        <p:txBody>
          <a:bodyPr wrap="square" rtlCol="0">
            <a:spAutoFit/>
          </a:bodyPr>
          <a:lstStyle/>
          <a:p>
            <a:r>
              <a:rPr lang="en-GB" sz="1200" u="sng" noProof="0" dirty="0">
                <a:cs typeface="Calibri" panose="020F0502020204030204" pitchFamily="34" charset="0"/>
              </a:rPr>
              <a:t>Keywords:</a:t>
            </a:r>
          </a:p>
          <a:p>
            <a:pPr marL="171450" indent="-171450">
              <a:buFontTx/>
              <a:buChar char="-"/>
            </a:pPr>
            <a:r>
              <a:rPr lang="en-GB" sz="1200" noProof="0" dirty="0">
                <a:cs typeface="Calibri" panose="020F0502020204030204" pitchFamily="34" charset="0"/>
              </a:rPr>
              <a:t>Function </a:t>
            </a:r>
          </a:p>
          <a:p>
            <a:pPr marL="171450" indent="-171450">
              <a:buFontTx/>
              <a:buChar char="-"/>
            </a:pPr>
            <a:r>
              <a:rPr lang="en-GB" sz="1200" noProof="0" dirty="0">
                <a:cs typeface="Calibri" panose="020F0502020204030204" pitchFamily="34" charset="0"/>
              </a:rPr>
              <a:t>Inverse</a:t>
            </a:r>
          </a:p>
          <a:p>
            <a:pPr marL="171450" indent="-171450">
              <a:buFontTx/>
              <a:buChar char="-"/>
            </a:pPr>
            <a:r>
              <a:rPr lang="en-GB" sz="1200" noProof="0" dirty="0">
                <a:cs typeface="Calibri" panose="020F0502020204030204" pitchFamily="34" charset="0"/>
              </a:rPr>
              <a:t>Composite</a:t>
            </a:r>
          </a:p>
        </p:txBody>
      </p:sp>
      <p:pic>
        <p:nvPicPr>
          <p:cNvPr id="2050" name="Picture 2" descr="97345_Ch24_004.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834" y="4763460"/>
            <a:ext cx="2808339" cy="3799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75535" y="4285927"/>
            <a:ext cx="3429000" cy="461665"/>
          </a:xfrm>
          <a:prstGeom prst="rect">
            <a:avLst/>
          </a:prstGeom>
        </p:spPr>
        <p:txBody>
          <a:bodyPr>
            <a:spAutoFit/>
          </a:bodyPr>
          <a:lstStyle/>
          <a:p>
            <a:pPr algn="ctr"/>
            <a:r>
              <a:rPr lang="en-GB" sz="1200" b="1" noProof="0" dirty="0"/>
              <a:t>1</a:t>
            </a:r>
            <a:r>
              <a:rPr lang="en-GB" sz="1200" noProof="0" dirty="0"/>
              <a:t>. Use the function machine to find the output for each input.</a:t>
            </a:r>
          </a:p>
        </p:txBody>
      </p:sp>
      <p:sp>
        <p:nvSpPr>
          <p:cNvPr id="5" name="Rectangle 4"/>
          <p:cNvSpPr/>
          <p:nvPr/>
        </p:nvSpPr>
        <p:spPr>
          <a:xfrm>
            <a:off x="273189" y="5263964"/>
            <a:ext cx="457176" cy="276999"/>
          </a:xfrm>
          <a:prstGeom prst="rect">
            <a:avLst/>
          </a:prstGeom>
        </p:spPr>
        <p:txBody>
          <a:bodyPr wrap="none">
            <a:spAutoFit/>
          </a:bodyPr>
          <a:lstStyle/>
          <a:p>
            <a:r>
              <a:rPr lang="en-GB" sz="1200" b="1" noProof="0" dirty="0" err="1"/>
              <a:t>i</a:t>
            </a:r>
            <a:r>
              <a:rPr lang="en-GB" sz="1200" b="1" noProof="0" dirty="0"/>
              <a:t>.</a:t>
            </a:r>
            <a:r>
              <a:rPr lang="en-GB" sz="1200" noProof="0" dirty="0"/>
              <a:t> 11</a:t>
            </a:r>
          </a:p>
        </p:txBody>
      </p:sp>
      <p:sp>
        <p:nvSpPr>
          <p:cNvPr id="6" name="Rectangle 5"/>
          <p:cNvSpPr/>
          <p:nvPr/>
        </p:nvSpPr>
        <p:spPr>
          <a:xfrm>
            <a:off x="265577" y="5864651"/>
            <a:ext cx="495649" cy="276999"/>
          </a:xfrm>
          <a:prstGeom prst="rect">
            <a:avLst/>
          </a:prstGeom>
        </p:spPr>
        <p:txBody>
          <a:bodyPr wrap="none">
            <a:spAutoFit/>
          </a:bodyPr>
          <a:lstStyle/>
          <a:p>
            <a:r>
              <a:rPr lang="en-GB" sz="1200" b="1" noProof="0" dirty="0"/>
              <a:t>ii.</a:t>
            </a:r>
            <a:r>
              <a:rPr lang="en-GB" sz="1200" noProof="0" dirty="0"/>
              <a:t> 26</a:t>
            </a:r>
          </a:p>
        </p:txBody>
      </p:sp>
      <p:sp>
        <p:nvSpPr>
          <p:cNvPr id="7" name="Rectangle 6"/>
          <p:cNvSpPr/>
          <p:nvPr/>
        </p:nvSpPr>
        <p:spPr>
          <a:xfrm>
            <a:off x="307834" y="6530220"/>
            <a:ext cx="567784" cy="276999"/>
          </a:xfrm>
          <a:prstGeom prst="rect">
            <a:avLst/>
          </a:prstGeom>
        </p:spPr>
        <p:txBody>
          <a:bodyPr wrap="none">
            <a:spAutoFit/>
          </a:bodyPr>
          <a:lstStyle/>
          <a:p>
            <a:r>
              <a:rPr lang="en-GB" sz="1200" b="1" noProof="0" dirty="0"/>
              <a:t>iii.</a:t>
            </a:r>
            <a:r>
              <a:rPr lang="en-GB" sz="1200" noProof="0" dirty="0"/>
              <a:t> – 4</a:t>
            </a:r>
          </a:p>
        </p:txBody>
      </p:sp>
      <p:sp>
        <p:nvSpPr>
          <p:cNvPr id="8" name="Rectangle 7"/>
          <p:cNvSpPr/>
          <p:nvPr/>
        </p:nvSpPr>
        <p:spPr>
          <a:xfrm>
            <a:off x="307834" y="7168952"/>
            <a:ext cx="439864" cy="276999"/>
          </a:xfrm>
          <a:prstGeom prst="rect">
            <a:avLst/>
          </a:prstGeom>
        </p:spPr>
        <p:txBody>
          <a:bodyPr wrap="none">
            <a:spAutoFit/>
          </a:bodyPr>
          <a:lstStyle/>
          <a:p>
            <a:r>
              <a:rPr lang="en-GB" sz="1200" b="1" noProof="0" dirty="0"/>
              <a:t>iv.</a:t>
            </a:r>
            <a:r>
              <a:rPr lang="en-GB" sz="1200" noProof="0" dirty="0"/>
              <a:t> 1</a:t>
            </a:r>
          </a:p>
        </p:txBody>
      </p:sp>
      <p:sp>
        <p:nvSpPr>
          <p:cNvPr id="68" name="Rectangle 67">
            <a:extLst>
              <a:ext uri="{FF2B5EF4-FFF2-40B4-BE49-F238E27FC236}">
                <a16:creationId xmlns:a16="http://schemas.microsoft.com/office/drawing/2014/main" id="{633BAC49-01FC-4129-977D-EFE27505AFDD}"/>
              </a:ext>
            </a:extLst>
          </p:cNvPr>
          <p:cNvSpPr/>
          <p:nvPr/>
        </p:nvSpPr>
        <p:spPr>
          <a:xfrm>
            <a:off x="1179079" y="5299275"/>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4" name="Rectangle 73">
            <a:extLst>
              <a:ext uri="{FF2B5EF4-FFF2-40B4-BE49-F238E27FC236}">
                <a16:creationId xmlns:a16="http://schemas.microsoft.com/office/drawing/2014/main" id="{633BAC49-01FC-4129-977D-EFE27505AFDD}"/>
              </a:ext>
            </a:extLst>
          </p:cNvPr>
          <p:cNvSpPr/>
          <p:nvPr/>
        </p:nvSpPr>
        <p:spPr>
          <a:xfrm>
            <a:off x="1179080" y="5863499"/>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9" name="Rectangle 78">
            <a:extLst>
              <a:ext uri="{FF2B5EF4-FFF2-40B4-BE49-F238E27FC236}">
                <a16:creationId xmlns:a16="http://schemas.microsoft.com/office/drawing/2014/main" id="{633BAC49-01FC-4129-977D-EFE27505AFDD}"/>
              </a:ext>
            </a:extLst>
          </p:cNvPr>
          <p:cNvSpPr/>
          <p:nvPr/>
        </p:nvSpPr>
        <p:spPr>
          <a:xfrm>
            <a:off x="1179078" y="6530220"/>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80" name="Rectangle 79">
            <a:extLst>
              <a:ext uri="{FF2B5EF4-FFF2-40B4-BE49-F238E27FC236}">
                <a16:creationId xmlns:a16="http://schemas.microsoft.com/office/drawing/2014/main" id="{633BAC49-01FC-4129-977D-EFE27505AFDD}"/>
              </a:ext>
            </a:extLst>
          </p:cNvPr>
          <p:cNvSpPr/>
          <p:nvPr/>
        </p:nvSpPr>
        <p:spPr>
          <a:xfrm>
            <a:off x="1179077" y="7163430"/>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83" name="Rectangle 82"/>
          <p:cNvSpPr/>
          <p:nvPr/>
        </p:nvSpPr>
        <p:spPr>
          <a:xfrm>
            <a:off x="3538915" y="5315019"/>
            <a:ext cx="457176" cy="276999"/>
          </a:xfrm>
          <a:prstGeom prst="rect">
            <a:avLst/>
          </a:prstGeom>
        </p:spPr>
        <p:txBody>
          <a:bodyPr wrap="none">
            <a:spAutoFit/>
          </a:bodyPr>
          <a:lstStyle/>
          <a:p>
            <a:r>
              <a:rPr lang="en-GB" sz="1200" b="1" noProof="0" dirty="0" err="1"/>
              <a:t>i</a:t>
            </a:r>
            <a:r>
              <a:rPr lang="en-GB" sz="1200" b="1" noProof="0" dirty="0"/>
              <a:t>.</a:t>
            </a:r>
            <a:r>
              <a:rPr lang="en-GB" sz="1200" noProof="0" dirty="0"/>
              <a:t> 18</a:t>
            </a:r>
          </a:p>
        </p:txBody>
      </p:sp>
      <p:sp>
        <p:nvSpPr>
          <p:cNvPr id="97" name="Rectangle 96"/>
          <p:cNvSpPr/>
          <p:nvPr/>
        </p:nvSpPr>
        <p:spPr>
          <a:xfrm>
            <a:off x="3531303" y="5915706"/>
            <a:ext cx="417102" cy="276999"/>
          </a:xfrm>
          <a:prstGeom prst="rect">
            <a:avLst/>
          </a:prstGeom>
        </p:spPr>
        <p:txBody>
          <a:bodyPr wrap="none">
            <a:spAutoFit/>
          </a:bodyPr>
          <a:lstStyle/>
          <a:p>
            <a:r>
              <a:rPr lang="en-GB" sz="1200" b="1" noProof="0" dirty="0"/>
              <a:t>ii.</a:t>
            </a:r>
            <a:r>
              <a:rPr lang="en-GB" sz="1200" noProof="0" dirty="0"/>
              <a:t> 0</a:t>
            </a:r>
          </a:p>
        </p:txBody>
      </p:sp>
      <p:sp>
        <p:nvSpPr>
          <p:cNvPr id="120" name="Rectangle 119"/>
          <p:cNvSpPr/>
          <p:nvPr/>
        </p:nvSpPr>
        <p:spPr>
          <a:xfrm>
            <a:off x="3573560" y="6581275"/>
            <a:ext cx="612668" cy="276999"/>
          </a:xfrm>
          <a:prstGeom prst="rect">
            <a:avLst/>
          </a:prstGeom>
        </p:spPr>
        <p:txBody>
          <a:bodyPr wrap="none">
            <a:spAutoFit/>
          </a:bodyPr>
          <a:lstStyle/>
          <a:p>
            <a:r>
              <a:rPr lang="en-GB" sz="1200" b="1" noProof="0" dirty="0"/>
              <a:t>iii.</a:t>
            </a:r>
            <a:r>
              <a:rPr lang="en-GB" sz="1200" noProof="0" dirty="0"/>
              <a:t> 500</a:t>
            </a:r>
          </a:p>
        </p:txBody>
      </p:sp>
      <p:sp>
        <p:nvSpPr>
          <p:cNvPr id="121" name="Rectangle 120"/>
          <p:cNvSpPr/>
          <p:nvPr/>
        </p:nvSpPr>
        <p:spPr>
          <a:xfrm>
            <a:off x="3573560" y="7220007"/>
            <a:ext cx="439864" cy="276999"/>
          </a:xfrm>
          <a:prstGeom prst="rect">
            <a:avLst/>
          </a:prstGeom>
        </p:spPr>
        <p:txBody>
          <a:bodyPr wrap="none">
            <a:spAutoFit/>
          </a:bodyPr>
          <a:lstStyle/>
          <a:p>
            <a:r>
              <a:rPr lang="en-GB" sz="1200" b="1" noProof="0" dirty="0"/>
              <a:t>iv.</a:t>
            </a:r>
            <a:r>
              <a:rPr lang="en-GB" sz="1200" noProof="0" dirty="0"/>
              <a:t> 3</a:t>
            </a:r>
          </a:p>
        </p:txBody>
      </p:sp>
      <p:sp>
        <p:nvSpPr>
          <p:cNvPr id="122" name="Rectangle 121">
            <a:extLst>
              <a:ext uri="{FF2B5EF4-FFF2-40B4-BE49-F238E27FC236}">
                <a16:creationId xmlns:a16="http://schemas.microsoft.com/office/drawing/2014/main" id="{633BAC49-01FC-4129-977D-EFE27505AFDD}"/>
              </a:ext>
            </a:extLst>
          </p:cNvPr>
          <p:cNvSpPr/>
          <p:nvPr/>
        </p:nvSpPr>
        <p:spPr>
          <a:xfrm>
            <a:off x="4444805" y="5312752"/>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23" name="Rectangle 122">
            <a:extLst>
              <a:ext uri="{FF2B5EF4-FFF2-40B4-BE49-F238E27FC236}">
                <a16:creationId xmlns:a16="http://schemas.microsoft.com/office/drawing/2014/main" id="{633BAC49-01FC-4129-977D-EFE27505AFDD}"/>
              </a:ext>
            </a:extLst>
          </p:cNvPr>
          <p:cNvSpPr/>
          <p:nvPr/>
        </p:nvSpPr>
        <p:spPr>
          <a:xfrm>
            <a:off x="4444806" y="5876976"/>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24" name="Rectangle 123">
            <a:extLst>
              <a:ext uri="{FF2B5EF4-FFF2-40B4-BE49-F238E27FC236}">
                <a16:creationId xmlns:a16="http://schemas.microsoft.com/office/drawing/2014/main" id="{633BAC49-01FC-4129-977D-EFE27505AFDD}"/>
              </a:ext>
            </a:extLst>
          </p:cNvPr>
          <p:cNvSpPr/>
          <p:nvPr/>
        </p:nvSpPr>
        <p:spPr>
          <a:xfrm>
            <a:off x="4444804" y="6543697"/>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25" name="Rectangle 124">
            <a:extLst>
              <a:ext uri="{FF2B5EF4-FFF2-40B4-BE49-F238E27FC236}">
                <a16:creationId xmlns:a16="http://schemas.microsoft.com/office/drawing/2014/main" id="{633BAC49-01FC-4129-977D-EFE27505AFDD}"/>
              </a:ext>
            </a:extLst>
          </p:cNvPr>
          <p:cNvSpPr/>
          <p:nvPr/>
        </p:nvSpPr>
        <p:spPr>
          <a:xfrm>
            <a:off x="4444803" y="7176907"/>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26" name="Rectangle 125"/>
          <p:cNvSpPr/>
          <p:nvPr/>
        </p:nvSpPr>
        <p:spPr>
          <a:xfrm>
            <a:off x="3412029" y="4274850"/>
            <a:ext cx="3429000" cy="461665"/>
          </a:xfrm>
          <a:prstGeom prst="rect">
            <a:avLst/>
          </a:prstGeom>
        </p:spPr>
        <p:txBody>
          <a:bodyPr>
            <a:spAutoFit/>
          </a:bodyPr>
          <a:lstStyle/>
          <a:p>
            <a:pPr algn="ctr"/>
            <a:r>
              <a:rPr lang="en-GB" sz="1200" b="1" noProof="0" dirty="0"/>
              <a:t>2</a:t>
            </a:r>
            <a:r>
              <a:rPr lang="en-GB" sz="1200" noProof="0" dirty="0"/>
              <a:t>. Use the function machine to find the input for each output.</a:t>
            </a:r>
          </a:p>
        </p:txBody>
      </p:sp>
      <p:pic>
        <p:nvPicPr>
          <p:cNvPr id="2054" name="Picture 6" descr="97345_Ch24_00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7834" y="8036433"/>
            <a:ext cx="3808134" cy="388916"/>
          </a:xfrm>
          <a:prstGeom prst="rect">
            <a:avLst/>
          </a:prstGeom>
          <a:noFill/>
          <a:extLst>
            <a:ext uri="{909E8E84-426E-40DD-AFC4-6F175D3DCCD1}">
              <a14:hiddenFill xmlns:a14="http://schemas.microsoft.com/office/drawing/2010/main">
                <a:solidFill>
                  <a:srgbClr val="FFFFFF"/>
                </a:solidFill>
              </a14:hiddenFill>
            </a:ext>
          </a:extLst>
        </p:spPr>
      </p:pic>
      <p:sp>
        <p:nvSpPr>
          <p:cNvPr id="128" name="Rectangle 127"/>
          <p:cNvSpPr/>
          <p:nvPr/>
        </p:nvSpPr>
        <p:spPr>
          <a:xfrm>
            <a:off x="273187" y="8622497"/>
            <a:ext cx="457176" cy="276999"/>
          </a:xfrm>
          <a:prstGeom prst="rect">
            <a:avLst/>
          </a:prstGeom>
        </p:spPr>
        <p:txBody>
          <a:bodyPr wrap="none">
            <a:spAutoFit/>
          </a:bodyPr>
          <a:lstStyle/>
          <a:p>
            <a:r>
              <a:rPr lang="en-GB" sz="1200" b="1" noProof="0" dirty="0" err="1"/>
              <a:t>i</a:t>
            </a:r>
            <a:r>
              <a:rPr lang="en-GB" sz="1200" b="1" noProof="0" dirty="0"/>
              <a:t>.</a:t>
            </a:r>
            <a:r>
              <a:rPr lang="en-GB" sz="1200" noProof="0" dirty="0"/>
              <a:t> 30</a:t>
            </a:r>
          </a:p>
        </p:txBody>
      </p:sp>
      <p:sp>
        <p:nvSpPr>
          <p:cNvPr id="129" name="Rectangle 128"/>
          <p:cNvSpPr/>
          <p:nvPr/>
        </p:nvSpPr>
        <p:spPr>
          <a:xfrm>
            <a:off x="269777" y="9313773"/>
            <a:ext cx="495649" cy="276999"/>
          </a:xfrm>
          <a:prstGeom prst="rect">
            <a:avLst/>
          </a:prstGeom>
        </p:spPr>
        <p:txBody>
          <a:bodyPr wrap="none">
            <a:spAutoFit/>
          </a:bodyPr>
          <a:lstStyle/>
          <a:p>
            <a:r>
              <a:rPr lang="en-GB" sz="1200" b="1" noProof="0" dirty="0"/>
              <a:t>ii.</a:t>
            </a:r>
            <a:r>
              <a:rPr lang="en-GB" sz="1200" noProof="0" dirty="0"/>
              <a:t> 60</a:t>
            </a:r>
          </a:p>
        </p:txBody>
      </p:sp>
      <p:sp>
        <p:nvSpPr>
          <p:cNvPr id="130" name="Rectangle 129"/>
          <p:cNvSpPr/>
          <p:nvPr/>
        </p:nvSpPr>
        <p:spPr>
          <a:xfrm>
            <a:off x="3377304" y="8674816"/>
            <a:ext cx="534121" cy="276999"/>
          </a:xfrm>
          <a:prstGeom prst="rect">
            <a:avLst/>
          </a:prstGeom>
        </p:spPr>
        <p:txBody>
          <a:bodyPr wrap="none">
            <a:spAutoFit/>
          </a:bodyPr>
          <a:lstStyle/>
          <a:p>
            <a:r>
              <a:rPr lang="en-GB" sz="1200" b="1" noProof="0" dirty="0"/>
              <a:t>iii.</a:t>
            </a:r>
            <a:r>
              <a:rPr lang="en-GB" sz="1200" noProof="0" dirty="0"/>
              <a:t> 18</a:t>
            </a:r>
          </a:p>
        </p:txBody>
      </p:sp>
      <p:sp>
        <p:nvSpPr>
          <p:cNvPr id="131" name="Rectangle 130">
            <a:extLst>
              <a:ext uri="{FF2B5EF4-FFF2-40B4-BE49-F238E27FC236}">
                <a16:creationId xmlns:a16="http://schemas.microsoft.com/office/drawing/2014/main" id="{633BAC49-01FC-4129-977D-EFE27505AFDD}"/>
              </a:ext>
            </a:extLst>
          </p:cNvPr>
          <p:cNvSpPr/>
          <p:nvPr/>
        </p:nvSpPr>
        <p:spPr>
          <a:xfrm>
            <a:off x="1179077" y="8620230"/>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32" name="Rectangle 131">
            <a:extLst>
              <a:ext uri="{FF2B5EF4-FFF2-40B4-BE49-F238E27FC236}">
                <a16:creationId xmlns:a16="http://schemas.microsoft.com/office/drawing/2014/main" id="{633BAC49-01FC-4129-977D-EFE27505AFDD}"/>
              </a:ext>
            </a:extLst>
          </p:cNvPr>
          <p:cNvSpPr/>
          <p:nvPr/>
        </p:nvSpPr>
        <p:spPr>
          <a:xfrm>
            <a:off x="1183280" y="9275043"/>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33" name="Rectangle 132">
            <a:extLst>
              <a:ext uri="{FF2B5EF4-FFF2-40B4-BE49-F238E27FC236}">
                <a16:creationId xmlns:a16="http://schemas.microsoft.com/office/drawing/2014/main" id="{633BAC49-01FC-4129-977D-EFE27505AFDD}"/>
              </a:ext>
            </a:extLst>
          </p:cNvPr>
          <p:cNvSpPr/>
          <p:nvPr/>
        </p:nvSpPr>
        <p:spPr>
          <a:xfrm>
            <a:off x="4248548" y="8637238"/>
            <a:ext cx="1937095" cy="34735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34" name="Rectangle 133"/>
          <p:cNvSpPr/>
          <p:nvPr/>
        </p:nvSpPr>
        <p:spPr>
          <a:xfrm>
            <a:off x="229619" y="7543926"/>
            <a:ext cx="3429000" cy="461665"/>
          </a:xfrm>
          <a:prstGeom prst="rect">
            <a:avLst/>
          </a:prstGeom>
        </p:spPr>
        <p:txBody>
          <a:bodyPr>
            <a:spAutoFit/>
          </a:bodyPr>
          <a:lstStyle/>
          <a:p>
            <a:pPr algn="ctr"/>
            <a:r>
              <a:rPr lang="en-GB" sz="1200" b="1" noProof="0" dirty="0"/>
              <a:t>3</a:t>
            </a:r>
            <a:r>
              <a:rPr lang="en-GB" sz="1200" noProof="0" dirty="0"/>
              <a:t>. Use the function machine to find the input for each output.</a:t>
            </a:r>
          </a:p>
        </p:txBody>
      </p:sp>
      <p:sp>
        <p:nvSpPr>
          <p:cNvPr id="42" name="Rectangle 41">
            <a:extLst>
              <a:ext uri="{FF2B5EF4-FFF2-40B4-BE49-F238E27FC236}">
                <a16:creationId xmlns:a16="http://schemas.microsoft.com/office/drawing/2014/main" id="{1A1DBEA9-D546-4594-90FE-D6EBF9792C2E}"/>
              </a:ext>
            </a:extLst>
          </p:cNvPr>
          <p:cNvSpPr/>
          <p:nvPr/>
        </p:nvSpPr>
        <p:spPr>
          <a:xfrm>
            <a:off x="163842" y="4294141"/>
            <a:ext cx="3321161" cy="32497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3" name="Rectangle 42">
            <a:extLst>
              <a:ext uri="{FF2B5EF4-FFF2-40B4-BE49-F238E27FC236}">
                <a16:creationId xmlns:a16="http://schemas.microsoft.com/office/drawing/2014/main" id="{1A1DBEA9-D546-4594-90FE-D6EBF9792C2E}"/>
              </a:ext>
            </a:extLst>
          </p:cNvPr>
          <p:cNvSpPr/>
          <p:nvPr/>
        </p:nvSpPr>
        <p:spPr>
          <a:xfrm>
            <a:off x="3556515" y="4297072"/>
            <a:ext cx="3212212" cy="32497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4" name="Rectangle 43">
            <a:extLst>
              <a:ext uri="{FF2B5EF4-FFF2-40B4-BE49-F238E27FC236}">
                <a16:creationId xmlns:a16="http://schemas.microsoft.com/office/drawing/2014/main" id="{1A1DBEA9-D546-4594-90FE-D6EBF9792C2E}"/>
              </a:ext>
            </a:extLst>
          </p:cNvPr>
          <p:cNvSpPr/>
          <p:nvPr/>
        </p:nvSpPr>
        <p:spPr>
          <a:xfrm>
            <a:off x="156230" y="7589299"/>
            <a:ext cx="6612496" cy="21111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50" name="Picture 2" descr="97345_Ch24_004.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58451" y="4812527"/>
            <a:ext cx="2808339" cy="379933"/>
          </a:xfrm>
          <a:prstGeom prst="rect">
            <a:avLst/>
          </a:prstGeom>
          <a:noFill/>
          <a:extLst>
            <a:ext uri="{909E8E84-426E-40DD-AFC4-6F175D3DCCD1}">
              <a14:hiddenFill xmlns:a14="http://schemas.microsoft.com/office/drawing/2010/main">
                <a:solidFill>
                  <a:srgbClr val="FFFFFF"/>
                </a:solidFill>
              </a14:hiddenFill>
            </a:ext>
          </a:extLst>
        </p:spPr>
      </p:pic>
      <p:cxnSp>
        <p:nvCxnSpPr>
          <p:cNvPr id="47" name="Straight Connector 46">
            <a:extLst>
              <a:ext uri="{FF2B5EF4-FFF2-40B4-BE49-F238E27FC236}">
                <a16:creationId xmlns:a16="http://schemas.microsoft.com/office/drawing/2014/main" id="{FE7EDCC2-ABAA-434F-8C0E-6C3A1F76BAE7}"/>
              </a:ext>
            </a:extLst>
          </p:cNvPr>
          <p:cNvCxnSpPr/>
          <p:nvPr/>
        </p:nvCxnSpPr>
        <p:spPr>
          <a:xfrm flipV="1">
            <a:off x="7877387" y="3519143"/>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7022707" y="1758795"/>
            <a:ext cx="6643204" cy="216430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49" name="Straight Connector 48"/>
          <p:cNvCxnSpPr/>
          <p:nvPr/>
        </p:nvCxnSpPr>
        <p:spPr>
          <a:xfrm>
            <a:off x="7029077" y="2862496"/>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p:cNvCxnSpPr>
            <a:stCxn id="48" idx="2"/>
            <a:endCxn id="48" idx="0"/>
          </p:cNvCxnSpPr>
          <p:nvPr/>
        </p:nvCxnSpPr>
        <p:spPr>
          <a:xfrm flipV="1">
            <a:off x="10344309" y="1758795"/>
            <a:ext cx="0" cy="2164305"/>
          </a:xfrm>
          <a:prstGeom prst="line">
            <a:avLst/>
          </a:prstGeom>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7040461" y="1749417"/>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53" name="TextBox 52"/>
          <p:cNvSpPr txBox="1"/>
          <p:nvPr/>
        </p:nvSpPr>
        <p:spPr>
          <a:xfrm>
            <a:off x="12564512" y="1717031"/>
            <a:ext cx="1112228" cy="276999"/>
          </a:xfrm>
          <a:prstGeom prst="rect">
            <a:avLst/>
          </a:prstGeom>
          <a:noFill/>
        </p:spPr>
        <p:txBody>
          <a:bodyPr wrap="none" rtlCol="0">
            <a:spAutoFit/>
          </a:bodyPr>
          <a:lstStyle/>
          <a:p>
            <a:r>
              <a:rPr lang="en-GB" sz="1200" b="1" noProof="0" dirty="0"/>
              <a:t>Characteristics</a:t>
            </a:r>
          </a:p>
        </p:txBody>
      </p:sp>
      <p:sp>
        <p:nvSpPr>
          <p:cNvPr id="54" name="TextBox 53"/>
          <p:cNvSpPr txBox="1"/>
          <p:nvPr/>
        </p:nvSpPr>
        <p:spPr>
          <a:xfrm>
            <a:off x="7055608" y="2846555"/>
            <a:ext cx="788164" cy="276999"/>
          </a:xfrm>
          <a:prstGeom prst="rect">
            <a:avLst/>
          </a:prstGeom>
          <a:noFill/>
        </p:spPr>
        <p:txBody>
          <a:bodyPr wrap="none" rtlCol="0">
            <a:spAutoFit/>
          </a:bodyPr>
          <a:lstStyle/>
          <a:p>
            <a:r>
              <a:rPr lang="en-GB" sz="1200" b="1" noProof="0" dirty="0"/>
              <a:t>Examples</a:t>
            </a:r>
          </a:p>
        </p:txBody>
      </p:sp>
      <p:sp>
        <p:nvSpPr>
          <p:cNvPr id="55" name="TextBox 54"/>
          <p:cNvSpPr txBox="1"/>
          <p:nvPr/>
        </p:nvSpPr>
        <p:spPr>
          <a:xfrm>
            <a:off x="12493025" y="2822174"/>
            <a:ext cx="1172885" cy="276999"/>
          </a:xfrm>
          <a:prstGeom prst="rect">
            <a:avLst/>
          </a:prstGeom>
          <a:noFill/>
        </p:spPr>
        <p:txBody>
          <a:bodyPr wrap="none" rtlCol="0">
            <a:spAutoFit/>
          </a:bodyPr>
          <a:lstStyle/>
          <a:p>
            <a:r>
              <a:rPr lang="en-GB" sz="1200" b="1" noProof="0" dirty="0"/>
              <a:t>Non - Examples</a:t>
            </a:r>
          </a:p>
        </p:txBody>
      </p:sp>
      <p:sp>
        <p:nvSpPr>
          <p:cNvPr id="56" name="TextBox 55"/>
          <p:cNvSpPr txBox="1"/>
          <p:nvPr/>
        </p:nvSpPr>
        <p:spPr>
          <a:xfrm>
            <a:off x="7061240" y="1990474"/>
            <a:ext cx="3230335" cy="769441"/>
          </a:xfrm>
          <a:prstGeom prst="rect">
            <a:avLst/>
          </a:prstGeom>
          <a:noFill/>
        </p:spPr>
        <p:txBody>
          <a:bodyPr wrap="square" rtlCol="0">
            <a:spAutoFit/>
          </a:bodyPr>
          <a:lstStyle/>
          <a:p>
            <a:r>
              <a:rPr lang="en-GB" sz="1100" b="1" noProof="0" dirty="0"/>
              <a:t>Function</a:t>
            </a:r>
            <a:r>
              <a:rPr lang="en-GB" sz="1100" noProof="0" dirty="0"/>
              <a:t>, in mathematics, an expression, rule, or law that defines a relationship between one variable (the independent variable) and another variable (the dependent variable). </a:t>
            </a:r>
            <a:endParaRPr lang="en-GB" sz="900" noProof="0" dirty="0"/>
          </a:p>
        </p:txBody>
      </p:sp>
      <mc:AlternateContent xmlns:mc="http://schemas.openxmlformats.org/markup-compatibility/2006" xmlns:a14="http://schemas.microsoft.com/office/drawing/2010/main">
        <mc:Choice Requires="a14">
          <p:sp>
            <p:nvSpPr>
              <p:cNvPr id="57" name="TextBox 56"/>
              <p:cNvSpPr txBox="1"/>
              <p:nvPr/>
            </p:nvSpPr>
            <p:spPr>
              <a:xfrm>
                <a:off x="10435575" y="1940435"/>
                <a:ext cx="3230335" cy="769441"/>
              </a:xfrm>
              <a:prstGeom prst="rect">
                <a:avLst/>
              </a:prstGeom>
              <a:noFill/>
            </p:spPr>
            <p:txBody>
              <a:bodyPr wrap="square" rtlCol="0">
                <a:spAutoFit/>
              </a:bodyPr>
              <a:lstStyle/>
              <a:p>
                <a:r>
                  <a:rPr lang="en-GB" sz="1100" i="1" noProof="0" dirty="0"/>
                  <a:t>y</a:t>
                </a:r>
                <a:r>
                  <a:rPr lang="en-GB" sz="1100" noProof="0" dirty="0"/>
                  <a:t> and </a:t>
                </a:r>
                <a:r>
                  <a:rPr lang="en-GB" sz="1100" i="1" noProof="0" dirty="0"/>
                  <a:t>x</a:t>
                </a:r>
                <a:r>
                  <a:rPr lang="en-GB" sz="1100" noProof="0" dirty="0"/>
                  <a:t> are related such that for every </a:t>
                </a:r>
                <a:r>
                  <a:rPr lang="en-GB" sz="1100" i="1" noProof="0" dirty="0"/>
                  <a:t>x</a:t>
                </a:r>
                <a:r>
                  <a:rPr lang="en-GB" sz="1100" noProof="0" dirty="0"/>
                  <a:t>, there is a unique value of </a:t>
                </a:r>
                <a:r>
                  <a:rPr lang="en-GB" sz="1100" i="1" noProof="0" dirty="0"/>
                  <a:t>y</a:t>
                </a:r>
                <a:r>
                  <a:rPr lang="en-GB" sz="1100" noProof="0" dirty="0"/>
                  <a:t>.</a:t>
                </a:r>
              </a:p>
              <a:p>
                <a:r>
                  <a:rPr lang="en-GB" sz="1100" noProof="0" dirty="0"/>
                  <a:t>We write functions as </a:t>
                </a:r>
                <a14:m>
                  <m:oMath xmlns:m="http://schemas.openxmlformats.org/officeDocument/2006/math">
                    <m:r>
                      <a:rPr lang="en-GB" sz="1100" b="0" i="1" noProof="0" smtClean="0">
                        <a:latin typeface="Cambria Math" panose="02040503050406030204" pitchFamily="18" charset="0"/>
                      </a:rPr>
                      <m:t>𝑓</m:t>
                    </m:r>
                    <m:d>
                      <m:dPr>
                        <m:ctrlPr>
                          <a:rPr lang="en-GB" sz="1100" b="0" i="1" noProof="0" smtClean="0">
                            <a:latin typeface="Cambria Math" panose="02040503050406030204" pitchFamily="18" charset="0"/>
                          </a:rPr>
                        </m:ctrlPr>
                      </m:dPr>
                      <m:e>
                        <m:r>
                          <a:rPr lang="en-GB" sz="1100" b="0" i="1" noProof="0" smtClean="0">
                            <a:latin typeface="Cambria Math" panose="02040503050406030204" pitchFamily="18" charset="0"/>
                          </a:rPr>
                          <m:t>𝑥</m:t>
                        </m:r>
                      </m:e>
                    </m:d>
                    <m:r>
                      <a:rPr lang="en-GB" sz="1100" b="0" i="1" noProof="0" smtClean="0">
                        <a:latin typeface="Cambria Math" panose="02040503050406030204" pitchFamily="18" charset="0"/>
                      </a:rPr>
                      <m:t>=</m:t>
                    </m:r>
                  </m:oMath>
                </a14:m>
                <a:endParaRPr lang="en-GB" sz="1100" noProof="0" dirty="0"/>
              </a:p>
              <a:p>
                <a:r>
                  <a:rPr lang="en-GB" sz="1100" noProof="0" dirty="0"/>
                  <a:t>Where </a:t>
                </a:r>
                <a14:m>
                  <m:oMath xmlns:m="http://schemas.openxmlformats.org/officeDocument/2006/math">
                    <m:r>
                      <a:rPr lang="en-GB" sz="1100" b="0" i="1" noProof="0" smtClean="0">
                        <a:latin typeface="Cambria Math" panose="02040503050406030204" pitchFamily="18" charset="0"/>
                      </a:rPr>
                      <m:t>𝑓</m:t>
                    </m:r>
                  </m:oMath>
                </a14:m>
                <a:r>
                  <a:rPr lang="en-GB" sz="1100" noProof="0" dirty="0"/>
                  <a:t> can be any letter</a:t>
                </a:r>
              </a:p>
            </p:txBody>
          </p:sp>
        </mc:Choice>
        <mc:Fallback xmlns="">
          <p:sp>
            <p:nvSpPr>
              <p:cNvPr id="57" name="TextBox 56"/>
              <p:cNvSpPr txBox="1">
                <a:spLocks noRot="1" noChangeAspect="1" noMove="1" noResize="1" noEditPoints="1" noAdjustHandles="1" noChangeArrowheads="1" noChangeShapeType="1" noTextEdit="1"/>
              </p:cNvSpPr>
              <p:nvPr/>
            </p:nvSpPr>
            <p:spPr>
              <a:xfrm>
                <a:off x="10435575" y="1940435"/>
                <a:ext cx="3230335" cy="769441"/>
              </a:xfrm>
              <a:prstGeom prst="rect">
                <a:avLst/>
              </a:prstGeom>
              <a:blipFill>
                <a:blip r:embed="rId5"/>
                <a:stretch>
                  <a:fillRect t="-787" b="-3937"/>
                </a:stretch>
              </a:blipFill>
            </p:spPr>
            <p:txBody>
              <a:bodyPr/>
              <a:lstStyle/>
              <a:p>
                <a:r>
                  <a:rPr lang="en-US">
                    <a:noFill/>
                  </a:rPr>
                  <a:t> </a:t>
                </a:r>
              </a:p>
            </p:txBody>
          </p:sp>
        </mc:Fallback>
      </mc:AlternateContent>
      <p:sp>
        <p:nvSpPr>
          <p:cNvPr id="58" name="TextBox 57"/>
          <p:cNvSpPr txBox="1"/>
          <p:nvPr/>
        </p:nvSpPr>
        <p:spPr>
          <a:xfrm>
            <a:off x="9774855" y="2719550"/>
            <a:ext cx="1095172" cy="369332"/>
          </a:xfrm>
          <a:prstGeom prst="rect">
            <a:avLst/>
          </a:prstGeom>
          <a:solidFill>
            <a:schemeClr val="bg1"/>
          </a:solidFill>
          <a:ln>
            <a:solidFill>
              <a:schemeClr val="tx1"/>
            </a:solidFill>
          </a:ln>
        </p:spPr>
        <p:txBody>
          <a:bodyPr wrap="none" rtlCol="0">
            <a:spAutoFit/>
          </a:bodyPr>
          <a:lstStyle/>
          <a:p>
            <a:r>
              <a:rPr lang="en-GB" noProof="0" dirty="0"/>
              <a:t>Functions</a:t>
            </a:r>
          </a:p>
        </p:txBody>
      </p:sp>
      <mc:AlternateContent xmlns:mc="http://schemas.openxmlformats.org/markup-compatibility/2006" xmlns:a14="http://schemas.microsoft.com/office/drawing/2010/main">
        <mc:Choice Requires="a14">
          <p:sp>
            <p:nvSpPr>
              <p:cNvPr id="9" name="Rectangle 8"/>
              <p:cNvSpPr/>
              <p:nvPr/>
            </p:nvSpPr>
            <p:spPr>
              <a:xfrm>
                <a:off x="7055608" y="3112746"/>
                <a:ext cx="1164614"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m:oMathPara>
                </a14:m>
                <a:endParaRPr lang="en-GB" sz="1200" noProof="0" dirty="0"/>
              </a:p>
            </p:txBody>
          </p:sp>
        </mc:Choice>
        <mc:Fallback xmlns="">
          <p:sp>
            <p:nvSpPr>
              <p:cNvPr id="9" name="Rectangle 8"/>
              <p:cNvSpPr>
                <a:spLocks noRot="1" noChangeAspect="1" noMove="1" noResize="1" noEditPoints="1" noAdjustHandles="1" noChangeArrowheads="1" noChangeShapeType="1" noTextEdit="1"/>
              </p:cNvSpPr>
              <p:nvPr/>
            </p:nvSpPr>
            <p:spPr>
              <a:xfrm>
                <a:off x="7055608" y="3112746"/>
                <a:ext cx="1164614" cy="276999"/>
              </a:xfrm>
              <a:prstGeom prst="rect">
                <a:avLst/>
              </a:prstGeom>
              <a:blipFill>
                <a:blip r:embed="rId6"/>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p:cNvSpPr/>
              <p:nvPr/>
            </p:nvSpPr>
            <p:spPr>
              <a:xfrm>
                <a:off x="7063321" y="3432112"/>
                <a:ext cx="818686" cy="4392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𝑥</m:t>
                          </m:r>
                        </m:den>
                      </m:f>
                    </m:oMath>
                  </m:oMathPara>
                </a14:m>
                <a:endParaRPr lang="en-GB" sz="1200" noProof="0" dirty="0"/>
              </a:p>
            </p:txBody>
          </p:sp>
        </mc:Choice>
        <mc:Fallback xmlns="">
          <p:sp>
            <p:nvSpPr>
              <p:cNvPr id="63" name="Rectangle 62"/>
              <p:cNvSpPr>
                <a:spLocks noRot="1" noChangeAspect="1" noMove="1" noResize="1" noEditPoints="1" noAdjustHandles="1" noChangeArrowheads="1" noChangeShapeType="1" noTextEdit="1"/>
              </p:cNvSpPr>
              <p:nvPr/>
            </p:nvSpPr>
            <p:spPr>
              <a:xfrm>
                <a:off x="7063321" y="3432112"/>
                <a:ext cx="818686" cy="43922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p:cNvSpPr/>
              <p:nvPr/>
            </p:nvSpPr>
            <p:spPr>
              <a:xfrm>
                <a:off x="8191273" y="3410432"/>
                <a:ext cx="1153714"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h</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+3</m:t>
                      </m:r>
                    </m:oMath>
                  </m:oMathPara>
                </a14:m>
                <a:endParaRPr lang="en-GB" sz="1200" noProof="0" dirty="0"/>
              </a:p>
            </p:txBody>
          </p:sp>
        </mc:Choice>
        <mc:Fallback xmlns="">
          <p:sp>
            <p:nvSpPr>
              <p:cNvPr id="70" name="Rectangle 69"/>
              <p:cNvSpPr>
                <a:spLocks noRot="1" noChangeAspect="1" noMove="1" noResize="1" noEditPoints="1" noAdjustHandles="1" noChangeArrowheads="1" noChangeShapeType="1" noTextEdit="1"/>
              </p:cNvSpPr>
              <p:nvPr/>
            </p:nvSpPr>
            <p:spPr>
              <a:xfrm>
                <a:off x="8191273" y="3410432"/>
                <a:ext cx="1153714" cy="27699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p:cNvSpPr/>
              <p:nvPr/>
            </p:nvSpPr>
            <p:spPr>
              <a:xfrm>
                <a:off x="10339723" y="3152561"/>
                <a:ext cx="595035"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=3</m:t>
                      </m:r>
                    </m:oMath>
                  </m:oMathPara>
                </a14:m>
                <a:endParaRPr lang="en-GB" sz="1200" noProof="0" dirty="0"/>
              </a:p>
            </p:txBody>
          </p:sp>
        </mc:Choice>
        <mc:Fallback xmlns="">
          <p:sp>
            <p:nvSpPr>
              <p:cNvPr id="71" name="Rectangle 70"/>
              <p:cNvSpPr>
                <a:spLocks noRot="1" noChangeAspect="1" noMove="1" noResize="1" noEditPoints="1" noAdjustHandles="1" noChangeArrowheads="1" noChangeShapeType="1" noTextEdit="1"/>
              </p:cNvSpPr>
              <p:nvPr/>
            </p:nvSpPr>
            <p:spPr>
              <a:xfrm>
                <a:off x="10339723" y="3152561"/>
                <a:ext cx="595035" cy="27699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p:cNvSpPr/>
              <p:nvPr/>
            </p:nvSpPr>
            <p:spPr>
              <a:xfrm>
                <a:off x="10346592" y="3472695"/>
                <a:ext cx="68146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rPr>
                        <m:t>3</m:t>
                      </m:r>
                      <m:r>
                        <a:rPr lang="en-GB" sz="1200" b="0" i="1" noProof="0" smtClean="0">
                          <a:latin typeface="Cambria Math" panose="02040503050406030204" pitchFamily="18" charset="0"/>
                        </a:rPr>
                        <m:t>𝑦</m:t>
                      </m:r>
                    </m:oMath>
                  </m:oMathPara>
                </a14:m>
                <a:endParaRPr lang="en-GB" sz="1200" noProof="0" dirty="0"/>
              </a:p>
            </p:txBody>
          </p:sp>
        </mc:Choice>
        <mc:Fallback xmlns="">
          <p:sp>
            <p:nvSpPr>
              <p:cNvPr id="72" name="Rectangle 71"/>
              <p:cNvSpPr>
                <a:spLocks noRot="1" noChangeAspect="1" noMove="1" noResize="1" noEditPoints="1" noAdjustHandles="1" noChangeArrowheads="1" noChangeShapeType="1" noTextEdit="1"/>
              </p:cNvSpPr>
              <p:nvPr/>
            </p:nvSpPr>
            <p:spPr>
              <a:xfrm>
                <a:off x="10346592" y="3472695"/>
                <a:ext cx="681469" cy="276999"/>
              </a:xfrm>
              <a:prstGeom prst="rect">
                <a:avLst/>
              </a:prstGeom>
              <a:blipFill>
                <a:blip r:embed="rId10"/>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p:cNvSpPr/>
              <p:nvPr/>
            </p:nvSpPr>
            <p:spPr>
              <a:xfrm>
                <a:off x="11036056" y="3170276"/>
                <a:ext cx="749244"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+7</m:t>
                      </m:r>
                      <m:r>
                        <a:rPr lang="en-GB" sz="1200" b="0" i="1" noProof="0" smtClean="0">
                          <a:latin typeface="Cambria Math" panose="02040503050406030204" pitchFamily="18" charset="0"/>
                        </a:rPr>
                        <m:t>𝑦</m:t>
                      </m:r>
                    </m:oMath>
                  </m:oMathPara>
                </a14:m>
                <a:endParaRPr lang="en-GB" sz="1200" noProof="0" dirty="0"/>
              </a:p>
            </p:txBody>
          </p:sp>
        </mc:Choice>
        <mc:Fallback xmlns="">
          <p:sp>
            <p:nvSpPr>
              <p:cNvPr id="73" name="Rectangle 72"/>
              <p:cNvSpPr>
                <a:spLocks noRot="1" noChangeAspect="1" noMove="1" noResize="1" noEditPoints="1" noAdjustHandles="1" noChangeArrowheads="1" noChangeShapeType="1" noTextEdit="1"/>
              </p:cNvSpPr>
              <p:nvPr/>
            </p:nvSpPr>
            <p:spPr>
              <a:xfrm>
                <a:off x="11036056" y="3170276"/>
                <a:ext cx="749244" cy="276999"/>
              </a:xfrm>
              <a:prstGeom prst="rect">
                <a:avLst/>
              </a:prstGeom>
              <a:blipFill>
                <a:blip r:embed="rId11"/>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E1E51A0-8542-3172-9ABD-304B3378E467}"/>
                  </a:ext>
                </a:extLst>
              </p:cNvPr>
              <p:cNvSpPr txBox="1"/>
              <p:nvPr/>
            </p:nvSpPr>
            <p:spPr>
              <a:xfrm>
                <a:off x="102618" y="1816100"/>
                <a:ext cx="6647772" cy="2131994"/>
              </a:xfrm>
              <a:prstGeom prst="rect">
                <a:avLst/>
              </a:prstGeom>
              <a:noFill/>
              <a:ln>
                <a:solidFill>
                  <a:schemeClr val="tx1"/>
                </a:solidFill>
              </a:ln>
            </p:spPr>
            <p:txBody>
              <a:bodyPr wrap="square" rtlCol="0">
                <a:spAutoFit/>
              </a:bodyPr>
              <a:lstStyle/>
              <a:p>
                <a:r>
                  <a:rPr lang="en-GB" sz="1200" noProof="0" dirty="0"/>
                  <a:t>Previously when studying mathematics, you have come across many functions, but they have not been in the formal function notation. You have seen them in this format.</a:t>
                </a:r>
              </a:p>
              <a:p>
                <a:endParaRPr lang="en-GB" sz="1200" noProof="0" dirty="0"/>
              </a:p>
              <a:p>
                <a:pPr/>
                <a14:m>
                  <m:oMathPara xmlns:m="http://schemas.openxmlformats.org/officeDocument/2006/math">
                    <m:oMathParaPr>
                      <m:jc m:val="centerGroup"/>
                    </m:oMathParaPr>
                    <m:oMath xmlns:m="http://schemas.openxmlformats.org/officeDocument/2006/math">
                      <m:r>
                        <a:rPr lang="en-GB" sz="1200" i="1" noProof="0">
                          <a:latin typeface="Cambria Math" panose="02040503050406030204" pitchFamily="18" charset="0"/>
                        </a:rPr>
                        <m:t>𝑦</m:t>
                      </m:r>
                      <m:r>
                        <a:rPr lang="en-GB" sz="1200" i="1" noProof="0">
                          <a:latin typeface="Cambria Math" panose="02040503050406030204" pitchFamily="18" charset="0"/>
                        </a:rPr>
                        <m:t>=3</m:t>
                      </m:r>
                      <m:r>
                        <a:rPr lang="en-GB" sz="1200" i="1" noProof="0">
                          <a:latin typeface="Cambria Math" panose="02040503050406030204" pitchFamily="18" charset="0"/>
                        </a:rPr>
                        <m:t>𝑥</m:t>
                      </m:r>
                      <m:r>
                        <a:rPr lang="en-GB" sz="1200" i="1" noProof="0">
                          <a:latin typeface="Cambria Math" panose="02040503050406030204" pitchFamily="18" charset="0"/>
                        </a:rPr>
                        <m:t>−5,  </m:t>
                      </m:r>
                      <m:r>
                        <a:rPr lang="en-GB" sz="1200" i="1" noProof="0">
                          <a:latin typeface="Cambria Math" panose="02040503050406030204" pitchFamily="18" charset="0"/>
                        </a:rPr>
                        <m:t>𝑦</m:t>
                      </m:r>
                      <m:r>
                        <a:rPr lang="en-GB" sz="1200" i="1" noProof="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3</m:t>
                          </m:r>
                        </m:sup>
                      </m:sSup>
                      <m:r>
                        <a:rPr lang="en-GB" sz="1200" i="1" noProof="0">
                          <a:latin typeface="Cambria Math" panose="02040503050406030204" pitchFamily="18" charset="0"/>
                        </a:rPr>
                        <m:t>,  </m:t>
                      </m:r>
                      <m:r>
                        <a:rPr lang="en-GB" sz="1200" i="1" noProof="0">
                          <a:latin typeface="Cambria Math" panose="02040503050406030204" pitchFamily="18" charset="0"/>
                        </a:rPr>
                        <m:t>𝑦</m:t>
                      </m:r>
                      <m:r>
                        <a:rPr lang="en-GB" sz="1200" i="1" noProof="0">
                          <a:latin typeface="Cambria Math" panose="02040503050406030204" pitchFamily="18" charset="0"/>
                        </a:rPr>
                        <m:t>=23−</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oMath>
                  </m:oMathPara>
                </a14:m>
                <a:endParaRPr lang="en-GB" sz="1200" noProof="0" dirty="0"/>
              </a:p>
              <a:p>
                <a:endParaRPr lang="en-GB" sz="1200" noProof="0" dirty="0"/>
              </a:p>
              <a:p>
                <a:r>
                  <a:rPr lang="en-GB" sz="1200" noProof="0" dirty="0"/>
                  <a:t>Formal function notation replaces the variable </a:t>
                </a:r>
                <a14:m>
                  <m:oMath xmlns:m="http://schemas.openxmlformats.org/officeDocument/2006/math">
                    <m:r>
                      <a:rPr lang="en-GB" sz="1200" i="1" noProof="0">
                        <a:latin typeface="Cambria Math" panose="02040503050406030204" pitchFamily="18" charset="0"/>
                      </a:rPr>
                      <m:t>𝑦</m:t>
                    </m:r>
                  </m:oMath>
                </a14:m>
                <a:r>
                  <a:rPr lang="en-GB" sz="1200" noProof="0" dirty="0"/>
                  <a:t> with the notation </a:t>
                </a:r>
                <a14:m>
                  <m:oMath xmlns:m="http://schemas.openxmlformats.org/officeDocument/2006/math">
                    <m:r>
                      <a:rPr lang="en-GB" sz="1200" i="1" noProof="0">
                        <a:latin typeface="Cambria Math" panose="02040503050406030204" pitchFamily="18" charset="0"/>
                      </a:rPr>
                      <m:t>𝑓</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(we say “</a:t>
                </a:r>
                <a14:m>
                  <m:oMath xmlns:m="http://schemas.openxmlformats.org/officeDocument/2006/math">
                    <m:r>
                      <a:rPr lang="en-GB" sz="1200" i="1" noProof="0">
                        <a:latin typeface="Cambria Math" panose="02040503050406030204" pitchFamily="18" charset="0"/>
                      </a:rPr>
                      <m:t>𝑓</m:t>
                    </m:r>
                    <m:r>
                      <a:rPr lang="en-GB" sz="1200" i="1" noProof="0">
                        <a:latin typeface="Cambria Math" panose="02040503050406030204" pitchFamily="18" charset="0"/>
                      </a:rPr>
                      <m:t> </m:t>
                    </m:r>
                  </m:oMath>
                </a14:m>
                <a:r>
                  <a:rPr lang="en-GB" sz="1200" noProof="0" dirty="0"/>
                  <a:t>of</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then</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𝑔</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h</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etc… </a:t>
                </a:r>
              </a:p>
              <a:p>
                <a:endParaRPr lang="en-GB" sz="1200" noProof="0" dirty="0"/>
              </a:p>
              <a:p>
                <a:r>
                  <a:rPr lang="en-GB" sz="1200" noProof="0" dirty="0"/>
                  <a:t>We refer to these as the functions</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𝑓</m:t>
                    </m:r>
                  </m:oMath>
                </a14:m>
                <a:r>
                  <a:rPr lang="en-GB" sz="1200" noProof="0" dirty="0"/>
                  <a:t>, </a:t>
                </a:r>
                <a14:m>
                  <m:oMath xmlns:m="http://schemas.openxmlformats.org/officeDocument/2006/math">
                    <m:r>
                      <a:rPr lang="en-GB" sz="1200" i="1" noProof="0">
                        <a:latin typeface="Cambria Math" panose="02040503050406030204" pitchFamily="18" charset="0"/>
                      </a:rPr>
                      <m:t>𝑔</m:t>
                    </m:r>
                  </m:oMath>
                </a14:m>
                <a:r>
                  <a:rPr lang="en-GB" sz="1200" noProof="0" dirty="0"/>
                  <a:t> and </a:t>
                </a:r>
                <a14:m>
                  <m:oMath xmlns:m="http://schemas.openxmlformats.org/officeDocument/2006/math">
                    <m:r>
                      <a:rPr lang="en-GB" sz="1200" i="1" noProof="0">
                        <a:latin typeface="Cambria Math" panose="02040503050406030204" pitchFamily="18" charset="0"/>
                      </a:rPr>
                      <m:t>h</m:t>
                    </m:r>
                  </m:oMath>
                </a14:m>
                <a:r>
                  <a:rPr lang="en-GB" sz="1200" noProof="0" dirty="0"/>
                  <a:t> respectively and they could look like the following:</a:t>
                </a:r>
              </a:p>
              <a:p>
                <a:pPr/>
                <a14:m>
                  <m:oMathPara xmlns:m="http://schemas.openxmlformats.org/officeDocument/2006/math">
                    <m:oMathParaPr>
                      <m:jc m:val="centerGroup"/>
                    </m:oMathParaPr>
                    <m:oMath xmlns:m="http://schemas.openxmlformats.org/officeDocument/2006/math">
                      <m:r>
                        <a:rPr lang="en-GB" sz="1200" i="1" noProof="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=3</m:t>
                      </m:r>
                      <m:r>
                        <a:rPr lang="en-GB" sz="1200" i="1" noProof="0">
                          <a:latin typeface="Cambria Math" panose="02040503050406030204" pitchFamily="18" charset="0"/>
                        </a:rPr>
                        <m:t>𝑥</m:t>
                      </m:r>
                      <m:r>
                        <a:rPr lang="en-GB" sz="1200" i="1" noProof="0">
                          <a:latin typeface="Cambria Math" panose="02040503050406030204" pitchFamily="18" charset="0"/>
                        </a:rPr>
                        <m:t>−5,  </m:t>
                      </m:r>
                      <m:r>
                        <a:rPr lang="en-GB" sz="1200" i="1" noProof="0">
                          <a:latin typeface="Cambria Math" panose="02040503050406030204" pitchFamily="18" charset="0"/>
                        </a:rPr>
                        <m:t>𝑔</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3</m:t>
                          </m:r>
                        </m:sup>
                      </m:sSup>
                      <m:r>
                        <a:rPr lang="en-GB" sz="1200" i="1" noProof="0">
                          <a:latin typeface="Cambria Math" panose="02040503050406030204" pitchFamily="18" charset="0"/>
                        </a:rPr>
                        <m:t>,  </m:t>
                      </m:r>
                      <m:r>
                        <a:rPr lang="en-GB" sz="1200" i="1" noProof="0">
                          <a:latin typeface="Cambria Math" panose="02040503050406030204" pitchFamily="18" charset="0"/>
                        </a:rPr>
                        <m:t>h</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=23−</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oMath>
                  </m:oMathPara>
                </a14:m>
                <a:endParaRPr lang="en-GB" sz="1200" noProof="0" dirty="0"/>
              </a:p>
              <a:p>
                <a:endParaRPr lang="en-GB" sz="1200" noProof="0" dirty="0"/>
              </a:p>
            </p:txBody>
          </p:sp>
        </mc:Choice>
        <mc:Fallback xmlns="">
          <p:sp>
            <p:nvSpPr>
              <p:cNvPr id="4" name="TextBox 3">
                <a:extLst>
                  <a:ext uri="{FF2B5EF4-FFF2-40B4-BE49-F238E27FC236}">
                    <a16:creationId xmlns:a16="http://schemas.microsoft.com/office/drawing/2014/main" id="{1E1E51A0-8542-3172-9ABD-304B3378E467}"/>
                  </a:ext>
                </a:extLst>
              </p:cNvPr>
              <p:cNvSpPr txBox="1">
                <a:spLocks noRot="1" noChangeAspect="1" noMove="1" noResize="1" noEditPoints="1" noAdjustHandles="1" noChangeArrowheads="1" noChangeShapeType="1" noTextEdit="1"/>
              </p:cNvSpPr>
              <p:nvPr/>
            </p:nvSpPr>
            <p:spPr>
              <a:xfrm>
                <a:off x="102618" y="1816100"/>
                <a:ext cx="6647772" cy="2131994"/>
              </a:xfrm>
              <a:prstGeom prst="rect">
                <a:avLst/>
              </a:prstGeom>
              <a:blipFill>
                <a:blip r:embed="rId12"/>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917533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59B38D-7A78-46E4-B9C9-6312593C5041}"/>
              </a:ext>
            </a:extLst>
          </p:cNvPr>
          <p:cNvSpPr/>
          <p:nvPr/>
        </p:nvSpPr>
        <p:spPr>
          <a:xfrm>
            <a:off x="4620761" y="583530"/>
            <a:ext cx="2089777" cy="2591499"/>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p:txBody>
      </p:sp>
      <p:sp>
        <p:nvSpPr>
          <p:cNvPr id="3" name="TextBox 2">
            <a:extLst>
              <a:ext uri="{FF2B5EF4-FFF2-40B4-BE49-F238E27FC236}">
                <a16:creationId xmlns:a16="http://schemas.microsoft.com/office/drawing/2014/main" id="{EA4FD2D9-8D23-4ADE-B70E-F386FDED2BED}"/>
              </a:ext>
            </a:extLst>
          </p:cNvPr>
          <p:cNvSpPr txBox="1"/>
          <p:nvPr/>
        </p:nvSpPr>
        <p:spPr>
          <a:xfrm>
            <a:off x="4519143" y="310899"/>
            <a:ext cx="1463542" cy="276999"/>
          </a:xfrm>
          <a:prstGeom prst="rect">
            <a:avLst/>
          </a:prstGeom>
          <a:noFill/>
          <a:ln>
            <a:noFill/>
          </a:ln>
        </p:spPr>
        <p:txBody>
          <a:bodyPr wrap="none" rtlCol="0">
            <a:spAutoFit/>
          </a:bodyPr>
          <a:lstStyle/>
          <a:p>
            <a:r>
              <a:rPr lang="en-GB" sz="1200" b="1" i="1" noProof="0" dirty="0">
                <a:solidFill>
                  <a:srgbClr val="00B050"/>
                </a:solidFill>
              </a:rPr>
              <a:t>Example 3- You do…</a:t>
            </a:r>
          </a:p>
        </p:txBody>
      </p:sp>
      <p:sp>
        <p:nvSpPr>
          <p:cNvPr id="4" name="Rectangle 3">
            <a:extLst>
              <a:ext uri="{FF2B5EF4-FFF2-40B4-BE49-F238E27FC236}">
                <a16:creationId xmlns:a16="http://schemas.microsoft.com/office/drawing/2014/main" id="{3E9C8B3E-E2B2-49A4-89FE-F9C9137A06D7}"/>
              </a:ext>
            </a:extLst>
          </p:cNvPr>
          <p:cNvSpPr/>
          <p:nvPr/>
        </p:nvSpPr>
        <p:spPr>
          <a:xfrm>
            <a:off x="2395157" y="583531"/>
            <a:ext cx="2151812" cy="2591500"/>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p:txBody>
      </p:sp>
      <p:sp>
        <p:nvSpPr>
          <p:cNvPr id="5" name="TextBox 4">
            <a:extLst>
              <a:ext uri="{FF2B5EF4-FFF2-40B4-BE49-F238E27FC236}">
                <a16:creationId xmlns:a16="http://schemas.microsoft.com/office/drawing/2014/main" id="{08E67FA9-518E-48EE-9C3C-DC43DA12711A}"/>
              </a:ext>
            </a:extLst>
          </p:cNvPr>
          <p:cNvSpPr txBox="1"/>
          <p:nvPr/>
        </p:nvSpPr>
        <p:spPr>
          <a:xfrm>
            <a:off x="2342625" y="309910"/>
            <a:ext cx="1475789" cy="276999"/>
          </a:xfrm>
          <a:prstGeom prst="rect">
            <a:avLst/>
          </a:prstGeom>
          <a:noFill/>
          <a:ln>
            <a:noFill/>
          </a:ln>
        </p:spPr>
        <p:txBody>
          <a:bodyPr wrap="none" rtlCol="0">
            <a:spAutoFit/>
          </a:bodyPr>
          <a:lstStyle/>
          <a:p>
            <a:r>
              <a:rPr lang="en-GB" sz="1200" b="1" i="1" noProof="0" dirty="0">
                <a:solidFill>
                  <a:schemeClr val="accent2"/>
                </a:solidFill>
              </a:rPr>
              <a:t>Example 2 - We do…</a:t>
            </a:r>
          </a:p>
        </p:txBody>
      </p:sp>
      <p:sp>
        <p:nvSpPr>
          <p:cNvPr id="6" name="TextBox 5">
            <a:extLst>
              <a:ext uri="{FF2B5EF4-FFF2-40B4-BE49-F238E27FC236}">
                <a16:creationId xmlns:a16="http://schemas.microsoft.com/office/drawing/2014/main" id="{0C5FDE3F-DC2A-468E-BF61-F69BF8BB2775}"/>
              </a:ext>
            </a:extLst>
          </p:cNvPr>
          <p:cNvSpPr txBox="1"/>
          <p:nvPr/>
        </p:nvSpPr>
        <p:spPr>
          <a:xfrm>
            <a:off x="0" y="325578"/>
            <a:ext cx="1308500" cy="276999"/>
          </a:xfrm>
          <a:prstGeom prst="rect">
            <a:avLst/>
          </a:prstGeom>
          <a:noFill/>
          <a:ln>
            <a:noFill/>
          </a:ln>
        </p:spPr>
        <p:txBody>
          <a:bodyPr wrap="none" rtlCol="0">
            <a:spAutoFit/>
          </a:bodyPr>
          <a:lstStyle/>
          <a:p>
            <a:r>
              <a:rPr lang="en-GB" sz="1200" b="1" i="1" noProof="0" dirty="0">
                <a:solidFill>
                  <a:srgbClr val="FF0000"/>
                </a:solidFill>
              </a:rPr>
              <a:t>Example 1 - I do…</a:t>
            </a:r>
          </a:p>
        </p:txBody>
      </p:sp>
      <p:sp>
        <p:nvSpPr>
          <p:cNvPr id="7" name="Rectangle 6">
            <a:extLst>
              <a:ext uri="{FF2B5EF4-FFF2-40B4-BE49-F238E27FC236}">
                <a16:creationId xmlns:a16="http://schemas.microsoft.com/office/drawing/2014/main" id="{88702858-2340-4E05-9D8E-B489EE06713C}"/>
              </a:ext>
            </a:extLst>
          </p:cNvPr>
          <p:cNvSpPr/>
          <p:nvPr/>
        </p:nvSpPr>
        <p:spPr>
          <a:xfrm>
            <a:off x="60232" y="583532"/>
            <a:ext cx="2261133" cy="25914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80CA423-62E4-4D9E-A61F-19419774D88E}"/>
                  </a:ext>
                </a:extLst>
              </p:cNvPr>
              <p:cNvSpPr txBox="1"/>
              <p:nvPr/>
            </p:nvSpPr>
            <p:spPr>
              <a:xfrm>
                <a:off x="91630" y="604840"/>
                <a:ext cx="2155809" cy="249299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(3)</m:t>
                    </m:r>
                  </m:oMath>
                </a14:m>
                <a:endParaRPr lang="en-GB" sz="1200" noProof="0" dirty="0"/>
              </a:p>
              <a:p>
                <a:endParaRPr lang="en-GB" sz="1200" noProof="0" dirty="0"/>
              </a:p>
              <a:p>
                <a:endParaRPr lang="en-GB" sz="1200" noProof="0" dirty="0"/>
              </a:p>
              <a:p>
                <a:r>
                  <a:rPr lang="en-GB" sz="1200" noProof="0" dirty="0"/>
                  <a:t>Substitute 3 into the function.</a:t>
                </a:r>
              </a:p>
              <a:p>
                <a:endParaRPr lang="en-GB" sz="1200" noProof="0" dirty="0"/>
              </a:p>
              <a:p>
                <a:r>
                  <a:rPr lang="en-GB" sz="1200" noProof="0" dirty="0"/>
                  <a:t> </a:t>
                </a:r>
                <a14:m>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3</m:t>
                        </m:r>
                      </m:e>
                    </m:d>
                    <m:r>
                      <a:rPr lang="en-GB" sz="1200" b="0" i="1" noProof="0" smtClean="0">
                        <a:latin typeface="Cambria Math" panose="02040503050406030204" pitchFamily="18" charset="0"/>
                      </a:rPr>
                      <m:t>=2</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3</m:t>
                        </m:r>
                      </m:e>
                    </m:d>
                    <m:r>
                      <a:rPr lang="en-GB" sz="1200" b="0" i="1" noProof="0" smtClean="0">
                        <a:latin typeface="Cambria Math" panose="02040503050406030204" pitchFamily="18" charset="0"/>
                      </a:rPr>
                      <m:t>+1</m:t>
                    </m:r>
                  </m:oMath>
                </a14:m>
                <a:endParaRPr lang="en-GB" sz="1200" noProof="0" dirty="0"/>
              </a:p>
              <a:p>
                <a:endParaRPr lang="en-GB" sz="1200" noProof="0" dirty="0"/>
              </a:p>
              <a:p>
                <a:pPr/>
                <a14:m>
                  <m:oMathPara xmlns:m="http://schemas.openxmlformats.org/officeDocument/2006/math">
                    <m:oMathParaPr>
                      <m:jc m:val="left"/>
                    </m:oMathParaPr>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3</m:t>
                          </m:r>
                        </m:e>
                      </m:d>
                      <m:r>
                        <a:rPr lang="en-GB" sz="1200" i="1" noProof="0" smtClean="0">
                          <a:latin typeface="Cambria Math" panose="02040503050406030204" pitchFamily="18" charset="0"/>
                        </a:rPr>
                        <m:t>=</m:t>
                      </m:r>
                    </m:oMath>
                  </m:oMathPara>
                </a14:m>
                <a:endParaRPr lang="en-GB" sz="1200" noProof="0" dirty="0"/>
              </a:p>
              <a:p>
                <a:endParaRPr lang="en-GB" sz="1200" noProof="0" dirty="0"/>
              </a:p>
            </p:txBody>
          </p:sp>
        </mc:Choice>
        <mc:Fallback xmlns="">
          <p:sp>
            <p:nvSpPr>
              <p:cNvPr id="8" name="TextBox 7">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91630" y="604840"/>
                <a:ext cx="2155809" cy="2492990"/>
              </a:xfrm>
              <a:prstGeom prst="rect">
                <a:avLst/>
              </a:prstGeom>
              <a:blipFill>
                <a:blip r:embed="rId2"/>
                <a:stretch>
                  <a:fillRect/>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633BAC49-01FC-4129-977D-EFE27505AFDD}"/>
              </a:ext>
            </a:extLst>
          </p:cNvPr>
          <p:cNvSpPr/>
          <p:nvPr/>
        </p:nvSpPr>
        <p:spPr>
          <a:xfrm>
            <a:off x="729978" y="2554901"/>
            <a:ext cx="1152641" cy="40676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80CA423-62E4-4D9E-A61F-19419774D88E}"/>
                  </a:ext>
                </a:extLst>
              </p:cNvPr>
              <p:cNvSpPr txBox="1"/>
              <p:nvPr/>
            </p:nvSpPr>
            <p:spPr>
              <a:xfrm>
                <a:off x="2443692" y="633979"/>
                <a:ext cx="2155809" cy="19389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(−7)</m:t>
                    </m:r>
                  </m:oMath>
                </a14:m>
                <a:endParaRPr lang="en-GB" sz="1200" noProof="0" dirty="0"/>
              </a:p>
              <a:p>
                <a:endParaRPr lang="en-GB" sz="1200" noProof="0" dirty="0"/>
              </a:p>
              <a:p>
                <a:endParaRPr lang="en-GB" sz="1200" noProof="0" dirty="0"/>
              </a:p>
              <a:p>
                <a:r>
                  <a:rPr lang="en-GB" sz="1200" noProof="0" dirty="0"/>
                  <a:t>Substitute -7 into the function.</a:t>
                </a:r>
              </a:p>
              <a:p>
                <a:endParaRPr lang="en-GB" sz="1200" noProof="0" dirty="0"/>
              </a:p>
              <a:p>
                <a:r>
                  <a:rPr lang="en-GB" sz="1200" noProof="0" dirty="0"/>
                  <a:t> </a:t>
                </a:r>
                <a14:m>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b="0" i="1" noProof="0" smtClean="0">
                            <a:latin typeface="Cambria Math" panose="02040503050406030204" pitchFamily="18" charset="0"/>
                          </a:rPr>
                          <m:t>−7</m:t>
                        </m:r>
                      </m:e>
                    </m:d>
                    <m:r>
                      <a:rPr lang="en-GB" sz="1200" b="0" i="1" noProof="0" smtClean="0">
                        <a:latin typeface="Cambria Math" panose="02040503050406030204" pitchFamily="18" charset="0"/>
                      </a:rPr>
                      <m:t>=</m:t>
                    </m:r>
                  </m:oMath>
                </a14:m>
                <a:endParaRPr lang="en-GB" sz="1200" noProof="0" dirty="0"/>
              </a:p>
            </p:txBody>
          </p:sp>
        </mc:Choice>
        <mc:Fallback xmlns="">
          <p:sp>
            <p:nvSpPr>
              <p:cNvPr id="46" name="TextBox 45">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443692" y="633979"/>
                <a:ext cx="2155809" cy="1938992"/>
              </a:xfrm>
              <a:prstGeom prst="rect">
                <a:avLst/>
              </a:prstGeom>
              <a:blipFill>
                <a:blip r:embed="rId3"/>
                <a:stretch>
                  <a:fillRect l="-2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80CA423-62E4-4D9E-A61F-19419774D88E}"/>
                  </a:ext>
                </a:extLst>
              </p:cNvPr>
              <p:cNvSpPr txBox="1"/>
              <p:nvPr/>
            </p:nvSpPr>
            <p:spPr>
              <a:xfrm>
                <a:off x="4656347" y="633979"/>
                <a:ext cx="2155809" cy="249299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−2</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(8)</m:t>
                    </m:r>
                  </m:oMath>
                </a14:m>
                <a:endParaRPr lang="en-GB" sz="1200" noProof="0" dirty="0"/>
              </a:p>
              <a:p>
                <a:endParaRPr lang="en-GB" sz="1200" noProof="0" dirty="0"/>
              </a:p>
              <a:p>
                <a:endParaRPr lang="en-GB" sz="1200" noProof="0" dirty="0"/>
              </a:p>
              <a:p>
                <a:endParaRPr lang="en-GB" sz="1200" noProof="0" dirty="0"/>
              </a:p>
              <a:p>
                <a:endParaRPr lang="en-GB" sz="1200" noProof="0" dirty="0"/>
              </a:p>
              <a:p>
                <a:r>
                  <a:rPr lang="en-GB" sz="1200" noProof="0" dirty="0"/>
                  <a:t> </a:t>
                </a:r>
                <a14:m>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b="0" i="1" noProof="0" smtClean="0">
                            <a:latin typeface="Cambria Math" panose="02040503050406030204" pitchFamily="18" charset="0"/>
                          </a:rPr>
                          <m:t>8</m:t>
                        </m:r>
                      </m:e>
                    </m:d>
                    <m:r>
                      <a:rPr lang="en-GB" sz="1200" i="1" noProof="0" smtClean="0">
                        <a:latin typeface="Cambria Math" panose="02040503050406030204" pitchFamily="18" charset="0"/>
                      </a:rPr>
                      <m:t>=</m:t>
                    </m:r>
                  </m:oMath>
                </a14:m>
                <a:endParaRPr lang="en-GB" sz="1200" noProof="0" dirty="0"/>
              </a:p>
              <a:p>
                <a:endParaRPr lang="en-GB" sz="1200" noProof="0" dirty="0"/>
              </a:p>
              <a:p>
                <a:endParaRPr lang="en-GB" sz="1200" noProof="0" dirty="0"/>
              </a:p>
              <a:p>
                <a:endParaRPr lang="en-GB" sz="1200" noProof="0" dirty="0"/>
              </a:p>
            </p:txBody>
          </p:sp>
        </mc:Choice>
        <mc:Fallback xmlns="">
          <p:sp>
            <p:nvSpPr>
              <p:cNvPr id="47" name="TextBox 46">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656347" y="633979"/>
                <a:ext cx="2155809" cy="2492990"/>
              </a:xfrm>
              <a:prstGeom prst="rect">
                <a:avLst/>
              </a:prstGeom>
              <a:blipFill>
                <a:blip r:embed="rId4"/>
                <a:stretch>
                  <a:fillRect/>
                </a:stretch>
              </a:blipFill>
            </p:spPr>
            <p:txBody>
              <a:bodyPr/>
              <a:lstStyle/>
              <a:p>
                <a:r>
                  <a:rPr lang="en-US">
                    <a:noFill/>
                  </a:rPr>
                  <a:t> </a:t>
                </a:r>
              </a:p>
            </p:txBody>
          </p:sp>
        </mc:Fallback>
      </mc:AlternateContent>
      <p:sp>
        <p:nvSpPr>
          <p:cNvPr id="48" name="Rectangle 47">
            <a:extLst>
              <a:ext uri="{FF2B5EF4-FFF2-40B4-BE49-F238E27FC236}">
                <a16:creationId xmlns:a16="http://schemas.microsoft.com/office/drawing/2014/main" id="{633BAC49-01FC-4129-977D-EFE27505AFDD}"/>
              </a:ext>
            </a:extLst>
          </p:cNvPr>
          <p:cNvSpPr/>
          <p:nvPr/>
        </p:nvSpPr>
        <p:spPr>
          <a:xfrm>
            <a:off x="3145518" y="2263847"/>
            <a:ext cx="1152641" cy="40676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49" name="Rectangle 48">
            <a:extLst>
              <a:ext uri="{FF2B5EF4-FFF2-40B4-BE49-F238E27FC236}">
                <a16:creationId xmlns:a16="http://schemas.microsoft.com/office/drawing/2014/main" id="{633BAC49-01FC-4129-977D-EFE27505AFDD}"/>
              </a:ext>
            </a:extLst>
          </p:cNvPr>
          <p:cNvSpPr/>
          <p:nvPr/>
        </p:nvSpPr>
        <p:spPr>
          <a:xfrm>
            <a:off x="3145518" y="2708656"/>
            <a:ext cx="1152641" cy="40676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50" name="Rectangle 49">
            <a:extLst>
              <a:ext uri="{FF2B5EF4-FFF2-40B4-BE49-F238E27FC236}">
                <a16:creationId xmlns:a16="http://schemas.microsoft.com/office/drawing/2014/main" id="{633BAC49-01FC-4129-977D-EFE27505AFDD}"/>
              </a:ext>
            </a:extLst>
          </p:cNvPr>
          <p:cNvSpPr/>
          <p:nvPr/>
        </p:nvSpPr>
        <p:spPr>
          <a:xfrm>
            <a:off x="5406364" y="2188068"/>
            <a:ext cx="1152641" cy="40676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51" name="Rectangle 50">
            <a:extLst>
              <a:ext uri="{FF2B5EF4-FFF2-40B4-BE49-F238E27FC236}">
                <a16:creationId xmlns:a16="http://schemas.microsoft.com/office/drawing/2014/main" id="{633BAC49-01FC-4129-977D-EFE27505AFDD}"/>
              </a:ext>
            </a:extLst>
          </p:cNvPr>
          <p:cNvSpPr/>
          <p:nvPr/>
        </p:nvSpPr>
        <p:spPr>
          <a:xfrm>
            <a:off x="5406364" y="2632877"/>
            <a:ext cx="1152641" cy="406769"/>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54" name="Rectangle 53"/>
              <p:cNvSpPr/>
              <p:nvPr/>
            </p:nvSpPr>
            <p:spPr>
              <a:xfrm>
                <a:off x="52861" y="3425523"/>
                <a:ext cx="2974819" cy="3633174"/>
              </a:xfrm>
              <a:prstGeom prst="rect">
                <a:avLst/>
              </a:prstGeom>
            </p:spPr>
            <p:txBody>
              <a:bodyPr wrap="square">
                <a:spAutoFit/>
              </a:bodyPr>
              <a:lstStyle/>
              <a:p>
                <a:r>
                  <a:rPr lang="en-GB" sz="1200" b="1" noProof="0" dirty="0">
                    <a:latin typeface="Calibri" panose="020F0502020204030204" pitchFamily="34" charset="0"/>
                    <a:cs typeface="Calibri" panose="020F0502020204030204" pitchFamily="34" charset="0"/>
                  </a:rPr>
                  <a:t>1.      </a:t>
                </a:r>
                <a:r>
                  <a:rPr lang="en-GB" sz="1200" noProof="0" dirty="0">
                    <a:latin typeface="Calibri" panose="020F0502020204030204" pitchFamily="34" charset="0"/>
                    <a:cs typeface="Calibri" panose="020F0502020204030204" pitchFamily="34" charset="0"/>
                  </a:rPr>
                  <a:t>f(</a:t>
                </a:r>
                <a:r>
                  <a:rPr lang="en-GB" sz="1200" i="1" noProof="0" dirty="0">
                    <a:latin typeface="Calibri" panose="020F0502020204030204" pitchFamily="34" charset="0"/>
                    <a:cs typeface="Calibri" panose="020F0502020204030204" pitchFamily="34" charset="0"/>
                  </a:rPr>
                  <a:t>x</a:t>
                </a:r>
                <a:r>
                  <a:rPr lang="en-GB" sz="1200" noProof="0" dirty="0">
                    <a:latin typeface="Calibri" panose="020F0502020204030204" pitchFamily="34" charset="0"/>
                    <a:cs typeface="Calibri" panose="020F0502020204030204" pitchFamily="34" charset="0"/>
                  </a:rPr>
                  <a:t>) = 2</a:t>
                </a:r>
                <a:r>
                  <a:rPr lang="en-GB" sz="1200" i="1" noProof="0" dirty="0">
                    <a:latin typeface="Calibri" panose="020F0502020204030204" pitchFamily="34" charset="0"/>
                    <a:cs typeface="Calibri" panose="020F0502020204030204" pitchFamily="34" charset="0"/>
                  </a:rPr>
                  <a:t>x</a:t>
                </a:r>
                <a:r>
                  <a:rPr lang="en-GB" sz="1200" baseline="30000" noProof="0" dirty="0">
                    <a:latin typeface="Calibri" panose="020F0502020204030204" pitchFamily="34" charset="0"/>
                    <a:cs typeface="Calibri" panose="020F0502020204030204" pitchFamily="34" charset="0"/>
                  </a:rPr>
                  <a:t>2</a:t>
                </a:r>
                <a:r>
                  <a:rPr lang="en-GB" sz="1200" noProof="0" dirty="0">
                    <a:latin typeface="Calibri" panose="020F0502020204030204" pitchFamily="34" charset="0"/>
                    <a:cs typeface="Calibri" panose="020F0502020204030204" pitchFamily="34" charset="0"/>
                  </a:rPr>
                  <a:t> + 7 Find the value of each of these</a:t>
                </a:r>
              </a:p>
              <a:p>
                <a:pPr marL="228600" indent="-228600">
                  <a:buAutoNum type="arabicPeriod"/>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3</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11</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−2</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30</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−30</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ad>
                          <m:radPr>
                            <m:degHide m:val="on"/>
                            <m:ctrlPr>
                              <a:rPr lang="en-GB" sz="1200" b="0" i="1" noProof="0" smtClean="0">
                                <a:latin typeface="Cambria Math" panose="02040503050406030204" pitchFamily="18" charset="0"/>
                                <a:ea typeface="Cambria Math" panose="02040503050406030204" pitchFamily="18" charset="0"/>
                                <a:cs typeface="Calibri" panose="020F0502020204030204" pitchFamily="34" charset="0"/>
                              </a:rPr>
                            </m:ctrlPr>
                          </m:radPr>
                          <m:deg/>
                          <m:e>
                            <m:r>
                              <a:rPr lang="en-GB" sz="1200" b="0" i="1" noProof="0" smtClean="0">
                                <a:latin typeface="Cambria Math" panose="02040503050406030204" pitchFamily="18" charset="0"/>
                                <a:ea typeface="Cambria Math" panose="02040503050406030204" pitchFamily="18" charset="0"/>
                                <a:cs typeface="Calibri" panose="020F0502020204030204" pitchFamily="34" charset="0"/>
                              </a:rPr>
                              <m:t>3</m:t>
                            </m:r>
                          </m:e>
                        </m:rad>
                      </m:e>
                    </m:d>
                  </m:oMath>
                </a14:m>
                <a:endParaRPr lang="en-GB" sz="1200" noProof="0" dirty="0">
                  <a:latin typeface="Calibri" panose="020F0502020204030204" pitchFamily="34" charset="0"/>
                  <a:cs typeface="Calibri" panose="020F0502020204030204" pitchFamily="34" charset="0"/>
                </a:endParaRPr>
              </a:p>
            </p:txBody>
          </p:sp>
        </mc:Choice>
        <mc:Fallback xmlns="">
          <p:sp>
            <p:nvSpPr>
              <p:cNvPr id="54" name="Rectangle 53"/>
              <p:cNvSpPr>
                <a:spLocks noRot="1" noChangeAspect="1" noMove="1" noResize="1" noEditPoints="1" noAdjustHandles="1" noChangeArrowheads="1" noChangeShapeType="1" noTextEdit="1"/>
              </p:cNvSpPr>
              <p:nvPr/>
            </p:nvSpPr>
            <p:spPr>
              <a:xfrm>
                <a:off x="52861" y="3425523"/>
                <a:ext cx="2974819" cy="3633174"/>
              </a:xfrm>
              <a:prstGeom prst="rect">
                <a:avLst/>
              </a:prstGeom>
              <a:blipFill>
                <a:blip r:embed="rId5"/>
                <a:stretch>
                  <a:fillRect l="-205" t="-168" r="-6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p:cNvSpPr/>
              <p:nvPr/>
            </p:nvSpPr>
            <p:spPr>
              <a:xfrm>
                <a:off x="3520710" y="3425523"/>
                <a:ext cx="2974819" cy="3673954"/>
              </a:xfrm>
              <a:prstGeom prst="rect">
                <a:avLst/>
              </a:prstGeom>
            </p:spPr>
            <p:txBody>
              <a:bodyPr wrap="square">
                <a:spAutoFit/>
              </a:bodyPr>
              <a:lstStyle/>
              <a:p>
                <a:r>
                  <a:rPr lang="en-GB" sz="1200" b="1" noProof="0" dirty="0">
                    <a:latin typeface="Calibri" panose="020F0502020204030204" pitchFamily="34" charset="0"/>
                    <a:cs typeface="Calibri" panose="020F0502020204030204" pitchFamily="34" charset="0"/>
                  </a:rPr>
                  <a:t>2.     </a:t>
                </a:r>
                <a:r>
                  <a:rPr lang="en-GB" sz="1200" noProof="0" dirty="0">
                    <a:latin typeface="Calibri" panose="020F0502020204030204" pitchFamily="34" charset="0"/>
                    <a:cs typeface="Calibri" panose="020F0502020204030204" pitchFamily="34" charset="0"/>
                  </a:rPr>
                  <a:t>g(</a:t>
                </a:r>
                <a:r>
                  <a:rPr lang="en-GB" sz="1200" i="1" noProof="0" dirty="0">
                    <a:latin typeface="Calibri" panose="020F0502020204030204" pitchFamily="34" charset="0"/>
                    <a:cs typeface="Calibri" panose="020F0502020204030204" pitchFamily="34" charset="0"/>
                  </a:rPr>
                  <a:t>x</a:t>
                </a:r>
                <a:r>
                  <a:rPr lang="en-GB" sz="1200" noProof="0" dirty="0">
                    <a:latin typeface="Calibri" panose="020F0502020204030204" pitchFamily="34" charset="0"/>
                    <a:cs typeface="Calibri" panose="020F0502020204030204" pitchFamily="34" charset="0"/>
                  </a:rPr>
                  <a:t>) = 25 - </a:t>
                </a:r>
                <a:r>
                  <a:rPr lang="en-GB" sz="1200" i="1" noProof="0" dirty="0">
                    <a:latin typeface="Calibri" panose="020F0502020204030204" pitchFamily="34" charset="0"/>
                    <a:cs typeface="Calibri" panose="020F0502020204030204" pitchFamily="34" charset="0"/>
                  </a:rPr>
                  <a:t>x</a:t>
                </a:r>
                <a:r>
                  <a:rPr lang="en-GB" sz="1200" baseline="30000" noProof="0" dirty="0">
                    <a:latin typeface="Calibri" panose="020F0502020204030204" pitchFamily="34" charset="0"/>
                    <a:cs typeface="Calibri" panose="020F0502020204030204" pitchFamily="34" charset="0"/>
                  </a:rPr>
                  <a:t>2</a:t>
                </a:r>
                <a:r>
                  <a:rPr lang="en-GB" sz="1200" noProof="0" dirty="0">
                    <a:latin typeface="Calibri" panose="020F0502020204030204" pitchFamily="34" charset="0"/>
                    <a:cs typeface="Calibri" panose="020F0502020204030204" pitchFamily="34" charset="0"/>
                  </a:rPr>
                  <a:t>  Find the value of each of these</a:t>
                </a:r>
              </a:p>
              <a:p>
                <a:pPr marL="228600" indent="-228600">
                  <a:buAutoNum type="arabicPeriod"/>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4</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−8</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9</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−9</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ad>
                          <m:radPr>
                            <m:degHide m:val="on"/>
                            <m:ctrlPr>
                              <a:rPr lang="en-GB" sz="1200" b="0" i="1" noProof="0" smtClean="0">
                                <a:latin typeface="Cambria Math" panose="02040503050406030204" pitchFamily="18" charset="0"/>
                                <a:ea typeface="Cambria Math" panose="02040503050406030204" pitchFamily="18" charset="0"/>
                                <a:cs typeface="Calibri" panose="020F0502020204030204" pitchFamily="34" charset="0"/>
                              </a:rPr>
                            </m:ctrlPr>
                          </m:radPr>
                          <m:deg/>
                          <m:e>
                            <m:r>
                              <a:rPr lang="en-GB" sz="1200" b="0" i="1" noProof="0" smtClean="0">
                                <a:latin typeface="Cambria Math" panose="02040503050406030204" pitchFamily="18" charset="0"/>
                                <a:ea typeface="Cambria Math" panose="02040503050406030204" pitchFamily="18" charset="0"/>
                                <a:cs typeface="Calibri" panose="020F0502020204030204" pitchFamily="34" charset="0"/>
                              </a:rPr>
                              <m:t>13</m:t>
                            </m:r>
                          </m:e>
                        </m:rad>
                      </m:e>
                    </m:d>
                    <m:r>
                      <a:rPr lang="en-GB" sz="1200" b="0" i="1" noProof="0" smtClean="0">
                        <a:latin typeface="Cambria Math" panose="02040503050406030204" pitchFamily="18" charset="0"/>
                        <a:cs typeface="Calibri" panose="020F0502020204030204" pitchFamily="34" charset="0"/>
                      </a:rPr>
                      <m:t> </m:t>
                    </m:r>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ea typeface="Cambria Math" panose="02040503050406030204" pitchFamily="18" charset="0"/>
                            <a:cs typeface="Calibri" panose="020F0502020204030204" pitchFamily="34" charset="0"/>
                          </a:rPr>
                          <m:t>−0.4</m:t>
                        </m:r>
                      </m:e>
                    </m:d>
                  </m:oMath>
                </a14:m>
                <a:endParaRPr lang="en-GB" sz="1200" noProof="0" dirty="0">
                  <a:latin typeface="Calibri" panose="020F0502020204030204" pitchFamily="34" charset="0"/>
                  <a:cs typeface="Calibri" panose="020F0502020204030204" pitchFamily="34" charset="0"/>
                </a:endParaRPr>
              </a:p>
            </p:txBody>
          </p:sp>
        </mc:Choice>
        <mc:Fallback xmlns="">
          <p:sp>
            <p:nvSpPr>
              <p:cNvPr id="60" name="Rectangle 59"/>
              <p:cNvSpPr>
                <a:spLocks noRot="1" noChangeAspect="1" noMove="1" noResize="1" noEditPoints="1" noAdjustHandles="1" noChangeArrowheads="1" noChangeShapeType="1" noTextEdit="1"/>
              </p:cNvSpPr>
              <p:nvPr/>
            </p:nvSpPr>
            <p:spPr>
              <a:xfrm>
                <a:off x="3520710" y="3425523"/>
                <a:ext cx="2974819" cy="3673954"/>
              </a:xfrm>
              <a:prstGeom prst="rect">
                <a:avLst/>
              </a:prstGeom>
              <a:blipFill>
                <a:blip r:embed="rId6"/>
                <a:stretch>
                  <a:fillRect l="-205" t="-166" r="-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p:cNvSpPr/>
              <p:nvPr/>
            </p:nvSpPr>
            <p:spPr>
              <a:xfrm>
                <a:off x="52861" y="7640637"/>
                <a:ext cx="2974819" cy="1961563"/>
              </a:xfrm>
              <a:prstGeom prst="rect">
                <a:avLst/>
              </a:prstGeom>
            </p:spPr>
            <p:txBody>
              <a:bodyPr wrap="square">
                <a:spAutoFit/>
              </a:bodyPr>
              <a:lstStyle/>
              <a:p>
                <a:r>
                  <a:rPr lang="en-GB" sz="1200" b="1" noProof="0" dirty="0">
                    <a:latin typeface="Calibri" panose="020F0502020204030204" pitchFamily="34" charset="0"/>
                    <a:cs typeface="Calibri" panose="020F0502020204030204" pitchFamily="34" charset="0"/>
                  </a:rPr>
                  <a:t>3.     </a:t>
                </a:r>
                <a:r>
                  <a:rPr lang="en-GB" sz="1200" noProof="0" dirty="0">
                    <a:latin typeface="Calibri" panose="020F0502020204030204" pitchFamily="34" charset="0"/>
                    <a:cs typeface="Calibri" panose="020F0502020204030204" pitchFamily="34" charset="0"/>
                  </a:rPr>
                  <a:t>f(</a:t>
                </a:r>
                <a:r>
                  <a:rPr lang="en-GB" sz="1200" i="1" noProof="0" dirty="0">
                    <a:latin typeface="Calibri" panose="020F0502020204030204" pitchFamily="34" charset="0"/>
                    <a:cs typeface="Calibri" panose="020F0502020204030204" pitchFamily="34" charset="0"/>
                  </a:rPr>
                  <a:t>x</a:t>
                </a:r>
                <a:r>
                  <a:rPr lang="en-GB" sz="1200" noProof="0" dirty="0">
                    <a:latin typeface="Calibri" panose="020F0502020204030204" pitchFamily="34" charset="0"/>
                    <a:cs typeface="Calibri" panose="020F0502020204030204" pitchFamily="34" charset="0"/>
                  </a:rPr>
                  <a:t>) = </a:t>
                </a:r>
                <a14:m>
                  <m:oMath xmlns:m="http://schemas.openxmlformats.org/officeDocument/2006/math">
                    <m:r>
                      <a:rPr lang="en-GB" sz="1200" i="1"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𝑥</m:t>
                    </m:r>
                    <m:r>
                      <a:rPr lang="en-GB" sz="1200" i="1" baseline="300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 +3</m:t>
                    </m:r>
                    <m:r>
                      <a:rPr lang="en-GB" sz="1200" i="1" noProof="0" smtClean="0">
                        <a:latin typeface="Cambria Math" panose="02040503050406030204" pitchFamily="18" charset="0"/>
                        <a:cs typeface="Calibri" panose="020F0502020204030204" pitchFamily="34" charset="0"/>
                      </a:rPr>
                      <m:t>𝑥</m:t>
                    </m:r>
                  </m:oMath>
                </a14:m>
                <a:r>
                  <a:rPr lang="en-GB" sz="1200" noProof="0" dirty="0">
                    <a:latin typeface="Calibri" panose="020F0502020204030204" pitchFamily="34" charset="0"/>
                    <a:cs typeface="Calibri" panose="020F0502020204030204" pitchFamily="34" charset="0"/>
                  </a:rPr>
                  <a:t> Find the value of each of these</a:t>
                </a:r>
              </a:p>
              <a:p>
                <a:pPr marL="228600" indent="-228600">
                  <a:buAutoNum type="arabicPeriod"/>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−6</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𝑓</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4</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p:txBody>
          </p:sp>
        </mc:Choice>
        <mc:Fallback xmlns="">
          <p:sp>
            <p:nvSpPr>
              <p:cNvPr id="61" name="Rectangle 60"/>
              <p:cNvSpPr>
                <a:spLocks noRot="1" noChangeAspect="1" noMove="1" noResize="1" noEditPoints="1" noAdjustHandles="1" noChangeArrowheads="1" noChangeShapeType="1" noTextEdit="1"/>
              </p:cNvSpPr>
              <p:nvPr/>
            </p:nvSpPr>
            <p:spPr>
              <a:xfrm>
                <a:off x="52861" y="7640637"/>
                <a:ext cx="2974819" cy="1961563"/>
              </a:xfrm>
              <a:prstGeom prst="rect">
                <a:avLst/>
              </a:prstGeom>
              <a:blipFill>
                <a:blip r:embed="rId7"/>
                <a:stretch>
                  <a:fillRect l="-205" r="-2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p:cNvSpPr/>
              <p:nvPr/>
            </p:nvSpPr>
            <p:spPr>
              <a:xfrm>
                <a:off x="3411449" y="7659881"/>
                <a:ext cx="2974819" cy="1961563"/>
              </a:xfrm>
              <a:prstGeom prst="rect">
                <a:avLst/>
              </a:prstGeom>
            </p:spPr>
            <p:txBody>
              <a:bodyPr wrap="square">
                <a:spAutoFit/>
              </a:bodyPr>
              <a:lstStyle/>
              <a:p>
                <a:r>
                  <a:rPr lang="en-GB" sz="1200" b="1" noProof="0" dirty="0">
                    <a:latin typeface="Calibri" panose="020F0502020204030204" pitchFamily="34" charset="0"/>
                    <a:cs typeface="Calibri" panose="020F0502020204030204" pitchFamily="34" charset="0"/>
                  </a:rPr>
                  <a:t>4.     </a:t>
                </a:r>
                <a:r>
                  <a:rPr lang="en-GB" sz="1200" noProof="0" dirty="0">
                    <a:latin typeface="Calibri" panose="020F0502020204030204" pitchFamily="34" charset="0"/>
                    <a:cs typeface="Calibri" panose="020F0502020204030204" pitchFamily="34" charset="0"/>
                  </a:rPr>
                  <a:t>g(</a:t>
                </a:r>
                <a:r>
                  <a:rPr lang="en-GB" sz="1200" i="1" noProof="0" dirty="0">
                    <a:latin typeface="Calibri" panose="020F0502020204030204" pitchFamily="34" charset="0"/>
                    <a:cs typeface="Calibri" panose="020F0502020204030204" pitchFamily="34" charset="0"/>
                  </a:rPr>
                  <a:t>x</a:t>
                </a:r>
                <a:r>
                  <a:rPr lang="en-GB" sz="1200" noProof="0" dirty="0">
                    <a:latin typeface="Calibri" panose="020F0502020204030204" pitchFamily="34" charset="0"/>
                    <a:cs typeface="Calibri" panose="020F0502020204030204" pitchFamily="34" charset="0"/>
                  </a:rPr>
                  <a:t>) = </a:t>
                </a:r>
                <a14:m>
                  <m:oMath xmlns:m="http://schemas.openxmlformats.org/officeDocument/2006/math">
                    <m:r>
                      <a:rPr lang="en-GB" sz="1200" i="1" noProof="0" smtClean="0">
                        <a:latin typeface="Cambria Math" panose="02040503050406030204" pitchFamily="18" charset="0"/>
                        <a:cs typeface="Calibri" panose="020F0502020204030204" pitchFamily="34" charset="0"/>
                      </a:rPr>
                      <m:t>𝑥</m:t>
                    </m:r>
                    <m:r>
                      <a:rPr lang="en-GB" sz="1200" i="1" baseline="30000" noProof="0" smtClean="0">
                        <a:latin typeface="Cambria Math" panose="02040503050406030204" pitchFamily="18" charset="0"/>
                        <a:cs typeface="Calibri" panose="020F0502020204030204" pitchFamily="34" charset="0"/>
                      </a:rPr>
                      <m:t>2</m:t>
                    </m:r>
                    <m:r>
                      <a:rPr lang="en-GB" sz="1200" i="1" noProof="0" smtClean="0">
                        <a:latin typeface="Cambria Math" panose="02040503050406030204" pitchFamily="18" charset="0"/>
                        <a:cs typeface="Calibri" panose="020F0502020204030204" pitchFamily="34" charset="0"/>
                      </a:rPr>
                      <m:t> +3</m:t>
                    </m:r>
                    <m:r>
                      <a:rPr lang="en-GB" sz="1200" i="1" noProof="0" smtClean="0">
                        <a:latin typeface="Cambria Math" panose="02040503050406030204" pitchFamily="18" charset="0"/>
                        <a:cs typeface="Calibri" panose="020F0502020204030204" pitchFamily="34" charset="0"/>
                      </a:rPr>
                      <m:t>𝑥</m:t>
                    </m:r>
                    <m:r>
                      <a:rPr lang="en-GB" sz="1200" i="1" noProof="0" smtClean="0">
                        <a:latin typeface="Cambria Math" panose="02040503050406030204" pitchFamily="18" charset="0"/>
                        <a:cs typeface="Calibri" panose="020F0502020204030204" pitchFamily="34" charset="0"/>
                      </a:rPr>
                      <m:t>−7</m:t>
                    </m:r>
                  </m:oMath>
                </a14:m>
                <a:r>
                  <a:rPr lang="en-GB" sz="1200" noProof="0" dirty="0">
                    <a:latin typeface="Calibri" panose="020F0502020204030204" pitchFamily="34" charset="0"/>
                    <a:cs typeface="Calibri" panose="020F0502020204030204" pitchFamily="34" charset="0"/>
                  </a:rPr>
                  <a:t> Find the value of each of these</a:t>
                </a:r>
              </a:p>
              <a:p>
                <a:pPr marL="228600" indent="-228600">
                  <a:buAutoNum type="arabicPeriod"/>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3</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14:m>
                  <m:oMath xmlns:m="http://schemas.openxmlformats.org/officeDocument/2006/math">
                    <m:r>
                      <a:rPr lang="en-GB" sz="1200" b="0" i="1" noProof="0" smtClean="0">
                        <a:latin typeface="Cambria Math" panose="02040503050406030204" pitchFamily="18" charset="0"/>
                        <a:cs typeface="Calibri" panose="020F0502020204030204" pitchFamily="34" charset="0"/>
                      </a:rPr>
                      <m:t>𝑔</m:t>
                    </m:r>
                    <m:d>
                      <m:dPr>
                        <m:ctrlPr>
                          <a:rPr lang="en-GB" sz="1200" b="0" i="1" noProof="0" smtClean="0">
                            <a:latin typeface="Cambria Math" panose="02040503050406030204" pitchFamily="18" charset="0"/>
                            <a:cs typeface="Calibri" panose="020F0502020204030204" pitchFamily="34" charset="0"/>
                          </a:rPr>
                        </m:ctrlPr>
                      </m:dPr>
                      <m:e>
                        <m:r>
                          <a:rPr lang="en-GB" sz="1200" b="0" i="1" noProof="0" smtClean="0">
                            <a:latin typeface="Cambria Math" panose="02040503050406030204" pitchFamily="18" charset="0"/>
                            <a:cs typeface="Calibri" panose="020F0502020204030204" pitchFamily="34" charset="0"/>
                          </a:rPr>
                          <m:t>−4</m:t>
                        </m:r>
                      </m:e>
                    </m:d>
                  </m:oMath>
                </a14:m>
                <a:endParaRPr lang="en-GB" sz="1200" b="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a:p>
                <a:pPr marL="228600" indent="-228600">
                  <a:buAutoNum type="alphaLcParenR"/>
                </a:pPr>
                <a:endParaRPr lang="en-GB" sz="1200" noProof="0" dirty="0">
                  <a:latin typeface="Calibri" panose="020F0502020204030204" pitchFamily="34" charset="0"/>
                  <a:cs typeface="Calibri" panose="020F0502020204030204" pitchFamily="34" charset="0"/>
                </a:endParaRPr>
              </a:p>
            </p:txBody>
          </p:sp>
        </mc:Choice>
        <mc:Fallback xmlns="">
          <p:sp>
            <p:nvSpPr>
              <p:cNvPr id="62" name="Rectangle 61"/>
              <p:cNvSpPr>
                <a:spLocks noRot="1" noChangeAspect="1" noMove="1" noResize="1" noEditPoints="1" noAdjustHandles="1" noChangeArrowheads="1" noChangeShapeType="1" noTextEdit="1"/>
              </p:cNvSpPr>
              <p:nvPr/>
            </p:nvSpPr>
            <p:spPr>
              <a:xfrm>
                <a:off x="3411449" y="7659881"/>
                <a:ext cx="2974819" cy="1961563"/>
              </a:xfrm>
              <a:prstGeom prst="rect">
                <a:avLst/>
              </a:prstGeom>
              <a:blipFill>
                <a:blip r:embed="rId8"/>
                <a:stretch>
                  <a:fillRect l="-205" t="-312"/>
                </a:stretch>
              </a:blipFill>
            </p:spPr>
            <p:txBody>
              <a:bodyPr/>
              <a:lstStyle/>
              <a:p>
                <a:r>
                  <a:rPr lang="en-US">
                    <a:noFill/>
                  </a:rPr>
                  <a:t> </a:t>
                </a:r>
              </a:p>
            </p:txBody>
          </p:sp>
        </mc:Fallback>
      </mc:AlternateContent>
      <p:sp>
        <p:nvSpPr>
          <p:cNvPr id="63" name="Rectangle 62">
            <a:extLst>
              <a:ext uri="{FF2B5EF4-FFF2-40B4-BE49-F238E27FC236}">
                <a16:creationId xmlns:a16="http://schemas.microsoft.com/office/drawing/2014/main" id="{633BAC49-01FC-4129-977D-EFE27505AFDD}"/>
              </a:ext>
            </a:extLst>
          </p:cNvPr>
          <p:cNvSpPr/>
          <p:nvPr/>
        </p:nvSpPr>
        <p:spPr>
          <a:xfrm>
            <a:off x="880827" y="4040218"/>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64" name="Rectangle 63">
            <a:extLst>
              <a:ext uri="{FF2B5EF4-FFF2-40B4-BE49-F238E27FC236}">
                <a16:creationId xmlns:a16="http://schemas.microsoft.com/office/drawing/2014/main" id="{633BAC49-01FC-4129-977D-EFE27505AFDD}"/>
              </a:ext>
            </a:extLst>
          </p:cNvPr>
          <p:cNvSpPr/>
          <p:nvPr/>
        </p:nvSpPr>
        <p:spPr>
          <a:xfrm>
            <a:off x="880827" y="4546759"/>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67" name="Rectangle 66">
            <a:extLst>
              <a:ext uri="{FF2B5EF4-FFF2-40B4-BE49-F238E27FC236}">
                <a16:creationId xmlns:a16="http://schemas.microsoft.com/office/drawing/2014/main" id="{633BAC49-01FC-4129-977D-EFE27505AFDD}"/>
              </a:ext>
            </a:extLst>
          </p:cNvPr>
          <p:cNvSpPr/>
          <p:nvPr/>
        </p:nvSpPr>
        <p:spPr>
          <a:xfrm>
            <a:off x="880827" y="5105171"/>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68" name="Rectangle 67">
            <a:extLst>
              <a:ext uri="{FF2B5EF4-FFF2-40B4-BE49-F238E27FC236}">
                <a16:creationId xmlns:a16="http://schemas.microsoft.com/office/drawing/2014/main" id="{633BAC49-01FC-4129-977D-EFE27505AFDD}"/>
              </a:ext>
            </a:extLst>
          </p:cNvPr>
          <p:cNvSpPr/>
          <p:nvPr/>
        </p:nvSpPr>
        <p:spPr>
          <a:xfrm>
            <a:off x="880827" y="5611712"/>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69" name="Rectangle 68">
            <a:extLst>
              <a:ext uri="{FF2B5EF4-FFF2-40B4-BE49-F238E27FC236}">
                <a16:creationId xmlns:a16="http://schemas.microsoft.com/office/drawing/2014/main" id="{633BAC49-01FC-4129-977D-EFE27505AFDD}"/>
              </a:ext>
            </a:extLst>
          </p:cNvPr>
          <p:cNvSpPr/>
          <p:nvPr/>
        </p:nvSpPr>
        <p:spPr>
          <a:xfrm>
            <a:off x="880827" y="6162558"/>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0" name="Rectangle 69">
            <a:extLst>
              <a:ext uri="{FF2B5EF4-FFF2-40B4-BE49-F238E27FC236}">
                <a16:creationId xmlns:a16="http://schemas.microsoft.com/office/drawing/2014/main" id="{633BAC49-01FC-4129-977D-EFE27505AFDD}"/>
              </a:ext>
            </a:extLst>
          </p:cNvPr>
          <p:cNvSpPr/>
          <p:nvPr/>
        </p:nvSpPr>
        <p:spPr>
          <a:xfrm>
            <a:off x="880827" y="6669099"/>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1" name="Rectangle 70">
            <a:extLst>
              <a:ext uri="{FF2B5EF4-FFF2-40B4-BE49-F238E27FC236}">
                <a16:creationId xmlns:a16="http://schemas.microsoft.com/office/drawing/2014/main" id="{633BAC49-01FC-4129-977D-EFE27505AFDD}"/>
              </a:ext>
            </a:extLst>
          </p:cNvPr>
          <p:cNvSpPr/>
          <p:nvPr/>
        </p:nvSpPr>
        <p:spPr>
          <a:xfrm>
            <a:off x="4417188" y="4031778"/>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2" name="Rectangle 71">
            <a:extLst>
              <a:ext uri="{FF2B5EF4-FFF2-40B4-BE49-F238E27FC236}">
                <a16:creationId xmlns:a16="http://schemas.microsoft.com/office/drawing/2014/main" id="{633BAC49-01FC-4129-977D-EFE27505AFDD}"/>
              </a:ext>
            </a:extLst>
          </p:cNvPr>
          <p:cNvSpPr/>
          <p:nvPr/>
        </p:nvSpPr>
        <p:spPr>
          <a:xfrm>
            <a:off x="4417188" y="4538319"/>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3" name="Rectangle 72">
            <a:extLst>
              <a:ext uri="{FF2B5EF4-FFF2-40B4-BE49-F238E27FC236}">
                <a16:creationId xmlns:a16="http://schemas.microsoft.com/office/drawing/2014/main" id="{633BAC49-01FC-4129-977D-EFE27505AFDD}"/>
              </a:ext>
            </a:extLst>
          </p:cNvPr>
          <p:cNvSpPr/>
          <p:nvPr/>
        </p:nvSpPr>
        <p:spPr>
          <a:xfrm>
            <a:off x="4417188" y="5096731"/>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4" name="Rectangle 73">
            <a:extLst>
              <a:ext uri="{FF2B5EF4-FFF2-40B4-BE49-F238E27FC236}">
                <a16:creationId xmlns:a16="http://schemas.microsoft.com/office/drawing/2014/main" id="{633BAC49-01FC-4129-977D-EFE27505AFDD}"/>
              </a:ext>
            </a:extLst>
          </p:cNvPr>
          <p:cNvSpPr/>
          <p:nvPr/>
        </p:nvSpPr>
        <p:spPr>
          <a:xfrm>
            <a:off x="4417188" y="5603272"/>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5" name="Rectangle 74">
            <a:extLst>
              <a:ext uri="{FF2B5EF4-FFF2-40B4-BE49-F238E27FC236}">
                <a16:creationId xmlns:a16="http://schemas.microsoft.com/office/drawing/2014/main" id="{633BAC49-01FC-4129-977D-EFE27505AFDD}"/>
              </a:ext>
            </a:extLst>
          </p:cNvPr>
          <p:cNvSpPr/>
          <p:nvPr/>
        </p:nvSpPr>
        <p:spPr>
          <a:xfrm>
            <a:off x="4417188" y="6154118"/>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6" name="Rectangle 75">
            <a:extLst>
              <a:ext uri="{FF2B5EF4-FFF2-40B4-BE49-F238E27FC236}">
                <a16:creationId xmlns:a16="http://schemas.microsoft.com/office/drawing/2014/main" id="{633BAC49-01FC-4129-977D-EFE27505AFDD}"/>
              </a:ext>
            </a:extLst>
          </p:cNvPr>
          <p:cNvSpPr/>
          <p:nvPr/>
        </p:nvSpPr>
        <p:spPr>
          <a:xfrm>
            <a:off x="4417188" y="6660659"/>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7" name="Rectangle 76">
            <a:extLst>
              <a:ext uri="{FF2B5EF4-FFF2-40B4-BE49-F238E27FC236}">
                <a16:creationId xmlns:a16="http://schemas.microsoft.com/office/drawing/2014/main" id="{633BAC49-01FC-4129-977D-EFE27505AFDD}"/>
              </a:ext>
            </a:extLst>
          </p:cNvPr>
          <p:cNvSpPr/>
          <p:nvPr/>
        </p:nvSpPr>
        <p:spPr>
          <a:xfrm>
            <a:off x="880827" y="8154294"/>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8" name="Rectangle 77">
            <a:extLst>
              <a:ext uri="{FF2B5EF4-FFF2-40B4-BE49-F238E27FC236}">
                <a16:creationId xmlns:a16="http://schemas.microsoft.com/office/drawing/2014/main" id="{633BAC49-01FC-4129-977D-EFE27505AFDD}"/>
              </a:ext>
            </a:extLst>
          </p:cNvPr>
          <p:cNvSpPr/>
          <p:nvPr/>
        </p:nvSpPr>
        <p:spPr>
          <a:xfrm>
            <a:off x="880827" y="8660835"/>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79" name="Rectangle 78">
            <a:extLst>
              <a:ext uri="{FF2B5EF4-FFF2-40B4-BE49-F238E27FC236}">
                <a16:creationId xmlns:a16="http://schemas.microsoft.com/office/drawing/2014/main" id="{633BAC49-01FC-4129-977D-EFE27505AFDD}"/>
              </a:ext>
            </a:extLst>
          </p:cNvPr>
          <p:cNvSpPr/>
          <p:nvPr/>
        </p:nvSpPr>
        <p:spPr>
          <a:xfrm>
            <a:off x="4367311" y="8154294"/>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80" name="Rectangle 79">
            <a:extLst>
              <a:ext uri="{FF2B5EF4-FFF2-40B4-BE49-F238E27FC236}">
                <a16:creationId xmlns:a16="http://schemas.microsoft.com/office/drawing/2014/main" id="{633BAC49-01FC-4129-977D-EFE27505AFDD}"/>
              </a:ext>
            </a:extLst>
          </p:cNvPr>
          <p:cNvSpPr/>
          <p:nvPr/>
        </p:nvSpPr>
        <p:spPr>
          <a:xfrm>
            <a:off x="4367311" y="8660835"/>
            <a:ext cx="2252553" cy="34580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85" name="Rectangle 84">
            <a:extLst>
              <a:ext uri="{FF2B5EF4-FFF2-40B4-BE49-F238E27FC236}">
                <a16:creationId xmlns:a16="http://schemas.microsoft.com/office/drawing/2014/main" id="{1A1DBEA9-D546-4594-90FE-D6EBF9792C2E}"/>
              </a:ext>
            </a:extLst>
          </p:cNvPr>
          <p:cNvSpPr/>
          <p:nvPr/>
        </p:nvSpPr>
        <p:spPr>
          <a:xfrm>
            <a:off x="55563" y="3441191"/>
            <a:ext cx="3321161" cy="37782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6" name="Rectangle 85">
            <a:extLst>
              <a:ext uri="{FF2B5EF4-FFF2-40B4-BE49-F238E27FC236}">
                <a16:creationId xmlns:a16="http://schemas.microsoft.com/office/drawing/2014/main" id="{1A1DBEA9-D546-4594-90FE-D6EBF9792C2E}"/>
              </a:ext>
            </a:extLst>
          </p:cNvPr>
          <p:cNvSpPr/>
          <p:nvPr/>
        </p:nvSpPr>
        <p:spPr>
          <a:xfrm>
            <a:off x="3452860" y="3441191"/>
            <a:ext cx="3321161" cy="37782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7" name="Rectangle 86">
            <a:extLst>
              <a:ext uri="{FF2B5EF4-FFF2-40B4-BE49-F238E27FC236}">
                <a16:creationId xmlns:a16="http://schemas.microsoft.com/office/drawing/2014/main" id="{1A1DBEA9-D546-4594-90FE-D6EBF9792C2E}"/>
              </a:ext>
            </a:extLst>
          </p:cNvPr>
          <p:cNvSpPr/>
          <p:nvPr/>
        </p:nvSpPr>
        <p:spPr>
          <a:xfrm>
            <a:off x="52861" y="7539929"/>
            <a:ext cx="3323863" cy="17381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8" name="Rectangle 87">
            <a:extLst>
              <a:ext uri="{FF2B5EF4-FFF2-40B4-BE49-F238E27FC236}">
                <a16:creationId xmlns:a16="http://schemas.microsoft.com/office/drawing/2014/main" id="{1A1DBEA9-D546-4594-90FE-D6EBF9792C2E}"/>
              </a:ext>
            </a:extLst>
          </p:cNvPr>
          <p:cNvSpPr/>
          <p:nvPr/>
        </p:nvSpPr>
        <p:spPr>
          <a:xfrm>
            <a:off x="3439536" y="7539929"/>
            <a:ext cx="3323863" cy="17381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Slide Number Placeholder 8"/>
          <p:cNvSpPr>
            <a:spLocks noGrp="1"/>
          </p:cNvSpPr>
          <p:nvPr>
            <p:ph type="sldNum" sz="quarter" idx="12"/>
          </p:nvPr>
        </p:nvSpPr>
        <p:spPr>
          <a:xfrm>
            <a:off x="5264020" y="9416827"/>
            <a:ext cx="1543050" cy="527403"/>
          </a:xfrm>
        </p:spPr>
        <p:txBody>
          <a:bodyPr/>
          <a:lstStyle/>
          <a:p>
            <a:fld id="{9BD3B4A0-BFF9-422C-B253-48BA94BE2F5B}" type="slidenum">
              <a:rPr lang="en-GB" noProof="0" smtClean="0"/>
              <a:t>39</a:t>
            </a:fld>
            <a:endParaRPr lang="en-GB" noProof="0" dirty="0"/>
          </a:p>
        </p:txBody>
      </p:sp>
      <p:sp>
        <p:nvSpPr>
          <p:cNvPr id="53" name="TextBox 52">
            <a:extLst>
              <a:ext uri="{FF2B5EF4-FFF2-40B4-BE49-F238E27FC236}">
                <a16:creationId xmlns:a16="http://schemas.microsoft.com/office/drawing/2014/main" id="{C3C65E48-8C3D-6849-AD77-7AD8678AD8DA}"/>
              </a:ext>
            </a:extLst>
          </p:cNvPr>
          <p:cNvSpPr txBox="1"/>
          <p:nvPr/>
        </p:nvSpPr>
        <p:spPr>
          <a:xfrm>
            <a:off x="52861" y="3206115"/>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10" name="TextBox 9">
            <a:extLst>
              <a:ext uri="{FF2B5EF4-FFF2-40B4-BE49-F238E27FC236}">
                <a16:creationId xmlns:a16="http://schemas.microsoft.com/office/drawing/2014/main" id="{BE7BF82F-A545-D87F-2A9F-B0D7B4A3EA85}"/>
              </a:ext>
            </a:extLst>
          </p:cNvPr>
          <p:cNvSpPr txBox="1"/>
          <p:nvPr/>
        </p:nvSpPr>
        <p:spPr>
          <a:xfrm>
            <a:off x="-21493" y="-17960"/>
            <a:ext cx="1904112" cy="276999"/>
          </a:xfrm>
          <a:prstGeom prst="rect">
            <a:avLst/>
          </a:prstGeom>
          <a:solidFill>
            <a:srgbClr val="0070C0"/>
          </a:solidFill>
        </p:spPr>
        <p:txBody>
          <a:bodyPr wrap="none" rtlCol="0" anchor="ctr">
            <a:spAutoFit/>
          </a:bodyPr>
          <a:lstStyle/>
          <a:p>
            <a:pPr algn="r"/>
            <a:r>
              <a:rPr lang="en-GB" sz="1200" b="1" noProof="0" dirty="0">
                <a:solidFill>
                  <a:schemeClr val="bg1"/>
                </a:solidFill>
              </a:rPr>
              <a:t>Substituting into Functions</a:t>
            </a:r>
          </a:p>
        </p:txBody>
      </p:sp>
    </p:spTree>
    <p:extLst>
      <p:ext uri="{BB962C8B-B14F-4D97-AF65-F5344CB8AC3E}">
        <p14:creationId xmlns:p14="http://schemas.microsoft.com/office/powerpoint/2010/main" val="18596920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22441" y="9541603"/>
            <a:ext cx="1543050" cy="527403"/>
          </a:xfrm>
        </p:spPr>
        <p:txBody>
          <a:bodyPr/>
          <a:lstStyle/>
          <a:p>
            <a:fld id="{9BD3B4A0-BFF9-422C-B253-48BA94BE2F5B}" type="slidenum">
              <a:rPr lang="en-GB" noProof="0" smtClean="0"/>
              <a:t>40</a:t>
            </a:fld>
            <a:endParaRPr lang="en-GB" noProof="0" dirty="0"/>
          </a:p>
        </p:txBody>
      </p:sp>
      <p:sp>
        <p:nvSpPr>
          <p:cNvPr id="3" name="TextBox 2">
            <a:extLst>
              <a:ext uri="{FF2B5EF4-FFF2-40B4-BE49-F238E27FC236}">
                <a16:creationId xmlns:a16="http://schemas.microsoft.com/office/drawing/2014/main" id="{1B91975E-B426-4910-919C-E3C5554DC081}"/>
              </a:ext>
            </a:extLst>
          </p:cNvPr>
          <p:cNvSpPr txBox="1"/>
          <p:nvPr/>
        </p:nvSpPr>
        <p:spPr>
          <a:xfrm>
            <a:off x="0" y="14169"/>
            <a:ext cx="1459054" cy="276999"/>
          </a:xfrm>
          <a:prstGeom prst="rect">
            <a:avLst/>
          </a:prstGeom>
          <a:solidFill>
            <a:srgbClr val="0070C0"/>
          </a:solidFill>
        </p:spPr>
        <p:txBody>
          <a:bodyPr wrap="none" rtlCol="0" anchor="ctr">
            <a:spAutoFit/>
          </a:bodyPr>
          <a:lstStyle/>
          <a:p>
            <a:pPr algn="ctr"/>
            <a:r>
              <a:rPr lang="en-GB" sz="1200" b="1" noProof="0" dirty="0">
                <a:solidFill>
                  <a:schemeClr val="bg1"/>
                </a:solidFill>
              </a:rPr>
              <a:t>FINDING THE INPUT</a:t>
            </a:r>
          </a:p>
        </p:txBody>
      </p:sp>
      <p:sp>
        <p:nvSpPr>
          <p:cNvPr id="7" name="TextBox 6">
            <a:extLst>
              <a:ext uri="{FF2B5EF4-FFF2-40B4-BE49-F238E27FC236}">
                <a16:creationId xmlns:a16="http://schemas.microsoft.com/office/drawing/2014/main" id="{EA4FD2D9-8D23-4ADE-B70E-F386FDED2BED}"/>
              </a:ext>
            </a:extLst>
          </p:cNvPr>
          <p:cNvSpPr txBox="1"/>
          <p:nvPr/>
        </p:nvSpPr>
        <p:spPr>
          <a:xfrm>
            <a:off x="5009050" y="409778"/>
            <a:ext cx="1463542" cy="276999"/>
          </a:xfrm>
          <a:prstGeom prst="rect">
            <a:avLst/>
          </a:prstGeom>
          <a:noFill/>
          <a:ln>
            <a:noFill/>
          </a:ln>
        </p:spPr>
        <p:txBody>
          <a:bodyPr wrap="none" rtlCol="0">
            <a:spAutoFit/>
          </a:bodyPr>
          <a:lstStyle/>
          <a:p>
            <a:r>
              <a:rPr lang="en-GB" sz="1200" b="1" i="1" noProof="0" dirty="0">
                <a:solidFill>
                  <a:srgbClr val="00B050"/>
                </a:solidFill>
              </a:rPr>
              <a:t>Example 6- You do…</a:t>
            </a:r>
          </a:p>
        </p:txBody>
      </p:sp>
      <p:sp>
        <p:nvSpPr>
          <p:cNvPr id="8" name="TextBox 7">
            <a:extLst>
              <a:ext uri="{FF2B5EF4-FFF2-40B4-BE49-F238E27FC236}">
                <a16:creationId xmlns:a16="http://schemas.microsoft.com/office/drawing/2014/main" id="{08E67FA9-518E-48EE-9C3C-DC43DA12711A}"/>
              </a:ext>
            </a:extLst>
          </p:cNvPr>
          <p:cNvSpPr txBox="1"/>
          <p:nvPr/>
        </p:nvSpPr>
        <p:spPr>
          <a:xfrm>
            <a:off x="3051274" y="198309"/>
            <a:ext cx="1475789" cy="276999"/>
          </a:xfrm>
          <a:prstGeom prst="rect">
            <a:avLst/>
          </a:prstGeom>
          <a:noFill/>
          <a:ln>
            <a:noFill/>
          </a:ln>
        </p:spPr>
        <p:txBody>
          <a:bodyPr wrap="none" rtlCol="0">
            <a:spAutoFit/>
          </a:bodyPr>
          <a:lstStyle/>
          <a:p>
            <a:r>
              <a:rPr lang="en-GB" sz="1200" b="1" i="1" noProof="0" dirty="0">
                <a:solidFill>
                  <a:schemeClr val="accent2"/>
                </a:solidFill>
              </a:rPr>
              <a:t>Example 5 - We do…</a:t>
            </a:r>
          </a:p>
        </p:txBody>
      </p:sp>
      <p:sp>
        <p:nvSpPr>
          <p:cNvPr id="9" name="TextBox 8">
            <a:extLst>
              <a:ext uri="{FF2B5EF4-FFF2-40B4-BE49-F238E27FC236}">
                <a16:creationId xmlns:a16="http://schemas.microsoft.com/office/drawing/2014/main" id="{0C5FDE3F-DC2A-468E-BF61-F69BF8BB2775}"/>
              </a:ext>
            </a:extLst>
          </p:cNvPr>
          <p:cNvSpPr txBox="1"/>
          <p:nvPr/>
        </p:nvSpPr>
        <p:spPr>
          <a:xfrm>
            <a:off x="1457117" y="217350"/>
            <a:ext cx="1273234" cy="276999"/>
          </a:xfrm>
          <a:prstGeom prst="rect">
            <a:avLst/>
          </a:prstGeom>
          <a:noFill/>
          <a:ln>
            <a:noFill/>
          </a:ln>
        </p:spPr>
        <p:txBody>
          <a:bodyPr wrap="none" rtlCol="0">
            <a:spAutoFit/>
          </a:bodyPr>
          <a:lstStyle/>
          <a:p>
            <a:r>
              <a:rPr lang="en-GB" sz="1200" b="1" i="1" noProof="0" dirty="0">
                <a:solidFill>
                  <a:srgbClr val="FF0000"/>
                </a:solidFill>
              </a:rPr>
              <a:t>Example 4- I do…</a:t>
            </a: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985473452"/>
                  </p:ext>
                </p:extLst>
              </p:nvPr>
            </p:nvGraphicFramePr>
            <p:xfrm>
              <a:off x="109404" y="481750"/>
              <a:ext cx="6639192" cy="3003286"/>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748135">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=6</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m:t>
                              </m:r>
                            </m:oMath>
                          </a14:m>
                          <a:endParaRPr lang="en-GB" sz="1200" b="0" noProof="0" dirty="0">
                            <a:solidFill>
                              <a:schemeClr val="tx1"/>
                            </a:solidFill>
                          </a:endParaRPr>
                        </a:p>
                        <a:p>
                          <a:pPr algn="ctr"/>
                          <a:r>
                            <a:rPr lang="en-GB" sz="1200" b="0" noProof="0" dirty="0">
                              <a:solidFill>
                                <a:schemeClr val="tx1"/>
                              </a:solidFill>
                            </a:rPr>
                            <a:t>Find the value</a:t>
                          </a:r>
                          <a:r>
                            <a:rPr lang="en-GB" sz="1200" b="0" baseline="0" noProof="0" dirty="0">
                              <a:solidFill>
                                <a:schemeClr val="tx1"/>
                              </a:solidFill>
                            </a:rPr>
                            <a:t> of </a:t>
                          </a: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0" noProof="0" dirty="0">
                              <a:solidFill>
                                <a:schemeClr val="tx1"/>
                              </a:solidFill>
                            </a:rPr>
                            <a:t> when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=7</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=10</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oMath>
                          </a14:m>
                          <a:endParaRPr lang="en-GB" sz="1200" b="0" noProof="0" dirty="0">
                            <a:solidFill>
                              <a:schemeClr val="tx1"/>
                            </a:solidFill>
                          </a:endParaRPr>
                        </a:p>
                        <a:p>
                          <a:pPr algn="ctr"/>
                          <a:r>
                            <a:rPr lang="en-GB" sz="1200" b="0" noProof="0" dirty="0">
                              <a:solidFill>
                                <a:schemeClr val="tx1"/>
                              </a:solidFill>
                            </a:rPr>
                            <a:t>Find the value</a:t>
                          </a:r>
                          <a:r>
                            <a:rPr lang="en-GB" sz="1200" b="0" baseline="0" noProof="0" dirty="0">
                              <a:solidFill>
                                <a:schemeClr val="tx1"/>
                              </a:solidFill>
                            </a:rPr>
                            <a:t> of </a:t>
                          </a: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0" noProof="0" dirty="0">
                              <a:solidFill>
                                <a:schemeClr val="tx1"/>
                              </a:solidFill>
                            </a:rPr>
                            <a:t> when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=7</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=8</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+5</m:t>
                              </m:r>
                            </m:oMath>
                          </a14:m>
                          <a:endParaRPr lang="en-GB" sz="1200" b="0" noProof="0" dirty="0">
                            <a:solidFill>
                              <a:schemeClr val="tx1"/>
                            </a:solidFill>
                          </a:endParaRPr>
                        </a:p>
                        <a:p>
                          <a:pPr algn="ctr"/>
                          <a:r>
                            <a:rPr lang="en-GB" sz="1200" b="0" noProof="0" dirty="0">
                              <a:solidFill>
                                <a:schemeClr val="tx1"/>
                              </a:solidFill>
                            </a:rPr>
                            <a:t>Find the value</a:t>
                          </a:r>
                          <a:r>
                            <a:rPr lang="en-GB" sz="1200" b="0" baseline="0" noProof="0" dirty="0">
                              <a:solidFill>
                                <a:schemeClr val="tx1"/>
                              </a:solidFill>
                            </a:rPr>
                            <a:t> of </a:t>
                          </a: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0" noProof="0" dirty="0">
                              <a:solidFill>
                                <a:schemeClr val="tx1"/>
                              </a:solidFill>
                            </a:rPr>
                            <a:t> when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=7</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50952">
                    <a:tc>
                      <a:txBody>
                        <a:bodyPr/>
                        <a:lstStyle/>
                        <a:p>
                          <a:r>
                            <a:rPr lang="en-GB" sz="1060" noProof="0" dirty="0">
                              <a:solidFill>
                                <a:schemeClr val="tx1"/>
                              </a:solidFill>
                            </a:rPr>
                            <a:t>1) Set the function and the output equal and set up an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94447">
                    <a:tc>
                      <a:txBody>
                        <a:bodyPr/>
                        <a:lstStyle/>
                        <a:p>
                          <a:r>
                            <a:rPr lang="en-GB" sz="1060" noProof="0" dirty="0">
                              <a:solidFill>
                                <a:schemeClr val="tx1"/>
                              </a:solidFill>
                            </a:rPr>
                            <a:t>2) Solve for the 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985473452"/>
                  </p:ext>
                </p:extLst>
              </p:nvPr>
            </p:nvGraphicFramePr>
            <p:xfrm>
              <a:off x="109404" y="481750"/>
              <a:ext cx="6639192" cy="3003286"/>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748135">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9667" t="-1626" r="-215000" b="-30243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9441" t="-1626" r="-100311" b="-30243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0187" t="-1626" r="-623" b="-302439"/>
                          </a:stretch>
                        </a:blipFill>
                      </a:tcPr>
                    </a:tc>
                    <a:extLst>
                      <a:ext uri="{0D108BD9-81ED-4DB2-BD59-A6C34878D82A}">
                        <a16:rowId xmlns:a16="http://schemas.microsoft.com/office/drawing/2014/main" val="2357201933"/>
                      </a:ext>
                    </a:extLst>
                  </a:tr>
                  <a:tr h="1060704">
                    <a:tc>
                      <a:txBody>
                        <a:bodyPr/>
                        <a:lstStyle/>
                        <a:p>
                          <a:r>
                            <a:rPr lang="en-GB" sz="1060" noProof="0">
                              <a:solidFill>
                                <a:schemeClr val="tx1"/>
                              </a:solidFill>
                            </a:rPr>
                            <a:t>1) Set the function and the output equal and set up an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94447">
                    <a:tc>
                      <a:txBody>
                        <a:bodyPr/>
                        <a:lstStyle/>
                        <a:p>
                          <a:r>
                            <a:rPr lang="en-GB" sz="1060" noProof="0">
                              <a:solidFill>
                                <a:schemeClr val="tx1"/>
                              </a:solidFill>
                            </a:rPr>
                            <a:t>2) Solve for the 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mc:AlternateContent xmlns:mc="http://schemas.openxmlformats.org/markup-compatibility/2006" xmlns:a14="http://schemas.microsoft.com/office/drawing/2010/main">
        <mc:Choice Requires="a14">
          <p:sp>
            <p:nvSpPr>
              <p:cNvPr id="14" name="Rectangle 13"/>
              <p:cNvSpPr/>
              <p:nvPr/>
            </p:nvSpPr>
            <p:spPr>
              <a:xfrm>
                <a:off x="1457117" y="3579663"/>
                <a:ext cx="4756762" cy="276999"/>
              </a:xfrm>
              <a:prstGeom prst="rect">
                <a:avLst/>
              </a:prstGeom>
            </p:spPr>
            <p:txBody>
              <a:bodyPr wrap="square">
                <a:spAutoFit/>
              </a:bodyPr>
              <a:lstStyle/>
              <a:p>
                <a:r>
                  <a:rPr lang="en-GB" sz="1200" noProof="0" dirty="0"/>
                  <a:t>5) Given that </a:t>
                </a:r>
                <a14:m>
                  <m:oMath xmlns:m="http://schemas.openxmlformats.org/officeDocument/2006/math">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=6</m:t>
                    </m:r>
                    <m:r>
                      <a:rPr lang="en-GB" sz="1200" i="1" noProof="0" smtClean="0">
                        <a:latin typeface="Cambria Math" panose="02040503050406030204" pitchFamily="18" charset="0"/>
                      </a:rPr>
                      <m:t>𝑥</m:t>
                    </m:r>
                    <m:r>
                      <a:rPr lang="en-GB" sz="1200" i="1" noProof="0" smtClean="0">
                        <a:latin typeface="Cambria Math" panose="02040503050406030204" pitchFamily="18" charset="0"/>
                      </a:rPr>
                      <m:t>+1</m:t>
                    </m:r>
                    <m:r>
                      <a:rPr lang="en-GB" sz="1200" b="0" i="0" noProof="0" smtClean="0">
                        <a:latin typeface="Cambria Math" panose="02040503050406030204" pitchFamily="18" charset="0"/>
                      </a:rPr>
                      <m:t>,</m:t>
                    </m:r>
                  </m:oMath>
                </a14:m>
                <a:r>
                  <a:rPr lang="en-GB" sz="1200" noProof="0" dirty="0"/>
                  <a:t> find the value of </a:t>
                </a:r>
                <a14:m>
                  <m:oMath xmlns:m="http://schemas.openxmlformats.org/officeDocument/2006/math">
                    <m:r>
                      <a:rPr lang="en-GB" sz="1200" i="1" noProof="0" smtClean="0">
                        <a:latin typeface="Cambria Math" panose="02040503050406030204" pitchFamily="18" charset="0"/>
                      </a:rPr>
                      <m:t>𝑥</m:t>
                    </m:r>
                  </m:oMath>
                </a14:m>
                <a:r>
                  <a:rPr lang="en-GB" sz="1200" noProof="0" dirty="0"/>
                  <a:t> when:</a:t>
                </a:r>
              </a:p>
            </p:txBody>
          </p:sp>
        </mc:Choice>
        <mc:Fallback xmlns="">
          <p:sp>
            <p:nvSpPr>
              <p:cNvPr id="14" name="Rectangle 13"/>
              <p:cNvSpPr>
                <a:spLocks noRot="1" noChangeAspect="1" noMove="1" noResize="1" noEditPoints="1" noAdjustHandles="1" noChangeArrowheads="1" noChangeShapeType="1" noTextEdit="1"/>
              </p:cNvSpPr>
              <p:nvPr/>
            </p:nvSpPr>
            <p:spPr>
              <a:xfrm>
                <a:off x="1457117" y="3579663"/>
                <a:ext cx="4756762" cy="276999"/>
              </a:xfrm>
              <a:prstGeom prst="rect">
                <a:avLst/>
              </a:prstGeom>
              <a:blipFill>
                <a:blip r:embed="rId3"/>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121861" y="3863337"/>
                <a:ext cx="995977" cy="27699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𝑎</m:t>
                      </m:r>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1</m:t>
                      </m:r>
                    </m:oMath>
                  </m:oMathPara>
                </a14:m>
                <a:endParaRPr lang="en-GB" sz="1200" noProof="0" dirty="0"/>
              </a:p>
            </p:txBody>
          </p:sp>
        </mc:Choice>
        <mc:Fallback xmlns="">
          <p:sp>
            <p:nvSpPr>
              <p:cNvPr id="17" name="Rectangle 16"/>
              <p:cNvSpPr>
                <a:spLocks noRot="1" noChangeAspect="1" noMove="1" noResize="1" noEditPoints="1" noAdjustHandles="1" noChangeArrowheads="1" noChangeShapeType="1" noTextEdit="1"/>
              </p:cNvSpPr>
              <p:nvPr/>
            </p:nvSpPr>
            <p:spPr>
              <a:xfrm>
                <a:off x="121861" y="3863337"/>
                <a:ext cx="995977" cy="276999"/>
              </a:xfrm>
              <a:prstGeom prst="rect">
                <a:avLst/>
              </a:prstGeom>
              <a:blipFill>
                <a:blip r:embed="rId4"/>
                <a:stretch>
                  <a:fillRect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1890278" y="3863335"/>
                <a:ext cx="993990" cy="27699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𝑏</m:t>
                      </m:r>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4</m:t>
                      </m:r>
                    </m:oMath>
                  </m:oMathPara>
                </a14:m>
                <a:endParaRPr lang="en-GB" sz="1200" noProof="0" dirty="0"/>
              </a:p>
            </p:txBody>
          </p:sp>
        </mc:Choice>
        <mc:Fallback xmlns="">
          <p:sp>
            <p:nvSpPr>
              <p:cNvPr id="18" name="Rectangle 17"/>
              <p:cNvSpPr>
                <a:spLocks noRot="1" noChangeAspect="1" noMove="1" noResize="1" noEditPoints="1" noAdjustHandles="1" noChangeArrowheads="1" noChangeShapeType="1" noTextEdit="1"/>
              </p:cNvSpPr>
              <p:nvPr/>
            </p:nvSpPr>
            <p:spPr>
              <a:xfrm>
                <a:off x="1890278" y="3863335"/>
                <a:ext cx="993990" cy="276999"/>
              </a:xfrm>
              <a:prstGeom prst="rect">
                <a:avLst/>
              </a:prstGeom>
              <a:blipFill>
                <a:blip r:embed="rId5"/>
                <a:stretch>
                  <a:fillRect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3710637" y="3863335"/>
                <a:ext cx="937693" cy="276999"/>
              </a:xfrm>
              <a:prstGeom prst="rect">
                <a:avLst/>
              </a:prstGeom>
            </p:spPr>
            <p:txBody>
              <a:bodyPr wrap="none">
                <a:spAutoFit/>
              </a:bodyPr>
              <a:lstStyle/>
              <a:p>
                <a:pPr algn="ctr"/>
                <a:r>
                  <a:rPr lang="en-GB" sz="1200" b="0" noProof="0" dirty="0"/>
                  <a:t>c</a:t>
                </a:r>
                <a14:m>
                  <m:oMath xmlns:m="http://schemas.openxmlformats.org/officeDocument/2006/math">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3</m:t>
                    </m:r>
                  </m:oMath>
                </a14:m>
                <a:endParaRPr lang="en-GB" sz="1200" noProof="0" dirty="0"/>
              </a:p>
            </p:txBody>
          </p:sp>
        </mc:Choice>
        <mc:Fallback xmlns="">
          <p:sp>
            <p:nvSpPr>
              <p:cNvPr id="19" name="Rectangle 18"/>
              <p:cNvSpPr>
                <a:spLocks noRot="1" noChangeAspect="1" noMove="1" noResize="1" noEditPoints="1" noAdjustHandles="1" noChangeArrowheads="1" noChangeShapeType="1" noTextEdit="1"/>
              </p:cNvSpPr>
              <p:nvPr/>
            </p:nvSpPr>
            <p:spPr>
              <a:xfrm>
                <a:off x="3710637" y="3863335"/>
                <a:ext cx="937693" cy="276999"/>
              </a:xfrm>
              <a:prstGeom prst="rect">
                <a:avLst/>
              </a:prstGeom>
              <a:blipFill>
                <a:blip r:embed="rId6"/>
                <a:stretch>
                  <a:fillRect l="-649"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5366513" y="3863336"/>
                <a:ext cx="1037079" cy="276999"/>
              </a:xfrm>
              <a:prstGeom prst="rect">
                <a:avLst/>
              </a:prstGeom>
            </p:spPr>
            <p:txBody>
              <a:bodyPr wrap="none">
                <a:spAutoFit/>
              </a:bodyPr>
              <a:lstStyle/>
              <a:p>
                <a:pPr algn="ctr"/>
                <a:r>
                  <a:rPr lang="en-GB" sz="1200" b="0" noProof="0" dirty="0"/>
                  <a:t>d</a:t>
                </a:r>
                <a14:m>
                  <m:oMath xmlns:m="http://schemas.openxmlformats.org/officeDocument/2006/math">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10</m:t>
                    </m:r>
                  </m:oMath>
                </a14:m>
                <a:endParaRPr lang="en-GB" sz="1200" noProof="0" dirty="0"/>
              </a:p>
            </p:txBody>
          </p:sp>
        </mc:Choice>
        <mc:Fallback xmlns="">
          <p:sp>
            <p:nvSpPr>
              <p:cNvPr id="20" name="Rectangle 19"/>
              <p:cNvSpPr>
                <a:spLocks noRot="1" noChangeAspect="1" noMove="1" noResize="1" noEditPoints="1" noAdjustHandles="1" noChangeArrowheads="1" noChangeShapeType="1" noTextEdit="1"/>
              </p:cNvSpPr>
              <p:nvPr/>
            </p:nvSpPr>
            <p:spPr>
              <a:xfrm>
                <a:off x="5366513" y="3863336"/>
                <a:ext cx="1037079" cy="276999"/>
              </a:xfrm>
              <a:prstGeom prst="rect">
                <a:avLst/>
              </a:prstGeom>
              <a:blipFill>
                <a:blip r:embed="rId7"/>
                <a:stretch>
                  <a:fillRect t="-2222" b="-17778"/>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3C36006B-227E-45B6-ACB0-32FCE0D906FC}"/>
              </a:ext>
            </a:extLst>
          </p:cNvPr>
          <p:cNvSpPr/>
          <p:nvPr/>
        </p:nvSpPr>
        <p:spPr>
          <a:xfrm>
            <a:off x="66623" y="4244471"/>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2" name="Rectangle 21">
            <a:extLst>
              <a:ext uri="{FF2B5EF4-FFF2-40B4-BE49-F238E27FC236}">
                <a16:creationId xmlns:a16="http://schemas.microsoft.com/office/drawing/2014/main" id="{3C36006B-227E-45B6-ACB0-32FCE0D906FC}"/>
              </a:ext>
            </a:extLst>
          </p:cNvPr>
          <p:cNvSpPr/>
          <p:nvPr/>
        </p:nvSpPr>
        <p:spPr>
          <a:xfrm>
            <a:off x="1746950" y="4247273"/>
            <a:ext cx="1623176" cy="2524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Rectangle 22">
            <a:extLst>
              <a:ext uri="{FF2B5EF4-FFF2-40B4-BE49-F238E27FC236}">
                <a16:creationId xmlns:a16="http://schemas.microsoft.com/office/drawing/2014/main" id="{3C36006B-227E-45B6-ACB0-32FCE0D906FC}"/>
              </a:ext>
            </a:extLst>
          </p:cNvPr>
          <p:cNvSpPr/>
          <p:nvPr/>
        </p:nvSpPr>
        <p:spPr>
          <a:xfrm>
            <a:off x="3450136" y="4240179"/>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Rectangle 23">
            <a:extLst>
              <a:ext uri="{FF2B5EF4-FFF2-40B4-BE49-F238E27FC236}">
                <a16:creationId xmlns:a16="http://schemas.microsoft.com/office/drawing/2014/main" id="{3C36006B-227E-45B6-ACB0-32FCE0D906FC}"/>
              </a:ext>
            </a:extLst>
          </p:cNvPr>
          <p:cNvSpPr/>
          <p:nvPr/>
        </p:nvSpPr>
        <p:spPr>
          <a:xfrm>
            <a:off x="5137877" y="4244714"/>
            <a:ext cx="1623176" cy="25214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5" name="Rectangle 24"/>
              <p:cNvSpPr/>
              <p:nvPr/>
            </p:nvSpPr>
            <p:spPr>
              <a:xfrm>
                <a:off x="68353" y="6798129"/>
                <a:ext cx="1102994" cy="27699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𝑒</m:t>
                      </m:r>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−3</m:t>
                      </m:r>
                    </m:oMath>
                  </m:oMathPara>
                </a14:m>
                <a:endParaRPr lang="en-GB" sz="1200" noProof="0" dirty="0"/>
              </a:p>
            </p:txBody>
          </p:sp>
        </mc:Choice>
        <mc:Fallback xmlns="">
          <p:sp>
            <p:nvSpPr>
              <p:cNvPr id="25" name="Rectangle 24"/>
              <p:cNvSpPr>
                <a:spLocks noRot="1" noChangeAspect="1" noMove="1" noResize="1" noEditPoints="1" noAdjustHandles="1" noChangeArrowheads="1" noChangeShapeType="1" noTextEdit="1"/>
              </p:cNvSpPr>
              <p:nvPr/>
            </p:nvSpPr>
            <p:spPr>
              <a:xfrm>
                <a:off x="68353" y="6798129"/>
                <a:ext cx="1102994" cy="276999"/>
              </a:xfrm>
              <a:prstGeom prst="rect">
                <a:avLst/>
              </a:prstGeom>
              <a:blipFill>
                <a:blip r:embed="rId8"/>
                <a:stretch>
                  <a:fillRect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1831224" y="6798127"/>
                <a:ext cx="1112099" cy="27699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−4</m:t>
                      </m:r>
                    </m:oMath>
                  </m:oMathPara>
                </a14:m>
                <a:endParaRPr lang="en-GB" sz="1200" noProof="0" dirty="0"/>
              </a:p>
            </p:txBody>
          </p:sp>
        </mc:Choice>
        <mc:Fallback xmlns="">
          <p:sp>
            <p:nvSpPr>
              <p:cNvPr id="26" name="Rectangle 25"/>
              <p:cNvSpPr>
                <a:spLocks noRot="1" noChangeAspect="1" noMove="1" noResize="1" noEditPoints="1" noAdjustHandles="1" noChangeArrowheads="1" noChangeShapeType="1" noTextEdit="1"/>
              </p:cNvSpPr>
              <p:nvPr/>
            </p:nvSpPr>
            <p:spPr>
              <a:xfrm>
                <a:off x="1831224" y="6798127"/>
                <a:ext cx="1112099" cy="276999"/>
              </a:xfrm>
              <a:prstGeom prst="rect">
                <a:avLst/>
              </a:prstGeom>
              <a:blipFill>
                <a:blip r:embed="rId9"/>
                <a:stretch>
                  <a:fillRect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3652929" y="6798127"/>
                <a:ext cx="1053110" cy="276999"/>
              </a:xfrm>
              <a:prstGeom prst="rect">
                <a:avLst/>
              </a:prstGeom>
            </p:spPr>
            <p:txBody>
              <a:bodyPr wrap="none">
                <a:spAutoFit/>
              </a:bodyPr>
              <a:lstStyle/>
              <a:p>
                <a:pPr algn="ctr"/>
                <a:r>
                  <a:rPr lang="en-GB" sz="1200" noProof="0" dirty="0"/>
                  <a:t>g</a:t>
                </a:r>
                <a14:m>
                  <m:oMath xmlns:m="http://schemas.openxmlformats.org/officeDocument/2006/math">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−2</m:t>
                    </m:r>
                  </m:oMath>
                </a14:m>
                <a:endParaRPr lang="en-GB" sz="1200" noProof="0" dirty="0"/>
              </a:p>
            </p:txBody>
          </p:sp>
        </mc:Choice>
        <mc:Fallback xmlns="">
          <p:sp>
            <p:nvSpPr>
              <p:cNvPr id="27" name="Rectangle 26"/>
              <p:cNvSpPr>
                <a:spLocks noRot="1" noChangeAspect="1" noMove="1" noResize="1" noEditPoints="1" noAdjustHandles="1" noChangeArrowheads="1" noChangeShapeType="1" noTextEdit="1"/>
              </p:cNvSpPr>
              <p:nvPr/>
            </p:nvSpPr>
            <p:spPr>
              <a:xfrm>
                <a:off x="3652929" y="6798127"/>
                <a:ext cx="1053110" cy="276999"/>
              </a:xfrm>
              <a:prstGeom prst="rect">
                <a:avLst/>
              </a:prstGeom>
              <a:blipFill>
                <a:blip r:embed="rId10"/>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5308805" y="6798128"/>
                <a:ext cx="1152495" cy="276999"/>
              </a:xfrm>
              <a:prstGeom prst="rect">
                <a:avLst/>
              </a:prstGeom>
            </p:spPr>
            <p:txBody>
              <a:bodyPr wrap="none">
                <a:spAutoFit/>
              </a:bodyPr>
              <a:lstStyle/>
              <a:p>
                <a:pPr algn="ctr"/>
                <a:r>
                  <a:rPr lang="en-GB" sz="1200" noProof="0" dirty="0"/>
                  <a:t>h</a:t>
                </a:r>
                <a14:m>
                  <m:oMath xmlns:m="http://schemas.openxmlformats.org/officeDocument/2006/math">
                    <m:r>
                      <a:rPr lang="en-GB" sz="1200" b="0" i="1" noProof="0" smtClean="0">
                        <a:latin typeface="Cambria Math" panose="02040503050406030204" pitchFamily="18" charset="0"/>
                      </a:rPr>
                      <m:t>) </m:t>
                    </m:r>
                    <m:r>
                      <a:rPr lang="en-GB" sz="1200" i="1" noProof="0" smtClean="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𝑥</m:t>
                        </m:r>
                      </m:e>
                    </m:d>
                    <m:r>
                      <a:rPr lang="en-GB" sz="1200" i="1" noProof="0" smtClean="0">
                        <a:latin typeface="Cambria Math" panose="02040503050406030204" pitchFamily="18" charset="0"/>
                      </a:rPr>
                      <m:t>=</m:t>
                    </m:r>
                    <m:r>
                      <a:rPr lang="en-GB" sz="1200" b="0" i="1" noProof="0" smtClean="0">
                        <a:latin typeface="Cambria Math" panose="02040503050406030204" pitchFamily="18" charset="0"/>
                      </a:rPr>
                      <m:t>−10</m:t>
                    </m:r>
                  </m:oMath>
                </a14:m>
                <a:endParaRPr lang="en-GB" sz="1200" noProof="0" dirty="0"/>
              </a:p>
            </p:txBody>
          </p:sp>
        </mc:Choice>
        <mc:Fallback xmlns="">
          <p:sp>
            <p:nvSpPr>
              <p:cNvPr id="28" name="Rectangle 27"/>
              <p:cNvSpPr>
                <a:spLocks noRot="1" noChangeAspect="1" noMove="1" noResize="1" noEditPoints="1" noAdjustHandles="1" noChangeArrowheads="1" noChangeShapeType="1" noTextEdit="1"/>
              </p:cNvSpPr>
              <p:nvPr/>
            </p:nvSpPr>
            <p:spPr>
              <a:xfrm>
                <a:off x="5308805" y="6798128"/>
                <a:ext cx="1152495" cy="276999"/>
              </a:xfrm>
              <a:prstGeom prst="rect">
                <a:avLst/>
              </a:prstGeom>
              <a:blipFill>
                <a:blip r:embed="rId11"/>
                <a:stretch>
                  <a:fillRect b="-15217"/>
                </a:stretch>
              </a:blipFill>
            </p:spPr>
            <p:txBody>
              <a:bodyPr/>
              <a:lstStyle/>
              <a:p>
                <a:r>
                  <a:rPr lang="en-US">
                    <a:noFill/>
                  </a:rPr>
                  <a:t> </a:t>
                </a:r>
              </a:p>
            </p:txBody>
          </p:sp>
        </mc:Fallback>
      </mc:AlternateContent>
      <p:sp>
        <p:nvSpPr>
          <p:cNvPr id="29" name="Rectangle 28">
            <a:extLst>
              <a:ext uri="{FF2B5EF4-FFF2-40B4-BE49-F238E27FC236}">
                <a16:creationId xmlns:a16="http://schemas.microsoft.com/office/drawing/2014/main" id="{3C36006B-227E-45B6-ACB0-32FCE0D906FC}"/>
              </a:ext>
            </a:extLst>
          </p:cNvPr>
          <p:cNvSpPr/>
          <p:nvPr/>
        </p:nvSpPr>
        <p:spPr>
          <a:xfrm>
            <a:off x="66623" y="7179263"/>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Rectangle 29">
            <a:extLst>
              <a:ext uri="{FF2B5EF4-FFF2-40B4-BE49-F238E27FC236}">
                <a16:creationId xmlns:a16="http://schemas.microsoft.com/office/drawing/2014/main" id="{3C36006B-227E-45B6-ACB0-32FCE0D906FC}"/>
              </a:ext>
            </a:extLst>
          </p:cNvPr>
          <p:cNvSpPr/>
          <p:nvPr/>
        </p:nvSpPr>
        <p:spPr>
          <a:xfrm>
            <a:off x="1746950" y="7182065"/>
            <a:ext cx="1623176" cy="2524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Rectangle 30">
            <a:extLst>
              <a:ext uri="{FF2B5EF4-FFF2-40B4-BE49-F238E27FC236}">
                <a16:creationId xmlns:a16="http://schemas.microsoft.com/office/drawing/2014/main" id="{3C36006B-227E-45B6-ACB0-32FCE0D906FC}"/>
              </a:ext>
            </a:extLst>
          </p:cNvPr>
          <p:cNvSpPr/>
          <p:nvPr/>
        </p:nvSpPr>
        <p:spPr>
          <a:xfrm>
            <a:off x="3450136" y="7174971"/>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Rectangle 31">
            <a:extLst>
              <a:ext uri="{FF2B5EF4-FFF2-40B4-BE49-F238E27FC236}">
                <a16:creationId xmlns:a16="http://schemas.microsoft.com/office/drawing/2014/main" id="{3C36006B-227E-45B6-ACB0-32FCE0D906FC}"/>
              </a:ext>
            </a:extLst>
          </p:cNvPr>
          <p:cNvSpPr/>
          <p:nvPr/>
        </p:nvSpPr>
        <p:spPr>
          <a:xfrm>
            <a:off x="5137877" y="7179506"/>
            <a:ext cx="1623176" cy="25214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1" name="TextBox 40">
            <a:extLst>
              <a:ext uri="{FF2B5EF4-FFF2-40B4-BE49-F238E27FC236}">
                <a16:creationId xmlns:a16="http://schemas.microsoft.com/office/drawing/2014/main" id="{C3C65E48-8C3D-6849-AD77-7AD8678AD8DA}"/>
              </a:ext>
            </a:extLst>
          </p:cNvPr>
          <p:cNvSpPr txBox="1"/>
          <p:nvPr/>
        </p:nvSpPr>
        <p:spPr>
          <a:xfrm>
            <a:off x="132877" y="3576749"/>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4" name="TextBox 3">
            <a:extLst>
              <a:ext uri="{FF2B5EF4-FFF2-40B4-BE49-F238E27FC236}">
                <a16:creationId xmlns:a16="http://schemas.microsoft.com/office/drawing/2014/main" id="{61D3DB41-CDE3-E5FD-9A7B-877C0E9BDD0D}"/>
              </a:ext>
            </a:extLst>
          </p:cNvPr>
          <p:cNvSpPr txBox="1"/>
          <p:nvPr/>
        </p:nvSpPr>
        <p:spPr>
          <a:xfrm>
            <a:off x="4985511" y="211258"/>
            <a:ext cx="1498808" cy="276999"/>
          </a:xfrm>
          <a:prstGeom prst="rect">
            <a:avLst/>
          </a:prstGeom>
          <a:noFill/>
          <a:ln>
            <a:noFill/>
          </a:ln>
        </p:spPr>
        <p:txBody>
          <a:bodyPr wrap="none" rtlCol="0">
            <a:spAutoFit/>
          </a:bodyPr>
          <a:lstStyle/>
          <a:p>
            <a:r>
              <a:rPr lang="en-GB" sz="1200" b="1" i="1" noProof="0" dirty="0">
                <a:solidFill>
                  <a:srgbClr val="00B050"/>
                </a:solidFill>
              </a:rPr>
              <a:t>Example 6 - You do…</a:t>
            </a:r>
          </a:p>
        </p:txBody>
      </p:sp>
    </p:spTree>
    <p:extLst>
      <p:ext uri="{BB962C8B-B14F-4D97-AF65-F5344CB8AC3E}">
        <p14:creationId xmlns:p14="http://schemas.microsoft.com/office/powerpoint/2010/main" val="16291603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80CA423-62E4-4D9E-A61F-19419774D88E}"/>
                  </a:ext>
                </a:extLst>
              </p:cNvPr>
              <p:cNvSpPr txBox="1"/>
              <p:nvPr/>
            </p:nvSpPr>
            <p:spPr>
              <a:xfrm>
                <a:off x="4709208" y="324069"/>
                <a:ext cx="2155809" cy="212365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−2</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0" noProof="0" smtClean="0">
                        <a:latin typeface="Cambria Math" panose="02040503050406030204" pitchFamily="18" charset="0"/>
                      </a:rPr>
                      <m:t>3</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p:txBody>
          </p:sp>
        </mc:Choice>
        <mc:Fallback xmlns="">
          <p:sp>
            <p:nvSpPr>
              <p:cNvPr id="11" name="TextBox 10">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709208" y="324069"/>
                <a:ext cx="2155809" cy="2123658"/>
              </a:xfrm>
              <a:prstGeom prst="rect">
                <a:avLst/>
              </a:prstGeom>
              <a:blipFill>
                <a:blip r:embed="rId2"/>
                <a:stretch>
                  <a:fillRect/>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F659B38D-7A78-46E4-B9C9-6312593C5041}"/>
              </a:ext>
            </a:extLst>
          </p:cNvPr>
          <p:cNvSpPr/>
          <p:nvPr/>
        </p:nvSpPr>
        <p:spPr>
          <a:xfrm>
            <a:off x="4673622" y="273621"/>
            <a:ext cx="2089777" cy="1811210"/>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p:txBody>
      </p:sp>
      <p:sp>
        <p:nvSpPr>
          <p:cNvPr id="3" name="TextBox 2">
            <a:extLst>
              <a:ext uri="{FF2B5EF4-FFF2-40B4-BE49-F238E27FC236}">
                <a16:creationId xmlns:a16="http://schemas.microsoft.com/office/drawing/2014/main" id="{EA4FD2D9-8D23-4ADE-B70E-F386FDED2BED}"/>
              </a:ext>
            </a:extLst>
          </p:cNvPr>
          <p:cNvSpPr txBox="1"/>
          <p:nvPr/>
        </p:nvSpPr>
        <p:spPr>
          <a:xfrm>
            <a:off x="4572004" y="989"/>
            <a:ext cx="1463542" cy="276999"/>
          </a:xfrm>
          <a:prstGeom prst="rect">
            <a:avLst/>
          </a:prstGeom>
          <a:noFill/>
          <a:ln>
            <a:noFill/>
          </a:ln>
        </p:spPr>
        <p:txBody>
          <a:bodyPr wrap="none" rtlCol="0">
            <a:spAutoFit/>
          </a:bodyPr>
          <a:lstStyle/>
          <a:p>
            <a:r>
              <a:rPr lang="en-GB" sz="1200" b="1" i="1" noProof="0" dirty="0">
                <a:solidFill>
                  <a:srgbClr val="00B050"/>
                </a:solidFill>
              </a:rPr>
              <a:t>Example 9- You do…</a:t>
            </a:r>
          </a:p>
        </p:txBody>
      </p:sp>
      <p:sp>
        <p:nvSpPr>
          <p:cNvPr id="4" name="Rectangle 3">
            <a:extLst>
              <a:ext uri="{FF2B5EF4-FFF2-40B4-BE49-F238E27FC236}">
                <a16:creationId xmlns:a16="http://schemas.microsoft.com/office/drawing/2014/main" id="{3E9C8B3E-E2B2-49A4-89FE-F9C9137A06D7}"/>
              </a:ext>
            </a:extLst>
          </p:cNvPr>
          <p:cNvSpPr/>
          <p:nvPr/>
        </p:nvSpPr>
        <p:spPr>
          <a:xfrm>
            <a:off x="2448018" y="273621"/>
            <a:ext cx="2151812" cy="181121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p:txBody>
      </p:sp>
      <p:sp>
        <p:nvSpPr>
          <p:cNvPr id="5" name="TextBox 4">
            <a:extLst>
              <a:ext uri="{FF2B5EF4-FFF2-40B4-BE49-F238E27FC236}">
                <a16:creationId xmlns:a16="http://schemas.microsoft.com/office/drawing/2014/main" id="{08E67FA9-518E-48EE-9C3C-DC43DA12711A}"/>
              </a:ext>
            </a:extLst>
          </p:cNvPr>
          <p:cNvSpPr txBox="1"/>
          <p:nvPr/>
        </p:nvSpPr>
        <p:spPr>
          <a:xfrm>
            <a:off x="2395486" y="0"/>
            <a:ext cx="1475789" cy="276999"/>
          </a:xfrm>
          <a:prstGeom prst="rect">
            <a:avLst/>
          </a:prstGeom>
          <a:noFill/>
          <a:ln>
            <a:noFill/>
          </a:ln>
        </p:spPr>
        <p:txBody>
          <a:bodyPr wrap="none" rtlCol="0">
            <a:spAutoFit/>
          </a:bodyPr>
          <a:lstStyle/>
          <a:p>
            <a:r>
              <a:rPr lang="en-GB" sz="1200" b="1" i="1" noProof="0" dirty="0">
                <a:solidFill>
                  <a:schemeClr val="accent2"/>
                </a:solidFill>
              </a:rPr>
              <a:t>Example 8 - We do…</a:t>
            </a:r>
          </a:p>
        </p:txBody>
      </p:sp>
      <p:sp>
        <p:nvSpPr>
          <p:cNvPr id="6" name="TextBox 5">
            <a:extLst>
              <a:ext uri="{FF2B5EF4-FFF2-40B4-BE49-F238E27FC236}">
                <a16:creationId xmlns:a16="http://schemas.microsoft.com/office/drawing/2014/main" id="{0C5FDE3F-DC2A-468E-BF61-F69BF8BB2775}"/>
              </a:ext>
            </a:extLst>
          </p:cNvPr>
          <p:cNvSpPr txBox="1"/>
          <p:nvPr/>
        </p:nvSpPr>
        <p:spPr>
          <a:xfrm>
            <a:off x="52861" y="15668"/>
            <a:ext cx="1273234" cy="276999"/>
          </a:xfrm>
          <a:prstGeom prst="rect">
            <a:avLst/>
          </a:prstGeom>
          <a:noFill/>
          <a:ln>
            <a:noFill/>
          </a:ln>
        </p:spPr>
        <p:txBody>
          <a:bodyPr wrap="none" rtlCol="0">
            <a:spAutoFit/>
          </a:bodyPr>
          <a:lstStyle/>
          <a:p>
            <a:r>
              <a:rPr lang="en-GB" sz="1200" b="1" i="1" noProof="0" dirty="0">
                <a:solidFill>
                  <a:srgbClr val="FF0000"/>
                </a:solidFill>
              </a:rPr>
              <a:t>Example 7- I do…</a:t>
            </a:r>
          </a:p>
        </p:txBody>
      </p:sp>
      <p:sp>
        <p:nvSpPr>
          <p:cNvPr id="7" name="Rectangle 6">
            <a:extLst>
              <a:ext uri="{FF2B5EF4-FFF2-40B4-BE49-F238E27FC236}">
                <a16:creationId xmlns:a16="http://schemas.microsoft.com/office/drawing/2014/main" id="{88702858-2340-4E05-9D8E-B489EE06713C}"/>
              </a:ext>
            </a:extLst>
          </p:cNvPr>
          <p:cNvSpPr/>
          <p:nvPr/>
        </p:nvSpPr>
        <p:spPr>
          <a:xfrm>
            <a:off x="113093" y="273622"/>
            <a:ext cx="2261133" cy="18112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80CA423-62E4-4D9E-A61F-19419774D88E}"/>
                  </a:ext>
                </a:extLst>
              </p:cNvPr>
              <p:cNvSpPr txBox="1"/>
              <p:nvPr/>
            </p:nvSpPr>
            <p:spPr>
              <a:xfrm>
                <a:off x="144491" y="294930"/>
                <a:ext cx="2155809" cy="19389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0" noProof="0" smtClean="0">
                        <a:latin typeface="Cambria Math" panose="02040503050406030204" pitchFamily="18" charset="0"/>
                      </a:rPr>
                      <m:t>2</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p:txBody>
          </p:sp>
        </mc:Choice>
        <mc:Fallback xmlns="">
          <p:sp>
            <p:nvSpPr>
              <p:cNvPr id="8" name="TextBox 7">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144491" y="294930"/>
                <a:ext cx="2155809" cy="193899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80CA423-62E4-4D9E-A61F-19419774D88E}"/>
                  </a:ext>
                </a:extLst>
              </p:cNvPr>
              <p:cNvSpPr txBox="1"/>
              <p:nvPr/>
            </p:nvSpPr>
            <p:spPr>
              <a:xfrm>
                <a:off x="2496553" y="324069"/>
                <a:ext cx="2155809" cy="138499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0" noProof="0" smtClean="0">
                        <a:latin typeface="Cambria Math" panose="02040503050406030204" pitchFamily="18" charset="0"/>
                      </a:rPr>
                      <m:t>3</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a:p>
                <a:endParaRPr lang="en-GB" sz="1200" noProof="0" dirty="0"/>
              </a:p>
              <a:p>
                <a:endParaRPr lang="en-GB" sz="1200" noProof="0" dirty="0"/>
              </a:p>
            </p:txBody>
          </p:sp>
        </mc:Choice>
        <mc:Fallback xmlns="">
          <p:sp>
            <p:nvSpPr>
              <p:cNvPr id="10" name="TextBox 9">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496553" y="324069"/>
                <a:ext cx="2155809" cy="138499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80CA423-62E4-4D9E-A61F-19419774D88E}"/>
                  </a:ext>
                </a:extLst>
              </p:cNvPr>
              <p:cNvSpPr txBox="1"/>
              <p:nvPr/>
            </p:nvSpPr>
            <p:spPr>
              <a:xfrm>
                <a:off x="64291" y="2535004"/>
                <a:ext cx="2155809" cy="2123658"/>
              </a:xfrm>
              <a:prstGeom prst="rect">
                <a:avLst/>
              </a:prstGeom>
              <a:noFill/>
            </p:spPr>
            <p:txBody>
              <a:bodyPr wrap="square" rtlCol="0">
                <a:spAutoFit/>
              </a:bodyPr>
              <a:lstStyle/>
              <a:p>
                <a:pPr algn="ctr"/>
                <a:r>
                  <a:rPr lang="en-GB" sz="1200" b="0" noProof="0" dirty="0"/>
                  <a:t>1)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+6</m:t>
                    </m:r>
                  </m:oMath>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 </a:t>
                </a:r>
                <a14:m>
                  <m:oMath xmlns:m="http://schemas.openxmlformats.org/officeDocument/2006/math">
                    <m:r>
                      <a:rPr lang="en-GB" sz="1200" b="0" i="0" noProof="0" smtClean="0">
                        <a:latin typeface="Cambria Math" panose="02040503050406030204" pitchFamily="18" charset="0"/>
                      </a:rPr>
                      <m:t>2</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a:p>
                <a:endParaRPr lang="en-GB" sz="1200" noProof="0" dirty="0"/>
              </a:p>
              <a:p>
                <a:endParaRPr lang="en-GB" sz="1200" noProof="0" dirty="0"/>
              </a:p>
              <a:p>
                <a:endParaRPr lang="en-GB" sz="1200" noProof="0" dirty="0"/>
              </a:p>
              <a:p>
                <a:r>
                  <a:rPr lang="en-GB" sz="1200" noProof="0" dirty="0"/>
                  <a:t>b) </a:t>
                </a:r>
                <a14:m>
                  <m:oMath xmlns:m="http://schemas.openxmlformats.org/officeDocument/2006/math">
                    <m:r>
                      <a:rPr lang="en-GB" sz="1200" b="0" i="1" noProof="0" smtClean="0">
                        <a:latin typeface="Cambria Math" panose="02040503050406030204" pitchFamily="18" charset="0"/>
                      </a:rPr>
                      <m:t>4</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a:p>
                <a:endParaRPr lang="en-GB" sz="1200" noProof="0" dirty="0"/>
              </a:p>
              <a:p>
                <a:endParaRPr lang="en-GB" sz="1200" noProof="0" dirty="0"/>
              </a:p>
            </p:txBody>
          </p:sp>
        </mc:Choice>
        <mc:Fallback xmlns="">
          <p:sp>
            <p:nvSpPr>
              <p:cNvPr id="22" name="TextBox 21">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64291" y="2535004"/>
                <a:ext cx="2155809" cy="2123658"/>
              </a:xfrm>
              <a:prstGeom prst="rect">
                <a:avLst/>
              </a:prstGeom>
              <a:blipFill>
                <a:blip r:embed="rId5"/>
                <a:stretch>
                  <a:fillRect l="-2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80CA423-62E4-4D9E-A61F-19419774D88E}"/>
                  </a:ext>
                </a:extLst>
              </p:cNvPr>
              <p:cNvSpPr txBox="1"/>
              <p:nvPr/>
            </p:nvSpPr>
            <p:spPr>
              <a:xfrm>
                <a:off x="3110196" y="2533218"/>
                <a:ext cx="3344883" cy="2123658"/>
              </a:xfrm>
              <a:prstGeom prst="rect">
                <a:avLst/>
              </a:prstGeom>
              <a:noFill/>
            </p:spPr>
            <p:txBody>
              <a:bodyPr wrap="square" rtlCol="0">
                <a:spAutoFit/>
              </a:bodyPr>
              <a:lstStyle/>
              <a:p>
                <a:pPr algn="ctr"/>
                <a:r>
                  <a:rPr lang="en-GB" sz="1200" noProof="0" dirty="0"/>
                  <a:t>2</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 </a:t>
                </a:r>
                <a14:m>
                  <m:oMath xmlns:m="http://schemas.openxmlformats.org/officeDocument/2006/math">
                    <m:r>
                      <a:rPr lang="en-GB" sz="1200" b="0" i="0" noProof="0" smtClean="0">
                        <a:latin typeface="Cambria Math" panose="02040503050406030204" pitchFamily="18" charset="0"/>
                      </a:rPr>
                      <m:t>2</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(1)</m:t>
                    </m:r>
                  </m:oMath>
                </a14:m>
                <a:endParaRPr lang="en-GB" sz="1200" noProof="0" dirty="0"/>
              </a:p>
              <a:p>
                <a:endParaRPr lang="en-GB" sz="1200" noProof="0" dirty="0"/>
              </a:p>
              <a:p>
                <a:endParaRPr lang="en-GB" sz="1200" noProof="0" dirty="0"/>
              </a:p>
              <a:p>
                <a:endParaRPr lang="en-GB" sz="1200" noProof="0" dirty="0"/>
              </a:p>
              <a:p>
                <a:r>
                  <a:rPr lang="en-GB" sz="1200" noProof="0" dirty="0"/>
                  <a:t>b) </a:t>
                </a:r>
                <a14:m>
                  <m:oMath xmlns:m="http://schemas.openxmlformats.org/officeDocument/2006/math">
                    <m:r>
                      <a:rPr lang="en-GB" sz="1200" i="1" noProof="0" smtClean="0">
                        <a:latin typeface="Cambria Math" panose="02040503050406030204" pitchFamily="18" charset="0"/>
                      </a:rPr>
                      <m:t>3</m:t>
                    </m:r>
                    <m:r>
                      <a:rPr lang="en-GB" sz="1200" b="0" i="1" noProof="0" smtClean="0">
                        <a:latin typeface="Cambria Math" panose="02040503050406030204" pitchFamily="18" charset="0"/>
                      </a:rPr>
                      <m:t>𝑓</m:t>
                    </m:r>
                    <m:r>
                      <a:rPr lang="en-GB" sz="1200" b="0" i="1" noProof="0" smtClean="0">
                        <a:latin typeface="Cambria Math" panose="02040503050406030204" pitchFamily="18" charset="0"/>
                      </a:rPr>
                      <m:t>(2)</m:t>
                    </m:r>
                  </m:oMath>
                </a14:m>
                <a:endParaRPr lang="en-GB" sz="1200" noProof="0" dirty="0"/>
              </a:p>
              <a:p>
                <a:endParaRPr lang="en-GB" sz="1200" noProof="0" dirty="0"/>
              </a:p>
              <a:p>
                <a:endParaRPr lang="en-GB" sz="1200" noProof="0" dirty="0"/>
              </a:p>
            </p:txBody>
          </p:sp>
        </mc:Choice>
        <mc:Fallback xmlns="">
          <p:sp>
            <p:nvSpPr>
              <p:cNvPr id="23" name="TextBox 22">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3110196" y="2533218"/>
                <a:ext cx="3344883" cy="2123658"/>
              </a:xfrm>
              <a:prstGeom prst="rect">
                <a:avLst/>
              </a:prstGeom>
              <a:blipFill>
                <a:blip r:embed="rId6"/>
                <a:stretch>
                  <a:fillRect t="-287"/>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1A1DBEA9-D546-4594-90FE-D6EBF9792C2E}"/>
              </a:ext>
            </a:extLst>
          </p:cNvPr>
          <p:cNvSpPr/>
          <p:nvPr/>
        </p:nvSpPr>
        <p:spPr>
          <a:xfrm>
            <a:off x="64291" y="2511113"/>
            <a:ext cx="2907509" cy="21296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 name="Rectangle 28">
            <a:extLst>
              <a:ext uri="{FF2B5EF4-FFF2-40B4-BE49-F238E27FC236}">
                <a16:creationId xmlns:a16="http://schemas.microsoft.com/office/drawing/2014/main" id="{1A1DBEA9-D546-4594-90FE-D6EBF9792C2E}"/>
              </a:ext>
            </a:extLst>
          </p:cNvPr>
          <p:cNvSpPr/>
          <p:nvPr/>
        </p:nvSpPr>
        <p:spPr>
          <a:xfrm>
            <a:off x="3079058" y="2512378"/>
            <a:ext cx="3695771" cy="21296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Rectangle 29">
            <a:extLst>
              <a:ext uri="{FF2B5EF4-FFF2-40B4-BE49-F238E27FC236}">
                <a16:creationId xmlns:a16="http://schemas.microsoft.com/office/drawing/2014/main" id="{F659B38D-7A78-46E4-B9C9-6312593C5041}"/>
              </a:ext>
            </a:extLst>
          </p:cNvPr>
          <p:cNvSpPr/>
          <p:nvPr/>
        </p:nvSpPr>
        <p:spPr>
          <a:xfrm>
            <a:off x="4638036" y="4972173"/>
            <a:ext cx="2089777" cy="1811210"/>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p:txBody>
      </p:sp>
      <p:sp>
        <p:nvSpPr>
          <p:cNvPr id="31" name="TextBox 30">
            <a:extLst>
              <a:ext uri="{FF2B5EF4-FFF2-40B4-BE49-F238E27FC236}">
                <a16:creationId xmlns:a16="http://schemas.microsoft.com/office/drawing/2014/main" id="{EA4FD2D9-8D23-4ADE-B70E-F386FDED2BED}"/>
              </a:ext>
            </a:extLst>
          </p:cNvPr>
          <p:cNvSpPr txBox="1"/>
          <p:nvPr/>
        </p:nvSpPr>
        <p:spPr>
          <a:xfrm>
            <a:off x="4536418" y="4699541"/>
            <a:ext cx="1542089" cy="276999"/>
          </a:xfrm>
          <a:prstGeom prst="rect">
            <a:avLst/>
          </a:prstGeom>
          <a:noFill/>
          <a:ln>
            <a:noFill/>
          </a:ln>
        </p:spPr>
        <p:txBody>
          <a:bodyPr wrap="none" rtlCol="0">
            <a:spAutoFit/>
          </a:bodyPr>
          <a:lstStyle/>
          <a:p>
            <a:r>
              <a:rPr lang="en-GB" sz="1200" b="1" i="1" noProof="0" dirty="0">
                <a:solidFill>
                  <a:srgbClr val="00B050"/>
                </a:solidFill>
              </a:rPr>
              <a:t>Example 12- You do…</a:t>
            </a:r>
          </a:p>
        </p:txBody>
      </p:sp>
      <p:sp>
        <p:nvSpPr>
          <p:cNvPr id="32" name="Rectangle 31">
            <a:extLst>
              <a:ext uri="{FF2B5EF4-FFF2-40B4-BE49-F238E27FC236}">
                <a16:creationId xmlns:a16="http://schemas.microsoft.com/office/drawing/2014/main" id="{3E9C8B3E-E2B2-49A4-89FE-F9C9137A06D7}"/>
              </a:ext>
            </a:extLst>
          </p:cNvPr>
          <p:cNvSpPr/>
          <p:nvPr/>
        </p:nvSpPr>
        <p:spPr>
          <a:xfrm>
            <a:off x="2412432" y="4972173"/>
            <a:ext cx="2151812" cy="181121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200" noProof="0" dirty="0">
              <a:solidFill>
                <a:schemeClr val="tx1"/>
              </a:solidFill>
            </a:endParaRPr>
          </a:p>
        </p:txBody>
      </p:sp>
      <p:sp>
        <p:nvSpPr>
          <p:cNvPr id="33" name="TextBox 32">
            <a:extLst>
              <a:ext uri="{FF2B5EF4-FFF2-40B4-BE49-F238E27FC236}">
                <a16:creationId xmlns:a16="http://schemas.microsoft.com/office/drawing/2014/main" id="{08E67FA9-518E-48EE-9C3C-DC43DA12711A}"/>
              </a:ext>
            </a:extLst>
          </p:cNvPr>
          <p:cNvSpPr txBox="1"/>
          <p:nvPr/>
        </p:nvSpPr>
        <p:spPr>
          <a:xfrm>
            <a:off x="2359900" y="4698552"/>
            <a:ext cx="1554336" cy="276999"/>
          </a:xfrm>
          <a:prstGeom prst="rect">
            <a:avLst/>
          </a:prstGeom>
          <a:noFill/>
          <a:ln>
            <a:noFill/>
          </a:ln>
        </p:spPr>
        <p:txBody>
          <a:bodyPr wrap="none" rtlCol="0">
            <a:spAutoFit/>
          </a:bodyPr>
          <a:lstStyle/>
          <a:p>
            <a:r>
              <a:rPr lang="en-GB" sz="1200" b="1" i="1" noProof="0" dirty="0">
                <a:solidFill>
                  <a:schemeClr val="accent2"/>
                </a:solidFill>
              </a:rPr>
              <a:t>Example 11 - We do…</a:t>
            </a:r>
          </a:p>
        </p:txBody>
      </p:sp>
      <p:sp>
        <p:nvSpPr>
          <p:cNvPr id="34" name="TextBox 33">
            <a:extLst>
              <a:ext uri="{FF2B5EF4-FFF2-40B4-BE49-F238E27FC236}">
                <a16:creationId xmlns:a16="http://schemas.microsoft.com/office/drawing/2014/main" id="{0C5FDE3F-DC2A-468E-BF61-F69BF8BB2775}"/>
              </a:ext>
            </a:extLst>
          </p:cNvPr>
          <p:cNvSpPr txBox="1"/>
          <p:nvPr/>
        </p:nvSpPr>
        <p:spPr>
          <a:xfrm>
            <a:off x="17275" y="4714220"/>
            <a:ext cx="1351780" cy="276999"/>
          </a:xfrm>
          <a:prstGeom prst="rect">
            <a:avLst/>
          </a:prstGeom>
          <a:noFill/>
          <a:ln>
            <a:noFill/>
          </a:ln>
        </p:spPr>
        <p:txBody>
          <a:bodyPr wrap="none" rtlCol="0">
            <a:spAutoFit/>
          </a:bodyPr>
          <a:lstStyle/>
          <a:p>
            <a:r>
              <a:rPr lang="en-GB" sz="1200" b="1" i="1" noProof="0" dirty="0">
                <a:solidFill>
                  <a:srgbClr val="FF0000"/>
                </a:solidFill>
              </a:rPr>
              <a:t>Example 10- I do…</a:t>
            </a:r>
          </a:p>
        </p:txBody>
      </p:sp>
      <p:sp>
        <p:nvSpPr>
          <p:cNvPr id="35" name="Rectangle 34">
            <a:extLst>
              <a:ext uri="{FF2B5EF4-FFF2-40B4-BE49-F238E27FC236}">
                <a16:creationId xmlns:a16="http://schemas.microsoft.com/office/drawing/2014/main" id="{88702858-2340-4E05-9D8E-B489EE06713C}"/>
              </a:ext>
            </a:extLst>
          </p:cNvPr>
          <p:cNvSpPr/>
          <p:nvPr/>
        </p:nvSpPr>
        <p:spPr>
          <a:xfrm>
            <a:off x="77507" y="4972174"/>
            <a:ext cx="2261133" cy="18112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0B0F0"/>
              </a:solidFill>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80CA423-62E4-4D9E-A61F-19419774D88E}"/>
                  </a:ext>
                </a:extLst>
              </p:cNvPr>
              <p:cNvSpPr txBox="1"/>
              <p:nvPr/>
            </p:nvSpPr>
            <p:spPr>
              <a:xfrm>
                <a:off x="108905" y="4993482"/>
                <a:ext cx="2155809" cy="19389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e>
                    </m:d>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p:txBody>
          </p:sp>
        </mc:Choice>
        <mc:Fallback xmlns="">
          <p:sp>
            <p:nvSpPr>
              <p:cNvPr id="36" name="TextBox 35">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108905" y="4993482"/>
                <a:ext cx="2155809" cy="193899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80CA423-62E4-4D9E-A61F-19419774D88E}"/>
                  </a:ext>
                </a:extLst>
              </p:cNvPr>
              <p:cNvSpPr txBox="1"/>
              <p:nvPr/>
            </p:nvSpPr>
            <p:spPr>
              <a:xfrm>
                <a:off x="2460967" y="5022621"/>
                <a:ext cx="2155809" cy="138499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noProof="0" dirty="0"/>
              </a:p>
              <a:p>
                <a:endParaRPr lang="en-GB" sz="1200" noProof="0" dirty="0"/>
              </a:p>
              <a:p>
                <a:endParaRPr lang="en-GB" sz="1200" noProof="0" dirty="0"/>
              </a:p>
            </p:txBody>
          </p:sp>
        </mc:Choice>
        <mc:Fallback xmlns="">
          <p:sp>
            <p:nvSpPr>
              <p:cNvPr id="37" name="TextBox 36">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460967" y="5022621"/>
                <a:ext cx="2155809" cy="138499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80CA423-62E4-4D9E-A61F-19419774D88E}"/>
                  </a:ext>
                </a:extLst>
              </p:cNvPr>
              <p:cNvSpPr txBox="1"/>
              <p:nvPr/>
            </p:nvSpPr>
            <p:spPr>
              <a:xfrm>
                <a:off x="4673622" y="5022621"/>
                <a:ext cx="2155809" cy="212365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−2</m:t>
                      </m:r>
                    </m:oMath>
                  </m:oMathPara>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+6)</m:t>
                    </m:r>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p:txBody>
          </p:sp>
        </mc:Choice>
        <mc:Fallback xmlns="">
          <p:sp>
            <p:nvSpPr>
              <p:cNvPr id="38" name="TextBox 37">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673622" y="5022621"/>
                <a:ext cx="2155809" cy="212365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80CA423-62E4-4D9E-A61F-19419774D88E}"/>
                  </a:ext>
                </a:extLst>
              </p:cNvPr>
              <p:cNvSpPr txBox="1"/>
              <p:nvPr/>
            </p:nvSpPr>
            <p:spPr>
              <a:xfrm>
                <a:off x="95430" y="7238257"/>
                <a:ext cx="2155809" cy="2123658"/>
              </a:xfrm>
              <a:prstGeom prst="rect">
                <a:avLst/>
              </a:prstGeom>
              <a:noFill/>
            </p:spPr>
            <p:txBody>
              <a:bodyPr wrap="square" rtlCol="0">
                <a:spAutoFit/>
              </a:bodyPr>
              <a:lstStyle/>
              <a:p>
                <a:pPr algn="ctr"/>
                <a:r>
                  <a:rPr lang="en-GB" sz="1200" b="0" noProof="0" dirty="0"/>
                  <a:t>1)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=5</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noProof="0" dirty="0"/>
              </a:p>
              <a:p>
                <a:endParaRPr lang="en-GB" sz="1200" noProof="0" dirty="0"/>
              </a:p>
              <a:p>
                <a:endParaRPr lang="en-GB" sz="1200" noProof="0" dirty="0"/>
              </a:p>
              <a:p>
                <a:endParaRPr lang="en-GB" sz="1200" noProof="0" dirty="0"/>
              </a:p>
              <a:p>
                <a:r>
                  <a:rPr lang="en-GB" sz="1200" noProof="0" dirty="0"/>
                  <a:t>b)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oMath>
                </a14:m>
                <a:endParaRPr lang="en-GB" sz="1200" noProof="0" dirty="0"/>
              </a:p>
              <a:p>
                <a:endParaRPr lang="en-GB" sz="1200" noProof="0" dirty="0"/>
              </a:p>
              <a:p>
                <a:endParaRPr lang="en-GB" sz="1200" noProof="0" dirty="0"/>
              </a:p>
            </p:txBody>
          </p:sp>
        </mc:Choice>
        <mc:Fallback xmlns="">
          <p:sp>
            <p:nvSpPr>
              <p:cNvPr id="45" name="TextBox 44">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95430" y="7238257"/>
                <a:ext cx="2155809" cy="2123658"/>
              </a:xfrm>
              <a:prstGeom prst="rect">
                <a:avLst/>
              </a:prstGeom>
              <a:blipFill>
                <a:blip r:embed="rId10"/>
                <a:stretch>
                  <a:fillRect l="-283"/>
                </a:stretch>
              </a:blipFill>
            </p:spPr>
            <p:txBody>
              <a:bodyPr/>
              <a:lstStyle/>
              <a:p>
                <a:r>
                  <a:rPr lang="en-US">
                    <a:noFill/>
                  </a:rPr>
                  <a:t> </a:t>
                </a:r>
              </a:p>
            </p:txBody>
          </p:sp>
        </mc:Fallback>
      </mc:AlternateContent>
      <p:sp>
        <p:nvSpPr>
          <p:cNvPr id="51" name="Rectangle 50">
            <a:extLst>
              <a:ext uri="{FF2B5EF4-FFF2-40B4-BE49-F238E27FC236}">
                <a16:creationId xmlns:a16="http://schemas.microsoft.com/office/drawing/2014/main" id="{1A1DBEA9-D546-4594-90FE-D6EBF9792C2E}"/>
              </a:ext>
            </a:extLst>
          </p:cNvPr>
          <p:cNvSpPr/>
          <p:nvPr/>
        </p:nvSpPr>
        <p:spPr>
          <a:xfrm>
            <a:off x="95430" y="7214366"/>
            <a:ext cx="2907509" cy="21296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2" name="Rectangle 51">
            <a:extLst>
              <a:ext uri="{FF2B5EF4-FFF2-40B4-BE49-F238E27FC236}">
                <a16:creationId xmlns:a16="http://schemas.microsoft.com/office/drawing/2014/main" id="{1A1DBEA9-D546-4594-90FE-D6EBF9792C2E}"/>
              </a:ext>
            </a:extLst>
          </p:cNvPr>
          <p:cNvSpPr/>
          <p:nvPr/>
        </p:nvSpPr>
        <p:spPr>
          <a:xfrm>
            <a:off x="3110197" y="7215631"/>
            <a:ext cx="3695771" cy="21296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80CA423-62E4-4D9E-A61F-19419774D88E}"/>
                  </a:ext>
                </a:extLst>
              </p:cNvPr>
              <p:cNvSpPr txBox="1"/>
              <p:nvPr/>
            </p:nvSpPr>
            <p:spPr>
              <a:xfrm>
                <a:off x="3110196" y="7236815"/>
                <a:ext cx="3344883" cy="2123658"/>
              </a:xfrm>
              <a:prstGeom prst="rect">
                <a:avLst/>
              </a:prstGeom>
              <a:noFill/>
            </p:spPr>
            <p:txBody>
              <a:bodyPr wrap="square" rtlCol="0">
                <a:spAutoFit/>
              </a:bodyPr>
              <a:lstStyle/>
              <a:p>
                <a:pPr algn="ctr"/>
                <a:r>
                  <a:rPr lang="en-GB" sz="1200" noProof="0" dirty="0"/>
                  <a:t>2</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+5</m:t>
                    </m:r>
                  </m:oMath>
                </a14:m>
                <a:endParaRPr lang="en-GB" sz="1200" noProof="0" dirty="0"/>
              </a:p>
              <a:p>
                <a:pPr algn="ctr"/>
                <a:endParaRPr lang="en-GB" sz="1200" noProof="0" dirty="0"/>
              </a:p>
              <a:p>
                <a:pPr algn="ctr"/>
                <a:r>
                  <a:rPr lang="en-GB" sz="1200" noProof="0" dirty="0"/>
                  <a:t>Find:</a:t>
                </a:r>
              </a:p>
              <a:p>
                <a:pPr algn="ctr"/>
                <a:endParaRPr lang="en-GB" sz="1200" noProof="0" dirty="0"/>
              </a:p>
              <a:p>
                <a:r>
                  <a:rPr lang="en-GB" sz="1200" b="0" noProof="0" dirty="0"/>
                  <a:t> a)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a14:m>
                <a:endParaRPr lang="en-GB" sz="1200" noProof="0" dirty="0"/>
              </a:p>
              <a:p>
                <a:endParaRPr lang="en-GB" sz="1200" noProof="0" dirty="0"/>
              </a:p>
              <a:p>
                <a:endParaRPr lang="en-GB" sz="1200" noProof="0" dirty="0"/>
              </a:p>
              <a:p>
                <a:endParaRPr lang="en-GB" sz="1200" noProof="0" dirty="0"/>
              </a:p>
              <a:p>
                <a:r>
                  <a:rPr lang="en-GB" sz="1200" noProof="0" dirty="0"/>
                  <a:t>b) </a:t>
                </a:r>
                <a14:m>
                  <m:oMath xmlns:m="http://schemas.openxmlformats.org/officeDocument/2006/math">
                    <m:r>
                      <a:rPr lang="en-GB" sz="1200" b="0" i="1" noProof="0" smtClean="0">
                        <a:latin typeface="Cambria Math" panose="02040503050406030204" pitchFamily="18" charset="0"/>
                      </a:rPr>
                      <m:t>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endParaRPr lang="en-GB" sz="1200" noProof="0" dirty="0"/>
              </a:p>
              <a:p>
                <a:endParaRPr lang="en-GB" sz="1200" noProof="0" dirty="0"/>
              </a:p>
              <a:p>
                <a:endParaRPr lang="en-GB" sz="1200" noProof="0" dirty="0"/>
              </a:p>
            </p:txBody>
          </p:sp>
        </mc:Choice>
        <mc:Fallback xmlns="">
          <p:sp>
            <p:nvSpPr>
              <p:cNvPr id="53" name="TextBox 52">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3110196" y="7236815"/>
                <a:ext cx="3344883" cy="2123658"/>
              </a:xfrm>
              <a:prstGeom prst="rect">
                <a:avLst/>
              </a:prstGeom>
              <a:blipFill>
                <a:blip r:embed="rId11"/>
                <a:stretch>
                  <a:fillRect/>
                </a:stretch>
              </a:blipFill>
            </p:spPr>
            <p:txBody>
              <a:bodyPr/>
              <a:lstStyle/>
              <a:p>
                <a:r>
                  <a:rPr lang="en-US">
                    <a:noFill/>
                  </a:rPr>
                  <a:t> </a:t>
                </a:r>
              </a:p>
            </p:txBody>
          </p:sp>
        </mc:Fallback>
      </mc:AlternateContent>
      <p:sp>
        <p:nvSpPr>
          <p:cNvPr id="9" name="Slide Number Placeholder 8"/>
          <p:cNvSpPr>
            <a:spLocks noGrp="1"/>
          </p:cNvSpPr>
          <p:nvPr>
            <p:ph type="sldNum" sz="quarter" idx="12"/>
          </p:nvPr>
        </p:nvSpPr>
        <p:spPr>
          <a:xfrm>
            <a:off x="5220349" y="9414630"/>
            <a:ext cx="1543050" cy="527403"/>
          </a:xfrm>
        </p:spPr>
        <p:txBody>
          <a:bodyPr/>
          <a:lstStyle/>
          <a:p>
            <a:fld id="{9BD3B4A0-BFF9-422C-B253-48BA94BE2F5B}" type="slidenum">
              <a:rPr lang="en-GB" noProof="0" smtClean="0"/>
              <a:t>41</a:t>
            </a:fld>
            <a:endParaRPr lang="en-GB" noProof="0" dirty="0"/>
          </a:p>
        </p:txBody>
      </p:sp>
      <p:sp>
        <p:nvSpPr>
          <p:cNvPr id="12" name="TextBox 11">
            <a:extLst>
              <a:ext uri="{FF2B5EF4-FFF2-40B4-BE49-F238E27FC236}">
                <a16:creationId xmlns:a16="http://schemas.microsoft.com/office/drawing/2014/main" id="{67E7D196-D611-F4E4-9F9B-B9FE9362DE8D}"/>
              </a:ext>
            </a:extLst>
          </p:cNvPr>
          <p:cNvSpPr txBox="1"/>
          <p:nvPr/>
        </p:nvSpPr>
        <p:spPr>
          <a:xfrm>
            <a:off x="77507" y="2218448"/>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13" name="TextBox 12">
            <a:extLst>
              <a:ext uri="{FF2B5EF4-FFF2-40B4-BE49-F238E27FC236}">
                <a16:creationId xmlns:a16="http://schemas.microsoft.com/office/drawing/2014/main" id="{FE9070BE-B89C-B74E-0D9F-B431B344E6A5}"/>
              </a:ext>
            </a:extLst>
          </p:cNvPr>
          <p:cNvSpPr txBox="1"/>
          <p:nvPr/>
        </p:nvSpPr>
        <p:spPr>
          <a:xfrm>
            <a:off x="108905" y="6892363"/>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19268865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91975E-B426-4910-919C-E3C5554DC081}"/>
              </a:ext>
            </a:extLst>
          </p:cNvPr>
          <p:cNvSpPr txBox="1"/>
          <p:nvPr/>
        </p:nvSpPr>
        <p:spPr>
          <a:xfrm>
            <a:off x="139614" y="72654"/>
            <a:ext cx="1742400" cy="276999"/>
          </a:xfrm>
          <a:prstGeom prst="rect">
            <a:avLst/>
          </a:prstGeom>
          <a:solidFill>
            <a:srgbClr val="0070C0"/>
          </a:solidFill>
        </p:spPr>
        <p:txBody>
          <a:bodyPr wrap="none" rtlCol="0" anchor="ctr">
            <a:spAutoFit/>
          </a:bodyPr>
          <a:lstStyle/>
          <a:p>
            <a:pPr algn="ctr"/>
            <a:r>
              <a:rPr lang="en-GB" sz="1200" b="1" noProof="0" dirty="0">
                <a:solidFill>
                  <a:schemeClr val="bg1"/>
                </a:solidFill>
              </a:rPr>
              <a:t>COMPOSITE FUNCTIONS</a:t>
            </a:r>
          </a:p>
        </p:txBody>
      </p:sp>
      <p:sp>
        <p:nvSpPr>
          <p:cNvPr id="5" name="TextBox 4">
            <a:extLst>
              <a:ext uri="{FF2B5EF4-FFF2-40B4-BE49-F238E27FC236}">
                <a16:creationId xmlns:a16="http://schemas.microsoft.com/office/drawing/2014/main" id="{EA4FD2D9-8D23-4ADE-B70E-F386FDED2BED}"/>
              </a:ext>
            </a:extLst>
          </p:cNvPr>
          <p:cNvSpPr txBox="1"/>
          <p:nvPr/>
        </p:nvSpPr>
        <p:spPr>
          <a:xfrm>
            <a:off x="5138076" y="1467721"/>
            <a:ext cx="1577355" cy="276999"/>
          </a:xfrm>
          <a:prstGeom prst="rect">
            <a:avLst/>
          </a:prstGeom>
          <a:noFill/>
          <a:ln>
            <a:noFill/>
          </a:ln>
        </p:spPr>
        <p:txBody>
          <a:bodyPr wrap="none" rtlCol="0">
            <a:spAutoFit/>
          </a:bodyPr>
          <a:lstStyle/>
          <a:p>
            <a:r>
              <a:rPr lang="en-GB" sz="1200" b="1" i="1" noProof="0" dirty="0">
                <a:solidFill>
                  <a:srgbClr val="00B050"/>
                </a:solidFill>
              </a:rPr>
              <a:t>Example 15 - You do…</a:t>
            </a:r>
          </a:p>
        </p:txBody>
      </p:sp>
      <p:sp>
        <p:nvSpPr>
          <p:cNvPr id="7" name="TextBox 6">
            <a:extLst>
              <a:ext uri="{FF2B5EF4-FFF2-40B4-BE49-F238E27FC236}">
                <a16:creationId xmlns:a16="http://schemas.microsoft.com/office/drawing/2014/main" id="{08E67FA9-518E-48EE-9C3C-DC43DA12711A}"/>
              </a:ext>
            </a:extLst>
          </p:cNvPr>
          <p:cNvSpPr txBox="1"/>
          <p:nvPr/>
        </p:nvSpPr>
        <p:spPr>
          <a:xfrm>
            <a:off x="3333459" y="1439667"/>
            <a:ext cx="1554336" cy="276999"/>
          </a:xfrm>
          <a:prstGeom prst="rect">
            <a:avLst/>
          </a:prstGeom>
          <a:noFill/>
          <a:ln>
            <a:noFill/>
          </a:ln>
        </p:spPr>
        <p:txBody>
          <a:bodyPr wrap="none" rtlCol="0">
            <a:spAutoFit/>
          </a:bodyPr>
          <a:lstStyle/>
          <a:p>
            <a:r>
              <a:rPr lang="en-GB" sz="1200" b="1" i="1" noProof="0" dirty="0">
                <a:solidFill>
                  <a:schemeClr val="accent2"/>
                </a:solidFill>
              </a:rPr>
              <a:t>Example 14 - We do…</a:t>
            </a:r>
          </a:p>
        </p:txBody>
      </p:sp>
      <p:sp>
        <p:nvSpPr>
          <p:cNvPr id="8" name="TextBox 7">
            <a:extLst>
              <a:ext uri="{FF2B5EF4-FFF2-40B4-BE49-F238E27FC236}">
                <a16:creationId xmlns:a16="http://schemas.microsoft.com/office/drawing/2014/main" id="{0C5FDE3F-DC2A-468E-BF61-F69BF8BB2775}"/>
              </a:ext>
            </a:extLst>
          </p:cNvPr>
          <p:cNvSpPr txBox="1"/>
          <p:nvPr/>
        </p:nvSpPr>
        <p:spPr>
          <a:xfrm>
            <a:off x="1460537" y="1439666"/>
            <a:ext cx="1351780" cy="276999"/>
          </a:xfrm>
          <a:prstGeom prst="rect">
            <a:avLst/>
          </a:prstGeom>
          <a:noFill/>
          <a:ln>
            <a:noFill/>
          </a:ln>
        </p:spPr>
        <p:txBody>
          <a:bodyPr wrap="none" rtlCol="0">
            <a:spAutoFit/>
          </a:bodyPr>
          <a:lstStyle/>
          <a:p>
            <a:r>
              <a:rPr lang="en-GB" sz="1200" b="1" i="1" noProof="0" dirty="0">
                <a:solidFill>
                  <a:srgbClr val="FF0000"/>
                </a:solidFill>
              </a:rPr>
              <a:t>Example 13- I do…</a:t>
            </a:r>
          </a:p>
        </p:txBody>
      </p:sp>
      <p:graphicFrame>
        <p:nvGraphicFramePr>
          <p:cNvPr id="11" name="Table 10"/>
          <p:cNvGraphicFramePr>
            <a:graphicFrameLocks noGrp="1"/>
          </p:cNvGraphicFramePr>
          <p:nvPr>
            <p:extLst>
              <p:ext uri="{D42A27DB-BD31-4B8C-83A1-F6EECF244321}">
                <p14:modId xmlns:p14="http://schemas.microsoft.com/office/powerpoint/2010/main" val="3312792582"/>
              </p:ext>
            </p:extLst>
          </p:nvPr>
        </p:nvGraphicFramePr>
        <p:xfrm>
          <a:off x="139614" y="1721401"/>
          <a:ext cx="6627882" cy="3349052"/>
        </p:xfrm>
        <a:graphic>
          <a:graphicData uri="http://schemas.openxmlformats.org/drawingml/2006/table">
            <a:tbl>
              <a:tblPr firstRow="1" bandRow="1">
                <a:tableStyleId>{5C22544A-7EE6-4342-B048-85BDC9FD1C3A}</a:tableStyleId>
              </a:tblPr>
              <a:tblGrid>
                <a:gridCol w="989845">
                  <a:extLst>
                    <a:ext uri="{9D8B030D-6E8A-4147-A177-3AD203B41FA5}">
                      <a16:colId xmlns:a16="http://schemas.microsoft.com/office/drawing/2014/main" val="1568142362"/>
                    </a:ext>
                  </a:extLst>
                </a:gridCol>
                <a:gridCol w="1820127">
                  <a:extLst>
                    <a:ext uri="{9D8B030D-6E8A-4147-A177-3AD203B41FA5}">
                      <a16:colId xmlns:a16="http://schemas.microsoft.com/office/drawing/2014/main" val="3551711160"/>
                    </a:ext>
                  </a:extLst>
                </a:gridCol>
                <a:gridCol w="1964092">
                  <a:extLst>
                    <a:ext uri="{9D8B030D-6E8A-4147-A177-3AD203B41FA5}">
                      <a16:colId xmlns:a16="http://schemas.microsoft.com/office/drawing/2014/main" val="4019619020"/>
                    </a:ext>
                  </a:extLst>
                </a:gridCol>
                <a:gridCol w="1853818">
                  <a:extLst>
                    <a:ext uri="{9D8B030D-6E8A-4147-A177-3AD203B41FA5}">
                      <a16:colId xmlns:a16="http://schemas.microsoft.com/office/drawing/2014/main" val="4101046862"/>
                    </a:ext>
                  </a:extLst>
                </a:gridCol>
              </a:tblGrid>
              <a:tr h="970904">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2902">
                <a:tc>
                  <a:txBody>
                    <a:bodyPr/>
                    <a:lstStyle/>
                    <a:p>
                      <a:r>
                        <a:rPr lang="en-GB" sz="1060" noProof="0" dirty="0">
                          <a:solidFill>
                            <a:schemeClr val="tx1"/>
                          </a:solidFill>
                        </a:rPr>
                        <a:t>1) Substitute the number into the first function.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415246">
                <a:tc>
                  <a:txBody>
                    <a:bodyPr/>
                    <a:lstStyle/>
                    <a:p>
                      <a:r>
                        <a:rPr lang="en-GB" sz="1060" noProof="0" dirty="0">
                          <a:solidFill>
                            <a:schemeClr val="tx1"/>
                          </a:solidFill>
                        </a:rPr>
                        <a:t>2) Substitute the output</a:t>
                      </a:r>
                      <a:r>
                        <a:rPr lang="en-GB" sz="1060" baseline="0" noProof="0" dirty="0">
                          <a:solidFill>
                            <a:schemeClr val="tx1"/>
                          </a:solidFill>
                        </a:rPr>
                        <a:t> into the second function.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AlternateContent xmlns:mc="http://schemas.openxmlformats.org/markup-compatibility/2006" xmlns:a14="http://schemas.microsoft.com/office/drawing/2010/main">
        <mc:Choice Requires="a14">
          <p:sp>
            <p:nvSpPr>
              <p:cNvPr id="22" name="TextBox 21"/>
              <p:cNvSpPr txBox="1"/>
              <p:nvPr/>
            </p:nvSpPr>
            <p:spPr>
              <a:xfrm>
                <a:off x="1290255" y="5231381"/>
                <a:ext cx="4377663" cy="276999"/>
              </a:xfrm>
              <a:prstGeom prst="rect">
                <a:avLst/>
              </a:prstGeom>
              <a:noFill/>
            </p:spPr>
            <p:txBody>
              <a:bodyPr wrap="square" rtlCol="0">
                <a:spAutoFit/>
              </a:bodyPr>
              <a:lstStyle/>
              <a:p>
                <a:pPr algn="ctr"/>
                <a:r>
                  <a:rPr lang="en-GB" sz="1200" noProof="0" dirty="0"/>
                  <a:t>7. Given that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 </m:t>
                    </m:r>
                  </m:oMath>
                </a14:m>
                <a:r>
                  <a:rPr lang="en-GB" sz="1200" noProof="0" dirty="0"/>
                  <a:t>and </a:t>
                </a:r>
                <a14:m>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r>
                  <a:rPr lang="en-GB" sz="1200" noProof="0" dirty="0"/>
                  <a:t>  Find:</a:t>
                </a:r>
              </a:p>
            </p:txBody>
          </p:sp>
        </mc:Choice>
        <mc:Fallback xmlns="">
          <p:sp>
            <p:nvSpPr>
              <p:cNvPr id="22" name="TextBox 21"/>
              <p:cNvSpPr txBox="1">
                <a:spLocks noRot="1" noChangeAspect="1" noMove="1" noResize="1" noEditPoints="1" noAdjustHandles="1" noChangeArrowheads="1" noChangeShapeType="1" noTextEdit="1"/>
              </p:cNvSpPr>
              <p:nvPr/>
            </p:nvSpPr>
            <p:spPr>
              <a:xfrm>
                <a:off x="1290255" y="5231381"/>
                <a:ext cx="4377663" cy="276999"/>
              </a:xfrm>
              <a:prstGeom prst="rect">
                <a:avLst/>
              </a:prstGeom>
              <a:blipFill>
                <a:blip r:embed="rId2"/>
                <a:stretch>
                  <a:fillRect b="-15217"/>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3C36006B-227E-45B6-ACB0-32FCE0D906FC}"/>
              </a:ext>
            </a:extLst>
          </p:cNvPr>
          <p:cNvSpPr/>
          <p:nvPr/>
        </p:nvSpPr>
        <p:spPr>
          <a:xfrm>
            <a:off x="95574" y="5547068"/>
            <a:ext cx="1623176" cy="2164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19CA145-0A55-47EB-B271-6690400B9E6B}"/>
                  </a:ext>
                </a:extLst>
              </p:cNvPr>
              <p:cNvSpPr txBox="1"/>
              <p:nvPr/>
            </p:nvSpPr>
            <p:spPr>
              <a:xfrm>
                <a:off x="114935" y="5562941"/>
                <a:ext cx="735522" cy="276999"/>
              </a:xfrm>
              <a:prstGeom prst="rect">
                <a:avLst/>
              </a:prstGeom>
              <a:noFill/>
            </p:spPr>
            <p:txBody>
              <a:bodyPr wrap="none" rtlCol="0">
                <a:spAutoFit/>
              </a:bodyPr>
              <a:lstStyle/>
              <a:p>
                <a:r>
                  <a:rPr lang="en-GB" sz="1200" noProof="0" dirty="0"/>
                  <a:t>a)</a:t>
                </a:r>
                <a:r>
                  <a:rPr lang="en-GB" sz="1200" i="1" noProof="0" dirty="0"/>
                  <a:t>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(3)</m:t>
                    </m:r>
                  </m:oMath>
                </a14:m>
                <a:endParaRPr lang="en-GB" sz="1200" noProof="0" dirty="0"/>
              </a:p>
            </p:txBody>
          </p:sp>
        </mc:Choice>
        <mc:Fallback xmlns="">
          <p:sp>
            <p:nvSpPr>
              <p:cNvPr id="24" name="TextBox 2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14935" y="5562941"/>
                <a:ext cx="735522" cy="276999"/>
              </a:xfrm>
              <a:prstGeom prst="rect">
                <a:avLst/>
              </a:prstGeom>
              <a:blipFill>
                <a:blip r:embed="rId3"/>
                <a:stretch>
                  <a:fillRect l="-826" t="-2222" b="-17778"/>
                </a:stretch>
              </a:blipFill>
            </p:spPr>
            <p:txBody>
              <a:bodyPr/>
              <a:lstStyle/>
              <a:p>
                <a:r>
                  <a:rPr lang="en-US">
                    <a:noFill/>
                  </a:rPr>
                  <a:t> </a:t>
                </a:r>
              </a:p>
            </p:txBody>
          </p:sp>
        </mc:Fallback>
      </mc:AlternateContent>
      <p:sp>
        <p:nvSpPr>
          <p:cNvPr id="26" name="Rectangle 25">
            <a:extLst>
              <a:ext uri="{FF2B5EF4-FFF2-40B4-BE49-F238E27FC236}">
                <a16:creationId xmlns:a16="http://schemas.microsoft.com/office/drawing/2014/main" id="{3C36006B-227E-45B6-ACB0-32FCE0D906FC}"/>
              </a:ext>
            </a:extLst>
          </p:cNvPr>
          <p:cNvSpPr/>
          <p:nvPr/>
        </p:nvSpPr>
        <p:spPr>
          <a:xfrm>
            <a:off x="1775901" y="5549870"/>
            <a:ext cx="1623176" cy="21622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Rectangle 26">
            <a:extLst>
              <a:ext uri="{FF2B5EF4-FFF2-40B4-BE49-F238E27FC236}">
                <a16:creationId xmlns:a16="http://schemas.microsoft.com/office/drawing/2014/main" id="{3C36006B-227E-45B6-ACB0-32FCE0D906FC}"/>
              </a:ext>
            </a:extLst>
          </p:cNvPr>
          <p:cNvSpPr/>
          <p:nvPr/>
        </p:nvSpPr>
        <p:spPr>
          <a:xfrm>
            <a:off x="3479087" y="5542775"/>
            <a:ext cx="1623176" cy="21681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8" name="Rectangle 27">
            <a:extLst>
              <a:ext uri="{FF2B5EF4-FFF2-40B4-BE49-F238E27FC236}">
                <a16:creationId xmlns:a16="http://schemas.microsoft.com/office/drawing/2014/main" id="{3C36006B-227E-45B6-ACB0-32FCE0D906FC}"/>
              </a:ext>
            </a:extLst>
          </p:cNvPr>
          <p:cNvSpPr/>
          <p:nvPr/>
        </p:nvSpPr>
        <p:spPr>
          <a:xfrm>
            <a:off x="5166828" y="5547312"/>
            <a:ext cx="1623176" cy="21643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19CA145-0A55-47EB-B271-6690400B9E6B}"/>
                  </a:ext>
                </a:extLst>
              </p:cNvPr>
              <p:cNvSpPr txBox="1"/>
              <p:nvPr/>
            </p:nvSpPr>
            <p:spPr>
              <a:xfrm>
                <a:off x="1756152" y="5547068"/>
                <a:ext cx="741934" cy="276999"/>
              </a:xfrm>
              <a:prstGeom prst="rect">
                <a:avLst/>
              </a:prstGeom>
              <a:noFill/>
            </p:spPr>
            <p:txBody>
              <a:bodyPr wrap="none" rtlCol="0">
                <a:spAutoFit/>
              </a:bodyPr>
              <a:lstStyle/>
              <a:p>
                <a:r>
                  <a:rPr lang="en-GB" sz="1200" noProof="0" dirty="0"/>
                  <a:t>b)</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(4)</m:t>
                    </m:r>
                  </m:oMath>
                </a14:m>
                <a:endParaRPr lang="en-GB" sz="1200" noProof="0" dirty="0"/>
              </a:p>
            </p:txBody>
          </p:sp>
        </mc:Choice>
        <mc:Fallback xmlns="">
          <p:sp>
            <p:nvSpPr>
              <p:cNvPr id="29" name="TextBox 2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56152" y="5547068"/>
                <a:ext cx="741934" cy="276999"/>
              </a:xfrm>
              <a:prstGeom prst="rect">
                <a:avLst/>
              </a:prstGeom>
              <a:blipFill>
                <a:blip r:embed="rId4"/>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19CA145-0A55-47EB-B271-6690400B9E6B}"/>
                  </a:ext>
                </a:extLst>
              </p:cNvPr>
              <p:cNvSpPr txBox="1"/>
              <p:nvPr/>
            </p:nvSpPr>
            <p:spPr>
              <a:xfrm>
                <a:off x="3433415" y="5538439"/>
                <a:ext cx="729367" cy="276999"/>
              </a:xfrm>
              <a:prstGeom prst="rect">
                <a:avLst/>
              </a:prstGeom>
              <a:noFill/>
            </p:spPr>
            <p:txBody>
              <a:bodyPr wrap="none" rtlCol="0">
                <a:spAutoFit/>
              </a:bodyPr>
              <a:lstStyle/>
              <a:p>
                <a:r>
                  <a:rPr lang="en-GB" sz="1200" noProof="0" dirty="0"/>
                  <a:t>c)</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30" name="TextBox 2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33415" y="5538439"/>
                <a:ext cx="729367" cy="276999"/>
              </a:xfrm>
              <a:prstGeom prst="rect">
                <a:avLst/>
              </a:prstGeom>
              <a:blipFill>
                <a:blip r:embed="rId5"/>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19CA145-0A55-47EB-B271-6690400B9E6B}"/>
                  </a:ext>
                </a:extLst>
              </p:cNvPr>
              <p:cNvSpPr txBox="1"/>
              <p:nvPr/>
            </p:nvSpPr>
            <p:spPr>
              <a:xfrm>
                <a:off x="5182273" y="5539879"/>
                <a:ext cx="743793" cy="276999"/>
              </a:xfrm>
              <a:prstGeom prst="rect">
                <a:avLst/>
              </a:prstGeom>
              <a:noFill/>
            </p:spPr>
            <p:txBody>
              <a:bodyPr wrap="none" rtlCol="0">
                <a:spAutoFit/>
              </a:bodyPr>
              <a:lstStyle/>
              <a:p>
                <a:r>
                  <a:rPr lang="en-GB" sz="1200" noProof="0" dirty="0"/>
                  <a:t>d)</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(3)</m:t>
                    </m:r>
                  </m:oMath>
                </a14:m>
                <a:endParaRPr lang="en-GB" sz="1200" noProof="0" dirty="0"/>
              </a:p>
            </p:txBody>
          </p:sp>
        </mc:Choice>
        <mc:Fallback xmlns="">
          <p:sp>
            <p:nvSpPr>
              <p:cNvPr id="31" name="TextBox 30">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82273" y="5539879"/>
                <a:ext cx="743793" cy="276999"/>
              </a:xfrm>
              <a:prstGeom prst="rect">
                <a:avLst/>
              </a:prstGeom>
              <a:blipFill>
                <a:blip r:embed="rId6"/>
                <a:stretch>
                  <a:fillRect t="-2222" b="-17778"/>
                </a:stretch>
              </a:blipFill>
            </p:spPr>
            <p:txBody>
              <a:bodyPr/>
              <a:lstStyle/>
              <a:p>
                <a:r>
                  <a:rPr lang="en-US">
                    <a:noFill/>
                  </a:rPr>
                  <a:t> </a:t>
                </a:r>
              </a:p>
            </p:txBody>
          </p:sp>
        </mc:Fallback>
      </mc:AlternateContent>
      <p:sp>
        <p:nvSpPr>
          <p:cNvPr id="35" name="Slide Number Placeholder 34"/>
          <p:cNvSpPr>
            <a:spLocks noGrp="1"/>
          </p:cNvSpPr>
          <p:nvPr>
            <p:ph type="sldNum" sz="quarter" idx="12"/>
          </p:nvPr>
        </p:nvSpPr>
        <p:spPr>
          <a:xfrm>
            <a:off x="5314950" y="9608253"/>
            <a:ext cx="1543050" cy="527403"/>
          </a:xfrm>
        </p:spPr>
        <p:txBody>
          <a:bodyPr/>
          <a:lstStyle/>
          <a:p>
            <a:fld id="{9BD3B4A0-BFF9-422C-B253-48BA94BE2F5B}" type="slidenum">
              <a:rPr lang="en-GB" noProof="0" smtClean="0"/>
              <a:t>42</a:t>
            </a:fld>
            <a:endParaRPr lang="en-GB" noProof="0"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80CA423-62E4-4D9E-A61F-19419774D88E}"/>
                  </a:ext>
                </a:extLst>
              </p:cNvPr>
              <p:cNvSpPr txBox="1"/>
              <p:nvPr/>
            </p:nvSpPr>
            <p:spPr>
              <a:xfrm>
                <a:off x="1046826" y="1813229"/>
                <a:ext cx="2155809" cy="101566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oMath>
                  </m:oMathPara>
                </a14:m>
                <a:endParaRPr lang="en-GB" sz="1200" noProof="0" dirty="0"/>
              </a:p>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a:p>
                <a:pPr algn="ctr"/>
                <a:endParaRPr lang="en-GB" sz="1200" noProof="0" dirty="0"/>
              </a:p>
              <a:p>
                <a:pPr algn="ctr"/>
                <a:r>
                  <a:rPr lang="en-GB" sz="1200" noProof="0" dirty="0"/>
                  <a:t>Find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(2)</m:t>
                    </m:r>
                  </m:oMath>
                </a14:m>
                <a:endParaRPr lang="en-GB" sz="1200" noProof="0" dirty="0"/>
              </a:p>
              <a:p>
                <a:endParaRPr lang="en-GB" sz="1200" noProof="0" dirty="0"/>
              </a:p>
            </p:txBody>
          </p:sp>
        </mc:Choice>
        <mc:Fallback xmlns="">
          <p:sp>
            <p:nvSpPr>
              <p:cNvPr id="36" name="TextBox 35">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1046826" y="1813229"/>
                <a:ext cx="2155809" cy="101566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80CA423-62E4-4D9E-A61F-19419774D88E}"/>
                  </a:ext>
                </a:extLst>
              </p:cNvPr>
              <p:cNvSpPr txBox="1"/>
              <p:nvPr/>
            </p:nvSpPr>
            <p:spPr>
              <a:xfrm>
                <a:off x="2893731" y="1782686"/>
                <a:ext cx="2155809" cy="101566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oMath>
                  </m:oMathPara>
                </a14:m>
                <a:endParaRPr lang="en-GB" sz="1200" noProof="0" dirty="0"/>
              </a:p>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m:oMathPara>
                </a14:m>
                <a:endParaRPr lang="en-GB" sz="1200" noProof="0" dirty="0"/>
              </a:p>
              <a:p>
                <a:pPr algn="ctr"/>
                <a:endParaRPr lang="en-GB" sz="1200" noProof="0" dirty="0"/>
              </a:p>
              <a:p>
                <a:pPr algn="ctr"/>
                <a:r>
                  <a:rPr lang="en-GB" sz="1200" noProof="0" dirty="0"/>
                  <a:t>Find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(2)</m:t>
                    </m:r>
                  </m:oMath>
                </a14:m>
                <a:endParaRPr lang="en-GB" sz="1200" noProof="0" dirty="0"/>
              </a:p>
              <a:p>
                <a:endParaRPr lang="en-GB" sz="1200" noProof="0" dirty="0"/>
              </a:p>
            </p:txBody>
          </p:sp>
        </mc:Choice>
        <mc:Fallback xmlns="">
          <p:sp>
            <p:nvSpPr>
              <p:cNvPr id="37" name="TextBox 36">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893731" y="1782686"/>
                <a:ext cx="2155809" cy="101566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80CA423-62E4-4D9E-A61F-19419774D88E}"/>
                  </a:ext>
                </a:extLst>
              </p:cNvPr>
              <p:cNvSpPr txBox="1"/>
              <p:nvPr/>
            </p:nvSpPr>
            <p:spPr>
              <a:xfrm>
                <a:off x="4781599" y="1824906"/>
                <a:ext cx="2155809" cy="101566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oMath>
                  </m:oMathPara>
                </a14:m>
                <a:endParaRPr lang="en-GB" sz="1200" noProof="0" dirty="0"/>
              </a:p>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m:oMathPara>
                </a14:m>
                <a:endParaRPr lang="en-GB" sz="1200" noProof="0" dirty="0"/>
              </a:p>
              <a:p>
                <a:pPr algn="ctr"/>
                <a:endParaRPr lang="en-GB" sz="1200" noProof="0" dirty="0"/>
              </a:p>
              <a:p>
                <a:pPr algn="ctr"/>
                <a:r>
                  <a:rPr lang="en-GB" sz="1200" noProof="0" dirty="0"/>
                  <a:t>Find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(3)</m:t>
                    </m:r>
                  </m:oMath>
                </a14:m>
                <a:endParaRPr lang="en-GB" sz="1200" noProof="0" dirty="0"/>
              </a:p>
              <a:p>
                <a:endParaRPr lang="en-GB" sz="1200" noProof="0" dirty="0"/>
              </a:p>
            </p:txBody>
          </p:sp>
        </mc:Choice>
        <mc:Fallback xmlns="">
          <p:sp>
            <p:nvSpPr>
              <p:cNvPr id="38" name="TextBox 37">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781599" y="1824906"/>
                <a:ext cx="2155809" cy="1015663"/>
              </a:xfrm>
              <a:prstGeom prst="rect">
                <a:avLst/>
              </a:prstGeom>
              <a:blipFill>
                <a:blip r:embed="rId9"/>
                <a:stretch>
                  <a:fillRect/>
                </a:stretch>
              </a:blipFill>
            </p:spPr>
            <p:txBody>
              <a:bodyPr/>
              <a:lstStyle/>
              <a:p>
                <a:r>
                  <a:rPr lang="en-US">
                    <a:noFill/>
                  </a:rPr>
                  <a:t> </a:t>
                </a:r>
              </a:p>
            </p:txBody>
          </p:sp>
        </mc:Fallback>
      </mc:AlternateContent>
      <p:sp>
        <p:nvSpPr>
          <p:cNvPr id="39" name="Rectangle 38">
            <a:extLst>
              <a:ext uri="{FF2B5EF4-FFF2-40B4-BE49-F238E27FC236}">
                <a16:creationId xmlns:a16="http://schemas.microsoft.com/office/drawing/2014/main" id="{3C36006B-227E-45B6-ACB0-32FCE0D906FC}"/>
              </a:ext>
            </a:extLst>
          </p:cNvPr>
          <p:cNvSpPr/>
          <p:nvPr/>
        </p:nvSpPr>
        <p:spPr>
          <a:xfrm>
            <a:off x="80129" y="7819416"/>
            <a:ext cx="1623176" cy="20319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19CA145-0A55-47EB-B271-6690400B9E6B}"/>
                  </a:ext>
                </a:extLst>
              </p:cNvPr>
              <p:cNvSpPr txBox="1"/>
              <p:nvPr/>
            </p:nvSpPr>
            <p:spPr>
              <a:xfrm>
                <a:off x="99490" y="7835289"/>
                <a:ext cx="738728" cy="276999"/>
              </a:xfrm>
              <a:prstGeom prst="rect">
                <a:avLst/>
              </a:prstGeom>
              <a:noFill/>
            </p:spPr>
            <p:txBody>
              <a:bodyPr wrap="none" rtlCol="0">
                <a:spAutoFit/>
              </a:bodyPr>
              <a:lstStyle/>
              <a:p>
                <a:r>
                  <a:rPr lang="en-GB" sz="1200" noProof="0" dirty="0"/>
                  <a:t>e)</a:t>
                </a:r>
                <a:r>
                  <a:rPr lang="en-GB" sz="1200" i="1" noProof="0" dirty="0"/>
                  <a:t>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(3)</m:t>
                    </m:r>
                  </m:oMath>
                </a14:m>
                <a:endParaRPr lang="en-GB" sz="1200" noProof="0" dirty="0"/>
              </a:p>
            </p:txBody>
          </p:sp>
        </mc:Choice>
        <mc:Fallback xmlns="">
          <p:sp>
            <p:nvSpPr>
              <p:cNvPr id="40" name="TextBox 3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99490" y="7835289"/>
                <a:ext cx="738728" cy="276999"/>
              </a:xfrm>
              <a:prstGeom prst="rect">
                <a:avLst/>
              </a:prstGeom>
              <a:blipFill>
                <a:blip r:embed="rId10"/>
                <a:stretch>
                  <a:fillRect b="-15217"/>
                </a:stretch>
              </a:blipFill>
            </p:spPr>
            <p:txBody>
              <a:bodyPr/>
              <a:lstStyle/>
              <a:p>
                <a:r>
                  <a:rPr lang="en-US">
                    <a:noFill/>
                  </a:rPr>
                  <a:t> </a:t>
                </a:r>
              </a:p>
            </p:txBody>
          </p:sp>
        </mc:Fallback>
      </mc:AlternateContent>
      <p:sp>
        <p:nvSpPr>
          <p:cNvPr id="42" name="Rectangle 41">
            <a:extLst>
              <a:ext uri="{FF2B5EF4-FFF2-40B4-BE49-F238E27FC236}">
                <a16:creationId xmlns:a16="http://schemas.microsoft.com/office/drawing/2014/main" id="{3C36006B-227E-45B6-ACB0-32FCE0D906FC}"/>
              </a:ext>
            </a:extLst>
          </p:cNvPr>
          <p:cNvSpPr/>
          <p:nvPr/>
        </p:nvSpPr>
        <p:spPr>
          <a:xfrm>
            <a:off x="1760456" y="7822218"/>
            <a:ext cx="1623176" cy="20297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3" name="Rectangle 42">
            <a:extLst>
              <a:ext uri="{FF2B5EF4-FFF2-40B4-BE49-F238E27FC236}">
                <a16:creationId xmlns:a16="http://schemas.microsoft.com/office/drawing/2014/main" id="{3C36006B-227E-45B6-ACB0-32FCE0D906FC}"/>
              </a:ext>
            </a:extLst>
          </p:cNvPr>
          <p:cNvSpPr/>
          <p:nvPr/>
        </p:nvSpPr>
        <p:spPr>
          <a:xfrm>
            <a:off x="3463642" y="7815124"/>
            <a:ext cx="1623176" cy="20353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4" name="Rectangle 43">
            <a:extLst>
              <a:ext uri="{FF2B5EF4-FFF2-40B4-BE49-F238E27FC236}">
                <a16:creationId xmlns:a16="http://schemas.microsoft.com/office/drawing/2014/main" id="{3C36006B-227E-45B6-ACB0-32FCE0D906FC}"/>
              </a:ext>
            </a:extLst>
          </p:cNvPr>
          <p:cNvSpPr/>
          <p:nvPr/>
        </p:nvSpPr>
        <p:spPr>
          <a:xfrm>
            <a:off x="5151383" y="7819659"/>
            <a:ext cx="1623176" cy="20317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19CA145-0A55-47EB-B271-6690400B9E6B}"/>
                  </a:ext>
                </a:extLst>
              </p:cNvPr>
              <p:cNvSpPr txBox="1"/>
              <p:nvPr/>
            </p:nvSpPr>
            <p:spPr>
              <a:xfrm>
                <a:off x="1740707" y="7819416"/>
                <a:ext cx="702756" cy="276999"/>
              </a:xfrm>
              <a:prstGeom prst="rect">
                <a:avLst/>
              </a:prstGeom>
              <a:noFill/>
            </p:spPr>
            <p:txBody>
              <a:bodyPr wrap="none" rtlCol="0">
                <a:spAutoFit/>
              </a:bodyPr>
              <a:lstStyle/>
              <a:p>
                <a:r>
                  <a:rPr lang="en-GB" sz="1200" noProof="0" dirty="0"/>
                  <a:t>f)</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45" name="TextBox 44">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0707" y="7819416"/>
                <a:ext cx="702756" cy="276999"/>
              </a:xfrm>
              <a:prstGeom prst="rect">
                <a:avLst/>
              </a:prstGeom>
              <a:blipFill>
                <a:blip r:embed="rId11"/>
                <a:stretch>
                  <a:fillRect l="-870"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19CA145-0A55-47EB-B271-6690400B9E6B}"/>
                  </a:ext>
                </a:extLst>
              </p:cNvPr>
              <p:cNvSpPr txBox="1"/>
              <p:nvPr/>
            </p:nvSpPr>
            <p:spPr>
              <a:xfrm>
                <a:off x="3417970" y="7810787"/>
                <a:ext cx="743537" cy="276999"/>
              </a:xfrm>
              <a:prstGeom prst="rect">
                <a:avLst/>
              </a:prstGeom>
              <a:noFill/>
            </p:spPr>
            <p:txBody>
              <a:bodyPr wrap="none" rtlCol="0">
                <a:spAutoFit/>
              </a:bodyPr>
              <a:lstStyle/>
              <a:p>
                <a:r>
                  <a:rPr lang="en-GB" sz="1200" noProof="0" dirty="0"/>
                  <a:t>g)</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46" name="TextBox 45">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17970" y="7810787"/>
                <a:ext cx="743537" cy="276999"/>
              </a:xfrm>
              <a:prstGeom prst="rect">
                <a:avLst/>
              </a:prstGeom>
              <a:blipFill>
                <a:blip r:embed="rId12"/>
                <a:stretch>
                  <a:fillRect l="-820"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19CA145-0A55-47EB-B271-6690400B9E6B}"/>
                  </a:ext>
                </a:extLst>
              </p:cNvPr>
              <p:cNvSpPr txBox="1"/>
              <p:nvPr/>
            </p:nvSpPr>
            <p:spPr>
              <a:xfrm>
                <a:off x="5166828" y="7812227"/>
                <a:ext cx="846129" cy="276999"/>
              </a:xfrm>
              <a:prstGeom prst="rect">
                <a:avLst/>
              </a:prstGeom>
              <a:noFill/>
            </p:spPr>
            <p:txBody>
              <a:bodyPr wrap="none" rtlCol="0">
                <a:spAutoFit/>
              </a:bodyPr>
              <a:lstStyle/>
              <a:p>
                <a:r>
                  <a:rPr lang="en-GB" sz="1200" noProof="0" dirty="0"/>
                  <a:t>h)</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𝑔𝑔𝑔</m:t>
                    </m:r>
                    <m:r>
                      <a:rPr lang="en-GB" sz="1200" b="0" i="1" noProof="0" smtClean="0">
                        <a:latin typeface="Cambria Math" panose="02040503050406030204" pitchFamily="18" charset="0"/>
                        <a:ea typeface="Cambria Math" panose="02040503050406030204" pitchFamily="18" charset="0"/>
                      </a:rPr>
                      <m:t>(3)</m:t>
                    </m:r>
                  </m:oMath>
                </a14:m>
                <a:endParaRPr lang="en-GB" sz="1200" noProof="0" dirty="0"/>
              </a:p>
            </p:txBody>
          </p:sp>
        </mc:Choice>
        <mc:Fallback xmlns="">
          <p:sp>
            <p:nvSpPr>
              <p:cNvPr id="47" name="TextBox 4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66828" y="7812227"/>
                <a:ext cx="846129" cy="276999"/>
              </a:xfrm>
              <a:prstGeom prst="rect">
                <a:avLst/>
              </a:prstGeom>
              <a:blipFill>
                <a:blip r:embed="rId13"/>
                <a:stretch>
                  <a:fillRect l="-725" t="-2222" b="-17778"/>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C3C65E48-8C3D-6849-AD77-7AD8678AD8DA}"/>
              </a:ext>
            </a:extLst>
          </p:cNvPr>
          <p:cNvSpPr txBox="1"/>
          <p:nvPr/>
        </p:nvSpPr>
        <p:spPr>
          <a:xfrm>
            <a:off x="168614" y="5150639"/>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5C35B4E-1A91-2B79-CB91-26251F248652}"/>
                  </a:ext>
                </a:extLst>
              </p:cNvPr>
              <p:cNvSpPr txBox="1"/>
              <p:nvPr/>
            </p:nvSpPr>
            <p:spPr>
              <a:xfrm>
                <a:off x="139614" y="366976"/>
                <a:ext cx="6603926" cy="1039452"/>
              </a:xfrm>
              <a:prstGeom prst="rect">
                <a:avLst/>
              </a:prstGeom>
              <a:noFill/>
              <a:ln>
                <a:solidFill>
                  <a:schemeClr val="tx1"/>
                </a:solidFill>
              </a:ln>
            </p:spPr>
            <p:txBody>
              <a:bodyPr wrap="square" rtlCol="0">
                <a:spAutoFit/>
              </a:bodyPr>
              <a:lstStyle/>
              <a:p>
                <a:r>
                  <a:rPr lang="en-GB" sz="1200" noProof="0" dirty="0"/>
                  <a:t>A composite function is a combination of two functions where one is substituted into another. The notation for this is as such </a:t>
                </a:r>
                <a14:m>
                  <m:oMath xmlns:m="http://schemas.openxmlformats.org/officeDocument/2006/math">
                    <m:r>
                      <a:rPr lang="en-GB" sz="1200" i="1" noProof="0">
                        <a:latin typeface="Cambria Math" panose="02040503050406030204" pitchFamily="18" charset="0"/>
                      </a:rPr>
                      <m:t>𝑓𝑔</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a:t>
                </a:r>
                <a14:m>
                  <m:oMath xmlns:m="http://schemas.openxmlformats.org/officeDocument/2006/math">
                    <m:r>
                      <a:rPr lang="en-GB" sz="1200" i="1" noProof="0">
                        <a:latin typeface="Cambria Math" panose="02040503050406030204" pitchFamily="18" charset="0"/>
                      </a:rPr>
                      <m:t>𝑓</m:t>
                    </m:r>
                  </m:oMath>
                </a14:m>
                <a:r>
                  <a:rPr lang="en-GB" sz="1200" noProof="0" dirty="0"/>
                  <a:t> of </a:t>
                </a:r>
                <a14:m>
                  <m:oMath xmlns:m="http://schemas.openxmlformats.org/officeDocument/2006/math">
                    <m:r>
                      <a:rPr lang="en-GB" sz="1200" i="1" noProof="0">
                        <a:latin typeface="Cambria Math" panose="02040503050406030204" pitchFamily="18" charset="0"/>
                      </a:rPr>
                      <m:t>𝑔</m:t>
                    </m:r>
                  </m:oMath>
                </a14:m>
                <a:r>
                  <a:rPr lang="en-GB" sz="1200" noProof="0" dirty="0"/>
                  <a:t> of</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𝑥</m:t>
                    </m:r>
                  </m:oMath>
                </a14:m>
                <a:r>
                  <a:rPr lang="en-GB" sz="1200" noProof="0" dirty="0"/>
                  <a:t>). The order in which we find and use composite functions is not commutative, for example</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𝑓𝑔</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r>
                      <a:rPr lang="en-GB" sz="1200" i="1" noProof="0">
                        <a:latin typeface="Cambria Math" panose="02040503050406030204" pitchFamily="18" charset="0"/>
                      </a:rPr>
                      <m:t>𝑔𝑓</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When working with composite we are working from the inside out as is shown in the following example,</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𝑓𝑔</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r>
                      <a:rPr lang="en-GB" sz="1200" i="1" noProof="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𝑔</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e>
                    </m:d>
                  </m:oMath>
                </a14:m>
                <a:r>
                  <a:rPr lang="en-GB" sz="1200" noProof="0" dirty="0"/>
                  <a:t>, so we evaluate whatever </a:t>
                </a:r>
                <a14:m>
                  <m:oMath xmlns:m="http://schemas.openxmlformats.org/officeDocument/2006/math">
                    <m:r>
                      <a:rPr lang="en-GB" sz="1200" i="1" noProof="0">
                        <a:latin typeface="Cambria Math" panose="02040503050406030204" pitchFamily="18" charset="0"/>
                      </a:rPr>
                      <m:t>𝑔</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is first then substitute this into </a:t>
                </a:r>
                <a14:m>
                  <m:oMath xmlns:m="http://schemas.openxmlformats.org/officeDocument/2006/math">
                    <m:r>
                      <a:rPr lang="en-GB" sz="1200" i="1" noProof="0">
                        <a:latin typeface="Cambria Math" panose="02040503050406030204" pitchFamily="18" charset="0"/>
                      </a:rPr>
                      <m:t>𝑓</m:t>
                    </m:r>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oMath>
                </a14:m>
                <a:r>
                  <a:rPr lang="en-GB" sz="1200" noProof="0" dirty="0"/>
                  <a:t> as the new input.</a:t>
                </a:r>
              </a:p>
            </p:txBody>
          </p:sp>
        </mc:Choice>
        <mc:Fallback xmlns="">
          <p:sp>
            <p:nvSpPr>
              <p:cNvPr id="3" name="TextBox 2">
                <a:extLst>
                  <a:ext uri="{FF2B5EF4-FFF2-40B4-BE49-F238E27FC236}">
                    <a16:creationId xmlns:a16="http://schemas.microsoft.com/office/drawing/2014/main" id="{05C35B4E-1A91-2B79-CB91-26251F248652}"/>
                  </a:ext>
                </a:extLst>
              </p:cNvPr>
              <p:cNvSpPr txBox="1">
                <a:spLocks noRot="1" noChangeAspect="1" noMove="1" noResize="1" noEditPoints="1" noAdjustHandles="1" noChangeArrowheads="1" noChangeShapeType="1" noTextEdit="1"/>
              </p:cNvSpPr>
              <p:nvPr/>
            </p:nvSpPr>
            <p:spPr>
              <a:xfrm>
                <a:off x="139614" y="366976"/>
                <a:ext cx="6603926" cy="1039452"/>
              </a:xfrm>
              <a:prstGeom prst="rect">
                <a:avLst/>
              </a:prstGeom>
              <a:blipFill>
                <a:blip r:embed="rId14"/>
                <a:stretch>
                  <a:fillRect r="-184" b="-2890"/>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7771803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62370" y="54004"/>
                <a:ext cx="4965981" cy="276999"/>
              </a:xfrm>
              <a:prstGeom prst="rect">
                <a:avLst/>
              </a:prstGeom>
              <a:noFill/>
            </p:spPr>
            <p:txBody>
              <a:bodyPr wrap="square" rtlCol="0">
                <a:spAutoFit/>
              </a:bodyPr>
              <a:lstStyle/>
              <a:p>
                <a:r>
                  <a:rPr lang="en-GB" sz="1200" noProof="0" dirty="0"/>
                  <a:t>8. Given that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 </m:t>
                    </m:r>
                  </m:oMath>
                </a14:m>
                <a:r>
                  <a:rPr lang="en-GB" sz="1200" noProof="0" dirty="0"/>
                  <a:t>and </a:t>
                </a:r>
                <a14:m>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r>
                  <a:rPr lang="en-GB" sz="1200" noProof="0" dirty="0"/>
                  <a:t> Find:</a:t>
                </a:r>
              </a:p>
            </p:txBody>
          </p:sp>
        </mc:Choice>
        <mc:Fallback xmlns="">
          <p:sp>
            <p:nvSpPr>
              <p:cNvPr id="2" name="TextBox 1"/>
              <p:cNvSpPr txBox="1">
                <a:spLocks noRot="1" noChangeAspect="1" noMove="1" noResize="1" noEditPoints="1" noAdjustHandles="1" noChangeArrowheads="1" noChangeShapeType="1" noTextEdit="1"/>
              </p:cNvSpPr>
              <p:nvPr/>
            </p:nvSpPr>
            <p:spPr>
              <a:xfrm>
                <a:off x="62370" y="54004"/>
                <a:ext cx="4965981" cy="276999"/>
              </a:xfrm>
              <a:prstGeom prst="rect">
                <a:avLst/>
              </a:prstGeom>
              <a:blipFill>
                <a:blip r:embed="rId2"/>
                <a:stretch>
                  <a:fillRect t="-2222" b="-17778"/>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3C36006B-227E-45B6-ACB0-32FCE0D906FC}"/>
              </a:ext>
            </a:extLst>
          </p:cNvPr>
          <p:cNvSpPr/>
          <p:nvPr/>
        </p:nvSpPr>
        <p:spPr>
          <a:xfrm>
            <a:off x="62370" y="391910"/>
            <a:ext cx="1631215" cy="26933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19CA145-0A55-47EB-B271-6690400B9E6B}"/>
                  </a:ext>
                </a:extLst>
              </p:cNvPr>
              <p:cNvSpPr txBox="1"/>
              <p:nvPr/>
            </p:nvSpPr>
            <p:spPr>
              <a:xfrm>
                <a:off x="81732" y="407783"/>
                <a:ext cx="735522" cy="276999"/>
              </a:xfrm>
              <a:prstGeom prst="rect">
                <a:avLst/>
              </a:prstGeom>
              <a:noFill/>
            </p:spPr>
            <p:txBody>
              <a:bodyPr wrap="none" rtlCol="0">
                <a:spAutoFit/>
              </a:bodyPr>
              <a:lstStyle/>
              <a:p>
                <a:r>
                  <a:rPr lang="en-GB" sz="1200" noProof="0" dirty="0"/>
                  <a:t>a)</a:t>
                </a:r>
                <a:r>
                  <a:rPr lang="en-GB" sz="1200" i="1" noProof="0" dirty="0"/>
                  <a:t> </a:t>
                </a:r>
                <a14:m>
                  <m:oMath xmlns:m="http://schemas.openxmlformats.org/officeDocument/2006/math">
                    <m:r>
                      <a:rPr lang="en-GB" sz="1200" b="0" i="1" noProof="0" smtClean="0">
                        <a:latin typeface="Cambria Math" panose="02040503050406030204" pitchFamily="18" charset="0"/>
                      </a:rPr>
                      <m:t>𝑓𝑔</m:t>
                    </m:r>
                    <m:r>
                      <a:rPr lang="en-GB" sz="1200" b="0" i="1" noProof="0" smtClean="0">
                        <a:latin typeface="Cambria Math" panose="02040503050406030204" pitchFamily="18" charset="0"/>
                      </a:rPr>
                      <m:t>(2)</m:t>
                    </m:r>
                  </m:oMath>
                </a14:m>
                <a:endParaRPr lang="en-GB" sz="1200" noProof="0" dirty="0"/>
              </a:p>
            </p:txBody>
          </p:sp>
        </mc:Choice>
        <mc:Fallback xmlns="">
          <p:sp>
            <p:nvSpPr>
              <p:cNvPr id="4" name="TextBox 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81732" y="407783"/>
                <a:ext cx="735522" cy="276999"/>
              </a:xfrm>
              <a:prstGeom prst="rect">
                <a:avLst/>
              </a:prstGeom>
              <a:blipFill>
                <a:blip r:embed="rId3"/>
                <a:stretch>
                  <a:fillRect t="-2222" b="-17778"/>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3C36006B-227E-45B6-ACB0-32FCE0D906FC}"/>
              </a:ext>
            </a:extLst>
          </p:cNvPr>
          <p:cNvSpPr/>
          <p:nvPr/>
        </p:nvSpPr>
        <p:spPr>
          <a:xfrm>
            <a:off x="1742697" y="394712"/>
            <a:ext cx="1631215" cy="26887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Rectangle 6">
            <a:extLst>
              <a:ext uri="{FF2B5EF4-FFF2-40B4-BE49-F238E27FC236}">
                <a16:creationId xmlns:a16="http://schemas.microsoft.com/office/drawing/2014/main" id="{3C36006B-227E-45B6-ACB0-32FCE0D906FC}"/>
              </a:ext>
            </a:extLst>
          </p:cNvPr>
          <p:cNvSpPr/>
          <p:nvPr/>
        </p:nvSpPr>
        <p:spPr>
          <a:xfrm>
            <a:off x="3445883" y="387618"/>
            <a:ext cx="1631215" cy="26933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Rectangle 7">
            <a:extLst>
              <a:ext uri="{FF2B5EF4-FFF2-40B4-BE49-F238E27FC236}">
                <a16:creationId xmlns:a16="http://schemas.microsoft.com/office/drawing/2014/main" id="{3C36006B-227E-45B6-ACB0-32FCE0D906FC}"/>
              </a:ext>
            </a:extLst>
          </p:cNvPr>
          <p:cNvSpPr/>
          <p:nvPr/>
        </p:nvSpPr>
        <p:spPr>
          <a:xfrm>
            <a:off x="5133624" y="392152"/>
            <a:ext cx="1631215" cy="268588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19CA145-0A55-47EB-B271-6690400B9E6B}"/>
                  </a:ext>
                </a:extLst>
              </p:cNvPr>
              <p:cNvSpPr txBox="1"/>
              <p:nvPr/>
            </p:nvSpPr>
            <p:spPr>
              <a:xfrm>
                <a:off x="1722949" y="391910"/>
                <a:ext cx="741934" cy="276999"/>
              </a:xfrm>
              <a:prstGeom prst="rect">
                <a:avLst/>
              </a:prstGeom>
              <a:noFill/>
            </p:spPr>
            <p:txBody>
              <a:bodyPr wrap="none" rtlCol="0">
                <a:spAutoFit/>
              </a:bodyPr>
              <a:lstStyle/>
              <a:p>
                <a:r>
                  <a:rPr lang="en-GB" sz="1200" noProof="0" dirty="0"/>
                  <a:t>b)</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(4)</m:t>
                    </m:r>
                  </m:oMath>
                </a14:m>
                <a:endParaRPr lang="en-GB" sz="1200" noProof="0" dirty="0"/>
              </a:p>
            </p:txBody>
          </p:sp>
        </mc:Choice>
        <mc:Fallback xmlns="">
          <p:sp>
            <p:nvSpPr>
              <p:cNvPr id="9" name="TextBox 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22949" y="391910"/>
                <a:ext cx="741934" cy="276999"/>
              </a:xfrm>
              <a:prstGeom prst="rect">
                <a:avLst/>
              </a:prstGeom>
              <a:blipFill>
                <a:blip r:embed="rId4"/>
                <a:stretch>
                  <a:fillRect l="-826"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9CA145-0A55-47EB-B271-6690400B9E6B}"/>
                  </a:ext>
                </a:extLst>
              </p:cNvPr>
              <p:cNvSpPr txBox="1"/>
              <p:nvPr/>
            </p:nvSpPr>
            <p:spPr>
              <a:xfrm>
                <a:off x="3400212" y="383281"/>
                <a:ext cx="729367" cy="276999"/>
              </a:xfrm>
              <a:prstGeom prst="rect">
                <a:avLst/>
              </a:prstGeom>
              <a:noFill/>
            </p:spPr>
            <p:txBody>
              <a:bodyPr wrap="none" rtlCol="0">
                <a:spAutoFit/>
              </a:bodyPr>
              <a:lstStyle/>
              <a:p>
                <a:r>
                  <a:rPr lang="en-GB" sz="1200" noProof="0" dirty="0"/>
                  <a:t>c)</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10" name="TextBox 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00212" y="383281"/>
                <a:ext cx="729367" cy="276999"/>
              </a:xfrm>
              <a:prstGeom prst="rect">
                <a:avLst/>
              </a:prstGeom>
              <a:blipFill>
                <a:blip r:embed="rId5"/>
                <a:stretch>
                  <a:fillRect l="-840"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19CA145-0A55-47EB-B271-6690400B9E6B}"/>
                  </a:ext>
                </a:extLst>
              </p:cNvPr>
              <p:cNvSpPr txBox="1"/>
              <p:nvPr/>
            </p:nvSpPr>
            <p:spPr>
              <a:xfrm>
                <a:off x="5149070" y="384722"/>
                <a:ext cx="747477" cy="276999"/>
              </a:xfrm>
              <a:prstGeom prst="rect">
                <a:avLst/>
              </a:prstGeom>
              <a:noFill/>
            </p:spPr>
            <p:txBody>
              <a:bodyPr wrap="square" rtlCol="0">
                <a:spAutoFit/>
              </a:bodyPr>
              <a:lstStyle/>
              <a:p>
                <a:r>
                  <a:rPr lang="en-GB" sz="1200" noProof="0" dirty="0"/>
                  <a:t>d)</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(5)</m:t>
                    </m:r>
                  </m:oMath>
                </a14:m>
                <a:endParaRPr lang="en-GB" sz="1200" noProof="0" dirty="0"/>
              </a:p>
            </p:txBody>
          </p:sp>
        </mc:Choice>
        <mc:Fallback xmlns="">
          <p:sp>
            <p:nvSpPr>
              <p:cNvPr id="11" name="TextBox 10">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49070" y="384722"/>
                <a:ext cx="747477" cy="276999"/>
              </a:xfrm>
              <a:prstGeom prst="rect">
                <a:avLst/>
              </a:prstGeom>
              <a:blipFill>
                <a:blip r:embed="rId6"/>
                <a:stretch>
                  <a:fillRect l="-820"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3" name="Table 22"/>
              <p:cNvGraphicFramePr>
                <a:graphicFrameLocks noGrp="1"/>
              </p:cNvGraphicFramePr>
              <p:nvPr>
                <p:extLst>
                  <p:ext uri="{D42A27DB-BD31-4B8C-83A1-F6EECF244321}">
                    <p14:modId xmlns:p14="http://schemas.microsoft.com/office/powerpoint/2010/main" val="1725392468"/>
                  </p:ext>
                </p:extLst>
              </p:nvPr>
            </p:nvGraphicFramePr>
            <p:xfrm>
              <a:off x="104328" y="3431342"/>
              <a:ext cx="6683110" cy="3235362"/>
            </p:xfrm>
            <a:graphic>
              <a:graphicData uri="http://schemas.openxmlformats.org/drawingml/2006/table">
                <a:tbl>
                  <a:tblPr firstRow="1" bandRow="1">
                    <a:tableStyleId>{5C22544A-7EE6-4342-B048-85BDC9FD1C3A}</a:tableStyleId>
                  </a:tblPr>
                  <a:tblGrid>
                    <a:gridCol w="1391920">
                      <a:extLst>
                        <a:ext uri="{9D8B030D-6E8A-4147-A177-3AD203B41FA5}">
                          <a16:colId xmlns:a16="http://schemas.microsoft.com/office/drawing/2014/main" val="1568142362"/>
                        </a:ext>
                      </a:extLst>
                    </a:gridCol>
                    <a:gridCol w="1763730">
                      <a:extLst>
                        <a:ext uri="{9D8B030D-6E8A-4147-A177-3AD203B41FA5}">
                          <a16:colId xmlns:a16="http://schemas.microsoft.com/office/drawing/2014/main" val="3551711160"/>
                        </a:ext>
                      </a:extLst>
                    </a:gridCol>
                    <a:gridCol w="1763730">
                      <a:extLst>
                        <a:ext uri="{9D8B030D-6E8A-4147-A177-3AD203B41FA5}">
                          <a16:colId xmlns:a16="http://schemas.microsoft.com/office/drawing/2014/main" val="1149484190"/>
                        </a:ext>
                      </a:extLst>
                    </a:gridCol>
                    <a:gridCol w="1763730">
                      <a:extLst>
                        <a:ext uri="{9D8B030D-6E8A-4147-A177-3AD203B41FA5}">
                          <a16:colId xmlns:a16="http://schemas.microsoft.com/office/drawing/2014/main" val="3262454905"/>
                        </a:ext>
                      </a:extLst>
                    </a:gridCol>
                  </a:tblGrid>
                  <a:tr h="444361">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oMath>
                            </m:oMathPara>
                          </a14:m>
                          <a:endParaRPr lang="en-GB" sz="1200" b="0" noProof="0" dirty="0">
                            <a:solidFill>
                              <a:schemeClr val="tx1"/>
                            </a:solidFill>
                          </a:endParaRPr>
                        </a:p>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𝑔</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m:t>
                                </m:r>
                              </m:oMath>
                            </m:oMathPara>
                          </a14:m>
                          <a:endParaRPr lang="en-GB" sz="1200" b="0" noProof="0" dirty="0">
                            <a:solidFill>
                              <a:schemeClr val="tx1"/>
                            </a:solidFill>
                          </a:endParaRPr>
                        </a:p>
                        <a:p>
                          <a:pPr algn="ctr"/>
                          <a:r>
                            <a:rPr lang="en-GB" sz="1200" b="0" noProof="0" dirty="0">
                              <a:solidFill>
                                <a:schemeClr val="tx1"/>
                              </a:solidFill>
                            </a:rPr>
                            <a:t>Find </a:t>
                          </a:r>
                          <a14:m>
                            <m:oMath xmlns:m="http://schemas.openxmlformats.org/officeDocument/2006/math">
                              <m:r>
                                <a:rPr lang="en-GB" sz="1200" b="0" i="1" noProof="0" smtClean="0">
                                  <a:solidFill>
                                    <a:schemeClr val="tx1"/>
                                  </a:solidFill>
                                  <a:latin typeface="Cambria Math" panose="02040503050406030204" pitchFamily="18" charset="0"/>
                                </a:rPr>
                                <m:t>𝑓𝑔</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𝑥</m:t>
                                </m:r>
                              </m:oMath>
                            </m:oMathPara>
                          </a14:m>
                          <a:endParaRPr lang="en-GB" sz="1200" b="0" noProof="0" dirty="0">
                            <a:solidFill>
                              <a:schemeClr val="tx1"/>
                            </a:solidFill>
                          </a:endParaRPr>
                        </a:p>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𝑔</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oMath>
                            </m:oMathPara>
                          </a14:m>
                          <a:endParaRPr lang="en-GB" sz="1200" b="0" noProof="0" dirty="0">
                            <a:solidFill>
                              <a:schemeClr val="tx1"/>
                            </a:solidFill>
                          </a:endParaRPr>
                        </a:p>
                        <a:p>
                          <a:pPr algn="ctr"/>
                          <a:r>
                            <a:rPr lang="en-GB" sz="1200" b="0" noProof="0" dirty="0">
                              <a:solidFill>
                                <a:schemeClr val="tx1"/>
                              </a:solidFill>
                            </a:rPr>
                            <a:t>Find </a:t>
                          </a:r>
                          <a14:m>
                            <m:oMath xmlns:m="http://schemas.openxmlformats.org/officeDocument/2006/math">
                              <m:r>
                                <a:rPr lang="en-GB" sz="1200" b="0" i="1" noProof="0" smtClean="0">
                                  <a:solidFill>
                                    <a:schemeClr val="tx1"/>
                                  </a:solidFill>
                                  <a:latin typeface="Cambria Math" panose="02040503050406030204" pitchFamily="18" charset="0"/>
                                </a:rPr>
                                <m:t>𝑔𝑓</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𝑥</m:t>
                                </m:r>
                              </m:oMath>
                            </m:oMathPara>
                          </a14:m>
                          <a:endParaRPr lang="en-GB" sz="1200" b="0" noProof="0" dirty="0">
                            <a:solidFill>
                              <a:schemeClr val="tx1"/>
                            </a:solidFill>
                          </a:endParaRPr>
                        </a:p>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𝑔</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oMath>
                            </m:oMathPara>
                          </a14:m>
                          <a:endParaRPr lang="en-GB" sz="1200" b="0" noProof="0" dirty="0">
                            <a:solidFill>
                              <a:schemeClr val="tx1"/>
                            </a:solidFill>
                          </a:endParaRPr>
                        </a:p>
                        <a:p>
                          <a:pPr algn="ctr"/>
                          <a:r>
                            <a:rPr lang="en-GB" sz="1200" b="0" noProof="0" dirty="0">
                              <a:solidFill>
                                <a:schemeClr val="tx1"/>
                              </a:solidFill>
                            </a:rPr>
                            <a:t>Find </a:t>
                          </a:r>
                          <a14:m>
                            <m:oMath xmlns:m="http://schemas.openxmlformats.org/officeDocument/2006/math">
                              <m:r>
                                <a:rPr lang="en-GB" sz="1200" b="0" i="1" noProof="0" smtClean="0">
                                  <a:solidFill>
                                    <a:schemeClr val="tx1"/>
                                  </a:solidFill>
                                  <a:latin typeface="Cambria Math" panose="02040503050406030204" pitchFamily="18" charset="0"/>
                                </a:rPr>
                                <m:t>𝑓𝑔</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50819">
                    <a:tc>
                      <a:txBody>
                        <a:bodyPr/>
                        <a:lstStyle/>
                        <a:p>
                          <a:r>
                            <a:rPr lang="en-GB" sz="1060" noProof="0" dirty="0">
                              <a:solidFill>
                                <a:schemeClr val="tx1"/>
                              </a:solidFill>
                            </a:rPr>
                            <a:t>1) Substitute</a:t>
                          </a:r>
                          <a:r>
                            <a:rPr lang="en-GB" sz="1060" baseline="0" noProof="0" dirty="0">
                              <a:solidFill>
                                <a:schemeClr val="tx1"/>
                              </a:solidFill>
                            </a:rPr>
                            <a:t> one function into the other. </a:t>
                          </a:r>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544463">
                    <a:tc>
                      <a:txBody>
                        <a:bodyPr/>
                        <a:lstStyle/>
                        <a:p>
                          <a:r>
                            <a:rPr lang="en-GB" sz="1060" noProof="0" dirty="0">
                              <a:solidFill>
                                <a:schemeClr val="tx1"/>
                              </a:solidFill>
                            </a:rPr>
                            <a:t>2) Simplify where possible.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23" name="Table 22"/>
              <p:cNvGraphicFramePr>
                <a:graphicFrameLocks noGrp="1"/>
              </p:cNvGraphicFramePr>
              <p:nvPr>
                <p:extLst>
                  <p:ext uri="{D42A27DB-BD31-4B8C-83A1-F6EECF244321}">
                    <p14:modId xmlns:p14="http://schemas.microsoft.com/office/powerpoint/2010/main" val="1725392468"/>
                  </p:ext>
                </p:extLst>
              </p:nvPr>
            </p:nvGraphicFramePr>
            <p:xfrm>
              <a:off x="104328" y="3431342"/>
              <a:ext cx="6683110" cy="3235362"/>
            </p:xfrm>
            <a:graphic>
              <a:graphicData uri="http://schemas.openxmlformats.org/drawingml/2006/table">
                <a:tbl>
                  <a:tblPr firstRow="1" bandRow="1">
                    <a:tableStyleId>{5C22544A-7EE6-4342-B048-85BDC9FD1C3A}</a:tableStyleId>
                  </a:tblPr>
                  <a:tblGrid>
                    <a:gridCol w="1391920">
                      <a:extLst>
                        <a:ext uri="{9D8B030D-6E8A-4147-A177-3AD203B41FA5}">
                          <a16:colId xmlns:a16="http://schemas.microsoft.com/office/drawing/2014/main" val="1568142362"/>
                        </a:ext>
                      </a:extLst>
                    </a:gridCol>
                    <a:gridCol w="1763730">
                      <a:extLst>
                        <a:ext uri="{9D8B030D-6E8A-4147-A177-3AD203B41FA5}">
                          <a16:colId xmlns:a16="http://schemas.microsoft.com/office/drawing/2014/main" val="3551711160"/>
                        </a:ext>
                      </a:extLst>
                    </a:gridCol>
                    <a:gridCol w="1763730">
                      <a:extLst>
                        <a:ext uri="{9D8B030D-6E8A-4147-A177-3AD203B41FA5}">
                          <a16:colId xmlns:a16="http://schemas.microsoft.com/office/drawing/2014/main" val="1149484190"/>
                        </a:ext>
                      </a:extLst>
                    </a:gridCol>
                    <a:gridCol w="1763730">
                      <a:extLst>
                        <a:ext uri="{9D8B030D-6E8A-4147-A177-3AD203B41FA5}">
                          <a16:colId xmlns:a16="http://schemas.microsoft.com/office/drawing/2014/main" val="3262454905"/>
                        </a:ext>
                      </a:extLst>
                    </a:gridCol>
                  </a:tblGrid>
                  <a:tr h="64008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78966" t="-952" r="-200345" b="-40857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79585" t="-952" r="-101038" b="-40857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78621" t="-952" r="-690" b="-408571"/>
                          </a:stretch>
                        </a:blipFill>
                      </a:tcPr>
                    </a:tc>
                    <a:extLst>
                      <a:ext uri="{0D108BD9-81ED-4DB2-BD59-A6C34878D82A}">
                        <a16:rowId xmlns:a16="http://schemas.microsoft.com/office/drawing/2014/main" val="2357201933"/>
                      </a:ext>
                    </a:extLst>
                  </a:tr>
                  <a:tr h="1050819">
                    <a:tc>
                      <a:txBody>
                        <a:bodyPr/>
                        <a:lstStyle/>
                        <a:p>
                          <a:r>
                            <a:rPr lang="en-GB" sz="1060" noProof="0">
                              <a:solidFill>
                                <a:schemeClr val="tx1"/>
                              </a:solidFill>
                            </a:rPr>
                            <a:t>1) Substitute</a:t>
                          </a:r>
                          <a:r>
                            <a:rPr lang="en-GB" sz="1060" baseline="0" noProof="0">
                              <a:solidFill>
                                <a:schemeClr val="tx1"/>
                              </a:solidFill>
                            </a:rPr>
                            <a:t> one function into the other. </a:t>
                          </a:r>
                          <a:endParaRPr lang="en-GB" sz="106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544463">
                    <a:tc>
                      <a:txBody>
                        <a:bodyPr/>
                        <a:lstStyle/>
                        <a:p>
                          <a:r>
                            <a:rPr lang="en-GB" sz="1060" noProof="0">
                              <a:solidFill>
                                <a:schemeClr val="tx1"/>
                              </a:solidFill>
                            </a:rPr>
                            <a:t>2) Simplify where possible.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p:sp>
        <p:nvSpPr>
          <p:cNvPr id="28" name="Slide Number Placeholder 27"/>
          <p:cNvSpPr>
            <a:spLocks noGrp="1"/>
          </p:cNvSpPr>
          <p:nvPr>
            <p:ph type="sldNum" sz="quarter" idx="12"/>
          </p:nvPr>
        </p:nvSpPr>
        <p:spPr>
          <a:xfrm>
            <a:off x="5337757" y="9595998"/>
            <a:ext cx="1543050" cy="527403"/>
          </a:xfrm>
        </p:spPr>
        <p:txBody>
          <a:bodyPr/>
          <a:lstStyle/>
          <a:p>
            <a:fld id="{9BD3B4A0-BFF9-422C-B253-48BA94BE2F5B}" type="slidenum">
              <a:rPr lang="en-GB" noProof="0" smtClean="0"/>
              <a:t>43</a:t>
            </a:fld>
            <a:endParaRPr lang="en-GB" noProof="0" dirty="0"/>
          </a:p>
        </p:txBody>
      </p:sp>
      <p:sp>
        <p:nvSpPr>
          <p:cNvPr id="29" name="TextBox 28">
            <a:extLst>
              <a:ext uri="{FF2B5EF4-FFF2-40B4-BE49-F238E27FC236}">
                <a16:creationId xmlns:a16="http://schemas.microsoft.com/office/drawing/2014/main" id="{EA4FD2D9-8D23-4ADE-B70E-F386FDED2BED}"/>
              </a:ext>
            </a:extLst>
          </p:cNvPr>
          <p:cNvSpPr txBox="1"/>
          <p:nvPr/>
        </p:nvSpPr>
        <p:spPr>
          <a:xfrm>
            <a:off x="5126782" y="3147303"/>
            <a:ext cx="1577355" cy="276999"/>
          </a:xfrm>
          <a:prstGeom prst="rect">
            <a:avLst/>
          </a:prstGeom>
          <a:noFill/>
          <a:ln>
            <a:noFill/>
          </a:ln>
        </p:spPr>
        <p:txBody>
          <a:bodyPr wrap="none" rtlCol="0">
            <a:spAutoFit/>
          </a:bodyPr>
          <a:lstStyle/>
          <a:p>
            <a:r>
              <a:rPr lang="en-GB" sz="1200" b="1" i="1" noProof="0" dirty="0">
                <a:solidFill>
                  <a:srgbClr val="00B050"/>
                </a:solidFill>
              </a:rPr>
              <a:t>Example 18 - You do…</a:t>
            </a:r>
          </a:p>
        </p:txBody>
      </p:sp>
      <p:sp>
        <p:nvSpPr>
          <p:cNvPr id="30" name="TextBox 29">
            <a:extLst>
              <a:ext uri="{FF2B5EF4-FFF2-40B4-BE49-F238E27FC236}">
                <a16:creationId xmlns:a16="http://schemas.microsoft.com/office/drawing/2014/main" id="{08E67FA9-518E-48EE-9C3C-DC43DA12711A}"/>
              </a:ext>
            </a:extLst>
          </p:cNvPr>
          <p:cNvSpPr txBox="1"/>
          <p:nvPr/>
        </p:nvSpPr>
        <p:spPr>
          <a:xfrm>
            <a:off x="3334770" y="3122257"/>
            <a:ext cx="1554336" cy="276999"/>
          </a:xfrm>
          <a:prstGeom prst="rect">
            <a:avLst/>
          </a:prstGeom>
          <a:noFill/>
          <a:ln>
            <a:noFill/>
          </a:ln>
        </p:spPr>
        <p:txBody>
          <a:bodyPr wrap="none" rtlCol="0">
            <a:spAutoFit/>
          </a:bodyPr>
          <a:lstStyle/>
          <a:p>
            <a:r>
              <a:rPr lang="en-GB" sz="1200" b="1" i="1" noProof="0" dirty="0">
                <a:solidFill>
                  <a:schemeClr val="accent2"/>
                </a:solidFill>
              </a:rPr>
              <a:t>Example 17 - We do…</a:t>
            </a:r>
          </a:p>
        </p:txBody>
      </p:sp>
      <p:sp>
        <p:nvSpPr>
          <p:cNvPr id="31" name="TextBox 30">
            <a:extLst>
              <a:ext uri="{FF2B5EF4-FFF2-40B4-BE49-F238E27FC236}">
                <a16:creationId xmlns:a16="http://schemas.microsoft.com/office/drawing/2014/main" id="{0C5FDE3F-DC2A-468E-BF61-F69BF8BB2775}"/>
              </a:ext>
            </a:extLst>
          </p:cNvPr>
          <p:cNvSpPr txBox="1"/>
          <p:nvPr/>
        </p:nvSpPr>
        <p:spPr>
          <a:xfrm>
            <a:off x="1632261" y="3098239"/>
            <a:ext cx="1351780" cy="276999"/>
          </a:xfrm>
          <a:prstGeom prst="rect">
            <a:avLst/>
          </a:prstGeom>
          <a:noFill/>
          <a:ln>
            <a:noFill/>
          </a:ln>
        </p:spPr>
        <p:txBody>
          <a:bodyPr wrap="none" rtlCol="0">
            <a:spAutoFit/>
          </a:bodyPr>
          <a:lstStyle/>
          <a:p>
            <a:r>
              <a:rPr lang="en-GB" sz="1200" b="1" i="1" noProof="0" dirty="0">
                <a:solidFill>
                  <a:srgbClr val="FF0000"/>
                </a:solidFill>
              </a:rPr>
              <a:t>Example 16- I do…</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19CA145-0A55-47EB-B271-6690400B9E6B}"/>
                  </a:ext>
                </a:extLst>
              </p:cNvPr>
              <p:cNvSpPr txBox="1"/>
              <p:nvPr/>
            </p:nvSpPr>
            <p:spPr>
              <a:xfrm>
                <a:off x="2717757" y="7015707"/>
                <a:ext cx="1083886" cy="430887"/>
              </a:xfrm>
              <a:prstGeom prst="rect">
                <a:avLst/>
              </a:prstGeom>
              <a:noFill/>
            </p:spPr>
            <p:txBody>
              <a:bodyPr wrap="none" rtlCol="0">
                <a:spAutoFit/>
              </a:bodyPr>
              <a:lstStyle/>
              <a:p>
                <a:r>
                  <a:rPr lang="en-GB" sz="1050" noProof="0" dirty="0"/>
                  <a:t>9</a:t>
                </a:r>
                <a:r>
                  <a:rPr lang="en-GB" sz="1050" b="0" noProof="0" dirty="0"/>
                  <a:t>) </a:t>
                </a:r>
                <a14:m>
                  <m:oMath xmlns:m="http://schemas.openxmlformats.org/officeDocument/2006/math">
                    <m:r>
                      <a:rPr lang="en-GB" sz="1050" b="0" i="1" noProof="0" smtClean="0">
                        <a:latin typeface="Cambria Math" panose="02040503050406030204" pitchFamily="18" charset="0"/>
                      </a:rPr>
                      <m:t>𝑓</m:t>
                    </m:r>
                    <m:d>
                      <m:dPr>
                        <m:ctrlPr>
                          <a:rPr lang="en-GB" sz="1050" b="0" i="1" noProof="0" smtClean="0">
                            <a:latin typeface="Cambria Math" panose="02040503050406030204" pitchFamily="18" charset="0"/>
                          </a:rPr>
                        </m:ctrlPr>
                      </m:dPr>
                      <m:e>
                        <m:r>
                          <a:rPr lang="en-GB" sz="1050" b="0" i="1" noProof="0" smtClean="0">
                            <a:latin typeface="Cambria Math" panose="02040503050406030204" pitchFamily="18" charset="0"/>
                          </a:rPr>
                          <m:t>𝑥</m:t>
                        </m:r>
                      </m:e>
                    </m:d>
                    <m:r>
                      <a:rPr lang="en-GB" sz="1050" b="0" i="1" noProof="0" smtClean="0">
                        <a:latin typeface="Cambria Math" panose="02040503050406030204" pitchFamily="18" charset="0"/>
                      </a:rPr>
                      <m:t>=2</m:t>
                    </m:r>
                    <m:r>
                      <a:rPr lang="en-GB" sz="1050" b="0" i="1" noProof="0" smtClean="0">
                        <a:latin typeface="Cambria Math" panose="02040503050406030204" pitchFamily="18" charset="0"/>
                      </a:rPr>
                      <m:t>𝑥</m:t>
                    </m:r>
                  </m:oMath>
                </a14:m>
                <a:endParaRPr lang="en-GB" sz="1050" b="0" i="1" noProof="0" dirty="0"/>
              </a:p>
              <a:p>
                <a:pPr/>
                <a14:m>
                  <m:oMathPara xmlns:m="http://schemas.openxmlformats.org/officeDocument/2006/math">
                    <m:oMathParaPr>
                      <m:jc m:val="centerGroup"/>
                    </m:oMathParaPr>
                    <m:oMath xmlns:m="http://schemas.openxmlformats.org/officeDocument/2006/math">
                      <m:r>
                        <a:rPr lang="en-GB" sz="1050" b="0" i="1" noProof="0" smtClean="0">
                          <a:latin typeface="Cambria Math" panose="02040503050406030204" pitchFamily="18" charset="0"/>
                        </a:rPr>
                        <m:t>𝑔</m:t>
                      </m:r>
                      <m:d>
                        <m:dPr>
                          <m:ctrlPr>
                            <a:rPr lang="en-GB" sz="1050" b="0" i="1" noProof="0" smtClean="0">
                              <a:latin typeface="Cambria Math" panose="02040503050406030204" pitchFamily="18" charset="0"/>
                            </a:rPr>
                          </m:ctrlPr>
                        </m:dPr>
                        <m:e>
                          <m:r>
                            <a:rPr lang="en-GB" sz="1050" b="0" i="1" noProof="0" smtClean="0">
                              <a:latin typeface="Cambria Math" panose="02040503050406030204" pitchFamily="18" charset="0"/>
                            </a:rPr>
                            <m:t>𝑥</m:t>
                          </m:r>
                        </m:e>
                      </m:d>
                      <m:r>
                        <a:rPr lang="en-GB" sz="1050" b="0" i="1" noProof="0" smtClean="0">
                          <a:latin typeface="Cambria Math" panose="02040503050406030204" pitchFamily="18" charset="0"/>
                        </a:rPr>
                        <m:t>=</m:t>
                      </m:r>
                      <m:r>
                        <a:rPr lang="en-GB" sz="1050" b="0" i="1" noProof="0" smtClean="0">
                          <a:latin typeface="Cambria Math" panose="02040503050406030204" pitchFamily="18" charset="0"/>
                        </a:rPr>
                        <m:t>𝑥</m:t>
                      </m:r>
                      <m:r>
                        <a:rPr lang="en-GB" sz="1050" b="0" i="1" noProof="0" smtClean="0">
                          <a:latin typeface="Cambria Math" panose="02040503050406030204" pitchFamily="18" charset="0"/>
                        </a:rPr>
                        <m:t>+1</m:t>
                      </m:r>
                    </m:oMath>
                  </m:oMathPara>
                </a14:m>
                <a:endParaRPr lang="en-GB" sz="1050" noProof="0" dirty="0"/>
              </a:p>
            </p:txBody>
          </p:sp>
        </mc:Choice>
        <mc:Fallback xmlns="">
          <p:sp>
            <p:nvSpPr>
              <p:cNvPr id="37" name="TextBox 3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2717757" y="7015707"/>
                <a:ext cx="1083886" cy="430887"/>
              </a:xfrm>
              <a:prstGeom prst="rect">
                <a:avLst/>
              </a:prstGeom>
              <a:blipFill>
                <a:blip r:embed="rId8"/>
                <a:stretch>
                  <a:fillRect/>
                </a:stretch>
              </a:blipFill>
            </p:spPr>
            <p:txBody>
              <a:bodyPr/>
              <a:lstStyle/>
              <a:p>
                <a:r>
                  <a:rPr lang="en-US">
                    <a:noFill/>
                  </a:rPr>
                  <a:t> </a:t>
                </a:r>
              </a:p>
            </p:txBody>
          </p:sp>
        </mc:Fallback>
      </mc:AlternateContent>
      <p:sp>
        <p:nvSpPr>
          <p:cNvPr id="38" name="TextBox 37"/>
          <p:cNvSpPr txBox="1"/>
          <p:nvPr/>
        </p:nvSpPr>
        <p:spPr>
          <a:xfrm>
            <a:off x="1721142" y="6835631"/>
            <a:ext cx="3751155" cy="276999"/>
          </a:xfrm>
          <a:prstGeom prst="rect">
            <a:avLst/>
          </a:prstGeom>
          <a:noFill/>
        </p:spPr>
        <p:txBody>
          <a:bodyPr wrap="none" rtlCol="0">
            <a:spAutoFit/>
          </a:bodyPr>
          <a:lstStyle/>
          <a:p>
            <a:pPr algn="ctr"/>
            <a:r>
              <a:rPr lang="en-GB" sz="1200" noProof="0" dirty="0"/>
              <a:t>Find the value of these composite functions algebraically. </a:t>
            </a:r>
          </a:p>
        </p:txBody>
      </p:sp>
      <p:sp>
        <p:nvSpPr>
          <p:cNvPr id="41" name="Rectangle 40">
            <a:extLst>
              <a:ext uri="{FF2B5EF4-FFF2-40B4-BE49-F238E27FC236}">
                <a16:creationId xmlns:a16="http://schemas.microsoft.com/office/drawing/2014/main" id="{3C36006B-227E-45B6-ACB0-32FCE0D906FC}"/>
              </a:ext>
            </a:extLst>
          </p:cNvPr>
          <p:cNvSpPr/>
          <p:nvPr/>
        </p:nvSpPr>
        <p:spPr>
          <a:xfrm>
            <a:off x="9085" y="7394014"/>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3" name="Rectangle 42">
            <a:extLst>
              <a:ext uri="{FF2B5EF4-FFF2-40B4-BE49-F238E27FC236}">
                <a16:creationId xmlns:a16="http://schemas.microsoft.com/office/drawing/2014/main" id="{3C36006B-227E-45B6-ACB0-32FCE0D906FC}"/>
              </a:ext>
            </a:extLst>
          </p:cNvPr>
          <p:cNvSpPr/>
          <p:nvPr/>
        </p:nvSpPr>
        <p:spPr>
          <a:xfrm>
            <a:off x="1689412" y="7396817"/>
            <a:ext cx="1623176" cy="2421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4" name="Rectangle 43">
            <a:extLst>
              <a:ext uri="{FF2B5EF4-FFF2-40B4-BE49-F238E27FC236}">
                <a16:creationId xmlns:a16="http://schemas.microsoft.com/office/drawing/2014/main" id="{3C36006B-227E-45B6-ACB0-32FCE0D906FC}"/>
              </a:ext>
            </a:extLst>
          </p:cNvPr>
          <p:cNvSpPr/>
          <p:nvPr/>
        </p:nvSpPr>
        <p:spPr>
          <a:xfrm>
            <a:off x="3392598" y="7389722"/>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5" name="Rectangle 44">
            <a:extLst>
              <a:ext uri="{FF2B5EF4-FFF2-40B4-BE49-F238E27FC236}">
                <a16:creationId xmlns:a16="http://schemas.microsoft.com/office/drawing/2014/main" id="{3C36006B-227E-45B6-ACB0-32FCE0D906FC}"/>
              </a:ext>
            </a:extLst>
          </p:cNvPr>
          <p:cNvSpPr/>
          <p:nvPr/>
        </p:nvSpPr>
        <p:spPr>
          <a:xfrm>
            <a:off x="5080339" y="7394257"/>
            <a:ext cx="1623176" cy="24187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19CA145-0A55-47EB-B271-6690400B9E6B}"/>
                  </a:ext>
                </a:extLst>
              </p:cNvPr>
              <p:cNvSpPr txBox="1"/>
              <p:nvPr/>
            </p:nvSpPr>
            <p:spPr>
              <a:xfrm>
                <a:off x="1669663" y="7394015"/>
                <a:ext cx="745269" cy="276999"/>
              </a:xfrm>
              <a:prstGeom prst="rect">
                <a:avLst/>
              </a:prstGeom>
              <a:noFill/>
            </p:spPr>
            <p:txBody>
              <a:bodyPr wrap="none" rtlCol="0">
                <a:spAutoFit/>
              </a:bodyPr>
              <a:lstStyle/>
              <a:p>
                <a:r>
                  <a:rPr lang="en-GB" sz="1200" noProof="0" dirty="0"/>
                  <a:t>b)</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46" name="TextBox 45">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669663" y="7394015"/>
                <a:ext cx="745269" cy="276999"/>
              </a:xfrm>
              <a:prstGeom prst="rect">
                <a:avLst/>
              </a:prstGeom>
              <a:blipFill>
                <a:blip r:embed="rId9"/>
                <a:stretch>
                  <a:fillRect l="-820"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19CA145-0A55-47EB-B271-6690400B9E6B}"/>
                  </a:ext>
                </a:extLst>
              </p:cNvPr>
              <p:cNvSpPr txBox="1"/>
              <p:nvPr/>
            </p:nvSpPr>
            <p:spPr>
              <a:xfrm>
                <a:off x="3346926" y="7385386"/>
                <a:ext cx="721223" cy="276999"/>
              </a:xfrm>
              <a:prstGeom prst="rect">
                <a:avLst/>
              </a:prstGeom>
              <a:noFill/>
            </p:spPr>
            <p:txBody>
              <a:bodyPr wrap="none" rtlCol="0">
                <a:spAutoFit/>
              </a:bodyPr>
              <a:lstStyle/>
              <a:p>
                <a:r>
                  <a:rPr lang="en-GB" sz="1200" noProof="0" dirty="0"/>
                  <a:t>c)</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47" name="TextBox 4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346926" y="7385386"/>
                <a:ext cx="721223" cy="276999"/>
              </a:xfrm>
              <a:prstGeom prst="rect">
                <a:avLst/>
              </a:prstGeom>
              <a:blipFill>
                <a:blip r:embed="rId10"/>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519CA145-0A55-47EB-B271-6690400B9E6B}"/>
                  </a:ext>
                </a:extLst>
              </p:cNvPr>
              <p:cNvSpPr txBox="1"/>
              <p:nvPr/>
            </p:nvSpPr>
            <p:spPr>
              <a:xfrm>
                <a:off x="5095784" y="7386826"/>
                <a:ext cx="753027" cy="276999"/>
              </a:xfrm>
              <a:prstGeom prst="rect">
                <a:avLst/>
              </a:prstGeom>
              <a:noFill/>
            </p:spPr>
            <p:txBody>
              <a:bodyPr wrap="none" rtlCol="0">
                <a:spAutoFit/>
              </a:bodyPr>
              <a:lstStyle/>
              <a:p>
                <a:r>
                  <a:rPr lang="en-GB" sz="1200" noProof="0" dirty="0"/>
                  <a:t>d)</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48" name="TextBox 47">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095784" y="7386826"/>
                <a:ext cx="753027" cy="276999"/>
              </a:xfrm>
              <a:prstGeom prst="rect">
                <a:avLst/>
              </a:prstGeom>
              <a:blipFill>
                <a:blip r:embed="rId11"/>
                <a:stretch>
                  <a:fillRect l="-813"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19CA145-0A55-47EB-B271-6690400B9E6B}"/>
                  </a:ext>
                </a:extLst>
              </p:cNvPr>
              <p:cNvSpPr txBox="1"/>
              <p:nvPr/>
            </p:nvSpPr>
            <p:spPr>
              <a:xfrm>
                <a:off x="47017" y="7394900"/>
                <a:ext cx="736997" cy="276999"/>
              </a:xfrm>
              <a:prstGeom prst="rect">
                <a:avLst/>
              </a:prstGeom>
              <a:noFill/>
            </p:spPr>
            <p:txBody>
              <a:bodyPr wrap="none" rtlCol="0">
                <a:spAutoFit/>
              </a:bodyPr>
              <a:lstStyle/>
              <a:p>
                <a:r>
                  <a:rPr lang="en-GB" sz="1200" noProof="0" dirty="0"/>
                  <a:t>a)</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52" name="TextBox 51">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47017" y="7394900"/>
                <a:ext cx="736997" cy="276999"/>
              </a:xfrm>
              <a:prstGeom prst="rect">
                <a:avLst/>
              </a:prstGeom>
              <a:blipFill>
                <a:blip r:embed="rId12"/>
                <a:stretch>
                  <a:fillRect l="-826" b="-15217"/>
                </a:stretch>
              </a:blipFill>
            </p:spPr>
            <p:txBody>
              <a:bodyPr/>
              <a:lstStyle/>
              <a:p>
                <a:r>
                  <a:rPr lang="en-US">
                    <a:noFill/>
                  </a:rPr>
                  <a:t> </a:t>
                </a:r>
              </a:p>
            </p:txBody>
          </p:sp>
        </mc:Fallback>
      </mc:AlternateContent>
      <p:sp>
        <p:nvSpPr>
          <p:cNvPr id="53" name="TextBox 52">
            <a:extLst>
              <a:ext uri="{FF2B5EF4-FFF2-40B4-BE49-F238E27FC236}">
                <a16:creationId xmlns:a16="http://schemas.microsoft.com/office/drawing/2014/main" id="{C3C65E48-8C3D-6849-AD77-7AD8678AD8DA}"/>
              </a:ext>
            </a:extLst>
          </p:cNvPr>
          <p:cNvSpPr txBox="1"/>
          <p:nvPr/>
        </p:nvSpPr>
        <p:spPr>
          <a:xfrm>
            <a:off x="104328" y="6896884"/>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7060080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36006B-227E-45B6-ACB0-32FCE0D906FC}"/>
              </a:ext>
            </a:extLst>
          </p:cNvPr>
          <p:cNvSpPr/>
          <p:nvPr/>
        </p:nvSpPr>
        <p:spPr>
          <a:xfrm>
            <a:off x="80010" y="720116"/>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19CA145-0A55-47EB-B271-6690400B9E6B}"/>
                  </a:ext>
                </a:extLst>
              </p:cNvPr>
              <p:cNvSpPr txBox="1"/>
              <p:nvPr/>
            </p:nvSpPr>
            <p:spPr>
              <a:xfrm>
                <a:off x="82314" y="289104"/>
                <a:ext cx="1112099" cy="461665"/>
              </a:xfrm>
              <a:prstGeom prst="rect">
                <a:avLst/>
              </a:prstGeom>
              <a:noFill/>
            </p:spPr>
            <p:txBody>
              <a:bodyPr wrap="none" rtlCol="0">
                <a:spAutoFit/>
              </a:bodyPr>
              <a:lstStyle/>
              <a:p>
                <a:r>
                  <a:rPr lang="en-GB" sz="1200" noProof="0" dirty="0"/>
                  <a:t>10</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oMath>
                </a14:m>
                <a:endParaRPr lang="en-GB" sz="1200" b="0" i="1"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m:oMathPara>
                </a14:m>
                <a:endParaRPr lang="en-GB" sz="1200" noProof="0" dirty="0"/>
              </a:p>
            </p:txBody>
          </p:sp>
        </mc:Choice>
        <mc:Fallback xmlns="">
          <p:sp>
            <p:nvSpPr>
              <p:cNvPr id="3" name="TextBox 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82314" y="289104"/>
                <a:ext cx="1112099" cy="461665"/>
              </a:xfrm>
              <a:prstGeom prst="rect">
                <a:avLst/>
              </a:prstGeom>
              <a:blipFill>
                <a:blip r:embed="rId2"/>
                <a:stretch>
                  <a:fillRect l="-54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3C36006B-227E-45B6-ACB0-32FCE0D906FC}"/>
              </a:ext>
            </a:extLst>
          </p:cNvPr>
          <p:cNvSpPr/>
          <p:nvPr/>
        </p:nvSpPr>
        <p:spPr>
          <a:xfrm>
            <a:off x="1760337" y="722919"/>
            <a:ext cx="1623176" cy="2421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Rectangle 5">
            <a:extLst>
              <a:ext uri="{FF2B5EF4-FFF2-40B4-BE49-F238E27FC236}">
                <a16:creationId xmlns:a16="http://schemas.microsoft.com/office/drawing/2014/main" id="{3C36006B-227E-45B6-ACB0-32FCE0D906FC}"/>
              </a:ext>
            </a:extLst>
          </p:cNvPr>
          <p:cNvSpPr/>
          <p:nvPr/>
        </p:nvSpPr>
        <p:spPr>
          <a:xfrm>
            <a:off x="3463523" y="715824"/>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Rectangle 6">
            <a:extLst>
              <a:ext uri="{FF2B5EF4-FFF2-40B4-BE49-F238E27FC236}">
                <a16:creationId xmlns:a16="http://schemas.microsoft.com/office/drawing/2014/main" id="{3C36006B-227E-45B6-ACB0-32FCE0D906FC}"/>
              </a:ext>
            </a:extLst>
          </p:cNvPr>
          <p:cNvSpPr/>
          <p:nvPr/>
        </p:nvSpPr>
        <p:spPr>
          <a:xfrm>
            <a:off x="5151264" y="720359"/>
            <a:ext cx="1623176" cy="24187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9CA145-0A55-47EB-B271-6690400B9E6B}"/>
                  </a:ext>
                </a:extLst>
              </p:cNvPr>
              <p:cNvSpPr txBox="1"/>
              <p:nvPr/>
            </p:nvSpPr>
            <p:spPr>
              <a:xfrm>
                <a:off x="1740588" y="720117"/>
                <a:ext cx="745269" cy="276999"/>
              </a:xfrm>
              <a:prstGeom prst="rect">
                <a:avLst/>
              </a:prstGeom>
              <a:noFill/>
            </p:spPr>
            <p:txBody>
              <a:bodyPr wrap="none" rtlCol="0">
                <a:spAutoFit/>
              </a:bodyPr>
              <a:lstStyle/>
              <a:p>
                <a:r>
                  <a:rPr lang="en-GB" sz="1200" noProof="0" dirty="0"/>
                  <a:t>b)</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8" name="TextBox 7">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0588" y="720117"/>
                <a:ext cx="745269" cy="276999"/>
              </a:xfrm>
              <a:prstGeom prst="rect">
                <a:avLst/>
              </a:prstGeom>
              <a:blipFill>
                <a:blip r:embed="rId3"/>
                <a:stretch>
                  <a:fillRect l="-820"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19CA145-0A55-47EB-B271-6690400B9E6B}"/>
                  </a:ext>
                </a:extLst>
              </p:cNvPr>
              <p:cNvSpPr txBox="1"/>
              <p:nvPr/>
            </p:nvSpPr>
            <p:spPr>
              <a:xfrm>
                <a:off x="3417851" y="711488"/>
                <a:ext cx="721223" cy="276999"/>
              </a:xfrm>
              <a:prstGeom prst="rect">
                <a:avLst/>
              </a:prstGeom>
              <a:noFill/>
            </p:spPr>
            <p:txBody>
              <a:bodyPr wrap="none" rtlCol="0">
                <a:spAutoFit/>
              </a:bodyPr>
              <a:lstStyle/>
              <a:p>
                <a:r>
                  <a:rPr lang="en-GB" sz="1200" noProof="0" dirty="0"/>
                  <a:t>c)</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9" name="TextBox 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17851" y="711488"/>
                <a:ext cx="721223" cy="276999"/>
              </a:xfrm>
              <a:prstGeom prst="rect">
                <a:avLst/>
              </a:prstGeom>
              <a:blipFill>
                <a:blip r:embed="rId4"/>
                <a:stretch>
                  <a:fillRect l="-847"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9CA145-0A55-47EB-B271-6690400B9E6B}"/>
                  </a:ext>
                </a:extLst>
              </p:cNvPr>
              <p:cNvSpPr txBox="1"/>
              <p:nvPr/>
            </p:nvSpPr>
            <p:spPr>
              <a:xfrm>
                <a:off x="5166709" y="712928"/>
                <a:ext cx="753027" cy="276999"/>
              </a:xfrm>
              <a:prstGeom prst="rect">
                <a:avLst/>
              </a:prstGeom>
              <a:noFill/>
            </p:spPr>
            <p:txBody>
              <a:bodyPr wrap="none" rtlCol="0">
                <a:spAutoFit/>
              </a:bodyPr>
              <a:lstStyle/>
              <a:p>
                <a:r>
                  <a:rPr lang="en-GB" sz="1200" noProof="0" dirty="0"/>
                  <a:t>d)</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10" name="TextBox 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66709" y="712928"/>
                <a:ext cx="753027" cy="276999"/>
              </a:xfrm>
              <a:prstGeom prst="rect">
                <a:avLst/>
              </a:prstGeom>
              <a:blipFill>
                <a:blip r:embed="rId5"/>
                <a:stretch>
                  <a:fillRect l="-813" t="-2222" b="-17778"/>
                </a:stretch>
              </a:blipFill>
            </p:spPr>
            <p:txBody>
              <a:bodyPr/>
              <a:lstStyle/>
              <a:p>
                <a:r>
                  <a:rPr lang="en-US">
                    <a:noFill/>
                  </a:rPr>
                  <a:t> </a:t>
                </a:r>
              </a:p>
            </p:txBody>
          </p:sp>
        </mc:Fallback>
      </mc:AlternateContent>
      <p:sp>
        <p:nvSpPr>
          <p:cNvPr id="15" name="TextBox 14"/>
          <p:cNvSpPr txBox="1"/>
          <p:nvPr/>
        </p:nvSpPr>
        <p:spPr>
          <a:xfrm>
            <a:off x="1737436" y="0"/>
            <a:ext cx="3751155" cy="276999"/>
          </a:xfrm>
          <a:prstGeom prst="rect">
            <a:avLst/>
          </a:prstGeom>
          <a:noFill/>
        </p:spPr>
        <p:txBody>
          <a:bodyPr wrap="none" rtlCol="0">
            <a:spAutoFit/>
          </a:bodyPr>
          <a:lstStyle/>
          <a:p>
            <a:pPr algn="ctr"/>
            <a:r>
              <a:rPr lang="en-GB" sz="1200" noProof="0" dirty="0"/>
              <a:t>Find the value of these composite functions algebraically.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19CA145-0A55-47EB-B271-6690400B9E6B}"/>
                  </a:ext>
                </a:extLst>
              </p:cNvPr>
              <p:cNvSpPr txBox="1"/>
              <p:nvPr/>
            </p:nvSpPr>
            <p:spPr>
              <a:xfrm>
                <a:off x="117942" y="721002"/>
                <a:ext cx="736997" cy="276999"/>
              </a:xfrm>
              <a:prstGeom prst="rect">
                <a:avLst/>
              </a:prstGeom>
              <a:noFill/>
            </p:spPr>
            <p:txBody>
              <a:bodyPr wrap="none" rtlCol="0">
                <a:spAutoFit/>
              </a:bodyPr>
              <a:lstStyle/>
              <a:p>
                <a:r>
                  <a:rPr lang="en-GB" sz="1200" noProof="0" dirty="0"/>
                  <a:t>a)</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16" name="TextBox 15">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17942" y="721002"/>
                <a:ext cx="736997" cy="276999"/>
              </a:xfrm>
              <a:prstGeom prst="rect">
                <a:avLst/>
              </a:prstGeom>
              <a:blipFill>
                <a:blip r:embed="rId6"/>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19CA145-0A55-47EB-B271-6690400B9E6B}"/>
                  </a:ext>
                </a:extLst>
              </p:cNvPr>
              <p:cNvSpPr txBox="1"/>
              <p:nvPr/>
            </p:nvSpPr>
            <p:spPr>
              <a:xfrm>
                <a:off x="81848" y="3229076"/>
                <a:ext cx="1195455" cy="461665"/>
              </a:xfrm>
              <a:prstGeom prst="rect">
                <a:avLst/>
              </a:prstGeom>
              <a:noFill/>
            </p:spPr>
            <p:txBody>
              <a:bodyPr wrap="none" rtlCol="0">
                <a:spAutoFit/>
              </a:bodyPr>
              <a:lstStyle/>
              <a:p>
                <a:r>
                  <a:rPr lang="en-GB" sz="1200" noProof="0" dirty="0"/>
                  <a:t>11</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=5</m:t>
                    </m:r>
                    <m:r>
                      <a:rPr lang="en-GB" sz="1200" b="0" i="1" noProof="0" smtClean="0">
                        <a:latin typeface="Cambria Math" panose="02040503050406030204" pitchFamily="18" charset="0"/>
                      </a:rPr>
                      <m:t>𝑥</m:t>
                    </m:r>
                  </m:oMath>
                </a14:m>
                <a:endParaRPr lang="en-GB" sz="1200" b="0" i="1"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m:oMathPara>
                </a14:m>
                <a:endParaRPr lang="en-GB" sz="1200" noProof="0" dirty="0"/>
              </a:p>
            </p:txBody>
          </p:sp>
        </mc:Choice>
        <mc:Fallback xmlns="">
          <p:sp>
            <p:nvSpPr>
              <p:cNvPr id="29" name="TextBox 2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81848" y="3229076"/>
                <a:ext cx="1195455" cy="461665"/>
              </a:xfrm>
              <a:prstGeom prst="rect">
                <a:avLst/>
              </a:prstGeom>
              <a:blipFill>
                <a:blip r:embed="rId7"/>
                <a:stretch>
                  <a:fillRect t="-1333"/>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3C36006B-227E-45B6-ACB0-32FCE0D906FC}"/>
              </a:ext>
            </a:extLst>
          </p:cNvPr>
          <p:cNvSpPr/>
          <p:nvPr/>
        </p:nvSpPr>
        <p:spPr>
          <a:xfrm>
            <a:off x="95455" y="3774226"/>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5" name="Rectangle 44">
            <a:extLst>
              <a:ext uri="{FF2B5EF4-FFF2-40B4-BE49-F238E27FC236}">
                <a16:creationId xmlns:a16="http://schemas.microsoft.com/office/drawing/2014/main" id="{3C36006B-227E-45B6-ACB0-32FCE0D906FC}"/>
              </a:ext>
            </a:extLst>
          </p:cNvPr>
          <p:cNvSpPr/>
          <p:nvPr/>
        </p:nvSpPr>
        <p:spPr>
          <a:xfrm>
            <a:off x="1775782" y="3777029"/>
            <a:ext cx="1623176" cy="2421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6" name="Rectangle 45">
            <a:extLst>
              <a:ext uri="{FF2B5EF4-FFF2-40B4-BE49-F238E27FC236}">
                <a16:creationId xmlns:a16="http://schemas.microsoft.com/office/drawing/2014/main" id="{3C36006B-227E-45B6-ACB0-32FCE0D906FC}"/>
              </a:ext>
            </a:extLst>
          </p:cNvPr>
          <p:cNvSpPr/>
          <p:nvPr/>
        </p:nvSpPr>
        <p:spPr>
          <a:xfrm>
            <a:off x="3478968" y="3769934"/>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7" name="Rectangle 46">
            <a:extLst>
              <a:ext uri="{FF2B5EF4-FFF2-40B4-BE49-F238E27FC236}">
                <a16:creationId xmlns:a16="http://schemas.microsoft.com/office/drawing/2014/main" id="{3C36006B-227E-45B6-ACB0-32FCE0D906FC}"/>
              </a:ext>
            </a:extLst>
          </p:cNvPr>
          <p:cNvSpPr/>
          <p:nvPr/>
        </p:nvSpPr>
        <p:spPr>
          <a:xfrm>
            <a:off x="5166709" y="3774469"/>
            <a:ext cx="1623176" cy="24187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519CA145-0A55-47EB-B271-6690400B9E6B}"/>
                  </a:ext>
                </a:extLst>
              </p:cNvPr>
              <p:cNvSpPr txBox="1"/>
              <p:nvPr/>
            </p:nvSpPr>
            <p:spPr>
              <a:xfrm>
                <a:off x="1756033" y="3774227"/>
                <a:ext cx="713850" cy="276999"/>
              </a:xfrm>
              <a:prstGeom prst="rect">
                <a:avLst/>
              </a:prstGeom>
              <a:noFill/>
            </p:spPr>
            <p:txBody>
              <a:bodyPr wrap="none" rtlCol="0">
                <a:spAutoFit/>
              </a:bodyPr>
              <a:lstStyle/>
              <a:p>
                <a:r>
                  <a:rPr lang="en-GB" sz="1200" noProof="0" dirty="0"/>
                  <a:t>f)</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48" name="TextBox 47">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56033" y="3774227"/>
                <a:ext cx="713850" cy="276999"/>
              </a:xfrm>
              <a:prstGeom prst="rect">
                <a:avLst/>
              </a:prstGeom>
              <a:blipFill>
                <a:blip r:embed="rId8"/>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19CA145-0A55-47EB-B271-6690400B9E6B}"/>
                  </a:ext>
                </a:extLst>
              </p:cNvPr>
              <p:cNvSpPr txBox="1"/>
              <p:nvPr/>
            </p:nvSpPr>
            <p:spPr>
              <a:xfrm>
                <a:off x="3433296" y="3765598"/>
                <a:ext cx="727635" cy="276999"/>
              </a:xfrm>
              <a:prstGeom prst="rect">
                <a:avLst/>
              </a:prstGeom>
              <a:noFill/>
            </p:spPr>
            <p:txBody>
              <a:bodyPr wrap="none" rtlCol="0">
                <a:spAutoFit/>
              </a:bodyPr>
              <a:lstStyle/>
              <a:p>
                <a:r>
                  <a:rPr lang="en-GB" sz="1200" noProof="0" dirty="0"/>
                  <a:t>g)</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49" name="TextBox 4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33296" y="3765598"/>
                <a:ext cx="727635" cy="276999"/>
              </a:xfrm>
              <a:prstGeom prst="rect">
                <a:avLst/>
              </a:prstGeom>
              <a:blipFill>
                <a:blip r:embed="rId9"/>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519CA145-0A55-47EB-B271-6690400B9E6B}"/>
                  </a:ext>
                </a:extLst>
              </p:cNvPr>
              <p:cNvSpPr txBox="1"/>
              <p:nvPr/>
            </p:nvSpPr>
            <p:spPr>
              <a:xfrm>
                <a:off x="5182154" y="3767038"/>
                <a:ext cx="753027" cy="276999"/>
              </a:xfrm>
              <a:prstGeom prst="rect">
                <a:avLst/>
              </a:prstGeom>
              <a:noFill/>
            </p:spPr>
            <p:txBody>
              <a:bodyPr wrap="none" rtlCol="0">
                <a:spAutoFit/>
              </a:bodyPr>
              <a:lstStyle/>
              <a:p>
                <a:r>
                  <a:rPr lang="en-GB" sz="1200" noProof="0" dirty="0"/>
                  <a:t>h)</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50" name="TextBox 4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82154" y="3767038"/>
                <a:ext cx="753027" cy="276999"/>
              </a:xfrm>
              <a:prstGeom prst="rect">
                <a:avLst/>
              </a:prstGeom>
              <a:blipFill>
                <a:blip r:embed="rId10"/>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519CA145-0A55-47EB-B271-6690400B9E6B}"/>
                  </a:ext>
                </a:extLst>
              </p:cNvPr>
              <p:cNvSpPr txBox="1"/>
              <p:nvPr/>
            </p:nvSpPr>
            <p:spPr>
              <a:xfrm>
                <a:off x="133387" y="3775112"/>
                <a:ext cx="740203" cy="276999"/>
              </a:xfrm>
              <a:prstGeom prst="rect">
                <a:avLst/>
              </a:prstGeom>
              <a:noFill/>
            </p:spPr>
            <p:txBody>
              <a:bodyPr wrap="none" rtlCol="0">
                <a:spAutoFit/>
              </a:bodyPr>
              <a:lstStyle/>
              <a:p>
                <a:r>
                  <a:rPr lang="en-GB" sz="1200" noProof="0" dirty="0"/>
                  <a:t>e)</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54" name="TextBox 5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33387" y="3775112"/>
                <a:ext cx="740203" cy="276999"/>
              </a:xfrm>
              <a:prstGeom prst="rect">
                <a:avLst/>
              </a:prstGeom>
              <a:blipFill>
                <a:blip r:embed="rId11"/>
                <a:stretch>
                  <a:fillRect l="-826"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19CA145-0A55-47EB-B271-6690400B9E6B}"/>
                  </a:ext>
                </a:extLst>
              </p:cNvPr>
              <p:cNvSpPr txBox="1"/>
              <p:nvPr/>
            </p:nvSpPr>
            <p:spPr>
              <a:xfrm>
                <a:off x="68952" y="6336534"/>
                <a:ext cx="1195455" cy="461665"/>
              </a:xfrm>
              <a:prstGeom prst="rect">
                <a:avLst/>
              </a:prstGeom>
              <a:noFill/>
            </p:spPr>
            <p:txBody>
              <a:bodyPr wrap="none" rtlCol="0">
                <a:spAutoFit/>
              </a:bodyPr>
              <a:lstStyle/>
              <a:p>
                <a:r>
                  <a:rPr lang="en-GB" sz="1200" noProof="0" dirty="0"/>
                  <a:t>12</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oMath>
                </a14:m>
                <a:endParaRPr lang="en-GB" sz="1200" b="0" i="1"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oMath>
                  </m:oMathPara>
                </a14:m>
                <a:endParaRPr lang="en-GB" sz="1200" noProof="0" dirty="0"/>
              </a:p>
            </p:txBody>
          </p:sp>
        </mc:Choice>
        <mc:Fallback xmlns="">
          <p:sp>
            <p:nvSpPr>
              <p:cNvPr id="55" name="TextBox 54">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68952" y="6336534"/>
                <a:ext cx="1195455" cy="461665"/>
              </a:xfrm>
              <a:prstGeom prst="rect">
                <a:avLst/>
              </a:prstGeom>
              <a:blipFill>
                <a:blip r:embed="rId12"/>
                <a:stretch>
                  <a:fillRect/>
                </a:stretch>
              </a:blipFill>
            </p:spPr>
            <p:txBody>
              <a:bodyPr/>
              <a:lstStyle/>
              <a:p>
                <a:r>
                  <a:rPr lang="en-US">
                    <a:noFill/>
                  </a:rPr>
                  <a:t> </a:t>
                </a:r>
              </a:p>
            </p:txBody>
          </p:sp>
        </mc:Fallback>
      </mc:AlternateContent>
      <p:sp>
        <p:nvSpPr>
          <p:cNvPr id="56" name="Rectangle 55">
            <a:extLst>
              <a:ext uri="{FF2B5EF4-FFF2-40B4-BE49-F238E27FC236}">
                <a16:creationId xmlns:a16="http://schemas.microsoft.com/office/drawing/2014/main" id="{3C36006B-227E-45B6-ACB0-32FCE0D906FC}"/>
              </a:ext>
            </a:extLst>
          </p:cNvPr>
          <p:cNvSpPr/>
          <p:nvPr/>
        </p:nvSpPr>
        <p:spPr>
          <a:xfrm>
            <a:off x="110900" y="6935031"/>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8" name="Rectangle 57">
            <a:extLst>
              <a:ext uri="{FF2B5EF4-FFF2-40B4-BE49-F238E27FC236}">
                <a16:creationId xmlns:a16="http://schemas.microsoft.com/office/drawing/2014/main" id="{3C36006B-227E-45B6-ACB0-32FCE0D906FC}"/>
              </a:ext>
            </a:extLst>
          </p:cNvPr>
          <p:cNvSpPr/>
          <p:nvPr/>
        </p:nvSpPr>
        <p:spPr>
          <a:xfrm>
            <a:off x="1791227" y="6937834"/>
            <a:ext cx="1623176" cy="2421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9" name="Rectangle 58">
            <a:extLst>
              <a:ext uri="{FF2B5EF4-FFF2-40B4-BE49-F238E27FC236}">
                <a16:creationId xmlns:a16="http://schemas.microsoft.com/office/drawing/2014/main" id="{3C36006B-227E-45B6-ACB0-32FCE0D906FC}"/>
              </a:ext>
            </a:extLst>
          </p:cNvPr>
          <p:cNvSpPr/>
          <p:nvPr/>
        </p:nvSpPr>
        <p:spPr>
          <a:xfrm>
            <a:off x="3494413" y="6930739"/>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0" name="Rectangle 59">
            <a:extLst>
              <a:ext uri="{FF2B5EF4-FFF2-40B4-BE49-F238E27FC236}">
                <a16:creationId xmlns:a16="http://schemas.microsoft.com/office/drawing/2014/main" id="{3C36006B-227E-45B6-ACB0-32FCE0D906FC}"/>
              </a:ext>
            </a:extLst>
          </p:cNvPr>
          <p:cNvSpPr/>
          <p:nvPr/>
        </p:nvSpPr>
        <p:spPr>
          <a:xfrm>
            <a:off x="5182154" y="6935274"/>
            <a:ext cx="1623176" cy="24187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19CA145-0A55-47EB-B271-6690400B9E6B}"/>
                  </a:ext>
                </a:extLst>
              </p:cNvPr>
              <p:cNvSpPr txBox="1"/>
              <p:nvPr/>
            </p:nvSpPr>
            <p:spPr>
              <a:xfrm>
                <a:off x="1771478" y="6935032"/>
                <a:ext cx="701987" cy="276999"/>
              </a:xfrm>
              <a:prstGeom prst="rect">
                <a:avLst/>
              </a:prstGeom>
              <a:noFill/>
            </p:spPr>
            <p:txBody>
              <a:bodyPr wrap="none" rtlCol="0">
                <a:spAutoFit/>
              </a:bodyPr>
              <a:lstStyle/>
              <a:p>
                <a:r>
                  <a:rPr lang="en-GB" sz="1200" noProof="0" dirty="0"/>
                  <a:t>j)</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61" name="TextBox 60">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71478" y="6935032"/>
                <a:ext cx="701987" cy="276999"/>
              </a:xfrm>
              <a:prstGeom prst="rect">
                <a:avLst/>
              </a:prstGeom>
              <a:blipFill>
                <a:blip r:embed="rId13"/>
                <a:stretch>
                  <a:fillRect l="-870"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519CA145-0A55-47EB-B271-6690400B9E6B}"/>
                  </a:ext>
                </a:extLst>
              </p:cNvPr>
              <p:cNvSpPr txBox="1"/>
              <p:nvPr/>
            </p:nvSpPr>
            <p:spPr>
              <a:xfrm>
                <a:off x="3448741" y="6926403"/>
                <a:ext cx="726033" cy="276999"/>
              </a:xfrm>
              <a:prstGeom prst="rect">
                <a:avLst/>
              </a:prstGeom>
              <a:noFill/>
            </p:spPr>
            <p:txBody>
              <a:bodyPr wrap="none" rtlCol="0">
                <a:spAutoFit/>
              </a:bodyPr>
              <a:lstStyle/>
              <a:p>
                <a:r>
                  <a:rPr lang="en-GB" sz="1200" noProof="0" dirty="0"/>
                  <a:t>k)</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62" name="TextBox 61">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48741" y="6926403"/>
                <a:ext cx="726033" cy="276999"/>
              </a:xfrm>
              <a:prstGeom prst="rect">
                <a:avLst/>
              </a:prstGeom>
              <a:blipFill>
                <a:blip r:embed="rId14"/>
                <a:stretch>
                  <a:fillRect l="-840"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519CA145-0A55-47EB-B271-6690400B9E6B}"/>
                  </a:ext>
                </a:extLst>
              </p:cNvPr>
              <p:cNvSpPr txBox="1"/>
              <p:nvPr/>
            </p:nvSpPr>
            <p:spPr>
              <a:xfrm>
                <a:off x="5197599" y="6927843"/>
                <a:ext cx="708143" cy="276999"/>
              </a:xfrm>
              <a:prstGeom prst="rect">
                <a:avLst/>
              </a:prstGeom>
              <a:noFill/>
            </p:spPr>
            <p:txBody>
              <a:bodyPr wrap="none" rtlCol="0">
                <a:spAutoFit/>
              </a:bodyPr>
              <a:lstStyle/>
              <a:p>
                <a:r>
                  <a:rPr lang="en-GB" sz="1200" noProof="0" dirty="0"/>
                  <a:t>l)</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63" name="TextBox 6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97599" y="6927843"/>
                <a:ext cx="708143" cy="276999"/>
              </a:xfrm>
              <a:prstGeom prst="rect">
                <a:avLst/>
              </a:prstGeom>
              <a:blipFill>
                <a:blip r:embed="rId15"/>
                <a:stretch>
                  <a:fillRect l="-862"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519CA145-0A55-47EB-B271-6690400B9E6B}"/>
                  </a:ext>
                </a:extLst>
              </p:cNvPr>
              <p:cNvSpPr txBox="1"/>
              <p:nvPr/>
            </p:nvSpPr>
            <p:spPr>
              <a:xfrm>
                <a:off x="148832" y="6935917"/>
                <a:ext cx="698525" cy="276999"/>
              </a:xfrm>
              <a:prstGeom prst="rect">
                <a:avLst/>
              </a:prstGeom>
              <a:noFill/>
            </p:spPr>
            <p:txBody>
              <a:bodyPr wrap="none" rtlCol="0">
                <a:spAutoFit/>
              </a:bodyPr>
              <a:lstStyle/>
              <a:p>
                <a:r>
                  <a:rPr lang="en-GB" sz="1200" noProof="0" dirty="0" err="1"/>
                  <a:t>i</a:t>
                </a:r>
                <a:r>
                  <a:rPr lang="en-GB" sz="1200" noProof="0" dirty="0"/>
                  <a:t>)</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67" name="TextBox 6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48832" y="6935917"/>
                <a:ext cx="698525" cy="276999"/>
              </a:xfrm>
              <a:prstGeom prst="rect">
                <a:avLst/>
              </a:prstGeom>
              <a:blipFill>
                <a:blip r:embed="rId16"/>
                <a:stretch>
                  <a:fillRect t="-2222" b="-17778"/>
                </a:stretch>
              </a:blipFill>
            </p:spPr>
            <p:txBody>
              <a:bodyPr/>
              <a:lstStyle/>
              <a:p>
                <a:r>
                  <a:rPr lang="en-US">
                    <a:noFill/>
                  </a:rPr>
                  <a:t> </a:t>
                </a:r>
              </a:p>
            </p:txBody>
          </p:sp>
        </mc:Fallback>
      </mc:AlternateContent>
      <p:sp>
        <p:nvSpPr>
          <p:cNvPr id="68" name="Slide Number Placeholder 67"/>
          <p:cNvSpPr>
            <a:spLocks noGrp="1"/>
          </p:cNvSpPr>
          <p:nvPr>
            <p:ph type="sldNum" sz="quarter" idx="12"/>
          </p:nvPr>
        </p:nvSpPr>
        <p:spPr>
          <a:xfrm>
            <a:off x="5182154" y="9378597"/>
            <a:ext cx="1543050" cy="527403"/>
          </a:xfrm>
        </p:spPr>
        <p:txBody>
          <a:bodyPr/>
          <a:lstStyle/>
          <a:p>
            <a:fld id="{9BD3B4A0-BFF9-422C-B253-48BA94BE2F5B}" type="slidenum">
              <a:rPr lang="en-GB" noProof="0" smtClean="0"/>
              <a:t>44</a:t>
            </a:fld>
            <a:endParaRPr lang="en-GB" noProof="0" dirty="0"/>
          </a:p>
        </p:txBody>
      </p:sp>
      <p:sp>
        <p:nvSpPr>
          <p:cNvPr id="69" name="TextBox 68">
            <a:extLst>
              <a:ext uri="{FF2B5EF4-FFF2-40B4-BE49-F238E27FC236}">
                <a16:creationId xmlns:a16="http://schemas.microsoft.com/office/drawing/2014/main" id="{C3C65E48-8C3D-6849-AD77-7AD8678AD8DA}"/>
              </a:ext>
            </a:extLst>
          </p:cNvPr>
          <p:cNvSpPr txBox="1"/>
          <p:nvPr/>
        </p:nvSpPr>
        <p:spPr>
          <a:xfrm>
            <a:off x="39316" y="64336"/>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29054136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19CA145-0A55-47EB-B271-6690400B9E6B}"/>
                  </a:ext>
                </a:extLst>
              </p:cNvPr>
              <p:cNvSpPr txBox="1"/>
              <p:nvPr/>
            </p:nvSpPr>
            <p:spPr>
              <a:xfrm>
                <a:off x="185788" y="48544"/>
                <a:ext cx="1359155" cy="646331"/>
              </a:xfrm>
              <a:prstGeom prst="rect">
                <a:avLst/>
              </a:prstGeom>
              <a:noFill/>
            </p:spPr>
            <p:txBody>
              <a:bodyPr wrap="none" rtlCol="0">
                <a:spAutoFit/>
              </a:bodyPr>
              <a:lstStyle/>
              <a:p>
                <a:r>
                  <a:rPr lang="en-GB" sz="1200" noProof="0" dirty="0"/>
                  <a:t>13</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3</m:t>
                        </m:r>
                      </m:sup>
                    </m:sSup>
                    <m:r>
                      <a:rPr lang="en-GB" sz="1200" b="0" i="1" noProof="0" smtClean="0">
                        <a:latin typeface="Cambria Math" panose="02040503050406030204" pitchFamily="18" charset="0"/>
                      </a:rPr>
                      <m:t>−6</m:t>
                    </m:r>
                  </m:oMath>
                </a14:m>
                <a:endParaRPr lang="en-GB" sz="1200" b="0" i="1"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=4</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e>
                      </m:d>
                    </m:oMath>
                  </m:oMathPara>
                </a14:m>
                <a:endParaRPr lang="en-GB" sz="1200" b="0" noProof="0" dirty="0"/>
              </a:p>
              <a:p>
                <a:pP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h</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oMath>
                  </m:oMathPara>
                </a14:m>
                <a:endParaRPr lang="en-GB" sz="1200" noProof="0" dirty="0"/>
              </a:p>
            </p:txBody>
          </p:sp>
        </mc:Choice>
        <mc:Fallback xmlns="">
          <p:sp>
            <p:nvSpPr>
              <p:cNvPr id="3" name="TextBox 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85788" y="48544"/>
                <a:ext cx="1359155" cy="646331"/>
              </a:xfrm>
              <a:prstGeom prst="rect">
                <a:avLst/>
              </a:prstGeom>
              <a:blipFill>
                <a:blip r:embed="rId2"/>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3C36006B-227E-45B6-ACB0-32FCE0D906FC}"/>
              </a:ext>
            </a:extLst>
          </p:cNvPr>
          <p:cNvSpPr/>
          <p:nvPr/>
        </p:nvSpPr>
        <p:spPr>
          <a:xfrm>
            <a:off x="68580" y="737502"/>
            <a:ext cx="1623176" cy="32215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Rectangle 5">
            <a:extLst>
              <a:ext uri="{FF2B5EF4-FFF2-40B4-BE49-F238E27FC236}">
                <a16:creationId xmlns:a16="http://schemas.microsoft.com/office/drawing/2014/main" id="{3C36006B-227E-45B6-ACB0-32FCE0D906FC}"/>
              </a:ext>
            </a:extLst>
          </p:cNvPr>
          <p:cNvSpPr/>
          <p:nvPr/>
        </p:nvSpPr>
        <p:spPr>
          <a:xfrm>
            <a:off x="1748907" y="740306"/>
            <a:ext cx="1623176" cy="3216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Rectangle 6">
            <a:extLst>
              <a:ext uri="{FF2B5EF4-FFF2-40B4-BE49-F238E27FC236}">
                <a16:creationId xmlns:a16="http://schemas.microsoft.com/office/drawing/2014/main" id="{3C36006B-227E-45B6-ACB0-32FCE0D906FC}"/>
              </a:ext>
            </a:extLst>
          </p:cNvPr>
          <p:cNvSpPr/>
          <p:nvPr/>
        </p:nvSpPr>
        <p:spPr>
          <a:xfrm>
            <a:off x="3452093" y="733210"/>
            <a:ext cx="1623176" cy="32215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Rectangle 7">
            <a:extLst>
              <a:ext uri="{FF2B5EF4-FFF2-40B4-BE49-F238E27FC236}">
                <a16:creationId xmlns:a16="http://schemas.microsoft.com/office/drawing/2014/main" id="{3C36006B-227E-45B6-ACB0-32FCE0D906FC}"/>
              </a:ext>
            </a:extLst>
          </p:cNvPr>
          <p:cNvSpPr/>
          <p:nvPr/>
        </p:nvSpPr>
        <p:spPr>
          <a:xfrm>
            <a:off x="5139834" y="737746"/>
            <a:ext cx="1623176" cy="32126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19CA145-0A55-47EB-B271-6690400B9E6B}"/>
                  </a:ext>
                </a:extLst>
              </p:cNvPr>
              <p:cNvSpPr txBox="1"/>
              <p:nvPr/>
            </p:nvSpPr>
            <p:spPr>
              <a:xfrm>
                <a:off x="1729158" y="737504"/>
                <a:ext cx="743409" cy="276999"/>
              </a:xfrm>
              <a:prstGeom prst="rect">
                <a:avLst/>
              </a:prstGeom>
              <a:noFill/>
            </p:spPr>
            <p:txBody>
              <a:bodyPr wrap="none" rtlCol="0">
                <a:spAutoFit/>
              </a:bodyPr>
              <a:lstStyle/>
              <a:p>
                <a:r>
                  <a:rPr lang="en-GB" sz="1200" noProof="0" dirty="0"/>
                  <a:t>n)</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h𝑔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9" name="TextBox 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29158" y="737504"/>
                <a:ext cx="743409" cy="276999"/>
              </a:xfrm>
              <a:prstGeom prst="rect">
                <a:avLst/>
              </a:prstGeom>
              <a:blipFill>
                <a:blip r:embed="rId3"/>
                <a:stretch>
                  <a:fillRect l="-820"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19CA145-0A55-47EB-B271-6690400B9E6B}"/>
                  </a:ext>
                </a:extLst>
              </p:cNvPr>
              <p:cNvSpPr txBox="1"/>
              <p:nvPr/>
            </p:nvSpPr>
            <p:spPr>
              <a:xfrm>
                <a:off x="3406421" y="728875"/>
                <a:ext cx="735394" cy="276999"/>
              </a:xfrm>
              <a:prstGeom prst="rect">
                <a:avLst/>
              </a:prstGeom>
              <a:noFill/>
            </p:spPr>
            <p:txBody>
              <a:bodyPr wrap="none" rtlCol="0">
                <a:spAutoFit/>
              </a:bodyPr>
              <a:lstStyle/>
              <a:p>
                <a:r>
                  <a:rPr lang="en-GB" sz="1200" noProof="0" dirty="0"/>
                  <a:t>o)</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𝑓h</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10" name="TextBox 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06421" y="728875"/>
                <a:ext cx="735394" cy="276999"/>
              </a:xfrm>
              <a:prstGeom prst="rect">
                <a:avLst/>
              </a:prstGeom>
              <a:blipFill>
                <a:blip r:embed="rId4"/>
                <a:stretch>
                  <a:fillRect l="-833"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19CA145-0A55-47EB-B271-6690400B9E6B}"/>
                  </a:ext>
                </a:extLst>
              </p:cNvPr>
              <p:cNvSpPr txBox="1"/>
              <p:nvPr/>
            </p:nvSpPr>
            <p:spPr>
              <a:xfrm>
                <a:off x="5155279" y="730315"/>
                <a:ext cx="753027" cy="276999"/>
              </a:xfrm>
              <a:prstGeom prst="rect">
                <a:avLst/>
              </a:prstGeom>
              <a:noFill/>
            </p:spPr>
            <p:txBody>
              <a:bodyPr wrap="none" rtlCol="0">
                <a:spAutoFit/>
              </a:bodyPr>
              <a:lstStyle/>
              <a:p>
                <a:r>
                  <a:rPr lang="en-GB" sz="1200" noProof="0" dirty="0"/>
                  <a:t>p)</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11" name="TextBox 10">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55279" y="730315"/>
                <a:ext cx="753027" cy="276999"/>
              </a:xfrm>
              <a:prstGeom prst="rect">
                <a:avLst/>
              </a:prstGeom>
              <a:blipFill>
                <a:blip r:embed="rId5"/>
                <a:stretch>
                  <a:fillRect l="-813"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19CA145-0A55-47EB-B271-6690400B9E6B}"/>
                  </a:ext>
                </a:extLst>
              </p:cNvPr>
              <p:cNvSpPr txBox="1"/>
              <p:nvPr/>
            </p:nvSpPr>
            <p:spPr>
              <a:xfrm>
                <a:off x="106512" y="738389"/>
                <a:ext cx="788549" cy="276999"/>
              </a:xfrm>
              <a:prstGeom prst="rect">
                <a:avLst/>
              </a:prstGeom>
              <a:noFill/>
            </p:spPr>
            <p:txBody>
              <a:bodyPr wrap="none" rtlCol="0">
                <a:spAutoFit/>
              </a:bodyPr>
              <a:lstStyle/>
              <a:p>
                <a:r>
                  <a:rPr lang="en-GB" sz="1200" noProof="0" dirty="0"/>
                  <a:t>m)</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15" name="TextBox 14">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06512" y="738389"/>
                <a:ext cx="788549" cy="276999"/>
              </a:xfrm>
              <a:prstGeom prst="rect">
                <a:avLst/>
              </a:prstGeom>
              <a:blipFill>
                <a:blip r:embed="rId6"/>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979583" y="4027261"/>
                <a:ext cx="3689895" cy="623889"/>
              </a:xfrm>
              <a:prstGeom prst="rect">
                <a:avLst/>
              </a:prstGeom>
              <a:noFill/>
            </p:spPr>
            <p:txBody>
              <a:bodyPr wrap="square" rtlCol="0">
                <a:spAutoFit/>
              </a:bodyPr>
              <a:lstStyle/>
              <a:p>
                <a:pPr algn="ctr"/>
                <a:r>
                  <a:rPr lang="en-GB" sz="1200" noProof="0" dirty="0"/>
                  <a:t>14</a:t>
                </a:r>
                <a:r>
                  <a:rPr lang="en-GB" sz="1200" b="0" noProof="0" dirty="0"/>
                  <a:t>) </a:t>
                </a: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oMath>
                </a14:m>
                <a:br>
                  <a:rPr lang="en-GB" sz="1200" b="0" i="1" noProof="0"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𝑔</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𝑥</m:t>
                          </m:r>
                        </m:den>
                      </m:f>
                    </m:oMath>
                  </m:oMathPara>
                </a14:m>
                <a:endParaRPr lang="en-GB" sz="1200" noProof="0" dirty="0"/>
              </a:p>
            </p:txBody>
          </p:sp>
        </mc:Choice>
        <mc:Fallback xmlns="">
          <p:sp>
            <p:nvSpPr>
              <p:cNvPr id="17" name="TextBox 16"/>
              <p:cNvSpPr txBox="1">
                <a:spLocks noRot="1" noChangeAspect="1" noMove="1" noResize="1" noEditPoints="1" noAdjustHandles="1" noChangeArrowheads="1" noChangeShapeType="1" noTextEdit="1"/>
              </p:cNvSpPr>
              <p:nvPr/>
            </p:nvSpPr>
            <p:spPr>
              <a:xfrm>
                <a:off x="-979583" y="4027261"/>
                <a:ext cx="3689895" cy="623889"/>
              </a:xfrm>
              <a:prstGeom prst="rect">
                <a:avLst/>
              </a:prstGeom>
              <a:blipFill>
                <a:blip r:embed="rId8"/>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3C36006B-227E-45B6-ACB0-32FCE0D906FC}"/>
              </a:ext>
            </a:extLst>
          </p:cNvPr>
          <p:cNvSpPr/>
          <p:nvPr/>
        </p:nvSpPr>
        <p:spPr>
          <a:xfrm>
            <a:off x="84025" y="4690657"/>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Rectangle 19">
            <a:extLst>
              <a:ext uri="{FF2B5EF4-FFF2-40B4-BE49-F238E27FC236}">
                <a16:creationId xmlns:a16="http://schemas.microsoft.com/office/drawing/2014/main" id="{3C36006B-227E-45B6-ACB0-32FCE0D906FC}"/>
              </a:ext>
            </a:extLst>
          </p:cNvPr>
          <p:cNvSpPr/>
          <p:nvPr/>
        </p:nvSpPr>
        <p:spPr>
          <a:xfrm>
            <a:off x="1764352" y="4693460"/>
            <a:ext cx="1623176" cy="2421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Rectangle 20">
            <a:extLst>
              <a:ext uri="{FF2B5EF4-FFF2-40B4-BE49-F238E27FC236}">
                <a16:creationId xmlns:a16="http://schemas.microsoft.com/office/drawing/2014/main" id="{3C36006B-227E-45B6-ACB0-32FCE0D906FC}"/>
              </a:ext>
            </a:extLst>
          </p:cNvPr>
          <p:cNvSpPr/>
          <p:nvPr/>
        </p:nvSpPr>
        <p:spPr>
          <a:xfrm>
            <a:off x="3467538" y="4686365"/>
            <a:ext cx="1623176" cy="24254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2" name="Rectangle 21">
            <a:extLst>
              <a:ext uri="{FF2B5EF4-FFF2-40B4-BE49-F238E27FC236}">
                <a16:creationId xmlns:a16="http://schemas.microsoft.com/office/drawing/2014/main" id="{3C36006B-227E-45B6-ACB0-32FCE0D906FC}"/>
              </a:ext>
            </a:extLst>
          </p:cNvPr>
          <p:cNvSpPr/>
          <p:nvPr/>
        </p:nvSpPr>
        <p:spPr>
          <a:xfrm>
            <a:off x="5155279" y="4690900"/>
            <a:ext cx="1623176" cy="24187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19CA145-0A55-47EB-B271-6690400B9E6B}"/>
                  </a:ext>
                </a:extLst>
              </p:cNvPr>
              <p:cNvSpPr txBox="1"/>
              <p:nvPr/>
            </p:nvSpPr>
            <p:spPr>
              <a:xfrm>
                <a:off x="1744603" y="4690658"/>
                <a:ext cx="718017" cy="276999"/>
              </a:xfrm>
              <a:prstGeom prst="rect">
                <a:avLst/>
              </a:prstGeom>
              <a:noFill/>
            </p:spPr>
            <p:txBody>
              <a:bodyPr wrap="none" rtlCol="0">
                <a:spAutoFit/>
              </a:bodyPr>
              <a:lstStyle/>
              <a:p>
                <a:r>
                  <a:rPr lang="en-GB" sz="1200" noProof="0" dirty="0"/>
                  <a:t>r)</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23" name="TextBox 2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4603" y="4690658"/>
                <a:ext cx="718017" cy="276999"/>
              </a:xfrm>
              <a:prstGeom prst="rect">
                <a:avLst/>
              </a:prstGeom>
              <a:blipFill>
                <a:blip r:embed="rId9"/>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19CA145-0A55-47EB-B271-6690400B9E6B}"/>
                  </a:ext>
                </a:extLst>
              </p:cNvPr>
              <p:cNvSpPr txBox="1"/>
              <p:nvPr/>
            </p:nvSpPr>
            <p:spPr>
              <a:xfrm>
                <a:off x="3421866" y="4682029"/>
                <a:ext cx="716415" cy="276999"/>
              </a:xfrm>
              <a:prstGeom prst="rect">
                <a:avLst/>
              </a:prstGeom>
              <a:noFill/>
            </p:spPr>
            <p:txBody>
              <a:bodyPr wrap="none" rtlCol="0">
                <a:spAutoFit/>
              </a:bodyPr>
              <a:lstStyle/>
              <a:p>
                <a:r>
                  <a:rPr lang="en-GB" sz="1200" noProof="0" dirty="0"/>
                  <a:t>s)</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𝑓𝑓</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24" name="TextBox 2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21866" y="4682029"/>
                <a:ext cx="716415" cy="276999"/>
              </a:xfrm>
              <a:prstGeom prst="rect">
                <a:avLst/>
              </a:prstGeom>
              <a:blipFill>
                <a:blip r:embed="rId10"/>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19CA145-0A55-47EB-B271-6690400B9E6B}"/>
                  </a:ext>
                </a:extLst>
              </p:cNvPr>
              <p:cNvSpPr txBox="1"/>
              <p:nvPr/>
            </p:nvSpPr>
            <p:spPr>
              <a:xfrm>
                <a:off x="5170724" y="4683469"/>
                <a:ext cx="724173" cy="276999"/>
              </a:xfrm>
              <a:prstGeom prst="rect">
                <a:avLst/>
              </a:prstGeom>
              <a:noFill/>
            </p:spPr>
            <p:txBody>
              <a:bodyPr wrap="none" rtlCol="0">
                <a:spAutoFit/>
              </a:bodyPr>
              <a:lstStyle/>
              <a:p>
                <a:r>
                  <a:rPr lang="en-GB" sz="1200" noProof="0" dirty="0"/>
                  <a:t>t)</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𝑔𝑔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25" name="TextBox 24">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70724" y="4683469"/>
                <a:ext cx="724173" cy="276999"/>
              </a:xfrm>
              <a:prstGeom prst="rect">
                <a:avLst/>
              </a:prstGeom>
              <a:blipFill>
                <a:blip r:embed="rId11"/>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19CA145-0A55-47EB-B271-6690400B9E6B}"/>
                  </a:ext>
                </a:extLst>
              </p:cNvPr>
              <p:cNvSpPr txBox="1"/>
              <p:nvPr/>
            </p:nvSpPr>
            <p:spPr>
              <a:xfrm>
                <a:off x="121957" y="4691543"/>
                <a:ext cx="743409" cy="276999"/>
              </a:xfrm>
              <a:prstGeom prst="rect">
                <a:avLst/>
              </a:prstGeom>
              <a:noFill/>
            </p:spPr>
            <p:txBody>
              <a:bodyPr wrap="none" rtlCol="0">
                <a:spAutoFit/>
              </a:bodyPr>
              <a:lstStyle/>
              <a:p>
                <a:r>
                  <a:rPr lang="en-GB" sz="1200" noProof="0" dirty="0"/>
                  <a:t>q)</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𝑓𝑔</m:t>
                    </m:r>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m:t>
                    </m:r>
                  </m:oMath>
                </a14:m>
                <a:endParaRPr lang="en-GB" sz="1200" noProof="0" dirty="0"/>
              </a:p>
            </p:txBody>
          </p:sp>
        </mc:Choice>
        <mc:Fallback xmlns="">
          <p:sp>
            <p:nvSpPr>
              <p:cNvPr id="29" name="TextBox 2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21957" y="4691543"/>
                <a:ext cx="743409" cy="276999"/>
              </a:xfrm>
              <a:prstGeom prst="rect">
                <a:avLst/>
              </a:prstGeom>
              <a:blipFill>
                <a:blip r:embed="rId12"/>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49852" y="7243262"/>
                <a:ext cx="3429000" cy="461665"/>
              </a:xfrm>
              <a:prstGeom prst="rect">
                <a:avLst/>
              </a:prstGeom>
            </p:spPr>
            <p:txBody>
              <a:bodyPr>
                <a:spAutoFit/>
              </a:bodyPr>
              <a:lstStyle/>
              <a:p>
                <a:r>
                  <a:rPr lang="en-GB" sz="1200" noProof="0" dirty="0"/>
                  <a:t>15) Let </a:t>
                </a:r>
                <a14:m>
                  <m:oMath xmlns:m="http://schemas.openxmlformats.org/officeDocument/2006/math">
                    <m:r>
                      <a:rPr lang="en-GB" sz="1200" i="1" noProof="0">
                        <a:latin typeface="Cambria Math" panose="02040503050406030204" pitchFamily="18" charset="0"/>
                      </a:rPr>
                      <m:t>𝑓</m:t>
                    </m:r>
                    <m:d>
                      <m:dPr>
                        <m:ctrlPr>
                          <a:rPr lang="en-GB" sz="1200" i="1" noProof="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+1</m:t>
                    </m:r>
                  </m:oMath>
                </a14:m>
                <a:r>
                  <a:rPr lang="en-GB" sz="1200" noProof="0" dirty="0"/>
                  <a:t> and </a:t>
                </a:r>
                <a14:m>
                  <m:oMath xmlns:m="http://schemas.openxmlformats.org/officeDocument/2006/math">
                    <m:r>
                      <a:rPr lang="en-GB" sz="1200" i="1" noProof="0">
                        <a:latin typeface="Cambria Math" panose="02040503050406030204" pitchFamily="18" charset="0"/>
                      </a:rPr>
                      <m:t>𝑔</m:t>
                    </m:r>
                    <m:d>
                      <m:dPr>
                        <m:ctrlPr>
                          <a:rPr lang="en-GB" sz="1200" i="1" noProof="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sSup>
                      <m:sSupPr>
                        <m:ctrlPr>
                          <a:rPr lang="en-GB" sz="1200" i="1" noProof="0">
                            <a:latin typeface="Cambria Math" panose="02040503050406030204" pitchFamily="18" charset="0"/>
                          </a:rPr>
                        </m:ctrlPr>
                      </m:sSupPr>
                      <m:e>
                        <m:r>
                          <a:rPr lang="en-GB" sz="1200" i="1" noProof="0">
                            <a:latin typeface="Cambria Math" panose="02040503050406030204" pitchFamily="18" charset="0"/>
                          </a:rPr>
                          <m:t>𝑥</m:t>
                        </m:r>
                      </m:e>
                      <m:sup>
                        <m:r>
                          <a:rPr lang="en-GB" sz="1200" i="1" noProof="0">
                            <a:latin typeface="Cambria Math" panose="02040503050406030204" pitchFamily="18" charset="0"/>
                          </a:rPr>
                          <m:t>2</m:t>
                        </m:r>
                      </m:sup>
                    </m:sSup>
                    <m:r>
                      <a:rPr lang="en-GB" sz="1200" i="1" noProof="0">
                        <a:latin typeface="Cambria Math" panose="02040503050406030204" pitchFamily="18" charset="0"/>
                      </a:rPr>
                      <m:t>+1</m:t>
                    </m:r>
                  </m:oMath>
                </a14:m>
                <a:r>
                  <a:rPr lang="en-GB" sz="1200" noProof="0" dirty="0"/>
                  <a:t>.</a:t>
                </a:r>
              </a:p>
              <a:p>
                <a:r>
                  <a:rPr lang="en-GB" sz="1200" noProof="0" dirty="0"/>
                  <a:t>If </a:t>
                </a:r>
                <a14:m>
                  <m:oMath xmlns:m="http://schemas.openxmlformats.org/officeDocument/2006/math">
                    <m:r>
                      <a:rPr lang="en-GB" sz="1200" i="1" noProof="0">
                        <a:latin typeface="Cambria Math" panose="02040503050406030204" pitchFamily="18" charset="0"/>
                      </a:rPr>
                      <m:t>𝑔𝑓</m:t>
                    </m:r>
                    <m:d>
                      <m:dPr>
                        <m:ctrlPr>
                          <a:rPr lang="en-GB" sz="1200" i="1" noProof="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=17</m:t>
                    </m:r>
                  </m:oMath>
                </a14:m>
                <a:r>
                  <a:rPr lang="en-GB" sz="1200" noProof="0" dirty="0"/>
                  <a:t>, determine the possible values of </a:t>
                </a:r>
                <a14:m>
                  <m:oMath xmlns:m="http://schemas.openxmlformats.org/officeDocument/2006/math">
                    <m:r>
                      <a:rPr lang="en-GB" sz="1200" i="1" noProof="0">
                        <a:latin typeface="Cambria Math" panose="02040503050406030204" pitchFamily="18" charset="0"/>
                      </a:rPr>
                      <m:t>𝑥</m:t>
                    </m:r>
                  </m:oMath>
                </a14:m>
                <a:endParaRPr lang="en-GB" sz="1200" noProof="0" dirty="0"/>
              </a:p>
            </p:txBody>
          </p:sp>
        </mc:Choice>
        <mc:Fallback xmlns="">
          <p:sp>
            <p:nvSpPr>
              <p:cNvPr id="30" name="Rectangle 29"/>
              <p:cNvSpPr>
                <a:spLocks noRot="1" noChangeAspect="1" noMove="1" noResize="1" noEditPoints="1" noAdjustHandles="1" noChangeArrowheads="1" noChangeShapeType="1" noTextEdit="1"/>
              </p:cNvSpPr>
              <p:nvPr/>
            </p:nvSpPr>
            <p:spPr>
              <a:xfrm>
                <a:off x="49852" y="7243262"/>
                <a:ext cx="3429000" cy="461665"/>
              </a:xfrm>
              <a:prstGeom prst="rect">
                <a:avLst/>
              </a:prstGeom>
              <a:blipFill>
                <a:blip r:embed="rId13"/>
                <a:stretch>
                  <a:fillRect b="-9211"/>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3C36006B-227E-45B6-ACB0-32FCE0D906FC}"/>
              </a:ext>
            </a:extLst>
          </p:cNvPr>
          <p:cNvSpPr/>
          <p:nvPr/>
        </p:nvSpPr>
        <p:spPr>
          <a:xfrm>
            <a:off x="78334" y="7704927"/>
            <a:ext cx="6684675" cy="18618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Slide Number Placeholder 33"/>
          <p:cNvSpPr>
            <a:spLocks noGrp="1"/>
          </p:cNvSpPr>
          <p:nvPr>
            <p:ph type="sldNum" sz="quarter" idx="12"/>
          </p:nvPr>
        </p:nvSpPr>
        <p:spPr>
          <a:xfrm>
            <a:off x="5248441" y="9529656"/>
            <a:ext cx="1543050" cy="527403"/>
          </a:xfrm>
        </p:spPr>
        <p:txBody>
          <a:bodyPr/>
          <a:lstStyle/>
          <a:p>
            <a:fld id="{9BD3B4A0-BFF9-422C-B253-48BA94BE2F5B}" type="slidenum">
              <a:rPr lang="en-GB" noProof="0" smtClean="0"/>
              <a:t>45</a:t>
            </a:fld>
            <a:endParaRPr lang="en-GB" noProof="0" dirty="0"/>
          </a:p>
        </p:txBody>
      </p:sp>
    </p:spTree>
    <p:extLst>
      <p:ext uri="{BB962C8B-B14F-4D97-AF65-F5344CB8AC3E}">
        <p14:creationId xmlns:p14="http://schemas.microsoft.com/office/powerpoint/2010/main" val="23247413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91975E-B426-4910-919C-E3C5554DC081}"/>
              </a:ext>
            </a:extLst>
          </p:cNvPr>
          <p:cNvSpPr txBox="1"/>
          <p:nvPr/>
        </p:nvSpPr>
        <p:spPr>
          <a:xfrm>
            <a:off x="-4414" y="-15170"/>
            <a:ext cx="1512850" cy="276999"/>
          </a:xfrm>
          <a:prstGeom prst="rect">
            <a:avLst/>
          </a:prstGeom>
          <a:solidFill>
            <a:srgbClr val="0070C0"/>
          </a:solidFill>
        </p:spPr>
        <p:txBody>
          <a:bodyPr wrap="none" rtlCol="0" anchor="ctr">
            <a:spAutoFit/>
          </a:bodyPr>
          <a:lstStyle/>
          <a:p>
            <a:pPr algn="ctr"/>
            <a:r>
              <a:rPr lang="en-GB" sz="1200" b="1" noProof="0" dirty="0">
                <a:solidFill>
                  <a:schemeClr val="bg1"/>
                </a:solidFill>
              </a:rPr>
              <a:t>INVERSE FUNCTIONS</a:t>
            </a:r>
          </a:p>
        </p:txBody>
      </p:sp>
      <p:sp>
        <p:nvSpPr>
          <p:cNvPr id="4" name="TextBox 3">
            <a:extLst>
              <a:ext uri="{FF2B5EF4-FFF2-40B4-BE49-F238E27FC236}">
                <a16:creationId xmlns:a16="http://schemas.microsoft.com/office/drawing/2014/main" id="{EA4FD2D9-8D23-4ADE-B70E-F386FDED2BED}"/>
              </a:ext>
            </a:extLst>
          </p:cNvPr>
          <p:cNvSpPr txBox="1"/>
          <p:nvPr/>
        </p:nvSpPr>
        <p:spPr>
          <a:xfrm>
            <a:off x="5022995" y="2784397"/>
            <a:ext cx="1542089" cy="276999"/>
          </a:xfrm>
          <a:prstGeom prst="rect">
            <a:avLst/>
          </a:prstGeom>
          <a:noFill/>
          <a:ln>
            <a:noFill/>
          </a:ln>
        </p:spPr>
        <p:txBody>
          <a:bodyPr wrap="none" rtlCol="0">
            <a:spAutoFit/>
          </a:bodyPr>
          <a:lstStyle/>
          <a:p>
            <a:r>
              <a:rPr lang="en-GB" sz="1200" b="1" i="1" noProof="0" dirty="0">
                <a:solidFill>
                  <a:srgbClr val="00B050"/>
                </a:solidFill>
              </a:rPr>
              <a:t>Example 21- You do…</a:t>
            </a:r>
          </a:p>
        </p:txBody>
      </p:sp>
      <p:sp>
        <p:nvSpPr>
          <p:cNvPr id="6" name="TextBox 5">
            <a:extLst>
              <a:ext uri="{FF2B5EF4-FFF2-40B4-BE49-F238E27FC236}">
                <a16:creationId xmlns:a16="http://schemas.microsoft.com/office/drawing/2014/main" id="{08E67FA9-518E-48EE-9C3C-DC43DA12711A}"/>
              </a:ext>
            </a:extLst>
          </p:cNvPr>
          <p:cNvSpPr txBox="1"/>
          <p:nvPr/>
        </p:nvSpPr>
        <p:spPr>
          <a:xfrm>
            <a:off x="3077676" y="2793245"/>
            <a:ext cx="1554336" cy="276999"/>
          </a:xfrm>
          <a:prstGeom prst="rect">
            <a:avLst/>
          </a:prstGeom>
          <a:noFill/>
          <a:ln>
            <a:noFill/>
          </a:ln>
        </p:spPr>
        <p:txBody>
          <a:bodyPr wrap="none" rtlCol="0">
            <a:spAutoFit/>
          </a:bodyPr>
          <a:lstStyle/>
          <a:p>
            <a:r>
              <a:rPr lang="en-GB" sz="1200" b="1" i="1" noProof="0" dirty="0">
                <a:solidFill>
                  <a:schemeClr val="accent2"/>
                </a:solidFill>
              </a:rPr>
              <a:t>Example 20 - We do…</a:t>
            </a:r>
          </a:p>
        </p:txBody>
      </p:sp>
      <p:sp>
        <p:nvSpPr>
          <p:cNvPr id="7" name="TextBox 6">
            <a:extLst>
              <a:ext uri="{FF2B5EF4-FFF2-40B4-BE49-F238E27FC236}">
                <a16:creationId xmlns:a16="http://schemas.microsoft.com/office/drawing/2014/main" id="{0C5FDE3F-DC2A-468E-BF61-F69BF8BB2775}"/>
              </a:ext>
            </a:extLst>
          </p:cNvPr>
          <p:cNvSpPr txBox="1"/>
          <p:nvPr/>
        </p:nvSpPr>
        <p:spPr>
          <a:xfrm>
            <a:off x="1233973" y="2797745"/>
            <a:ext cx="1351780" cy="276999"/>
          </a:xfrm>
          <a:prstGeom prst="rect">
            <a:avLst/>
          </a:prstGeom>
          <a:noFill/>
          <a:ln>
            <a:noFill/>
          </a:ln>
        </p:spPr>
        <p:txBody>
          <a:bodyPr wrap="none" rtlCol="0">
            <a:spAutoFit/>
          </a:bodyPr>
          <a:lstStyle/>
          <a:p>
            <a:r>
              <a:rPr lang="en-GB" sz="1200" b="1" i="1" noProof="0" dirty="0">
                <a:solidFill>
                  <a:srgbClr val="FF0000"/>
                </a:solidFill>
              </a:rPr>
              <a:t>Example 19- I do…</a:t>
            </a:r>
          </a:p>
        </p:txBody>
      </p:sp>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2292741174"/>
                  </p:ext>
                </p:extLst>
              </p:nvPr>
            </p:nvGraphicFramePr>
            <p:xfrm>
              <a:off x="135806" y="3076686"/>
              <a:ext cx="6639192" cy="3487060"/>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549120">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94080">
                    <a:tc>
                      <a:txBody>
                        <a:bodyPr/>
                        <a:lstStyle/>
                        <a:p>
                          <a:r>
                            <a:rPr lang="en-GB" sz="1060" noProof="0" dirty="0">
                              <a:solidFill>
                                <a:schemeClr val="tx1"/>
                              </a:solidFill>
                            </a:rPr>
                            <a:t>1) Write as </a:t>
                          </a:r>
                          <a14:m>
                            <m:oMath xmlns:m="http://schemas.openxmlformats.org/officeDocument/2006/math">
                              <m:r>
                                <a:rPr lang="en-GB" sz="1060" b="0" i="1" noProof="0" smtClean="0">
                                  <a:solidFill>
                                    <a:schemeClr val="tx1"/>
                                  </a:solidFill>
                                  <a:latin typeface="Cambria Math" panose="02040503050406030204" pitchFamily="18" charset="0"/>
                                </a:rPr>
                                <m:t>𝑓</m:t>
                              </m:r>
                              <m:d>
                                <m:dPr>
                                  <m:ctrlPr>
                                    <a:rPr lang="en-GB" sz="1060" b="0" i="1" noProof="0" smtClean="0">
                                      <a:solidFill>
                                        <a:schemeClr val="tx1"/>
                                      </a:solidFill>
                                      <a:latin typeface="Cambria Math" panose="02040503050406030204" pitchFamily="18" charset="0"/>
                                    </a:rPr>
                                  </m:ctrlPr>
                                </m:dPr>
                                <m:e>
                                  <m:r>
                                    <a:rPr lang="en-GB" sz="1060" b="0" i="1" noProof="0" smtClean="0">
                                      <a:solidFill>
                                        <a:schemeClr val="tx1"/>
                                      </a:solidFill>
                                      <a:latin typeface="Cambria Math" panose="02040503050406030204" pitchFamily="18" charset="0"/>
                                    </a:rPr>
                                    <m:t>𝑥</m:t>
                                  </m:r>
                                </m:e>
                              </m:d>
                            </m:oMath>
                          </a14:m>
                          <a:r>
                            <a:rPr lang="en-GB" sz="1060" noProof="0" dirty="0">
                              <a:solidFill>
                                <a:schemeClr val="tx1"/>
                              </a:solidFill>
                            </a:rPr>
                            <a:t> as </a:t>
                          </a:r>
                          <a14:m>
                            <m:oMath xmlns:m="http://schemas.openxmlformats.org/officeDocument/2006/math">
                              <m:r>
                                <a:rPr lang="en-GB" sz="1060" b="0" i="1" noProof="0" smtClean="0">
                                  <a:solidFill>
                                    <a:schemeClr val="tx1"/>
                                  </a:solidFill>
                                  <a:latin typeface="Cambria Math" panose="02040503050406030204" pitchFamily="18" charset="0"/>
                                </a:rPr>
                                <m:t>𝑦</m:t>
                              </m:r>
                            </m:oMath>
                          </a14:m>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21930">
                    <a:tc>
                      <a:txBody>
                        <a:bodyPr/>
                        <a:lstStyle/>
                        <a:p>
                          <a:r>
                            <a:rPr lang="en-GB" sz="1060" noProof="0" dirty="0">
                              <a:solidFill>
                                <a:schemeClr val="tx1"/>
                              </a:solidFill>
                            </a:rPr>
                            <a:t>2) Change to</a:t>
                          </a:r>
                          <a:r>
                            <a:rPr lang="en-GB" sz="1060" baseline="0" noProof="0" dirty="0">
                              <a:solidFill>
                                <a:schemeClr val="tx1"/>
                              </a:solidFill>
                            </a:rPr>
                            <a:t> make </a:t>
                          </a:r>
                          <a14:m>
                            <m:oMath xmlns:m="http://schemas.openxmlformats.org/officeDocument/2006/math">
                              <m:r>
                                <a:rPr lang="en-GB" sz="1060" b="0" i="1" baseline="0" noProof="0" smtClean="0">
                                  <a:solidFill>
                                    <a:schemeClr val="tx1"/>
                                  </a:solidFill>
                                  <a:latin typeface="Cambria Math" panose="02040503050406030204" pitchFamily="18" charset="0"/>
                                </a:rPr>
                                <m:t>𝑥</m:t>
                              </m:r>
                            </m:oMath>
                          </a14:m>
                          <a:r>
                            <a:rPr lang="en-GB" sz="1060" noProof="0" dirty="0">
                              <a:solidFill>
                                <a:schemeClr val="tx1"/>
                              </a:solidFill>
                            </a:rPr>
                            <a:t> the subject.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021930">
                    <a:tc>
                      <a:txBody>
                        <a:bodyPr/>
                        <a:lstStyle/>
                        <a:p>
                          <a:r>
                            <a:rPr lang="en-GB" sz="1060" noProof="0" dirty="0">
                              <a:solidFill>
                                <a:schemeClr val="tx1"/>
                              </a:solidFill>
                            </a:rPr>
                            <a:t>3) Swap the variables to write</a:t>
                          </a:r>
                          <a:r>
                            <a:rPr lang="en-GB" sz="1060" baseline="0" noProof="0" dirty="0">
                              <a:solidFill>
                                <a:schemeClr val="tx1"/>
                              </a:solidFill>
                            </a:rPr>
                            <a:t> as </a:t>
                          </a:r>
                          <a14:m>
                            <m:oMath xmlns:m="http://schemas.openxmlformats.org/officeDocument/2006/math">
                              <m:sSup>
                                <m:sSupPr>
                                  <m:ctrlPr>
                                    <a:rPr lang="en-GB" sz="1060" b="0" i="1" baseline="0" noProof="0" smtClean="0">
                                      <a:solidFill>
                                        <a:schemeClr val="tx1"/>
                                      </a:solidFill>
                                      <a:latin typeface="Cambria Math" panose="02040503050406030204" pitchFamily="18" charset="0"/>
                                    </a:rPr>
                                  </m:ctrlPr>
                                </m:sSupPr>
                                <m:e>
                                  <m:r>
                                    <a:rPr lang="en-GB" sz="1060" b="0" i="1" baseline="0" noProof="0" smtClean="0">
                                      <a:solidFill>
                                        <a:schemeClr val="tx1"/>
                                      </a:solidFill>
                                      <a:latin typeface="Cambria Math" panose="02040503050406030204" pitchFamily="18" charset="0"/>
                                    </a:rPr>
                                    <m:t>𝑓</m:t>
                                  </m:r>
                                </m:e>
                                <m:sup>
                                  <m:r>
                                    <a:rPr lang="en-GB" sz="1060" b="0" i="1" baseline="0" noProof="0" smtClean="0">
                                      <a:solidFill>
                                        <a:schemeClr val="tx1"/>
                                      </a:solidFill>
                                      <a:latin typeface="Cambria Math" panose="02040503050406030204" pitchFamily="18" charset="0"/>
                                    </a:rPr>
                                    <m:t>−1</m:t>
                                  </m:r>
                                </m:sup>
                              </m:sSup>
                              <m:r>
                                <a:rPr lang="en-GB" sz="1060" b="0" i="1" baseline="0" noProof="0" smtClean="0">
                                  <a:solidFill>
                                    <a:schemeClr val="tx1"/>
                                  </a:solidFill>
                                  <a:latin typeface="Cambria Math" panose="02040503050406030204" pitchFamily="18" charset="0"/>
                                </a:rPr>
                                <m:t>(</m:t>
                              </m:r>
                              <m:r>
                                <a:rPr lang="en-GB" sz="1060" b="0" i="1" baseline="0" noProof="0" smtClean="0">
                                  <a:solidFill>
                                    <a:schemeClr val="tx1"/>
                                  </a:solidFill>
                                  <a:latin typeface="Cambria Math" panose="02040503050406030204" pitchFamily="18" charset="0"/>
                                </a:rPr>
                                <m:t>𝑥</m:t>
                              </m:r>
                              <m:r>
                                <a:rPr lang="en-GB" sz="1060" b="0" i="1" baseline="0" noProof="0" smtClean="0">
                                  <a:solidFill>
                                    <a:schemeClr val="tx1"/>
                                  </a:solidFill>
                                  <a:latin typeface="Cambria Math" panose="02040503050406030204" pitchFamily="18" charset="0"/>
                                </a:rPr>
                                <m:t>)</m:t>
                              </m:r>
                            </m:oMath>
                          </a14:m>
                          <a:endParaRPr lang="en-GB" sz="106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2292741174"/>
                  </p:ext>
                </p:extLst>
              </p:nvPr>
            </p:nvGraphicFramePr>
            <p:xfrm>
              <a:off x="135806" y="3076686"/>
              <a:ext cx="6639192" cy="3487060"/>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54912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940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76" t="-61905" r="-637838" b="-229932"/>
                          </a:stretch>
                        </a:blip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2193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76" t="-141667" r="-637838" b="-101190"/>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02193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76" t="-241667" r="-637838" b="-1190"/>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44271317"/>
                      </a:ext>
                    </a:extLst>
                  </a:tr>
                </a:tbl>
              </a:graphicData>
            </a:graphic>
          </p:graphicFrame>
        </mc:Fallback>
      </mc:AlternateContent>
      <mc:AlternateContent xmlns:mc="http://schemas.openxmlformats.org/markup-compatibility/2006" xmlns:a14="http://schemas.microsoft.com/office/drawing/2010/main">
        <mc:Choice Requires="a14">
          <p:sp>
            <p:nvSpPr>
              <p:cNvPr id="10" name="TextBox 9"/>
              <p:cNvSpPr txBox="1"/>
              <p:nvPr/>
            </p:nvSpPr>
            <p:spPr>
              <a:xfrm>
                <a:off x="1970297" y="6765687"/>
                <a:ext cx="4077142" cy="276999"/>
              </a:xfrm>
              <a:prstGeom prst="rect">
                <a:avLst/>
              </a:prstGeom>
              <a:noFill/>
            </p:spPr>
            <p:txBody>
              <a:bodyPr wrap="none" rtlCol="0">
                <a:spAutoFit/>
              </a:bodyPr>
              <a:lstStyle/>
              <a:p>
                <a:r>
                  <a:rPr lang="en-GB" sz="1200" noProof="0" dirty="0"/>
                  <a:t>6. Find the inverse functions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𝑓</m:t>
                        </m:r>
                      </m:e>
                      <m:sup>
                        <m:r>
                          <a:rPr lang="en-GB" sz="1200" b="0" i="1" noProof="0" smtClean="0">
                            <a:latin typeface="Cambria Math" panose="02040503050406030204" pitchFamily="18" charset="0"/>
                          </a:rPr>
                          <m:t>−1</m:t>
                        </m:r>
                      </m:sup>
                    </m:sSup>
                    <m:r>
                      <a:rPr lang="en-GB" sz="1200" b="0" i="1" noProof="0" smtClean="0">
                        <a:latin typeface="Cambria Math" panose="02040503050406030204" pitchFamily="18" charset="0"/>
                      </a:rPr>
                      <m:t>(</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of the following functions</a:t>
                </a:r>
              </a:p>
            </p:txBody>
          </p:sp>
        </mc:Choice>
        <mc:Fallback xmlns="">
          <p:sp>
            <p:nvSpPr>
              <p:cNvPr id="10" name="TextBox 9"/>
              <p:cNvSpPr txBox="1">
                <a:spLocks noRot="1" noChangeAspect="1" noMove="1" noResize="1" noEditPoints="1" noAdjustHandles="1" noChangeArrowheads="1" noChangeShapeType="1" noTextEdit="1"/>
              </p:cNvSpPr>
              <p:nvPr/>
            </p:nvSpPr>
            <p:spPr>
              <a:xfrm>
                <a:off x="1970297" y="6765687"/>
                <a:ext cx="4077142" cy="276999"/>
              </a:xfrm>
              <a:prstGeom prst="rect">
                <a:avLst/>
              </a:prstGeom>
              <a:blipFill>
                <a:blip r:embed="rId3"/>
                <a:stretch>
                  <a:fillRect b="-2000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3C36006B-227E-45B6-ACB0-32FCE0D906FC}"/>
              </a:ext>
            </a:extLst>
          </p:cNvPr>
          <p:cNvSpPr/>
          <p:nvPr/>
        </p:nvSpPr>
        <p:spPr>
          <a:xfrm>
            <a:off x="71889" y="7151477"/>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19CA145-0A55-47EB-B271-6690400B9E6B}"/>
                  </a:ext>
                </a:extLst>
              </p:cNvPr>
              <p:cNvSpPr txBox="1"/>
              <p:nvPr/>
            </p:nvSpPr>
            <p:spPr>
              <a:xfrm>
                <a:off x="91250" y="7167351"/>
                <a:ext cx="1016112" cy="276999"/>
              </a:xfrm>
              <a:prstGeom prst="rect">
                <a:avLst/>
              </a:prstGeom>
              <a:noFill/>
            </p:spPr>
            <p:txBody>
              <a:bodyPr wrap="none" rtlCol="0">
                <a:spAutoFit/>
              </a:bodyPr>
              <a:lstStyle/>
              <a:p>
                <a:r>
                  <a:rPr lang="en-GB" sz="1200" noProof="0" dirty="0"/>
                  <a:t>a)</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=4</m:t>
                    </m:r>
                    <m:r>
                      <a:rPr lang="en-GB" sz="1200" b="0" i="1" noProof="0" smtClean="0">
                        <a:latin typeface="Cambria Math" panose="02040503050406030204" pitchFamily="18" charset="0"/>
                        <a:ea typeface="Cambria Math" panose="02040503050406030204" pitchFamily="18" charset="0"/>
                      </a:rPr>
                      <m:t>𝑥</m:t>
                    </m:r>
                  </m:oMath>
                </a14:m>
                <a:endParaRPr lang="en-GB" sz="1200" noProof="0" dirty="0"/>
              </a:p>
            </p:txBody>
          </p:sp>
        </mc:Choice>
        <mc:Fallback xmlns="">
          <p:sp>
            <p:nvSpPr>
              <p:cNvPr id="23" name="TextBox 2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91250" y="7167351"/>
                <a:ext cx="1016112" cy="276999"/>
              </a:xfrm>
              <a:prstGeom prst="rect">
                <a:avLst/>
              </a:prstGeom>
              <a:blipFill>
                <a:blip r:embed="rId4"/>
                <a:stretch>
                  <a:fillRect l="-599" t="-2222" b="-17778"/>
                </a:stretch>
              </a:blipFill>
            </p:spPr>
            <p:txBody>
              <a:bodyPr/>
              <a:lstStyle/>
              <a:p>
                <a:r>
                  <a:rPr lang="en-US">
                    <a:noFill/>
                  </a:rPr>
                  <a:t> </a:t>
                </a:r>
              </a:p>
            </p:txBody>
          </p:sp>
        </mc:Fallback>
      </mc:AlternateContent>
      <p:sp>
        <p:nvSpPr>
          <p:cNvPr id="37" name="Rectangle 36">
            <a:extLst>
              <a:ext uri="{FF2B5EF4-FFF2-40B4-BE49-F238E27FC236}">
                <a16:creationId xmlns:a16="http://schemas.microsoft.com/office/drawing/2014/main" id="{3C36006B-227E-45B6-ACB0-32FCE0D906FC}"/>
              </a:ext>
            </a:extLst>
          </p:cNvPr>
          <p:cNvSpPr/>
          <p:nvPr/>
        </p:nvSpPr>
        <p:spPr>
          <a:xfrm>
            <a:off x="1752216" y="7154279"/>
            <a:ext cx="1623176" cy="2524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8" name="Rectangle 37">
            <a:extLst>
              <a:ext uri="{FF2B5EF4-FFF2-40B4-BE49-F238E27FC236}">
                <a16:creationId xmlns:a16="http://schemas.microsoft.com/office/drawing/2014/main" id="{3C36006B-227E-45B6-ACB0-32FCE0D906FC}"/>
              </a:ext>
            </a:extLst>
          </p:cNvPr>
          <p:cNvSpPr/>
          <p:nvPr/>
        </p:nvSpPr>
        <p:spPr>
          <a:xfrm>
            <a:off x="3455402" y="7147185"/>
            <a:ext cx="1623176" cy="25284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9" name="Rectangle 38">
            <a:extLst>
              <a:ext uri="{FF2B5EF4-FFF2-40B4-BE49-F238E27FC236}">
                <a16:creationId xmlns:a16="http://schemas.microsoft.com/office/drawing/2014/main" id="{3C36006B-227E-45B6-ACB0-32FCE0D906FC}"/>
              </a:ext>
            </a:extLst>
          </p:cNvPr>
          <p:cNvSpPr/>
          <p:nvPr/>
        </p:nvSpPr>
        <p:spPr>
          <a:xfrm>
            <a:off x="5143143" y="7151720"/>
            <a:ext cx="1623176" cy="25214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19CA145-0A55-47EB-B271-6690400B9E6B}"/>
                  </a:ext>
                </a:extLst>
              </p:cNvPr>
              <p:cNvSpPr txBox="1"/>
              <p:nvPr/>
            </p:nvSpPr>
            <p:spPr>
              <a:xfrm>
                <a:off x="1732467" y="7151478"/>
                <a:ext cx="1022524" cy="276999"/>
              </a:xfrm>
              <a:prstGeom prst="rect">
                <a:avLst/>
              </a:prstGeom>
              <a:noFill/>
            </p:spPr>
            <p:txBody>
              <a:bodyPr wrap="none" rtlCol="0">
                <a:spAutoFit/>
              </a:bodyPr>
              <a:lstStyle/>
              <a:p>
                <a:r>
                  <a:rPr lang="en-GB" sz="1200" noProof="0" dirty="0"/>
                  <a:t>b)</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=5</m:t>
                    </m:r>
                    <m:r>
                      <a:rPr lang="en-GB" sz="1200" b="0" i="1" noProof="0" smtClean="0">
                        <a:latin typeface="Cambria Math" panose="02040503050406030204" pitchFamily="18" charset="0"/>
                        <a:ea typeface="Cambria Math" panose="02040503050406030204" pitchFamily="18" charset="0"/>
                      </a:rPr>
                      <m:t>𝑥</m:t>
                    </m:r>
                  </m:oMath>
                </a14:m>
                <a:endParaRPr lang="en-GB" sz="1200" noProof="0" dirty="0"/>
              </a:p>
            </p:txBody>
          </p:sp>
        </mc:Choice>
        <mc:Fallback xmlns="">
          <p:sp>
            <p:nvSpPr>
              <p:cNvPr id="40" name="TextBox 3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32467" y="7151478"/>
                <a:ext cx="1022524" cy="276999"/>
              </a:xfrm>
              <a:prstGeom prst="rect">
                <a:avLst/>
              </a:prstGeom>
              <a:blipFill>
                <a:blip r:embed="rId5"/>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19CA145-0A55-47EB-B271-6690400B9E6B}"/>
                  </a:ext>
                </a:extLst>
              </p:cNvPr>
              <p:cNvSpPr txBox="1"/>
              <p:nvPr/>
            </p:nvSpPr>
            <p:spPr>
              <a:xfrm>
                <a:off x="3409730" y="7142849"/>
                <a:ext cx="1191865" cy="276999"/>
              </a:xfrm>
              <a:prstGeom prst="rect">
                <a:avLst/>
              </a:prstGeom>
              <a:noFill/>
            </p:spPr>
            <p:txBody>
              <a:bodyPr wrap="none" rtlCol="0">
                <a:spAutoFit/>
              </a:bodyPr>
              <a:lstStyle/>
              <a:p>
                <a:r>
                  <a:rPr lang="en-GB" sz="1200" noProof="0" dirty="0"/>
                  <a:t>c)</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+7</m:t>
                    </m:r>
                  </m:oMath>
                </a14:m>
                <a:endParaRPr lang="en-GB" sz="1200" noProof="0" dirty="0"/>
              </a:p>
            </p:txBody>
          </p:sp>
        </mc:Choice>
        <mc:Fallback xmlns="">
          <p:sp>
            <p:nvSpPr>
              <p:cNvPr id="41" name="TextBox 40">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09730" y="7142849"/>
                <a:ext cx="1191865" cy="276999"/>
              </a:xfrm>
              <a:prstGeom prst="rect">
                <a:avLst/>
              </a:prstGeom>
              <a:blipFill>
                <a:blip r:embed="rId6"/>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19CA145-0A55-47EB-B271-6690400B9E6B}"/>
                  </a:ext>
                </a:extLst>
              </p:cNvPr>
              <p:cNvSpPr txBox="1"/>
              <p:nvPr/>
            </p:nvSpPr>
            <p:spPr>
              <a:xfrm>
                <a:off x="5158588" y="7144289"/>
                <a:ext cx="1291251" cy="276999"/>
              </a:xfrm>
              <a:prstGeom prst="rect">
                <a:avLst/>
              </a:prstGeom>
              <a:noFill/>
            </p:spPr>
            <p:txBody>
              <a:bodyPr wrap="none" rtlCol="0">
                <a:spAutoFit/>
              </a:bodyPr>
              <a:lstStyle/>
              <a:p>
                <a:r>
                  <a:rPr lang="en-GB" sz="1200" noProof="0" dirty="0"/>
                  <a:t>d)</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=7</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42" name="TextBox 41">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58588" y="7144289"/>
                <a:ext cx="1291251" cy="276999"/>
              </a:xfrm>
              <a:prstGeom prst="rect">
                <a:avLst/>
              </a:prstGeom>
              <a:blipFill>
                <a:blip r:embed="rId7"/>
                <a:stretch>
                  <a:fillRect t="-2222" b="-17778"/>
                </a:stretch>
              </a:blipFill>
            </p:spPr>
            <p:txBody>
              <a:bodyPr/>
              <a:lstStyle/>
              <a:p>
                <a:r>
                  <a:rPr lang="en-US">
                    <a:noFill/>
                  </a:rPr>
                  <a:t> </a:t>
                </a:r>
              </a:p>
            </p:txBody>
          </p:sp>
        </mc:Fallback>
      </mc:AlternateContent>
      <p:sp>
        <p:nvSpPr>
          <p:cNvPr id="11" name="Slide Number Placeholder 10"/>
          <p:cNvSpPr>
            <a:spLocks noGrp="1"/>
          </p:cNvSpPr>
          <p:nvPr>
            <p:ph type="sldNum" sz="quarter" idx="12"/>
          </p:nvPr>
        </p:nvSpPr>
        <p:spPr>
          <a:xfrm>
            <a:off x="5314950" y="9536057"/>
            <a:ext cx="1543050" cy="527403"/>
          </a:xfrm>
        </p:spPr>
        <p:txBody>
          <a:bodyPr/>
          <a:lstStyle/>
          <a:p>
            <a:fld id="{9BD3B4A0-BFF9-422C-B253-48BA94BE2F5B}" type="slidenum">
              <a:rPr lang="en-GB" noProof="0" smtClean="0"/>
              <a:t>46</a:t>
            </a:fld>
            <a:endParaRPr lang="en-GB" noProof="0" dirty="0"/>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80CA423-62E4-4D9E-A61F-19419774D88E}"/>
                  </a:ext>
                </a:extLst>
              </p:cNvPr>
              <p:cNvSpPr txBox="1"/>
              <p:nvPr/>
            </p:nvSpPr>
            <p:spPr>
              <a:xfrm>
                <a:off x="790690" y="3124509"/>
                <a:ext cx="2155809" cy="6463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oMath>
                  </m:oMathPara>
                </a14:m>
                <a:endParaRPr lang="en-GB" sz="1200" noProof="0" dirty="0"/>
              </a:p>
              <a:p>
                <a:pPr algn="ctr"/>
                <a:r>
                  <a:rPr lang="en-GB" sz="1200" noProof="0" dirty="0"/>
                  <a:t>Find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𝑓</m:t>
                        </m:r>
                      </m:e>
                      <m:sup>
                        <m:r>
                          <a:rPr lang="en-GB" sz="1200" b="0" i="1" noProof="0" smtClean="0">
                            <a:latin typeface="Cambria Math" panose="02040503050406030204" pitchFamily="18" charset="0"/>
                          </a:rPr>
                          <m:t>−1</m:t>
                        </m:r>
                      </m:sup>
                    </m:sSup>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oMath>
                </a14:m>
                <a:endParaRPr lang="en-GB" sz="1200" noProof="0" dirty="0"/>
              </a:p>
              <a:p>
                <a:endParaRPr lang="en-GB" sz="1200" noProof="0" dirty="0"/>
              </a:p>
            </p:txBody>
          </p:sp>
        </mc:Choice>
        <mc:Fallback xmlns="">
          <p:sp>
            <p:nvSpPr>
              <p:cNvPr id="45" name="TextBox 44">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790690" y="3124509"/>
                <a:ext cx="2155809" cy="64633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780CA423-62E4-4D9E-A61F-19419774D88E}"/>
                  </a:ext>
                </a:extLst>
              </p:cNvPr>
              <p:cNvSpPr txBox="1"/>
              <p:nvPr/>
            </p:nvSpPr>
            <p:spPr>
              <a:xfrm>
                <a:off x="2776940" y="3142546"/>
                <a:ext cx="2155809" cy="589264"/>
              </a:xfrm>
              <a:prstGeom prst="rect">
                <a:avLst/>
              </a:prstGeom>
              <a:noFill/>
            </p:spPr>
            <p:txBody>
              <a:bodyPr wrap="square" rtlCol="0">
                <a:spAutoFit/>
              </a:bodyPr>
              <a:lstStyle/>
              <a:p>
                <a:pPr algn="ctr"/>
                <a14:m>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f>
                      <m:fPr>
                        <m:ctrlPr>
                          <a:rPr lang="en-GB" i="1" noProof="0" smtClean="0">
                            <a:latin typeface="Cambria Math" panose="02040503050406030204" pitchFamily="18" charset="0"/>
                          </a:rPr>
                        </m:ctrlPr>
                      </m:fPr>
                      <m:num>
                        <m:r>
                          <a:rPr lang="en-GB" i="1" noProof="0">
                            <a:latin typeface="Cambria Math" panose="02040503050406030204" pitchFamily="18" charset="0"/>
                          </a:rPr>
                          <m:t>𝑥</m:t>
                        </m:r>
                        <m:r>
                          <a:rPr lang="en-GB" i="1" noProof="0">
                            <a:latin typeface="Cambria Math" panose="02040503050406030204" pitchFamily="18" charset="0"/>
                          </a:rPr>
                          <m:t>−3</m:t>
                        </m:r>
                      </m:num>
                      <m:den>
                        <m:r>
                          <a:rPr lang="en-GB" i="1" noProof="0">
                            <a:latin typeface="Cambria Math" panose="02040503050406030204" pitchFamily="18" charset="0"/>
                          </a:rPr>
                          <m:t>2−</m:t>
                        </m:r>
                        <m:r>
                          <a:rPr lang="en-GB" i="1" noProof="0">
                            <a:latin typeface="Cambria Math" panose="02040503050406030204" pitchFamily="18" charset="0"/>
                          </a:rPr>
                          <m:t>𝑥</m:t>
                        </m:r>
                      </m:den>
                    </m:f>
                  </m:oMath>
                </a14:m>
                <a:r>
                  <a:rPr lang="en-GB" sz="1200" noProof="0" dirty="0"/>
                  <a:t>, find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𝑓</m:t>
                        </m:r>
                      </m:e>
                      <m:sup>
                        <m:r>
                          <a:rPr lang="en-GB" sz="1200" b="0" i="1" noProof="0" smtClean="0">
                            <a:latin typeface="Cambria Math" panose="02040503050406030204" pitchFamily="18" charset="0"/>
                          </a:rPr>
                          <m:t>−1</m:t>
                        </m:r>
                      </m:sup>
                    </m:sSup>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oMath>
                </a14:m>
                <a:endParaRPr lang="en-GB" sz="1200" noProof="0" dirty="0"/>
              </a:p>
              <a:p>
                <a:endParaRPr lang="en-GB" sz="1200" noProof="0" dirty="0"/>
              </a:p>
            </p:txBody>
          </p:sp>
        </mc:Choice>
        <mc:Fallback xmlns="">
          <p:sp>
            <p:nvSpPr>
              <p:cNvPr id="59" name="TextBox 58">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776940" y="3142546"/>
                <a:ext cx="2155809" cy="58926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80CA423-62E4-4D9E-A61F-19419774D88E}"/>
                  </a:ext>
                </a:extLst>
              </p:cNvPr>
              <p:cNvSpPr txBox="1"/>
              <p:nvPr/>
            </p:nvSpPr>
            <p:spPr>
              <a:xfrm>
                <a:off x="4716136" y="3132310"/>
                <a:ext cx="2155809" cy="6463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200" b="0" i="1" noProof="0" smtClean="0">
                          <a:latin typeface="Cambria Math" panose="02040503050406030204" pitchFamily="18" charset="0"/>
                        </a:rPr>
                        <m:t>𝑓</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oMath>
                  </m:oMathPara>
                </a14:m>
                <a:endParaRPr lang="en-GB" sz="1200" noProof="0" dirty="0"/>
              </a:p>
              <a:p>
                <a:pPr algn="ctr"/>
                <a:r>
                  <a:rPr lang="en-GB" sz="1200" noProof="0" dirty="0"/>
                  <a:t>Find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𝑓</m:t>
                        </m:r>
                      </m:e>
                      <m:sup>
                        <m:r>
                          <a:rPr lang="en-GB" sz="1200" b="0" i="1" noProof="0" smtClean="0">
                            <a:latin typeface="Cambria Math" panose="02040503050406030204" pitchFamily="18" charset="0"/>
                          </a:rPr>
                          <m:t>−1</m:t>
                        </m:r>
                      </m:sup>
                    </m:sSup>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oMath>
                </a14:m>
                <a:endParaRPr lang="en-GB" sz="1200" noProof="0" dirty="0"/>
              </a:p>
              <a:p>
                <a:endParaRPr lang="en-GB" sz="1200" noProof="0" dirty="0"/>
              </a:p>
            </p:txBody>
          </p:sp>
        </mc:Choice>
        <mc:Fallback xmlns="">
          <p:sp>
            <p:nvSpPr>
              <p:cNvPr id="60" name="TextBox 59">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716136" y="3132310"/>
                <a:ext cx="2155809" cy="646331"/>
              </a:xfrm>
              <a:prstGeom prst="rect">
                <a:avLst/>
              </a:prstGeom>
              <a:blipFill>
                <a:blip r:embed="rId10"/>
                <a:stretch>
                  <a:fillRect/>
                </a:stretch>
              </a:blipFill>
            </p:spPr>
            <p:txBody>
              <a:bodyPr/>
              <a:lstStyle/>
              <a:p>
                <a:r>
                  <a:rPr lang="en-US">
                    <a:noFill/>
                  </a:rPr>
                  <a:t> </a:t>
                </a:r>
              </a:p>
            </p:txBody>
          </p:sp>
        </mc:Fallback>
      </mc:AlternateContent>
      <p:sp>
        <p:nvSpPr>
          <p:cNvPr id="62" name="TextBox 61">
            <a:extLst>
              <a:ext uri="{FF2B5EF4-FFF2-40B4-BE49-F238E27FC236}">
                <a16:creationId xmlns:a16="http://schemas.microsoft.com/office/drawing/2014/main" id="{C3C65E48-8C3D-6849-AD77-7AD8678AD8DA}"/>
              </a:ext>
            </a:extLst>
          </p:cNvPr>
          <p:cNvSpPr txBox="1"/>
          <p:nvPr/>
        </p:nvSpPr>
        <p:spPr>
          <a:xfrm>
            <a:off x="103456" y="6741892"/>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BF663EA-14AC-FAA9-3F73-DAD14C5B687F}"/>
                  </a:ext>
                </a:extLst>
              </p:cNvPr>
              <p:cNvSpPr txBox="1"/>
              <p:nvPr/>
            </p:nvSpPr>
            <p:spPr>
              <a:xfrm>
                <a:off x="91250" y="327689"/>
                <a:ext cx="6675069" cy="2505494"/>
              </a:xfrm>
              <a:prstGeom prst="rect">
                <a:avLst/>
              </a:prstGeom>
              <a:noFill/>
              <a:ln>
                <a:solidFill>
                  <a:schemeClr val="tx1"/>
                </a:solidFill>
              </a:ln>
            </p:spPr>
            <p:txBody>
              <a:bodyPr wrap="square" rtlCol="0">
                <a:spAutoFit/>
              </a:bodyPr>
              <a:lstStyle/>
              <a:p>
                <a:r>
                  <a:rPr lang="en-GB" sz="1200" noProof="0" dirty="0"/>
                  <a:t>An inverse function performs the inverse operations of the function that was initially given. It is essentially the same as when we placed outputs into our functions machine at the beginning of this topic. The formal notation for the inverse function is</a:t>
                </a:r>
                <a14:m>
                  <m:oMath xmlns:m="http://schemas.openxmlformats.org/officeDocument/2006/math">
                    <m:r>
                      <a:rPr lang="en-GB" sz="1200" i="1" noProof="0">
                        <a:latin typeface="Cambria Math" panose="02040503050406030204" pitchFamily="18" charset="0"/>
                      </a:rPr>
                      <m:t>  </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𝑓</m:t>
                        </m:r>
                      </m:e>
                      <m:sup>
                        <m:r>
                          <a:rPr lang="en-GB" sz="1200" i="1" noProof="0">
                            <a:latin typeface="Cambria Math" panose="02040503050406030204" pitchFamily="18" charset="0"/>
                          </a:rPr>
                          <m:t>−1</m:t>
                        </m:r>
                      </m:sup>
                    </m:sSup>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where the </a:t>
                </a:r>
                <a14:m>
                  <m:oMath xmlns:m="http://schemas.openxmlformats.org/officeDocument/2006/math">
                    <m:r>
                      <a:rPr lang="en-GB" sz="1200" i="1" noProof="0">
                        <a:latin typeface="Cambria Math" panose="02040503050406030204" pitchFamily="18" charset="0"/>
                      </a:rPr>
                      <m:t>−1</m:t>
                    </m:r>
                  </m:oMath>
                </a14:m>
                <a:r>
                  <a:rPr lang="en-GB" sz="1200" noProof="0" dirty="0"/>
                  <a:t> does not act as an index, it simply refers to the inverse of the function. </a:t>
                </a:r>
              </a:p>
              <a:p>
                <a:endParaRPr lang="en-GB" sz="1200" noProof="0" dirty="0"/>
              </a:p>
              <a:p>
                <a:r>
                  <a:rPr lang="en-GB" sz="1200" noProof="0" dirty="0"/>
                  <a:t>Note if you found the composite function of </a:t>
                </a:r>
                <a14:m>
                  <m:oMath xmlns:m="http://schemas.openxmlformats.org/officeDocument/2006/math">
                    <m:r>
                      <a:rPr lang="en-GB" sz="1200" i="1" noProof="0">
                        <a:latin typeface="Cambria Math" panose="02040503050406030204" pitchFamily="18" charset="0"/>
                      </a:rPr>
                      <m:t>𝑓</m:t>
                    </m:r>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𝑓</m:t>
                        </m:r>
                      </m:e>
                      <m:sup>
                        <m:r>
                          <a:rPr lang="en-GB" sz="1200" i="1" noProof="0">
                            <a:latin typeface="Cambria Math" panose="02040503050406030204" pitchFamily="18" charset="0"/>
                          </a:rPr>
                          <m:t>−1</m:t>
                        </m:r>
                      </m:sup>
                    </m:sSup>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or </a:t>
                </a:r>
                <a14:m>
                  <m:oMath xmlns:m="http://schemas.openxmlformats.org/officeDocument/2006/math">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𝑓</m:t>
                        </m:r>
                      </m:e>
                      <m:sup>
                        <m:r>
                          <a:rPr lang="en-GB" sz="1200" i="1" noProof="0">
                            <a:latin typeface="Cambria Math" panose="02040503050406030204" pitchFamily="18" charset="0"/>
                          </a:rPr>
                          <m:t>−1</m:t>
                        </m:r>
                      </m:sup>
                    </m:sSup>
                    <m:r>
                      <a:rPr lang="en-GB" sz="1200" i="1" noProof="0">
                        <a:latin typeface="Cambria Math" panose="02040503050406030204" pitchFamily="18" charset="0"/>
                      </a:rPr>
                      <m:t>𝑓</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the answer will always be</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𝑥</m:t>
                    </m:r>
                  </m:oMath>
                </a14:m>
                <a:r>
                  <a:rPr lang="en-GB" sz="1200" noProof="0" dirty="0"/>
                  <a:t>. This is because you are finding the function and then its inverse (or vice versa), so undoing the function you have just evaluated and ending up where you started.</a:t>
                </a:r>
              </a:p>
              <a:p>
                <a:endParaRPr lang="en-GB" sz="1200" noProof="0" dirty="0"/>
              </a:p>
              <a:p>
                <a:r>
                  <a:rPr lang="en-GB" sz="1200" noProof="0" dirty="0"/>
                  <a:t>To find the inverse of a function,</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𝑓</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we do this in three steps:</a:t>
                </a:r>
              </a:p>
              <a:p>
                <a:pPr marL="171450" lvl="0" indent="-171450">
                  <a:buFont typeface="Arial" panose="020B0604020202020204" pitchFamily="34" charset="0"/>
                  <a:buChar char="•"/>
                </a:pPr>
                <a:r>
                  <a:rPr lang="en-GB" sz="1200" noProof="0" dirty="0"/>
                  <a:t>Replace </a:t>
                </a:r>
                <a14:m>
                  <m:oMath xmlns:m="http://schemas.openxmlformats.org/officeDocument/2006/math">
                    <m:r>
                      <a:rPr lang="en-GB" sz="1200" i="1" noProof="0">
                        <a:latin typeface="Cambria Math" panose="02040503050406030204" pitchFamily="18" charset="0"/>
                      </a:rPr>
                      <m:t>𝑓</m:t>
                    </m:r>
                    <m:r>
                      <a:rPr lang="en-GB" sz="1200" i="1" noProof="0">
                        <a:latin typeface="Cambria Math" panose="02040503050406030204" pitchFamily="18" charset="0"/>
                      </a:rPr>
                      <m:t>(</m:t>
                    </m:r>
                    <m:r>
                      <a:rPr lang="en-GB" sz="1200" i="1" noProof="0">
                        <a:latin typeface="Cambria Math" panose="02040503050406030204" pitchFamily="18" charset="0"/>
                      </a:rPr>
                      <m:t>𝑥</m:t>
                    </m:r>
                    <m:r>
                      <a:rPr lang="en-GB" sz="1200" i="1" noProof="0">
                        <a:latin typeface="Cambria Math" panose="02040503050406030204" pitchFamily="18" charset="0"/>
                      </a:rPr>
                      <m:t>)</m:t>
                    </m:r>
                  </m:oMath>
                </a14:m>
                <a:r>
                  <a:rPr lang="en-GB" sz="1200" noProof="0" dirty="0"/>
                  <a:t> with </a:t>
                </a:r>
                <a14:m>
                  <m:oMath xmlns:m="http://schemas.openxmlformats.org/officeDocument/2006/math">
                    <m:r>
                      <a:rPr lang="en-GB" sz="1200" i="1" noProof="0">
                        <a:latin typeface="Cambria Math" panose="02040503050406030204" pitchFamily="18" charset="0"/>
                      </a:rPr>
                      <m:t>𝑦</m:t>
                    </m:r>
                  </m:oMath>
                </a14:m>
                <a:r>
                  <a:rPr lang="en-GB" sz="1200" noProof="0" dirty="0"/>
                  <a:t>, so you have an equation</a:t>
                </a:r>
              </a:p>
              <a:p>
                <a:pPr marL="171450" lvl="0" indent="-171450">
                  <a:buFont typeface="Arial" panose="020B0604020202020204" pitchFamily="34" charset="0"/>
                  <a:buChar char="•"/>
                </a:pPr>
                <a:r>
                  <a:rPr lang="en-GB" sz="1200" noProof="0" dirty="0"/>
                  <a:t>Then rearrange the equation to make </a:t>
                </a:r>
                <a14:m>
                  <m:oMath xmlns:m="http://schemas.openxmlformats.org/officeDocument/2006/math">
                    <m:r>
                      <a:rPr lang="en-GB" sz="1200" i="1" noProof="0">
                        <a:latin typeface="Cambria Math" panose="02040503050406030204" pitchFamily="18" charset="0"/>
                      </a:rPr>
                      <m:t>𝑥</m:t>
                    </m:r>
                  </m:oMath>
                </a14:m>
                <a:r>
                  <a:rPr lang="en-GB" sz="1200" noProof="0" dirty="0"/>
                  <a:t> the subject,</a:t>
                </a:r>
              </a:p>
              <a:p>
                <a:pPr marL="171450" lvl="0" indent="-171450">
                  <a:buFont typeface="Arial" panose="020B0604020202020204" pitchFamily="34" charset="0"/>
                  <a:buChar char="•"/>
                </a:pPr>
                <a:r>
                  <a:rPr lang="en-GB" sz="1200" noProof="0" dirty="0"/>
                  <a:t>Then rewrite the equation as </a:t>
                </a:r>
                <a14:m>
                  <m:oMath xmlns:m="http://schemas.openxmlformats.org/officeDocument/2006/math">
                    <m:sSup>
                      <m:sSupPr>
                        <m:ctrlPr>
                          <a:rPr lang="en-GB" sz="1200" i="1" noProof="0" smtClean="0">
                            <a:latin typeface="Cambria Math" panose="02040503050406030204" pitchFamily="18" charset="0"/>
                          </a:rPr>
                        </m:ctrlPr>
                      </m:sSupPr>
                      <m:e>
                        <m:r>
                          <a:rPr lang="en-GB" sz="1200" i="1" noProof="0">
                            <a:latin typeface="Cambria Math" panose="02040503050406030204" pitchFamily="18" charset="0"/>
                          </a:rPr>
                          <m:t>𝑓</m:t>
                        </m:r>
                      </m:e>
                      <m:sup>
                        <m:r>
                          <a:rPr lang="en-GB" sz="1200" i="1" noProof="0">
                            <a:latin typeface="Cambria Math" panose="02040503050406030204" pitchFamily="18" charset="0"/>
                          </a:rPr>
                          <m:t>−1</m:t>
                        </m:r>
                      </m:sup>
                    </m:sSup>
                    <m:d>
                      <m:dPr>
                        <m:ctrlPr>
                          <a:rPr lang="en-GB" sz="1200" i="1" noProof="0" smtClean="0">
                            <a:latin typeface="Cambria Math" panose="02040503050406030204" pitchFamily="18" charset="0"/>
                          </a:rPr>
                        </m:ctrlPr>
                      </m:dPr>
                      <m:e>
                        <m:r>
                          <a:rPr lang="en-GB" sz="1200" i="1" noProof="0">
                            <a:latin typeface="Cambria Math" panose="02040503050406030204" pitchFamily="18" charset="0"/>
                          </a:rPr>
                          <m:t>𝑥</m:t>
                        </m:r>
                      </m:e>
                    </m:d>
                    <m:r>
                      <a:rPr lang="en-GB" sz="1200" i="1" noProof="0">
                        <a:latin typeface="Cambria Math" panose="02040503050406030204" pitchFamily="18" charset="0"/>
                      </a:rPr>
                      <m:t>=</m:t>
                    </m:r>
                  </m:oMath>
                </a14:m>
                <a:r>
                  <a:rPr lang="en-GB" sz="1200" noProof="0" dirty="0"/>
                  <a:t> and swap the </a:t>
                </a:r>
                <a14:m>
                  <m:oMath xmlns:m="http://schemas.openxmlformats.org/officeDocument/2006/math">
                    <m:r>
                      <a:rPr lang="en-GB" sz="1200" i="1" noProof="0">
                        <a:latin typeface="Cambria Math" panose="02040503050406030204" pitchFamily="18" charset="0"/>
                      </a:rPr>
                      <m:t>𝑥</m:t>
                    </m:r>
                  </m:oMath>
                </a14:m>
                <a:r>
                  <a:rPr lang="en-GB" sz="1200" noProof="0" dirty="0"/>
                  <a:t>s &amp; </a:t>
                </a:r>
                <a14:m>
                  <m:oMath xmlns:m="http://schemas.openxmlformats.org/officeDocument/2006/math">
                    <m:r>
                      <a:rPr lang="en-GB" sz="1200" i="1" noProof="0">
                        <a:latin typeface="Cambria Math" panose="02040503050406030204" pitchFamily="18" charset="0"/>
                      </a:rPr>
                      <m:t>𝑦</m:t>
                    </m:r>
                  </m:oMath>
                </a14:m>
                <a:r>
                  <a:rPr lang="en-GB" sz="1200" noProof="0" dirty="0"/>
                  <a:t>s.</a:t>
                </a:r>
              </a:p>
            </p:txBody>
          </p:sp>
        </mc:Choice>
        <mc:Fallback xmlns="">
          <p:sp>
            <p:nvSpPr>
              <p:cNvPr id="3" name="TextBox 2">
                <a:extLst>
                  <a:ext uri="{FF2B5EF4-FFF2-40B4-BE49-F238E27FC236}">
                    <a16:creationId xmlns:a16="http://schemas.microsoft.com/office/drawing/2014/main" id="{6BF663EA-14AC-FAA9-3F73-DAD14C5B687F}"/>
                  </a:ext>
                </a:extLst>
              </p:cNvPr>
              <p:cNvSpPr txBox="1">
                <a:spLocks noRot="1" noChangeAspect="1" noMove="1" noResize="1" noEditPoints="1" noAdjustHandles="1" noChangeArrowheads="1" noChangeShapeType="1" noTextEdit="1"/>
              </p:cNvSpPr>
              <p:nvPr/>
            </p:nvSpPr>
            <p:spPr>
              <a:xfrm>
                <a:off x="91250" y="327689"/>
                <a:ext cx="6675069" cy="2505494"/>
              </a:xfrm>
              <a:prstGeom prst="rect">
                <a:avLst/>
              </a:prstGeom>
              <a:blipFill>
                <a:blip r:embed="rId11"/>
                <a:stretch>
                  <a:fillRect b="-484"/>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3376812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C36006B-227E-45B6-ACB0-32FCE0D906FC}"/>
              </a:ext>
            </a:extLst>
          </p:cNvPr>
          <p:cNvSpPr/>
          <p:nvPr/>
        </p:nvSpPr>
        <p:spPr>
          <a:xfrm>
            <a:off x="88241" y="11187"/>
            <a:ext cx="1623176" cy="2368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19CA145-0A55-47EB-B271-6690400B9E6B}"/>
                  </a:ext>
                </a:extLst>
              </p:cNvPr>
              <p:cNvSpPr txBox="1"/>
              <p:nvPr/>
            </p:nvSpPr>
            <p:spPr>
              <a:xfrm>
                <a:off x="68580" y="11188"/>
                <a:ext cx="1161408" cy="276999"/>
              </a:xfrm>
              <a:prstGeom prst="rect">
                <a:avLst/>
              </a:prstGeom>
              <a:noFill/>
            </p:spPr>
            <p:txBody>
              <a:bodyPr wrap="none" rtlCol="0">
                <a:spAutoFit/>
              </a:bodyPr>
              <a:lstStyle/>
              <a:p>
                <a:r>
                  <a:rPr lang="en-GB" sz="1200" noProof="0" dirty="0" err="1"/>
                  <a:t>i</a:t>
                </a:r>
                <a:r>
                  <a:rPr lang="en-GB" sz="1200" noProof="0" dirty="0"/>
                  <a:t>)</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+5</m:t>
                    </m:r>
                  </m:oMath>
                </a14:m>
                <a:endParaRPr lang="en-GB" sz="1200" noProof="0" dirty="0"/>
              </a:p>
            </p:txBody>
          </p:sp>
        </mc:Choice>
        <mc:Fallback xmlns="">
          <p:sp>
            <p:nvSpPr>
              <p:cNvPr id="19" name="TextBox 1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68580" y="11188"/>
                <a:ext cx="1161408" cy="276999"/>
              </a:xfrm>
              <a:prstGeom prst="rect">
                <a:avLst/>
              </a:prstGeom>
              <a:blipFill>
                <a:blip r:embed="rId2"/>
                <a:stretch>
                  <a:fillRect t="-2222" b="-17778"/>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3C36006B-227E-45B6-ACB0-32FCE0D906FC}"/>
              </a:ext>
            </a:extLst>
          </p:cNvPr>
          <p:cNvSpPr/>
          <p:nvPr/>
        </p:nvSpPr>
        <p:spPr>
          <a:xfrm>
            <a:off x="1768568" y="13989"/>
            <a:ext cx="1623176" cy="23648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Rectangle 20">
            <a:extLst>
              <a:ext uri="{FF2B5EF4-FFF2-40B4-BE49-F238E27FC236}">
                <a16:creationId xmlns:a16="http://schemas.microsoft.com/office/drawing/2014/main" id="{3C36006B-227E-45B6-ACB0-32FCE0D906FC}"/>
              </a:ext>
            </a:extLst>
          </p:cNvPr>
          <p:cNvSpPr/>
          <p:nvPr/>
        </p:nvSpPr>
        <p:spPr>
          <a:xfrm>
            <a:off x="3471754" y="22136"/>
            <a:ext cx="1623176" cy="2353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2" name="Rectangle 21">
            <a:extLst>
              <a:ext uri="{FF2B5EF4-FFF2-40B4-BE49-F238E27FC236}">
                <a16:creationId xmlns:a16="http://schemas.microsoft.com/office/drawing/2014/main" id="{3C36006B-227E-45B6-ACB0-32FCE0D906FC}"/>
              </a:ext>
            </a:extLst>
          </p:cNvPr>
          <p:cNvSpPr/>
          <p:nvPr/>
        </p:nvSpPr>
        <p:spPr>
          <a:xfrm>
            <a:off x="5159495" y="11430"/>
            <a:ext cx="1623176" cy="2362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19CA145-0A55-47EB-B271-6690400B9E6B}"/>
                  </a:ext>
                </a:extLst>
              </p:cNvPr>
              <p:cNvSpPr txBox="1"/>
              <p:nvPr/>
            </p:nvSpPr>
            <p:spPr>
              <a:xfrm>
                <a:off x="1748819" y="11188"/>
                <a:ext cx="1163011" cy="276999"/>
              </a:xfrm>
              <a:prstGeom prst="rect">
                <a:avLst/>
              </a:prstGeom>
              <a:noFill/>
            </p:spPr>
            <p:txBody>
              <a:bodyPr wrap="none" rtlCol="0">
                <a:spAutoFit/>
              </a:bodyPr>
              <a:lstStyle/>
              <a:p>
                <a:r>
                  <a:rPr lang="en-GB" sz="1200" noProof="0" dirty="0"/>
                  <a:t>j)</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−1</m:t>
                    </m:r>
                  </m:oMath>
                </a14:m>
                <a:endParaRPr lang="en-GB" sz="1200" noProof="0" dirty="0"/>
              </a:p>
            </p:txBody>
          </p:sp>
        </mc:Choice>
        <mc:Fallback xmlns="">
          <p:sp>
            <p:nvSpPr>
              <p:cNvPr id="23" name="TextBox 22">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8819" y="11188"/>
                <a:ext cx="1163011" cy="276999"/>
              </a:xfrm>
              <a:prstGeom prst="rect">
                <a:avLst/>
              </a:prstGeom>
              <a:blipFill>
                <a:blip r:embed="rId3"/>
                <a:stretch>
                  <a:fillRect l="-524"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19CA145-0A55-47EB-B271-6690400B9E6B}"/>
                  </a:ext>
                </a:extLst>
              </p:cNvPr>
              <p:cNvSpPr txBox="1"/>
              <p:nvPr/>
            </p:nvSpPr>
            <p:spPr>
              <a:xfrm>
                <a:off x="3426082" y="2559"/>
                <a:ext cx="1196674" cy="276999"/>
              </a:xfrm>
              <a:prstGeom prst="rect">
                <a:avLst/>
              </a:prstGeom>
              <a:noFill/>
            </p:spPr>
            <p:txBody>
              <a:bodyPr wrap="none" rtlCol="0">
                <a:spAutoFit/>
              </a:bodyPr>
              <a:lstStyle/>
              <a:p>
                <a:r>
                  <a:rPr lang="en-GB" sz="1200" noProof="0" dirty="0"/>
                  <a:t>k)</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24" name="TextBox 2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26082" y="2559"/>
                <a:ext cx="1196674" cy="276999"/>
              </a:xfrm>
              <a:prstGeom prst="rect">
                <a:avLst/>
              </a:prstGeom>
              <a:blipFill>
                <a:blip r:embed="rId4"/>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19CA145-0A55-47EB-B271-6690400B9E6B}"/>
                  </a:ext>
                </a:extLst>
              </p:cNvPr>
              <p:cNvSpPr txBox="1"/>
              <p:nvPr/>
            </p:nvSpPr>
            <p:spPr>
              <a:xfrm>
                <a:off x="5174940" y="3999"/>
                <a:ext cx="1161408" cy="276999"/>
              </a:xfrm>
              <a:prstGeom prst="rect">
                <a:avLst/>
              </a:prstGeom>
              <a:noFill/>
            </p:spPr>
            <p:txBody>
              <a:bodyPr wrap="none" rtlCol="0">
                <a:spAutoFit/>
              </a:bodyPr>
              <a:lstStyle/>
              <a:p>
                <a:r>
                  <a:rPr lang="en-GB" sz="1200" noProof="0" dirty="0"/>
                  <a:t>l)</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−3</m:t>
                    </m:r>
                  </m:oMath>
                </a14:m>
                <a:endParaRPr lang="en-GB" sz="1200" noProof="0" dirty="0"/>
              </a:p>
            </p:txBody>
          </p:sp>
        </mc:Choice>
        <mc:Fallback xmlns="">
          <p:sp>
            <p:nvSpPr>
              <p:cNvPr id="25" name="TextBox 24">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74940" y="3999"/>
                <a:ext cx="1161408" cy="276999"/>
              </a:xfrm>
              <a:prstGeom prst="rect">
                <a:avLst/>
              </a:prstGeom>
              <a:blipFill>
                <a:blip r:embed="rId5"/>
                <a:stretch>
                  <a:fillRect l="-526" t="-2222" b="-17778"/>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3C36006B-227E-45B6-ACB0-32FCE0D906FC}"/>
              </a:ext>
            </a:extLst>
          </p:cNvPr>
          <p:cNvSpPr/>
          <p:nvPr/>
        </p:nvSpPr>
        <p:spPr>
          <a:xfrm>
            <a:off x="88241" y="2433354"/>
            <a:ext cx="1623176" cy="2368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19CA145-0A55-47EB-B271-6690400B9E6B}"/>
                  </a:ext>
                </a:extLst>
              </p:cNvPr>
              <p:cNvSpPr txBox="1"/>
              <p:nvPr/>
            </p:nvSpPr>
            <p:spPr>
              <a:xfrm>
                <a:off x="68580" y="2433355"/>
                <a:ext cx="1334533" cy="276999"/>
              </a:xfrm>
              <a:prstGeom prst="rect">
                <a:avLst/>
              </a:prstGeom>
              <a:noFill/>
            </p:spPr>
            <p:txBody>
              <a:bodyPr wrap="none" rtlCol="0">
                <a:spAutoFit/>
              </a:bodyPr>
              <a:lstStyle/>
              <a:p>
                <a:r>
                  <a:rPr lang="en-GB" sz="1200" noProof="0" dirty="0"/>
                  <a:t>m)</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=4</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−5</m:t>
                    </m:r>
                  </m:oMath>
                </a14:m>
                <a:endParaRPr lang="en-GB" sz="1200" noProof="0" dirty="0"/>
              </a:p>
            </p:txBody>
          </p:sp>
        </mc:Choice>
        <mc:Fallback xmlns="">
          <p:sp>
            <p:nvSpPr>
              <p:cNvPr id="32" name="TextBox 31">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68580" y="2433355"/>
                <a:ext cx="1334533" cy="276999"/>
              </a:xfrm>
              <a:prstGeom prst="rect">
                <a:avLst/>
              </a:prstGeom>
              <a:blipFill>
                <a:blip r:embed="rId6"/>
                <a:stretch>
                  <a:fillRect b="-15217"/>
                </a:stretch>
              </a:blipFill>
            </p:spPr>
            <p:txBody>
              <a:bodyPr/>
              <a:lstStyle/>
              <a:p>
                <a:r>
                  <a:rPr lang="en-US">
                    <a:noFill/>
                  </a:rPr>
                  <a:t> </a:t>
                </a:r>
              </a:p>
            </p:txBody>
          </p:sp>
        </mc:Fallback>
      </mc:AlternateContent>
      <p:sp>
        <p:nvSpPr>
          <p:cNvPr id="33" name="Rectangle 32">
            <a:extLst>
              <a:ext uri="{FF2B5EF4-FFF2-40B4-BE49-F238E27FC236}">
                <a16:creationId xmlns:a16="http://schemas.microsoft.com/office/drawing/2014/main" id="{3C36006B-227E-45B6-ACB0-32FCE0D906FC}"/>
              </a:ext>
            </a:extLst>
          </p:cNvPr>
          <p:cNvSpPr/>
          <p:nvPr/>
        </p:nvSpPr>
        <p:spPr>
          <a:xfrm>
            <a:off x="1768568" y="2436156"/>
            <a:ext cx="1623176" cy="23648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Rectangle 33">
            <a:extLst>
              <a:ext uri="{FF2B5EF4-FFF2-40B4-BE49-F238E27FC236}">
                <a16:creationId xmlns:a16="http://schemas.microsoft.com/office/drawing/2014/main" id="{3C36006B-227E-45B6-ACB0-32FCE0D906FC}"/>
              </a:ext>
            </a:extLst>
          </p:cNvPr>
          <p:cNvSpPr/>
          <p:nvPr/>
        </p:nvSpPr>
        <p:spPr>
          <a:xfrm>
            <a:off x="3471754" y="2429062"/>
            <a:ext cx="1623176" cy="2368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5" name="Rectangle 34">
            <a:extLst>
              <a:ext uri="{FF2B5EF4-FFF2-40B4-BE49-F238E27FC236}">
                <a16:creationId xmlns:a16="http://schemas.microsoft.com/office/drawing/2014/main" id="{3C36006B-227E-45B6-ACB0-32FCE0D906FC}"/>
              </a:ext>
            </a:extLst>
          </p:cNvPr>
          <p:cNvSpPr/>
          <p:nvPr/>
        </p:nvSpPr>
        <p:spPr>
          <a:xfrm>
            <a:off x="5159495" y="2433597"/>
            <a:ext cx="1623176" cy="2362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19CA145-0A55-47EB-B271-6690400B9E6B}"/>
                  </a:ext>
                </a:extLst>
              </p:cNvPr>
              <p:cNvSpPr txBox="1"/>
              <p:nvPr/>
            </p:nvSpPr>
            <p:spPr>
              <a:xfrm>
                <a:off x="1748819" y="2433355"/>
                <a:ext cx="1282210" cy="276999"/>
              </a:xfrm>
              <a:prstGeom prst="rect">
                <a:avLst/>
              </a:prstGeom>
              <a:noFill/>
            </p:spPr>
            <p:txBody>
              <a:bodyPr wrap="none" rtlCol="0">
                <a:spAutoFit/>
              </a:bodyPr>
              <a:lstStyle/>
              <a:p>
                <a:r>
                  <a:rPr lang="en-GB" sz="1200" noProof="0" dirty="0"/>
                  <a:t>n)</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sSup>
                      <m:sSupPr>
                        <m:ctrlPr>
                          <a:rPr lang="en-GB" sz="1200" b="0" i="1" noProof="0" smtClean="0">
                            <a:latin typeface="Cambria Math" panose="02040503050406030204" pitchFamily="18" charset="0"/>
                            <a:ea typeface="Cambria Math" panose="02040503050406030204" pitchFamily="18" charset="0"/>
                          </a:rPr>
                        </m:ctrlPr>
                      </m:sSupPr>
                      <m:e>
                        <m:r>
                          <a:rPr lang="en-GB" sz="1200" b="0" i="1" noProof="0" smtClean="0">
                            <a:latin typeface="Cambria Math" panose="02040503050406030204" pitchFamily="18" charset="0"/>
                            <a:ea typeface="Cambria Math" panose="02040503050406030204" pitchFamily="18" charset="0"/>
                          </a:rPr>
                          <m:t>𝑥</m:t>
                        </m:r>
                      </m:e>
                      <m:sup>
                        <m:r>
                          <a:rPr lang="en-GB" sz="1200" b="0" i="1" noProof="0" smtClean="0">
                            <a:latin typeface="Cambria Math" panose="02040503050406030204" pitchFamily="18" charset="0"/>
                            <a:ea typeface="Cambria Math" panose="02040503050406030204" pitchFamily="18" charset="0"/>
                          </a:rPr>
                          <m:t>3</m:t>
                        </m:r>
                      </m:sup>
                    </m:sSup>
                    <m:r>
                      <a:rPr lang="en-GB" sz="1200" b="0" i="1" noProof="0" smtClean="0">
                        <a:latin typeface="Cambria Math" panose="02040503050406030204" pitchFamily="18" charset="0"/>
                        <a:ea typeface="Cambria Math" panose="02040503050406030204" pitchFamily="18" charset="0"/>
                      </a:rPr>
                      <m:t>+2</m:t>
                    </m:r>
                  </m:oMath>
                </a14:m>
                <a:endParaRPr lang="en-GB" sz="1200" noProof="0" dirty="0"/>
              </a:p>
            </p:txBody>
          </p:sp>
        </mc:Choice>
        <mc:Fallback xmlns="">
          <p:sp>
            <p:nvSpPr>
              <p:cNvPr id="36" name="TextBox 35">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8819" y="2433355"/>
                <a:ext cx="1282210" cy="276999"/>
              </a:xfrm>
              <a:prstGeom prst="rect">
                <a:avLst/>
              </a:prstGeom>
              <a:blipFill>
                <a:blip r:embed="rId7"/>
                <a:stretch>
                  <a:fillRect l="-476"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19CA145-0A55-47EB-B271-6690400B9E6B}"/>
                  </a:ext>
                </a:extLst>
              </p:cNvPr>
              <p:cNvSpPr txBox="1"/>
              <p:nvPr/>
            </p:nvSpPr>
            <p:spPr>
              <a:xfrm>
                <a:off x="3426082" y="2424726"/>
                <a:ext cx="1068947" cy="354521"/>
              </a:xfrm>
              <a:prstGeom prst="rect">
                <a:avLst/>
              </a:prstGeom>
              <a:noFill/>
            </p:spPr>
            <p:txBody>
              <a:bodyPr wrap="none" rtlCol="0">
                <a:spAutoFit/>
              </a:bodyPr>
              <a:lstStyle/>
              <a:p>
                <a:r>
                  <a:rPr lang="en-GB" sz="1200" noProof="0" dirty="0"/>
                  <a:t>o)</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f>
                      <m:fPr>
                        <m:ctrlPr>
                          <a:rPr lang="en-GB" sz="1200" b="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10</m:t>
                        </m:r>
                      </m:num>
                      <m:den>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+1</m:t>
                        </m:r>
                      </m:den>
                    </m:f>
                  </m:oMath>
                </a14:m>
                <a:endParaRPr lang="en-GB" sz="1200" noProof="0" dirty="0"/>
              </a:p>
            </p:txBody>
          </p:sp>
        </mc:Choice>
        <mc:Fallback xmlns="">
          <p:sp>
            <p:nvSpPr>
              <p:cNvPr id="37" name="TextBox 3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26082" y="2424726"/>
                <a:ext cx="1068947" cy="354521"/>
              </a:xfrm>
              <a:prstGeom prst="rect">
                <a:avLst/>
              </a:prstGeom>
              <a:blipFill>
                <a:blip r:embed="rId8"/>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19CA145-0A55-47EB-B271-6690400B9E6B}"/>
                  </a:ext>
                </a:extLst>
              </p:cNvPr>
              <p:cNvSpPr txBox="1"/>
              <p:nvPr/>
            </p:nvSpPr>
            <p:spPr>
              <a:xfrm>
                <a:off x="5174940" y="2426166"/>
                <a:ext cx="1376211" cy="276999"/>
              </a:xfrm>
              <a:prstGeom prst="rect">
                <a:avLst/>
              </a:prstGeom>
              <a:noFill/>
            </p:spPr>
            <p:txBody>
              <a:bodyPr wrap="none" rtlCol="0">
                <a:spAutoFit/>
              </a:bodyPr>
              <a:lstStyle/>
              <a:p>
                <a:r>
                  <a:rPr lang="en-GB" sz="1200" noProof="0" dirty="0"/>
                  <a:t>p)</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=10−2</m:t>
                    </m:r>
                    <m:r>
                      <a:rPr lang="en-GB" sz="1200" b="0" i="1" noProof="0" smtClean="0">
                        <a:latin typeface="Cambria Math" panose="02040503050406030204" pitchFamily="18" charset="0"/>
                        <a:ea typeface="Cambria Math" panose="02040503050406030204" pitchFamily="18" charset="0"/>
                      </a:rPr>
                      <m:t>𝑥</m:t>
                    </m:r>
                  </m:oMath>
                </a14:m>
                <a:endParaRPr lang="en-GB" sz="1200" noProof="0" dirty="0"/>
              </a:p>
            </p:txBody>
          </p:sp>
        </mc:Choice>
        <mc:Fallback xmlns="">
          <p:sp>
            <p:nvSpPr>
              <p:cNvPr id="38" name="TextBox 37">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74940" y="2426166"/>
                <a:ext cx="1376211" cy="276999"/>
              </a:xfrm>
              <a:prstGeom prst="rect">
                <a:avLst/>
              </a:prstGeom>
              <a:blipFill>
                <a:blip r:embed="rId9"/>
                <a:stretch>
                  <a:fillRect l="-442" t="-2222" b="-17778"/>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3C36006B-227E-45B6-ACB0-32FCE0D906FC}"/>
              </a:ext>
            </a:extLst>
          </p:cNvPr>
          <p:cNvSpPr/>
          <p:nvPr/>
        </p:nvSpPr>
        <p:spPr>
          <a:xfrm>
            <a:off x="88241" y="4877251"/>
            <a:ext cx="1623176" cy="2368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19CA145-0A55-47EB-B271-6690400B9E6B}"/>
                  </a:ext>
                </a:extLst>
              </p:cNvPr>
              <p:cNvSpPr txBox="1"/>
              <p:nvPr/>
            </p:nvSpPr>
            <p:spPr>
              <a:xfrm>
                <a:off x="68580" y="4877252"/>
                <a:ext cx="1067343" cy="352469"/>
              </a:xfrm>
              <a:prstGeom prst="rect">
                <a:avLst/>
              </a:prstGeom>
              <a:noFill/>
            </p:spPr>
            <p:txBody>
              <a:bodyPr wrap="none" rtlCol="0">
                <a:spAutoFit/>
              </a:bodyPr>
              <a:lstStyle/>
              <a:p>
                <a:r>
                  <a:rPr lang="en-GB" sz="1200" noProof="0" dirty="0"/>
                  <a:t>q)</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f>
                      <m:fPr>
                        <m:ctrlPr>
                          <a:rPr lang="en-GB" sz="1200" b="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−7</m:t>
                        </m:r>
                      </m:num>
                      <m:den>
                        <m:r>
                          <a:rPr lang="en-GB" sz="1200" b="0" i="1" noProof="0" smtClean="0">
                            <a:latin typeface="Cambria Math" panose="02040503050406030204" pitchFamily="18" charset="0"/>
                            <a:ea typeface="Cambria Math" panose="02040503050406030204" pitchFamily="18" charset="0"/>
                          </a:rPr>
                          <m:t>6</m:t>
                        </m:r>
                      </m:den>
                    </m:f>
                  </m:oMath>
                </a14:m>
                <a:endParaRPr lang="en-GB" sz="1200" noProof="0" dirty="0"/>
              </a:p>
            </p:txBody>
          </p:sp>
        </mc:Choice>
        <mc:Fallback xmlns="">
          <p:sp>
            <p:nvSpPr>
              <p:cNvPr id="44" name="TextBox 43">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68580" y="4877252"/>
                <a:ext cx="1067343" cy="352469"/>
              </a:xfrm>
              <a:prstGeom prst="rect">
                <a:avLst/>
              </a:prstGeom>
              <a:blipFill>
                <a:blip r:embed="rId10"/>
                <a:stretch>
                  <a:fillRect b="-3448"/>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3C36006B-227E-45B6-ACB0-32FCE0D906FC}"/>
              </a:ext>
            </a:extLst>
          </p:cNvPr>
          <p:cNvSpPr/>
          <p:nvPr/>
        </p:nvSpPr>
        <p:spPr>
          <a:xfrm>
            <a:off x="1768568" y="4880053"/>
            <a:ext cx="1623176" cy="23648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6" name="Rectangle 45">
            <a:extLst>
              <a:ext uri="{FF2B5EF4-FFF2-40B4-BE49-F238E27FC236}">
                <a16:creationId xmlns:a16="http://schemas.microsoft.com/office/drawing/2014/main" id="{3C36006B-227E-45B6-ACB0-32FCE0D906FC}"/>
              </a:ext>
            </a:extLst>
          </p:cNvPr>
          <p:cNvSpPr/>
          <p:nvPr/>
        </p:nvSpPr>
        <p:spPr>
          <a:xfrm>
            <a:off x="3471754" y="4872959"/>
            <a:ext cx="1623176" cy="23689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7" name="Rectangle 46">
            <a:extLst>
              <a:ext uri="{FF2B5EF4-FFF2-40B4-BE49-F238E27FC236}">
                <a16:creationId xmlns:a16="http://schemas.microsoft.com/office/drawing/2014/main" id="{3C36006B-227E-45B6-ACB0-32FCE0D906FC}"/>
              </a:ext>
            </a:extLst>
          </p:cNvPr>
          <p:cNvSpPr/>
          <p:nvPr/>
        </p:nvSpPr>
        <p:spPr>
          <a:xfrm>
            <a:off x="5159495" y="4877494"/>
            <a:ext cx="1623176" cy="2362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519CA145-0A55-47EB-B271-6690400B9E6B}"/>
                  </a:ext>
                </a:extLst>
              </p:cNvPr>
              <p:cNvSpPr txBox="1"/>
              <p:nvPr/>
            </p:nvSpPr>
            <p:spPr>
              <a:xfrm>
                <a:off x="1748819" y="4877252"/>
                <a:ext cx="1161344" cy="354521"/>
              </a:xfrm>
              <a:prstGeom prst="rect">
                <a:avLst/>
              </a:prstGeom>
              <a:noFill/>
            </p:spPr>
            <p:txBody>
              <a:bodyPr wrap="none" rtlCol="0">
                <a:spAutoFit/>
              </a:bodyPr>
              <a:lstStyle/>
              <a:p>
                <a:r>
                  <a:rPr lang="en-GB" sz="1200" noProof="0" dirty="0"/>
                  <a:t>r)</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f>
                      <m:fPr>
                        <m:ctrlPr>
                          <a:rPr lang="en-GB" sz="1200" b="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3</m:t>
                        </m:r>
                      </m:num>
                      <m:den>
                        <m:r>
                          <a:rPr lang="en-GB" sz="1200" b="0" i="1" noProof="0" smtClean="0">
                            <a:latin typeface="Cambria Math" panose="02040503050406030204" pitchFamily="18" charset="0"/>
                            <a:ea typeface="Cambria Math" panose="02040503050406030204" pitchFamily="18" charset="0"/>
                          </a:rPr>
                          <m:t>𝑥</m:t>
                        </m:r>
                      </m:den>
                    </m:f>
                    <m:r>
                      <a:rPr lang="en-GB" sz="1200" b="0" i="1" noProof="0" smtClean="0">
                        <a:latin typeface="Cambria Math" panose="02040503050406030204" pitchFamily="18" charset="0"/>
                        <a:ea typeface="Cambria Math" panose="02040503050406030204" pitchFamily="18" charset="0"/>
                      </a:rPr>
                      <m:t>+5</m:t>
                    </m:r>
                  </m:oMath>
                </a14:m>
                <a:endParaRPr lang="en-GB" sz="1200" noProof="0" dirty="0"/>
              </a:p>
            </p:txBody>
          </p:sp>
        </mc:Choice>
        <mc:Fallback xmlns="">
          <p:sp>
            <p:nvSpPr>
              <p:cNvPr id="48" name="TextBox 47">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1748819" y="4877252"/>
                <a:ext cx="1161344" cy="354521"/>
              </a:xfrm>
              <a:prstGeom prst="rect">
                <a:avLst/>
              </a:prstGeom>
              <a:blipFill>
                <a:blip r:embed="rId11"/>
                <a:stretch>
                  <a:fillRect l="-526"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19CA145-0A55-47EB-B271-6690400B9E6B}"/>
                  </a:ext>
                </a:extLst>
              </p:cNvPr>
              <p:cNvSpPr txBox="1"/>
              <p:nvPr/>
            </p:nvSpPr>
            <p:spPr>
              <a:xfrm>
                <a:off x="3426082" y="4868623"/>
                <a:ext cx="1113831" cy="354649"/>
              </a:xfrm>
              <a:prstGeom prst="rect">
                <a:avLst/>
              </a:prstGeom>
              <a:noFill/>
            </p:spPr>
            <p:txBody>
              <a:bodyPr wrap="none" rtlCol="0">
                <a:spAutoFit/>
              </a:bodyPr>
              <a:lstStyle/>
              <a:p>
                <a:r>
                  <a:rPr lang="en-GB" sz="1200" noProof="0" dirty="0"/>
                  <a:t>s)</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b="0" i="1" noProof="0" smtClean="0">
                        <a:latin typeface="Cambria Math" panose="02040503050406030204" pitchFamily="18" charset="0"/>
                        <a:ea typeface="Cambria Math" panose="02040503050406030204" pitchFamily="18" charset="0"/>
                      </a:rPr>
                      <m:t>=</m:t>
                    </m:r>
                    <m:f>
                      <m:fPr>
                        <m:ctrlPr>
                          <a:rPr lang="en-GB" sz="1200" b="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+2</m:t>
                        </m:r>
                      </m:num>
                      <m:den>
                        <m:r>
                          <a:rPr lang="en-GB" sz="1200" b="0" i="1" noProof="0" smtClean="0">
                            <a:latin typeface="Cambria Math" panose="02040503050406030204" pitchFamily="18" charset="0"/>
                            <a:ea typeface="Cambria Math" panose="02040503050406030204" pitchFamily="18" charset="0"/>
                          </a:rPr>
                          <m:t>3</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−5</m:t>
                        </m:r>
                      </m:den>
                    </m:f>
                  </m:oMath>
                </a14:m>
                <a:endParaRPr lang="en-GB" sz="1200" noProof="0" dirty="0"/>
              </a:p>
            </p:txBody>
          </p:sp>
        </mc:Choice>
        <mc:Fallback xmlns="">
          <p:sp>
            <p:nvSpPr>
              <p:cNvPr id="49" name="TextBox 48">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3426082" y="4868623"/>
                <a:ext cx="1113831" cy="354649"/>
              </a:xfrm>
              <a:prstGeom prst="rect">
                <a:avLst/>
              </a:prstGeom>
              <a:blipFill>
                <a:blip r:embed="rId12"/>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519CA145-0A55-47EB-B271-6690400B9E6B}"/>
                  </a:ext>
                </a:extLst>
              </p:cNvPr>
              <p:cNvSpPr txBox="1"/>
              <p:nvPr/>
            </p:nvSpPr>
            <p:spPr>
              <a:xfrm>
                <a:off x="5174940" y="4870063"/>
                <a:ext cx="1104213" cy="354649"/>
              </a:xfrm>
              <a:prstGeom prst="rect">
                <a:avLst/>
              </a:prstGeom>
              <a:noFill/>
            </p:spPr>
            <p:txBody>
              <a:bodyPr wrap="none" rtlCol="0">
                <a:spAutoFit/>
              </a:bodyPr>
              <a:lstStyle/>
              <a:p>
                <a:r>
                  <a:rPr lang="en-GB" sz="1200" noProof="0" dirty="0"/>
                  <a:t>t)</a:t>
                </a:r>
                <a:r>
                  <a:rPr lang="en-GB" sz="1200" i="1" noProof="0" dirty="0"/>
                  <a:t>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i="1" noProof="0" smtClean="0">
                        <a:latin typeface="Cambria Math" panose="02040503050406030204" pitchFamily="18" charset="0"/>
                        <a:ea typeface="Cambria Math" panose="02040503050406030204" pitchFamily="18" charset="0"/>
                      </a:rPr>
                      <m:t>=</m:t>
                    </m:r>
                    <m:f>
                      <m:fPr>
                        <m:ctrlPr>
                          <a:rPr lang="en-GB" sz="120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3</m:t>
                        </m:r>
                        <m:r>
                          <a:rPr lang="en-GB" sz="1200" i="1" noProof="0" smtClean="0">
                            <a:latin typeface="Cambria Math" panose="02040503050406030204" pitchFamily="18" charset="0"/>
                            <a:ea typeface="Cambria Math" panose="02040503050406030204" pitchFamily="18" charset="0"/>
                          </a:rPr>
                          <m:t>𝑥</m:t>
                        </m:r>
                        <m:r>
                          <a:rPr lang="en-GB" sz="1200" i="1" noProof="0" smtClean="0">
                            <a:latin typeface="Cambria Math" panose="02040503050406030204" pitchFamily="18" charset="0"/>
                            <a:ea typeface="Cambria Math" panose="02040503050406030204" pitchFamily="18" charset="0"/>
                          </a:rPr>
                          <m:t>+8</m:t>
                        </m:r>
                      </m:num>
                      <m:den>
                        <m:r>
                          <a:rPr lang="en-GB" sz="1200" b="0" i="1" noProof="0" smtClean="0">
                            <a:latin typeface="Cambria Math" panose="02040503050406030204" pitchFamily="18" charset="0"/>
                            <a:ea typeface="Cambria Math" panose="02040503050406030204" pitchFamily="18" charset="0"/>
                          </a:rPr>
                          <m:t>4</m:t>
                        </m:r>
                        <m:r>
                          <a:rPr lang="en-GB" sz="1200" i="1" noProof="0" smtClean="0">
                            <a:latin typeface="Cambria Math" panose="02040503050406030204" pitchFamily="18" charset="0"/>
                            <a:ea typeface="Cambria Math" panose="02040503050406030204" pitchFamily="18" charset="0"/>
                          </a:rPr>
                          <m:t>𝑥</m:t>
                        </m:r>
                        <m:r>
                          <a:rPr lang="en-GB" sz="1200" i="1" noProof="0" smtClean="0">
                            <a:latin typeface="Cambria Math" panose="02040503050406030204" pitchFamily="18" charset="0"/>
                            <a:ea typeface="Cambria Math" panose="02040503050406030204" pitchFamily="18" charset="0"/>
                          </a:rPr>
                          <m:t>−3</m:t>
                        </m:r>
                      </m:den>
                    </m:f>
                  </m:oMath>
                </a14:m>
                <a:endParaRPr lang="en-GB" sz="1200" noProof="0" dirty="0"/>
              </a:p>
            </p:txBody>
          </p:sp>
        </mc:Choice>
        <mc:Fallback xmlns="">
          <p:sp>
            <p:nvSpPr>
              <p:cNvPr id="50" name="TextBox 49">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5174940" y="4870063"/>
                <a:ext cx="1104213" cy="354649"/>
              </a:xfrm>
              <a:prstGeom prst="rect">
                <a:avLst/>
              </a:prstGeom>
              <a:blipFill>
                <a:blip r:embed="rId13"/>
                <a:stretch>
                  <a:fillRect l="-552" b="-3448"/>
                </a:stretch>
              </a:blipFill>
            </p:spPr>
            <p:txBody>
              <a:bodyPr/>
              <a:lstStyle/>
              <a:p>
                <a:r>
                  <a:rPr lang="en-US">
                    <a:noFill/>
                  </a:rPr>
                  <a:t> </a:t>
                </a:r>
              </a:p>
            </p:txBody>
          </p:sp>
        </mc:Fallback>
      </mc:AlternateContent>
      <p:sp>
        <p:nvSpPr>
          <p:cNvPr id="56" name="Rectangle 55">
            <a:extLst>
              <a:ext uri="{FF2B5EF4-FFF2-40B4-BE49-F238E27FC236}">
                <a16:creationId xmlns:a16="http://schemas.microsoft.com/office/drawing/2014/main" id="{3C36006B-227E-45B6-ACB0-32FCE0D906FC}"/>
              </a:ext>
            </a:extLst>
          </p:cNvPr>
          <p:cNvSpPr/>
          <p:nvPr/>
        </p:nvSpPr>
        <p:spPr>
          <a:xfrm>
            <a:off x="88269" y="7327714"/>
            <a:ext cx="6694401" cy="23992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19CA145-0A55-47EB-B271-6690400B9E6B}"/>
                  </a:ext>
                </a:extLst>
              </p:cNvPr>
              <p:cNvSpPr txBox="1"/>
              <p:nvPr/>
            </p:nvSpPr>
            <p:spPr>
              <a:xfrm>
                <a:off x="88241" y="7334163"/>
                <a:ext cx="3254865" cy="358368"/>
              </a:xfrm>
              <a:prstGeom prst="rect">
                <a:avLst/>
              </a:prstGeom>
              <a:noFill/>
            </p:spPr>
            <p:txBody>
              <a:bodyPr wrap="none" rtlCol="0">
                <a:spAutoFit/>
              </a:bodyPr>
              <a:lstStyle/>
              <a:p>
                <a:r>
                  <a:rPr lang="en-GB" sz="1200" noProof="0" dirty="0"/>
                  <a:t>u)</a:t>
                </a:r>
                <a:r>
                  <a:rPr lang="en-GB" sz="1200" i="1" noProof="0" dirty="0"/>
                  <a:t> </a:t>
                </a:r>
                <a:r>
                  <a:rPr lang="en-GB" sz="1200" noProof="0" dirty="0"/>
                  <a:t>Prove that if </a:t>
                </a:r>
                <a14:m>
                  <m:oMath xmlns:m="http://schemas.openxmlformats.org/officeDocument/2006/math">
                    <m:r>
                      <a:rPr lang="en-GB" sz="1200" b="0" i="1" noProof="0" smtClean="0">
                        <a:latin typeface="Cambria Math" panose="02040503050406030204" pitchFamily="18" charset="0"/>
                        <a:ea typeface="Cambria Math" panose="02040503050406030204" pitchFamily="18" charset="0"/>
                      </a:rPr>
                      <m:t>𝑓</m:t>
                    </m:r>
                    <m:d>
                      <m:dPr>
                        <m:ctrlPr>
                          <a:rPr lang="en-GB" sz="1200" b="0" i="1" noProof="0" smtClean="0">
                            <a:latin typeface="Cambria Math" panose="02040503050406030204" pitchFamily="18" charset="0"/>
                            <a:ea typeface="Cambria Math" panose="02040503050406030204" pitchFamily="18" charset="0"/>
                          </a:rPr>
                        </m:ctrlPr>
                      </m:dPr>
                      <m:e>
                        <m:r>
                          <a:rPr lang="en-GB" sz="1200" b="0" i="1" noProof="0" smtClean="0">
                            <a:latin typeface="Cambria Math" panose="02040503050406030204" pitchFamily="18" charset="0"/>
                            <a:ea typeface="Cambria Math" panose="02040503050406030204" pitchFamily="18" charset="0"/>
                          </a:rPr>
                          <m:t>𝑥</m:t>
                        </m:r>
                      </m:e>
                    </m:d>
                    <m:r>
                      <a:rPr lang="en-GB" sz="1200" i="1" noProof="0" smtClean="0">
                        <a:latin typeface="Cambria Math" panose="02040503050406030204" pitchFamily="18" charset="0"/>
                        <a:ea typeface="Cambria Math" panose="02040503050406030204" pitchFamily="18" charset="0"/>
                      </a:rPr>
                      <m:t>=</m:t>
                    </m:r>
                    <m:f>
                      <m:fPr>
                        <m:ctrlPr>
                          <a:rPr lang="en-GB" sz="1200" i="1" noProof="0" smtClean="0">
                            <a:latin typeface="Cambria Math" panose="02040503050406030204" pitchFamily="18" charset="0"/>
                            <a:ea typeface="Cambria Math" panose="02040503050406030204" pitchFamily="18" charset="0"/>
                          </a:rPr>
                        </m:ctrlPr>
                      </m:fPr>
                      <m:num>
                        <m:r>
                          <a:rPr lang="en-GB" sz="1200" b="0" i="1" noProof="0" smtClean="0">
                            <a:latin typeface="Cambria Math" panose="02040503050406030204" pitchFamily="18" charset="0"/>
                            <a:ea typeface="Cambria Math" panose="02040503050406030204" pitchFamily="18" charset="0"/>
                          </a:rPr>
                          <m:t>𝑎</m:t>
                        </m:r>
                        <m:r>
                          <a:rPr lang="en-GB" sz="1200" i="1" noProof="0" smtClean="0">
                            <a:latin typeface="Cambria Math" panose="02040503050406030204" pitchFamily="18" charset="0"/>
                            <a:ea typeface="Cambria Math" panose="02040503050406030204" pitchFamily="18" charset="0"/>
                          </a:rPr>
                          <m:t>𝑥</m:t>
                        </m:r>
                        <m:r>
                          <a:rPr lang="en-GB" sz="120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𝑏</m:t>
                        </m:r>
                      </m:num>
                      <m:den>
                        <m:r>
                          <a:rPr lang="en-GB" sz="1200" b="0" i="1" noProof="0" smtClean="0">
                            <a:latin typeface="Cambria Math" panose="02040503050406030204" pitchFamily="18" charset="0"/>
                            <a:ea typeface="Cambria Math" panose="02040503050406030204" pitchFamily="18" charset="0"/>
                          </a:rPr>
                          <m:t>𝑐</m:t>
                        </m:r>
                        <m:r>
                          <a:rPr lang="en-GB" sz="1200" i="1" noProof="0" smtClean="0">
                            <a:latin typeface="Cambria Math" panose="02040503050406030204" pitchFamily="18" charset="0"/>
                            <a:ea typeface="Cambria Math" panose="02040503050406030204" pitchFamily="18" charset="0"/>
                          </a:rPr>
                          <m:t>𝑥</m:t>
                        </m:r>
                        <m:r>
                          <a:rPr lang="en-GB" sz="1200" i="1" noProof="0" smtClean="0">
                            <a:latin typeface="Cambria Math" panose="02040503050406030204" pitchFamily="18" charset="0"/>
                            <a:ea typeface="Cambria Math" panose="02040503050406030204" pitchFamily="18" charset="0"/>
                          </a:rPr>
                          <m:t>−</m:t>
                        </m:r>
                        <m:r>
                          <a:rPr lang="en-GB" sz="1200" b="0" i="1" noProof="0" smtClean="0">
                            <a:latin typeface="Cambria Math" panose="02040503050406030204" pitchFamily="18" charset="0"/>
                            <a:ea typeface="Cambria Math" panose="02040503050406030204" pitchFamily="18" charset="0"/>
                          </a:rPr>
                          <m:t>𝑎</m:t>
                        </m:r>
                      </m:den>
                    </m:f>
                  </m:oMath>
                </a14:m>
                <a:r>
                  <a:rPr lang="en-GB" sz="1200" noProof="0" dirty="0"/>
                  <a:t> then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𝑓</m:t>
                        </m:r>
                      </m:e>
                      <m:sup>
                        <m:r>
                          <a:rPr lang="en-GB" sz="1200" b="0" i="1" noProof="0" smtClean="0">
                            <a:latin typeface="Cambria Math" panose="02040503050406030204" pitchFamily="18" charset="0"/>
                          </a:rPr>
                          <m:t>−1</m:t>
                        </m:r>
                      </m:sup>
                    </m:sSup>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e>
                    </m:d>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𝑎𝑥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𝑏</m:t>
                        </m:r>
                      </m:num>
                      <m:den>
                        <m:r>
                          <a:rPr lang="en-GB" sz="1200" b="0" i="1" noProof="0" smtClean="0">
                            <a:latin typeface="Cambria Math" panose="02040503050406030204" pitchFamily="18" charset="0"/>
                          </a:rPr>
                          <m:t>𝑐𝑥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m:t>
                        </m:r>
                      </m:den>
                    </m:f>
                  </m:oMath>
                </a14:m>
                <a:endParaRPr lang="en-GB" sz="1200" noProof="0" dirty="0"/>
              </a:p>
            </p:txBody>
          </p:sp>
        </mc:Choice>
        <mc:Fallback xmlns="">
          <p:sp>
            <p:nvSpPr>
              <p:cNvPr id="57" name="TextBox 56">
                <a:extLst>
                  <a:ext uri="{FF2B5EF4-FFF2-40B4-BE49-F238E27FC236}">
                    <a16:creationId xmlns:a16="http://schemas.microsoft.com/office/drawing/2014/main" id="{519CA145-0A55-47EB-B271-6690400B9E6B}"/>
                  </a:ext>
                </a:extLst>
              </p:cNvPr>
              <p:cNvSpPr txBox="1">
                <a:spLocks noRot="1" noChangeAspect="1" noMove="1" noResize="1" noEditPoints="1" noAdjustHandles="1" noChangeArrowheads="1" noChangeShapeType="1" noTextEdit="1"/>
              </p:cNvSpPr>
              <p:nvPr/>
            </p:nvSpPr>
            <p:spPr>
              <a:xfrm>
                <a:off x="88241" y="7334163"/>
                <a:ext cx="3254865" cy="358368"/>
              </a:xfrm>
              <a:prstGeom prst="rect">
                <a:avLst/>
              </a:prstGeom>
              <a:blipFill>
                <a:blip r:embed="rId15"/>
                <a:stretch>
                  <a:fillRect b="-1695"/>
                </a:stretch>
              </a:blipFill>
            </p:spPr>
            <p:txBody>
              <a:bodyPr/>
              <a:lstStyle/>
              <a:p>
                <a:r>
                  <a:rPr lang="en-US">
                    <a:noFill/>
                  </a:rPr>
                  <a:t> </a:t>
                </a:r>
              </a:p>
            </p:txBody>
          </p:sp>
        </mc:Fallback>
      </mc:AlternateContent>
      <p:sp>
        <p:nvSpPr>
          <p:cNvPr id="7" name="Slide Number Placeholder 6"/>
          <p:cNvSpPr>
            <a:spLocks noGrp="1"/>
          </p:cNvSpPr>
          <p:nvPr>
            <p:ph type="sldNum" sz="quarter" idx="12"/>
          </p:nvPr>
        </p:nvSpPr>
        <p:spPr>
          <a:xfrm>
            <a:off x="5314950" y="9578370"/>
            <a:ext cx="1543050" cy="527403"/>
          </a:xfrm>
        </p:spPr>
        <p:txBody>
          <a:bodyPr/>
          <a:lstStyle/>
          <a:p>
            <a:fld id="{9BD3B4A0-BFF9-422C-B253-48BA94BE2F5B}" type="slidenum">
              <a:rPr lang="en-GB" noProof="0" smtClean="0"/>
              <a:t>47</a:t>
            </a:fld>
            <a:endParaRPr lang="en-GB" noProof="0" dirty="0"/>
          </a:p>
        </p:txBody>
      </p:sp>
    </p:spTree>
    <p:extLst>
      <p:ext uri="{BB962C8B-B14F-4D97-AF65-F5344CB8AC3E}">
        <p14:creationId xmlns:p14="http://schemas.microsoft.com/office/powerpoint/2010/main" val="21417347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070826" y="9530997"/>
            <a:ext cx="1805291" cy="527403"/>
          </a:xfrm>
        </p:spPr>
        <p:txBody>
          <a:bodyPr/>
          <a:lstStyle/>
          <a:p>
            <a:fld id="{9BD3B4A0-BFF9-422C-B253-48BA94BE2F5B}" type="slidenum">
              <a:rPr lang="en-GB" noProof="0" smtClean="0"/>
              <a:t>48</a:t>
            </a:fld>
            <a:endParaRPr lang="en-GB" noProof="0" dirty="0"/>
          </a:p>
        </p:txBody>
      </p:sp>
      <p:sp>
        <p:nvSpPr>
          <p:cNvPr id="3" name="TextBox 2">
            <a:extLst>
              <a:ext uri="{FF2B5EF4-FFF2-40B4-BE49-F238E27FC236}">
                <a16:creationId xmlns:a16="http://schemas.microsoft.com/office/drawing/2014/main" id="{1B91975E-B426-4910-919C-E3C5554DC081}"/>
              </a:ext>
            </a:extLst>
          </p:cNvPr>
          <p:cNvSpPr txBox="1"/>
          <p:nvPr/>
        </p:nvSpPr>
        <p:spPr>
          <a:xfrm>
            <a:off x="0" y="20984"/>
            <a:ext cx="3507948" cy="276999"/>
          </a:xfrm>
          <a:prstGeom prst="rect">
            <a:avLst/>
          </a:prstGeom>
          <a:solidFill>
            <a:srgbClr val="0070C0"/>
          </a:solidFill>
        </p:spPr>
        <p:txBody>
          <a:bodyPr wrap="none" rtlCol="0" anchor="ctr">
            <a:spAutoFit/>
          </a:bodyPr>
          <a:lstStyle/>
          <a:p>
            <a:pPr algn="ctr"/>
            <a:r>
              <a:rPr lang="en-GB" sz="1200" b="1" noProof="0" dirty="0">
                <a:solidFill>
                  <a:schemeClr val="bg1"/>
                </a:solidFill>
              </a:rPr>
              <a:t>SOLVING QUADRATIC EQUATIONS WITH FUNCTIONS</a:t>
            </a:r>
          </a:p>
        </p:txBody>
      </p:sp>
      <p:sp>
        <p:nvSpPr>
          <p:cNvPr id="7" name="TextBox 6">
            <a:extLst>
              <a:ext uri="{FF2B5EF4-FFF2-40B4-BE49-F238E27FC236}">
                <a16:creationId xmlns:a16="http://schemas.microsoft.com/office/drawing/2014/main" id="{EA4FD2D9-8D23-4ADE-B70E-F386FDED2BED}"/>
              </a:ext>
            </a:extLst>
          </p:cNvPr>
          <p:cNvSpPr txBox="1"/>
          <p:nvPr/>
        </p:nvSpPr>
        <p:spPr>
          <a:xfrm>
            <a:off x="5009050" y="478358"/>
            <a:ext cx="1542089" cy="276999"/>
          </a:xfrm>
          <a:prstGeom prst="rect">
            <a:avLst/>
          </a:prstGeom>
          <a:noFill/>
          <a:ln>
            <a:noFill/>
          </a:ln>
        </p:spPr>
        <p:txBody>
          <a:bodyPr wrap="none" rtlCol="0">
            <a:spAutoFit/>
          </a:bodyPr>
          <a:lstStyle/>
          <a:p>
            <a:r>
              <a:rPr lang="en-GB" sz="1200" b="1" i="1" noProof="0" dirty="0">
                <a:solidFill>
                  <a:srgbClr val="00B050"/>
                </a:solidFill>
              </a:rPr>
              <a:t>Example 24- You do…</a:t>
            </a:r>
          </a:p>
        </p:txBody>
      </p:sp>
      <p:sp>
        <p:nvSpPr>
          <p:cNvPr id="8" name="TextBox 7">
            <a:extLst>
              <a:ext uri="{FF2B5EF4-FFF2-40B4-BE49-F238E27FC236}">
                <a16:creationId xmlns:a16="http://schemas.microsoft.com/office/drawing/2014/main" id="{08E67FA9-518E-48EE-9C3C-DC43DA12711A}"/>
              </a:ext>
            </a:extLst>
          </p:cNvPr>
          <p:cNvSpPr txBox="1"/>
          <p:nvPr/>
        </p:nvSpPr>
        <p:spPr>
          <a:xfrm>
            <a:off x="3063731" y="487206"/>
            <a:ext cx="1554336" cy="276999"/>
          </a:xfrm>
          <a:prstGeom prst="rect">
            <a:avLst/>
          </a:prstGeom>
          <a:noFill/>
          <a:ln>
            <a:noFill/>
          </a:ln>
        </p:spPr>
        <p:txBody>
          <a:bodyPr wrap="none" rtlCol="0">
            <a:spAutoFit/>
          </a:bodyPr>
          <a:lstStyle/>
          <a:p>
            <a:r>
              <a:rPr lang="en-GB" sz="1200" b="1" i="1" noProof="0" dirty="0">
                <a:solidFill>
                  <a:schemeClr val="accent2"/>
                </a:solidFill>
              </a:rPr>
              <a:t>Example 23 - We do…</a:t>
            </a:r>
          </a:p>
        </p:txBody>
      </p:sp>
      <p:sp>
        <p:nvSpPr>
          <p:cNvPr id="9" name="TextBox 8">
            <a:extLst>
              <a:ext uri="{FF2B5EF4-FFF2-40B4-BE49-F238E27FC236}">
                <a16:creationId xmlns:a16="http://schemas.microsoft.com/office/drawing/2014/main" id="{0C5FDE3F-DC2A-468E-BF61-F69BF8BB2775}"/>
              </a:ext>
            </a:extLst>
          </p:cNvPr>
          <p:cNvSpPr txBox="1"/>
          <p:nvPr/>
        </p:nvSpPr>
        <p:spPr>
          <a:xfrm>
            <a:off x="1220028" y="491706"/>
            <a:ext cx="1387046" cy="276999"/>
          </a:xfrm>
          <a:prstGeom prst="rect">
            <a:avLst/>
          </a:prstGeom>
          <a:noFill/>
          <a:ln>
            <a:noFill/>
          </a:ln>
        </p:spPr>
        <p:txBody>
          <a:bodyPr wrap="none" rtlCol="0">
            <a:spAutoFit/>
          </a:bodyPr>
          <a:lstStyle/>
          <a:p>
            <a:r>
              <a:rPr lang="en-GB" sz="1200" b="1" i="1" noProof="0" dirty="0">
                <a:solidFill>
                  <a:srgbClr val="FF0000"/>
                </a:solidFill>
              </a:rPr>
              <a:t>Example 22 - I do…</a:t>
            </a: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3004736039"/>
                  </p:ext>
                </p:extLst>
              </p:nvPr>
            </p:nvGraphicFramePr>
            <p:xfrm>
              <a:off x="121861" y="770647"/>
              <a:ext cx="6639192" cy="4273794"/>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826403">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p>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oMath>
                            </m:oMathPara>
                          </a14:m>
                          <a:endParaRPr lang="en-GB" sz="1200" b="0" noProof="0" dirty="0">
                            <a:solidFill>
                              <a:schemeClr val="tx1"/>
                            </a:solidFill>
                          </a:endParaRPr>
                        </a:p>
                        <a:p>
                          <a:pPr algn="ctr"/>
                          <a:endParaRPr lang="en-GB" sz="1200" b="0" noProof="0" dirty="0">
                            <a:solidFill>
                              <a:schemeClr val="tx1"/>
                            </a:solidFill>
                          </a:endParaRPr>
                        </a:p>
                        <a:p>
                          <a:pPr algn="ctr"/>
                          <a:r>
                            <a:rPr lang="en-GB" sz="1200" b="0" noProof="0" dirty="0">
                              <a:solidFill>
                                <a:schemeClr val="tx1"/>
                              </a:solidFill>
                            </a:rPr>
                            <a:t>Solve</a:t>
                          </a:r>
                          <a:r>
                            <a:rPr lang="en-GB" sz="1200" b="0" baseline="0" noProof="0" dirty="0">
                              <a:solidFill>
                                <a:schemeClr val="tx1"/>
                              </a:solidFill>
                            </a:rPr>
                            <a:t> </a:t>
                          </a:r>
                          <a14:m>
                            <m:oMath xmlns:m="http://schemas.openxmlformats.org/officeDocument/2006/math">
                              <m:r>
                                <a:rPr lang="en-GB" sz="1200" b="0" i="1" baseline="0" noProof="0" smtClean="0">
                                  <a:solidFill>
                                    <a:schemeClr val="tx1"/>
                                  </a:solidFill>
                                  <a:latin typeface="Cambria Math" panose="02040503050406030204" pitchFamily="18" charset="0"/>
                                </a:rPr>
                                <m:t>𝑓</m:t>
                              </m:r>
                              <m:d>
                                <m:dPr>
                                  <m:ctrlPr>
                                    <a:rPr lang="en-GB" sz="1200" b="0" i="1" baseline="0" noProof="0" smtClean="0">
                                      <a:solidFill>
                                        <a:schemeClr val="tx1"/>
                                      </a:solidFill>
                                      <a:latin typeface="Cambria Math" panose="02040503050406030204" pitchFamily="18" charset="0"/>
                                    </a:rPr>
                                  </m:ctrlPr>
                                </m:dPr>
                                <m:e>
                                  <m:r>
                                    <a:rPr lang="en-GB" sz="1200" b="0" i="1" baseline="0" noProof="0" smtClean="0">
                                      <a:solidFill>
                                        <a:schemeClr val="tx1"/>
                                      </a:solidFill>
                                      <a:latin typeface="Cambria Math" panose="02040503050406030204" pitchFamily="18" charset="0"/>
                                    </a:rPr>
                                    <m:t>𝑥</m:t>
                                  </m:r>
                                </m:e>
                              </m:d>
                              <m:r>
                                <a:rPr lang="en-GB" sz="1200" b="0" i="1" baseline="0" noProof="0" smtClean="0">
                                  <a:solidFill>
                                    <a:schemeClr val="tx1"/>
                                  </a:solidFill>
                                  <a:latin typeface="Cambria Math" panose="02040503050406030204" pitchFamily="18" charset="0"/>
                                </a:rPr>
                                <m:t>=−3</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oMath>
                          </a14:m>
                          <a:endParaRPr lang="en-GB" sz="1200" b="0" noProof="0" dirty="0">
                            <a:solidFill>
                              <a:schemeClr val="tx1"/>
                            </a:solidFill>
                          </a:endParaRPr>
                        </a:p>
                        <a:p>
                          <a:pPr algn="ctr"/>
                          <a:endParaRPr lang="en-GB" sz="1200" b="0" i="0" noProof="0" dirty="0">
                            <a:solidFill>
                              <a:schemeClr val="tx1"/>
                            </a:solidFill>
                            <a:latin typeface="+mn-lt"/>
                          </a:endParaRPr>
                        </a:p>
                        <a:p>
                          <a:pPr algn="ctr"/>
                          <a:r>
                            <a:rPr lang="en-GB" sz="1200" b="0" i="0" noProof="0" dirty="0">
                              <a:solidFill>
                                <a:schemeClr val="tx1"/>
                              </a:solidFill>
                              <a:latin typeface="+mn-lt"/>
                            </a:rPr>
                            <a:t>Solve</a:t>
                          </a:r>
                          <a:r>
                            <a:rPr lang="en-GB" sz="1200" b="0" i="0" baseline="0" noProof="0" dirty="0">
                              <a:solidFill>
                                <a:schemeClr val="tx1"/>
                              </a:solidFill>
                              <a:latin typeface="+mn-lt"/>
                            </a:rPr>
                            <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Given that </a:t>
                          </a:r>
                          <a14:m>
                            <m:oMath xmlns:m="http://schemas.openxmlformats.org/officeDocument/2006/math">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𝑥</m:t>
                              </m:r>
                            </m:oMath>
                          </a14:m>
                          <a:endParaRPr lang="en-GB" sz="1200" b="0" noProof="0" dirty="0">
                            <a:solidFill>
                              <a:schemeClr val="tx1"/>
                            </a:solidFill>
                          </a:endParaRPr>
                        </a:p>
                        <a:p>
                          <a:pPr algn="ctr"/>
                          <a:endParaRPr lang="en-GB" sz="1200" b="0" noProof="0" dirty="0">
                            <a:solidFill>
                              <a:schemeClr val="tx1"/>
                            </a:solidFill>
                          </a:endParaRPr>
                        </a:p>
                        <a:p>
                          <a:pPr algn="ctr"/>
                          <a:r>
                            <a:rPr lang="en-GB" sz="1200" b="0" noProof="0" dirty="0">
                              <a:solidFill>
                                <a:schemeClr val="tx1"/>
                              </a:solidFill>
                            </a:rPr>
                            <a:t>S</a:t>
                          </a:r>
                          <a14:m>
                            <m:oMath xmlns:m="http://schemas.openxmlformats.org/officeDocument/2006/math">
                              <m:r>
                                <m:rPr>
                                  <m:sty m:val="p"/>
                                </m:rPr>
                                <a:rPr lang="en-GB" sz="1200" b="0" i="0" noProof="0" smtClean="0">
                                  <a:solidFill>
                                    <a:schemeClr val="tx1"/>
                                  </a:solidFill>
                                  <a:latin typeface="Cambria Math" panose="02040503050406030204" pitchFamily="18" charset="0"/>
                                </a:rPr>
                                <m:t>olve</m:t>
                              </m:r>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𝑓</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=−12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53257">
                    <a:tc>
                      <a:txBody>
                        <a:bodyPr/>
                        <a:lstStyle/>
                        <a:p>
                          <a:r>
                            <a:rPr lang="en-GB" sz="1060" noProof="0" dirty="0">
                              <a:solidFill>
                                <a:schemeClr val="tx1"/>
                              </a:solidFill>
                            </a:rPr>
                            <a:t>1) Set the function and the output equal to each</a:t>
                          </a:r>
                          <a:r>
                            <a:rPr lang="en-GB" sz="1060" baseline="0" noProof="0" dirty="0">
                              <a:solidFill>
                                <a:schemeClr val="tx1"/>
                              </a:solidFill>
                            </a:rPr>
                            <a:t> </a:t>
                          </a:r>
                          <a:r>
                            <a:rPr lang="en-GB" sz="1060" noProof="0" dirty="0">
                              <a:solidFill>
                                <a:schemeClr val="tx1"/>
                              </a:solidFill>
                            </a:rPr>
                            <a:t>other.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97067">
                    <a:tc>
                      <a:txBody>
                        <a:bodyPr/>
                        <a:lstStyle/>
                        <a:p>
                          <a:r>
                            <a:rPr lang="en-GB" sz="1060" noProof="0" dirty="0">
                              <a:solidFill>
                                <a:schemeClr val="tx1"/>
                              </a:solidFill>
                            </a:rPr>
                            <a:t>2)Rearrange</a:t>
                          </a:r>
                          <a:r>
                            <a:rPr lang="en-GB" sz="1060" baseline="0" noProof="0" dirty="0">
                              <a:solidFill>
                                <a:schemeClr val="tx1"/>
                              </a:solidFill>
                            </a:rPr>
                            <a:t> into the form </a:t>
                          </a:r>
                        </a:p>
                        <a:p>
                          <a:pPr/>
                          <a14:m>
                            <m:oMathPara xmlns:m="http://schemas.openxmlformats.org/officeDocument/2006/math">
                              <m:oMathParaPr>
                                <m:jc m:val="centerGroup"/>
                              </m:oMathParaPr>
                              <m:oMath xmlns:m="http://schemas.openxmlformats.org/officeDocument/2006/math">
                                <m:r>
                                  <a:rPr lang="en-GB" sz="700" b="0" i="1" baseline="0" noProof="0" smtClean="0">
                                    <a:solidFill>
                                      <a:schemeClr val="tx1"/>
                                    </a:solidFill>
                                    <a:latin typeface="Cambria Math" panose="02040503050406030204" pitchFamily="18" charset="0"/>
                                  </a:rPr>
                                  <m:t>𝑎</m:t>
                                </m:r>
                                <m:sSup>
                                  <m:sSupPr>
                                    <m:ctrlPr>
                                      <a:rPr lang="en-GB" sz="700" b="0" i="1" baseline="0" noProof="0" smtClean="0">
                                        <a:solidFill>
                                          <a:schemeClr val="tx1"/>
                                        </a:solidFill>
                                        <a:latin typeface="Cambria Math" panose="02040503050406030204" pitchFamily="18" charset="0"/>
                                      </a:rPr>
                                    </m:ctrlPr>
                                  </m:sSupPr>
                                  <m:e>
                                    <m:r>
                                      <a:rPr lang="en-GB" sz="700" b="0" i="1" baseline="0" noProof="0" smtClean="0">
                                        <a:solidFill>
                                          <a:schemeClr val="tx1"/>
                                        </a:solidFill>
                                        <a:latin typeface="Cambria Math" panose="02040503050406030204" pitchFamily="18" charset="0"/>
                                      </a:rPr>
                                      <m:t>𝑥</m:t>
                                    </m:r>
                                  </m:e>
                                  <m:sup>
                                    <m:r>
                                      <a:rPr lang="en-GB" sz="700" b="0" i="1" baseline="0" noProof="0" smtClean="0">
                                        <a:solidFill>
                                          <a:schemeClr val="tx1"/>
                                        </a:solidFill>
                                        <a:latin typeface="Cambria Math" panose="02040503050406030204" pitchFamily="18" charset="0"/>
                                      </a:rPr>
                                      <m:t>2</m:t>
                                    </m:r>
                                  </m:sup>
                                </m:sSup>
                                <m:r>
                                  <a:rPr lang="en-GB" sz="700" b="0" i="1" baseline="0" noProof="0" smtClean="0">
                                    <a:solidFill>
                                      <a:schemeClr val="tx1"/>
                                    </a:solidFill>
                                    <a:latin typeface="Cambria Math" panose="02040503050406030204" pitchFamily="18" charset="0"/>
                                  </a:rPr>
                                  <m:t>+</m:t>
                                </m:r>
                                <m:r>
                                  <a:rPr lang="en-GB" sz="700" b="0" i="1" baseline="0" noProof="0" smtClean="0">
                                    <a:solidFill>
                                      <a:schemeClr val="tx1"/>
                                    </a:solidFill>
                                    <a:latin typeface="Cambria Math" panose="02040503050406030204" pitchFamily="18" charset="0"/>
                                  </a:rPr>
                                  <m:t>𝑏𝑥</m:t>
                                </m:r>
                                <m:r>
                                  <a:rPr lang="en-GB" sz="700" b="0" i="1" baseline="0" noProof="0" smtClean="0">
                                    <a:solidFill>
                                      <a:schemeClr val="tx1"/>
                                    </a:solidFill>
                                    <a:latin typeface="Cambria Math" panose="02040503050406030204" pitchFamily="18" charset="0"/>
                                  </a:rPr>
                                  <m:t>+</m:t>
                                </m:r>
                                <m:r>
                                  <a:rPr lang="en-GB" sz="700" b="0" i="1" baseline="0" noProof="0" smtClean="0">
                                    <a:solidFill>
                                      <a:schemeClr val="tx1"/>
                                    </a:solidFill>
                                    <a:latin typeface="Cambria Math" panose="02040503050406030204" pitchFamily="18" charset="0"/>
                                  </a:rPr>
                                  <m:t>𝑐</m:t>
                                </m:r>
                                <m:r>
                                  <a:rPr lang="en-GB" sz="700" b="0" i="1" baseline="0" noProof="0" smtClean="0">
                                    <a:solidFill>
                                      <a:schemeClr val="tx1"/>
                                    </a:solidFill>
                                    <a:latin typeface="Cambria Math" panose="02040503050406030204" pitchFamily="18" charset="0"/>
                                  </a:rPr>
                                  <m:t>=0</m:t>
                                </m:r>
                              </m:oMath>
                            </m:oMathPara>
                          </a14:m>
                          <a:endParaRPr lang="en-GB" sz="105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197067">
                    <a:tc>
                      <a:txBody>
                        <a:bodyPr/>
                        <a:lstStyle/>
                        <a:p>
                          <a:r>
                            <a:rPr lang="en-GB" sz="1050" noProof="0" dirty="0">
                              <a:solidFill>
                                <a:schemeClr val="tx1"/>
                              </a:solidFill>
                            </a:rPr>
                            <a:t>3) Solve the quadratic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004736039"/>
                  </p:ext>
                </p:extLst>
              </p:nvPr>
            </p:nvGraphicFramePr>
            <p:xfrm>
              <a:off x="121861" y="770647"/>
              <a:ext cx="6639192" cy="4273794"/>
            </p:xfrm>
            <a:graphic>
              <a:graphicData uri="http://schemas.openxmlformats.org/drawingml/2006/table">
                <a:tbl>
                  <a:tblPr firstRow="1" bandRow="1">
                    <a:tableStyleId>{5C22544A-7EE6-4342-B048-85BDC9FD1C3A}</a:tableStyleId>
                  </a:tblPr>
                  <a:tblGrid>
                    <a:gridCol w="898539">
                      <a:extLst>
                        <a:ext uri="{9D8B030D-6E8A-4147-A177-3AD203B41FA5}">
                          <a16:colId xmlns:a16="http://schemas.microsoft.com/office/drawing/2014/main" val="1568142362"/>
                        </a:ext>
                      </a:extLst>
                    </a:gridCol>
                    <a:gridCol w="1828800">
                      <a:extLst>
                        <a:ext uri="{9D8B030D-6E8A-4147-A177-3AD203B41FA5}">
                          <a16:colId xmlns:a16="http://schemas.microsoft.com/office/drawing/2014/main" val="3551711160"/>
                        </a:ext>
                      </a:extLst>
                    </a:gridCol>
                    <a:gridCol w="1961321">
                      <a:extLst>
                        <a:ext uri="{9D8B030D-6E8A-4147-A177-3AD203B41FA5}">
                          <a16:colId xmlns:a16="http://schemas.microsoft.com/office/drawing/2014/main" val="772331842"/>
                        </a:ext>
                      </a:extLst>
                    </a:gridCol>
                    <a:gridCol w="1950532">
                      <a:extLst>
                        <a:ext uri="{9D8B030D-6E8A-4147-A177-3AD203B41FA5}">
                          <a16:colId xmlns:a16="http://schemas.microsoft.com/office/drawing/2014/main" val="1506195925"/>
                        </a:ext>
                      </a:extLst>
                    </a:gridCol>
                  </a:tblGrid>
                  <a:tr h="826403">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9667" t="-735" r="-215000" b="-41764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9441" t="-735" r="-100311" b="-41764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0187" t="-735" r="-623" b="-417647"/>
                          </a:stretch>
                        </a:blipFill>
                      </a:tcPr>
                    </a:tc>
                    <a:extLst>
                      <a:ext uri="{0D108BD9-81ED-4DB2-BD59-A6C34878D82A}">
                        <a16:rowId xmlns:a16="http://schemas.microsoft.com/office/drawing/2014/main" val="2357201933"/>
                      </a:ext>
                    </a:extLst>
                  </a:tr>
                  <a:tr h="1053257">
                    <a:tc>
                      <a:txBody>
                        <a:bodyPr/>
                        <a:lstStyle/>
                        <a:p>
                          <a:r>
                            <a:rPr lang="en-GB" sz="1060" noProof="0">
                              <a:solidFill>
                                <a:schemeClr val="tx1"/>
                              </a:solidFill>
                            </a:rPr>
                            <a:t>1) Set the function and the output equal to each</a:t>
                          </a:r>
                          <a:r>
                            <a:rPr lang="en-GB" sz="1060" baseline="0" noProof="0">
                              <a:solidFill>
                                <a:schemeClr val="tx1"/>
                              </a:solidFill>
                            </a:rPr>
                            <a:t> </a:t>
                          </a:r>
                          <a:r>
                            <a:rPr lang="en-GB" sz="1060" noProof="0">
                              <a:solidFill>
                                <a:schemeClr val="tx1"/>
                              </a:solidFill>
                            </a:rPr>
                            <a:t>other.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9706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76" t="-158163" r="-638514" b="-101531"/>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197067">
                    <a:tc>
                      <a:txBody>
                        <a:bodyPr/>
                        <a:lstStyle/>
                        <a:p>
                          <a:r>
                            <a:rPr lang="en-GB" sz="1050" noProof="0">
                              <a:solidFill>
                                <a:schemeClr val="tx1"/>
                              </a:solidFill>
                            </a:rPr>
                            <a:t>3) Solve the quadratic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Fallback>
      </mc:AlternateContent>
      <p:sp>
        <p:nvSpPr>
          <p:cNvPr id="13" name="Rectangle 12"/>
          <p:cNvSpPr/>
          <p:nvPr/>
        </p:nvSpPr>
        <p:spPr>
          <a:xfrm>
            <a:off x="1529589" y="5233664"/>
            <a:ext cx="3823735" cy="276999"/>
          </a:xfrm>
          <a:prstGeom prst="rect">
            <a:avLst/>
          </a:prstGeom>
        </p:spPr>
        <p:txBody>
          <a:bodyPr wrap="square">
            <a:spAutoFit/>
          </a:bodyPr>
          <a:lstStyle/>
          <a:p>
            <a:pPr algn="ctr"/>
            <a:r>
              <a:rPr lang="en-GB" sz="1200" noProof="0" dirty="0"/>
              <a:t>16) Solve each quadratic equation from the function. </a:t>
            </a:r>
          </a:p>
        </p:txBody>
      </p:sp>
      <p:sp>
        <p:nvSpPr>
          <p:cNvPr id="14" name="Rectangle 13">
            <a:extLst>
              <a:ext uri="{FF2B5EF4-FFF2-40B4-BE49-F238E27FC236}">
                <a16:creationId xmlns:a16="http://schemas.microsoft.com/office/drawing/2014/main" id="{3C36006B-227E-45B6-ACB0-32FCE0D906FC}"/>
              </a:ext>
            </a:extLst>
          </p:cNvPr>
          <p:cNvSpPr/>
          <p:nvPr/>
        </p:nvSpPr>
        <p:spPr>
          <a:xfrm>
            <a:off x="103499" y="5728842"/>
            <a:ext cx="2091772" cy="39256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tangle 15">
            <a:extLst>
              <a:ext uri="{FF2B5EF4-FFF2-40B4-BE49-F238E27FC236}">
                <a16:creationId xmlns:a16="http://schemas.microsoft.com/office/drawing/2014/main" id="{3C36006B-227E-45B6-ACB0-32FCE0D906FC}"/>
              </a:ext>
            </a:extLst>
          </p:cNvPr>
          <p:cNvSpPr/>
          <p:nvPr/>
        </p:nvSpPr>
        <p:spPr>
          <a:xfrm>
            <a:off x="2376006" y="5732201"/>
            <a:ext cx="2049135" cy="39189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a:extLst>
              <a:ext uri="{FF2B5EF4-FFF2-40B4-BE49-F238E27FC236}">
                <a16:creationId xmlns:a16="http://schemas.microsoft.com/office/drawing/2014/main" id="{3C36006B-227E-45B6-ACB0-32FCE0D906FC}"/>
              </a:ext>
            </a:extLst>
          </p:cNvPr>
          <p:cNvSpPr/>
          <p:nvPr/>
        </p:nvSpPr>
        <p:spPr>
          <a:xfrm>
            <a:off x="4624233" y="5728842"/>
            <a:ext cx="2044245" cy="39256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TextBox 17">
            <a:extLst>
              <a:ext uri="{FF2B5EF4-FFF2-40B4-BE49-F238E27FC236}">
                <a16:creationId xmlns:a16="http://schemas.microsoft.com/office/drawing/2014/main" id="{519CA145-0A55-47EB-B271-6690400B9E6B}"/>
              </a:ext>
            </a:extLst>
          </p:cNvPr>
          <p:cNvSpPr txBox="1"/>
          <p:nvPr/>
        </p:nvSpPr>
        <p:spPr>
          <a:xfrm>
            <a:off x="2322655" y="5730292"/>
            <a:ext cx="311304" cy="276999"/>
          </a:xfrm>
          <a:prstGeom prst="rect">
            <a:avLst/>
          </a:prstGeom>
          <a:noFill/>
        </p:spPr>
        <p:txBody>
          <a:bodyPr wrap="none" rtlCol="0">
            <a:spAutoFit/>
          </a:bodyPr>
          <a:lstStyle/>
          <a:p>
            <a:r>
              <a:rPr lang="en-GB" sz="1200" noProof="0" dirty="0"/>
              <a:t>b)</a:t>
            </a:r>
          </a:p>
        </p:txBody>
      </p:sp>
      <p:sp>
        <p:nvSpPr>
          <p:cNvPr id="19" name="TextBox 18">
            <a:extLst>
              <a:ext uri="{FF2B5EF4-FFF2-40B4-BE49-F238E27FC236}">
                <a16:creationId xmlns:a16="http://schemas.microsoft.com/office/drawing/2014/main" id="{519CA145-0A55-47EB-B271-6690400B9E6B}"/>
              </a:ext>
            </a:extLst>
          </p:cNvPr>
          <p:cNvSpPr txBox="1"/>
          <p:nvPr/>
        </p:nvSpPr>
        <p:spPr>
          <a:xfrm>
            <a:off x="4648438" y="5744871"/>
            <a:ext cx="296876" cy="276999"/>
          </a:xfrm>
          <a:prstGeom prst="rect">
            <a:avLst/>
          </a:prstGeom>
          <a:noFill/>
        </p:spPr>
        <p:txBody>
          <a:bodyPr wrap="none" rtlCol="0">
            <a:spAutoFit/>
          </a:bodyPr>
          <a:lstStyle/>
          <a:p>
            <a:r>
              <a:rPr lang="en-GB" sz="1200" noProof="0" dirty="0"/>
              <a:t>c)</a:t>
            </a:r>
          </a:p>
        </p:txBody>
      </p:sp>
      <p:sp>
        <p:nvSpPr>
          <p:cNvPr id="22" name="TextBox 21">
            <a:extLst>
              <a:ext uri="{FF2B5EF4-FFF2-40B4-BE49-F238E27FC236}">
                <a16:creationId xmlns:a16="http://schemas.microsoft.com/office/drawing/2014/main" id="{519CA145-0A55-47EB-B271-6690400B9E6B}"/>
              </a:ext>
            </a:extLst>
          </p:cNvPr>
          <p:cNvSpPr txBox="1"/>
          <p:nvPr/>
        </p:nvSpPr>
        <p:spPr>
          <a:xfrm>
            <a:off x="51185" y="5730292"/>
            <a:ext cx="340158" cy="276999"/>
          </a:xfrm>
          <a:prstGeom prst="rect">
            <a:avLst/>
          </a:prstGeom>
          <a:noFill/>
        </p:spPr>
        <p:txBody>
          <a:bodyPr wrap="none" rtlCol="0">
            <a:spAutoFit/>
          </a:bodyPr>
          <a:lstStyle/>
          <a:p>
            <a:r>
              <a:rPr lang="en-GB" sz="1200" noProof="0" dirty="0"/>
              <a:t>a) </a:t>
            </a:r>
          </a:p>
        </p:txBody>
      </p:sp>
      <p:grpSp>
        <p:nvGrpSpPr>
          <p:cNvPr id="23" name="Group 22"/>
          <p:cNvGrpSpPr/>
          <p:nvPr/>
        </p:nvGrpSpPr>
        <p:grpSpPr>
          <a:xfrm>
            <a:off x="451930" y="9253998"/>
            <a:ext cx="1601234" cy="276999"/>
            <a:chOff x="503980" y="4722851"/>
            <a:chExt cx="1601234" cy="276999"/>
          </a:xfrm>
        </p:grpSpPr>
        <mc:AlternateContent xmlns:mc="http://schemas.openxmlformats.org/markup-compatibility/2006" xmlns:a14="http://schemas.microsoft.com/office/drawing/2010/main">
          <mc:Choice Requires="a14">
            <p:sp>
              <p:nvSpPr>
                <p:cNvPr id="24" name="TextBox 23"/>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4" name="TextBox 23"/>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7778"/>
                  </a:stretch>
                </a:blipFill>
              </p:spPr>
              <p:txBody>
                <a:bodyPr/>
                <a:lstStyle/>
                <a:p>
                  <a:r>
                    <a:rPr lang="en-US">
                      <a:noFill/>
                    </a:rPr>
                    <a:t> </a:t>
                  </a:r>
                </a:p>
              </p:txBody>
            </p:sp>
          </mc:Fallback>
        </mc:AlternateContent>
        <p:cxnSp>
          <p:nvCxnSpPr>
            <p:cNvPr id="25" name="Straight Connector 24"/>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27" name="Group 26"/>
          <p:cNvGrpSpPr/>
          <p:nvPr/>
        </p:nvGrpSpPr>
        <p:grpSpPr>
          <a:xfrm>
            <a:off x="2700157" y="9253998"/>
            <a:ext cx="1601234" cy="276999"/>
            <a:chOff x="503980" y="4722851"/>
            <a:chExt cx="1601234" cy="276999"/>
          </a:xfrm>
        </p:grpSpPr>
        <mc:AlternateContent xmlns:mc="http://schemas.openxmlformats.org/markup-compatibility/2006" xmlns:a14="http://schemas.microsoft.com/office/drawing/2010/main">
          <mc:Choice Requires="a14">
            <p:sp>
              <p:nvSpPr>
                <p:cNvPr id="28" name="TextBox 27"/>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8" name="TextBox 27"/>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7778"/>
                  </a:stretch>
                </a:blipFill>
              </p:spPr>
              <p:txBody>
                <a:bodyPr/>
                <a:lstStyle/>
                <a:p>
                  <a:r>
                    <a:rPr lang="en-US">
                      <a:noFill/>
                    </a:rPr>
                    <a:t> </a:t>
                  </a:r>
                </a:p>
              </p:txBody>
            </p:sp>
          </mc:Fallback>
        </mc:AlternateContent>
        <p:cxnSp>
          <p:nvCxnSpPr>
            <p:cNvPr id="29" name="Straight Connector 28"/>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31" name="Group 30"/>
          <p:cNvGrpSpPr/>
          <p:nvPr/>
        </p:nvGrpSpPr>
        <p:grpSpPr>
          <a:xfrm>
            <a:off x="4887667" y="9288446"/>
            <a:ext cx="1601234" cy="276999"/>
            <a:chOff x="503980" y="4722851"/>
            <a:chExt cx="1601234" cy="276999"/>
          </a:xfrm>
        </p:grpSpPr>
        <mc:AlternateContent xmlns:mc="http://schemas.openxmlformats.org/markup-compatibility/2006" xmlns:a14="http://schemas.microsoft.com/office/drawing/2010/main">
          <mc:Choice Requires="a14">
            <p:sp>
              <p:nvSpPr>
                <p:cNvPr id="32" name="TextBox 31"/>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32" name="TextBox 31"/>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4"/>
                  <a:stretch>
                    <a:fillRect t="-2222" b="-17778"/>
                  </a:stretch>
                </a:blipFill>
              </p:spPr>
              <p:txBody>
                <a:bodyPr/>
                <a:lstStyle/>
                <a:p>
                  <a:r>
                    <a:rPr lang="en-US">
                      <a:noFill/>
                    </a:rPr>
                    <a:t> </a:t>
                  </a:r>
                </a:p>
              </p:txBody>
            </p:sp>
          </mc:Fallback>
        </mc:AlternateContent>
        <p:cxnSp>
          <p:nvCxnSpPr>
            <p:cNvPr id="33" name="Straight Connector 32"/>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pic>
        <p:nvPicPr>
          <p:cNvPr id="35" name="Picture 34"/>
          <p:cNvPicPr>
            <a:picLocks noChangeAspect="1"/>
          </p:cNvPicPr>
          <p:nvPr/>
        </p:nvPicPr>
        <p:blipFill>
          <a:blip r:embed="rId5"/>
          <a:stretch>
            <a:fillRect/>
          </a:stretch>
        </p:blipFill>
        <p:spPr>
          <a:xfrm>
            <a:off x="315475" y="5744871"/>
            <a:ext cx="1527757" cy="1043346"/>
          </a:xfrm>
          <a:prstGeom prst="rect">
            <a:avLst/>
          </a:prstGeom>
        </p:spPr>
      </p:pic>
      <p:pic>
        <p:nvPicPr>
          <p:cNvPr id="36" name="Picture 35"/>
          <p:cNvPicPr>
            <a:picLocks noChangeAspect="1"/>
          </p:cNvPicPr>
          <p:nvPr/>
        </p:nvPicPr>
        <p:blipFill>
          <a:blip r:embed="rId6"/>
          <a:stretch>
            <a:fillRect/>
          </a:stretch>
        </p:blipFill>
        <p:spPr>
          <a:xfrm>
            <a:off x="2571808" y="5801265"/>
            <a:ext cx="1363788" cy="986952"/>
          </a:xfrm>
          <a:prstGeom prst="rect">
            <a:avLst/>
          </a:prstGeom>
        </p:spPr>
      </p:pic>
      <p:pic>
        <p:nvPicPr>
          <p:cNvPr id="37" name="Picture 36"/>
          <p:cNvPicPr>
            <a:picLocks noChangeAspect="1"/>
          </p:cNvPicPr>
          <p:nvPr/>
        </p:nvPicPr>
        <p:blipFill>
          <a:blip r:embed="rId7"/>
          <a:stretch>
            <a:fillRect/>
          </a:stretch>
        </p:blipFill>
        <p:spPr>
          <a:xfrm>
            <a:off x="4887667" y="5825177"/>
            <a:ext cx="1382141" cy="963040"/>
          </a:xfrm>
          <a:prstGeom prst="rect">
            <a:avLst/>
          </a:prstGeom>
        </p:spPr>
      </p:pic>
      <p:sp>
        <p:nvSpPr>
          <p:cNvPr id="39" name="TextBox 38">
            <a:extLst>
              <a:ext uri="{FF2B5EF4-FFF2-40B4-BE49-F238E27FC236}">
                <a16:creationId xmlns:a16="http://schemas.microsoft.com/office/drawing/2014/main" id="{C3C65E48-8C3D-6849-AD77-7AD8678AD8DA}"/>
              </a:ext>
            </a:extLst>
          </p:cNvPr>
          <p:cNvSpPr txBox="1"/>
          <p:nvPr/>
        </p:nvSpPr>
        <p:spPr>
          <a:xfrm>
            <a:off x="121861" y="5077519"/>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Tree>
    <p:extLst>
      <p:ext uri="{BB962C8B-B14F-4D97-AF65-F5344CB8AC3E}">
        <p14:creationId xmlns:p14="http://schemas.microsoft.com/office/powerpoint/2010/main" val="41743001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82516" y="9485047"/>
            <a:ext cx="1543050" cy="527403"/>
          </a:xfrm>
        </p:spPr>
        <p:txBody>
          <a:bodyPr/>
          <a:lstStyle/>
          <a:p>
            <a:fld id="{9BD3B4A0-BFF9-422C-B253-48BA94BE2F5B}" type="slidenum">
              <a:rPr lang="en-GB" noProof="0" smtClean="0"/>
              <a:t>49</a:t>
            </a:fld>
            <a:endParaRPr lang="en-GB" noProof="0" dirty="0"/>
          </a:p>
        </p:txBody>
      </p:sp>
      <p:sp>
        <p:nvSpPr>
          <p:cNvPr id="9" name="Rectangle 8">
            <a:extLst>
              <a:ext uri="{FF2B5EF4-FFF2-40B4-BE49-F238E27FC236}">
                <a16:creationId xmlns:a16="http://schemas.microsoft.com/office/drawing/2014/main" id="{3C36006B-227E-45B6-ACB0-32FCE0D906FC}"/>
              </a:ext>
            </a:extLst>
          </p:cNvPr>
          <p:cNvSpPr/>
          <p:nvPr/>
        </p:nvSpPr>
        <p:spPr>
          <a:xfrm>
            <a:off x="156508" y="136424"/>
            <a:ext cx="2091772" cy="4401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Rectangle 9">
            <a:extLst>
              <a:ext uri="{FF2B5EF4-FFF2-40B4-BE49-F238E27FC236}">
                <a16:creationId xmlns:a16="http://schemas.microsoft.com/office/drawing/2014/main" id="{3C36006B-227E-45B6-ACB0-32FCE0D906FC}"/>
              </a:ext>
            </a:extLst>
          </p:cNvPr>
          <p:cNvSpPr/>
          <p:nvPr/>
        </p:nvSpPr>
        <p:spPr>
          <a:xfrm>
            <a:off x="2429015" y="139783"/>
            <a:ext cx="2049135" cy="43938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a:extLst>
              <a:ext uri="{FF2B5EF4-FFF2-40B4-BE49-F238E27FC236}">
                <a16:creationId xmlns:a16="http://schemas.microsoft.com/office/drawing/2014/main" id="{3C36006B-227E-45B6-ACB0-32FCE0D906FC}"/>
              </a:ext>
            </a:extLst>
          </p:cNvPr>
          <p:cNvSpPr/>
          <p:nvPr/>
        </p:nvSpPr>
        <p:spPr>
          <a:xfrm>
            <a:off x="4677242" y="136424"/>
            <a:ext cx="2044245" cy="4401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TextBox 11">
            <a:extLst>
              <a:ext uri="{FF2B5EF4-FFF2-40B4-BE49-F238E27FC236}">
                <a16:creationId xmlns:a16="http://schemas.microsoft.com/office/drawing/2014/main" id="{519CA145-0A55-47EB-B271-6690400B9E6B}"/>
              </a:ext>
            </a:extLst>
          </p:cNvPr>
          <p:cNvSpPr txBox="1"/>
          <p:nvPr/>
        </p:nvSpPr>
        <p:spPr>
          <a:xfrm>
            <a:off x="2375664" y="137874"/>
            <a:ext cx="308098" cy="276999"/>
          </a:xfrm>
          <a:prstGeom prst="rect">
            <a:avLst/>
          </a:prstGeom>
          <a:noFill/>
        </p:spPr>
        <p:txBody>
          <a:bodyPr wrap="none" rtlCol="0">
            <a:spAutoFit/>
          </a:bodyPr>
          <a:lstStyle/>
          <a:p>
            <a:r>
              <a:rPr lang="en-GB" sz="1200" noProof="0" dirty="0"/>
              <a:t>e)</a:t>
            </a:r>
          </a:p>
        </p:txBody>
      </p:sp>
      <p:sp>
        <p:nvSpPr>
          <p:cNvPr id="13" name="TextBox 12">
            <a:extLst>
              <a:ext uri="{FF2B5EF4-FFF2-40B4-BE49-F238E27FC236}">
                <a16:creationId xmlns:a16="http://schemas.microsoft.com/office/drawing/2014/main" id="{519CA145-0A55-47EB-B271-6690400B9E6B}"/>
              </a:ext>
            </a:extLst>
          </p:cNvPr>
          <p:cNvSpPr txBox="1"/>
          <p:nvPr/>
        </p:nvSpPr>
        <p:spPr>
          <a:xfrm>
            <a:off x="4701447" y="152453"/>
            <a:ext cx="279885" cy="276999"/>
          </a:xfrm>
          <a:prstGeom prst="rect">
            <a:avLst/>
          </a:prstGeom>
          <a:noFill/>
        </p:spPr>
        <p:txBody>
          <a:bodyPr wrap="none" rtlCol="0">
            <a:spAutoFit/>
          </a:bodyPr>
          <a:lstStyle/>
          <a:p>
            <a:r>
              <a:rPr lang="en-GB" sz="1200" noProof="0" dirty="0"/>
              <a:t>f)</a:t>
            </a:r>
          </a:p>
        </p:txBody>
      </p:sp>
      <p:sp>
        <p:nvSpPr>
          <p:cNvPr id="14" name="TextBox 13">
            <a:extLst>
              <a:ext uri="{FF2B5EF4-FFF2-40B4-BE49-F238E27FC236}">
                <a16:creationId xmlns:a16="http://schemas.microsoft.com/office/drawing/2014/main" id="{519CA145-0A55-47EB-B271-6690400B9E6B}"/>
              </a:ext>
            </a:extLst>
          </p:cNvPr>
          <p:cNvSpPr txBox="1"/>
          <p:nvPr/>
        </p:nvSpPr>
        <p:spPr>
          <a:xfrm>
            <a:off x="104194" y="137874"/>
            <a:ext cx="346570" cy="276999"/>
          </a:xfrm>
          <a:prstGeom prst="rect">
            <a:avLst/>
          </a:prstGeom>
          <a:noFill/>
        </p:spPr>
        <p:txBody>
          <a:bodyPr wrap="none" rtlCol="0">
            <a:spAutoFit/>
          </a:bodyPr>
          <a:lstStyle/>
          <a:p>
            <a:r>
              <a:rPr lang="en-GB" sz="1200" noProof="0" dirty="0"/>
              <a:t>d) </a:t>
            </a:r>
          </a:p>
        </p:txBody>
      </p:sp>
      <p:grpSp>
        <p:nvGrpSpPr>
          <p:cNvPr id="15" name="Group 14"/>
          <p:cNvGrpSpPr/>
          <p:nvPr/>
        </p:nvGrpSpPr>
        <p:grpSpPr>
          <a:xfrm>
            <a:off x="504939" y="4072398"/>
            <a:ext cx="1601234" cy="276999"/>
            <a:chOff x="503980" y="4722851"/>
            <a:chExt cx="1601234" cy="276999"/>
          </a:xfrm>
        </p:grpSpPr>
        <mc:AlternateContent xmlns:mc="http://schemas.openxmlformats.org/markup-compatibility/2006" xmlns:a14="http://schemas.microsoft.com/office/drawing/2010/main">
          <mc:Choice Requires="a14">
            <p:sp>
              <p:nvSpPr>
                <p:cNvPr id="16" name="TextBox 15"/>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16" name="TextBox 15"/>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2"/>
                  <a:stretch>
                    <a:fillRect b="-17778"/>
                  </a:stretch>
                </a:blipFill>
              </p:spPr>
              <p:txBody>
                <a:bodyPr/>
                <a:lstStyle/>
                <a:p>
                  <a:r>
                    <a:rPr lang="en-US">
                      <a:noFill/>
                    </a:rPr>
                    <a:t> </a:t>
                  </a:r>
                </a:p>
              </p:txBody>
            </p:sp>
          </mc:Fallback>
        </mc:AlternateContent>
        <p:cxnSp>
          <p:nvCxnSpPr>
            <p:cNvPr id="17" name="Straight Connector 16"/>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19" name="Group 18"/>
          <p:cNvGrpSpPr/>
          <p:nvPr/>
        </p:nvGrpSpPr>
        <p:grpSpPr>
          <a:xfrm>
            <a:off x="2753166" y="4072398"/>
            <a:ext cx="1601234" cy="276999"/>
            <a:chOff x="503980" y="4722851"/>
            <a:chExt cx="1601234" cy="276999"/>
          </a:xfrm>
        </p:grpSpPr>
        <mc:AlternateContent xmlns:mc="http://schemas.openxmlformats.org/markup-compatibility/2006" xmlns:a14="http://schemas.microsoft.com/office/drawing/2010/main">
          <mc:Choice Requires="a14">
            <p:sp>
              <p:nvSpPr>
                <p:cNvPr id="20" name="TextBox 19"/>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0" name="TextBox 19"/>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3"/>
                  <a:stretch>
                    <a:fillRect b="-17778"/>
                  </a:stretch>
                </a:blipFill>
              </p:spPr>
              <p:txBody>
                <a:bodyPr/>
                <a:lstStyle/>
                <a:p>
                  <a:r>
                    <a:rPr lang="en-US">
                      <a:noFill/>
                    </a:rPr>
                    <a:t> </a:t>
                  </a:r>
                </a:p>
              </p:txBody>
            </p:sp>
          </mc:Fallback>
        </mc:AlternateContent>
        <p:cxnSp>
          <p:nvCxnSpPr>
            <p:cNvPr id="21" name="Straight Connector 20"/>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23" name="Group 22"/>
          <p:cNvGrpSpPr/>
          <p:nvPr/>
        </p:nvGrpSpPr>
        <p:grpSpPr>
          <a:xfrm>
            <a:off x="4940676" y="4106846"/>
            <a:ext cx="1601234" cy="276999"/>
            <a:chOff x="503980" y="4722851"/>
            <a:chExt cx="1601234" cy="276999"/>
          </a:xfrm>
        </p:grpSpPr>
        <mc:AlternateContent xmlns:mc="http://schemas.openxmlformats.org/markup-compatibility/2006" xmlns:a14="http://schemas.microsoft.com/office/drawing/2010/main">
          <mc:Choice Requires="a14">
            <p:sp>
              <p:nvSpPr>
                <p:cNvPr id="24" name="TextBox 23"/>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24" name="TextBox 23"/>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4"/>
                  <a:stretch>
                    <a:fillRect t="-2222" b="-17778"/>
                  </a:stretch>
                </a:blipFill>
              </p:spPr>
              <p:txBody>
                <a:bodyPr/>
                <a:lstStyle/>
                <a:p>
                  <a:r>
                    <a:rPr lang="en-US">
                      <a:noFill/>
                    </a:rPr>
                    <a:t> </a:t>
                  </a:r>
                </a:p>
              </p:txBody>
            </p:sp>
          </mc:Fallback>
        </mc:AlternateContent>
        <p:cxnSp>
          <p:nvCxnSpPr>
            <p:cNvPr id="25" name="Straight Connector 24"/>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pic>
        <p:nvPicPr>
          <p:cNvPr id="30" name="Picture 29"/>
          <p:cNvPicPr>
            <a:picLocks noChangeAspect="1"/>
          </p:cNvPicPr>
          <p:nvPr/>
        </p:nvPicPr>
        <p:blipFill>
          <a:blip r:embed="rId5"/>
          <a:stretch>
            <a:fillRect/>
          </a:stretch>
        </p:blipFill>
        <p:spPr>
          <a:xfrm>
            <a:off x="345129" y="192117"/>
            <a:ext cx="908050" cy="717850"/>
          </a:xfrm>
          <a:prstGeom prst="rect">
            <a:avLst/>
          </a:prstGeom>
        </p:spPr>
      </p:pic>
      <p:pic>
        <p:nvPicPr>
          <p:cNvPr id="31" name="Picture 30"/>
          <p:cNvPicPr>
            <a:picLocks noChangeAspect="1"/>
          </p:cNvPicPr>
          <p:nvPr/>
        </p:nvPicPr>
        <p:blipFill>
          <a:blip r:embed="rId6"/>
          <a:stretch>
            <a:fillRect/>
          </a:stretch>
        </p:blipFill>
        <p:spPr>
          <a:xfrm>
            <a:off x="2677354" y="289537"/>
            <a:ext cx="1002481" cy="660170"/>
          </a:xfrm>
          <a:prstGeom prst="rect">
            <a:avLst/>
          </a:prstGeom>
        </p:spPr>
      </p:pic>
      <p:pic>
        <p:nvPicPr>
          <p:cNvPr id="32" name="Picture 31"/>
          <p:cNvPicPr>
            <a:picLocks noChangeAspect="1"/>
          </p:cNvPicPr>
          <p:nvPr/>
        </p:nvPicPr>
        <p:blipFill>
          <a:blip r:embed="rId7"/>
          <a:stretch>
            <a:fillRect/>
          </a:stretch>
        </p:blipFill>
        <p:spPr>
          <a:xfrm>
            <a:off x="4940676" y="216567"/>
            <a:ext cx="1014312" cy="693400"/>
          </a:xfrm>
          <a:prstGeom prst="rect">
            <a:avLst/>
          </a:prstGeom>
        </p:spPr>
      </p:pic>
      <p:pic>
        <p:nvPicPr>
          <p:cNvPr id="33" name="Picture 32"/>
          <p:cNvPicPr>
            <a:picLocks noChangeAspect="1"/>
          </p:cNvPicPr>
          <p:nvPr/>
        </p:nvPicPr>
        <p:blipFill>
          <a:blip r:embed="rId8"/>
          <a:stretch>
            <a:fillRect/>
          </a:stretch>
        </p:blipFill>
        <p:spPr>
          <a:xfrm>
            <a:off x="399225" y="4742559"/>
            <a:ext cx="1071766" cy="710496"/>
          </a:xfrm>
          <a:prstGeom prst="rect">
            <a:avLst/>
          </a:prstGeom>
        </p:spPr>
      </p:pic>
      <p:pic>
        <p:nvPicPr>
          <p:cNvPr id="34" name="Picture 33"/>
          <p:cNvPicPr>
            <a:picLocks noChangeAspect="1"/>
          </p:cNvPicPr>
          <p:nvPr/>
        </p:nvPicPr>
        <p:blipFill rotWithShape="1">
          <a:blip r:embed="rId9"/>
          <a:srcRect l="2672" t="4851"/>
          <a:stretch/>
        </p:blipFill>
        <p:spPr>
          <a:xfrm>
            <a:off x="2677354" y="4784192"/>
            <a:ext cx="1048203" cy="705933"/>
          </a:xfrm>
          <a:prstGeom prst="rect">
            <a:avLst/>
          </a:prstGeom>
        </p:spPr>
      </p:pic>
      <p:pic>
        <p:nvPicPr>
          <p:cNvPr id="35" name="Picture 34"/>
          <p:cNvPicPr>
            <a:picLocks noChangeAspect="1"/>
          </p:cNvPicPr>
          <p:nvPr/>
        </p:nvPicPr>
        <p:blipFill>
          <a:blip r:embed="rId10"/>
          <a:stretch>
            <a:fillRect/>
          </a:stretch>
        </p:blipFill>
        <p:spPr>
          <a:xfrm>
            <a:off x="4772470" y="4711520"/>
            <a:ext cx="1071739" cy="805353"/>
          </a:xfrm>
          <a:prstGeom prst="rect">
            <a:avLst/>
          </a:prstGeom>
        </p:spPr>
      </p:pic>
      <p:sp>
        <p:nvSpPr>
          <p:cNvPr id="36" name="Rectangle 35">
            <a:extLst>
              <a:ext uri="{FF2B5EF4-FFF2-40B4-BE49-F238E27FC236}">
                <a16:creationId xmlns:a16="http://schemas.microsoft.com/office/drawing/2014/main" id="{3C36006B-227E-45B6-ACB0-32FCE0D906FC}"/>
              </a:ext>
            </a:extLst>
          </p:cNvPr>
          <p:cNvSpPr/>
          <p:nvPr/>
        </p:nvSpPr>
        <p:spPr>
          <a:xfrm>
            <a:off x="158108" y="4711520"/>
            <a:ext cx="2091772" cy="49089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7" name="Rectangle 36">
            <a:extLst>
              <a:ext uri="{FF2B5EF4-FFF2-40B4-BE49-F238E27FC236}">
                <a16:creationId xmlns:a16="http://schemas.microsoft.com/office/drawing/2014/main" id="{3C36006B-227E-45B6-ACB0-32FCE0D906FC}"/>
              </a:ext>
            </a:extLst>
          </p:cNvPr>
          <p:cNvSpPr/>
          <p:nvPr/>
        </p:nvSpPr>
        <p:spPr>
          <a:xfrm>
            <a:off x="2430615" y="4714879"/>
            <a:ext cx="2049135" cy="49005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8" name="Rectangle 37">
            <a:extLst>
              <a:ext uri="{FF2B5EF4-FFF2-40B4-BE49-F238E27FC236}">
                <a16:creationId xmlns:a16="http://schemas.microsoft.com/office/drawing/2014/main" id="{3C36006B-227E-45B6-ACB0-32FCE0D906FC}"/>
              </a:ext>
            </a:extLst>
          </p:cNvPr>
          <p:cNvSpPr/>
          <p:nvPr/>
        </p:nvSpPr>
        <p:spPr>
          <a:xfrm>
            <a:off x="4678842" y="4711520"/>
            <a:ext cx="2044245" cy="49089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9" name="TextBox 38">
            <a:extLst>
              <a:ext uri="{FF2B5EF4-FFF2-40B4-BE49-F238E27FC236}">
                <a16:creationId xmlns:a16="http://schemas.microsoft.com/office/drawing/2014/main" id="{519CA145-0A55-47EB-B271-6690400B9E6B}"/>
              </a:ext>
            </a:extLst>
          </p:cNvPr>
          <p:cNvSpPr txBox="1"/>
          <p:nvPr/>
        </p:nvSpPr>
        <p:spPr>
          <a:xfrm>
            <a:off x="2377264" y="4712970"/>
            <a:ext cx="311304" cy="276999"/>
          </a:xfrm>
          <a:prstGeom prst="rect">
            <a:avLst/>
          </a:prstGeom>
          <a:noFill/>
        </p:spPr>
        <p:txBody>
          <a:bodyPr wrap="none" rtlCol="0">
            <a:spAutoFit/>
          </a:bodyPr>
          <a:lstStyle/>
          <a:p>
            <a:r>
              <a:rPr lang="en-GB" sz="1200" noProof="0" dirty="0"/>
              <a:t>h)</a:t>
            </a:r>
          </a:p>
        </p:txBody>
      </p:sp>
      <p:sp>
        <p:nvSpPr>
          <p:cNvPr id="40" name="TextBox 39">
            <a:extLst>
              <a:ext uri="{FF2B5EF4-FFF2-40B4-BE49-F238E27FC236}">
                <a16:creationId xmlns:a16="http://schemas.microsoft.com/office/drawing/2014/main" id="{519CA145-0A55-47EB-B271-6690400B9E6B}"/>
              </a:ext>
            </a:extLst>
          </p:cNvPr>
          <p:cNvSpPr txBox="1"/>
          <p:nvPr/>
        </p:nvSpPr>
        <p:spPr>
          <a:xfrm>
            <a:off x="4703047" y="4727549"/>
            <a:ext cx="266420" cy="276999"/>
          </a:xfrm>
          <a:prstGeom prst="rect">
            <a:avLst/>
          </a:prstGeom>
          <a:noFill/>
        </p:spPr>
        <p:txBody>
          <a:bodyPr wrap="none" rtlCol="0">
            <a:spAutoFit/>
          </a:bodyPr>
          <a:lstStyle/>
          <a:p>
            <a:r>
              <a:rPr lang="en-GB" sz="1200" noProof="0" dirty="0" err="1"/>
              <a:t>i</a:t>
            </a:r>
            <a:r>
              <a:rPr lang="en-GB" sz="1200" noProof="0" dirty="0"/>
              <a:t>)</a:t>
            </a:r>
          </a:p>
        </p:txBody>
      </p:sp>
      <p:sp>
        <p:nvSpPr>
          <p:cNvPr id="41" name="TextBox 40">
            <a:extLst>
              <a:ext uri="{FF2B5EF4-FFF2-40B4-BE49-F238E27FC236}">
                <a16:creationId xmlns:a16="http://schemas.microsoft.com/office/drawing/2014/main" id="{519CA145-0A55-47EB-B271-6690400B9E6B}"/>
              </a:ext>
            </a:extLst>
          </p:cNvPr>
          <p:cNvSpPr txBox="1"/>
          <p:nvPr/>
        </p:nvSpPr>
        <p:spPr>
          <a:xfrm>
            <a:off x="105794" y="4712970"/>
            <a:ext cx="338554" cy="276999"/>
          </a:xfrm>
          <a:prstGeom prst="rect">
            <a:avLst/>
          </a:prstGeom>
          <a:noFill/>
        </p:spPr>
        <p:txBody>
          <a:bodyPr wrap="none" rtlCol="0">
            <a:spAutoFit/>
          </a:bodyPr>
          <a:lstStyle/>
          <a:p>
            <a:r>
              <a:rPr lang="en-GB" sz="1200" noProof="0" dirty="0"/>
              <a:t>g) </a:t>
            </a:r>
          </a:p>
        </p:txBody>
      </p:sp>
      <p:grpSp>
        <p:nvGrpSpPr>
          <p:cNvPr id="42" name="Group 41"/>
          <p:cNvGrpSpPr/>
          <p:nvPr/>
        </p:nvGrpSpPr>
        <p:grpSpPr>
          <a:xfrm>
            <a:off x="501910" y="9256876"/>
            <a:ext cx="1601234" cy="276999"/>
            <a:chOff x="503980" y="4722851"/>
            <a:chExt cx="1601234" cy="276999"/>
          </a:xfrm>
        </p:grpSpPr>
        <mc:AlternateContent xmlns:mc="http://schemas.openxmlformats.org/markup-compatibility/2006" xmlns:a14="http://schemas.microsoft.com/office/drawing/2010/main">
          <mc:Choice Requires="a14">
            <p:sp>
              <p:nvSpPr>
                <p:cNvPr id="43" name="TextBox 42"/>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3" name="TextBox 42"/>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11"/>
                  <a:stretch>
                    <a:fillRect t="-2222" b="-17778"/>
                  </a:stretch>
                </a:blipFill>
              </p:spPr>
              <p:txBody>
                <a:bodyPr/>
                <a:lstStyle/>
                <a:p>
                  <a:r>
                    <a:rPr lang="en-US">
                      <a:noFill/>
                    </a:rPr>
                    <a:t> </a:t>
                  </a:r>
                </a:p>
              </p:txBody>
            </p:sp>
          </mc:Fallback>
        </mc:AlternateContent>
        <p:cxnSp>
          <p:nvCxnSpPr>
            <p:cNvPr id="44" name="Straight Connector 43"/>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46" name="Group 45"/>
          <p:cNvGrpSpPr/>
          <p:nvPr/>
        </p:nvGrpSpPr>
        <p:grpSpPr>
          <a:xfrm>
            <a:off x="2730291" y="9257347"/>
            <a:ext cx="1601234" cy="276999"/>
            <a:chOff x="503980" y="4722851"/>
            <a:chExt cx="1601234" cy="276999"/>
          </a:xfrm>
        </p:grpSpPr>
        <mc:AlternateContent xmlns:mc="http://schemas.openxmlformats.org/markup-compatibility/2006" xmlns:a14="http://schemas.microsoft.com/office/drawing/2010/main">
          <mc:Choice Requires="a14">
            <p:sp>
              <p:nvSpPr>
                <p:cNvPr id="47" name="TextBox 46"/>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47" name="TextBox 46"/>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11"/>
                  <a:stretch>
                    <a:fillRect t="-2222" b="-17778"/>
                  </a:stretch>
                </a:blipFill>
              </p:spPr>
              <p:txBody>
                <a:bodyPr/>
                <a:lstStyle/>
                <a:p>
                  <a:r>
                    <a:rPr lang="en-US">
                      <a:noFill/>
                    </a:rPr>
                    <a:t> </a:t>
                  </a:r>
                </a:p>
              </p:txBody>
            </p:sp>
          </mc:Fallback>
        </mc:AlternateContent>
        <p:cxnSp>
          <p:nvCxnSpPr>
            <p:cNvPr id="48" name="Straight Connector 47"/>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49" name="Straight Connector 48"/>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grpSp>
        <p:nvGrpSpPr>
          <p:cNvPr id="50" name="Group 49"/>
          <p:cNvGrpSpPr/>
          <p:nvPr/>
        </p:nvGrpSpPr>
        <p:grpSpPr>
          <a:xfrm>
            <a:off x="4951807" y="9211918"/>
            <a:ext cx="1601234" cy="276999"/>
            <a:chOff x="503980" y="4722851"/>
            <a:chExt cx="1601234" cy="276999"/>
          </a:xfrm>
        </p:grpSpPr>
        <mc:AlternateContent xmlns:mc="http://schemas.openxmlformats.org/markup-compatibility/2006" xmlns:a14="http://schemas.microsoft.com/office/drawing/2010/main">
          <mc:Choice Requires="a14">
            <p:sp>
              <p:nvSpPr>
                <p:cNvPr id="51" name="TextBox 50"/>
                <p:cNvSpPr txBox="1"/>
                <p:nvPr/>
              </p:nvSpPr>
              <p:spPr>
                <a:xfrm>
                  <a:off x="503980" y="4722851"/>
                  <a:ext cx="1267014" cy="276999"/>
                </a:xfrm>
                <a:prstGeom prst="rect">
                  <a:avLst/>
                </a:prstGeom>
                <a:noFill/>
              </p:spPr>
              <p:txBody>
                <a:bodyPr wrap="none" rtlCol="0">
                  <a:spAutoFit/>
                </a:bodyPr>
                <a:lstStyle/>
                <a:p>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r>
                    <a:rPr lang="en-GB" sz="1200" noProof="0" dirty="0"/>
                    <a:t>            or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oMath>
                  </a14:m>
                  <a:endParaRPr lang="en-GB" sz="1200" noProof="0" dirty="0"/>
                </a:p>
              </p:txBody>
            </p:sp>
          </mc:Choice>
          <mc:Fallback xmlns="">
            <p:sp>
              <p:nvSpPr>
                <p:cNvPr id="51" name="TextBox 50"/>
                <p:cNvSpPr txBox="1">
                  <a:spLocks noRot="1" noChangeAspect="1" noMove="1" noResize="1" noEditPoints="1" noAdjustHandles="1" noChangeArrowheads="1" noChangeShapeType="1" noTextEdit="1"/>
                </p:cNvSpPr>
                <p:nvPr/>
              </p:nvSpPr>
              <p:spPr>
                <a:xfrm>
                  <a:off x="503980" y="4722851"/>
                  <a:ext cx="1267014" cy="276999"/>
                </a:xfrm>
                <a:prstGeom prst="rect">
                  <a:avLst/>
                </a:prstGeom>
                <a:blipFill>
                  <a:blip r:embed="rId2"/>
                  <a:stretch>
                    <a:fillRect b="-15217"/>
                  </a:stretch>
                </a:blipFill>
              </p:spPr>
              <p:txBody>
                <a:bodyPr/>
                <a:lstStyle/>
                <a:p>
                  <a:r>
                    <a:rPr lang="en-US">
                      <a:noFill/>
                    </a:rPr>
                    <a:t> </a:t>
                  </a:r>
                </a:p>
              </p:txBody>
            </p:sp>
          </mc:Fallback>
        </mc:AlternateContent>
        <p:cxnSp>
          <p:nvCxnSpPr>
            <p:cNvPr id="52" name="Straight Connector 51"/>
            <p:cNvCxnSpPr/>
            <p:nvPr/>
          </p:nvCxnSpPr>
          <p:spPr>
            <a:xfrm>
              <a:off x="845820" y="4927600"/>
              <a:ext cx="406400" cy="2540"/>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698814" y="4925060"/>
              <a:ext cx="406400" cy="2540"/>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294313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5D8BF-18DA-6C7D-2886-234F623075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841519-FAFF-0AC6-418A-C898695BAF8E}"/>
              </a:ext>
            </a:extLst>
          </p:cNvPr>
          <p:cNvSpPr>
            <a:spLocks noGrp="1"/>
          </p:cNvSpPr>
          <p:nvPr>
            <p:ph type="sldNum" sz="quarter" idx="12"/>
          </p:nvPr>
        </p:nvSpPr>
        <p:spPr/>
        <p:txBody>
          <a:bodyPr/>
          <a:lstStyle/>
          <a:p>
            <a:fld id="{9BD3B4A0-BFF9-422C-B253-48BA94BE2F5B}" type="slidenum">
              <a:rPr lang="en-GB" noProof="0" smtClean="0"/>
              <a:t>50</a:t>
            </a:fld>
            <a:endParaRPr lang="en-GB" noProof="0" dirty="0"/>
          </a:p>
        </p:txBody>
      </p:sp>
      <p:sp>
        <p:nvSpPr>
          <p:cNvPr id="3" name="TextBox 2">
            <a:extLst>
              <a:ext uri="{FF2B5EF4-FFF2-40B4-BE49-F238E27FC236}">
                <a16:creationId xmlns:a16="http://schemas.microsoft.com/office/drawing/2014/main" id="{44B09F49-23A7-0ED6-805A-51477EA2B930}"/>
              </a:ext>
            </a:extLst>
          </p:cNvPr>
          <p:cNvSpPr txBox="1"/>
          <p:nvPr/>
        </p:nvSpPr>
        <p:spPr>
          <a:xfrm>
            <a:off x="0" y="-2540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7" name="Picture 6" descr="A white sheet with black text and black numbers&#10;&#10;AI-generated content may be incorrect.">
            <a:extLst>
              <a:ext uri="{FF2B5EF4-FFF2-40B4-BE49-F238E27FC236}">
                <a16:creationId xmlns:a16="http://schemas.microsoft.com/office/drawing/2014/main" id="{167085CC-B03F-CA7D-7FE8-D5D534E840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1599"/>
            <a:ext cx="5423179" cy="3329420"/>
          </a:xfrm>
          <a:prstGeom prst="rect">
            <a:avLst/>
          </a:prstGeom>
        </p:spPr>
      </p:pic>
      <p:pic>
        <p:nvPicPr>
          <p:cNvPr id="9" name="Picture 8" descr="A close-up of a questionnaire&#10;&#10;AI-generated content may be incorrect.">
            <a:extLst>
              <a:ext uri="{FF2B5EF4-FFF2-40B4-BE49-F238E27FC236}">
                <a16:creationId xmlns:a16="http://schemas.microsoft.com/office/drawing/2014/main" id="{9F6E1059-63C2-374C-93DF-49B0C9BC7F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619121"/>
            <a:ext cx="5207000" cy="3511981"/>
          </a:xfrm>
          <a:prstGeom prst="rect">
            <a:avLst/>
          </a:prstGeom>
        </p:spPr>
      </p:pic>
      <p:pic>
        <p:nvPicPr>
          <p:cNvPr id="11" name="Picture 10" descr="A graphing of a mathematical equation&#10;&#10;AI-generated content may be incorrect.">
            <a:extLst>
              <a:ext uri="{FF2B5EF4-FFF2-40B4-BE49-F238E27FC236}">
                <a16:creationId xmlns:a16="http://schemas.microsoft.com/office/drawing/2014/main" id="{D0110DB8-79A7-4261-20DB-C3EE0FC37D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9701" y="7169204"/>
            <a:ext cx="5067300" cy="2637125"/>
          </a:xfrm>
          <a:prstGeom prst="rect">
            <a:avLst/>
          </a:prstGeom>
        </p:spPr>
      </p:pic>
      <p:cxnSp>
        <p:nvCxnSpPr>
          <p:cNvPr id="13" name="Straight Connector 12">
            <a:extLst>
              <a:ext uri="{FF2B5EF4-FFF2-40B4-BE49-F238E27FC236}">
                <a16:creationId xmlns:a16="http://schemas.microsoft.com/office/drawing/2014/main" id="{B596D434-D7BF-21FB-EA7D-0A1CFB0DF302}"/>
              </a:ext>
            </a:extLst>
          </p:cNvPr>
          <p:cNvCxnSpPr/>
          <p:nvPr/>
        </p:nvCxnSpPr>
        <p:spPr>
          <a:xfrm>
            <a:off x="0" y="3619121"/>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589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A3FD83-73AA-60D6-25A6-087351205E6E}"/>
              </a:ext>
            </a:extLst>
          </p:cNvPr>
          <p:cNvSpPr>
            <a:spLocks noGrp="1"/>
          </p:cNvSpPr>
          <p:nvPr>
            <p:ph type="sldNum" sz="quarter" idx="12"/>
          </p:nvPr>
        </p:nvSpPr>
        <p:spPr/>
        <p:txBody>
          <a:bodyPr/>
          <a:lstStyle/>
          <a:p>
            <a:fld id="{9BD3B4A0-BFF9-422C-B253-48BA94BE2F5B}" type="slidenum">
              <a:rPr lang="en-GB" noProof="0" smtClean="0"/>
              <a:t>51</a:t>
            </a:fld>
            <a:endParaRPr lang="en-GB" noProof="0" dirty="0"/>
          </a:p>
        </p:txBody>
      </p:sp>
      <p:pic>
        <p:nvPicPr>
          <p:cNvPr id="4" name="Picture 3" descr="A white paper with black text&#10;&#10;AI-generated content may be incorrect.">
            <a:extLst>
              <a:ext uri="{FF2B5EF4-FFF2-40B4-BE49-F238E27FC236}">
                <a16:creationId xmlns:a16="http://schemas.microsoft.com/office/drawing/2014/main" id="{C29B4050-F7B5-2448-838E-F2394AC7E0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129760" cy="2717800"/>
          </a:xfrm>
          <a:prstGeom prst="rect">
            <a:avLst/>
          </a:prstGeom>
        </p:spPr>
      </p:pic>
      <p:pic>
        <p:nvPicPr>
          <p:cNvPr id="6" name="Picture 5" descr="A white background with black lines&#10;&#10;AI-generated content may be incorrect.">
            <a:extLst>
              <a:ext uri="{FF2B5EF4-FFF2-40B4-BE49-F238E27FC236}">
                <a16:creationId xmlns:a16="http://schemas.microsoft.com/office/drawing/2014/main" id="{357ED945-92F7-2E30-DA83-9938E02C7D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70906"/>
            <a:ext cx="4934910" cy="3296493"/>
          </a:xfrm>
          <a:prstGeom prst="rect">
            <a:avLst/>
          </a:prstGeom>
        </p:spPr>
      </p:pic>
      <p:pic>
        <p:nvPicPr>
          <p:cNvPr id="8" name="Picture 7" descr="A white sheet with black text&#10;&#10;AI-generated content may be incorrect.">
            <a:extLst>
              <a:ext uri="{FF2B5EF4-FFF2-40B4-BE49-F238E27FC236}">
                <a16:creationId xmlns:a16="http://schemas.microsoft.com/office/drawing/2014/main" id="{41B63DD5-CA29-9E62-0395-7C066E71DB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521" y="6070510"/>
            <a:ext cx="5019106" cy="3733890"/>
          </a:xfrm>
          <a:prstGeom prst="rect">
            <a:avLst/>
          </a:prstGeom>
        </p:spPr>
      </p:pic>
      <p:cxnSp>
        <p:nvCxnSpPr>
          <p:cNvPr id="9" name="Straight Connector 8">
            <a:extLst>
              <a:ext uri="{FF2B5EF4-FFF2-40B4-BE49-F238E27FC236}">
                <a16:creationId xmlns:a16="http://schemas.microsoft.com/office/drawing/2014/main" id="{AAECBC92-8FF7-2B6A-B259-00CD234EFAB4}"/>
              </a:ext>
            </a:extLst>
          </p:cNvPr>
          <p:cNvCxnSpPr/>
          <p:nvPr/>
        </p:nvCxnSpPr>
        <p:spPr>
          <a:xfrm>
            <a:off x="0" y="5867399"/>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38727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97915C-FA14-D7E9-7C4F-FB75BED55975}"/>
              </a:ext>
            </a:extLst>
          </p:cNvPr>
          <p:cNvSpPr>
            <a:spLocks noGrp="1"/>
          </p:cNvSpPr>
          <p:nvPr>
            <p:ph type="sldNum" sz="quarter" idx="12"/>
          </p:nvPr>
        </p:nvSpPr>
        <p:spPr/>
        <p:txBody>
          <a:bodyPr/>
          <a:lstStyle/>
          <a:p>
            <a:fld id="{9BD3B4A0-BFF9-422C-B253-48BA94BE2F5B}" type="slidenum">
              <a:rPr lang="en-GB" noProof="0" smtClean="0"/>
              <a:t>52</a:t>
            </a:fld>
            <a:endParaRPr lang="en-GB" noProof="0" dirty="0"/>
          </a:p>
        </p:txBody>
      </p:sp>
      <p:pic>
        <p:nvPicPr>
          <p:cNvPr id="4" name="Picture 3" descr="A white sheet with black text&#10;&#10;AI-generated content may be incorrect.">
            <a:extLst>
              <a:ext uri="{FF2B5EF4-FFF2-40B4-BE49-F238E27FC236}">
                <a16:creationId xmlns:a16="http://schemas.microsoft.com/office/drawing/2014/main" id="{15933E0B-A7CA-9577-B5B8-9111485B25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66" y="0"/>
            <a:ext cx="5800569" cy="4229100"/>
          </a:xfrm>
          <a:prstGeom prst="rect">
            <a:avLst/>
          </a:prstGeom>
        </p:spPr>
      </p:pic>
      <p:pic>
        <p:nvPicPr>
          <p:cNvPr id="6" name="Picture 5" descr="A white sheet with black text&#10;&#10;AI-generated content may be incorrect.">
            <a:extLst>
              <a:ext uri="{FF2B5EF4-FFF2-40B4-BE49-F238E27FC236}">
                <a16:creationId xmlns:a16="http://schemas.microsoft.com/office/drawing/2014/main" id="{E31903B7-2771-F1AD-BAF9-9A757B1C50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379147"/>
            <a:ext cx="5800569" cy="5220512"/>
          </a:xfrm>
          <a:prstGeom prst="rect">
            <a:avLst/>
          </a:prstGeom>
        </p:spPr>
      </p:pic>
      <p:cxnSp>
        <p:nvCxnSpPr>
          <p:cNvPr id="7" name="Straight Connector 6">
            <a:extLst>
              <a:ext uri="{FF2B5EF4-FFF2-40B4-BE49-F238E27FC236}">
                <a16:creationId xmlns:a16="http://schemas.microsoft.com/office/drawing/2014/main" id="{F534111A-B322-5F38-B1FF-4523177CB01B}"/>
              </a:ext>
            </a:extLst>
          </p:cNvPr>
          <p:cNvCxnSpPr/>
          <p:nvPr/>
        </p:nvCxnSpPr>
        <p:spPr>
          <a:xfrm>
            <a:off x="0" y="4379147"/>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69217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B4F43E-7364-1FE8-D7FA-7AFC9DC93D9E}"/>
              </a:ext>
            </a:extLst>
          </p:cNvPr>
          <p:cNvSpPr>
            <a:spLocks noGrp="1"/>
          </p:cNvSpPr>
          <p:nvPr>
            <p:ph type="sldNum" sz="quarter" idx="12"/>
          </p:nvPr>
        </p:nvSpPr>
        <p:spPr/>
        <p:txBody>
          <a:bodyPr/>
          <a:lstStyle/>
          <a:p>
            <a:fld id="{9BD3B4A0-BFF9-422C-B253-48BA94BE2F5B}" type="slidenum">
              <a:rPr lang="en-GB" noProof="0" smtClean="0"/>
              <a:t>53</a:t>
            </a:fld>
            <a:endParaRPr lang="en-GB" noProof="0" dirty="0"/>
          </a:p>
        </p:txBody>
      </p:sp>
      <p:pic>
        <p:nvPicPr>
          <p:cNvPr id="4" name="Picture 3" descr="A white paper with black text&#10;&#10;AI-generated content may be incorrect.">
            <a:extLst>
              <a:ext uri="{FF2B5EF4-FFF2-40B4-BE49-F238E27FC236}">
                <a16:creationId xmlns:a16="http://schemas.microsoft.com/office/drawing/2014/main" id="{54E01A05-F162-F39D-63F6-B4484112DE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384800" cy="4624982"/>
          </a:xfrm>
          <a:prstGeom prst="rect">
            <a:avLst/>
          </a:prstGeom>
        </p:spPr>
      </p:pic>
      <p:pic>
        <p:nvPicPr>
          <p:cNvPr id="6" name="Picture 5" descr="A white sheet with black text&#10;&#10;AI-generated content may be incorrect.">
            <a:extLst>
              <a:ext uri="{FF2B5EF4-FFF2-40B4-BE49-F238E27FC236}">
                <a16:creationId xmlns:a16="http://schemas.microsoft.com/office/drawing/2014/main" id="{6DDCA63B-E860-5EFD-C2BF-3C1393C6CD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77262"/>
            <a:ext cx="5851356" cy="4873138"/>
          </a:xfrm>
          <a:prstGeom prst="rect">
            <a:avLst/>
          </a:prstGeom>
        </p:spPr>
      </p:pic>
      <p:cxnSp>
        <p:nvCxnSpPr>
          <p:cNvPr id="7" name="Straight Connector 6">
            <a:extLst>
              <a:ext uri="{FF2B5EF4-FFF2-40B4-BE49-F238E27FC236}">
                <a16:creationId xmlns:a16="http://schemas.microsoft.com/office/drawing/2014/main" id="{EFAA3483-BF42-4786-FB7E-FEF453CF8DB4}"/>
              </a:ext>
            </a:extLst>
          </p:cNvPr>
          <p:cNvCxnSpPr/>
          <p:nvPr/>
        </p:nvCxnSpPr>
        <p:spPr>
          <a:xfrm>
            <a:off x="0" y="4624982"/>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24676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paper with black lines and numbers&#10;&#10;AI-generated content may be incorrect.">
            <a:extLst>
              <a:ext uri="{FF2B5EF4-FFF2-40B4-BE49-F238E27FC236}">
                <a16:creationId xmlns:a16="http://schemas.microsoft.com/office/drawing/2014/main" id="{F8F07509-A6AA-1E2E-C60B-DD8DE809F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47181"/>
            <a:ext cx="5194300" cy="5391553"/>
          </a:xfrm>
          <a:prstGeom prst="rect">
            <a:avLst/>
          </a:prstGeom>
        </p:spPr>
      </p:pic>
      <p:sp>
        <p:nvSpPr>
          <p:cNvPr id="2" name="Slide Number Placeholder 1">
            <a:extLst>
              <a:ext uri="{FF2B5EF4-FFF2-40B4-BE49-F238E27FC236}">
                <a16:creationId xmlns:a16="http://schemas.microsoft.com/office/drawing/2014/main" id="{72AD3106-3D4B-18D1-5A09-3D3114541EB0}"/>
              </a:ext>
            </a:extLst>
          </p:cNvPr>
          <p:cNvSpPr>
            <a:spLocks noGrp="1"/>
          </p:cNvSpPr>
          <p:nvPr>
            <p:ph type="sldNum" sz="quarter" idx="12"/>
          </p:nvPr>
        </p:nvSpPr>
        <p:spPr/>
        <p:txBody>
          <a:bodyPr/>
          <a:lstStyle/>
          <a:p>
            <a:fld id="{9BD3B4A0-BFF9-422C-B253-48BA94BE2F5B}" type="slidenum">
              <a:rPr lang="en-GB" noProof="0" smtClean="0"/>
              <a:t>54</a:t>
            </a:fld>
            <a:endParaRPr lang="en-GB" noProof="0" dirty="0"/>
          </a:p>
        </p:txBody>
      </p:sp>
      <p:pic>
        <p:nvPicPr>
          <p:cNvPr id="4" name="Picture 3" descr="A group of math equations&#10;&#10;AI-generated content may be incorrect.">
            <a:extLst>
              <a:ext uri="{FF2B5EF4-FFF2-40B4-BE49-F238E27FC236}">
                <a16:creationId xmlns:a16="http://schemas.microsoft.com/office/drawing/2014/main" id="{1CDF0C61-43CD-F841-2314-94BB32DB9A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619083" cy="4305300"/>
          </a:xfrm>
          <a:prstGeom prst="rect">
            <a:avLst/>
          </a:prstGeom>
        </p:spPr>
      </p:pic>
      <p:cxnSp>
        <p:nvCxnSpPr>
          <p:cNvPr id="5" name="Straight Connector 4">
            <a:extLst>
              <a:ext uri="{FF2B5EF4-FFF2-40B4-BE49-F238E27FC236}">
                <a16:creationId xmlns:a16="http://schemas.microsoft.com/office/drawing/2014/main" id="{9C4009F7-9819-4EDE-571D-7805AB66AED7}"/>
              </a:ext>
            </a:extLst>
          </p:cNvPr>
          <p:cNvCxnSpPr/>
          <p:nvPr/>
        </p:nvCxnSpPr>
        <p:spPr>
          <a:xfrm>
            <a:off x="0" y="4447182"/>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6413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F1A3AF-9DF9-429F-95F4-AB8E1E426D51}"/>
              </a:ext>
            </a:extLst>
          </p:cNvPr>
          <p:cNvSpPr/>
          <p:nvPr/>
        </p:nvSpPr>
        <p:spPr>
          <a:xfrm>
            <a:off x="102618" y="317360"/>
            <a:ext cx="6690631" cy="12114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11" name="Rectangle 10">
            <a:extLst>
              <a:ext uri="{FF2B5EF4-FFF2-40B4-BE49-F238E27FC236}">
                <a16:creationId xmlns:a16="http://schemas.microsoft.com/office/drawing/2014/main" id="{9554F5C1-D21B-4CDE-B4FD-998FDBB2B0D6}"/>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prstClr val="white"/>
                </a:solidFill>
              </a:rPr>
              <a:t>Subtopic 6a – Iteration</a:t>
            </a:r>
            <a:endParaRPr lang="en-GB" b="1" noProof="0" dirty="0">
              <a:solidFill>
                <a:prstClr val="white"/>
              </a:solidFill>
            </a:endParaRPr>
          </a:p>
        </p:txBody>
      </p:sp>
      <p:sp>
        <p:nvSpPr>
          <p:cNvPr id="13" name="TextBox 12">
            <a:extLst>
              <a:ext uri="{FF2B5EF4-FFF2-40B4-BE49-F238E27FC236}">
                <a16:creationId xmlns:a16="http://schemas.microsoft.com/office/drawing/2014/main" id="{BEC5D410-9446-41B2-BEF5-E64D48C58308}"/>
              </a:ext>
            </a:extLst>
          </p:cNvPr>
          <p:cNvSpPr txBox="1"/>
          <p:nvPr/>
        </p:nvSpPr>
        <p:spPr>
          <a:xfrm>
            <a:off x="265577" y="780711"/>
            <a:ext cx="2647189" cy="307777"/>
          </a:xfrm>
          <a:prstGeom prst="rect">
            <a:avLst/>
          </a:prstGeom>
          <a:noFill/>
        </p:spPr>
        <p:txBody>
          <a:bodyPr wrap="square" rtlCol="0">
            <a:spAutoFit/>
          </a:bodyPr>
          <a:lstStyle/>
          <a:p>
            <a:r>
              <a:rPr lang="en-GB" sz="1400" b="1" noProof="0" dirty="0"/>
              <a:t>Objectives:</a:t>
            </a:r>
          </a:p>
        </p:txBody>
      </p:sp>
      <p:sp>
        <p:nvSpPr>
          <p:cNvPr id="59" name="TextBox 58">
            <a:extLst>
              <a:ext uri="{FF2B5EF4-FFF2-40B4-BE49-F238E27FC236}">
                <a16:creationId xmlns:a16="http://schemas.microsoft.com/office/drawing/2014/main" id="{D58F4060-A0FD-C84C-8A22-502E16E49D73}"/>
              </a:ext>
            </a:extLst>
          </p:cNvPr>
          <p:cNvSpPr txBox="1"/>
          <p:nvPr/>
        </p:nvSpPr>
        <p:spPr>
          <a:xfrm>
            <a:off x="904873" y="415516"/>
            <a:ext cx="4991042" cy="276999"/>
          </a:xfrm>
          <a:prstGeom prst="rect">
            <a:avLst/>
          </a:prstGeom>
          <a:noFill/>
          <a:ln>
            <a:solidFill>
              <a:schemeClr val="tx1"/>
            </a:solidFill>
          </a:ln>
        </p:spPr>
        <p:txBody>
          <a:bodyPr wrap="square" rtlCol="0">
            <a:spAutoFit/>
          </a:bodyPr>
          <a:lstStyle/>
          <a:p>
            <a:pPr algn="ctr"/>
            <a:r>
              <a:rPr lang="en-GB" sz="1200" noProof="0" dirty="0"/>
              <a:t>LEARNING OUTCOME:  To use iterative process to solve equations. </a:t>
            </a:r>
          </a:p>
        </p:txBody>
      </p:sp>
      <p:sp>
        <p:nvSpPr>
          <p:cNvPr id="61" name="TextBox 60">
            <a:extLst>
              <a:ext uri="{FF2B5EF4-FFF2-40B4-BE49-F238E27FC236}">
                <a16:creationId xmlns:a16="http://schemas.microsoft.com/office/drawing/2014/main" id="{AA176BCB-F2F4-854D-9A37-B7D4A0081FB0}"/>
              </a:ext>
            </a:extLst>
          </p:cNvPr>
          <p:cNvSpPr txBox="1"/>
          <p:nvPr/>
        </p:nvSpPr>
        <p:spPr>
          <a:xfrm>
            <a:off x="840920" y="1065117"/>
            <a:ext cx="3888646" cy="646331"/>
          </a:xfrm>
          <a:prstGeom prst="rect">
            <a:avLst/>
          </a:prstGeom>
          <a:noFill/>
        </p:spPr>
        <p:txBody>
          <a:bodyPr wrap="square" rtlCol="0">
            <a:spAutoFit/>
          </a:bodyPr>
          <a:lstStyle/>
          <a:p>
            <a:pPr marL="228600" indent="-228600">
              <a:buFont typeface="+mj-lt"/>
              <a:buAutoNum type="arabicPeriod"/>
              <a:defRPr/>
            </a:pPr>
            <a:r>
              <a:rPr lang="en-GB" sz="1200" noProof="0" dirty="0"/>
              <a:t>To be able to substitute using a calculator.</a:t>
            </a:r>
          </a:p>
          <a:p>
            <a:pPr marL="228600" indent="-228600">
              <a:buFont typeface="+mj-lt"/>
              <a:buAutoNum type="arabicPeriod"/>
              <a:defRPr/>
            </a:pPr>
            <a:r>
              <a:rPr lang="en-GB" sz="1200" noProof="0" dirty="0"/>
              <a:t>To be able to use iteration to solve equations. </a:t>
            </a:r>
          </a:p>
          <a:p>
            <a:pPr marL="228600" indent="-228600">
              <a:buFont typeface="+mj-lt"/>
              <a:buAutoNum type="arabicPeriod"/>
              <a:defRPr/>
            </a:pPr>
            <a:endParaRPr lang="en-GB" sz="1200" noProof="0" dirty="0"/>
          </a:p>
        </p:txBody>
      </p:sp>
      <p:sp>
        <p:nvSpPr>
          <p:cNvPr id="74" name="TextBox 73">
            <a:extLst>
              <a:ext uri="{FF2B5EF4-FFF2-40B4-BE49-F238E27FC236}">
                <a16:creationId xmlns:a16="http://schemas.microsoft.com/office/drawing/2014/main" id="{6DE260F4-7858-F54C-9B2A-3736C7864E2E}"/>
              </a:ext>
            </a:extLst>
          </p:cNvPr>
          <p:cNvSpPr txBox="1"/>
          <p:nvPr/>
        </p:nvSpPr>
        <p:spPr>
          <a:xfrm>
            <a:off x="5557718" y="882433"/>
            <a:ext cx="1235531" cy="646331"/>
          </a:xfrm>
          <a:prstGeom prst="rect">
            <a:avLst/>
          </a:prstGeom>
          <a:noFill/>
          <a:ln w="12700">
            <a:solidFill>
              <a:schemeClr val="tx1"/>
            </a:solidFill>
          </a:ln>
        </p:spPr>
        <p:txBody>
          <a:bodyPr wrap="square" rtlCol="0">
            <a:spAutoFit/>
          </a:bodyPr>
          <a:lstStyle/>
          <a:p>
            <a:r>
              <a:rPr lang="en-GB" sz="1200" b="1" u="sng" noProof="0" dirty="0"/>
              <a:t>Keywords:</a:t>
            </a:r>
          </a:p>
          <a:p>
            <a:pPr marL="171450" indent="-171450">
              <a:buFontTx/>
              <a:buChar char="-"/>
            </a:pPr>
            <a:r>
              <a:rPr lang="en-GB" sz="1200" noProof="0" dirty="0"/>
              <a:t>Sequence</a:t>
            </a:r>
          </a:p>
          <a:p>
            <a:pPr marL="171450" indent="-171450">
              <a:buFontTx/>
              <a:buChar char="-"/>
            </a:pPr>
            <a:r>
              <a:rPr lang="en-GB" sz="1200" noProof="0" dirty="0"/>
              <a:t>Iteration</a:t>
            </a:r>
          </a:p>
        </p:txBody>
      </p:sp>
      <mc:AlternateContent xmlns:mc="http://schemas.openxmlformats.org/markup-compatibility/2006" xmlns:a14="http://schemas.microsoft.com/office/drawing/2010/main">
        <mc:Choice Requires="a14">
          <p:graphicFrame>
            <p:nvGraphicFramePr>
              <p:cNvPr id="50" name="Table 49"/>
              <p:cNvGraphicFramePr>
                <a:graphicFrameLocks noGrp="1"/>
              </p:cNvGraphicFramePr>
              <p:nvPr>
                <p:extLst>
                  <p:ext uri="{D42A27DB-BD31-4B8C-83A1-F6EECF244321}">
                    <p14:modId xmlns:p14="http://schemas.microsoft.com/office/powerpoint/2010/main" val="2096239255"/>
                  </p:ext>
                </p:extLst>
              </p:nvPr>
            </p:nvGraphicFramePr>
            <p:xfrm>
              <a:off x="130331" y="5560678"/>
              <a:ext cx="6662919" cy="4335487"/>
            </p:xfrm>
            <a:graphic>
              <a:graphicData uri="http://schemas.openxmlformats.org/drawingml/2006/table">
                <a:tbl>
                  <a:tblPr firstRow="1" bandRow="1">
                    <a:tableStyleId>{5C22544A-7EE6-4342-B048-85BDC9FD1C3A}</a:tableStyleId>
                  </a:tblPr>
                  <a:tblGrid>
                    <a:gridCol w="1351410">
                      <a:extLst>
                        <a:ext uri="{9D8B030D-6E8A-4147-A177-3AD203B41FA5}">
                          <a16:colId xmlns:a16="http://schemas.microsoft.com/office/drawing/2014/main" val="1568142362"/>
                        </a:ext>
                      </a:extLst>
                    </a:gridCol>
                    <a:gridCol w="1770889">
                      <a:extLst>
                        <a:ext uri="{9D8B030D-6E8A-4147-A177-3AD203B41FA5}">
                          <a16:colId xmlns:a16="http://schemas.microsoft.com/office/drawing/2014/main" val="3551711160"/>
                        </a:ext>
                      </a:extLst>
                    </a:gridCol>
                    <a:gridCol w="1770890">
                      <a:extLst>
                        <a:ext uri="{9D8B030D-6E8A-4147-A177-3AD203B41FA5}">
                          <a16:colId xmlns:a16="http://schemas.microsoft.com/office/drawing/2014/main" val="772331842"/>
                        </a:ext>
                      </a:extLst>
                    </a:gridCol>
                    <a:gridCol w="1769730">
                      <a:extLst>
                        <a:ext uri="{9D8B030D-6E8A-4147-A177-3AD203B41FA5}">
                          <a16:colId xmlns:a16="http://schemas.microsoft.com/office/drawing/2014/main" val="1506195925"/>
                        </a:ext>
                      </a:extLst>
                    </a:gridCol>
                  </a:tblGrid>
                  <a:tr h="1776988">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GB" sz="1200" b="0" noProof="0" dirty="0">
                              <a:solidFill>
                                <a:schemeClr val="tx1"/>
                              </a:solidFill>
                            </a:rPr>
                            <a:t>A sequence is generated using the following term-to-term formula.</a:t>
                          </a:r>
                        </a:p>
                        <a:p>
                          <a:pPr algn="l"/>
                          <a14:m>
                            <m:oMath xmlns:m="http://schemas.openxmlformats.org/officeDocument/2006/math">
                              <m:sSub>
                                <m:sSubPr>
                                  <m:ctrlPr>
                                    <a:rPr lang="en-GB" sz="1200" b="0" i="1" noProof="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0</m:t>
                                  </m:r>
                                </m:sub>
                              </m:sSub>
                            </m:oMath>
                          </a14:m>
                          <a:r>
                            <a:rPr lang="en-GB" sz="1200" b="0" noProof="0" dirty="0">
                              <a:solidFill>
                                <a:schemeClr val="tx1"/>
                              </a:solidFill>
                            </a:rPr>
                            <a:t> is the first term.</a:t>
                          </a:r>
                        </a:p>
                        <a:p>
                          <a:pPr algn="l"/>
                          <a:endParaRPr lang="en-GB" sz="1200" b="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0</m:t>
                                    </m:r>
                                  </m:sub>
                                </m:sSub>
                                <m:r>
                                  <a:rPr lang="en-GB" sz="1200" b="0" i="1" noProof="0" smtClean="0">
                                    <a:solidFill>
                                      <a:schemeClr val="tx1"/>
                                    </a:solidFill>
                                    <a:latin typeface="Cambria Math" panose="02040503050406030204" pitchFamily="18" charset="0"/>
                                  </a:rPr>
                                  <m:t>=3,  </m:t>
                                </m:r>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r>
                                      <a:rPr lang="en-GB" sz="1200" b="0" i="1" noProof="0" smtClean="0">
                                        <a:solidFill>
                                          <a:schemeClr val="tx1"/>
                                        </a:solidFill>
                                        <a:latin typeface="Cambria Math" panose="02040503050406030204" pitchFamily="18" charset="0"/>
                                      </a:rPr>
                                      <m:t>+1</m:t>
                                    </m:r>
                                  </m:sub>
                                </m:sSub>
                                <m:r>
                                  <a:rPr lang="en-GB" sz="1200" b="0" i="1" noProof="0" smtClean="0">
                                    <a:solidFill>
                                      <a:schemeClr val="tx1"/>
                                    </a:solidFill>
                                    <a:latin typeface="Cambria Math" panose="02040503050406030204" pitchFamily="18" charset="0"/>
                                  </a:rPr>
                                  <m:t>=</m:t>
                                </m:r>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sub>
                                </m:sSub>
                                <m:r>
                                  <a:rPr lang="en-GB" sz="1200" b="0" i="1" noProof="0" smtClean="0">
                                    <a:solidFill>
                                      <a:schemeClr val="tx1"/>
                                    </a:solidFill>
                                    <a:latin typeface="Cambria Math" panose="02040503050406030204" pitchFamily="18" charset="0"/>
                                  </a:rPr>
                                  <m:t>+2</m:t>
                                </m:r>
                              </m:oMath>
                            </m:oMathPara>
                          </a14:m>
                          <a:endParaRPr lang="en-GB" sz="1200" b="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Find the first 3 terms in the sequence.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GB" sz="1200" b="0" noProof="0" dirty="0">
                              <a:solidFill>
                                <a:schemeClr val="tx1"/>
                              </a:solidFill>
                            </a:rPr>
                            <a:t>A sequence is generated using the following term-to-term formula.</a:t>
                          </a:r>
                        </a:p>
                        <a:p>
                          <a:pPr algn="l"/>
                          <a14:m>
                            <m:oMath xmlns:m="http://schemas.openxmlformats.org/officeDocument/2006/math">
                              <m:sSub>
                                <m:sSubPr>
                                  <m:ctrlPr>
                                    <a:rPr lang="en-GB" sz="1200" b="0" i="1" noProof="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0</m:t>
                                  </m:r>
                                </m:sub>
                              </m:sSub>
                            </m:oMath>
                          </a14:m>
                          <a:r>
                            <a:rPr lang="en-GB" sz="1200" b="0" noProof="0" dirty="0">
                              <a:solidFill>
                                <a:schemeClr val="tx1"/>
                              </a:solidFill>
                            </a:rPr>
                            <a:t> is the first term.</a:t>
                          </a:r>
                        </a:p>
                        <a:p>
                          <a:pPr algn="l"/>
                          <a:endParaRPr lang="en-GB" sz="1200" b="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0</m:t>
                                    </m:r>
                                  </m:sub>
                                </m:sSub>
                                <m:r>
                                  <a:rPr lang="en-GB" sz="1200" b="0" i="1" noProof="0" smtClean="0">
                                    <a:solidFill>
                                      <a:schemeClr val="tx1"/>
                                    </a:solidFill>
                                    <a:latin typeface="Cambria Math" panose="02040503050406030204" pitchFamily="18" charset="0"/>
                                  </a:rPr>
                                  <m:t>=3,  </m:t>
                                </m:r>
                              </m:oMath>
                            </m:oMathPara>
                          </a14:m>
                          <a:endParaRPr lang="en-GB" sz="1200" b="0" i="1" noProof="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r>
                                      <a:rPr lang="en-GB" sz="1200" b="0" i="1" noProof="0" smtClean="0">
                                        <a:solidFill>
                                          <a:schemeClr val="tx1"/>
                                        </a:solidFill>
                                        <a:latin typeface="Cambria Math" panose="02040503050406030204" pitchFamily="18" charset="0"/>
                                      </a:rPr>
                                      <m:t>+1</m:t>
                                    </m:r>
                                  </m:sub>
                                </m:sSub>
                                <m:r>
                                  <a:rPr lang="en-GB" sz="1200" b="0" i="1" noProof="0" smtClean="0">
                                    <a:solidFill>
                                      <a:schemeClr val="tx1"/>
                                    </a:solidFill>
                                    <a:latin typeface="Cambria Math" panose="02040503050406030204" pitchFamily="18" charset="0"/>
                                  </a:rPr>
                                  <m:t>=</m:t>
                                </m:r>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sub>
                                </m:sSub>
                                <m:r>
                                  <a:rPr lang="en-GB" sz="1200" b="0" i="1" noProof="0" smtClean="0">
                                    <a:solidFill>
                                      <a:schemeClr val="tx1"/>
                                    </a:solidFill>
                                    <a:latin typeface="Cambria Math" panose="02040503050406030204" pitchFamily="18" charset="0"/>
                                  </a:rPr>
                                  <m:t>−5</m:t>
                                </m:r>
                              </m:oMath>
                            </m:oMathPara>
                          </a14:m>
                          <a:endParaRPr lang="en-GB" sz="1200" b="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Find the first 3 terms in the sequence.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GB" sz="1200" b="0" noProof="0" dirty="0">
                              <a:solidFill>
                                <a:schemeClr val="tx1"/>
                              </a:solidFill>
                            </a:rPr>
                            <a:t>A sequence is generated using the following term-to-term formula.</a:t>
                          </a:r>
                        </a:p>
                        <a:p>
                          <a:pPr algn="l"/>
                          <a14:m>
                            <m:oMath xmlns:m="http://schemas.openxmlformats.org/officeDocument/2006/math">
                              <m:sSub>
                                <m:sSubPr>
                                  <m:ctrlPr>
                                    <a:rPr lang="en-GB" sz="1200" b="0" i="1" noProof="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0</m:t>
                                  </m:r>
                                </m:sub>
                              </m:sSub>
                            </m:oMath>
                          </a14:m>
                          <a:r>
                            <a:rPr lang="en-GB" sz="1200" b="0" noProof="0" dirty="0">
                              <a:solidFill>
                                <a:schemeClr val="tx1"/>
                              </a:solidFill>
                            </a:rPr>
                            <a:t> is the first term.</a:t>
                          </a:r>
                        </a:p>
                        <a:p>
                          <a:pPr algn="l"/>
                          <a:endParaRPr lang="en-GB" sz="1200" b="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0</m:t>
                                    </m:r>
                                  </m:sub>
                                </m:sSub>
                                <m:r>
                                  <a:rPr lang="en-GB" sz="1200" b="0" i="1" noProof="0" smtClean="0">
                                    <a:solidFill>
                                      <a:schemeClr val="tx1"/>
                                    </a:solidFill>
                                    <a:latin typeface="Cambria Math" panose="02040503050406030204" pitchFamily="18" charset="0"/>
                                  </a:rPr>
                                  <m:t>=3,  </m:t>
                                </m:r>
                              </m:oMath>
                            </m:oMathPara>
                          </a14:m>
                          <a:endParaRPr lang="en-GB" sz="1200" b="0" i="1" noProof="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r>
                                      <a:rPr lang="en-GB" sz="1200" b="0" i="1" noProof="0" smtClean="0">
                                        <a:solidFill>
                                          <a:schemeClr val="tx1"/>
                                        </a:solidFill>
                                        <a:latin typeface="Cambria Math" panose="02040503050406030204" pitchFamily="18" charset="0"/>
                                      </a:rPr>
                                      <m:t>+1</m:t>
                                    </m:r>
                                  </m:sub>
                                </m:sSub>
                                <m:r>
                                  <a:rPr lang="en-GB" sz="1200" b="0" i="1" noProof="0" smtClean="0">
                                    <a:solidFill>
                                      <a:schemeClr val="tx1"/>
                                    </a:solidFill>
                                    <a:latin typeface="Cambria Math" panose="02040503050406030204" pitchFamily="18" charset="0"/>
                                  </a:rPr>
                                  <m:t>=</m:t>
                                </m:r>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sub>
                                </m:sSub>
                                <m:r>
                                  <a:rPr lang="en-GB" sz="1200" b="0" i="1" noProof="0" smtClean="0">
                                    <a:solidFill>
                                      <a:schemeClr val="tx1"/>
                                    </a:solidFill>
                                    <a:latin typeface="Cambria Math" panose="02040503050406030204" pitchFamily="18" charset="0"/>
                                  </a:rPr>
                                  <m:t>+10</m:t>
                                </m:r>
                              </m:oMath>
                            </m:oMathPara>
                          </a14:m>
                          <a:endParaRPr lang="en-GB" sz="1200" b="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Find the first 3 terms in the sequence.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673660">
                    <a:tc>
                      <a:txBody>
                        <a:bodyPr/>
                        <a:lstStyle/>
                        <a:p>
                          <a:r>
                            <a:rPr lang="en-GB" sz="1200" noProof="0" dirty="0"/>
                            <a:t>Write </a:t>
                          </a:r>
                          <a14:m>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0</m:t>
                                  </m:r>
                                </m:sub>
                              </m:sSub>
                            </m:oMath>
                          </a14:m>
                          <a:r>
                            <a:rPr lang="en-GB" sz="1200" noProof="0" dirty="0"/>
                            <a:t> into your calculator and click equals.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61566">
                    <a:tc>
                      <a:txBody>
                        <a:bodyPr/>
                        <a:lstStyle/>
                        <a:p>
                          <a:r>
                            <a:rPr lang="en-GB" sz="1200" noProof="0" dirty="0"/>
                            <a:t>Type</a:t>
                          </a:r>
                          <a:r>
                            <a:rPr lang="en-GB" sz="1200" baseline="0" noProof="0" dirty="0"/>
                            <a:t> out the formula and substitute ANS for </a:t>
                          </a:r>
                          <a14:m>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sub>
                              </m:sSub>
                            </m:oMath>
                          </a14:m>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918627">
                    <a:tc>
                      <a:txBody>
                        <a:bodyPr/>
                        <a:lstStyle/>
                        <a:p>
                          <a:r>
                            <a:rPr lang="en-GB" sz="1200" noProof="0" dirty="0"/>
                            <a:t>Click</a:t>
                          </a:r>
                          <a:r>
                            <a:rPr lang="en-GB" sz="1200" baseline="0" noProof="0" dirty="0"/>
                            <a:t> equals </a:t>
                          </a:r>
                          <a14:m>
                            <m:oMath xmlns:m="http://schemas.openxmlformats.org/officeDocument/2006/math">
                              <m:r>
                                <a:rPr lang="en-GB" sz="1200" b="0" i="1" baseline="0" noProof="0" smtClean="0">
                                  <a:latin typeface="Cambria Math" panose="02040503050406030204" pitchFamily="18" charset="0"/>
                                </a:rPr>
                                <m:t>𝑛</m:t>
                              </m:r>
                            </m:oMath>
                          </a14:m>
                          <a:r>
                            <a:rPr lang="en-GB" sz="1200" noProof="0" dirty="0"/>
                            <a:t> times,</a:t>
                          </a:r>
                          <a:r>
                            <a:rPr lang="en-GB" sz="1200" baseline="0" noProof="0" dirty="0"/>
                            <a:t> writing each output down</a:t>
                          </a: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Choice>
        <mc:Fallback xmlns="">
          <p:graphicFrame>
            <p:nvGraphicFramePr>
              <p:cNvPr id="50" name="Table 49"/>
              <p:cNvGraphicFramePr>
                <a:graphicFrameLocks noGrp="1"/>
              </p:cNvGraphicFramePr>
              <p:nvPr>
                <p:extLst>
                  <p:ext uri="{D42A27DB-BD31-4B8C-83A1-F6EECF244321}">
                    <p14:modId xmlns:p14="http://schemas.microsoft.com/office/powerpoint/2010/main" val="2096239255"/>
                  </p:ext>
                </p:extLst>
              </p:nvPr>
            </p:nvGraphicFramePr>
            <p:xfrm>
              <a:off x="130331" y="5560678"/>
              <a:ext cx="6662919" cy="4335487"/>
            </p:xfrm>
            <a:graphic>
              <a:graphicData uri="http://schemas.openxmlformats.org/drawingml/2006/table">
                <a:tbl>
                  <a:tblPr firstRow="1" bandRow="1">
                    <a:tableStyleId>{5C22544A-7EE6-4342-B048-85BDC9FD1C3A}</a:tableStyleId>
                  </a:tblPr>
                  <a:tblGrid>
                    <a:gridCol w="1351410">
                      <a:extLst>
                        <a:ext uri="{9D8B030D-6E8A-4147-A177-3AD203B41FA5}">
                          <a16:colId xmlns:a16="http://schemas.microsoft.com/office/drawing/2014/main" val="1568142362"/>
                        </a:ext>
                      </a:extLst>
                    </a:gridCol>
                    <a:gridCol w="1770889">
                      <a:extLst>
                        <a:ext uri="{9D8B030D-6E8A-4147-A177-3AD203B41FA5}">
                          <a16:colId xmlns:a16="http://schemas.microsoft.com/office/drawing/2014/main" val="3551711160"/>
                        </a:ext>
                      </a:extLst>
                    </a:gridCol>
                    <a:gridCol w="1770890">
                      <a:extLst>
                        <a:ext uri="{9D8B030D-6E8A-4147-A177-3AD203B41FA5}">
                          <a16:colId xmlns:a16="http://schemas.microsoft.com/office/drawing/2014/main" val="772331842"/>
                        </a:ext>
                      </a:extLst>
                    </a:gridCol>
                    <a:gridCol w="1769730">
                      <a:extLst>
                        <a:ext uri="{9D8B030D-6E8A-4147-A177-3AD203B41FA5}">
                          <a16:colId xmlns:a16="http://schemas.microsoft.com/office/drawing/2014/main" val="1506195925"/>
                        </a:ext>
                      </a:extLst>
                    </a:gridCol>
                  </a:tblGrid>
                  <a:tr h="192024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6632" t="-317" r="-200344" b="-126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7241" t="-317" r="-101034" b="-126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6289" t="-317" r="-687" b="-126667"/>
                          </a:stretch>
                        </a:blipFill>
                      </a:tcPr>
                    </a:tc>
                    <a:extLst>
                      <a:ext uri="{0D108BD9-81ED-4DB2-BD59-A6C34878D82A}">
                        <a16:rowId xmlns:a16="http://schemas.microsoft.com/office/drawing/2014/main" val="2357201933"/>
                      </a:ext>
                    </a:extLst>
                  </a:tr>
                  <a:tr h="6736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0" t="-284685" r="-393694" b="-259459"/>
                          </a:stretch>
                        </a:blip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229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0" t="-316296" r="-393694" b="-113333"/>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91862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0" t="-372185" r="-393694" b="-1325"/>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Fallback>
      </mc:AlternateContent>
      <p:sp>
        <p:nvSpPr>
          <p:cNvPr id="52" name="TextBox 51">
            <a:extLst>
              <a:ext uri="{FF2B5EF4-FFF2-40B4-BE49-F238E27FC236}">
                <a16:creationId xmlns:a16="http://schemas.microsoft.com/office/drawing/2014/main" id="{EA4FD2D9-8D23-4ADE-B70E-F386FDED2BED}"/>
              </a:ext>
            </a:extLst>
          </p:cNvPr>
          <p:cNvSpPr txBox="1"/>
          <p:nvPr/>
        </p:nvSpPr>
        <p:spPr>
          <a:xfrm>
            <a:off x="5277958" y="5288095"/>
            <a:ext cx="1498808" cy="276999"/>
          </a:xfrm>
          <a:prstGeom prst="rect">
            <a:avLst/>
          </a:prstGeom>
          <a:noFill/>
          <a:ln>
            <a:noFill/>
          </a:ln>
        </p:spPr>
        <p:txBody>
          <a:bodyPr wrap="none" rtlCol="0">
            <a:spAutoFit/>
          </a:bodyPr>
          <a:lstStyle/>
          <a:p>
            <a:r>
              <a:rPr lang="en-GB" sz="1200" b="1" i="1" noProof="0" dirty="0">
                <a:solidFill>
                  <a:srgbClr val="00B050"/>
                </a:solidFill>
              </a:rPr>
              <a:t>Example 3 - You do…</a:t>
            </a:r>
          </a:p>
        </p:txBody>
      </p:sp>
      <p:sp>
        <p:nvSpPr>
          <p:cNvPr id="53" name="TextBox 52">
            <a:extLst>
              <a:ext uri="{FF2B5EF4-FFF2-40B4-BE49-F238E27FC236}">
                <a16:creationId xmlns:a16="http://schemas.microsoft.com/office/drawing/2014/main" id="{08E67FA9-518E-48EE-9C3C-DC43DA12711A}"/>
              </a:ext>
            </a:extLst>
          </p:cNvPr>
          <p:cNvSpPr txBox="1"/>
          <p:nvPr/>
        </p:nvSpPr>
        <p:spPr>
          <a:xfrm>
            <a:off x="3253777" y="5303414"/>
            <a:ext cx="1475789" cy="276999"/>
          </a:xfrm>
          <a:prstGeom prst="rect">
            <a:avLst/>
          </a:prstGeom>
          <a:noFill/>
          <a:ln>
            <a:noFill/>
          </a:ln>
        </p:spPr>
        <p:txBody>
          <a:bodyPr wrap="none" rtlCol="0">
            <a:spAutoFit/>
          </a:bodyPr>
          <a:lstStyle/>
          <a:p>
            <a:r>
              <a:rPr lang="en-GB" sz="1200" b="1" i="1" noProof="0" dirty="0">
                <a:solidFill>
                  <a:schemeClr val="accent2"/>
                </a:solidFill>
              </a:rPr>
              <a:t>Example 2 - We do…</a:t>
            </a:r>
          </a:p>
        </p:txBody>
      </p:sp>
      <p:sp>
        <p:nvSpPr>
          <p:cNvPr id="54" name="TextBox 53">
            <a:extLst>
              <a:ext uri="{FF2B5EF4-FFF2-40B4-BE49-F238E27FC236}">
                <a16:creationId xmlns:a16="http://schemas.microsoft.com/office/drawing/2014/main" id="{0C5FDE3F-DC2A-468E-BF61-F69BF8BB2775}"/>
              </a:ext>
            </a:extLst>
          </p:cNvPr>
          <p:cNvSpPr txBox="1"/>
          <p:nvPr/>
        </p:nvSpPr>
        <p:spPr>
          <a:xfrm>
            <a:off x="1521032" y="5318768"/>
            <a:ext cx="1273234" cy="276999"/>
          </a:xfrm>
          <a:prstGeom prst="rect">
            <a:avLst/>
          </a:prstGeom>
          <a:noFill/>
          <a:ln>
            <a:noFill/>
          </a:ln>
        </p:spPr>
        <p:txBody>
          <a:bodyPr wrap="none" rtlCol="0">
            <a:spAutoFit/>
          </a:bodyPr>
          <a:lstStyle/>
          <a:p>
            <a:r>
              <a:rPr lang="en-GB" sz="1200" b="1" i="1" noProof="0" dirty="0">
                <a:solidFill>
                  <a:srgbClr val="FF0000"/>
                </a:solidFill>
              </a:rPr>
              <a:t>Example 1- I do…</a:t>
            </a:r>
          </a:p>
        </p:txBody>
      </p:sp>
      <p:sp>
        <p:nvSpPr>
          <p:cNvPr id="21" name="Slide Number Placeholder 16"/>
          <p:cNvSpPr txBox="1">
            <a:spLocks/>
          </p:cNvSpPr>
          <p:nvPr/>
        </p:nvSpPr>
        <p:spPr>
          <a:xfrm>
            <a:off x="5403586" y="9501628"/>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55</a:t>
            </a:fld>
            <a:endParaRPr lang="en-GB" noProof="0" dirty="0"/>
          </a:p>
        </p:txBody>
      </p:sp>
      <p:cxnSp>
        <p:nvCxnSpPr>
          <p:cNvPr id="22" name="Straight Connector 21">
            <a:extLst>
              <a:ext uri="{FF2B5EF4-FFF2-40B4-BE49-F238E27FC236}">
                <a16:creationId xmlns:a16="http://schemas.microsoft.com/office/drawing/2014/main" id="{FE7EDCC2-ABAA-434F-8C0E-6C3A1F76BAE7}"/>
              </a:ext>
            </a:extLst>
          </p:cNvPr>
          <p:cNvCxnSpPr/>
          <p:nvPr/>
        </p:nvCxnSpPr>
        <p:spPr>
          <a:xfrm flipV="1">
            <a:off x="7999084" y="3774497"/>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7144403" y="2014149"/>
            <a:ext cx="6654033" cy="216430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24" name="Straight Connector 23"/>
          <p:cNvCxnSpPr/>
          <p:nvPr/>
        </p:nvCxnSpPr>
        <p:spPr>
          <a:xfrm>
            <a:off x="7150774" y="3117850"/>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p:cNvCxnSpPr>
            <a:cxnSpLocks/>
            <a:stCxn id="23" idx="2"/>
            <a:endCxn id="23" idx="0"/>
          </p:cNvCxnSpPr>
          <p:nvPr/>
        </p:nvCxnSpPr>
        <p:spPr>
          <a:xfrm flipV="1">
            <a:off x="10471420" y="2014149"/>
            <a:ext cx="0" cy="2164305"/>
          </a:xfrm>
          <a:prstGeom prst="line">
            <a:avLst/>
          </a:prstGeom>
        </p:spPr>
        <p:style>
          <a:lnRef idx="1">
            <a:schemeClr val="dk1"/>
          </a:lnRef>
          <a:fillRef idx="0">
            <a:schemeClr val="dk1"/>
          </a:fillRef>
          <a:effectRef idx="0">
            <a:schemeClr val="dk1"/>
          </a:effectRef>
          <a:fontRef idx="minor">
            <a:schemeClr val="tx1"/>
          </a:fontRef>
        </p:style>
      </p:cxnSp>
      <p:sp>
        <p:nvSpPr>
          <p:cNvPr id="26" name="TextBox 25"/>
          <p:cNvSpPr txBox="1"/>
          <p:nvPr/>
        </p:nvSpPr>
        <p:spPr>
          <a:xfrm>
            <a:off x="7162158" y="2004771"/>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27" name="TextBox 26"/>
          <p:cNvSpPr txBox="1"/>
          <p:nvPr/>
        </p:nvSpPr>
        <p:spPr>
          <a:xfrm>
            <a:off x="12686209" y="1972385"/>
            <a:ext cx="1112228" cy="276999"/>
          </a:xfrm>
          <a:prstGeom prst="rect">
            <a:avLst/>
          </a:prstGeom>
          <a:noFill/>
        </p:spPr>
        <p:txBody>
          <a:bodyPr wrap="none" rtlCol="0">
            <a:spAutoFit/>
          </a:bodyPr>
          <a:lstStyle/>
          <a:p>
            <a:r>
              <a:rPr lang="en-GB" sz="1200" b="1" noProof="0" dirty="0"/>
              <a:t>Characteristics</a:t>
            </a:r>
          </a:p>
        </p:txBody>
      </p:sp>
      <p:sp>
        <p:nvSpPr>
          <p:cNvPr id="28" name="TextBox 27"/>
          <p:cNvSpPr txBox="1"/>
          <p:nvPr/>
        </p:nvSpPr>
        <p:spPr>
          <a:xfrm>
            <a:off x="7177305" y="3101909"/>
            <a:ext cx="788164" cy="276999"/>
          </a:xfrm>
          <a:prstGeom prst="rect">
            <a:avLst/>
          </a:prstGeom>
          <a:noFill/>
        </p:spPr>
        <p:txBody>
          <a:bodyPr wrap="none" rtlCol="0">
            <a:spAutoFit/>
          </a:bodyPr>
          <a:lstStyle/>
          <a:p>
            <a:r>
              <a:rPr lang="en-GB" sz="1200" b="1" noProof="0" dirty="0"/>
              <a:t>Examples</a:t>
            </a:r>
          </a:p>
        </p:txBody>
      </p:sp>
      <p:sp>
        <p:nvSpPr>
          <p:cNvPr id="29" name="TextBox 28"/>
          <p:cNvSpPr txBox="1"/>
          <p:nvPr/>
        </p:nvSpPr>
        <p:spPr>
          <a:xfrm>
            <a:off x="12614722" y="3077528"/>
            <a:ext cx="1172885" cy="276999"/>
          </a:xfrm>
          <a:prstGeom prst="rect">
            <a:avLst/>
          </a:prstGeom>
          <a:noFill/>
        </p:spPr>
        <p:txBody>
          <a:bodyPr wrap="none" rtlCol="0">
            <a:spAutoFit/>
          </a:bodyPr>
          <a:lstStyle/>
          <a:p>
            <a:r>
              <a:rPr lang="en-GB" sz="1200" b="1" noProof="0" dirty="0"/>
              <a:t>Non - Examples</a:t>
            </a:r>
          </a:p>
        </p:txBody>
      </p:sp>
      <p:sp>
        <p:nvSpPr>
          <p:cNvPr id="30" name="TextBox 29"/>
          <p:cNvSpPr txBox="1"/>
          <p:nvPr/>
        </p:nvSpPr>
        <p:spPr>
          <a:xfrm>
            <a:off x="7182937" y="2245828"/>
            <a:ext cx="3230335" cy="646331"/>
          </a:xfrm>
          <a:prstGeom prst="rect">
            <a:avLst/>
          </a:prstGeom>
          <a:noFill/>
        </p:spPr>
        <p:txBody>
          <a:bodyPr wrap="square" rtlCol="0">
            <a:spAutoFit/>
          </a:bodyPr>
          <a:lstStyle/>
          <a:p>
            <a:r>
              <a:rPr lang="en-GB" sz="1200" noProof="0" dirty="0"/>
              <a:t>Repetition of a mathematical or computational procedure applied to the result of a previous application,</a:t>
            </a:r>
            <a:endParaRPr lang="en-GB" sz="600" noProof="0" dirty="0"/>
          </a:p>
        </p:txBody>
      </p:sp>
      <p:sp>
        <p:nvSpPr>
          <p:cNvPr id="32" name="TextBox 31"/>
          <p:cNvSpPr txBox="1"/>
          <p:nvPr/>
        </p:nvSpPr>
        <p:spPr>
          <a:xfrm>
            <a:off x="9896552" y="2974904"/>
            <a:ext cx="989630" cy="369332"/>
          </a:xfrm>
          <a:prstGeom prst="rect">
            <a:avLst/>
          </a:prstGeom>
          <a:solidFill>
            <a:schemeClr val="bg1"/>
          </a:solidFill>
          <a:ln>
            <a:solidFill>
              <a:schemeClr val="tx1"/>
            </a:solidFill>
          </a:ln>
        </p:spPr>
        <p:txBody>
          <a:bodyPr wrap="none" rtlCol="0">
            <a:spAutoFit/>
          </a:bodyPr>
          <a:lstStyle/>
          <a:p>
            <a:r>
              <a:rPr lang="en-GB" noProof="0" dirty="0"/>
              <a:t>Iteration</a:t>
            </a:r>
          </a:p>
        </p:txBody>
      </p:sp>
      <mc:AlternateContent xmlns:mc="http://schemas.openxmlformats.org/markup-compatibility/2006" xmlns:a14="http://schemas.microsoft.com/office/drawing/2010/main">
        <mc:Choice Requires="a14">
          <p:sp>
            <p:nvSpPr>
              <p:cNvPr id="33" name="Rectangle 32"/>
              <p:cNvSpPr/>
              <p:nvPr/>
            </p:nvSpPr>
            <p:spPr>
              <a:xfrm>
                <a:off x="7177305" y="3321106"/>
                <a:ext cx="1984005" cy="8309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i="1" noProof="0" smtClean="0">
                              <a:latin typeface="Cambria Math" panose="02040503050406030204" pitchFamily="18" charset="0"/>
                            </a:rPr>
                            <m:t>𝑛</m:t>
                          </m:r>
                          <m:r>
                            <a:rPr lang="en-GB" sz="1200" i="1" noProof="0" smtClean="0">
                              <a:latin typeface="Cambria Math" panose="02040503050406030204" pitchFamily="18" charset="0"/>
                            </a:rPr>
                            <m:t>+1</m:t>
                          </m:r>
                        </m:sub>
                      </m:sSub>
                      <m:r>
                        <a:rPr lang="en-GB" sz="1200" b="0" i="1" noProof="0" smtClean="0">
                          <a:latin typeface="Cambria Math" panose="02040503050406030204" pitchFamily="18" charset="0"/>
                        </a:rPr>
                        <m:t>=</m:t>
                      </m:r>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𝑥</m:t>
                          </m:r>
                        </m:e>
                        <m:sub>
                          <m:r>
                            <a:rPr lang="en-GB" sz="1200" b="0" i="1" noProof="0" smtClean="0">
                              <a:latin typeface="Cambria Math" panose="02040503050406030204" pitchFamily="18" charset="0"/>
                            </a:rPr>
                            <m:t>𝑛</m:t>
                          </m:r>
                        </m:sub>
                      </m:sSub>
                      <m:r>
                        <a:rPr lang="en-GB" sz="1200" b="0" i="1" noProof="0" smtClean="0">
                          <a:latin typeface="Cambria Math" panose="02040503050406030204" pitchFamily="18" charset="0"/>
                        </a:rPr>
                        <m:t>+2</m:t>
                      </m:r>
                    </m:oMath>
                  </m:oMathPara>
                </a14:m>
                <a:endParaRPr lang="en-GB" sz="1200" noProof="0" dirty="0"/>
              </a:p>
              <a:p>
                <a:r>
                  <a:rPr lang="en-GB" sz="1200" noProof="0" dirty="0"/>
                  <a:t> </a:t>
                </a:r>
                <a14:m>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𝑥</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=3</m:t>
                    </m:r>
                  </m:oMath>
                </a14:m>
                <a:endParaRPr lang="en-GB" sz="1200" noProof="0" dirty="0"/>
              </a:p>
              <a:p>
                <a:endParaRPr lang="en-GB" sz="1200" noProof="0" dirty="0"/>
              </a:p>
              <a:p>
                <a:r>
                  <a:rPr lang="en-GB" sz="1200" noProof="0" dirty="0"/>
                  <a:t>Therefore </a:t>
                </a:r>
                <a14:m>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b="0" i="1" noProof="0" smtClean="0">
                            <a:latin typeface="Cambria Math" panose="02040503050406030204" pitchFamily="18" charset="0"/>
                          </a:rPr>
                          <m:t>1</m:t>
                        </m:r>
                      </m:sub>
                    </m:sSub>
                    <m:r>
                      <a:rPr lang="en-GB" sz="1200" b="0" i="1" noProof="0" smtClean="0">
                        <a:latin typeface="Cambria Math" panose="02040503050406030204" pitchFamily="18" charset="0"/>
                      </a:rPr>
                      <m:t>=</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3</m:t>
                        </m:r>
                      </m:e>
                    </m:d>
                    <m:r>
                      <a:rPr lang="en-GB" sz="1200" b="0" i="1" noProof="0" smtClean="0">
                        <a:latin typeface="Cambria Math" panose="02040503050406030204" pitchFamily="18" charset="0"/>
                      </a:rPr>
                      <m:t>+2=5</m:t>
                    </m:r>
                  </m:oMath>
                </a14:m>
                <a:r>
                  <a:rPr lang="en-GB" sz="1200" noProof="0" dirty="0"/>
                  <a:t> </a:t>
                </a:r>
              </a:p>
            </p:txBody>
          </p:sp>
        </mc:Choice>
        <mc:Fallback xmlns="">
          <p:sp>
            <p:nvSpPr>
              <p:cNvPr id="33" name="Rectangle 32"/>
              <p:cNvSpPr>
                <a:spLocks noRot="1" noChangeAspect="1" noMove="1" noResize="1" noEditPoints="1" noAdjustHandles="1" noChangeArrowheads="1" noChangeShapeType="1" noTextEdit="1"/>
              </p:cNvSpPr>
              <p:nvPr/>
            </p:nvSpPr>
            <p:spPr>
              <a:xfrm>
                <a:off x="7177305" y="3321106"/>
                <a:ext cx="1984005" cy="830997"/>
              </a:xfrm>
              <a:prstGeom prst="rect">
                <a:avLst/>
              </a:prstGeom>
              <a:blipFill>
                <a:blip r:embed="rId4"/>
                <a:stretch>
                  <a:fillRect b="-51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10536883" y="2188605"/>
                <a:ext cx="3230335" cy="707886"/>
              </a:xfrm>
              <a:prstGeom prst="rect">
                <a:avLst/>
              </a:prstGeom>
              <a:noFill/>
            </p:spPr>
            <p:txBody>
              <a:bodyPr wrap="square" rtlCol="0">
                <a:spAutoFit/>
              </a:bodyPr>
              <a:lstStyle/>
              <a:p>
                <a:r>
                  <a:rPr lang="en-GB" sz="1100" noProof="0" dirty="0"/>
                  <a:t>Successive terms are written as </a:t>
                </a:r>
                <a14:m>
                  <m:oMath xmlns:m="http://schemas.openxmlformats.org/officeDocument/2006/math">
                    <m:sSub>
                      <m:sSubPr>
                        <m:ctrlPr>
                          <a:rPr lang="en-GB" sz="1100" i="1" noProof="0" smtClean="0">
                            <a:latin typeface="Cambria Math" panose="02040503050406030204" pitchFamily="18" charset="0"/>
                          </a:rPr>
                        </m:ctrlPr>
                      </m:sSubPr>
                      <m:e>
                        <m:r>
                          <a:rPr lang="en-GB" sz="1100" b="0" i="1" noProof="0" smtClean="0">
                            <a:latin typeface="Cambria Math" panose="02040503050406030204" pitchFamily="18" charset="0"/>
                          </a:rPr>
                          <m:t>𝑥</m:t>
                        </m:r>
                      </m:e>
                      <m:sub>
                        <m:r>
                          <a:rPr lang="en-GB" sz="1100" b="0" i="1" noProof="0" smtClean="0">
                            <a:latin typeface="Cambria Math" panose="02040503050406030204" pitchFamily="18" charset="0"/>
                          </a:rPr>
                          <m:t>𝑛</m:t>
                        </m:r>
                        <m:r>
                          <a:rPr lang="en-GB" sz="1100" b="0" i="1" noProof="0" smtClean="0">
                            <a:latin typeface="Cambria Math" panose="02040503050406030204" pitchFamily="18" charset="0"/>
                          </a:rPr>
                          <m:t>+1</m:t>
                        </m:r>
                      </m:sub>
                    </m:sSub>
                  </m:oMath>
                </a14:m>
                <a:endParaRPr lang="en-GB" sz="600" noProof="0" dirty="0"/>
              </a:p>
              <a:p>
                <a:endParaRPr lang="en-GB" sz="600" noProof="0" dirty="0"/>
              </a:p>
              <a:p>
                <a:r>
                  <a:rPr lang="en-GB" sz="1100" noProof="0" dirty="0"/>
                  <a:t>Iteration can be used to show that an equation can have a solution between two values.  </a:t>
                </a:r>
              </a:p>
            </p:txBody>
          </p:sp>
        </mc:Choice>
        <mc:Fallback xmlns="">
          <p:sp>
            <p:nvSpPr>
              <p:cNvPr id="39" name="TextBox 38"/>
              <p:cNvSpPr txBox="1">
                <a:spLocks noRot="1" noChangeAspect="1" noMove="1" noResize="1" noEditPoints="1" noAdjustHandles="1" noChangeArrowheads="1" noChangeShapeType="1" noTextEdit="1"/>
              </p:cNvSpPr>
              <p:nvPr/>
            </p:nvSpPr>
            <p:spPr>
              <a:xfrm>
                <a:off x="10536883" y="2188605"/>
                <a:ext cx="3230335" cy="707886"/>
              </a:xfrm>
              <a:prstGeom prst="rect">
                <a:avLst/>
              </a:prstGeom>
              <a:blipFill>
                <a:blip r:embed="rId5"/>
                <a:stretch>
                  <a:fillRect b="-25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10469191" y="3228772"/>
                <a:ext cx="3351318" cy="85580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i="1" noProof="0" smtClean="0">
                              <a:latin typeface="Cambria Math" panose="02040503050406030204" pitchFamily="18" charset="0"/>
                            </a:rPr>
                            <m:t>𝑛</m:t>
                          </m:r>
                          <m:r>
                            <a:rPr lang="en-GB" sz="1200" i="1" noProof="0" smtClean="0">
                              <a:latin typeface="Cambria Math" panose="02040503050406030204" pitchFamily="18" charset="0"/>
                            </a:rPr>
                            <m:t>+1</m:t>
                          </m:r>
                        </m:sub>
                      </m:sSub>
                      <m:r>
                        <a:rPr lang="en-GB" sz="1200" b="0" i="1" noProof="0" smtClean="0">
                          <a:latin typeface="Cambria Math" panose="02040503050406030204" pitchFamily="18" charset="0"/>
                        </a:rPr>
                        <m:t>=</m:t>
                      </m:r>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𝑥</m:t>
                          </m:r>
                        </m:e>
                        <m:sub>
                          <m:r>
                            <a:rPr lang="en-GB" sz="1200" b="0" i="1" noProof="0" smtClean="0">
                              <a:latin typeface="Cambria Math" panose="02040503050406030204" pitchFamily="18" charset="0"/>
                            </a:rPr>
                            <m:t>𝑛</m:t>
                          </m:r>
                        </m:sub>
                      </m:sSub>
                      <m:r>
                        <a:rPr lang="en-GB" sz="1200" b="0" i="1" noProof="0" smtClean="0">
                          <a:latin typeface="Cambria Math" panose="02040503050406030204" pitchFamily="18" charset="0"/>
                        </a:rPr>
                        <m:t>+2</m:t>
                      </m:r>
                    </m:oMath>
                  </m:oMathPara>
                </a14:m>
                <a:endParaRPr lang="en-GB" sz="1200" noProof="0" dirty="0"/>
              </a:p>
              <a:p>
                <a:r>
                  <a:rPr lang="en-GB" sz="1200" noProof="0" dirty="0"/>
                  <a:t> </a:t>
                </a:r>
                <a14:m>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𝑥</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=3</m:t>
                    </m:r>
                  </m:oMath>
                </a14:m>
                <a:endParaRPr lang="en-GB" sz="1200" b="0" i="1" noProof="0" dirty="0">
                  <a:latin typeface="Cambria Math" panose="02040503050406030204" pitchFamily="18" charset="0"/>
                </a:endParaRPr>
              </a:p>
              <a:p>
                <a:r>
                  <a:rPr lang="en-GB" sz="1200" noProof="0" dirty="0"/>
                  <a:t> </a:t>
                </a:r>
                <a14:m>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b="0" i="1" noProof="0" smtClean="0">
                            <a:latin typeface="Cambria Math" panose="02040503050406030204" pitchFamily="18" charset="0"/>
                          </a:rPr>
                          <m:t>1</m:t>
                        </m:r>
                      </m:sub>
                    </m:sSub>
                    <m:r>
                      <a:rPr lang="en-GB" sz="1200" i="1" noProof="0" smtClean="0">
                        <a:latin typeface="Cambria Math" panose="02040503050406030204" pitchFamily="18" charset="0"/>
                      </a:rPr>
                      <m:t>=</m:t>
                    </m:r>
                    <m:r>
                      <a:rPr lang="en-GB" sz="1200" b="0" i="1" noProof="0" smtClean="0">
                        <a:latin typeface="Cambria Math" panose="02040503050406030204" pitchFamily="18" charset="0"/>
                      </a:rPr>
                      <m:t>5</m:t>
                    </m:r>
                  </m:oMath>
                </a14:m>
                <a:endParaRPr lang="en-GB" sz="1200" noProof="0" dirty="0"/>
              </a:p>
              <a:p>
                <a:r>
                  <a:rPr lang="en-GB" sz="1200" noProof="0" dirty="0"/>
                  <a:t>Therefore </a:t>
                </a:r>
                <a14:m>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b="0" i="1" noProof="0" smtClean="0">
                            <a:latin typeface="Cambria Math" panose="02040503050406030204" pitchFamily="18" charset="0"/>
                          </a:rPr>
                          <m:t>2</m:t>
                        </m:r>
                      </m:sub>
                    </m:sSub>
                    <m:r>
                      <a:rPr lang="en-GB" sz="1200" b="0" i="1" noProof="0" smtClean="0">
                        <a:latin typeface="Cambria Math" panose="02040503050406030204" pitchFamily="18" charset="0"/>
                      </a:rPr>
                      <m:t>=</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3</m:t>
                        </m:r>
                      </m:e>
                    </m:d>
                    <m:r>
                      <a:rPr lang="en-GB" sz="1200" b="0" i="1" noProof="0" smtClean="0">
                        <a:latin typeface="Cambria Math" panose="02040503050406030204" pitchFamily="18" charset="0"/>
                      </a:rPr>
                      <m:t>+2=5</m:t>
                    </m:r>
                  </m:oMath>
                </a14:m>
                <a:r>
                  <a:rPr lang="en-GB" sz="1200" noProof="0" dirty="0"/>
                  <a:t>   (why is this wrong?) </a:t>
                </a:r>
              </a:p>
            </p:txBody>
          </p:sp>
        </mc:Choice>
        <mc:Fallback xmlns="">
          <p:sp>
            <p:nvSpPr>
              <p:cNvPr id="40" name="Rectangle 39"/>
              <p:cNvSpPr>
                <a:spLocks noRot="1" noChangeAspect="1" noMove="1" noResize="1" noEditPoints="1" noAdjustHandles="1" noChangeArrowheads="1" noChangeShapeType="1" noTextEdit="1"/>
              </p:cNvSpPr>
              <p:nvPr/>
            </p:nvSpPr>
            <p:spPr>
              <a:xfrm>
                <a:off x="10469191" y="3228772"/>
                <a:ext cx="3351318" cy="855808"/>
              </a:xfrm>
              <a:prstGeom prst="rect">
                <a:avLst/>
              </a:prstGeom>
              <a:blipFill>
                <a:blip r:embed="rId6"/>
                <a:stretch>
                  <a:fillRect b="-2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7366615-D975-E65A-846E-8364DAEA8DFA}"/>
                  </a:ext>
                </a:extLst>
              </p:cNvPr>
              <p:cNvSpPr txBox="1"/>
              <p:nvPr/>
            </p:nvSpPr>
            <p:spPr>
              <a:xfrm>
                <a:off x="95044" y="1560553"/>
                <a:ext cx="6698205" cy="3785652"/>
              </a:xfrm>
              <a:prstGeom prst="rect">
                <a:avLst/>
              </a:prstGeom>
              <a:noFill/>
              <a:ln>
                <a:solidFill>
                  <a:schemeClr val="tx1"/>
                </a:solidFill>
              </a:ln>
            </p:spPr>
            <p:txBody>
              <a:bodyPr wrap="square" rtlCol="0">
                <a:spAutoFit/>
              </a:bodyPr>
              <a:lstStyle/>
              <a:p>
                <a:r>
                  <a:rPr lang="en-GB" sz="1200" b="1" noProof="0" dirty="0"/>
                  <a:t>Recurrence Relations/Iterative Sequences</a:t>
                </a:r>
              </a:p>
              <a:p>
                <a:r>
                  <a:rPr lang="en-GB" sz="1200" noProof="0" dirty="0"/>
                  <a:t>A recurrence relation is a way of defining a sequence that uses the previous term(s) in a sequence to find the next term in the sequence. They can also be defined as iterative methods which means a process that repeats.</a:t>
                </a:r>
              </a:p>
              <a:p>
                <a:endParaRPr lang="en-GB" sz="1200" noProof="0" dirty="0"/>
              </a:p>
              <a:p>
                <a:r>
                  <a:rPr lang="en-GB" sz="1200" noProof="0" dirty="0"/>
                  <a:t>The sequence </a:t>
                </a:r>
                <a14:m>
                  <m:oMath xmlns:m="http://schemas.openxmlformats.org/officeDocument/2006/math">
                    <m:r>
                      <a:rPr lang="en-GB" sz="1200" b="0" i="0" noProof="0" smtClean="0">
                        <a:latin typeface="Cambria Math" panose="02040503050406030204" pitchFamily="18" charset="0"/>
                      </a:rPr>
                      <m:t> </m:t>
                    </m:r>
                    <m:r>
                      <a:rPr lang="en-GB" sz="1200" i="1" noProof="0">
                        <a:latin typeface="Cambria Math" panose="02040503050406030204" pitchFamily="18" charset="0"/>
                      </a:rPr>
                      <m:t>4, 7, 10, 13, 16</m:t>
                    </m:r>
                  </m:oMath>
                </a14:m>
                <a:endParaRPr lang="en-GB" sz="1200" noProof="0" dirty="0"/>
              </a:p>
              <a:p>
                <a:r>
                  <a:rPr lang="en-GB" sz="1200" noProof="0" dirty="0"/>
                  <a:t>Has a nth term rule that can be written as: </a:t>
                </a:r>
                <a14:m>
                  <m:oMath xmlns:m="http://schemas.openxmlformats.org/officeDocument/2006/math">
                    <m:r>
                      <a:rPr lang="en-GB" sz="1200" b="0" i="0" noProof="0" smtClean="0">
                        <a:latin typeface="Cambria Math" panose="02040503050406030204" pitchFamily="18" charset="0"/>
                      </a:rPr>
                      <m:t>    </m:t>
                    </m:r>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𝑇</m:t>
                        </m:r>
                      </m:e>
                      <m:sub>
                        <m:r>
                          <a:rPr lang="en-GB" sz="1200" i="1" noProof="0">
                            <a:latin typeface="Cambria Math" panose="02040503050406030204" pitchFamily="18" charset="0"/>
                          </a:rPr>
                          <m:t>𝑛</m:t>
                        </m:r>
                      </m:sub>
                    </m:sSub>
                    <m:r>
                      <a:rPr lang="en-GB" sz="1200" i="1" noProof="0">
                        <a:latin typeface="Cambria Math" panose="02040503050406030204" pitchFamily="18" charset="0"/>
                      </a:rPr>
                      <m:t>=3</m:t>
                    </m:r>
                    <m:r>
                      <a:rPr lang="en-GB" sz="1200" i="1" noProof="0">
                        <a:latin typeface="Cambria Math" panose="02040503050406030204" pitchFamily="18" charset="0"/>
                      </a:rPr>
                      <m:t>𝑛</m:t>
                    </m:r>
                    <m:r>
                      <a:rPr lang="en-GB" sz="1200" i="1" noProof="0">
                        <a:latin typeface="Cambria Math" panose="02040503050406030204" pitchFamily="18" charset="0"/>
                      </a:rPr>
                      <m:t>+1</m:t>
                    </m:r>
                  </m:oMath>
                </a14:m>
                <a:endParaRPr lang="en-GB" sz="1200" noProof="0" dirty="0"/>
              </a:p>
              <a:p>
                <a:endParaRPr lang="en-GB" sz="1200" noProof="0" dirty="0"/>
              </a:p>
              <a:p>
                <a:r>
                  <a:rPr lang="en-GB" sz="1200" noProof="0" dirty="0"/>
                  <a:t>However, we could write this differently as a recurrence relation, each time to get from one term to the next term all we do is </a:t>
                </a:r>
                <a14:m>
                  <m:oMath xmlns:m="http://schemas.openxmlformats.org/officeDocument/2006/math">
                    <m:r>
                      <a:rPr lang="en-GB" sz="1200" i="1" noProof="0">
                        <a:latin typeface="Cambria Math" panose="02040503050406030204" pitchFamily="18" charset="0"/>
                      </a:rPr>
                      <m:t>+3</m:t>
                    </m:r>
                  </m:oMath>
                </a14:m>
                <a:r>
                  <a:rPr lang="en-GB" sz="1200" noProof="0" dirty="0"/>
                  <a:t>. Each time we do a calculation we call this an iteration. We write this as: </a:t>
                </a:r>
              </a:p>
              <a:p>
                <a14:m>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𝑈</m:t>
                        </m:r>
                      </m:e>
                      <m:sub>
                        <m:r>
                          <a:rPr lang="en-GB" sz="1200" i="1" noProof="0">
                            <a:latin typeface="Cambria Math" panose="02040503050406030204" pitchFamily="18" charset="0"/>
                          </a:rPr>
                          <m:t>𝑛</m:t>
                        </m:r>
                      </m:sub>
                    </m:sSub>
                    <m:r>
                      <a:rPr lang="en-GB" sz="1200" i="1" noProof="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𝑈</m:t>
                        </m:r>
                      </m:e>
                      <m:sub>
                        <m:r>
                          <a:rPr lang="en-GB" sz="1200" i="1" noProof="0">
                            <a:latin typeface="Cambria Math" panose="02040503050406030204" pitchFamily="18" charset="0"/>
                          </a:rPr>
                          <m:t>𝑛</m:t>
                        </m:r>
                        <m:r>
                          <a:rPr lang="en-GB" sz="1200" i="1" noProof="0">
                            <a:latin typeface="Cambria Math" panose="02040503050406030204" pitchFamily="18" charset="0"/>
                          </a:rPr>
                          <m:t>−1</m:t>
                        </m:r>
                      </m:sub>
                    </m:sSub>
                    <m:r>
                      <a:rPr lang="en-GB" sz="1200" i="1" noProof="0">
                        <a:latin typeface="Cambria Math" panose="02040503050406030204" pitchFamily="18" charset="0"/>
                      </a:rPr>
                      <m:t>+3,</m:t>
                    </m:r>
                  </m:oMath>
                </a14:m>
                <a:r>
                  <a:rPr lang="en-GB" sz="1200" noProof="0" dirty="0"/>
                  <a:t> where </a:t>
                </a:r>
                <a14:m>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𝑈</m:t>
                        </m:r>
                      </m:e>
                      <m:sub>
                        <m:r>
                          <a:rPr lang="en-GB" sz="1200" i="1" noProof="0">
                            <a:latin typeface="Cambria Math" panose="02040503050406030204" pitchFamily="18" charset="0"/>
                          </a:rPr>
                          <m:t>1</m:t>
                        </m:r>
                      </m:sub>
                    </m:sSub>
                    <m:r>
                      <a:rPr lang="en-GB" sz="1200" i="1" noProof="0">
                        <a:latin typeface="Cambria Math" panose="02040503050406030204" pitchFamily="18" charset="0"/>
                      </a:rPr>
                      <m:t>=4</m:t>
                    </m:r>
                  </m:oMath>
                </a14:m>
                <a:r>
                  <a:rPr lang="en-GB" sz="1200" noProof="0" dirty="0"/>
                  <a:t>.</a:t>
                </a:r>
              </a:p>
              <a:p>
                <a:endParaRPr lang="en-GB" sz="1200" noProof="0" dirty="0"/>
              </a:p>
              <a:p>
                <a:r>
                  <a:rPr lang="en-GB" sz="1200" noProof="0" dirty="0"/>
                  <a:t>Therefore:</a:t>
                </a:r>
              </a:p>
              <a:p>
                <a14:m>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𝑈</m:t>
                        </m:r>
                      </m:e>
                      <m:sub>
                        <m:r>
                          <a:rPr lang="en-GB" sz="1200" i="1" noProof="0">
                            <a:latin typeface="Cambria Math" panose="02040503050406030204" pitchFamily="18" charset="0"/>
                          </a:rPr>
                          <m:t>2</m:t>
                        </m:r>
                      </m:sub>
                    </m:sSub>
                    <m:r>
                      <a:rPr lang="en-GB" sz="1200" i="1" noProof="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𝑈</m:t>
                        </m:r>
                      </m:e>
                      <m:sub>
                        <m:r>
                          <a:rPr lang="en-GB" sz="1200" i="1" noProof="0">
                            <a:latin typeface="Cambria Math" panose="02040503050406030204" pitchFamily="18" charset="0"/>
                          </a:rPr>
                          <m:t>2−1</m:t>
                        </m:r>
                      </m:sub>
                    </m:sSub>
                    <m:r>
                      <a:rPr lang="en-GB" sz="1200" i="1" noProof="0">
                        <a:latin typeface="Cambria Math" panose="02040503050406030204" pitchFamily="18" charset="0"/>
                      </a:rPr>
                      <m:t>+3=</m:t>
                    </m:r>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𝑈</m:t>
                        </m:r>
                      </m:e>
                      <m:sub>
                        <m:r>
                          <a:rPr lang="en-GB" sz="1200" i="1" noProof="0">
                            <a:latin typeface="Cambria Math" panose="02040503050406030204" pitchFamily="18" charset="0"/>
                          </a:rPr>
                          <m:t>1</m:t>
                        </m:r>
                      </m:sub>
                    </m:sSub>
                    <m:r>
                      <a:rPr lang="en-GB" sz="1200" i="1" noProof="0">
                        <a:latin typeface="Cambria Math" panose="02040503050406030204" pitchFamily="18" charset="0"/>
                      </a:rPr>
                      <m:t>+3=4+3=7</m:t>
                    </m:r>
                  </m:oMath>
                </a14:m>
                <a:r>
                  <a:rPr lang="en-GB" sz="1200" noProof="0" dirty="0"/>
                  <a:t> </a:t>
                </a:r>
              </a:p>
              <a:p>
                <a14:m>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𝑈</m:t>
                        </m:r>
                      </m:e>
                      <m:sub>
                        <m:r>
                          <a:rPr lang="en-GB" sz="1200" i="1" noProof="0">
                            <a:latin typeface="Cambria Math" panose="02040503050406030204" pitchFamily="18" charset="0"/>
                          </a:rPr>
                          <m:t>3</m:t>
                        </m:r>
                      </m:sub>
                    </m:sSub>
                    <m:r>
                      <a:rPr lang="en-GB" sz="1200" i="1" noProof="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𝑈</m:t>
                        </m:r>
                      </m:e>
                      <m:sub>
                        <m:r>
                          <a:rPr lang="en-GB" sz="1200" i="1" noProof="0">
                            <a:latin typeface="Cambria Math" panose="02040503050406030204" pitchFamily="18" charset="0"/>
                          </a:rPr>
                          <m:t>2</m:t>
                        </m:r>
                      </m:sub>
                    </m:sSub>
                    <m:r>
                      <a:rPr lang="en-GB" sz="1200" i="1" noProof="0">
                        <a:latin typeface="Cambria Math" panose="02040503050406030204" pitchFamily="18" charset="0"/>
                      </a:rPr>
                      <m:t>+3=7+3=10</m:t>
                    </m:r>
                  </m:oMath>
                </a14:m>
                <a:r>
                  <a:rPr lang="en-GB" sz="1200" noProof="0" dirty="0"/>
                  <a:t> </a:t>
                </a:r>
              </a:p>
              <a:p>
                <a14:m>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𝑈</m:t>
                        </m:r>
                      </m:e>
                      <m:sub>
                        <m:r>
                          <a:rPr lang="en-GB" sz="1200" i="1" noProof="0">
                            <a:latin typeface="Cambria Math" panose="02040503050406030204" pitchFamily="18" charset="0"/>
                          </a:rPr>
                          <m:t>4</m:t>
                        </m:r>
                      </m:sub>
                    </m:sSub>
                    <m:r>
                      <a:rPr lang="en-GB" sz="1200" i="1" noProof="0">
                        <a:latin typeface="Cambria Math" panose="02040503050406030204" pitchFamily="18" charset="0"/>
                      </a:rPr>
                      <m:t>=______+3=                  </m:t>
                    </m:r>
                  </m:oMath>
                </a14:m>
                <a:r>
                  <a:rPr lang="en-GB" sz="1200" noProof="0" dirty="0"/>
                  <a:t> </a:t>
                </a:r>
              </a:p>
              <a:p>
                <a14:m>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𝑈</m:t>
                        </m:r>
                      </m:e>
                      <m:sub>
                        <m:r>
                          <a:rPr lang="en-GB" sz="1200" i="1" noProof="0">
                            <a:latin typeface="Cambria Math" panose="02040503050406030204" pitchFamily="18" charset="0"/>
                          </a:rPr>
                          <m:t>5</m:t>
                        </m:r>
                      </m:sub>
                    </m:sSub>
                    <m:r>
                      <a:rPr lang="en-GB" sz="1200" i="1" noProof="0">
                        <a:latin typeface="Cambria Math" panose="02040503050406030204" pitchFamily="18" charset="0"/>
                      </a:rPr>
                      <m:t>=</m:t>
                    </m:r>
                  </m:oMath>
                </a14:m>
                <a:r>
                  <a:rPr lang="en-GB" sz="1200" noProof="0" dirty="0"/>
                  <a:t> </a:t>
                </a:r>
              </a:p>
              <a:p>
                <a:endParaRPr lang="en-GB" sz="1200" noProof="0" dirty="0"/>
              </a:p>
              <a:p>
                <a:r>
                  <a:rPr lang="en-GB" sz="1200" noProof="0" dirty="0"/>
                  <a:t>Using a recurrence relation is easier to use for the first few terms of more complicated sequences but is </a:t>
                </a:r>
              </a:p>
              <a:p>
                <a:r>
                  <a:rPr lang="en-GB" sz="1200" noProof="0" dirty="0"/>
                  <a:t>inefficient to find higher terms in the sequence as they require lots of iterations.</a:t>
                </a:r>
              </a:p>
            </p:txBody>
          </p:sp>
        </mc:Choice>
        <mc:Fallback xmlns="">
          <p:sp>
            <p:nvSpPr>
              <p:cNvPr id="3" name="TextBox 2">
                <a:extLst>
                  <a:ext uri="{FF2B5EF4-FFF2-40B4-BE49-F238E27FC236}">
                    <a16:creationId xmlns:a16="http://schemas.microsoft.com/office/drawing/2014/main" id="{87366615-D975-E65A-846E-8364DAEA8DFA}"/>
                  </a:ext>
                </a:extLst>
              </p:cNvPr>
              <p:cNvSpPr txBox="1">
                <a:spLocks noRot="1" noChangeAspect="1" noMove="1" noResize="1" noEditPoints="1" noAdjustHandles="1" noChangeArrowheads="1" noChangeShapeType="1" noTextEdit="1"/>
              </p:cNvSpPr>
              <p:nvPr/>
            </p:nvSpPr>
            <p:spPr>
              <a:xfrm>
                <a:off x="95044" y="1560553"/>
                <a:ext cx="6698205" cy="3785652"/>
              </a:xfrm>
              <a:prstGeom prst="rect">
                <a:avLst/>
              </a:prstGeom>
              <a:blipFill>
                <a:blip r:embed="rId7"/>
                <a:stretch>
                  <a:fillRect r="-455" b="-161"/>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923288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58790" y="9567985"/>
            <a:ext cx="1543050" cy="527403"/>
          </a:xfrm>
        </p:spPr>
        <p:txBody>
          <a:bodyPr/>
          <a:lstStyle/>
          <a:p>
            <a:fld id="{9BD3B4A0-BFF9-422C-B253-48BA94BE2F5B}" type="slidenum">
              <a:rPr lang="en-GB" noProof="0" smtClean="0"/>
              <a:t>56</a:t>
            </a:fld>
            <a:endParaRPr lang="en-GB" noProof="0" dirty="0"/>
          </a:p>
        </p:txBody>
      </p:sp>
      <p:sp>
        <p:nvSpPr>
          <p:cNvPr id="5" name="Rectangle 4"/>
          <p:cNvSpPr/>
          <p:nvPr/>
        </p:nvSpPr>
        <p:spPr>
          <a:xfrm>
            <a:off x="1619185" y="85916"/>
            <a:ext cx="3823735" cy="276999"/>
          </a:xfrm>
          <a:prstGeom prst="rect">
            <a:avLst/>
          </a:prstGeom>
        </p:spPr>
        <p:txBody>
          <a:bodyPr wrap="square">
            <a:spAutoFit/>
          </a:bodyPr>
          <a:lstStyle/>
          <a:p>
            <a:pPr algn="ctr"/>
            <a:r>
              <a:rPr lang="en-GB" sz="1200" noProof="0" dirty="0"/>
              <a:t>1) Find the first 4 terms in each iterative sequence. </a:t>
            </a:r>
          </a:p>
        </p:txBody>
      </p:sp>
      <mc:AlternateContent xmlns:mc="http://schemas.openxmlformats.org/markup-compatibility/2006" xmlns:a14="http://schemas.microsoft.com/office/drawing/2010/main">
        <mc:Choice Requires="a14">
          <p:sp>
            <p:nvSpPr>
              <p:cNvPr id="6" name="Rectangle 5"/>
              <p:cNvSpPr/>
              <p:nvPr/>
            </p:nvSpPr>
            <p:spPr>
              <a:xfrm>
                <a:off x="49202" y="454075"/>
                <a:ext cx="3429000" cy="461665"/>
              </a:xfrm>
              <a:prstGeom prst="rect">
                <a:avLst/>
              </a:prstGeom>
            </p:spPr>
            <p:txBody>
              <a:bodyPr>
                <a:spAutoFit/>
              </a:bodyPr>
              <a:lstStyle/>
              <a:p>
                <a:pPr lvl="0" defTabSz="685800">
                  <a:defRPr/>
                </a:pPr>
                <a:r>
                  <a:rPr lang="en-GB" sz="1200" noProof="0" dirty="0"/>
                  <a:t>a) </a:t>
                </a:r>
                <a14:m>
                  <m:oMath xmlns:m="http://schemas.openxmlformats.org/officeDocument/2006/math">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0</m:t>
                        </m:r>
                      </m:sub>
                    </m:sSub>
                    <m:r>
                      <a:rPr lang="en-GB" sz="1200" i="1" noProof="0">
                        <a:latin typeface="Cambria Math" panose="02040503050406030204" pitchFamily="18" charset="0"/>
                      </a:rPr>
                      <m:t>=3,  </m:t>
                    </m:r>
                  </m:oMath>
                </a14:m>
                <a:endParaRPr lang="en-GB" sz="1200" i="1" noProof="0" dirty="0">
                  <a:latin typeface="Cambria Math" panose="02040503050406030204" pitchFamily="18" charset="0"/>
                </a:endParaRPr>
              </a:p>
              <a:p>
                <a:pPr lvl="0" defTabSz="685800">
                  <a:defRPr/>
                </a:pPr>
                <a:r>
                  <a:rPr lang="en-GB" sz="1200" noProof="0" dirty="0"/>
                  <a:t> </a:t>
                </a:r>
                <a14:m>
                  <m:oMath xmlns:m="http://schemas.openxmlformats.org/officeDocument/2006/math">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i="1" noProof="0">
                            <a:latin typeface="Cambria Math" panose="02040503050406030204" pitchFamily="18" charset="0"/>
                          </a:rPr>
                          <m:t>𝑛</m:t>
                        </m:r>
                        <m:r>
                          <a:rPr lang="en-GB" sz="1200" i="1" noProof="0">
                            <a:latin typeface="Cambria Math" panose="02040503050406030204" pitchFamily="18" charset="0"/>
                          </a:rPr>
                          <m:t>+1</m:t>
                        </m:r>
                      </m:sub>
                    </m:sSub>
                    <m:r>
                      <a:rPr lang="en-GB" sz="1200" i="1" noProof="0">
                        <a:latin typeface="Cambria Math" panose="02040503050406030204" pitchFamily="18" charset="0"/>
                      </a:rPr>
                      <m:t>=</m:t>
                    </m:r>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i="1" noProof="0">
                            <a:latin typeface="Cambria Math" panose="02040503050406030204" pitchFamily="18" charset="0"/>
                          </a:rPr>
                          <m:t>𝑛</m:t>
                        </m:r>
                      </m:sub>
                    </m:sSub>
                    <m:r>
                      <a:rPr lang="en-GB" sz="1200" i="1" noProof="0" smtClean="0">
                        <a:latin typeface="Cambria Math" panose="02040503050406030204" pitchFamily="18" charset="0"/>
                      </a:rPr>
                      <m:t>−</m:t>
                    </m:r>
                    <m:r>
                      <a:rPr lang="en-GB" sz="1200" b="0" i="1" noProof="0" smtClean="0">
                        <a:latin typeface="Cambria Math" panose="02040503050406030204" pitchFamily="18" charset="0"/>
                      </a:rPr>
                      <m:t>7</m:t>
                    </m:r>
                  </m:oMath>
                </a14:m>
                <a:endParaRPr lang="en-GB" sz="1200" noProof="0" dirty="0"/>
              </a:p>
            </p:txBody>
          </p:sp>
        </mc:Choice>
        <mc:Fallback xmlns="">
          <p:sp>
            <p:nvSpPr>
              <p:cNvPr id="6" name="Rectangle 5"/>
              <p:cNvSpPr>
                <a:spLocks noRot="1" noChangeAspect="1" noMove="1" noResize="1" noEditPoints="1" noAdjustHandles="1" noChangeArrowheads="1" noChangeShapeType="1" noTextEdit="1"/>
              </p:cNvSpPr>
              <p:nvPr/>
            </p:nvSpPr>
            <p:spPr>
              <a:xfrm>
                <a:off x="49202" y="454075"/>
                <a:ext cx="3429000" cy="46166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999110" y="448813"/>
                <a:ext cx="3429000" cy="461665"/>
              </a:xfrm>
              <a:prstGeom prst="rect">
                <a:avLst/>
              </a:prstGeom>
            </p:spPr>
            <p:txBody>
              <a:bodyPr>
                <a:spAutoFit/>
              </a:bodyPr>
              <a:lstStyle/>
              <a:p>
                <a:pPr lvl="0" defTabSz="685800">
                  <a:defRPr/>
                </a:pPr>
                <a:r>
                  <a:rPr lang="en-GB" sz="1200" noProof="0" dirty="0"/>
                  <a:t>b) </a:t>
                </a:r>
                <a14:m>
                  <m:oMath xmlns:m="http://schemas.openxmlformats.org/officeDocument/2006/math">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0</m:t>
                        </m:r>
                      </m:sub>
                    </m:sSub>
                    <m:r>
                      <a:rPr lang="en-GB" sz="1200" i="1" noProof="0">
                        <a:latin typeface="Cambria Math" panose="02040503050406030204" pitchFamily="18" charset="0"/>
                      </a:rPr>
                      <m:t>=</m:t>
                    </m:r>
                    <m:r>
                      <a:rPr lang="en-GB" sz="1200" b="0" i="1" noProof="0" smtClean="0">
                        <a:latin typeface="Cambria Math" panose="02040503050406030204" pitchFamily="18" charset="0"/>
                      </a:rPr>
                      <m:t>3</m:t>
                    </m:r>
                    <m:r>
                      <a:rPr lang="en-GB" sz="1200" i="1" noProof="0">
                        <a:latin typeface="Cambria Math" panose="02040503050406030204" pitchFamily="18" charset="0"/>
                      </a:rPr>
                      <m:t>,  </m:t>
                    </m:r>
                  </m:oMath>
                </a14:m>
                <a:endParaRPr lang="en-GB" sz="1200" i="1" noProof="0" dirty="0">
                  <a:latin typeface="Cambria Math" panose="02040503050406030204" pitchFamily="18" charset="0"/>
                </a:endParaRPr>
              </a:p>
              <a:p>
                <a:pPr lvl="0" defTabSz="685800">
                  <a:defRPr/>
                </a:pPr>
                <a:r>
                  <a:rPr lang="en-GB" sz="1200" noProof="0" dirty="0"/>
                  <a:t> </a:t>
                </a:r>
                <a14:m>
                  <m:oMath xmlns:m="http://schemas.openxmlformats.org/officeDocument/2006/math">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i="1" noProof="0">
                            <a:latin typeface="Cambria Math" panose="02040503050406030204" pitchFamily="18" charset="0"/>
                          </a:rPr>
                          <m:t>𝑛</m:t>
                        </m:r>
                        <m:r>
                          <a:rPr lang="en-GB" sz="1200" i="1" noProof="0">
                            <a:latin typeface="Cambria Math" panose="02040503050406030204" pitchFamily="18" charset="0"/>
                          </a:rPr>
                          <m:t>+1</m:t>
                        </m:r>
                      </m:sub>
                    </m:sSub>
                    <m:r>
                      <a:rPr lang="en-GB" sz="1200" i="1" noProof="0">
                        <a:latin typeface="Cambria Math" panose="02040503050406030204" pitchFamily="18" charset="0"/>
                      </a:rPr>
                      <m:t>=</m:t>
                    </m:r>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i="1" noProof="0">
                            <a:latin typeface="Cambria Math" panose="02040503050406030204" pitchFamily="18" charset="0"/>
                          </a:rPr>
                          <m:t>𝑛</m:t>
                        </m:r>
                      </m:sub>
                    </m:sSub>
                    <m:r>
                      <a:rPr lang="en-GB" sz="1200" b="0" i="1" noProof="0" smtClean="0">
                        <a:latin typeface="Cambria Math" panose="02040503050406030204" pitchFamily="18" charset="0"/>
                      </a:rPr>
                      <m:t>+9</m:t>
                    </m:r>
                  </m:oMath>
                </a14:m>
                <a:endParaRPr lang="en-GB" sz="1200" noProof="0" dirty="0"/>
              </a:p>
            </p:txBody>
          </p:sp>
        </mc:Choice>
        <mc:Fallback xmlns="">
          <p:sp>
            <p:nvSpPr>
              <p:cNvPr id="7" name="Rectangle 6"/>
              <p:cNvSpPr>
                <a:spLocks noRot="1" noChangeAspect="1" noMove="1" noResize="1" noEditPoints="1" noAdjustHandles="1" noChangeArrowheads="1" noChangeShapeType="1" noTextEdit="1"/>
              </p:cNvSpPr>
              <p:nvPr/>
            </p:nvSpPr>
            <p:spPr>
              <a:xfrm>
                <a:off x="1999110" y="448813"/>
                <a:ext cx="3429000" cy="461665"/>
              </a:xfrm>
              <a:prstGeom prst="rect">
                <a:avLst/>
              </a:prstGeom>
              <a:blipFill>
                <a:blip r:embed="rId3"/>
                <a:stretch>
                  <a:fillRect l="-1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546133" y="460675"/>
                <a:ext cx="3429000" cy="461665"/>
              </a:xfrm>
              <a:prstGeom prst="rect">
                <a:avLst/>
              </a:prstGeom>
            </p:spPr>
            <p:txBody>
              <a:bodyPr>
                <a:spAutoFit/>
              </a:bodyPr>
              <a:lstStyle/>
              <a:p>
                <a:pPr lvl="0" defTabSz="685800">
                  <a:defRPr/>
                </a:pPr>
                <a:r>
                  <a:rPr lang="en-GB" sz="1200" noProof="0" dirty="0"/>
                  <a:t>c) </a:t>
                </a:r>
                <a14:m>
                  <m:oMath xmlns:m="http://schemas.openxmlformats.org/officeDocument/2006/math">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0</m:t>
                        </m:r>
                      </m:sub>
                    </m:sSub>
                    <m:r>
                      <a:rPr lang="en-GB" sz="1200" i="1" noProof="0">
                        <a:latin typeface="Cambria Math" panose="02040503050406030204" pitchFamily="18" charset="0"/>
                      </a:rPr>
                      <m:t>=</m:t>
                    </m:r>
                    <m:r>
                      <a:rPr lang="en-GB" sz="1200" b="0" i="1" noProof="0" smtClean="0">
                        <a:latin typeface="Cambria Math" panose="02040503050406030204" pitchFamily="18" charset="0"/>
                      </a:rPr>
                      <m:t>3</m:t>
                    </m:r>
                    <m:r>
                      <a:rPr lang="en-GB" sz="1200" i="1" noProof="0">
                        <a:latin typeface="Cambria Math" panose="02040503050406030204" pitchFamily="18" charset="0"/>
                      </a:rPr>
                      <m:t>,  </m:t>
                    </m:r>
                  </m:oMath>
                </a14:m>
                <a:endParaRPr lang="en-GB" sz="1200" i="1" noProof="0" dirty="0">
                  <a:latin typeface="Cambria Math" panose="02040503050406030204" pitchFamily="18" charset="0"/>
                </a:endParaRPr>
              </a:p>
              <a:p>
                <a:pPr lvl="0" defTabSz="685800">
                  <a:defRPr/>
                </a:pPr>
                <a:r>
                  <a:rPr lang="en-GB" sz="1200" noProof="0" dirty="0"/>
                  <a:t> </a:t>
                </a:r>
                <a14:m>
                  <m:oMath xmlns:m="http://schemas.openxmlformats.org/officeDocument/2006/math">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i="1" noProof="0">
                            <a:latin typeface="Cambria Math" panose="02040503050406030204" pitchFamily="18" charset="0"/>
                          </a:rPr>
                          <m:t>𝑛</m:t>
                        </m:r>
                        <m:r>
                          <a:rPr lang="en-GB" sz="1200" i="1" noProof="0">
                            <a:latin typeface="Cambria Math" panose="02040503050406030204" pitchFamily="18" charset="0"/>
                          </a:rPr>
                          <m:t>+1</m:t>
                        </m:r>
                      </m:sub>
                    </m:sSub>
                    <m:r>
                      <a:rPr lang="en-GB" sz="1200" i="1" noProof="0">
                        <a:latin typeface="Cambria Math" panose="02040503050406030204" pitchFamily="18" charset="0"/>
                      </a:rPr>
                      <m:t>=</m:t>
                    </m:r>
                    <m:r>
                      <a:rPr lang="en-GB" sz="1200" b="0" i="1" noProof="0" smtClean="0">
                        <a:latin typeface="Cambria Math" panose="02040503050406030204" pitchFamily="18" charset="0"/>
                      </a:rPr>
                      <m:t>2</m:t>
                    </m:r>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i="1" noProof="0">
                            <a:latin typeface="Cambria Math" panose="02040503050406030204" pitchFamily="18" charset="0"/>
                          </a:rPr>
                          <m:t>𝑛</m:t>
                        </m:r>
                      </m:sub>
                    </m:sSub>
                    <m:r>
                      <a:rPr lang="en-GB" sz="1200" b="0" i="1" noProof="0" smtClean="0">
                        <a:latin typeface="Cambria Math" panose="02040503050406030204" pitchFamily="18" charset="0"/>
                      </a:rPr>
                      <m:t>+9</m:t>
                    </m:r>
                  </m:oMath>
                </a14:m>
                <a:endParaRPr lang="en-GB" sz="1200" noProof="0" dirty="0"/>
              </a:p>
            </p:txBody>
          </p:sp>
        </mc:Choice>
        <mc:Fallback xmlns="">
          <p:sp>
            <p:nvSpPr>
              <p:cNvPr id="8" name="Rectangle 7"/>
              <p:cNvSpPr>
                <a:spLocks noRot="1" noChangeAspect="1" noMove="1" noResize="1" noEditPoints="1" noAdjustHandles="1" noChangeArrowheads="1" noChangeShapeType="1" noTextEdit="1"/>
              </p:cNvSpPr>
              <p:nvPr/>
            </p:nvSpPr>
            <p:spPr>
              <a:xfrm>
                <a:off x="3546133" y="460675"/>
                <a:ext cx="3429000" cy="461665"/>
              </a:xfrm>
              <a:prstGeom prst="rect">
                <a:avLst/>
              </a:prstGeom>
              <a:blipFill>
                <a:blip r:embed="rId4"/>
                <a:stretch>
                  <a:fillRect l="-1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260633" y="456466"/>
                <a:ext cx="3429000" cy="479490"/>
              </a:xfrm>
              <a:prstGeom prst="rect">
                <a:avLst/>
              </a:prstGeom>
            </p:spPr>
            <p:txBody>
              <a:bodyPr>
                <a:spAutoFit/>
              </a:bodyPr>
              <a:lstStyle/>
              <a:p>
                <a:pPr lvl="0" defTabSz="685800">
                  <a:defRPr/>
                </a:pPr>
                <a:r>
                  <a:rPr lang="en-GB" sz="1200" noProof="0" dirty="0"/>
                  <a:t>d) </a:t>
                </a:r>
                <a14:m>
                  <m:oMath xmlns:m="http://schemas.openxmlformats.org/officeDocument/2006/math">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0</m:t>
                        </m:r>
                      </m:sub>
                    </m:sSub>
                    <m:r>
                      <a:rPr lang="en-GB" sz="1200" i="1" noProof="0">
                        <a:latin typeface="Cambria Math" panose="02040503050406030204" pitchFamily="18" charset="0"/>
                      </a:rPr>
                      <m:t>=</m:t>
                    </m:r>
                    <m:r>
                      <a:rPr lang="en-GB" sz="1200" b="0" i="1" noProof="0" smtClean="0">
                        <a:latin typeface="Cambria Math" panose="02040503050406030204" pitchFamily="18" charset="0"/>
                      </a:rPr>
                      <m:t>3</m:t>
                    </m:r>
                    <m:r>
                      <a:rPr lang="en-GB" sz="1200" i="1" noProof="0">
                        <a:latin typeface="Cambria Math" panose="02040503050406030204" pitchFamily="18" charset="0"/>
                      </a:rPr>
                      <m:t>,  </m:t>
                    </m:r>
                  </m:oMath>
                </a14:m>
                <a:endParaRPr lang="en-GB" sz="1200" i="1" noProof="0" dirty="0">
                  <a:latin typeface="Cambria Math" panose="02040503050406030204" pitchFamily="18" charset="0"/>
                </a:endParaRPr>
              </a:p>
              <a:p>
                <a:pPr lvl="0" defTabSz="685800">
                  <a:defRPr/>
                </a:pPr>
                <a:r>
                  <a:rPr lang="en-GB" sz="1200" noProof="0" dirty="0"/>
                  <a:t> </a:t>
                </a:r>
                <a14:m>
                  <m:oMath xmlns:m="http://schemas.openxmlformats.org/officeDocument/2006/math">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i="1" noProof="0">
                            <a:latin typeface="Cambria Math" panose="02040503050406030204" pitchFamily="18" charset="0"/>
                          </a:rPr>
                          <m:t>𝑛</m:t>
                        </m:r>
                        <m:r>
                          <a:rPr lang="en-GB" sz="1200" i="1" noProof="0">
                            <a:latin typeface="Cambria Math" panose="02040503050406030204" pitchFamily="18" charset="0"/>
                          </a:rPr>
                          <m:t>+1</m:t>
                        </m:r>
                      </m:sub>
                    </m:sSub>
                    <m:r>
                      <a:rPr lang="en-GB" sz="1200" i="1" noProof="0">
                        <a:latin typeface="Cambria Math" panose="02040503050406030204" pitchFamily="18" charset="0"/>
                      </a:rPr>
                      <m:t>=</m:t>
                    </m:r>
                    <m:sSup>
                      <m:sSupPr>
                        <m:ctrlPr>
                          <a:rPr lang="en-GB" sz="1200" b="0" i="1" noProof="0" smtClean="0">
                            <a:latin typeface="Cambria Math" panose="02040503050406030204" pitchFamily="18" charset="0"/>
                          </a:rPr>
                        </m:ctrlPr>
                      </m:sSupPr>
                      <m:e>
                        <m:d>
                          <m:dPr>
                            <m:ctrlPr>
                              <a:rPr lang="en-GB" sz="1200" b="0" i="1" noProof="0" smtClean="0">
                                <a:latin typeface="Cambria Math" panose="02040503050406030204" pitchFamily="18" charset="0"/>
                              </a:rPr>
                            </m:ctrlPr>
                          </m:dPr>
                          <m:e>
                            <m:sSub>
                              <m:sSubPr>
                                <m:ctrlPr>
                                  <a:rPr lang="en-GB" sz="1200" i="1" noProof="0">
                                    <a:latin typeface="Cambria Math" panose="02040503050406030204" pitchFamily="18" charset="0"/>
                                  </a:rPr>
                                </m:ctrlPr>
                              </m:sSubPr>
                              <m:e>
                                <m:r>
                                  <a:rPr lang="en-GB" sz="1200" i="1" noProof="0">
                                    <a:latin typeface="Cambria Math" panose="02040503050406030204" pitchFamily="18" charset="0"/>
                                  </a:rPr>
                                  <m:t>𝑥</m:t>
                                </m:r>
                              </m:e>
                              <m:sub>
                                <m:r>
                                  <a:rPr lang="en-GB" sz="1200" i="1" noProof="0">
                                    <a:latin typeface="Cambria Math" panose="02040503050406030204" pitchFamily="18" charset="0"/>
                                  </a:rPr>
                                  <m:t>𝑛</m:t>
                                </m:r>
                              </m:sub>
                            </m:sSub>
                          </m:e>
                        </m:d>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 +2</m:t>
                    </m:r>
                  </m:oMath>
                </a14:m>
                <a:endParaRPr lang="en-GB" sz="1200" noProof="0" dirty="0"/>
              </a:p>
            </p:txBody>
          </p:sp>
        </mc:Choice>
        <mc:Fallback xmlns="">
          <p:sp>
            <p:nvSpPr>
              <p:cNvPr id="9" name="Rectangle 8"/>
              <p:cNvSpPr>
                <a:spLocks noRot="1" noChangeAspect="1" noMove="1" noResize="1" noEditPoints="1" noAdjustHandles="1" noChangeArrowheads="1" noChangeShapeType="1" noTextEdit="1"/>
              </p:cNvSpPr>
              <p:nvPr/>
            </p:nvSpPr>
            <p:spPr>
              <a:xfrm>
                <a:off x="5260633" y="456466"/>
                <a:ext cx="3429000" cy="479490"/>
              </a:xfrm>
              <a:prstGeom prst="rect">
                <a:avLst/>
              </a:prstGeom>
              <a:blipFill>
                <a:blip r:embed="rId5"/>
                <a:stretch>
                  <a:fillRect l="-1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1139" y="1032329"/>
                <a:ext cx="52693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1</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11" name="Rectangle 10"/>
              <p:cNvSpPr>
                <a:spLocks noRot="1" noChangeAspect="1" noMove="1" noResize="1" noEditPoints="1" noAdjustHandles="1" noChangeArrowheads="1" noChangeShapeType="1" noTextEdit="1"/>
              </p:cNvSpPr>
              <p:nvPr/>
            </p:nvSpPr>
            <p:spPr>
              <a:xfrm>
                <a:off x="-11139" y="1032329"/>
                <a:ext cx="526939" cy="27699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14601" y="1394071"/>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2</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12" name="Rectangle 11"/>
              <p:cNvSpPr>
                <a:spLocks noRot="1" noChangeAspect="1" noMove="1" noResize="1" noEditPoints="1" noAdjustHandles="1" noChangeArrowheads="1" noChangeShapeType="1" noTextEdit="1"/>
              </p:cNvSpPr>
              <p:nvPr/>
            </p:nvSpPr>
            <p:spPr>
              <a:xfrm>
                <a:off x="-14601" y="1394071"/>
                <a:ext cx="530530" cy="27699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3790" y="1819004"/>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3</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13" name="Rectangle 12"/>
              <p:cNvSpPr>
                <a:spLocks noRot="1" noChangeAspect="1" noMove="1" noResize="1" noEditPoints="1" noAdjustHandles="1" noChangeArrowheads="1" noChangeShapeType="1" noTextEdit="1"/>
              </p:cNvSpPr>
              <p:nvPr/>
            </p:nvSpPr>
            <p:spPr>
              <a:xfrm>
                <a:off x="-13790" y="1819004"/>
                <a:ext cx="530530" cy="27699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4730" y="2232745"/>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4</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14" name="Rectangle 13"/>
              <p:cNvSpPr>
                <a:spLocks noRot="1" noChangeAspect="1" noMove="1" noResize="1" noEditPoints="1" noAdjustHandles="1" noChangeArrowheads="1" noChangeShapeType="1" noTextEdit="1"/>
              </p:cNvSpPr>
              <p:nvPr/>
            </p:nvSpPr>
            <p:spPr>
              <a:xfrm>
                <a:off x="-14730" y="2232745"/>
                <a:ext cx="530530" cy="276999"/>
              </a:xfrm>
              <a:prstGeom prst="rect">
                <a:avLst/>
              </a:prstGeom>
              <a:blipFill>
                <a:blip r:embed="rId9"/>
                <a:stretch>
                  <a:fillRect/>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E92E0BBA-34A9-4C81-A2D7-FF86A3257726}"/>
              </a:ext>
            </a:extLst>
          </p:cNvPr>
          <p:cNvSpPr/>
          <p:nvPr/>
        </p:nvSpPr>
        <p:spPr>
          <a:xfrm>
            <a:off x="515800" y="1055837"/>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6" name="Rectangle 15">
            <a:extLst>
              <a:ext uri="{FF2B5EF4-FFF2-40B4-BE49-F238E27FC236}">
                <a16:creationId xmlns:a16="http://schemas.microsoft.com/office/drawing/2014/main" id="{E92E0BBA-34A9-4C81-A2D7-FF86A3257726}"/>
              </a:ext>
            </a:extLst>
          </p:cNvPr>
          <p:cNvSpPr/>
          <p:nvPr/>
        </p:nvSpPr>
        <p:spPr>
          <a:xfrm>
            <a:off x="515799" y="1441329"/>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7" name="Rectangle 16">
            <a:extLst>
              <a:ext uri="{FF2B5EF4-FFF2-40B4-BE49-F238E27FC236}">
                <a16:creationId xmlns:a16="http://schemas.microsoft.com/office/drawing/2014/main" id="{E92E0BBA-34A9-4C81-A2D7-FF86A3257726}"/>
              </a:ext>
            </a:extLst>
          </p:cNvPr>
          <p:cNvSpPr/>
          <p:nvPr/>
        </p:nvSpPr>
        <p:spPr>
          <a:xfrm>
            <a:off x="515798" y="1821797"/>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18" name="Rectangle 17">
            <a:extLst>
              <a:ext uri="{FF2B5EF4-FFF2-40B4-BE49-F238E27FC236}">
                <a16:creationId xmlns:a16="http://schemas.microsoft.com/office/drawing/2014/main" id="{E92E0BBA-34A9-4C81-A2D7-FF86A3257726}"/>
              </a:ext>
            </a:extLst>
          </p:cNvPr>
          <p:cNvSpPr/>
          <p:nvPr/>
        </p:nvSpPr>
        <p:spPr>
          <a:xfrm>
            <a:off x="515798" y="2217287"/>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19" name="Rectangle 18"/>
              <p:cNvSpPr/>
              <p:nvPr/>
            </p:nvSpPr>
            <p:spPr>
              <a:xfrm>
                <a:off x="1638939" y="1004139"/>
                <a:ext cx="52693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1</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19" name="Rectangle 18"/>
              <p:cNvSpPr>
                <a:spLocks noRot="1" noChangeAspect="1" noMove="1" noResize="1" noEditPoints="1" noAdjustHandles="1" noChangeArrowheads="1" noChangeShapeType="1" noTextEdit="1"/>
              </p:cNvSpPr>
              <p:nvPr/>
            </p:nvSpPr>
            <p:spPr>
              <a:xfrm>
                <a:off x="1638939" y="1004139"/>
                <a:ext cx="526939" cy="27699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635477" y="1365881"/>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2</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20" name="Rectangle 19"/>
              <p:cNvSpPr>
                <a:spLocks noRot="1" noChangeAspect="1" noMove="1" noResize="1" noEditPoints="1" noAdjustHandles="1" noChangeArrowheads="1" noChangeShapeType="1" noTextEdit="1"/>
              </p:cNvSpPr>
              <p:nvPr/>
            </p:nvSpPr>
            <p:spPr>
              <a:xfrm>
                <a:off x="1635477" y="1365881"/>
                <a:ext cx="530530" cy="276999"/>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1636288" y="1790814"/>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3</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21" name="Rectangle 20"/>
              <p:cNvSpPr>
                <a:spLocks noRot="1" noChangeAspect="1" noMove="1" noResize="1" noEditPoints="1" noAdjustHandles="1" noChangeArrowheads="1" noChangeShapeType="1" noTextEdit="1"/>
              </p:cNvSpPr>
              <p:nvPr/>
            </p:nvSpPr>
            <p:spPr>
              <a:xfrm>
                <a:off x="1636288" y="1790814"/>
                <a:ext cx="530530" cy="276999"/>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1635348" y="2204555"/>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4</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22" name="Rectangle 21"/>
              <p:cNvSpPr>
                <a:spLocks noRot="1" noChangeAspect="1" noMove="1" noResize="1" noEditPoints="1" noAdjustHandles="1" noChangeArrowheads="1" noChangeShapeType="1" noTextEdit="1"/>
              </p:cNvSpPr>
              <p:nvPr/>
            </p:nvSpPr>
            <p:spPr>
              <a:xfrm>
                <a:off x="1635348" y="2204555"/>
                <a:ext cx="530530" cy="276999"/>
              </a:xfrm>
              <a:prstGeom prst="rect">
                <a:avLst/>
              </a:prstGeom>
              <a:blipFill>
                <a:blip r:embed="rId13"/>
                <a:stretch>
                  <a:fillRect/>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E92E0BBA-34A9-4C81-A2D7-FF86A3257726}"/>
              </a:ext>
            </a:extLst>
          </p:cNvPr>
          <p:cNvSpPr/>
          <p:nvPr/>
        </p:nvSpPr>
        <p:spPr>
          <a:xfrm>
            <a:off x="2165878" y="1027647"/>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4" name="Rectangle 23">
            <a:extLst>
              <a:ext uri="{FF2B5EF4-FFF2-40B4-BE49-F238E27FC236}">
                <a16:creationId xmlns:a16="http://schemas.microsoft.com/office/drawing/2014/main" id="{E92E0BBA-34A9-4C81-A2D7-FF86A3257726}"/>
              </a:ext>
            </a:extLst>
          </p:cNvPr>
          <p:cNvSpPr/>
          <p:nvPr/>
        </p:nvSpPr>
        <p:spPr>
          <a:xfrm>
            <a:off x="2165877" y="1413139"/>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5" name="Rectangle 24">
            <a:extLst>
              <a:ext uri="{FF2B5EF4-FFF2-40B4-BE49-F238E27FC236}">
                <a16:creationId xmlns:a16="http://schemas.microsoft.com/office/drawing/2014/main" id="{E92E0BBA-34A9-4C81-A2D7-FF86A3257726}"/>
              </a:ext>
            </a:extLst>
          </p:cNvPr>
          <p:cNvSpPr/>
          <p:nvPr/>
        </p:nvSpPr>
        <p:spPr>
          <a:xfrm>
            <a:off x="2165876" y="1793607"/>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26" name="Rectangle 25">
            <a:extLst>
              <a:ext uri="{FF2B5EF4-FFF2-40B4-BE49-F238E27FC236}">
                <a16:creationId xmlns:a16="http://schemas.microsoft.com/office/drawing/2014/main" id="{E92E0BBA-34A9-4C81-A2D7-FF86A3257726}"/>
              </a:ext>
            </a:extLst>
          </p:cNvPr>
          <p:cNvSpPr/>
          <p:nvPr/>
        </p:nvSpPr>
        <p:spPr>
          <a:xfrm>
            <a:off x="2165876" y="2189097"/>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27" name="Rectangle 26"/>
              <p:cNvSpPr/>
              <p:nvPr/>
            </p:nvSpPr>
            <p:spPr>
              <a:xfrm>
                <a:off x="3300338" y="975949"/>
                <a:ext cx="52693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1</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27" name="Rectangle 26"/>
              <p:cNvSpPr>
                <a:spLocks noRot="1" noChangeAspect="1" noMove="1" noResize="1" noEditPoints="1" noAdjustHandles="1" noChangeArrowheads="1" noChangeShapeType="1" noTextEdit="1"/>
              </p:cNvSpPr>
              <p:nvPr/>
            </p:nvSpPr>
            <p:spPr>
              <a:xfrm>
                <a:off x="3300338" y="975949"/>
                <a:ext cx="526939" cy="27699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3296876" y="1337691"/>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2</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28" name="Rectangle 27"/>
              <p:cNvSpPr>
                <a:spLocks noRot="1" noChangeAspect="1" noMove="1" noResize="1" noEditPoints="1" noAdjustHandles="1" noChangeArrowheads="1" noChangeShapeType="1" noTextEdit="1"/>
              </p:cNvSpPr>
              <p:nvPr/>
            </p:nvSpPr>
            <p:spPr>
              <a:xfrm>
                <a:off x="3296876" y="1337691"/>
                <a:ext cx="530530" cy="276999"/>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3297687" y="1762624"/>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3</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29" name="Rectangle 28"/>
              <p:cNvSpPr>
                <a:spLocks noRot="1" noChangeAspect="1" noMove="1" noResize="1" noEditPoints="1" noAdjustHandles="1" noChangeArrowheads="1" noChangeShapeType="1" noTextEdit="1"/>
              </p:cNvSpPr>
              <p:nvPr/>
            </p:nvSpPr>
            <p:spPr>
              <a:xfrm>
                <a:off x="3297687" y="1762624"/>
                <a:ext cx="530530" cy="27699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3296747" y="2176365"/>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4</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30" name="Rectangle 29"/>
              <p:cNvSpPr>
                <a:spLocks noRot="1" noChangeAspect="1" noMove="1" noResize="1" noEditPoints="1" noAdjustHandles="1" noChangeArrowheads="1" noChangeShapeType="1" noTextEdit="1"/>
              </p:cNvSpPr>
              <p:nvPr/>
            </p:nvSpPr>
            <p:spPr>
              <a:xfrm>
                <a:off x="3296747" y="2176365"/>
                <a:ext cx="530530" cy="276999"/>
              </a:xfrm>
              <a:prstGeom prst="rect">
                <a:avLst/>
              </a:prstGeom>
              <a:blipFill>
                <a:blip r:embed="rId14"/>
                <a:stretch>
                  <a:fillRect/>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E92E0BBA-34A9-4C81-A2D7-FF86A3257726}"/>
              </a:ext>
            </a:extLst>
          </p:cNvPr>
          <p:cNvSpPr/>
          <p:nvPr/>
        </p:nvSpPr>
        <p:spPr>
          <a:xfrm>
            <a:off x="3796797" y="999457"/>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32" name="Rectangle 31">
            <a:extLst>
              <a:ext uri="{FF2B5EF4-FFF2-40B4-BE49-F238E27FC236}">
                <a16:creationId xmlns:a16="http://schemas.microsoft.com/office/drawing/2014/main" id="{E92E0BBA-34A9-4C81-A2D7-FF86A3257726}"/>
              </a:ext>
            </a:extLst>
          </p:cNvPr>
          <p:cNvSpPr/>
          <p:nvPr/>
        </p:nvSpPr>
        <p:spPr>
          <a:xfrm>
            <a:off x="3796796" y="1384949"/>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33" name="Rectangle 32">
            <a:extLst>
              <a:ext uri="{FF2B5EF4-FFF2-40B4-BE49-F238E27FC236}">
                <a16:creationId xmlns:a16="http://schemas.microsoft.com/office/drawing/2014/main" id="{E92E0BBA-34A9-4C81-A2D7-FF86A3257726}"/>
              </a:ext>
            </a:extLst>
          </p:cNvPr>
          <p:cNvSpPr/>
          <p:nvPr/>
        </p:nvSpPr>
        <p:spPr>
          <a:xfrm>
            <a:off x="3796795" y="1765417"/>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34" name="Rectangle 33">
            <a:extLst>
              <a:ext uri="{FF2B5EF4-FFF2-40B4-BE49-F238E27FC236}">
                <a16:creationId xmlns:a16="http://schemas.microsoft.com/office/drawing/2014/main" id="{E92E0BBA-34A9-4C81-A2D7-FF86A3257726}"/>
              </a:ext>
            </a:extLst>
          </p:cNvPr>
          <p:cNvSpPr/>
          <p:nvPr/>
        </p:nvSpPr>
        <p:spPr>
          <a:xfrm>
            <a:off x="3796795" y="2160907"/>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mc:AlternateContent xmlns:mc="http://schemas.openxmlformats.org/markup-compatibility/2006" xmlns:a14="http://schemas.microsoft.com/office/drawing/2010/main">
        <mc:Choice Requires="a14">
          <p:sp>
            <p:nvSpPr>
              <p:cNvPr id="35" name="Rectangle 34"/>
              <p:cNvSpPr/>
              <p:nvPr/>
            </p:nvSpPr>
            <p:spPr>
              <a:xfrm>
                <a:off x="4984358" y="942818"/>
                <a:ext cx="52693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1</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35" name="Rectangle 34"/>
              <p:cNvSpPr>
                <a:spLocks noRot="1" noChangeAspect="1" noMove="1" noResize="1" noEditPoints="1" noAdjustHandles="1" noChangeArrowheads="1" noChangeShapeType="1" noTextEdit="1"/>
              </p:cNvSpPr>
              <p:nvPr/>
            </p:nvSpPr>
            <p:spPr>
              <a:xfrm>
                <a:off x="4984358" y="942818"/>
                <a:ext cx="526939" cy="27699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4980896" y="1304560"/>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2</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36" name="Rectangle 35"/>
              <p:cNvSpPr>
                <a:spLocks noRot="1" noChangeAspect="1" noMove="1" noResize="1" noEditPoints="1" noAdjustHandles="1" noChangeArrowheads="1" noChangeShapeType="1" noTextEdit="1"/>
              </p:cNvSpPr>
              <p:nvPr/>
            </p:nvSpPr>
            <p:spPr>
              <a:xfrm>
                <a:off x="4980896" y="1304560"/>
                <a:ext cx="530530" cy="276999"/>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4981707" y="1729493"/>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3</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37" name="Rectangle 36"/>
              <p:cNvSpPr>
                <a:spLocks noRot="1" noChangeAspect="1" noMove="1" noResize="1" noEditPoints="1" noAdjustHandles="1" noChangeArrowheads="1" noChangeShapeType="1" noTextEdit="1"/>
              </p:cNvSpPr>
              <p:nvPr/>
            </p:nvSpPr>
            <p:spPr>
              <a:xfrm>
                <a:off x="4981707" y="1729493"/>
                <a:ext cx="530530" cy="276999"/>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4980767" y="2143234"/>
                <a:ext cx="53053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a:latin typeface="Cambria Math" panose="02040503050406030204" pitchFamily="18" charset="0"/>
                            </a:rPr>
                            <m:t>𝑥</m:t>
                          </m:r>
                        </m:e>
                        <m:sub>
                          <m:r>
                            <a:rPr lang="en-GB" sz="1200" b="0" i="1" noProof="0" smtClean="0">
                              <a:latin typeface="Cambria Math" panose="02040503050406030204" pitchFamily="18" charset="0"/>
                            </a:rPr>
                            <m:t>4</m:t>
                          </m:r>
                        </m:sub>
                      </m:sSub>
                      <m:r>
                        <a:rPr lang="en-GB" sz="1200" b="0" i="1" noProof="0" smtClean="0">
                          <a:latin typeface="Cambria Math" panose="02040503050406030204" pitchFamily="18" charset="0"/>
                        </a:rPr>
                        <m:t>=</m:t>
                      </m:r>
                    </m:oMath>
                  </m:oMathPara>
                </a14:m>
                <a:endParaRPr lang="en-GB" sz="1200" noProof="0" dirty="0"/>
              </a:p>
            </p:txBody>
          </p:sp>
        </mc:Choice>
        <mc:Fallback xmlns="">
          <p:sp>
            <p:nvSpPr>
              <p:cNvPr id="38" name="Rectangle 37"/>
              <p:cNvSpPr>
                <a:spLocks noRot="1" noChangeAspect="1" noMove="1" noResize="1" noEditPoints="1" noAdjustHandles="1" noChangeArrowheads="1" noChangeShapeType="1" noTextEdit="1"/>
              </p:cNvSpPr>
              <p:nvPr/>
            </p:nvSpPr>
            <p:spPr>
              <a:xfrm>
                <a:off x="4980767" y="2143234"/>
                <a:ext cx="530530" cy="276999"/>
              </a:xfrm>
              <a:prstGeom prst="rect">
                <a:avLst/>
              </a:prstGeom>
              <a:blipFill>
                <a:blip r:embed="rId13"/>
                <a:stretch>
                  <a:fillRect/>
                </a:stretch>
              </a:blipFill>
            </p:spPr>
            <p:txBody>
              <a:bodyPr/>
              <a:lstStyle/>
              <a:p>
                <a:r>
                  <a:rPr lang="en-US">
                    <a:noFill/>
                  </a:rPr>
                  <a:t> </a:t>
                </a:r>
              </a:p>
            </p:txBody>
          </p:sp>
        </mc:Fallback>
      </mc:AlternateContent>
      <p:sp>
        <p:nvSpPr>
          <p:cNvPr id="39" name="Rectangle 38">
            <a:extLst>
              <a:ext uri="{FF2B5EF4-FFF2-40B4-BE49-F238E27FC236}">
                <a16:creationId xmlns:a16="http://schemas.microsoft.com/office/drawing/2014/main" id="{E92E0BBA-34A9-4C81-A2D7-FF86A3257726}"/>
              </a:ext>
            </a:extLst>
          </p:cNvPr>
          <p:cNvSpPr/>
          <p:nvPr/>
        </p:nvSpPr>
        <p:spPr>
          <a:xfrm>
            <a:off x="5511297" y="966326"/>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40" name="Rectangle 39">
            <a:extLst>
              <a:ext uri="{FF2B5EF4-FFF2-40B4-BE49-F238E27FC236}">
                <a16:creationId xmlns:a16="http://schemas.microsoft.com/office/drawing/2014/main" id="{E92E0BBA-34A9-4C81-A2D7-FF86A3257726}"/>
              </a:ext>
            </a:extLst>
          </p:cNvPr>
          <p:cNvSpPr/>
          <p:nvPr/>
        </p:nvSpPr>
        <p:spPr>
          <a:xfrm>
            <a:off x="5511296" y="1351818"/>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41" name="Rectangle 40">
            <a:extLst>
              <a:ext uri="{FF2B5EF4-FFF2-40B4-BE49-F238E27FC236}">
                <a16:creationId xmlns:a16="http://schemas.microsoft.com/office/drawing/2014/main" id="{E92E0BBA-34A9-4C81-A2D7-FF86A3257726}"/>
              </a:ext>
            </a:extLst>
          </p:cNvPr>
          <p:cNvSpPr/>
          <p:nvPr/>
        </p:nvSpPr>
        <p:spPr>
          <a:xfrm>
            <a:off x="5511295" y="1732286"/>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42" name="Rectangle 41">
            <a:extLst>
              <a:ext uri="{FF2B5EF4-FFF2-40B4-BE49-F238E27FC236}">
                <a16:creationId xmlns:a16="http://schemas.microsoft.com/office/drawing/2014/main" id="{E92E0BBA-34A9-4C81-A2D7-FF86A3257726}"/>
              </a:ext>
            </a:extLst>
          </p:cNvPr>
          <p:cNvSpPr/>
          <p:nvPr/>
        </p:nvSpPr>
        <p:spPr>
          <a:xfrm>
            <a:off x="5511295" y="2127776"/>
            <a:ext cx="1008839" cy="2642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sp>
        <p:nvSpPr>
          <p:cNvPr id="43" name="Rectangle 42">
            <a:extLst>
              <a:ext uri="{FF2B5EF4-FFF2-40B4-BE49-F238E27FC236}">
                <a16:creationId xmlns:a16="http://schemas.microsoft.com/office/drawing/2014/main" id="{3C36006B-227E-45B6-ACB0-32FCE0D906FC}"/>
              </a:ext>
            </a:extLst>
          </p:cNvPr>
          <p:cNvSpPr/>
          <p:nvPr/>
        </p:nvSpPr>
        <p:spPr>
          <a:xfrm>
            <a:off x="55521" y="493038"/>
            <a:ext cx="1582779" cy="22806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4" name="Rectangle 43">
            <a:extLst>
              <a:ext uri="{FF2B5EF4-FFF2-40B4-BE49-F238E27FC236}">
                <a16:creationId xmlns:a16="http://schemas.microsoft.com/office/drawing/2014/main" id="{3C36006B-227E-45B6-ACB0-32FCE0D906FC}"/>
              </a:ext>
            </a:extLst>
          </p:cNvPr>
          <p:cNvSpPr/>
          <p:nvPr/>
        </p:nvSpPr>
        <p:spPr>
          <a:xfrm>
            <a:off x="1714371" y="485392"/>
            <a:ext cx="1582779" cy="22806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5" name="Rectangle 44">
            <a:extLst>
              <a:ext uri="{FF2B5EF4-FFF2-40B4-BE49-F238E27FC236}">
                <a16:creationId xmlns:a16="http://schemas.microsoft.com/office/drawing/2014/main" id="{3C36006B-227E-45B6-ACB0-32FCE0D906FC}"/>
              </a:ext>
            </a:extLst>
          </p:cNvPr>
          <p:cNvSpPr/>
          <p:nvPr/>
        </p:nvSpPr>
        <p:spPr>
          <a:xfrm>
            <a:off x="3384962" y="485392"/>
            <a:ext cx="1582779" cy="22806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6" name="Rectangle 45">
            <a:extLst>
              <a:ext uri="{FF2B5EF4-FFF2-40B4-BE49-F238E27FC236}">
                <a16:creationId xmlns:a16="http://schemas.microsoft.com/office/drawing/2014/main" id="{3C36006B-227E-45B6-ACB0-32FCE0D906FC}"/>
              </a:ext>
            </a:extLst>
          </p:cNvPr>
          <p:cNvSpPr/>
          <p:nvPr/>
        </p:nvSpPr>
        <p:spPr>
          <a:xfrm>
            <a:off x="5039028" y="493038"/>
            <a:ext cx="1665426" cy="22806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7" name="TextBox 46">
            <a:extLst>
              <a:ext uri="{FF2B5EF4-FFF2-40B4-BE49-F238E27FC236}">
                <a16:creationId xmlns:a16="http://schemas.microsoft.com/office/drawing/2014/main" id="{1B91975E-B426-4910-919C-E3C5554DC081}"/>
              </a:ext>
            </a:extLst>
          </p:cNvPr>
          <p:cNvSpPr txBox="1"/>
          <p:nvPr/>
        </p:nvSpPr>
        <p:spPr>
          <a:xfrm>
            <a:off x="46153" y="2547684"/>
            <a:ext cx="2790187" cy="276999"/>
          </a:xfrm>
          <a:prstGeom prst="rect">
            <a:avLst/>
          </a:prstGeom>
          <a:solidFill>
            <a:srgbClr val="0070C0"/>
          </a:solidFill>
        </p:spPr>
        <p:txBody>
          <a:bodyPr wrap="none" rtlCol="0" anchor="ctr">
            <a:spAutoFit/>
          </a:bodyPr>
          <a:lstStyle/>
          <a:p>
            <a:pPr algn="ctr"/>
            <a:r>
              <a:rPr lang="en-GB" sz="1200" b="1" noProof="0" dirty="0">
                <a:solidFill>
                  <a:schemeClr val="bg1"/>
                </a:solidFill>
              </a:rPr>
              <a:t>APPLICATIONS OF ITERATIVE SEQUENCES</a:t>
            </a:r>
          </a:p>
        </p:txBody>
      </p:sp>
      <mc:AlternateContent xmlns:mc="http://schemas.openxmlformats.org/markup-compatibility/2006" xmlns:a14="http://schemas.microsoft.com/office/drawing/2010/main">
        <mc:Choice Requires="a14">
          <p:graphicFrame>
            <p:nvGraphicFramePr>
              <p:cNvPr id="49" name="Table 48"/>
              <p:cNvGraphicFramePr>
                <a:graphicFrameLocks noGrp="1"/>
              </p:cNvGraphicFramePr>
              <p:nvPr>
                <p:extLst>
                  <p:ext uri="{D42A27DB-BD31-4B8C-83A1-F6EECF244321}">
                    <p14:modId xmlns:p14="http://schemas.microsoft.com/office/powerpoint/2010/main" val="1913193436"/>
                  </p:ext>
                </p:extLst>
              </p:nvPr>
            </p:nvGraphicFramePr>
            <p:xfrm>
              <a:off x="65470" y="5318021"/>
              <a:ext cx="6638984" cy="4301006"/>
            </p:xfrm>
            <a:graphic>
              <a:graphicData uri="http://schemas.openxmlformats.org/drawingml/2006/table">
                <a:tbl>
                  <a:tblPr firstRow="1" bandRow="1">
                    <a:tableStyleId>{5C22544A-7EE6-4342-B048-85BDC9FD1C3A}</a:tableStyleId>
                  </a:tblPr>
                  <a:tblGrid>
                    <a:gridCol w="1659746">
                      <a:extLst>
                        <a:ext uri="{9D8B030D-6E8A-4147-A177-3AD203B41FA5}">
                          <a16:colId xmlns:a16="http://schemas.microsoft.com/office/drawing/2014/main" val="1568142362"/>
                        </a:ext>
                      </a:extLst>
                    </a:gridCol>
                    <a:gridCol w="1659746">
                      <a:extLst>
                        <a:ext uri="{9D8B030D-6E8A-4147-A177-3AD203B41FA5}">
                          <a16:colId xmlns:a16="http://schemas.microsoft.com/office/drawing/2014/main" val="3551711160"/>
                        </a:ext>
                      </a:extLst>
                    </a:gridCol>
                    <a:gridCol w="1659746">
                      <a:extLst>
                        <a:ext uri="{9D8B030D-6E8A-4147-A177-3AD203B41FA5}">
                          <a16:colId xmlns:a16="http://schemas.microsoft.com/office/drawing/2014/main" val="772331842"/>
                        </a:ext>
                      </a:extLst>
                    </a:gridCol>
                    <a:gridCol w="1659746">
                      <a:extLst>
                        <a:ext uri="{9D8B030D-6E8A-4147-A177-3AD203B41FA5}">
                          <a16:colId xmlns:a16="http://schemas.microsoft.com/office/drawing/2014/main" val="1506195925"/>
                        </a:ext>
                      </a:extLst>
                    </a:gridCol>
                  </a:tblGrid>
                  <a:tr h="1562039">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GB" sz="1200" b="0" noProof="0" dirty="0">
                              <a:solidFill>
                                <a:schemeClr val="tx1"/>
                              </a:solidFill>
                            </a:rPr>
                            <a:t>The number of slugs in a garden </a:t>
                          </a:r>
                          <a14:m>
                            <m:oMath xmlns:m="http://schemas.openxmlformats.org/officeDocument/2006/math">
                              <m:r>
                                <a:rPr lang="en-GB" sz="1200" b="0" i="1" noProof="0" smtClean="0">
                                  <a:solidFill>
                                    <a:schemeClr val="tx1"/>
                                  </a:solidFill>
                                  <a:latin typeface="Cambria Math" panose="02040503050406030204" pitchFamily="18" charset="0"/>
                                </a:rPr>
                                <m:t>𝑡</m:t>
                              </m:r>
                            </m:oMath>
                          </a14:m>
                          <a:r>
                            <a:rPr lang="en-GB" sz="1200" b="0" noProof="0" dirty="0">
                              <a:solidFill>
                                <a:schemeClr val="tx1"/>
                              </a:solidFill>
                            </a:rPr>
                            <a:t> days from now is </a:t>
                          </a:r>
                          <a14:m>
                            <m:oMath xmlns:m="http://schemas.openxmlformats.org/officeDocument/2006/math">
                              <m:r>
                                <a:rPr lang="en-GB" sz="1200" b="0" i="1" noProof="0" smtClean="0">
                                  <a:solidFill>
                                    <a:schemeClr val="tx1"/>
                                  </a:solidFill>
                                  <a:latin typeface="Cambria Math" panose="02040503050406030204" pitchFamily="18" charset="0"/>
                                </a:rPr>
                                <m:t>𝑝</m:t>
                              </m:r>
                            </m:oMath>
                          </a14:m>
                          <a:r>
                            <a:rPr lang="en-GB" sz="1200" b="0" noProof="0" dirty="0">
                              <a:solidFill>
                                <a:schemeClr val="tx1"/>
                              </a:solidFill>
                            </a:rPr>
                            <a:t>, where </a:t>
                          </a:r>
                        </a:p>
                        <a:p>
                          <a:pPr algn="l"/>
                          <a14:m>
                            <m:oMathPara xmlns:m="http://schemas.openxmlformats.org/officeDocument/2006/math">
                              <m:oMathParaPr>
                                <m:jc m:val="centerGroup"/>
                              </m:oMathParaPr>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𝑝</m:t>
                                    </m:r>
                                  </m:e>
                                  <m:sub>
                                    <m:r>
                                      <a:rPr lang="en-GB" sz="1200" b="0" i="1" noProof="0" smtClean="0">
                                        <a:solidFill>
                                          <a:schemeClr val="tx1"/>
                                        </a:solidFill>
                                        <a:latin typeface="Cambria Math" panose="02040503050406030204" pitchFamily="18" charset="0"/>
                                      </a:rPr>
                                      <m:t>0</m:t>
                                    </m:r>
                                  </m:sub>
                                </m:sSub>
                                <m:r>
                                  <a:rPr lang="en-GB" sz="1200" b="0" i="1" noProof="0" smtClean="0">
                                    <a:solidFill>
                                      <a:schemeClr val="tx1"/>
                                    </a:solidFill>
                                    <a:latin typeface="Cambria Math" panose="02040503050406030204" pitchFamily="18" charset="0"/>
                                  </a:rPr>
                                  <m:t>=100</m:t>
                                </m:r>
                              </m:oMath>
                            </m:oMathPara>
                          </a14:m>
                          <a:endParaRPr lang="en-GB" sz="1200" b="0" noProof="0" dirty="0">
                            <a:solidFill>
                              <a:schemeClr val="tx1"/>
                            </a:solidFill>
                          </a:endParaRPr>
                        </a:p>
                        <a:p>
                          <a:pPr algn="l"/>
                          <a14:m>
                            <m:oMathPara xmlns:m="http://schemas.openxmlformats.org/officeDocument/2006/math">
                              <m:oMathParaPr>
                                <m:jc m:val="centerGroup"/>
                              </m:oMathParaPr>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𝑝</m:t>
                                    </m:r>
                                  </m:e>
                                  <m:sub>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+1</m:t>
                                    </m:r>
                                  </m:sub>
                                </m:sSub>
                                <m:r>
                                  <a:rPr lang="en-GB" sz="1200" b="0" i="1" noProof="0" smtClean="0">
                                    <a:solidFill>
                                      <a:schemeClr val="tx1"/>
                                    </a:solidFill>
                                    <a:latin typeface="Cambria Math" panose="02040503050406030204" pitchFamily="18" charset="0"/>
                                  </a:rPr>
                                  <m:t>=</m:t>
                                </m:r>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1.06</m:t>
                                    </m:r>
                                    <m:r>
                                      <a:rPr lang="en-GB" sz="1200" b="0" i="1" noProof="0" smtClean="0">
                                        <a:solidFill>
                                          <a:schemeClr val="tx1"/>
                                        </a:solidFill>
                                        <a:latin typeface="Cambria Math" panose="02040503050406030204" pitchFamily="18" charset="0"/>
                                      </a:rPr>
                                      <m:t>𝑝</m:t>
                                    </m:r>
                                  </m:e>
                                  <m:sub>
                                    <m:r>
                                      <a:rPr lang="en-GB" sz="1200" b="0" i="1" noProof="0" smtClean="0">
                                        <a:solidFill>
                                          <a:schemeClr val="tx1"/>
                                        </a:solidFill>
                                        <a:latin typeface="Cambria Math" panose="02040503050406030204" pitchFamily="18" charset="0"/>
                                      </a:rPr>
                                      <m:t>𝑡</m:t>
                                    </m:r>
                                  </m:sub>
                                </m:sSub>
                              </m:oMath>
                            </m:oMathPara>
                          </a14:m>
                          <a:endParaRPr lang="en-GB" sz="1200" b="0" noProof="0" dirty="0">
                            <a:solidFill>
                              <a:schemeClr val="tx1"/>
                            </a:solidFill>
                          </a:endParaRPr>
                        </a:p>
                        <a:p>
                          <a:pPr algn="l"/>
                          <a:endParaRPr lang="en-GB" sz="1200" b="0" noProof="0" dirty="0">
                            <a:solidFill>
                              <a:schemeClr val="tx1"/>
                            </a:solidFill>
                          </a:endParaRPr>
                        </a:p>
                        <a:p>
                          <a:pPr algn="l"/>
                          <a:r>
                            <a:rPr lang="en-GB" sz="1200" b="0" noProof="0" dirty="0">
                              <a:solidFill>
                                <a:schemeClr val="tx1"/>
                              </a:solidFill>
                            </a:rPr>
                            <a:t>Work out the number of slugs in the garden 3 days from now.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GB" sz="1200" b="0" noProof="0" dirty="0">
                              <a:solidFill>
                                <a:schemeClr val="tx1"/>
                              </a:solidFill>
                            </a:rPr>
                            <a:t>The number of ants in a garden </a:t>
                          </a:r>
                          <a14:m>
                            <m:oMath xmlns:m="http://schemas.openxmlformats.org/officeDocument/2006/math">
                              <m:r>
                                <a:rPr lang="en-GB" sz="1200" b="0" i="1" noProof="0" smtClean="0">
                                  <a:solidFill>
                                    <a:schemeClr val="tx1"/>
                                  </a:solidFill>
                                  <a:latin typeface="Cambria Math" panose="02040503050406030204" pitchFamily="18" charset="0"/>
                                </a:rPr>
                                <m:t>𝑡</m:t>
                              </m:r>
                            </m:oMath>
                          </a14:m>
                          <a:r>
                            <a:rPr lang="en-GB" sz="1200" b="0" noProof="0" dirty="0">
                              <a:solidFill>
                                <a:schemeClr val="tx1"/>
                              </a:solidFill>
                            </a:rPr>
                            <a:t> days from now is </a:t>
                          </a:r>
                          <a14:m>
                            <m:oMath xmlns:m="http://schemas.openxmlformats.org/officeDocument/2006/math">
                              <m:r>
                                <a:rPr lang="en-GB" sz="1200" b="0" i="1" noProof="0" smtClean="0">
                                  <a:solidFill>
                                    <a:schemeClr val="tx1"/>
                                  </a:solidFill>
                                  <a:latin typeface="Cambria Math" panose="02040503050406030204" pitchFamily="18" charset="0"/>
                                </a:rPr>
                                <m:t>𝑝</m:t>
                              </m:r>
                            </m:oMath>
                          </a14:m>
                          <a:r>
                            <a:rPr lang="en-GB" sz="1200" b="0" noProof="0" dirty="0">
                              <a:solidFill>
                                <a:schemeClr val="tx1"/>
                              </a:solidFill>
                            </a:rPr>
                            <a:t>, where </a:t>
                          </a:r>
                        </a:p>
                        <a:p>
                          <a:pPr algn="l"/>
                          <a14:m>
                            <m:oMathPara xmlns:m="http://schemas.openxmlformats.org/officeDocument/2006/math">
                              <m:oMathParaPr>
                                <m:jc m:val="centerGroup"/>
                              </m:oMathParaPr>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𝑝</m:t>
                                    </m:r>
                                  </m:e>
                                  <m:sub>
                                    <m:r>
                                      <a:rPr lang="en-GB" sz="1200" b="0" i="1" noProof="0" smtClean="0">
                                        <a:solidFill>
                                          <a:schemeClr val="tx1"/>
                                        </a:solidFill>
                                        <a:latin typeface="Cambria Math" panose="02040503050406030204" pitchFamily="18" charset="0"/>
                                      </a:rPr>
                                      <m:t>0</m:t>
                                    </m:r>
                                  </m:sub>
                                </m:sSub>
                                <m:r>
                                  <a:rPr lang="en-GB" sz="1200" b="0" i="1" noProof="0" smtClean="0">
                                    <a:solidFill>
                                      <a:schemeClr val="tx1"/>
                                    </a:solidFill>
                                    <a:latin typeface="Cambria Math" panose="02040503050406030204" pitchFamily="18" charset="0"/>
                                  </a:rPr>
                                  <m:t>=120</m:t>
                                </m:r>
                              </m:oMath>
                            </m:oMathPara>
                          </a14:m>
                          <a:endParaRPr lang="en-GB" sz="1200" b="0" noProof="0" dirty="0">
                            <a:solidFill>
                              <a:schemeClr val="tx1"/>
                            </a:solidFill>
                          </a:endParaRPr>
                        </a:p>
                        <a:p>
                          <a:pPr algn="l"/>
                          <a14:m>
                            <m:oMathPara xmlns:m="http://schemas.openxmlformats.org/officeDocument/2006/math">
                              <m:oMathParaPr>
                                <m:jc m:val="centerGroup"/>
                              </m:oMathParaPr>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𝑝</m:t>
                                    </m:r>
                                  </m:e>
                                  <m:sub>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+1</m:t>
                                    </m:r>
                                  </m:sub>
                                </m:sSub>
                                <m:r>
                                  <a:rPr lang="en-GB" sz="1200" b="0" i="1" noProof="0" smtClean="0">
                                    <a:solidFill>
                                      <a:schemeClr val="tx1"/>
                                    </a:solidFill>
                                    <a:latin typeface="Cambria Math" panose="02040503050406030204" pitchFamily="18" charset="0"/>
                                  </a:rPr>
                                  <m:t>=</m:t>
                                </m:r>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1.06</m:t>
                                    </m:r>
                                    <m:r>
                                      <a:rPr lang="en-GB" sz="1200" b="0" i="1" noProof="0" smtClean="0">
                                        <a:solidFill>
                                          <a:schemeClr val="tx1"/>
                                        </a:solidFill>
                                        <a:latin typeface="Cambria Math" panose="02040503050406030204" pitchFamily="18" charset="0"/>
                                      </a:rPr>
                                      <m:t>𝑝</m:t>
                                    </m:r>
                                  </m:e>
                                  <m:sub>
                                    <m:r>
                                      <a:rPr lang="en-GB" sz="1200" b="0" i="1" noProof="0" smtClean="0">
                                        <a:solidFill>
                                          <a:schemeClr val="tx1"/>
                                        </a:solidFill>
                                        <a:latin typeface="Cambria Math" panose="02040503050406030204" pitchFamily="18" charset="0"/>
                                      </a:rPr>
                                      <m:t>𝑡</m:t>
                                    </m:r>
                                  </m:sub>
                                </m:sSub>
                              </m:oMath>
                            </m:oMathPara>
                          </a14:m>
                          <a:endParaRPr lang="en-GB" sz="1200" b="0" noProof="0" dirty="0">
                            <a:solidFill>
                              <a:schemeClr val="tx1"/>
                            </a:solidFill>
                          </a:endParaRPr>
                        </a:p>
                        <a:p>
                          <a:pPr algn="l"/>
                          <a:endParaRPr lang="en-GB" sz="1200" b="0" noProof="0" dirty="0">
                            <a:solidFill>
                              <a:schemeClr val="tx1"/>
                            </a:solidFill>
                          </a:endParaRPr>
                        </a:p>
                        <a:p>
                          <a:pPr algn="l"/>
                          <a:r>
                            <a:rPr lang="en-GB" sz="1200" b="0" noProof="0" dirty="0">
                              <a:solidFill>
                                <a:schemeClr val="tx1"/>
                              </a:solidFill>
                            </a:rPr>
                            <a:t>Work out the number of ants in the garden 7 days from now.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GB" sz="1200" b="0" noProof="0" dirty="0">
                              <a:solidFill>
                                <a:schemeClr val="tx1"/>
                              </a:solidFill>
                            </a:rPr>
                            <a:t>The number of flies in a garden </a:t>
                          </a:r>
                          <a14:m>
                            <m:oMath xmlns:m="http://schemas.openxmlformats.org/officeDocument/2006/math">
                              <m:r>
                                <a:rPr lang="en-GB" sz="1200" b="0" i="1" noProof="0" smtClean="0">
                                  <a:solidFill>
                                    <a:schemeClr val="tx1"/>
                                  </a:solidFill>
                                  <a:latin typeface="Cambria Math" panose="02040503050406030204" pitchFamily="18" charset="0"/>
                                </a:rPr>
                                <m:t>𝑡</m:t>
                              </m:r>
                            </m:oMath>
                          </a14:m>
                          <a:r>
                            <a:rPr lang="en-GB" sz="1200" b="0" noProof="0" dirty="0">
                              <a:solidFill>
                                <a:schemeClr val="tx1"/>
                              </a:solidFill>
                            </a:rPr>
                            <a:t> days from now is </a:t>
                          </a:r>
                          <a14:m>
                            <m:oMath xmlns:m="http://schemas.openxmlformats.org/officeDocument/2006/math">
                              <m:r>
                                <a:rPr lang="en-GB" sz="1200" b="0" i="1" noProof="0" smtClean="0">
                                  <a:solidFill>
                                    <a:schemeClr val="tx1"/>
                                  </a:solidFill>
                                  <a:latin typeface="Cambria Math" panose="02040503050406030204" pitchFamily="18" charset="0"/>
                                </a:rPr>
                                <m:t>𝑝</m:t>
                              </m:r>
                            </m:oMath>
                          </a14:m>
                          <a:r>
                            <a:rPr lang="en-GB" sz="1200" b="0" noProof="0" dirty="0">
                              <a:solidFill>
                                <a:schemeClr val="tx1"/>
                              </a:solidFill>
                            </a:rPr>
                            <a:t>, where </a:t>
                          </a:r>
                        </a:p>
                        <a:p>
                          <a:pPr algn="l"/>
                          <a14:m>
                            <m:oMathPara xmlns:m="http://schemas.openxmlformats.org/officeDocument/2006/math">
                              <m:oMathParaPr>
                                <m:jc m:val="centerGroup"/>
                              </m:oMathParaPr>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𝑝</m:t>
                                    </m:r>
                                  </m:e>
                                  <m:sub>
                                    <m:r>
                                      <a:rPr lang="en-GB" sz="1200" b="0" i="1" noProof="0" smtClean="0">
                                        <a:solidFill>
                                          <a:schemeClr val="tx1"/>
                                        </a:solidFill>
                                        <a:latin typeface="Cambria Math" panose="02040503050406030204" pitchFamily="18" charset="0"/>
                                      </a:rPr>
                                      <m:t>0</m:t>
                                    </m:r>
                                  </m:sub>
                                </m:sSub>
                                <m:r>
                                  <a:rPr lang="en-GB" sz="1200" b="0" i="1" noProof="0" smtClean="0">
                                    <a:solidFill>
                                      <a:schemeClr val="tx1"/>
                                    </a:solidFill>
                                    <a:latin typeface="Cambria Math" panose="02040503050406030204" pitchFamily="18" charset="0"/>
                                  </a:rPr>
                                  <m:t>=1200</m:t>
                                </m:r>
                              </m:oMath>
                            </m:oMathPara>
                          </a14:m>
                          <a:endParaRPr lang="en-GB" sz="1200" b="0" noProof="0" dirty="0">
                            <a:solidFill>
                              <a:schemeClr val="tx1"/>
                            </a:solidFill>
                          </a:endParaRPr>
                        </a:p>
                        <a:p>
                          <a:pPr algn="l"/>
                          <a14:m>
                            <m:oMathPara xmlns:m="http://schemas.openxmlformats.org/officeDocument/2006/math">
                              <m:oMathParaPr>
                                <m:jc m:val="centerGroup"/>
                              </m:oMathParaPr>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𝑝</m:t>
                                    </m:r>
                                  </m:e>
                                  <m:sub>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+1</m:t>
                                    </m:r>
                                  </m:sub>
                                </m:sSub>
                                <m:r>
                                  <a:rPr lang="en-GB" sz="1200" b="0" i="1" noProof="0" smtClean="0">
                                    <a:solidFill>
                                      <a:schemeClr val="tx1"/>
                                    </a:solidFill>
                                    <a:latin typeface="Cambria Math" panose="02040503050406030204" pitchFamily="18" charset="0"/>
                                  </a:rPr>
                                  <m:t>=</m:t>
                                </m:r>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1.07</m:t>
                                    </m:r>
                                    <m:r>
                                      <a:rPr lang="en-GB" sz="1200" b="0" i="1" noProof="0" smtClean="0">
                                        <a:solidFill>
                                          <a:schemeClr val="tx1"/>
                                        </a:solidFill>
                                        <a:latin typeface="Cambria Math" panose="02040503050406030204" pitchFamily="18" charset="0"/>
                                      </a:rPr>
                                      <m:t>𝑝</m:t>
                                    </m:r>
                                  </m:e>
                                  <m:sub>
                                    <m:r>
                                      <a:rPr lang="en-GB" sz="1200" b="0" i="1" noProof="0" smtClean="0">
                                        <a:solidFill>
                                          <a:schemeClr val="tx1"/>
                                        </a:solidFill>
                                        <a:latin typeface="Cambria Math" panose="02040503050406030204" pitchFamily="18" charset="0"/>
                                      </a:rPr>
                                      <m:t>𝑡</m:t>
                                    </m:r>
                                  </m:sub>
                                </m:sSub>
                              </m:oMath>
                            </m:oMathPara>
                          </a14:m>
                          <a:endParaRPr lang="en-GB" sz="1200" b="0" noProof="0" dirty="0">
                            <a:solidFill>
                              <a:schemeClr val="tx1"/>
                            </a:solidFill>
                          </a:endParaRPr>
                        </a:p>
                        <a:p>
                          <a:pPr algn="l"/>
                          <a:endParaRPr lang="en-GB" sz="1200" b="0" noProof="0" dirty="0">
                            <a:solidFill>
                              <a:schemeClr val="tx1"/>
                            </a:solidFill>
                          </a:endParaRPr>
                        </a:p>
                        <a:p>
                          <a:pPr algn="l"/>
                          <a:r>
                            <a:rPr lang="en-GB" sz="1200" b="0" noProof="0" dirty="0">
                              <a:solidFill>
                                <a:schemeClr val="tx1"/>
                              </a:solidFill>
                            </a:rPr>
                            <a:t>Work out the number of flies in the garden 5 days from now.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86277">
                    <a:tc>
                      <a:txBody>
                        <a:bodyPr/>
                        <a:lstStyle/>
                        <a:p>
                          <a:r>
                            <a:rPr lang="en-GB" sz="1200" noProof="0" dirty="0"/>
                            <a:t>Write </a:t>
                          </a:r>
                          <a14:m>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𝑝</m:t>
                                  </m:r>
                                </m:e>
                                <m:sub>
                                  <m:r>
                                    <a:rPr lang="en-GB" sz="1200" b="0" i="1" noProof="0" smtClean="0">
                                      <a:solidFill>
                                        <a:schemeClr val="tx1"/>
                                      </a:solidFill>
                                      <a:latin typeface="Cambria Math" panose="02040503050406030204" pitchFamily="18" charset="0"/>
                                    </a:rPr>
                                    <m:t>0</m:t>
                                  </m:r>
                                </m:sub>
                              </m:sSub>
                            </m:oMath>
                          </a14:m>
                          <a:r>
                            <a:rPr lang="en-GB" sz="1200" noProof="0" dirty="0"/>
                            <a:t> into your calculator and click equals.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86277">
                    <a:tc>
                      <a:txBody>
                        <a:bodyPr/>
                        <a:lstStyle/>
                        <a:p>
                          <a:r>
                            <a:rPr lang="en-GB" sz="1200" noProof="0" dirty="0"/>
                            <a:t>Type</a:t>
                          </a:r>
                          <a:r>
                            <a:rPr lang="en-GB" sz="1200" baseline="0" noProof="0" dirty="0"/>
                            <a:t> out the series and substitute ANS for </a:t>
                          </a:r>
                          <a14:m>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𝑝</m:t>
                                  </m:r>
                                </m:e>
                                <m:sub>
                                  <m:r>
                                    <a:rPr lang="en-GB" sz="1200" b="0" i="1" noProof="0" smtClean="0">
                                      <a:solidFill>
                                        <a:schemeClr val="tx1"/>
                                      </a:solidFill>
                                      <a:latin typeface="Cambria Math" panose="02040503050406030204" pitchFamily="18" charset="0"/>
                                    </a:rPr>
                                    <m:t>𝑛</m:t>
                                  </m:r>
                                </m:sub>
                              </m:sSub>
                            </m:oMath>
                          </a14:m>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991092">
                    <a:tc>
                      <a:txBody>
                        <a:bodyPr/>
                        <a:lstStyle/>
                        <a:p>
                          <a:r>
                            <a:rPr lang="en-GB" sz="1200" noProof="0" dirty="0"/>
                            <a:t>Click</a:t>
                          </a:r>
                          <a:r>
                            <a:rPr lang="en-GB" sz="1200" baseline="0" noProof="0" dirty="0"/>
                            <a:t> equals </a:t>
                          </a:r>
                          <a14:m>
                            <m:oMath xmlns:m="http://schemas.openxmlformats.org/officeDocument/2006/math">
                              <m:r>
                                <a:rPr lang="en-GB" sz="1200" b="0" i="1" baseline="0" noProof="0" smtClean="0">
                                  <a:latin typeface="Cambria Math" panose="02040503050406030204" pitchFamily="18" charset="0"/>
                                </a:rPr>
                                <m:t>𝑛</m:t>
                              </m:r>
                            </m:oMath>
                          </a14:m>
                          <a:r>
                            <a:rPr lang="en-GB" sz="1200" noProof="0" dirty="0"/>
                            <a:t> times (for the amount of terms needed).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Choice>
        <mc:Fallback xmlns="">
          <p:graphicFrame>
            <p:nvGraphicFramePr>
              <p:cNvPr id="49" name="Table 48"/>
              <p:cNvGraphicFramePr>
                <a:graphicFrameLocks noGrp="1"/>
              </p:cNvGraphicFramePr>
              <p:nvPr>
                <p:extLst>
                  <p:ext uri="{D42A27DB-BD31-4B8C-83A1-F6EECF244321}">
                    <p14:modId xmlns:p14="http://schemas.microsoft.com/office/powerpoint/2010/main" val="1913193436"/>
                  </p:ext>
                </p:extLst>
              </p:nvPr>
            </p:nvGraphicFramePr>
            <p:xfrm>
              <a:off x="65470" y="5318021"/>
              <a:ext cx="6638984" cy="4301006"/>
            </p:xfrm>
            <a:graphic>
              <a:graphicData uri="http://schemas.openxmlformats.org/drawingml/2006/table">
                <a:tbl>
                  <a:tblPr firstRow="1" bandRow="1">
                    <a:tableStyleId>{5C22544A-7EE6-4342-B048-85BDC9FD1C3A}</a:tableStyleId>
                  </a:tblPr>
                  <a:tblGrid>
                    <a:gridCol w="1659746">
                      <a:extLst>
                        <a:ext uri="{9D8B030D-6E8A-4147-A177-3AD203B41FA5}">
                          <a16:colId xmlns:a16="http://schemas.microsoft.com/office/drawing/2014/main" val="1568142362"/>
                        </a:ext>
                      </a:extLst>
                    </a:gridCol>
                    <a:gridCol w="1659746">
                      <a:extLst>
                        <a:ext uri="{9D8B030D-6E8A-4147-A177-3AD203B41FA5}">
                          <a16:colId xmlns:a16="http://schemas.microsoft.com/office/drawing/2014/main" val="3551711160"/>
                        </a:ext>
                      </a:extLst>
                    </a:gridCol>
                    <a:gridCol w="1659746">
                      <a:extLst>
                        <a:ext uri="{9D8B030D-6E8A-4147-A177-3AD203B41FA5}">
                          <a16:colId xmlns:a16="http://schemas.microsoft.com/office/drawing/2014/main" val="772331842"/>
                        </a:ext>
                      </a:extLst>
                    </a:gridCol>
                    <a:gridCol w="1659746">
                      <a:extLst>
                        <a:ext uri="{9D8B030D-6E8A-4147-A177-3AD203B41FA5}">
                          <a16:colId xmlns:a16="http://schemas.microsoft.com/office/drawing/2014/main" val="1506195925"/>
                        </a:ext>
                      </a:extLst>
                    </a:gridCol>
                  </a:tblGrid>
                  <a:tr h="173736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6"/>
                          <a:stretch>
                            <a:fillRect l="-100735" t="-351" r="-201103" b="-14877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6"/>
                          <a:stretch>
                            <a:fillRect l="-200000" t="-351" r="-100366" b="-14877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6"/>
                          <a:stretch>
                            <a:fillRect l="-301103" t="-351" r="-735" b="-148772"/>
                          </a:stretch>
                        </a:blipFill>
                      </a:tcPr>
                    </a:tc>
                    <a:extLst>
                      <a:ext uri="{0D108BD9-81ED-4DB2-BD59-A6C34878D82A}">
                        <a16:rowId xmlns:a16="http://schemas.microsoft.com/office/drawing/2014/main" val="2357201933"/>
                      </a:ext>
                    </a:extLst>
                  </a:tr>
                  <a:tr h="78627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6"/>
                          <a:stretch>
                            <a:fillRect l="-366" t="-221705" r="-300000" b="-228682"/>
                          </a:stretch>
                        </a:blip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8627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6"/>
                          <a:stretch>
                            <a:fillRect l="-366" t="-321705" r="-300000" b="-128682"/>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99109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6"/>
                          <a:stretch>
                            <a:fillRect l="-366" t="-333742" r="-300000" b="-1840"/>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Fallback>
      </mc:AlternateContent>
      <p:sp>
        <p:nvSpPr>
          <p:cNvPr id="50" name="TextBox 49">
            <a:extLst>
              <a:ext uri="{FF2B5EF4-FFF2-40B4-BE49-F238E27FC236}">
                <a16:creationId xmlns:a16="http://schemas.microsoft.com/office/drawing/2014/main" id="{EA4FD2D9-8D23-4ADE-B70E-F386FDED2BED}"/>
              </a:ext>
            </a:extLst>
          </p:cNvPr>
          <p:cNvSpPr txBox="1"/>
          <p:nvPr/>
        </p:nvSpPr>
        <p:spPr>
          <a:xfrm>
            <a:off x="5258994" y="4999344"/>
            <a:ext cx="1498808" cy="276999"/>
          </a:xfrm>
          <a:prstGeom prst="rect">
            <a:avLst/>
          </a:prstGeom>
          <a:noFill/>
          <a:ln>
            <a:noFill/>
          </a:ln>
        </p:spPr>
        <p:txBody>
          <a:bodyPr wrap="none" rtlCol="0">
            <a:spAutoFit/>
          </a:bodyPr>
          <a:lstStyle/>
          <a:p>
            <a:r>
              <a:rPr lang="en-GB" sz="1200" b="1" i="1" noProof="0" dirty="0">
                <a:solidFill>
                  <a:srgbClr val="00B050"/>
                </a:solidFill>
              </a:rPr>
              <a:t>Example 6 - You do…</a:t>
            </a:r>
          </a:p>
        </p:txBody>
      </p:sp>
      <p:sp>
        <p:nvSpPr>
          <p:cNvPr id="51" name="TextBox 50">
            <a:extLst>
              <a:ext uri="{FF2B5EF4-FFF2-40B4-BE49-F238E27FC236}">
                <a16:creationId xmlns:a16="http://schemas.microsoft.com/office/drawing/2014/main" id="{08E67FA9-518E-48EE-9C3C-DC43DA12711A}"/>
              </a:ext>
            </a:extLst>
          </p:cNvPr>
          <p:cNvSpPr txBox="1"/>
          <p:nvPr/>
        </p:nvSpPr>
        <p:spPr>
          <a:xfrm>
            <a:off x="3498836" y="5015504"/>
            <a:ext cx="1475789" cy="276999"/>
          </a:xfrm>
          <a:prstGeom prst="rect">
            <a:avLst/>
          </a:prstGeom>
          <a:noFill/>
          <a:ln>
            <a:noFill/>
          </a:ln>
        </p:spPr>
        <p:txBody>
          <a:bodyPr wrap="none" rtlCol="0">
            <a:spAutoFit/>
          </a:bodyPr>
          <a:lstStyle/>
          <a:p>
            <a:r>
              <a:rPr lang="en-GB" sz="1200" b="1" i="1" noProof="0" dirty="0">
                <a:solidFill>
                  <a:schemeClr val="accent2"/>
                </a:solidFill>
              </a:rPr>
              <a:t>Example 5 - We do…</a:t>
            </a:r>
          </a:p>
        </p:txBody>
      </p:sp>
      <p:sp>
        <p:nvSpPr>
          <p:cNvPr id="52" name="TextBox 51">
            <a:extLst>
              <a:ext uri="{FF2B5EF4-FFF2-40B4-BE49-F238E27FC236}">
                <a16:creationId xmlns:a16="http://schemas.microsoft.com/office/drawing/2014/main" id="{0C5FDE3F-DC2A-468E-BF61-F69BF8BB2775}"/>
              </a:ext>
            </a:extLst>
          </p:cNvPr>
          <p:cNvSpPr txBox="1"/>
          <p:nvPr/>
        </p:nvSpPr>
        <p:spPr>
          <a:xfrm>
            <a:off x="1766091" y="5030858"/>
            <a:ext cx="1273234" cy="276999"/>
          </a:xfrm>
          <a:prstGeom prst="rect">
            <a:avLst/>
          </a:prstGeom>
          <a:noFill/>
          <a:ln>
            <a:noFill/>
          </a:ln>
        </p:spPr>
        <p:txBody>
          <a:bodyPr wrap="none" rtlCol="0">
            <a:spAutoFit/>
          </a:bodyPr>
          <a:lstStyle/>
          <a:p>
            <a:r>
              <a:rPr lang="en-GB" sz="1200" b="1" i="1" noProof="0" dirty="0">
                <a:solidFill>
                  <a:srgbClr val="FF0000"/>
                </a:solidFill>
              </a:rPr>
              <a:t>Example 4- I do…</a:t>
            </a:r>
          </a:p>
        </p:txBody>
      </p:sp>
      <p:sp>
        <p:nvSpPr>
          <p:cNvPr id="53" name="TextBox 52">
            <a:extLst>
              <a:ext uri="{FF2B5EF4-FFF2-40B4-BE49-F238E27FC236}">
                <a16:creationId xmlns:a16="http://schemas.microsoft.com/office/drawing/2014/main" id="{C3C65E48-8C3D-6849-AD77-7AD8678AD8DA}"/>
              </a:ext>
            </a:extLst>
          </p:cNvPr>
          <p:cNvSpPr txBox="1"/>
          <p:nvPr/>
        </p:nvSpPr>
        <p:spPr>
          <a:xfrm>
            <a:off x="49202" y="80901"/>
            <a:ext cx="1757790" cy="276999"/>
          </a:xfrm>
          <a:prstGeom prst="rect">
            <a:avLst/>
          </a:prstGeom>
          <a:solidFill>
            <a:srgbClr val="0070C0"/>
          </a:solidFill>
        </p:spPr>
        <p:txBody>
          <a:bodyPr wrap="none" rtlCol="0" anchor="ctr">
            <a:spAutoFit/>
          </a:bodyPr>
          <a:lstStyle/>
          <a:p>
            <a:pPr algn="r"/>
            <a:r>
              <a:rPr lang="en-GB" sz="1200" b="1" noProof="0" dirty="0">
                <a:solidFill>
                  <a:schemeClr val="bg1"/>
                </a:solidFill>
              </a:rPr>
              <a:t>INDEPENDENT</a:t>
            </a:r>
            <a:r>
              <a:rPr lang="en-GB" sz="1050" b="1" noProof="0" dirty="0">
                <a:solidFill>
                  <a:schemeClr val="bg1"/>
                </a:solidFill>
              </a:rPr>
              <a:t> </a:t>
            </a:r>
            <a:r>
              <a:rPr lang="en-GB" sz="1200" b="1" noProof="0" dirty="0">
                <a:solidFill>
                  <a:schemeClr val="bg1"/>
                </a:solidFill>
              </a:rPr>
              <a:t>PRACTICE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4348B3C-1307-8609-4FC1-C49681C29240}"/>
                  </a:ext>
                </a:extLst>
              </p:cNvPr>
              <p:cNvSpPr txBox="1"/>
              <p:nvPr/>
            </p:nvSpPr>
            <p:spPr>
              <a:xfrm>
                <a:off x="46153" y="2824683"/>
                <a:ext cx="6638984" cy="2123658"/>
              </a:xfrm>
              <a:prstGeom prst="rect">
                <a:avLst/>
              </a:prstGeom>
              <a:noFill/>
              <a:ln>
                <a:solidFill>
                  <a:schemeClr val="tx1"/>
                </a:solidFill>
              </a:ln>
            </p:spPr>
            <p:txBody>
              <a:bodyPr wrap="square" rtlCol="0">
                <a:spAutoFit/>
              </a:bodyPr>
              <a:lstStyle/>
              <a:p>
                <a:r>
                  <a:rPr lang="en-GB" sz="1200" noProof="0" dirty="0"/>
                  <a:t>Recurrence relations can also be shown in contextual examples. You have already seen some basic examples of this using compound interest but have never formalised the concept into a recurrence relation.</a:t>
                </a:r>
              </a:p>
              <a:p>
                <a:r>
                  <a:rPr lang="en-GB" sz="1200" b="1" noProof="0" dirty="0"/>
                  <a:t>Example:</a:t>
                </a:r>
                <a:r>
                  <a:rPr lang="en-GB" sz="1200" noProof="0" dirty="0"/>
                  <a:t> Money is placed into a bank with an interest rate of </a:t>
                </a:r>
                <a14:m>
                  <m:oMath xmlns:m="http://schemas.openxmlformats.org/officeDocument/2006/math">
                    <m:r>
                      <a:rPr lang="en-GB" sz="1200" i="1" noProof="0">
                        <a:latin typeface="Cambria Math" panose="02040503050406030204" pitchFamily="18" charset="0"/>
                      </a:rPr>
                      <m:t>3.5%</m:t>
                    </m:r>
                  </m:oMath>
                </a14:m>
                <a:r>
                  <a:rPr lang="en-GB" sz="1200" noProof="0" dirty="0"/>
                  <a:t> per annum. Create a recurrence relation for this situation:</a:t>
                </a:r>
              </a:p>
              <a:p>
                <a:endParaRPr lang="en-GB" sz="1200" noProof="0" dirty="0"/>
              </a:p>
              <a:p>
                <a:endParaRPr lang="en-GB" sz="1200" b="1" noProof="0" dirty="0"/>
              </a:p>
              <a:p>
                <a:r>
                  <a:rPr lang="en-GB" sz="1200" b="1" noProof="0" dirty="0"/>
                  <a:t>Example:</a:t>
                </a:r>
                <a:r>
                  <a:rPr lang="en-GB" sz="1200" noProof="0" dirty="0"/>
                  <a:t> £40,000 is placed into a bank account paying interest of </a:t>
                </a:r>
                <a14:m>
                  <m:oMath xmlns:m="http://schemas.openxmlformats.org/officeDocument/2006/math">
                    <m:r>
                      <a:rPr lang="en-GB" sz="1200" i="1" noProof="0">
                        <a:latin typeface="Cambria Math" panose="02040503050406030204" pitchFamily="18" charset="0"/>
                      </a:rPr>
                      <m:t>1.1%</m:t>
                    </m:r>
                  </m:oMath>
                </a14:m>
                <a:r>
                  <a:rPr lang="en-GB" sz="1200" noProof="0" dirty="0"/>
                  <a:t> per month, at the end of every month </a:t>
                </a:r>
                <a14:m>
                  <m:oMath xmlns:m="http://schemas.openxmlformats.org/officeDocument/2006/math">
                    <m:r>
                      <a:rPr lang="en-GB" sz="1200" i="1" noProof="0">
                        <a:latin typeface="Cambria Math" panose="02040503050406030204" pitchFamily="18" charset="0"/>
                      </a:rPr>
                      <m:t>£200</m:t>
                    </m:r>
                  </m:oMath>
                </a14:m>
                <a:r>
                  <a:rPr lang="en-GB" sz="1200" noProof="0" dirty="0"/>
                  <a:t> is deposited into the account. Create a recurrence relation for this situation:</a:t>
                </a:r>
              </a:p>
              <a:p>
                <a:endParaRPr lang="en-GB" sz="1200" noProof="0" dirty="0"/>
              </a:p>
              <a:p>
                <a:endParaRPr lang="en-GB" sz="1200" noProof="0" dirty="0"/>
              </a:p>
            </p:txBody>
          </p:sp>
        </mc:Choice>
        <mc:Fallback xmlns="">
          <p:sp>
            <p:nvSpPr>
              <p:cNvPr id="3" name="TextBox 2">
                <a:extLst>
                  <a:ext uri="{FF2B5EF4-FFF2-40B4-BE49-F238E27FC236}">
                    <a16:creationId xmlns:a16="http://schemas.microsoft.com/office/drawing/2014/main" id="{84348B3C-1307-8609-4FC1-C49681C29240}"/>
                  </a:ext>
                </a:extLst>
              </p:cNvPr>
              <p:cNvSpPr txBox="1">
                <a:spLocks noRot="1" noChangeAspect="1" noMove="1" noResize="1" noEditPoints="1" noAdjustHandles="1" noChangeArrowheads="1" noChangeShapeType="1" noTextEdit="1"/>
              </p:cNvSpPr>
              <p:nvPr/>
            </p:nvSpPr>
            <p:spPr>
              <a:xfrm>
                <a:off x="46153" y="2824683"/>
                <a:ext cx="6638984" cy="2123658"/>
              </a:xfrm>
              <a:prstGeom prst="rect">
                <a:avLst/>
              </a:prstGeom>
              <a:blipFill>
                <a:blip r:embed="rId17"/>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5425200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002FFCF-9E6C-2292-1B6B-415DB964C525}"/>
              </a:ext>
            </a:extLst>
          </p:cNvPr>
          <p:cNvGraphicFramePr>
            <a:graphicFrameLocks noGrp="1"/>
          </p:cNvGraphicFramePr>
          <p:nvPr>
            <p:extLst>
              <p:ext uri="{D42A27DB-BD31-4B8C-83A1-F6EECF244321}">
                <p14:modId xmlns:p14="http://schemas.microsoft.com/office/powerpoint/2010/main" val="2017286976"/>
              </p:ext>
            </p:extLst>
          </p:nvPr>
        </p:nvGraphicFramePr>
        <p:xfrm>
          <a:off x="35066" y="375207"/>
          <a:ext cx="6822933" cy="9317433"/>
        </p:xfrm>
        <a:graphic>
          <a:graphicData uri="http://schemas.openxmlformats.org/drawingml/2006/table">
            <a:tbl>
              <a:tblPr firstRow="1" bandRow="1">
                <a:tableStyleId>{5C22544A-7EE6-4342-B048-85BDC9FD1C3A}</a:tableStyleId>
              </a:tblPr>
              <a:tblGrid>
                <a:gridCol w="2274311">
                  <a:extLst>
                    <a:ext uri="{9D8B030D-6E8A-4147-A177-3AD203B41FA5}">
                      <a16:colId xmlns:a16="http://schemas.microsoft.com/office/drawing/2014/main" val="2403647501"/>
                    </a:ext>
                  </a:extLst>
                </a:gridCol>
                <a:gridCol w="2274311">
                  <a:extLst>
                    <a:ext uri="{9D8B030D-6E8A-4147-A177-3AD203B41FA5}">
                      <a16:colId xmlns:a16="http://schemas.microsoft.com/office/drawing/2014/main" val="2569993703"/>
                    </a:ext>
                  </a:extLst>
                </a:gridCol>
                <a:gridCol w="2274311">
                  <a:extLst>
                    <a:ext uri="{9D8B030D-6E8A-4147-A177-3AD203B41FA5}">
                      <a16:colId xmlns:a16="http://schemas.microsoft.com/office/drawing/2014/main" val="948008697"/>
                    </a:ext>
                  </a:extLst>
                </a:gridCol>
              </a:tblGrid>
              <a:tr h="310581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2427644"/>
                  </a:ext>
                </a:extLst>
              </a:tr>
              <a:tr h="310581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6119093"/>
                  </a:ext>
                </a:extLst>
              </a:tr>
              <a:tr h="310581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0911955"/>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80CA423-62E4-4D9E-A61F-19419774D88E}"/>
                  </a:ext>
                </a:extLst>
              </p:cNvPr>
              <p:cNvSpPr txBox="1"/>
              <p:nvPr/>
            </p:nvSpPr>
            <p:spPr>
              <a:xfrm>
                <a:off x="107872" y="392502"/>
                <a:ext cx="2155809" cy="1938992"/>
              </a:xfrm>
              <a:prstGeom prst="rect">
                <a:avLst/>
              </a:prstGeom>
              <a:noFill/>
            </p:spPr>
            <p:txBody>
              <a:bodyPr wrap="square" rtlCol="0">
                <a:spAutoFit/>
              </a:bodyPr>
              <a:lstStyle/>
              <a:p>
                <a:r>
                  <a:rPr lang="en-GB" sz="1200" noProof="0" dirty="0"/>
                  <a:t>a) The number of slugs in a garden </a:t>
                </a:r>
                <a14:m>
                  <m:oMath xmlns:m="http://schemas.openxmlformats.org/officeDocument/2006/math">
                    <m:r>
                      <a:rPr lang="en-GB" sz="1200" b="0" i="1" noProof="0" smtClean="0">
                        <a:latin typeface="Cambria Math" panose="02040503050406030204" pitchFamily="18" charset="0"/>
                      </a:rPr>
                      <m:t>𝑡</m:t>
                    </m:r>
                  </m:oMath>
                </a14:m>
                <a:r>
                  <a:rPr lang="en-GB" sz="1200" noProof="0" dirty="0"/>
                  <a:t> days from now is </a:t>
                </a:r>
                <a14:m>
                  <m:oMath xmlns:m="http://schemas.openxmlformats.org/officeDocument/2006/math">
                    <m:r>
                      <a:rPr lang="en-GB" sz="1200" b="0" i="1" noProof="0" smtClean="0">
                        <a:latin typeface="Cambria Math" panose="02040503050406030204" pitchFamily="18" charset="0"/>
                      </a:rPr>
                      <m:t>𝑝</m:t>
                    </m:r>
                  </m:oMath>
                </a14:m>
                <a:r>
                  <a:rPr lang="en-GB" sz="1200" noProof="0" dirty="0"/>
                  <a:t>, where </a:t>
                </a:r>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=100</m:t>
                      </m:r>
                    </m:oMath>
                  </m:oMathPara>
                </a14:m>
                <a:endParaRPr lang="en-GB" sz="1200" b="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𝑝</m:t>
                          </m:r>
                        </m:e>
                        <m:sub>
                          <m:r>
                            <a:rPr lang="en-GB" sz="1200" b="0" i="1" noProof="0" smtClean="0">
                              <a:latin typeface="Cambria Math" panose="02040503050406030204" pitchFamily="18" charset="0"/>
                            </a:rPr>
                            <m:t>𝑡</m:t>
                          </m:r>
                          <m:r>
                            <a:rPr lang="en-GB" sz="1200" b="0" i="1" noProof="0" smtClean="0">
                              <a:latin typeface="Cambria Math" panose="02040503050406030204" pitchFamily="18" charset="0"/>
                            </a:rPr>
                            <m:t>+1</m:t>
                          </m:r>
                        </m:sub>
                      </m:sSub>
                      <m:r>
                        <a:rPr lang="en-GB" sz="1200" i="1" noProof="0" smtClean="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1.16</m:t>
                          </m:r>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oMath>
                  </m:oMathPara>
                </a14:m>
                <a:endParaRPr lang="en-GB" sz="1200" noProof="0" dirty="0"/>
              </a:p>
              <a:p>
                <a:endParaRPr lang="en-GB" sz="1200" noProof="0" dirty="0"/>
              </a:p>
              <a:p>
                <a:r>
                  <a:rPr lang="en-GB" sz="1200" noProof="0" dirty="0"/>
                  <a:t>Work out the number of slugs in the garden 3 days from now.</a:t>
                </a:r>
              </a:p>
              <a:p>
                <a:endParaRPr lang="en-GB" sz="1200" noProof="0" dirty="0"/>
              </a:p>
              <a:p>
                <a:endParaRPr lang="en-GB" sz="1200" noProof="0" dirty="0"/>
              </a:p>
            </p:txBody>
          </p:sp>
        </mc:Choice>
        <mc:Fallback xmlns="">
          <p:sp>
            <p:nvSpPr>
              <p:cNvPr id="9" name="TextBox 8">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107872" y="392502"/>
                <a:ext cx="2155809" cy="1938992"/>
              </a:xfrm>
              <a:prstGeom prst="rect">
                <a:avLst/>
              </a:prstGeom>
              <a:blipFill>
                <a:blip r:embed="rId2"/>
                <a:stretch>
                  <a:fillRect l="-2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80CA423-62E4-4D9E-A61F-19419774D88E}"/>
                  </a:ext>
                </a:extLst>
              </p:cNvPr>
              <p:cNvSpPr txBox="1"/>
              <p:nvPr/>
            </p:nvSpPr>
            <p:spPr>
              <a:xfrm>
                <a:off x="2357469" y="392502"/>
                <a:ext cx="2155809" cy="2308324"/>
              </a:xfrm>
              <a:prstGeom prst="rect">
                <a:avLst/>
              </a:prstGeom>
              <a:noFill/>
            </p:spPr>
            <p:txBody>
              <a:bodyPr wrap="square" rtlCol="0">
                <a:spAutoFit/>
              </a:bodyPr>
              <a:lstStyle/>
              <a:p>
                <a:r>
                  <a:rPr lang="en-GB" sz="1200" noProof="0" dirty="0"/>
                  <a:t>b) The number of rabbits in a field </a:t>
                </a:r>
                <a14:m>
                  <m:oMath xmlns:m="http://schemas.openxmlformats.org/officeDocument/2006/math">
                    <m:r>
                      <a:rPr lang="en-GB" sz="1200" b="0" i="1" noProof="0" smtClean="0">
                        <a:latin typeface="Cambria Math" panose="02040503050406030204" pitchFamily="18" charset="0"/>
                      </a:rPr>
                      <m:t>𝑡</m:t>
                    </m:r>
                  </m:oMath>
                </a14:m>
                <a:r>
                  <a:rPr lang="en-GB" sz="1200" noProof="0" dirty="0"/>
                  <a:t> days from now is </a:t>
                </a:r>
                <a14:m>
                  <m:oMath xmlns:m="http://schemas.openxmlformats.org/officeDocument/2006/math">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oMath>
                </a14:m>
                <a:r>
                  <a:rPr lang="en-GB" sz="1200" noProof="0" dirty="0"/>
                  <a:t>, where </a:t>
                </a:r>
              </a:p>
              <a:p>
                <a:endParaRPr lang="en-GB" sz="120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=220</m:t>
                      </m:r>
                    </m:oMath>
                  </m:oMathPara>
                </a14:m>
                <a:endParaRPr lang="en-GB" sz="1200" b="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𝑝</m:t>
                          </m:r>
                        </m:e>
                        <m:sub>
                          <m:r>
                            <a:rPr lang="en-GB" sz="1200" b="0" i="1" noProof="0" smtClean="0">
                              <a:latin typeface="Cambria Math" panose="02040503050406030204" pitchFamily="18" charset="0"/>
                            </a:rPr>
                            <m:t>𝑡</m:t>
                          </m:r>
                          <m:r>
                            <a:rPr lang="en-GB" sz="1200" b="0" i="1" noProof="0" smtClean="0">
                              <a:latin typeface="Cambria Math" panose="02040503050406030204" pitchFamily="18" charset="0"/>
                            </a:rPr>
                            <m:t>+1</m:t>
                          </m:r>
                        </m:sub>
                      </m:sSub>
                      <m:r>
                        <a:rPr lang="en-GB" sz="1200" i="1" noProof="0" smtClean="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1.15(</m:t>
                          </m:r>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r>
                        <a:rPr lang="en-GB" sz="1200" b="0" i="1" noProof="0" smtClean="0">
                          <a:latin typeface="Cambria Math" panose="02040503050406030204" pitchFamily="18" charset="0"/>
                        </a:rPr>
                        <m:t>−20)</m:t>
                      </m:r>
                    </m:oMath>
                  </m:oMathPara>
                </a14:m>
                <a:endParaRPr lang="en-GB" sz="1200" noProof="0" dirty="0"/>
              </a:p>
              <a:p>
                <a:endParaRPr lang="en-GB" sz="1200" noProof="0" dirty="0"/>
              </a:p>
              <a:p>
                <a:r>
                  <a:rPr lang="en-GB" sz="1200" noProof="0" dirty="0"/>
                  <a:t>Work out the number of rabbits in the field 5 days from now. </a:t>
                </a:r>
              </a:p>
              <a:p>
                <a:endParaRPr lang="en-GB" sz="1200" noProof="0" dirty="0"/>
              </a:p>
              <a:p>
                <a:endParaRPr lang="en-GB" sz="1200" noProof="0" dirty="0"/>
              </a:p>
              <a:p>
                <a:endParaRPr lang="en-GB" sz="1200" noProof="0" dirty="0"/>
              </a:p>
            </p:txBody>
          </p:sp>
        </mc:Choice>
        <mc:Fallback xmlns="">
          <p:sp>
            <p:nvSpPr>
              <p:cNvPr id="16" name="TextBox 15">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357469" y="392502"/>
                <a:ext cx="2155809" cy="2308324"/>
              </a:xfrm>
              <a:prstGeom prst="rect">
                <a:avLst/>
              </a:prstGeom>
              <a:blipFill>
                <a:blip r:embed="rId3"/>
                <a:stretch>
                  <a:fillRect l="-283" r="-14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80CA423-62E4-4D9E-A61F-19419774D88E}"/>
                  </a:ext>
                </a:extLst>
              </p:cNvPr>
              <p:cNvSpPr txBox="1"/>
              <p:nvPr/>
            </p:nvSpPr>
            <p:spPr>
              <a:xfrm>
                <a:off x="4607067" y="392502"/>
                <a:ext cx="2155809" cy="2123658"/>
              </a:xfrm>
              <a:prstGeom prst="rect">
                <a:avLst/>
              </a:prstGeom>
              <a:noFill/>
            </p:spPr>
            <p:txBody>
              <a:bodyPr wrap="square" rtlCol="0">
                <a:spAutoFit/>
              </a:bodyPr>
              <a:lstStyle/>
              <a:p>
                <a:r>
                  <a:rPr lang="en-GB" sz="1200" noProof="0" dirty="0"/>
                  <a:t>c) The number of people living in a town  </a:t>
                </a:r>
                <a14:m>
                  <m:oMath xmlns:m="http://schemas.openxmlformats.org/officeDocument/2006/math">
                    <m:r>
                      <a:rPr lang="en-GB" sz="1200" b="0" i="1" noProof="0" smtClean="0">
                        <a:latin typeface="Cambria Math" panose="02040503050406030204" pitchFamily="18" charset="0"/>
                      </a:rPr>
                      <m:t>𝑡</m:t>
                    </m:r>
                  </m:oMath>
                </a14:m>
                <a:r>
                  <a:rPr lang="en-GB" sz="1200" noProof="0" dirty="0"/>
                  <a:t> years from now is </a:t>
                </a:r>
                <a14:m>
                  <m:oMath xmlns:m="http://schemas.openxmlformats.org/officeDocument/2006/math">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oMath>
                </a14:m>
                <a:r>
                  <a:rPr lang="en-GB" sz="1200" noProof="0" dirty="0"/>
                  <a:t>, where </a:t>
                </a:r>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=55000</m:t>
                      </m:r>
                    </m:oMath>
                  </m:oMathPara>
                </a14:m>
                <a:endParaRPr lang="en-GB" sz="1200" b="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𝑝</m:t>
                          </m:r>
                        </m:e>
                        <m:sub>
                          <m:r>
                            <a:rPr lang="en-GB" sz="1200" b="0" i="1" noProof="0" smtClean="0">
                              <a:latin typeface="Cambria Math" panose="02040503050406030204" pitchFamily="18" charset="0"/>
                            </a:rPr>
                            <m:t>𝑡</m:t>
                          </m:r>
                          <m:r>
                            <a:rPr lang="en-GB" sz="1200" b="0" i="1" noProof="0" smtClean="0">
                              <a:latin typeface="Cambria Math" panose="02040503050406030204" pitchFamily="18" charset="0"/>
                            </a:rPr>
                            <m:t>+1</m:t>
                          </m:r>
                        </m:sub>
                      </m:sSub>
                      <m:r>
                        <a:rPr lang="en-GB" sz="1200" i="1" noProof="0" smtClean="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1.03(</m:t>
                          </m:r>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r>
                        <a:rPr lang="en-GB" sz="1200" b="0" i="1" noProof="0" smtClean="0">
                          <a:latin typeface="Cambria Math" panose="02040503050406030204" pitchFamily="18" charset="0"/>
                        </a:rPr>
                        <m:t>−800)</m:t>
                      </m:r>
                    </m:oMath>
                  </m:oMathPara>
                </a14:m>
                <a:endParaRPr lang="en-GB" sz="1200" noProof="0" dirty="0"/>
              </a:p>
              <a:p>
                <a:endParaRPr lang="en-GB" sz="1200" noProof="0" dirty="0"/>
              </a:p>
              <a:p>
                <a:r>
                  <a:rPr lang="en-GB" sz="1200" noProof="0" dirty="0"/>
                  <a:t>Work out the number people in the town, 3 years from now. </a:t>
                </a:r>
              </a:p>
              <a:p>
                <a:endParaRPr lang="en-GB" sz="1200" noProof="0" dirty="0"/>
              </a:p>
              <a:p>
                <a:endParaRPr lang="en-GB" sz="1200" noProof="0" dirty="0"/>
              </a:p>
              <a:p>
                <a:endParaRPr lang="en-GB" sz="1200" noProof="0" dirty="0"/>
              </a:p>
            </p:txBody>
          </p:sp>
        </mc:Choice>
        <mc:Fallback xmlns="">
          <p:sp>
            <p:nvSpPr>
              <p:cNvPr id="18" name="TextBox 17">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607067" y="392502"/>
                <a:ext cx="2155809" cy="2123658"/>
              </a:xfrm>
              <a:prstGeom prst="rect">
                <a:avLst/>
              </a:prstGeom>
              <a:blipFill>
                <a:blip r:embed="rId4"/>
                <a:stretch>
                  <a:fillRect l="-283" r="-850"/>
                </a:stretch>
              </a:blipFill>
            </p:spPr>
            <p:txBody>
              <a:bodyPr/>
              <a:lstStyle/>
              <a:p>
                <a:r>
                  <a:rPr lang="en-US">
                    <a:noFill/>
                  </a:rPr>
                  <a:t> </a:t>
                </a:r>
              </a:p>
            </p:txBody>
          </p:sp>
        </mc:Fallback>
      </mc:AlternateContent>
      <p:sp>
        <p:nvSpPr>
          <p:cNvPr id="26" name="Slide Number Placeholder 25"/>
          <p:cNvSpPr>
            <a:spLocks noGrp="1"/>
          </p:cNvSpPr>
          <p:nvPr>
            <p:ph type="sldNum" sz="quarter" idx="12"/>
          </p:nvPr>
        </p:nvSpPr>
        <p:spPr>
          <a:xfrm>
            <a:off x="5314950" y="9551027"/>
            <a:ext cx="1543050" cy="527403"/>
          </a:xfrm>
        </p:spPr>
        <p:txBody>
          <a:bodyPr/>
          <a:lstStyle/>
          <a:p>
            <a:fld id="{9BD3B4A0-BFF9-422C-B253-48BA94BE2F5B}" type="slidenum">
              <a:rPr lang="en-GB" noProof="0" smtClean="0"/>
              <a:t>57</a:t>
            </a:fld>
            <a:endParaRPr lang="en-GB" noProof="0" dirty="0"/>
          </a:p>
        </p:txBody>
      </p:sp>
      <p:sp>
        <p:nvSpPr>
          <p:cNvPr id="28" name="Rectangle 27"/>
          <p:cNvSpPr/>
          <p:nvPr/>
        </p:nvSpPr>
        <p:spPr>
          <a:xfrm>
            <a:off x="1827047" y="98208"/>
            <a:ext cx="3823735" cy="276999"/>
          </a:xfrm>
          <a:prstGeom prst="rect">
            <a:avLst/>
          </a:prstGeom>
        </p:spPr>
        <p:txBody>
          <a:bodyPr wrap="square">
            <a:spAutoFit/>
          </a:bodyPr>
          <a:lstStyle/>
          <a:p>
            <a:pPr algn="ctr"/>
            <a:r>
              <a:rPr lang="en-GB" sz="1200" noProof="0" dirty="0"/>
              <a:t>2) Use iteration to find the solution of each problem. </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80CA423-62E4-4D9E-A61F-19419774D88E}"/>
                  </a:ext>
                </a:extLst>
              </p:cNvPr>
              <p:cNvSpPr txBox="1"/>
              <p:nvPr/>
            </p:nvSpPr>
            <p:spPr>
              <a:xfrm>
                <a:off x="107872" y="3541994"/>
                <a:ext cx="2155809" cy="1938992"/>
              </a:xfrm>
              <a:prstGeom prst="rect">
                <a:avLst/>
              </a:prstGeom>
              <a:noFill/>
            </p:spPr>
            <p:txBody>
              <a:bodyPr wrap="square" rtlCol="0">
                <a:spAutoFit/>
              </a:bodyPr>
              <a:lstStyle/>
              <a:p>
                <a:r>
                  <a:rPr lang="en-GB" sz="1200" noProof="0" dirty="0"/>
                  <a:t>d) The number of slugs in a garden </a:t>
                </a:r>
                <a14:m>
                  <m:oMath xmlns:m="http://schemas.openxmlformats.org/officeDocument/2006/math">
                    <m:r>
                      <a:rPr lang="en-GB" sz="1200" b="0" i="1" noProof="0" smtClean="0">
                        <a:latin typeface="Cambria Math" panose="02040503050406030204" pitchFamily="18" charset="0"/>
                      </a:rPr>
                      <m:t>𝑡</m:t>
                    </m:r>
                  </m:oMath>
                </a14:m>
                <a:r>
                  <a:rPr lang="en-GB" sz="1200" noProof="0" dirty="0"/>
                  <a:t> days from now is </a:t>
                </a:r>
                <a14:m>
                  <m:oMath xmlns:m="http://schemas.openxmlformats.org/officeDocument/2006/math">
                    <m:r>
                      <a:rPr lang="en-GB" sz="1200" b="0" i="1" noProof="0" smtClean="0">
                        <a:latin typeface="Cambria Math" panose="02040503050406030204" pitchFamily="18" charset="0"/>
                      </a:rPr>
                      <m:t>𝑝</m:t>
                    </m:r>
                  </m:oMath>
                </a14:m>
                <a:r>
                  <a:rPr lang="en-GB" sz="1200" noProof="0" dirty="0"/>
                  <a:t>, where </a:t>
                </a:r>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=200</m:t>
                      </m:r>
                    </m:oMath>
                  </m:oMathPara>
                </a14:m>
                <a:endParaRPr lang="en-GB" sz="1200" b="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𝑝</m:t>
                          </m:r>
                        </m:e>
                        <m:sub>
                          <m:r>
                            <a:rPr lang="en-GB" sz="1200" b="0" i="1" noProof="0" smtClean="0">
                              <a:latin typeface="Cambria Math" panose="02040503050406030204" pitchFamily="18" charset="0"/>
                            </a:rPr>
                            <m:t>𝑡</m:t>
                          </m:r>
                          <m:r>
                            <a:rPr lang="en-GB" sz="1200" b="0" i="1" noProof="0" smtClean="0">
                              <a:latin typeface="Cambria Math" panose="02040503050406030204" pitchFamily="18" charset="0"/>
                            </a:rPr>
                            <m:t>+1</m:t>
                          </m:r>
                        </m:sub>
                      </m:sSub>
                      <m:r>
                        <a:rPr lang="en-GB" sz="1200" i="1" noProof="0" smtClean="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1.07</m:t>
                          </m:r>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oMath>
                  </m:oMathPara>
                </a14:m>
                <a:endParaRPr lang="en-GB" sz="1200" noProof="0" dirty="0"/>
              </a:p>
              <a:p>
                <a:endParaRPr lang="en-GB" sz="1200" noProof="0" dirty="0"/>
              </a:p>
              <a:p>
                <a:r>
                  <a:rPr lang="en-GB" sz="1200" noProof="0" dirty="0"/>
                  <a:t>Work out the number of slugs in the garden 6 days from now.</a:t>
                </a:r>
              </a:p>
              <a:p>
                <a:endParaRPr lang="en-GB" sz="1200" noProof="0" dirty="0"/>
              </a:p>
              <a:p>
                <a:endParaRPr lang="en-GB" sz="1200" noProof="0" dirty="0"/>
              </a:p>
            </p:txBody>
          </p:sp>
        </mc:Choice>
        <mc:Fallback xmlns="">
          <p:sp>
            <p:nvSpPr>
              <p:cNvPr id="32" name="TextBox 31">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107872" y="3541994"/>
                <a:ext cx="2155809" cy="1938992"/>
              </a:xfrm>
              <a:prstGeom prst="rect">
                <a:avLst/>
              </a:prstGeom>
              <a:blipFill>
                <a:blip r:embed="rId5"/>
                <a:stretch>
                  <a:fillRect l="-2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80CA423-62E4-4D9E-A61F-19419774D88E}"/>
                  </a:ext>
                </a:extLst>
              </p:cNvPr>
              <p:cNvSpPr txBox="1"/>
              <p:nvPr/>
            </p:nvSpPr>
            <p:spPr>
              <a:xfrm>
                <a:off x="2357469" y="3541994"/>
                <a:ext cx="2155809" cy="2308324"/>
              </a:xfrm>
              <a:prstGeom prst="rect">
                <a:avLst/>
              </a:prstGeom>
              <a:noFill/>
            </p:spPr>
            <p:txBody>
              <a:bodyPr wrap="square" rtlCol="0">
                <a:spAutoFit/>
              </a:bodyPr>
              <a:lstStyle/>
              <a:p>
                <a:r>
                  <a:rPr lang="en-GB" sz="1200" noProof="0" dirty="0"/>
                  <a:t>e) The number of rabbits in a field </a:t>
                </a:r>
                <a14:m>
                  <m:oMath xmlns:m="http://schemas.openxmlformats.org/officeDocument/2006/math">
                    <m:r>
                      <a:rPr lang="en-GB" sz="1200" b="0" i="1" noProof="0" smtClean="0">
                        <a:latin typeface="Cambria Math" panose="02040503050406030204" pitchFamily="18" charset="0"/>
                      </a:rPr>
                      <m:t>𝑡</m:t>
                    </m:r>
                  </m:oMath>
                </a14:m>
                <a:r>
                  <a:rPr lang="en-GB" sz="1200" noProof="0" dirty="0"/>
                  <a:t> days from now is </a:t>
                </a:r>
                <a14:m>
                  <m:oMath xmlns:m="http://schemas.openxmlformats.org/officeDocument/2006/math">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oMath>
                </a14:m>
                <a:r>
                  <a:rPr lang="en-GB" sz="1200" noProof="0" dirty="0"/>
                  <a:t>, where </a:t>
                </a:r>
              </a:p>
              <a:p>
                <a:endParaRPr lang="en-GB" sz="120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=520</m:t>
                      </m:r>
                    </m:oMath>
                  </m:oMathPara>
                </a14:m>
                <a:endParaRPr lang="en-GB" sz="1200" b="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𝑝</m:t>
                          </m:r>
                        </m:e>
                        <m:sub>
                          <m:r>
                            <a:rPr lang="en-GB" sz="1200" b="0" i="1" noProof="0" smtClean="0">
                              <a:latin typeface="Cambria Math" panose="02040503050406030204" pitchFamily="18" charset="0"/>
                            </a:rPr>
                            <m:t>𝑡</m:t>
                          </m:r>
                          <m:r>
                            <a:rPr lang="en-GB" sz="1200" b="0" i="1" noProof="0" smtClean="0">
                              <a:latin typeface="Cambria Math" panose="02040503050406030204" pitchFamily="18" charset="0"/>
                            </a:rPr>
                            <m:t>+1</m:t>
                          </m:r>
                        </m:sub>
                      </m:sSub>
                      <m:r>
                        <a:rPr lang="en-GB" sz="1200" i="1" noProof="0" smtClean="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1.14(</m:t>
                          </m:r>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r>
                        <a:rPr lang="en-GB" sz="1200" b="0" i="1" noProof="0" smtClean="0">
                          <a:latin typeface="Cambria Math" panose="02040503050406030204" pitchFamily="18" charset="0"/>
                        </a:rPr>
                        <m:t>−10)</m:t>
                      </m:r>
                    </m:oMath>
                  </m:oMathPara>
                </a14:m>
                <a:endParaRPr lang="en-GB" sz="1200" noProof="0" dirty="0"/>
              </a:p>
              <a:p>
                <a:endParaRPr lang="en-GB" sz="1200" noProof="0" dirty="0"/>
              </a:p>
              <a:p>
                <a:r>
                  <a:rPr lang="en-GB" sz="1200" noProof="0" dirty="0"/>
                  <a:t>Work out the number of rabbits in the field 7 days from now. </a:t>
                </a:r>
              </a:p>
              <a:p>
                <a:endParaRPr lang="en-GB" sz="1200" noProof="0" dirty="0"/>
              </a:p>
              <a:p>
                <a:endParaRPr lang="en-GB" sz="1200" noProof="0" dirty="0"/>
              </a:p>
              <a:p>
                <a:endParaRPr lang="en-GB" sz="1200" noProof="0" dirty="0"/>
              </a:p>
            </p:txBody>
          </p:sp>
        </mc:Choice>
        <mc:Fallback xmlns="">
          <p:sp>
            <p:nvSpPr>
              <p:cNvPr id="33" name="TextBox 32">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357469" y="3541994"/>
                <a:ext cx="2155809" cy="2308324"/>
              </a:xfrm>
              <a:prstGeom prst="rect">
                <a:avLst/>
              </a:prstGeom>
              <a:blipFill>
                <a:blip r:embed="rId6"/>
                <a:stretch>
                  <a:fillRect l="-283" r="-14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80CA423-62E4-4D9E-A61F-19419774D88E}"/>
                  </a:ext>
                </a:extLst>
              </p:cNvPr>
              <p:cNvSpPr txBox="1"/>
              <p:nvPr/>
            </p:nvSpPr>
            <p:spPr>
              <a:xfrm>
                <a:off x="4607067" y="3573366"/>
                <a:ext cx="2155809" cy="2123658"/>
              </a:xfrm>
              <a:prstGeom prst="rect">
                <a:avLst/>
              </a:prstGeom>
              <a:noFill/>
            </p:spPr>
            <p:txBody>
              <a:bodyPr wrap="square" rtlCol="0">
                <a:spAutoFit/>
              </a:bodyPr>
              <a:lstStyle/>
              <a:p>
                <a:r>
                  <a:rPr lang="en-GB" sz="1200" noProof="0" dirty="0"/>
                  <a:t>f) The number of people living in a town  </a:t>
                </a:r>
                <a14:m>
                  <m:oMath xmlns:m="http://schemas.openxmlformats.org/officeDocument/2006/math">
                    <m:r>
                      <a:rPr lang="en-GB" sz="1200" b="0" i="1" noProof="0" smtClean="0">
                        <a:latin typeface="Cambria Math" panose="02040503050406030204" pitchFamily="18" charset="0"/>
                      </a:rPr>
                      <m:t>𝑡</m:t>
                    </m:r>
                  </m:oMath>
                </a14:m>
                <a:r>
                  <a:rPr lang="en-GB" sz="1200" noProof="0" dirty="0"/>
                  <a:t> years from now is </a:t>
                </a:r>
                <a14:m>
                  <m:oMath xmlns:m="http://schemas.openxmlformats.org/officeDocument/2006/math">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oMath>
                </a14:m>
                <a:r>
                  <a:rPr lang="en-GB" sz="1200" noProof="0" dirty="0"/>
                  <a:t>, where </a:t>
                </a:r>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=40000</m:t>
                      </m:r>
                    </m:oMath>
                  </m:oMathPara>
                </a14:m>
                <a:endParaRPr lang="en-GB" sz="1200" b="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𝑝</m:t>
                          </m:r>
                        </m:e>
                        <m:sub>
                          <m:r>
                            <a:rPr lang="en-GB" sz="1200" b="0" i="1" noProof="0" smtClean="0">
                              <a:latin typeface="Cambria Math" panose="02040503050406030204" pitchFamily="18" charset="0"/>
                            </a:rPr>
                            <m:t>𝑡</m:t>
                          </m:r>
                          <m:r>
                            <a:rPr lang="en-GB" sz="1200" b="0" i="1" noProof="0" smtClean="0">
                              <a:latin typeface="Cambria Math" panose="02040503050406030204" pitchFamily="18" charset="0"/>
                            </a:rPr>
                            <m:t>+1</m:t>
                          </m:r>
                        </m:sub>
                      </m:sSub>
                      <m:r>
                        <a:rPr lang="en-GB" sz="1200" i="1" noProof="0" smtClean="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1.08(</m:t>
                          </m:r>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r>
                        <a:rPr lang="en-GB" sz="1200" b="0" i="1" noProof="0" smtClean="0">
                          <a:latin typeface="Cambria Math" panose="02040503050406030204" pitchFamily="18" charset="0"/>
                        </a:rPr>
                        <m:t>−800)</m:t>
                      </m:r>
                    </m:oMath>
                  </m:oMathPara>
                </a14:m>
                <a:endParaRPr lang="en-GB" sz="1200" noProof="0" dirty="0"/>
              </a:p>
              <a:p>
                <a:endParaRPr lang="en-GB" sz="1200" noProof="0" dirty="0"/>
              </a:p>
              <a:p>
                <a:r>
                  <a:rPr lang="en-GB" sz="1200" noProof="0" dirty="0"/>
                  <a:t>Work out the number people in the town 5 years from now. </a:t>
                </a:r>
              </a:p>
              <a:p>
                <a:endParaRPr lang="en-GB" sz="1200" noProof="0" dirty="0"/>
              </a:p>
              <a:p>
                <a:endParaRPr lang="en-GB" sz="1200" noProof="0" dirty="0"/>
              </a:p>
              <a:p>
                <a:endParaRPr lang="en-GB" sz="1200" noProof="0" dirty="0"/>
              </a:p>
            </p:txBody>
          </p:sp>
        </mc:Choice>
        <mc:Fallback xmlns="">
          <p:sp>
            <p:nvSpPr>
              <p:cNvPr id="34" name="TextBox 33">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607067" y="3573366"/>
                <a:ext cx="2155809" cy="2123658"/>
              </a:xfrm>
              <a:prstGeom prst="rect">
                <a:avLst/>
              </a:prstGeom>
              <a:blipFill>
                <a:blip r:embed="rId7"/>
                <a:stretch>
                  <a:fillRect l="-283" r="-8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80CA423-62E4-4D9E-A61F-19419774D88E}"/>
                  </a:ext>
                </a:extLst>
              </p:cNvPr>
              <p:cNvSpPr txBox="1"/>
              <p:nvPr/>
            </p:nvSpPr>
            <p:spPr>
              <a:xfrm>
                <a:off x="91152" y="6517520"/>
                <a:ext cx="2155809" cy="2123658"/>
              </a:xfrm>
              <a:prstGeom prst="rect">
                <a:avLst/>
              </a:prstGeom>
              <a:noFill/>
            </p:spPr>
            <p:txBody>
              <a:bodyPr wrap="square" rtlCol="0">
                <a:spAutoFit/>
              </a:bodyPr>
              <a:lstStyle/>
              <a:p>
                <a:r>
                  <a:rPr lang="en-GB" sz="1200" noProof="0" dirty="0"/>
                  <a:t>g) The number of slugs in a garden </a:t>
                </a:r>
                <a14:m>
                  <m:oMath xmlns:m="http://schemas.openxmlformats.org/officeDocument/2006/math">
                    <m:r>
                      <a:rPr lang="en-GB" sz="1200" b="0" i="1" noProof="0" smtClean="0">
                        <a:latin typeface="Cambria Math" panose="02040503050406030204" pitchFamily="18" charset="0"/>
                      </a:rPr>
                      <m:t>𝑡</m:t>
                    </m:r>
                  </m:oMath>
                </a14:m>
                <a:r>
                  <a:rPr lang="en-GB" sz="1200" noProof="0" dirty="0"/>
                  <a:t> days from now is </a:t>
                </a:r>
                <a14:m>
                  <m:oMath xmlns:m="http://schemas.openxmlformats.org/officeDocument/2006/math">
                    <m:r>
                      <a:rPr lang="en-GB" sz="1200" b="0" i="1" noProof="0" smtClean="0">
                        <a:latin typeface="Cambria Math" panose="02040503050406030204" pitchFamily="18" charset="0"/>
                      </a:rPr>
                      <m:t>𝑝</m:t>
                    </m:r>
                  </m:oMath>
                </a14:m>
                <a:r>
                  <a:rPr lang="en-GB" sz="1200" noProof="0" dirty="0"/>
                  <a:t>, where </a:t>
                </a:r>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=100</m:t>
                      </m:r>
                    </m:oMath>
                  </m:oMathPara>
                </a14:m>
                <a:endParaRPr lang="en-GB" sz="1200" b="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𝑝</m:t>
                          </m:r>
                        </m:e>
                        <m:sub>
                          <m:r>
                            <a:rPr lang="en-GB" sz="1200" b="0" i="1" noProof="0" smtClean="0">
                              <a:latin typeface="Cambria Math" panose="02040503050406030204" pitchFamily="18" charset="0"/>
                            </a:rPr>
                            <m:t>𝑡</m:t>
                          </m:r>
                          <m:r>
                            <a:rPr lang="en-GB" sz="1200" b="0" i="1" noProof="0" smtClean="0">
                              <a:latin typeface="Cambria Math" panose="02040503050406030204" pitchFamily="18" charset="0"/>
                            </a:rPr>
                            <m:t>+1</m:t>
                          </m:r>
                        </m:sub>
                      </m:sSub>
                      <m:r>
                        <a:rPr lang="en-GB" sz="1200" i="1" noProof="0" smtClean="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1.16</m:t>
                          </m:r>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oMath>
                  </m:oMathPara>
                </a14:m>
                <a:endParaRPr lang="en-GB" sz="1200" noProof="0" dirty="0"/>
              </a:p>
              <a:p>
                <a:endParaRPr lang="en-GB" sz="1200" noProof="0" dirty="0"/>
              </a:p>
              <a:p>
                <a:r>
                  <a:rPr lang="en-GB" sz="1200" noProof="0" dirty="0"/>
                  <a:t>Work out the number of slugs in the garden 13 days from now.</a:t>
                </a:r>
              </a:p>
              <a:p>
                <a:endParaRPr lang="en-GB" sz="1200" noProof="0" dirty="0"/>
              </a:p>
              <a:p>
                <a:endParaRPr lang="en-GB" sz="1200" noProof="0" dirty="0"/>
              </a:p>
            </p:txBody>
          </p:sp>
        </mc:Choice>
        <mc:Fallback xmlns="">
          <p:sp>
            <p:nvSpPr>
              <p:cNvPr id="38" name="TextBox 37">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91152" y="6517520"/>
                <a:ext cx="2155809" cy="2123658"/>
              </a:xfrm>
              <a:prstGeom prst="rect">
                <a:avLst/>
              </a:prstGeom>
              <a:blipFill>
                <a:blip r:embed="rId8"/>
                <a:stretch>
                  <a:fillRect l="-2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80CA423-62E4-4D9E-A61F-19419774D88E}"/>
                  </a:ext>
                </a:extLst>
              </p:cNvPr>
              <p:cNvSpPr txBox="1"/>
              <p:nvPr/>
            </p:nvSpPr>
            <p:spPr>
              <a:xfrm>
                <a:off x="2340749" y="6517520"/>
                <a:ext cx="2155809" cy="2308324"/>
              </a:xfrm>
              <a:prstGeom prst="rect">
                <a:avLst/>
              </a:prstGeom>
              <a:noFill/>
            </p:spPr>
            <p:txBody>
              <a:bodyPr wrap="square" rtlCol="0">
                <a:spAutoFit/>
              </a:bodyPr>
              <a:lstStyle/>
              <a:p>
                <a:r>
                  <a:rPr lang="en-GB" sz="1200" noProof="0" dirty="0"/>
                  <a:t>h) The number of rabbits in a field </a:t>
                </a:r>
                <a14:m>
                  <m:oMath xmlns:m="http://schemas.openxmlformats.org/officeDocument/2006/math">
                    <m:r>
                      <a:rPr lang="en-GB" sz="1200" b="0" i="1" noProof="0" smtClean="0">
                        <a:latin typeface="Cambria Math" panose="02040503050406030204" pitchFamily="18" charset="0"/>
                      </a:rPr>
                      <m:t>𝑡</m:t>
                    </m:r>
                  </m:oMath>
                </a14:m>
                <a:r>
                  <a:rPr lang="en-GB" sz="1200" noProof="0" dirty="0"/>
                  <a:t> days from now is </a:t>
                </a:r>
                <a14:m>
                  <m:oMath xmlns:m="http://schemas.openxmlformats.org/officeDocument/2006/math">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oMath>
                </a14:m>
                <a:r>
                  <a:rPr lang="en-GB" sz="1200" noProof="0" dirty="0"/>
                  <a:t>, where </a:t>
                </a:r>
              </a:p>
              <a:p>
                <a:endParaRPr lang="en-GB" sz="120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=220</m:t>
                      </m:r>
                    </m:oMath>
                  </m:oMathPara>
                </a14:m>
                <a:endParaRPr lang="en-GB" sz="1200" b="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𝑝</m:t>
                          </m:r>
                        </m:e>
                        <m:sub>
                          <m:r>
                            <a:rPr lang="en-GB" sz="1200" b="0" i="1" noProof="0" smtClean="0">
                              <a:latin typeface="Cambria Math" panose="02040503050406030204" pitchFamily="18" charset="0"/>
                            </a:rPr>
                            <m:t>𝑡</m:t>
                          </m:r>
                          <m:r>
                            <a:rPr lang="en-GB" sz="1200" b="0" i="1" noProof="0" smtClean="0">
                              <a:latin typeface="Cambria Math" panose="02040503050406030204" pitchFamily="18" charset="0"/>
                            </a:rPr>
                            <m:t>+1</m:t>
                          </m:r>
                        </m:sub>
                      </m:sSub>
                      <m:r>
                        <a:rPr lang="en-GB" sz="1200" i="1" noProof="0" smtClean="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1.15(</m:t>
                          </m:r>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r>
                        <a:rPr lang="en-GB" sz="1200" b="0" i="1" noProof="0" smtClean="0">
                          <a:latin typeface="Cambria Math" panose="02040503050406030204" pitchFamily="18" charset="0"/>
                        </a:rPr>
                        <m:t>−20)</m:t>
                      </m:r>
                    </m:oMath>
                  </m:oMathPara>
                </a14:m>
                <a:endParaRPr lang="en-GB" sz="1200" noProof="0" dirty="0"/>
              </a:p>
              <a:p>
                <a:endParaRPr lang="en-GB" sz="1200" noProof="0" dirty="0"/>
              </a:p>
              <a:p>
                <a:r>
                  <a:rPr lang="en-GB" sz="1200" noProof="0" dirty="0"/>
                  <a:t>Work out the number of rabbits in the field 18 days from now. </a:t>
                </a:r>
              </a:p>
              <a:p>
                <a:endParaRPr lang="en-GB" sz="1200" noProof="0" dirty="0"/>
              </a:p>
              <a:p>
                <a:endParaRPr lang="en-GB" sz="1200" noProof="0" dirty="0"/>
              </a:p>
              <a:p>
                <a:endParaRPr lang="en-GB" sz="1200" noProof="0" dirty="0"/>
              </a:p>
            </p:txBody>
          </p:sp>
        </mc:Choice>
        <mc:Fallback xmlns="">
          <p:sp>
            <p:nvSpPr>
              <p:cNvPr id="39" name="TextBox 38">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2340749" y="6517520"/>
                <a:ext cx="2155809" cy="2308324"/>
              </a:xfrm>
              <a:prstGeom prst="rect">
                <a:avLst/>
              </a:prstGeom>
              <a:blipFill>
                <a:blip r:embed="rId9"/>
                <a:stretch>
                  <a:fillRect l="-282" r="-1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80CA423-62E4-4D9E-A61F-19419774D88E}"/>
                  </a:ext>
                </a:extLst>
              </p:cNvPr>
              <p:cNvSpPr txBox="1"/>
              <p:nvPr/>
            </p:nvSpPr>
            <p:spPr>
              <a:xfrm>
                <a:off x="4590347" y="6548892"/>
                <a:ext cx="2155809" cy="2123658"/>
              </a:xfrm>
              <a:prstGeom prst="rect">
                <a:avLst/>
              </a:prstGeom>
              <a:noFill/>
            </p:spPr>
            <p:txBody>
              <a:bodyPr wrap="square" rtlCol="0">
                <a:spAutoFit/>
              </a:bodyPr>
              <a:lstStyle/>
              <a:p>
                <a:r>
                  <a:rPr lang="en-GB" sz="1200" noProof="0" dirty="0" err="1"/>
                  <a:t>i</a:t>
                </a:r>
                <a:r>
                  <a:rPr lang="en-GB" sz="1200" noProof="0" dirty="0"/>
                  <a:t>) The number of people living in a town  </a:t>
                </a:r>
                <a14:m>
                  <m:oMath xmlns:m="http://schemas.openxmlformats.org/officeDocument/2006/math">
                    <m:r>
                      <a:rPr lang="en-GB" sz="1200" b="0" i="1" noProof="0" smtClean="0">
                        <a:latin typeface="Cambria Math" panose="02040503050406030204" pitchFamily="18" charset="0"/>
                      </a:rPr>
                      <m:t>𝑡</m:t>
                    </m:r>
                  </m:oMath>
                </a14:m>
                <a:r>
                  <a:rPr lang="en-GB" sz="1200" noProof="0" dirty="0"/>
                  <a:t> years from now is </a:t>
                </a:r>
                <a14:m>
                  <m:oMath xmlns:m="http://schemas.openxmlformats.org/officeDocument/2006/math">
                    <m:sSub>
                      <m:sSubPr>
                        <m:ctrlPr>
                          <a:rPr lang="en-GB" sz="1200" b="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oMath>
                </a14:m>
                <a:r>
                  <a:rPr lang="en-GB" sz="1200" noProof="0" dirty="0"/>
                  <a:t>, where </a:t>
                </a:r>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=55000</m:t>
                      </m:r>
                    </m:oMath>
                  </m:oMathPara>
                </a14:m>
                <a:endParaRPr lang="en-GB" sz="1200" b="0" noProof="0" dirty="0"/>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𝑝</m:t>
                          </m:r>
                        </m:e>
                        <m:sub>
                          <m:r>
                            <a:rPr lang="en-GB" sz="1200" b="0" i="1" noProof="0" smtClean="0">
                              <a:latin typeface="Cambria Math" panose="02040503050406030204" pitchFamily="18" charset="0"/>
                            </a:rPr>
                            <m:t>𝑡</m:t>
                          </m:r>
                          <m:r>
                            <a:rPr lang="en-GB" sz="1200" b="0" i="1" noProof="0" smtClean="0">
                              <a:latin typeface="Cambria Math" panose="02040503050406030204" pitchFamily="18" charset="0"/>
                            </a:rPr>
                            <m:t>+1</m:t>
                          </m:r>
                        </m:sub>
                      </m:sSub>
                      <m:r>
                        <a:rPr lang="en-GB" sz="1200" i="1" noProof="0" smtClean="0">
                          <a:latin typeface="Cambria Math" panose="02040503050406030204" pitchFamily="18" charset="0"/>
                        </a:rPr>
                        <m:t>=</m:t>
                      </m:r>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1.03(</m:t>
                          </m:r>
                          <m:r>
                            <a:rPr lang="en-GB" sz="1200" b="0" i="1" noProof="0" smtClean="0">
                              <a:latin typeface="Cambria Math" panose="02040503050406030204" pitchFamily="18" charset="0"/>
                            </a:rPr>
                            <m:t>𝑝</m:t>
                          </m:r>
                        </m:e>
                        <m:sub>
                          <m:r>
                            <a:rPr lang="en-GB" sz="1200" b="0" i="1" noProof="0" smtClean="0">
                              <a:latin typeface="Cambria Math" panose="02040503050406030204" pitchFamily="18" charset="0"/>
                            </a:rPr>
                            <m:t>𝑡</m:t>
                          </m:r>
                        </m:sub>
                      </m:sSub>
                      <m:r>
                        <a:rPr lang="en-GB" sz="1200" b="0" i="1" noProof="0" smtClean="0">
                          <a:latin typeface="Cambria Math" panose="02040503050406030204" pitchFamily="18" charset="0"/>
                        </a:rPr>
                        <m:t>−800)</m:t>
                      </m:r>
                    </m:oMath>
                  </m:oMathPara>
                </a14:m>
                <a:endParaRPr lang="en-GB" sz="1200" noProof="0" dirty="0"/>
              </a:p>
              <a:p>
                <a:endParaRPr lang="en-GB" sz="1200" noProof="0" dirty="0"/>
              </a:p>
              <a:p>
                <a:r>
                  <a:rPr lang="en-GB" sz="1200" noProof="0" dirty="0"/>
                  <a:t>Work out the number people in the town 14 years from now. </a:t>
                </a:r>
              </a:p>
              <a:p>
                <a:endParaRPr lang="en-GB" sz="1200" noProof="0" dirty="0"/>
              </a:p>
              <a:p>
                <a:endParaRPr lang="en-GB" sz="1200" noProof="0" dirty="0"/>
              </a:p>
              <a:p>
                <a:endParaRPr lang="en-GB" sz="1200" noProof="0" dirty="0"/>
              </a:p>
            </p:txBody>
          </p:sp>
        </mc:Choice>
        <mc:Fallback xmlns="">
          <p:sp>
            <p:nvSpPr>
              <p:cNvPr id="40" name="TextBox 39">
                <a:extLst>
                  <a:ext uri="{FF2B5EF4-FFF2-40B4-BE49-F238E27FC236}">
                    <a16:creationId xmlns:a16="http://schemas.microsoft.com/office/drawing/2014/main" id="{780CA423-62E4-4D9E-A61F-19419774D88E}"/>
                  </a:ext>
                </a:extLst>
              </p:cNvPr>
              <p:cNvSpPr txBox="1">
                <a:spLocks noRot="1" noChangeAspect="1" noMove="1" noResize="1" noEditPoints="1" noAdjustHandles="1" noChangeArrowheads="1" noChangeShapeType="1" noTextEdit="1"/>
              </p:cNvSpPr>
              <p:nvPr/>
            </p:nvSpPr>
            <p:spPr>
              <a:xfrm>
                <a:off x="4590347" y="6548892"/>
                <a:ext cx="2155809" cy="2123658"/>
              </a:xfrm>
              <a:prstGeom prst="rect">
                <a:avLst/>
              </a:prstGeom>
              <a:blipFill>
                <a:blip r:embed="rId10"/>
                <a:stretch>
                  <a:fillRect r="-847"/>
                </a:stretch>
              </a:blipFill>
            </p:spPr>
            <p:txBody>
              <a:bodyPr/>
              <a:lstStyle/>
              <a:p>
                <a:r>
                  <a:rPr lang="en-US">
                    <a:noFill/>
                  </a:rPr>
                  <a:t> </a:t>
                </a:r>
              </a:p>
            </p:txBody>
          </p:sp>
        </mc:Fallback>
      </mc:AlternateContent>
      <p:sp>
        <p:nvSpPr>
          <p:cNvPr id="53" name="TextBox 52">
            <a:extLst>
              <a:ext uri="{FF2B5EF4-FFF2-40B4-BE49-F238E27FC236}">
                <a16:creationId xmlns:a16="http://schemas.microsoft.com/office/drawing/2014/main" id="{C3C65E48-8C3D-6849-AD77-7AD8678AD8DA}"/>
              </a:ext>
            </a:extLst>
          </p:cNvPr>
          <p:cNvSpPr txBox="1"/>
          <p:nvPr/>
        </p:nvSpPr>
        <p:spPr>
          <a:xfrm>
            <a:off x="64449" y="43893"/>
            <a:ext cx="1762598" cy="276999"/>
          </a:xfrm>
          <a:prstGeom prst="rect">
            <a:avLst/>
          </a:prstGeom>
          <a:solidFill>
            <a:srgbClr val="0070C0"/>
          </a:solidFill>
        </p:spPr>
        <p:txBody>
          <a:bodyPr wrap="none" rtlCol="0" anchor="ctr">
            <a:spAutoFit/>
          </a:bodyPr>
          <a:lstStyle/>
          <a:p>
            <a:pPr algn="r"/>
            <a:r>
              <a:rPr lang="en-GB" sz="1200" b="1" noProof="0" dirty="0">
                <a:solidFill>
                  <a:schemeClr val="bg1"/>
                </a:solidFill>
              </a:rPr>
              <a:t>INDEPENDENT PRACTICE</a:t>
            </a:r>
          </a:p>
        </p:txBody>
      </p:sp>
    </p:spTree>
    <p:extLst>
      <p:ext uri="{BB962C8B-B14F-4D97-AF65-F5344CB8AC3E}">
        <p14:creationId xmlns:p14="http://schemas.microsoft.com/office/powerpoint/2010/main" val="28155659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1BA3FF3-5EA8-8A9C-5623-C8F37634D94C}"/>
              </a:ext>
            </a:extLst>
          </p:cNvPr>
          <p:cNvGraphicFramePr>
            <a:graphicFrameLocks noGrp="1"/>
          </p:cNvGraphicFramePr>
          <p:nvPr>
            <p:extLst>
              <p:ext uri="{D42A27DB-BD31-4B8C-83A1-F6EECF244321}">
                <p14:modId xmlns:p14="http://schemas.microsoft.com/office/powerpoint/2010/main" val="4233975183"/>
              </p:ext>
            </p:extLst>
          </p:nvPr>
        </p:nvGraphicFramePr>
        <p:xfrm>
          <a:off x="109507" y="6382546"/>
          <a:ext cx="6617864" cy="3464754"/>
        </p:xfrm>
        <a:graphic>
          <a:graphicData uri="http://schemas.openxmlformats.org/drawingml/2006/table">
            <a:tbl>
              <a:tblPr firstRow="1" bandRow="1">
                <a:tableStyleId>{5C22544A-7EE6-4342-B048-85BDC9FD1C3A}</a:tableStyleId>
              </a:tblPr>
              <a:tblGrid>
                <a:gridCol w="3308932">
                  <a:extLst>
                    <a:ext uri="{9D8B030D-6E8A-4147-A177-3AD203B41FA5}">
                      <a16:colId xmlns:a16="http://schemas.microsoft.com/office/drawing/2014/main" val="3318441731"/>
                    </a:ext>
                  </a:extLst>
                </a:gridCol>
                <a:gridCol w="3308932">
                  <a:extLst>
                    <a:ext uri="{9D8B030D-6E8A-4147-A177-3AD203B41FA5}">
                      <a16:colId xmlns:a16="http://schemas.microsoft.com/office/drawing/2014/main" val="84521316"/>
                    </a:ext>
                  </a:extLst>
                </a:gridCol>
              </a:tblGrid>
              <a:tr h="3464754">
                <a:tc>
                  <a:txBody>
                    <a:bodyPr/>
                    <a:lstStyle/>
                    <a:p>
                      <a:r>
                        <a:rPr lang="en-GB" sz="1200" b="0" kern="1200" noProof="0" dirty="0">
                          <a:solidFill>
                            <a:schemeClr val="tx1"/>
                          </a:solidFill>
                          <a:effectLst/>
                          <a:latin typeface="+mn-lt"/>
                          <a:ea typeface="+mn-ea"/>
                          <a:cs typeface="+mn-cs"/>
                        </a:rPr>
                        <a:t>At the start of year </a:t>
                      </a:r>
                      <a:r>
                        <a:rPr lang="en-GB" sz="1200" b="0" i="1" kern="1200" noProof="0" dirty="0">
                          <a:solidFill>
                            <a:schemeClr val="tx1"/>
                          </a:solidFill>
                          <a:effectLst/>
                          <a:latin typeface="+mn-lt"/>
                          <a:ea typeface="+mn-ea"/>
                          <a:cs typeface="+mn-cs"/>
                        </a:rPr>
                        <a:t>n</a:t>
                      </a:r>
                      <a:r>
                        <a:rPr lang="en-GB" sz="1200" b="0" kern="1200" noProof="0" dirty="0">
                          <a:solidFill>
                            <a:schemeClr val="tx1"/>
                          </a:solidFill>
                          <a:effectLst/>
                          <a:latin typeface="+mn-lt"/>
                          <a:ea typeface="+mn-ea"/>
                          <a:cs typeface="+mn-cs"/>
                        </a:rPr>
                        <a:t>, the number of animals in a population is </a:t>
                      </a:r>
                      <a:r>
                        <a:rPr lang="en-GB" sz="1200" b="0" i="1" kern="1200" noProof="0" dirty="0" err="1">
                          <a:solidFill>
                            <a:schemeClr val="tx1"/>
                          </a:solidFill>
                          <a:effectLst/>
                          <a:latin typeface="+mn-lt"/>
                          <a:ea typeface="+mn-ea"/>
                          <a:cs typeface="+mn-cs"/>
                        </a:rPr>
                        <a:t>P</a:t>
                      </a:r>
                      <a:r>
                        <a:rPr lang="en-GB" sz="1200" b="0" i="1" kern="1200" baseline="-25000" noProof="0" dirty="0" err="1">
                          <a:solidFill>
                            <a:schemeClr val="tx1"/>
                          </a:solidFill>
                          <a:effectLst/>
                          <a:latin typeface="+mn-lt"/>
                          <a:ea typeface="+mn-ea"/>
                          <a:cs typeface="+mn-cs"/>
                        </a:rPr>
                        <a:t>n</a:t>
                      </a:r>
                      <a:endParaRPr lang="en-GB" sz="1200" b="0" kern="1200" noProof="0" dirty="0">
                        <a:solidFill>
                          <a:schemeClr val="tx1"/>
                        </a:solidFill>
                        <a:effectLst/>
                        <a:latin typeface="+mn-lt"/>
                        <a:ea typeface="+mn-ea"/>
                        <a:cs typeface="+mn-cs"/>
                      </a:endParaRPr>
                    </a:p>
                    <a:p>
                      <a:r>
                        <a:rPr lang="en-GB" sz="1200" b="0" kern="1200" noProof="0" dirty="0">
                          <a:solidFill>
                            <a:schemeClr val="tx1"/>
                          </a:solidFill>
                          <a:effectLst/>
                          <a:latin typeface="+mn-lt"/>
                          <a:ea typeface="+mn-ea"/>
                          <a:cs typeface="+mn-cs"/>
                        </a:rPr>
                        <a:t>At the start of the following year, the number of animals in the population is </a:t>
                      </a:r>
                      <a:r>
                        <a:rPr lang="en-GB" sz="1200" b="0" i="1" kern="1200" noProof="0" dirty="0" err="1">
                          <a:solidFill>
                            <a:schemeClr val="tx1"/>
                          </a:solidFill>
                          <a:effectLst/>
                          <a:latin typeface="+mn-lt"/>
                          <a:ea typeface="+mn-ea"/>
                          <a:cs typeface="+mn-cs"/>
                        </a:rPr>
                        <a:t>P</a:t>
                      </a:r>
                      <a:r>
                        <a:rPr lang="en-GB" sz="1200" b="0" i="1" kern="1200" baseline="-25000" noProof="0" dirty="0" err="1">
                          <a:solidFill>
                            <a:schemeClr val="tx1"/>
                          </a:solidFill>
                          <a:effectLst/>
                          <a:latin typeface="+mn-lt"/>
                          <a:ea typeface="+mn-ea"/>
                          <a:cs typeface="+mn-cs"/>
                        </a:rPr>
                        <a:t>n</a:t>
                      </a:r>
                      <a:r>
                        <a:rPr lang="en-GB" sz="1200" b="0" kern="1200" baseline="-25000" noProof="0" dirty="0">
                          <a:solidFill>
                            <a:schemeClr val="tx1"/>
                          </a:solidFill>
                          <a:effectLst/>
                          <a:latin typeface="+mn-lt"/>
                          <a:ea typeface="+mn-ea"/>
                          <a:cs typeface="+mn-cs"/>
                        </a:rPr>
                        <a:t> + 1</a:t>
                      </a:r>
                      <a:r>
                        <a:rPr lang="en-GB" sz="1200" b="0" kern="1200" noProof="0" dirty="0">
                          <a:solidFill>
                            <a:schemeClr val="tx1"/>
                          </a:solidFill>
                          <a:effectLst/>
                          <a:latin typeface="+mn-lt"/>
                          <a:ea typeface="+mn-ea"/>
                          <a:cs typeface="+mn-cs"/>
                        </a:rPr>
                        <a:t> where</a:t>
                      </a:r>
                    </a:p>
                    <a:p>
                      <a:r>
                        <a:rPr lang="en-GB" sz="1200" b="0" i="1" kern="1200" noProof="0" dirty="0" err="1">
                          <a:solidFill>
                            <a:schemeClr val="tx1"/>
                          </a:solidFill>
                          <a:effectLst/>
                          <a:latin typeface="+mn-lt"/>
                          <a:ea typeface="+mn-ea"/>
                          <a:cs typeface="+mn-cs"/>
                        </a:rPr>
                        <a:t>P</a:t>
                      </a:r>
                      <a:r>
                        <a:rPr lang="en-GB" sz="1200" b="0" i="1" kern="1200" baseline="-25000" noProof="0" dirty="0" err="1">
                          <a:solidFill>
                            <a:schemeClr val="tx1"/>
                          </a:solidFill>
                          <a:effectLst/>
                          <a:latin typeface="+mn-lt"/>
                          <a:ea typeface="+mn-ea"/>
                          <a:cs typeface="+mn-cs"/>
                        </a:rPr>
                        <a:t>n</a:t>
                      </a:r>
                      <a:r>
                        <a:rPr lang="en-GB" sz="1200" b="0" kern="1200" baseline="-25000" noProof="0" dirty="0">
                          <a:solidFill>
                            <a:schemeClr val="tx1"/>
                          </a:solidFill>
                          <a:effectLst/>
                          <a:latin typeface="+mn-lt"/>
                          <a:ea typeface="+mn-ea"/>
                          <a:cs typeface="+mn-cs"/>
                        </a:rPr>
                        <a:t> + 1</a:t>
                      </a:r>
                      <a:r>
                        <a:rPr lang="en-GB" sz="1200" b="0" kern="1200" noProof="0" dirty="0">
                          <a:solidFill>
                            <a:schemeClr val="tx1"/>
                          </a:solidFill>
                          <a:effectLst/>
                          <a:latin typeface="+mn-lt"/>
                          <a:ea typeface="+mn-ea"/>
                          <a:cs typeface="+mn-cs"/>
                        </a:rPr>
                        <a:t> = </a:t>
                      </a:r>
                      <a:r>
                        <a:rPr lang="en-GB" sz="1200" b="0" i="1" kern="1200" noProof="0" dirty="0" err="1">
                          <a:solidFill>
                            <a:schemeClr val="tx1"/>
                          </a:solidFill>
                          <a:effectLst/>
                          <a:latin typeface="+mn-lt"/>
                          <a:ea typeface="+mn-ea"/>
                          <a:cs typeface="+mn-cs"/>
                        </a:rPr>
                        <a:t>kP</a:t>
                      </a:r>
                      <a:r>
                        <a:rPr lang="en-GB" sz="1200" b="0" i="1" kern="1200" baseline="-25000" noProof="0" dirty="0" err="1">
                          <a:solidFill>
                            <a:schemeClr val="tx1"/>
                          </a:solidFill>
                          <a:effectLst/>
                          <a:latin typeface="+mn-lt"/>
                          <a:ea typeface="+mn-ea"/>
                          <a:cs typeface="+mn-cs"/>
                        </a:rPr>
                        <a:t>n</a:t>
                      </a:r>
                      <a:endParaRPr lang="en-GB" sz="1200" b="0" kern="1200" noProof="0" dirty="0">
                        <a:solidFill>
                          <a:schemeClr val="tx1"/>
                        </a:solidFill>
                        <a:effectLst/>
                        <a:latin typeface="+mn-lt"/>
                        <a:ea typeface="+mn-ea"/>
                        <a:cs typeface="+mn-cs"/>
                      </a:endParaRPr>
                    </a:p>
                    <a:p>
                      <a:r>
                        <a:rPr lang="en-GB" sz="1200" b="0" kern="1200" noProof="0" dirty="0">
                          <a:solidFill>
                            <a:schemeClr val="tx1"/>
                          </a:solidFill>
                          <a:effectLst/>
                          <a:latin typeface="+mn-lt"/>
                          <a:ea typeface="+mn-ea"/>
                          <a:cs typeface="+mn-cs"/>
                        </a:rPr>
                        <a:t>At the start of 2017 the number of animals in the population was 8000</a:t>
                      </a:r>
                      <a:br>
                        <a:rPr lang="en-GB" sz="1200" b="0" kern="1200" noProof="0" dirty="0">
                          <a:solidFill>
                            <a:schemeClr val="tx1"/>
                          </a:solidFill>
                          <a:effectLst/>
                          <a:latin typeface="+mn-lt"/>
                          <a:ea typeface="+mn-ea"/>
                          <a:cs typeface="+mn-cs"/>
                        </a:rPr>
                      </a:br>
                      <a:r>
                        <a:rPr lang="en-GB" sz="1200" b="0" kern="1200" noProof="0" dirty="0">
                          <a:solidFill>
                            <a:schemeClr val="tx1"/>
                          </a:solidFill>
                          <a:effectLst/>
                          <a:latin typeface="+mn-lt"/>
                          <a:ea typeface="+mn-ea"/>
                          <a:cs typeface="+mn-cs"/>
                        </a:rPr>
                        <a:t>At the start of 2020 the number of animals in the population was 4913</a:t>
                      </a:r>
                    </a:p>
                    <a:p>
                      <a:r>
                        <a:rPr lang="en-GB" sz="1200" b="0" kern="1200" noProof="0" dirty="0">
                          <a:solidFill>
                            <a:schemeClr val="tx1"/>
                          </a:solidFill>
                          <a:effectLst/>
                          <a:latin typeface="+mn-lt"/>
                          <a:ea typeface="+mn-ea"/>
                          <a:cs typeface="+mn-cs"/>
                        </a:rPr>
                        <a:t>Find the value of the constant </a:t>
                      </a:r>
                      <a:r>
                        <a:rPr lang="en-GB" sz="1200" b="0" i="1" kern="1200" noProof="0" dirty="0">
                          <a:solidFill>
                            <a:schemeClr val="tx1"/>
                          </a:solidFill>
                          <a:effectLst/>
                          <a:latin typeface="+mn-lt"/>
                          <a:ea typeface="+mn-ea"/>
                          <a:cs typeface="+mn-cs"/>
                        </a:rPr>
                        <a:t>k</a:t>
                      </a:r>
                      <a:r>
                        <a:rPr lang="en-GB" sz="1200" b="0" kern="1200" noProof="0" dirty="0">
                          <a:solidFill>
                            <a:schemeClr val="tx1"/>
                          </a:solidFill>
                          <a:effectLst/>
                          <a:latin typeface="+mn-lt"/>
                          <a:ea typeface="+mn-ea"/>
                          <a:cs typeface="+mn-cs"/>
                        </a:rPr>
                        <a:t>.</a:t>
                      </a:r>
                    </a:p>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kern="1200" noProof="0" dirty="0">
                          <a:solidFill>
                            <a:schemeClr val="tx1"/>
                          </a:solidFill>
                          <a:effectLst/>
                          <a:latin typeface="+mn-lt"/>
                          <a:ea typeface="+mn-ea"/>
                          <a:cs typeface="+mn-cs"/>
                        </a:rPr>
                        <a:t>A hot air balloon is descending. </a:t>
                      </a:r>
                      <a:br>
                        <a:rPr lang="en-GB" sz="1200" b="0" kern="1200" noProof="0" dirty="0">
                          <a:solidFill>
                            <a:schemeClr val="tx1"/>
                          </a:solidFill>
                          <a:effectLst/>
                          <a:latin typeface="+mn-lt"/>
                          <a:ea typeface="+mn-ea"/>
                          <a:cs typeface="+mn-cs"/>
                        </a:rPr>
                      </a:br>
                      <a:r>
                        <a:rPr lang="en-GB" sz="1200" b="0" kern="1200" noProof="0" dirty="0">
                          <a:solidFill>
                            <a:schemeClr val="tx1"/>
                          </a:solidFill>
                          <a:effectLst/>
                          <a:latin typeface="+mn-lt"/>
                          <a:ea typeface="+mn-ea"/>
                          <a:cs typeface="+mn-cs"/>
                        </a:rPr>
                        <a:t>The height of the balloon </a:t>
                      </a:r>
                      <a:r>
                        <a:rPr lang="en-GB" sz="1200" b="0" i="1" kern="1200" noProof="0" dirty="0">
                          <a:solidFill>
                            <a:schemeClr val="tx1"/>
                          </a:solidFill>
                          <a:effectLst/>
                          <a:latin typeface="+mn-lt"/>
                          <a:ea typeface="+mn-ea"/>
                          <a:cs typeface="+mn-cs"/>
                        </a:rPr>
                        <a:t>n</a:t>
                      </a:r>
                      <a:r>
                        <a:rPr lang="en-GB" sz="1200" b="0" kern="1200" noProof="0" dirty="0">
                          <a:solidFill>
                            <a:schemeClr val="tx1"/>
                          </a:solidFill>
                          <a:effectLst/>
                          <a:latin typeface="+mn-lt"/>
                          <a:ea typeface="+mn-ea"/>
                          <a:cs typeface="+mn-cs"/>
                        </a:rPr>
                        <a:t> minutes after it starts to descend is </a:t>
                      </a:r>
                      <a:r>
                        <a:rPr lang="en-GB" sz="1200" b="0" i="1" kern="1200" noProof="0" dirty="0" err="1">
                          <a:solidFill>
                            <a:schemeClr val="tx1"/>
                          </a:solidFill>
                          <a:effectLst/>
                          <a:latin typeface="+mn-lt"/>
                          <a:ea typeface="+mn-ea"/>
                          <a:cs typeface="+mn-cs"/>
                        </a:rPr>
                        <a:t>h</a:t>
                      </a:r>
                      <a:r>
                        <a:rPr lang="en-GB" sz="1200" b="0" i="1" kern="1200" baseline="-25000" noProof="0" dirty="0" err="1">
                          <a:solidFill>
                            <a:schemeClr val="tx1"/>
                          </a:solidFill>
                          <a:effectLst/>
                          <a:latin typeface="+mn-lt"/>
                          <a:ea typeface="+mn-ea"/>
                          <a:cs typeface="+mn-cs"/>
                        </a:rPr>
                        <a:t>n</a:t>
                      </a:r>
                      <a:r>
                        <a:rPr lang="en-GB" sz="1200" b="0" kern="1200" noProof="0" dirty="0">
                          <a:solidFill>
                            <a:schemeClr val="tx1"/>
                          </a:solidFill>
                          <a:effectLst/>
                          <a:latin typeface="+mn-lt"/>
                          <a:ea typeface="+mn-ea"/>
                          <a:cs typeface="+mn-cs"/>
                        </a:rPr>
                        <a:t> metres.</a:t>
                      </a:r>
                    </a:p>
                    <a:p>
                      <a:r>
                        <a:rPr lang="en-GB" sz="1200" b="0" kern="1200" noProof="0" dirty="0">
                          <a:solidFill>
                            <a:schemeClr val="tx1"/>
                          </a:solidFill>
                          <a:effectLst/>
                          <a:latin typeface="+mn-lt"/>
                          <a:ea typeface="+mn-ea"/>
                          <a:cs typeface="+mn-cs"/>
                        </a:rPr>
                        <a:t>The height of the balloon (</a:t>
                      </a:r>
                      <a:r>
                        <a:rPr lang="en-GB" sz="1200" b="0" i="1" kern="1200" noProof="0" dirty="0">
                          <a:solidFill>
                            <a:schemeClr val="tx1"/>
                          </a:solidFill>
                          <a:effectLst/>
                          <a:latin typeface="+mn-lt"/>
                          <a:ea typeface="+mn-ea"/>
                          <a:cs typeface="+mn-cs"/>
                        </a:rPr>
                        <a:t>n</a:t>
                      </a:r>
                      <a:r>
                        <a:rPr lang="en-GB" sz="1200" b="0" kern="1200" noProof="0" dirty="0">
                          <a:solidFill>
                            <a:schemeClr val="tx1"/>
                          </a:solidFill>
                          <a:effectLst/>
                          <a:latin typeface="+mn-lt"/>
                          <a:ea typeface="+mn-ea"/>
                          <a:cs typeface="+mn-cs"/>
                        </a:rPr>
                        <a:t> +1) minutes after it starts to descend, </a:t>
                      </a:r>
                      <a:r>
                        <a:rPr lang="en-GB" sz="1200" b="0" kern="1200" noProof="0" dirty="0" err="1">
                          <a:solidFill>
                            <a:schemeClr val="tx1"/>
                          </a:solidFill>
                          <a:effectLst/>
                          <a:latin typeface="+mn-lt"/>
                          <a:ea typeface="+mn-ea"/>
                          <a:cs typeface="+mn-cs"/>
                        </a:rPr>
                        <a:t>h</a:t>
                      </a:r>
                      <a:r>
                        <a:rPr lang="en-GB" sz="1200" b="0" i="1" kern="1200" baseline="-25000" noProof="0" dirty="0" err="1">
                          <a:solidFill>
                            <a:schemeClr val="tx1"/>
                          </a:solidFill>
                          <a:effectLst/>
                          <a:latin typeface="+mn-lt"/>
                          <a:ea typeface="+mn-ea"/>
                          <a:cs typeface="+mn-cs"/>
                        </a:rPr>
                        <a:t>n</a:t>
                      </a:r>
                      <a:r>
                        <a:rPr lang="en-GB" sz="1200" b="0" kern="1200" baseline="-25000" noProof="0" dirty="0">
                          <a:solidFill>
                            <a:schemeClr val="tx1"/>
                          </a:solidFill>
                          <a:effectLst/>
                          <a:latin typeface="+mn-lt"/>
                          <a:ea typeface="+mn-ea"/>
                          <a:cs typeface="+mn-cs"/>
                        </a:rPr>
                        <a:t> + 1</a:t>
                      </a:r>
                      <a:r>
                        <a:rPr lang="en-GB" sz="1200" b="0" kern="1200" noProof="0" dirty="0">
                          <a:solidFill>
                            <a:schemeClr val="tx1"/>
                          </a:solidFill>
                          <a:effectLst/>
                          <a:latin typeface="+mn-lt"/>
                          <a:ea typeface="+mn-ea"/>
                          <a:cs typeface="+mn-cs"/>
                        </a:rPr>
                        <a:t> metres, is given by</a:t>
                      </a:r>
                    </a:p>
                    <a:p>
                      <a:r>
                        <a:rPr lang="en-GB" sz="1200" b="0" kern="1200" noProof="0" dirty="0" err="1">
                          <a:solidFill>
                            <a:schemeClr val="tx1"/>
                          </a:solidFill>
                          <a:effectLst/>
                          <a:latin typeface="+mn-lt"/>
                          <a:ea typeface="+mn-ea"/>
                          <a:cs typeface="+mn-cs"/>
                        </a:rPr>
                        <a:t>h</a:t>
                      </a:r>
                      <a:r>
                        <a:rPr lang="en-GB" sz="1200" b="0" i="1" kern="1200" baseline="-25000" noProof="0" dirty="0" err="1">
                          <a:solidFill>
                            <a:schemeClr val="tx1"/>
                          </a:solidFill>
                          <a:effectLst/>
                          <a:latin typeface="+mn-lt"/>
                          <a:ea typeface="+mn-ea"/>
                          <a:cs typeface="+mn-cs"/>
                        </a:rPr>
                        <a:t>n</a:t>
                      </a:r>
                      <a:r>
                        <a:rPr lang="en-GB" sz="1200" b="0" kern="1200" baseline="-25000" noProof="0" dirty="0">
                          <a:solidFill>
                            <a:schemeClr val="tx1"/>
                          </a:solidFill>
                          <a:effectLst/>
                          <a:latin typeface="+mn-lt"/>
                          <a:ea typeface="+mn-ea"/>
                          <a:cs typeface="+mn-cs"/>
                        </a:rPr>
                        <a:t> + 1</a:t>
                      </a:r>
                      <a:r>
                        <a:rPr lang="en-GB" sz="1200" b="0" kern="1200" noProof="0" dirty="0">
                          <a:solidFill>
                            <a:schemeClr val="tx1"/>
                          </a:solidFill>
                          <a:effectLst/>
                          <a:latin typeface="+mn-lt"/>
                          <a:ea typeface="+mn-ea"/>
                          <a:cs typeface="+mn-cs"/>
                        </a:rPr>
                        <a:t> = </a:t>
                      </a:r>
                      <a:r>
                        <a:rPr lang="en-GB" sz="1200" b="0" i="1" kern="1200" noProof="0" dirty="0">
                          <a:solidFill>
                            <a:schemeClr val="tx1"/>
                          </a:solidFill>
                          <a:effectLst/>
                          <a:latin typeface="+mn-lt"/>
                          <a:ea typeface="+mn-ea"/>
                          <a:cs typeface="+mn-cs"/>
                        </a:rPr>
                        <a:t>K</a:t>
                      </a:r>
                      <a:r>
                        <a:rPr lang="en-GB" sz="1200" b="0" kern="1200" noProof="0" dirty="0">
                          <a:solidFill>
                            <a:schemeClr val="tx1"/>
                          </a:solidFill>
                          <a:effectLst/>
                          <a:latin typeface="+mn-lt"/>
                          <a:ea typeface="+mn-ea"/>
                          <a:cs typeface="+mn-cs"/>
                        </a:rPr>
                        <a:t> × </a:t>
                      </a:r>
                      <a:r>
                        <a:rPr lang="en-GB" sz="1200" b="0" i="1" kern="1200" noProof="0" dirty="0" err="1">
                          <a:solidFill>
                            <a:schemeClr val="tx1"/>
                          </a:solidFill>
                          <a:effectLst/>
                          <a:latin typeface="+mn-lt"/>
                          <a:ea typeface="+mn-ea"/>
                          <a:cs typeface="+mn-cs"/>
                        </a:rPr>
                        <a:t>h</a:t>
                      </a:r>
                      <a:r>
                        <a:rPr lang="en-GB" sz="1200" b="0" i="1" kern="1200" baseline="-25000" noProof="0" dirty="0" err="1">
                          <a:solidFill>
                            <a:schemeClr val="tx1"/>
                          </a:solidFill>
                          <a:effectLst/>
                          <a:latin typeface="+mn-lt"/>
                          <a:ea typeface="+mn-ea"/>
                          <a:cs typeface="+mn-cs"/>
                        </a:rPr>
                        <a:t>n</a:t>
                      </a:r>
                      <a:r>
                        <a:rPr lang="en-GB" sz="1200" b="0" kern="1200" noProof="0" dirty="0">
                          <a:solidFill>
                            <a:schemeClr val="tx1"/>
                          </a:solidFill>
                          <a:effectLst/>
                          <a:latin typeface="+mn-lt"/>
                          <a:ea typeface="+mn-ea"/>
                          <a:cs typeface="+mn-cs"/>
                        </a:rPr>
                        <a:t> + 50 where </a:t>
                      </a:r>
                      <a:r>
                        <a:rPr lang="en-GB" sz="1200" b="0" i="1" kern="1200" noProof="0" dirty="0">
                          <a:solidFill>
                            <a:schemeClr val="tx1"/>
                          </a:solidFill>
                          <a:effectLst/>
                          <a:latin typeface="+mn-lt"/>
                          <a:ea typeface="+mn-ea"/>
                          <a:cs typeface="+mn-cs"/>
                        </a:rPr>
                        <a:t>K</a:t>
                      </a:r>
                      <a:r>
                        <a:rPr lang="en-GB" sz="1200" b="0" kern="1200" noProof="0" dirty="0">
                          <a:solidFill>
                            <a:schemeClr val="tx1"/>
                          </a:solidFill>
                          <a:effectLst/>
                          <a:latin typeface="+mn-lt"/>
                          <a:ea typeface="+mn-ea"/>
                          <a:cs typeface="+mn-cs"/>
                        </a:rPr>
                        <a:t> is a constant.</a:t>
                      </a:r>
                    </a:p>
                    <a:p>
                      <a:r>
                        <a:rPr lang="en-GB" sz="1200" b="0" kern="1200" noProof="0" dirty="0">
                          <a:solidFill>
                            <a:schemeClr val="tx1"/>
                          </a:solidFill>
                          <a:effectLst/>
                          <a:latin typeface="+mn-lt"/>
                          <a:ea typeface="+mn-ea"/>
                          <a:cs typeface="+mn-cs"/>
                        </a:rPr>
                        <a:t>The balloon starts to descend from a height of 1500 metres at 09 15 </a:t>
                      </a:r>
                      <a:br>
                        <a:rPr lang="en-GB" sz="1200" b="0" kern="1200" noProof="0" dirty="0">
                          <a:solidFill>
                            <a:schemeClr val="tx1"/>
                          </a:solidFill>
                          <a:effectLst/>
                          <a:latin typeface="+mn-lt"/>
                          <a:ea typeface="+mn-ea"/>
                          <a:cs typeface="+mn-cs"/>
                        </a:rPr>
                      </a:br>
                      <a:r>
                        <a:rPr lang="en-GB" sz="1200" b="0" kern="1200" noProof="0" dirty="0">
                          <a:solidFill>
                            <a:schemeClr val="tx1"/>
                          </a:solidFill>
                          <a:effectLst/>
                          <a:latin typeface="+mn-lt"/>
                          <a:ea typeface="+mn-ea"/>
                          <a:cs typeface="+mn-cs"/>
                        </a:rPr>
                        <a:t>At 09 16 the height of the balloon is 1400 metres.</a:t>
                      </a:r>
                    </a:p>
                    <a:p>
                      <a:r>
                        <a:rPr lang="en-GB" sz="1200" b="0" kern="1200" noProof="0" dirty="0">
                          <a:solidFill>
                            <a:schemeClr val="tx1"/>
                          </a:solidFill>
                          <a:effectLst/>
                          <a:latin typeface="+mn-lt"/>
                          <a:ea typeface="+mn-ea"/>
                          <a:cs typeface="+mn-cs"/>
                        </a:rPr>
                        <a:t>Work out the height of the balloon at 09 20</a:t>
                      </a:r>
                    </a:p>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8695574"/>
                  </a:ext>
                </a:extLst>
              </a:tr>
            </a:tbl>
          </a:graphicData>
        </a:graphic>
      </p:graphicFrame>
      <p:sp>
        <p:nvSpPr>
          <p:cNvPr id="2" name="Slide Number Placeholder 1">
            <a:extLst>
              <a:ext uri="{FF2B5EF4-FFF2-40B4-BE49-F238E27FC236}">
                <a16:creationId xmlns:a16="http://schemas.microsoft.com/office/drawing/2014/main" id="{EAA96340-DD15-D71F-4DE9-BEE8D3D09C0B}"/>
              </a:ext>
            </a:extLst>
          </p:cNvPr>
          <p:cNvSpPr>
            <a:spLocks noGrp="1"/>
          </p:cNvSpPr>
          <p:nvPr>
            <p:ph type="sldNum" sz="quarter" idx="12"/>
          </p:nvPr>
        </p:nvSpPr>
        <p:spPr>
          <a:xfrm>
            <a:off x="5418229" y="9551125"/>
            <a:ext cx="1543050" cy="527403"/>
          </a:xfrm>
        </p:spPr>
        <p:txBody>
          <a:bodyPr/>
          <a:lstStyle/>
          <a:p>
            <a:fld id="{9BD3B4A0-BFF9-422C-B253-48BA94BE2F5B}" type="slidenum">
              <a:rPr lang="en-GB" noProof="0" smtClean="0"/>
              <a:t>58</a:t>
            </a:fld>
            <a:endParaRPr lang="en-GB" noProof="0" dirty="0"/>
          </a:p>
        </p:txBody>
      </p:sp>
      <p:graphicFrame>
        <p:nvGraphicFramePr>
          <p:cNvPr id="3" name="Table 2">
            <a:extLst>
              <a:ext uri="{FF2B5EF4-FFF2-40B4-BE49-F238E27FC236}">
                <a16:creationId xmlns:a16="http://schemas.microsoft.com/office/drawing/2014/main" id="{A3381F39-BE4B-615E-B017-E67D395F7ADB}"/>
              </a:ext>
            </a:extLst>
          </p:cNvPr>
          <p:cNvGraphicFramePr>
            <a:graphicFrameLocks noGrp="1"/>
          </p:cNvGraphicFramePr>
          <p:nvPr>
            <p:extLst>
              <p:ext uri="{D42A27DB-BD31-4B8C-83A1-F6EECF244321}">
                <p14:modId xmlns:p14="http://schemas.microsoft.com/office/powerpoint/2010/main" val="745673897"/>
              </p:ext>
            </p:extLst>
          </p:nvPr>
        </p:nvGraphicFramePr>
        <p:xfrm>
          <a:off x="109508" y="354875"/>
          <a:ext cx="6617863" cy="5889171"/>
        </p:xfrm>
        <a:graphic>
          <a:graphicData uri="http://schemas.openxmlformats.org/drawingml/2006/table">
            <a:tbl>
              <a:tblPr firstRow="1" bandRow="1">
                <a:tableStyleId>{5C22544A-7EE6-4342-B048-85BDC9FD1C3A}</a:tableStyleId>
              </a:tblPr>
              <a:tblGrid>
                <a:gridCol w="1530453">
                  <a:extLst>
                    <a:ext uri="{9D8B030D-6E8A-4147-A177-3AD203B41FA5}">
                      <a16:colId xmlns:a16="http://schemas.microsoft.com/office/drawing/2014/main" val="1568142362"/>
                    </a:ext>
                  </a:extLst>
                </a:gridCol>
                <a:gridCol w="2510324">
                  <a:extLst>
                    <a:ext uri="{9D8B030D-6E8A-4147-A177-3AD203B41FA5}">
                      <a16:colId xmlns:a16="http://schemas.microsoft.com/office/drawing/2014/main" val="3551711160"/>
                    </a:ext>
                  </a:extLst>
                </a:gridCol>
                <a:gridCol w="2577086">
                  <a:extLst>
                    <a:ext uri="{9D8B030D-6E8A-4147-A177-3AD203B41FA5}">
                      <a16:colId xmlns:a16="http://schemas.microsoft.com/office/drawing/2014/main" val="1506195925"/>
                    </a:ext>
                  </a:extLst>
                </a:gridCol>
              </a:tblGrid>
              <a:tr h="2867698">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kern="1200" noProof="0" dirty="0">
                          <a:solidFill>
                            <a:schemeClr val="tx1"/>
                          </a:solidFill>
                          <a:effectLst/>
                          <a:latin typeface="+mn-lt"/>
                          <a:ea typeface="+mn-ea"/>
                          <a:cs typeface="+mn-cs"/>
                        </a:rPr>
                        <a:t>At time t = 0 hours a tank is full of water.</a:t>
                      </a:r>
                    </a:p>
                    <a:p>
                      <a:r>
                        <a:rPr lang="en-GB" sz="1200" b="0" kern="1200" noProof="0" dirty="0">
                          <a:solidFill>
                            <a:schemeClr val="tx1"/>
                          </a:solidFill>
                          <a:effectLst/>
                          <a:latin typeface="+mn-lt"/>
                          <a:ea typeface="+mn-ea"/>
                          <a:cs typeface="+mn-cs"/>
                        </a:rPr>
                        <a:t>Water leaks from the tank. </a:t>
                      </a:r>
                      <a:br>
                        <a:rPr lang="en-GB" sz="1200" b="0" kern="1200" noProof="0" dirty="0">
                          <a:solidFill>
                            <a:schemeClr val="tx1"/>
                          </a:solidFill>
                          <a:effectLst/>
                          <a:latin typeface="+mn-lt"/>
                          <a:ea typeface="+mn-ea"/>
                          <a:cs typeface="+mn-cs"/>
                        </a:rPr>
                      </a:br>
                      <a:r>
                        <a:rPr lang="en-GB" sz="1200" b="0" kern="1200" noProof="0" dirty="0">
                          <a:solidFill>
                            <a:schemeClr val="tx1"/>
                          </a:solidFill>
                          <a:effectLst/>
                          <a:latin typeface="+mn-lt"/>
                          <a:ea typeface="+mn-ea"/>
                          <a:cs typeface="+mn-cs"/>
                        </a:rPr>
                        <a:t>At the end of every hour there is 2% less water in the tank than at the start of the hour.</a:t>
                      </a:r>
                    </a:p>
                    <a:p>
                      <a:endParaRPr lang="en-GB" sz="1200" b="0" kern="1200" noProof="0" dirty="0">
                        <a:solidFill>
                          <a:schemeClr val="tx1"/>
                        </a:solidFill>
                        <a:effectLst/>
                        <a:latin typeface="+mn-lt"/>
                        <a:ea typeface="+mn-ea"/>
                        <a:cs typeface="+mn-cs"/>
                      </a:endParaRPr>
                    </a:p>
                    <a:p>
                      <a:r>
                        <a:rPr lang="en-GB" sz="1200" b="0" kern="1200" noProof="0" dirty="0">
                          <a:solidFill>
                            <a:schemeClr val="tx1"/>
                          </a:solidFill>
                          <a:effectLst/>
                          <a:latin typeface="+mn-lt"/>
                          <a:ea typeface="+mn-ea"/>
                          <a:cs typeface="+mn-cs"/>
                        </a:rPr>
                        <a:t>The volume of water, in litres, in the tank at time </a:t>
                      </a:r>
                      <a:r>
                        <a:rPr lang="en-GB" sz="1200" b="0" i="1" kern="1200" noProof="0" dirty="0">
                          <a:solidFill>
                            <a:schemeClr val="tx1"/>
                          </a:solidFill>
                          <a:effectLst/>
                          <a:latin typeface="+mn-lt"/>
                          <a:ea typeface="+mn-ea"/>
                          <a:cs typeface="+mn-cs"/>
                        </a:rPr>
                        <a:t>t</a:t>
                      </a:r>
                      <a:r>
                        <a:rPr lang="en-GB" sz="1200" b="0" kern="1200" noProof="0" dirty="0">
                          <a:solidFill>
                            <a:schemeClr val="tx1"/>
                          </a:solidFill>
                          <a:effectLst/>
                          <a:latin typeface="+mn-lt"/>
                          <a:ea typeface="+mn-ea"/>
                          <a:cs typeface="+mn-cs"/>
                        </a:rPr>
                        <a:t> hours is </a:t>
                      </a:r>
                      <a:r>
                        <a:rPr lang="en-GB" sz="1200" b="0" i="1" kern="1200" noProof="0" dirty="0">
                          <a:solidFill>
                            <a:schemeClr val="tx1"/>
                          </a:solidFill>
                          <a:effectLst/>
                          <a:latin typeface="+mn-lt"/>
                          <a:ea typeface="+mn-ea"/>
                          <a:cs typeface="+mn-cs"/>
                        </a:rPr>
                        <a:t>V</a:t>
                      </a:r>
                      <a:r>
                        <a:rPr lang="en-GB" sz="1200" b="0" i="1" kern="1200" baseline="-25000" noProof="0" dirty="0">
                          <a:solidFill>
                            <a:schemeClr val="tx1"/>
                          </a:solidFill>
                          <a:effectLst/>
                          <a:latin typeface="+mn-lt"/>
                          <a:ea typeface="+mn-ea"/>
                          <a:cs typeface="+mn-cs"/>
                        </a:rPr>
                        <a:t>t</a:t>
                      </a:r>
                    </a:p>
                    <a:p>
                      <a:endParaRPr lang="en-GB" sz="1200" b="0" kern="1200" noProof="0" dirty="0">
                        <a:solidFill>
                          <a:schemeClr val="tx1"/>
                        </a:solidFill>
                        <a:effectLst/>
                        <a:latin typeface="+mn-lt"/>
                        <a:ea typeface="+mn-ea"/>
                        <a:cs typeface="+mn-cs"/>
                      </a:endParaRPr>
                    </a:p>
                    <a:p>
                      <a:r>
                        <a:rPr lang="en-GB" sz="1200" b="0" kern="1200" noProof="0" dirty="0">
                          <a:solidFill>
                            <a:schemeClr val="tx1"/>
                          </a:solidFill>
                          <a:effectLst/>
                          <a:latin typeface="+mn-lt"/>
                          <a:ea typeface="+mn-ea"/>
                          <a:cs typeface="+mn-cs"/>
                        </a:rPr>
                        <a:t>Given that</a:t>
                      </a:r>
                    </a:p>
                    <a:p>
                      <a:r>
                        <a:rPr lang="en-GB" sz="1200" b="0" i="1" kern="1200" noProof="0" dirty="0">
                          <a:solidFill>
                            <a:schemeClr val="tx1"/>
                          </a:solidFill>
                          <a:effectLst/>
                          <a:latin typeface="+mn-lt"/>
                          <a:ea typeface="+mn-ea"/>
                          <a:cs typeface="+mn-cs"/>
                        </a:rPr>
                        <a:t>V</a:t>
                      </a:r>
                      <a:r>
                        <a:rPr lang="en-GB" sz="1200" b="0" kern="1200" baseline="-25000" noProof="0" dirty="0">
                          <a:solidFill>
                            <a:schemeClr val="tx1"/>
                          </a:solidFill>
                          <a:effectLst/>
                          <a:latin typeface="+mn-lt"/>
                          <a:ea typeface="+mn-ea"/>
                          <a:cs typeface="+mn-cs"/>
                        </a:rPr>
                        <a:t>0</a:t>
                      </a:r>
                      <a:r>
                        <a:rPr lang="en-GB" sz="1200" b="0" kern="1200" noProof="0" dirty="0">
                          <a:solidFill>
                            <a:schemeClr val="tx1"/>
                          </a:solidFill>
                          <a:effectLst/>
                          <a:latin typeface="+mn-lt"/>
                          <a:ea typeface="+mn-ea"/>
                          <a:cs typeface="+mn-cs"/>
                        </a:rPr>
                        <a:t> = 2000 </a:t>
                      </a:r>
                    </a:p>
                    <a:p>
                      <a:r>
                        <a:rPr lang="en-GB" sz="1200" b="0" i="1" kern="1200" noProof="0" dirty="0">
                          <a:solidFill>
                            <a:schemeClr val="tx1"/>
                          </a:solidFill>
                          <a:effectLst/>
                          <a:latin typeface="+mn-lt"/>
                          <a:ea typeface="+mn-ea"/>
                          <a:cs typeface="+mn-cs"/>
                        </a:rPr>
                        <a:t>V</a:t>
                      </a:r>
                      <a:r>
                        <a:rPr lang="en-GB" sz="1200" b="0" i="1" kern="1200" baseline="-25000" noProof="0" dirty="0">
                          <a:solidFill>
                            <a:schemeClr val="tx1"/>
                          </a:solidFill>
                          <a:effectLst/>
                          <a:latin typeface="+mn-lt"/>
                          <a:ea typeface="+mn-ea"/>
                          <a:cs typeface="+mn-cs"/>
                        </a:rPr>
                        <a:t>t</a:t>
                      </a:r>
                      <a:r>
                        <a:rPr lang="en-GB" sz="1200" b="0" kern="1200" baseline="-25000" noProof="0" dirty="0">
                          <a:solidFill>
                            <a:schemeClr val="tx1"/>
                          </a:solidFill>
                          <a:effectLst/>
                          <a:latin typeface="+mn-lt"/>
                          <a:ea typeface="+mn-ea"/>
                          <a:cs typeface="+mn-cs"/>
                        </a:rPr>
                        <a:t>+1</a:t>
                      </a:r>
                      <a:r>
                        <a:rPr lang="en-GB" sz="1200" b="0" kern="1200" noProof="0" dirty="0">
                          <a:solidFill>
                            <a:schemeClr val="tx1"/>
                          </a:solidFill>
                          <a:effectLst/>
                          <a:latin typeface="+mn-lt"/>
                          <a:ea typeface="+mn-ea"/>
                          <a:cs typeface="+mn-cs"/>
                        </a:rPr>
                        <a:t> = </a:t>
                      </a:r>
                      <a:r>
                        <a:rPr lang="en-GB" sz="1200" b="0" i="1" kern="1200" noProof="0" dirty="0" err="1">
                          <a:solidFill>
                            <a:schemeClr val="tx1"/>
                          </a:solidFill>
                          <a:effectLst/>
                          <a:latin typeface="+mn-lt"/>
                          <a:ea typeface="+mn-ea"/>
                          <a:cs typeface="+mn-cs"/>
                        </a:rPr>
                        <a:t>kV</a:t>
                      </a:r>
                      <a:r>
                        <a:rPr lang="en-GB" sz="1200" b="0" i="1" kern="1200" baseline="-25000" noProof="0" dirty="0" err="1">
                          <a:solidFill>
                            <a:schemeClr val="tx1"/>
                          </a:solidFill>
                          <a:effectLst/>
                          <a:latin typeface="+mn-lt"/>
                          <a:ea typeface="+mn-ea"/>
                          <a:cs typeface="+mn-cs"/>
                        </a:rPr>
                        <a:t>t</a:t>
                      </a:r>
                      <a:endParaRPr lang="en-GB" sz="1200" b="0" kern="1200" noProof="0" dirty="0">
                        <a:solidFill>
                          <a:schemeClr val="tx1"/>
                        </a:solidFill>
                        <a:effectLst/>
                        <a:latin typeface="+mn-lt"/>
                        <a:ea typeface="+mn-ea"/>
                        <a:cs typeface="+mn-cs"/>
                      </a:endParaRPr>
                    </a:p>
                    <a:p>
                      <a:r>
                        <a:rPr lang="en-GB" sz="1200" b="0" kern="1200" noProof="0" dirty="0">
                          <a:solidFill>
                            <a:schemeClr val="tx1"/>
                          </a:solidFill>
                          <a:effectLst/>
                          <a:latin typeface="+mn-lt"/>
                          <a:ea typeface="+mn-ea"/>
                          <a:cs typeface="+mn-cs"/>
                        </a:rPr>
                        <a:t>write down the value of </a:t>
                      </a:r>
                      <a:r>
                        <a:rPr lang="en-GB" sz="1200" b="0" i="1" kern="1200" noProof="0" dirty="0">
                          <a:solidFill>
                            <a:schemeClr val="tx1"/>
                          </a:solidFill>
                          <a:effectLst/>
                          <a:latin typeface="+mn-lt"/>
                          <a:ea typeface="+mn-ea"/>
                          <a:cs typeface="+mn-cs"/>
                        </a:rPr>
                        <a:t>k</a:t>
                      </a:r>
                      <a:r>
                        <a:rPr lang="en-GB" sz="1200" b="0" kern="1200" noProof="0" dirty="0">
                          <a:solidFill>
                            <a:schemeClr val="tx1"/>
                          </a:solidFill>
                          <a:effectLst/>
                          <a:latin typeface="+mn-lt"/>
                          <a:ea typeface="+mn-ea"/>
                          <a:cs typeface="+mn-cs"/>
                        </a:rPr>
                        <a:t>.</a:t>
                      </a:r>
                    </a:p>
                    <a:p>
                      <a:pPr algn="l"/>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kern="1200" noProof="0" dirty="0">
                          <a:solidFill>
                            <a:schemeClr val="tx1"/>
                          </a:solidFill>
                          <a:effectLst/>
                          <a:latin typeface="+mn-lt"/>
                          <a:ea typeface="+mn-ea"/>
                          <a:cs typeface="+mn-cs"/>
                        </a:rPr>
                        <a:t>At the start of year </a:t>
                      </a:r>
                      <a:r>
                        <a:rPr lang="en-GB" sz="1200" b="0" i="1" kern="1200" noProof="0" dirty="0">
                          <a:solidFill>
                            <a:schemeClr val="tx1"/>
                          </a:solidFill>
                          <a:effectLst/>
                          <a:latin typeface="+mn-lt"/>
                          <a:ea typeface="+mn-ea"/>
                          <a:cs typeface="+mn-cs"/>
                        </a:rPr>
                        <a:t>n</a:t>
                      </a:r>
                      <a:r>
                        <a:rPr lang="en-GB" sz="1200" b="0" kern="1200" noProof="0" dirty="0">
                          <a:solidFill>
                            <a:schemeClr val="tx1"/>
                          </a:solidFill>
                          <a:effectLst/>
                          <a:latin typeface="+mn-lt"/>
                          <a:ea typeface="+mn-ea"/>
                          <a:cs typeface="+mn-cs"/>
                        </a:rPr>
                        <a:t>, the number of animals in a population is </a:t>
                      </a:r>
                      <a:r>
                        <a:rPr lang="en-GB" sz="1200" b="0" i="1" kern="1200" noProof="0" dirty="0" err="1">
                          <a:solidFill>
                            <a:schemeClr val="tx1"/>
                          </a:solidFill>
                          <a:effectLst/>
                          <a:latin typeface="+mn-lt"/>
                          <a:ea typeface="+mn-ea"/>
                          <a:cs typeface="+mn-cs"/>
                        </a:rPr>
                        <a:t>P</a:t>
                      </a:r>
                      <a:r>
                        <a:rPr lang="en-GB" sz="1200" b="0" i="1" kern="1200" baseline="-25000" noProof="0" dirty="0" err="1">
                          <a:solidFill>
                            <a:schemeClr val="tx1"/>
                          </a:solidFill>
                          <a:effectLst/>
                          <a:latin typeface="+mn-lt"/>
                          <a:ea typeface="+mn-ea"/>
                          <a:cs typeface="+mn-cs"/>
                        </a:rPr>
                        <a:t>n</a:t>
                      </a:r>
                      <a:endParaRPr lang="en-GB" sz="1200" b="0" i="1" kern="1200" baseline="-25000" noProof="0" dirty="0">
                        <a:solidFill>
                          <a:schemeClr val="tx1"/>
                        </a:solidFill>
                        <a:effectLst/>
                        <a:latin typeface="+mn-lt"/>
                        <a:ea typeface="+mn-ea"/>
                        <a:cs typeface="+mn-cs"/>
                      </a:endParaRPr>
                    </a:p>
                    <a:p>
                      <a:endParaRPr lang="en-GB" sz="1200" b="0" kern="1200" noProof="0" dirty="0">
                        <a:solidFill>
                          <a:schemeClr val="tx1"/>
                        </a:solidFill>
                        <a:effectLst/>
                        <a:latin typeface="+mn-lt"/>
                        <a:ea typeface="+mn-ea"/>
                        <a:cs typeface="+mn-cs"/>
                      </a:endParaRPr>
                    </a:p>
                    <a:p>
                      <a:r>
                        <a:rPr lang="en-GB" sz="1200" b="0" kern="1200" noProof="0" dirty="0">
                          <a:solidFill>
                            <a:schemeClr val="tx1"/>
                          </a:solidFill>
                          <a:effectLst/>
                          <a:latin typeface="+mn-lt"/>
                          <a:ea typeface="+mn-ea"/>
                          <a:cs typeface="+mn-cs"/>
                        </a:rPr>
                        <a:t>At the start of the following year, the number of animals in the population is </a:t>
                      </a:r>
                      <a:r>
                        <a:rPr lang="en-GB" sz="1200" b="0" i="1" kern="1200" noProof="0" dirty="0" err="1">
                          <a:solidFill>
                            <a:schemeClr val="tx1"/>
                          </a:solidFill>
                          <a:effectLst/>
                          <a:latin typeface="+mn-lt"/>
                          <a:ea typeface="+mn-ea"/>
                          <a:cs typeface="+mn-cs"/>
                        </a:rPr>
                        <a:t>P</a:t>
                      </a:r>
                      <a:r>
                        <a:rPr lang="en-GB" sz="1200" b="0" i="1" kern="1200" baseline="-25000" noProof="0" dirty="0" err="1">
                          <a:solidFill>
                            <a:schemeClr val="tx1"/>
                          </a:solidFill>
                          <a:effectLst/>
                          <a:latin typeface="+mn-lt"/>
                          <a:ea typeface="+mn-ea"/>
                          <a:cs typeface="+mn-cs"/>
                        </a:rPr>
                        <a:t>n</a:t>
                      </a:r>
                      <a:r>
                        <a:rPr lang="en-GB" sz="1200" b="0" kern="1200" baseline="-25000" noProof="0" dirty="0">
                          <a:solidFill>
                            <a:schemeClr val="tx1"/>
                          </a:solidFill>
                          <a:effectLst/>
                          <a:latin typeface="+mn-lt"/>
                          <a:ea typeface="+mn-ea"/>
                          <a:cs typeface="+mn-cs"/>
                        </a:rPr>
                        <a:t> + 1</a:t>
                      </a:r>
                      <a:r>
                        <a:rPr lang="en-GB" sz="1200" b="0" kern="1200" noProof="0" dirty="0">
                          <a:solidFill>
                            <a:schemeClr val="tx1"/>
                          </a:solidFill>
                          <a:effectLst/>
                          <a:latin typeface="+mn-lt"/>
                          <a:ea typeface="+mn-ea"/>
                          <a:cs typeface="+mn-cs"/>
                        </a:rPr>
                        <a:t> where</a:t>
                      </a:r>
                    </a:p>
                    <a:p>
                      <a:r>
                        <a:rPr lang="en-GB" sz="1200" b="0" i="1" kern="1200" noProof="0" dirty="0" err="1">
                          <a:solidFill>
                            <a:schemeClr val="tx1"/>
                          </a:solidFill>
                          <a:effectLst/>
                          <a:latin typeface="+mn-lt"/>
                          <a:ea typeface="+mn-ea"/>
                          <a:cs typeface="+mn-cs"/>
                        </a:rPr>
                        <a:t>P</a:t>
                      </a:r>
                      <a:r>
                        <a:rPr lang="en-GB" sz="1200" b="0" i="1" kern="1200" baseline="-25000" noProof="0" dirty="0" err="1">
                          <a:solidFill>
                            <a:schemeClr val="tx1"/>
                          </a:solidFill>
                          <a:effectLst/>
                          <a:latin typeface="+mn-lt"/>
                          <a:ea typeface="+mn-ea"/>
                          <a:cs typeface="+mn-cs"/>
                        </a:rPr>
                        <a:t>n</a:t>
                      </a:r>
                      <a:r>
                        <a:rPr lang="en-GB" sz="1200" b="0" kern="1200" baseline="-25000" noProof="0" dirty="0">
                          <a:solidFill>
                            <a:schemeClr val="tx1"/>
                          </a:solidFill>
                          <a:effectLst/>
                          <a:latin typeface="+mn-lt"/>
                          <a:ea typeface="+mn-ea"/>
                          <a:cs typeface="+mn-cs"/>
                        </a:rPr>
                        <a:t> + 1</a:t>
                      </a:r>
                      <a:r>
                        <a:rPr lang="en-GB" sz="1200" b="0" kern="1200" noProof="0" dirty="0">
                          <a:solidFill>
                            <a:schemeClr val="tx1"/>
                          </a:solidFill>
                          <a:effectLst/>
                          <a:latin typeface="+mn-lt"/>
                          <a:ea typeface="+mn-ea"/>
                          <a:cs typeface="+mn-cs"/>
                        </a:rPr>
                        <a:t> = </a:t>
                      </a:r>
                      <a:r>
                        <a:rPr lang="en-GB" sz="1200" b="0" i="1" kern="1200" noProof="0" dirty="0" err="1">
                          <a:solidFill>
                            <a:schemeClr val="tx1"/>
                          </a:solidFill>
                          <a:effectLst/>
                          <a:latin typeface="+mn-lt"/>
                          <a:ea typeface="+mn-ea"/>
                          <a:cs typeface="+mn-cs"/>
                        </a:rPr>
                        <a:t>kP</a:t>
                      </a:r>
                      <a:r>
                        <a:rPr lang="en-GB" sz="1200" b="0" i="1" kern="1200" baseline="-25000" noProof="0" dirty="0" err="1">
                          <a:solidFill>
                            <a:schemeClr val="tx1"/>
                          </a:solidFill>
                          <a:effectLst/>
                          <a:latin typeface="+mn-lt"/>
                          <a:ea typeface="+mn-ea"/>
                          <a:cs typeface="+mn-cs"/>
                        </a:rPr>
                        <a:t>n</a:t>
                      </a:r>
                      <a:endParaRPr lang="en-GB" sz="1200" b="0" i="1" kern="1200" baseline="-25000" noProof="0" dirty="0">
                        <a:solidFill>
                          <a:schemeClr val="tx1"/>
                        </a:solidFill>
                        <a:effectLst/>
                        <a:latin typeface="+mn-lt"/>
                        <a:ea typeface="+mn-ea"/>
                        <a:cs typeface="+mn-cs"/>
                      </a:endParaRPr>
                    </a:p>
                    <a:p>
                      <a:endParaRPr lang="en-GB" sz="1200" b="0" kern="1200" noProof="0" dirty="0">
                        <a:solidFill>
                          <a:schemeClr val="tx1"/>
                        </a:solidFill>
                        <a:effectLst/>
                        <a:latin typeface="+mn-lt"/>
                        <a:ea typeface="+mn-ea"/>
                        <a:cs typeface="+mn-cs"/>
                      </a:endParaRPr>
                    </a:p>
                    <a:p>
                      <a:r>
                        <a:rPr lang="en-GB" sz="1200" b="0" kern="1200" noProof="0" dirty="0">
                          <a:solidFill>
                            <a:schemeClr val="tx1"/>
                          </a:solidFill>
                          <a:effectLst/>
                          <a:latin typeface="+mn-lt"/>
                          <a:ea typeface="+mn-ea"/>
                          <a:cs typeface="+mn-cs"/>
                        </a:rPr>
                        <a:t>At the start of 2017 the number of animals in the population was 4000 </a:t>
                      </a:r>
                    </a:p>
                    <a:p>
                      <a:br>
                        <a:rPr lang="en-GB" sz="1200" b="0" kern="1200" noProof="0" dirty="0">
                          <a:solidFill>
                            <a:schemeClr val="tx1"/>
                          </a:solidFill>
                          <a:effectLst/>
                          <a:latin typeface="+mn-lt"/>
                          <a:ea typeface="+mn-ea"/>
                          <a:cs typeface="+mn-cs"/>
                        </a:rPr>
                      </a:br>
                      <a:r>
                        <a:rPr lang="en-GB" sz="1200" b="0" kern="1200" noProof="0" dirty="0">
                          <a:solidFill>
                            <a:schemeClr val="tx1"/>
                          </a:solidFill>
                          <a:effectLst/>
                          <a:latin typeface="+mn-lt"/>
                          <a:ea typeface="+mn-ea"/>
                          <a:cs typeface="+mn-cs"/>
                        </a:rPr>
                        <a:t>At the start of 2019 the number of animals in the population was 3610</a:t>
                      </a:r>
                    </a:p>
                    <a:p>
                      <a:endParaRPr lang="en-GB" sz="1200" b="0" kern="1200" noProof="0" dirty="0">
                        <a:solidFill>
                          <a:schemeClr val="tx1"/>
                        </a:solidFill>
                        <a:effectLst/>
                        <a:latin typeface="+mn-lt"/>
                        <a:ea typeface="+mn-ea"/>
                        <a:cs typeface="+mn-cs"/>
                      </a:endParaRPr>
                    </a:p>
                    <a:p>
                      <a:r>
                        <a:rPr lang="en-GB" sz="1200" b="0" kern="1200" noProof="0" dirty="0">
                          <a:solidFill>
                            <a:schemeClr val="tx1"/>
                          </a:solidFill>
                          <a:effectLst/>
                          <a:latin typeface="+mn-lt"/>
                          <a:ea typeface="+mn-ea"/>
                          <a:cs typeface="+mn-cs"/>
                        </a:rPr>
                        <a:t>Find the value of the constant </a:t>
                      </a:r>
                      <a:r>
                        <a:rPr lang="en-GB" sz="1200" b="0" i="1" kern="1200" noProof="0" dirty="0">
                          <a:solidFill>
                            <a:schemeClr val="tx1"/>
                          </a:solidFill>
                          <a:effectLst/>
                          <a:latin typeface="+mn-lt"/>
                          <a:ea typeface="+mn-ea"/>
                          <a:cs typeface="+mn-cs"/>
                        </a:rPr>
                        <a:t>k</a:t>
                      </a:r>
                      <a:r>
                        <a:rPr lang="en-GB" sz="1200" b="0" kern="1200" noProof="0" dirty="0">
                          <a:solidFill>
                            <a:schemeClr val="tx1"/>
                          </a:solidFill>
                          <a:effectLst/>
                          <a:latin typeface="+mn-lt"/>
                          <a:ea typeface="+mn-ea"/>
                          <a:cs typeface="+mn-cs"/>
                        </a:rPr>
                        <a:t>.</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80582">
                <a:tc>
                  <a:txBody>
                    <a:bodyPr/>
                    <a:lstStyle/>
                    <a:p>
                      <a:r>
                        <a:rPr lang="en-GB" sz="1200" noProof="0" dirty="0">
                          <a:solidFill>
                            <a:schemeClr val="tx1"/>
                          </a:solidFill>
                        </a:rPr>
                        <a:t>Consider the relationship between this period’s key numbers and the next period’s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58616">
                <a:tc>
                  <a:txBody>
                    <a:bodyPr/>
                    <a:lstStyle/>
                    <a:p>
                      <a:r>
                        <a:rPr lang="en-GB" sz="1200" noProof="0" dirty="0">
                          <a:solidFill>
                            <a:schemeClr val="tx1"/>
                          </a:solidFill>
                        </a:rPr>
                        <a:t>Work out any relevant multipliers (&gt;1 if growing and &lt;1 if depreciating)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2270818243"/>
                  </a:ext>
                </a:extLst>
              </a:tr>
              <a:tr h="1082275">
                <a:tc>
                  <a:txBody>
                    <a:bodyPr/>
                    <a:lstStyle/>
                    <a:p>
                      <a:r>
                        <a:rPr lang="en-GB" sz="1200" noProof="0" dirty="0">
                          <a:solidFill>
                            <a:schemeClr val="tx1"/>
                          </a:solidFill>
                        </a:rPr>
                        <a:t>Write as a recurrence relationship if required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p:sp>
        <p:nvSpPr>
          <p:cNvPr id="4" name="TextBox 3">
            <a:extLst>
              <a:ext uri="{FF2B5EF4-FFF2-40B4-BE49-F238E27FC236}">
                <a16:creationId xmlns:a16="http://schemas.microsoft.com/office/drawing/2014/main" id="{ABE88C25-E436-B2A9-9B5F-A4C158C9887E}"/>
              </a:ext>
            </a:extLst>
          </p:cNvPr>
          <p:cNvSpPr txBox="1"/>
          <p:nvPr/>
        </p:nvSpPr>
        <p:spPr>
          <a:xfrm>
            <a:off x="4307175" y="58700"/>
            <a:ext cx="1397242" cy="276999"/>
          </a:xfrm>
          <a:prstGeom prst="rect">
            <a:avLst/>
          </a:prstGeom>
          <a:noFill/>
          <a:ln>
            <a:noFill/>
          </a:ln>
        </p:spPr>
        <p:txBody>
          <a:bodyPr wrap="none" rtlCol="0">
            <a:spAutoFit/>
          </a:bodyPr>
          <a:lstStyle/>
          <a:p>
            <a:r>
              <a:rPr lang="en-GB" sz="1200" b="1" i="1" noProof="0" dirty="0">
                <a:solidFill>
                  <a:schemeClr val="accent2"/>
                </a:solidFill>
              </a:rPr>
              <a:t>Example  - We do…</a:t>
            </a:r>
          </a:p>
        </p:txBody>
      </p:sp>
      <p:sp>
        <p:nvSpPr>
          <p:cNvPr id="5" name="TextBox 4">
            <a:extLst>
              <a:ext uri="{FF2B5EF4-FFF2-40B4-BE49-F238E27FC236}">
                <a16:creationId xmlns:a16="http://schemas.microsoft.com/office/drawing/2014/main" id="{F93AB34D-7C14-924F-CF80-7E6E33271A21}"/>
              </a:ext>
            </a:extLst>
          </p:cNvPr>
          <p:cNvSpPr txBox="1"/>
          <p:nvPr/>
        </p:nvSpPr>
        <p:spPr>
          <a:xfrm>
            <a:off x="1979946" y="77876"/>
            <a:ext cx="1194686" cy="276999"/>
          </a:xfrm>
          <a:prstGeom prst="rect">
            <a:avLst/>
          </a:prstGeom>
          <a:noFill/>
          <a:ln>
            <a:noFill/>
          </a:ln>
        </p:spPr>
        <p:txBody>
          <a:bodyPr wrap="none" rtlCol="0">
            <a:spAutoFit/>
          </a:bodyPr>
          <a:lstStyle/>
          <a:p>
            <a:r>
              <a:rPr lang="en-GB" sz="1200" b="1" i="1" noProof="0" dirty="0">
                <a:solidFill>
                  <a:srgbClr val="FF0000"/>
                </a:solidFill>
              </a:rPr>
              <a:t>Example - I do…</a:t>
            </a:r>
          </a:p>
        </p:txBody>
      </p:sp>
      <p:sp>
        <p:nvSpPr>
          <p:cNvPr id="6" name="TextBox 5">
            <a:extLst>
              <a:ext uri="{FF2B5EF4-FFF2-40B4-BE49-F238E27FC236}">
                <a16:creationId xmlns:a16="http://schemas.microsoft.com/office/drawing/2014/main" id="{115364AB-5B32-511E-6D1B-16454ED1C62A}"/>
              </a:ext>
            </a:extLst>
          </p:cNvPr>
          <p:cNvSpPr txBox="1"/>
          <p:nvPr/>
        </p:nvSpPr>
        <p:spPr>
          <a:xfrm>
            <a:off x="109507" y="6105546"/>
            <a:ext cx="1762598" cy="276999"/>
          </a:xfrm>
          <a:prstGeom prst="rect">
            <a:avLst/>
          </a:prstGeom>
          <a:solidFill>
            <a:srgbClr val="0070C0"/>
          </a:solidFill>
        </p:spPr>
        <p:txBody>
          <a:bodyPr wrap="none" rtlCol="0" anchor="ctr">
            <a:spAutoFit/>
          </a:bodyPr>
          <a:lstStyle/>
          <a:p>
            <a:pPr algn="r"/>
            <a:r>
              <a:rPr lang="en-GB" sz="1200" b="1" noProof="0" dirty="0">
                <a:solidFill>
                  <a:schemeClr val="bg1"/>
                </a:solidFill>
              </a:rPr>
              <a:t>INDEPENDENT PRACTICE</a:t>
            </a:r>
          </a:p>
        </p:txBody>
      </p:sp>
    </p:spTree>
    <p:extLst>
      <p:ext uri="{BB962C8B-B14F-4D97-AF65-F5344CB8AC3E}">
        <p14:creationId xmlns:p14="http://schemas.microsoft.com/office/powerpoint/2010/main" val="25385783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012B19-B0A5-A338-14C8-5FC84FCE20CD}"/>
              </a:ext>
            </a:extLst>
          </p:cNvPr>
          <p:cNvSpPr>
            <a:spLocks noGrp="1"/>
          </p:cNvSpPr>
          <p:nvPr>
            <p:ph type="sldNum" sz="quarter" idx="12"/>
          </p:nvPr>
        </p:nvSpPr>
        <p:spPr>
          <a:xfrm>
            <a:off x="5140036" y="9365299"/>
            <a:ext cx="1543050" cy="527403"/>
          </a:xfrm>
        </p:spPr>
        <p:txBody>
          <a:bodyPr/>
          <a:lstStyle/>
          <a:p>
            <a:fld id="{9BD3B4A0-BFF9-422C-B253-48BA94BE2F5B}" type="slidenum">
              <a:rPr lang="en-GB" noProof="0" smtClean="0"/>
              <a:t>59</a:t>
            </a:fld>
            <a:endParaRPr lang="en-GB" noProof="0" dirty="0"/>
          </a:p>
        </p:txBody>
      </p:sp>
      <p:sp>
        <p:nvSpPr>
          <p:cNvPr id="3" name="TextBox 2">
            <a:extLst>
              <a:ext uri="{FF2B5EF4-FFF2-40B4-BE49-F238E27FC236}">
                <a16:creationId xmlns:a16="http://schemas.microsoft.com/office/drawing/2014/main" id="{A7D9F25B-4F6B-81FF-8ABD-BF7F9A1778FD}"/>
              </a:ext>
            </a:extLst>
          </p:cNvPr>
          <p:cNvSpPr txBox="1"/>
          <p:nvPr/>
        </p:nvSpPr>
        <p:spPr>
          <a:xfrm>
            <a:off x="0" y="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5" name="Picture 4" descr="A white background with black text&#10;&#10;AI-generated content may be incorrect.">
            <a:extLst>
              <a:ext uri="{FF2B5EF4-FFF2-40B4-BE49-F238E27FC236}">
                <a16:creationId xmlns:a16="http://schemas.microsoft.com/office/drawing/2014/main" id="{5DFBDB2F-875D-3918-CBD7-1DFC5D08CA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9" y="276999"/>
            <a:ext cx="6115878" cy="2563115"/>
          </a:xfrm>
          <a:prstGeom prst="rect">
            <a:avLst/>
          </a:prstGeom>
        </p:spPr>
      </p:pic>
      <p:pic>
        <p:nvPicPr>
          <p:cNvPr id="6" name="Picture 5">
            <a:extLst>
              <a:ext uri="{FF2B5EF4-FFF2-40B4-BE49-F238E27FC236}">
                <a16:creationId xmlns:a16="http://schemas.microsoft.com/office/drawing/2014/main" id="{9CD56AB1-3404-32D7-AD43-9BCDFC54D89D}"/>
              </a:ext>
            </a:extLst>
          </p:cNvPr>
          <p:cNvPicPr>
            <a:picLocks noChangeAspect="1"/>
          </p:cNvPicPr>
          <p:nvPr/>
        </p:nvPicPr>
        <p:blipFill>
          <a:blip r:embed="rId3"/>
          <a:stretch>
            <a:fillRect/>
          </a:stretch>
        </p:blipFill>
        <p:spPr>
          <a:xfrm>
            <a:off x="57680" y="2840114"/>
            <a:ext cx="5853881" cy="3425143"/>
          </a:xfrm>
          <a:prstGeom prst="rect">
            <a:avLst/>
          </a:prstGeom>
        </p:spPr>
      </p:pic>
      <p:pic>
        <p:nvPicPr>
          <p:cNvPr id="8" name="Picture 7" descr="A screenshot of a math test&#10;&#10;AI-generated content may be incorrect.">
            <a:extLst>
              <a:ext uri="{FF2B5EF4-FFF2-40B4-BE49-F238E27FC236}">
                <a16:creationId xmlns:a16="http://schemas.microsoft.com/office/drawing/2014/main" id="{88E8AC89-5504-4DE4-2B9F-507A716315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680" y="6485751"/>
            <a:ext cx="6115878" cy="3283930"/>
          </a:xfrm>
          <a:prstGeom prst="rect">
            <a:avLst/>
          </a:prstGeom>
        </p:spPr>
      </p:pic>
      <p:cxnSp>
        <p:nvCxnSpPr>
          <p:cNvPr id="10" name="Straight Connector 9">
            <a:extLst>
              <a:ext uri="{FF2B5EF4-FFF2-40B4-BE49-F238E27FC236}">
                <a16:creationId xmlns:a16="http://schemas.microsoft.com/office/drawing/2014/main" id="{41584CF4-C3F5-5DA4-EEEE-EADCDCE1B366}"/>
              </a:ext>
            </a:extLst>
          </p:cNvPr>
          <p:cNvCxnSpPr/>
          <p:nvPr/>
        </p:nvCxnSpPr>
        <p:spPr>
          <a:xfrm>
            <a:off x="0" y="2840114"/>
            <a:ext cx="6858000"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0699CE9-E4A5-8050-90F9-D575936AA593}"/>
              </a:ext>
            </a:extLst>
          </p:cNvPr>
          <p:cNvCxnSpPr/>
          <p:nvPr/>
        </p:nvCxnSpPr>
        <p:spPr>
          <a:xfrm>
            <a:off x="-25149" y="6447682"/>
            <a:ext cx="6858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098496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61E8D-F45D-FEF1-5DEB-C57AF88CD2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FFF9CD-1B9A-9BB5-3DCF-C148BA4D784A}"/>
              </a:ext>
            </a:extLst>
          </p:cNvPr>
          <p:cNvSpPr>
            <a:spLocks noGrp="1"/>
          </p:cNvSpPr>
          <p:nvPr>
            <p:ph type="sldNum" sz="quarter" idx="12"/>
          </p:nvPr>
        </p:nvSpPr>
        <p:spPr>
          <a:xfrm>
            <a:off x="5314950" y="9443541"/>
            <a:ext cx="1543050" cy="527403"/>
          </a:xfrm>
        </p:spPr>
        <p:txBody>
          <a:bodyPr/>
          <a:lstStyle/>
          <a:p>
            <a:fld id="{9BD3B4A0-BFF9-422C-B253-48BA94BE2F5B}" type="slidenum">
              <a:rPr lang="en-GB" noProof="0" smtClean="0"/>
              <a:t>60</a:t>
            </a:fld>
            <a:endParaRPr lang="en-GB" noProof="0" dirty="0"/>
          </a:p>
        </p:txBody>
      </p:sp>
      <p:cxnSp>
        <p:nvCxnSpPr>
          <p:cNvPr id="11" name="Straight Connector 10">
            <a:extLst>
              <a:ext uri="{FF2B5EF4-FFF2-40B4-BE49-F238E27FC236}">
                <a16:creationId xmlns:a16="http://schemas.microsoft.com/office/drawing/2014/main" id="{5DE7AB7B-8179-4451-5867-50EDBE37588A}"/>
              </a:ext>
            </a:extLst>
          </p:cNvPr>
          <p:cNvCxnSpPr/>
          <p:nvPr/>
        </p:nvCxnSpPr>
        <p:spPr>
          <a:xfrm>
            <a:off x="0" y="4318437"/>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7" name="Picture 6" descr="A white paper with black text&#10;&#10;AI-generated content may be incorrect.">
            <a:extLst>
              <a:ext uri="{FF2B5EF4-FFF2-40B4-BE49-F238E27FC236}">
                <a16:creationId xmlns:a16="http://schemas.microsoft.com/office/drawing/2014/main" id="{E536DABE-15F8-B77B-10C5-99B0936258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777" y="82494"/>
            <a:ext cx="6612446" cy="3862484"/>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F07FB9AB-D67E-F76B-8BEE-9910A9EE2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777" y="4519782"/>
            <a:ext cx="6356400" cy="4923759"/>
          </a:xfrm>
          <a:prstGeom prst="rect">
            <a:avLst/>
          </a:prstGeom>
        </p:spPr>
      </p:pic>
    </p:spTree>
    <p:extLst>
      <p:ext uri="{BB962C8B-B14F-4D97-AF65-F5344CB8AC3E}">
        <p14:creationId xmlns:p14="http://schemas.microsoft.com/office/powerpoint/2010/main" val="6759159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547242"/>
            <a:ext cx="1543050" cy="527403"/>
          </a:xfrm>
        </p:spPr>
        <p:txBody>
          <a:bodyPr/>
          <a:lstStyle/>
          <a:p>
            <a:fld id="{9BD3B4A0-BFF9-422C-B253-48BA94BE2F5B}" type="slidenum">
              <a:rPr lang="en-GB" noProof="0" smtClean="0"/>
              <a:t>61</a:t>
            </a:fld>
            <a:endParaRPr lang="en-GB" noProof="0" dirty="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364601994"/>
                  </p:ext>
                </p:extLst>
              </p:nvPr>
            </p:nvGraphicFramePr>
            <p:xfrm>
              <a:off x="109507" y="1480400"/>
              <a:ext cx="6670594" cy="3720219"/>
            </p:xfrm>
            <a:graphic>
              <a:graphicData uri="http://schemas.openxmlformats.org/drawingml/2006/table">
                <a:tbl>
                  <a:tblPr firstRow="1" bandRow="1">
                    <a:tableStyleId>{5C22544A-7EE6-4342-B048-85BDC9FD1C3A}</a:tableStyleId>
                  </a:tblPr>
                  <a:tblGrid>
                    <a:gridCol w="1458036">
                      <a:extLst>
                        <a:ext uri="{9D8B030D-6E8A-4147-A177-3AD203B41FA5}">
                          <a16:colId xmlns:a16="http://schemas.microsoft.com/office/drawing/2014/main" val="1568142362"/>
                        </a:ext>
                      </a:extLst>
                    </a:gridCol>
                    <a:gridCol w="1750423">
                      <a:extLst>
                        <a:ext uri="{9D8B030D-6E8A-4147-A177-3AD203B41FA5}">
                          <a16:colId xmlns:a16="http://schemas.microsoft.com/office/drawing/2014/main" val="3551711160"/>
                        </a:ext>
                      </a:extLst>
                    </a:gridCol>
                    <a:gridCol w="1663076">
                      <a:extLst>
                        <a:ext uri="{9D8B030D-6E8A-4147-A177-3AD203B41FA5}">
                          <a16:colId xmlns:a16="http://schemas.microsoft.com/office/drawing/2014/main" val="772331842"/>
                        </a:ext>
                      </a:extLst>
                    </a:gridCol>
                    <a:gridCol w="1799059">
                      <a:extLst>
                        <a:ext uri="{9D8B030D-6E8A-4147-A177-3AD203B41FA5}">
                          <a16:colId xmlns:a16="http://schemas.microsoft.com/office/drawing/2014/main" val="1506195925"/>
                        </a:ext>
                      </a:extLst>
                    </a:gridCol>
                  </a:tblGrid>
                  <a:tr h="750850">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Show the equation</a:t>
                          </a:r>
                          <a:r>
                            <a:rPr lang="en-GB" sz="1200" b="0" baseline="0" noProof="0" dirty="0">
                              <a:solidFill>
                                <a:schemeClr val="tx1"/>
                              </a:solidFill>
                            </a:rPr>
                            <a:t> </a:t>
                          </a:r>
                          <a14:m>
                            <m:oMath xmlns:m="http://schemas.openxmlformats.org/officeDocument/2006/math">
                              <m:rad>
                                <m:radPr>
                                  <m:degHide m:val="on"/>
                                  <m:ctrlPr>
                                    <a:rPr lang="en-GB" sz="1200" b="0" i="1" baseline="0" noProof="0" smtClean="0">
                                      <a:solidFill>
                                        <a:schemeClr val="tx1"/>
                                      </a:solidFill>
                                      <a:latin typeface="Cambria Math" panose="02040503050406030204" pitchFamily="18" charset="0"/>
                                      <a:ea typeface="Cambria Math" panose="02040503050406030204" pitchFamily="18" charset="0"/>
                                    </a:rPr>
                                  </m:ctrlPr>
                                </m:radPr>
                                <m:deg/>
                                <m:e>
                                  <m:r>
                                    <a:rPr lang="en-GB" sz="1200" b="0" i="1" baseline="0" noProof="0" smtClean="0">
                                      <a:solidFill>
                                        <a:schemeClr val="tx1"/>
                                      </a:solidFill>
                                      <a:latin typeface="Cambria Math" panose="02040503050406030204" pitchFamily="18" charset="0"/>
                                      <a:ea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+1</m:t>
                                  </m:r>
                                </m:e>
                              </m:rad>
                              <m:r>
                                <a:rPr lang="en-GB" sz="1200" b="0" i="1" baseline="0" noProof="0" smtClean="0">
                                  <a:solidFill>
                                    <a:schemeClr val="tx1"/>
                                  </a:solidFill>
                                  <a:latin typeface="Cambria Math" panose="02040503050406030204" pitchFamily="18" charset="0"/>
                                  <a:ea typeface="Cambria Math" panose="02040503050406030204" pitchFamily="18" charset="0"/>
                                </a:rPr>
                                <m:t>=</m:t>
                              </m:r>
                              <m:f>
                                <m:fPr>
                                  <m:ctrlPr>
                                    <a:rPr lang="en-GB" sz="1200" b="0" i="1" baseline="0" noProof="0" smtClean="0">
                                      <a:solidFill>
                                        <a:schemeClr val="tx1"/>
                                      </a:solidFill>
                                      <a:latin typeface="Cambria Math" panose="02040503050406030204" pitchFamily="18" charset="0"/>
                                      <a:ea typeface="Cambria Math" panose="02040503050406030204" pitchFamily="18" charset="0"/>
                                    </a:rPr>
                                  </m:ctrlPr>
                                </m:fPr>
                                <m:num>
                                  <m:r>
                                    <a:rPr lang="en-GB" sz="1200" b="0" i="1" baseline="0" noProof="0" smtClean="0">
                                      <a:solidFill>
                                        <a:schemeClr val="tx1"/>
                                      </a:solidFill>
                                      <a:latin typeface="Cambria Math" panose="02040503050406030204" pitchFamily="18" charset="0"/>
                                      <a:ea typeface="Cambria Math" panose="02040503050406030204" pitchFamily="18" charset="0"/>
                                    </a:rPr>
                                    <m:t>7</m:t>
                                  </m:r>
                                </m:num>
                                <m:den>
                                  <m:r>
                                    <a:rPr lang="en-GB" sz="1200" b="0" i="1" baseline="0" noProof="0" smtClean="0">
                                      <a:solidFill>
                                        <a:schemeClr val="tx1"/>
                                      </a:solidFill>
                                      <a:latin typeface="Cambria Math" panose="02040503050406030204" pitchFamily="18" charset="0"/>
                                      <a:ea typeface="Cambria Math" panose="02040503050406030204" pitchFamily="18" charset="0"/>
                                    </a:rPr>
                                    <m:t>𝑥</m:t>
                                  </m:r>
                                </m:den>
                              </m:f>
                            </m:oMath>
                          </a14:m>
                          <a:endParaRPr lang="en-GB" sz="1200" b="0" noProof="0" dirty="0">
                            <a:solidFill>
                              <a:schemeClr val="tx1"/>
                            </a:solidFill>
                          </a:endParaRPr>
                        </a:p>
                        <a:p>
                          <a:pPr algn="ctr"/>
                          <a:endParaRPr lang="en-GB" sz="1200" b="0" noProof="0" dirty="0">
                            <a:solidFill>
                              <a:schemeClr val="tx1"/>
                            </a:solidFill>
                          </a:endParaRPr>
                        </a:p>
                        <a:p>
                          <a:pPr algn="ctr"/>
                          <a:r>
                            <a:rPr lang="en-GB" sz="1200" b="0" noProof="0" dirty="0">
                              <a:solidFill>
                                <a:schemeClr val="tx1"/>
                              </a:solidFill>
                            </a:rPr>
                            <a:t>Has a solution between </a:t>
                          </a:r>
                        </a:p>
                        <a:p>
                          <a:pPr algn="ctr"/>
                          <a:r>
                            <a:rPr lang="en-GB" sz="1200" b="0" noProof="0" dirty="0">
                              <a:solidFill>
                                <a:schemeClr val="tx1"/>
                              </a:solidFill>
                            </a:rPr>
                            <a:t>3 and 4.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Show the equation</a:t>
                          </a:r>
                          <a:r>
                            <a:rPr lang="en-GB" sz="1200" b="0" baseline="0" noProof="0" dirty="0">
                              <a:solidFill>
                                <a:schemeClr val="tx1"/>
                              </a:solidFill>
                            </a:rPr>
                            <a:t> </a:t>
                          </a:r>
                        </a:p>
                        <a:p>
                          <a:pPr algn="ctr"/>
                          <a14:m>
                            <m:oMathPara xmlns:m="http://schemas.openxmlformats.org/officeDocument/2006/math">
                              <m:oMathParaPr>
                                <m:jc m:val="centerGroup"/>
                              </m:oMathParaPr>
                              <m:oMath xmlns:m="http://schemas.openxmlformats.org/officeDocument/2006/math">
                                <m:sSup>
                                  <m:sSupPr>
                                    <m:ctrlPr>
                                      <a:rPr lang="en-GB" sz="1200" b="0" i="1" baseline="0" noProof="0" smtClean="0">
                                        <a:solidFill>
                                          <a:schemeClr val="tx1"/>
                                        </a:solidFill>
                                        <a:latin typeface="Cambria Math" panose="02040503050406030204" pitchFamily="18" charset="0"/>
                                        <a:ea typeface="Cambria Math" panose="02040503050406030204" pitchFamily="18" charset="0"/>
                                      </a:rPr>
                                    </m:ctrlPr>
                                  </m:sSupPr>
                                  <m:e>
                                    <m:r>
                                      <a:rPr lang="en-GB" sz="1200" b="0" i="1" baseline="0" noProof="0" smtClean="0">
                                        <a:solidFill>
                                          <a:schemeClr val="tx1"/>
                                        </a:solidFill>
                                        <a:latin typeface="Cambria Math" panose="02040503050406030204" pitchFamily="18" charset="0"/>
                                        <a:ea typeface="Cambria Math" panose="02040503050406030204" pitchFamily="18" charset="0"/>
                                      </a:rPr>
                                      <m:t>𝑥</m:t>
                                    </m:r>
                                  </m:e>
                                  <m:sup>
                                    <m:r>
                                      <a:rPr lang="en-GB" sz="1200" b="0" i="1" baseline="0" noProof="0" smtClean="0">
                                        <a:solidFill>
                                          <a:schemeClr val="tx1"/>
                                        </a:solidFill>
                                        <a:latin typeface="Cambria Math" panose="02040503050406030204" pitchFamily="18" charset="0"/>
                                        <a:ea typeface="Cambria Math" panose="02040503050406030204" pitchFamily="18" charset="0"/>
                                      </a:rPr>
                                      <m:t>3</m:t>
                                    </m:r>
                                  </m:sup>
                                </m:sSup>
                                <m:r>
                                  <a:rPr lang="en-GB" sz="1200" b="0" i="1" baseline="0" noProof="0" smtClean="0">
                                    <a:solidFill>
                                      <a:schemeClr val="tx1"/>
                                    </a:solidFill>
                                    <a:latin typeface="Cambria Math" panose="02040503050406030204" pitchFamily="18" charset="0"/>
                                    <a:ea typeface="Cambria Math" panose="02040503050406030204" pitchFamily="18" charset="0"/>
                                  </a:rPr>
                                  <m:t>−3</m:t>
                                </m:r>
                                <m:r>
                                  <a:rPr lang="en-GB" sz="1200" b="0" i="1" baseline="0" noProof="0" smtClean="0">
                                    <a:solidFill>
                                      <a:schemeClr val="tx1"/>
                                    </a:solidFill>
                                    <a:latin typeface="Cambria Math" panose="02040503050406030204" pitchFamily="18" charset="0"/>
                                    <a:ea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−1=0</m:t>
                                </m:r>
                              </m:oMath>
                            </m:oMathPara>
                          </a14:m>
                          <a:endParaRPr lang="en-GB" sz="1200" b="0" noProof="0" dirty="0">
                            <a:solidFill>
                              <a:schemeClr val="tx1"/>
                            </a:solidFill>
                          </a:endParaRPr>
                        </a:p>
                        <a:p>
                          <a:pPr algn="ctr"/>
                          <a:endParaRPr lang="en-GB" sz="1200" b="0" noProof="0" dirty="0">
                            <a:solidFill>
                              <a:schemeClr val="tx1"/>
                            </a:solidFill>
                          </a:endParaRPr>
                        </a:p>
                        <a:p>
                          <a:pPr algn="ctr"/>
                          <a:r>
                            <a:rPr lang="en-GB" sz="1200" b="0" noProof="0" dirty="0">
                              <a:solidFill>
                                <a:schemeClr val="tx1"/>
                              </a:solidFill>
                            </a:rPr>
                            <a:t>Has a root between </a:t>
                          </a:r>
                        </a:p>
                        <a:p>
                          <a:pPr algn="ctr"/>
                          <a:r>
                            <a:rPr lang="en-GB" sz="1200" b="0" noProof="0" dirty="0">
                              <a:solidFill>
                                <a:schemeClr val="tx1"/>
                              </a:solidFill>
                            </a:rPr>
                            <a:t>1 and 2. </a:t>
                          </a:r>
                        </a:p>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Show the equation</a:t>
                          </a:r>
                          <a:r>
                            <a:rPr lang="en-GB" sz="1200" b="0" baseline="0" noProof="0" dirty="0">
                              <a:solidFill>
                                <a:schemeClr val="tx1"/>
                              </a:solidFill>
                            </a:rPr>
                            <a:t> </a:t>
                          </a:r>
                        </a:p>
                        <a:p>
                          <a:pPr algn="ctr"/>
                          <a14:m>
                            <m:oMathPara xmlns:m="http://schemas.openxmlformats.org/officeDocument/2006/math">
                              <m:oMathParaPr>
                                <m:jc m:val="centerGroup"/>
                              </m:oMathParaPr>
                              <m:oMath xmlns:m="http://schemas.openxmlformats.org/officeDocument/2006/math">
                                <m:sSup>
                                  <m:sSupPr>
                                    <m:ctrlPr>
                                      <a:rPr lang="en-GB" sz="1200" b="0" i="1" baseline="0" noProof="0" smtClean="0">
                                        <a:solidFill>
                                          <a:schemeClr val="tx1"/>
                                        </a:solidFill>
                                        <a:latin typeface="Cambria Math" panose="02040503050406030204" pitchFamily="18" charset="0"/>
                                        <a:ea typeface="Cambria Math" panose="02040503050406030204" pitchFamily="18" charset="0"/>
                                      </a:rPr>
                                    </m:ctrlPr>
                                  </m:sSupPr>
                                  <m:e>
                                    <m:r>
                                      <a:rPr lang="en-GB" sz="1200" b="0" i="1" baseline="0" noProof="0" smtClean="0">
                                        <a:solidFill>
                                          <a:schemeClr val="tx1"/>
                                        </a:solidFill>
                                        <a:latin typeface="Cambria Math" panose="02040503050406030204" pitchFamily="18" charset="0"/>
                                        <a:ea typeface="Cambria Math" panose="02040503050406030204" pitchFamily="18" charset="0"/>
                                      </a:rPr>
                                      <m:t>𝑥</m:t>
                                    </m:r>
                                  </m:e>
                                  <m:sup>
                                    <m:r>
                                      <a:rPr lang="en-GB" sz="1200" b="0" i="1" baseline="0" noProof="0" smtClean="0">
                                        <a:solidFill>
                                          <a:schemeClr val="tx1"/>
                                        </a:solidFill>
                                        <a:latin typeface="Cambria Math" panose="02040503050406030204" pitchFamily="18" charset="0"/>
                                        <a:ea typeface="Cambria Math" panose="02040503050406030204" pitchFamily="18" charset="0"/>
                                      </a:rPr>
                                      <m:t>3</m:t>
                                    </m:r>
                                  </m:sup>
                                </m:sSup>
                                <m:r>
                                  <a:rPr lang="en-GB" sz="1200" b="0" i="1" baseline="0" noProof="0" smtClean="0">
                                    <a:solidFill>
                                      <a:schemeClr val="tx1"/>
                                    </a:solidFill>
                                    <a:latin typeface="Cambria Math" panose="02040503050406030204" pitchFamily="18" charset="0"/>
                                    <a:ea typeface="Cambria Math" panose="02040503050406030204" pitchFamily="18" charset="0"/>
                                  </a:rPr>
                                  <m:t>−24=5</m:t>
                                </m:r>
                                <m:r>
                                  <a:rPr lang="en-GB" sz="1200" b="0" i="1" baseline="0" noProof="0" smtClean="0">
                                    <a:solidFill>
                                      <a:schemeClr val="tx1"/>
                                    </a:solidFill>
                                    <a:latin typeface="Cambria Math" panose="02040503050406030204" pitchFamily="18" charset="0"/>
                                    <a:ea typeface="Cambria Math" panose="02040503050406030204" pitchFamily="18" charset="0"/>
                                  </a:rPr>
                                  <m:t>𝑥</m:t>
                                </m:r>
                              </m:oMath>
                            </m:oMathPara>
                          </a14:m>
                          <a:endParaRPr lang="en-GB" sz="1200" b="0" noProof="0" dirty="0">
                            <a:solidFill>
                              <a:schemeClr val="tx1"/>
                            </a:solidFill>
                          </a:endParaRPr>
                        </a:p>
                        <a:p>
                          <a:pPr algn="ctr"/>
                          <a:endParaRPr lang="en-GB" sz="1200" b="0" noProof="0" dirty="0">
                            <a:solidFill>
                              <a:schemeClr val="tx1"/>
                            </a:solidFill>
                          </a:endParaRPr>
                        </a:p>
                        <a:p>
                          <a:pPr algn="ctr"/>
                          <a:r>
                            <a:rPr lang="en-GB" sz="1200" b="0" noProof="0" dirty="0">
                              <a:solidFill>
                                <a:schemeClr val="tx1"/>
                              </a:solidFill>
                            </a:rPr>
                            <a:t>Has a solution between </a:t>
                          </a:r>
                        </a:p>
                        <a:p>
                          <a:pPr algn="ctr"/>
                          <a:r>
                            <a:rPr lang="en-GB" sz="1200" b="0" noProof="0" dirty="0">
                              <a:solidFill>
                                <a:schemeClr val="tx1"/>
                              </a:solidFill>
                            </a:rPr>
                            <a:t>3 and 4. </a:t>
                          </a:r>
                        </a:p>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519819">
                    <a:tc>
                      <a:txBody>
                        <a:bodyPr/>
                        <a:lstStyle/>
                        <a:p>
                          <a:r>
                            <a:rPr lang="en-GB" sz="1200" noProof="0" dirty="0"/>
                            <a:t>Rearrange to make equal to zero.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3533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Evaluate the expression for the two given values – show your working</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981881">
                    <a:tc>
                      <a:txBody>
                        <a:bodyPr/>
                        <a:lstStyle/>
                        <a:p>
                          <a:r>
                            <a:rPr lang="en-GB" sz="1200" noProof="0" dirty="0"/>
                            <a:t>There</a:t>
                          </a:r>
                          <a:r>
                            <a:rPr lang="en-GB" sz="1200" baseline="0" noProof="0" dirty="0"/>
                            <a:t> should be a positive and negative value – write </a:t>
                          </a:r>
                          <a:r>
                            <a:rPr lang="en-GB" sz="1200" i="1" baseline="0" noProof="0" dirty="0"/>
                            <a:t>“therefore a root in the interval</a:t>
                          </a:r>
                          <a:r>
                            <a:rPr lang="en-GB" sz="1200" baseline="0" noProof="0" dirty="0"/>
                            <a:t>”</a:t>
                          </a: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364601994"/>
                  </p:ext>
                </p:extLst>
              </p:nvPr>
            </p:nvGraphicFramePr>
            <p:xfrm>
              <a:off x="109507" y="1480400"/>
              <a:ext cx="6670594" cy="3720219"/>
            </p:xfrm>
            <a:graphic>
              <a:graphicData uri="http://schemas.openxmlformats.org/drawingml/2006/table">
                <a:tbl>
                  <a:tblPr firstRow="1" bandRow="1">
                    <a:tableStyleId>{5C22544A-7EE6-4342-B048-85BDC9FD1C3A}</a:tableStyleId>
                  </a:tblPr>
                  <a:tblGrid>
                    <a:gridCol w="1458036">
                      <a:extLst>
                        <a:ext uri="{9D8B030D-6E8A-4147-A177-3AD203B41FA5}">
                          <a16:colId xmlns:a16="http://schemas.microsoft.com/office/drawing/2014/main" val="1568142362"/>
                        </a:ext>
                      </a:extLst>
                    </a:gridCol>
                    <a:gridCol w="1750423">
                      <a:extLst>
                        <a:ext uri="{9D8B030D-6E8A-4147-A177-3AD203B41FA5}">
                          <a16:colId xmlns:a16="http://schemas.microsoft.com/office/drawing/2014/main" val="3551711160"/>
                        </a:ext>
                      </a:extLst>
                    </a:gridCol>
                    <a:gridCol w="1663076">
                      <a:extLst>
                        <a:ext uri="{9D8B030D-6E8A-4147-A177-3AD203B41FA5}">
                          <a16:colId xmlns:a16="http://schemas.microsoft.com/office/drawing/2014/main" val="772331842"/>
                        </a:ext>
                      </a:extLst>
                    </a:gridCol>
                    <a:gridCol w="1799059">
                      <a:extLst>
                        <a:ext uri="{9D8B030D-6E8A-4147-A177-3AD203B41FA5}">
                          <a16:colId xmlns:a16="http://schemas.microsoft.com/office/drawing/2014/main" val="1506195925"/>
                        </a:ext>
                      </a:extLst>
                    </a:gridCol>
                  </a:tblGrid>
                  <a:tr h="118872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3972" t="-510" r="-198955" b="-21581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93407" t="-510" r="-109158" b="-21581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0608" t="-510" r="-676" b="-215816"/>
                          </a:stretch>
                        </a:blipFill>
                      </a:tcPr>
                    </a:tc>
                    <a:extLst>
                      <a:ext uri="{0D108BD9-81ED-4DB2-BD59-A6C34878D82A}">
                        <a16:rowId xmlns:a16="http://schemas.microsoft.com/office/drawing/2014/main" val="2357201933"/>
                      </a:ext>
                    </a:extLst>
                  </a:tr>
                  <a:tr h="519819">
                    <a:tc>
                      <a:txBody>
                        <a:bodyPr/>
                        <a:lstStyle/>
                        <a:p>
                          <a:r>
                            <a:rPr lang="en-GB" sz="1200" noProof="0"/>
                            <a:t>Rearrange to make equal to zero.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05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Evaluate the expression for the two given values – show your working</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005840">
                    <a:tc>
                      <a:txBody>
                        <a:bodyPr/>
                        <a:lstStyle/>
                        <a:p>
                          <a:r>
                            <a:rPr lang="en-GB" sz="1200" noProof="0"/>
                            <a:t>There</a:t>
                          </a:r>
                          <a:r>
                            <a:rPr lang="en-GB" sz="1200" baseline="0" noProof="0"/>
                            <a:t> should be a positive and negative value – write </a:t>
                          </a:r>
                          <a:r>
                            <a:rPr lang="en-GB" sz="1200" i="1" baseline="0" noProof="0"/>
                            <a:t>“therefore a root in the interval</a:t>
                          </a:r>
                          <a:r>
                            <a:rPr lang="en-GB" sz="1200" baseline="0" noProof="0"/>
                            <a:t>”</a:t>
                          </a: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Fallback>
      </mc:AlternateContent>
      <p:sp>
        <p:nvSpPr>
          <p:cNvPr id="7" name="TextBox 6">
            <a:extLst>
              <a:ext uri="{FF2B5EF4-FFF2-40B4-BE49-F238E27FC236}">
                <a16:creationId xmlns:a16="http://schemas.microsoft.com/office/drawing/2014/main" id="{EA4FD2D9-8D23-4ADE-B70E-F386FDED2BED}"/>
              </a:ext>
            </a:extLst>
          </p:cNvPr>
          <p:cNvSpPr txBox="1"/>
          <p:nvPr/>
        </p:nvSpPr>
        <p:spPr>
          <a:xfrm>
            <a:off x="5148510" y="1142390"/>
            <a:ext cx="1498808" cy="276999"/>
          </a:xfrm>
          <a:prstGeom prst="rect">
            <a:avLst/>
          </a:prstGeom>
          <a:noFill/>
          <a:ln>
            <a:noFill/>
          </a:ln>
        </p:spPr>
        <p:txBody>
          <a:bodyPr wrap="none" rtlCol="0">
            <a:spAutoFit/>
          </a:bodyPr>
          <a:lstStyle/>
          <a:p>
            <a:r>
              <a:rPr lang="en-GB" sz="1200" b="1" i="1" noProof="0" dirty="0">
                <a:solidFill>
                  <a:srgbClr val="00B050"/>
                </a:solidFill>
              </a:rPr>
              <a:t>Example 9 - You do…</a:t>
            </a:r>
          </a:p>
        </p:txBody>
      </p:sp>
      <p:sp>
        <p:nvSpPr>
          <p:cNvPr id="8" name="TextBox 7">
            <a:extLst>
              <a:ext uri="{FF2B5EF4-FFF2-40B4-BE49-F238E27FC236}">
                <a16:creationId xmlns:a16="http://schemas.microsoft.com/office/drawing/2014/main" id="{08E67FA9-518E-48EE-9C3C-DC43DA12711A}"/>
              </a:ext>
            </a:extLst>
          </p:cNvPr>
          <p:cNvSpPr txBox="1"/>
          <p:nvPr/>
        </p:nvSpPr>
        <p:spPr>
          <a:xfrm>
            <a:off x="3342163" y="1134092"/>
            <a:ext cx="1475789" cy="276999"/>
          </a:xfrm>
          <a:prstGeom prst="rect">
            <a:avLst/>
          </a:prstGeom>
          <a:noFill/>
          <a:ln>
            <a:noFill/>
          </a:ln>
        </p:spPr>
        <p:txBody>
          <a:bodyPr wrap="none" rtlCol="0">
            <a:spAutoFit/>
          </a:bodyPr>
          <a:lstStyle/>
          <a:p>
            <a:r>
              <a:rPr lang="en-GB" sz="1200" b="1" i="1" noProof="0" dirty="0">
                <a:solidFill>
                  <a:schemeClr val="accent2"/>
                </a:solidFill>
              </a:rPr>
              <a:t>Example 8 - We do…</a:t>
            </a:r>
          </a:p>
        </p:txBody>
      </p:sp>
      <p:sp>
        <p:nvSpPr>
          <p:cNvPr id="9" name="TextBox 8">
            <a:extLst>
              <a:ext uri="{FF2B5EF4-FFF2-40B4-BE49-F238E27FC236}">
                <a16:creationId xmlns:a16="http://schemas.microsoft.com/office/drawing/2014/main" id="{0C5FDE3F-DC2A-468E-BF61-F69BF8BB2775}"/>
              </a:ext>
            </a:extLst>
          </p:cNvPr>
          <p:cNvSpPr txBox="1"/>
          <p:nvPr/>
        </p:nvSpPr>
        <p:spPr>
          <a:xfrm>
            <a:off x="1640675" y="1149138"/>
            <a:ext cx="1273234" cy="276999"/>
          </a:xfrm>
          <a:prstGeom prst="rect">
            <a:avLst/>
          </a:prstGeom>
          <a:noFill/>
          <a:ln>
            <a:noFill/>
          </a:ln>
        </p:spPr>
        <p:txBody>
          <a:bodyPr wrap="none" rtlCol="0">
            <a:spAutoFit/>
          </a:bodyPr>
          <a:lstStyle/>
          <a:p>
            <a:r>
              <a:rPr lang="en-GB" sz="1200" b="1" i="1" noProof="0" dirty="0">
                <a:solidFill>
                  <a:srgbClr val="FF0000"/>
                </a:solidFill>
              </a:rPr>
              <a:t>Example 7- I do…</a:t>
            </a:r>
          </a:p>
        </p:txBody>
      </p:sp>
      <mc:AlternateContent xmlns:mc="http://schemas.openxmlformats.org/markup-compatibility/2006" xmlns:a14="http://schemas.microsoft.com/office/drawing/2010/main">
        <mc:Choice Requires="a14">
          <p:sp>
            <p:nvSpPr>
              <p:cNvPr id="11" name="Rectangle 10"/>
              <p:cNvSpPr/>
              <p:nvPr/>
            </p:nvSpPr>
            <p:spPr>
              <a:xfrm>
                <a:off x="3993" y="5622843"/>
                <a:ext cx="2129742" cy="463717"/>
              </a:xfrm>
              <a:prstGeom prst="rect">
                <a:avLst/>
              </a:prstGeom>
            </p:spPr>
            <p:txBody>
              <a:bodyPr wrap="square">
                <a:spAutoFit/>
              </a:bodyPr>
              <a:lstStyle/>
              <a:p>
                <a:pPr algn="ctr"/>
                <a:r>
                  <a:rPr lang="en-GB" sz="1200" noProof="0" dirty="0">
                    <a:ea typeface="Times New Roman" panose="02020603050405020304" pitchFamily="18" charset="0"/>
                    <a:cs typeface="Times New Roman" panose="02020603050405020304" pitchFamily="18" charset="0"/>
                  </a:rPr>
                  <a:t>a) Show that </a:t>
                </a:r>
                <a14:m>
                  <m:oMath xmlns:m="http://schemas.openxmlformats.org/officeDocument/2006/math">
                    <m:r>
                      <a:rPr lang="en-GB" sz="1200" i="1" noProof="0">
                        <a:latin typeface="Cambria Math" panose="02040503050406030204" pitchFamily="18" charset="0"/>
                        <a:ea typeface="Times New Roman" panose="02020603050405020304" pitchFamily="18" charset="0"/>
                        <a:cs typeface="Times New Roman" panose="02020603050405020304" pitchFamily="18" charset="0"/>
                      </a:rPr>
                      <m:t>𝑥</m:t>
                    </m:r>
                    <m:r>
                      <a:rPr lang="en-GB" sz="1200" i="1" noProof="0">
                        <a:latin typeface="Cambria Math" panose="02040503050406030204" pitchFamily="18" charset="0"/>
                        <a:ea typeface="Times New Roman" panose="02020603050405020304" pitchFamily="18" charset="0"/>
                        <a:cs typeface="Times New Roman" panose="02020603050405020304" pitchFamily="18" charset="0"/>
                      </a:rPr>
                      <m:t>−</m:t>
                    </m:r>
                    <m:rad>
                      <m:radPr>
                        <m:degHide m:val="on"/>
                        <m:ctrlPr>
                          <a:rPr lang="en-GB" sz="1200" i="1" noProof="0">
                            <a:latin typeface="Cambria Math" panose="02040503050406030204" pitchFamily="18" charset="0"/>
                            <a:ea typeface="Times New Roman" panose="02020603050405020304" pitchFamily="18" charset="0"/>
                            <a:cs typeface="Times New Roman" panose="02020603050405020304" pitchFamily="18" charset="0"/>
                          </a:rPr>
                        </m:ctrlPr>
                      </m:radPr>
                      <m:deg/>
                      <m:e>
                        <m:r>
                          <a:rPr lang="en-GB" sz="1200" i="1" noProof="0">
                            <a:latin typeface="Cambria Math" panose="02040503050406030204" pitchFamily="18" charset="0"/>
                            <a:ea typeface="Times New Roman" panose="02020603050405020304" pitchFamily="18" charset="0"/>
                            <a:cs typeface="Times New Roman" panose="02020603050405020304" pitchFamily="18" charset="0"/>
                          </a:rPr>
                          <m:t>𝑥</m:t>
                        </m:r>
                      </m:e>
                    </m:rad>
                    <m:r>
                      <a:rPr lang="en-GB" sz="1200" i="1" noProof="0">
                        <a:latin typeface="Cambria Math" panose="02040503050406030204" pitchFamily="18" charset="0"/>
                        <a:ea typeface="Times New Roman" panose="02020603050405020304" pitchFamily="18" charset="0"/>
                        <a:cs typeface="Times New Roman" panose="02020603050405020304" pitchFamily="18" charset="0"/>
                      </a:rPr>
                      <m:t>−1=0</m:t>
                    </m:r>
                  </m:oMath>
                </a14:m>
                <a:r>
                  <a:rPr lang="en-GB" sz="1200" noProof="0" dirty="0">
                    <a:ea typeface="Times New Roman" panose="02020603050405020304" pitchFamily="18" charset="0"/>
                    <a:cs typeface="Times New Roman" panose="02020603050405020304" pitchFamily="18" charset="0"/>
                  </a:rPr>
                  <a:t> has a root between 2.6 and 2.7</a:t>
                </a:r>
                <a:endParaRPr lang="en-GB" sz="1200" noProof="0" dirty="0"/>
              </a:p>
            </p:txBody>
          </p:sp>
        </mc:Choice>
        <mc:Fallback xmlns="">
          <p:sp>
            <p:nvSpPr>
              <p:cNvPr id="11" name="Rectangle 10"/>
              <p:cNvSpPr>
                <a:spLocks noRot="1" noChangeAspect="1" noMove="1" noResize="1" noEditPoints="1" noAdjustHandles="1" noChangeArrowheads="1" noChangeShapeType="1" noTextEdit="1"/>
              </p:cNvSpPr>
              <p:nvPr/>
            </p:nvSpPr>
            <p:spPr>
              <a:xfrm>
                <a:off x="3993" y="5622843"/>
                <a:ext cx="2129742" cy="463717"/>
              </a:xfrm>
              <a:prstGeom prst="rect">
                <a:avLst/>
              </a:prstGeom>
              <a:blipFill>
                <a:blip r:embed="rId3"/>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277292" y="5626902"/>
                <a:ext cx="2129742" cy="461665"/>
              </a:xfrm>
              <a:prstGeom prst="rect">
                <a:avLst/>
              </a:prstGeom>
            </p:spPr>
            <p:txBody>
              <a:bodyPr wrap="square">
                <a:spAutoFit/>
              </a:bodyPr>
              <a:lstStyle/>
              <a:p>
                <a:pPr algn="ctr"/>
                <a:r>
                  <a:rPr lang="en-GB" sz="1200" noProof="0" dirty="0">
                    <a:ea typeface="Times New Roman" panose="02020603050405020304" pitchFamily="18" charset="0"/>
                    <a:cs typeface="Times New Roman" panose="02020603050405020304" pitchFamily="18" charset="0"/>
                  </a:rPr>
                  <a:t>b) Show that </a:t>
                </a:r>
                <a14:m>
                  <m:oMath xmlns:m="http://schemas.openxmlformats.org/officeDocument/2006/math">
                    <m:sSup>
                      <m:sSupPr>
                        <m:ctrlP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ctrlPr>
                      </m:sSupPr>
                      <m:e>
                        <m:r>
                          <a:rPr lang="en-GB" sz="1200" i="1" noProof="0">
                            <a:latin typeface="Cambria Math" panose="02040503050406030204" pitchFamily="18" charset="0"/>
                            <a:ea typeface="Times New Roman" panose="02020603050405020304" pitchFamily="18" charset="0"/>
                            <a:cs typeface="Times New Roman" panose="02020603050405020304" pitchFamily="18" charset="0"/>
                          </a:rPr>
                          <m:t>𝑥</m:t>
                        </m:r>
                      </m:e>
                      <m:sup>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3</m:t>
                        </m:r>
                      </m:sup>
                    </m:sSup>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+4</m:t>
                    </m:r>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𝑥</m:t>
                    </m:r>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=1</m:t>
                    </m:r>
                  </m:oMath>
                </a14:m>
                <a:r>
                  <a:rPr lang="en-GB" sz="1200" noProof="0" dirty="0">
                    <a:ea typeface="Times New Roman" panose="02020603050405020304" pitchFamily="18" charset="0"/>
                    <a:cs typeface="Times New Roman" panose="02020603050405020304" pitchFamily="18" charset="0"/>
                  </a:rPr>
                  <a:t> has a root between 0 and 1</a:t>
                </a:r>
                <a:endParaRPr lang="en-GB" sz="1200" noProof="0" dirty="0"/>
              </a:p>
            </p:txBody>
          </p:sp>
        </mc:Choice>
        <mc:Fallback xmlns="">
          <p:sp>
            <p:nvSpPr>
              <p:cNvPr id="12" name="Rectangle 11"/>
              <p:cNvSpPr>
                <a:spLocks noRot="1" noChangeAspect="1" noMove="1" noResize="1" noEditPoints="1" noAdjustHandles="1" noChangeArrowheads="1" noChangeShapeType="1" noTextEdit="1"/>
              </p:cNvSpPr>
              <p:nvPr/>
            </p:nvSpPr>
            <p:spPr>
              <a:xfrm>
                <a:off x="2277292" y="5626902"/>
                <a:ext cx="2129742" cy="461665"/>
              </a:xfrm>
              <a:prstGeom prst="rect">
                <a:avLst/>
              </a:prstGeom>
              <a:blipFill>
                <a:blip r:embed="rId4"/>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4550591" y="5644990"/>
                <a:ext cx="2311402" cy="461665"/>
              </a:xfrm>
              <a:prstGeom prst="rect">
                <a:avLst/>
              </a:prstGeom>
            </p:spPr>
            <p:txBody>
              <a:bodyPr wrap="square">
                <a:spAutoFit/>
              </a:bodyPr>
              <a:lstStyle/>
              <a:p>
                <a:pPr algn="ctr"/>
                <a:r>
                  <a:rPr lang="en-GB" sz="1200" noProof="0" dirty="0">
                    <a:ea typeface="Times New Roman" panose="02020603050405020304" pitchFamily="18" charset="0"/>
                    <a:cs typeface="Times New Roman" panose="02020603050405020304" pitchFamily="18" charset="0"/>
                  </a:rPr>
                  <a:t>c) Show that </a:t>
                </a:r>
                <a14:m>
                  <m:oMath xmlns:m="http://schemas.openxmlformats.org/officeDocument/2006/math">
                    <m:r>
                      <a:rPr lang="en-GB" sz="1200" b="0" i="0" noProof="0" smtClean="0">
                        <a:latin typeface="Cambria Math" panose="02040503050406030204" pitchFamily="18" charset="0"/>
                        <a:ea typeface="Times New Roman" panose="02020603050405020304" pitchFamily="18" charset="0"/>
                        <a:cs typeface="Times New Roman" panose="02020603050405020304" pitchFamily="18" charset="0"/>
                      </a:rPr>
                      <m:t>4</m:t>
                    </m:r>
                    <m:sSup>
                      <m:sSupPr>
                        <m:ctrlP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ctrlPr>
                      </m:sSupPr>
                      <m:e>
                        <m:r>
                          <a:rPr lang="en-GB" sz="1200" i="1" noProof="0">
                            <a:latin typeface="Cambria Math" panose="02040503050406030204" pitchFamily="18" charset="0"/>
                            <a:ea typeface="Times New Roman" panose="02020603050405020304" pitchFamily="18" charset="0"/>
                            <a:cs typeface="Times New Roman" panose="02020603050405020304" pitchFamily="18" charset="0"/>
                          </a:rPr>
                          <m:t>𝑥</m:t>
                        </m:r>
                      </m:e>
                      <m:sup>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3</m:t>
                        </m:r>
                      </m:sup>
                    </m:sSup>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−2</m:t>
                    </m:r>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𝑥</m:t>
                    </m:r>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−5=0</m:t>
                    </m:r>
                  </m:oMath>
                </a14:m>
                <a:r>
                  <a:rPr lang="en-GB" sz="1200" noProof="0" dirty="0">
                    <a:ea typeface="Times New Roman" panose="02020603050405020304" pitchFamily="18" charset="0"/>
                    <a:cs typeface="Times New Roman" panose="02020603050405020304" pitchFamily="18" charset="0"/>
                  </a:rPr>
                  <a:t> has a root between 1 and 2</a:t>
                </a:r>
                <a:endParaRPr lang="en-GB" sz="1200" noProof="0" dirty="0"/>
              </a:p>
            </p:txBody>
          </p:sp>
        </mc:Choice>
        <mc:Fallback xmlns="">
          <p:sp>
            <p:nvSpPr>
              <p:cNvPr id="13" name="Rectangle 12"/>
              <p:cNvSpPr>
                <a:spLocks noRot="1" noChangeAspect="1" noMove="1" noResize="1" noEditPoints="1" noAdjustHandles="1" noChangeArrowheads="1" noChangeShapeType="1" noTextEdit="1"/>
              </p:cNvSpPr>
              <p:nvPr/>
            </p:nvSpPr>
            <p:spPr>
              <a:xfrm>
                <a:off x="4550591" y="5644990"/>
                <a:ext cx="2311402" cy="461665"/>
              </a:xfrm>
              <a:prstGeom prst="rect">
                <a:avLst/>
              </a:prstGeom>
              <a:blipFill>
                <a:blip r:embed="rId5"/>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6696" y="7772091"/>
                <a:ext cx="2129742" cy="461665"/>
              </a:xfrm>
              <a:prstGeom prst="rect">
                <a:avLst/>
              </a:prstGeom>
            </p:spPr>
            <p:txBody>
              <a:bodyPr wrap="square">
                <a:spAutoFit/>
              </a:bodyPr>
              <a:lstStyle/>
              <a:p>
                <a:pPr algn="ctr"/>
                <a:r>
                  <a:rPr lang="en-GB" sz="1200" noProof="0" dirty="0">
                    <a:ea typeface="Times New Roman" panose="02020603050405020304" pitchFamily="18" charset="0"/>
                    <a:cs typeface="Times New Roman" panose="02020603050405020304" pitchFamily="18" charset="0"/>
                  </a:rPr>
                  <a:t>d) Show that </a:t>
                </a:r>
                <a14:m>
                  <m:oMath xmlns:m="http://schemas.openxmlformats.org/officeDocument/2006/math">
                    <m:r>
                      <a:rPr lang="en-GB" sz="1200" b="0" i="0" noProof="0" smtClean="0">
                        <a:latin typeface="Cambria Math" panose="02040503050406030204" pitchFamily="18" charset="0"/>
                        <a:ea typeface="Times New Roman" panose="02020603050405020304" pitchFamily="18" charset="0"/>
                        <a:cs typeface="Times New Roman" panose="02020603050405020304" pitchFamily="18" charset="0"/>
                      </a:rPr>
                      <m:t>3</m:t>
                    </m:r>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𝑥</m:t>
                    </m:r>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ctrlPr>
                      </m:sSupPr>
                      <m:e>
                        <m:r>
                          <a:rPr lang="en-GB" sz="1200" i="1" noProof="0">
                            <a:latin typeface="Cambria Math" panose="02040503050406030204" pitchFamily="18" charset="0"/>
                            <a:ea typeface="Times New Roman" panose="02020603050405020304" pitchFamily="18" charset="0"/>
                            <a:cs typeface="Times New Roman" panose="02020603050405020304" pitchFamily="18" charset="0"/>
                          </a:rPr>
                          <m:t>𝑥</m:t>
                        </m:r>
                      </m:e>
                      <m:sup>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3</m:t>
                        </m:r>
                      </m:sup>
                    </m:sSup>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=−1</m:t>
                    </m:r>
                    <m:r>
                      <a:rPr lang="en-GB" sz="1200" i="1" noProof="0">
                        <a:latin typeface="Cambria Math" panose="02040503050406030204" pitchFamily="18" charset="0"/>
                        <a:ea typeface="Times New Roman" panose="02020603050405020304" pitchFamily="18" charset="0"/>
                        <a:cs typeface="Times New Roman" panose="02020603050405020304" pitchFamily="18" charset="0"/>
                      </a:rPr>
                      <m:t>1</m:t>
                    </m:r>
                  </m:oMath>
                </a14:m>
                <a:r>
                  <a:rPr lang="en-GB" sz="1200" noProof="0" dirty="0">
                    <a:ea typeface="Times New Roman" panose="02020603050405020304" pitchFamily="18" charset="0"/>
                    <a:cs typeface="Times New Roman" panose="02020603050405020304" pitchFamily="18" charset="0"/>
                  </a:rPr>
                  <a:t> has a root between 2 and 3</a:t>
                </a:r>
                <a:endParaRPr lang="en-GB" sz="1200" noProof="0" dirty="0"/>
              </a:p>
            </p:txBody>
          </p:sp>
        </mc:Choice>
        <mc:Fallback xmlns="">
          <p:sp>
            <p:nvSpPr>
              <p:cNvPr id="14" name="Rectangle 13"/>
              <p:cNvSpPr>
                <a:spLocks noRot="1" noChangeAspect="1" noMove="1" noResize="1" noEditPoints="1" noAdjustHandles="1" noChangeArrowheads="1" noChangeShapeType="1" noTextEdit="1"/>
              </p:cNvSpPr>
              <p:nvPr/>
            </p:nvSpPr>
            <p:spPr>
              <a:xfrm>
                <a:off x="-16696" y="7772091"/>
                <a:ext cx="2129742" cy="461665"/>
              </a:xfrm>
              <a:prstGeom prst="rect">
                <a:avLst/>
              </a:prstGeom>
              <a:blipFill>
                <a:blip r:embed="rId6"/>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2334501" y="7772090"/>
                <a:ext cx="2147618" cy="461665"/>
              </a:xfrm>
              <a:prstGeom prst="rect">
                <a:avLst/>
              </a:prstGeom>
            </p:spPr>
            <p:txBody>
              <a:bodyPr wrap="square">
                <a:spAutoFit/>
              </a:bodyPr>
              <a:lstStyle/>
              <a:p>
                <a:pPr algn="ctr"/>
                <a:r>
                  <a:rPr lang="en-GB" sz="1200" noProof="0" dirty="0">
                    <a:ea typeface="Times New Roman" panose="02020603050405020304" pitchFamily="18" charset="0"/>
                    <a:cs typeface="Times New Roman" panose="02020603050405020304" pitchFamily="18" charset="0"/>
                  </a:rPr>
                  <a:t>e) Show that </a:t>
                </a:r>
                <a14:m>
                  <m:oMath xmlns:m="http://schemas.openxmlformats.org/officeDocument/2006/math">
                    <m:sSup>
                      <m:sSupPr>
                        <m:ctrlP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ctrlPr>
                      </m:sSupPr>
                      <m:e>
                        <m:r>
                          <a:rPr lang="en-GB" sz="1200" i="1" noProof="0">
                            <a:latin typeface="Cambria Math" panose="02040503050406030204" pitchFamily="18" charset="0"/>
                            <a:ea typeface="Times New Roman" panose="02020603050405020304" pitchFamily="18" charset="0"/>
                            <a:cs typeface="Times New Roman" panose="02020603050405020304" pitchFamily="18" charset="0"/>
                          </a:rPr>
                          <m:t>𝑥</m:t>
                        </m:r>
                      </m:e>
                      <m:sup>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4</m:t>
                        </m:r>
                      </m:sup>
                    </m:sSup>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−5</m:t>
                    </m:r>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𝑥</m:t>
                    </m:r>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+1=0</m:t>
                    </m:r>
                  </m:oMath>
                </a14:m>
                <a:r>
                  <a:rPr lang="en-GB" sz="1200" noProof="0" dirty="0">
                    <a:ea typeface="Times New Roman" panose="02020603050405020304" pitchFamily="18" charset="0"/>
                    <a:cs typeface="Times New Roman" panose="02020603050405020304" pitchFamily="18" charset="0"/>
                  </a:rPr>
                  <a:t> has a root between 1.5 and 2</a:t>
                </a:r>
                <a:endParaRPr lang="en-GB" sz="1200" noProof="0" dirty="0"/>
              </a:p>
            </p:txBody>
          </p:sp>
        </mc:Choice>
        <mc:Fallback xmlns="">
          <p:sp>
            <p:nvSpPr>
              <p:cNvPr id="15" name="Rectangle 14"/>
              <p:cNvSpPr>
                <a:spLocks noRot="1" noChangeAspect="1" noMove="1" noResize="1" noEditPoints="1" noAdjustHandles="1" noChangeArrowheads="1" noChangeShapeType="1" noTextEdit="1"/>
              </p:cNvSpPr>
              <p:nvPr/>
            </p:nvSpPr>
            <p:spPr>
              <a:xfrm>
                <a:off x="2334501" y="7772090"/>
                <a:ext cx="2147618" cy="461665"/>
              </a:xfrm>
              <a:prstGeom prst="rect">
                <a:avLst/>
              </a:prstGeom>
              <a:blipFill>
                <a:blip r:embed="rId7"/>
                <a:stretch>
                  <a:fillRect b="-9211"/>
                </a:stretch>
              </a:blipFill>
            </p:spPr>
            <p:txBody>
              <a:bodyPr/>
              <a:lstStyle/>
              <a:p>
                <a:r>
                  <a:rPr lang="en-US">
                    <a:noFill/>
                  </a:rPr>
                  <a:t> </a:t>
                </a:r>
              </a:p>
            </p:txBody>
          </p:sp>
        </mc:Fallback>
      </mc:AlternateContent>
      <p:sp>
        <p:nvSpPr>
          <p:cNvPr id="18" name="Rectangle 17"/>
          <p:cNvSpPr/>
          <p:nvPr/>
        </p:nvSpPr>
        <p:spPr>
          <a:xfrm>
            <a:off x="1438072" y="5295640"/>
            <a:ext cx="1990928" cy="276999"/>
          </a:xfrm>
          <a:prstGeom prst="rect">
            <a:avLst/>
          </a:prstGeom>
        </p:spPr>
        <p:txBody>
          <a:bodyPr wrap="square">
            <a:spAutoFit/>
          </a:bodyPr>
          <a:lstStyle/>
          <a:p>
            <a:pPr algn="ctr"/>
            <a:r>
              <a:rPr lang="en-GB" sz="1200" noProof="0" dirty="0"/>
              <a:t>3) Use iteration to…. </a:t>
            </a:r>
          </a:p>
        </p:txBody>
      </p:sp>
      <mc:AlternateContent xmlns:mc="http://schemas.openxmlformats.org/markup-compatibility/2006" xmlns:a14="http://schemas.microsoft.com/office/drawing/2010/main">
        <mc:Choice Requires="a14">
          <p:sp>
            <p:nvSpPr>
              <p:cNvPr id="19" name="Rectangle 18"/>
              <p:cNvSpPr/>
              <p:nvPr/>
            </p:nvSpPr>
            <p:spPr>
              <a:xfrm>
                <a:off x="4611794" y="7772090"/>
                <a:ext cx="2147618" cy="461665"/>
              </a:xfrm>
              <a:prstGeom prst="rect">
                <a:avLst/>
              </a:prstGeom>
            </p:spPr>
            <p:txBody>
              <a:bodyPr wrap="square">
                <a:spAutoFit/>
              </a:bodyPr>
              <a:lstStyle/>
              <a:p>
                <a:pPr algn="ctr"/>
                <a:r>
                  <a:rPr lang="en-GB" sz="1200" noProof="0" dirty="0">
                    <a:ea typeface="Times New Roman" panose="02020603050405020304" pitchFamily="18" charset="0"/>
                    <a:cs typeface="Times New Roman" panose="02020603050405020304" pitchFamily="18" charset="0"/>
                  </a:rPr>
                  <a:t>f) Show that </a:t>
                </a:r>
                <a14:m>
                  <m:oMath xmlns:m="http://schemas.openxmlformats.org/officeDocument/2006/math">
                    <m:sSup>
                      <m:sSupPr>
                        <m:ctrlP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ctrlPr>
                      </m:sSupPr>
                      <m:e>
                        <m:r>
                          <a:rPr lang="en-GB" sz="1200" i="1" noProof="0">
                            <a:latin typeface="Cambria Math" panose="02040503050406030204" pitchFamily="18" charset="0"/>
                            <a:ea typeface="Times New Roman" panose="02020603050405020304" pitchFamily="18" charset="0"/>
                            <a:cs typeface="Times New Roman" panose="02020603050405020304" pitchFamily="18" charset="0"/>
                          </a:rPr>
                          <m:t>𝑥</m:t>
                        </m:r>
                      </m:e>
                      <m:sup>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3</m:t>
                        </m:r>
                      </m:sup>
                    </m:sSup>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+5=2</m:t>
                    </m:r>
                    <m:r>
                      <a:rPr lang="en-GB" sz="1200" b="0" i="1" noProof="0" smtClean="0">
                        <a:latin typeface="Cambria Math" panose="02040503050406030204" pitchFamily="18" charset="0"/>
                        <a:ea typeface="Times New Roman" panose="02020603050405020304" pitchFamily="18" charset="0"/>
                        <a:cs typeface="Times New Roman" panose="02020603050405020304" pitchFamily="18" charset="0"/>
                      </a:rPr>
                      <m:t>𝑥</m:t>
                    </m:r>
                  </m:oMath>
                </a14:m>
                <a:r>
                  <a:rPr lang="en-GB" sz="1200" noProof="0" dirty="0">
                    <a:ea typeface="Times New Roman" panose="02020603050405020304" pitchFamily="18" charset="0"/>
                    <a:cs typeface="Times New Roman" panose="02020603050405020304" pitchFamily="18" charset="0"/>
                  </a:rPr>
                  <a:t> has a root between -2 and -3</a:t>
                </a:r>
                <a:endParaRPr lang="en-GB" sz="1200" noProof="0" dirty="0"/>
              </a:p>
            </p:txBody>
          </p:sp>
        </mc:Choice>
        <mc:Fallback xmlns="">
          <p:sp>
            <p:nvSpPr>
              <p:cNvPr id="19" name="Rectangle 18"/>
              <p:cNvSpPr>
                <a:spLocks noRot="1" noChangeAspect="1" noMove="1" noResize="1" noEditPoints="1" noAdjustHandles="1" noChangeArrowheads="1" noChangeShapeType="1" noTextEdit="1"/>
              </p:cNvSpPr>
              <p:nvPr/>
            </p:nvSpPr>
            <p:spPr>
              <a:xfrm>
                <a:off x="4611794" y="7772090"/>
                <a:ext cx="2147618" cy="461665"/>
              </a:xfrm>
              <a:prstGeom prst="rect">
                <a:avLst/>
              </a:prstGeom>
              <a:blipFill>
                <a:blip r:embed="rId8"/>
                <a:stretch>
                  <a:fillRect r="-1136" b="-9211"/>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C3C65E48-8C3D-6849-AD77-7AD8678AD8DA}"/>
              </a:ext>
            </a:extLst>
          </p:cNvPr>
          <p:cNvSpPr txBox="1"/>
          <p:nvPr/>
        </p:nvSpPr>
        <p:spPr>
          <a:xfrm>
            <a:off x="41418" y="5307181"/>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sp>
        <p:nvSpPr>
          <p:cNvPr id="4" name="TextBox 3">
            <a:extLst>
              <a:ext uri="{FF2B5EF4-FFF2-40B4-BE49-F238E27FC236}">
                <a16:creationId xmlns:a16="http://schemas.microsoft.com/office/drawing/2014/main" id="{258A042F-FEA7-FBD7-D2F3-56B9AEFD016E}"/>
              </a:ext>
            </a:extLst>
          </p:cNvPr>
          <p:cNvSpPr txBox="1"/>
          <p:nvPr/>
        </p:nvSpPr>
        <p:spPr>
          <a:xfrm>
            <a:off x="49477" y="283807"/>
            <a:ext cx="6730624" cy="830997"/>
          </a:xfrm>
          <a:prstGeom prst="rect">
            <a:avLst/>
          </a:prstGeom>
          <a:noFill/>
          <a:ln>
            <a:solidFill>
              <a:schemeClr val="tx1"/>
            </a:solidFill>
          </a:ln>
        </p:spPr>
        <p:txBody>
          <a:bodyPr wrap="square" rtlCol="0">
            <a:spAutoFit/>
          </a:bodyPr>
          <a:lstStyle/>
          <a:p>
            <a:r>
              <a:rPr lang="en-GB" sz="1200" noProof="0" dirty="0"/>
              <a:t>Iteration is a way of </a:t>
            </a:r>
            <a:r>
              <a:rPr lang="en-GB" sz="1200" b="1" noProof="0" dirty="0"/>
              <a:t>estimating solutions</a:t>
            </a:r>
            <a:r>
              <a:rPr lang="en-GB" sz="1200" noProof="0" dirty="0"/>
              <a:t> to difficult equations – if you study A-level maths you will learn a lot more about it. For now, you need to know that GCSE questions generally follow a predictable pattern in what you are asked to do. First, you will be asked to ‘show there is a solution’ (or ‘root’) in a given interval (i.e. between two numbers). The following examples show how to answer this:</a:t>
            </a:r>
          </a:p>
        </p:txBody>
      </p:sp>
      <p:graphicFrame>
        <p:nvGraphicFramePr>
          <p:cNvPr id="5" name="Table 4">
            <a:extLst>
              <a:ext uri="{FF2B5EF4-FFF2-40B4-BE49-F238E27FC236}">
                <a16:creationId xmlns:a16="http://schemas.microsoft.com/office/drawing/2014/main" id="{D81A6951-60FA-5D55-9CF3-DC9BD7C77B7D}"/>
              </a:ext>
            </a:extLst>
          </p:cNvPr>
          <p:cNvGraphicFramePr>
            <a:graphicFrameLocks noGrp="1"/>
          </p:cNvGraphicFramePr>
          <p:nvPr>
            <p:extLst>
              <p:ext uri="{D42A27DB-BD31-4B8C-83A1-F6EECF244321}">
                <p14:modId xmlns:p14="http://schemas.microsoft.com/office/powerpoint/2010/main" val="2824613970"/>
              </p:ext>
            </p:extLst>
          </p:nvPr>
        </p:nvGraphicFramePr>
        <p:xfrm>
          <a:off x="65197" y="5635136"/>
          <a:ext cx="6714903" cy="4264056"/>
        </p:xfrm>
        <a:graphic>
          <a:graphicData uri="http://schemas.openxmlformats.org/drawingml/2006/table">
            <a:tbl>
              <a:tblPr firstRow="1" bandRow="1">
                <a:tableStyleId>{5C22544A-7EE6-4342-B048-85BDC9FD1C3A}</a:tableStyleId>
              </a:tblPr>
              <a:tblGrid>
                <a:gridCol w="2238301">
                  <a:extLst>
                    <a:ext uri="{9D8B030D-6E8A-4147-A177-3AD203B41FA5}">
                      <a16:colId xmlns:a16="http://schemas.microsoft.com/office/drawing/2014/main" val="2366988318"/>
                    </a:ext>
                  </a:extLst>
                </a:gridCol>
                <a:gridCol w="2238301">
                  <a:extLst>
                    <a:ext uri="{9D8B030D-6E8A-4147-A177-3AD203B41FA5}">
                      <a16:colId xmlns:a16="http://schemas.microsoft.com/office/drawing/2014/main" val="2314818298"/>
                    </a:ext>
                  </a:extLst>
                </a:gridCol>
                <a:gridCol w="2238301">
                  <a:extLst>
                    <a:ext uri="{9D8B030D-6E8A-4147-A177-3AD203B41FA5}">
                      <a16:colId xmlns:a16="http://schemas.microsoft.com/office/drawing/2014/main" val="3518386951"/>
                    </a:ext>
                  </a:extLst>
                </a:gridCol>
              </a:tblGrid>
              <a:tr h="2132028">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9773243"/>
                  </a:ext>
                </a:extLst>
              </a:tr>
              <a:tr h="2132028">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7078115"/>
                  </a:ext>
                </a:extLst>
              </a:tr>
            </a:tbl>
          </a:graphicData>
        </a:graphic>
      </p:graphicFrame>
      <p:sp>
        <p:nvSpPr>
          <p:cNvPr id="10" name="Rectangle 9">
            <a:extLst>
              <a:ext uri="{FF2B5EF4-FFF2-40B4-BE49-F238E27FC236}">
                <a16:creationId xmlns:a16="http://schemas.microsoft.com/office/drawing/2014/main" id="{528BFA82-2F24-3E62-9BFF-AA3C9A1F983B}"/>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noProof="0" dirty="0">
                <a:solidFill>
                  <a:prstClr val="white"/>
                </a:solidFill>
              </a:rPr>
              <a:t>Subtopic 6b – Using Iteration to Estimate Solutions to Equations</a:t>
            </a:r>
            <a:endParaRPr lang="en-GB" b="1" noProof="0" dirty="0">
              <a:solidFill>
                <a:prstClr val="white"/>
              </a:solidFill>
            </a:endParaRPr>
          </a:p>
        </p:txBody>
      </p:sp>
    </p:spTree>
    <p:extLst>
      <p:ext uri="{BB962C8B-B14F-4D97-AF65-F5344CB8AC3E}">
        <p14:creationId xmlns:p14="http://schemas.microsoft.com/office/powerpoint/2010/main" val="10425960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14950" y="9378597"/>
            <a:ext cx="1543050" cy="527403"/>
          </a:xfrm>
        </p:spPr>
        <p:txBody>
          <a:bodyPr/>
          <a:lstStyle/>
          <a:p>
            <a:fld id="{9BD3B4A0-BFF9-422C-B253-48BA94BE2F5B}" type="slidenum">
              <a:rPr lang="en-GB" noProof="0" smtClean="0"/>
              <a:t>62</a:t>
            </a:fld>
            <a:endParaRPr lang="en-GB" noProof="0" dirty="0"/>
          </a:p>
        </p:txBody>
      </p:sp>
      <p:sp>
        <p:nvSpPr>
          <p:cNvPr id="3" name="TextBox 2">
            <a:extLst>
              <a:ext uri="{FF2B5EF4-FFF2-40B4-BE49-F238E27FC236}">
                <a16:creationId xmlns:a16="http://schemas.microsoft.com/office/drawing/2014/main" id="{1B91975E-B426-4910-919C-E3C5554DC081}"/>
              </a:ext>
            </a:extLst>
          </p:cNvPr>
          <p:cNvSpPr txBox="1"/>
          <p:nvPr/>
        </p:nvSpPr>
        <p:spPr>
          <a:xfrm>
            <a:off x="0" y="0"/>
            <a:ext cx="2301720" cy="276999"/>
          </a:xfrm>
          <a:prstGeom prst="rect">
            <a:avLst/>
          </a:prstGeom>
          <a:solidFill>
            <a:srgbClr val="0070C0"/>
          </a:solidFill>
        </p:spPr>
        <p:txBody>
          <a:bodyPr wrap="none" rtlCol="0" anchor="ctr">
            <a:spAutoFit/>
          </a:bodyPr>
          <a:lstStyle/>
          <a:p>
            <a:pPr algn="ctr"/>
            <a:r>
              <a:rPr lang="en-GB" sz="1200" b="1" noProof="0" dirty="0">
                <a:solidFill>
                  <a:schemeClr val="bg1"/>
                </a:solidFill>
              </a:rPr>
              <a:t>ITERATION TO SOLVE EQUATIONS</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AB1B9343-04F6-B009-1350-BFA6F7226C95}"/>
                  </a:ext>
                </a:extLst>
              </p:cNvPr>
              <p:cNvGraphicFramePr>
                <a:graphicFrameLocks noGrp="1"/>
              </p:cNvGraphicFramePr>
              <p:nvPr>
                <p:extLst>
                  <p:ext uri="{D42A27DB-BD31-4B8C-83A1-F6EECF244321}">
                    <p14:modId xmlns:p14="http://schemas.microsoft.com/office/powerpoint/2010/main" val="224062264"/>
                  </p:ext>
                </p:extLst>
              </p:nvPr>
            </p:nvGraphicFramePr>
            <p:xfrm>
              <a:off x="164861" y="1371426"/>
              <a:ext cx="6528278" cy="8250767"/>
            </p:xfrm>
            <a:graphic>
              <a:graphicData uri="http://schemas.openxmlformats.org/drawingml/2006/table">
                <a:tbl>
                  <a:tblPr firstRow="1" bandRow="1">
                    <a:tableStyleId>{5C22544A-7EE6-4342-B048-85BDC9FD1C3A}</a:tableStyleId>
                  </a:tblPr>
                  <a:tblGrid>
                    <a:gridCol w="6528278">
                      <a:extLst>
                        <a:ext uri="{9D8B030D-6E8A-4147-A177-3AD203B41FA5}">
                          <a16:colId xmlns:a16="http://schemas.microsoft.com/office/drawing/2014/main" val="3551711160"/>
                        </a:ext>
                      </a:extLst>
                    </a:gridCol>
                  </a:tblGrid>
                  <a:tr h="3095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10-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3673762">
                    <a:tc>
                      <a:txBody>
                        <a:bodyPr/>
                        <a:lstStyle/>
                        <a:p>
                          <a:pPr lvl="0" eaLnBrk="0" fontAlgn="base" hangingPunct="0">
                            <a:spcBef>
                              <a:spcPct val="0"/>
                            </a:spcBef>
                            <a:spcAft>
                              <a:spcPct val="0"/>
                            </a:spcAft>
                          </a:pPr>
                          <a:r>
                            <a:rPr lang="en-GB" sz="1200" b="0" noProof="0" dirty="0">
                              <a:solidFill>
                                <a:schemeClr val="tx1"/>
                              </a:solidFill>
                              <a:cs typeface="Times New Roman" panose="02020603050405020304" pitchFamily="18" charset="0"/>
                            </a:rPr>
                            <a:t>The iterative formula </a:t>
                          </a:r>
                        </a:p>
                        <a:p>
                          <a:pPr lvl="0" eaLnBrk="0" fontAlgn="base" hangingPunct="0">
                            <a:spcBef>
                              <a:spcPct val="0"/>
                            </a:spcBef>
                            <a:spcAft>
                              <a:spcPct val="0"/>
                            </a:spcAft>
                          </a:pPr>
                          <a14:m>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r>
                                    <a:rPr lang="en-GB" sz="1200" b="0" i="1" noProof="0" smtClean="0">
                                      <a:solidFill>
                                        <a:schemeClr val="tx1"/>
                                      </a:solidFill>
                                      <a:latin typeface="Cambria Math" panose="02040503050406030204" pitchFamily="18" charset="0"/>
                                    </a:rPr>
                                    <m:t>+1</m:t>
                                  </m:r>
                                </m:sub>
                              </m:sSub>
                              <m:r>
                                <a:rPr lang="en-GB" sz="1200" b="0" i="1" noProof="0" smtClean="0">
                                  <a:solidFill>
                                    <a:schemeClr val="tx1"/>
                                  </a:solidFill>
                                  <a:latin typeface="Cambria Math" panose="02040503050406030204" pitchFamily="18" charset="0"/>
                                </a:rPr>
                                <m:t>=</m:t>
                              </m:r>
                              <m:rad>
                                <m:radPr>
                                  <m:degHide m:val="on"/>
                                  <m:ctrlPr>
                                    <a:rPr lang="en-GB" sz="1200" b="0" i="1" noProof="0" smtClean="0">
                                      <a:solidFill>
                                        <a:schemeClr val="tx1"/>
                                      </a:solidFill>
                                      <a:latin typeface="Cambria Math" panose="02040503050406030204" pitchFamily="18" charset="0"/>
                                      <a:ea typeface="Cambria Math" panose="02040503050406030204" pitchFamily="18" charset="0"/>
                                    </a:rPr>
                                  </m:ctrlPr>
                                </m:radPr>
                                <m:deg/>
                                <m:e>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sub>
                                  </m:sSub>
                                  <m:r>
                                    <a:rPr lang="en-GB" sz="1200" b="0" i="1" noProof="0" smtClean="0">
                                      <a:solidFill>
                                        <a:schemeClr val="tx1"/>
                                      </a:solidFill>
                                      <a:latin typeface="Cambria Math" panose="02040503050406030204" pitchFamily="18" charset="0"/>
                                    </a:rPr>
                                    <m:t>+7</m:t>
                                  </m:r>
                                </m:e>
                              </m:rad>
                            </m:oMath>
                          </a14:m>
                          <a:r>
                            <a:rPr lang="en-GB" sz="1200" b="0" noProof="0" dirty="0">
                              <a:solidFill>
                                <a:schemeClr val="tx1"/>
                              </a:solidFill>
                              <a:cs typeface="Times New Roman" panose="02020603050405020304" pitchFamily="18" charset="0"/>
                            </a:rPr>
                            <a:t> can be used to find an approximate solution for the equation </a:t>
                          </a:r>
                          <a14:m>
                            <m:oMath xmlns:m="http://schemas.openxmlformats.org/officeDocument/2006/math">
                              <m:sSup>
                                <m:sSupPr>
                                  <m:ctrlPr>
                                    <a:rPr lang="en-GB" sz="1200" b="0" i="1" noProof="0" smtClean="0">
                                      <a:solidFill>
                                        <a:schemeClr val="tx1"/>
                                      </a:solidFill>
                                      <a:latin typeface="Cambria Math" panose="02040503050406030204" pitchFamily="18" charset="0"/>
                                      <a:cs typeface="Times New Roman" panose="02020603050405020304" pitchFamily="18" charset="0"/>
                                    </a:rPr>
                                  </m:ctrlPr>
                                </m:sSupPr>
                                <m:e>
                                  <m:r>
                                    <a:rPr lang="en-GB" sz="1200" b="0" i="1" noProof="0" smtClean="0">
                                      <a:solidFill>
                                        <a:schemeClr val="tx1"/>
                                      </a:solidFill>
                                      <a:latin typeface="Cambria Math" panose="02040503050406030204" pitchFamily="18" charset="0"/>
                                      <a:cs typeface="Times New Roman" panose="02020603050405020304" pitchFamily="18" charset="0"/>
                                    </a:rPr>
                                    <m:t>𝑥</m:t>
                                  </m:r>
                                </m:e>
                                <m:sup>
                                  <m:r>
                                    <a:rPr lang="en-GB" sz="1200" b="0" i="1" noProof="0" smtClean="0">
                                      <a:solidFill>
                                        <a:schemeClr val="tx1"/>
                                      </a:solidFill>
                                      <a:latin typeface="Cambria Math" panose="02040503050406030204" pitchFamily="18" charset="0"/>
                                      <a:cs typeface="Times New Roman" panose="02020603050405020304" pitchFamily="18" charset="0"/>
                                    </a:rPr>
                                    <m:t>2</m:t>
                                  </m:r>
                                </m:sup>
                              </m:sSup>
                              <m:r>
                                <a:rPr lang="en-GB" sz="1200" b="0" i="1" noProof="0" smtClean="0">
                                  <a:solidFill>
                                    <a:schemeClr val="tx1"/>
                                  </a:solidFill>
                                  <a:latin typeface="Cambria Math" panose="02040503050406030204" pitchFamily="18" charset="0"/>
                                  <a:cs typeface="Times New Roman" panose="02020603050405020304" pitchFamily="18" charset="0"/>
                                </a:rPr>
                                <m:t>−</m:t>
                              </m:r>
                              <m:r>
                                <a:rPr lang="en-GB" sz="1200" b="0" i="1" noProof="0" smtClean="0">
                                  <a:solidFill>
                                    <a:schemeClr val="tx1"/>
                                  </a:solidFill>
                                  <a:latin typeface="Cambria Math" panose="02040503050406030204" pitchFamily="18" charset="0"/>
                                  <a:cs typeface="Times New Roman" panose="02020603050405020304" pitchFamily="18" charset="0"/>
                                </a:rPr>
                                <m:t>𝑥</m:t>
                              </m:r>
                              <m:r>
                                <a:rPr lang="en-GB" sz="1200" b="0" i="1" noProof="0" smtClean="0">
                                  <a:solidFill>
                                    <a:schemeClr val="tx1"/>
                                  </a:solidFill>
                                  <a:latin typeface="Cambria Math" panose="02040503050406030204" pitchFamily="18" charset="0"/>
                                  <a:cs typeface="Times New Roman" panose="02020603050405020304" pitchFamily="18" charset="0"/>
                                </a:rPr>
                                <m:t>−7=0</m:t>
                              </m:r>
                            </m:oMath>
                          </a14:m>
                          <a:r>
                            <a:rPr lang="en-GB" sz="1200" b="0" noProof="0" dirty="0">
                              <a:solidFill>
                                <a:schemeClr val="tx1"/>
                              </a:solidFill>
                              <a:cs typeface="Times New Roman" panose="02020603050405020304" pitchFamily="18" charset="0"/>
                            </a:rPr>
                            <a:t>.</a:t>
                          </a:r>
                        </a:p>
                        <a:p>
                          <a:pPr lvl="0" eaLnBrk="0" fontAlgn="base" hangingPunct="0">
                            <a:spcBef>
                              <a:spcPct val="0"/>
                            </a:spcBef>
                            <a:spcAft>
                              <a:spcPct val="0"/>
                            </a:spcAft>
                          </a:pPr>
                          <a:endParaRPr lang="en-GB" sz="1200" b="0" noProof="0" dirty="0">
                            <a:solidFill>
                              <a:schemeClr val="tx1"/>
                            </a:solidFill>
                            <a:cs typeface="Times New Roman" panose="02020603050405020304" pitchFamily="18" charset="0"/>
                          </a:endParaRPr>
                        </a:p>
                        <a:p>
                          <a:pPr eaLnBrk="0" fontAlgn="base" hangingPunct="0">
                            <a:spcBef>
                              <a:spcPct val="0"/>
                            </a:spcBef>
                            <a:spcAft>
                              <a:spcPct val="0"/>
                            </a:spcAft>
                          </a:pPr>
                          <a:r>
                            <a:rPr lang="en-GB" sz="1200" b="0" noProof="0" dirty="0">
                              <a:solidFill>
                                <a:schemeClr val="tx1"/>
                              </a:solidFill>
                              <a:cs typeface="Times New Roman" panose="02020603050405020304" pitchFamily="18" charset="0"/>
                            </a:rPr>
                            <a:t>Using the iteration formula three times</a:t>
                          </a:r>
                          <a:r>
                            <a:rPr lang="en-GB" sz="1200" b="0" baseline="0" noProof="0" dirty="0">
                              <a:solidFill>
                                <a:schemeClr val="tx1"/>
                              </a:solidFill>
                              <a:cs typeface="Times New Roman" panose="02020603050405020304" pitchFamily="18" charset="0"/>
                            </a:rPr>
                            <a:t> and</a:t>
                          </a:r>
                          <a:r>
                            <a:rPr lang="en-GB" sz="1200" b="0" noProof="0" dirty="0">
                              <a:solidFill>
                                <a:schemeClr val="tx1"/>
                              </a:solidFill>
                              <a:cs typeface="Times New Roman" panose="02020603050405020304" pitchFamily="18" charset="0"/>
                            </a:rPr>
                            <a:t> </a:t>
                          </a:r>
                          <a14:m>
                            <m:oMath xmlns:m="http://schemas.openxmlformats.org/officeDocument/2006/math">
                              <m:sSub>
                                <m:sSubPr>
                                  <m:ctrlPr>
                                    <a:rPr lang="en-GB" sz="1200" b="0" i="1" noProof="0" smtClean="0">
                                      <a:solidFill>
                                        <a:schemeClr val="tx1"/>
                                      </a:solidFill>
                                      <a:latin typeface="Cambria Math" panose="02040503050406030204" pitchFamily="18" charset="0"/>
                                      <a:cs typeface="Times New Roman" panose="02020603050405020304" pitchFamily="18" charset="0"/>
                                    </a:rPr>
                                  </m:ctrlPr>
                                </m:sSubPr>
                                <m:e>
                                  <m:r>
                                    <a:rPr lang="en-GB" sz="1200" b="0" i="1" noProof="0" smtClean="0">
                                      <a:solidFill>
                                        <a:schemeClr val="tx1"/>
                                      </a:solidFill>
                                      <a:latin typeface="Cambria Math" panose="02040503050406030204" pitchFamily="18" charset="0"/>
                                      <a:cs typeface="Times New Roman" panose="02020603050405020304" pitchFamily="18" charset="0"/>
                                    </a:rPr>
                                    <m:t>𝑥</m:t>
                                  </m:r>
                                </m:e>
                                <m:sub>
                                  <m:r>
                                    <a:rPr lang="en-GB" sz="1200" b="0" i="1" noProof="0" smtClean="0">
                                      <a:solidFill>
                                        <a:schemeClr val="tx1"/>
                                      </a:solidFill>
                                      <a:latin typeface="Cambria Math" panose="02040503050406030204" pitchFamily="18" charset="0"/>
                                      <a:cs typeface="Times New Roman" panose="02020603050405020304" pitchFamily="18" charset="0"/>
                                    </a:rPr>
                                    <m:t>0</m:t>
                                  </m:r>
                                </m:sub>
                              </m:sSub>
                            </m:oMath>
                          </a14:m>
                          <a:r>
                            <a:rPr lang="en-GB" sz="1200" b="0" noProof="0" dirty="0">
                              <a:solidFill>
                                <a:schemeClr val="tx1"/>
                              </a:solidFill>
                              <a:cs typeface="Times New Roman" panose="02020603050405020304" pitchFamily="18" charset="0"/>
                            </a:rPr>
                            <a:t> = 4 to f</a:t>
                          </a:r>
                          <a:r>
                            <a:rPr lang="en-GB" sz="1200" b="0" noProof="0" dirty="0">
                              <a:solidFill>
                                <a:schemeClr val="tx1"/>
                              </a:solidFill>
                              <a:cs typeface="+mn-cs"/>
                            </a:rPr>
                            <a:t>ind an estimate for the solution</a:t>
                          </a:r>
                          <a:r>
                            <a:rPr lang="en-GB" sz="1200" b="0" baseline="0" noProof="0" dirty="0">
                              <a:solidFill>
                                <a:schemeClr val="tx1"/>
                              </a:solidFill>
                              <a:cs typeface="+mn-cs"/>
                            </a:rPr>
                            <a:t> to 2 decimal places.</a:t>
                          </a:r>
                          <a:endParaRPr lang="en-GB" sz="1200" b="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30472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11 -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3962781">
                    <a:tc>
                      <a:txBody>
                        <a:bodyPr/>
                        <a:lstStyle/>
                        <a:p>
                          <a:pPr lvl="0" eaLnBrk="0" fontAlgn="base" hangingPunct="0">
                            <a:spcBef>
                              <a:spcPct val="0"/>
                            </a:spcBef>
                            <a:spcAft>
                              <a:spcPct val="0"/>
                            </a:spcAft>
                          </a:pPr>
                          <a:r>
                            <a:rPr lang="en-GB" sz="1200" b="0" noProof="0" dirty="0">
                              <a:solidFill>
                                <a:schemeClr val="tx1"/>
                              </a:solidFill>
                              <a:cs typeface="Times New Roman" panose="02020603050405020304" pitchFamily="18" charset="0"/>
                            </a:rPr>
                            <a:t>The iterative formula </a:t>
                          </a:r>
                        </a:p>
                        <a:p>
                          <a:pPr lvl="0" eaLnBrk="0" fontAlgn="base" hangingPunct="0">
                            <a:spcBef>
                              <a:spcPct val="0"/>
                            </a:spcBef>
                            <a:spcAft>
                              <a:spcPct val="0"/>
                            </a:spcAft>
                          </a:pPr>
                          <a14:m>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r>
                                    <a:rPr lang="en-GB" sz="1200" b="0" i="1" noProof="0" smtClean="0">
                                      <a:solidFill>
                                        <a:schemeClr val="tx1"/>
                                      </a:solidFill>
                                      <a:latin typeface="Cambria Math" panose="02040503050406030204" pitchFamily="18" charset="0"/>
                                    </a:rPr>
                                    <m:t>+1</m:t>
                                  </m:r>
                                </m:sub>
                              </m:sSub>
                              <m:r>
                                <a:rPr lang="en-GB" sz="1200" b="0" i="1" noProof="0" smtClean="0">
                                  <a:solidFill>
                                    <a:schemeClr val="tx1"/>
                                  </a:solidFill>
                                  <a:latin typeface="Cambria Math" panose="02040503050406030204" pitchFamily="18" charset="0"/>
                                </a:rPr>
                                <m:t>=</m:t>
                              </m:r>
                              <m:rad>
                                <m:radPr>
                                  <m:ctrlPr>
                                    <a:rPr lang="en-GB" sz="1200" b="0" i="1" noProof="0" smtClean="0">
                                      <a:solidFill>
                                        <a:schemeClr val="tx1"/>
                                      </a:solidFill>
                                      <a:latin typeface="Cambria Math" panose="02040503050406030204" pitchFamily="18" charset="0"/>
                                      <a:ea typeface="Cambria Math" panose="02040503050406030204" pitchFamily="18" charset="0"/>
                                    </a:rPr>
                                  </m:ctrlPr>
                                </m:radPr>
                                <m:deg>
                                  <m:r>
                                    <a:rPr lang="en-GB" sz="1200" b="0" i="1" noProof="0">
                                      <a:solidFill>
                                        <a:schemeClr val="tx1"/>
                                      </a:solidFill>
                                      <a:latin typeface="Cambria Math" panose="02040503050406030204" pitchFamily="18" charset="0"/>
                                    </a:rPr>
                                    <m:t>3</m:t>
                                  </m:r>
                                </m:deg>
                                <m:e>
                                  <m:sSubSup>
                                    <m:sSubSupPr>
                                      <m:ctrlPr>
                                        <a:rPr lang="en-GB" sz="1200" b="0" i="1" noProof="0" smtClean="0">
                                          <a:solidFill>
                                            <a:schemeClr val="tx1"/>
                                          </a:solidFill>
                                          <a:latin typeface="Cambria Math" panose="02040503050406030204" pitchFamily="18" charset="0"/>
                                          <a:ea typeface="Cambria Math" panose="02040503050406030204" pitchFamily="18" charset="0"/>
                                        </a:rPr>
                                      </m:ctrlPr>
                                    </m:sSubSupPr>
                                    <m:e>
                                      <m:r>
                                        <a:rPr lang="en-GB" sz="1200" b="0" i="1" noProof="0" smtClean="0">
                                          <a:solidFill>
                                            <a:schemeClr val="tx1"/>
                                          </a:solidFill>
                                          <a:latin typeface="Cambria Math" panose="02040503050406030204" pitchFamily="18" charset="0"/>
                                          <a:ea typeface="Cambria Math" panose="02040503050406030204" pitchFamily="18" charset="0"/>
                                        </a:rPr>
                                        <m:t>𝑥</m:t>
                                      </m:r>
                                    </m:e>
                                    <m:sub>
                                      <m:r>
                                        <a:rPr lang="en-GB" sz="1200" b="0" i="1" noProof="0" smtClean="0">
                                          <a:solidFill>
                                            <a:schemeClr val="tx1"/>
                                          </a:solidFill>
                                          <a:latin typeface="Cambria Math" panose="02040503050406030204" pitchFamily="18" charset="0"/>
                                          <a:ea typeface="Cambria Math" panose="02040503050406030204" pitchFamily="18" charset="0"/>
                                        </a:rPr>
                                        <m:t>𝑛</m:t>
                                      </m:r>
                                    </m:sub>
                                    <m:sup>
                                      <m:r>
                                        <a:rPr lang="en-GB" sz="1200" b="0" i="1" noProof="0" smtClean="0">
                                          <a:solidFill>
                                            <a:schemeClr val="tx1"/>
                                          </a:solidFill>
                                          <a:latin typeface="Cambria Math" panose="02040503050406030204" pitchFamily="18" charset="0"/>
                                          <a:ea typeface="Cambria Math" panose="02040503050406030204" pitchFamily="18" charset="0"/>
                                        </a:rPr>
                                        <m:t>2</m:t>
                                      </m:r>
                                    </m:sup>
                                  </m:sSubSup>
                                  <m:r>
                                    <a:rPr lang="en-GB" sz="1200" b="0" i="1" noProof="0" smtClean="0">
                                      <a:solidFill>
                                        <a:schemeClr val="tx1"/>
                                      </a:solidFill>
                                      <a:latin typeface="Cambria Math" panose="02040503050406030204" pitchFamily="18" charset="0"/>
                                      <a:ea typeface="Cambria Math" panose="02040503050406030204" pitchFamily="18" charset="0"/>
                                    </a:rPr>
                                    <m:t>+5</m:t>
                                  </m:r>
                                </m:e>
                              </m:rad>
                            </m:oMath>
                          </a14:m>
                          <a:r>
                            <a:rPr lang="en-GB" sz="1200" b="0" noProof="0" dirty="0">
                              <a:solidFill>
                                <a:schemeClr val="tx1"/>
                              </a:solidFill>
                              <a:cs typeface="Times New Roman" panose="02020603050405020304" pitchFamily="18" charset="0"/>
                            </a:rPr>
                            <a:t> can be used to find an approximate solution for the equation </a:t>
                          </a:r>
                          <a14:m>
                            <m:oMath xmlns:m="http://schemas.openxmlformats.org/officeDocument/2006/math">
                              <m:sSup>
                                <m:sSupPr>
                                  <m:ctrlPr>
                                    <a:rPr lang="en-GB" sz="1200" b="0" i="1" noProof="0" smtClean="0">
                                      <a:solidFill>
                                        <a:schemeClr val="tx1"/>
                                      </a:solidFill>
                                      <a:latin typeface="Cambria Math" panose="02040503050406030204" pitchFamily="18" charset="0"/>
                                      <a:cs typeface="Times New Roman" panose="02020603050405020304" pitchFamily="18" charset="0"/>
                                    </a:rPr>
                                  </m:ctrlPr>
                                </m:sSupPr>
                                <m:e>
                                  <m:r>
                                    <a:rPr lang="en-GB" sz="1200" b="0" i="1" noProof="0" smtClean="0">
                                      <a:solidFill>
                                        <a:schemeClr val="tx1"/>
                                      </a:solidFill>
                                      <a:latin typeface="Cambria Math" panose="02040503050406030204" pitchFamily="18" charset="0"/>
                                      <a:cs typeface="Times New Roman" panose="02020603050405020304" pitchFamily="18" charset="0"/>
                                    </a:rPr>
                                    <m:t>𝑥</m:t>
                                  </m:r>
                                </m:e>
                                <m:sup>
                                  <m:r>
                                    <a:rPr lang="en-GB" sz="1200" b="0" i="1" noProof="0" smtClean="0">
                                      <a:solidFill>
                                        <a:schemeClr val="tx1"/>
                                      </a:solidFill>
                                      <a:latin typeface="Cambria Math" panose="02040503050406030204" pitchFamily="18" charset="0"/>
                                      <a:cs typeface="Times New Roman" panose="02020603050405020304" pitchFamily="18" charset="0"/>
                                    </a:rPr>
                                    <m:t>3</m:t>
                                  </m:r>
                                </m:sup>
                              </m:sSup>
                              <m:r>
                                <a:rPr lang="en-GB" sz="1200" b="0" i="1" noProof="0" smtClean="0">
                                  <a:solidFill>
                                    <a:schemeClr val="tx1"/>
                                  </a:solidFill>
                                  <a:latin typeface="Cambria Math" panose="02040503050406030204" pitchFamily="18" charset="0"/>
                                  <a:cs typeface="Times New Roman" panose="02020603050405020304" pitchFamily="18" charset="0"/>
                                </a:rPr>
                                <m:t>−</m:t>
                              </m:r>
                              <m:sSup>
                                <m:sSupPr>
                                  <m:ctrlPr>
                                    <a:rPr lang="en-GB" sz="1200" b="0" i="1" noProof="0" smtClean="0">
                                      <a:solidFill>
                                        <a:schemeClr val="tx1"/>
                                      </a:solidFill>
                                      <a:latin typeface="Cambria Math" panose="02040503050406030204" pitchFamily="18" charset="0"/>
                                      <a:cs typeface="Times New Roman" panose="02020603050405020304" pitchFamily="18" charset="0"/>
                                    </a:rPr>
                                  </m:ctrlPr>
                                </m:sSupPr>
                                <m:e>
                                  <m:r>
                                    <a:rPr lang="en-GB" sz="1200" b="0" i="1" noProof="0" smtClean="0">
                                      <a:solidFill>
                                        <a:schemeClr val="tx1"/>
                                      </a:solidFill>
                                      <a:latin typeface="Cambria Math" panose="02040503050406030204" pitchFamily="18" charset="0"/>
                                      <a:cs typeface="Times New Roman" panose="02020603050405020304" pitchFamily="18" charset="0"/>
                                    </a:rPr>
                                    <m:t>𝑥</m:t>
                                  </m:r>
                                </m:e>
                                <m:sup>
                                  <m:r>
                                    <a:rPr lang="en-GB" sz="1200" b="0" i="1" noProof="0" smtClean="0">
                                      <a:solidFill>
                                        <a:schemeClr val="tx1"/>
                                      </a:solidFill>
                                      <a:latin typeface="Cambria Math" panose="02040503050406030204" pitchFamily="18" charset="0"/>
                                      <a:cs typeface="Times New Roman" panose="02020603050405020304" pitchFamily="18" charset="0"/>
                                    </a:rPr>
                                    <m:t>2</m:t>
                                  </m:r>
                                </m:sup>
                              </m:sSup>
                              <m:r>
                                <a:rPr lang="en-GB" sz="1200" b="0" i="1" noProof="0" smtClean="0">
                                  <a:solidFill>
                                    <a:schemeClr val="tx1"/>
                                  </a:solidFill>
                                  <a:latin typeface="Cambria Math" panose="02040503050406030204" pitchFamily="18" charset="0"/>
                                  <a:cs typeface="Times New Roman" panose="02020603050405020304" pitchFamily="18" charset="0"/>
                                </a:rPr>
                                <m:t>−5=0</m:t>
                              </m:r>
                            </m:oMath>
                          </a14:m>
                          <a:r>
                            <a:rPr lang="en-GB" sz="1200" b="0" noProof="0" dirty="0">
                              <a:solidFill>
                                <a:schemeClr val="tx1"/>
                              </a:solidFill>
                              <a:cs typeface="Times New Roman" panose="02020603050405020304" pitchFamily="18" charset="0"/>
                            </a:rPr>
                            <a:t>.</a:t>
                          </a:r>
                        </a:p>
                        <a:p>
                          <a:pPr lvl="0" eaLnBrk="0" fontAlgn="base" hangingPunct="0">
                            <a:spcBef>
                              <a:spcPct val="0"/>
                            </a:spcBef>
                            <a:spcAft>
                              <a:spcPct val="0"/>
                            </a:spcAft>
                          </a:pPr>
                          <a:endParaRPr lang="en-GB" sz="1200" b="0" noProof="0" dirty="0">
                            <a:solidFill>
                              <a:schemeClr val="tx1"/>
                            </a:solidFill>
                            <a:cs typeface="Times New Roman" panose="020206030504050203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Times New Roman" panose="02020603050405020304" pitchFamily="18" charset="0"/>
                            </a:rPr>
                            <a:t>Using the iteration formula four times</a:t>
                          </a:r>
                          <a:r>
                            <a:rPr lang="en-GB" sz="1200" b="0" baseline="0" noProof="0" dirty="0">
                              <a:solidFill>
                                <a:schemeClr val="tx1"/>
                              </a:solidFill>
                              <a:cs typeface="Times New Roman" panose="02020603050405020304" pitchFamily="18" charset="0"/>
                            </a:rPr>
                            <a:t> and</a:t>
                          </a:r>
                          <a:r>
                            <a:rPr lang="en-GB" sz="1200" b="0" noProof="0" dirty="0">
                              <a:solidFill>
                                <a:schemeClr val="tx1"/>
                              </a:solidFill>
                              <a:cs typeface="Times New Roman" panose="02020603050405020304" pitchFamily="18" charset="0"/>
                            </a:rPr>
                            <a:t> </a:t>
                          </a:r>
                          <a14:m>
                            <m:oMath xmlns:m="http://schemas.openxmlformats.org/officeDocument/2006/math">
                              <m:sSub>
                                <m:sSubPr>
                                  <m:ctrlPr>
                                    <a:rPr lang="en-GB" sz="1200" b="0" i="1" noProof="0" smtClean="0">
                                      <a:solidFill>
                                        <a:schemeClr val="tx1"/>
                                      </a:solidFill>
                                      <a:latin typeface="Cambria Math" panose="02040503050406030204" pitchFamily="18" charset="0"/>
                                      <a:cs typeface="Times New Roman" panose="02020603050405020304" pitchFamily="18" charset="0"/>
                                    </a:rPr>
                                  </m:ctrlPr>
                                </m:sSubPr>
                                <m:e>
                                  <m:r>
                                    <a:rPr lang="en-GB" sz="1200" b="0" i="1" noProof="0" smtClean="0">
                                      <a:solidFill>
                                        <a:schemeClr val="tx1"/>
                                      </a:solidFill>
                                      <a:latin typeface="Cambria Math" panose="02040503050406030204" pitchFamily="18" charset="0"/>
                                      <a:cs typeface="Times New Roman" panose="02020603050405020304" pitchFamily="18" charset="0"/>
                                    </a:rPr>
                                    <m:t>𝑥</m:t>
                                  </m:r>
                                </m:e>
                                <m:sub>
                                  <m:r>
                                    <a:rPr lang="en-GB" sz="1200" b="0" i="1" noProof="0" smtClean="0">
                                      <a:solidFill>
                                        <a:schemeClr val="tx1"/>
                                      </a:solidFill>
                                      <a:latin typeface="Cambria Math" panose="02040503050406030204" pitchFamily="18" charset="0"/>
                                      <a:cs typeface="Times New Roman" panose="02020603050405020304" pitchFamily="18" charset="0"/>
                                    </a:rPr>
                                    <m:t>0</m:t>
                                  </m:r>
                                </m:sub>
                              </m:sSub>
                            </m:oMath>
                          </a14:m>
                          <a:r>
                            <a:rPr lang="en-GB" sz="1200" b="0" noProof="0" dirty="0">
                              <a:solidFill>
                                <a:schemeClr val="tx1"/>
                              </a:solidFill>
                              <a:cs typeface="Times New Roman" panose="02020603050405020304" pitchFamily="18" charset="0"/>
                            </a:rPr>
                            <a:t> = 2 to f</a:t>
                          </a:r>
                          <a:r>
                            <a:rPr lang="en-GB" sz="1200" b="0" noProof="0" dirty="0">
                              <a:solidFill>
                                <a:schemeClr val="tx1"/>
                              </a:solidFill>
                              <a:cs typeface="+mn-cs"/>
                            </a:rPr>
                            <a:t>ind an estimate for the solution</a:t>
                          </a:r>
                          <a:r>
                            <a:rPr lang="en-GB" sz="1200" b="0" baseline="0" noProof="0" dirty="0">
                              <a:solidFill>
                                <a:schemeClr val="tx1"/>
                              </a:solidFill>
                              <a:cs typeface="+mn-cs"/>
                            </a:rPr>
                            <a:t> to 2 decimal places.</a:t>
                          </a:r>
                          <a:endParaRPr lang="en-GB" sz="1200" b="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9470708"/>
                      </a:ext>
                    </a:extLst>
                  </a:tr>
                </a:tbl>
              </a:graphicData>
            </a:graphic>
          </p:graphicFrame>
        </mc:Choice>
        <mc:Fallback xmlns="">
          <p:graphicFrame>
            <p:nvGraphicFramePr>
              <p:cNvPr id="5" name="Table 4">
                <a:extLst>
                  <a:ext uri="{FF2B5EF4-FFF2-40B4-BE49-F238E27FC236}">
                    <a16:creationId xmlns:a16="http://schemas.microsoft.com/office/drawing/2014/main" id="{AB1B9343-04F6-B009-1350-BFA6F7226C95}"/>
                  </a:ext>
                </a:extLst>
              </p:cNvPr>
              <p:cNvGraphicFramePr>
                <a:graphicFrameLocks noGrp="1"/>
              </p:cNvGraphicFramePr>
              <p:nvPr>
                <p:extLst>
                  <p:ext uri="{D42A27DB-BD31-4B8C-83A1-F6EECF244321}">
                    <p14:modId xmlns:p14="http://schemas.microsoft.com/office/powerpoint/2010/main" val="224062264"/>
                  </p:ext>
                </p:extLst>
              </p:nvPr>
            </p:nvGraphicFramePr>
            <p:xfrm>
              <a:off x="164861" y="1371426"/>
              <a:ext cx="6528278" cy="8250767"/>
            </p:xfrm>
            <a:graphic>
              <a:graphicData uri="http://schemas.openxmlformats.org/drawingml/2006/table">
                <a:tbl>
                  <a:tblPr firstRow="1" bandRow="1">
                    <a:tableStyleId>{5C22544A-7EE6-4342-B048-85BDC9FD1C3A}</a:tableStyleId>
                  </a:tblPr>
                  <a:tblGrid>
                    <a:gridCol w="6528278">
                      <a:extLst>
                        <a:ext uri="{9D8B030D-6E8A-4147-A177-3AD203B41FA5}">
                          <a16:colId xmlns:a16="http://schemas.microsoft.com/office/drawing/2014/main" val="3551711160"/>
                        </a:ext>
                      </a:extLst>
                    </a:gridCol>
                  </a:tblGrid>
                  <a:tr h="3095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10-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367376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 t="-8624" r="-280" b="-116584"/>
                          </a:stretch>
                        </a:blipFill>
                      </a:tcPr>
                    </a:tc>
                    <a:extLst>
                      <a:ext uri="{0D108BD9-81ED-4DB2-BD59-A6C34878D82A}">
                        <a16:rowId xmlns:a16="http://schemas.microsoft.com/office/drawing/2014/main" val="2357201933"/>
                      </a:ext>
                    </a:extLst>
                  </a:tr>
                  <a:tr h="30472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11 -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396278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 t="-108295" r="-280" b="-307"/>
                          </a:stretch>
                        </a:blipFill>
                      </a:tcPr>
                    </a:tc>
                    <a:extLst>
                      <a:ext uri="{0D108BD9-81ED-4DB2-BD59-A6C34878D82A}">
                        <a16:rowId xmlns:a16="http://schemas.microsoft.com/office/drawing/2014/main" val="2789470708"/>
                      </a:ext>
                    </a:extLst>
                  </a:tr>
                </a:tbl>
              </a:graphicData>
            </a:graphic>
          </p:graphicFrame>
        </mc:Fallback>
      </mc:AlternateContent>
      <p:sp>
        <p:nvSpPr>
          <p:cNvPr id="4" name="TextBox 3">
            <a:extLst>
              <a:ext uri="{FF2B5EF4-FFF2-40B4-BE49-F238E27FC236}">
                <a16:creationId xmlns:a16="http://schemas.microsoft.com/office/drawing/2014/main" id="{C3FDF4D6-3DD0-59B2-B0E1-3DFDA7972F7E}"/>
              </a:ext>
            </a:extLst>
          </p:cNvPr>
          <p:cNvSpPr txBox="1"/>
          <p:nvPr/>
        </p:nvSpPr>
        <p:spPr>
          <a:xfrm>
            <a:off x="164861" y="283807"/>
            <a:ext cx="6528278" cy="1015663"/>
          </a:xfrm>
          <a:prstGeom prst="rect">
            <a:avLst/>
          </a:prstGeom>
          <a:noFill/>
          <a:ln>
            <a:solidFill>
              <a:schemeClr val="tx1"/>
            </a:solidFill>
          </a:ln>
        </p:spPr>
        <p:txBody>
          <a:bodyPr wrap="square" rtlCol="0">
            <a:spAutoFit/>
          </a:bodyPr>
          <a:lstStyle/>
          <a:p>
            <a:r>
              <a:rPr lang="en-GB" sz="1200" noProof="0" dirty="0"/>
              <a:t>The next steps to estimating solutions are to: </a:t>
            </a:r>
          </a:p>
          <a:p>
            <a:pPr marL="171450" indent="-171450">
              <a:buFont typeface="Wingdings" panose="05000000000000000000" pitchFamily="2" charset="2"/>
              <a:buChar char="§"/>
            </a:pPr>
            <a:r>
              <a:rPr lang="en-GB" sz="1200" noProof="0" dirty="0"/>
              <a:t>Rearrange the equation to a given form and then…</a:t>
            </a:r>
          </a:p>
          <a:p>
            <a:pPr marL="171450" indent="-171450">
              <a:buFont typeface="Wingdings" panose="05000000000000000000" pitchFamily="2" charset="2"/>
              <a:buChar char="§"/>
            </a:pPr>
            <a:r>
              <a:rPr lang="en-GB" sz="1200" noProof="0" dirty="0"/>
              <a:t>Substitute values into the iteration formula (over and over again)</a:t>
            </a:r>
          </a:p>
          <a:p>
            <a:r>
              <a:rPr lang="en-GB" sz="1200" noProof="0" dirty="0"/>
              <a:t>The second of these is slightly more straightforward so we will practice that before combining with the first part….</a:t>
            </a:r>
          </a:p>
        </p:txBody>
      </p:sp>
    </p:spTree>
    <p:extLst>
      <p:ext uri="{BB962C8B-B14F-4D97-AF65-F5344CB8AC3E}">
        <p14:creationId xmlns:p14="http://schemas.microsoft.com/office/powerpoint/2010/main" val="40967460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66AC284E-41D2-0309-013E-DB984A92FCAE}"/>
              </a:ext>
            </a:extLst>
          </p:cNvPr>
          <p:cNvGraphicFramePr>
            <a:graphicFrameLocks noGrp="1"/>
          </p:cNvGraphicFramePr>
          <p:nvPr>
            <p:extLst>
              <p:ext uri="{D42A27DB-BD31-4B8C-83A1-F6EECF244321}">
                <p14:modId xmlns:p14="http://schemas.microsoft.com/office/powerpoint/2010/main" val="1446785880"/>
              </p:ext>
            </p:extLst>
          </p:nvPr>
        </p:nvGraphicFramePr>
        <p:xfrm>
          <a:off x="107668" y="4717957"/>
          <a:ext cx="6573944" cy="4896306"/>
        </p:xfrm>
        <a:graphic>
          <a:graphicData uri="http://schemas.openxmlformats.org/drawingml/2006/table">
            <a:tbl>
              <a:tblPr firstRow="1" bandRow="1">
                <a:tableStyleId>{5C22544A-7EE6-4342-B048-85BDC9FD1C3A}</a:tableStyleId>
              </a:tblPr>
              <a:tblGrid>
                <a:gridCol w="3286972">
                  <a:extLst>
                    <a:ext uri="{9D8B030D-6E8A-4147-A177-3AD203B41FA5}">
                      <a16:colId xmlns:a16="http://schemas.microsoft.com/office/drawing/2014/main" val="627973290"/>
                    </a:ext>
                  </a:extLst>
                </a:gridCol>
                <a:gridCol w="3286972">
                  <a:extLst>
                    <a:ext uri="{9D8B030D-6E8A-4147-A177-3AD203B41FA5}">
                      <a16:colId xmlns:a16="http://schemas.microsoft.com/office/drawing/2014/main" val="2476837939"/>
                    </a:ext>
                  </a:extLst>
                </a:gridCol>
              </a:tblGrid>
              <a:tr h="489630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6956855"/>
                  </a:ext>
                </a:extLst>
              </a:tr>
            </a:tbl>
          </a:graphicData>
        </a:graphic>
      </p:graphicFrame>
      <p:sp>
        <p:nvSpPr>
          <p:cNvPr id="2" name="Slide Number Placeholder 1">
            <a:extLst>
              <a:ext uri="{FF2B5EF4-FFF2-40B4-BE49-F238E27FC236}">
                <a16:creationId xmlns:a16="http://schemas.microsoft.com/office/drawing/2014/main" id="{F3AEF00B-9824-A748-BFBD-5BAF68F294A3}"/>
              </a:ext>
            </a:extLst>
          </p:cNvPr>
          <p:cNvSpPr>
            <a:spLocks noGrp="1"/>
          </p:cNvSpPr>
          <p:nvPr>
            <p:ph type="sldNum" sz="quarter" idx="12"/>
          </p:nvPr>
        </p:nvSpPr>
        <p:spPr>
          <a:xfrm>
            <a:off x="5113243" y="9358181"/>
            <a:ext cx="1543050" cy="527403"/>
          </a:xfrm>
        </p:spPr>
        <p:txBody>
          <a:bodyPr/>
          <a:lstStyle/>
          <a:p>
            <a:fld id="{9BD3B4A0-BFF9-422C-B253-48BA94BE2F5B}" type="slidenum">
              <a:rPr lang="en-GB" noProof="0" smtClean="0"/>
              <a:t>63</a:t>
            </a:fld>
            <a:endParaRPr lang="en-GB" noProof="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50F86F5-3DE0-299D-0D0F-4AB1D47A6CE6}"/>
                  </a:ext>
                </a:extLst>
              </p:cNvPr>
              <p:cNvGraphicFramePr>
                <a:graphicFrameLocks noGrp="1"/>
              </p:cNvGraphicFramePr>
              <p:nvPr>
                <p:extLst>
                  <p:ext uri="{D42A27DB-BD31-4B8C-83A1-F6EECF244321}">
                    <p14:modId xmlns:p14="http://schemas.microsoft.com/office/powerpoint/2010/main" val="553473730"/>
                  </p:ext>
                </p:extLst>
              </p:nvPr>
            </p:nvGraphicFramePr>
            <p:xfrm>
              <a:off x="107668" y="117566"/>
              <a:ext cx="6573944" cy="4163912"/>
            </p:xfrm>
            <a:graphic>
              <a:graphicData uri="http://schemas.openxmlformats.org/drawingml/2006/table">
                <a:tbl>
                  <a:tblPr firstRow="1" bandRow="1">
                    <a:tableStyleId>{5C22544A-7EE6-4342-B048-85BDC9FD1C3A}</a:tableStyleId>
                  </a:tblPr>
                  <a:tblGrid>
                    <a:gridCol w="6573944">
                      <a:extLst>
                        <a:ext uri="{9D8B030D-6E8A-4147-A177-3AD203B41FA5}">
                          <a16:colId xmlns:a16="http://schemas.microsoft.com/office/drawing/2014/main" val="3551711160"/>
                        </a:ext>
                      </a:extLst>
                    </a:gridCol>
                  </a:tblGrid>
                  <a:tr h="3023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12 -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3861553">
                    <a:tc>
                      <a:txBody>
                        <a:bodyPr/>
                        <a:lstStyle/>
                        <a:p>
                          <a:pPr lvl="0" eaLnBrk="0" fontAlgn="base" hangingPunct="0">
                            <a:spcBef>
                              <a:spcPct val="0"/>
                            </a:spcBef>
                            <a:spcAft>
                              <a:spcPct val="0"/>
                            </a:spcAft>
                          </a:pPr>
                          <a:r>
                            <a:rPr lang="en-GB" sz="1200" b="0" noProof="0" dirty="0">
                              <a:solidFill>
                                <a:schemeClr val="tx1"/>
                              </a:solidFill>
                              <a:cs typeface="Times New Roman" panose="02020603050405020304" pitchFamily="18" charset="0"/>
                            </a:rPr>
                            <a:t>The iterative formula </a:t>
                          </a:r>
                          <a14:m>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r>
                                    <a:rPr lang="en-GB" sz="1200" b="0" i="1" noProof="0" smtClean="0">
                                      <a:solidFill>
                                        <a:schemeClr val="tx1"/>
                                      </a:solidFill>
                                      <a:latin typeface="Cambria Math" panose="02040503050406030204" pitchFamily="18" charset="0"/>
                                    </a:rPr>
                                    <m:t>+1</m:t>
                                  </m:r>
                                </m:sub>
                              </m:sSub>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ea typeface="Cambria Math" panose="02040503050406030204" pitchFamily="18" charset="0"/>
                                    </a:rPr>
                                  </m:ctrlPr>
                                </m:fPr>
                                <m:num>
                                  <m:r>
                                    <a:rPr lang="en-GB" sz="1200" b="0" i="1" noProof="0" smtClean="0">
                                      <a:solidFill>
                                        <a:schemeClr val="tx1"/>
                                      </a:solidFill>
                                      <a:latin typeface="Cambria Math" panose="02040503050406030204" pitchFamily="18" charset="0"/>
                                      <a:ea typeface="Cambria Math" panose="02040503050406030204" pitchFamily="18" charset="0"/>
                                    </a:rPr>
                                    <m:t>3</m:t>
                                  </m:r>
                                </m:num>
                                <m:den>
                                  <m:r>
                                    <a:rPr lang="en-GB" sz="1200" b="0" i="1" noProof="0" smtClean="0">
                                      <a:solidFill>
                                        <a:schemeClr val="tx1"/>
                                      </a:solidFill>
                                      <a:latin typeface="Cambria Math" panose="02040503050406030204" pitchFamily="18" charset="0"/>
                                      <a:ea typeface="Cambria Math" panose="02040503050406030204" pitchFamily="18" charset="0"/>
                                    </a:rPr>
                                    <m:t>1+</m:t>
                                  </m:r>
                                  <m:sSub>
                                    <m:sSubPr>
                                      <m:ctrlPr>
                                        <a:rPr lang="en-GB" sz="1200" b="0" i="1" noProof="0" smtClean="0">
                                          <a:solidFill>
                                            <a:schemeClr val="tx1"/>
                                          </a:solidFill>
                                          <a:latin typeface="Cambria Math" panose="02040503050406030204" pitchFamily="18" charset="0"/>
                                          <a:ea typeface="Cambria Math" panose="02040503050406030204" pitchFamily="18" charset="0"/>
                                        </a:rPr>
                                      </m:ctrlPr>
                                    </m:sSubPr>
                                    <m:e>
                                      <m:r>
                                        <a:rPr lang="en-GB" sz="1200" b="0" i="1" noProof="0" smtClean="0">
                                          <a:solidFill>
                                            <a:schemeClr val="tx1"/>
                                          </a:solidFill>
                                          <a:latin typeface="Cambria Math" panose="02040503050406030204" pitchFamily="18" charset="0"/>
                                          <a:ea typeface="Cambria Math" panose="02040503050406030204" pitchFamily="18" charset="0"/>
                                        </a:rPr>
                                        <m:t>𝑥</m:t>
                                      </m:r>
                                    </m:e>
                                    <m:sub>
                                      <m:r>
                                        <a:rPr lang="en-GB" sz="1200" b="0" i="1" noProof="0" smtClean="0">
                                          <a:solidFill>
                                            <a:schemeClr val="tx1"/>
                                          </a:solidFill>
                                          <a:latin typeface="Cambria Math" panose="02040503050406030204" pitchFamily="18" charset="0"/>
                                          <a:ea typeface="Cambria Math" panose="02040503050406030204" pitchFamily="18" charset="0"/>
                                        </a:rPr>
                                        <m:t>𝑛</m:t>
                                      </m:r>
                                    </m:sub>
                                  </m:sSub>
                                </m:den>
                              </m:f>
                            </m:oMath>
                          </a14:m>
                          <a:r>
                            <a:rPr lang="en-GB" sz="1200" b="0" noProof="0" dirty="0">
                              <a:solidFill>
                                <a:schemeClr val="tx1"/>
                              </a:solidFill>
                              <a:cs typeface="Times New Roman" panose="02020603050405020304" pitchFamily="18" charset="0"/>
                            </a:rPr>
                            <a:t> can be used to find an approximate solution for the equation </a:t>
                          </a:r>
                          <a14:m>
                            <m:oMath xmlns:m="http://schemas.openxmlformats.org/officeDocument/2006/math">
                              <m:sSup>
                                <m:sSupPr>
                                  <m:ctrlPr>
                                    <a:rPr lang="en-GB" sz="1200" b="0" i="1" noProof="0" smtClean="0">
                                      <a:solidFill>
                                        <a:schemeClr val="tx1"/>
                                      </a:solidFill>
                                      <a:latin typeface="Cambria Math" panose="02040503050406030204" pitchFamily="18" charset="0"/>
                                      <a:cs typeface="Times New Roman" panose="02020603050405020304" pitchFamily="18" charset="0"/>
                                    </a:rPr>
                                  </m:ctrlPr>
                                </m:sSupPr>
                                <m:e>
                                  <m:r>
                                    <a:rPr lang="en-GB" sz="1200" b="0" i="1" noProof="0" smtClean="0">
                                      <a:solidFill>
                                        <a:schemeClr val="tx1"/>
                                      </a:solidFill>
                                      <a:latin typeface="Cambria Math" panose="02040503050406030204" pitchFamily="18" charset="0"/>
                                      <a:cs typeface="Times New Roman" panose="02020603050405020304" pitchFamily="18" charset="0"/>
                                    </a:rPr>
                                    <m:t>𝑥</m:t>
                                  </m:r>
                                </m:e>
                                <m:sup>
                                  <m:r>
                                    <a:rPr lang="en-GB" sz="1200" b="0" i="1" noProof="0" smtClean="0">
                                      <a:solidFill>
                                        <a:schemeClr val="tx1"/>
                                      </a:solidFill>
                                      <a:latin typeface="Cambria Math" panose="02040503050406030204" pitchFamily="18" charset="0"/>
                                      <a:cs typeface="Times New Roman" panose="02020603050405020304" pitchFamily="18" charset="0"/>
                                    </a:rPr>
                                    <m:t>2</m:t>
                                  </m:r>
                                </m:sup>
                              </m:sSup>
                              <m:r>
                                <a:rPr lang="en-GB" sz="1200" b="0" i="1" noProof="0" smtClean="0">
                                  <a:solidFill>
                                    <a:schemeClr val="tx1"/>
                                  </a:solidFill>
                                  <a:latin typeface="Cambria Math" panose="02040503050406030204" pitchFamily="18" charset="0"/>
                                  <a:cs typeface="Times New Roman" panose="02020603050405020304" pitchFamily="18" charset="0"/>
                                </a:rPr>
                                <m:t>+</m:t>
                              </m:r>
                              <m:r>
                                <a:rPr lang="en-GB" sz="1200" b="0" i="1" noProof="0" smtClean="0">
                                  <a:solidFill>
                                    <a:schemeClr val="tx1"/>
                                  </a:solidFill>
                                  <a:latin typeface="Cambria Math" panose="02040503050406030204" pitchFamily="18" charset="0"/>
                                  <a:cs typeface="Times New Roman" panose="02020603050405020304" pitchFamily="18" charset="0"/>
                                </a:rPr>
                                <m:t>𝑥</m:t>
                              </m:r>
                              <m:r>
                                <a:rPr lang="en-GB" sz="1200" b="0" i="1" noProof="0" smtClean="0">
                                  <a:solidFill>
                                    <a:schemeClr val="tx1"/>
                                  </a:solidFill>
                                  <a:latin typeface="Cambria Math" panose="02040503050406030204" pitchFamily="18" charset="0"/>
                                  <a:cs typeface="Times New Roman" panose="02020603050405020304" pitchFamily="18" charset="0"/>
                                </a:rPr>
                                <m:t>−3=0</m:t>
                              </m:r>
                            </m:oMath>
                          </a14:m>
                          <a:r>
                            <a:rPr lang="en-GB" sz="1200" b="0" noProof="0" dirty="0">
                              <a:solidFill>
                                <a:schemeClr val="tx1"/>
                              </a:solidFill>
                              <a:cs typeface="Times New Roman" panose="02020603050405020304" pitchFamily="18" charset="0"/>
                            </a:rPr>
                            <a:t>.</a:t>
                          </a:r>
                        </a:p>
                        <a:p>
                          <a:pPr lvl="0" eaLnBrk="0" fontAlgn="base" hangingPunct="0">
                            <a:spcBef>
                              <a:spcPct val="0"/>
                            </a:spcBef>
                            <a:spcAft>
                              <a:spcPct val="0"/>
                            </a:spcAft>
                          </a:pPr>
                          <a:endParaRPr lang="en-GB" sz="1200" b="0" noProof="0" dirty="0">
                            <a:solidFill>
                              <a:schemeClr val="tx1"/>
                            </a:solidFill>
                            <a:cs typeface="Times New Roman" panose="020206030504050203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cs typeface="Times New Roman" panose="02020603050405020304" pitchFamily="18" charset="0"/>
                            </a:rPr>
                            <a:t>Using the iteration formula three times</a:t>
                          </a:r>
                          <a:r>
                            <a:rPr lang="en-GB" sz="1200" b="0" baseline="0" noProof="0" dirty="0">
                              <a:solidFill>
                                <a:schemeClr val="tx1"/>
                              </a:solidFill>
                              <a:cs typeface="Times New Roman" panose="02020603050405020304" pitchFamily="18" charset="0"/>
                            </a:rPr>
                            <a:t> and</a:t>
                          </a:r>
                          <a:r>
                            <a:rPr lang="en-GB" sz="1200" b="0" noProof="0" dirty="0">
                              <a:solidFill>
                                <a:schemeClr val="tx1"/>
                              </a:solidFill>
                              <a:cs typeface="Times New Roman" panose="02020603050405020304" pitchFamily="18" charset="0"/>
                            </a:rPr>
                            <a:t> </a:t>
                          </a:r>
                          <a14:m>
                            <m:oMath xmlns:m="http://schemas.openxmlformats.org/officeDocument/2006/math">
                              <m:sSub>
                                <m:sSubPr>
                                  <m:ctrlPr>
                                    <a:rPr lang="en-GB" sz="1200" b="0" i="1" noProof="0" smtClean="0">
                                      <a:solidFill>
                                        <a:schemeClr val="tx1"/>
                                      </a:solidFill>
                                      <a:latin typeface="Cambria Math" panose="02040503050406030204" pitchFamily="18" charset="0"/>
                                      <a:cs typeface="Times New Roman" panose="02020603050405020304" pitchFamily="18" charset="0"/>
                                    </a:rPr>
                                  </m:ctrlPr>
                                </m:sSubPr>
                                <m:e>
                                  <m:r>
                                    <a:rPr lang="en-GB" sz="1200" b="0" i="1" noProof="0" smtClean="0">
                                      <a:solidFill>
                                        <a:schemeClr val="tx1"/>
                                      </a:solidFill>
                                      <a:latin typeface="Cambria Math" panose="02040503050406030204" pitchFamily="18" charset="0"/>
                                      <a:cs typeface="Times New Roman" panose="02020603050405020304" pitchFamily="18" charset="0"/>
                                    </a:rPr>
                                    <m:t>𝑥</m:t>
                                  </m:r>
                                </m:e>
                                <m:sub>
                                  <m:r>
                                    <a:rPr lang="en-GB" sz="1200" b="0" i="1" noProof="0" smtClean="0">
                                      <a:solidFill>
                                        <a:schemeClr val="tx1"/>
                                      </a:solidFill>
                                      <a:latin typeface="Cambria Math" panose="02040503050406030204" pitchFamily="18" charset="0"/>
                                      <a:cs typeface="Times New Roman" panose="02020603050405020304" pitchFamily="18" charset="0"/>
                                    </a:rPr>
                                    <m:t>0</m:t>
                                  </m:r>
                                </m:sub>
                              </m:sSub>
                            </m:oMath>
                          </a14:m>
                          <a:r>
                            <a:rPr lang="en-GB" sz="1200" b="0" noProof="0" dirty="0">
                              <a:solidFill>
                                <a:schemeClr val="tx1"/>
                              </a:solidFill>
                              <a:cs typeface="Times New Roman" panose="02020603050405020304" pitchFamily="18" charset="0"/>
                            </a:rPr>
                            <a:t> = 1 to f</a:t>
                          </a:r>
                          <a:r>
                            <a:rPr lang="en-GB" sz="1200" b="0" noProof="0" dirty="0">
                              <a:solidFill>
                                <a:schemeClr val="tx1"/>
                              </a:solidFill>
                              <a:cs typeface="+mn-cs"/>
                            </a:rPr>
                            <a:t>ind an estimate for the solution</a:t>
                          </a:r>
                          <a:r>
                            <a:rPr lang="en-GB" sz="1200" b="0" baseline="0" noProof="0" dirty="0">
                              <a:solidFill>
                                <a:schemeClr val="tx1"/>
                              </a:solidFill>
                              <a:cs typeface="+mn-cs"/>
                            </a:rPr>
                            <a:t> to 2 decimal places.</a:t>
                          </a:r>
                          <a:endParaRPr lang="en-GB" sz="1200" b="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bl>
              </a:graphicData>
            </a:graphic>
          </p:graphicFrame>
        </mc:Choice>
        <mc:Fallback xmlns="">
          <p:graphicFrame>
            <p:nvGraphicFramePr>
              <p:cNvPr id="3" name="Table 2">
                <a:extLst>
                  <a:ext uri="{FF2B5EF4-FFF2-40B4-BE49-F238E27FC236}">
                    <a16:creationId xmlns:a16="http://schemas.microsoft.com/office/drawing/2014/main" id="{750F86F5-3DE0-299D-0D0F-4AB1D47A6CE6}"/>
                  </a:ext>
                </a:extLst>
              </p:cNvPr>
              <p:cNvGraphicFramePr>
                <a:graphicFrameLocks noGrp="1"/>
              </p:cNvGraphicFramePr>
              <p:nvPr>
                <p:extLst>
                  <p:ext uri="{D42A27DB-BD31-4B8C-83A1-F6EECF244321}">
                    <p14:modId xmlns:p14="http://schemas.microsoft.com/office/powerpoint/2010/main" val="553473730"/>
                  </p:ext>
                </p:extLst>
              </p:nvPr>
            </p:nvGraphicFramePr>
            <p:xfrm>
              <a:off x="107668" y="117566"/>
              <a:ext cx="6573944" cy="4163912"/>
            </p:xfrm>
            <a:graphic>
              <a:graphicData uri="http://schemas.openxmlformats.org/drawingml/2006/table">
                <a:tbl>
                  <a:tblPr firstRow="1" bandRow="1">
                    <a:tableStyleId>{5C22544A-7EE6-4342-B048-85BDC9FD1C3A}</a:tableStyleId>
                  </a:tblPr>
                  <a:tblGrid>
                    <a:gridCol w="6573944">
                      <a:extLst>
                        <a:ext uri="{9D8B030D-6E8A-4147-A177-3AD203B41FA5}">
                          <a16:colId xmlns:a16="http://schemas.microsoft.com/office/drawing/2014/main" val="3551711160"/>
                        </a:ext>
                      </a:extLst>
                    </a:gridCol>
                  </a:tblGrid>
                  <a:tr h="3023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12 -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386155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 t="-8044" r="-185" b="-315"/>
                          </a:stretch>
                        </a:blipFill>
                      </a:tcPr>
                    </a:tc>
                    <a:extLst>
                      <a:ext uri="{0D108BD9-81ED-4DB2-BD59-A6C34878D82A}">
                        <a16:rowId xmlns:a16="http://schemas.microsoft.com/office/drawing/2014/main" val="2357201933"/>
                      </a:ext>
                    </a:extLst>
                  </a:tr>
                </a:tbl>
              </a:graphicData>
            </a:graphic>
          </p:graphicFrame>
        </mc:Fallback>
      </mc:AlternateContent>
      <p:sp>
        <p:nvSpPr>
          <p:cNvPr id="4" name="Rectangle 3">
            <a:extLst>
              <a:ext uri="{FF2B5EF4-FFF2-40B4-BE49-F238E27FC236}">
                <a16:creationId xmlns:a16="http://schemas.microsoft.com/office/drawing/2014/main" id="{1725BC0F-D454-6544-F970-3F8157E1AB46}"/>
              </a:ext>
            </a:extLst>
          </p:cNvPr>
          <p:cNvSpPr/>
          <p:nvPr/>
        </p:nvSpPr>
        <p:spPr>
          <a:xfrm>
            <a:off x="1712140" y="4377086"/>
            <a:ext cx="5145860" cy="276999"/>
          </a:xfrm>
          <a:prstGeom prst="rect">
            <a:avLst/>
          </a:prstGeom>
        </p:spPr>
        <p:txBody>
          <a:bodyPr wrap="square">
            <a:spAutoFit/>
          </a:bodyPr>
          <a:lstStyle/>
          <a:p>
            <a:pPr algn="ctr"/>
            <a:r>
              <a:rPr lang="en-GB" sz="1200" noProof="0" dirty="0"/>
              <a:t>4) Use the iterative formulae to find estimates of solutions for each equation.  </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25DEB70E-B331-8A96-F81F-AA31F970A4F4}"/>
                  </a:ext>
                </a:extLst>
              </p:cNvPr>
              <p:cNvSpPr/>
              <p:nvPr/>
            </p:nvSpPr>
            <p:spPr>
              <a:xfrm>
                <a:off x="107669" y="4739467"/>
                <a:ext cx="3136739" cy="749244"/>
              </a:xfrm>
              <a:prstGeom prst="rect">
                <a:avLst/>
              </a:prstGeom>
            </p:spPr>
            <p:txBody>
              <a:bodyPr wrap="square">
                <a:spAutoFit/>
              </a:bodyPr>
              <a:lstStyle/>
              <a:p>
                <a:pPr lvl="0" eaLnBrk="0" fontAlgn="base" hangingPunct="0">
                  <a:spcBef>
                    <a:spcPct val="0"/>
                  </a:spcBef>
                  <a:spcAft>
                    <a:spcPct val="0"/>
                  </a:spcAft>
                </a:pPr>
                <a:r>
                  <a:rPr lang="en-GB" sz="1200" noProof="0" dirty="0">
                    <a:cs typeface="Times New Roman" panose="02020603050405020304" pitchFamily="18" charset="0"/>
                  </a:rPr>
                  <a:t>a) Starting with </a:t>
                </a:r>
                <a14:m>
                  <m:oMath xmlns:m="http://schemas.openxmlformats.org/officeDocument/2006/math">
                    <m:sSub>
                      <m:sSubPr>
                        <m:ctrlPr>
                          <a:rPr lang="en-GB" sz="1200" i="1" noProof="0" smtClean="0">
                            <a:latin typeface="Cambria Math" panose="02040503050406030204" pitchFamily="18" charset="0"/>
                            <a:cs typeface="Times New Roman" panose="02020603050405020304" pitchFamily="18" charset="0"/>
                          </a:rPr>
                        </m:ctrlPr>
                      </m:sSubPr>
                      <m:e>
                        <m:r>
                          <a:rPr lang="en-GB" sz="1200" b="0" i="1" noProof="0" smtClean="0">
                            <a:latin typeface="Cambria Math" panose="02040503050406030204" pitchFamily="18" charset="0"/>
                            <a:cs typeface="Times New Roman" panose="02020603050405020304" pitchFamily="18" charset="0"/>
                          </a:rPr>
                          <m:t>𝑥</m:t>
                        </m:r>
                      </m:e>
                      <m:sub>
                        <m:r>
                          <a:rPr lang="en-GB" sz="1200" b="0" i="1" noProof="0" smtClean="0">
                            <a:latin typeface="Cambria Math" panose="02040503050406030204" pitchFamily="18" charset="0"/>
                            <a:cs typeface="Times New Roman" panose="02020603050405020304" pitchFamily="18" charset="0"/>
                          </a:rPr>
                          <m:t>0</m:t>
                        </m:r>
                      </m:sub>
                    </m:sSub>
                    <m:r>
                      <a:rPr lang="en-GB" sz="1200" b="0" i="1" noProof="0" smtClean="0">
                        <a:latin typeface="Cambria Math" panose="02040503050406030204" pitchFamily="18" charset="0"/>
                        <a:cs typeface="Times New Roman" panose="02020603050405020304" pitchFamily="18" charset="0"/>
                      </a:rPr>
                      <m:t>=3</m:t>
                    </m:r>
                  </m:oMath>
                </a14:m>
                <a:r>
                  <a:rPr lang="en-GB" sz="1200" noProof="0" dirty="0">
                    <a:solidFill>
                      <a:schemeClr val="tx1"/>
                    </a:solidFill>
                    <a:cs typeface="Times New Roman" panose="02020603050405020304" pitchFamily="18" charset="0"/>
                  </a:rPr>
                  <a:t>, use the iterative formula </a:t>
                </a:r>
                <a14:m>
                  <m:oMath xmlns:m="http://schemas.openxmlformats.org/officeDocument/2006/math">
                    <m:sSub>
                      <m:sSubPr>
                        <m:ctrlPr>
                          <a:rPr lang="en-GB" sz="1200" i="1" noProof="0" smtClean="0">
                            <a:solidFill>
                              <a:schemeClr val="tx1"/>
                            </a:solidFill>
                            <a:latin typeface="Cambria Math" panose="02040503050406030204" pitchFamily="18" charset="0"/>
                            <a:cs typeface="Times New Roman" panose="02020603050405020304" pitchFamily="18" charset="0"/>
                          </a:rPr>
                        </m:ctrlPr>
                      </m:sSubPr>
                      <m:e>
                        <m:r>
                          <a:rPr lang="en-GB" sz="1200" b="0" i="1" noProof="0" smtClean="0">
                            <a:solidFill>
                              <a:schemeClr val="tx1"/>
                            </a:solidFill>
                            <a:latin typeface="Cambria Math" panose="02040503050406030204" pitchFamily="18" charset="0"/>
                            <a:cs typeface="Times New Roman" panose="02020603050405020304" pitchFamily="18" charset="0"/>
                          </a:rPr>
                          <m:t>𝑥</m:t>
                        </m:r>
                      </m:e>
                      <m:sub>
                        <m:r>
                          <a:rPr lang="en-GB" sz="1200" b="0" i="1" noProof="0" smtClean="0">
                            <a:solidFill>
                              <a:schemeClr val="tx1"/>
                            </a:solidFill>
                            <a:latin typeface="Cambria Math" panose="02040503050406030204" pitchFamily="18" charset="0"/>
                            <a:cs typeface="Times New Roman" panose="02020603050405020304" pitchFamily="18" charset="0"/>
                          </a:rPr>
                          <m:t>𝑛</m:t>
                        </m:r>
                        <m:r>
                          <a:rPr lang="en-GB" sz="1200" b="0" i="1" noProof="0" smtClean="0">
                            <a:solidFill>
                              <a:schemeClr val="tx1"/>
                            </a:solidFill>
                            <a:latin typeface="Cambria Math" panose="02040503050406030204" pitchFamily="18" charset="0"/>
                            <a:cs typeface="Times New Roman" panose="02020603050405020304" pitchFamily="18" charset="0"/>
                          </a:rPr>
                          <m:t>+1</m:t>
                        </m:r>
                      </m:sub>
                    </m:sSub>
                    <m:r>
                      <a:rPr lang="en-GB" sz="1200" b="0" i="1" noProof="0" smtClean="0">
                        <a:solidFill>
                          <a:schemeClr val="tx1"/>
                        </a:solidFill>
                        <a:latin typeface="Cambria Math" panose="02040503050406030204" pitchFamily="18" charset="0"/>
                        <a:cs typeface="Times New Roman" panose="02020603050405020304" pitchFamily="18" charset="0"/>
                      </a:rPr>
                      <m:t>=</m:t>
                    </m:r>
                    <m:f>
                      <m:fPr>
                        <m:ctrlPr>
                          <a:rPr lang="en-GB" sz="1200" b="0" i="1" noProof="0" smtClean="0">
                            <a:solidFill>
                              <a:schemeClr val="tx1"/>
                            </a:solidFill>
                            <a:latin typeface="Cambria Math" panose="02040503050406030204" pitchFamily="18" charset="0"/>
                            <a:cs typeface="Times New Roman" panose="02020603050405020304" pitchFamily="18" charset="0"/>
                          </a:rPr>
                        </m:ctrlPr>
                      </m:fPr>
                      <m:num>
                        <m:r>
                          <a:rPr lang="en-GB" sz="1200" b="0" i="1" noProof="0" smtClean="0">
                            <a:solidFill>
                              <a:schemeClr val="tx1"/>
                            </a:solidFill>
                            <a:latin typeface="Cambria Math" panose="02040503050406030204" pitchFamily="18" charset="0"/>
                            <a:cs typeface="Times New Roman" panose="02020603050405020304" pitchFamily="18" charset="0"/>
                          </a:rPr>
                          <m:t>7</m:t>
                        </m:r>
                      </m:num>
                      <m:den>
                        <m:sSubSup>
                          <m:sSubSupPr>
                            <m:ctrlPr>
                              <a:rPr lang="en-GB" sz="1200" b="0" i="1" noProof="0" smtClean="0">
                                <a:solidFill>
                                  <a:schemeClr val="tx1"/>
                                </a:solidFill>
                                <a:latin typeface="Cambria Math" panose="02040503050406030204" pitchFamily="18" charset="0"/>
                                <a:cs typeface="Times New Roman" panose="02020603050405020304" pitchFamily="18" charset="0"/>
                              </a:rPr>
                            </m:ctrlPr>
                          </m:sSubSupPr>
                          <m:e>
                            <m:r>
                              <a:rPr lang="en-GB" sz="1200" b="0" i="1" noProof="0" smtClean="0">
                                <a:solidFill>
                                  <a:schemeClr val="tx1"/>
                                </a:solidFill>
                                <a:latin typeface="Cambria Math" panose="02040503050406030204" pitchFamily="18" charset="0"/>
                                <a:cs typeface="Times New Roman" panose="02020603050405020304" pitchFamily="18" charset="0"/>
                              </a:rPr>
                              <m:t>𝑥</m:t>
                            </m:r>
                          </m:e>
                          <m:sub>
                            <m:r>
                              <a:rPr lang="en-GB" sz="1200" b="0" i="1" noProof="0" smtClean="0">
                                <a:solidFill>
                                  <a:schemeClr val="tx1"/>
                                </a:solidFill>
                                <a:latin typeface="Cambria Math" panose="02040503050406030204" pitchFamily="18" charset="0"/>
                                <a:cs typeface="Times New Roman" panose="02020603050405020304" pitchFamily="18" charset="0"/>
                              </a:rPr>
                              <m:t>𝑛</m:t>
                            </m:r>
                          </m:sub>
                          <m:sup>
                            <m:r>
                              <a:rPr lang="en-GB" sz="1200" b="0" i="1" noProof="0" smtClean="0">
                                <a:solidFill>
                                  <a:schemeClr val="tx1"/>
                                </a:solidFill>
                                <a:latin typeface="Cambria Math" panose="02040503050406030204" pitchFamily="18" charset="0"/>
                                <a:cs typeface="Times New Roman" panose="02020603050405020304" pitchFamily="18" charset="0"/>
                              </a:rPr>
                              <m:t>2</m:t>
                            </m:r>
                          </m:sup>
                        </m:sSubSup>
                      </m:den>
                    </m:f>
                    <m:r>
                      <a:rPr lang="en-GB" sz="1200" b="0" i="1" noProof="0" smtClean="0">
                        <a:solidFill>
                          <a:schemeClr val="tx1"/>
                        </a:solidFill>
                        <a:latin typeface="Cambria Math" panose="02040503050406030204" pitchFamily="18" charset="0"/>
                        <a:cs typeface="Times New Roman" panose="02020603050405020304" pitchFamily="18" charset="0"/>
                      </a:rPr>
                      <m:t>+2</m:t>
                    </m:r>
                  </m:oMath>
                </a14:m>
                <a:r>
                  <a:rPr lang="en-GB" sz="1200" noProof="0" dirty="0">
                    <a:solidFill>
                      <a:schemeClr val="tx1"/>
                    </a:solidFill>
                    <a:cs typeface="Times New Roman" panose="02020603050405020304" pitchFamily="18" charset="0"/>
                  </a:rPr>
                  <a:t> </a:t>
                </a:r>
                <a:r>
                  <a:rPr lang="en-GB" sz="1200" b="1" noProof="0" dirty="0">
                    <a:solidFill>
                      <a:schemeClr val="tx1"/>
                    </a:solidFill>
                    <a:cs typeface="Times New Roman" panose="02020603050405020304" pitchFamily="18" charset="0"/>
                  </a:rPr>
                  <a:t>three times </a:t>
                </a:r>
                <a:r>
                  <a:rPr lang="en-GB" sz="1200" noProof="0" dirty="0">
                    <a:solidFill>
                      <a:schemeClr val="tx1"/>
                    </a:solidFill>
                    <a:cs typeface="Times New Roman" panose="02020603050405020304" pitchFamily="18" charset="0"/>
                  </a:rPr>
                  <a:t>to find an estimate for the solution to </a:t>
                </a:r>
                <a14:m>
                  <m:oMath xmlns:m="http://schemas.openxmlformats.org/officeDocument/2006/math">
                    <m:sSup>
                      <m:sSupPr>
                        <m:ctrlPr>
                          <a:rPr lang="en-GB" sz="1200" b="0" i="1" noProof="0" smtClean="0">
                            <a:solidFill>
                              <a:schemeClr val="tx1"/>
                            </a:solidFill>
                            <a:latin typeface="Cambria Math" panose="02040503050406030204" pitchFamily="18" charset="0"/>
                            <a:cs typeface="Times New Roman" panose="02020603050405020304" pitchFamily="18" charset="0"/>
                          </a:rPr>
                        </m:ctrlPr>
                      </m:sSupPr>
                      <m:e>
                        <m:r>
                          <a:rPr lang="en-GB" sz="1200" b="0" i="1" noProof="0" smtClean="0">
                            <a:solidFill>
                              <a:schemeClr val="tx1"/>
                            </a:solidFill>
                            <a:latin typeface="Cambria Math" panose="02040503050406030204" pitchFamily="18" charset="0"/>
                            <a:cs typeface="Times New Roman" panose="02020603050405020304" pitchFamily="18" charset="0"/>
                          </a:rPr>
                          <m:t>𝑥</m:t>
                        </m:r>
                      </m:e>
                      <m:sup>
                        <m:r>
                          <a:rPr lang="en-GB" sz="1200" b="0" i="1" noProof="0" smtClean="0">
                            <a:solidFill>
                              <a:schemeClr val="tx1"/>
                            </a:solidFill>
                            <a:latin typeface="Cambria Math" panose="02040503050406030204" pitchFamily="18" charset="0"/>
                            <a:cs typeface="Times New Roman" panose="02020603050405020304" pitchFamily="18" charset="0"/>
                          </a:rPr>
                          <m:t>3</m:t>
                        </m:r>
                      </m:sup>
                    </m:sSup>
                    <m:r>
                      <a:rPr lang="en-GB" sz="1200" b="0" i="1" noProof="0" smtClean="0">
                        <a:solidFill>
                          <a:schemeClr val="tx1"/>
                        </a:solidFill>
                        <a:latin typeface="Cambria Math" panose="02040503050406030204" pitchFamily="18" charset="0"/>
                        <a:cs typeface="Times New Roman" panose="02020603050405020304" pitchFamily="18" charset="0"/>
                      </a:rPr>
                      <m:t>−2</m:t>
                    </m:r>
                    <m:sSup>
                      <m:sSupPr>
                        <m:ctrlPr>
                          <a:rPr lang="en-GB" sz="1200" b="0" i="1" noProof="0" smtClean="0">
                            <a:solidFill>
                              <a:schemeClr val="tx1"/>
                            </a:solidFill>
                            <a:latin typeface="Cambria Math" panose="02040503050406030204" pitchFamily="18" charset="0"/>
                            <a:cs typeface="Times New Roman" panose="02020603050405020304" pitchFamily="18" charset="0"/>
                          </a:rPr>
                        </m:ctrlPr>
                      </m:sSupPr>
                      <m:e>
                        <m:r>
                          <a:rPr lang="en-GB" sz="1200" b="0" i="1" noProof="0" smtClean="0">
                            <a:solidFill>
                              <a:schemeClr val="tx1"/>
                            </a:solidFill>
                            <a:latin typeface="Cambria Math" panose="02040503050406030204" pitchFamily="18" charset="0"/>
                            <a:cs typeface="Times New Roman" panose="02020603050405020304" pitchFamily="18" charset="0"/>
                          </a:rPr>
                          <m:t>𝑥</m:t>
                        </m:r>
                      </m:e>
                      <m:sup>
                        <m:r>
                          <a:rPr lang="en-GB" sz="1200" b="0" i="1" noProof="0" smtClean="0">
                            <a:solidFill>
                              <a:schemeClr val="tx1"/>
                            </a:solidFill>
                            <a:latin typeface="Cambria Math" panose="02040503050406030204" pitchFamily="18" charset="0"/>
                            <a:cs typeface="Times New Roman" panose="02020603050405020304" pitchFamily="18" charset="0"/>
                          </a:rPr>
                          <m:t>2</m:t>
                        </m:r>
                      </m:sup>
                    </m:sSup>
                    <m:r>
                      <a:rPr lang="en-GB" sz="1200" b="0" i="1" noProof="0" smtClean="0">
                        <a:solidFill>
                          <a:schemeClr val="tx1"/>
                        </a:solidFill>
                        <a:latin typeface="Cambria Math" panose="02040503050406030204" pitchFamily="18" charset="0"/>
                        <a:cs typeface="Times New Roman" panose="02020603050405020304" pitchFamily="18" charset="0"/>
                      </a:rPr>
                      <m:t>=7</m:t>
                    </m:r>
                  </m:oMath>
                </a14:m>
                <a:endParaRPr lang="en-GB" sz="1200" noProof="0" dirty="0">
                  <a:solidFill>
                    <a:schemeClr val="tx1"/>
                  </a:solidFill>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25DEB70E-B331-8A96-F81F-AA31F970A4F4}"/>
                  </a:ext>
                </a:extLst>
              </p:cNvPr>
              <p:cNvSpPr>
                <a:spLocks noRot="1" noChangeAspect="1" noMove="1" noResize="1" noEditPoints="1" noAdjustHandles="1" noChangeArrowheads="1" noChangeShapeType="1" noTextEdit="1"/>
              </p:cNvSpPr>
              <p:nvPr/>
            </p:nvSpPr>
            <p:spPr>
              <a:xfrm>
                <a:off x="107669" y="4739467"/>
                <a:ext cx="3136739" cy="749244"/>
              </a:xfrm>
              <a:prstGeom prst="rect">
                <a:avLst/>
              </a:prstGeom>
              <a:blipFill>
                <a:blip r:embed="rId3"/>
                <a:stretch>
                  <a:fillRect l="-195" b="-56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699EAD5B-0AFF-9860-2D8A-F2FA8DCEC1FE}"/>
                  </a:ext>
                </a:extLst>
              </p:cNvPr>
              <p:cNvSpPr/>
              <p:nvPr/>
            </p:nvSpPr>
            <p:spPr>
              <a:xfrm>
                <a:off x="3544873" y="4739467"/>
                <a:ext cx="3136739" cy="766620"/>
              </a:xfrm>
              <a:prstGeom prst="rect">
                <a:avLst/>
              </a:prstGeom>
            </p:spPr>
            <p:txBody>
              <a:bodyPr wrap="square">
                <a:spAutoFit/>
              </a:bodyPr>
              <a:lstStyle/>
              <a:p>
                <a:pPr lvl="0" eaLnBrk="0" fontAlgn="base" hangingPunct="0">
                  <a:spcBef>
                    <a:spcPct val="0"/>
                  </a:spcBef>
                  <a:spcAft>
                    <a:spcPct val="0"/>
                  </a:spcAft>
                </a:pPr>
                <a:r>
                  <a:rPr lang="en-GB" sz="1200" noProof="0" dirty="0">
                    <a:cs typeface="Times New Roman" panose="02020603050405020304" pitchFamily="18" charset="0"/>
                  </a:rPr>
                  <a:t>b) Starting with </a:t>
                </a:r>
                <a14:m>
                  <m:oMath xmlns:m="http://schemas.openxmlformats.org/officeDocument/2006/math">
                    <m:sSub>
                      <m:sSubPr>
                        <m:ctrlPr>
                          <a:rPr lang="en-GB" sz="1200" i="1" noProof="0" smtClean="0">
                            <a:latin typeface="Cambria Math" panose="02040503050406030204" pitchFamily="18" charset="0"/>
                            <a:cs typeface="Times New Roman" panose="02020603050405020304" pitchFamily="18" charset="0"/>
                          </a:rPr>
                        </m:ctrlPr>
                      </m:sSubPr>
                      <m:e>
                        <m:r>
                          <a:rPr lang="en-GB" sz="1200" b="0" i="1" noProof="0" smtClean="0">
                            <a:latin typeface="Cambria Math" panose="02040503050406030204" pitchFamily="18" charset="0"/>
                            <a:cs typeface="Times New Roman" panose="02020603050405020304" pitchFamily="18" charset="0"/>
                          </a:rPr>
                          <m:t>𝑥</m:t>
                        </m:r>
                      </m:e>
                      <m:sub>
                        <m:r>
                          <a:rPr lang="en-GB" sz="1200" b="0" i="1" noProof="0" smtClean="0">
                            <a:latin typeface="Cambria Math" panose="02040503050406030204" pitchFamily="18" charset="0"/>
                            <a:cs typeface="Times New Roman" panose="02020603050405020304" pitchFamily="18" charset="0"/>
                          </a:rPr>
                          <m:t>0</m:t>
                        </m:r>
                      </m:sub>
                    </m:sSub>
                    <m:r>
                      <a:rPr lang="en-GB" sz="1200" b="0" i="1" noProof="0" smtClean="0">
                        <a:latin typeface="Cambria Math" panose="02040503050406030204" pitchFamily="18" charset="0"/>
                        <a:cs typeface="Times New Roman" panose="02020603050405020304" pitchFamily="18" charset="0"/>
                      </a:rPr>
                      <m:t>=0</m:t>
                    </m:r>
                  </m:oMath>
                </a14:m>
                <a:r>
                  <a:rPr lang="en-GB" sz="1200" noProof="0" dirty="0">
                    <a:solidFill>
                      <a:schemeClr val="tx1"/>
                    </a:solidFill>
                    <a:cs typeface="Times New Roman" panose="02020603050405020304" pitchFamily="18" charset="0"/>
                  </a:rPr>
                  <a:t>, use the iterative formula </a:t>
                </a:r>
                <a14:m>
                  <m:oMath xmlns:m="http://schemas.openxmlformats.org/officeDocument/2006/math">
                    <m:sSub>
                      <m:sSubPr>
                        <m:ctrlPr>
                          <a:rPr lang="en-GB" sz="1200" i="1" noProof="0" smtClean="0">
                            <a:solidFill>
                              <a:schemeClr val="tx1"/>
                            </a:solidFill>
                            <a:latin typeface="Cambria Math" panose="02040503050406030204" pitchFamily="18" charset="0"/>
                            <a:cs typeface="Times New Roman" panose="02020603050405020304" pitchFamily="18" charset="0"/>
                          </a:rPr>
                        </m:ctrlPr>
                      </m:sSubPr>
                      <m:e>
                        <m:r>
                          <a:rPr lang="en-GB" sz="1200" b="0" i="1" noProof="0" smtClean="0">
                            <a:solidFill>
                              <a:schemeClr val="tx1"/>
                            </a:solidFill>
                            <a:latin typeface="Cambria Math" panose="02040503050406030204" pitchFamily="18" charset="0"/>
                            <a:cs typeface="Times New Roman" panose="02020603050405020304" pitchFamily="18" charset="0"/>
                          </a:rPr>
                          <m:t>𝑥</m:t>
                        </m:r>
                      </m:e>
                      <m:sub>
                        <m:r>
                          <a:rPr lang="en-GB" sz="1200" b="0" i="1" noProof="0" smtClean="0">
                            <a:solidFill>
                              <a:schemeClr val="tx1"/>
                            </a:solidFill>
                            <a:latin typeface="Cambria Math" panose="02040503050406030204" pitchFamily="18" charset="0"/>
                            <a:cs typeface="Times New Roman" panose="02020603050405020304" pitchFamily="18" charset="0"/>
                          </a:rPr>
                          <m:t>𝑛</m:t>
                        </m:r>
                        <m:r>
                          <a:rPr lang="en-GB" sz="1200" b="0" i="1" noProof="0" smtClean="0">
                            <a:solidFill>
                              <a:schemeClr val="tx1"/>
                            </a:solidFill>
                            <a:latin typeface="Cambria Math" panose="02040503050406030204" pitchFamily="18" charset="0"/>
                            <a:cs typeface="Times New Roman" panose="02020603050405020304" pitchFamily="18" charset="0"/>
                          </a:rPr>
                          <m:t>+1</m:t>
                        </m:r>
                      </m:sub>
                    </m:sSub>
                    <m:r>
                      <a:rPr lang="en-GB" sz="1200" b="0" i="1" noProof="0" smtClean="0">
                        <a:solidFill>
                          <a:schemeClr val="tx1"/>
                        </a:solidFill>
                        <a:latin typeface="Cambria Math" panose="02040503050406030204" pitchFamily="18" charset="0"/>
                        <a:cs typeface="Times New Roman" panose="02020603050405020304" pitchFamily="18" charset="0"/>
                      </a:rPr>
                      <m:t>=</m:t>
                    </m:r>
                    <m:f>
                      <m:fPr>
                        <m:ctrlPr>
                          <a:rPr lang="en-GB" sz="1200" b="0" i="1" noProof="0" smtClean="0">
                            <a:solidFill>
                              <a:schemeClr val="tx1"/>
                            </a:solidFill>
                            <a:latin typeface="Cambria Math" panose="02040503050406030204" pitchFamily="18" charset="0"/>
                            <a:cs typeface="Times New Roman" panose="02020603050405020304" pitchFamily="18" charset="0"/>
                          </a:rPr>
                        </m:ctrlPr>
                      </m:fPr>
                      <m:num>
                        <m:r>
                          <a:rPr lang="en-GB" sz="1200" b="0" i="1" noProof="0" smtClean="0">
                            <a:solidFill>
                              <a:schemeClr val="tx1"/>
                            </a:solidFill>
                            <a:latin typeface="Cambria Math" panose="02040503050406030204" pitchFamily="18" charset="0"/>
                            <a:cs typeface="Times New Roman" panose="02020603050405020304" pitchFamily="18" charset="0"/>
                          </a:rPr>
                          <m:t>2</m:t>
                        </m:r>
                      </m:num>
                      <m:den>
                        <m:sSubSup>
                          <m:sSubSupPr>
                            <m:ctrlPr>
                              <a:rPr lang="en-GB" sz="1200" b="0" i="1" noProof="0" smtClean="0">
                                <a:solidFill>
                                  <a:schemeClr val="tx1"/>
                                </a:solidFill>
                                <a:latin typeface="Cambria Math" panose="02040503050406030204" pitchFamily="18" charset="0"/>
                                <a:cs typeface="Times New Roman" panose="02020603050405020304" pitchFamily="18" charset="0"/>
                              </a:rPr>
                            </m:ctrlPr>
                          </m:sSubSupPr>
                          <m:e>
                            <m:r>
                              <a:rPr lang="en-GB" sz="1200" b="0" i="1" noProof="0" smtClean="0">
                                <a:solidFill>
                                  <a:schemeClr val="tx1"/>
                                </a:solidFill>
                                <a:latin typeface="Cambria Math" panose="02040503050406030204" pitchFamily="18" charset="0"/>
                                <a:cs typeface="Times New Roman" panose="02020603050405020304" pitchFamily="18" charset="0"/>
                              </a:rPr>
                              <m:t>𝑥</m:t>
                            </m:r>
                          </m:e>
                          <m:sub>
                            <m:r>
                              <a:rPr lang="en-GB" sz="1200" b="0" i="1" noProof="0" smtClean="0">
                                <a:solidFill>
                                  <a:schemeClr val="tx1"/>
                                </a:solidFill>
                                <a:latin typeface="Cambria Math" panose="02040503050406030204" pitchFamily="18" charset="0"/>
                                <a:cs typeface="Times New Roman" panose="02020603050405020304" pitchFamily="18" charset="0"/>
                              </a:rPr>
                              <m:t>𝑛</m:t>
                            </m:r>
                          </m:sub>
                          <m:sup>
                            <m:r>
                              <a:rPr lang="en-GB" sz="1200" b="0" i="1" noProof="0" smtClean="0">
                                <a:solidFill>
                                  <a:schemeClr val="tx1"/>
                                </a:solidFill>
                                <a:latin typeface="Cambria Math" panose="02040503050406030204" pitchFamily="18" charset="0"/>
                                <a:cs typeface="Times New Roman" panose="02020603050405020304" pitchFamily="18" charset="0"/>
                              </a:rPr>
                              <m:t>2</m:t>
                            </m:r>
                          </m:sup>
                        </m:sSubSup>
                        <m:r>
                          <a:rPr lang="en-GB" sz="1200" b="0" i="1" noProof="0" smtClean="0">
                            <a:solidFill>
                              <a:schemeClr val="tx1"/>
                            </a:solidFill>
                            <a:latin typeface="Cambria Math" panose="02040503050406030204" pitchFamily="18" charset="0"/>
                            <a:cs typeface="Times New Roman" panose="02020603050405020304" pitchFamily="18" charset="0"/>
                          </a:rPr>
                          <m:t>+3</m:t>
                        </m:r>
                      </m:den>
                    </m:f>
                  </m:oMath>
                </a14:m>
                <a:r>
                  <a:rPr lang="en-GB" sz="1200" noProof="0" dirty="0">
                    <a:solidFill>
                      <a:schemeClr val="tx1"/>
                    </a:solidFill>
                    <a:cs typeface="Times New Roman" panose="02020603050405020304" pitchFamily="18" charset="0"/>
                  </a:rPr>
                  <a:t> </a:t>
                </a:r>
                <a:r>
                  <a:rPr lang="en-GB" sz="1200" b="1" noProof="0" dirty="0">
                    <a:solidFill>
                      <a:schemeClr val="tx1"/>
                    </a:solidFill>
                    <a:cs typeface="Times New Roman" panose="02020603050405020304" pitchFamily="18" charset="0"/>
                  </a:rPr>
                  <a:t>three times </a:t>
                </a:r>
                <a:r>
                  <a:rPr lang="en-GB" sz="1200" noProof="0" dirty="0">
                    <a:solidFill>
                      <a:schemeClr val="tx1"/>
                    </a:solidFill>
                    <a:cs typeface="Times New Roman" panose="02020603050405020304" pitchFamily="18" charset="0"/>
                  </a:rPr>
                  <a:t>to find an estimate for the solution to </a:t>
                </a:r>
                <a14:m>
                  <m:oMath xmlns:m="http://schemas.openxmlformats.org/officeDocument/2006/math">
                    <m:sSup>
                      <m:sSupPr>
                        <m:ctrlPr>
                          <a:rPr lang="en-GB" sz="1200" b="0" i="1" noProof="0" smtClean="0">
                            <a:solidFill>
                              <a:schemeClr val="tx1"/>
                            </a:solidFill>
                            <a:latin typeface="Cambria Math" panose="02040503050406030204" pitchFamily="18" charset="0"/>
                            <a:cs typeface="Times New Roman" panose="02020603050405020304" pitchFamily="18" charset="0"/>
                          </a:rPr>
                        </m:ctrlPr>
                      </m:sSupPr>
                      <m:e>
                        <m:r>
                          <a:rPr lang="en-GB" sz="1200" b="0" i="1" noProof="0" smtClean="0">
                            <a:solidFill>
                              <a:schemeClr val="tx1"/>
                            </a:solidFill>
                            <a:latin typeface="Cambria Math" panose="02040503050406030204" pitchFamily="18" charset="0"/>
                            <a:cs typeface="Times New Roman" panose="02020603050405020304" pitchFamily="18" charset="0"/>
                          </a:rPr>
                          <m:t>𝑥</m:t>
                        </m:r>
                      </m:e>
                      <m:sup>
                        <m:r>
                          <a:rPr lang="en-GB" sz="1200" b="0" i="1" noProof="0" smtClean="0">
                            <a:solidFill>
                              <a:schemeClr val="tx1"/>
                            </a:solidFill>
                            <a:latin typeface="Cambria Math" panose="02040503050406030204" pitchFamily="18" charset="0"/>
                            <a:cs typeface="Times New Roman" panose="02020603050405020304" pitchFamily="18" charset="0"/>
                          </a:rPr>
                          <m:t>3</m:t>
                        </m:r>
                      </m:sup>
                    </m:sSup>
                    <m:r>
                      <a:rPr lang="en-GB" sz="1200" b="0" i="1" noProof="0" smtClean="0">
                        <a:solidFill>
                          <a:schemeClr val="tx1"/>
                        </a:solidFill>
                        <a:latin typeface="Cambria Math" panose="02040503050406030204" pitchFamily="18" charset="0"/>
                        <a:cs typeface="Times New Roman" panose="02020603050405020304" pitchFamily="18" charset="0"/>
                      </a:rPr>
                      <m:t>+3</m:t>
                    </m:r>
                    <m:r>
                      <a:rPr lang="en-GB" sz="1200" b="0" i="1" noProof="0" smtClean="0">
                        <a:solidFill>
                          <a:schemeClr val="tx1"/>
                        </a:solidFill>
                        <a:latin typeface="Cambria Math" panose="02040503050406030204" pitchFamily="18" charset="0"/>
                        <a:cs typeface="Times New Roman" panose="02020603050405020304" pitchFamily="18" charset="0"/>
                      </a:rPr>
                      <m:t>𝑥</m:t>
                    </m:r>
                    <m:r>
                      <a:rPr lang="en-GB" sz="1200" b="0" i="1" noProof="0" smtClean="0">
                        <a:solidFill>
                          <a:schemeClr val="tx1"/>
                        </a:solidFill>
                        <a:latin typeface="Cambria Math" panose="02040503050406030204" pitchFamily="18" charset="0"/>
                        <a:cs typeface="Times New Roman" panose="02020603050405020304" pitchFamily="18" charset="0"/>
                      </a:rPr>
                      <m:t>=2</m:t>
                    </m:r>
                  </m:oMath>
                </a14:m>
                <a:endParaRPr lang="en-GB" sz="1200" noProof="0" dirty="0">
                  <a:solidFill>
                    <a:schemeClr val="tx1"/>
                  </a:solidFill>
                  <a:cs typeface="Times New Roman" panose="02020603050405020304" pitchFamily="18" charset="0"/>
                </a:endParaRPr>
              </a:p>
            </p:txBody>
          </p:sp>
        </mc:Choice>
        <mc:Fallback xmlns="">
          <p:sp>
            <p:nvSpPr>
              <p:cNvPr id="8" name="Rectangle 7">
                <a:extLst>
                  <a:ext uri="{FF2B5EF4-FFF2-40B4-BE49-F238E27FC236}">
                    <a16:creationId xmlns:a16="http://schemas.microsoft.com/office/drawing/2014/main" id="{699EAD5B-0AFF-9860-2D8A-F2FA8DCEC1FE}"/>
                  </a:ext>
                </a:extLst>
              </p:cNvPr>
              <p:cNvSpPr>
                <a:spLocks noRot="1" noChangeAspect="1" noMove="1" noResize="1" noEditPoints="1" noAdjustHandles="1" noChangeArrowheads="1" noChangeShapeType="1" noTextEdit="1"/>
              </p:cNvSpPr>
              <p:nvPr/>
            </p:nvSpPr>
            <p:spPr>
              <a:xfrm>
                <a:off x="3544873" y="4739467"/>
                <a:ext cx="3136739" cy="766620"/>
              </a:xfrm>
              <a:prstGeom prst="rect">
                <a:avLst/>
              </a:prstGeom>
              <a:blipFill>
                <a:blip r:embed="rId4"/>
                <a:stretch>
                  <a:fillRect l="-195" b="-3175"/>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9FF49EA0-E67F-7D83-C5C7-DF4C7614430E}"/>
              </a:ext>
            </a:extLst>
          </p:cNvPr>
          <p:cNvSpPr txBox="1"/>
          <p:nvPr/>
        </p:nvSpPr>
        <p:spPr>
          <a:xfrm>
            <a:off x="29291" y="4377086"/>
            <a:ext cx="1762598" cy="276999"/>
          </a:xfrm>
          <a:prstGeom prst="rect">
            <a:avLst/>
          </a:prstGeom>
          <a:solidFill>
            <a:srgbClr val="0070C0"/>
          </a:solidFill>
        </p:spPr>
        <p:txBody>
          <a:bodyPr wrap="none" rtlCol="0" anchor="ctr">
            <a:spAutoFit/>
          </a:bodyPr>
          <a:lstStyle/>
          <a:p>
            <a:pPr algn="r"/>
            <a:r>
              <a:rPr lang="en-GB" sz="1200" b="1" noProof="0" dirty="0">
                <a:solidFill>
                  <a:schemeClr val="bg1"/>
                </a:solidFill>
              </a:rPr>
              <a:t>INDEPENDENT PRACTICE</a:t>
            </a:r>
          </a:p>
        </p:txBody>
      </p:sp>
    </p:spTree>
    <p:extLst>
      <p:ext uri="{BB962C8B-B14F-4D97-AF65-F5344CB8AC3E}">
        <p14:creationId xmlns:p14="http://schemas.microsoft.com/office/powerpoint/2010/main" val="4215933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8DED240-653D-46C1-9B7E-33839B555A76}"/>
              </a:ext>
            </a:extLst>
          </p:cNvPr>
          <p:cNvGraphicFramePr>
            <a:graphicFrameLocks noGrp="1"/>
          </p:cNvGraphicFramePr>
          <p:nvPr>
            <p:extLst>
              <p:ext uri="{D42A27DB-BD31-4B8C-83A1-F6EECF244321}">
                <p14:modId xmlns:p14="http://schemas.microsoft.com/office/powerpoint/2010/main" val="2169663435"/>
              </p:ext>
            </p:extLst>
          </p:nvPr>
        </p:nvGraphicFramePr>
        <p:xfrm>
          <a:off x="102373" y="98342"/>
          <a:ext cx="6653254" cy="9528984"/>
        </p:xfrm>
        <a:graphic>
          <a:graphicData uri="http://schemas.openxmlformats.org/drawingml/2006/table">
            <a:tbl>
              <a:tblPr firstRow="1" bandRow="1">
                <a:tableStyleId>{5C22544A-7EE6-4342-B048-85BDC9FD1C3A}</a:tableStyleId>
              </a:tblPr>
              <a:tblGrid>
                <a:gridCol w="3326627">
                  <a:extLst>
                    <a:ext uri="{9D8B030D-6E8A-4147-A177-3AD203B41FA5}">
                      <a16:colId xmlns:a16="http://schemas.microsoft.com/office/drawing/2014/main" val="1074727312"/>
                    </a:ext>
                  </a:extLst>
                </a:gridCol>
                <a:gridCol w="3326627">
                  <a:extLst>
                    <a:ext uri="{9D8B030D-6E8A-4147-A177-3AD203B41FA5}">
                      <a16:colId xmlns:a16="http://schemas.microsoft.com/office/drawing/2014/main" val="1445554331"/>
                    </a:ext>
                  </a:extLst>
                </a:gridCol>
              </a:tblGrid>
              <a:tr h="4764492">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18494"/>
                  </a:ext>
                </a:extLst>
              </a:tr>
              <a:tr h="4764492">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1779601"/>
                  </a:ext>
                </a:extLst>
              </a:tr>
            </a:tbl>
          </a:graphicData>
        </a:graphic>
      </p:graphicFrame>
      <p:sp>
        <p:nvSpPr>
          <p:cNvPr id="26" name="Slide Number Placeholder 25"/>
          <p:cNvSpPr>
            <a:spLocks noGrp="1"/>
          </p:cNvSpPr>
          <p:nvPr>
            <p:ph type="sldNum" sz="quarter" idx="12"/>
          </p:nvPr>
        </p:nvSpPr>
        <p:spPr>
          <a:xfrm>
            <a:off x="5314950" y="9523641"/>
            <a:ext cx="1543050" cy="527403"/>
          </a:xfrm>
        </p:spPr>
        <p:txBody>
          <a:bodyPr/>
          <a:lstStyle/>
          <a:p>
            <a:fld id="{9BD3B4A0-BFF9-422C-B253-48BA94BE2F5B}" type="slidenum">
              <a:rPr lang="en-GB" noProof="0" smtClean="0"/>
              <a:t>64</a:t>
            </a:fld>
            <a:endParaRPr lang="en-GB" noProof="0" dirty="0"/>
          </a:p>
        </p:txBody>
      </p:sp>
      <mc:AlternateContent xmlns:mc="http://schemas.openxmlformats.org/markup-compatibility/2006" xmlns:a14="http://schemas.microsoft.com/office/drawing/2010/main">
        <mc:Choice Requires="a14">
          <p:sp>
            <p:nvSpPr>
              <p:cNvPr id="8" name="Rectangle 7"/>
              <p:cNvSpPr/>
              <p:nvPr/>
            </p:nvSpPr>
            <p:spPr>
              <a:xfrm>
                <a:off x="169897" y="98342"/>
                <a:ext cx="3233060" cy="748666"/>
              </a:xfrm>
              <a:prstGeom prst="rect">
                <a:avLst/>
              </a:prstGeom>
            </p:spPr>
            <p:txBody>
              <a:bodyPr wrap="square">
                <a:spAutoFit/>
              </a:bodyPr>
              <a:lstStyle/>
              <a:p>
                <a:pPr lvl="0" eaLnBrk="0" fontAlgn="base" hangingPunct="0">
                  <a:spcBef>
                    <a:spcPct val="0"/>
                  </a:spcBef>
                  <a:spcAft>
                    <a:spcPct val="0"/>
                  </a:spcAft>
                </a:pPr>
                <a:r>
                  <a:rPr lang="en-GB" sz="1200" noProof="0" dirty="0">
                    <a:cs typeface="Times New Roman" panose="02020603050405020304" pitchFamily="18" charset="0"/>
                  </a:rPr>
                  <a:t>c) Starting with </a:t>
                </a:r>
                <a14:m>
                  <m:oMath xmlns:m="http://schemas.openxmlformats.org/officeDocument/2006/math">
                    <m:sSub>
                      <m:sSubPr>
                        <m:ctrlPr>
                          <a:rPr lang="en-GB" sz="1200" i="1" noProof="0" smtClean="0">
                            <a:latin typeface="Cambria Math" panose="02040503050406030204" pitchFamily="18" charset="0"/>
                            <a:cs typeface="Times New Roman" panose="02020603050405020304" pitchFamily="18" charset="0"/>
                          </a:rPr>
                        </m:ctrlPr>
                      </m:sSubPr>
                      <m:e>
                        <m:r>
                          <a:rPr lang="en-GB" sz="1200" i="1" noProof="0" smtClean="0">
                            <a:latin typeface="Cambria Math" panose="02040503050406030204" pitchFamily="18" charset="0"/>
                            <a:cs typeface="Times New Roman" panose="02020603050405020304" pitchFamily="18" charset="0"/>
                          </a:rPr>
                          <m:t>𝑥</m:t>
                        </m:r>
                      </m:e>
                      <m:sub>
                        <m:r>
                          <a:rPr lang="en-GB" sz="1200" b="0" i="1" noProof="0" smtClean="0">
                            <a:latin typeface="Cambria Math" panose="02040503050406030204" pitchFamily="18" charset="0"/>
                            <a:cs typeface="Times New Roman" panose="02020603050405020304" pitchFamily="18" charset="0"/>
                          </a:rPr>
                          <m:t>0</m:t>
                        </m:r>
                      </m:sub>
                    </m:sSub>
                    <m:r>
                      <a:rPr lang="en-GB" sz="1200" i="1" noProof="0" smtClean="0">
                        <a:latin typeface="Cambria Math" panose="02040503050406030204" pitchFamily="18" charset="0"/>
                        <a:cs typeface="Times New Roman" panose="02020603050405020304" pitchFamily="18" charset="0"/>
                      </a:rPr>
                      <m:t>=</m:t>
                    </m:r>
                    <m:r>
                      <a:rPr lang="en-GB" sz="1200" b="0" i="1" noProof="0" smtClean="0">
                        <a:latin typeface="Cambria Math" panose="02040503050406030204" pitchFamily="18" charset="0"/>
                        <a:cs typeface="Times New Roman" panose="02020603050405020304" pitchFamily="18" charset="0"/>
                      </a:rPr>
                      <m:t>0</m:t>
                    </m:r>
                  </m:oMath>
                </a14:m>
                <a:r>
                  <a:rPr lang="en-GB" sz="1200" noProof="0" dirty="0">
                    <a:cs typeface="Times New Roman" panose="02020603050405020304" pitchFamily="18" charset="0"/>
                  </a:rPr>
                  <a:t>, use the iterative formula </a:t>
                </a:r>
                <a14:m>
                  <m:oMath xmlns:m="http://schemas.openxmlformats.org/officeDocument/2006/math">
                    <m:sSub>
                      <m:sSubPr>
                        <m:ctrlPr>
                          <a:rPr lang="en-GB" sz="1200" i="1" noProof="0" smtClean="0">
                            <a:latin typeface="Cambria Math" panose="02040503050406030204" pitchFamily="18" charset="0"/>
                            <a:cs typeface="Times New Roman" panose="02020603050405020304" pitchFamily="18" charset="0"/>
                          </a:rPr>
                        </m:ctrlPr>
                      </m:sSubPr>
                      <m:e>
                        <m:r>
                          <a:rPr lang="en-GB" sz="1200" i="1" noProof="0" smtClean="0">
                            <a:latin typeface="Cambria Math" panose="02040503050406030204" pitchFamily="18" charset="0"/>
                            <a:cs typeface="Times New Roman" panose="02020603050405020304" pitchFamily="18" charset="0"/>
                          </a:rPr>
                          <m:t>𝑥</m:t>
                        </m:r>
                      </m:e>
                      <m:sub>
                        <m:r>
                          <a:rPr lang="en-GB" sz="1200" i="1" noProof="0" smtClean="0">
                            <a:latin typeface="Cambria Math" panose="02040503050406030204" pitchFamily="18" charset="0"/>
                            <a:cs typeface="Times New Roman" panose="02020603050405020304" pitchFamily="18" charset="0"/>
                          </a:rPr>
                          <m:t>𝑛</m:t>
                        </m:r>
                        <m:r>
                          <a:rPr lang="en-GB" sz="1200" i="1" noProof="0" smtClean="0">
                            <a:latin typeface="Cambria Math" panose="02040503050406030204" pitchFamily="18" charset="0"/>
                            <a:cs typeface="Times New Roman" panose="02020603050405020304" pitchFamily="18" charset="0"/>
                          </a:rPr>
                          <m:t>+1</m:t>
                        </m:r>
                      </m:sub>
                    </m:sSub>
                    <m:r>
                      <a:rPr lang="en-GB" sz="1200" i="1" noProof="0" smtClean="0">
                        <a:latin typeface="Cambria Math" panose="02040503050406030204" pitchFamily="18" charset="0"/>
                        <a:cs typeface="Times New Roman" panose="02020603050405020304" pitchFamily="18" charset="0"/>
                      </a:rPr>
                      <m:t>=</m:t>
                    </m:r>
                    <m:f>
                      <m:fPr>
                        <m:ctrlPr>
                          <a:rPr lang="en-GB" sz="1200" i="1" noProof="0" smtClean="0">
                            <a:latin typeface="Cambria Math" panose="02040503050406030204" pitchFamily="18" charset="0"/>
                            <a:cs typeface="Times New Roman" panose="02020603050405020304" pitchFamily="18" charset="0"/>
                          </a:rPr>
                        </m:ctrlPr>
                      </m:fPr>
                      <m:num>
                        <m:r>
                          <a:rPr lang="en-GB" sz="1200" b="0" i="1" noProof="0" smtClean="0">
                            <a:latin typeface="Cambria Math" panose="02040503050406030204" pitchFamily="18" charset="0"/>
                            <a:cs typeface="Times New Roman" panose="02020603050405020304" pitchFamily="18" charset="0"/>
                          </a:rPr>
                          <m:t>1</m:t>
                        </m:r>
                      </m:num>
                      <m:den>
                        <m:r>
                          <a:rPr lang="en-GB" sz="1200" b="0" i="1" noProof="0" smtClean="0">
                            <a:latin typeface="Cambria Math" panose="02040503050406030204" pitchFamily="18" charset="0"/>
                            <a:cs typeface="Times New Roman" panose="02020603050405020304" pitchFamily="18" charset="0"/>
                          </a:rPr>
                          <m:t>4</m:t>
                        </m:r>
                      </m:den>
                    </m:f>
                    <m:r>
                      <a:rPr lang="en-GB" sz="1200" i="1" noProof="0" smtClean="0">
                        <a:latin typeface="Cambria Math" panose="02040503050406030204" pitchFamily="18" charset="0"/>
                        <a:cs typeface="Times New Roman" panose="02020603050405020304" pitchFamily="18" charset="0"/>
                      </a:rPr>
                      <m:t>+</m:t>
                    </m:r>
                    <m:f>
                      <m:fPr>
                        <m:ctrlPr>
                          <a:rPr lang="en-GB" sz="1200" b="0" i="1" noProof="0" smtClean="0">
                            <a:latin typeface="Cambria Math" panose="02040503050406030204" pitchFamily="18" charset="0"/>
                            <a:cs typeface="Times New Roman" panose="02020603050405020304" pitchFamily="18" charset="0"/>
                          </a:rPr>
                        </m:ctrlPr>
                      </m:fPr>
                      <m:num>
                        <m:sSubSup>
                          <m:sSubSupPr>
                            <m:ctrlPr>
                              <a:rPr lang="en-GB" sz="1200" i="1" noProof="0" smtClean="0">
                                <a:latin typeface="Cambria Math" panose="02040503050406030204" pitchFamily="18" charset="0"/>
                                <a:cs typeface="Times New Roman" panose="02020603050405020304" pitchFamily="18" charset="0"/>
                              </a:rPr>
                            </m:ctrlPr>
                          </m:sSubSupPr>
                          <m:e>
                            <m:r>
                              <a:rPr lang="en-GB" sz="1200" i="1" noProof="0" smtClean="0">
                                <a:latin typeface="Cambria Math" panose="02040503050406030204" pitchFamily="18" charset="0"/>
                                <a:cs typeface="Times New Roman" panose="02020603050405020304" pitchFamily="18" charset="0"/>
                              </a:rPr>
                              <m:t>𝑥</m:t>
                            </m:r>
                          </m:e>
                          <m:sub>
                            <m:r>
                              <a:rPr lang="en-GB" sz="1200" i="1" noProof="0" smtClean="0">
                                <a:latin typeface="Cambria Math" panose="02040503050406030204" pitchFamily="18" charset="0"/>
                                <a:cs typeface="Times New Roman" panose="02020603050405020304" pitchFamily="18" charset="0"/>
                              </a:rPr>
                              <m:t>𝑛</m:t>
                            </m:r>
                          </m:sub>
                          <m:sup>
                            <m:r>
                              <a:rPr lang="en-GB" sz="1200" i="1" noProof="0" smtClean="0">
                                <a:latin typeface="Cambria Math" panose="02040503050406030204" pitchFamily="18" charset="0"/>
                                <a:cs typeface="Times New Roman" panose="02020603050405020304" pitchFamily="18" charset="0"/>
                              </a:rPr>
                              <m:t>2</m:t>
                            </m:r>
                          </m:sup>
                        </m:sSubSup>
                      </m:num>
                      <m:den>
                        <m:r>
                          <a:rPr lang="en-GB" sz="1200" b="0" i="1" noProof="0" smtClean="0">
                            <a:latin typeface="Cambria Math" panose="02040503050406030204" pitchFamily="18" charset="0"/>
                            <a:cs typeface="Times New Roman" panose="02020603050405020304" pitchFamily="18" charset="0"/>
                          </a:rPr>
                          <m:t>4</m:t>
                        </m:r>
                      </m:den>
                    </m:f>
                  </m:oMath>
                </a14:m>
                <a:r>
                  <a:rPr lang="en-GB" sz="1200" b="1" noProof="0" dirty="0">
                    <a:cs typeface="Times New Roman" panose="02020603050405020304" pitchFamily="18" charset="0"/>
                  </a:rPr>
                  <a:t>  twice, </a:t>
                </a:r>
                <a:r>
                  <a:rPr lang="en-GB" sz="1200" noProof="0" dirty="0">
                    <a:cs typeface="Times New Roman" panose="02020603050405020304" pitchFamily="18" charset="0"/>
                  </a:rPr>
                  <a:t>to find an estimate for the solution of </a:t>
                </a:r>
                <a14:m>
                  <m:oMath xmlns:m="http://schemas.openxmlformats.org/officeDocument/2006/math">
                    <m:sSup>
                      <m:sSupPr>
                        <m:ctrlPr>
                          <a:rPr lang="en-GB" sz="1200" i="1" noProof="0" smtClean="0">
                            <a:latin typeface="Cambria Math" panose="02040503050406030204" pitchFamily="18" charset="0"/>
                            <a:cs typeface="Times New Roman" panose="02020603050405020304" pitchFamily="18" charset="0"/>
                          </a:rPr>
                        </m:ctrlPr>
                      </m:sSupPr>
                      <m:e>
                        <m:r>
                          <a:rPr lang="en-GB" sz="1200" i="1" noProof="0" smtClean="0">
                            <a:latin typeface="Cambria Math" panose="02040503050406030204" pitchFamily="18" charset="0"/>
                            <a:cs typeface="Times New Roman" panose="02020603050405020304" pitchFamily="18" charset="0"/>
                          </a:rPr>
                          <m:t>𝑥</m:t>
                        </m:r>
                      </m:e>
                      <m:sup>
                        <m:r>
                          <a:rPr lang="en-GB" sz="1200" i="1" noProof="0" smtClean="0">
                            <a:latin typeface="Cambria Math" panose="02040503050406030204" pitchFamily="18" charset="0"/>
                            <a:cs typeface="Times New Roman" panose="02020603050405020304" pitchFamily="18" charset="0"/>
                          </a:rPr>
                          <m:t>3</m:t>
                        </m:r>
                      </m:sup>
                    </m:sSup>
                    <m:r>
                      <a:rPr lang="en-GB" sz="1200" b="0" i="1" noProof="0" smtClean="0">
                        <a:latin typeface="Cambria Math" panose="02040503050406030204" pitchFamily="18" charset="0"/>
                        <a:cs typeface="Times New Roman" panose="02020603050405020304" pitchFamily="18" charset="0"/>
                      </a:rPr>
                      <m:t>+4</m:t>
                    </m:r>
                    <m:r>
                      <a:rPr lang="en-GB" sz="1200" i="1" noProof="0" smtClean="0">
                        <a:latin typeface="Cambria Math" panose="02040503050406030204" pitchFamily="18" charset="0"/>
                        <a:cs typeface="Times New Roman" panose="02020603050405020304" pitchFamily="18" charset="0"/>
                      </a:rPr>
                      <m:t>𝑥</m:t>
                    </m:r>
                    <m:r>
                      <a:rPr lang="en-GB" sz="1200" i="1" noProof="0" smtClean="0">
                        <a:latin typeface="Cambria Math" panose="02040503050406030204" pitchFamily="18" charset="0"/>
                        <a:cs typeface="Times New Roman" panose="02020603050405020304" pitchFamily="18" charset="0"/>
                      </a:rPr>
                      <m:t>=1</m:t>
                    </m:r>
                  </m:oMath>
                </a14:m>
                <a:endParaRPr lang="en-GB" sz="1200" noProof="0" dirty="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169897" y="98342"/>
                <a:ext cx="3233060" cy="748666"/>
              </a:xfrm>
              <a:prstGeom prst="rect">
                <a:avLst/>
              </a:prstGeom>
              <a:blipFill>
                <a:blip r:embed="rId2"/>
                <a:stretch>
                  <a:fillRect l="-189" b="-56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3522567" y="98342"/>
                <a:ext cx="3233060" cy="869982"/>
              </a:xfrm>
              <a:prstGeom prst="rect">
                <a:avLst/>
              </a:prstGeom>
            </p:spPr>
            <p:txBody>
              <a:bodyPr wrap="square">
                <a:spAutoFit/>
              </a:bodyPr>
              <a:lstStyle/>
              <a:p>
                <a:pPr lvl="0" eaLnBrk="0" fontAlgn="base" hangingPunct="0">
                  <a:spcBef>
                    <a:spcPct val="0"/>
                  </a:spcBef>
                  <a:spcAft>
                    <a:spcPct val="0"/>
                  </a:spcAft>
                </a:pPr>
                <a:r>
                  <a:rPr lang="en-GB" sz="1200" noProof="0" dirty="0">
                    <a:cs typeface="Times New Roman" panose="02020603050405020304" pitchFamily="18" charset="0"/>
                  </a:rPr>
                  <a:t>d) Starting with </a:t>
                </a:r>
                <a14:m>
                  <m:oMath xmlns:m="http://schemas.openxmlformats.org/officeDocument/2006/math">
                    <m:sSub>
                      <m:sSubPr>
                        <m:ctrlPr>
                          <a:rPr lang="en-GB" sz="1200" i="1" noProof="0" smtClean="0">
                            <a:latin typeface="Cambria Math" panose="02040503050406030204" pitchFamily="18" charset="0"/>
                            <a:cs typeface="Times New Roman" panose="02020603050405020304" pitchFamily="18" charset="0"/>
                          </a:rPr>
                        </m:ctrlPr>
                      </m:sSubPr>
                      <m:e>
                        <m:r>
                          <a:rPr lang="en-GB" sz="1200" i="1" noProof="0" smtClean="0">
                            <a:latin typeface="Cambria Math" panose="02040503050406030204" pitchFamily="18" charset="0"/>
                            <a:cs typeface="Times New Roman" panose="02020603050405020304" pitchFamily="18" charset="0"/>
                          </a:rPr>
                          <m:t>𝑥</m:t>
                        </m:r>
                      </m:e>
                      <m:sub>
                        <m:r>
                          <a:rPr lang="en-GB" sz="1200" b="0" i="1" noProof="0" smtClean="0">
                            <a:latin typeface="Cambria Math" panose="02040503050406030204" pitchFamily="18" charset="0"/>
                            <a:cs typeface="Times New Roman" panose="02020603050405020304" pitchFamily="18" charset="0"/>
                          </a:rPr>
                          <m:t>0</m:t>
                        </m:r>
                      </m:sub>
                    </m:sSub>
                    <m:r>
                      <a:rPr lang="en-GB" sz="1200" i="1" noProof="0" smtClean="0">
                        <a:latin typeface="Cambria Math" panose="02040503050406030204" pitchFamily="18" charset="0"/>
                        <a:cs typeface="Times New Roman" panose="02020603050405020304" pitchFamily="18" charset="0"/>
                      </a:rPr>
                      <m:t>=</m:t>
                    </m:r>
                    <m:r>
                      <a:rPr lang="en-GB" sz="1200" b="0" i="1" noProof="0" smtClean="0">
                        <a:latin typeface="Cambria Math" panose="02040503050406030204" pitchFamily="18" charset="0"/>
                        <a:cs typeface="Times New Roman" panose="02020603050405020304" pitchFamily="18" charset="0"/>
                      </a:rPr>
                      <m:t>4.5</m:t>
                    </m:r>
                  </m:oMath>
                </a14:m>
                <a:r>
                  <a:rPr lang="en-GB" sz="1200" noProof="0" dirty="0">
                    <a:cs typeface="Times New Roman" panose="02020603050405020304" pitchFamily="18" charset="0"/>
                  </a:rPr>
                  <a:t>, use the iterative formula </a:t>
                </a:r>
                <a14:m>
                  <m:oMath xmlns:m="http://schemas.openxmlformats.org/officeDocument/2006/math">
                    <m:sSub>
                      <m:sSubPr>
                        <m:ctrlPr>
                          <a:rPr lang="en-GB" sz="1200" i="1" noProof="0" smtClean="0">
                            <a:latin typeface="Cambria Math" panose="02040503050406030204" pitchFamily="18" charset="0"/>
                            <a:cs typeface="Times New Roman" panose="02020603050405020304" pitchFamily="18" charset="0"/>
                          </a:rPr>
                        </m:ctrlPr>
                      </m:sSubPr>
                      <m:e>
                        <m:r>
                          <a:rPr lang="en-GB" sz="1200" i="1" noProof="0" smtClean="0">
                            <a:latin typeface="Cambria Math" panose="02040503050406030204" pitchFamily="18" charset="0"/>
                            <a:cs typeface="Times New Roman" panose="02020603050405020304" pitchFamily="18" charset="0"/>
                          </a:rPr>
                          <m:t>𝑥</m:t>
                        </m:r>
                      </m:e>
                      <m:sub>
                        <m:r>
                          <a:rPr lang="en-GB" sz="1200" i="1" noProof="0" smtClean="0">
                            <a:latin typeface="Cambria Math" panose="02040503050406030204" pitchFamily="18" charset="0"/>
                            <a:cs typeface="Times New Roman" panose="02020603050405020304" pitchFamily="18" charset="0"/>
                          </a:rPr>
                          <m:t>𝑛</m:t>
                        </m:r>
                        <m:r>
                          <a:rPr lang="en-GB" sz="1200" i="1" noProof="0" smtClean="0">
                            <a:latin typeface="Cambria Math" panose="02040503050406030204" pitchFamily="18" charset="0"/>
                            <a:cs typeface="Times New Roman" panose="02020603050405020304" pitchFamily="18" charset="0"/>
                          </a:rPr>
                          <m:t>+1</m:t>
                        </m:r>
                      </m:sub>
                    </m:sSub>
                    <m:r>
                      <a:rPr lang="en-GB" sz="1200" i="1" noProof="0" smtClean="0">
                        <a:latin typeface="Cambria Math" panose="02040503050406030204" pitchFamily="18" charset="0"/>
                        <a:cs typeface="Times New Roman" panose="02020603050405020304" pitchFamily="18" charset="0"/>
                      </a:rPr>
                      <m:t>=</m:t>
                    </m:r>
                    <m:r>
                      <a:rPr lang="en-GB" sz="1200" b="0" i="1" noProof="0" smtClean="0">
                        <a:latin typeface="Cambria Math" panose="02040503050406030204" pitchFamily="18" charset="0"/>
                        <a:cs typeface="Times New Roman" panose="02020603050405020304" pitchFamily="18" charset="0"/>
                      </a:rPr>
                      <m:t> </m:t>
                    </m:r>
                    <m:rad>
                      <m:radPr>
                        <m:ctrlP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ctrlPr>
                      </m:radPr>
                      <m:deg>
                        <m:r>
                          <a:rPr lang="en-GB" sz="1200" b="0" noProof="0" smtClean="0">
                            <a:latin typeface="Cambria Math" panose="02040503050406030204" pitchFamily="18" charset="0"/>
                            <a:ea typeface="Cambria Math" panose="02040503050406030204" pitchFamily="18" charset="0"/>
                            <a:cs typeface="Times New Roman" panose="02020603050405020304" pitchFamily="18" charset="0"/>
                          </a:rPr>
                          <m:t>3</m:t>
                        </m:r>
                      </m:deg>
                      <m:e>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30+10</m:t>
                        </m:r>
                        <m:sSub>
                          <m:sSubPr>
                            <m:ctrlP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𝑥</m:t>
                            </m:r>
                          </m:e>
                          <m:sub>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𝑛</m:t>
                            </m:r>
                          </m:sub>
                        </m:sSub>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 </m:t>
                        </m:r>
                      </m:e>
                    </m:rad>
                  </m:oMath>
                </a14:m>
                <a:r>
                  <a:rPr lang="en-GB" sz="1200" noProof="0" dirty="0">
                    <a:cs typeface="Times New Roman" panose="02020603050405020304" pitchFamily="18" charset="0"/>
                  </a:rPr>
                  <a:t>to find an estimate for the solution to </a:t>
                </a:r>
                <a14:m>
                  <m:oMath xmlns:m="http://schemas.openxmlformats.org/officeDocument/2006/math">
                    <m:sSup>
                      <m:sSupPr>
                        <m:ctrlPr>
                          <a:rPr lang="en-GB" sz="1200" i="1" noProof="0" smtClean="0">
                            <a:latin typeface="Cambria Math" panose="02040503050406030204" pitchFamily="18" charset="0"/>
                            <a:cs typeface="Times New Roman" panose="02020603050405020304" pitchFamily="18" charset="0"/>
                          </a:rPr>
                        </m:ctrlPr>
                      </m:sSupPr>
                      <m:e>
                        <m:r>
                          <a:rPr lang="en-GB" sz="1200" i="1" noProof="0" smtClean="0">
                            <a:latin typeface="Cambria Math" panose="02040503050406030204" pitchFamily="18" charset="0"/>
                            <a:cs typeface="Times New Roman" panose="02020603050405020304" pitchFamily="18" charset="0"/>
                          </a:rPr>
                          <m:t>𝑥</m:t>
                        </m:r>
                      </m:e>
                      <m:sup>
                        <m:r>
                          <a:rPr lang="en-GB" sz="1200" i="1" noProof="0" smtClean="0">
                            <a:latin typeface="Cambria Math" panose="02040503050406030204" pitchFamily="18" charset="0"/>
                            <a:cs typeface="Times New Roman" panose="02020603050405020304" pitchFamily="18" charset="0"/>
                          </a:rPr>
                          <m:t>3</m:t>
                        </m:r>
                      </m:sup>
                    </m:sSup>
                    <m:r>
                      <a:rPr lang="en-GB" sz="1200" b="0" i="1" noProof="0" smtClean="0">
                        <a:latin typeface="Cambria Math" panose="02040503050406030204" pitchFamily="18" charset="0"/>
                        <a:cs typeface="Times New Roman" panose="02020603050405020304" pitchFamily="18" charset="0"/>
                      </a:rPr>
                      <m:t>−10</m:t>
                    </m:r>
                    <m:r>
                      <a:rPr lang="en-GB" sz="1200" i="1" noProof="0" smtClean="0">
                        <a:latin typeface="Cambria Math" panose="02040503050406030204" pitchFamily="18" charset="0"/>
                        <a:cs typeface="Times New Roman" panose="02020603050405020304" pitchFamily="18" charset="0"/>
                      </a:rPr>
                      <m:t>𝑥</m:t>
                    </m:r>
                    <m:r>
                      <a:rPr lang="en-GB" sz="1200" i="1" noProof="0" smtClean="0">
                        <a:latin typeface="Cambria Math" panose="02040503050406030204" pitchFamily="18" charset="0"/>
                        <a:cs typeface="Times New Roman" panose="02020603050405020304" pitchFamily="18" charset="0"/>
                      </a:rPr>
                      <m:t>=30</m:t>
                    </m:r>
                  </m:oMath>
                </a14:m>
                <a:r>
                  <a:rPr lang="en-GB" sz="1200" noProof="0" dirty="0">
                    <a:cs typeface="Times New Roman" panose="02020603050405020304" pitchFamily="18" charset="0"/>
                  </a:rPr>
                  <a:t> to 2 decimal places. </a:t>
                </a:r>
              </a:p>
            </p:txBody>
          </p:sp>
        </mc:Choice>
        <mc:Fallback xmlns="">
          <p:sp>
            <p:nvSpPr>
              <p:cNvPr id="28" name="Rectangle 27"/>
              <p:cNvSpPr>
                <a:spLocks noRot="1" noChangeAspect="1" noMove="1" noResize="1" noEditPoints="1" noAdjustHandles="1" noChangeArrowheads="1" noChangeShapeType="1" noTextEdit="1"/>
              </p:cNvSpPr>
              <p:nvPr/>
            </p:nvSpPr>
            <p:spPr>
              <a:xfrm>
                <a:off x="3522567" y="98342"/>
                <a:ext cx="3233060" cy="869982"/>
              </a:xfrm>
              <a:prstGeom prst="rect">
                <a:avLst/>
              </a:prstGeom>
              <a:blipFill>
                <a:blip r:embed="rId3"/>
                <a:stretch>
                  <a:fillRect l="-189" b="-4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169897" y="4923186"/>
                <a:ext cx="3226436" cy="869982"/>
              </a:xfrm>
              <a:prstGeom prst="rect">
                <a:avLst/>
              </a:prstGeom>
            </p:spPr>
            <p:txBody>
              <a:bodyPr wrap="square">
                <a:spAutoFit/>
              </a:bodyPr>
              <a:lstStyle/>
              <a:p>
                <a:pPr lvl="0" eaLnBrk="0" fontAlgn="base" hangingPunct="0">
                  <a:spcBef>
                    <a:spcPct val="0"/>
                  </a:spcBef>
                  <a:spcAft>
                    <a:spcPct val="0"/>
                  </a:spcAft>
                </a:pPr>
                <a:r>
                  <a:rPr lang="en-GB" sz="1200" noProof="0" dirty="0">
                    <a:cs typeface="Times New Roman" panose="02020603050405020304" pitchFamily="18" charset="0"/>
                  </a:rPr>
                  <a:t>e) Starting with </a:t>
                </a:r>
                <a14:m>
                  <m:oMath xmlns:m="http://schemas.openxmlformats.org/officeDocument/2006/math">
                    <m:sSub>
                      <m:sSubPr>
                        <m:ctrlPr>
                          <a:rPr lang="en-GB" sz="1200" i="1" noProof="0" smtClean="0">
                            <a:latin typeface="Cambria Math" panose="02040503050406030204" pitchFamily="18" charset="0"/>
                            <a:cs typeface="Times New Roman" panose="02020603050405020304" pitchFamily="18" charset="0"/>
                          </a:rPr>
                        </m:ctrlPr>
                      </m:sSubPr>
                      <m:e>
                        <m:r>
                          <a:rPr lang="en-GB" sz="1200" i="1" noProof="0" smtClean="0">
                            <a:latin typeface="Cambria Math" panose="02040503050406030204" pitchFamily="18" charset="0"/>
                            <a:cs typeface="Times New Roman" panose="02020603050405020304" pitchFamily="18" charset="0"/>
                          </a:rPr>
                          <m:t>𝑥</m:t>
                        </m:r>
                      </m:e>
                      <m:sub>
                        <m:r>
                          <a:rPr lang="en-GB" sz="1200" b="0" i="1" noProof="0" smtClean="0">
                            <a:latin typeface="Cambria Math" panose="02040503050406030204" pitchFamily="18" charset="0"/>
                            <a:cs typeface="Times New Roman" panose="02020603050405020304" pitchFamily="18" charset="0"/>
                          </a:rPr>
                          <m:t>0</m:t>
                        </m:r>
                      </m:sub>
                    </m:sSub>
                    <m:r>
                      <a:rPr lang="en-GB" sz="1200" i="1" noProof="0" smtClean="0">
                        <a:latin typeface="Cambria Math" panose="02040503050406030204" pitchFamily="18" charset="0"/>
                        <a:cs typeface="Times New Roman" panose="02020603050405020304" pitchFamily="18" charset="0"/>
                      </a:rPr>
                      <m:t>=</m:t>
                    </m:r>
                    <m:r>
                      <a:rPr lang="en-GB" sz="1200" b="0" i="1" noProof="0" smtClean="0">
                        <a:latin typeface="Cambria Math" panose="02040503050406030204" pitchFamily="18" charset="0"/>
                        <a:cs typeface="Times New Roman" panose="02020603050405020304" pitchFamily="18" charset="0"/>
                      </a:rPr>
                      <m:t>2.5</m:t>
                    </m:r>
                  </m:oMath>
                </a14:m>
                <a:r>
                  <a:rPr lang="en-GB" sz="1200" noProof="0" dirty="0">
                    <a:cs typeface="Times New Roman" panose="02020603050405020304" pitchFamily="18" charset="0"/>
                  </a:rPr>
                  <a:t>, use the iterative formula </a:t>
                </a:r>
                <a14:m>
                  <m:oMath xmlns:m="http://schemas.openxmlformats.org/officeDocument/2006/math">
                    <m:sSub>
                      <m:sSubPr>
                        <m:ctrlPr>
                          <a:rPr lang="en-GB" sz="1200" i="1" noProof="0" smtClean="0">
                            <a:latin typeface="Cambria Math" panose="02040503050406030204" pitchFamily="18" charset="0"/>
                            <a:cs typeface="Times New Roman" panose="02020603050405020304" pitchFamily="18" charset="0"/>
                          </a:rPr>
                        </m:ctrlPr>
                      </m:sSubPr>
                      <m:e>
                        <m:r>
                          <a:rPr lang="en-GB" sz="1200" i="1" noProof="0" smtClean="0">
                            <a:latin typeface="Cambria Math" panose="02040503050406030204" pitchFamily="18" charset="0"/>
                            <a:cs typeface="Times New Roman" panose="02020603050405020304" pitchFamily="18" charset="0"/>
                          </a:rPr>
                          <m:t>𝑥</m:t>
                        </m:r>
                      </m:e>
                      <m:sub>
                        <m:r>
                          <a:rPr lang="en-GB" sz="1200" i="1" noProof="0" smtClean="0">
                            <a:latin typeface="Cambria Math" panose="02040503050406030204" pitchFamily="18" charset="0"/>
                            <a:cs typeface="Times New Roman" panose="02020603050405020304" pitchFamily="18" charset="0"/>
                          </a:rPr>
                          <m:t>𝑛</m:t>
                        </m:r>
                        <m:r>
                          <a:rPr lang="en-GB" sz="1200" i="1" noProof="0" smtClean="0">
                            <a:latin typeface="Cambria Math" panose="02040503050406030204" pitchFamily="18" charset="0"/>
                            <a:cs typeface="Times New Roman" panose="02020603050405020304" pitchFamily="18" charset="0"/>
                          </a:rPr>
                          <m:t>+1</m:t>
                        </m:r>
                      </m:sub>
                    </m:sSub>
                    <m:r>
                      <a:rPr lang="en-GB" sz="1200" i="1" noProof="0" smtClean="0">
                        <a:latin typeface="Cambria Math" panose="02040503050406030204" pitchFamily="18" charset="0"/>
                        <a:cs typeface="Times New Roman" panose="02020603050405020304" pitchFamily="18" charset="0"/>
                      </a:rPr>
                      <m:t>=</m:t>
                    </m:r>
                    <m:rad>
                      <m:radPr>
                        <m:ctrlP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ctrlPr>
                      </m:radPr>
                      <m:deg>
                        <m:r>
                          <a:rPr lang="en-GB" sz="1200" b="0" noProof="0" smtClean="0">
                            <a:latin typeface="Cambria Math" panose="02040503050406030204" pitchFamily="18" charset="0"/>
                            <a:ea typeface="Cambria Math" panose="02040503050406030204" pitchFamily="18" charset="0"/>
                            <a:cs typeface="Times New Roman" panose="02020603050405020304" pitchFamily="18" charset="0"/>
                          </a:rPr>
                          <m:t>3</m:t>
                        </m:r>
                      </m:deg>
                      <m:e>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5</m:t>
                        </m:r>
                        <m:sSub>
                          <m:sSubPr>
                            <m:ctrlP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𝑥</m:t>
                            </m:r>
                          </m:e>
                          <m:sub>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𝑛</m:t>
                            </m:r>
                          </m:sub>
                        </m:sSub>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+4</m:t>
                        </m:r>
                      </m:e>
                    </m:rad>
                  </m:oMath>
                </a14:m>
                <a:r>
                  <a:rPr lang="en-GB" sz="1200" b="1" noProof="0" dirty="0">
                    <a:cs typeface="Times New Roman" panose="02020603050405020304" pitchFamily="18" charset="0"/>
                  </a:rPr>
                  <a:t>  </a:t>
                </a:r>
                <a:r>
                  <a:rPr lang="en-GB" sz="1200" noProof="0" dirty="0">
                    <a:cs typeface="Times New Roman" panose="02020603050405020304" pitchFamily="18" charset="0"/>
                  </a:rPr>
                  <a:t>to find an estimate for the solution to </a:t>
                </a:r>
                <a14:m>
                  <m:oMath xmlns:m="http://schemas.openxmlformats.org/officeDocument/2006/math">
                    <m:sSup>
                      <m:sSupPr>
                        <m:ctrlPr>
                          <a:rPr lang="en-GB" sz="1200" i="1" noProof="0" smtClean="0">
                            <a:latin typeface="Cambria Math" panose="02040503050406030204" pitchFamily="18" charset="0"/>
                            <a:cs typeface="Times New Roman" panose="02020603050405020304" pitchFamily="18" charset="0"/>
                          </a:rPr>
                        </m:ctrlPr>
                      </m:sSupPr>
                      <m:e>
                        <m:r>
                          <a:rPr lang="en-GB" sz="1200" i="1" noProof="0" smtClean="0">
                            <a:latin typeface="Cambria Math" panose="02040503050406030204" pitchFamily="18" charset="0"/>
                            <a:cs typeface="Times New Roman" panose="02020603050405020304" pitchFamily="18" charset="0"/>
                          </a:rPr>
                          <m:t>𝑥</m:t>
                        </m:r>
                      </m:e>
                      <m:sup>
                        <m:r>
                          <a:rPr lang="en-GB" sz="1200" i="1" noProof="0" smtClean="0">
                            <a:latin typeface="Cambria Math" panose="02040503050406030204" pitchFamily="18" charset="0"/>
                            <a:cs typeface="Times New Roman" panose="02020603050405020304" pitchFamily="18" charset="0"/>
                          </a:rPr>
                          <m:t>3</m:t>
                        </m:r>
                      </m:sup>
                    </m:sSup>
                    <m:r>
                      <a:rPr lang="en-GB" sz="1200" b="0" i="1" noProof="0" smtClean="0">
                        <a:latin typeface="Cambria Math" panose="02040503050406030204" pitchFamily="18" charset="0"/>
                        <a:cs typeface="Times New Roman" panose="02020603050405020304" pitchFamily="18" charset="0"/>
                      </a:rPr>
                      <m:t>−5</m:t>
                    </m:r>
                    <m:r>
                      <a:rPr lang="en-GB" sz="1200" i="1" noProof="0" smtClean="0">
                        <a:latin typeface="Cambria Math" panose="02040503050406030204" pitchFamily="18" charset="0"/>
                        <a:cs typeface="Times New Roman" panose="02020603050405020304" pitchFamily="18" charset="0"/>
                      </a:rPr>
                      <m:t>𝑥</m:t>
                    </m:r>
                    <m:r>
                      <a:rPr lang="en-GB" sz="1200" b="0" i="1" noProof="0" smtClean="0">
                        <a:latin typeface="Cambria Math" panose="02040503050406030204" pitchFamily="18" charset="0"/>
                        <a:cs typeface="Times New Roman" panose="02020603050405020304" pitchFamily="18" charset="0"/>
                      </a:rPr>
                      <m:t>+4=0</m:t>
                    </m:r>
                  </m:oMath>
                </a14:m>
                <a:r>
                  <a:rPr lang="en-GB" sz="1200" noProof="0" dirty="0">
                    <a:cs typeface="Times New Roman" panose="02020603050405020304" pitchFamily="18" charset="0"/>
                  </a:rPr>
                  <a:t> to 2 decimal places. </a:t>
                </a:r>
              </a:p>
            </p:txBody>
          </p:sp>
        </mc:Choice>
        <mc:Fallback xmlns="">
          <p:sp>
            <p:nvSpPr>
              <p:cNvPr id="31" name="Rectangle 30"/>
              <p:cNvSpPr>
                <a:spLocks noRot="1" noChangeAspect="1" noMove="1" noResize="1" noEditPoints="1" noAdjustHandles="1" noChangeArrowheads="1" noChangeShapeType="1" noTextEdit="1"/>
              </p:cNvSpPr>
              <p:nvPr/>
            </p:nvSpPr>
            <p:spPr>
              <a:xfrm>
                <a:off x="169897" y="4923186"/>
                <a:ext cx="3226436" cy="869982"/>
              </a:xfrm>
              <a:prstGeom prst="rect">
                <a:avLst/>
              </a:prstGeom>
              <a:blipFill>
                <a:blip r:embed="rId4"/>
                <a:stretch>
                  <a:fillRect l="-189" t="-704" r="-189" b="-56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3522567" y="4923186"/>
                <a:ext cx="3233060" cy="930896"/>
              </a:xfrm>
              <a:prstGeom prst="rect">
                <a:avLst/>
              </a:prstGeom>
            </p:spPr>
            <p:txBody>
              <a:bodyPr wrap="square">
                <a:spAutoFit/>
              </a:bodyPr>
              <a:lstStyle/>
              <a:p>
                <a:pPr lvl="0" eaLnBrk="0" fontAlgn="base" hangingPunct="0">
                  <a:spcBef>
                    <a:spcPct val="0"/>
                  </a:spcBef>
                  <a:spcAft>
                    <a:spcPct val="0"/>
                  </a:spcAft>
                </a:pPr>
                <a:r>
                  <a:rPr lang="en-GB" sz="1200" noProof="0" dirty="0">
                    <a:cs typeface="Times New Roman" panose="02020603050405020304" pitchFamily="18" charset="0"/>
                  </a:rPr>
                  <a:t>f) Starting with </a:t>
                </a:r>
                <a14:m>
                  <m:oMath xmlns:m="http://schemas.openxmlformats.org/officeDocument/2006/math">
                    <m:sSub>
                      <m:sSubPr>
                        <m:ctrlPr>
                          <a:rPr lang="en-GB" sz="1200" i="1" noProof="0" smtClean="0">
                            <a:latin typeface="Cambria Math" panose="02040503050406030204" pitchFamily="18" charset="0"/>
                            <a:cs typeface="Times New Roman" panose="02020603050405020304" pitchFamily="18" charset="0"/>
                          </a:rPr>
                        </m:ctrlPr>
                      </m:sSubPr>
                      <m:e>
                        <m:r>
                          <a:rPr lang="en-GB" sz="1200" i="1" noProof="0" smtClean="0">
                            <a:latin typeface="Cambria Math" panose="02040503050406030204" pitchFamily="18" charset="0"/>
                            <a:cs typeface="Times New Roman" panose="02020603050405020304" pitchFamily="18" charset="0"/>
                          </a:rPr>
                          <m:t>𝑥</m:t>
                        </m:r>
                      </m:e>
                      <m:sub>
                        <m:r>
                          <a:rPr lang="en-GB" sz="1200" b="0" i="1" noProof="0" smtClean="0">
                            <a:latin typeface="Cambria Math" panose="02040503050406030204" pitchFamily="18" charset="0"/>
                            <a:cs typeface="Times New Roman" panose="02020603050405020304" pitchFamily="18" charset="0"/>
                          </a:rPr>
                          <m:t>0</m:t>
                        </m:r>
                      </m:sub>
                    </m:sSub>
                    <m:r>
                      <a:rPr lang="en-GB" sz="1200" i="1" noProof="0" smtClean="0">
                        <a:latin typeface="Cambria Math" panose="02040503050406030204" pitchFamily="18" charset="0"/>
                        <a:cs typeface="Times New Roman" panose="02020603050405020304" pitchFamily="18" charset="0"/>
                      </a:rPr>
                      <m:t>=</m:t>
                    </m:r>
                    <m:r>
                      <a:rPr lang="en-GB" sz="1200" b="0" i="1" noProof="0" smtClean="0">
                        <a:latin typeface="Cambria Math" panose="02040503050406030204" pitchFamily="18" charset="0"/>
                        <a:cs typeface="Times New Roman" panose="02020603050405020304" pitchFamily="18" charset="0"/>
                      </a:rPr>
                      <m:t>−2</m:t>
                    </m:r>
                  </m:oMath>
                </a14:m>
                <a:r>
                  <a:rPr lang="en-GB" sz="1200" noProof="0" dirty="0">
                    <a:cs typeface="Times New Roman" panose="02020603050405020304" pitchFamily="18" charset="0"/>
                  </a:rPr>
                  <a:t>, use the iterative formula </a:t>
                </a:r>
                <a14:m>
                  <m:oMath xmlns:m="http://schemas.openxmlformats.org/officeDocument/2006/math">
                    <m:sSub>
                      <m:sSubPr>
                        <m:ctrlPr>
                          <a:rPr lang="en-GB" sz="1200" i="1" noProof="0" smtClean="0">
                            <a:latin typeface="Cambria Math" panose="02040503050406030204" pitchFamily="18" charset="0"/>
                            <a:cs typeface="Times New Roman" panose="02020603050405020304" pitchFamily="18" charset="0"/>
                          </a:rPr>
                        </m:ctrlPr>
                      </m:sSubPr>
                      <m:e>
                        <m:r>
                          <a:rPr lang="en-GB" sz="1200" i="1" noProof="0" smtClean="0">
                            <a:latin typeface="Cambria Math" panose="02040503050406030204" pitchFamily="18" charset="0"/>
                            <a:cs typeface="Times New Roman" panose="02020603050405020304" pitchFamily="18" charset="0"/>
                          </a:rPr>
                          <m:t>𝑥</m:t>
                        </m:r>
                      </m:e>
                      <m:sub>
                        <m:r>
                          <a:rPr lang="en-GB" sz="1200" i="1" noProof="0" smtClean="0">
                            <a:latin typeface="Cambria Math" panose="02040503050406030204" pitchFamily="18" charset="0"/>
                            <a:cs typeface="Times New Roman" panose="02020603050405020304" pitchFamily="18" charset="0"/>
                          </a:rPr>
                          <m:t>𝑛</m:t>
                        </m:r>
                        <m:r>
                          <a:rPr lang="en-GB" sz="1200" i="1" noProof="0" smtClean="0">
                            <a:latin typeface="Cambria Math" panose="02040503050406030204" pitchFamily="18" charset="0"/>
                            <a:cs typeface="Times New Roman" panose="02020603050405020304" pitchFamily="18" charset="0"/>
                          </a:rPr>
                          <m:t>+1</m:t>
                        </m:r>
                      </m:sub>
                    </m:sSub>
                    <m:r>
                      <a:rPr lang="en-GB" sz="1200" i="1" noProof="0" smtClean="0">
                        <a:latin typeface="Cambria Math" panose="02040503050406030204" pitchFamily="18" charset="0"/>
                        <a:cs typeface="Times New Roman" panose="02020603050405020304" pitchFamily="18" charset="0"/>
                      </a:rPr>
                      <m:t>=</m:t>
                    </m:r>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1+</m:t>
                    </m:r>
                    <m:f>
                      <m:fPr>
                        <m:ctrlP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11</m:t>
                        </m:r>
                      </m:num>
                      <m:den>
                        <m:sSub>
                          <m:sSubPr>
                            <m:ctrlP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𝑥</m:t>
                            </m:r>
                          </m:e>
                          <m:sub>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𝑛</m:t>
                            </m:r>
                          </m:sub>
                        </m:sSub>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−3</m:t>
                        </m:r>
                      </m:den>
                    </m:f>
                    <m:r>
                      <a:rPr lang="en-GB" sz="1200" b="0" i="1" noProof="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GB" sz="1200" noProof="0" dirty="0">
                    <a:cs typeface="Times New Roman" panose="02020603050405020304" pitchFamily="18" charset="0"/>
                  </a:rPr>
                  <a:t>to find an estimate for the solution to </a:t>
                </a:r>
                <a14:m>
                  <m:oMath xmlns:m="http://schemas.openxmlformats.org/officeDocument/2006/math">
                    <m:sSup>
                      <m:sSupPr>
                        <m:ctrlPr>
                          <a:rPr lang="en-GB" sz="1200" i="1" noProof="0" smtClean="0">
                            <a:latin typeface="Cambria Math" panose="02040503050406030204" pitchFamily="18" charset="0"/>
                            <a:cs typeface="Times New Roman" panose="02020603050405020304" pitchFamily="18" charset="0"/>
                          </a:rPr>
                        </m:ctrlPr>
                      </m:sSupPr>
                      <m:e>
                        <m:r>
                          <a:rPr lang="en-GB" sz="1200" i="1" noProof="0" smtClean="0">
                            <a:latin typeface="Cambria Math" panose="02040503050406030204" pitchFamily="18" charset="0"/>
                            <a:cs typeface="Times New Roman" panose="02020603050405020304" pitchFamily="18" charset="0"/>
                          </a:rPr>
                          <m:t>𝑥</m:t>
                        </m:r>
                      </m:e>
                      <m:sup>
                        <m:r>
                          <a:rPr lang="en-GB" sz="1200" i="1" noProof="0" smtClean="0">
                            <a:latin typeface="Cambria Math" panose="02040503050406030204" pitchFamily="18" charset="0"/>
                            <a:cs typeface="Times New Roman" panose="02020603050405020304" pitchFamily="18" charset="0"/>
                          </a:rPr>
                          <m:t>3</m:t>
                        </m:r>
                      </m:sup>
                    </m:sSup>
                    <m:r>
                      <a:rPr lang="en-GB" sz="1200" b="0" i="1" noProof="0" smtClean="0">
                        <a:latin typeface="Cambria Math" panose="02040503050406030204" pitchFamily="18" charset="0"/>
                        <a:cs typeface="Times New Roman" panose="02020603050405020304" pitchFamily="18" charset="0"/>
                      </a:rPr>
                      <m:t>−4</m:t>
                    </m:r>
                    <m:r>
                      <a:rPr lang="en-GB" sz="1200" i="1" noProof="0" smtClean="0">
                        <a:latin typeface="Cambria Math" panose="02040503050406030204" pitchFamily="18" charset="0"/>
                        <a:cs typeface="Times New Roman" panose="02020603050405020304" pitchFamily="18" charset="0"/>
                      </a:rPr>
                      <m:t>𝑥</m:t>
                    </m:r>
                    <m:r>
                      <a:rPr lang="en-GB" sz="1200" b="0" i="1" noProof="0" smtClean="0">
                        <a:latin typeface="Cambria Math" panose="02040503050406030204" pitchFamily="18" charset="0"/>
                        <a:cs typeface="Times New Roman" panose="02020603050405020304" pitchFamily="18" charset="0"/>
                      </a:rPr>
                      <m:t>−8=30</m:t>
                    </m:r>
                  </m:oMath>
                </a14:m>
                <a:r>
                  <a:rPr lang="en-GB" sz="1200" noProof="0" dirty="0">
                    <a:cs typeface="Times New Roman" panose="02020603050405020304" pitchFamily="18" charset="0"/>
                  </a:rPr>
                  <a:t> to 1 decimal place. </a:t>
                </a:r>
              </a:p>
            </p:txBody>
          </p:sp>
        </mc:Choice>
        <mc:Fallback xmlns="">
          <p:sp>
            <p:nvSpPr>
              <p:cNvPr id="34" name="Rectangle 33"/>
              <p:cNvSpPr>
                <a:spLocks noRot="1" noChangeAspect="1" noMove="1" noResize="1" noEditPoints="1" noAdjustHandles="1" noChangeArrowheads="1" noChangeShapeType="1" noTextEdit="1"/>
              </p:cNvSpPr>
              <p:nvPr/>
            </p:nvSpPr>
            <p:spPr>
              <a:xfrm>
                <a:off x="3522567" y="4923186"/>
                <a:ext cx="3233060" cy="930896"/>
              </a:xfrm>
              <a:prstGeom prst="rect">
                <a:avLst/>
              </a:prstGeom>
              <a:blipFill>
                <a:blip r:embed="rId5"/>
                <a:stretch>
                  <a:fillRect l="-189" t="-658" b="-5263"/>
                </a:stretch>
              </a:blipFill>
            </p:spPr>
            <p:txBody>
              <a:bodyPr/>
              <a:lstStyle/>
              <a:p>
                <a:r>
                  <a:rPr lang="en-US">
                    <a:noFill/>
                  </a:rPr>
                  <a:t> </a:t>
                </a:r>
              </a:p>
            </p:txBody>
          </p:sp>
        </mc:Fallback>
      </mc:AlternateContent>
    </p:spTree>
    <p:extLst>
      <p:ext uri="{BB962C8B-B14F-4D97-AF65-F5344CB8AC3E}">
        <p14:creationId xmlns:p14="http://schemas.microsoft.com/office/powerpoint/2010/main" val="11909306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4ACD16A4-BBCA-60A1-46E5-B0B2B65932A5}"/>
                  </a:ext>
                </a:extLst>
              </p:cNvPr>
              <p:cNvGraphicFramePr>
                <a:graphicFrameLocks noGrp="1"/>
              </p:cNvGraphicFramePr>
              <p:nvPr>
                <p:extLst>
                  <p:ext uri="{D42A27DB-BD31-4B8C-83A1-F6EECF244321}">
                    <p14:modId xmlns:p14="http://schemas.microsoft.com/office/powerpoint/2010/main" val="2524587057"/>
                  </p:ext>
                </p:extLst>
              </p:nvPr>
            </p:nvGraphicFramePr>
            <p:xfrm>
              <a:off x="179295" y="1214112"/>
              <a:ext cx="6548076" cy="8596831"/>
            </p:xfrm>
            <a:graphic>
              <a:graphicData uri="http://schemas.openxmlformats.org/drawingml/2006/table">
                <a:tbl>
                  <a:tblPr firstRow="1" bandRow="1">
                    <a:tableStyleId>{5C22544A-7EE6-4342-B048-85BDC9FD1C3A}</a:tableStyleId>
                  </a:tblPr>
                  <a:tblGrid>
                    <a:gridCol w="6548076">
                      <a:extLst>
                        <a:ext uri="{9D8B030D-6E8A-4147-A177-3AD203B41FA5}">
                          <a16:colId xmlns:a16="http://schemas.microsoft.com/office/drawing/2014/main" val="3551711160"/>
                        </a:ext>
                      </a:extLst>
                    </a:gridCol>
                  </a:tblGrid>
                  <a:tr h="2701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13 -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4043166">
                    <a:tc>
                      <a:txBody>
                        <a:bodyPr/>
                        <a:lstStyle/>
                        <a:p>
                          <a:pPr marL="228600" indent="-228600" algn="l">
                            <a:buAutoNum type="alphaLcParenR"/>
                          </a:pPr>
                          <a:r>
                            <a:rPr lang="en-GB" sz="1200" b="0" noProof="0" dirty="0">
                              <a:solidFill>
                                <a:schemeClr val="tx1"/>
                              </a:solidFill>
                            </a:rPr>
                            <a:t>Show the equation</a:t>
                          </a:r>
                          <a:r>
                            <a:rPr lang="en-GB" sz="1200" b="0" baseline="0" noProof="0" dirty="0">
                              <a:solidFill>
                                <a:schemeClr val="tx1"/>
                              </a:solidFill>
                            </a:rPr>
                            <a:t>  </a:t>
                          </a:r>
                          <a14:m>
                            <m:oMath xmlns:m="http://schemas.openxmlformats.org/officeDocument/2006/math">
                              <m:sSup>
                                <m:sSupPr>
                                  <m:ctrlPr>
                                    <a:rPr lang="en-GB" sz="1200" b="0" i="1" baseline="0" noProof="0" smtClean="0">
                                      <a:solidFill>
                                        <a:schemeClr val="tx1"/>
                                      </a:solidFill>
                                      <a:latin typeface="Cambria Math" panose="02040503050406030204" pitchFamily="18" charset="0"/>
                                      <a:ea typeface="Cambria Math" panose="02040503050406030204" pitchFamily="18" charset="0"/>
                                    </a:rPr>
                                  </m:ctrlPr>
                                </m:sSupPr>
                                <m:e>
                                  <m:r>
                                    <a:rPr lang="en-GB" sz="1200" b="0" i="1" baseline="0" noProof="0" smtClean="0">
                                      <a:solidFill>
                                        <a:schemeClr val="tx1"/>
                                      </a:solidFill>
                                      <a:latin typeface="Cambria Math" panose="02040503050406030204" pitchFamily="18" charset="0"/>
                                      <a:ea typeface="Cambria Math" panose="02040503050406030204" pitchFamily="18" charset="0"/>
                                    </a:rPr>
                                    <m:t>𝑥</m:t>
                                  </m:r>
                                </m:e>
                                <m:sup>
                                  <m:r>
                                    <a:rPr lang="en-GB" sz="1200" b="0" i="1" baseline="0" noProof="0" smtClean="0">
                                      <a:solidFill>
                                        <a:schemeClr val="tx1"/>
                                      </a:solidFill>
                                      <a:latin typeface="Cambria Math" panose="02040503050406030204" pitchFamily="18" charset="0"/>
                                      <a:ea typeface="Cambria Math" panose="02040503050406030204" pitchFamily="18" charset="0"/>
                                    </a:rPr>
                                    <m:t>3</m:t>
                                  </m:r>
                                </m:sup>
                              </m:sSup>
                              <m:r>
                                <a:rPr lang="en-GB" sz="1200" b="0" i="1" baseline="0" noProof="0" smtClean="0">
                                  <a:solidFill>
                                    <a:schemeClr val="tx1"/>
                                  </a:solidFill>
                                  <a:latin typeface="Cambria Math" panose="02040503050406030204" pitchFamily="18" charset="0"/>
                                  <a:ea typeface="Cambria Math" panose="02040503050406030204" pitchFamily="18" charset="0"/>
                                </a:rPr>
                                <m:t>−1=2</m:t>
                              </m:r>
                              <m:r>
                                <a:rPr lang="en-GB" sz="1200" b="0" i="1" baseline="0" noProof="0" smtClean="0">
                                  <a:solidFill>
                                    <a:schemeClr val="tx1"/>
                                  </a:solidFill>
                                  <a:latin typeface="Cambria Math" panose="02040503050406030204" pitchFamily="18" charset="0"/>
                                  <a:ea typeface="Cambria Math" panose="02040503050406030204" pitchFamily="18" charset="0"/>
                                </a:rPr>
                                <m:t>𝑥</m:t>
                              </m:r>
                            </m:oMath>
                          </a14:m>
                          <a:r>
                            <a:rPr lang="en-GB" sz="1200" b="0" noProof="0" dirty="0">
                              <a:solidFill>
                                <a:schemeClr val="tx1"/>
                              </a:solidFill>
                            </a:rPr>
                            <a:t> can be rearranged to give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ad>
                                <m:radPr>
                                  <m:ctrlPr>
                                    <a:rPr lang="en-GB" sz="1200" b="0" i="1" noProof="0" smtClean="0">
                                      <a:solidFill>
                                        <a:schemeClr val="tx1"/>
                                      </a:solidFill>
                                      <a:latin typeface="Cambria Math" panose="02040503050406030204" pitchFamily="18" charset="0"/>
                                      <a:ea typeface="Cambria Math" panose="02040503050406030204" pitchFamily="18" charset="0"/>
                                    </a:rPr>
                                  </m:ctrlPr>
                                </m:radPr>
                                <m:deg>
                                  <m:r>
                                    <a:rPr lang="en-GB" sz="1200" b="0" noProof="0" smtClean="0">
                                      <a:solidFill>
                                        <a:schemeClr val="tx1"/>
                                      </a:solidFill>
                                      <a:latin typeface="Cambria Math" panose="02040503050406030204" pitchFamily="18" charset="0"/>
                                      <a:ea typeface="Cambria Math" panose="02040503050406030204" pitchFamily="18" charset="0"/>
                                    </a:rPr>
                                    <m:t>3</m:t>
                                  </m:r>
                                </m:deg>
                                <m:e>
                                  <m:r>
                                    <a:rPr lang="en-GB" sz="1200" b="0" i="1" noProof="0" smtClean="0">
                                      <a:solidFill>
                                        <a:schemeClr val="tx1"/>
                                      </a:solidFill>
                                      <a:latin typeface="Cambria Math" panose="02040503050406030204" pitchFamily="18" charset="0"/>
                                      <a:ea typeface="Cambria Math" panose="02040503050406030204" pitchFamily="18" charset="0"/>
                                    </a:rPr>
                                    <m:t>1+2</m:t>
                                  </m:r>
                                  <m:r>
                                    <a:rPr lang="en-GB" sz="1200" b="0" i="1" noProof="0" smtClean="0">
                                      <a:solidFill>
                                        <a:schemeClr val="tx1"/>
                                      </a:solidFill>
                                      <a:latin typeface="Cambria Math" panose="02040503050406030204" pitchFamily="18" charset="0"/>
                                      <a:ea typeface="Cambria Math" panose="02040503050406030204" pitchFamily="18" charset="0"/>
                                    </a:rPr>
                                    <m:t>𝑥</m:t>
                                  </m:r>
                                </m:e>
                              </m:rad>
                            </m:oMath>
                          </a14:m>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r>
                            <a:rPr lang="en-GB" sz="1200" b="0" noProof="0" dirty="0">
                              <a:solidFill>
                                <a:schemeClr val="tx1"/>
                              </a:solidFill>
                            </a:rPr>
                            <a:t>b) Starting</a:t>
                          </a:r>
                          <a:r>
                            <a:rPr lang="en-GB" sz="1200" b="0" baseline="0" noProof="0" dirty="0">
                              <a:solidFill>
                                <a:schemeClr val="tx1"/>
                              </a:solidFill>
                            </a:rPr>
                            <a:t> with the </a:t>
                          </a:r>
                          <a14:m>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0=1.5</m:t>
                                  </m:r>
                                </m:sub>
                              </m:sSub>
                              <m:r>
                                <a:rPr lang="en-GB" sz="1200" b="0" i="0" noProof="0" smtClean="0">
                                  <a:solidFill>
                                    <a:schemeClr val="tx1"/>
                                  </a:solidFill>
                                  <a:latin typeface="Cambria Math" panose="02040503050406030204" pitchFamily="18" charset="0"/>
                                </a:rPr>
                                <m:t> </m:t>
                              </m:r>
                            </m:oMath>
                          </a14:m>
                          <a:r>
                            <a:rPr lang="en-GB" sz="1200" b="0" noProof="0" dirty="0">
                              <a:solidFill>
                                <a:schemeClr val="tx1"/>
                              </a:solidFill>
                            </a:rPr>
                            <a:t>use the iteration formula </a:t>
                          </a:r>
                          <a14:m>
                            <m:oMath xmlns:m="http://schemas.openxmlformats.org/officeDocument/2006/math">
                              <m:sSub>
                                <m:sSubPr>
                                  <m:ctrlPr>
                                    <a:rPr lang="en-GB" sz="120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r>
                                    <a:rPr lang="en-GB" sz="1200" b="0" i="1" noProof="0" smtClean="0">
                                      <a:solidFill>
                                        <a:schemeClr val="tx1"/>
                                      </a:solidFill>
                                      <a:latin typeface="Cambria Math" panose="02040503050406030204" pitchFamily="18" charset="0"/>
                                    </a:rPr>
                                    <m:t>+1</m:t>
                                  </m:r>
                                </m:sub>
                              </m:sSub>
                              <m:r>
                                <a:rPr lang="en-GB" sz="1200" b="0" i="0" noProof="0" smtClean="0">
                                  <a:solidFill>
                                    <a:schemeClr val="tx1"/>
                                  </a:solidFill>
                                  <a:latin typeface="Cambria Math" panose="02040503050406030204" pitchFamily="18" charset="0"/>
                                </a:rPr>
                                <m:t>=</m:t>
                              </m:r>
                              <m:rad>
                                <m:radPr>
                                  <m:ctrlPr>
                                    <a:rPr lang="en-GB" sz="1200" b="0" i="1" noProof="0" smtClean="0">
                                      <a:solidFill>
                                        <a:schemeClr val="tx1"/>
                                      </a:solidFill>
                                      <a:latin typeface="Cambria Math" panose="02040503050406030204" pitchFamily="18" charset="0"/>
                                      <a:ea typeface="Cambria Math" panose="02040503050406030204" pitchFamily="18" charset="0"/>
                                    </a:rPr>
                                  </m:ctrlPr>
                                </m:radPr>
                                <m:deg>
                                  <m:r>
                                    <a:rPr lang="en-GB" sz="1200" b="0" noProof="0" smtClean="0">
                                      <a:solidFill>
                                        <a:schemeClr val="tx1"/>
                                      </a:solidFill>
                                      <a:latin typeface="Cambria Math" panose="02040503050406030204" pitchFamily="18" charset="0"/>
                                      <a:ea typeface="Cambria Math" panose="02040503050406030204" pitchFamily="18" charset="0"/>
                                    </a:rPr>
                                    <m:t>3</m:t>
                                  </m:r>
                                </m:deg>
                                <m:e>
                                  <m:r>
                                    <a:rPr lang="en-GB" sz="1200" b="0" i="1" noProof="0" smtClean="0">
                                      <a:solidFill>
                                        <a:schemeClr val="tx1"/>
                                      </a:solidFill>
                                      <a:latin typeface="Cambria Math" panose="02040503050406030204" pitchFamily="18" charset="0"/>
                                      <a:ea typeface="Cambria Math" panose="02040503050406030204" pitchFamily="18" charset="0"/>
                                    </a:rPr>
                                    <m:t>1+2</m:t>
                                  </m:r>
                                  <m:sSub>
                                    <m:sSubPr>
                                      <m:ctrlPr>
                                        <a:rPr lang="en-GB" sz="1200" b="0" i="1" noProof="0" smtClean="0">
                                          <a:solidFill>
                                            <a:schemeClr val="tx1"/>
                                          </a:solidFill>
                                          <a:latin typeface="Cambria Math" panose="02040503050406030204" pitchFamily="18" charset="0"/>
                                          <a:ea typeface="Cambria Math" panose="02040503050406030204" pitchFamily="18" charset="0"/>
                                        </a:rPr>
                                      </m:ctrlPr>
                                    </m:sSubPr>
                                    <m:e>
                                      <m:r>
                                        <a:rPr lang="en-GB" sz="1200" b="0" i="1" noProof="0" smtClean="0">
                                          <a:solidFill>
                                            <a:schemeClr val="tx1"/>
                                          </a:solidFill>
                                          <a:latin typeface="Cambria Math" panose="02040503050406030204" pitchFamily="18" charset="0"/>
                                          <a:ea typeface="Cambria Math" panose="02040503050406030204" pitchFamily="18" charset="0"/>
                                        </a:rPr>
                                        <m:t>𝑥</m:t>
                                      </m:r>
                                    </m:e>
                                    <m:sub>
                                      <m:r>
                                        <a:rPr lang="en-GB" sz="1200" b="0" i="1" noProof="0" smtClean="0">
                                          <a:solidFill>
                                            <a:schemeClr val="tx1"/>
                                          </a:solidFill>
                                          <a:latin typeface="Cambria Math" panose="02040503050406030204" pitchFamily="18" charset="0"/>
                                          <a:ea typeface="Cambria Math" panose="02040503050406030204" pitchFamily="18" charset="0"/>
                                        </a:rPr>
                                        <m:t>𝑛</m:t>
                                      </m:r>
                                    </m:sub>
                                  </m:sSub>
                                </m:e>
                              </m:rad>
                            </m:oMath>
                          </a14:m>
                          <a:r>
                            <a:rPr lang="en-GB" sz="1200" b="0" noProof="0" dirty="0">
                              <a:solidFill>
                                <a:schemeClr val="tx1"/>
                              </a:solidFill>
                            </a:rPr>
                            <a:t> </a:t>
                          </a:r>
                          <a:r>
                            <a:rPr lang="en-GB" sz="1200" b="0" baseline="0" noProof="0" dirty="0">
                              <a:solidFill>
                                <a:schemeClr val="tx1"/>
                              </a:solidFill>
                            </a:rPr>
                            <a:t>  five</a:t>
                          </a:r>
                          <a:r>
                            <a:rPr lang="en-GB" sz="1200" b="0" noProof="0" dirty="0">
                              <a:solidFill>
                                <a:schemeClr val="tx1"/>
                              </a:solidFill>
                            </a:rPr>
                            <a:t> times to find an estimate</a:t>
                          </a:r>
                          <a:r>
                            <a:rPr lang="en-GB" sz="1200" b="0" baseline="0" noProof="0" dirty="0">
                              <a:solidFill>
                                <a:schemeClr val="tx1"/>
                              </a:solidFill>
                            </a:rPr>
                            <a:t> for the solution of </a:t>
                          </a:r>
                          <a14:m>
                            <m:oMath xmlns:m="http://schemas.openxmlformats.org/officeDocument/2006/math">
                              <m:sSup>
                                <m:sSupPr>
                                  <m:ctrlPr>
                                    <a:rPr lang="en-GB" sz="1200" b="0" i="1" baseline="0" noProof="0" smtClean="0">
                                      <a:solidFill>
                                        <a:schemeClr val="tx1"/>
                                      </a:solidFill>
                                      <a:latin typeface="Cambria Math" panose="02040503050406030204" pitchFamily="18" charset="0"/>
                                      <a:ea typeface="Cambria Math" panose="02040503050406030204" pitchFamily="18" charset="0"/>
                                    </a:rPr>
                                  </m:ctrlPr>
                                </m:sSupPr>
                                <m:e>
                                  <m:r>
                                    <a:rPr lang="en-GB" sz="1200" b="0" i="1" baseline="0" noProof="0" smtClean="0">
                                      <a:solidFill>
                                        <a:schemeClr val="tx1"/>
                                      </a:solidFill>
                                      <a:latin typeface="Cambria Math" panose="02040503050406030204" pitchFamily="18" charset="0"/>
                                      <a:ea typeface="Cambria Math" panose="02040503050406030204" pitchFamily="18" charset="0"/>
                                    </a:rPr>
                                    <m:t>𝑥</m:t>
                                  </m:r>
                                </m:e>
                                <m:sup>
                                  <m:r>
                                    <a:rPr lang="en-GB" sz="1200" b="0" i="1" baseline="0" noProof="0" smtClean="0">
                                      <a:solidFill>
                                        <a:schemeClr val="tx1"/>
                                      </a:solidFill>
                                      <a:latin typeface="Cambria Math" panose="02040503050406030204" pitchFamily="18" charset="0"/>
                                      <a:ea typeface="Cambria Math" panose="02040503050406030204" pitchFamily="18" charset="0"/>
                                    </a:rPr>
                                    <m:t>3</m:t>
                                  </m:r>
                                </m:sup>
                              </m:sSup>
                              <m:r>
                                <a:rPr lang="en-GB" sz="1200" b="0" i="1" baseline="0" noProof="0" smtClean="0">
                                  <a:solidFill>
                                    <a:schemeClr val="tx1"/>
                                  </a:solidFill>
                                  <a:latin typeface="Cambria Math" panose="02040503050406030204" pitchFamily="18" charset="0"/>
                                  <a:ea typeface="Cambria Math" panose="02040503050406030204" pitchFamily="18" charset="0"/>
                                </a:rPr>
                                <m:t>−1=2</m:t>
                              </m:r>
                              <m:r>
                                <a:rPr lang="en-GB" sz="1200" b="0" i="1" baseline="0" noProof="0" smtClean="0">
                                  <a:solidFill>
                                    <a:schemeClr val="tx1"/>
                                  </a:solidFill>
                                  <a:latin typeface="Cambria Math" panose="02040503050406030204" pitchFamily="18" charset="0"/>
                                  <a:ea typeface="Cambria Math" panose="02040503050406030204" pitchFamily="18" charset="0"/>
                                </a:rPr>
                                <m:t>𝑥</m:t>
                              </m:r>
                            </m:oMath>
                          </a14:m>
                          <a:r>
                            <a:rPr lang="en-GB" sz="1200" b="0" noProof="0" dirty="0">
                              <a:solidFill>
                                <a:schemeClr val="tx1"/>
                              </a:solidFill>
                            </a:rPr>
                            <a:t> tha</a:t>
                          </a:r>
                          <a:r>
                            <a:rPr lang="en-GB" sz="1200" b="0" baseline="0" noProof="0" dirty="0">
                              <a:solidFill>
                                <a:schemeClr val="tx1"/>
                              </a:solidFill>
                            </a:rPr>
                            <a:t>t is between 1 and 2.</a:t>
                          </a:r>
                        </a:p>
                        <a:p>
                          <a:pPr algn="l"/>
                          <a:endParaRPr lang="en-GB" sz="1200" b="0" baseline="0" noProof="0" dirty="0">
                            <a:solidFill>
                              <a:schemeClr val="tx1"/>
                            </a:solidFill>
                          </a:endParaRPr>
                        </a:p>
                        <a:p>
                          <a:pPr algn="l"/>
                          <a:r>
                            <a:rPr lang="en-GB" sz="1200" b="0" baseline="0" noProof="0" dirty="0">
                              <a:solidFill>
                                <a:schemeClr val="tx1"/>
                              </a:solidFill>
                            </a:rPr>
                            <a:t>Round your final answer to 3 decimal places. </a:t>
                          </a: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32620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14 -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3827211">
                    <a:tc>
                      <a:txBody>
                        <a:bodyPr/>
                        <a:lstStyle/>
                        <a:p>
                          <a:pPr marL="228600" indent="-228600" algn="l">
                            <a:buAutoNum type="alphaLcParenR"/>
                          </a:pPr>
                          <a:r>
                            <a:rPr lang="en-GB" sz="1200" b="0" noProof="0" dirty="0">
                              <a:solidFill>
                                <a:schemeClr val="tx1"/>
                              </a:solidFill>
                            </a:rPr>
                            <a:t>Show the equation</a:t>
                          </a:r>
                          <a:r>
                            <a:rPr lang="en-GB" sz="1200" b="0" baseline="0" noProof="0" dirty="0">
                              <a:solidFill>
                                <a:schemeClr val="tx1"/>
                              </a:solidFill>
                            </a:rPr>
                            <a:t> </a:t>
                          </a:r>
                          <a14:m>
                            <m:oMath xmlns:m="http://schemas.openxmlformats.org/officeDocument/2006/math">
                              <m:sSup>
                                <m:sSupPr>
                                  <m:ctrlPr>
                                    <a:rPr lang="en-GB" sz="1200" b="0" i="1" baseline="0" noProof="0" smtClean="0">
                                      <a:solidFill>
                                        <a:schemeClr val="tx1"/>
                                      </a:solidFill>
                                      <a:latin typeface="Cambria Math" panose="02040503050406030204" pitchFamily="18" charset="0"/>
                                      <a:ea typeface="Cambria Math" panose="02040503050406030204" pitchFamily="18" charset="0"/>
                                    </a:rPr>
                                  </m:ctrlPr>
                                </m:sSupPr>
                                <m:e>
                                  <m:r>
                                    <a:rPr lang="en-GB" sz="1200" b="0" i="1" baseline="0" noProof="0" smtClean="0">
                                      <a:solidFill>
                                        <a:schemeClr val="tx1"/>
                                      </a:solidFill>
                                      <a:latin typeface="Cambria Math" panose="02040503050406030204" pitchFamily="18" charset="0"/>
                                      <a:ea typeface="Cambria Math" panose="02040503050406030204" pitchFamily="18" charset="0"/>
                                    </a:rPr>
                                    <m:t>𝑥</m:t>
                                  </m:r>
                                </m:e>
                                <m:sup>
                                  <m:r>
                                    <a:rPr lang="en-GB" sz="1200" b="0" i="1" baseline="0" noProof="0" smtClean="0">
                                      <a:solidFill>
                                        <a:schemeClr val="tx1"/>
                                      </a:solidFill>
                                      <a:latin typeface="Cambria Math" panose="02040503050406030204" pitchFamily="18" charset="0"/>
                                      <a:ea typeface="Cambria Math" panose="02040503050406030204" pitchFamily="18" charset="0"/>
                                    </a:rPr>
                                    <m:t>3</m:t>
                                  </m:r>
                                </m:sup>
                              </m:sSup>
                              <m:r>
                                <a:rPr lang="en-GB" sz="1200" b="0" i="1" baseline="0" noProof="0" smtClean="0">
                                  <a:solidFill>
                                    <a:schemeClr val="tx1"/>
                                  </a:solidFill>
                                  <a:latin typeface="Cambria Math" panose="02040503050406030204" pitchFamily="18" charset="0"/>
                                  <a:ea typeface="Cambria Math" panose="02040503050406030204" pitchFamily="18" charset="0"/>
                                </a:rPr>
                                <m:t>−24=5</m:t>
                              </m:r>
                              <m:r>
                                <a:rPr lang="en-GB" sz="1200" b="0" i="1" baseline="0" noProof="0" smtClean="0">
                                  <a:solidFill>
                                    <a:schemeClr val="tx1"/>
                                  </a:solidFill>
                                  <a:latin typeface="Cambria Math" panose="02040503050406030204" pitchFamily="18" charset="0"/>
                                  <a:ea typeface="Cambria Math" panose="02040503050406030204" pitchFamily="18" charset="0"/>
                                </a:rPr>
                                <m:t>𝑥</m:t>
                              </m:r>
                            </m:oMath>
                          </a14:m>
                          <a:r>
                            <a:rPr lang="en-GB" sz="1200" b="0" noProof="0" dirty="0">
                              <a:solidFill>
                                <a:schemeClr val="tx1"/>
                              </a:solidFill>
                            </a:rPr>
                            <a:t> can be rearranged to give</a:t>
                          </a:r>
                          <a:r>
                            <a:rPr lang="en-GB" sz="1200" b="0" baseline="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ad>
                                <m:radPr>
                                  <m:ctrlPr>
                                    <a:rPr lang="en-GB" sz="1200" b="0" i="1" noProof="0" smtClean="0">
                                      <a:solidFill>
                                        <a:schemeClr val="tx1"/>
                                      </a:solidFill>
                                      <a:latin typeface="Cambria Math" panose="02040503050406030204" pitchFamily="18" charset="0"/>
                                      <a:ea typeface="Cambria Math" panose="02040503050406030204" pitchFamily="18" charset="0"/>
                                    </a:rPr>
                                  </m:ctrlPr>
                                </m:radPr>
                                <m:deg>
                                  <m:r>
                                    <a:rPr lang="en-GB" sz="1200" b="0" noProof="0" smtClean="0">
                                      <a:solidFill>
                                        <a:schemeClr val="tx1"/>
                                      </a:solidFill>
                                      <a:latin typeface="Cambria Math" panose="02040503050406030204" pitchFamily="18" charset="0"/>
                                      <a:ea typeface="Cambria Math" panose="02040503050406030204" pitchFamily="18" charset="0"/>
                                    </a:rPr>
                                    <m:t>3</m:t>
                                  </m:r>
                                </m:deg>
                                <m:e>
                                  <m:r>
                                    <a:rPr lang="en-GB" sz="1200" b="0" i="1" noProof="0" smtClean="0">
                                      <a:solidFill>
                                        <a:schemeClr val="tx1"/>
                                      </a:solidFill>
                                      <a:latin typeface="Cambria Math" panose="02040503050406030204" pitchFamily="18" charset="0"/>
                                      <a:ea typeface="Cambria Math" panose="02040503050406030204" pitchFamily="18" charset="0"/>
                                    </a:rPr>
                                    <m:t>24+5</m:t>
                                  </m:r>
                                  <m:r>
                                    <a:rPr lang="en-GB" sz="1200" b="0" i="1" noProof="0" smtClean="0">
                                      <a:solidFill>
                                        <a:schemeClr val="tx1"/>
                                      </a:solidFill>
                                      <a:latin typeface="Cambria Math" panose="02040503050406030204" pitchFamily="18" charset="0"/>
                                      <a:ea typeface="Cambria Math" panose="02040503050406030204" pitchFamily="18" charset="0"/>
                                    </a:rPr>
                                    <m:t>𝑥</m:t>
                                  </m:r>
                                </m:e>
                              </m:rad>
                            </m:oMath>
                          </a14:m>
                          <a:endParaRPr lang="en-GB" sz="1200" b="0" noProof="0" dirty="0">
                            <a:solidFill>
                              <a:schemeClr val="tx1"/>
                            </a:solidFill>
                          </a:endParaRPr>
                        </a:p>
                        <a:p>
                          <a:pPr marL="228600" indent="-228600" algn="l">
                            <a:buAutoNum type="alphaLcParenR"/>
                          </a:pPr>
                          <a:endParaRPr lang="en-GB" sz="1200" b="0" noProof="0" dirty="0">
                            <a:solidFill>
                              <a:schemeClr val="tx1"/>
                            </a:solidFill>
                          </a:endParaRPr>
                        </a:p>
                        <a:p>
                          <a:pPr marL="228600" indent="-228600" algn="l">
                            <a:buAutoNum type="alphaLcParenR"/>
                          </a:pPr>
                          <a:endParaRPr lang="en-GB" sz="1200" b="0" noProof="0" dirty="0">
                            <a:solidFill>
                              <a:schemeClr val="tx1"/>
                            </a:solidFill>
                          </a:endParaRPr>
                        </a:p>
                        <a:p>
                          <a:pPr marL="0" indent="0" algn="l">
                            <a:buNone/>
                          </a:pPr>
                          <a:endParaRPr lang="en-GB" sz="1200" b="0" noProof="0" dirty="0">
                            <a:solidFill>
                              <a:schemeClr val="tx1"/>
                            </a:solidFill>
                          </a:endParaRPr>
                        </a:p>
                        <a:p>
                          <a:pPr marL="228600" indent="-228600" algn="l">
                            <a:buAutoNum type="alphaLcParenR"/>
                          </a:pPr>
                          <a:endParaRPr lang="en-GB" sz="1200" b="0" noProof="0" dirty="0">
                            <a:solidFill>
                              <a:schemeClr val="tx1"/>
                            </a:solidFill>
                          </a:endParaRPr>
                        </a:p>
                        <a:p>
                          <a:pPr marL="228600" indent="-228600" algn="l">
                            <a:buAutoNum type="alphaLcParenR"/>
                          </a:pPr>
                          <a:endParaRPr lang="en-GB" sz="1200" b="0" noProof="0" dirty="0">
                            <a:solidFill>
                              <a:schemeClr val="tx1"/>
                            </a:solidFill>
                          </a:endParaRPr>
                        </a:p>
                        <a:p>
                          <a:pPr marL="228600" indent="-228600" algn="l">
                            <a:buAutoNum type="alphaLcParenR"/>
                          </a:pPr>
                          <a:endParaRPr lang="en-GB" sz="1200" b="0" noProof="0" dirty="0">
                            <a:solidFill>
                              <a:schemeClr val="tx1"/>
                            </a:solidFill>
                          </a:endParaRPr>
                        </a:p>
                        <a:p>
                          <a:pPr algn="l"/>
                          <a:endParaRPr lang="en-GB" sz="1200" b="0" noProof="0" dirty="0">
                            <a:solidFill>
                              <a:schemeClr val="tx1"/>
                            </a:solidFill>
                          </a:endParaRPr>
                        </a:p>
                        <a:p>
                          <a:pPr algn="l"/>
                          <a:r>
                            <a:rPr lang="en-GB" sz="1200" b="0" noProof="0" dirty="0">
                              <a:solidFill>
                                <a:schemeClr val="tx1"/>
                              </a:solidFill>
                            </a:rPr>
                            <a:t>b) Starting</a:t>
                          </a:r>
                          <a:r>
                            <a:rPr lang="en-GB" sz="1200" b="0" baseline="0" noProof="0" dirty="0">
                              <a:solidFill>
                                <a:schemeClr val="tx1"/>
                              </a:solidFill>
                            </a:rPr>
                            <a:t> with the </a:t>
                          </a:r>
                          <a14:m>
                            <m:oMath xmlns:m="http://schemas.openxmlformats.org/officeDocument/2006/math">
                              <m:sSub>
                                <m:sSubPr>
                                  <m:ctrlPr>
                                    <a:rPr lang="en-GB" sz="1200" b="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0=3.5</m:t>
                                  </m:r>
                                </m:sub>
                              </m:sSub>
                              <m:r>
                                <a:rPr lang="en-GB" sz="1200" b="0" i="0" noProof="0" smtClean="0">
                                  <a:solidFill>
                                    <a:schemeClr val="tx1"/>
                                  </a:solidFill>
                                  <a:latin typeface="Cambria Math" panose="02040503050406030204" pitchFamily="18" charset="0"/>
                                </a:rPr>
                                <m:t> </m:t>
                              </m:r>
                            </m:oMath>
                          </a14:m>
                          <a:r>
                            <a:rPr lang="en-GB" sz="1200" b="0" noProof="0" dirty="0">
                              <a:solidFill>
                                <a:schemeClr val="tx1"/>
                              </a:solidFill>
                            </a:rPr>
                            <a:t>use the iteration formula </a:t>
                          </a:r>
                          <a14:m>
                            <m:oMath xmlns:m="http://schemas.openxmlformats.org/officeDocument/2006/math">
                              <m:sSub>
                                <m:sSubPr>
                                  <m:ctrlPr>
                                    <a:rPr lang="en-GB" sz="120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𝑛</m:t>
                                  </m:r>
                                  <m:r>
                                    <a:rPr lang="en-GB" sz="1200" b="0" i="1" noProof="0" smtClean="0">
                                      <a:solidFill>
                                        <a:schemeClr val="tx1"/>
                                      </a:solidFill>
                                      <a:latin typeface="Cambria Math" panose="02040503050406030204" pitchFamily="18" charset="0"/>
                                    </a:rPr>
                                    <m:t>+1</m:t>
                                  </m:r>
                                </m:sub>
                              </m:sSub>
                              <m:r>
                                <a:rPr lang="en-GB" sz="1200" b="0" i="0" noProof="0" smtClean="0">
                                  <a:solidFill>
                                    <a:schemeClr val="tx1"/>
                                  </a:solidFill>
                                  <a:latin typeface="Cambria Math" panose="02040503050406030204" pitchFamily="18" charset="0"/>
                                </a:rPr>
                                <m:t>=</m:t>
                              </m:r>
                              <m:rad>
                                <m:radPr>
                                  <m:ctrlPr>
                                    <a:rPr lang="en-GB" sz="1200" b="0" i="1" noProof="0" smtClean="0">
                                      <a:solidFill>
                                        <a:schemeClr val="tx1"/>
                                      </a:solidFill>
                                      <a:latin typeface="Cambria Math" panose="02040503050406030204" pitchFamily="18" charset="0"/>
                                      <a:ea typeface="Cambria Math" panose="02040503050406030204" pitchFamily="18" charset="0"/>
                                    </a:rPr>
                                  </m:ctrlPr>
                                </m:radPr>
                                <m:deg>
                                  <m:r>
                                    <a:rPr lang="en-GB" sz="1200" b="0" noProof="0" smtClean="0">
                                      <a:solidFill>
                                        <a:schemeClr val="tx1"/>
                                      </a:solidFill>
                                      <a:latin typeface="Cambria Math" panose="02040503050406030204" pitchFamily="18" charset="0"/>
                                      <a:ea typeface="Cambria Math" panose="02040503050406030204" pitchFamily="18" charset="0"/>
                                    </a:rPr>
                                    <m:t>3</m:t>
                                  </m:r>
                                </m:deg>
                                <m:e>
                                  <m:r>
                                    <a:rPr lang="en-GB" sz="1200" b="0" i="1" noProof="0" smtClean="0">
                                      <a:solidFill>
                                        <a:schemeClr val="tx1"/>
                                      </a:solidFill>
                                      <a:latin typeface="Cambria Math" panose="02040503050406030204" pitchFamily="18" charset="0"/>
                                      <a:ea typeface="Cambria Math" panose="02040503050406030204" pitchFamily="18" charset="0"/>
                                    </a:rPr>
                                    <m:t>24+25</m:t>
                                  </m:r>
                                  <m:sSub>
                                    <m:sSubPr>
                                      <m:ctrlPr>
                                        <a:rPr lang="en-GB" sz="1200" b="0" i="1" noProof="0" smtClean="0">
                                          <a:solidFill>
                                            <a:schemeClr val="tx1"/>
                                          </a:solidFill>
                                          <a:latin typeface="Cambria Math" panose="02040503050406030204" pitchFamily="18" charset="0"/>
                                          <a:ea typeface="Cambria Math" panose="02040503050406030204" pitchFamily="18" charset="0"/>
                                        </a:rPr>
                                      </m:ctrlPr>
                                    </m:sSubPr>
                                    <m:e>
                                      <m:r>
                                        <a:rPr lang="en-GB" sz="1200" b="0" i="1" noProof="0" smtClean="0">
                                          <a:solidFill>
                                            <a:schemeClr val="tx1"/>
                                          </a:solidFill>
                                          <a:latin typeface="Cambria Math" panose="02040503050406030204" pitchFamily="18" charset="0"/>
                                          <a:ea typeface="Cambria Math" panose="02040503050406030204" pitchFamily="18" charset="0"/>
                                        </a:rPr>
                                        <m:t>𝑥</m:t>
                                      </m:r>
                                    </m:e>
                                    <m:sub>
                                      <m:r>
                                        <a:rPr lang="en-GB" sz="1200" b="0" i="1" noProof="0" smtClean="0">
                                          <a:solidFill>
                                            <a:schemeClr val="tx1"/>
                                          </a:solidFill>
                                          <a:latin typeface="Cambria Math" panose="02040503050406030204" pitchFamily="18" charset="0"/>
                                          <a:ea typeface="Cambria Math" panose="02040503050406030204" pitchFamily="18" charset="0"/>
                                        </a:rPr>
                                        <m:t>𝑛</m:t>
                                      </m:r>
                                    </m:sub>
                                  </m:sSub>
                                </m:e>
                              </m:rad>
                            </m:oMath>
                          </a14:m>
                          <a:r>
                            <a:rPr lang="en-GB" sz="1200" b="0" noProof="0" dirty="0">
                              <a:solidFill>
                                <a:schemeClr val="tx1"/>
                              </a:solidFill>
                            </a:rPr>
                            <a:t> five</a:t>
                          </a:r>
                          <a:r>
                            <a:rPr lang="en-GB" sz="1200" b="0" baseline="0" noProof="0" dirty="0">
                              <a:solidFill>
                                <a:schemeClr val="tx1"/>
                              </a:solidFill>
                            </a:rPr>
                            <a:t> </a:t>
                          </a:r>
                          <a:r>
                            <a:rPr lang="en-GB" sz="1200" b="0" noProof="0" dirty="0">
                              <a:solidFill>
                                <a:schemeClr val="tx1"/>
                              </a:solidFill>
                            </a:rPr>
                            <a:t>times to find an estimate</a:t>
                          </a:r>
                          <a:r>
                            <a:rPr lang="en-GB" sz="1200" b="0" baseline="0" noProof="0" dirty="0">
                              <a:solidFill>
                                <a:schemeClr val="tx1"/>
                              </a:solidFill>
                            </a:rPr>
                            <a:t> for the solution of </a:t>
                          </a:r>
                          <a14:m>
                            <m:oMath xmlns:m="http://schemas.openxmlformats.org/officeDocument/2006/math">
                              <m:sSup>
                                <m:sSupPr>
                                  <m:ctrlPr>
                                    <a:rPr lang="en-GB" sz="1200" b="0" i="1" baseline="0" noProof="0" smtClean="0">
                                      <a:solidFill>
                                        <a:schemeClr val="tx1"/>
                                      </a:solidFill>
                                      <a:latin typeface="Cambria Math" panose="02040503050406030204" pitchFamily="18" charset="0"/>
                                      <a:ea typeface="Cambria Math" panose="02040503050406030204" pitchFamily="18" charset="0"/>
                                    </a:rPr>
                                  </m:ctrlPr>
                                </m:sSupPr>
                                <m:e>
                                  <m:r>
                                    <a:rPr lang="en-GB" sz="1200" b="0" i="1" baseline="0" noProof="0" smtClean="0">
                                      <a:solidFill>
                                        <a:schemeClr val="tx1"/>
                                      </a:solidFill>
                                      <a:latin typeface="Cambria Math" panose="02040503050406030204" pitchFamily="18" charset="0"/>
                                      <a:ea typeface="Cambria Math" panose="02040503050406030204" pitchFamily="18" charset="0"/>
                                    </a:rPr>
                                    <m:t>𝑥</m:t>
                                  </m:r>
                                </m:e>
                                <m:sup>
                                  <m:r>
                                    <a:rPr lang="en-GB" sz="1200" b="0" i="1" baseline="0" noProof="0" smtClean="0">
                                      <a:solidFill>
                                        <a:schemeClr val="tx1"/>
                                      </a:solidFill>
                                      <a:latin typeface="Cambria Math" panose="02040503050406030204" pitchFamily="18" charset="0"/>
                                      <a:ea typeface="Cambria Math" panose="02040503050406030204" pitchFamily="18" charset="0"/>
                                    </a:rPr>
                                    <m:t>3</m:t>
                                  </m:r>
                                </m:sup>
                              </m:sSup>
                              <m:r>
                                <a:rPr lang="en-GB" sz="1200" b="0" i="1" baseline="0" noProof="0" smtClean="0">
                                  <a:solidFill>
                                    <a:schemeClr val="tx1"/>
                                  </a:solidFill>
                                  <a:latin typeface="Cambria Math" panose="02040503050406030204" pitchFamily="18" charset="0"/>
                                  <a:ea typeface="Cambria Math" panose="02040503050406030204" pitchFamily="18" charset="0"/>
                                </a:rPr>
                                <m:t>−24=5</m:t>
                              </m:r>
                              <m:r>
                                <a:rPr lang="en-GB" sz="1200" b="0" i="1" baseline="0" noProof="0" smtClean="0">
                                  <a:solidFill>
                                    <a:schemeClr val="tx1"/>
                                  </a:solidFill>
                                  <a:latin typeface="Cambria Math" panose="02040503050406030204" pitchFamily="18" charset="0"/>
                                  <a:ea typeface="Cambria Math" panose="02040503050406030204" pitchFamily="18" charset="0"/>
                                </a:rPr>
                                <m:t>𝑥</m:t>
                              </m:r>
                            </m:oMath>
                          </a14:m>
                          <a:r>
                            <a:rPr lang="en-GB" sz="1200" b="0" noProof="0" dirty="0">
                              <a:solidFill>
                                <a:schemeClr val="tx1"/>
                              </a:solidFill>
                            </a:rPr>
                            <a:t> </a:t>
                          </a:r>
                        </a:p>
                        <a:p>
                          <a:pPr algn="l"/>
                          <a:endParaRPr lang="en-GB" sz="1200" b="0" baseline="0" noProof="0" dirty="0">
                            <a:solidFill>
                              <a:schemeClr val="tx1"/>
                            </a:solidFill>
                          </a:endParaRPr>
                        </a:p>
                        <a:p>
                          <a:pPr algn="l"/>
                          <a:r>
                            <a:rPr lang="en-GB" sz="1200" b="0" baseline="0" noProof="0" dirty="0">
                              <a:solidFill>
                                <a:schemeClr val="tx1"/>
                              </a:solidFill>
                            </a:rPr>
                            <a:t>Round your final answer to 3 decimal places. </a:t>
                          </a: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9470708"/>
                      </a:ext>
                    </a:extLst>
                  </a:tr>
                </a:tbl>
              </a:graphicData>
            </a:graphic>
          </p:graphicFrame>
        </mc:Choice>
        <mc:Fallback xmlns="">
          <p:graphicFrame>
            <p:nvGraphicFramePr>
              <p:cNvPr id="8" name="Table 7">
                <a:extLst>
                  <a:ext uri="{FF2B5EF4-FFF2-40B4-BE49-F238E27FC236}">
                    <a16:creationId xmlns:a16="http://schemas.microsoft.com/office/drawing/2014/main" id="{4ACD16A4-BBCA-60A1-46E5-B0B2B65932A5}"/>
                  </a:ext>
                </a:extLst>
              </p:cNvPr>
              <p:cNvGraphicFramePr>
                <a:graphicFrameLocks noGrp="1"/>
              </p:cNvGraphicFramePr>
              <p:nvPr>
                <p:extLst>
                  <p:ext uri="{D42A27DB-BD31-4B8C-83A1-F6EECF244321}">
                    <p14:modId xmlns:p14="http://schemas.microsoft.com/office/powerpoint/2010/main" val="2524587057"/>
                  </p:ext>
                </p:extLst>
              </p:nvPr>
            </p:nvGraphicFramePr>
            <p:xfrm>
              <a:off x="179295" y="1214112"/>
              <a:ext cx="6548076" cy="8596831"/>
            </p:xfrm>
            <a:graphic>
              <a:graphicData uri="http://schemas.openxmlformats.org/drawingml/2006/table">
                <a:tbl>
                  <a:tblPr firstRow="1" bandRow="1">
                    <a:tableStyleId>{5C22544A-7EE6-4342-B048-85BDC9FD1C3A}</a:tableStyleId>
                  </a:tblPr>
                  <a:tblGrid>
                    <a:gridCol w="6548076">
                      <a:extLst>
                        <a:ext uri="{9D8B030D-6E8A-4147-A177-3AD203B41FA5}">
                          <a16:colId xmlns:a16="http://schemas.microsoft.com/office/drawing/2014/main" val="3551711160"/>
                        </a:ext>
                      </a:extLst>
                    </a:gridCol>
                  </a:tblGrid>
                  <a:tr h="2743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13 -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416909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 t="-6725" r="-186" b="-100000"/>
                          </a:stretch>
                        </a:blipFill>
                      </a:tcPr>
                    </a:tc>
                    <a:extLst>
                      <a:ext uri="{0D108BD9-81ED-4DB2-BD59-A6C34878D82A}">
                        <a16:rowId xmlns:a16="http://schemas.microsoft.com/office/drawing/2014/main" val="2357201933"/>
                      </a:ext>
                    </a:extLst>
                  </a:tr>
                  <a:tr h="32620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14 -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382721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 t="-124841" r="-186" b="-318"/>
                          </a:stretch>
                        </a:blipFill>
                      </a:tcPr>
                    </a:tc>
                    <a:extLst>
                      <a:ext uri="{0D108BD9-81ED-4DB2-BD59-A6C34878D82A}">
                        <a16:rowId xmlns:a16="http://schemas.microsoft.com/office/drawing/2014/main" val="2789470708"/>
                      </a:ext>
                    </a:extLst>
                  </a:tr>
                </a:tbl>
              </a:graphicData>
            </a:graphic>
          </p:graphicFrame>
        </mc:Fallback>
      </mc:AlternateContent>
      <p:sp>
        <p:nvSpPr>
          <p:cNvPr id="2" name="Slide Number Placeholder 1"/>
          <p:cNvSpPr>
            <a:spLocks noGrp="1"/>
          </p:cNvSpPr>
          <p:nvPr>
            <p:ph type="sldNum" sz="quarter" idx="12"/>
          </p:nvPr>
        </p:nvSpPr>
        <p:spPr>
          <a:xfrm>
            <a:off x="5314950" y="9547242"/>
            <a:ext cx="1543050" cy="527403"/>
          </a:xfrm>
        </p:spPr>
        <p:txBody>
          <a:bodyPr/>
          <a:lstStyle/>
          <a:p>
            <a:fld id="{9BD3B4A0-BFF9-422C-B253-48BA94BE2F5B}" type="slidenum">
              <a:rPr lang="en-GB" noProof="0" smtClean="0"/>
              <a:t>65</a:t>
            </a:fld>
            <a:endParaRPr lang="en-GB" noProof="0" dirty="0"/>
          </a:p>
        </p:txBody>
      </p:sp>
      <p:sp>
        <p:nvSpPr>
          <p:cNvPr id="3" name="TextBox 2">
            <a:extLst>
              <a:ext uri="{FF2B5EF4-FFF2-40B4-BE49-F238E27FC236}">
                <a16:creationId xmlns:a16="http://schemas.microsoft.com/office/drawing/2014/main" id="{1B91975E-B426-4910-919C-E3C5554DC081}"/>
              </a:ext>
            </a:extLst>
          </p:cNvPr>
          <p:cNvSpPr txBox="1"/>
          <p:nvPr/>
        </p:nvSpPr>
        <p:spPr>
          <a:xfrm>
            <a:off x="179295" y="0"/>
            <a:ext cx="2301720" cy="276999"/>
          </a:xfrm>
          <a:prstGeom prst="rect">
            <a:avLst/>
          </a:prstGeom>
          <a:solidFill>
            <a:srgbClr val="0070C0"/>
          </a:solidFill>
        </p:spPr>
        <p:txBody>
          <a:bodyPr wrap="square" rtlCol="0" anchor="ctr">
            <a:spAutoFit/>
          </a:bodyPr>
          <a:lstStyle/>
          <a:p>
            <a:pPr algn="ctr"/>
            <a:r>
              <a:rPr lang="en-GB" sz="1200" b="1" noProof="0" dirty="0">
                <a:solidFill>
                  <a:schemeClr val="bg1"/>
                </a:solidFill>
              </a:rPr>
              <a:t>ITERATION TO SOLVE EQUATIONS</a:t>
            </a:r>
          </a:p>
        </p:txBody>
      </p:sp>
      <p:sp>
        <p:nvSpPr>
          <p:cNvPr id="4" name="TextBox 3">
            <a:extLst>
              <a:ext uri="{FF2B5EF4-FFF2-40B4-BE49-F238E27FC236}">
                <a16:creationId xmlns:a16="http://schemas.microsoft.com/office/drawing/2014/main" id="{F3A8721F-0090-2F3C-4AAF-D24D4DF75832}"/>
              </a:ext>
            </a:extLst>
          </p:cNvPr>
          <p:cNvSpPr txBox="1"/>
          <p:nvPr/>
        </p:nvSpPr>
        <p:spPr>
          <a:xfrm>
            <a:off x="164861" y="283807"/>
            <a:ext cx="6562510" cy="830997"/>
          </a:xfrm>
          <a:prstGeom prst="rect">
            <a:avLst/>
          </a:prstGeom>
          <a:noFill/>
          <a:ln>
            <a:solidFill>
              <a:schemeClr val="tx1"/>
            </a:solidFill>
          </a:ln>
        </p:spPr>
        <p:txBody>
          <a:bodyPr wrap="square" rtlCol="0">
            <a:spAutoFit/>
          </a:bodyPr>
          <a:lstStyle/>
          <a:p>
            <a:r>
              <a:rPr lang="en-GB" sz="1200" noProof="0" dirty="0"/>
              <a:t>We now combine our skills of iteration with our prior knowledge of rearranging/changing the subject. This is an unusual step, but you are always given a part (a) and told ‘what to aim for’ and sometimes you need to try some trial and error before you accurately rearrange as asked. The examples below show this.</a:t>
            </a:r>
          </a:p>
        </p:txBody>
      </p:sp>
    </p:spTree>
    <p:extLst>
      <p:ext uri="{BB962C8B-B14F-4D97-AF65-F5344CB8AC3E}">
        <p14:creationId xmlns:p14="http://schemas.microsoft.com/office/powerpoint/2010/main" val="31864295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913B32-27AB-5B67-CEB6-E8928430AE21}"/>
              </a:ext>
            </a:extLst>
          </p:cNvPr>
          <p:cNvSpPr>
            <a:spLocks noGrp="1"/>
          </p:cNvSpPr>
          <p:nvPr>
            <p:ph type="sldNum" sz="quarter" idx="12"/>
          </p:nvPr>
        </p:nvSpPr>
        <p:spPr>
          <a:xfrm>
            <a:off x="5314950" y="9181397"/>
            <a:ext cx="1543050" cy="527403"/>
          </a:xfrm>
        </p:spPr>
        <p:txBody>
          <a:bodyPr/>
          <a:lstStyle/>
          <a:p>
            <a:fld id="{9BD3B4A0-BFF9-422C-B253-48BA94BE2F5B}" type="slidenum">
              <a:rPr lang="en-GB" noProof="0" smtClean="0"/>
              <a:t>66</a:t>
            </a:fld>
            <a:endParaRPr lang="en-GB" noProof="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6C24484-F851-3E7A-A244-7988E52570CC}"/>
                  </a:ext>
                </a:extLst>
              </p:cNvPr>
              <p:cNvGraphicFramePr>
                <a:graphicFrameLocks noGrp="1"/>
              </p:cNvGraphicFramePr>
              <p:nvPr>
                <p:extLst>
                  <p:ext uri="{D42A27DB-BD31-4B8C-83A1-F6EECF244321}">
                    <p14:modId xmlns:p14="http://schemas.microsoft.com/office/powerpoint/2010/main" val="2329236917"/>
                  </p:ext>
                </p:extLst>
              </p:nvPr>
            </p:nvGraphicFramePr>
            <p:xfrm>
              <a:off x="201706" y="197200"/>
              <a:ext cx="6525665" cy="9511600"/>
            </p:xfrm>
            <a:graphic>
              <a:graphicData uri="http://schemas.openxmlformats.org/drawingml/2006/table">
                <a:tbl>
                  <a:tblPr firstRow="1" bandRow="1">
                    <a:tableStyleId>{5C22544A-7EE6-4342-B048-85BDC9FD1C3A}</a:tableStyleId>
                  </a:tblPr>
                  <a:tblGrid>
                    <a:gridCol w="6525665">
                      <a:extLst>
                        <a:ext uri="{9D8B030D-6E8A-4147-A177-3AD203B41FA5}">
                          <a16:colId xmlns:a16="http://schemas.microsoft.com/office/drawing/2014/main" val="1643623833"/>
                        </a:ext>
                      </a:extLst>
                    </a:gridCol>
                  </a:tblGrid>
                  <a:tr h="5029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15 -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7410588"/>
                      </a:ext>
                    </a:extLst>
                  </a:tr>
                  <a:tr h="9008682">
                    <a:tc>
                      <a:txBody>
                        <a:bodyPr/>
                        <a:lstStyle/>
                        <a:p>
                          <a:pPr algn="l"/>
                          <a:r>
                            <a:rPr lang="en-GB" sz="1200" b="0" noProof="0" dirty="0">
                              <a:solidFill>
                                <a:schemeClr val="tx1"/>
                              </a:solidFill>
                            </a:rPr>
                            <a:t>a) Show that the equation </a:t>
                          </a:r>
                          <a:r>
                            <a:rPr lang="en-GB" sz="1200" b="0" baseline="0" noProof="0" dirty="0">
                              <a:solidFill>
                                <a:schemeClr val="tx1"/>
                              </a:solidFill>
                            </a:rPr>
                            <a:t> </a:t>
                          </a:r>
                          <a14:m>
                            <m:oMath xmlns:m="http://schemas.openxmlformats.org/officeDocument/2006/math">
                              <m:sSup>
                                <m:sSupPr>
                                  <m:ctrlPr>
                                    <a:rPr lang="en-GB" sz="1200" b="0" i="1" noProof="0">
                                      <a:solidFill>
                                        <a:schemeClr val="tx1"/>
                                      </a:solidFill>
                                      <a:latin typeface="Cambria Math" panose="02040503050406030204" pitchFamily="18" charset="0"/>
                                    </a:rPr>
                                  </m:ctrlPr>
                                </m:sSupPr>
                                <m:e>
                                  <m:r>
                                    <a:rPr lang="en-GB" sz="1200" b="0" i="1" noProof="0">
                                      <a:solidFill>
                                        <a:schemeClr val="tx1"/>
                                      </a:solidFill>
                                      <a:latin typeface="Cambria Math" panose="02040503050406030204" pitchFamily="18" charset="0"/>
                                    </a:rPr>
                                    <m:t>𝑥</m:t>
                                  </m:r>
                                </m:e>
                                <m:sup>
                                  <m:r>
                                    <a:rPr lang="en-GB" sz="1200" b="0" i="1" noProof="0">
                                      <a:solidFill>
                                        <a:schemeClr val="tx1"/>
                                      </a:solidFill>
                                      <a:latin typeface="Cambria Math" panose="02040503050406030204" pitchFamily="18" charset="0"/>
                                    </a:rPr>
                                    <m:t>3</m:t>
                                  </m:r>
                                </m:sup>
                              </m:sSup>
                              <m:r>
                                <a:rPr lang="en-GB" sz="1200" b="0" i="1" noProof="0">
                                  <a:solidFill>
                                    <a:schemeClr val="tx1"/>
                                  </a:solidFill>
                                  <a:latin typeface="Cambria Math" panose="02040503050406030204" pitchFamily="18" charset="0"/>
                                </a:rPr>
                                <m:t>−</m:t>
                              </m:r>
                              <m:r>
                                <a:rPr lang="en-GB" sz="1200" b="0" i="1" noProof="0">
                                  <a:solidFill>
                                    <a:schemeClr val="tx1"/>
                                  </a:solidFill>
                                  <a:latin typeface="Cambria Math" panose="02040503050406030204" pitchFamily="18" charset="0"/>
                                </a:rPr>
                                <m:t>𝑥</m:t>
                              </m:r>
                              <m:r>
                                <a:rPr lang="en-GB" sz="1200" b="0" i="1" noProof="0">
                                  <a:solidFill>
                                    <a:schemeClr val="tx1"/>
                                  </a:solidFill>
                                  <a:latin typeface="Cambria Math" panose="02040503050406030204" pitchFamily="18" charset="0"/>
                                </a:rPr>
                                <m:t>−19=0</m:t>
                              </m:r>
                            </m:oMath>
                          </a14:m>
                          <a:r>
                            <a:rPr lang="en-GB" sz="1200" b="0" noProof="0" dirty="0">
                              <a:solidFill>
                                <a:schemeClr val="tx1"/>
                              </a:solidFill>
                            </a:rPr>
                            <a:t> can be arranged to give </a:t>
                          </a:r>
                          <a14:m>
                            <m:oMath xmlns:m="http://schemas.openxmlformats.org/officeDocument/2006/math">
                              <m:r>
                                <a:rPr lang="en-GB" sz="1200" b="0" i="1" noProof="0">
                                  <a:solidFill>
                                    <a:schemeClr val="tx1"/>
                                  </a:solidFill>
                                  <a:latin typeface="Cambria Math" panose="02040503050406030204" pitchFamily="18" charset="0"/>
                                </a:rPr>
                                <m:t>𝑥</m:t>
                              </m:r>
                              <m:r>
                                <a:rPr lang="en-GB" sz="1200" b="0" i="1" noProof="0">
                                  <a:solidFill>
                                    <a:schemeClr val="tx1"/>
                                  </a:solidFill>
                                  <a:latin typeface="Cambria Math" panose="02040503050406030204" pitchFamily="18" charset="0"/>
                                </a:rPr>
                                <m:t>=</m:t>
                              </m:r>
                              <m:rad>
                                <m:radPr>
                                  <m:ctrlPr>
                                    <a:rPr lang="en-GB" sz="1200" b="0" i="1" noProof="0">
                                      <a:solidFill>
                                        <a:schemeClr val="tx1"/>
                                      </a:solidFill>
                                      <a:latin typeface="Cambria Math" panose="02040503050406030204" pitchFamily="18" charset="0"/>
                                    </a:rPr>
                                  </m:ctrlPr>
                                </m:radPr>
                                <m:deg>
                                  <m:r>
                                    <a:rPr lang="en-GB" sz="1200" b="0" noProof="0">
                                      <a:solidFill>
                                        <a:schemeClr val="tx1"/>
                                      </a:solidFill>
                                      <a:latin typeface="Cambria Math" panose="02040503050406030204" pitchFamily="18" charset="0"/>
                                    </a:rPr>
                                    <m:t>3</m:t>
                                  </m:r>
                                </m:deg>
                                <m:e>
                                  <m:r>
                                    <a:rPr lang="en-GB" sz="1200" b="0" i="1" noProof="0">
                                      <a:solidFill>
                                        <a:schemeClr val="tx1"/>
                                      </a:solidFill>
                                      <a:latin typeface="Cambria Math" panose="02040503050406030204" pitchFamily="18" charset="0"/>
                                    </a:rPr>
                                    <m:t>𝑥</m:t>
                                  </m:r>
                                  <m:r>
                                    <a:rPr lang="en-GB" sz="1200" b="0" i="1" noProof="0">
                                      <a:solidFill>
                                        <a:schemeClr val="tx1"/>
                                      </a:solidFill>
                                      <a:latin typeface="Cambria Math" panose="02040503050406030204" pitchFamily="18" charset="0"/>
                                    </a:rPr>
                                    <m:t>+19</m:t>
                                  </m:r>
                                </m:e>
                              </m:rad>
                            </m:oMath>
                          </a14:m>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algn="l"/>
                          <a:r>
                            <a:rPr lang="en-GB" sz="1200" b="0" noProof="0" dirty="0">
                              <a:solidFill>
                                <a:schemeClr val="tx1"/>
                              </a:solidFill>
                            </a:rPr>
                            <a:t>b) Starting with </a:t>
                          </a:r>
                          <a14:m>
                            <m:oMath xmlns:m="http://schemas.openxmlformats.org/officeDocument/2006/math">
                              <m:sSub>
                                <m:sSubPr>
                                  <m:ctrlPr>
                                    <a:rPr lang="en-GB" sz="1200" b="0" i="1" noProof="0">
                                      <a:solidFill>
                                        <a:schemeClr val="tx1"/>
                                      </a:solidFill>
                                      <a:latin typeface="Cambria Math" panose="02040503050406030204" pitchFamily="18" charset="0"/>
                                    </a:rPr>
                                  </m:ctrlPr>
                                </m:sSubPr>
                                <m:e>
                                  <m:r>
                                    <a:rPr lang="en-GB" sz="1200" b="0" i="1" noProof="0">
                                      <a:solidFill>
                                        <a:schemeClr val="tx1"/>
                                      </a:solidFill>
                                      <a:latin typeface="Cambria Math" panose="02040503050406030204" pitchFamily="18" charset="0"/>
                                    </a:rPr>
                                    <m:t>𝑥</m:t>
                                  </m:r>
                                </m:e>
                                <m:sub>
                                  <m:r>
                                    <a:rPr lang="en-GB" sz="1200" b="0" i="1" noProof="0" smtClean="0">
                                      <a:solidFill>
                                        <a:schemeClr val="tx1"/>
                                      </a:solidFill>
                                      <a:latin typeface="Cambria Math" panose="02040503050406030204" pitchFamily="18" charset="0"/>
                                    </a:rPr>
                                    <m:t>1</m:t>
                                  </m:r>
                                </m:sub>
                              </m:sSub>
                              <m:r>
                                <a:rPr lang="en-GB" sz="1200" b="0" i="1" noProof="0">
                                  <a:solidFill>
                                    <a:schemeClr val="tx1"/>
                                  </a:solidFill>
                                  <a:latin typeface="Cambria Math" panose="02040503050406030204" pitchFamily="18" charset="0"/>
                                </a:rPr>
                                <m:t>=0</m:t>
                              </m:r>
                            </m:oMath>
                          </a14:m>
                          <a:r>
                            <a:rPr lang="en-GB" sz="1200" b="0" noProof="0" dirty="0">
                              <a:solidFill>
                                <a:schemeClr val="tx1"/>
                              </a:solidFill>
                            </a:rPr>
                            <a:t>, use the iteration formula </a:t>
                          </a:r>
                          <a14:m>
                            <m:oMath xmlns:m="http://schemas.openxmlformats.org/officeDocument/2006/math">
                              <m:sSub>
                                <m:sSubPr>
                                  <m:ctrlPr>
                                    <a:rPr lang="en-GB" sz="1200" b="0" i="1" noProof="0">
                                      <a:solidFill>
                                        <a:schemeClr val="tx1"/>
                                      </a:solidFill>
                                      <a:latin typeface="Cambria Math" panose="02040503050406030204" pitchFamily="18" charset="0"/>
                                    </a:rPr>
                                  </m:ctrlPr>
                                </m:sSubPr>
                                <m:e>
                                  <m:r>
                                    <a:rPr lang="en-GB" sz="1200" b="0" i="1" noProof="0">
                                      <a:solidFill>
                                        <a:schemeClr val="tx1"/>
                                      </a:solidFill>
                                      <a:latin typeface="Cambria Math" panose="02040503050406030204" pitchFamily="18" charset="0"/>
                                    </a:rPr>
                                    <m:t>𝑥</m:t>
                                  </m:r>
                                </m:e>
                                <m:sub>
                                  <m:r>
                                    <a:rPr lang="en-GB" sz="1200" b="0" i="1" noProof="0">
                                      <a:solidFill>
                                        <a:schemeClr val="tx1"/>
                                      </a:solidFill>
                                      <a:latin typeface="Cambria Math" panose="02040503050406030204" pitchFamily="18" charset="0"/>
                                    </a:rPr>
                                    <m:t>𝑛</m:t>
                                  </m:r>
                                  <m:r>
                                    <a:rPr lang="en-GB" sz="1200" b="0" i="1" noProof="0">
                                      <a:solidFill>
                                        <a:schemeClr val="tx1"/>
                                      </a:solidFill>
                                      <a:latin typeface="Cambria Math" panose="02040503050406030204" pitchFamily="18" charset="0"/>
                                    </a:rPr>
                                    <m:t>+1</m:t>
                                  </m:r>
                                </m:sub>
                              </m:sSub>
                              <m:r>
                                <a:rPr lang="en-GB" sz="1200" b="0" i="1" noProof="0">
                                  <a:solidFill>
                                    <a:schemeClr val="tx1"/>
                                  </a:solidFill>
                                  <a:latin typeface="Cambria Math" panose="02040503050406030204" pitchFamily="18" charset="0"/>
                                </a:rPr>
                                <m:t>=</m:t>
                              </m:r>
                              <m:rad>
                                <m:radPr>
                                  <m:ctrlPr>
                                    <a:rPr lang="en-GB" sz="1200" b="0" i="1" noProof="0">
                                      <a:solidFill>
                                        <a:schemeClr val="tx1"/>
                                      </a:solidFill>
                                      <a:latin typeface="Cambria Math" panose="02040503050406030204" pitchFamily="18" charset="0"/>
                                    </a:rPr>
                                  </m:ctrlPr>
                                </m:radPr>
                                <m:deg>
                                  <m:r>
                                    <a:rPr lang="en-GB" sz="1200" b="0" noProof="0">
                                      <a:solidFill>
                                        <a:schemeClr val="tx1"/>
                                      </a:solidFill>
                                      <a:latin typeface="Cambria Math" panose="02040503050406030204" pitchFamily="18" charset="0"/>
                                    </a:rPr>
                                    <m:t>3</m:t>
                                  </m:r>
                                </m:deg>
                                <m:e>
                                  <m:sSub>
                                    <m:sSubPr>
                                      <m:ctrlPr>
                                        <a:rPr lang="en-GB" sz="1200" b="0" i="1" noProof="0">
                                          <a:solidFill>
                                            <a:schemeClr val="tx1"/>
                                          </a:solidFill>
                                          <a:latin typeface="Cambria Math" panose="02040503050406030204" pitchFamily="18" charset="0"/>
                                        </a:rPr>
                                      </m:ctrlPr>
                                    </m:sSubPr>
                                    <m:e>
                                      <m:r>
                                        <a:rPr lang="en-GB" sz="1200" b="0" i="1" noProof="0">
                                          <a:solidFill>
                                            <a:schemeClr val="tx1"/>
                                          </a:solidFill>
                                          <a:latin typeface="Cambria Math" panose="02040503050406030204" pitchFamily="18" charset="0"/>
                                        </a:rPr>
                                        <m:t>𝑥</m:t>
                                      </m:r>
                                    </m:e>
                                    <m:sub>
                                      <m:r>
                                        <a:rPr lang="en-GB" sz="1200" b="0" i="1" noProof="0">
                                          <a:solidFill>
                                            <a:schemeClr val="tx1"/>
                                          </a:solidFill>
                                          <a:latin typeface="Cambria Math" panose="02040503050406030204" pitchFamily="18" charset="0"/>
                                        </a:rPr>
                                        <m:t>𝑛</m:t>
                                      </m:r>
                                    </m:sub>
                                  </m:sSub>
                                  <m:r>
                                    <a:rPr lang="en-GB" sz="1200" b="0" i="1" noProof="0">
                                      <a:solidFill>
                                        <a:schemeClr val="tx1"/>
                                      </a:solidFill>
                                      <a:latin typeface="Cambria Math" panose="02040503050406030204" pitchFamily="18" charset="0"/>
                                    </a:rPr>
                                    <m:t>+19</m:t>
                                  </m:r>
                                </m:e>
                              </m:rad>
                            </m:oMath>
                          </a14:m>
                          <a:r>
                            <a:rPr lang="en-GB" sz="1200" b="0" noProof="0" dirty="0">
                              <a:solidFill>
                                <a:schemeClr val="tx1"/>
                              </a:solidFill>
                            </a:rPr>
                            <a:t> four times to find an approximate solution to</a:t>
                          </a:r>
                          <a:r>
                            <a:rPr lang="en-GB" sz="1200" b="0" baseline="0" noProof="0" dirty="0">
                              <a:solidFill>
                                <a:schemeClr val="tx1"/>
                              </a:solidFill>
                            </a:rPr>
                            <a:t>  </a:t>
                          </a:r>
                          <a:r>
                            <a:rPr lang="en-GB" sz="1200" b="0" noProof="0" dirty="0">
                              <a:solidFill>
                                <a:schemeClr val="tx1"/>
                              </a:solidFill>
                            </a:rPr>
                            <a:t> </a:t>
                          </a:r>
                          <a14:m>
                            <m:oMath xmlns:m="http://schemas.openxmlformats.org/officeDocument/2006/math">
                              <m:sSup>
                                <m:sSupPr>
                                  <m:ctrlPr>
                                    <a:rPr lang="en-GB" sz="1200" b="0" i="1" noProof="0">
                                      <a:solidFill>
                                        <a:schemeClr val="tx1"/>
                                      </a:solidFill>
                                      <a:latin typeface="Cambria Math" panose="02040503050406030204" pitchFamily="18" charset="0"/>
                                    </a:rPr>
                                  </m:ctrlPr>
                                </m:sSupPr>
                                <m:e>
                                  <m:r>
                                    <a:rPr lang="en-GB" sz="1200" b="0" i="1" noProof="0">
                                      <a:solidFill>
                                        <a:schemeClr val="tx1"/>
                                      </a:solidFill>
                                      <a:latin typeface="Cambria Math" panose="02040503050406030204" pitchFamily="18" charset="0"/>
                                    </a:rPr>
                                    <m:t>𝑥</m:t>
                                  </m:r>
                                </m:e>
                                <m:sup>
                                  <m:r>
                                    <a:rPr lang="en-GB" sz="1200" b="0" i="1" noProof="0">
                                      <a:solidFill>
                                        <a:schemeClr val="tx1"/>
                                      </a:solidFill>
                                      <a:latin typeface="Cambria Math" panose="02040503050406030204" pitchFamily="18" charset="0"/>
                                    </a:rPr>
                                    <m:t>3</m:t>
                                  </m:r>
                                </m:sup>
                              </m:sSup>
                              <m:r>
                                <a:rPr lang="en-GB" sz="1200" b="0" i="1" noProof="0">
                                  <a:solidFill>
                                    <a:schemeClr val="tx1"/>
                                  </a:solidFill>
                                  <a:latin typeface="Cambria Math" panose="02040503050406030204" pitchFamily="18" charset="0"/>
                                </a:rPr>
                                <m:t>−</m:t>
                              </m:r>
                              <m:r>
                                <a:rPr lang="en-GB" sz="1200" b="0" i="1" noProof="0">
                                  <a:solidFill>
                                    <a:schemeClr val="tx1"/>
                                  </a:solidFill>
                                  <a:latin typeface="Cambria Math" panose="02040503050406030204" pitchFamily="18" charset="0"/>
                                </a:rPr>
                                <m:t>𝑥</m:t>
                              </m:r>
                              <m:r>
                                <a:rPr lang="en-GB" sz="1200" b="0" i="1" noProof="0">
                                  <a:solidFill>
                                    <a:schemeClr val="tx1"/>
                                  </a:solidFill>
                                  <a:latin typeface="Cambria Math" panose="02040503050406030204" pitchFamily="18" charset="0"/>
                                </a:rPr>
                                <m:t>−19=0</m:t>
                              </m:r>
                            </m:oMath>
                          </a14:m>
                          <a:endParaRPr lang="en-GB" sz="1200" b="0" noProof="0" dirty="0">
                            <a:solidFill>
                              <a:schemeClr val="tx1"/>
                            </a:solidFill>
                          </a:endParaRPr>
                        </a:p>
                        <a:p>
                          <a:pPr algn="l"/>
                          <a:endParaRPr lang="en-GB" sz="1200" b="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baseline="0" noProof="0" dirty="0">
                              <a:solidFill>
                                <a:schemeClr val="tx1"/>
                              </a:solidFill>
                            </a:rPr>
                            <a:t>Round your answer to 3 decimal places. </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c) Substitute your answer to part (b) into the original equation, and comment on the accuracy of the estimated solution.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72963523"/>
                      </a:ext>
                    </a:extLst>
                  </a:tr>
                </a:tbl>
              </a:graphicData>
            </a:graphic>
          </p:graphicFrame>
        </mc:Choice>
        <mc:Fallback xmlns="">
          <p:graphicFrame>
            <p:nvGraphicFramePr>
              <p:cNvPr id="3" name="Table 2">
                <a:extLst>
                  <a:ext uri="{FF2B5EF4-FFF2-40B4-BE49-F238E27FC236}">
                    <a16:creationId xmlns:a16="http://schemas.microsoft.com/office/drawing/2014/main" id="{B6C24484-F851-3E7A-A244-7988E52570CC}"/>
                  </a:ext>
                </a:extLst>
              </p:cNvPr>
              <p:cNvGraphicFramePr>
                <a:graphicFrameLocks noGrp="1"/>
              </p:cNvGraphicFramePr>
              <p:nvPr>
                <p:extLst>
                  <p:ext uri="{D42A27DB-BD31-4B8C-83A1-F6EECF244321}">
                    <p14:modId xmlns:p14="http://schemas.microsoft.com/office/powerpoint/2010/main" val="2329236917"/>
                  </p:ext>
                </p:extLst>
              </p:nvPr>
            </p:nvGraphicFramePr>
            <p:xfrm>
              <a:off x="201706" y="197200"/>
              <a:ext cx="6525665" cy="9511600"/>
            </p:xfrm>
            <a:graphic>
              <a:graphicData uri="http://schemas.openxmlformats.org/drawingml/2006/table">
                <a:tbl>
                  <a:tblPr firstRow="1" bandRow="1">
                    <a:tableStyleId>{5C22544A-7EE6-4342-B048-85BDC9FD1C3A}</a:tableStyleId>
                  </a:tblPr>
                  <a:tblGrid>
                    <a:gridCol w="6525665">
                      <a:extLst>
                        <a:ext uri="{9D8B030D-6E8A-4147-A177-3AD203B41FA5}">
                          <a16:colId xmlns:a16="http://schemas.microsoft.com/office/drawing/2014/main" val="1643623833"/>
                        </a:ext>
                      </a:extLst>
                    </a:gridCol>
                  </a:tblGrid>
                  <a:tr h="5029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15 -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7410588"/>
                      </a:ext>
                    </a:extLst>
                  </a:tr>
                  <a:tr h="900868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 t="-5683" r="-187" b="-135"/>
                          </a:stretch>
                        </a:blipFill>
                      </a:tcPr>
                    </a:tc>
                    <a:extLst>
                      <a:ext uri="{0D108BD9-81ED-4DB2-BD59-A6C34878D82A}">
                        <a16:rowId xmlns:a16="http://schemas.microsoft.com/office/drawing/2014/main" val="3472963523"/>
                      </a:ext>
                    </a:extLst>
                  </a:tr>
                </a:tbl>
              </a:graphicData>
            </a:graphic>
          </p:graphicFrame>
        </mc:Fallback>
      </mc:AlternateContent>
    </p:spTree>
    <p:extLst>
      <p:ext uri="{BB962C8B-B14F-4D97-AF65-F5344CB8AC3E}">
        <p14:creationId xmlns:p14="http://schemas.microsoft.com/office/powerpoint/2010/main" val="6882740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9F31-C121-8E8C-D724-3EF8815FC31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75FE38-4DC8-97E2-786C-B1D03034B272}"/>
              </a:ext>
            </a:extLst>
          </p:cNvPr>
          <p:cNvSpPr>
            <a:spLocks noGrp="1"/>
          </p:cNvSpPr>
          <p:nvPr>
            <p:ph type="sldNum" sz="quarter" idx="12"/>
          </p:nvPr>
        </p:nvSpPr>
        <p:spPr>
          <a:xfrm>
            <a:off x="5314950" y="9547242"/>
            <a:ext cx="1543050" cy="527403"/>
          </a:xfrm>
        </p:spPr>
        <p:txBody>
          <a:bodyPr/>
          <a:lstStyle/>
          <a:p>
            <a:fld id="{9BD3B4A0-BFF9-422C-B253-48BA94BE2F5B}" type="slidenum">
              <a:rPr lang="en-GB" noProof="0" smtClean="0"/>
              <a:t>67</a:t>
            </a:fld>
            <a:endParaRPr lang="en-GB" noProof="0" dirty="0"/>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F005F112-78B3-BC6C-26D1-D507507EAD61}"/>
                  </a:ext>
                </a:extLst>
              </p:cNvPr>
              <p:cNvGraphicFramePr>
                <a:graphicFrameLocks noGrp="1"/>
              </p:cNvGraphicFramePr>
              <p:nvPr>
                <p:extLst>
                  <p:ext uri="{D42A27DB-BD31-4B8C-83A1-F6EECF244321}">
                    <p14:modId xmlns:p14="http://schemas.microsoft.com/office/powerpoint/2010/main" val="338878077"/>
                  </p:ext>
                </p:extLst>
              </p:nvPr>
            </p:nvGraphicFramePr>
            <p:xfrm>
              <a:off x="154962" y="47528"/>
              <a:ext cx="6548076" cy="9810944"/>
            </p:xfrm>
            <a:graphic>
              <a:graphicData uri="http://schemas.openxmlformats.org/drawingml/2006/table">
                <a:tbl>
                  <a:tblPr firstRow="1" bandRow="1">
                    <a:tableStyleId>{5C22544A-7EE6-4342-B048-85BDC9FD1C3A}</a:tableStyleId>
                  </a:tblPr>
                  <a:tblGrid>
                    <a:gridCol w="6548076">
                      <a:extLst>
                        <a:ext uri="{9D8B030D-6E8A-4147-A177-3AD203B41FA5}">
                          <a16:colId xmlns:a16="http://schemas.microsoft.com/office/drawing/2014/main" val="3551711160"/>
                        </a:ext>
                      </a:extLst>
                    </a:gridCol>
                  </a:tblGrid>
                  <a:tr h="31301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16-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4685086">
                    <a:tc>
                      <a:txBody>
                        <a:bodyPr/>
                        <a:lstStyle/>
                        <a:p>
                          <a:pPr marL="342900" indent="-342900" algn="l">
                            <a:buAutoNum type="alphaLcParenR"/>
                          </a:pPr>
                          <a:r>
                            <a:rPr lang="en-GB" sz="1350" kern="1200" noProof="0" dirty="0">
                              <a:solidFill>
                                <a:schemeClr val="dk1"/>
                              </a:solidFill>
                              <a:effectLst/>
                              <a:latin typeface="+mn-lt"/>
                              <a:ea typeface="+mn-ea"/>
                              <a:cs typeface="+mn-cs"/>
                            </a:rPr>
                            <a:t>Show that </a:t>
                          </a:r>
                          <a14:m>
                            <m:oMath xmlns:m="http://schemas.openxmlformats.org/officeDocument/2006/math">
                              <m:sSup>
                                <m:sSupPr>
                                  <m:ctrlPr>
                                    <a:rPr lang="en-GB" sz="1350" i="1" kern="1200" noProof="0" smtClean="0">
                                      <a:solidFill>
                                        <a:schemeClr val="dk1"/>
                                      </a:solidFill>
                                      <a:effectLst/>
                                      <a:latin typeface="Cambria Math" panose="02040503050406030204" pitchFamily="18" charset="0"/>
                                      <a:ea typeface="+mn-ea"/>
                                      <a:cs typeface="+mn-cs"/>
                                    </a:rPr>
                                  </m:ctrlPr>
                                </m:sSupPr>
                                <m:e>
                                  <m:r>
                                    <a:rPr lang="en-GB" sz="1350" i="1" kern="1200" noProof="0">
                                      <a:solidFill>
                                        <a:schemeClr val="dk1"/>
                                      </a:solidFill>
                                      <a:effectLst/>
                                      <a:latin typeface="Cambria Math" panose="02040503050406030204" pitchFamily="18" charset="0"/>
                                      <a:ea typeface="+mn-ea"/>
                                      <a:cs typeface="+mn-cs"/>
                                    </a:rPr>
                                    <m:t>𝑥</m:t>
                                  </m:r>
                                </m:e>
                                <m:sup>
                                  <m:r>
                                    <a:rPr lang="en-GB" sz="1350" i="1" kern="1200" noProof="0">
                                      <a:solidFill>
                                        <a:schemeClr val="dk1"/>
                                      </a:solidFill>
                                      <a:effectLst/>
                                      <a:latin typeface="Cambria Math" panose="02040503050406030204" pitchFamily="18" charset="0"/>
                                      <a:ea typeface="+mn-ea"/>
                                      <a:cs typeface="+mn-cs"/>
                                    </a:rPr>
                                    <m:t>2</m:t>
                                  </m:r>
                                </m:sup>
                              </m:sSup>
                              <m:r>
                                <a:rPr lang="en-GB" sz="1350" i="1" kern="1200" noProof="0">
                                  <a:solidFill>
                                    <a:schemeClr val="dk1"/>
                                  </a:solidFill>
                                  <a:effectLst/>
                                  <a:latin typeface="Cambria Math" panose="02040503050406030204" pitchFamily="18" charset="0"/>
                                  <a:ea typeface="+mn-ea"/>
                                  <a:cs typeface="+mn-cs"/>
                                </a:rPr>
                                <m:t>+</m:t>
                              </m:r>
                              <m:r>
                                <a:rPr lang="en-GB" sz="1350" i="1" kern="1200" noProof="0">
                                  <a:solidFill>
                                    <a:schemeClr val="dk1"/>
                                  </a:solidFill>
                                  <a:effectLst/>
                                  <a:latin typeface="Cambria Math" panose="02040503050406030204" pitchFamily="18" charset="0"/>
                                  <a:ea typeface="+mn-ea"/>
                                  <a:cs typeface="+mn-cs"/>
                                </a:rPr>
                                <m:t>𝑥</m:t>
                              </m:r>
                              <m:r>
                                <a:rPr lang="en-GB" sz="1350" i="1" kern="1200" noProof="0">
                                  <a:solidFill>
                                    <a:schemeClr val="dk1"/>
                                  </a:solidFill>
                                  <a:effectLst/>
                                  <a:latin typeface="Cambria Math" panose="02040503050406030204" pitchFamily="18" charset="0"/>
                                  <a:ea typeface="+mn-ea"/>
                                  <a:cs typeface="+mn-cs"/>
                                </a:rPr>
                                <m:t>−1=0</m:t>
                              </m:r>
                            </m:oMath>
                          </a14:m>
                          <a:r>
                            <a:rPr lang="en-GB" sz="1350" kern="1200" noProof="0" dirty="0">
                              <a:solidFill>
                                <a:schemeClr val="dk1"/>
                              </a:solidFill>
                              <a:effectLst/>
                              <a:latin typeface="+mn-lt"/>
                              <a:ea typeface="+mn-ea"/>
                              <a:cs typeface="+mn-cs"/>
                            </a:rPr>
                            <a:t> can be rearranged to make </a:t>
                          </a:r>
                          <a14:m>
                            <m:oMath xmlns:m="http://schemas.openxmlformats.org/officeDocument/2006/math">
                              <m:r>
                                <a:rPr lang="en-GB" sz="1350" i="1" kern="1200" noProof="0">
                                  <a:solidFill>
                                    <a:schemeClr val="dk1"/>
                                  </a:solidFill>
                                  <a:effectLst/>
                                  <a:latin typeface="Cambria Math" panose="02040503050406030204" pitchFamily="18" charset="0"/>
                                  <a:ea typeface="+mn-ea"/>
                                  <a:cs typeface="+mn-cs"/>
                                </a:rPr>
                                <m:t>𝑥</m:t>
                              </m:r>
                              <m:r>
                                <a:rPr lang="en-GB" sz="1350" i="1" kern="1200" noProof="0">
                                  <a:solidFill>
                                    <a:schemeClr val="dk1"/>
                                  </a:solidFill>
                                  <a:effectLst/>
                                  <a:latin typeface="Cambria Math" panose="02040503050406030204" pitchFamily="18" charset="0"/>
                                  <a:ea typeface="+mn-ea"/>
                                  <a:cs typeface="+mn-cs"/>
                                </a:rPr>
                                <m:t>=</m:t>
                              </m:r>
                              <m:f>
                                <m:fPr>
                                  <m:ctrlPr>
                                    <a:rPr lang="en-GB" sz="1350" i="1" kern="1200" noProof="0" smtClean="0">
                                      <a:solidFill>
                                        <a:schemeClr val="dk1"/>
                                      </a:solidFill>
                                      <a:effectLst/>
                                      <a:latin typeface="Cambria Math" panose="02040503050406030204" pitchFamily="18" charset="0"/>
                                      <a:ea typeface="+mn-ea"/>
                                      <a:cs typeface="+mn-cs"/>
                                    </a:rPr>
                                  </m:ctrlPr>
                                </m:fPr>
                                <m:num>
                                  <m:r>
                                    <a:rPr lang="en-GB" sz="1350" i="1" kern="1200" noProof="0">
                                      <a:solidFill>
                                        <a:schemeClr val="dk1"/>
                                      </a:solidFill>
                                      <a:effectLst/>
                                      <a:latin typeface="Cambria Math" panose="02040503050406030204" pitchFamily="18" charset="0"/>
                                      <a:ea typeface="+mn-ea"/>
                                      <a:cs typeface="+mn-cs"/>
                                    </a:rPr>
                                    <m:t>1</m:t>
                                  </m:r>
                                </m:num>
                                <m:den>
                                  <m:r>
                                    <a:rPr lang="en-GB" sz="1350" i="1" kern="1200" noProof="0">
                                      <a:solidFill>
                                        <a:schemeClr val="dk1"/>
                                      </a:solidFill>
                                      <a:effectLst/>
                                      <a:latin typeface="Cambria Math" panose="02040503050406030204" pitchFamily="18" charset="0"/>
                                      <a:ea typeface="+mn-ea"/>
                                      <a:cs typeface="+mn-cs"/>
                                    </a:rPr>
                                    <m:t>1+</m:t>
                                  </m:r>
                                  <m:r>
                                    <a:rPr lang="en-GB" sz="1350" i="1" kern="1200" noProof="0">
                                      <a:solidFill>
                                        <a:schemeClr val="dk1"/>
                                      </a:solidFill>
                                      <a:effectLst/>
                                      <a:latin typeface="Cambria Math" panose="02040503050406030204" pitchFamily="18" charset="0"/>
                                      <a:ea typeface="+mn-ea"/>
                                      <a:cs typeface="+mn-cs"/>
                                    </a:rPr>
                                    <m:t>𝑥</m:t>
                                  </m:r>
                                </m:den>
                              </m:f>
                            </m:oMath>
                          </a14:m>
                          <a:endParaRPr lang="en-GB" sz="1200" b="0" baseline="0" noProof="0" dirty="0">
                            <a:solidFill>
                              <a:schemeClr val="tx1"/>
                            </a:solidFill>
                          </a:endParaRPr>
                        </a:p>
                        <a:p>
                          <a:pPr marL="228600" indent="-228600" algn="l">
                            <a:buAutoNum type="alphaLcParenR"/>
                          </a:pPr>
                          <a:endParaRPr lang="en-GB" sz="1200" b="0" baseline="0" noProof="0" dirty="0">
                            <a:solidFill>
                              <a:schemeClr val="tx1"/>
                            </a:solidFill>
                          </a:endParaRPr>
                        </a:p>
                        <a:p>
                          <a:pPr marL="228600" indent="-228600" algn="l">
                            <a:buAutoNum type="alphaLcParenR"/>
                          </a:pPr>
                          <a:endParaRPr lang="en-GB" sz="1200" b="0" baseline="0" noProof="0" dirty="0">
                            <a:solidFill>
                              <a:schemeClr val="tx1"/>
                            </a:solidFill>
                          </a:endParaRPr>
                        </a:p>
                        <a:p>
                          <a:pPr marL="228600" indent="-228600" algn="l">
                            <a:buAutoNum type="alphaLcParenR"/>
                          </a:pPr>
                          <a:endParaRPr lang="en-GB" sz="1200" b="0" baseline="0" noProof="0" dirty="0">
                            <a:solidFill>
                              <a:schemeClr val="tx1"/>
                            </a:solidFill>
                          </a:endParaRPr>
                        </a:p>
                        <a:p>
                          <a:pPr marL="228600" indent="-228600" algn="l">
                            <a:buAutoNum type="alphaLcParenR"/>
                          </a:pPr>
                          <a:endParaRPr lang="en-GB" sz="1200" b="0" baseline="0" noProof="0" dirty="0">
                            <a:solidFill>
                              <a:schemeClr val="tx1"/>
                            </a:solidFill>
                          </a:endParaRPr>
                        </a:p>
                        <a:p>
                          <a:pPr marL="228600" indent="-228600" algn="l">
                            <a:buAutoNum type="alphaLcParenR"/>
                          </a:pPr>
                          <a:endParaRPr lang="en-GB" sz="1200" b="0" baseline="0" noProof="0" dirty="0">
                            <a:solidFill>
                              <a:schemeClr val="tx1"/>
                            </a:solidFill>
                          </a:endParaRPr>
                        </a:p>
                        <a:p>
                          <a:pPr marL="228600" indent="-228600" algn="l">
                            <a:buAutoNum type="alphaLcParenR"/>
                          </a:pPr>
                          <a:endParaRPr lang="en-GB" sz="1200" b="0" baseline="0" noProof="0" dirty="0">
                            <a:solidFill>
                              <a:schemeClr val="tx1"/>
                            </a:solidFill>
                          </a:endParaRPr>
                        </a:p>
                        <a:p>
                          <a:pPr marL="228600" indent="-228600" algn="l">
                            <a:buAutoNum type="alphaLcParenR"/>
                          </a:pPr>
                          <a:endParaRPr lang="en-GB" sz="1200" b="0" baseline="0" noProof="0" dirty="0">
                            <a:solidFill>
                              <a:schemeClr val="tx1"/>
                            </a:solidFill>
                          </a:endParaRPr>
                        </a:p>
                        <a:p>
                          <a:pPr marL="228600" indent="-228600" algn="l">
                            <a:buAutoNum type="alphaLcParenR"/>
                          </a:pPr>
                          <a:endParaRPr lang="en-GB" sz="1200" b="0" baseline="0" noProof="0" dirty="0">
                            <a:solidFill>
                              <a:schemeClr val="tx1"/>
                            </a:solidFill>
                          </a:endParaRPr>
                        </a:p>
                        <a:p>
                          <a:pPr marL="228600" indent="-228600" algn="l">
                            <a:buAutoNum type="alphaLcParenR"/>
                          </a:pPr>
                          <a:r>
                            <a:rPr lang="en-GB" sz="1350" kern="1200" noProof="0" dirty="0">
                              <a:solidFill>
                                <a:schemeClr val="dk1"/>
                              </a:solidFill>
                              <a:effectLst/>
                              <a:latin typeface="+mn-lt"/>
                              <a:ea typeface="+mn-ea"/>
                              <a:cs typeface="+mn-cs"/>
                            </a:rPr>
                            <a:t>Use the iterative formula  </a:t>
                          </a:r>
                          <a14:m>
                            <m:oMath xmlns:m="http://schemas.openxmlformats.org/officeDocument/2006/math">
                              <m:sSub>
                                <m:sSubPr>
                                  <m:ctrlPr>
                                    <a:rPr lang="en-GB" sz="1350" i="1" kern="1200" noProof="0" smtClean="0">
                                      <a:solidFill>
                                        <a:schemeClr val="dk1"/>
                                      </a:solidFill>
                                      <a:effectLst/>
                                      <a:latin typeface="Cambria Math" panose="02040503050406030204" pitchFamily="18" charset="0"/>
                                      <a:ea typeface="+mn-ea"/>
                                      <a:cs typeface="+mn-cs"/>
                                    </a:rPr>
                                  </m:ctrlPr>
                                </m:sSubPr>
                                <m:e>
                                  <m:r>
                                    <a:rPr lang="en-GB" sz="1350" i="1" kern="1200" noProof="0">
                                      <a:solidFill>
                                        <a:schemeClr val="dk1"/>
                                      </a:solidFill>
                                      <a:effectLst/>
                                      <a:latin typeface="Cambria Math" panose="02040503050406030204" pitchFamily="18" charset="0"/>
                                      <a:ea typeface="+mn-ea"/>
                                      <a:cs typeface="+mn-cs"/>
                                    </a:rPr>
                                    <m:t>𝑥</m:t>
                                  </m:r>
                                </m:e>
                                <m:sub>
                                  <m:r>
                                    <a:rPr lang="en-GB" sz="1350" i="1" kern="1200" noProof="0">
                                      <a:solidFill>
                                        <a:schemeClr val="dk1"/>
                                      </a:solidFill>
                                      <a:effectLst/>
                                      <a:latin typeface="Cambria Math" panose="02040503050406030204" pitchFamily="18" charset="0"/>
                                      <a:ea typeface="+mn-ea"/>
                                      <a:cs typeface="+mn-cs"/>
                                    </a:rPr>
                                    <m:t>𝑛</m:t>
                                  </m:r>
                                  <m:r>
                                    <a:rPr lang="en-GB" sz="1350" i="1" kern="1200" noProof="0">
                                      <a:solidFill>
                                        <a:schemeClr val="dk1"/>
                                      </a:solidFill>
                                      <a:effectLst/>
                                      <a:latin typeface="Cambria Math" panose="02040503050406030204" pitchFamily="18" charset="0"/>
                                      <a:ea typeface="+mn-ea"/>
                                      <a:cs typeface="+mn-cs"/>
                                    </a:rPr>
                                    <m:t>+1</m:t>
                                  </m:r>
                                </m:sub>
                              </m:sSub>
                              <m:r>
                                <a:rPr lang="en-GB" sz="1350" i="1" kern="1200" noProof="0">
                                  <a:solidFill>
                                    <a:schemeClr val="dk1"/>
                                  </a:solidFill>
                                  <a:effectLst/>
                                  <a:latin typeface="Cambria Math" panose="02040503050406030204" pitchFamily="18" charset="0"/>
                                  <a:ea typeface="+mn-ea"/>
                                  <a:cs typeface="+mn-cs"/>
                                </a:rPr>
                                <m:t>= </m:t>
                              </m:r>
                              <m:f>
                                <m:fPr>
                                  <m:ctrlPr>
                                    <a:rPr lang="en-GB" sz="1350" i="1" kern="1200" noProof="0" smtClean="0">
                                      <a:solidFill>
                                        <a:schemeClr val="dk1"/>
                                      </a:solidFill>
                                      <a:effectLst/>
                                      <a:latin typeface="Cambria Math" panose="02040503050406030204" pitchFamily="18" charset="0"/>
                                      <a:ea typeface="+mn-ea"/>
                                      <a:cs typeface="+mn-cs"/>
                                    </a:rPr>
                                  </m:ctrlPr>
                                </m:fPr>
                                <m:num>
                                  <m:r>
                                    <a:rPr lang="en-GB" sz="1350" i="1" kern="1200" noProof="0">
                                      <a:solidFill>
                                        <a:schemeClr val="dk1"/>
                                      </a:solidFill>
                                      <a:effectLst/>
                                      <a:latin typeface="Cambria Math" panose="02040503050406030204" pitchFamily="18" charset="0"/>
                                      <a:ea typeface="+mn-ea"/>
                                      <a:cs typeface="+mn-cs"/>
                                    </a:rPr>
                                    <m:t>1</m:t>
                                  </m:r>
                                </m:num>
                                <m:den>
                                  <m:sSub>
                                    <m:sSubPr>
                                      <m:ctrlPr>
                                        <a:rPr lang="en-GB" sz="1350" i="1" kern="1200" noProof="0" smtClean="0">
                                          <a:solidFill>
                                            <a:schemeClr val="dk1"/>
                                          </a:solidFill>
                                          <a:effectLst/>
                                          <a:latin typeface="Cambria Math" panose="02040503050406030204" pitchFamily="18" charset="0"/>
                                          <a:ea typeface="+mn-ea"/>
                                          <a:cs typeface="+mn-cs"/>
                                        </a:rPr>
                                      </m:ctrlPr>
                                    </m:sSubPr>
                                    <m:e>
                                      <m:r>
                                        <a:rPr lang="en-GB" sz="1350" i="1" kern="1200" noProof="0">
                                          <a:solidFill>
                                            <a:schemeClr val="dk1"/>
                                          </a:solidFill>
                                          <a:effectLst/>
                                          <a:latin typeface="Cambria Math" panose="02040503050406030204" pitchFamily="18" charset="0"/>
                                          <a:ea typeface="+mn-ea"/>
                                          <a:cs typeface="+mn-cs"/>
                                        </a:rPr>
                                        <m:t>1+</m:t>
                                      </m:r>
                                      <m:r>
                                        <a:rPr lang="en-GB" sz="1350" i="1" kern="1200" noProof="0">
                                          <a:solidFill>
                                            <a:schemeClr val="dk1"/>
                                          </a:solidFill>
                                          <a:effectLst/>
                                          <a:latin typeface="Cambria Math" panose="02040503050406030204" pitchFamily="18" charset="0"/>
                                          <a:ea typeface="+mn-ea"/>
                                          <a:cs typeface="+mn-cs"/>
                                        </a:rPr>
                                        <m:t>𝑥</m:t>
                                      </m:r>
                                    </m:e>
                                    <m:sub>
                                      <m:r>
                                        <a:rPr lang="en-GB" sz="1350" i="1" kern="1200" noProof="0">
                                          <a:solidFill>
                                            <a:schemeClr val="dk1"/>
                                          </a:solidFill>
                                          <a:effectLst/>
                                          <a:latin typeface="Cambria Math" panose="02040503050406030204" pitchFamily="18" charset="0"/>
                                          <a:ea typeface="+mn-ea"/>
                                          <a:cs typeface="+mn-cs"/>
                                        </a:rPr>
                                        <m:t>𝑛</m:t>
                                      </m:r>
                                    </m:sub>
                                  </m:sSub>
                                </m:den>
                              </m:f>
                            </m:oMath>
                          </a14:m>
                          <a:r>
                            <a:rPr lang="en-GB" sz="1350" kern="1200" noProof="0" dirty="0">
                              <a:solidFill>
                                <a:schemeClr val="dk1"/>
                              </a:solidFill>
                              <a:effectLst/>
                              <a:latin typeface="+mn-lt"/>
                              <a:ea typeface="+mn-ea"/>
                              <a:cs typeface="+mn-cs"/>
                            </a:rPr>
                            <a:t>  three times, starting with </a:t>
                          </a:r>
                          <a14:m>
                            <m:oMath xmlns:m="http://schemas.openxmlformats.org/officeDocument/2006/math">
                              <m:sSub>
                                <m:sSubPr>
                                  <m:ctrlPr>
                                    <a:rPr lang="en-GB" sz="1350" i="1" kern="1200" noProof="0" smtClean="0">
                                      <a:solidFill>
                                        <a:schemeClr val="dk1"/>
                                      </a:solidFill>
                                      <a:effectLst/>
                                      <a:latin typeface="Cambria Math" panose="02040503050406030204" pitchFamily="18" charset="0"/>
                                      <a:ea typeface="+mn-ea"/>
                                      <a:cs typeface="+mn-cs"/>
                                    </a:rPr>
                                  </m:ctrlPr>
                                </m:sSubPr>
                                <m:e>
                                  <m:r>
                                    <a:rPr lang="en-GB" sz="1350" i="1" kern="1200" noProof="0">
                                      <a:solidFill>
                                        <a:schemeClr val="dk1"/>
                                      </a:solidFill>
                                      <a:effectLst/>
                                      <a:latin typeface="Cambria Math" panose="02040503050406030204" pitchFamily="18" charset="0"/>
                                      <a:ea typeface="+mn-ea"/>
                                      <a:cs typeface="+mn-cs"/>
                                    </a:rPr>
                                    <m:t>𝑥</m:t>
                                  </m:r>
                                </m:e>
                                <m:sub>
                                  <m:r>
                                    <a:rPr lang="en-GB" sz="1350" i="1" kern="1200" noProof="0">
                                      <a:solidFill>
                                        <a:schemeClr val="dk1"/>
                                      </a:solidFill>
                                      <a:effectLst/>
                                      <a:latin typeface="Cambria Math" panose="02040503050406030204" pitchFamily="18" charset="0"/>
                                      <a:ea typeface="+mn-ea"/>
                                      <a:cs typeface="+mn-cs"/>
                                    </a:rPr>
                                    <m:t>1</m:t>
                                  </m:r>
                                </m:sub>
                              </m:sSub>
                              <m:r>
                                <a:rPr lang="en-GB" sz="1350" i="1" kern="1200" noProof="0">
                                  <a:solidFill>
                                    <a:schemeClr val="dk1"/>
                                  </a:solidFill>
                                  <a:effectLst/>
                                  <a:latin typeface="Cambria Math" panose="02040503050406030204" pitchFamily="18" charset="0"/>
                                  <a:ea typeface="+mn-ea"/>
                                  <a:cs typeface="+mn-cs"/>
                                </a:rPr>
                                <m:t>=0.5, </m:t>
                              </m:r>
                            </m:oMath>
                          </a14:m>
                          <a:r>
                            <a:rPr lang="en-GB" sz="1350" kern="1200" noProof="0" dirty="0">
                              <a:solidFill>
                                <a:schemeClr val="dk1"/>
                              </a:solidFill>
                              <a:effectLst/>
                              <a:latin typeface="+mn-lt"/>
                              <a:ea typeface="+mn-ea"/>
                              <a:cs typeface="+mn-cs"/>
                            </a:rPr>
                            <a:t>to find an approximation to this solution.</a:t>
                          </a:r>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r>
                            <a:rPr lang="en-GB" sz="1200" b="0" baseline="0" noProof="0" dirty="0">
                              <a:solidFill>
                                <a:schemeClr val="tx1"/>
                              </a:solidFill>
                            </a:rPr>
                            <a:t>c) Explain in words what your answer to part (b) represents.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37799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17 -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4434844">
                    <a:tc>
                      <a:txBody>
                        <a:bodyPr/>
                        <a:lstStyle/>
                        <a:p>
                          <a:pPr marL="228600" indent="-228600" algn="l">
                            <a:buAutoNum type="alphaLcParenR"/>
                          </a:pPr>
                          <a:r>
                            <a:rPr lang="en-GB" sz="1350" kern="1200" noProof="0" dirty="0">
                              <a:solidFill>
                                <a:schemeClr val="dk1"/>
                              </a:solidFill>
                              <a:effectLst/>
                              <a:latin typeface="+mn-lt"/>
                              <a:ea typeface="+mn-ea"/>
                              <a:cs typeface="+mn-cs"/>
                            </a:rPr>
                            <a:t>Show that </a:t>
                          </a:r>
                          <a14:m>
                            <m:oMath xmlns:m="http://schemas.openxmlformats.org/officeDocument/2006/math">
                              <m:sSup>
                                <m:sSupPr>
                                  <m:ctrlPr>
                                    <a:rPr lang="en-GB" sz="1350" i="1" kern="1200" noProof="0" smtClean="0">
                                      <a:solidFill>
                                        <a:schemeClr val="dk1"/>
                                      </a:solidFill>
                                      <a:effectLst/>
                                      <a:latin typeface="Cambria Math" panose="02040503050406030204" pitchFamily="18" charset="0"/>
                                      <a:ea typeface="+mn-ea"/>
                                      <a:cs typeface="+mn-cs"/>
                                    </a:rPr>
                                  </m:ctrlPr>
                                </m:sSupPr>
                                <m:e>
                                  <m:r>
                                    <a:rPr lang="en-GB" sz="1350" i="1" kern="1200" noProof="0">
                                      <a:solidFill>
                                        <a:schemeClr val="dk1"/>
                                      </a:solidFill>
                                      <a:effectLst/>
                                      <a:latin typeface="Cambria Math" panose="02040503050406030204" pitchFamily="18" charset="0"/>
                                      <a:ea typeface="+mn-ea"/>
                                      <a:cs typeface="+mn-cs"/>
                                    </a:rPr>
                                    <m:t>𝑥</m:t>
                                  </m:r>
                                </m:e>
                                <m:sup>
                                  <m:r>
                                    <a:rPr lang="en-GB" sz="1350" i="1" kern="1200" noProof="0">
                                      <a:solidFill>
                                        <a:schemeClr val="dk1"/>
                                      </a:solidFill>
                                      <a:effectLst/>
                                      <a:latin typeface="Cambria Math" panose="02040503050406030204" pitchFamily="18" charset="0"/>
                                      <a:ea typeface="+mn-ea"/>
                                      <a:cs typeface="+mn-cs"/>
                                    </a:rPr>
                                    <m:t>3</m:t>
                                  </m:r>
                                </m:sup>
                              </m:sSup>
                              <m:r>
                                <a:rPr lang="en-GB" sz="1350" i="1" kern="1200" noProof="0">
                                  <a:solidFill>
                                    <a:schemeClr val="dk1"/>
                                  </a:solidFill>
                                  <a:effectLst/>
                                  <a:latin typeface="Cambria Math" panose="02040503050406030204" pitchFamily="18" charset="0"/>
                                  <a:ea typeface="+mn-ea"/>
                                  <a:cs typeface="+mn-cs"/>
                                </a:rPr>
                                <m:t>−</m:t>
                              </m:r>
                              <m:sSup>
                                <m:sSupPr>
                                  <m:ctrlPr>
                                    <a:rPr lang="en-GB" sz="1350" i="1" kern="1200" noProof="0" smtClean="0">
                                      <a:solidFill>
                                        <a:schemeClr val="dk1"/>
                                      </a:solidFill>
                                      <a:effectLst/>
                                      <a:latin typeface="Cambria Math" panose="02040503050406030204" pitchFamily="18" charset="0"/>
                                      <a:ea typeface="+mn-ea"/>
                                      <a:cs typeface="+mn-cs"/>
                                    </a:rPr>
                                  </m:ctrlPr>
                                </m:sSupPr>
                                <m:e>
                                  <m:r>
                                    <a:rPr lang="en-GB" sz="1350" i="1" kern="1200" noProof="0">
                                      <a:solidFill>
                                        <a:schemeClr val="dk1"/>
                                      </a:solidFill>
                                      <a:effectLst/>
                                      <a:latin typeface="Cambria Math" panose="02040503050406030204" pitchFamily="18" charset="0"/>
                                      <a:ea typeface="+mn-ea"/>
                                      <a:cs typeface="+mn-cs"/>
                                    </a:rPr>
                                    <m:t>𝑥</m:t>
                                  </m:r>
                                </m:e>
                                <m:sup>
                                  <m:r>
                                    <a:rPr lang="en-GB" sz="1350" i="1" kern="1200" noProof="0">
                                      <a:solidFill>
                                        <a:schemeClr val="dk1"/>
                                      </a:solidFill>
                                      <a:effectLst/>
                                      <a:latin typeface="Cambria Math" panose="02040503050406030204" pitchFamily="18" charset="0"/>
                                      <a:ea typeface="+mn-ea"/>
                                      <a:cs typeface="+mn-cs"/>
                                    </a:rPr>
                                    <m:t>2</m:t>
                                  </m:r>
                                </m:sup>
                              </m:sSup>
                              <m:r>
                                <a:rPr lang="en-GB" sz="1350" i="1" kern="1200" noProof="0">
                                  <a:solidFill>
                                    <a:schemeClr val="dk1"/>
                                  </a:solidFill>
                                  <a:effectLst/>
                                  <a:latin typeface="Cambria Math" panose="02040503050406030204" pitchFamily="18" charset="0"/>
                                  <a:ea typeface="+mn-ea"/>
                                  <a:cs typeface="+mn-cs"/>
                                </a:rPr>
                                <m:t>−2=0</m:t>
                              </m:r>
                            </m:oMath>
                          </a14:m>
                          <a:r>
                            <a:rPr lang="en-GB" sz="1350" kern="1200" noProof="0" dirty="0">
                              <a:solidFill>
                                <a:schemeClr val="dk1"/>
                              </a:solidFill>
                              <a:effectLst/>
                              <a:latin typeface="+mn-lt"/>
                              <a:ea typeface="+mn-ea"/>
                              <a:cs typeface="+mn-cs"/>
                            </a:rPr>
                            <a:t> can be rearranged to make </a:t>
                          </a:r>
                          <a14:m>
                            <m:oMath xmlns:m="http://schemas.openxmlformats.org/officeDocument/2006/math">
                              <m:r>
                                <a:rPr lang="en-GB" sz="1350" i="1" kern="1200" noProof="0">
                                  <a:solidFill>
                                    <a:schemeClr val="dk1"/>
                                  </a:solidFill>
                                  <a:effectLst/>
                                  <a:latin typeface="Cambria Math" panose="02040503050406030204" pitchFamily="18" charset="0"/>
                                  <a:ea typeface="+mn-ea"/>
                                  <a:cs typeface="+mn-cs"/>
                                </a:rPr>
                                <m:t>𝑥</m:t>
                              </m:r>
                              <m:r>
                                <a:rPr lang="en-GB" sz="1350" i="1" kern="1200" noProof="0">
                                  <a:solidFill>
                                    <a:schemeClr val="dk1"/>
                                  </a:solidFill>
                                  <a:effectLst/>
                                  <a:latin typeface="Cambria Math" panose="02040503050406030204" pitchFamily="18" charset="0"/>
                                  <a:ea typeface="+mn-ea"/>
                                  <a:cs typeface="+mn-cs"/>
                                </a:rPr>
                                <m:t>=</m:t>
                              </m:r>
                              <m:rad>
                                <m:radPr>
                                  <m:degHide m:val="on"/>
                                  <m:ctrlPr>
                                    <a:rPr lang="en-GB" sz="1350" i="1" kern="1200" noProof="0" smtClean="0">
                                      <a:solidFill>
                                        <a:schemeClr val="dk1"/>
                                      </a:solidFill>
                                      <a:effectLst/>
                                      <a:latin typeface="Cambria Math" panose="02040503050406030204" pitchFamily="18" charset="0"/>
                                      <a:ea typeface="+mn-ea"/>
                                      <a:cs typeface="+mn-cs"/>
                                    </a:rPr>
                                  </m:ctrlPr>
                                </m:radPr>
                                <m:deg/>
                                <m:e>
                                  <m:f>
                                    <m:fPr>
                                      <m:ctrlPr>
                                        <a:rPr lang="en-GB" sz="1350" i="1" kern="1200" noProof="0" smtClean="0">
                                          <a:solidFill>
                                            <a:schemeClr val="dk1"/>
                                          </a:solidFill>
                                          <a:effectLst/>
                                          <a:latin typeface="Cambria Math" panose="02040503050406030204" pitchFamily="18" charset="0"/>
                                          <a:ea typeface="+mn-ea"/>
                                          <a:cs typeface="+mn-cs"/>
                                        </a:rPr>
                                      </m:ctrlPr>
                                    </m:fPr>
                                    <m:num>
                                      <m:r>
                                        <a:rPr lang="en-GB" sz="1350" i="1" kern="1200" noProof="0">
                                          <a:solidFill>
                                            <a:schemeClr val="dk1"/>
                                          </a:solidFill>
                                          <a:effectLst/>
                                          <a:latin typeface="Cambria Math" panose="02040503050406030204" pitchFamily="18" charset="0"/>
                                          <a:ea typeface="+mn-ea"/>
                                          <a:cs typeface="+mn-cs"/>
                                        </a:rPr>
                                        <m:t>2</m:t>
                                      </m:r>
                                    </m:num>
                                    <m:den>
                                      <m:r>
                                        <a:rPr lang="en-GB" sz="1350" i="1" kern="1200" noProof="0">
                                          <a:solidFill>
                                            <a:schemeClr val="dk1"/>
                                          </a:solidFill>
                                          <a:effectLst/>
                                          <a:latin typeface="Cambria Math" panose="02040503050406030204" pitchFamily="18" charset="0"/>
                                          <a:ea typeface="+mn-ea"/>
                                          <a:cs typeface="+mn-cs"/>
                                        </a:rPr>
                                        <m:t>𝑥</m:t>
                                      </m:r>
                                      <m:r>
                                        <a:rPr lang="en-GB" sz="1350" i="1" kern="1200" noProof="0">
                                          <a:solidFill>
                                            <a:schemeClr val="dk1"/>
                                          </a:solidFill>
                                          <a:effectLst/>
                                          <a:latin typeface="Cambria Math" panose="02040503050406030204" pitchFamily="18" charset="0"/>
                                          <a:ea typeface="+mn-ea"/>
                                          <a:cs typeface="+mn-cs"/>
                                        </a:rPr>
                                        <m:t>−1</m:t>
                                      </m:r>
                                    </m:den>
                                  </m:f>
                                </m:e>
                              </m:rad>
                            </m:oMath>
                          </a14:m>
                          <a:endParaRPr lang="en-GB" sz="1200" b="0" noProof="0" dirty="0">
                            <a:solidFill>
                              <a:schemeClr val="tx1"/>
                            </a:solidFill>
                          </a:endParaRPr>
                        </a:p>
                        <a:p>
                          <a:pPr marL="228600" indent="-228600" algn="l">
                            <a:buAutoNum type="alphaLcParenR"/>
                          </a:pPr>
                          <a:endParaRPr lang="en-GB" sz="1200" b="0" noProof="0" dirty="0">
                            <a:solidFill>
                              <a:schemeClr val="tx1"/>
                            </a:solidFill>
                          </a:endParaRPr>
                        </a:p>
                        <a:p>
                          <a:pPr marL="0" indent="0" algn="l">
                            <a:buNone/>
                          </a:pPr>
                          <a:endParaRPr lang="en-GB" sz="1200" b="0" noProof="0" dirty="0">
                            <a:solidFill>
                              <a:schemeClr val="tx1"/>
                            </a:solidFill>
                          </a:endParaRPr>
                        </a:p>
                        <a:p>
                          <a:pPr marL="228600" indent="-228600" algn="l">
                            <a:buAutoNum type="alphaLcParenR"/>
                          </a:pPr>
                          <a:endParaRPr lang="en-GB" sz="1200" b="0" noProof="0" dirty="0">
                            <a:solidFill>
                              <a:schemeClr val="tx1"/>
                            </a:solidFill>
                          </a:endParaRPr>
                        </a:p>
                        <a:p>
                          <a:pPr marL="228600" indent="-228600" algn="l">
                            <a:buAutoNum type="alphaLcParenR"/>
                          </a:pPr>
                          <a:endParaRPr lang="en-GB" sz="1200" b="0" noProof="0" dirty="0">
                            <a:solidFill>
                              <a:schemeClr val="tx1"/>
                            </a:solidFill>
                          </a:endParaRPr>
                        </a:p>
                        <a:p>
                          <a:pPr marL="228600" indent="-228600" algn="l">
                            <a:buAutoNum type="alphaLcParenR"/>
                          </a:pPr>
                          <a:endParaRPr lang="en-GB" sz="1200" b="0" noProof="0" dirty="0">
                            <a:solidFill>
                              <a:schemeClr val="tx1"/>
                            </a:solidFill>
                          </a:endParaRPr>
                        </a:p>
                        <a:p>
                          <a:pPr algn="l"/>
                          <a:endParaRPr lang="en-GB" sz="1200" b="0" noProof="0" dirty="0">
                            <a:solidFill>
                              <a:schemeClr val="tx1"/>
                            </a:solidFill>
                          </a:endParaRPr>
                        </a:p>
                        <a:p>
                          <a:pPr algn="l"/>
                          <a:r>
                            <a:rPr lang="en-GB" sz="1200" b="0" noProof="0" dirty="0">
                              <a:solidFill>
                                <a:schemeClr val="tx1"/>
                              </a:solidFill>
                            </a:rPr>
                            <a:t>b)</a:t>
                          </a:r>
                          <a:r>
                            <a:rPr lang="en-GB" sz="1350" kern="1200" noProof="0" dirty="0">
                              <a:solidFill>
                                <a:schemeClr val="dk1"/>
                              </a:solidFill>
                              <a:effectLst/>
                              <a:latin typeface="+mn-lt"/>
                              <a:ea typeface="+mn-ea"/>
                              <a:cs typeface="+mn-cs"/>
                            </a:rPr>
                            <a:t> Use the iterative formula  </a:t>
                          </a:r>
                          <a14:m>
                            <m:oMath xmlns:m="http://schemas.openxmlformats.org/officeDocument/2006/math">
                              <m:sSub>
                                <m:sSubPr>
                                  <m:ctrlPr>
                                    <a:rPr lang="en-GB" sz="1350" i="1" kern="1200" noProof="0" smtClean="0">
                                      <a:solidFill>
                                        <a:schemeClr val="dk1"/>
                                      </a:solidFill>
                                      <a:effectLst/>
                                      <a:latin typeface="Cambria Math" panose="02040503050406030204" pitchFamily="18" charset="0"/>
                                      <a:ea typeface="+mn-ea"/>
                                      <a:cs typeface="+mn-cs"/>
                                    </a:rPr>
                                  </m:ctrlPr>
                                </m:sSubPr>
                                <m:e>
                                  <m:r>
                                    <a:rPr lang="en-GB" sz="1350" i="1" kern="1200" noProof="0">
                                      <a:solidFill>
                                        <a:schemeClr val="dk1"/>
                                      </a:solidFill>
                                      <a:effectLst/>
                                      <a:latin typeface="Cambria Math" panose="02040503050406030204" pitchFamily="18" charset="0"/>
                                      <a:ea typeface="+mn-ea"/>
                                      <a:cs typeface="+mn-cs"/>
                                    </a:rPr>
                                    <m:t>𝑥</m:t>
                                  </m:r>
                                </m:e>
                                <m:sub>
                                  <m:r>
                                    <a:rPr lang="en-GB" sz="1350" i="1" kern="1200" noProof="0">
                                      <a:solidFill>
                                        <a:schemeClr val="dk1"/>
                                      </a:solidFill>
                                      <a:effectLst/>
                                      <a:latin typeface="Cambria Math" panose="02040503050406030204" pitchFamily="18" charset="0"/>
                                      <a:ea typeface="+mn-ea"/>
                                      <a:cs typeface="+mn-cs"/>
                                    </a:rPr>
                                    <m:t>𝑛</m:t>
                                  </m:r>
                                  <m:r>
                                    <a:rPr lang="en-GB" sz="1350" i="1" kern="1200" noProof="0">
                                      <a:solidFill>
                                        <a:schemeClr val="dk1"/>
                                      </a:solidFill>
                                      <a:effectLst/>
                                      <a:latin typeface="Cambria Math" panose="02040503050406030204" pitchFamily="18" charset="0"/>
                                      <a:ea typeface="+mn-ea"/>
                                      <a:cs typeface="+mn-cs"/>
                                    </a:rPr>
                                    <m:t>+1</m:t>
                                  </m:r>
                                </m:sub>
                              </m:sSub>
                              <m:r>
                                <a:rPr lang="en-GB" sz="1350" i="1" kern="1200" noProof="0">
                                  <a:solidFill>
                                    <a:schemeClr val="dk1"/>
                                  </a:solidFill>
                                  <a:effectLst/>
                                  <a:latin typeface="Cambria Math" panose="02040503050406030204" pitchFamily="18" charset="0"/>
                                  <a:ea typeface="+mn-ea"/>
                                  <a:cs typeface="+mn-cs"/>
                                </a:rPr>
                                <m:t>=</m:t>
                              </m:r>
                              <m:rad>
                                <m:radPr>
                                  <m:degHide m:val="on"/>
                                  <m:ctrlPr>
                                    <a:rPr lang="en-GB" sz="1350" i="1" kern="1200" noProof="0" smtClean="0">
                                      <a:solidFill>
                                        <a:schemeClr val="dk1"/>
                                      </a:solidFill>
                                      <a:effectLst/>
                                      <a:latin typeface="Cambria Math" panose="02040503050406030204" pitchFamily="18" charset="0"/>
                                      <a:ea typeface="+mn-ea"/>
                                      <a:cs typeface="+mn-cs"/>
                                    </a:rPr>
                                  </m:ctrlPr>
                                </m:radPr>
                                <m:deg/>
                                <m:e>
                                  <m:f>
                                    <m:fPr>
                                      <m:ctrlPr>
                                        <a:rPr lang="en-GB" sz="1350" i="1" kern="1200" noProof="0" smtClean="0">
                                          <a:solidFill>
                                            <a:schemeClr val="dk1"/>
                                          </a:solidFill>
                                          <a:effectLst/>
                                          <a:latin typeface="Cambria Math" panose="02040503050406030204" pitchFamily="18" charset="0"/>
                                          <a:ea typeface="+mn-ea"/>
                                          <a:cs typeface="+mn-cs"/>
                                        </a:rPr>
                                      </m:ctrlPr>
                                    </m:fPr>
                                    <m:num>
                                      <m:r>
                                        <a:rPr lang="en-GB" sz="1350" i="1" kern="1200" noProof="0">
                                          <a:solidFill>
                                            <a:schemeClr val="dk1"/>
                                          </a:solidFill>
                                          <a:effectLst/>
                                          <a:latin typeface="Cambria Math" panose="02040503050406030204" pitchFamily="18" charset="0"/>
                                          <a:ea typeface="+mn-ea"/>
                                          <a:cs typeface="+mn-cs"/>
                                        </a:rPr>
                                        <m:t>2</m:t>
                                      </m:r>
                                    </m:num>
                                    <m:den>
                                      <m:sSub>
                                        <m:sSubPr>
                                          <m:ctrlPr>
                                            <a:rPr lang="en-GB" sz="1350" i="1" kern="1200" noProof="0" smtClean="0">
                                              <a:solidFill>
                                                <a:schemeClr val="dk1"/>
                                              </a:solidFill>
                                              <a:effectLst/>
                                              <a:latin typeface="Cambria Math" panose="02040503050406030204" pitchFamily="18" charset="0"/>
                                              <a:ea typeface="+mn-ea"/>
                                              <a:cs typeface="+mn-cs"/>
                                            </a:rPr>
                                          </m:ctrlPr>
                                        </m:sSubPr>
                                        <m:e>
                                          <m:r>
                                            <a:rPr lang="en-GB" sz="1350" i="1" kern="1200" noProof="0">
                                              <a:solidFill>
                                                <a:schemeClr val="dk1"/>
                                              </a:solidFill>
                                              <a:effectLst/>
                                              <a:latin typeface="Cambria Math" panose="02040503050406030204" pitchFamily="18" charset="0"/>
                                              <a:ea typeface="+mn-ea"/>
                                              <a:cs typeface="+mn-cs"/>
                                            </a:rPr>
                                            <m:t>𝑥</m:t>
                                          </m:r>
                                        </m:e>
                                        <m:sub>
                                          <m:r>
                                            <a:rPr lang="en-GB" sz="1350" i="1" kern="1200" noProof="0">
                                              <a:solidFill>
                                                <a:schemeClr val="dk1"/>
                                              </a:solidFill>
                                              <a:effectLst/>
                                              <a:latin typeface="Cambria Math" panose="02040503050406030204" pitchFamily="18" charset="0"/>
                                              <a:ea typeface="+mn-ea"/>
                                              <a:cs typeface="+mn-cs"/>
                                            </a:rPr>
                                            <m:t>𝑛</m:t>
                                          </m:r>
                                        </m:sub>
                                      </m:sSub>
                                      <m:r>
                                        <a:rPr lang="en-GB" sz="1350" i="1" kern="1200" noProof="0">
                                          <a:solidFill>
                                            <a:schemeClr val="dk1"/>
                                          </a:solidFill>
                                          <a:effectLst/>
                                          <a:latin typeface="Cambria Math" panose="02040503050406030204" pitchFamily="18" charset="0"/>
                                          <a:ea typeface="+mn-ea"/>
                                          <a:cs typeface="+mn-cs"/>
                                        </a:rPr>
                                        <m:t> − 1</m:t>
                                      </m:r>
                                    </m:den>
                                  </m:f>
                                </m:e>
                              </m:rad>
                            </m:oMath>
                          </a14:m>
                          <a:r>
                            <a:rPr lang="en-GB" sz="1350" kern="1200" noProof="0" dirty="0">
                              <a:solidFill>
                                <a:schemeClr val="dk1"/>
                              </a:solidFill>
                              <a:effectLst/>
                              <a:latin typeface="+mn-lt"/>
                              <a:ea typeface="+mn-ea"/>
                              <a:cs typeface="+mn-cs"/>
                            </a:rPr>
                            <a:t>  three times, starting with </a:t>
                          </a:r>
                          <a14:m>
                            <m:oMath xmlns:m="http://schemas.openxmlformats.org/officeDocument/2006/math">
                              <m:sSub>
                                <m:sSubPr>
                                  <m:ctrlPr>
                                    <a:rPr lang="en-GB" sz="1350" i="1" kern="1200" noProof="0" smtClean="0">
                                      <a:solidFill>
                                        <a:schemeClr val="dk1"/>
                                      </a:solidFill>
                                      <a:effectLst/>
                                      <a:latin typeface="Cambria Math" panose="02040503050406030204" pitchFamily="18" charset="0"/>
                                      <a:ea typeface="+mn-ea"/>
                                      <a:cs typeface="+mn-cs"/>
                                    </a:rPr>
                                  </m:ctrlPr>
                                </m:sSubPr>
                                <m:e>
                                  <m:r>
                                    <a:rPr lang="en-GB" sz="1350" i="1" kern="1200" noProof="0">
                                      <a:solidFill>
                                        <a:schemeClr val="dk1"/>
                                      </a:solidFill>
                                      <a:effectLst/>
                                      <a:latin typeface="Cambria Math" panose="02040503050406030204" pitchFamily="18" charset="0"/>
                                      <a:ea typeface="+mn-ea"/>
                                      <a:cs typeface="+mn-cs"/>
                                    </a:rPr>
                                    <m:t>𝑥</m:t>
                                  </m:r>
                                </m:e>
                                <m:sub>
                                  <m:r>
                                    <a:rPr lang="en-GB" sz="1350" i="1" kern="1200" noProof="0">
                                      <a:solidFill>
                                        <a:schemeClr val="dk1"/>
                                      </a:solidFill>
                                      <a:effectLst/>
                                      <a:latin typeface="Cambria Math" panose="02040503050406030204" pitchFamily="18" charset="0"/>
                                      <a:ea typeface="+mn-ea"/>
                                      <a:cs typeface="+mn-cs"/>
                                    </a:rPr>
                                    <m:t>0</m:t>
                                  </m:r>
                                </m:sub>
                              </m:sSub>
                              <m:r>
                                <a:rPr lang="en-GB" sz="1350" i="1" kern="1200" noProof="0">
                                  <a:solidFill>
                                    <a:schemeClr val="dk1"/>
                                  </a:solidFill>
                                  <a:effectLst/>
                                  <a:latin typeface="Cambria Math" panose="02040503050406030204" pitchFamily="18" charset="0"/>
                                  <a:ea typeface="+mn-ea"/>
                                  <a:cs typeface="+mn-cs"/>
                                </a:rPr>
                                <m:t>=1.9, </m:t>
                              </m:r>
                            </m:oMath>
                          </a14:m>
                          <a:r>
                            <a:rPr lang="en-GB" sz="1350" kern="1200" noProof="0" dirty="0">
                              <a:solidFill>
                                <a:schemeClr val="dk1"/>
                              </a:solidFill>
                              <a:effectLst/>
                              <a:latin typeface="+mn-lt"/>
                              <a:ea typeface="+mn-ea"/>
                              <a:cs typeface="+mn-cs"/>
                            </a:rPr>
                            <a:t>to find an approximation to this solution.</a:t>
                          </a:r>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baseline="0" noProof="0" dirty="0">
                            <a:solidFill>
                              <a:schemeClr val="tx1"/>
                            </a:solidFill>
                          </a:endParaRPr>
                        </a:p>
                        <a:p>
                          <a:pPr algn="l"/>
                          <a:endParaRPr lang="en-GB" sz="1200" b="0" noProof="0" dirty="0">
                            <a:solidFill>
                              <a:schemeClr val="tx1"/>
                            </a:solidFill>
                          </a:endParaRPr>
                        </a:p>
                        <a:p>
                          <a:pPr algn="l"/>
                          <a:endParaRPr lang="en-GB" sz="1200" b="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baseline="0" noProof="0" dirty="0">
                              <a:solidFill>
                                <a:schemeClr val="tx1"/>
                              </a:solidFill>
                            </a:rPr>
                            <a:t>c) Explain in words what your answer to part (b) represents.</a:t>
                          </a:r>
                        </a:p>
                        <a:p>
                          <a:pPr algn="l"/>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9470708"/>
                      </a:ext>
                    </a:extLst>
                  </a:tr>
                </a:tbl>
              </a:graphicData>
            </a:graphic>
          </p:graphicFrame>
        </mc:Choice>
        <mc:Fallback xmlns="">
          <p:graphicFrame>
            <p:nvGraphicFramePr>
              <p:cNvPr id="8" name="Table 7">
                <a:extLst>
                  <a:ext uri="{FF2B5EF4-FFF2-40B4-BE49-F238E27FC236}">
                    <a16:creationId xmlns:a16="http://schemas.microsoft.com/office/drawing/2014/main" id="{F005F112-78B3-BC6C-26D1-D507507EAD61}"/>
                  </a:ext>
                </a:extLst>
              </p:cNvPr>
              <p:cNvGraphicFramePr>
                <a:graphicFrameLocks noGrp="1"/>
              </p:cNvGraphicFramePr>
              <p:nvPr>
                <p:extLst>
                  <p:ext uri="{D42A27DB-BD31-4B8C-83A1-F6EECF244321}">
                    <p14:modId xmlns:p14="http://schemas.microsoft.com/office/powerpoint/2010/main" val="338878077"/>
                  </p:ext>
                </p:extLst>
              </p:nvPr>
            </p:nvGraphicFramePr>
            <p:xfrm>
              <a:off x="154962" y="47528"/>
              <a:ext cx="6548076" cy="9810944"/>
            </p:xfrm>
            <a:graphic>
              <a:graphicData uri="http://schemas.openxmlformats.org/drawingml/2006/table">
                <a:tbl>
                  <a:tblPr firstRow="1" bandRow="1">
                    <a:tableStyleId>{5C22544A-7EE6-4342-B048-85BDC9FD1C3A}</a:tableStyleId>
                  </a:tblPr>
                  <a:tblGrid>
                    <a:gridCol w="6548076">
                      <a:extLst>
                        <a:ext uri="{9D8B030D-6E8A-4147-A177-3AD203B41FA5}">
                          <a16:colId xmlns:a16="http://schemas.microsoft.com/office/drawing/2014/main" val="3551711160"/>
                        </a:ext>
                      </a:extLst>
                    </a:gridCol>
                  </a:tblGrid>
                  <a:tr h="31301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16-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468508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 t="-6753" r="-186" b="-102857"/>
                          </a:stretch>
                        </a:blipFill>
                      </a:tcPr>
                    </a:tc>
                    <a:extLst>
                      <a:ext uri="{0D108BD9-81ED-4DB2-BD59-A6C34878D82A}">
                        <a16:rowId xmlns:a16="http://schemas.microsoft.com/office/drawing/2014/main" val="2357201933"/>
                      </a:ext>
                    </a:extLst>
                  </a:tr>
                  <a:tr h="37799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17 -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443484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 t="-121429" r="-186" b="-275"/>
                          </a:stretch>
                        </a:blipFill>
                      </a:tcPr>
                    </a:tc>
                    <a:extLst>
                      <a:ext uri="{0D108BD9-81ED-4DB2-BD59-A6C34878D82A}">
                        <a16:rowId xmlns:a16="http://schemas.microsoft.com/office/drawing/2014/main" val="2789470708"/>
                      </a:ext>
                    </a:extLst>
                  </a:tr>
                </a:tbl>
              </a:graphicData>
            </a:graphic>
          </p:graphicFrame>
        </mc:Fallback>
      </mc:AlternateContent>
    </p:spTree>
    <p:extLst>
      <p:ext uri="{BB962C8B-B14F-4D97-AF65-F5344CB8AC3E}">
        <p14:creationId xmlns:p14="http://schemas.microsoft.com/office/powerpoint/2010/main" val="18134549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145659" y="9500756"/>
            <a:ext cx="1543050" cy="527403"/>
          </a:xfrm>
        </p:spPr>
        <p:txBody>
          <a:bodyPr/>
          <a:lstStyle/>
          <a:p>
            <a:fld id="{9BD3B4A0-BFF9-422C-B253-48BA94BE2F5B}" type="slidenum">
              <a:rPr lang="en-GB" noProof="0" smtClean="0"/>
              <a:t>68</a:t>
            </a:fld>
            <a:endParaRPr lang="en-GB" noProof="0" dirty="0"/>
          </a:p>
        </p:txBody>
      </p:sp>
      <p:sp>
        <p:nvSpPr>
          <p:cNvPr id="5" name="Rectangle 4"/>
          <p:cNvSpPr/>
          <p:nvPr/>
        </p:nvSpPr>
        <p:spPr>
          <a:xfrm>
            <a:off x="1740204" y="0"/>
            <a:ext cx="3981854" cy="276999"/>
          </a:xfrm>
          <a:prstGeom prst="rect">
            <a:avLst/>
          </a:prstGeom>
        </p:spPr>
        <p:txBody>
          <a:bodyPr wrap="square">
            <a:spAutoFit/>
          </a:bodyPr>
          <a:lstStyle/>
          <a:p>
            <a:pPr algn="ctr"/>
            <a:r>
              <a:rPr lang="en-GB" sz="1200" noProof="0" dirty="0"/>
              <a:t>4) Use iteration to find the roots in each equation. </a:t>
            </a:r>
          </a:p>
        </p:txBody>
      </p:sp>
      <p:sp>
        <p:nvSpPr>
          <p:cNvPr id="18" name="TextBox 17">
            <a:extLst>
              <a:ext uri="{FF2B5EF4-FFF2-40B4-BE49-F238E27FC236}">
                <a16:creationId xmlns:a16="http://schemas.microsoft.com/office/drawing/2014/main" id="{C3C65E48-8C3D-6849-AD77-7AD8678AD8DA}"/>
              </a:ext>
            </a:extLst>
          </p:cNvPr>
          <p:cNvSpPr txBox="1"/>
          <p:nvPr/>
        </p:nvSpPr>
        <p:spPr>
          <a:xfrm>
            <a:off x="169291" y="21476"/>
            <a:ext cx="1762598" cy="276999"/>
          </a:xfrm>
          <a:prstGeom prst="rect">
            <a:avLst/>
          </a:prstGeom>
          <a:solidFill>
            <a:srgbClr val="0070C0"/>
          </a:solidFill>
        </p:spPr>
        <p:txBody>
          <a:bodyPr wrap="none" rtlCol="0" anchor="ctr">
            <a:spAutoFit/>
          </a:bodyPr>
          <a:lstStyle/>
          <a:p>
            <a:pPr algn="r"/>
            <a:r>
              <a:rPr lang="en-GB" sz="1200" b="1" noProof="0" dirty="0">
                <a:solidFill>
                  <a:schemeClr val="bg1"/>
                </a:solidFill>
              </a:rPr>
              <a:t>INDEPENDENT PRACTICE</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6AB869A-B5A5-AA11-AE0E-BED68A4A3AAC}"/>
                  </a:ext>
                </a:extLst>
              </p:cNvPr>
              <p:cNvGraphicFramePr>
                <a:graphicFrameLocks noGrp="1"/>
              </p:cNvGraphicFramePr>
              <p:nvPr>
                <p:extLst>
                  <p:ext uri="{D42A27DB-BD31-4B8C-83A1-F6EECF244321}">
                    <p14:modId xmlns:p14="http://schemas.microsoft.com/office/powerpoint/2010/main" val="1467598415"/>
                  </p:ext>
                </p:extLst>
              </p:nvPr>
            </p:nvGraphicFramePr>
            <p:xfrm>
              <a:off x="169291" y="386942"/>
              <a:ext cx="6520754" cy="9116494"/>
            </p:xfrm>
            <a:graphic>
              <a:graphicData uri="http://schemas.openxmlformats.org/drawingml/2006/table">
                <a:tbl>
                  <a:tblPr firstRow="1" bandRow="1">
                    <a:tableStyleId>{5940675A-B579-460E-94D1-54222C63F5DA}</a:tableStyleId>
                  </a:tblPr>
                  <a:tblGrid>
                    <a:gridCol w="6520754">
                      <a:extLst>
                        <a:ext uri="{9D8B030D-6E8A-4147-A177-3AD203B41FA5}">
                          <a16:colId xmlns:a16="http://schemas.microsoft.com/office/drawing/2014/main" val="1982671282"/>
                        </a:ext>
                      </a:extLst>
                    </a:gridCol>
                  </a:tblGrid>
                  <a:tr h="4558247">
                    <a:tc>
                      <a:txBody>
                        <a:bodyPr/>
                        <a:lstStyle/>
                        <a:p>
                          <a:r>
                            <a:rPr lang="en-GB" sz="1200" noProof="0" dirty="0" err="1"/>
                            <a:t>i</a:t>
                          </a:r>
                          <a:r>
                            <a:rPr lang="en-GB" sz="1200" noProof="0" dirty="0"/>
                            <a:t>)</a:t>
                          </a:r>
                        </a:p>
                        <a:p>
                          <a:r>
                            <a:rPr lang="en-GB" sz="1200" noProof="0" dirty="0"/>
                            <a:t>(a)  Show that the equation </a:t>
                          </a:r>
                          <a14:m>
                            <m:oMath xmlns:m="http://schemas.openxmlformats.org/officeDocument/2006/math">
                              <m:r>
                                <a:rPr lang="en-GB" sz="1200" i="1" noProof="0" smtClean="0">
                                  <a:latin typeface="Cambria Math" panose="02040503050406030204" pitchFamily="18" charset="0"/>
                                </a:rPr>
                                <m:t>𝑥</m:t>
                              </m:r>
                              <m:r>
                                <a:rPr lang="en-GB" sz="1200" i="1" noProof="0" smtClean="0">
                                  <a:latin typeface="Cambria Math" panose="02040503050406030204" pitchFamily="18" charset="0"/>
                                </a:rPr>
                                <m:t>³ + 2</m:t>
                              </m:r>
                              <m:r>
                                <a:rPr lang="en-GB" sz="1200" i="1" noProof="0" smtClean="0">
                                  <a:latin typeface="Cambria Math" panose="02040503050406030204" pitchFamily="18" charset="0"/>
                                </a:rPr>
                                <m:t>𝑥</m:t>
                              </m:r>
                              <m:r>
                                <a:rPr lang="en-GB" sz="1200" i="1" noProof="0" smtClean="0">
                                  <a:latin typeface="Cambria Math" panose="02040503050406030204" pitchFamily="18" charset="0"/>
                                </a:rPr>
                                <m:t> = 1 </m:t>
                              </m:r>
                            </m:oMath>
                          </a14:m>
                          <a:r>
                            <a:rPr lang="en-GB" sz="1200" noProof="0" dirty="0"/>
                            <a:t>can be rearranged to give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3</m:t>
                                      </m:r>
                                    </m:sup>
                                  </m:sSup>
                                </m:num>
                                <m:den>
                                  <m:r>
                                    <a:rPr lang="en-GB" sz="1200" b="0" i="1" noProof="0" smtClean="0">
                                      <a:latin typeface="Cambria Math" panose="02040503050406030204" pitchFamily="18" charset="0"/>
                                    </a:rPr>
                                    <m:t>2</m:t>
                                  </m:r>
                                </m:den>
                              </m:f>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r>
                            <a:rPr lang="en-GB" sz="1200" noProof="0" dirty="0"/>
                            <a:t>(b) Starting with </a:t>
                          </a:r>
                          <a14:m>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𝑥</m:t>
                                  </m:r>
                                </m:e>
                                <m:sub>
                                  <m:r>
                                    <a:rPr lang="en-GB" sz="1200" b="0" i="1" noProof="0" smtClean="0">
                                      <a:latin typeface="Cambria Math" panose="02040503050406030204" pitchFamily="18" charset="0"/>
                                    </a:rPr>
                                    <m:t>0</m:t>
                                  </m:r>
                                </m:sub>
                              </m:sSub>
                              <m:r>
                                <a:rPr lang="en-GB" sz="1200" b="0" i="1" noProof="0" smtClean="0">
                                  <a:latin typeface="Cambria Math" panose="02040503050406030204" pitchFamily="18" charset="0"/>
                                </a:rPr>
                                <m:t>=0</m:t>
                              </m:r>
                            </m:oMath>
                          </a14:m>
                          <a:r>
                            <a:rPr lang="en-GB" sz="1200" noProof="0" dirty="0"/>
                            <a:t> , use the iteration formula</a:t>
                          </a:r>
                        </a:p>
                        <a:p>
                          <a14:m>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𝑥</m:t>
                                  </m:r>
                                </m:e>
                                <m:sub>
                                  <m:r>
                                    <a:rPr lang="en-GB" sz="1200" b="0" i="1" noProof="0" smtClean="0">
                                      <a:latin typeface="Cambria Math" panose="02040503050406030204" pitchFamily="18" charset="0"/>
                                    </a:rPr>
                                    <m:t>𝑛</m:t>
                                  </m:r>
                                  <m:r>
                                    <a:rPr lang="en-GB" sz="1200" b="0" i="1" noProof="0" smtClean="0">
                                      <a:latin typeface="Cambria Math" panose="02040503050406030204" pitchFamily="18" charset="0"/>
                                    </a:rPr>
                                    <m:t>+1</m:t>
                                  </m:r>
                                </m:sub>
                              </m:sSub>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1</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sSubSup>
                                    <m:sSubSupPr>
                                      <m:ctrlPr>
                                        <a:rPr lang="en-GB" sz="1200" b="0" i="1" noProof="0" smtClean="0">
                                          <a:latin typeface="Cambria Math" panose="02040503050406030204" pitchFamily="18" charset="0"/>
                                        </a:rPr>
                                      </m:ctrlPr>
                                    </m:sSubSupPr>
                                    <m:e>
                                      <m:r>
                                        <a:rPr lang="en-GB" sz="1200" b="0" i="1" noProof="0" smtClean="0">
                                          <a:latin typeface="Cambria Math" panose="02040503050406030204" pitchFamily="18" charset="0"/>
                                        </a:rPr>
                                        <m:t>𝑥</m:t>
                                      </m:r>
                                    </m:e>
                                    <m:sub>
                                      <m:r>
                                        <a:rPr lang="en-GB" sz="1200" b="0" i="1" noProof="0" smtClean="0">
                                          <a:latin typeface="Cambria Math" panose="02040503050406030204" pitchFamily="18" charset="0"/>
                                        </a:rPr>
                                        <m:t>𝑛</m:t>
                                      </m:r>
                                    </m:sub>
                                    <m:sup>
                                      <m:r>
                                        <a:rPr lang="en-GB" sz="1200" b="0" i="1" noProof="0" smtClean="0">
                                          <a:latin typeface="Cambria Math" panose="02040503050406030204" pitchFamily="18" charset="0"/>
                                        </a:rPr>
                                        <m:t>3</m:t>
                                      </m:r>
                                    </m:sup>
                                  </m:sSubSup>
                                </m:num>
                                <m:den>
                                  <m:r>
                                    <a:rPr lang="en-GB" sz="1200" b="0" i="1" noProof="0" smtClean="0">
                                      <a:latin typeface="Cambria Math" panose="02040503050406030204" pitchFamily="18" charset="0"/>
                                    </a:rPr>
                                    <m:t>2</m:t>
                                  </m:r>
                                </m:den>
                              </m:f>
                            </m:oMath>
                          </a14:m>
                          <a:r>
                            <a:rPr lang="en-GB" sz="1200" noProof="0" dirty="0"/>
                            <a:t>   twice to find an estimate for the solution of </a:t>
                          </a:r>
                          <a14:m>
                            <m:oMath xmlns:m="http://schemas.openxmlformats.org/officeDocument/2006/math">
                              <m:r>
                                <a:rPr lang="en-GB" sz="1200" i="1" noProof="0" smtClean="0">
                                  <a:latin typeface="Cambria Math" panose="02040503050406030204" pitchFamily="18" charset="0"/>
                                </a:rPr>
                                <m:t>𝑥</m:t>
                              </m:r>
                              <m:r>
                                <a:rPr lang="en-GB" sz="1200" i="1" noProof="0" smtClean="0">
                                  <a:latin typeface="Cambria Math" panose="02040503050406030204" pitchFamily="18" charset="0"/>
                                </a:rPr>
                                <m:t>³ + 2</m:t>
                              </m:r>
                              <m:r>
                                <a:rPr lang="en-GB" sz="1200" i="1" noProof="0" smtClean="0">
                                  <a:latin typeface="Cambria Math" panose="02040503050406030204" pitchFamily="18" charset="0"/>
                                </a:rPr>
                                <m:t>𝑥</m:t>
                              </m:r>
                              <m:r>
                                <a:rPr lang="en-GB" sz="1200" i="1" noProof="0" smtClean="0">
                                  <a:latin typeface="Cambria Math" panose="02040503050406030204" pitchFamily="18" charset="0"/>
                                </a:rPr>
                                <m:t> = 1</m:t>
                              </m:r>
                            </m:oMath>
                          </a14:m>
                          <a:r>
                            <a:rPr lang="en-GB" sz="1200" noProof="0" dirty="0"/>
                            <a:t> to 2 decimal places. </a:t>
                          </a:r>
                        </a:p>
                        <a:p>
                          <a:endParaRPr lang="en-GB" sz="1200" noProof="0" dirty="0"/>
                        </a:p>
                      </a:txBody>
                      <a:tcPr/>
                    </a:tc>
                    <a:extLst>
                      <a:ext uri="{0D108BD9-81ED-4DB2-BD59-A6C34878D82A}">
                        <a16:rowId xmlns:a16="http://schemas.microsoft.com/office/drawing/2014/main" val="535076447"/>
                      </a:ext>
                    </a:extLst>
                  </a:tr>
                  <a:tr h="4558247">
                    <a:tc>
                      <a:txBody>
                        <a:bodyPr/>
                        <a:lstStyle/>
                        <a:p>
                          <a:r>
                            <a:rPr lang="en-GB" sz="1200" noProof="0" dirty="0"/>
                            <a:t>ii)</a:t>
                          </a:r>
                        </a:p>
                        <a:p>
                          <a:r>
                            <a:rPr lang="en-GB" sz="1200" noProof="0" dirty="0"/>
                            <a:t>(a)  Show that the equation </a:t>
                          </a:r>
                        </a:p>
                        <a:p>
                          <a:pPr algn="ctr"/>
                          <a:r>
                            <a:rPr lang="en-GB" sz="1200" noProof="0" dirty="0"/>
                            <a:t>      </a:t>
                          </a:r>
                          <a14:m>
                            <m:oMath xmlns:m="http://schemas.openxmlformats.org/officeDocument/2006/math">
                              <m:r>
                                <a:rPr lang="en-GB" sz="1200" i="1" noProof="0" smtClean="0">
                                  <a:latin typeface="Cambria Math" panose="02040503050406030204" pitchFamily="18" charset="0"/>
                                </a:rPr>
                                <m:t>3</m:t>
                              </m:r>
                              <m:r>
                                <a:rPr lang="en-GB" sz="1200" i="1" noProof="0" smtClean="0">
                                  <a:latin typeface="Cambria Math" panose="02040503050406030204" pitchFamily="18" charset="0"/>
                                </a:rPr>
                                <m:t>𝑥</m:t>
                              </m:r>
                              <m:r>
                                <a:rPr lang="en-GB" sz="1200" i="1" noProof="0" smtClean="0">
                                  <a:latin typeface="Cambria Math" panose="02040503050406030204" pitchFamily="18" charset="0"/>
                                </a:rPr>
                                <m:t> − </m:t>
                              </m:r>
                              <m:r>
                                <a:rPr lang="en-GB" sz="1200" i="1" noProof="0" smtClean="0">
                                  <a:latin typeface="Cambria Math" panose="02040503050406030204" pitchFamily="18" charset="0"/>
                                </a:rPr>
                                <m:t>𝑥</m:t>
                              </m:r>
                              <m:r>
                                <a:rPr lang="en-GB" sz="1200" i="1" noProof="0" smtClean="0">
                                  <a:latin typeface="Cambria Math" panose="02040503050406030204" pitchFamily="18" charset="0"/>
                                </a:rPr>
                                <m:t>³ = −11 </m:t>
                              </m:r>
                            </m:oMath>
                          </a14:m>
                          <a:r>
                            <a:rPr lang="en-GB" sz="1200" noProof="0" dirty="0"/>
                            <a:t>can be rearranged to give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ad>
                                <m:radPr>
                                  <m:ctrlPr>
                                    <a:rPr lang="en-GB" sz="1200" b="0" i="1" noProof="0" smtClean="0">
                                      <a:latin typeface="Cambria Math" panose="02040503050406030204" pitchFamily="18" charset="0"/>
                                      <a:ea typeface="Cambria Math" panose="02040503050406030204" pitchFamily="18" charset="0"/>
                                    </a:rPr>
                                  </m:ctrlPr>
                                </m:radPr>
                                <m:deg>
                                  <m:r>
                                    <a:rPr lang="en-GB" sz="1200" b="0" noProof="0" smtClean="0">
                                      <a:latin typeface="Cambria Math" panose="02040503050406030204" pitchFamily="18" charset="0"/>
                                      <a:ea typeface="Cambria Math" panose="02040503050406030204" pitchFamily="18" charset="0"/>
                                    </a:rPr>
                                    <m:t>3</m:t>
                                  </m:r>
                                </m:deg>
                                <m:e>
                                  <m:r>
                                    <a:rPr lang="en-GB" sz="1200" b="0" i="1" noProof="0" smtClean="0">
                                      <a:latin typeface="Cambria Math" panose="02040503050406030204" pitchFamily="18" charset="0"/>
                                      <a:ea typeface="Cambria Math" panose="02040503050406030204" pitchFamily="18" charset="0"/>
                                    </a:rPr>
                                    <m:t>3</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+11</m:t>
                                  </m:r>
                                </m:e>
                              </m:rad>
                            </m:oMath>
                          </a14:m>
                          <a:endParaRPr lang="en-GB" sz="1200" noProof="0" dirty="0"/>
                        </a:p>
                        <a:p>
                          <a:pPr marL="228600" indent="-228600">
                            <a:buAutoNum type="alphaLcParenBoth"/>
                          </a:pPr>
                          <a:endParaRPr lang="en-GB" sz="1200" noProof="0" dirty="0"/>
                        </a:p>
                        <a:p>
                          <a:pPr marL="228600" indent="-228600">
                            <a:buAutoNum type="alphaLcParenBoth"/>
                          </a:pPr>
                          <a:endParaRPr lang="en-GB" sz="1200" noProof="0" dirty="0"/>
                        </a:p>
                        <a:p>
                          <a:pPr marL="228600" indent="-228600">
                            <a:buAutoNum type="alphaLcParenBoth"/>
                          </a:pPr>
                          <a:endParaRPr lang="en-GB" sz="1200" noProof="0" dirty="0"/>
                        </a:p>
                        <a:p>
                          <a:pPr marL="228600" indent="-228600">
                            <a:buAutoNum type="alphaLcParenBoth"/>
                          </a:pPr>
                          <a:endParaRPr lang="en-GB" sz="1200" noProof="0" dirty="0"/>
                        </a:p>
                        <a:p>
                          <a:endParaRPr lang="en-GB" sz="1200" noProof="0" dirty="0"/>
                        </a:p>
                        <a:p>
                          <a:endParaRPr lang="en-GB" sz="1200" noProof="0" dirty="0"/>
                        </a:p>
                        <a:p>
                          <a:endParaRPr lang="en-GB" sz="1200" noProof="0" dirty="0"/>
                        </a:p>
                        <a:p>
                          <a:endParaRPr lang="en-GB" sz="1200" noProof="0" dirty="0"/>
                        </a:p>
                        <a:p>
                          <a:r>
                            <a:rPr lang="en-GB" sz="1200" noProof="0" dirty="0"/>
                            <a:t>(b) Starting with </a:t>
                          </a:r>
                          <a14:m>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i="1" noProof="0" smtClean="0">
                                      <a:latin typeface="Cambria Math" panose="02040503050406030204" pitchFamily="18" charset="0"/>
                                    </a:rPr>
                                    <m:t>0</m:t>
                                  </m:r>
                                </m:sub>
                              </m:sSub>
                              <m:r>
                                <a:rPr lang="en-GB" sz="1200" i="1" noProof="0" smtClean="0">
                                  <a:latin typeface="Cambria Math" panose="02040503050406030204" pitchFamily="18" charset="0"/>
                                </a:rPr>
                                <m:t>=</m:t>
                              </m:r>
                              <m:r>
                                <a:rPr lang="en-GB" sz="1200" b="0" i="1" noProof="0" smtClean="0">
                                  <a:latin typeface="Cambria Math" panose="02040503050406030204" pitchFamily="18" charset="0"/>
                                </a:rPr>
                                <m:t>3</m:t>
                              </m:r>
                            </m:oMath>
                          </a14:m>
                          <a:r>
                            <a:rPr lang="en-GB" sz="1200" noProof="0" dirty="0"/>
                            <a:t>  , use the iteration formula </a:t>
                          </a:r>
                          <a14:m>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i="1" noProof="0" smtClean="0">
                                      <a:latin typeface="Cambria Math" panose="02040503050406030204" pitchFamily="18" charset="0"/>
                                    </a:rPr>
                                    <m:t>𝑛</m:t>
                                  </m:r>
                                  <m:r>
                                    <a:rPr lang="en-GB" sz="1200" i="1" noProof="0" smtClean="0">
                                      <a:latin typeface="Cambria Math" panose="02040503050406030204" pitchFamily="18" charset="0"/>
                                    </a:rPr>
                                    <m:t>+1</m:t>
                                  </m:r>
                                </m:sub>
                              </m:sSub>
                              <m:r>
                                <a:rPr lang="en-GB" sz="1200" i="1" noProof="0" smtClean="0">
                                  <a:latin typeface="Cambria Math" panose="02040503050406030204" pitchFamily="18" charset="0"/>
                                </a:rPr>
                                <m:t>=</m:t>
                              </m:r>
                              <m:rad>
                                <m:radPr>
                                  <m:ctrlPr>
                                    <a:rPr lang="en-GB" sz="1200" b="0" i="1" noProof="0" smtClean="0">
                                      <a:latin typeface="Cambria Math" panose="02040503050406030204" pitchFamily="18" charset="0"/>
                                      <a:ea typeface="Cambria Math" panose="02040503050406030204" pitchFamily="18" charset="0"/>
                                    </a:rPr>
                                  </m:ctrlPr>
                                </m:radPr>
                                <m:deg>
                                  <m:r>
                                    <a:rPr lang="en-GB" sz="1200" b="0" noProof="0" smtClean="0">
                                      <a:latin typeface="Cambria Math" panose="02040503050406030204" pitchFamily="18" charset="0"/>
                                      <a:ea typeface="Cambria Math" panose="02040503050406030204" pitchFamily="18" charset="0"/>
                                    </a:rPr>
                                    <m:t>3</m:t>
                                  </m:r>
                                </m:deg>
                                <m:e>
                                  <m:r>
                                    <a:rPr lang="en-GB" sz="1200" b="0" i="1" noProof="0" smtClean="0">
                                      <a:latin typeface="Cambria Math" panose="02040503050406030204" pitchFamily="18" charset="0"/>
                                      <a:ea typeface="Cambria Math" panose="02040503050406030204" pitchFamily="18" charset="0"/>
                                    </a:rPr>
                                    <m:t>3</m:t>
                                  </m:r>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i="1" noProof="0" smtClean="0">
                                          <a:latin typeface="Cambria Math" panose="02040503050406030204" pitchFamily="18" charset="0"/>
                                        </a:rPr>
                                        <m:t>𝑛</m:t>
                                      </m:r>
                                    </m:sub>
                                  </m:sSub>
                                  <m:r>
                                    <a:rPr lang="en-GB" sz="1200" b="0" i="1" noProof="0" smtClean="0">
                                      <a:latin typeface="Cambria Math" panose="02040503050406030204" pitchFamily="18" charset="0"/>
                                    </a:rPr>
                                    <m:t>+11</m:t>
                                  </m:r>
                                </m:e>
                              </m:rad>
                            </m:oMath>
                          </a14:m>
                          <a:r>
                            <a:rPr lang="en-GB" sz="1200" noProof="0" dirty="0"/>
                            <a:t> three times to find an estimate for the solution of </a:t>
                          </a:r>
                          <a14:m>
                            <m:oMath xmlns:m="http://schemas.openxmlformats.org/officeDocument/2006/math">
                              <m:r>
                                <a:rPr lang="en-GB" sz="1200" i="1" noProof="0" smtClean="0">
                                  <a:latin typeface="Cambria Math" panose="02040503050406030204" pitchFamily="18" charset="0"/>
                                </a:rPr>
                                <m:t>3</m:t>
                              </m:r>
                              <m:r>
                                <a:rPr lang="en-GB" sz="1200" i="1" noProof="0" smtClean="0">
                                  <a:latin typeface="Cambria Math" panose="02040503050406030204" pitchFamily="18" charset="0"/>
                                </a:rPr>
                                <m:t>𝑥</m:t>
                              </m:r>
                              <m:r>
                                <a:rPr lang="en-GB" sz="1200" i="1" noProof="0" smtClean="0">
                                  <a:latin typeface="Cambria Math" panose="02040503050406030204" pitchFamily="18" charset="0"/>
                                </a:rPr>
                                <m:t> − </m:t>
                              </m:r>
                              <m:r>
                                <a:rPr lang="en-GB" sz="1200" i="1" noProof="0" smtClean="0">
                                  <a:latin typeface="Cambria Math" panose="02040503050406030204" pitchFamily="18" charset="0"/>
                                </a:rPr>
                                <m:t>𝑥</m:t>
                              </m:r>
                              <m:r>
                                <a:rPr lang="en-GB" sz="1200" i="1" noProof="0" smtClean="0">
                                  <a:latin typeface="Cambria Math" panose="02040503050406030204" pitchFamily="18" charset="0"/>
                                </a:rPr>
                                <m:t>³ = −11</m:t>
                              </m:r>
                            </m:oMath>
                          </a14:m>
                          <a:r>
                            <a:rPr lang="en-GB" sz="1200" noProof="0" dirty="0"/>
                            <a:t> to 2 decimal places. </a:t>
                          </a:r>
                        </a:p>
                        <a:p>
                          <a:endParaRPr lang="en-GB" sz="1200" noProof="0" dirty="0"/>
                        </a:p>
                      </a:txBody>
                      <a:tcPr/>
                    </a:tc>
                    <a:extLst>
                      <a:ext uri="{0D108BD9-81ED-4DB2-BD59-A6C34878D82A}">
                        <a16:rowId xmlns:a16="http://schemas.microsoft.com/office/drawing/2014/main" val="2003636989"/>
                      </a:ext>
                    </a:extLst>
                  </a:tr>
                </a:tbl>
              </a:graphicData>
            </a:graphic>
          </p:graphicFrame>
        </mc:Choice>
        <mc:Fallback xmlns="">
          <p:graphicFrame>
            <p:nvGraphicFramePr>
              <p:cNvPr id="3" name="Table 2">
                <a:extLst>
                  <a:ext uri="{FF2B5EF4-FFF2-40B4-BE49-F238E27FC236}">
                    <a16:creationId xmlns:a16="http://schemas.microsoft.com/office/drawing/2014/main" id="{76AB869A-B5A5-AA11-AE0E-BED68A4A3AAC}"/>
                  </a:ext>
                </a:extLst>
              </p:cNvPr>
              <p:cNvGraphicFramePr>
                <a:graphicFrameLocks noGrp="1"/>
              </p:cNvGraphicFramePr>
              <p:nvPr>
                <p:extLst>
                  <p:ext uri="{D42A27DB-BD31-4B8C-83A1-F6EECF244321}">
                    <p14:modId xmlns:p14="http://schemas.microsoft.com/office/powerpoint/2010/main" val="1467598415"/>
                  </p:ext>
                </p:extLst>
              </p:nvPr>
            </p:nvGraphicFramePr>
            <p:xfrm>
              <a:off x="169291" y="386942"/>
              <a:ext cx="6520754" cy="9116494"/>
            </p:xfrm>
            <a:graphic>
              <a:graphicData uri="http://schemas.openxmlformats.org/drawingml/2006/table">
                <a:tbl>
                  <a:tblPr firstRow="1" bandRow="1">
                    <a:tableStyleId>{5940675A-B579-460E-94D1-54222C63F5DA}</a:tableStyleId>
                  </a:tblPr>
                  <a:tblGrid>
                    <a:gridCol w="6520754">
                      <a:extLst>
                        <a:ext uri="{9D8B030D-6E8A-4147-A177-3AD203B41FA5}">
                          <a16:colId xmlns:a16="http://schemas.microsoft.com/office/drawing/2014/main" val="1982671282"/>
                        </a:ext>
                      </a:extLst>
                    </a:gridCol>
                  </a:tblGrid>
                  <a:tr h="4558247">
                    <a:tc>
                      <a:txBody>
                        <a:bodyPr/>
                        <a:lstStyle/>
                        <a:p>
                          <a:endParaRPr lang="en-US"/>
                        </a:p>
                      </a:txBody>
                      <a:tcPr>
                        <a:blipFill>
                          <a:blip r:embed="rId2"/>
                          <a:stretch>
                            <a:fillRect l="-93" t="-134" r="-187" b="-100401"/>
                          </a:stretch>
                        </a:blipFill>
                      </a:tcPr>
                    </a:tc>
                    <a:extLst>
                      <a:ext uri="{0D108BD9-81ED-4DB2-BD59-A6C34878D82A}">
                        <a16:rowId xmlns:a16="http://schemas.microsoft.com/office/drawing/2014/main" val="535076447"/>
                      </a:ext>
                    </a:extLst>
                  </a:tr>
                  <a:tr h="4558247">
                    <a:tc>
                      <a:txBody>
                        <a:bodyPr/>
                        <a:lstStyle/>
                        <a:p>
                          <a:endParaRPr lang="en-US"/>
                        </a:p>
                      </a:txBody>
                      <a:tcPr>
                        <a:blipFill>
                          <a:blip r:embed="rId2"/>
                          <a:stretch>
                            <a:fillRect l="-93" t="-100134" r="-187" b="-401"/>
                          </a:stretch>
                        </a:blipFill>
                      </a:tcPr>
                    </a:tc>
                    <a:extLst>
                      <a:ext uri="{0D108BD9-81ED-4DB2-BD59-A6C34878D82A}">
                        <a16:rowId xmlns:a16="http://schemas.microsoft.com/office/drawing/2014/main" val="2003636989"/>
                      </a:ext>
                    </a:extLst>
                  </a:tr>
                </a:tbl>
              </a:graphicData>
            </a:graphic>
          </p:graphicFrame>
        </mc:Fallback>
      </mc:AlternateContent>
    </p:spTree>
    <p:extLst>
      <p:ext uri="{BB962C8B-B14F-4D97-AF65-F5344CB8AC3E}">
        <p14:creationId xmlns:p14="http://schemas.microsoft.com/office/powerpoint/2010/main" val="18562371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A238D72E-F97C-B3AA-48AF-49A0C6C6FC58}"/>
                  </a:ext>
                </a:extLst>
              </p:cNvPr>
              <p:cNvGraphicFramePr>
                <a:graphicFrameLocks noGrp="1"/>
              </p:cNvGraphicFramePr>
              <p:nvPr>
                <p:extLst>
                  <p:ext uri="{D42A27DB-BD31-4B8C-83A1-F6EECF244321}">
                    <p14:modId xmlns:p14="http://schemas.microsoft.com/office/powerpoint/2010/main" val="2205626920"/>
                  </p:ext>
                </p:extLst>
              </p:nvPr>
            </p:nvGraphicFramePr>
            <p:xfrm>
              <a:off x="168623" y="394753"/>
              <a:ext cx="6520754" cy="9116494"/>
            </p:xfrm>
            <a:graphic>
              <a:graphicData uri="http://schemas.openxmlformats.org/drawingml/2006/table">
                <a:tbl>
                  <a:tblPr firstRow="1" bandRow="1">
                    <a:tableStyleId>{5940675A-B579-460E-94D1-54222C63F5DA}</a:tableStyleId>
                  </a:tblPr>
                  <a:tblGrid>
                    <a:gridCol w="6520754">
                      <a:extLst>
                        <a:ext uri="{9D8B030D-6E8A-4147-A177-3AD203B41FA5}">
                          <a16:colId xmlns:a16="http://schemas.microsoft.com/office/drawing/2014/main" val="1982671282"/>
                        </a:ext>
                      </a:extLst>
                    </a:gridCol>
                  </a:tblGrid>
                  <a:tr h="4558247">
                    <a:tc>
                      <a:txBody>
                        <a:bodyPr/>
                        <a:lstStyle/>
                        <a:p>
                          <a:r>
                            <a:rPr lang="en-GB" sz="1200" noProof="0" dirty="0"/>
                            <a:t>iii)</a:t>
                          </a:r>
                        </a:p>
                        <a:p>
                          <a:r>
                            <a:rPr lang="en-GB" sz="1200" noProof="0" dirty="0"/>
                            <a:t>(a)  Show that the equation </a:t>
                          </a:r>
                          <a14:m>
                            <m:oMath xmlns:m="http://schemas.openxmlformats.org/officeDocument/2006/math">
                              <m:r>
                                <a:rPr lang="en-GB" sz="1200" i="1" noProof="0" smtClean="0">
                                  <a:latin typeface="Cambria Math" panose="02040503050406030204" pitchFamily="18" charset="0"/>
                                </a:rPr>
                                <m:t>𝑥</m:t>
                              </m:r>
                              <m:r>
                                <a:rPr lang="en-GB" sz="1200" i="1" noProof="0" smtClean="0">
                                  <a:latin typeface="Cambria Math" panose="02040503050406030204" pitchFamily="18" charset="0"/>
                                </a:rPr>
                                <m:t>³ + 5 = 2</m:t>
                              </m:r>
                              <m:r>
                                <a:rPr lang="en-GB" sz="1200" i="1" noProof="0" smtClean="0">
                                  <a:latin typeface="Cambria Math" panose="02040503050406030204" pitchFamily="18" charset="0"/>
                                </a:rPr>
                                <m:t>𝑥</m:t>
                              </m:r>
                              <m:r>
                                <a:rPr lang="en-GB" sz="1200" i="1" noProof="0" smtClean="0">
                                  <a:latin typeface="Cambria Math" panose="02040503050406030204" pitchFamily="18" charset="0"/>
                                </a:rPr>
                                <m:t> </m:t>
                              </m:r>
                            </m:oMath>
                          </a14:m>
                          <a:r>
                            <a:rPr lang="en-GB" sz="1200" noProof="0" dirty="0"/>
                            <a:t>can be rearranged to give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ad>
                                <m:radPr>
                                  <m:ctrlPr>
                                    <a:rPr lang="en-GB" sz="1200" b="0" i="1" noProof="0" smtClean="0">
                                      <a:latin typeface="Cambria Math" panose="02040503050406030204" pitchFamily="18" charset="0"/>
                                      <a:ea typeface="Cambria Math" panose="02040503050406030204" pitchFamily="18" charset="0"/>
                                    </a:rPr>
                                  </m:ctrlPr>
                                </m:radPr>
                                <m:deg>
                                  <m:r>
                                    <a:rPr lang="en-GB" sz="1200" b="0" noProof="0" smtClean="0">
                                      <a:latin typeface="Cambria Math" panose="02040503050406030204" pitchFamily="18" charset="0"/>
                                      <a:ea typeface="Cambria Math" panose="02040503050406030204" pitchFamily="18" charset="0"/>
                                    </a:rPr>
                                    <m:t>3</m:t>
                                  </m:r>
                                </m:deg>
                                <m:e>
                                  <m:r>
                                    <a:rPr lang="en-GB" sz="1200" b="0" i="1" noProof="0" smtClean="0">
                                      <a:latin typeface="Cambria Math" panose="02040503050406030204" pitchFamily="18" charset="0"/>
                                      <a:ea typeface="Cambria Math" panose="02040503050406030204" pitchFamily="18" charset="0"/>
                                    </a:rPr>
                                    <m:t>2</m:t>
                                  </m:r>
                                  <m:r>
                                    <a:rPr lang="en-GB" sz="1200" b="0" i="1" noProof="0" smtClean="0">
                                      <a:latin typeface="Cambria Math" panose="02040503050406030204" pitchFamily="18" charset="0"/>
                                      <a:ea typeface="Cambria Math" panose="02040503050406030204" pitchFamily="18" charset="0"/>
                                    </a:rPr>
                                    <m:t>𝑥</m:t>
                                  </m:r>
                                  <m:r>
                                    <a:rPr lang="en-GB" sz="1200" b="0" i="1" noProof="0" smtClean="0">
                                      <a:latin typeface="Cambria Math" panose="02040503050406030204" pitchFamily="18" charset="0"/>
                                      <a:ea typeface="Cambria Math" panose="02040503050406030204" pitchFamily="18" charset="0"/>
                                    </a:rPr>
                                    <m:t>−5</m:t>
                                  </m:r>
                                </m:e>
                              </m:rad>
                            </m:oMath>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r>
                            <a:rPr lang="en-GB" sz="1200" noProof="0" dirty="0"/>
                            <a:t>(b) Starting with </a:t>
                          </a:r>
                          <a14:m>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i="1" noProof="0" smtClean="0">
                                      <a:latin typeface="Cambria Math" panose="02040503050406030204" pitchFamily="18" charset="0"/>
                                    </a:rPr>
                                    <m:t>0</m:t>
                                  </m:r>
                                </m:sub>
                              </m:sSub>
                              <m:r>
                                <a:rPr lang="en-GB" sz="1200" i="1" noProof="0" smtClean="0">
                                  <a:latin typeface="Cambria Math" panose="02040503050406030204" pitchFamily="18" charset="0"/>
                                </a:rPr>
                                <m:t>=</m:t>
                              </m:r>
                              <m:r>
                                <a:rPr lang="en-GB" sz="1200" b="0" i="1" noProof="0" smtClean="0">
                                  <a:latin typeface="Cambria Math" panose="02040503050406030204" pitchFamily="18" charset="0"/>
                                </a:rPr>
                                <m:t>−2.5</m:t>
                              </m:r>
                            </m:oMath>
                          </a14:m>
                          <a:r>
                            <a:rPr lang="en-GB" sz="1200" noProof="0" dirty="0"/>
                            <a:t> , use the iteration formula</a:t>
                          </a:r>
                        </a:p>
                        <a:p>
                          <a:pPr/>
                          <a14:m>
                            <m:oMathPara xmlns:m="http://schemas.openxmlformats.org/officeDocument/2006/math">
                              <m:oMathParaPr>
                                <m:jc m:val="centerGroup"/>
                              </m:oMathParaPr>
                              <m:oMath xmlns:m="http://schemas.openxmlformats.org/officeDocument/2006/math">
                                <m:sSub>
                                  <m:sSubPr>
                                    <m:ctrlPr>
                                      <a:rPr lang="en-GB" sz="1200" i="1" noProof="0" smtClean="0">
                                        <a:latin typeface="Cambria Math" panose="02040503050406030204" pitchFamily="18" charset="0"/>
                                      </a:rPr>
                                    </m:ctrlPr>
                                  </m:sSubPr>
                                  <m:e>
                                    <m:r>
                                      <a:rPr lang="en-GB" sz="1200" b="0" i="1" noProof="0" smtClean="0">
                                        <a:latin typeface="Cambria Math" panose="02040503050406030204" pitchFamily="18" charset="0"/>
                                      </a:rPr>
                                      <m:t>𝑥</m:t>
                                    </m:r>
                                  </m:e>
                                  <m:sub>
                                    <m:r>
                                      <a:rPr lang="en-GB" sz="1200" b="0" i="1" noProof="0" smtClean="0">
                                        <a:latin typeface="Cambria Math" panose="02040503050406030204" pitchFamily="18" charset="0"/>
                                      </a:rPr>
                                      <m:t>𝑛</m:t>
                                    </m:r>
                                    <m:r>
                                      <a:rPr lang="en-GB" sz="1200" b="0" i="1" noProof="0" smtClean="0">
                                        <a:latin typeface="Cambria Math" panose="02040503050406030204" pitchFamily="18" charset="0"/>
                                      </a:rPr>
                                      <m:t>+1</m:t>
                                    </m:r>
                                  </m:sub>
                                </m:sSub>
                                <m:r>
                                  <a:rPr lang="en-GB" sz="1200" b="0" i="1" noProof="0" smtClean="0">
                                    <a:latin typeface="Cambria Math" panose="02040503050406030204" pitchFamily="18" charset="0"/>
                                  </a:rPr>
                                  <m:t>=</m:t>
                                </m:r>
                                <m:rad>
                                  <m:radPr>
                                    <m:ctrlPr>
                                      <a:rPr lang="en-GB" sz="1200" i="1" noProof="0" smtClean="0">
                                        <a:latin typeface="Cambria Math" panose="02040503050406030204" pitchFamily="18" charset="0"/>
                                        <a:ea typeface="Cambria Math" panose="02040503050406030204" pitchFamily="18" charset="0"/>
                                      </a:rPr>
                                    </m:ctrlPr>
                                  </m:radPr>
                                  <m:deg>
                                    <m:r>
                                      <a:rPr lang="en-GB" sz="1200" noProof="0" smtClean="0">
                                        <a:latin typeface="Cambria Math" panose="02040503050406030204" pitchFamily="18" charset="0"/>
                                        <a:ea typeface="Cambria Math" panose="02040503050406030204" pitchFamily="18" charset="0"/>
                                      </a:rPr>
                                      <m:t>3</m:t>
                                    </m:r>
                                  </m:deg>
                                  <m:e>
                                    <m:r>
                                      <a:rPr lang="en-GB" sz="1200" i="1" noProof="0" smtClean="0">
                                        <a:latin typeface="Cambria Math" panose="02040503050406030204" pitchFamily="18" charset="0"/>
                                        <a:ea typeface="Cambria Math" panose="02040503050406030204" pitchFamily="18" charset="0"/>
                                      </a:rPr>
                                      <m:t>2</m:t>
                                    </m:r>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i="1" noProof="0" smtClean="0">
                                            <a:latin typeface="Cambria Math" panose="02040503050406030204" pitchFamily="18" charset="0"/>
                                          </a:rPr>
                                          <m:t>𝑛</m:t>
                                        </m:r>
                                      </m:sub>
                                    </m:sSub>
                                    <m:r>
                                      <a:rPr lang="en-GB" sz="1200" i="1" noProof="0" smtClean="0">
                                        <a:latin typeface="Cambria Math" panose="02040503050406030204" pitchFamily="18" charset="0"/>
                                        <a:ea typeface="Cambria Math" panose="02040503050406030204" pitchFamily="18" charset="0"/>
                                      </a:rPr>
                                      <m:t>−5</m:t>
                                    </m:r>
                                  </m:e>
                                </m:rad>
                              </m:oMath>
                            </m:oMathPara>
                          </a14:m>
                          <a:endParaRPr lang="en-GB" sz="1200" noProof="0" dirty="0"/>
                        </a:p>
                        <a:p>
                          <a:r>
                            <a:rPr lang="en-GB" sz="1200" noProof="0" dirty="0"/>
                            <a:t>Six times to find an estimate for the solution of </a:t>
                          </a:r>
                          <a14:m>
                            <m:oMath xmlns:m="http://schemas.openxmlformats.org/officeDocument/2006/math">
                              <m:r>
                                <a:rPr lang="en-GB" sz="1200" i="1" noProof="0" smtClean="0">
                                  <a:latin typeface="Cambria Math" panose="02040503050406030204" pitchFamily="18" charset="0"/>
                                </a:rPr>
                                <m:t>𝑥</m:t>
                              </m:r>
                              <m:r>
                                <a:rPr lang="en-GB" sz="1200" i="1" noProof="0" smtClean="0">
                                  <a:latin typeface="Cambria Math" panose="02040503050406030204" pitchFamily="18" charset="0"/>
                                </a:rPr>
                                <m:t>³ + 5 = 2</m:t>
                              </m:r>
                              <m:r>
                                <a:rPr lang="en-GB" sz="1200" i="1" noProof="0" smtClean="0">
                                  <a:latin typeface="Cambria Math" panose="02040503050406030204" pitchFamily="18" charset="0"/>
                                </a:rPr>
                                <m:t>𝑥</m:t>
                              </m:r>
                              <m:r>
                                <a:rPr lang="en-GB" sz="1200" i="1" noProof="0" smtClean="0">
                                  <a:latin typeface="Cambria Math" panose="02040503050406030204" pitchFamily="18" charset="0"/>
                                </a:rPr>
                                <m:t> </m:t>
                              </m:r>
                            </m:oMath>
                          </a14:m>
                          <a:r>
                            <a:rPr lang="en-GB" sz="1200" noProof="0" dirty="0"/>
                            <a:t>to 2 decimal places. </a:t>
                          </a:r>
                        </a:p>
                        <a:p>
                          <a:endParaRPr lang="en-GB" sz="1200" noProof="0" dirty="0"/>
                        </a:p>
                      </a:txBody>
                      <a:tcPr/>
                    </a:tc>
                    <a:extLst>
                      <a:ext uri="{0D108BD9-81ED-4DB2-BD59-A6C34878D82A}">
                        <a16:rowId xmlns:a16="http://schemas.microsoft.com/office/drawing/2014/main" val="535076447"/>
                      </a:ext>
                    </a:extLst>
                  </a:tr>
                  <a:tr h="4558247">
                    <a:tc>
                      <a:txBody>
                        <a:bodyPr/>
                        <a:lstStyle/>
                        <a:p>
                          <a:r>
                            <a:rPr lang="en-GB" sz="1200" noProof="0" dirty="0"/>
                            <a:t>iv)</a:t>
                          </a:r>
                        </a:p>
                        <a:p>
                          <a:r>
                            <a:rPr lang="en-GB" sz="1200" noProof="0" dirty="0"/>
                            <a:t>(a)  Show that the equation</a:t>
                          </a:r>
                          <a:r>
                            <a:rPr lang="en-GB" sz="1200" baseline="0" noProof="0" dirty="0"/>
                            <a:t> </a:t>
                          </a:r>
                          <a:r>
                            <a:rPr lang="en-GB" sz="1200" noProof="0" dirty="0"/>
                            <a:t>  </a:t>
                          </a:r>
                          <a14:m>
                            <m:oMath xmlns:m="http://schemas.openxmlformats.org/officeDocument/2006/math">
                              <m:sSup>
                                <m:sSupPr>
                                  <m:ctrlPr>
                                    <a:rPr lang="en-GB" sz="1200" b="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b="0" i="1" noProof="0" smtClean="0">
                                      <a:latin typeface="Cambria Math" panose="02040503050406030204" pitchFamily="18" charset="0"/>
                                    </a:rPr>
                                    <m:t>4</m:t>
                                  </m:r>
                                </m:sup>
                              </m:sSup>
                              <m:r>
                                <a:rPr lang="en-GB" sz="1200" b="0" i="1" noProof="0" smtClean="0">
                                  <a:latin typeface="Cambria Math" panose="02040503050406030204" pitchFamily="18" charset="0"/>
                                </a:rPr>
                                <m:t>+</m:t>
                              </m:r>
                              <m:r>
                                <a:rPr lang="en-GB" sz="1200" i="1" noProof="0" smtClean="0">
                                  <a:latin typeface="Cambria Math" panose="02040503050406030204" pitchFamily="18" charset="0"/>
                                </a:rPr>
                                <m:t> </m:t>
                              </m:r>
                              <m:r>
                                <a:rPr lang="en-GB" sz="1200" i="1" noProof="0" smtClean="0">
                                  <a:latin typeface="Cambria Math" panose="02040503050406030204" pitchFamily="18" charset="0"/>
                                </a:rPr>
                                <m:t>𝑥</m:t>
                              </m:r>
                              <m:r>
                                <a:rPr lang="en-GB" sz="1200" i="1" noProof="0" smtClean="0">
                                  <a:latin typeface="Cambria Math" panose="02040503050406030204" pitchFamily="18" charset="0"/>
                                </a:rPr>
                                <m:t>³ =4 </m:t>
                              </m:r>
                            </m:oMath>
                          </a14:m>
                          <a:r>
                            <a:rPr lang="en-GB" sz="1200" noProof="0" dirty="0"/>
                            <a:t>can be rearranged to give </a:t>
                          </a:r>
                          <a14:m>
                            <m:oMath xmlns:m="http://schemas.openxmlformats.org/officeDocument/2006/math">
                              <m:r>
                                <a:rPr lang="en-GB" sz="1200" b="0" i="1" noProof="0" smtClean="0">
                                  <a:latin typeface="Cambria Math" panose="02040503050406030204" pitchFamily="18" charset="0"/>
                                </a:rPr>
                                <m:t>𝑥</m:t>
                              </m:r>
                              <m:r>
                                <a:rPr lang="en-GB" sz="1200" b="0" i="1" noProof="0" smtClean="0">
                                  <a:latin typeface="Cambria Math" panose="02040503050406030204" pitchFamily="18" charset="0"/>
                                </a:rPr>
                                <m:t>=</m:t>
                              </m:r>
                              <m:rad>
                                <m:radPr>
                                  <m:ctrlPr>
                                    <a:rPr lang="en-GB" sz="1200" b="0" i="1" noProof="0" smtClean="0">
                                      <a:latin typeface="Cambria Math" panose="02040503050406030204" pitchFamily="18" charset="0"/>
                                      <a:ea typeface="Cambria Math" panose="02040503050406030204" pitchFamily="18" charset="0"/>
                                    </a:rPr>
                                  </m:ctrlPr>
                                </m:radPr>
                                <m:deg>
                                  <m:r>
                                    <a:rPr lang="en-GB" sz="1200" b="0" i="0" noProof="0" smtClean="0">
                                      <a:latin typeface="Cambria Math" panose="02040503050406030204" pitchFamily="18" charset="0"/>
                                      <a:ea typeface="Cambria Math" panose="02040503050406030204" pitchFamily="18" charset="0"/>
                                    </a:rPr>
                                    <m:t>4</m:t>
                                  </m:r>
                                </m:deg>
                                <m:e>
                                  <m:r>
                                    <a:rPr lang="en-GB" sz="1200" b="0" i="1" noProof="0" smtClean="0">
                                      <a:latin typeface="Cambria Math" panose="02040503050406030204" pitchFamily="18" charset="0"/>
                                      <a:ea typeface="Cambria Math" panose="02040503050406030204" pitchFamily="18" charset="0"/>
                                    </a:rPr>
                                    <m:t>4−</m:t>
                                  </m:r>
                                  <m:sSup>
                                    <m:sSupPr>
                                      <m:ctrlPr>
                                        <a:rPr lang="en-GB" sz="1200" b="0" i="1" noProof="0" smtClean="0">
                                          <a:latin typeface="Cambria Math" panose="02040503050406030204" pitchFamily="18" charset="0"/>
                                          <a:ea typeface="Cambria Math" panose="02040503050406030204" pitchFamily="18" charset="0"/>
                                        </a:rPr>
                                      </m:ctrlPr>
                                    </m:sSupPr>
                                    <m:e>
                                      <m:r>
                                        <a:rPr lang="en-GB" sz="1200" b="0" i="1" noProof="0" smtClean="0">
                                          <a:latin typeface="Cambria Math" panose="02040503050406030204" pitchFamily="18" charset="0"/>
                                          <a:ea typeface="Cambria Math" panose="02040503050406030204" pitchFamily="18" charset="0"/>
                                        </a:rPr>
                                        <m:t>𝑥</m:t>
                                      </m:r>
                                    </m:e>
                                    <m:sup>
                                      <m:r>
                                        <a:rPr lang="en-GB" sz="1200" b="0" i="1" noProof="0" smtClean="0">
                                          <a:latin typeface="Cambria Math" panose="02040503050406030204" pitchFamily="18" charset="0"/>
                                          <a:ea typeface="Cambria Math" panose="02040503050406030204" pitchFamily="18" charset="0"/>
                                        </a:rPr>
                                        <m:t>3</m:t>
                                      </m:r>
                                    </m:sup>
                                  </m:sSup>
                                </m:e>
                              </m:rad>
                            </m:oMath>
                          </a14:m>
                          <a:endParaRPr lang="en-GB" sz="1200" noProof="0" dirty="0"/>
                        </a:p>
                        <a:p>
                          <a:pPr marL="228600" indent="-228600">
                            <a:buAutoNum type="alphaLcParenBoth"/>
                          </a:pPr>
                          <a:endParaRPr lang="en-GB" sz="1200" noProof="0" dirty="0"/>
                        </a:p>
                        <a:p>
                          <a:pPr marL="228600" indent="-228600">
                            <a:buAutoNum type="alphaLcParenBoth"/>
                          </a:pPr>
                          <a:endParaRPr lang="en-GB" sz="1200" noProof="0" dirty="0"/>
                        </a:p>
                        <a:p>
                          <a:pPr marL="228600" indent="-228600">
                            <a:buAutoNum type="alphaLcParenBoth"/>
                          </a:pPr>
                          <a:endParaRPr lang="en-GB" sz="1200" noProof="0" dirty="0"/>
                        </a:p>
                        <a:p>
                          <a:pPr marL="228600" indent="-228600">
                            <a:buAutoNum type="alphaLcParenBoth"/>
                          </a:pPr>
                          <a:endParaRPr lang="en-GB" sz="1200" noProof="0" dirty="0"/>
                        </a:p>
                        <a:p>
                          <a:endParaRPr lang="en-GB" sz="1200" noProof="0" dirty="0"/>
                        </a:p>
                        <a:p>
                          <a:endParaRPr lang="en-GB" sz="1200" noProof="0" dirty="0"/>
                        </a:p>
                        <a:p>
                          <a:endParaRPr lang="en-GB" sz="1200" noProof="0" dirty="0"/>
                        </a:p>
                        <a:p>
                          <a:endParaRPr lang="en-GB" sz="1200" noProof="0" dirty="0"/>
                        </a:p>
                        <a:p>
                          <a:r>
                            <a:rPr lang="en-GB" sz="1200" noProof="0" dirty="0"/>
                            <a:t>(b) Starting with </a:t>
                          </a:r>
                          <a14:m>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i="1" noProof="0" smtClean="0">
                                      <a:latin typeface="Cambria Math" panose="02040503050406030204" pitchFamily="18" charset="0"/>
                                    </a:rPr>
                                    <m:t>0</m:t>
                                  </m:r>
                                </m:sub>
                              </m:sSub>
                              <m:r>
                                <a:rPr lang="en-GB" sz="1200" i="1" noProof="0" smtClean="0">
                                  <a:latin typeface="Cambria Math" panose="02040503050406030204" pitchFamily="18" charset="0"/>
                                </a:rPr>
                                <m:t>=</m:t>
                              </m:r>
                              <m:r>
                                <a:rPr lang="en-GB" sz="1200" b="0" i="1" noProof="0" smtClean="0">
                                  <a:latin typeface="Cambria Math" panose="02040503050406030204" pitchFamily="18" charset="0"/>
                                </a:rPr>
                                <m:t>1.2</m:t>
                              </m:r>
                            </m:oMath>
                          </a14:m>
                          <a:r>
                            <a:rPr lang="en-GB" sz="1200" noProof="0" dirty="0"/>
                            <a:t> , use the iteration formula </a:t>
                          </a:r>
                          <a14:m>
                            <m:oMath xmlns:m="http://schemas.openxmlformats.org/officeDocument/2006/math">
                              <m:sSub>
                                <m:sSubPr>
                                  <m:ctrlPr>
                                    <a:rPr lang="en-GB" sz="1200" i="1" noProof="0" smtClean="0">
                                      <a:latin typeface="Cambria Math" panose="02040503050406030204" pitchFamily="18" charset="0"/>
                                    </a:rPr>
                                  </m:ctrlPr>
                                </m:sSubPr>
                                <m:e>
                                  <m:r>
                                    <a:rPr lang="en-GB" sz="1200" i="1" noProof="0" smtClean="0">
                                      <a:latin typeface="Cambria Math" panose="02040503050406030204" pitchFamily="18" charset="0"/>
                                    </a:rPr>
                                    <m:t>𝑥</m:t>
                                  </m:r>
                                </m:e>
                                <m:sub>
                                  <m:r>
                                    <a:rPr lang="en-GB" sz="1200" i="1" noProof="0" smtClean="0">
                                      <a:latin typeface="Cambria Math" panose="02040503050406030204" pitchFamily="18" charset="0"/>
                                    </a:rPr>
                                    <m:t>𝑛</m:t>
                                  </m:r>
                                  <m:r>
                                    <a:rPr lang="en-GB" sz="1200" i="1" noProof="0" smtClean="0">
                                      <a:latin typeface="Cambria Math" panose="02040503050406030204" pitchFamily="18" charset="0"/>
                                    </a:rPr>
                                    <m:t>+1</m:t>
                                  </m:r>
                                </m:sub>
                              </m:sSub>
                              <m:r>
                                <a:rPr lang="en-GB" sz="1200" i="1" noProof="0" smtClean="0">
                                  <a:latin typeface="Cambria Math" panose="02040503050406030204" pitchFamily="18" charset="0"/>
                                </a:rPr>
                                <m:t>=</m:t>
                              </m:r>
                              <m:rad>
                                <m:radPr>
                                  <m:ctrlPr>
                                    <a:rPr lang="en-GB" sz="1200" i="1" noProof="0" smtClean="0">
                                      <a:latin typeface="Cambria Math" panose="02040503050406030204" pitchFamily="18" charset="0"/>
                                      <a:ea typeface="Cambria Math" panose="02040503050406030204" pitchFamily="18" charset="0"/>
                                    </a:rPr>
                                  </m:ctrlPr>
                                </m:radPr>
                                <m:deg>
                                  <m:r>
                                    <a:rPr lang="en-GB" sz="1200" noProof="0" smtClean="0">
                                      <a:latin typeface="Cambria Math" panose="02040503050406030204" pitchFamily="18" charset="0"/>
                                      <a:ea typeface="Cambria Math" panose="02040503050406030204" pitchFamily="18" charset="0"/>
                                    </a:rPr>
                                    <m:t>4</m:t>
                                  </m:r>
                                </m:deg>
                                <m:e>
                                  <m:r>
                                    <a:rPr lang="en-GB" sz="1200" i="1" noProof="0" smtClean="0">
                                      <a:latin typeface="Cambria Math" panose="02040503050406030204" pitchFamily="18" charset="0"/>
                                      <a:ea typeface="Cambria Math" panose="02040503050406030204" pitchFamily="18" charset="0"/>
                                    </a:rPr>
                                    <m:t>4−</m:t>
                                  </m:r>
                                  <m:sSubSup>
                                    <m:sSubSupPr>
                                      <m:ctrlPr>
                                        <a:rPr lang="en-GB" sz="1200" i="1" noProof="0" smtClean="0">
                                          <a:latin typeface="Cambria Math" panose="02040503050406030204" pitchFamily="18" charset="0"/>
                                          <a:ea typeface="Cambria Math" panose="02040503050406030204" pitchFamily="18" charset="0"/>
                                        </a:rPr>
                                      </m:ctrlPr>
                                    </m:sSubSupPr>
                                    <m:e>
                                      <m:r>
                                        <a:rPr lang="en-GB" sz="1200" b="0" i="1" noProof="0" smtClean="0">
                                          <a:latin typeface="Cambria Math" panose="02040503050406030204" pitchFamily="18" charset="0"/>
                                          <a:ea typeface="Cambria Math" panose="02040503050406030204" pitchFamily="18" charset="0"/>
                                        </a:rPr>
                                        <m:t>𝑥</m:t>
                                      </m:r>
                                    </m:e>
                                    <m:sub>
                                      <m:r>
                                        <a:rPr lang="en-GB" sz="1200" b="0" i="1" noProof="0" smtClean="0">
                                          <a:latin typeface="Cambria Math" panose="02040503050406030204" pitchFamily="18" charset="0"/>
                                          <a:ea typeface="Cambria Math" panose="02040503050406030204" pitchFamily="18" charset="0"/>
                                        </a:rPr>
                                        <m:t>𝑛</m:t>
                                      </m:r>
                                    </m:sub>
                                    <m:sup>
                                      <m:r>
                                        <a:rPr lang="en-GB" sz="1200" b="0" i="1" noProof="0" smtClean="0">
                                          <a:latin typeface="Cambria Math" panose="02040503050406030204" pitchFamily="18" charset="0"/>
                                          <a:ea typeface="Cambria Math" panose="02040503050406030204" pitchFamily="18" charset="0"/>
                                        </a:rPr>
                                        <m:t>3</m:t>
                                      </m:r>
                                    </m:sup>
                                  </m:sSubSup>
                                </m:e>
                              </m:rad>
                            </m:oMath>
                          </a14:m>
                          <a:r>
                            <a:rPr lang="en-GB" sz="1200" noProof="0" dirty="0"/>
                            <a:t> six times to find an estimate for the solution of </a:t>
                          </a:r>
                          <a14:m>
                            <m:oMath xmlns:m="http://schemas.openxmlformats.org/officeDocument/2006/math">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4</m:t>
                                  </m:r>
                                </m:sup>
                              </m:sSup>
                              <m:r>
                                <a:rPr lang="en-GB" sz="1200" i="1" noProof="0" smtClean="0">
                                  <a:latin typeface="Cambria Math" panose="02040503050406030204" pitchFamily="18" charset="0"/>
                                </a:rPr>
                                <m:t>+ </m:t>
                              </m:r>
                              <m:sSup>
                                <m:sSupPr>
                                  <m:ctrlPr>
                                    <a:rPr lang="en-GB" sz="1200" i="1" noProof="0" smtClean="0">
                                      <a:latin typeface="Cambria Math" panose="02040503050406030204" pitchFamily="18" charset="0"/>
                                    </a:rPr>
                                  </m:ctrlPr>
                                </m:sSupPr>
                                <m:e>
                                  <m:r>
                                    <a:rPr lang="en-GB" sz="1200" i="1" noProof="0" smtClean="0">
                                      <a:latin typeface="Cambria Math" panose="02040503050406030204" pitchFamily="18" charset="0"/>
                                    </a:rPr>
                                    <m:t>𝑥</m:t>
                                  </m:r>
                                </m:e>
                                <m:sup>
                                  <m:r>
                                    <a:rPr lang="en-GB" sz="1200" i="1" noProof="0" smtClean="0">
                                      <a:latin typeface="Cambria Math" panose="02040503050406030204" pitchFamily="18" charset="0"/>
                                    </a:rPr>
                                    <m:t>3</m:t>
                                  </m:r>
                                </m:sup>
                              </m:sSup>
                              <m:r>
                                <a:rPr lang="en-GB" sz="1200" i="1" noProof="0" smtClean="0">
                                  <a:latin typeface="Cambria Math" panose="02040503050406030204" pitchFamily="18" charset="0"/>
                                </a:rPr>
                                <m:t>=4</m:t>
                              </m:r>
                            </m:oMath>
                          </a14:m>
                          <a:r>
                            <a:rPr lang="en-GB" sz="1200" noProof="0" dirty="0"/>
                            <a:t> to 2 decimal places. </a:t>
                          </a:r>
                        </a:p>
                        <a:p>
                          <a:endParaRPr lang="en-GB" sz="1200" noProof="0" dirty="0"/>
                        </a:p>
                      </a:txBody>
                      <a:tcPr/>
                    </a:tc>
                    <a:extLst>
                      <a:ext uri="{0D108BD9-81ED-4DB2-BD59-A6C34878D82A}">
                        <a16:rowId xmlns:a16="http://schemas.microsoft.com/office/drawing/2014/main" val="2003636989"/>
                      </a:ext>
                    </a:extLst>
                  </a:tr>
                </a:tbl>
              </a:graphicData>
            </a:graphic>
          </p:graphicFrame>
        </mc:Choice>
        <mc:Fallback xmlns="">
          <p:graphicFrame>
            <p:nvGraphicFramePr>
              <p:cNvPr id="9" name="Table 8">
                <a:extLst>
                  <a:ext uri="{FF2B5EF4-FFF2-40B4-BE49-F238E27FC236}">
                    <a16:creationId xmlns:a16="http://schemas.microsoft.com/office/drawing/2014/main" id="{A238D72E-F97C-B3AA-48AF-49A0C6C6FC58}"/>
                  </a:ext>
                </a:extLst>
              </p:cNvPr>
              <p:cNvGraphicFramePr>
                <a:graphicFrameLocks noGrp="1"/>
              </p:cNvGraphicFramePr>
              <p:nvPr>
                <p:extLst>
                  <p:ext uri="{D42A27DB-BD31-4B8C-83A1-F6EECF244321}">
                    <p14:modId xmlns:p14="http://schemas.microsoft.com/office/powerpoint/2010/main" val="2205626920"/>
                  </p:ext>
                </p:extLst>
              </p:nvPr>
            </p:nvGraphicFramePr>
            <p:xfrm>
              <a:off x="168623" y="394753"/>
              <a:ext cx="6520754" cy="9116494"/>
            </p:xfrm>
            <a:graphic>
              <a:graphicData uri="http://schemas.openxmlformats.org/drawingml/2006/table">
                <a:tbl>
                  <a:tblPr firstRow="1" bandRow="1">
                    <a:tableStyleId>{5940675A-B579-460E-94D1-54222C63F5DA}</a:tableStyleId>
                  </a:tblPr>
                  <a:tblGrid>
                    <a:gridCol w="6520754">
                      <a:extLst>
                        <a:ext uri="{9D8B030D-6E8A-4147-A177-3AD203B41FA5}">
                          <a16:colId xmlns:a16="http://schemas.microsoft.com/office/drawing/2014/main" val="1982671282"/>
                        </a:ext>
                      </a:extLst>
                    </a:gridCol>
                  </a:tblGrid>
                  <a:tr h="4558247">
                    <a:tc>
                      <a:txBody>
                        <a:bodyPr/>
                        <a:lstStyle/>
                        <a:p>
                          <a:endParaRPr lang="en-US"/>
                        </a:p>
                      </a:txBody>
                      <a:tcPr>
                        <a:blipFill>
                          <a:blip r:embed="rId2"/>
                          <a:stretch>
                            <a:fillRect l="-93" t="-134" r="-187" b="-100134"/>
                          </a:stretch>
                        </a:blipFill>
                      </a:tcPr>
                    </a:tc>
                    <a:extLst>
                      <a:ext uri="{0D108BD9-81ED-4DB2-BD59-A6C34878D82A}">
                        <a16:rowId xmlns:a16="http://schemas.microsoft.com/office/drawing/2014/main" val="535076447"/>
                      </a:ext>
                    </a:extLst>
                  </a:tr>
                  <a:tr h="4558247">
                    <a:tc>
                      <a:txBody>
                        <a:bodyPr/>
                        <a:lstStyle/>
                        <a:p>
                          <a:endParaRPr lang="en-US"/>
                        </a:p>
                      </a:txBody>
                      <a:tcPr>
                        <a:blipFill>
                          <a:blip r:embed="rId2"/>
                          <a:stretch>
                            <a:fillRect l="-93" t="-100267" r="-187" b="-267"/>
                          </a:stretch>
                        </a:blipFill>
                      </a:tcPr>
                    </a:tc>
                    <a:extLst>
                      <a:ext uri="{0D108BD9-81ED-4DB2-BD59-A6C34878D82A}">
                        <a16:rowId xmlns:a16="http://schemas.microsoft.com/office/drawing/2014/main" val="2003636989"/>
                      </a:ext>
                    </a:extLst>
                  </a:tr>
                </a:tbl>
              </a:graphicData>
            </a:graphic>
          </p:graphicFrame>
        </mc:Fallback>
      </mc:AlternateContent>
      <p:sp>
        <p:nvSpPr>
          <p:cNvPr id="2" name="Slide Number Placeholder 1">
            <a:extLst>
              <a:ext uri="{FF2B5EF4-FFF2-40B4-BE49-F238E27FC236}">
                <a16:creationId xmlns:a16="http://schemas.microsoft.com/office/drawing/2014/main" id="{32777939-E317-37FF-DA00-B90DCFE911FE}"/>
              </a:ext>
            </a:extLst>
          </p:cNvPr>
          <p:cNvSpPr>
            <a:spLocks noGrp="1"/>
          </p:cNvSpPr>
          <p:nvPr>
            <p:ph type="sldNum" sz="quarter" idx="12"/>
          </p:nvPr>
        </p:nvSpPr>
        <p:spPr>
          <a:xfrm>
            <a:off x="5292974" y="9432257"/>
            <a:ext cx="1543050" cy="527403"/>
          </a:xfrm>
        </p:spPr>
        <p:txBody>
          <a:bodyPr/>
          <a:lstStyle/>
          <a:p>
            <a:fld id="{9BD3B4A0-BFF9-422C-B253-48BA94BE2F5B}" type="slidenum">
              <a:rPr lang="en-GB" noProof="0" smtClean="0"/>
              <a:t>69</a:t>
            </a:fld>
            <a:endParaRPr lang="en-GB" noProof="0" dirty="0"/>
          </a:p>
        </p:txBody>
      </p:sp>
    </p:spTree>
    <p:extLst>
      <p:ext uri="{BB962C8B-B14F-4D97-AF65-F5344CB8AC3E}">
        <p14:creationId xmlns:p14="http://schemas.microsoft.com/office/powerpoint/2010/main" val="5088476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78740-4812-5494-18BD-52452885837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118EA3EE-7D1B-76FF-40DE-ECDF4381FB0A}"/>
                  </a:ext>
                </a:extLst>
              </p:cNvPr>
              <p:cNvGraphicFramePr>
                <a:graphicFrameLocks noGrp="1"/>
              </p:cNvGraphicFramePr>
              <p:nvPr>
                <p:extLst>
                  <p:ext uri="{D42A27DB-BD31-4B8C-83A1-F6EECF244321}">
                    <p14:modId xmlns:p14="http://schemas.microsoft.com/office/powerpoint/2010/main" val="1123009239"/>
                  </p:ext>
                </p:extLst>
              </p:nvPr>
            </p:nvGraphicFramePr>
            <p:xfrm>
              <a:off x="168623" y="117361"/>
              <a:ext cx="6520754" cy="9671277"/>
            </p:xfrm>
            <a:graphic>
              <a:graphicData uri="http://schemas.openxmlformats.org/drawingml/2006/table">
                <a:tbl>
                  <a:tblPr firstRow="1" bandRow="1">
                    <a:tableStyleId>{5940675A-B579-460E-94D1-54222C63F5DA}</a:tableStyleId>
                  </a:tblPr>
                  <a:tblGrid>
                    <a:gridCol w="6520754">
                      <a:extLst>
                        <a:ext uri="{9D8B030D-6E8A-4147-A177-3AD203B41FA5}">
                          <a16:colId xmlns:a16="http://schemas.microsoft.com/office/drawing/2014/main" val="1982671282"/>
                        </a:ext>
                      </a:extLst>
                    </a:gridCol>
                  </a:tblGrid>
                  <a:tr h="4670715">
                    <a:tc>
                      <a:txBody>
                        <a:bodyPr/>
                        <a:lstStyle/>
                        <a:p>
                          <a:pPr marL="0" indent="0">
                            <a:buNone/>
                          </a:pPr>
                          <a:r>
                            <a:rPr lang="en-GB" sz="1350" kern="1200" noProof="0" dirty="0">
                              <a:solidFill>
                                <a:schemeClr val="tx1"/>
                              </a:solidFill>
                              <a:effectLst/>
                              <a:latin typeface="+mn-lt"/>
                              <a:ea typeface="+mn-ea"/>
                              <a:cs typeface="+mn-cs"/>
                            </a:rPr>
                            <a:t>v.</a:t>
                          </a:r>
                        </a:p>
                        <a:p>
                          <a:pPr marL="342900" indent="-342900">
                            <a:buAutoNum type="alphaLcPeriod"/>
                          </a:pPr>
                          <a:r>
                            <a:rPr lang="en-GB" sz="1350" kern="1200" noProof="0" dirty="0">
                              <a:solidFill>
                                <a:schemeClr val="tx1"/>
                              </a:solidFill>
                              <a:effectLst/>
                              <a:latin typeface="+mn-lt"/>
                              <a:ea typeface="+mn-ea"/>
                              <a:cs typeface="+mn-cs"/>
                            </a:rPr>
                            <a:t>Show that </a:t>
                          </a:r>
                          <a14:m>
                            <m:oMath xmlns:m="http://schemas.openxmlformats.org/officeDocument/2006/math">
                              <m:sSup>
                                <m:sSupPr>
                                  <m:ctrlPr>
                                    <a:rPr lang="en-GB" sz="1350" i="1" kern="1200" noProof="0" smtClean="0">
                                      <a:solidFill>
                                        <a:schemeClr val="tx1"/>
                                      </a:solidFill>
                                      <a:effectLst/>
                                      <a:latin typeface="Cambria Math" panose="02040503050406030204" pitchFamily="18" charset="0"/>
                                      <a:ea typeface="+mn-ea"/>
                                      <a:cs typeface="+mn-cs"/>
                                    </a:rPr>
                                  </m:ctrlPr>
                                </m:sSupPr>
                                <m:e>
                                  <m:r>
                                    <a:rPr lang="en-GB" sz="1350" i="1" kern="1200" noProof="0">
                                      <a:solidFill>
                                        <a:schemeClr val="tx1"/>
                                      </a:solidFill>
                                      <a:effectLst/>
                                      <a:latin typeface="Cambria Math" panose="02040503050406030204" pitchFamily="18" charset="0"/>
                                      <a:ea typeface="+mn-ea"/>
                                      <a:cs typeface="+mn-cs"/>
                                    </a:rPr>
                                    <m:t>𝑥</m:t>
                                  </m:r>
                                </m:e>
                                <m:sup>
                                  <m:r>
                                    <a:rPr lang="en-GB" sz="1350" i="1" kern="1200" noProof="0">
                                      <a:solidFill>
                                        <a:schemeClr val="tx1"/>
                                      </a:solidFill>
                                      <a:effectLst/>
                                      <a:latin typeface="Cambria Math" panose="02040503050406030204" pitchFamily="18" charset="0"/>
                                      <a:ea typeface="+mn-ea"/>
                                      <a:cs typeface="+mn-cs"/>
                                    </a:rPr>
                                    <m:t>2</m:t>
                                  </m:r>
                                </m:sup>
                              </m:sSup>
                              <m:r>
                                <a:rPr lang="en-GB" sz="1350" i="1" kern="1200" noProof="0">
                                  <a:solidFill>
                                    <a:schemeClr val="tx1"/>
                                  </a:solidFill>
                                  <a:effectLst/>
                                  <a:latin typeface="Cambria Math" panose="02040503050406030204" pitchFamily="18" charset="0"/>
                                  <a:ea typeface="+mn-ea"/>
                                  <a:cs typeface="+mn-cs"/>
                                </a:rPr>
                                <m:t>+4</m:t>
                              </m:r>
                              <m:r>
                                <a:rPr lang="en-GB" sz="1350" i="1" kern="1200" noProof="0">
                                  <a:solidFill>
                                    <a:schemeClr val="tx1"/>
                                  </a:solidFill>
                                  <a:effectLst/>
                                  <a:latin typeface="Cambria Math" panose="02040503050406030204" pitchFamily="18" charset="0"/>
                                  <a:ea typeface="+mn-ea"/>
                                  <a:cs typeface="+mn-cs"/>
                                </a:rPr>
                                <m:t>𝑥</m:t>
                              </m:r>
                              <m:r>
                                <a:rPr lang="en-GB" sz="1350" i="1" kern="1200" noProof="0">
                                  <a:solidFill>
                                    <a:schemeClr val="tx1"/>
                                  </a:solidFill>
                                  <a:effectLst/>
                                  <a:latin typeface="Cambria Math" panose="02040503050406030204" pitchFamily="18" charset="0"/>
                                  <a:ea typeface="+mn-ea"/>
                                  <a:cs typeface="+mn-cs"/>
                                </a:rPr>
                                <m:t>−29=0</m:t>
                              </m:r>
                            </m:oMath>
                          </a14:m>
                          <a:r>
                            <a:rPr lang="en-GB" sz="1350" kern="1200" noProof="0" dirty="0">
                              <a:solidFill>
                                <a:schemeClr val="tx1"/>
                              </a:solidFill>
                              <a:effectLst/>
                              <a:latin typeface="+mn-lt"/>
                              <a:ea typeface="+mn-ea"/>
                              <a:cs typeface="+mn-cs"/>
                            </a:rPr>
                            <a:t> can be written in the form </a:t>
                          </a:r>
                          <a14:m>
                            <m:oMath xmlns:m="http://schemas.openxmlformats.org/officeDocument/2006/math">
                              <m:r>
                                <a:rPr lang="en-GB" sz="1350" i="1" kern="1200" noProof="0">
                                  <a:solidFill>
                                    <a:schemeClr val="tx1"/>
                                  </a:solidFill>
                                  <a:effectLst/>
                                  <a:latin typeface="Cambria Math" panose="02040503050406030204" pitchFamily="18" charset="0"/>
                                  <a:ea typeface="+mn-ea"/>
                                  <a:cs typeface="+mn-cs"/>
                                </a:rPr>
                                <m:t>𝑥</m:t>
                              </m:r>
                              <m:r>
                                <a:rPr lang="en-GB" sz="1350" i="1" kern="1200" noProof="0">
                                  <a:solidFill>
                                    <a:schemeClr val="tx1"/>
                                  </a:solidFill>
                                  <a:effectLst/>
                                  <a:latin typeface="Cambria Math" panose="02040503050406030204" pitchFamily="18" charset="0"/>
                                  <a:ea typeface="+mn-ea"/>
                                  <a:cs typeface="+mn-cs"/>
                                </a:rPr>
                                <m:t>= </m:t>
                              </m:r>
                              <m:rad>
                                <m:radPr>
                                  <m:degHide m:val="on"/>
                                  <m:ctrlPr>
                                    <a:rPr lang="en-GB" sz="1350" i="1" kern="1200" noProof="0" smtClean="0">
                                      <a:solidFill>
                                        <a:schemeClr val="tx1"/>
                                      </a:solidFill>
                                      <a:effectLst/>
                                      <a:latin typeface="Cambria Math" panose="02040503050406030204" pitchFamily="18" charset="0"/>
                                      <a:ea typeface="+mn-ea"/>
                                      <a:cs typeface="+mn-cs"/>
                                    </a:rPr>
                                  </m:ctrlPr>
                                </m:radPr>
                                <m:deg/>
                                <m:e>
                                  <m:r>
                                    <a:rPr lang="en-GB" sz="1350" i="1" kern="1200" noProof="0">
                                      <a:solidFill>
                                        <a:schemeClr val="tx1"/>
                                      </a:solidFill>
                                      <a:effectLst/>
                                      <a:latin typeface="Cambria Math" panose="02040503050406030204" pitchFamily="18" charset="0"/>
                                      <a:ea typeface="+mn-ea"/>
                                      <a:cs typeface="+mn-cs"/>
                                    </a:rPr>
                                    <m:t>29−4</m:t>
                                  </m:r>
                                  <m:r>
                                    <a:rPr lang="en-GB" sz="1350" i="1" kern="1200" noProof="0">
                                      <a:solidFill>
                                        <a:schemeClr val="tx1"/>
                                      </a:solidFill>
                                      <a:effectLst/>
                                      <a:latin typeface="Cambria Math" panose="02040503050406030204" pitchFamily="18" charset="0"/>
                                      <a:ea typeface="+mn-ea"/>
                                      <a:cs typeface="+mn-cs"/>
                                    </a:rPr>
                                    <m:t>𝑥</m:t>
                                  </m:r>
                                </m:e>
                              </m:rad>
                            </m:oMath>
                          </a14:m>
                          <a:r>
                            <a:rPr lang="en-GB" sz="1350" kern="1200" noProof="0" dirty="0">
                              <a:solidFill>
                                <a:schemeClr val="tx1"/>
                              </a:solidFill>
                              <a:effectLst/>
                              <a:latin typeface="+mn-lt"/>
                              <a:ea typeface="+mn-ea"/>
                              <a:cs typeface="+mn-cs"/>
                            </a:rPr>
                            <a:t>.</a:t>
                          </a:r>
                          <a:br>
                            <a:rPr lang="en-GB" sz="1350" kern="1200" noProof="0" dirty="0">
                              <a:solidFill>
                                <a:schemeClr val="tx1"/>
                              </a:solidFill>
                              <a:effectLst/>
                              <a:latin typeface="+mn-lt"/>
                              <a:ea typeface="+mn-ea"/>
                              <a:cs typeface="+mn-cs"/>
                            </a:rPr>
                          </a:b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lvl="0"/>
                          <a:r>
                            <a:rPr lang="en-GB" sz="1350" kern="1200" noProof="0" dirty="0">
                              <a:solidFill>
                                <a:schemeClr val="tx1"/>
                              </a:solidFill>
                              <a:effectLst/>
                              <a:latin typeface="+mn-lt"/>
                              <a:ea typeface="+mn-ea"/>
                              <a:cs typeface="+mn-cs"/>
                            </a:rPr>
                            <a:t>b. Use the iteration formula </a:t>
                          </a:r>
                          <a:br>
                            <a:rPr lang="en-GB" sz="1350" kern="1200" noProof="0" dirty="0">
                              <a:solidFill>
                                <a:schemeClr val="tx1"/>
                              </a:solidFill>
                              <a:effectLst/>
                              <a:latin typeface="+mn-lt"/>
                              <a:ea typeface="+mn-ea"/>
                              <a:cs typeface="+mn-cs"/>
                            </a:rPr>
                          </a:br>
                          <a14:m>
                            <m:oMath xmlns:m="http://schemas.openxmlformats.org/officeDocument/2006/math">
                              <m:sSub>
                                <m:sSubPr>
                                  <m:ctrlPr>
                                    <a:rPr lang="en-GB" sz="1350" i="1" kern="1200" noProof="0" smtClean="0">
                                      <a:solidFill>
                                        <a:schemeClr val="tx1"/>
                                      </a:solidFill>
                                      <a:effectLst/>
                                      <a:latin typeface="Cambria Math" panose="02040503050406030204" pitchFamily="18" charset="0"/>
                                      <a:ea typeface="+mn-ea"/>
                                      <a:cs typeface="+mn-cs"/>
                                    </a:rPr>
                                  </m:ctrlPr>
                                </m:sSubPr>
                                <m:e>
                                  <m:r>
                                    <a:rPr lang="en-GB" sz="1350" i="1" kern="1200" noProof="0">
                                      <a:solidFill>
                                        <a:schemeClr val="tx1"/>
                                      </a:solidFill>
                                      <a:effectLst/>
                                      <a:latin typeface="Cambria Math" panose="02040503050406030204" pitchFamily="18" charset="0"/>
                                      <a:ea typeface="+mn-ea"/>
                                      <a:cs typeface="+mn-cs"/>
                                    </a:rPr>
                                    <m:t>𝑥</m:t>
                                  </m:r>
                                </m:e>
                                <m:sub>
                                  <m:r>
                                    <a:rPr lang="en-GB" sz="1350" i="1" kern="1200" noProof="0">
                                      <a:solidFill>
                                        <a:schemeClr val="tx1"/>
                                      </a:solidFill>
                                      <a:effectLst/>
                                      <a:latin typeface="Cambria Math" panose="02040503050406030204" pitchFamily="18" charset="0"/>
                                      <a:ea typeface="+mn-ea"/>
                                      <a:cs typeface="+mn-cs"/>
                                    </a:rPr>
                                    <m:t>𝑛</m:t>
                                  </m:r>
                                  <m:r>
                                    <a:rPr lang="en-GB" sz="1350" i="1" kern="1200" noProof="0">
                                      <a:solidFill>
                                        <a:schemeClr val="tx1"/>
                                      </a:solidFill>
                                      <a:effectLst/>
                                      <a:latin typeface="Cambria Math" panose="02040503050406030204" pitchFamily="18" charset="0"/>
                                      <a:ea typeface="+mn-ea"/>
                                      <a:cs typeface="+mn-cs"/>
                                    </a:rPr>
                                    <m:t>+1</m:t>
                                  </m:r>
                                </m:sub>
                              </m:sSub>
                              <m:r>
                                <a:rPr lang="en-GB" sz="1350" i="1" kern="1200" noProof="0">
                                  <a:solidFill>
                                    <a:schemeClr val="tx1"/>
                                  </a:solidFill>
                                  <a:effectLst/>
                                  <a:latin typeface="Cambria Math" panose="02040503050406030204" pitchFamily="18" charset="0"/>
                                  <a:ea typeface="+mn-ea"/>
                                  <a:cs typeface="+mn-cs"/>
                                </a:rPr>
                                <m:t>=</m:t>
                              </m:r>
                              <m:rad>
                                <m:radPr>
                                  <m:degHide m:val="on"/>
                                  <m:ctrlPr>
                                    <a:rPr lang="en-GB" sz="1350" i="1" kern="1200" noProof="0" smtClean="0">
                                      <a:solidFill>
                                        <a:schemeClr val="tx1"/>
                                      </a:solidFill>
                                      <a:effectLst/>
                                      <a:latin typeface="Cambria Math" panose="02040503050406030204" pitchFamily="18" charset="0"/>
                                      <a:ea typeface="+mn-ea"/>
                                      <a:cs typeface="+mn-cs"/>
                                    </a:rPr>
                                  </m:ctrlPr>
                                </m:radPr>
                                <m:deg/>
                                <m:e>
                                  <m:r>
                                    <a:rPr lang="en-GB" sz="1350" i="1" kern="1200" noProof="0">
                                      <a:solidFill>
                                        <a:schemeClr val="tx1"/>
                                      </a:solidFill>
                                      <a:effectLst/>
                                      <a:latin typeface="Cambria Math" panose="02040503050406030204" pitchFamily="18" charset="0"/>
                                      <a:ea typeface="+mn-ea"/>
                                      <a:cs typeface="+mn-cs"/>
                                    </a:rPr>
                                    <m:t>29−4</m:t>
                                  </m:r>
                                  <m:sSub>
                                    <m:sSubPr>
                                      <m:ctrlPr>
                                        <a:rPr lang="en-GB" sz="1350" i="1" kern="1200" noProof="0" smtClean="0">
                                          <a:solidFill>
                                            <a:schemeClr val="tx1"/>
                                          </a:solidFill>
                                          <a:effectLst/>
                                          <a:latin typeface="Cambria Math" panose="02040503050406030204" pitchFamily="18" charset="0"/>
                                          <a:ea typeface="+mn-ea"/>
                                          <a:cs typeface="+mn-cs"/>
                                        </a:rPr>
                                      </m:ctrlPr>
                                    </m:sSubPr>
                                    <m:e>
                                      <m:r>
                                        <a:rPr lang="en-GB" sz="1350" i="1" kern="1200" noProof="0">
                                          <a:solidFill>
                                            <a:schemeClr val="tx1"/>
                                          </a:solidFill>
                                          <a:effectLst/>
                                          <a:latin typeface="Cambria Math" panose="02040503050406030204" pitchFamily="18" charset="0"/>
                                          <a:ea typeface="+mn-ea"/>
                                          <a:cs typeface="+mn-cs"/>
                                        </a:rPr>
                                        <m:t>𝑥</m:t>
                                      </m:r>
                                    </m:e>
                                    <m:sub>
                                      <m:r>
                                        <a:rPr lang="en-GB" sz="1350" i="1" kern="1200" noProof="0">
                                          <a:solidFill>
                                            <a:schemeClr val="tx1"/>
                                          </a:solidFill>
                                          <a:effectLst/>
                                          <a:latin typeface="Cambria Math" panose="02040503050406030204" pitchFamily="18" charset="0"/>
                                          <a:ea typeface="+mn-ea"/>
                                          <a:cs typeface="+mn-cs"/>
                                        </a:rPr>
                                        <m:t>𝑛</m:t>
                                      </m:r>
                                    </m:sub>
                                  </m:sSub>
                                </m:e>
                              </m:rad>
                            </m:oMath>
                          </a14:m>
                          <a:r>
                            <a:rPr lang="en-GB" sz="1350" kern="1200" noProof="0" dirty="0">
                              <a:solidFill>
                                <a:schemeClr val="tx1"/>
                              </a:solidFill>
                              <a:effectLst/>
                              <a:latin typeface="+mn-lt"/>
                              <a:ea typeface="+mn-ea"/>
                              <a:cs typeface="+mn-cs"/>
                            </a:rPr>
                            <a:t> to find </a:t>
                          </a:r>
                          <a14:m>
                            <m:oMath xmlns:m="http://schemas.openxmlformats.org/officeDocument/2006/math">
                              <m:sSub>
                                <m:sSubPr>
                                  <m:ctrlPr>
                                    <a:rPr lang="en-GB" sz="1350" i="1" kern="1200" noProof="0" smtClean="0">
                                      <a:solidFill>
                                        <a:schemeClr val="tx1"/>
                                      </a:solidFill>
                                      <a:effectLst/>
                                      <a:latin typeface="Cambria Math" panose="02040503050406030204" pitchFamily="18" charset="0"/>
                                      <a:ea typeface="+mn-ea"/>
                                      <a:cs typeface="+mn-cs"/>
                                    </a:rPr>
                                  </m:ctrlPr>
                                </m:sSubPr>
                                <m:e>
                                  <m:r>
                                    <a:rPr lang="en-GB" sz="1350" i="1" kern="1200" noProof="0">
                                      <a:solidFill>
                                        <a:schemeClr val="tx1"/>
                                      </a:solidFill>
                                      <a:effectLst/>
                                      <a:latin typeface="Cambria Math" panose="02040503050406030204" pitchFamily="18" charset="0"/>
                                      <a:ea typeface="+mn-ea"/>
                                      <a:cs typeface="+mn-cs"/>
                                    </a:rPr>
                                    <m:t>𝑥</m:t>
                                  </m:r>
                                </m:e>
                                <m:sub>
                                  <m:r>
                                    <a:rPr lang="en-GB" sz="1350" i="1" kern="1200" noProof="0">
                                      <a:solidFill>
                                        <a:schemeClr val="tx1"/>
                                      </a:solidFill>
                                      <a:effectLst/>
                                      <a:latin typeface="Cambria Math" panose="02040503050406030204" pitchFamily="18" charset="0"/>
                                      <a:ea typeface="+mn-ea"/>
                                      <a:cs typeface="+mn-cs"/>
                                    </a:rPr>
                                    <m:t>4</m:t>
                                  </m:r>
                                </m:sub>
                              </m:sSub>
                            </m:oMath>
                          </a14:m>
                          <a:r>
                            <a:rPr lang="en-GB" sz="1350" kern="1200" noProof="0" dirty="0">
                              <a:solidFill>
                                <a:schemeClr val="tx1"/>
                              </a:solidFill>
                              <a:effectLst/>
                              <a:latin typeface="+mn-lt"/>
                              <a:ea typeface="+mn-ea"/>
                              <a:cs typeface="+mn-cs"/>
                            </a:rPr>
                            <a:t> to 3 decimal places. Start with </a:t>
                          </a:r>
                          <a14:m>
                            <m:oMath xmlns:m="http://schemas.openxmlformats.org/officeDocument/2006/math">
                              <m:sSub>
                                <m:sSubPr>
                                  <m:ctrlPr>
                                    <a:rPr lang="en-GB" sz="1350" i="1" kern="1200" noProof="0" smtClean="0">
                                      <a:solidFill>
                                        <a:schemeClr val="tx1"/>
                                      </a:solidFill>
                                      <a:effectLst/>
                                      <a:latin typeface="Cambria Math" panose="02040503050406030204" pitchFamily="18" charset="0"/>
                                      <a:ea typeface="+mn-ea"/>
                                      <a:cs typeface="+mn-cs"/>
                                    </a:rPr>
                                  </m:ctrlPr>
                                </m:sSubPr>
                                <m:e>
                                  <m:r>
                                    <a:rPr lang="en-GB" sz="1350" i="1" kern="1200" noProof="0">
                                      <a:solidFill>
                                        <a:schemeClr val="tx1"/>
                                      </a:solidFill>
                                      <a:effectLst/>
                                      <a:latin typeface="Cambria Math" panose="02040503050406030204" pitchFamily="18" charset="0"/>
                                      <a:ea typeface="+mn-ea"/>
                                      <a:cs typeface="+mn-cs"/>
                                    </a:rPr>
                                    <m:t>𝑥</m:t>
                                  </m:r>
                                </m:e>
                                <m:sub>
                                  <m:r>
                                    <a:rPr lang="en-GB" sz="1350" i="1" kern="1200" noProof="0">
                                      <a:solidFill>
                                        <a:schemeClr val="tx1"/>
                                      </a:solidFill>
                                      <a:effectLst/>
                                      <a:latin typeface="Cambria Math" panose="02040503050406030204" pitchFamily="18" charset="0"/>
                                      <a:ea typeface="+mn-ea"/>
                                      <a:cs typeface="+mn-cs"/>
                                    </a:rPr>
                                    <m:t>0</m:t>
                                  </m:r>
                                </m:sub>
                              </m:sSub>
                              <m:r>
                                <a:rPr lang="en-GB" sz="1350" i="1" kern="1200" noProof="0">
                                  <a:solidFill>
                                    <a:schemeClr val="tx1"/>
                                  </a:solidFill>
                                  <a:effectLst/>
                                  <a:latin typeface="Cambria Math" panose="02040503050406030204" pitchFamily="18" charset="0"/>
                                  <a:ea typeface="+mn-ea"/>
                                  <a:cs typeface="+mn-cs"/>
                                </a:rPr>
                                <m:t>=0.</m:t>
                              </m:r>
                            </m:oMath>
                          </a14:m>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pPr lvl="0"/>
                          <a:r>
                            <a:rPr lang="en-GB" sz="1350" kern="1200" noProof="0" dirty="0">
                              <a:solidFill>
                                <a:schemeClr val="tx1"/>
                              </a:solidFill>
                              <a:effectLst/>
                              <a:latin typeface="+mn-lt"/>
                              <a:ea typeface="+mn-ea"/>
                              <a:cs typeface="+mn-cs"/>
                            </a:rPr>
                            <a:t>c. Explain what your answer to (b) represents</a:t>
                          </a:r>
                        </a:p>
                        <a:p>
                          <a:endParaRPr lang="en-GB" sz="1200" noProof="0" dirty="0"/>
                        </a:p>
                        <a:p>
                          <a:endParaRPr lang="en-GB" sz="1200" noProof="0" dirty="0"/>
                        </a:p>
                        <a:p>
                          <a:endParaRPr lang="en-GB" sz="1200" noProof="0" dirty="0"/>
                        </a:p>
                        <a:p>
                          <a:endParaRPr lang="en-GB" sz="1200" noProof="0" dirty="0"/>
                        </a:p>
                      </a:txBody>
                      <a:tcPr/>
                    </a:tc>
                    <a:extLst>
                      <a:ext uri="{0D108BD9-81ED-4DB2-BD59-A6C34878D82A}">
                        <a16:rowId xmlns:a16="http://schemas.microsoft.com/office/drawing/2014/main" val="535076447"/>
                      </a:ext>
                    </a:extLst>
                  </a:tr>
                  <a:tr h="4670715">
                    <a:tc>
                      <a:txBody>
                        <a:bodyPr/>
                        <a:lstStyle/>
                        <a:p>
                          <a:r>
                            <a:rPr lang="en-GB" sz="1200" noProof="0" dirty="0"/>
                            <a:t>vi.</a:t>
                          </a:r>
                        </a:p>
                        <a:p>
                          <a:pPr marL="342900" indent="-342900">
                            <a:buAutoNum type="alphaLcPeriod"/>
                          </a:pPr>
                          <a:r>
                            <a:rPr lang="en-GB" sz="1350" kern="1200" noProof="0" dirty="0">
                              <a:solidFill>
                                <a:schemeClr val="tx1"/>
                              </a:solidFill>
                              <a:effectLst/>
                              <a:latin typeface="+mn-lt"/>
                              <a:ea typeface="+mn-ea"/>
                              <a:cs typeface="+mn-cs"/>
                            </a:rPr>
                            <a:t>Show that </a:t>
                          </a:r>
                          <a14:m>
                            <m:oMath xmlns:m="http://schemas.openxmlformats.org/officeDocument/2006/math">
                              <m:r>
                                <a:rPr lang="en-GB" sz="1350" i="1" kern="1200" noProof="0">
                                  <a:solidFill>
                                    <a:schemeClr val="tx1"/>
                                  </a:solidFill>
                                  <a:effectLst/>
                                  <a:latin typeface="Cambria Math" panose="02040503050406030204" pitchFamily="18" charset="0"/>
                                  <a:ea typeface="+mn-ea"/>
                                  <a:cs typeface="+mn-cs"/>
                                </a:rPr>
                                <m:t>𝑥</m:t>
                              </m:r>
                              <m:r>
                                <a:rPr lang="en-GB" sz="1350" i="1" kern="1200" noProof="0">
                                  <a:solidFill>
                                    <a:schemeClr val="tx1"/>
                                  </a:solidFill>
                                  <a:effectLst/>
                                  <a:latin typeface="Cambria Math" panose="02040503050406030204" pitchFamily="18" charset="0"/>
                                  <a:ea typeface="+mn-ea"/>
                                  <a:cs typeface="+mn-cs"/>
                                </a:rPr>
                                <m:t>−</m:t>
                              </m:r>
                              <m:rad>
                                <m:radPr>
                                  <m:degHide m:val="on"/>
                                  <m:ctrlPr>
                                    <a:rPr lang="en-GB" sz="1350" i="1" kern="1200" noProof="0" smtClean="0">
                                      <a:solidFill>
                                        <a:schemeClr val="tx1"/>
                                      </a:solidFill>
                                      <a:effectLst/>
                                      <a:latin typeface="Cambria Math" panose="02040503050406030204" pitchFamily="18" charset="0"/>
                                      <a:ea typeface="+mn-ea"/>
                                      <a:cs typeface="+mn-cs"/>
                                    </a:rPr>
                                  </m:ctrlPr>
                                </m:radPr>
                                <m:deg/>
                                <m:e>
                                  <m:r>
                                    <a:rPr lang="en-GB" sz="1350" i="1" kern="1200" noProof="0">
                                      <a:solidFill>
                                        <a:schemeClr val="tx1"/>
                                      </a:solidFill>
                                      <a:effectLst/>
                                      <a:latin typeface="Cambria Math" panose="02040503050406030204" pitchFamily="18" charset="0"/>
                                      <a:ea typeface="+mn-ea"/>
                                      <a:cs typeface="+mn-cs"/>
                                    </a:rPr>
                                    <m:t>𝑥</m:t>
                                  </m:r>
                                </m:e>
                              </m:rad>
                              <m:r>
                                <a:rPr lang="en-GB" sz="1350" i="1" kern="1200" noProof="0">
                                  <a:solidFill>
                                    <a:schemeClr val="tx1"/>
                                  </a:solidFill>
                                  <a:effectLst/>
                                  <a:latin typeface="Cambria Math" panose="02040503050406030204" pitchFamily="18" charset="0"/>
                                  <a:ea typeface="+mn-ea"/>
                                  <a:cs typeface="+mn-cs"/>
                                </a:rPr>
                                <m:t>−1=0</m:t>
                              </m:r>
                            </m:oMath>
                          </a14:m>
                          <a:r>
                            <a:rPr lang="en-GB" sz="1350" kern="1200" noProof="0" dirty="0">
                              <a:solidFill>
                                <a:schemeClr val="tx1"/>
                              </a:solidFill>
                              <a:effectLst/>
                              <a:latin typeface="+mn-lt"/>
                              <a:ea typeface="+mn-ea"/>
                              <a:cs typeface="+mn-cs"/>
                            </a:rPr>
                            <a:t> has a root between 2.6 and 2.7</a:t>
                          </a: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pPr marL="342900" indent="-342900">
                            <a:buAutoNum type="alphaLcPeriod"/>
                          </a:pPr>
                          <a:endParaRPr lang="en-GB" sz="1350" kern="1200" noProof="0" dirty="0">
                            <a:solidFill>
                              <a:schemeClr val="tx1"/>
                            </a:solidFill>
                            <a:effectLst/>
                            <a:latin typeface="+mn-lt"/>
                            <a:ea typeface="+mn-ea"/>
                            <a:cs typeface="+mn-cs"/>
                          </a:endParaRPr>
                        </a:p>
                        <a:p>
                          <a:r>
                            <a:rPr lang="en-GB" sz="1350" kern="1200" noProof="0" dirty="0">
                              <a:solidFill>
                                <a:schemeClr val="tx1"/>
                              </a:solidFill>
                              <a:effectLst/>
                              <a:latin typeface="+mn-lt"/>
                              <a:ea typeface="+mn-ea"/>
                              <a:cs typeface="+mn-cs"/>
                            </a:rPr>
                            <a:t> </a:t>
                          </a:r>
                        </a:p>
                        <a:p>
                          <a:pPr lvl="0"/>
                          <a:r>
                            <a:rPr lang="en-GB" sz="1350" kern="1200" noProof="0" dirty="0">
                              <a:solidFill>
                                <a:schemeClr val="tx1"/>
                              </a:solidFill>
                              <a:effectLst/>
                              <a:latin typeface="+mn-lt"/>
                              <a:ea typeface="+mn-ea"/>
                              <a:cs typeface="+mn-cs"/>
                            </a:rPr>
                            <a:t>b. Using </a:t>
                          </a:r>
                          <a14:m>
                            <m:oMath xmlns:m="http://schemas.openxmlformats.org/officeDocument/2006/math">
                              <m:sSub>
                                <m:sSubPr>
                                  <m:ctrlPr>
                                    <a:rPr lang="en-GB" sz="1350" i="1" kern="1200" noProof="0" smtClean="0">
                                      <a:solidFill>
                                        <a:schemeClr val="tx1"/>
                                      </a:solidFill>
                                      <a:effectLst/>
                                      <a:latin typeface="Cambria Math" panose="02040503050406030204" pitchFamily="18" charset="0"/>
                                      <a:ea typeface="+mn-ea"/>
                                      <a:cs typeface="+mn-cs"/>
                                    </a:rPr>
                                  </m:ctrlPr>
                                </m:sSubPr>
                                <m:e>
                                  <m:r>
                                    <a:rPr lang="en-GB" sz="1350" i="1" kern="1200" noProof="0">
                                      <a:solidFill>
                                        <a:schemeClr val="tx1"/>
                                      </a:solidFill>
                                      <a:effectLst/>
                                      <a:latin typeface="Cambria Math" panose="02040503050406030204" pitchFamily="18" charset="0"/>
                                      <a:ea typeface="+mn-ea"/>
                                      <a:cs typeface="+mn-cs"/>
                                    </a:rPr>
                                    <m:t>𝑥</m:t>
                                  </m:r>
                                </m:e>
                                <m:sub>
                                  <m:r>
                                    <a:rPr lang="en-GB" sz="1350" i="1" kern="1200" noProof="0">
                                      <a:solidFill>
                                        <a:schemeClr val="tx1"/>
                                      </a:solidFill>
                                      <a:effectLst/>
                                      <a:latin typeface="Cambria Math" panose="02040503050406030204" pitchFamily="18" charset="0"/>
                                      <a:ea typeface="+mn-ea"/>
                                      <a:cs typeface="+mn-cs"/>
                                    </a:rPr>
                                    <m:t>𝑛</m:t>
                                  </m:r>
                                  <m:r>
                                    <a:rPr lang="en-GB" sz="1350" i="1" kern="1200" noProof="0">
                                      <a:solidFill>
                                        <a:schemeClr val="tx1"/>
                                      </a:solidFill>
                                      <a:effectLst/>
                                      <a:latin typeface="Cambria Math" panose="02040503050406030204" pitchFamily="18" charset="0"/>
                                      <a:ea typeface="+mn-ea"/>
                                      <a:cs typeface="+mn-cs"/>
                                    </a:rPr>
                                    <m:t>+1</m:t>
                                  </m:r>
                                </m:sub>
                              </m:sSub>
                              <m:r>
                                <a:rPr lang="en-GB" sz="1350" i="1" kern="1200" noProof="0">
                                  <a:solidFill>
                                    <a:schemeClr val="tx1"/>
                                  </a:solidFill>
                                  <a:effectLst/>
                                  <a:latin typeface="Cambria Math" panose="02040503050406030204" pitchFamily="18" charset="0"/>
                                  <a:ea typeface="+mn-ea"/>
                                  <a:cs typeface="+mn-cs"/>
                                </a:rPr>
                                <m:t>=</m:t>
                              </m:r>
                              <m:rad>
                                <m:radPr>
                                  <m:degHide m:val="on"/>
                                  <m:ctrlPr>
                                    <a:rPr lang="en-GB" sz="1350" i="1" kern="1200" noProof="0" smtClean="0">
                                      <a:solidFill>
                                        <a:schemeClr val="tx1"/>
                                      </a:solidFill>
                                      <a:effectLst/>
                                      <a:latin typeface="Cambria Math" panose="02040503050406030204" pitchFamily="18" charset="0"/>
                                      <a:ea typeface="+mn-ea"/>
                                      <a:cs typeface="+mn-cs"/>
                                    </a:rPr>
                                  </m:ctrlPr>
                                </m:radPr>
                                <m:deg/>
                                <m:e>
                                  <m:sSub>
                                    <m:sSubPr>
                                      <m:ctrlPr>
                                        <a:rPr lang="en-GB" sz="1350" i="1" kern="1200" noProof="0" smtClean="0">
                                          <a:solidFill>
                                            <a:schemeClr val="tx1"/>
                                          </a:solidFill>
                                          <a:effectLst/>
                                          <a:latin typeface="Cambria Math" panose="02040503050406030204" pitchFamily="18" charset="0"/>
                                          <a:ea typeface="+mn-ea"/>
                                          <a:cs typeface="+mn-cs"/>
                                        </a:rPr>
                                      </m:ctrlPr>
                                    </m:sSubPr>
                                    <m:e>
                                      <m:r>
                                        <a:rPr lang="en-GB" sz="1350" i="1" kern="1200" noProof="0">
                                          <a:solidFill>
                                            <a:schemeClr val="tx1"/>
                                          </a:solidFill>
                                          <a:effectLst/>
                                          <a:latin typeface="Cambria Math" panose="02040503050406030204" pitchFamily="18" charset="0"/>
                                          <a:ea typeface="+mn-ea"/>
                                          <a:cs typeface="+mn-cs"/>
                                        </a:rPr>
                                        <m:t>𝑥</m:t>
                                      </m:r>
                                    </m:e>
                                    <m:sub>
                                      <m:r>
                                        <a:rPr lang="en-GB" sz="1350" i="1" kern="1200" noProof="0">
                                          <a:solidFill>
                                            <a:schemeClr val="tx1"/>
                                          </a:solidFill>
                                          <a:effectLst/>
                                          <a:latin typeface="Cambria Math" panose="02040503050406030204" pitchFamily="18" charset="0"/>
                                          <a:ea typeface="+mn-ea"/>
                                          <a:cs typeface="+mn-cs"/>
                                        </a:rPr>
                                        <m:t>𝑛</m:t>
                                      </m:r>
                                    </m:sub>
                                  </m:sSub>
                                </m:e>
                              </m:rad>
                              <m:r>
                                <a:rPr lang="en-GB" sz="1350" i="1" kern="1200" noProof="0">
                                  <a:solidFill>
                                    <a:schemeClr val="tx1"/>
                                  </a:solidFill>
                                  <a:effectLst/>
                                  <a:latin typeface="Cambria Math" panose="02040503050406030204" pitchFamily="18" charset="0"/>
                                  <a:ea typeface="+mn-ea"/>
                                  <a:cs typeface="+mn-cs"/>
                                </a:rPr>
                                <m:t>+1</m:t>
                              </m:r>
                            </m:oMath>
                          </a14:m>
                          <a:r>
                            <a:rPr lang="en-GB" sz="1350" kern="1200" noProof="0" dirty="0">
                              <a:solidFill>
                                <a:schemeClr val="tx1"/>
                              </a:solidFill>
                              <a:effectLst/>
                              <a:latin typeface="+mn-lt"/>
                              <a:ea typeface="+mn-ea"/>
                              <a:cs typeface="+mn-cs"/>
                            </a:rPr>
                            <a:t> and </a:t>
                          </a:r>
                          <a14:m>
                            <m:oMath xmlns:m="http://schemas.openxmlformats.org/officeDocument/2006/math">
                              <m:sSub>
                                <m:sSubPr>
                                  <m:ctrlPr>
                                    <a:rPr lang="en-GB" sz="1350" i="1" kern="1200" noProof="0" smtClean="0">
                                      <a:solidFill>
                                        <a:schemeClr val="tx1"/>
                                      </a:solidFill>
                                      <a:effectLst/>
                                      <a:latin typeface="Cambria Math" panose="02040503050406030204" pitchFamily="18" charset="0"/>
                                      <a:ea typeface="+mn-ea"/>
                                      <a:cs typeface="+mn-cs"/>
                                    </a:rPr>
                                  </m:ctrlPr>
                                </m:sSubPr>
                                <m:e>
                                  <m:r>
                                    <a:rPr lang="en-GB" sz="1350" i="1" kern="1200" noProof="0">
                                      <a:solidFill>
                                        <a:schemeClr val="tx1"/>
                                      </a:solidFill>
                                      <a:effectLst/>
                                      <a:latin typeface="Cambria Math" panose="02040503050406030204" pitchFamily="18" charset="0"/>
                                      <a:ea typeface="+mn-ea"/>
                                      <a:cs typeface="+mn-cs"/>
                                    </a:rPr>
                                    <m:t>𝑥</m:t>
                                  </m:r>
                                </m:e>
                                <m:sub>
                                  <m:r>
                                    <a:rPr lang="en-GB" sz="1350" i="1" kern="1200" noProof="0">
                                      <a:solidFill>
                                        <a:schemeClr val="tx1"/>
                                      </a:solidFill>
                                      <a:effectLst/>
                                      <a:latin typeface="Cambria Math" panose="02040503050406030204" pitchFamily="18" charset="0"/>
                                      <a:ea typeface="+mn-ea"/>
                                      <a:cs typeface="+mn-cs"/>
                                    </a:rPr>
                                    <m:t>0</m:t>
                                  </m:r>
                                </m:sub>
                              </m:sSub>
                              <m:r>
                                <a:rPr lang="en-GB" sz="1350" i="1" kern="1200" noProof="0">
                                  <a:solidFill>
                                    <a:schemeClr val="tx1"/>
                                  </a:solidFill>
                                  <a:effectLst/>
                                  <a:latin typeface="Cambria Math" panose="02040503050406030204" pitchFamily="18" charset="0"/>
                                  <a:ea typeface="+mn-ea"/>
                                  <a:cs typeface="+mn-cs"/>
                                </a:rPr>
                                <m:t>=2.6</m:t>
                              </m:r>
                            </m:oMath>
                          </a14:m>
                          <a:r>
                            <a:rPr lang="en-GB" sz="1350" kern="1200" noProof="0" dirty="0">
                              <a:solidFill>
                                <a:schemeClr val="tx1"/>
                              </a:solidFill>
                              <a:effectLst/>
                              <a:latin typeface="+mn-lt"/>
                              <a:ea typeface="+mn-ea"/>
                              <a:cs typeface="+mn-cs"/>
                            </a:rPr>
                            <a:t>, find </a:t>
                          </a:r>
                          <a14:m>
                            <m:oMath xmlns:m="http://schemas.openxmlformats.org/officeDocument/2006/math">
                              <m:sSub>
                                <m:sSubPr>
                                  <m:ctrlPr>
                                    <a:rPr lang="en-GB" sz="1350" i="1" kern="1200" noProof="0" smtClean="0">
                                      <a:solidFill>
                                        <a:schemeClr val="tx1"/>
                                      </a:solidFill>
                                      <a:effectLst/>
                                      <a:latin typeface="Cambria Math" panose="02040503050406030204" pitchFamily="18" charset="0"/>
                                      <a:ea typeface="+mn-ea"/>
                                      <a:cs typeface="+mn-cs"/>
                                    </a:rPr>
                                  </m:ctrlPr>
                                </m:sSubPr>
                                <m:e>
                                  <m:r>
                                    <a:rPr lang="en-GB" sz="1350" i="1" kern="1200" noProof="0">
                                      <a:solidFill>
                                        <a:schemeClr val="tx1"/>
                                      </a:solidFill>
                                      <a:effectLst/>
                                      <a:latin typeface="Cambria Math" panose="02040503050406030204" pitchFamily="18" charset="0"/>
                                      <a:ea typeface="+mn-ea"/>
                                      <a:cs typeface="+mn-cs"/>
                                    </a:rPr>
                                    <m:t>𝑥</m:t>
                                  </m:r>
                                </m:e>
                                <m:sub>
                                  <m:r>
                                    <a:rPr lang="en-GB" sz="1350" i="1" kern="1200" noProof="0">
                                      <a:solidFill>
                                        <a:schemeClr val="tx1"/>
                                      </a:solidFill>
                                      <a:effectLst/>
                                      <a:latin typeface="Cambria Math" panose="02040503050406030204" pitchFamily="18" charset="0"/>
                                      <a:ea typeface="+mn-ea"/>
                                      <a:cs typeface="+mn-cs"/>
                                    </a:rPr>
                                    <m:t>3</m:t>
                                  </m:r>
                                </m:sub>
                              </m:sSub>
                            </m:oMath>
                          </a14:m>
                          <a:r>
                            <a:rPr lang="en-GB" sz="1350" kern="1200" noProof="0" dirty="0">
                              <a:solidFill>
                                <a:schemeClr val="tx1"/>
                              </a:solidFill>
                              <a:effectLst/>
                              <a:latin typeface="+mn-lt"/>
                              <a:ea typeface="+mn-ea"/>
                              <a:cs typeface="+mn-cs"/>
                            </a:rPr>
                            <a:t> to 3 decimal places.</a:t>
                          </a:r>
                        </a:p>
                        <a:p>
                          <a:pPr lvl="0"/>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pPr lvl="0"/>
                          <a:endParaRPr lang="en-GB" sz="1350" kern="1200" noProof="0" dirty="0">
                            <a:solidFill>
                              <a:schemeClr val="tx1"/>
                            </a:solidFill>
                            <a:effectLst/>
                            <a:latin typeface="+mn-lt"/>
                            <a:ea typeface="+mn-ea"/>
                            <a:cs typeface="+mn-cs"/>
                          </a:endParaRPr>
                        </a:p>
                        <a:p>
                          <a:endParaRPr lang="en-GB" sz="1200" noProof="0" dirty="0"/>
                        </a:p>
                      </a:txBody>
                      <a:tcPr/>
                    </a:tc>
                    <a:extLst>
                      <a:ext uri="{0D108BD9-81ED-4DB2-BD59-A6C34878D82A}">
                        <a16:rowId xmlns:a16="http://schemas.microsoft.com/office/drawing/2014/main" val="2003636989"/>
                      </a:ext>
                    </a:extLst>
                  </a:tr>
                </a:tbl>
              </a:graphicData>
            </a:graphic>
          </p:graphicFrame>
        </mc:Choice>
        <mc:Fallback xmlns="">
          <p:graphicFrame>
            <p:nvGraphicFramePr>
              <p:cNvPr id="9" name="Table 8">
                <a:extLst>
                  <a:ext uri="{FF2B5EF4-FFF2-40B4-BE49-F238E27FC236}">
                    <a16:creationId xmlns:a16="http://schemas.microsoft.com/office/drawing/2014/main" id="{118EA3EE-7D1B-76FF-40DE-ECDF4381FB0A}"/>
                  </a:ext>
                </a:extLst>
              </p:cNvPr>
              <p:cNvGraphicFramePr>
                <a:graphicFrameLocks noGrp="1"/>
              </p:cNvGraphicFramePr>
              <p:nvPr>
                <p:extLst>
                  <p:ext uri="{D42A27DB-BD31-4B8C-83A1-F6EECF244321}">
                    <p14:modId xmlns:p14="http://schemas.microsoft.com/office/powerpoint/2010/main" val="1123009239"/>
                  </p:ext>
                </p:extLst>
              </p:nvPr>
            </p:nvGraphicFramePr>
            <p:xfrm>
              <a:off x="168623" y="117361"/>
              <a:ext cx="6520754" cy="9671277"/>
            </p:xfrm>
            <a:graphic>
              <a:graphicData uri="http://schemas.openxmlformats.org/drawingml/2006/table">
                <a:tbl>
                  <a:tblPr firstRow="1" bandRow="1">
                    <a:tableStyleId>{5940675A-B579-460E-94D1-54222C63F5DA}</a:tableStyleId>
                  </a:tblPr>
                  <a:tblGrid>
                    <a:gridCol w="6520754">
                      <a:extLst>
                        <a:ext uri="{9D8B030D-6E8A-4147-A177-3AD203B41FA5}">
                          <a16:colId xmlns:a16="http://schemas.microsoft.com/office/drawing/2014/main" val="1982671282"/>
                        </a:ext>
                      </a:extLst>
                    </a:gridCol>
                  </a:tblGrid>
                  <a:tr h="5000562">
                    <a:tc>
                      <a:txBody>
                        <a:bodyPr/>
                        <a:lstStyle/>
                        <a:p>
                          <a:endParaRPr lang="en-US"/>
                        </a:p>
                      </a:txBody>
                      <a:tcPr>
                        <a:blipFill>
                          <a:blip r:embed="rId2"/>
                          <a:stretch>
                            <a:fillRect l="-93" t="-122" r="-187" b="-93544"/>
                          </a:stretch>
                        </a:blipFill>
                      </a:tcPr>
                    </a:tc>
                    <a:extLst>
                      <a:ext uri="{0D108BD9-81ED-4DB2-BD59-A6C34878D82A}">
                        <a16:rowId xmlns:a16="http://schemas.microsoft.com/office/drawing/2014/main" val="535076447"/>
                      </a:ext>
                    </a:extLst>
                  </a:tr>
                  <a:tr h="4670715">
                    <a:tc>
                      <a:txBody>
                        <a:bodyPr/>
                        <a:lstStyle/>
                        <a:p>
                          <a:endParaRPr lang="en-US"/>
                        </a:p>
                      </a:txBody>
                      <a:tcPr>
                        <a:blipFill>
                          <a:blip r:embed="rId2"/>
                          <a:stretch>
                            <a:fillRect l="-93" t="-107311" r="-187" b="-261"/>
                          </a:stretch>
                        </a:blipFill>
                      </a:tcPr>
                    </a:tc>
                    <a:extLst>
                      <a:ext uri="{0D108BD9-81ED-4DB2-BD59-A6C34878D82A}">
                        <a16:rowId xmlns:a16="http://schemas.microsoft.com/office/drawing/2014/main" val="2003636989"/>
                      </a:ext>
                    </a:extLst>
                  </a:tr>
                </a:tbl>
              </a:graphicData>
            </a:graphic>
          </p:graphicFrame>
        </mc:Fallback>
      </mc:AlternateContent>
      <p:sp>
        <p:nvSpPr>
          <p:cNvPr id="2" name="Slide Number Placeholder 1">
            <a:extLst>
              <a:ext uri="{FF2B5EF4-FFF2-40B4-BE49-F238E27FC236}">
                <a16:creationId xmlns:a16="http://schemas.microsoft.com/office/drawing/2014/main" id="{E5ACCBCA-C706-9898-8852-0A397AAA8852}"/>
              </a:ext>
            </a:extLst>
          </p:cNvPr>
          <p:cNvSpPr>
            <a:spLocks noGrp="1"/>
          </p:cNvSpPr>
          <p:nvPr>
            <p:ph type="sldNum" sz="quarter" idx="12"/>
          </p:nvPr>
        </p:nvSpPr>
        <p:spPr>
          <a:xfrm>
            <a:off x="5292974" y="9432257"/>
            <a:ext cx="1543050" cy="527403"/>
          </a:xfrm>
        </p:spPr>
        <p:txBody>
          <a:bodyPr/>
          <a:lstStyle/>
          <a:p>
            <a:fld id="{9BD3B4A0-BFF9-422C-B253-48BA94BE2F5B}" type="slidenum">
              <a:rPr lang="en-GB" noProof="0" smtClean="0"/>
              <a:t>70</a:t>
            </a:fld>
            <a:endParaRPr lang="en-GB" noProof="0" dirty="0"/>
          </a:p>
        </p:txBody>
      </p:sp>
    </p:spTree>
    <p:extLst>
      <p:ext uri="{BB962C8B-B14F-4D97-AF65-F5344CB8AC3E}">
        <p14:creationId xmlns:p14="http://schemas.microsoft.com/office/powerpoint/2010/main" val="34221410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white paper with black text and black text&#10;&#10;AI-generated content may be incorrect.">
            <a:extLst>
              <a:ext uri="{FF2B5EF4-FFF2-40B4-BE49-F238E27FC236}">
                <a16:creationId xmlns:a16="http://schemas.microsoft.com/office/drawing/2014/main" id="{B6D80507-C9C3-FF16-A2AA-184BCAC940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733166"/>
            <a:ext cx="5839097" cy="5175563"/>
          </a:xfrm>
          <a:prstGeom prst="rect">
            <a:avLst/>
          </a:prstGeom>
        </p:spPr>
      </p:pic>
      <p:sp>
        <p:nvSpPr>
          <p:cNvPr id="2" name="Slide Number Placeholder 1">
            <a:extLst>
              <a:ext uri="{FF2B5EF4-FFF2-40B4-BE49-F238E27FC236}">
                <a16:creationId xmlns:a16="http://schemas.microsoft.com/office/drawing/2014/main" id="{C25BC7C6-5AB8-D1BB-7745-D91DE177AB57}"/>
              </a:ext>
            </a:extLst>
          </p:cNvPr>
          <p:cNvSpPr>
            <a:spLocks noGrp="1"/>
          </p:cNvSpPr>
          <p:nvPr>
            <p:ph type="sldNum" sz="quarter" idx="12"/>
          </p:nvPr>
        </p:nvSpPr>
        <p:spPr/>
        <p:txBody>
          <a:bodyPr/>
          <a:lstStyle/>
          <a:p>
            <a:fld id="{9BD3B4A0-BFF9-422C-B253-48BA94BE2F5B}" type="slidenum">
              <a:rPr lang="en-GB" noProof="0" smtClean="0"/>
              <a:t>71</a:t>
            </a:fld>
            <a:endParaRPr lang="en-GB" noProof="0" dirty="0"/>
          </a:p>
        </p:txBody>
      </p:sp>
      <p:sp>
        <p:nvSpPr>
          <p:cNvPr id="3" name="TextBox 2">
            <a:extLst>
              <a:ext uri="{FF2B5EF4-FFF2-40B4-BE49-F238E27FC236}">
                <a16:creationId xmlns:a16="http://schemas.microsoft.com/office/drawing/2014/main" id="{3E6656BD-2EA9-3B65-4DE2-0A7B97E98E2C}"/>
              </a:ext>
            </a:extLst>
          </p:cNvPr>
          <p:cNvSpPr txBox="1"/>
          <p:nvPr/>
        </p:nvSpPr>
        <p:spPr>
          <a:xfrm>
            <a:off x="0" y="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5" name="Picture 4" descr="A white paper with black text and numbers&#10;&#10;AI-generated content may be incorrect.">
            <a:extLst>
              <a:ext uri="{FF2B5EF4-FFF2-40B4-BE49-F238E27FC236}">
                <a16:creationId xmlns:a16="http://schemas.microsoft.com/office/drawing/2014/main" id="{2207A7B0-8881-4946-C131-B499D21EF3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276999"/>
            <a:ext cx="5643155" cy="4456168"/>
          </a:xfrm>
          <a:prstGeom prst="rect">
            <a:avLst/>
          </a:prstGeom>
        </p:spPr>
      </p:pic>
      <p:cxnSp>
        <p:nvCxnSpPr>
          <p:cNvPr id="7" name="Straight Connector 6">
            <a:extLst>
              <a:ext uri="{FF2B5EF4-FFF2-40B4-BE49-F238E27FC236}">
                <a16:creationId xmlns:a16="http://schemas.microsoft.com/office/drawing/2014/main" id="{1CB2F712-DAC1-E820-AF61-E31232A9AD9C}"/>
              </a:ext>
            </a:extLst>
          </p:cNvPr>
          <p:cNvCxnSpPr/>
          <p:nvPr/>
        </p:nvCxnSpPr>
        <p:spPr>
          <a:xfrm>
            <a:off x="0" y="4733167"/>
            <a:ext cx="6858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057671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325A9-00F1-6F88-8CB5-F4B49E473E0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5256CB-7ADA-3565-5962-DA00E7C89C96}"/>
              </a:ext>
            </a:extLst>
          </p:cNvPr>
          <p:cNvSpPr>
            <a:spLocks noGrp="1"/>
          </p:cNvSpPr>
          <p:nvPr>
            <p:ph type="sldNum" sz="quarter" idx="12"/>
          </p:nvPr>
        </p:nvSpPr>
        <p:spPr/>
        <p:txBody>
          <a:bodyPr/>
          <a:lstStyle/>
          <a:p>
            <a:fld id="{9BD3B4A0-BFF9-422C-B253-48BA94BE2F5B}" type="slidenum">
              <a:rPr lang="en-GB" noProof="0" smtClean="0"/>
              <a:t>72</a:t>
            </a:fld>
            <a:endParaRPr lang="en-GB" noProof="0" dirty="0"/>
          </a:p>
        </p:txBody>
      </p:sp>
      <p:cxnSp>
        <p:nvCxnSpPr>
          <p:cNvPr id="7" name="Straight Connector 6">
            <a:extLst>
              <a:ext uri="{FF2B5EF4-FFF2-40B4-BE49-F238E27FC236}">
                <a16:creationId xmlns:a16="http://schemas.microsoft.com/office/drawing/2014/main" id="{8E2A630B-9EFD-085F-EB3D-CB304B41EF9A}"/>
              </a:ext>
            </a:extLst>
          </p:cNvPr>
          <p:cNvCxnSpPr/>
          <p:nvPr/>
        </p:nvCxnSpPr>
        <p:spPr>
          <a:xfrm>
            <a:off x="0" y="4733167"/>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6" name="Picture 5" descr="A white paper with black text and black numbers&#10;&#10;AI-generated content may be incorrect.">
            <a:extLst>
              <a:ext uri="{FF2B5EF4-FFF2-40B4-BE49-F238E27FC236}">
                <a16:creationId xmlns:a16="http://schemas.microsoft.com/office/drawing/2014/main" id="{24266CF2-9F58-2087-5022-062D004FE4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146766" cy="4522496"/>
          </a:xfrm>
          <a:prstGeom prst="rect">
            <a:avLst/>
          </a:prstGeom>
        </p:spPr>
      </p:pic>
      <p:pic>
        <p:nvPicPr>
          <p:cNvPr id="10" name="Picture 9" descr="A math equations on a white background&#10;&#10;AI-generated content may be incorrect.">
            <a:extLst>
              <a:ext uri="{FF2B5EF4-FFF2-40B4-BE49-F238E27FC236}">
                <a16:creationId xmlns:a16="http://schemas.microsoft.com/office/drawing/2014/main" id="{D49BACC5-A136-E1BB-F81F-C9925EFC49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34" y="4841327"/>
            <a:ext cx="5779134" cy="4340061"/>
          </a:xfrm>
          <a:prstGeom prst="rect">
            <a:avLst/>
          </a:prstGeom>
        </p:spPr>
      </p:pic>
    </p:spTree>
    <p:extLst>
      <p:ext uri="{BB962C8B-B14F-4D97-AF65-F5344CB8AC3E}">
        <p14:creationId xmlns:p14="http://schemas.microsoft.com/office/powerpoint/2010/main" val="10963538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2D11A-4BD8-79AA-90D1-32F399FB0F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70AF58-CA68-BD94-1326-64649462B5B8}"/>
              </a:ext>
            </a:extLst>
          </p:cNvPr>
          <p:cNvSpPr>
            <a:spLocks noGrp="1"/>
          </p:cNvSpPr>
          <p:nvPr>
            <p:ph type="sldNum" sz="quarter" idx="12"/>
          </p:nvPr>
        </p:nvSpPr>
        <p:spPr/>
        <p:txBody>
          <a:bodyPr/>
          <a:lstStyle/>
          <a:p>
            <a:fld id="{9BD3B4A0-BFF9-422C-B253-48BA94BE2F5B}" type="slidenum">
              <a:rPr lang="en-GB" noProof="0" smtClean="0"/>
              <a:t>73</a:t>
            </a:fld>
            <a:endParaRPr lang="en-GB" noProof="0" dirty="0"/>
          </a:p>
        </p:txBody>
      </p:sp>
      <p:cxnSp>
        <p:nvCxnSpPr>
          <p:cNvPr id="7" name="Straight Connector 6">
            <a:extLst>
              <a:ext uri="{FF2B5EF4-FFF2-40B4-BE49-F238E27FC236}">
                <a16:creationId xmlns:a16="http://schemas.microsoft.com/office/drawing/2014/main" id="{1A5D7CC8-9BAB-0AC7-3156-39CC7A94BC29}"/>
              </a:ext>
            </a:extLst>
          </p:cNvPr>
          <p:cNvCxnSpPr/>
          <p:nvPr/>
        </p:nvCxnSpPr>
        <p:spPr>
          <a:xfrm>
            <a:off x="0" y="4380470"/>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4" name="Picture 3" descr="A math equations on a white background&#10;&#10;AI-generated content may be incorrect.">
            <a:extLst>
              <a:ext uri="{FF2B5EF4-FFF2-40B4-BE49-F238E27FC236}">
                <a16:creationId xmlns:a16="http://schemas.microsoft.com/office/drawing/2014/main" id="{104FFE3E-E57B-8143-1B7C-C0212D71AA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68" y="30538"/>
            <a:ext cx="5713037" cy="4236978"/>
          </a:xfrm>
          <a:prstGeom prst="rect">
            <a:avLst/>
          </a:prstGeom>
        </p:spPr>
      </p:pic>
      <p:pic>
        <p:nvPicPr>
          <p:cNvPr id="8" name="Picture 7" descr="A math problem with equations&#10;&#10;AI-generated content may be incorrect.">
            <a:extLst>
              <a:ext uri="{FF2B5EF4-FFF2-40B4-BE49-F238E27FC236}">
                <a16:creationId xmlns:a16="http://schemas.microsoft.com/office/drawing/2014/main" id="{B744FBCE-B16A-F447-8F79-EC8910CFE6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69" y="4493424"/>
            <a:ext cx="5830768" cy="5164618"/>
          </a:xfrm>
          <a:prstGeom prst="rect">
            <a:avLst/>
          </a:prstGeom>
        </p:spPr>
      </p:pic>
    </p:spTree>
    <p:extLst>
      <p:ext uri="{BB962C8B-B14F-4D97-AF65-F5344CB8AC3E}">
        <p14:creationId xmlns:p14="http://schemas.microsoft.com/office/powerpoint/2010/main" val="2403554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paper with black text&#10;&#10;AI-generated content may be incorrect.">
            <a:extLst>
              <a:ext uri="{FF2B5EF4-FFF2-40B4-BE49-F238E27FC236}">
                <a16:creationId xmlns:a16="http://schemas.microsoft.com/office/drawing/2014/main" id="{4AE2689D-9D57-F907-38E5-F4298D7073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953000"/>
            <a:ext cx="5829691" cy="4755800"/>
          </a:xfrm>
          <a:prstGeom prst="rect">
            <a:avLst/>
          </a:prstGeom>
        </p:spPr>
      </p:pic>
      <p:sp>
        <p:nvSpPr>
          <p:cNvPr id="2" name="Slide Number Placeholder 1">
            <a:extLst>
              <a:ext uri="{FF2B5EF4-FFF2-40B4-BE49-F238E27FC236}">
                <a16:creationId xmlns:a16="http://schemas.microsoft.com/office/drawing/2014/main" id="{03BB0C3C-0475-E48A-3866-B4FC910140E1}"/>
              </a:ext>
            </a:extLst>
          </p:cNvPr>
          <p:cNvSpPr>
            <a:spLocks noGrp="1"/>
          </p:cNvSpPr>
          <p:nvPr>
            <p:ph type="sldNum" sz="quarter" idx="12"/>
          </p:nvPr>
        </p:nvSpPr>
        <p:spPr/>
        <p:txBody>
          <a:bodyPr/>
          <a:lstStyle/>
          <a:p>
            <a:fld id="{9BD3B4A0-BFF9-422C-B253-48BA94BE2F5B}" type="slidenum">
              <a:rPr lang="en-GB" noProof="0" smtClean="0"/>
              <a:t>74</a:t>
            </a:fld>
            <a:endParaRPr lang="en-GB" noProof="0" dirty="0"/>
          </a:p>
        </p:txBody>
      </p:sp>
      <p:pic>
        <p:nvPicPr>
          <p:cNvPr id="4" name="Picture 3" descr="A white paper with black text and black numbers&#10;&#10;AI-generated content may be incorrect.">
            <a:extLst>
              <a:ext uri="{FF2B5EF4-FFF2-40B4-BE49-F238E27FC236}">
                <a16:creationId xmlns:a16="http://schemas.microsoft.com/office/drawing/2014/main" id="{919AD685-8553-FE26-9902-5CA3010E99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953" y="-1"/>
            <a:ext cx="5532515" cy="4959425"/>
          </a:xfrm>
          <a:prstGeom prst="rect">
            <a:avLst/>
          </a:prstGeom>
        </p:spPr>
      </p:pic>
      <p:cxnSp>
        <p:nvCxnSpPr>
          <p:cNvPr id="5" name="Straight Connector 4">
            <a:extLst>
              <a:ext uri="{FF2B5EF4-FFF2-40B4-BE49-F238E27FC236}">
                <a16:creationId xmlns:a16="http://schemas.microsoft.com/office/drawing/2014/main" id="{3208AADD-3221-9E7E-A848-31B862F0A8E9}"/>
              </a:ext>
            </a:extLst>
          </p:cNvPr>
          <p:cNvCxnSpPr/>
          <p:nvPr/>
        </p:nvCxnSpPr>
        <p:spPr>
          <a:xfrm>
            <a:off x="0" y="4953000"/>
            <a:ext cx="6858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677880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F1A3AF-9DF9-429F-95F4-AB8E1E426D51}"/>
              </a:ext>
            </a:extLst>
          </p:cNvPr>
          <p:cNvSpPr/>
          <p:nvPr/>
        </p:nvSpPr>
        <p:spPr>
          <a:xfrm>
            <a:off x="102618" y="317359"/>
            <a:ext cx="6647773" cy="11491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11" name="Rectangle 10">
            <a:extLst>
              <a:ext uri="{FF2B5EF4-FFF2-40B4-BE49-F238E27FC236}">
                <a16:creationId xmlns:a16="http://schemas.microsoft.com/office/drawing/2014/main" id="{9554F5C1-D21B-4CDE-B4FD-998FDBB2B0D6}"/>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prstClr val="white"/>
                </a:solidFill>
              </a:rPr>
              <a:t>Subtopic 7 – Algebraic Proof</a:t>
            </a:r>
            <a:endParaRPr lang="en-GB" b="1" noProof="0" dirty="0">
              <a:solidFill>
                <a:prstClr val="white"/>
              </a:solidFill>
            </a:endParaRPr>
          </a:p>
        </p:txBody>
      </p:sp>
      <p:sp>
        <p:nvSpPr>
          <p:cNvPr id="13" name="TextBox 12">
            <a:extLst>
              <a:ext uri="{FF2B5EF4-FFF2-40B4-BE49-F238E27FC236}">
                <a16:creationId xmlns:a16="http://schemas.microsoft.com/office/drawing/2014/main" id="{BEC5D410-9446-41B2-BEF5-E64D48C58308}"/>
              </a:ext>
            </a:extLst>
          </p:cNvPr>
          <p:cNvSpPr txBox="1"/>
          <p:nvPr/>
        </p:nvSpPr>
        <p:spPr>
          <a:xfrm>
            <a:off x="265577" y="780711"/>
            <a:ext cx="2647189" cy="307777"/>
          </a:xfrm>
          <a:prstGeom prst="rect">
            <a:avLst/>
          </a:prstGeom>
          <a:noFill/>
        </p:spPr>
        <p:txBody>
          <a:bodyPr wrap="square" rtlCol="0">
            <a:spAutoFit/>
          </a:bodyPr>
          <a:lstStyle/>
          <a:p>
            <a:r>
              <a:rPr lang="en-GB" sz="1400" b="1" noProof="0" dirty="0"/>
              <a:t>Objectives:</a:t>
            </a:r>
          </a:p>
        </p:txBody>
      </p:sp>
      <p:sp>
        <p:nvSpPr>
          <p:cNvPr id="59" name="TextBox 58">
            <a:extLst>
              <a:ext uri="{FF2B5EF4-FFF2-40B4-BE49-F238E27FC236}">
                <a16:creationId xmlns:a16="http://schemas.microsoft.com/office/drawing/2014/main" id="{D58F4060-A0FD-C84C-8A22-502E16E49D73}"/>
              </a:ext>
            </a:extLst>
          </p:cNvPr>
          <p:cNvSpPr txBox="1"/>
          <p:nvPr/>
        </p:nvSpPr>
        <p:spPr>
          <a:xfrm>
            <a:off x="910807" y="420236"/>
            <a:ext cx="4991042" cy="276999"/>
          </a:xfrm>
          <a:prstGeom prst="rect">
            <a:avLst/>
          </a:prstGeom>
          <a:noFill/>
          <a:ln>
            <a:solidFill>
              <a:schemeClr val="tx1"/>
            </a:solidFill>
          </a:ln>
        </p:spPr>
        <p:txBody>
          <a:bodyPr wrap="square" rtlCol="0">
            <a:spAutoFit/>
          </a:bodyPr>
          <a:lstStyle/>
          <a:p>
            <a:pPr algn="ctr"/>
            <a:r>
              <a:rPr lang="en-GB" sz="1200" noProof="0" dirty="0"/>
              <a:t>LEARNING OUTCOME:  To understand algebraic proof. </a:t>
            </a:r>
          </a:p>
        </p:txBody>
      </p:sp>
      <p:sp>
        <p:nvSpPr>
          <p:cNvPr id="61" name="TextBox 60">
            <a:extLst>
              <a:ext uri="{FF2B5EF4-FFF2-40B4-BE49-F238E27FC236}">
                <a16:creationId xmlns:a16="http://schemas.microsoft.com/office/drawing/2014/main" id="{AA176BCB-F2F4-854D-9A37-B7D4A0081FB0}"/>
              </a:ext>
            </a:extLst>
          </p:cNvPr>
          <p:cNvSpPr txBox="1"/>
          <p:nvPr/>
        </p:nvSpPr>
        <p:spPr>
          <a:xfrm>
            <a:off x="840920" y="1065117"/>
            <a:ext cx="3888646" cy="461665"/>
          </a:xfrm>
          <a:prstGeom prst="rect">
            <a:avLst/>
          </a:prstGeom>
          <a:noFill/>
        </p:spPr>
        <p:txBody>
          <a:bodyPr wrap="square" rtlCol="0">
            <a:spAutoFit/>
          </a:bodyPr>
          <a:lstStyle/>
          <a:p>
            <a:pPr marL="228600" indent="-228600">
              <a:buFont typeface="+mj-lt"/>
              <a:buAutoNum type="arabicPeriod"/>
              <a:defRPr/>
            </a:pPr>
            <a:r>
              <a:rPr lang="en-GB" sz="1200" noProof="0" dirty="0"/>
              <a:t>To be able to prove statements algebraically. </a:t>
            </a:r>
          </a:p>
          <a:p>
            <a:pPr marL="228600" indent="-228600">
              <a:buFont typeface="+mj-lt"/>
              <a:buAutoNum type="arabicPeriod"/>
              <a:defRPr/>
            </a:pPr>
            <a:endParaRPr lang="en-GB" sz="1200" noProof="0" dirty="0"/>
          </a:p>
        </p:txBody>
      </p:sp>
      <p:sp>
        <p:nvSpPr>
          <p:cNvPr id="74" name="TextBox 73">
            <a:extLst>
              <a:ext uri="{FF2B5EF4-FFF2-40B4-BE49-F238E27FC236}">
                <a16:creationId xmlns:a16="http://schemas.microsoft.com/office/drawing/2014/main" id="{6DE260F4-7858-F54C-9B2A-3736C7864E2E}"/>
              </a:ext>
            </a:extLst>
          </p:cNvPr>
          <p:cNvSpPr txBox="1"/>
          <p:nvPr/>
        </p:nvSpPr>
        <p:spPr>
          <a:xfrm>
            <a:off x="5386356" y="757676"/>
            <a:ext cx="1235531" cy="646331"/>
          </a:xfrm>
          <a:prstGeom prst="rect">
            <a:avLst/>
          </a:prstGeom>
          <a:noFill/>
          <a:ln w="12700">
            <a:solidFill>
              <a:schemeClr val="tx1"/>
            </a:solidFill>
          </a:ln>
        </p:spPr>
        <p:txBody>
          <a:bodyPr wrap="square" rtlCol="0">
            <a:spAutoFit/>
          </a:bodyPr>
          <a:lstStyle/>
          <a:p>
            <a:r>
              <a:rPr lang="en-GB" sz="1200" b="1" u="sng" noProof="0" dirty="0"/>
              <a:t>Keywords:</a:t>
            </a:r>
          </a:p>
          <a:p>
            <a:pPr marL="171450" indent="-171450">
              <a:buFontTx/>
              <a:buChar char="-"/>
            </a:pPr>
            <a:r>
              <a:rPr lang="en-GB" sz="1200" noProof="0" dirty="0"/>
              <a:t>Proof</a:t>
            </a:r>
          </a:p>
          <a:p>
            <a:pPr marL="171450" indent="-171450">
              <a:buFontTx/>
              <a:buChar char="-"/>
            </a:pPr>
            <a:endParaRPr lang="en-GB" sz="1200" noProof="0" dirty="0"/>
          </a:p>
        </p:txBody>
      </p:sp>
      <p:sp>
        <p:nvSpPr>
          <p:cNvPr id="18" name="Slide Number Placeholder 17"/>
          <p:cNvSpPr>
            <a:spLocks noGrp="1"/>
          </p:cNvSpPr>
          <p:nvPr>
            <p:ph type="sldNum" sz="quarter" idx="12"/>
          </p:nvPr>
        </p:nvSpPr>
        <p:spPr>
          <a:xfrm>
            <a:off x="5309271" y="9548817"/>
            <a:ext cx="1543050" cy="527403"/>
          </a:xfrm>
        </p:spPr>
        <p:txBody>
          <a:bodyPr/>
          <a:lstStyle/>
          <a:p>
            <a:fld id="{19F1D9CC-7119-45EC-A96C-D8C0660F3AAB}" type="slidenum">
              <a:rPr lang="en-GB" noProof="0" smtClean="0">
                <a:solidFill>
                  <a:schemeClr val="bg1"/>
                </a:solidFill>
              </a:rPr>
              <a:t>75</a:t>
            </a:fld>
            <a:endParaRPr lang="en-GB" noProof="0" dirty="0">
              <a:solidFill>
                <a:schemeClr val="bg1"/>
              </a:solidFill>
            </a:endParaRPr>
          </a:p>
        </p:txBody>
      </p:sp>
      <p:sp>
        <p:nvSpPr>
          <p:cNvPr id="21" name="Slide Number Placeholder 16"/>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75</a:t>
            </a:fld>
            <a:endParaRPr lang="en-GB" noProof="0" dirty="0"/>
          </a:p>
        </p:txBody>
      </p:sp>
      <p:cxnSp>
        <p:nvCxnSpPr>
          <p:cNvPr id="22" name="Straight Connector 21">
            <a:extLst>
              <a:ext uri="{FF2B5EF4-FFF2-40B4-BE49-F238E27FC236}">
                <a16:creationId xmlns:a16="http://schemas.microsoft.com/office/drawing/2014/main" id="{FE7EDCC2-ABAA-434F-8C0E-6C3A1F76BAE7}"/>
              </a:ext>
            </a:extLst>
          </p:cNvPr>
          <p:cNvCxnSpPr/>
          <p:nvPr/>
        </p:nvCxnSpPr>
        <p:spPr>
          <a:xfrm flipV="1">
            <a:off x="8181122" y="426883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7326442" y="2508490"/>
            <a:ext cx="6643204" cy="23212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24" name="Straight Connector 23"/>
          <p:cNvCxnSpPr/>
          <p:nvPr/>
        </p:nvCxnSpPr>
        <p:spPr>
          <a:xfrm flipV="1">
            <a:off x="7332812" y="3571869"/>
            <a:ext cx="6632615" cy="40322"/>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a:stCxn id="23" idx="2"/>
            <a:endCxn id="23" idx="0"/>
          </p:cNvCxnSpPr>
          <p:nvPr/>
        </p:nvCxnSpPr>
        <p:spPr>
          <a:xfrm flipV="1">
            <a:off x="10648044" y="2508490"/>
            <a:ext cx="0" cy="2321252"/>
          </a:xfrm>
          <a:prstGeom prst="line">
            <a:avLst/>
          </a:prstGeom>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7344196" y="2499112"/>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29" name="TextBox 28"/>
          <p:cNvSpPr txBox="1"/>
          <p:nvPr/>
        </p:nvSpPr>
        <p:spPr>
          <a:xfrm>
            <a:off x="12868247" y="2466726"/>
            <a:ext cx="1112228" cy="276999"/>
          </a:xfrm>
          <a:prstGeom prst="rect">
            <a:avLst/>
          </a:prstGeom>
          <a:noFill/>
        </p:spPr>
        <p:txBody>
          <a:bodyPr wrap="none" rtlCol="0">
            <a:spAutoFit/>
          </a:bodyPr>
          <a:lstStyle/>
          <a:p>
            <a:r>
              <a:rPr lang="en-GB" sz="1200" b="1" noProof="0" dirty="0"/>
              <a:t>Characteristics</a:t>
            </a:r>
          </a:p>
        </p:txBody>
      </p:sp>
      <p:sp>
        <p:nvSpPr>
          <p:cNvPr id="30" name="TextBox 29"/>
          <p:cNvSpPr txBox="1"/>
          <p:nvPr/>
        </p:nvSpPr>
        <p:spPr>
          <a:xfrm>
            <a:off x="7359343" y="3596250"/>
            <a:ext cx="788164" cy="276999"/>
          </a:xfrm>
          <a:prstGeom prst="rect">
            <a:avLst/>
          </a:prstGeom>
          <a:noFill/>
        </p:spPr>
        <p:txBody>
          <a:bodyPr wrap="none" rtlCol="0">
            <a:spAutoFit/>
          </a:bodyPr>
          <a:lstStyle/>
          <a:p>
            <a:r>
              <a:rPr lang="en-GB" sz="1200" b="1" noProof="0" dirty="0"/>
              <a:t>Examples</a:t>
            </a:r>
          </a:p>
        </p:txBody>
      </p:sp>
      <p:sp>
        <p:nvSpPr>
          <p:cNvPr id="31" name="TextBox 30"/>
          <p:cNvSpPr txBox="1"/>
          <p:nvPr/>
        </p:nvSpPr>
        <p:spPr>
          <a:xfrm>
            <a:off x="12796760" y="3571869"/>
            <a:ext cx="1172885" cy="276999"/>
          </a:xfrm>
          <a:prstGeom prst="rect">
            <a:avLst/>
          </a:prstGeom>
          <a:noFill/>
        </p:spPr>
        <p:txBody>
          <a:bodyPr wrap="none" rtlCol="0">
            <a:spAutoFit/>
          </a:bodyPr>
          <a:lstStyle/>
          <a:p>
            <a:r>
              <a:rPr lang="en-GB" sz="1200" b="1" noProof="0" dirty="0"/>
              <a:t>Non - Examples</a:t>
            </a:r>
          </a:p>
        </p:txBody>
      </p:sp>
      <p:sp>
        <p:nvSpPr>
          <p:cNvPr id="32" name="TextBox 31"/>
          <p:cNvSpPr txBox="1"/>
          <p:nvPr/>
        </p:nvSpPr>
        <p:spPr>
          <a:xfrm>
            <a:off x="7364975" y="2740169"/>
            <a:ext cx="3230335" cy="646331"/>
          </a:xfrm>
          <a:prstGeom prst="rect">
            <a:avLst/>
          </a:prstGeom>
          <a:noFill/>
        </p:spPr>
        <p:txBody>
          <a:bodyPr wrap="square" rtlCol="0">
            <a:spAutoFit/>
          </a:bodyPr>
          <a:lstStyle/>
          <a:p>
            <a:r>
              <a:rPr lang="en-GB" sz="1200" noProof="0" dirty="0"/>
              <a:t>A structured argument that follows a sequence of logical steps using facts and theorems to prove if a mathematical statement is true.</a:t>
            </a:r>
            <a:endParaRPr lang="en-GB" sz="600" noProof="0" dirty="0"/>
          </a:p>
        </p:txBody>
      </p:sp>
      <mc:AlternateContent xmlns:mc="http://schemas.openxmlformats.org/markup-compatibility/2006" xmlns:a14="http://schemas.microsoft.com/office/drawing/2010/main">
        <mc:Choice Requires="a14">
          <p:sp>
            <p:nvSpPr>
              <p:cNvPr id="33" name="TextBox 32"/>
              <p:cNvSpPr txBox="1"/>
              <p:nvPr/>
            </p:nvSpPr>
            <p:spPr>
              <a:xfrm>
                <a:off x="10739310" y="2690130"/>
                <a:ext cx="3230335" cy="600164"/>
              </a:xfrm>
              <a:prstGeom prst="rect">
                <a:avLst/>
              </a:prstGeom>
              <a:noFill/>
            </p:spPr>
            <p:txBody>
              <a:bodyPr wrap="square" rtlCol="0">
                <a:spAutoFit/>
              </a:bodyPr>
              <a:lstStyle/>
              <a:p>
                <a:r>
                  <a:rPr lang="en-GB" sz="1100" noProof="0" dirty="0"/>
                  <a:t>For algebraic proof we perform proof by induction, this means it is true for </a:t>
                </a:r>
                <a:r>
                  <a:rPr lang="en-GB" sz="1100" b="1" noProof="0" dirty="0"/>
                  <a:t>any value. </a:t>
                </a:r>
              </a:p>
              <a:p>
                <a:r>
                  <a:rPr lang="en-GB" sz="1100" noProof="0" dirty="0"/>
                  <a:t>We tend to use </a:t>
                </a:r>
                <a14:m>
                  <m:oMath xmlns:m="http://schemas.openxmlformats.org/officeDocument/2006/math">
                    <m:r>
                      <a:rPr lang="en-GB" sz="1100" b="0" i="1" noProof="0" smtClean="0">
                        <a:latin typeface="Cambria Math" panose="02040503050406030204" pitchFamily="18" charset="0"/>
                      </a:rPr>
                      <m:t>𝑛</m:t>
                    </m:r>
                  </m:oMath>
                </a14:m>
                <a:r>
                  <a:rPr lang="en-GB" sz="1100" noProof="0" dirty="0"/>
                  <a:t> to denote </a:t>
                </a:r>
                <a:r>
                  <a:rPr lang="en-GB" sz="1100" b="1" noProof="0" dirty="0"/>
                  <a:t>any value. </a:t>
                </a:r>
              </a:p>
            </p:txBody>
          </p:sp>
        </mc:Choice>
        <mc:Fallback xmlns="">
          <p:sp>
            <p:nvSpPr>
              <p:cNvPr id="33" name="TextBox 32"/>
              <p:cNvSpPr txBox="1">
                <a:spLocks noRot="1" noChangeAspect="1" noMove="1" noResize="1" noEditPoints="1" noAdjustHandles="1" noChangeArrowheads="1" noChangeShapeType="1" noTextEdit="1"/>
              </p:cNvSpPr>
              <p:nvPr/>
            </p:nvSpPr>
            <p:spPr>
              <a:xfrm>
                <a:off x="10739310" y="2690130"/>
                <a:ext cx="3230335" cy="600164"/>
              </a:xfrm>
              <a:prstGeom prst="rect">
                <a:avLst/>
              </a:prstGeom>
              <a:blipFill>
                <a:blip r:embed="rId3"/>
                <a:stretch>
                  <a:fillRect t="-1010" b="-6061"/>
                </a:stretch>
              </a:blipFill>
            </p:spPr>
            <p:txBody>
              <a:bodyPr/>
              <a:lstStyle/>
              <a:p>
                <a:r>
                  <a:rPr lang="en-US">
                    <a:noFill/>
                  </a:rPr>
                  <a:t> </a:t>
                </a:r>
              </a:p>
            </p:txBody>
          </p:sp>
        </mc:Fallback>
      </mc:AlternateContent>
      <p:sp>
        <p:nvSpPr>
          <p:cNvPr id="34" name="TextBox 33"/>
          <p:cNvSpPr txBox="1"/>
          <p:nvPr/>
        </p:nvSpPr>
        <p:spPr>
          <a:xfrm>
            <a:off x="10301096" y="3465729"/>
            <a:ext cx="693908" cy="369332"/>
          </a:xfrm>
          <a:prstGeom prst="rect">
            <a:avLst/>
          </a:prstGeom>
          <a:solidFill>
            <a:schemeClr val="bg1"/>
          </a:solidFill>
          <a:ln>
            <a:solidFill>
              <a:schemeClr val="tx1"/>
            </a:solidFill>
          </a:ln>
        </p:spPr>
        <p:txBody>
          <a:bodyPr wrap="none" rtlCol="0">
            <a:spAutoFit/>
          </a:bodyPr>
          <a:lstStyle/>
          <a:p>
            <a:r>
              <a:rPr lang="en-GB" noProof="0" dirty="0"/>
              <a:t>Proof</a:t>
            </a:r>
          </a:p>
        </p:txBody>
      </p:sp>
      <p:sp>
        <p:nvSpPr>
          <p:cNvPr id="35" name="Rectangle 34"/>
          <p:cNvSpPr/>
          <p:nvPr/>
        </p:nvSpPr>
        <p:spPr>
          <a:xfrm>
            <a:off x="7359343" y="3862441"/>
            <a:ext cx="3273285" cy="830997"/>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2n + 1 + 2n + 3 = 4n + 4 = 4(n + 1)</a:t>
            </a:r>
          </a:p>
        </p:txBody>
      </p:sp>
      <mc:AlternateContent xmlns:mc="http://schemas.openxmlformats.org/markup-compatibility/2006" xmlns:a14="http://schemas.microsoft.com/office/drawing/2010/main">
        <mc:Choice Requires="a14">
          <p:sp>
            <p:nvSpPr>
              <p:cNvPr id="41" name="Rectangle 40"/>
              <p:cNvSpPr/>
              <p:nvPr/>
            </p:nvSpPr>
            <p:spPr>
              <a:xfrm>
                <a:off x="10652804" y="3820501"/>
                <a:ext cx="3273285" cy="1015663"/>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3 + 5 = 8   8 </a:t>
                </a:r>
                <a14:m>
                  <m:oMath xmlns:m="http://schemas.openxmlformats.org/officeDocument/2006/math">
                    <m:r>
                      <a:rPr lang="en-GB" sz="1200" i="1" noProof="0" smtClean="0">
                        <a:latin typeface="Cambria Math" panose="02040503050406030204" pitchFamily="18" charset="0"/>
                        <a:ea typeface="Cambria Math" panose="02040503050406030204" pitchFamily="18" charset="0"/>
                      </a:rPr>
                      <m:t>÷</m:t>
                    </m:r>
                  </m:oMath>
                </a14:m>
                <a:r>
                  <a:rPr lang="en-GB" sz="1200" noProof="0" dirty="0"/>
                  <a:t> 4 = 2 so it is proved. (Why is this incorrect?</a:t>
                </a:r>
              </a:p>
            </p:txBody>
          </p:sp>
        </mc:Choice>
        <mc:Fallback xmlns="">
          <p:sp>
            <p:nvSpPr>
              <p:cNvPr id="41" name="Rectangle 40"/>
              <p:cNvSpPr>
                <a:spLocks noRot="1" noChangeAspect="1" noMove="1" noResize="1" noEditPoints="1" noAdjustHandles="1" noChangeArrowheads="1" noChangeShapeType="1" noTextEdit="1"/>
              </p:cNvSpPr>
              <p:nvPr/>
            </p:nvSpPr>
            <p:spPr>
              <a:xfrm>
                <a:off x="10652804" y="3820501"/>
                <a:ext cx="3273285" cy="1015663"/>
              </a:xfrm>
              <a:prstGeom prst="rect">
                <a:avLst/>
              </a:prstGeom>
              <a:blipFill>
                <a:blip r:embed="rId4"/>
                <a:stretch>
                  <a:fillRect l="-187" t="-602" b="-4217"/>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01EE147A-3B7E-E7E6-418C-0D2314934CDD}"/>
              </a:ext>
            </a:extLst>
          </p:cNvPr>
          <p:cNvSpPr txBox="1"/>
          <p:nvPr/>
        </p:nvSpPr>
        <p:spPr>
          <a:xfrm>
            <a:off x="102618" y="1526782"/>
            <a:ext cx="6643204" cy="1938992"/>
          </a:xfrm>
          <a:prstGeom prst="rect">
            <a:avLst/>
          </a:prstGeom>
          <a:noFill/>
          <a:ln>
            <a:solidFill>
              <a:schemeClr val="tx1"/>
            </a:solidFill>
          </a:ln>
        </p:spPr>
        <p:txBody>
          <a:bodyPr wrap="square" rtlCol="0">
            <a:spAutoFit/>
          </a:bodyPr>
          <a:lstStyle/>
          <a:p>
            <a:r>
              <a:rPr lang="en-GB" sz="1200" noProof="0" dirty="0"/>
              <a:t>You will have encountered the word “proof” many times in your life. To prove something mathematically can be very challenging. You formally met this concept in a tricky context in in Year 10 with the algebraic approach to proving that </a:t>
            </a:r>
            <a:r>
              <a:rPr lang="en-GB" sz="1200" b="1" noProof="0" dirty="0"/>
              <a:t>recurring decimals can be written as equivalent fractions</a:t>
            </a:r>
            <a:r>
              <a:rPr lang="en-GB" sz="1200" noProof="0" dirty="0"/>
              <a:t>. GCSE exams may ask you to prove other statements are true.</a:t>
            </a:r>
          </a:p>
          <a:p>
            <a:endParaRPr lang="en-GB" sz="1200" noProof="0" dirty="0"/>
          </a:p>
          <a:p>
            <a:r>
              <a:rPr lang="en-GB" sz="1200" noProof="0" dirty="0"/>
              <a:t>Direct algebraic proof works by manipulating one side of a </a:t>
            </a:r>
            <a:r>
              <a:rPr lang="en-GB" sz="1200" b="1" noProof="0" dirty="0"/>
              <a:t>mathematical identity</a:t>
            </a:r>
            <a:r>
              <a:rPr lang="en-GB" sz="1200" noProof="0" dirty="0"/>
              <a:t> in order to make it exactly equal to the other to the other side.  Whilst working through these proofs we will refer to the LHS (left hand side) and RHS (right hand side) of the identity, the first statement we make is ‘Consider the LHS’. We then manipulate the LHS until it equals the RHS. This is a helpful introduction to the idea of proof.</a:t>
            </a:r>
          </a:p>
        </p:txBody>
      </p:sp>
      <p:sp>
        <p:nvSpPr>
          <p:cNvPr id="4" name="TextBox 3">
            <a:extLst>
              <a:ext uri="{FF2B5EF4-FFF2-40B4-BE49-F238E27FC236}">
                <a16:creationId xmlns:a16="http://schemas.microsoft.com/office/drawing/2014/main" id="{E8BE3F84-0B70-C0A3-FFD8-065669362951}"/>
              </a:ext>
            </a:extLst>
          </p:cNvPr>
          <p:cNvSpPr txBox="1"/>
          <p:nvPr/>
        </p:nvSpPr>
        <p:spPr>
          <a:xfrm>
            <a:off x="5120796" y="3539474"/>
            <a:ext cx="1498808" cy="276999"/>
          </a:xfrm>
          <a:prstGeom prst="rect">
            <a:avLst/>
          </a:prstGeom>
          <a:noFill/>
          <a:ln>
            <a:noFill/>
          </a:ln>
        </p:spPr>
        <p:txBody>
          <a:bodyPr wrap="none" rtlCol="0">
            <a:spAutoFit/>
          </a:bodyPr>
          <a:lstStyle/>
          <a:p>
            <a:r>
              <a:rPr lang="en-GB" sz="1200" b="1" i="1" noProof="0" dirty="0">
                <a:solidFill>
                  <a:srgbClr val="00B050"/>
                </a:solidFill>
              </a:rPr>
              <a:t>Example 3 - You do…</a:t>
            </a:r>
          </a:p>
        </p:txBody>
      </p:sp>
      <p:sp>
        <p:nvSpPr>
          <p:cNvPr id="5" name="TextBox 4">
            <a:extLst>
              <a:ext uri="{FF2B5EF4-FFF2-40B4-BE49-F238E27FC236}">
                <a16:creationId xmlns:a16="http://schemas.microsoft.com/office/drawing/2014/main" id="{69C0A3BC-DF3A-DAE7-EF08-DCC8ECF74A57}"/>
              </a:ext>
            </a:extLst>
          </p:cNvPr>
          <p:cNvSpPr txBox="1"/>
          <p:nvPr/>
        </p:nvSpPr>
        <p:spPr>
          <a:xfrm>
            <a:off x="3284112" y="3508977"/>
            <a:ext cx="1475789" cy="276999"/>
          </a:xfrm>
          <a:prstGeom prst="rect">
            <a:avLst/>
          </a:prstGeom>
          <a:noFill/>
          <a:ln>
            <a:noFill/>
          </a:ln>
        </p:spPr>
        <p:txBody>
          <a:bodyPr wrap="none" rtlCol="0">
            <a:spAutoFit/>
          </a:bodyPr>
          <a:lstStyle/>
          <a:p>
            <a:r>
              <a:rPr lang="en-GB" sz="1200" b="1" i="1" noProof="0" dirty="0">
                <a:solidFill>
                  <a:schemeClr val="accent2"/>
                </a:solidFill>
              </a:rPr>
              <a:t>Example 2 - We do…</a:t>
            </a:r>
          </a:p>
        </p:txBody>
      </p:sp>
      <p:sp>
        <p:nvSpPr>
          <p:cNvPr id="6" name="TextBox 5">
            <a:extLst>
              <a:ext uri="{FF2B5EF4-FFF2-40B4-BE49-F238E27FC236}">
                <a16:creationId xmlns:a16="http://schemas.microsoft.com/office/drawing/2014/main" id="{CD89D17B-C8AD-6764-0424-F229F094C67A}"/>
              </a:ext>
            </a:extLst>
          </p:cNvPr>
          <p:cNvSpPr txBox="1"/>
          <p:nvPr/>
        </p:nvSpPr>
        <p:spPr>
          <a:xfrm>
            <a:off x="1509726" y="3556276"/>
            <a:ext cx="1273234" cy="276999"/>
          </a:xfrm>
          <a:prstGeom prst="rect">
            <a:avLst/>
          </a:prstGeom>
          <a:noFill/>
          <a:ln>
            <a:noFill/>
          </a:ln>
        </p:spPr>
        <p:txBody>
          <a:bodyPr wrap="none" rtlCol="0">
            <a:spAutoFit/>
          </a:bodyPr>
          <a:lstStyle/>
          <a:p>
            <a:r>
              <a:rPr lang="en-GB" sz="1200" b="1" i="1" noProof="0" dirty="0">
                <a:solidFill>
                  <a:srgbClr val="FF0000"/>
                </a:solidFill>
              </a:rPr>
              <a:t>Example 1- I do…</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30698097-9540-F248-785F-7AB03183A33B}"/>
                  </a:ext>
                </a:extLst>
              </p:cNvPr>
              <p:cNvGraphicFramePr>
                <a:graphicFrameLocks noGrp="1"/>
              </p:cNvGraphicFramePr>
              <p:nvPr>
                <p:extLst>
                  <p:ext uri="{D42A27DB-BD31-4B8C-83A1-F6EECF244321}">
                    <p14:modId xmlns:p14="http://schemas.microsoft.com/office/powerpoint/2010/main" val="4036245852"/>
                  </p:ext>
                </p:extLst>
              </p:nvPr>
            </p:nvGraphicFramePr>
            <p:xfrm>
              <a:off x="97859" y="3820501"/>
              <a:ext cx="6638985" cy="3548824"/>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568142362"/>
                        </a:ext>
                      </a:extLst>
                    </a:gridCol>
                    <a:gridCol w="1544960">
                      <a:extLst>
                        <a:ext uri="{9D8B030D-6E8A-4147-A177-3AD203B41FA5}">
                          <a16:colId xmlns:a16="http://schemas.microsoft.com/office/drawing/2014/main" val="3551711160"/>
                        </a:ext>
                      </a:extLst>
                    </a:gridCol>
                    <a:gridCol w="1851950">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641762">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Prove that </a:t>
                          </a:r>
                        </a:p>
                        <a:p>
                          <a:pPr algn="ctr"/>
                          <a14:m>
                            <m:oMath xmlns:m="http://schemas.openxmlformats.org/officeDocument/2006/math">
                              <m:r>
                                <a:rPr lang="en-GB" sz="1200" b="0" i="1" noProof="0" smtClean="0">
                                  <a:solidFill>
                                    <a:schemeClr val="tx1"/>
                                  </a:solidFill>
                                  <a:latin typeface="Cambria Math" panose="02040503050406030204" pitchFamily="18" charset="0"/>
                                </a:rPr>
                                <m:t>7</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−9</m:t>
                                  </m:r>
                                </m:e>
                              </m:d>
                              <m:r>
                                <a:rPr lang="en-GB" sz="1200" b="0" i="1" noProof="0" smtClean="0">
                                  <a:solidFill>
                                    <a:schemeClr val="tx1"/>
                                  </a:solidFill>
                                  <a:latin typeface="Cambria Math" panose="02040503050406030204" pitchFamily="18" charset="0"/>
                                </a:rPr>
                                <m:t>−3</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e>
                              </m:d>
                              <m:r>
                                <a:rPr lang="en-GB" sz="1200" b="0" i="1" noProof="0" smtClean="0">
                                  <a:solidFill>
                                    <a:schemeClr val="tx1"/>
                                  </a:solidFill>
                                  <a:latin typeface="Cambria Math" panose="02040503050406030204" pitchFamily="18" charset="0"/>
                                  <a:ea typeface="Cambria Math" panose="02040503050406030204" pitchFamily="18" charset="0"/>
                                </a:rPr>
                                <m:t>≡4</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−51</m:t>
                              </m:r>
                            </m:oMath>
                          </a14:m>
                          <a:r>
                            <a:rPr lang="en-GB" sz="1200" b="0" baseline="0" noProof="0" dirty="0">
                              <a:solidFill>
                                <a:schemeClr val="tx1"/>
                              </a:solidFill>
                            </a:rPr>
                            <a:t> </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Prove that </a:t>
                          </a:r>
                          <a14:m>
                            <m:oMath xmlns:m="http://schemas.openxmlformats.org/officeDocument/2006/math">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−4</m:t>
                                  </m:r>
                                </m:e>
                              </m:d>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+5</m:t>
                                  </m:r>
                                </m:e>
                              </m:d>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𝑦</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 −20</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Prove that </a:t>
                          </a:r>
                        </a:p>
                        <a:p>
                          <a:pPr algn="ctr"/>
                          <a14:m>
                            <m:oMath xmlns:m="http://schemas.openxmlformats.org/officeDocument/2006/math">
                              <m:r>
                                <a:rPr lang="en-GB" sz="1200" b="0" i="1" noProof="0" smtClean="0">
                                  <a:solidFill>
                                    <a:schemeClr val="tx1"/>
                                  </a:solidFill>
                                  <a:latin typeface="Cambria Math" panose="02040503050406030204" pitchFamily="18" charset="0"/>
                                </a:rPr>
                                <m:t>5</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e>
                              </m:d>
                              <m:r>
                                <a:rPr lang="en-GB" sz="1200" b="0" i="1" noProof="0" smtClean="0">
                                  <a:solidFill>
                                    <a:schemeClr val="tx1"/>
                                  </a:solidFill>
                                  <a:latin typeface="Cambria Math" panose="02040503050406030204" pitchFamily="18" charset="0"/>
                                </a:rPr>
                                <m:t>−4</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−7</m:t>
                              </m:r>
                            </m:oMath>
                          </a14:m>
                          <a:r>
                            <a:rPr lang="en-GB" sz="12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63227">
                    <a:tc>
                      <a:txBody>
                        <a:bodyPr/>
                        <a:lstStyle/>
                        <a:p>
                          <a:r>
                            <a:rPr lang="en-GB" sz="1200" noProof="0" dirty="0"/>
                            <a:t>Consider the side of the identity that is most obvious to manipulate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2445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Simplify by expanding and collecting</a:t>
                          </a:r>
                          <a:r>
                            <a:rPr lang="en-GB" sz="1200" baseline="0" noProof="0" dirty="0"/>
                            <a:t> like terms. </a:t>
                          </a: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26114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Write a statement that you have proven as required – you can write QED to save ink!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bl>
              </a:graphicData>
            </a:graphic>
          </p:graphicFrame>
        </mc:Choice>
        <mc:Fallback xmlns="">
          <p:graphicFrame>
            <p:nvGraphicFramePr>
              <p:cNvPr id="7" name="Table 6">
                <a:extLst>
                  <a:ext uri="{FF2B5EF4-FFF2-40B4-BE49-F238E27FC236}">
                    <a16:creationId xmlns:a16="http://schemas.microsoft.com/office/drawing/2014/main" id="{30698097-9540-F248-785F-7AB03183A33B}"/>
                  </a:ext>
                </a:extLst>
              </p:cNvPr>
              <p:cNvGraphicFramePr>
                <a:graphicFrameLocks noGrp="1"/>
              </p:cNvGraphicFramePr>
              <p:nvPr>
                <p:extLst>
                  <p:ext uri="{D42A27DB-BD31-4B8C-83A1-F6EECF244321}">
                    <p14:modId xmlns:p14="http://schemas.microsoft.com/office/powerpoint/2010/main" val="4036245852"/>
                  </p:ext>
                </p:extLst>
              </p:nvPr>
            </p:nvGraphicFramePr>
            <p:xfrm>
              <a:off x="97859" y="3820501"/>
              <a:ext cx="6638985" cy="3548824"/>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568142362"/>
                        </a:ext>
                      </a:extLst>
                    </a:gridCol>
                    <a:gridCol w="1544960">
                      <a:extLst>
                        <a:ext uri="{9D8B030D-6E8A-4147-A177-3AD203B41FA5}">
                          <a16:colId xmlns:a16="http://schemas.microsoft.com/office/drawing/2014/main" val="3551711160"/>
                        </a:ext>
                      </a:extLst>
                    </a:gridCol>
                    <a:gridCol w="1851950">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641762">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4094" t="-45714" r="-236220" b="-45714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2171" t="-45714" r="-97368" b="-45714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1088" t="-45714" r="-680" b="-457143"/>
                          </a:stretch>
                        </a:blipFill>
                      </a:tcPr>
                    </a:tc>
                    <a:extLst>
                      <a:ext uri="{0D108BD9-81ED-4DB2-BD59-A6C34878D82A}">
                        <a16:rowId xmlns:a16="http://schemas.microsoft.com/office/drawing/2014/main" val="2357201933"/>
                      </a:ext>
                    </a:extLst>
                  </a:tr>
                  <a:tr h="822960">
                    <a:tc>
                      <a:txBody>
                        <a:bodyPr/>
                        <a:lstStyle/>
                        <a:p>
                          <a:r>
                            <a:rPr lang="en-GB" sz="1200" noProof="0"/>
                            <a:t>Consider the side of the identity that is most obvious to manipulate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229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Simplify by expanding and collecting</a:t>
                          </a:r>
                          <a:r>
                            <a:rPr lang="en-GB" sz="1200" baseline="0" noProof="0"/>
                            <a:t> like terms. </a:t>
                          </a: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26114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Write a statement that you have proven as required – you can write QED to save ink!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bl>
              </a:graphicData>
            </a:graphic>
          </p:graphicFrame>
        </mc:Fallback>
      </mc:AlternateContent>
      <p:sp>
        <p:nvSpPr>
          <p:cNvPr id="9" name="TextBox 8">
            <a:extLst>
              <a:ext uri="{FF2B5EF4-FFF2-40B4-BE49-F238E27FC236}">
                <a16:creationId xmlns:a16="http://schemas.microsoft.com/office/drawing/2014/main" id="{5736A3CD-509D-2EF6-DAC4-EF65993CD000}"/>
              </a:ext>
            </a:extLst>
          </p:cNvPr>
          <p:cNvSpPr txBox="1"/>
          <p:nvPr/>
        </p:nvSpPr>
        <p:spPr>
          <a:xfrm>
            <a:off x="97859" y="7314517"/>
            <a:ext cx="1762598" cy="276999"/>
          </a:xfrm>
          <a:prstGeom prst="rect">
            <a:avLst/>
          </a:prstGeom>
          <a:solidFill>
            <a:srgbClr val="0070C0"/>
          </a:solidFill>
        </p:spPr>
        <p:txBody>
          <a:bodyPr wrap="none" rtlCol="0" anchor="ctr">
            <a:spAutoFit/>
          </a:bodyPr>
          <a:lstStyle/>
          <a:p>
            <a:pPr algn="r"/>
            <a:r>
              <a:rPr lang="en-GB" sz="1200" b="1" noProof="0" dirty="0">
                <a:solidFill>
                  <a:schemeClr val="bg1"/>
                </a:solidFill>
              </a:rPr>
              <a:t>INDEPENDENT PRACTICE</a:t>
            </a:r>
          </a:p>
        </p:txBody>
      </p:sp>
      <p:sp>
        <p:nvSpPr>
          <p:cNvPr id="12" name="TextBox 11">
            <a:extLst>
              <a:ext uri="{FF2B5EF4-FFF2-40B4-BE49-F238E27FC236}">
                <a16:creationId xmlns:a16="http://schemas.microsoft.com/office/drawing/2014/main" id="{F5C4CE41-CD67-B613-516C-242ABF984053}"/>
              </a:ext>
            </a:extLst>
          </p:cNvPr>
          <p:cNvSpPr txBox="1"/>
          <p:nvPr/>
        </p:nvSpPr>
        <p:spPr>
          <a:xfrm>
            <a:off x="1955800" y="7314517"/>
            <a:ext cx="3164996" cy="276999"/>
          </a:xfrm>
          <a:prstGeom prst="rect">
            <a:avLst/>
          </a:prstGeom>
          <a:noFill/>
        </p:spPr>
        <p:txBody>
          <a:bodyPr wrap="square" rtlCol="0">
            <a:spAutoFit/>
          </a:bodyPr>
          <a:lstStyle/>
          <a:p>
            <a:r>
              <a:rPr lang="en-GB" sz="1200" noProof="0" dirty="0"/>
              <a:t>1. Prove the following statements are true:</a:t>
            </a: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D343574A-2C47-85AD-47E4-D26B3F938E2C}"/>
                  </a:ext>
                </a:extLst>
              </p:cNvPr>
              <p:cNvGraphicFramePr>
                <a:graphicFrameLocks noGrp="1"/>
              </p:cNvGraphicFramePr>
              <p:nvPr>
                <p:extLst>
                  <p:ext uri="{D42A27DB-BD31-4B8C-83A1-F6EECF244321}">
                    <p14:modId xmlns:p14="http://schemas.microsoft.com/office/powerpoint/2010/main" val="1954762222"/>
                  </p:ext>
                </p:extLst>
              </p:nvPr>
            </p:nvGraphicFramePr>
            <p:xfrm>
              <a:off x="97859" y="7634719"/>
              <a:ext cx="6638985" cy="2204356"/>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901797026"/>
                        </a:ext>
                      </a:extLst>
                    </a:gridCol>
                    <a:gridCol w="1803400">
                      <a:extLst>
                        <a:ext uri="{9D8B030D-6E8A-4147-A177-3AD203B41FA5}">
                          <a16:colId xmlns:a16="http://schemas.microsoft.com/office/drawing/2014/main" val="1097336017"/>
                        </a:ext>
                      </a:extLst>
                    </a:gridCol>
                    <a:gridCol w="3384044">
                      <a:extLst>
                        <a:ext uri="{9D8B030D-6E8A-4147-A177-3AD203B41FA5}">
                          <a16:colId xmlns:a16="http://schemas.microsoft.com/office/drawing/2014/main" val="3465043989"/>
                        </a:ext>
                      </a:extLst>
                    </a:gridCol>
                  </a:tblGrid>
                  <a:tr h="2204356">
                    <a:tc>
                      <a:txBody>
                        <a:bodyPr/>
                        <a:lstStyle/>
                        <a:p>
                          <a:pPr marL="228600" indent="-228600">
                            <a:buAutoNum type="alphaLcPeriod"/>
                          </a:pPr>
                          <a14:m>
                            <m:oMath xmlns:m="http://schemas.openxmlformats.org/officeDocument/2006/math">
                              <m:r>
                                <a:rPr lang="en-GB" sz="1200" b="0" i="1" noProof="0" smtClean="0">
                                  <a:solidFill>
                                    <a:schemeClr val="tx1"/>
                                  </a:solidFill>
                                  <a:latin typeface="Cambria Math" panose="02040503050406030204" pitchFamily="18" charset="0"/>
                                </a:rPr>
                                <m:t>6</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−7</m:t>
                                  </m:r>
                                </m:e>
                              </m:d>
                              <m:r>
                                <a:rPr lang="en-GB" sz="1200" b="0" i="1" noProof="0" smtClean="0">
                                  <a:solidFill>
                                    <a:schemeClr val="tx1"/>
                                  </a:solidFill>
                                  <a:latin typeface="Cambria Math" panose="02040503050406030204" pitchFamily="18" charset="0"/>
                                </a:rPr>
                                <m:t>+ 5</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11</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6</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e>
                              </m:d>
                              <m:r>
                                <a:rPr lang="en-GB" sz="1200" b="0" i="1" noProof="0" smtClean="0">
                                  <a:solidFill>
                                    <a:schemeClr val="tx1"/>
                                  </a:solidFill>
                                  <a:latin typeface="Cambria Math" panose="02040503050406030204" pitchFamily="18" charset="0"/>
                                </a:rPr>
                                <m:t>−5</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e>
                              </m:d>
                              <m:r>
                                <a:rPr lang="en-GB" sz="1200" b="0" i="1" noProof="0" smtClean="0">
                                  <a:solidFill>
                                    <a:schemeClr val="tx1"/>
                                  </a:solidFill>
                                  <a:latin typeface="Cambria Math" panose="02040503050406030204" pitchFamily="18" charset="0"/>
                                </a:rPr>
                                <m:t>≡</m:t>
                              </m:r>
                            </m:oMath>
                          </a14:m>
                          <a:endParaRPr lang="en-GB" sz="1200" b="0" i="1" noProof="0"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−14</m:t>
                                </m:r>
                              </m:oMath>
                            </m:oMathPara>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e>
                              </m:d>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e>
                              </m:d>
                              <m:r>
                                <a:rPr lang="en-GB" sz="1200" b="0" i="1" noProof="0" smtClean="0">
                                  <a:solidFill>
                                    <a:schemeClr val="tx1"/>
                                  </a:solidFill>
                                  <a:latin typeface="Cambria Math" panose="02040503050406030204" pitchFamily="18" charset="0"/>
                                </a:rPr>
                                <m:t>−</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e>
                              </m:d>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e>
                              </m:d>
                              <m:r>
                                <a:rPr lang="en-GB" sz="1200" b="0" i="1" noProof="0" smtClean="0">
                                  <a:solidFill>
                                    <a:schemeClr val="tx1"/>
                                  </a:solidFill>
                                  <a:latin typeface="Cambria Math" panose="02040503050406030204" pitchFamily="18" charset="0"/>
                                </a:rPr>
                                <m:t>≡</m:t>
                              </m:r>
                            </m:oMath>
                          </a14:m>
                          <a:endParaRPr lang="en-GB" sz="1200" b="0" i="1" noProof="0"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−6</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−2 </m:t>
                                </m:r>
                              </m:oMath>
                            </m:oMathPara>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6478195"/>
                      </a:ext>
                    </a:extLst>
                  </a:tr>
                </a:tbl>
              </a:graphicData>
            </a:graphic>
          </p:graphicFrame>
        </mc:Choice>
        <mc:Fallback xmlns="">
          <p:graphicFrame>
            <p:nvGraphicFramePr>
              <p:cNvPr id="14" name="Table 13">
                <a:extLst>
                  <a:ext uri="{FF2B5EF4-FFF2-40B4-BE49-F238E27FC236}">
                    <a16:creationId xmlns:a16="http://schemas.microsoft.com/office/drawing/2014/main" id="{D343574A-2C47-85AD-47E4-D26B3F938E2C}"/>
                  </a:ext>
                </a:extLst>
              </p:cNvPr>
              <p:cNvGraphicFramePr>
                <a:graphicFrameLocks noGrp="1"/>
              </p:cNvGraphicFramePr>
              <p:nvPr>
                <p:extLst>
                  <p:ext uri="{D42A27DB-BD31-4B8C-83A1-F6EECF244321}">
                    <p14:modId xmlns:p14="http://schemas.microsoft.com/office/powerpoint/2010/main" val="1954762222"/>
                  </p:ext>
                </p:extLst>
              </p:nvPr>
            </p:nvGraphicFramePr>
            <p:xfrm>
              <a:off x="97859" y="7634719"/>
              <a:ext cx="6638985" cy="2204356"/>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901797026"/>
                        </a:ext>
                      </a:extLst>
                    </a:gridCol>
                    <a:gridCol w="1803400">
                      <a:extLst>
                        <a:ext uri="{9D8B030D-6E8A-4147-A177-3AD203B41FA5}">
                          <a16:colId xmlns:a16="http://schemas.microsoft.com/office/drawing/2014/main" val="1097336017"/>
                        </a:ext>
                      </a:extLst>
                    </a:gridCol>
                    <a:gridCol w="3384044">
                      <a:extLst>
                        <a:ext uri="{9D8B030D-6E8A-4147-A177-3AD203B41FA5}">
                          <a16:colId xmlns:a16="http://schemas.microsoft.com/office/drawing/2014/main" val="3465043989"/>
                        </a:ext>
                      </a:extLst>
                    </a:gridCol>
                  </a:tblGrid>
                  <a:tr h="220435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20" t="-275" r="-358824" b="-5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0743" t="-275" r="-188514" b="-5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6223" t="-275" r="-360" b="-551"/>
                          </a:stretch>
                        </a:blipFill>
                      </a:tcPr>
                    </a:tc>
                    <a:extLst>
                      <a:ext uri="{0D108BD9-81ED-4DB2-BD59-A6C34878D82A}">
                        <a16:rowId xmlns:a16="http://schemas.microsoft.com/office/drawing/2014/main" val="756478195"/>
                      </a:ext>
                    </a:extLst>
                  </a:tr>
                </a:tbl>
              </a:graphicData>
            </a:graphic>
          </p:graphicFrame>
        </mc:Fallback>
      </mc:AlternateContent>
    </p:spTree>
    <p:extLst>
      <p:ext uri="{BB962C8B-B14F-4D97-AF65-F5344CB8AC3E}">
        <p14:creationId xmlns:p14="http://schemas.microsoft.com/office/powerpoint/2010/main" val="42161468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5BFEE-DDB6-7E97-62FD-AAA5C7B245CA}"/>
            </a:ext>
          </a:extLst>
        </p:cNvPr>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023C1AAC-8378-98F3-6A5C-0DF351E58EBA}"/>
              </a:ext>
            </a:extLst>
          </p:cNvPr>
          <p:cNvSpPr>
            <a:spLocks noGrp="1"/>
          </p:cNvSpPr>
          <p:nvPr>
            <p:ph type="sldNum" sz="quarter" idx="12"/>
          </p:nvPr>
        </p:nvSpPr>
        <p:spPr>
          <a:xfrm>
            <a:off x="5309271" y="9548817"/>
            <a:ext cx="1543050" cy="527403"/>
          </a:xfrm>
        </p:spPr>
        <p:txBody>
          <a:bodyPr/>
          <a:lstStyle/>
          <a:p>
            <a:fld id="{19F1D9CC-7119-45EC-A96C-D8C0660F3AAB}" type="slidenum">
              <a:rPr lang="en-GB" noProof="0" smtClean="0">
                <a:solidFill>
                  <a:schemeClr val="bg1"/>
                </a:solidFill>
              </a:rPr>
              <a:t>76</a:t>
            </a:fld>
            <a:endParaRPr lang="en-GB" noProof="0" dirty="0">
              <a:solidFill>
                <a:schemeClr val="bg1"/>
              </a:solidFill>
            </a:endParaRPr>
          </a:p>
        </p:txBody>
      </p:sp>
      <p:sp>
        <p:nvSpPr>
          <p:cNvPr id="26" name="TextBox 25">
            <a:extLst>
              <a:ext uri="{FF2B5EF4-FFF2-40B4-BE49-F238E27FC236}">
                <a16:creationId xmlns:a16="http://schemas.microsoft.com/office/drawing/2014/main" id="{B41107AA-CC7B-97DE-1B4B-DA832C946506}"/>
              </a:ext>
            </a:extLst>
          </p:cNvPr>
          <p:cNvSpPr txBox="1"/>
          <p:nvPr/>
        </p:nvSpPr>
        <p:spPr>
          <a:xfrm>
            <a:off x="0" y="0"/>
            <a:ext cx="3105467" cy="276999"/>
          </a:xfrm>
          <a:prstGeom prst="rect">
            <a:avLst/>
          </a:prstGeom>
          <a:solidFill>
            <a:srgbClr val="0070C0"/>
          </a:solidFill>
        </p:spPr>
        <p:txBody>
          <a:bodyPr wrap="none" rtlCol="0" anchor="ctr">
            <a:spAutoFit/>
          </a:bodyPr>
          <a:lstStyle/>
          <a:p>
            <a:pPr algn="ctr"/>
            <a:r>
              <a:rPr lang="en-GB" sz="1200" b="1" noProof="0" dirty="0">
                <a:solidFill>
                  <a:schemeClr val="bg1"/>
                </a:solidFill>
              </a:rPr>
              <a:t>ALGEBRAIC PROOF: PRINCIPLES OF NOTATION</a:t>
            </a:r>
          </a:p>
        </p:txBody>
      </p:sp>
      <p:sp>
        <p:nvSpPr>
          <p:cNvPr id="21" name="Slide Number Placeholder 16">
            <a:extLst>
              <a:ext uri="{FF2B5EF4-FFF2-40B4-BE49-F238E27FC236}">
                <a16:creationId xmlns:a16="http://schemas.microsoft.com/office/drawing/2014/main" id="{CC151D64-4E5C-BDB0-351E-4550737FBFB4}"/>
              </a:ext>
            </a:extLst>
          </p:cNvPr>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76</a:t>
            </a:fld>
            <a:endParaRPr lang="en-GB" noProof="0" dirty="0"/>
          </a:p>
        </p:txBody>
      </p:sp>
      <p:cxnSp>
        <p:nvCxnSpPr>
          <p:cNvPr id="22" name="Straight Connector 21">
            <a:extLst>
              <a:ext uri="{FF2B5EF4-FFF2-40B4-BE49-F238E27FC236}">
                <a16:creationId xmlns:a16="http://schemas.microsoft.com/office/drawing/2014/main" id="{EFECC7B6-1A08-F47B-659E-F9A70E074E75}"/>
              </a:ext>
            </a:extLst>
          </p:cNvPr>
          <p:cNvCxnSpPr/>
          <p:nvPr/>
        </p:nvCxnSpPr>
        <p:spPr>
          <a:xfrm flipV="1">
            <a:off x="8181122" y="426883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CB5C65E-4549-B883-C00C-7505A49CBF2B}"/>
              </a:ext>
            </a:extLst>
          </p:cNvPr>
          <p:cNvSpPr/>
          <p:nvPr/>
        </p:nvSpPr>
        <p:spPr>
          <a:xfrm>
            <a:off x="7326442" y="2508490"/>
            <a:ext cx="6643204" cy="23212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24" name="Straight Connector 23">
            <a:extLst>
              <a:ext uri="{FF2B5EF4-FFF2-40B4-BE49-F238E27FC236}">
                <a16:creationId xmlns:a16="http://schemas.microsoft.com/office/drawing/2014/main" id="{E00DF9A8-5AF5-DD8B-5E4B-A69E6837A1DE}"/>
              </a:ext>
            </a:extLst>
          </p:cNvPr>
          <p:cNvCxnSpPr/>
          <p:nvPr/>
        </p:nvCxnSpPr>
        <p:spPr>
          <a:xfrm flipV="1">
            <a:off x="7332812" y="3571869"/>
            <a:ext cx="6632615" cy="40322"/>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2160A77D-47C5-B20E-EFBA-EF692F58AE53}"/>
              </a:ext>
            </a:extLst>
          </p:cNvPr>
          <p:cNvCxnSpPr>
            <a:stCxn id="23" idx="2"/>
            <a:endCxn id="23" idx="0"/>
          </p:cNvCxnSpPr>
          <p:nvPr/>
        </p:nvCxnSpPr>
        <p:spPr>
          <a:xfrm flipV="1">
            <a:off x="10648044" y="2508490"/>
            <a:ext cx="0" cy="2321252"/>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75882DBF-5E9A-DC92-7F6D-CCEBAC49636E}"/>
              </a:ext>
            </a:extLst>
          </p:cNvPr>
          <p:cNvSpPr txBox="1"/>
          <p:nvPr/>
        </p:nvSpPr>
        <p:spPr>
          <a:xfrm>
            <a:off x="7344196" y="2499112"/>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29" name="TextBox 28">
            <a:extLst>
              <a:ext uri="{FF2B5EF4-FFF2-40B4-BE49-F238E27FC236}">
                <a16:creationId xmlns:a16="http://schemas.microsoft.com/office/drawing/2014/main" id="{925D0E25-09DC-74A3-80B5-8C1B1E955DC2}"/>
              </a:ext>
            </a:extLst>
          </p:cNvPr>
          <p:cNvSpPr txBox="1"/>
          <p:nvPr/>
        </p:nvSpPr>
        <p:spPr>
          <a:xfrm>
            <a:off x="12868247" y="2466726"/>
            <a:ext cx="1112228" cy="276999"/>
          </a:xfrm>
          <a:prstGeom prst="rect">
            <a:avLst/>
          </a:prstGeom>
          <a:noFill/>
        </p:spPr>
        <p:txBody>
          <a:bodyPr wrap="none" rtlCol="0">
            <a:spAutoFit/>
          </a:bodyPr>
          <a:lstStyle/>
          <a:p>
            <a:r>
              <a:rPr lang="en-GB" sz="1200" b="1" noProof="0" dirty="0"/>
              <a:t>Characteristics</a:t>
            </a:r>
          </a:p>
        </p:txBody>
      </p:sp>
      <p:sp>
        <p:nvSpPr>
          <p:cNvPr id="30" name="TextBox 29">
            <a:extLst>
              <a:ext uri="{FF2B5EF4-FFF2-40B4-BE49-F238E27FC236}">
                <a16:creationId xmlns:a16="http://schemas.microsoft.com/office/drawing/2014/main" id="{528EC95B-7C7C-1082-CA31-44ACF5D4CBEA}"/>
              </a:ext>
            </a:extLst>
          </p:cNvPr>
          <p:cNvSpPr txBox="1"/>
          <p:nvPr/>
        </p:nvSpPr>
        <p:spPr>
          <a:xfrm>
            <a:off x="7359343" y="3596250"/>
            <a:ext cx="788164" cy="276999"/>
          </a:xfrm>
          <a:prstGeom prst="rect">
            <a:avLst/>
          </a:prstGeom>
          <a:noFill/>
        </p:spPr>
        <p:txBody>
          <a:bodyPr wrap="none" rtlCol="0">
            <a:spAutoFit/>
          </a:bodyPr>
          <a:lstStyle/>
          <a:p>
            <a:r>
              <a:rPr lang="en-GB" sz="1200" b="1" noProof="0" dirty="0"/>
              <a:t>Examples</a:t>
            </a:r>
          </a:p>
        </p:txBody>
      </p:sp>
      <p:sp>
        <p:nvSpPr>
          <p:cNvPr id="31" name="TextBox 30">
            <a:extLst>
              <a:ext uri="{FF2B5EF4-FFF2-40B4-BE49-F238E27FC236}">
                <a16:creationId xmlns:a16="http://schemas.microsoft.com/office/drawing/2014/main" id="{9700E8D7-436B-DF7B-F3F0-450725C67481}"/>
              </a:ext>
            </a:extLst>
          </p:cNvPr>
          <p:cNvSpPr txBox="1"/>
          <p:nvPr/>
        </p:nvSpPr>
        <p:spPr>
          <a:xfrm>
            <a:off x="12796760" y="3571869"/>
            <a:ext cx="1172885" cy="276999"/>
          </a:xfrm>
          <a:prstGeom prst="rect">
            <a:avLst/>
          </a:prstGeom>
          <a:noFill/>
        </p:spPr>
        <p:txBody>
          <a:bodyPr wrap="none" rtlCol="0">
            <a:spAutoFit/>
          </a:bodyPr>
          <a:lstStyle/>
          <a:p>
            <a:r>
              <a:rPr lang="en-GB" sz="1200" b="1" noProof="0" dirty="0"/>
              <a:t>Non - Examples</a:t>
            </a:r>
          </a:p>
        </p:txBody>
      </p:sp>
      <p:sp>
        <p:nvSpPr>
          <p:cNvPr id="32" name="TextBox 31">
            <a:extLst>
              <a:ext uri="{FF2B5EF4-FFF2-40B4-BE49-F238E27FC236}">
                <a16:creationId xmlns:a16="http://schemas.microsoft.com/office/drawing/2014/main" id="{E48A0392-5024-1BE2-64E5-832EDC6E95AA}"/>
              </a:ext>
            </a:extLst>
          </p:cNvPr>
          <p:cNvSpPr txBox="1"/>
          <p:nvPr/>
        </p:nvSpPr>
        <p:spPr>
          <a:xfrm>
            <a:off x="7364975" y="2740169"/>
            <a:ext cx="3230335" cy="646331"/>
          </a:xfrm>
          <a:prstGeom prst="rect">
            <a:avLst/>
          </a:prstGeom>
          <a:noFill/>
        </p:spPr>
        <p:txBody>
          <a:bodyPr wrap="square" rtlCol="0">
            <a:spAutoFit/>
          </a:bodyPr>
          <a:lstStyle/>
          <a:p>
            <a:r>
              <a:rPr lang="en-GB" sz="1200" noProof="0" dirty="0"/>
              <a:t>A structured argument that follows a sequence of logical steps using facts and theorems to prove if a mathematical statement is true.</a:t>
            </a:r>
            <a:endParaRPr lang="en-GB" sz="600" noProof="0" dirty="0"/>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9CEC90F-0021-4DE2-E22E-4C3D23220366}"/>
                  </a:ext>
                </a:extLst>
              </p:cNvPr>
              <p:cNvSpPr txBox="1"/>
              <p:nvPr/>
            </p:nvSpPr>
            <p:spPr>
              <a:xfrm>
                <a:off x="10739310" y="2690130"/>
                <a:ext cx="3230335" cy="600164"/>
              </a:xfrm>
              <a:prstGeom prst="rect">
                <a:avLst/>
              </a:prstGeom>
              <a:noFill/>
            </p:spPr>
            <p:txBody>
              <a:bodyPr wrap="square" rtlCol="0">
                <a:spAutoFit/>
              </a:bodyPr>
              <a:lstStyle/>
              <a:p>
                <a:r>
                  <a:rPr lang="en-GB" sz="1100" noProof="0" dirty="0"/>
                  <a:t>For algebraic proof we perform proof by induction, this means it is true for </a:t>
                </a:r>
                <a:r>
                  <a:rPr lang="en-GB" sz="1100" b="1" noProof="0" dirty="0"/>
                  <a:t>any value. </a:t>
                </a:r>
              </a:p>
              <a:p>
                <a:r>
                  <a:rPr lang="en-GB" sz="1100" noProof="0" dirty="0"/>
                  <a:t>We tend to use </a:t>
                </a:r>
                <a14:m>
                  <m:oMath xmlns:m="http://schemas.openxmlformats.org/officeDocument/2006/math">
                    <m:r>
                      <a:rPr lang="en-GB" sz="1100" b="0" i="1" noProof="0" smtClean="0">
                        <a:latin typeface="Cambria Math" panose="02040503050406030204" pitchFamily="18" charset="0"/>
                      </a:rPr>
                      <m:t>𝑛</m:t>
                    </m:r>
                  </m:oMath>
                </a14:m>
                <a:r>
                  <a:rPr lang="en-GB" sz="1100" noProof="0" dirty="0"/>
                  <a:t> to denote </a:t>
                </a:r>
                <a:r>
                  <a:rPr lang="en-GB" sz="1100" b="1" noProof="0" dirty="0"/>
                  <a:t>any value. </a:t>
                </a:r>
              </a:p>
            </p:txBody>
          </p:sp>
        </mc:Choice>
        <mc:Fallback xmlns="">
          <p:sp>
            <p:nvSpPr>
              <p:cNvPr id="33" name="TextBox 32">
                <a:extLst>
                  <a:ext uri="{FF2B5EF4-FFF2-40B4-BE49-F238E27FC236}">
                    <a16:creationId xmlns:a16="http://schemas.microsoft.com/office/drawing/2014/main" id="{F9CEC90F-0021-4DE2-E22E-4C3D23220366}"/>
                  </a:ext>
                </a:extLst>
              </p:cNvPr>
              <p:cNvSpPr txBox="1">
                <a:spLocks noRot="1" noChangeAspect="1" noMove="1" noResize="1" noEditPoints="1" noAdjustHandles="1" noChangeArrowheads="1" noChangeShapeType="1" noTextEdit="1"/>
              </p:cNvSpPr>
              <p:nvPr/>
            </p:nvSpPr>
            <p:spPr>
              <a:xfrm>
                <a:off x="10739310" y="2690130"/>
                <a:ext cx="3230335" cy="600164"/>
              </a:xfrm>
              <a:prstGeom prst="rect">
                <a:avLst/>
              </a:prstGeom>
              <a:blipFill>
                <a:blip r:embed="rId3"/>
                <a:stretch>
                  <a:fillRect t="-1010" b="-6061"/>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213B43DF-2FE4-CB1A-4088-B86FED49DF35}"/>
              </a:ext>
            </a:extLst>
          </p:cNvPr>
          <p:cNvSpPr txBox="1"/>
          <p:nvPr/>
        </p:nvSpPr>
        <p:spPr>
          <a:xfrm>
            <a:off x="10301096" y="3465729"/>
            <a:ext cx="693908" cy="369332"/>
          </a:xfrm>
          <a:prstGeom prst="rect">
            <a:avLst/>
          </a:prstGeom>
          <a:solidFill>
            <a:schemeClr val="bg1"/>
          </a:solidFill>
          <a:ln>
            <a:solidFill>
              <a:schemeClr val="tx1"/>
            </a:solidFill>
          </a:ln>
        </p:spPr>
        <p:txBody>
          <a:bodyPr wrap="none" rtlCol="0">
            <a:spAutoFit/>
          </a:bodyPr>
          <a:lstStyle/>
          <a:p>
            <a:r>
              <a:rPr lang="en-GB" noProof="0" dirty="0"/>
              <a:t>Proof</a:t>
            </a:r>
          </a:p>
        </p:txBody>
      </p:sp>
      <p:sp>
        <p:nvSpPr>
          <p:cNvPr id="35" name="Rectangle 34">
            <a:extLst>
              <a:ext uri="{FF2B5EF4-FFF2-40B4-BE49-F238E27FC236}">
                <a16:creationId xmlns:a16="http://schemas.microsoft.com/office/drawing/2014/main" id="{34AFEAAD-2C70-4D29-4DB4-60DCDF4F9255}"/>
              </a:ext>
            </a:extLst>
          </p:cNvPr>
          <p:cNvSpPr/>
          <p:nvPr/>
        </p:nvSpPr>
        <p:spPr>
          <a:xfrm>
            <a:off x="7359343" y="3862441"/>
            <a:ext cx="3273285" cy="830997"/>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2n + 1 + 2n + 3 = 4n + 4 = 4(n + 1)</a:t>
            </a:r>
          </a:p>
        </p:txBody>
      </p: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F1F628D3-D920-B80D-C427-FDA6A0D205C4}"/>
                  </a:ext>
                </a:extLst>
              </p:cNvPr>
              <p:cNvSpPr/>
              <p:nvPr/>
            </p:nvSpPr>
            <p:spPr>
              <a:xfrm>
                <a:off x="10652804" y="3820501"/>
                <a:ext cx="3273285" cy="1015663"/>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3 + 5 = 8   8 </a:t>
                </a:r>
                <a14:m>
                  <m:oMath xmlns:m="http://schemas.openxmlformats.org/officeDocument/2006/math">
                    <m:r>
                      <a:rPr lang="en-GB" sz="1200" i="1" noProof="0" smtClean="0">
                        <a:latin typeface="Cambria Math" panose="02040503050406030204" pitchFamily="18" charset="0"/>
                        <a:ea typeface="Cambria Math" panose="02040503050406030204" pitchFamily="18" charset="0"/>
                      </a:rPr>
                      <m:t>÷</m:t>
                    </m:r>
                  </m:oMath>
                </a14:m>
                <a:r>
                  <a:rPr lang="en-GB" sz="1200" noProof="0" dirty="0"/>
                  <a:t> 4 = 2 so it is proved. (Why is this incorrect?</a:t>
                </a:r>
              </a:p>
            </p:txBody>
          </p:sp>
        </mc:Choice>
        <mc:Fallback xmlns="">
          <p:sp>
            <p:nvSpPr>
              <p:cNvPr id="41" name="Rectangle 40">
                <a:extLst>
                  <a:ext uri="{FF2B5EF4-FFF2-40B4-BE49-F238E27FC236}">
                    <a16:creationId xmlns:a16="http://schemas.microsoft.com/office/drawing/2014/main" id="{F1F628D3-D920-B80D-C427-FDA6A0D205C4}"/>
                  </a:ext>
                </a:extLst>
              </p:cNvPr>
              <p:cNvSpPr>
                <a:spLocks noRot="1" noChangeAspect="1" noMove="1" noResize="1" noEditPoints="1" noAdjustHandles="1" noChangeArrowheads="1" noChangeShapeType="1" noTextEdit="1"/>
              </p:cNvSpPr>
              <p:nvPr/>
            </p:nvSpPr>
            <p:spPr>
              <a:xfrm>
                <a:off x="10652804" y="3820501"/>
                <a:ext cx="3273285" cy="1015663"/>
              </a:xfrm>
              <a:prstGeom prst="rect">
                <a:avLst/>
              </a:prstGeom>
              <a:blipFill>
                <a:blip r:embed="rId4"/>
                <a:stretch>
                  <a:fillRect l="-187" t="-602" b="-4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BACA989-F4F8-201F-8594-C7D7F4A458CD}"/>
                  </a:ext>
                </a:extLst>
              </p:cNvPr>
              <p:cNvSpPr txBox="1"/>
              <p:nvPr/>
            </p:nvSpPr>
            <p:spPr>
              <a:xfrm>
                <a:off x="107398" y="371082"/>
                <a:ext cx="6643204" cy="3231654"/>
              </a:xfrm>
              <a:prstGeom prst="rect">
                <a:avLst/>
              </a:prstGeom>
              <a:noFill/>
              <a:ln>
                <a:solidFill>
                  <a:schemeClr val="tx1"/>
                </a:solidFill>
              </a:ln>
            </p:spPr>
            <p:txBody>
              <a:bodyPr wrap="square" rtlCol="0">
                <a:spAutoFit/>
              </a:bodyPr>
              <a:lstStyle/>
              <a:p>
                <a:r>
                  <a:rPr lang="en-GB" sz="1200" noProof="0" dirty="0"/>
                  <a:t>To become adept at writing and forming mathematical proofs you need to first understand the basic principles that all mathematicians will use:</a:t>
                </a:r>
              </a:p>
              <a:p>
                <a:endParaRPr lang="en-GB" sz="1200" noProof="0" dirty="0"/>
              </a:p>
              <a:p>
                <a:pPr marL="171450" indent="-171450">
                  <a:buFont typeface="Arial" panose="020B0604020202020204" pitchFamily="34" charset="0"/>
                  <a:buChar char="•"/>
                </a:pPr>
                <a:r>
                  <a:rPr lang="en-GB" sz="1200" noProof="0" dirty="0"/>
                  <a:t>Any integer will be denoted by the variable</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𝑛</m:t>
                    </m:r>
                  </m:oMath>
                </a14:m>
                <a:r>
                  <a:rPr lang="en-GB" sz="1200" noProof="0" dirty="0"/>
                  <a:t>.</a:t>
                </a:r>
              </a:p>
              <a:p>
                <a:pPr marL="171450" indent="-171450">
                  <a:buFont typeface="Arial" panose="020B0604020202020204" pitchFamily="34" charset="0"/>
                  <a:buChar char="•"/>
                </a:pPr>
                <a:r>
                  <a:rPr lang="en-GB" sz="1200" noProof="0" dirty="0"/>
                  <a:t>Any integer multiplied by 2 becomes an even number, therefore we use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oMath>
                </a14:m>
                <a:r>
                  <a:rPr lang="en-GB" sz="1200" noProof="0" dirty="0"/>
                  <a:t> to represent any even number. If you are asked about “any two even numbers” then use </a:t>
                </a:r>
                <a14:m>
                  <m:oMath xmlns:m="http://schemas.openxmlformats.org/officeDocument/2006/math">
                    <m:r>
                      <a:rPr lang="en-GB" sz="1200" b="0" i="1" noProof="0" smtClean="0">
                        <a:latin typeface="Cambria Math" panose="02040503050406030204" pitchFamily="18" charset="0"/>
                      </a:rPr>
                      <m:t>2</m:t>
                    </m:r>
                    <m:r>
                      <a:rPr lang="en-GB" sz="1200" b="0" i="1" noProof="0" smtClean="0">
                        <a:latin typeface="Cambria Math" panose="02040503050406030204" pitchFamily="18" charset="0"/>
                      </a:rPr>
                      <m:t>𝑛</m:t>
                    </m:r>
                    <m:r>
                      <a:rPr lang="en-GB" sz="1200" b="0" i="1" noProof="0" smtClean="0">
                        <a:latin typeface="Cambria Math" panose="02040503050406030204" pitchFamily="18" charset="0"/>
                      </a:rPr>
                      <m:t> </m:t>
                    </m:r>
                  </m:oMath>
                </a14:m>
                <a:r>
                  <a:rPr lang="en-GB" sz="1200" noProof="0" dirty="0"/>
                  <a:t>and </a:t>
                </a:r>
                <a14:m>
                  <m:oMath xmlns:m="http://schemas.openxmlformats.org/officeDocument/2006/math">
                    <m:r>
                      <a:rPr lang="en-GB" sz="1200" b="0" i="1" noProof="0" smtClean="0">
                        <a:latin typeface="Cambria Math" panose="02040503050406030204" pitchFamily="18" charset="0"/>
                      </a:rPr>
                      <m:t>2</m:t>
                    </m:r>
                    <m:r>
                      <a:rPr lang="en-GB" sz="1200" b="0" i="1" noProof="0" smtClean="0">
                        <a:latin typeface="Cambria Math" panose="02040503050406030204" pitchFamily="18" charset="0"/>
                      </a:rPr>
                      <m:t>𝑚</m:t>
                    </m:r>
                  </m:oMath>
                </a14:m>
                <a:endParaRPr lang="en-GB" sz="1200" noProof="0" dirty="0"/>
              </a:p>
              <a:p>
                <a:pPr marL="171450" indent="-171450">
                  <a:buFont typeface="Arial" panose="020B0604020202020204" pitchFamily="34" charset="0"/>
                  <a:buChar char="•"/>
                </a:pPr>
                <a:r>
                  <a:rPr lang="en-GB" sz="1200" noProof="0" dirty="0"/>
                  <a:t>One more or less than any even number is an odd number, therefore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r>
                      <a:rPr lang="en-GB" sz="1200" i="1" noProof="0">
                        <a:latin typeface="Cambria Math" panose="02040503050406030204" pitchFamily="18" charset="0"/>
                      </a:rPr>
                      <m:t>±1 </m:t>
                    </m:r>
                  </m:oMath>
                </a14:m>
                <a:r>
                  <a:rPr lang="en-GB" sz="1200" noProof="0" dirty="0"/>
                  <a:t>represents any odd number. A ‘different’ odd number could then be </a:t>
                </a:r>
                <a14:m>
                  <m:oMath xmlns:m="http://schemas.openxmlformats.org/officeDocument/2006/math">
                    <m:r>
                      <a:rPr lang="en-GB" sz="1200" b="0" i="1" noProof="0" smtClean="0">
                        <a:latin typeface="Cambria Math" panose="02040503050406030204" pitchFamily="18" charset="0"/>
                      </a:rPr>
                      <m:t>2</m:t>
                    </m:r>
                    <m:r>
                      <a:rPr lang="en-GB" sz="1200" b="0" i="1" noProof="0" smtClean="0">
                        <a:latin typeface="Cambria Math" panose="02040503050406030204" pitchFamily="18" charset="0"/>
                      </a:rPr>
                      <m:t>𝑚</m:t>
                    </m:r>
                    <m:r>
                      <a:rPr lang="en-GB" sz="1200" b="0" i="1" noProof="0" smtClean="0">
                        <a:latin typeface="Cambria Math" panose="02040503050406030204" pitchFamily="18" charset="0"/>
                      </a:rPr>
                      <m:t>+1</m:t>
                    </m:r>
                  </m:oMath>
                </a14:m>
                <a:endParaRPr lang="en-GB" sz="1200" noProof="0" dirty="0"/>
              </a:p>
              <a:p>
                <a:pPr marL="171450" indent="-171450">
                  <a:buFont typeface="Arial" panose="020B0604020202020204" pitchFamily="34" charset="0"/>
                  <a:buChar char="•"/>
                </a:pPr>
                <a:r>
                  <a:rPr lang="en-GB" sz="1200" noProof="0" dirty="0"/>
                  <a:t>If </a:t>
                </a:r>
                <a14:m>
                  <m:oMath xmlns:m="http://schemas.openxmlformats.org/officeDocument/2006/math">
                    <m:r>
                      <a:rPr lang="en-GB" sz="1200" i="1" noProof="0">
                        <a:latin typeface="Cambria Math" panose="02040503050406030204" pitchFamily="18" charset="0"/>
                      </a:rPr>
                      <m:t>𝑛</m:t>
                    </m:r>
                  </m:oMath>
                </a14:m>
                <a:r>
                  <a:rPr lang="en-GB" sz="1200" noProof="0" dirty="0"/>
                  <a:t> is used to denote any integer then a series of consecutive integers would be </a:t>
                </a:r>
                <a14:m>
                  <m:oMath xmlns:m="http://schemas.openxmlformats.org/officeDocument/2006/math">
                    <m:r>
                      <a:rPr lang="en-GB" sz="1200" i="1" noProof="0">
                        <a:latin typeface="Cambria Math" panose="02040503050406030204" pitchFamily="18" charset="0"/>
                      </a:rPr>
                      <m:t>𝑛</m:t>
                    </m:r>
                    <m:r>
                      <a:rPr lang="en-GB" sz="1200" i="1" noProof="0">
                        <a:latin typeface="Cambria Math" panose="02040503050406030204" pitchFamily="18" charset="0"/>
                      </a:rPr>
                      <m:t>−1,</m:t>
                    </m:r>
                    <m:r>
                      <a:rPr lang="en-GB" sz="1200" i="1" noProof="0">
                        <a:latin typeface="Cambria Math" panose="02040503050406030204" pitchFamily="18" charset="0"/>
                      </a:rPr>
                      <m:t>𝑛</m:t>
                    </m:r>
                    <m:r>
                      <a:rPr lang="en-GB" sz="1200" i="1" noProof="0">
                        <a:latin typeface="Cambria Math" panose="02040503050406030204" pitchFamily="18" charset="0"/>
                      </a:rPr>
                      <m:t>,</m:t>
                    </m:r>
                    <m:r>
                      <a:rPr lang="en-GB" sz="1200" i="1" noProof="0">
                        <a:latin typeface="Cambria Math" panose="02040503050406030204" pitchFamily="18" charset="0"/>
                      </a:rPr>
                      <m:t>𝑛</m:t>
                    </m:r>
                    <m:r>
                      <a:rPr lang="en-GB" sz="1200" i="1" noProof="0">
                        <a:latin typeface="Cambria Math" panose="02040503050406030204" pitchFamily="18" charset="0"/>
                      </a:rPr>
                      <m:t>+1,</m:t>
                    </m:r>
                    <m:r>
                      <a:rPr lang="en-GB" sz="1200" i="1" noProof="0">
                        <a:latin typeface="Cambria Math" panose="02040503050406030204" pitchFamily="18" charset="0"/>
                      </a:rPr>
                      <m:t>𝑛</m:t>
                    </m:r>
                    <m:r>
                      <a:rPr lang="en-GB" sz="1200" i="1" noProof="0">
                        <a:latin typeface="Cambria Math" panose="02040503050406030204" pitchFamily="18" charset="0"/>
                      </a:rPr>
                      <m:t>+2,</m:t>
                    </m:r>
                    <m:r>
                      <a:rPr lang="en-GB" sz="1200" i="1" noProof="0">
                        <a:latin typeface="Cambria Math" panose="02040503050406030204" pitchFamily="18" charset="0"/>
                      </a:rPr>
                      <m:t>𝑛</m:t>
                    </m:r>
                    <m:r>
                      <a:rPr lang="en-GB" sz="1200" i="1" noProof="0">
                        <a:latin typeface="Cambria Math" panose="02040503050406030204" pitchFamily="18" charset="0"/>
                      </a:rPr>
                      <m:t>+3,…</m:t>
                    </m:r>
                  </m:oMath>
                </a14:m>
                <a:endParaRPr lang="en-GB" sz="1200" noProof="0" dirty="0"/>
              </a:p>
              <a:p>
                <a:pPr marL="171450" indent="-171450">
                  <a:buFont typeface="Arial" panose="020B0604020202020204" pitchFamily="34" charset="0"/>
                  <a:buChar char="•"/>
                </a:pPr>
                <a:r>
                  <a:rPr lang="en-GB" sz="1200" noProof="0" dirty="0"/>
                  <a:t>If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oMath>
                </a14:m>
                <a:r>
                  <a:rPr lang="en-GB" sz="1200" noProof="0" dirty="0"/>
                  <a:t> is used to denote any even number then a series of consecutive even integers would be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r>
                      <a:rPr lang="en-GB" sz="1200" i="1" noProof="0">
                        <a:latin typeface="Cambria Math" panose="02040503050406030204" pitchFamily="18" charset="0"/>
                      </a:rPr>
                      <m:t>−2,   2</m:t>
                    </m:r>
                    <m:r>
                      <a:rPr lang="en-GB" sz="1200" i="1" noProof="0">
                        <a:latin typeface="Cambria Math" panose="02040503050406030204" pitchFamily="18" charset="0"/>
                      </a:rPr>
                      <m:t>𝑛</m:t>
                    </m:r>
                    <m:r>
                      <a:rPr lang="en-GB" sz="1200" i="1" noProof="0">
                        <a:latin typeface="Cambria Math" panose="02040503050406030204" pitchFamily="18" charset="0"/>
                      </a:rPr>
                      <m:t>,  2</m:t>
                    </m:r>
                    <m:r>
                      <a:rPr lang="en-GB" sz="1200" i="1" noProof="0">
                        <a:latin typeface="Cambria Math" panose="02040503050406030204" pitchFamily="18" charset="0"/>
                      </a:rPr>
                      <m:t>𝑛</m:t>
                    </m:r>
                    <m:r>
                      <a:rPr lang="en-GB" sz="1200" i="1" noProof="0">
                        <a:latin typeface="Cambria Math" panose="02040503050406030204" pitchFamily="18" charset="0"/>
                      </a:rPr>
                      <m:t>+2,  2</m:t>
                    </m:r>
                    <m:r>
                      <a:rPr lang="en-GB" sz="1200" i="1" noProof="0">
                        <a:latin typeface="Cambria Math" panose="02040503050406030204" pitchFamily="18" charset="0"/>
                      </a:rPr>
                      <m:t>𝑛</m:t>
                    </m:r>
                    <m:r>
                      <a:rPr lang="en-GB" sz="1200" i="1" noProof="0">
                        <a:latin typeface="Cambria Math" panose="02040503050406030204" pitchFamily="18" charset="0"/>
                      </a:rPr>
                      <m:t>+2,…</m:t>
                    </m:r>
                  </m:oMath>
                </a14:m>
                <a:endParaRPr lang="en-GB" sz="1200" noProof="0" dirty="0"/>
              </a:p>
              <a:p>
                <a:pPr marL="171450" indent="-171450">
                  <a:buFont typeface="Arial" panose="020B0604020202020204" pitchFamily="34" charset="0"/>
                  <a:buChar char="•"/>
                </a:pPr>
                <a:r>
                  <a:rPr lang="en-GB" sz="1200" noProof="0" dirty="0"/>
                  <a:t>If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r>
                      <a:rPr lang="en-GB" sz="1200" i="1" noProof="0">
                        <a:latin typeface="Cambria Math" panose="02040503050406030204" pitchFamily="18" charset="0"/>
                      </a:rPr>
                      <m:t>+1</m:t>
                    </m:r>
                  </m:oMath>
                </a14:m>
                <a:r>
                  <a:rPr lang="en-GB" sz="1200" noProof="0" dirty="0"/>
                  <a:t> is used to denote any odd number then a series of consecutive odd integers would be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r>
                      <a:rPr lang="en-GB" sz="1200" i="1" noProof="0">
                        <a:latin typeface="Cambria Math" panose="02040503050406030204" pitchFamily="18" charset="0"/>
                      </a:rPr>
                      <m:t>−1, 2</m:t>
                    </m:r>
                    <m:r>
                      <a:rPr lang="en-GB" sz="1200" i="1" noProof="0">
                        <a:latin typeface="Cambria Math" panose="02040503050406030204" pitchFamily="18" charset="0"/>
                      </a:rPr>
                      <m:t>𝑛</m:t>
                    </m:r>
                    <m:r>
                      <a:rPr lang="en-GB" sz="1200" i="1" noProof="0">
                        <a:latin typeface="Cambria Math" panose="02040503050406030204" pitchFamily="18" charset="0"/>
                      </a:rPr>
                      <m:t>+1,  2</m:t>
                    </m:r>
                    <m:r>
                      <a:rPr lang="en-GB" sz="1200" i="1" noProof="0">
                        <a:latin typeface="Cambria Math" panose="02040503050406030204" pitchFamily="18" charset="0"/>
                      </a:rPr>
                      <m:t>𝑛</m:t>
                    </m:r>
                    <m:r>
                      <a:rPr lang="en-GB" sz="1200" i="1" noProof="0">
                        <a:latin typeface="Cambria Math" panose="02040503050406030204" pitchFamily="18" charset="0"/>
                      </a:rPr>
                      <m:t>+3,…</m:t>
                    </m:r>
                  </m:oMath>
                </a14:m>
                <a:endParaRPr lang="en-GB" sz="1200" noProof="0" dirty="0"/>
              </a:p>
              <a:p>
                <a:pPr marL="171450" indent="-171450">
                  <a:buFont typeface="Arial" panose="020B0604020202020204" pitchFamily="34" charset="0"/>
                  <a:buChar char="•"/>
                </a:pPr>
                <a:endParaRPr lang="en-GB" sz="1200" noProof="0" dirty="0"/>
              </a:p>
              <a:p>
                <a:r>
                  <a:rPr lang="en-GB" sz="1200" noProof="0" dirty="0"/>
                  <a:t>It follows from the above that if you can factorise a “2” out of an algebraic expression, then you have shown that the original expression was even. This can be seen in some of the examples below:</a:t>
                </a:r>
              </a:p>
            </p:txBody>
          </p:sp>
        </mc:Choice>
        <mc:Fallback xmlns="">
          <p:sp>
            <p:nvSpPr>
              <p:cNvPr id="2" name="TextBox 1">
                <a:extLst>
                  <a:ext uri="{FF2B5EF4-FFF2-40B4-BE49-F238E27FC236}">
                    <a16:creationId xmlns:a16="http://schemas.microsoft.com/office/drawing/2014/main" id="{3BACA989-F4F8-201F-8594-C7D7F4A458CD}"/>
                  </a:ext>
                </a:extLst>
              </p:cNvPr>
              <p:cNvSpPr txBox="1">
                <a:spLocks noRot="1" noChangeAspect="1" noMove="1" noResize="1" noEditPoints="1" noAdjustHandles="1" noChangeArrowheads="1" noChangeShapeType="1" noTextEdit="1"/>
              </p:cNvSpPr>
              <p:nvPr/>
            </p:nvSpPr>
            <p:spPr>
              <a:xfrm>
                <a:off x="107398" y="371082"/>
                <a:ext cx="6643204" cy="3231654"/>
              </a:xfrm>
              <a:prstGeom prst="rect">
                <a:avLst/>
              </a:prstGeom>
              <a:blipFill>
                <a:blip r:embed="rId5"/>
                <a:stretch>
                  <a:fillRect b="-376"/>
                </a:stretch>
              </a:blipFill>
              <a:ln>
                <a:solidFill>
                  <a:schemeClr val="tx1"/>
                </a:solid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24FCEBC7-925D-AB29-1BA5-7CEF6140C7F3}"/>
              </a:ext>
            </a:extLst>
          </p:cNvPr>
          <p:cNvSpPr txBox="1"/>
          <p:nvPr/>
        </p:nvSpPr>
        <p:spPr>
          <a:xfrm>
            <a:off x="5130335" y="3693674"/>
            <a:ext cx="1498808" cy="276999"/>
          </a:xfrm>
          <a:prstGeom prst="rect">
            <a:avLst/>
          </a:prstGeom>
          <a:noFill/>
          <a:ln>
            <a:noFill/>
          </a:ln>
        </p:spPr>
        <p:txBody>
          <a:bodyPr wrap="none" rtlCol="0">
            <a:spAutoFit/>
          </a:bodyPr>
          <a:lstStyle/>
          <a:p>
            <a:r>
              <a:rPr lang="en-GB" sz="1200" b="1" i="1" noProof="0" dirty="0">
                <a:solidFill>
                  <a:srgbClr val="00B050"/>
                </a:solidFill>
              </a:rPr>
              <a:t>Example 6 - You do…</a:t>
            </a:r>
          </a:p>
        </p:txBody>
      </p:sp>
      <p:sp>
        <p:nvSpPr>
          <p:cNvPr id="4" name="TextBox 3">
            <a:extLst>
              <a:ext uri="{FF2B5EF4-FFF2-40B4-BE49-F238E27FC236}">
                <a16:creationId xmlns:a16="http://schemas.microsoft.com/office/drawing/2014/main" id="{E2A16817-4E2B-47FC-7F0F-7A620C7B3052}"/>
              </a:ext>
            </a:extLst>
          </p:cNvPr>
          <p:cNvSpPr txBox="1"/>
          <p:nvPr/>
        </p:nvSpPr>
        <p:spPr>
          <a:xfrm>
            <a:off x="3293651" y="3663177"/>
            <a:ext cx="1475789" cy="276999"/>
          </a:xfrm>
          <a:prstGeom prst="rect">
            <a:avLst/>
          </a:prstGeom>
          <a:noFill/>
          <a:ln>
            <a:noFill/>
          </a:ln>
        </p:spPr>
        <p:txBody>
          <a:bodyPr wrap="none" rtlCol="0">
            <a:spAutoFit/>
          </a:bodyPr>
          <a:lstStyle/>
          <a:p>
            <a:r>
              <a:rPr lang="en-GB" sz="1200" b="1" i="1" noProof="0" dirty="0">
                <a:solidFill>
                  <a:schemeClr val="accent2"/>
                </a:solidFill>
              </a:rPr>
              <a:t>Example 5 - We do…</a:t>
            </a:r>
          </a:p>
        </p:txBody>
      </p:sp>
      <p:sp>
        <p:nvSpPr>
          <p:cNvPr id="5" name="TextBox 4">
            <a:extLst>
              <a:ext uri="{FF2B5EF4-FFF2-40B4-BE49-F238E27FC236}">
                <a16:creationId xmlns:a16="http://schemas.microsoft.com/office/drawing/2014/main" id="{9CF6CBCC-410E-630C-428F-5143350AB353}"/>
              </a:ext>
            </a:extLst>
          </p:cNvPr>
          <p:cNvSpPr txBox="1"/>
          <p:nvPr/>
        </p:nvSpPr>
        <p:spPr>
          <a:xfrm>
            <a:off x="1650877" y="3680439"/>
            <a:ext cx="1308500" cy="276999"/>
          </a:xfrm>
          <a:prstGeom prst="rect">
            <a:avLst/>
          </a:prstGeom>
          <a:noFill/>
          <a:ln>
            <a:noFill/>
          </a:ln>
        </p:spPr>
        <p:txBody>
          <a:bodyPr wrap="none" rtlCol="0">
            <a:spAutoFit/>
          </a:bodyPr>
          <a:lstStyle/>
          <a:p>
            <a:r>
              <a:rPr lang="en-GB" sz="1200" b="1" i="1" noProof="0" dirty="0">
                <a:solidFill>
                  <a:srgbClr val="FF0000"/>
                </a:solidFill>
              </a:rPr>
              <a:t>Example 4 - I do…</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D60E749-DAD5-01C1-F6D6-0EB5E6313779}"/>
                  </a:ext>
                </a:extLst>
              </p:cNvPr>
              <p:cNvGraphicFramePr>
                <a:graphicFrameLocks noGrp="1"/>
              </p:cNvGraphicFramePr>
              <p:nvPr>
                <p:extLst>
                  <p:ext uri="{D42A27DB-BD31-4B8C-83A1-F6EECF244321}">
                    <p14:modId xmlns:p14="http://schemas.microsoft.com/office/powerpoint/2010/main" val="2679958761"/>
                  </p:ext>
                </p:extLst>
              </p:nvPr>
            </p:nvGraphicFramePr>
            <p:xfrm>
              <a:off x="107398" y="3974701"/>
              <a:ext cx="6638985" cy="5827750"/>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568142362"/>
                        </a:ext>
                      </a:extLst>
                    </a:gridCol>
                    <a:gridCol w="1692261">
                      <a:extLst>
                        <a:ext uri="{9D8B030D-6E8A-4147-A177-3AD203B41FA5}">
                          <a16:colId xmlns:a16="http://schemas.microsoft.com/office/drawing/2014/main" val="3551711160"/>
                        </a:ext>
                      </a:extLst>
                    </a:gridCol>
                    <a:gridCol w="1704649">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914799">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noProof="0" dirty="0">
                              <a:solidFill>
                                <a:schemeClr val="tx1"/>
                              </a:solidFill>
                              <a:effectLst/>
                              <a:latin typeface="+mn-lt"/>
                              <a:ea typeface="+mn-ea"/>
                              <a:cs typeface="+mn-cs"/>
                            </a:rPr>
                            <a:t>Prove that the sum of an odd number and an odd number is always an even number.</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noProof="0" dirty="0">
                              <a:solidFill>
                                <a:schemeClr val="tx1"/>
                              </a:solidFill>
                              <a:effectLst/>
                              <a:latin typeface="+mn-lt"/>
                              <a:ea typeface="+mn-ea"/>
                              <a:cs typeface="+mn-cs"/>
                            </a:rPr>
                            <a:t>Prove that </a:t>
                          </a:r>
                          <a14:m>
                            <m:oMath xmlns:m="http://schemas.openxmlformats.org/officeDocument/2006/math">
                              <m:r>
                                <a:rPr lang="en-GB" sz="1200" b="0" i="1" kern="1200" noProof="0" smtClean="0">
                                  <a:solidFill>
                                    <a:schemeClr val="tx1"/>
                                  </a:solidFill>
                                  <a:effectLst/>
                                  <a:latin typeface="Cambria Math" panose="02040503050406030204" pitchFamily="18" charset="0"/>
                                  <a:ea typeface="+mn-ea"/>
                                  <a:cs typeface="+mn-cs"/>
                                </a:rPr>
                                <m:t>5</m:t>
                              </m:r>
                              <m:d>
                                <m:dPr>
                                  <m:ctrlPr>
                                    <a:rPr lang="en-GB" sz="1200" b="0" i="1" kern="1200" noProof="0" smtClean="0">
                                      <a:solidFill>
                                        <a:schemeClr val="tx1"/>
                                      </a:solidFill>
                                      <a:effectLst/>
                                      <a:latin typeface="Cambria Math" panose="02040503050406030204" pitchFamily="18" charset="0"/>
                                      <a:ea typeface="+mn-ea"/>
                                      <a:cs typeface="+mn-cs"/>
                                    </a:rPr>
                                  </m:ctrlPr>
                                </m:dPr>
                                <m:e>
                                  <m:r>
                                    <a:rPr lang="en-GB" sz="1200" b="0" i="1" kern="1200" noProof="0" smtClean="0">
                                      <a:solidFill>
                                        <a:schemeClr val="tx1"/>
                                      </a:solidFill>
                                      <a:effectLst/>
                                      <a:latin typeface="Cambria Math" panose="02040503050406030204" pitchFamily="18" charset="0"/>
                                      <a:ea typeface="+mn-ea"/>
                                      <a:cs typeface="+mn-cs"/>
                                    </a:rPr>
                                    <m:t>𝑥</m:t>
                                  </m:r>
                                  <m:r>
                                    <a:rPr lang="en-GB" sz="1200" b="0" i="1" kern="1200" noProof="0" smtClean="0">
                                      <a:solidFill>
                                        <a:schemeClr val="tx1"/>
                                      </a:solidFill>
                                      <a:effectLst/>
                                      <a:latin typeface="Cambria Math" panose="02040503050406030204" pitchFamily="18" charset="0"/>
                                      <a:ea typeface="+mn-ea"/>
                                      <a:cs typeface="+mn-cs"/>
                                    </a:rPr>
                                    <m:t>−3</m:t>
                                  </m:r>
                                </m:e>
                              </m:d>
                              <m:r>
                                <a:rPr lang="en-GB" sz="1200" b="0" i="1" kern="1200" noProof="0" smtClean="0">
                                  <a:solidFill>
                                    <a:schemeClr val="tx1"/>
                                  </a:solidFill>
                                  <a:effectLst/>
                                  <a:latin typeface="Cambria Math" panose="02040503050406030204" pitchFamily="18" charset="0"/>
                                  <a:ea typeface="+mn-ea"/>
                                  <a:cs typeface="+mn-cs"/>
                                </a:rPr>
                                <m:t>+3(</m:t>
                              </m:r>
                              <m:r>
                                <a:rPr lang="en-GB" sz="1200" b="0" i="1" kern="1200" noProof="0" smtClean="0">
                                  <a:solidFill>
                                    <a:schemeClr val="tx1"/>
                                  </a:solidFill>
                                  <a:effectLst/>
                                  <a:latin typeface="Cambria Math" panose="02040503050406030204" pitchFamily="18" charset="0"/>
                                  <a:ea typeface="+mn-ea"/>
                                  <a:cs typeface="+mn-cs"/>
                                </a:rPr>
                                <m:t>𝑥</m:t>
                              </m:r>
                              <m:r>
                                <a:rPr lang="en-GB" sz="1200" b="0" i="1" kern="1200" noProof="0" smtClean="0">
                                  <a:solidFill>
                                    <a:schemeClr val="tx1"/>
                                  </a:solidFill>
                                  <a:effectLst/>
                                  <a:latin typeface="Cambria Math" panose="02040503050406030204" pitchFamily="18" charset="0"/>
                                  <a:ea typeface="+mn-ea"/>
                                  <a:cs typeface="+mn-cs"/>
                                </a:rPr>
                                <m:t>+1)</m:t>
                              </m:r>
                            </m:oMath>
                          </a14:m>
                          <a:r>
                            <a:rPr lang="en-GB" sz="1200" b="0" kern="1200" noProof="0" dirty="0">
                              <a:solidFill>
                                <a:schemeClr val="tx1"/>
                              </a:solidFill>
                              <a:effectLst/>
                              <a:latin typeface="+mn-lt"/>
                              <a:ea typeface="+mn-ea"/>
                              <a:cs typeface="+mn-cs"/>
                            </a:rPr>
                            <a:t> is even for all values of </a:t>
                          </a:r>
                          <a14:m>
                            <m:oMath xmlns:m="http://schemas.openxmlformats.org/officeDocument/2006/math">
                              <m:r>
                                <a:rPr lang="en-GB" sz="1200" b="0" i="1" kern="1200" noProof="0" smtClean="0">
                                  <a:solidFill>
                                    <a:schemeClr val="tx1"/>
                                  </a:solidFill>
                                  <a:effectLst/>
                                  <a:latin typeface="Cambria Math" panose="02040503050406030204" pitchFamily="18" charset="0"/>
                                  <a:ea typeface="+mn-ea"/>
                                  <a:cs typeface="+mn-cs"/>
                                </a:rPr>
                                <m:t>𝑛</m:t>
                              </m:r>
                              <m:r>
                                <a:rPr lang="en-GB" sz="1200" b="0" i="1" kern="1200" noProof="0" smtClean="0">
                                  <a:solidFill>
                                    <a:schemeClr val="tx1"/>
                                  </a:solidFill>
                                  <a:effectLst/>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kern="1200" noProof="0" dirty="0">
                              <a:solidFill>
                                <a:schemeClr val="tx1"/>
                              </a:solidFill>
                              <a:effectLst/>
                              <a:latin typeface="+mn-lt"/>
                              <a:ea typeface="+mn-ea"/>
                              <a:cs typeface="+mn-cs"/>
                            </a:rPr>
                            <a:t>Prove that the sum of an odd number and an even number is an odd number.</a:t>
                          </a:r>
                        </a:p>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93583">
                    <a:tc>
                      <a:txBody>
                        <a:bodyPr/>
                        <a:lstStyle/>
                        <a:p>
                          <a:r>
                            <a:rPr lang="en-GB" sz="1200" noProof="0" dirty="0"/>
                            <a:t>Write the statements/terms in algebraic form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r>
                            <a:rPr lang="en-GB" sz="1200" kern="1200" noProof="0" dirty="0">
                              <a:solidFill>
                                <a:schemeClr val="dk1"/>
                              </a:solidFill>
                              <a:effectLst/>
                              <a:latin typeface="+mn-lt"/>
                              <a:ea typeface="+mn-ea"/>
                              <a:cs typeface="+mn-cs"/>
                            </a:rPr>
                            <a:t>Prove that </a:t>
                          </a:r>
                          <a14:m>
                            <m:oMath xmlns:m="http://schemas.openxmlformats.org/officeDocument/2006/math">
                              <m:sSup>
                                <m:sSupPr>
                                  <m:ctrlPr>
                                    <a:rPr lang="en-GB" sz="1200" i="1" kern="1200" noProof="0" smtClean="0">
                                      <a:solidFill>
                                        <a:schemeClr val="dk1"/>
                                      </a:solidFill>
                                      <a:effectLst/>
                                      <a:latin typeface="Cambria Math" panose="02040503050406030204" pitchFamily="18" charset="0"/>
                                      <a:ea typeface="+mn-ea"/>
                                      <a:cs typeface="+mn-cs"/>
                                    </a:rPr>
                                  </m:ctrlPr>
                                </m:sSupPr>
                                <m:e>
                                  <m:d>
                                    <m:dPr>
                                      <m:ctrlPr>
                                        <a:rPr lang="en-GB" sz="1200" i="1" kern="1200" noProof="0" smtClean="0">
                                          <a:solidFill>
                                            <a:schemeClr val="dk1"/>
                                          </a:solidFill>
                                          <a:effectLst/>
                                          <a:latin typeface="Cambria Math" panose="02040503050406030204" pitchFamily="18" charset="0"/>
                                          <a:ea typeface="+mn-ea"/>
                                          <a:cs typeface="+mn-cs"/>
                                        </a:rPr>
                                      </m:ctrlPr>
                                    </m:dPr>
                                    <m:e>
                                      <m:r>
                                        <a:rPr lang="en-GB" sz="1200" i="1" kern="1200" noProof="0">
                                          <a:solidFill>
                                            <a:schemeClr val="dk1"/>
                                          </a:solidFill>
                                          <a:effectLst/>
                                          <a:latin typeface="Cambria Math" panose="02040503050406030204" pitchFamily="18" charset="0"/>
                                          <a:ea typeface="+mn-ea"/>
                                          <a:cs typeface="+mn-cs"/>
                                        </a:rPr>
                                        <m:t>2</m:t>
                                      </m:r>
                                      <m:r>
                                        <a:rPr lang="en-GB" sz="1200" i="1" kern="1200" noProof="0">
                                          <a:solidFill>
                                            <a:schemeClr val="dk1"/>
                                          </a:solidFill>
                                          <a:effectLst/>
                                          <a:latin typeface="Cambria Math" panose="02040503050406030204" pitchFamily="18" charset="0"/>
                                          <a:ea typeface="+mn-ea"/>
                                          <a:cs typeface="+mn-cs"/>
                                        </a:rPr>
                                        <m:t>𝑛</m:t>
                                      </m:r>
                                      <m:r>
                                        <a:rPr lang="en-GB" sz="1200" i="1" kern="1200" noProof="0">
                                          <a:solidFill>
                                            <a:schemeClr val="dk1"/>
                                          </a:solidFill>
                                          <a:effectLst/>
                                          <a:latin typeface="Cambria Math" panose="02040503050406030204" pitchFamily="18" charset="0"/>
                                          <a:ea typeface="+mn-ea"/>
                                          <a:cs typeface="+mn-cs"/>
                                        </a:rPr>
                                        <m:t>+1</m:t>
                                      </m:r>
                                    </m:e>
                                  </m:d>
                                </m:e>
                                <m:sup>
                                  <m:r>
                                    <a:rPr lang="en-GB" sz="1200" i="1" kern="1200" noProof="0">
                                      <a:solidFill>
                                        <a:schemeClr val="dk1"/>
                                      </a:solidFill>
                                      <a:effectLst/>
                                      <a:latin typeface="Cambria Math" panose="02040503050406030204" pitchFamily="18" charset="0"/>
                                      <a:ea typeface="+mn-ea"/>
                                      <a:cs typeface="+mn-cs"/>
                                    </a:rPr>
                                    <m:t>2</m:t>
                                  </m:r>
                                </m:sup>
                              </m:sSup>
                            </m:oMath>
                          </a14:m>
                          <a:r>
                            <a:rPr lang="en-GB" sz="1200" kern="1200" noProof="0" dirty="0">
                              <a:solidFill>
                                <a:schemeClr val="dk1"/>
                              </a:solidFill>
                              <a:effectLst/>
                              <a:latin typeface="+mn-lt"/>
                              <a:ea typeface="+mn-ea"/>
                              <a:cs typeface="+mn-cs"/>
                            </a:rPr>
                            <a:t> is odd for all values of </a:t>
                          </a:r>
                          <a14:m>
                            <m:oMath xmlns:m="http://schemas.openxmlformats.org/officeDocument/2006/math">
                              <m:r>
                                <a:rPr lang="en-GB" sz="1200" i="1" kern="1200" noProof="0">
                                  <a:solidFill>
                                    <a:schemeClr val="dk1"/>
                                  </a:solidFill>
                                  <a:effectLst/>
                                  <a:latin typeface="Cambria Math" panose="02040503050406030204" pitchFamily="18" charset="0"/>
                                  <a:ea typeface="+mn-ea"/>
                                  <a:cs typeface="+mn-cs"/>
                                </a:rPr>
                                <m:t>𝑛</m:t>
                              </m:r>
                              <m:r>
                                <a:rPr lang="en-GB" sz="1200" i="1" kern="1200" noProof="0">
                                  <a:solidFill>
                                    <a:schemeClr val="dk1"/>
                                  </a:solidFill>
                                  <a:effectLst/>
                                  <a:latin typeface="Cambria Math" panose="02040503050406030204" pitchFamily="18" charset="0"/>
                                  <a:ea typeface="+mn-ea"/>
                                  <a:cs typeface="+mn-cs"/>
                                </a:rPr>
                                <m:t>.</m:t>
                              </m:r>
                            </m:oMath>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r>
                            <a:rPr lang="en-GB" sz="1200" kern="1200" noProof="0" dirty="0">
                              <a:solidFill>
                                <a:schemeClr val="dk1"/>
                              </a:solidFill>
                              <a:effectLst/>
                              <a:latin typeface="+mn-lt"/>
                              <a:ea typeface="+mn-ea"/>
                              <a:cs typeface="+mn-cs"/>
                            </a:rPr>
                            <a:t>Prove that the difference between the squares of two consecutive even numbers is even.</a:t>
                          </a: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r>
                            <a:rPr lang="en-GB" sz="1200" kern="1200" noProof="0" dirty="0">
                              <a:solidFill>
                                <a:schemeClr val="dk1"/>
                              </a:solidFill>
                              <a:effectLst/>
                              <a:latin typeface="+mn-lt"/>
                              <a:ea typeface="+mn-ea"/>
                              <a:cs typeface="+mn-cs"/>
                            </a:rPr>
                            <a:t>Prove that </a:t>
                          </a:r>
                          <a14:m>
                            <m:oMath xmlns:m="http://schemas.openxmlformats.org/officeDocument/2006/math">
                              <m:sSup>
                                <m:sSupPr>
                                  <m:ctrlPr>
                                    <a:rPr lang="en-GB" sz="1200" i="1" kern="1200" noProof="0" smtClean="0">
                                      <a:solidFill>
                                        <a:schemeClr val="dk1"/>
                                      </a:solidFill>
                                      <a:effectLst/>
                                      <a:latin typeface="Cambria Math" panose="02040503050406030204" pitchFamily="18" charset="0"/>
                                      <a:ea typeface="+mn-ea"/>
                                      <a:cs typeface="+mn-cs"/>
                                    </a:rPr>
                                  </m:ctrlPr>
                                </m:sSupPr>
                                <m:e>
                                  <m:d>
                                    <m:dPr>
                                      <m:ctrlPr>
                                        <a:rPr lang="en-GB" sz="1200" i="1" kern="1200" noProof="0" smtClean="0">
                                          <a:solidFill>
                                            <a:schemeClr val="dk1"/>
                                          </a:solidFill>
                                          <a:effectLst/>
                                          <a:latin typeface="Cambria Math" panose="02040503050406030204" pitchFamily="18" charset="0"/>
                                          <a:ea typeface="+mn-ea"/>
                                          <a:cs typeface="+mn-cs"/>
                                        </a:rPr>
                                      </m:ctrlPr>
                                    </m:dPr>
                                    <m:e>
                                      <m:r>
                                        <a:rPr lang="en-GB" sz="1200" i="1" kern="1200" noProof="0">
                                          <a:solidFill>
                                            <a:schemeClr val="dk1"/>
                                          </a:solidFill>
                                          <a:effectLst/>
                                          <a:latin typeface="Cambria Math" panose="02040503050406030204" pitchFamily="18" charset="0"/>
                                          <a:ea typeface="+mn-ea"/>
                                          <a:cs typeface="+mn-cs"/>
                                        </a:rPr>
                                        <m:t>𝑛</m:t>
                                      </m:r>
                                      <m:r>
                                        <a:rPr lang="en-GB" sz="1200" i="1" kern="1200" noProof="0">
                                          <a:solidFill>
                                            <a:schemeClr val="dk1"/>
                                          </a:solidFill>
                                          <a:effectLst/>
                                          <a:latin typeface="Cambria Math" panose="02040503050406030204" pitchFamily="18" charset="0"/>
                                          <a:ea typeface="+mn-ea"/>
                                          <a:cs typeface="+mn-cs"/>
                                        </a:rPr>
                                        <m:t>+1</m:t>
                                      </m:r>
                                    </m:e>
                                  </m:d>
                                </m:e>
                                <m:sup>
                                  <m:r>
                                    <a:rPr lang="en-GB" sz="1200" i="1" kern="1200" noProof="0">
                                      <a:solidFill>
                                        <a:schemeClr val="dk1"/>
                                      </a:solidFill>
                                      <a:effectLst/>
                                      <a:latin typeface="Cambria Math" panose="02040503050406030204" pitchFamily="18" charset="0"/>
                                      <a:ea typeface="+mn-ea"/>
                                      <a:cs typeface="+mn-cs"/>
                                    </a:rPr>
                                    <m:t>2</m:t>
                                  </m:r>
                                </m:sup>
                              </m:sSup>
                              <m:r>
                                <a:rPr lang="en-GB" sz="1200" i="1" kern="1200" noProof="0">
                                  <a:solidFill>
                                    <a:schemeClr val="dk1"/>
                                  </a:solidFill>
                                  <a:effectLst/>
                                  <a:latin typeface="Cambria Math" panose="02040503050406030204" pitchFamily="18" charset="0"/>
                                  <a:ea typeface="+mn-ea"/>
                                  <a:cs typeface="+mn-cs"/>
                                </a:rPr>
                                <m:t>−</m:t>
                              </m:r>
                              <m:sSup>
                                <m:sSupPr>
                                  <m:ctrlPr>
                                    <a:rPr lang="en-GB" sz="1200" i="1" kern="1200" noProof="0" smtClean="0">
                                      <a:solidFill>
                                        <a:schemeClr val="dk1"/>
                                      </a:solidFill>
                                      <a:effectLst/>
                                      <a:latin typeface="Cambria Math" panose="02040503050406030204" pitchFamily="18" charset="0"/>
                                      <a:ea typeface="+mn-ea"/>
                                      <a:cs typeface="+mn-cs"/>
                                    </a:rPr>
                                  </m:ctrlPr>
                                </m:sSupPr>
                                <m:e>
                                  <m:r>
                                    <a:rPr lang="en-GB" sz="1200" i="1" kern="1200" noProof="0">
                                      <a:solidFill>
                                        <a:schemeClr val="dk1"/>
                                      </a:solidFill>
                                      <a:effectLst/>
                                      <a:latin typeface="Cambria Math" panose="02040503050406030204" pitchFamily="18" charset="0"/>
                                      <a:ea typeface="+mn-ea"/>
                                      <a:cs typeface="+mn-cs"/>
                                    </a:rPr>
                                    <m:t>𝑛</m:t>
                                  </m:r>
                                </m:e>
                                <m:sup>
                                  <m:r>
                                    <a:rPr lang="en-GB" sz="1200" i="1" kern="1200" noProof="0">
                                      <a:solidFill>
                                        <a:schemeClr val="dk1"/>
                                      </a:solidFill>
                                      <a:effectLst/>
                                      <a:latin typeface="Cambria Math" panose="02040503050406030204" pitchFamily="18" charset="0"/>
                                      <a:ea typeface="+mn-ea"/>
                                      <a:cs typeface="+mn-cs"/>
                                    </a:rPr>
                                    <m:t>2</m:t>
                                  </m:r>
                                </m:sup>
                              </m:sSup>
                            </m:oMath>
                          </a14:m>
                          <a:r>
                            <a:rPr lang="en-GB" sz="1200" kern="1200" noProof="0" dirty="0">
                              <a:solidFill>
                                <a:schemeClr val="dk1"/>
                              </a:solidFill>
                              <a:effectLst/>
                              <a:latin typeface="+mn-lt"/>
                              <a:ea typeface="+mn-ea"/>
                              <a:cs typeface="+mn-cs"/>
                            </a:rPr>
                            <a:t> is odd for all values of </a:t>
                          </a:r>
                          <a14:m>
                            <m:oMath xmlns:m="http://schemas.openxmlformats.org/officeDocument/2006/math">
                              <m:r>
                                <a:rPr lang="en-GB" sz="1200" i="1" kern="1200" noProof="0">
                                  <a:solidFill>
                                    <a:schemeClr val="dk1"/>
                                  </a:solidFill>
                                  <a:effectLst/>
                                  <a:latin typeface="Cambria Math" panose="02040503050406030204" pitchFamily="18" charset="0"/>
                                  <a:ea typeface="+mn-ea"/>
                                  <a:cs typeface="+mn-cs"/>
                                </a:rPr>
                                <m:t>𝑛</m:t>
                              </m:r>
                              <m:r>
                                <a:rPr lang="en-GB" sz="1200" i="1" kern="1200" noProof="0">
                                  <a:solidFill>
                                    <a:schemeClr val="dk1"/>
                                  </a:solidFill>
                                  <a:effectLst/>
                                  <a:latin typeface="Cambria Math" panose="02040503050406030204" pitchFamily="18" charset="0"/>
                                  <a:ea typeface="+mn-ea"/>
                                  <a:cs typeface="+mn-cs"/>
                                </a:rPr>
                                <m:t>.</m:t>
                              </m:r>
                            </m:oMath>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7656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i="0" noProof="0" dirty="0"/>
                            <a:t>It may help to write “</a:t>
                          </a:r>
                          <a:r>
                            <a:rPr lang="en-GB" sz="1200" i="1" noProof="0" dirty="0"/>
                            <a:t>let </a:t>
                          </a:r>
                          <a14:m>
                            <m:oMath xmlns:m="http://schemas.openxmlformats.org/officeDocument/2006/math">
                              <m:r>
                                <a:rPr lang="en-GB" sz="1200" b="0" i="1" noProof="0" smtClean="0">
                                  <a:latin typeface="Cambria Math" panose="02040503050406030204" pitchFamily="18" charset="0"/>
                                </a:rPr>
                                <m:t>𝑛</m:t>
                              </m:r>
                              <m:r>
                                <a:rPr lang="en-GB" sz="1200" b="0" i="1" noProof="0" smtClean="0">
                                  <a:latin typeface="Cambria Math" panose="02040503050406030204" pitchFamily="18" charset="0"/>
                                </a:rPr>
                                <m:t> </m:t>
                              </m:r>
                            </m:oMath>
                          </a14:m>
                          <a:r>
                            <a:rPr lang="en-GB" sz="1200" i="1" noProof="0" dirty="0"/>
                            <a:t>be an</a:t>
                          </a:r>
                          <a:r>
                            <a:rPr lang="en-GB" sz="1200" i="1" baseline="0" noProof="0" dirty="0"/>
                            <a:t> integer”</a:t>
                          </a:r>
                          <a:endParaRPr lang="en-GB" sz="1200" i="1"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9722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Write a statement that you have proven as required – you can write QED to save ink!</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bl>
              </a:graphicData>
            </a:graphic>
          </p:graphicFrame>
        </mc:Choice>
        <mc:Fallback xmlns="">
          <p:graphicFrame>
            <p:nvGraphicFramePr>
              <p:cNvPr id="6" name="Table 5">
                <a:extLst>
                  <a:ext uri="{FF2B5EF4-FFF2-40B4-BE49-F238E27FC236}">
                    <a16:creationId xmlns:a16="http://schemas.microsoft.com/office/drawing/2014/main" id="{7D60E749-DAD5-01C1-F6D6-0EB5E6313779}"/>
                  </a:ext>
                </a:extLst>
              </p:cNvPr>
              <p:cNvGraphicFramePr>
                <a:graphicFrameLocks noGrp="1"/>
              </p:cNvGraphicFramePr>
              <p:nvPr>
                <p:extLst>
                  <p:ext uri="{D42A27DB-BD31-4B8C-83A1-F6EECF244321}">
                    <p14:modId xmlns:p14="http://schemas.microsoft.com/office/powerpoint/2010/main" val="2679958761"/>
                  </p:ext>
                </p:extLst>
              </p:nvPr>
            </p:nvGraphicFramePr>
            <p:xfrm>
              <a:off x="107398" y="3974701"/>
              <a:ext cx="6638985" cy="5827750"/>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568142362"/>
                        </a:ext>
                      </a:extLst>
                    </a:gridCol>
                    <a:gridCol w="1692261">
                      <a:extLst>
                        <a:ext uri="{9D8B030D-6E8A-4147-A177-3AD203B41FA5}">
                          <a16:colId xmlns:a16="http://schemas.microsoft.com/office/drawing/2014/main" val="3551711160"/>
                        </a:ext>
                      </a:extLst>
                    </a:gridCol>
                    <a:gridCol w="1704649">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100584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noProof="0">
                              <a:solidFill>
                                <a:schemeClr val="tx1"/>
                              </a:solidFill>
                              <a:effectLst/>
                              <a:latin typeface="+mn-lt"/>
                              <a:ea typeface="+mn-ea"/>
                              <a:cs typeface="+mn-cs"/>
                            </a:rPr>
                            <a:t>Prove that the sum of an odd number and an odd number is always an even number.</a:t>
                          </a:r>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84643" t="-1212" r="-105714" b="-481212"/>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kern="1200" noProof="0">
                              <a:solidFill>
                                <a:schemeClr val="tx1"/>
                              </a:solidFill>
                              <a:effectLst/>
                              <a:latin typeface="+mn-lt"/>
                              <a:ea typeface="+mn-ea"/>
                              <a:cs typeface="+mn-cs"/>
                            </a:rPr>
                            <a:t>Prove that the sum of an odd number and an even number is an odd number.</a:t>
                          </a:r>
                        </a:p>
                        <a:p>
                          <a:pPr algn="ctr"/>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93583">
                    <a:tc>
                      <a:txBody>
                        <a:bodyPr/>
                        <a:lstStyle/>
                        <a:p>
                          <a:r>
                            <a:rPr lang="en-GB" sz="1200" noProof="0"/>
                            <a:t>Write the statements/terms in algebraic form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5971" t="-21086" r="-207194" b="-253"/>
                          </a:stretch>
                        </a:blipFill>
                      </a:tcPr>
                    </a:tc>
                    <a:tc rowSpan="3">
                      <a:txBody>
                        <a:bodyPr/>
                        <a:lstStyle/>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r>
                            <a:rPr lang="en-GB" sz="1200" kern="1200" noProof="0">
                              <a:solidFill>
                                <a:schemeClr val="dk1"/>
                              </a:solidFill>
                              <a:effectLst/>
                              <a:latin typeface="+mn-lt"/>
                              <a:ea typeface="+mn-ea"/>
                              <a:cs typeface="+mn-cs"/>
                            </a:rPr>
                            <a:t>Prove that the difference between the squares of two consecutive even numbers is even.</a:t>
                          </a:r>
                          <a:endParaRPr lang="en-GB" sz="12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71088" t="-21086" r="-680" b="-253"/>
                          </a:stretch>
                        </a:blipFill>
                      </a:tcPr>
                    </a:tc>
                    <a:extLst>
                      <a:ext uri="{0D108BD9-81ED-4DB2-BD59-A6C34878D82A}">
                        <a16:rowId xmlns:a16="http://schemas.microsoft.com/office/drawing/2014/main" val="3293625240"/>
                      </a:ext>
                    </a:extLst>
                  </a:tr>
                  <a:tr h="97656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20" t="-225466" r="-358824" b="-271429"/>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26517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Write a statement that you have proven as required – you can write QED to save ink!</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bl>
              </a:graphicData>
            </a:graphic>
          </p:graphicFrame>
        </mc:Fallback>
      </mc:AlternateContent>
      <p:cxnSp>
        <p:nvCxnSpPr>
          <p:cNvPr id="8" name="Straight Connector 7">
            <a:extLst>
              <a:ext uri="{FF2B5EF4-FFF2-40B4-BE49-F238E27FC236}">
                <a16:creationId xmlns:a16="http://schemas.microsoft.com/office/drawing/2014/main" id="{106A5487-2378-8231-C5FF-1AD74D2D834E}"/>
              </a:ext>
            </a:extLst>
          </p:cNvPr>
          <p:cNvCxnSpPr/>
          <p:nvPr/>
        </p:nvCxnSpPr>
        <p:spPr>
          <a:xfrm>
            <a:off x="1576021" y="6781800"/>
            <a:ext cx="51703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5AAD920-7931-7372-36BE-C72C4B1C1087}"/>
              </a:ext>
            </a:extLst>
          </p:cNvPr>
          <p:cNvCxnSpPr/>
          <p:nvPr/>
        </p:nvCxnSpPr>
        <p:spPr>
          <a:xfrm>
            <a:off x="1576021" y="7848600"/>
            <a:ext cx="51703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6848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1873F-C626-2DF0-619F-3798DA3A5B09}"/>
            </a:ext>
          </a:extLst>
        </p:cNvPr>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6B8C47BB-EB04-E52A-570E-BFC1CF7A3EDB}"/>
              </a:ext>
            </a:extLst>
          </p:cNvPr>
          <p:cNvSpPr>
            <a:spLocks noGrp="1"/>
          </p:cNvSpPr>
          <p:nvPr>
            <p:ph type="sldNum" sz="quarter" idx="12"/>
          </p:nvPr>
        </p:nvSpPr>
        <p:spPr>
          <a:xfrm>
            <a:off x="5309271" y="9548817"/>
            <a:ext cx="1543050" cy="527403"/>
          </a:xfrm>
        </p:spPr>
        <p:txBody>
          <a:bodyPr/>
          <a:lstStyle/>
          <a:p>
            <a:fld id="{19F1D9CC-7119-45EC-A96C-D8C0660F3AAB}" type="slidenum">
              <a:rPr lang="en-GB" noProof="0" smtClean="0">
                <a:solidFill>
                  <a:schemeClr val="bg1"/>
                </a:solidFill>
              </a:rPr>
              <a:t>77</a:t>
            </a:fld>
            <a:endParaRPr lang="en-GB" noProof="0" dirty="0">
              <a:solidFill>
                <a:schemeClr val="bg1"/>
              </a:solidFill>
            </a:endParaRPr>
          </a:p>
        </p:txBody>
      </p:sp>
      <p:sp>
        <p:nvSpPr>
          <p:cNvPr id="50" name="TextBox 49">
            <a:extLst>
              <a:ext uri="{FF2B5EF4-FFF2-40B4-BE49-F238E27FC236}">
                <a16:creationId xmlns:a16="http://schemas.microsoft.com/office/drawing/2014/main" id="{245B1565-F82E-5F56-553D-503C9D3CAD72}"/>
              </a:ext>
            </a:extLst>
          </p:cNvPr>
          <p:cNvSpPr txBox="1"/>
          <p:nvPr/>
        </p:nvSpPr>
        <p:spPr>
          <a:xfrm>
            <a:off x="5123079" y="4937943"/>
            <a:ext cx="1498808" cy="276999"/>
          </a:xfrm>
          <a:prstGeom prst="rect">
            <a:avLst/>
          </a:prstGeom>
          <a:noFill/>
          <a:ln>
            <a:noFill/>
          </a:ln>
        </p:spPr>
        <p:txBody>
          <a:bodyPr wrap="none" rtlCol="0">
            <a:spAutoFit/>
          </a:bodyPr>
          <a:lstStyle/>
          <a:p>
            <a:r>
              <a:rPr lang="en-GB" sz="1200" b="1" i="1" noProof="0" dirty="0">
                <a:solidFill>
                  <a:srgbClr val="00B050"/>
                </a:solidFill>
              </a:rPr>
              <a:t>Example 3 - You do…</a:t>
            </a:r>
          </a:p>
        </p:txBody>
      </p:sp>
      <p:sp>
        <p:nvSpPr>
          <p:cNvPr id="52" name="TextBox 51">
            <a:extLst>
              <a:ext uri="{FF2B5EF4-FFF2-40B4-BE49-F238E27FC236}">
                <a16:creationId xmlns:a16="http://schemas.microsoft.com/office/drawing/2014/main" id="{E15D8A29-2062-F451-B255-34E17BA68085}"/>
              </a:ext>
            </a:extLst>
          </p:cNvPr>
          <p:cNvSpPr txBox="1"/>
          <p:nvPr/>
        </p:nvSpPr>
        <p:spPr>
          <a:xfrm>
            <a:off x="3286395" y="4907446"/>
            <a:ext cx="1475789" cy="276999"/>
          </a:xfrm>
          <a:prstGeom prst="rect">
            <a:avLst/>
          </a:prstGeom>
          <a:noFill/>
          <a:ln>
            <a:noFill/>
          </a:ln>
        </p:spPr>
        <p:txBody>
          <a:bodyPr wrap="none" rtlCol="0">
            <a:spAutoFit/>
          </a:bodyPr>
          <a:lstStyle/>
          <a:p>
            <a:r>
              <a:rPr lang="en-GB" sz="1200" b="1" i="1" noProof="0" dirty="0">
                <a:solidFill>
                  <a:schemeClr val="accent2"/>
                </a:solidFill>
              </a:rPr>
              <a:t>Example 2 - We do…</a:t>
            </a:r>
          </a:p>
        </p:txBody>
      </p:sp>
      <p:sp>
        <p:nvSpPr>
          <p:cNvPr id="53" name="TextBox 52">
            <a:extLst>
              <a:ext uri="{FF2B5EF4-FFF2-40B4-BE49-F238E27FC236}">
                <a16:creationId xmlns:a16="http://schemas.microsoft.com/office/drawing/2014/main" id="{62676814-720D-EBF9-3A17-67B7C9DE6887}"/>
              </a:ext>
            </a:extLst>
          </p:cNvPr>
          <p:cNvSpPr txBox="1"/>
          <p:nvPr/>
        </p:nvSpPr>
        <p:spPr>
          <a:xfrm>
            <a:off x="1512009" y="4954745"/>
            <a:ext cx="1273234" cy="276999"/>
          </a:xfrm>
          <a:prstGeom prst="rect">
            <a:avLst/>
          </a:prstGeom>
          <a:noFill/>
          <a:ln>
            <a:noFill/>
          </a:ln>
        </p:spPr>
        <p:txBody>
          <a:bodyPr wrap="none" rtlCol="0">
            <a:spAutoFit/>
          </a:bodyPr>
          <a:lstStyle/>
          <a:p>
            <a:r>
              <a:rPr lang="en-GB" sz="1200" b="1" i="1" noProof="0" dirty="0">
                <a:solidFill>
                  <a:srgbClr val="FF0000"/>
                </a:solidFill>
              </a:rPr>
              <a:t>Example 1- I do…</a:t>
            </a:r>
          </a:p>
        </p:txBody>
      </p:sp>
      <mc:AlternateContent xmlns:mc="http://schemas.openxmlformats.org/markup-compatibility/2006" xmlns:a14="http://schemas.microsoft.com/office/drawing/2010/main">
        <mc:Choice Requires="a14">
          <p:graphicFrame>
            <p:nvGraphicFramePr>
              <p:cNvPr id="25" name="Table 24">
                <a:extLst>
                  <a:ext uri="{FF2B5EF4-FFF2-40B4-BE49-F238E27FC236}">
                    <a16:creationId xmlns:a16="http://schemas.microsoft.com/office/drawing/2014/main" id="{E2D38399-261A-ECC7-939A-43E0D5EAC9CD}"/>
                  </a:ext>
                </a:extLst>
              </p:cNvPr>
              <p:cNvGraphicFramePr>
                <a:graphicFrameLocks noGrp="1"/>
              </p:cNvGraphicFramePr>
              <p:nvPr>
                <p:extLst>
                  <p:ext uri="{D42A27DB-BD31-4B8C-83A1-F6EECF244321}">
                    <p14:modId xmlns:p14="http://schemas.microsoft.com/office/powerpoint/2010/main" val="1785752425"/>
                  </p:ext>
                </p:extLst>
              </p:nvPr>
            </p:nvGraphicFramePr>
            <p:xfrm>
              <a:off x="100142" y="5218970"/>
              <a:ext cx="6638985" cy="4477658"/>
            </p:xfrm>
            <a:graphic>
              <a:graphicData uri="http://schemas.openxmlformats.org/drawingml/2006/table">
                <a:tbl>
                  <a:tblPr firstRow="1" bandRow="1">
                    <a:tableStyleId>{5C22544A-7EE6-4342-B048-85BDC9FD1C3A}</a:tableStyleId>
                  </a:tblPr>
                  <a:tblGrid>
                    <a:gridCol w="1179276">
                      <a:extLst>
                        <a:ext uri="{9D8B030D-6E8A-4147-A177-3AD203B41FA5}">
                          <a16:colId xmlns:a16="http://schemas.microsoft.com/office/drawing/2014/main" val="1568142362"/>
                        </a:ext>
                      </a:extLst>
                    </a:gridCol>
                    <a:gridCol w="1817225">
                      <a:extLst>
                        <a:ext uri="{9D8B030D-6E8A-4147-A177-3AD203B41FA5}">
                          <a16:colId xmlns:a16="http://schemas.microsoft.com/office/drawing/2014/main" val="3551711160"/>
                        </a:ext>
                      </a:extLst>
                    </a:gridCol>
                    <a:gridCol w="1851950">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711930">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dirty="0">
                              <a:solidFill>
                                <a:schemeClr val="tx1"/>
                              </a:solidFill>
                              <a:effectLst/>
                              <a:latin typeface="+mn-lt"/>
                              <a:ea typeface="+mn-ea"/>
                              <a:cs typeface="+mn-cs"/>
                            </a:rPr>
                            <a:t>Prove that </a:t>
                          </a:r>
                          <a14:m>
                            <m:oMath xmlns:m="http://schemas.openxmlformats.org/officeDocument/2006/math">
                              <m:r>
                                <a:rPr lang="en-GB" sz="1200" b="0" i="1" kern="1200">
                                  <a:solidFill>
                                    <a:schemeClr val="tx1"/>
                                  </a:solidFill>
                                  <a:effectLst/>
                                  <a:latin typeface="Cambria Math" panose="02040503050406030204" pitchFamily="18" charset="0"/>
                                  <a:ea typeface="+mn-ea"/>
                                  <a:cs typeface="+mn-cs"/>
                                </a:rPr>
                                <m:t>5</m:t>
                              </m:r>
                              <m:d>
                                <m:dPr>
                                  <m:ctrlPr>
                                    <a:rPr lang="en-US" sz="1200" b="0" i="1" kern="1200">
                                      <a:solidFill>
                                        <a:schemeClr val="tx1"/>
                                      </a:solidFill>
                                      <a:effectLst/>
                                      <a:latin typeface="Cambria Math" panose="02040503050406030204" pitchFamily="18" charset="0"/>
                                      <a:ea typeface="+mn-ea"/>
                                      <a:cs typeface="+mn-cs"/>
                                    </a:rPr>
                                  </m:ctrlPr>
                                </m:dPr>
                                <m:e>
                                  <m:r>
                                    <a:rPr lang="en-GB" sz="1200" b="0" i="1" kern="1200">
                                      <a:solidFill>
                                        <a:schemeClr val="tx1"/>
                                      </a:solidFill>
                                      <a:effectLst/>
                                      <a:latin typeface="Cambria Math" panose="02040503050406030204" pitchFamily="18" charset="0"/>
                                      <a:ea typeface="+mn-ea"/>
                                      <a:cs typeface="+mn-cs"/>
                                    </a:rPr>
                                    <m:t>𝑥</m:t>
                                  </m:r>
                                  <m:r>
                                    <a:rPr lang="en-GB" sz="1200" b="0" i="1" kern="1200">
                                      <a:solidFill>
                                        <a:schemeClr val="tx1"/>
                                      </a:solidFill>
                                      <a:effectLst/>
                                      <a:latin typeface="Cambria Math" panose="02040503050406030204" pitchFamily="18" charset="0"/>
                                      <a:ea typeface="+mn-ea"/>
                                      <a:cs typeface="+mn-cs"/>
                                    </a:rPr>
                                    <m:t>−3</m:t>
                                  </m:r>
                                </m:e>
                              </m:d>
                              <m:r>
                                <a:rPr lang="en-GB" sz="1200" b="0" i="1" kern="1200">
                                  <a:solidFill>
                                    <a:schemeClr val="tx1"/>
                                  </a:solidFill>
                                  <a:effectLst/>
                                  <a:latin typeface="Cambria Math" panose="02040503050406030204" pitchFamily="18" charset="0"/>
                                  <a:ea typeface="+mn-ea"/>
                                  <a:cs typeface="+mn-cs"/>
                                </a:rPr>
                                <m:t>+3(</m:t>
                              </m:r>
                              <m:r>
                                <a:rPr lang="en-GB" sz="1200" b="0" i="1" kern="1200">
                                  <a:solidFill>
                                    <a:schemeClr val="tx1"/>
                                  </a:solidFill>
                                  <a:effectLst/>
                                  <a:latin typeface="Cambria Math" panose="02040503050406030204" pitchFamily="18" charset="0"/>
                                  <a:ea typeface="+mn-ea"/>
                                  <a:cs typeface="+mn-cs"/>
                                </a:rPr>
                                <m:t>𝑥</m:t>
                              </m:r>
                              <m:r>
                                <a:rPr lang="en-GB" sz="1200" b="0" i="1" kern="1200">
                                  <a:solidFill>
                                    <a:schemeClr val="tx1"/>
                                  </a:solidFill>
                                  <a:effectLst/>
                                  <a:latin typeface="Cambria Math" panose="02040503050406030204" pitchFamily="18" charset="0"/>
                                  <a:ea typeface="+mn-ea"/>
                                  <a:cs typeface="+mn-cs"/>
                                </a:rPr>
                                <m:t>+1)</m:t>
                              </m:r>
                            </m:oMath>
                          </a14:m>
                          <a:r>
                            <a:rPr lang="en-GB" sz="1200" b="0" kern="1200" dirty="0">
                              <a:solidFill>
                                <a:schemeClr val="tx1"/>
                              </a:solidFill>
                              <a:effectLst/>
                              <a:latin typeface="+mn-lt"/>
                              <a:ea typeface="+mn-ea"/>
                              <a:cs typeface="+mn-cs"/>
                            </a:rPr>
                            <a:t> is divisible by</a:t>
                          </a:r>
                          <a14:m>
                            <m:oMath xmlns:m="http://schemas.openxmlformats.org/officeDocument/2006/math">
                              <m:r>
                                <a:rPr lang="en-GB" sz="1200" b="0" i="1" kern="1200">
                                  <a:solidFill>
                                    <a:schemeClr val="tx1"/>
                                  </a:solidFill>
                                  <a:effectLst/>
                                  <a:latin typeface="Cambria Math" panose="02040503050406030204" pitchFamily="18" charset="0"/>
                                  <a:ea typeface="+mn-ea"/>
                                  <a:cs typeface="+mn-cs"/>
                                </a:rPr>
                                <m:t> 4</m:t>
                              </m:r>
                            </m:oMath>
                          </a14:m>
                          <a:r>
                            <a:rPr lang="en-GB" sz="1200" b="0" noProof="0" dirty="0">
                              <a:solidFill>
                                <a:schemeClr val="tx1"/>
                              </a:solidFill>
                            </a:rPr>
                            <a:t>.</a:t>
                          </a:r>
                          <a:r>
                            <a:rPr lang="en-GB" sz="1200" b="0" baseline="0" noProof="0" dirty="0">
                              <a:solidFill>
                                <a:schemeClr val="tx1"/>
                              </a:solidFill>
                            </a:rPr>
                            <a:t> </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Prove that the sum of three consecutive </a:t>
                          </a:r>
                          <a:r>
                            <a:rPr lang="en-GB" sz="1200" b="1" noProof="0" dirty="0">
                              <a:solidFill>
                                <a:schemeClr val="tx1"/>
                              </a:solidFill>
                            </a:rPr>
                            <a:t>even </a:t>
                          </a:r>
                          <a:r>
                            <a:rPr lang="en-GB" sz="1200" b="0" noProof="0" dirty="0">
                              <a:solidFill>
                                <a:schemeClr val="tx1"/>
                              </a:solidFill>
                            </a:rPr>
                            <a:t>numbers is a multiple of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dirty="0">
                              <a:solidFill>
                                <a:schemeClr val="tx1"/>
                              </a:solidFill>
                              <a:effectLst/>
                              <a:latin typeface="+mn-lt"/>
                              <a:ea typeface="+mn-ea"/>
                              <a:cs typeface="+mn-cs"/>
                            </a:rPr>
                            <a:t>Prove that the sum of any three consecutive integers is a multiple of 3</a:t>
                          </a:r>
                          <a:r>
                            <a:rPr lang="en-GB" sz="12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38951">
                    <a:tc>
                      <a:txBody>
                        <a:bodyPr/>
                        <a:lstStyle/>
                        <a:p>
                          <a:r>
                            <a:rPr lang="en-GB" sz="1200" noProof="0" dirty="0"/>
                            <a:t>Write out the</a:t>
                          </a:r>
                          <a:r>
                            <a:rPr lang="en-GB" sz="1200" baseline="0" noProof="0" dirty="0"/>
                            <a:t> values algebraically using n. </a:t>
                          </a: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3029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Simplify by collecting</a:t>
                          </a:r>
                          <a:r>
                            <a:rPr lang="en-GB" sz="1200" baseline="0" noProof="0" dirty="0"/>
                            <a:t> like terms. </a:t>
                          </a: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72488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Factorise.</a:t>
                          </a:r>
                          <a:r>
                            <a:rPr lang="en-GB" sz="1200" baseline="0" noProof="0" dirty="0"/>
                            <a:t> </a:t>
                          </a: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r h="1120271">
                    <a:tc>
                      <a:txBody>
                        <a:bodyPr/>
                        <a:lstStyle/>
                        <a:p>
                          <a:r>
                            <a:rPr lang="en-GB" sz="1200" noProof="0" dirty="0"/>
                            <a:t>Prove</a:t>
                          </a:r>
                          <a:r>
                            <a:rPr lang="en-GB" sz="1200" baseline="0" noProof="0" dirty="0"/>
                            <a:t> with a statement. </a:t>
                          </a:r>
                        </a:p>
                        <a:p>
                          <a:endParaRPr lang="en-GB" sz="1200" baseline="0" noProof="0" dirty="0"/>
                        </a:p>
                        <a:p>
                          <a:endParaRPr lang="en-GB" sz="1200" baseline="0" noProof="0" dirty="0"/>
                        </a:p>
                        <a:p>
                          <a:endParaRPr lang="en-GB" sz="1200" baseline="0" noProof="0" dirty="0"/>
                        </a:p>
                        <a:p>
                          <a:endParaRPr lang="en-GB" sz="1200" baseline="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Choice>
        <mc:Fallback xmlns="">
          <p:graphicFrame>
            <p:nvGraphicFramePr>
              <p:cNvPr id="25" name="Table 24">
                <a:extLst>
                  <a:ext uri="{FF2B5EF4-FFF2-40B4-BE49-F238E27FC236}">
                    <a16:creationId xmlns:a16="http://schemas.microsoft.com/office/drawing/2014/main" id="{E2D38399-261A-ECC7-939A-43E0D5EAC9CD}"/>
                  </a:ext>
                </a:extLst>
              </p:cNvPr>
              <p:cNvGraphicFramePr>
                <a:graphicFrameLocks noGrp="1"/>
              </p:cNvGraphicFramePr>
              <p:nvPr>
                <p:extLst>
                  <p:ext uri="{D42A27DB-BD31-4B8C-83A1-F6EECF244321}">
                    <p14:modId xmlns:p14="http://schemas.microsoft.com/office/powerpoint/2010/main" val="1785752425"/>
                  </p:ext>
                </p:extLst>
              </p:nvPr>
            </p:nvGraphicFramePr>
            <p:xfrm>
              <a:off x="100142" y="5218970"/>
              <a:ext cx="6638985" cy="4477658"/>
            </p:xfrm>
            <a:graphic>
              <a:graphicData uri="http://schemas.openxmlformats.org/drawingml/2006/table">
                <a:tbl>
                  <a:tblPr firstRow="1" bandRow="1">
                    <a:tableStyleId>{5C22544A-7EE6-4342-B048-85BDC9FD1C3A}</a:tableStyleId>
                  </a:tblPr>
                  <a:tblGrid>
                    <a:gridCol w="1179276">
                      <a:extLst>
                        <a:ext uri="{9D8B030D-6E8A-4147-A177-3AD203B41FA5}">
                          <a16:colId xmlns:a16="http://schemas.microsoft.com/office/drawing/2014/main" val="1568142362"/>
                        </a:ext>
                      </a:extLst>
                    </a:gridCol>
                    <a:gridCol w="1817225">
                      <a:extLst>
                        <a:ext uri="{9D8B030D-6E8A-4147-A177-3AD203B41FA5}">
                          <a16:colId xmlns:a16="http://schemas.microsoft.com/office/drawing/2014/main" val="3551711160"/>
                        </a:ext>
                      </a:extLst>
                    </a:gridCol>
                    <a:gridCol w="1851950">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71193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5436" t="-855" r="-201342" b="-529915"/>
                          </a:stretch>
                        </a:blipFill>
                      </a:tcPr>
                    </a:tc>
                    <a:tc>
                      <a:txBody>
                        <a:bodyPr/>
                        <a:lstStyle/>
                        <a:p>
                          <a:pPr algn="ctr"/>
                          <a:r>
                            <a:rPr lang="en-GB" sz="1200" b="0" noProof="0">
                              <a:solidFill>
                                <a:schemeClr val="tx1"/>
                              </a:solidFill>
                            </a:rPr>
                            <a:t>Prove that the sum of three consecutive </a:t>
                          </a:r>
                          <a:r>
                            <a:rPr lang="en-GB" sz="1200" b="1" noProof="0">
                              <a:solidFill>
                                <a:schemeClr val="tx1"/>
                              </a:solidFill>
                            </a:rPr>
                            <a:t>even </a:t>
                          </a:r>
                          <a:r>
                            <a:rPr lang="en-GB" sz="1200" b="0" noProof="0">
                              <a:solidFill>
                                <a:schemeClr val="tx1"/>
                              </a:solidFill>
                            </a:rPr>
                            <a:t>numbers is a multiple of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a:solidFill>
                                <a:schemeClr val="tx1"/>
                              </a:solidFill>
                              <a:effectLst/>
                              <a:latin typeface="+mn-lt"/>
                              <a:ea typeface="+mn-ea"/>
                              <a:cs typeface="+mn-cs"/>
                            </a:rPr>
                            <a:t>Prove that the sum of any three consecutive integers is a multiple of 3</a:t>
                          </a:r>
                          <a:r>
                            <a:rPr lang="en-GB" sz="1200" b="0" noProof="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38951">
                    <a:tc>
                      <a:txBody>
                        <a:bodyPr/>
                        <a:lstStyle/>
                        <a:p>
                          <a:r>
                            <a:rPr lang="en-GB" sz="1200" noProof="0"/>
                            <a:t>Write out the</a:t>
                          </a:r>
                          <a:r>
                            <a:rPr lang="en-GB" sz="1200" baseline="0" noProof="0"/>
                            <a:t> values algebraically using n. </a:t>
                          </a: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3029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Simplify by collecting</a:t>
                          </a:r>
                          <a:r>
                            <a:rPr lang="en-GB" sz="1200" baseline="0" noProof="0"/>
                            <a:t> like terms. </a:t>
                          </a: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72488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Factorise.</a:t>
                          </a:r>
                          <a:r>
                            <a:rPr lang="en-GB" sz="1200" baseline="0" noProof="0"/>
                            <a:t> </a:t>
                          </a: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r h="1371600">
                    <a:tc>
                      <a:txBody>
                        <a:bodyPr/>
                        <a:lstStyle/>
                        <a:p>
                          <a:r>
                            <a:rPr lang="en-GB" sz="1200" noProof="0"/>
                            <a:t>Prove</a:t>
                          </a:r>
                          <a:r>
                            <a:rPr lang="en-GB" sz="1200" baseline="0" noProof="0"/>
                            <a:t> with a statement. </a:t>
                          </a:r>
                        </a:p>
                        <a:p>
                          <a:endParaRPr lang="en-GB" sz="1200" baseline="0" noProof="0"/>
                        </a:p>
                        <a:p>
                          <a:endParaRPr lang="en-GB" sz="1200" baseline="0" noProof="0"/>
                        </a:p>
                        <a:p>
                          <a:endParaRPr lang="en-GB" sz="1200" baseline="0" noProof="0"/>
                        </a:p>
                        <a:p>
                          <a:endParaRPr lang="en-GB" sz="1200" baseline="0" noProof="0"/>
                        </a:p>
                        <a:p>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Fallback>
      </mc:AlternateContent>
      <p:sp>
        <p:nvSpPr>
          <p:cNvPr id="26" name="TextBox 25">
            <a:extLst>
              <a:ext uri="{FF2B5EF4-FFF2-40B4-BE49-F238E27FC236}">
                <a16:creationId xmlns:a16="http://schemas.microsoft.com/office/drawing/2014/main" id="{B3D28BA5-94BB-102C-7FD4-9EA876385D9E}"/>
              </a:ext>
            </a:extLst>
          </p:cNvPr>
          <p:cNvSpPr txBox="1"/>
          <p:nvPr/>
        </p:nvSpPr>
        <p:spPr>
          <a:xfrm>
            <a:off x="0" y="0"/>
            <a:ext cx="2931059" cy="276999"/>
          </a:xfrm>
          <a:prstGeom prst="rect">
            <a:avLst/>
          </a:prstGeom>
          <a:solidFill>
            <a:srgbClr val="0070C0"/>
          </a:solidFill>
        </p:spPr>
        <p:txBody>
          <a:bodyPr wrap="none" rtlCol="0" anchor="ctr">
            <a:spAutoFit/>
          </a:bodyPr>
          <a:lstStyle/>
          <a:p>
            <a:pPr algn="ctr"/>
            <a:r>
              <a:rPr lang="en-GB" sz="1200" b="1" noProof="0" dirty="0">
                <a:solidFill>
                  <a:schemeClr val="bg1"/>
                </a:solidFill>
              </a:rPr>
              <a:t>ALGEBRAIC PROOF: PROOF OF DIVISIBILITY</a:t>
            </a:r>
          </a:p>
        </p:txBody>
      </p:sp>
      <p:sp>
        <p:nvSpPr>
          <p:cNvPr id="21" name="Slide Number Placeholder 16">
            <a:extLst>
              <a:ext uri="{FF2B5EF4-FFF2-40B4-BE49-F238E27FC236}">
                <a16:creationId xmlns:a16="http://schemas.microsoft.com/office/drawing/2014/main" id="{6FE77926-4EBF-C1C0-E231-B93CB3F9DA21}"/>
              </a:ext>
            </a:extLst>
          </p:cNvPr>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77</a:t>
            </a:fld>
            <a:endParaRPr lang="en-GB" noProof="0" dirty="0"/>
          </a:p>
        </p:txBody>
      </p:sp>
      <p:cxnSp>
        <p:nvCxnSpPr>
          <p:cNvPr id="22" name="Straight Connector 21">
            <a:extLst>
              <a:ext uri="{FF2B5EF4-FFF2-40B4-BE49-F238E27FC236}">
                <a16:creationId xmlns:a16="http://schemas.microsoft.com/office/drawing/2014/main" id="{AA968BAB-46B6-3234-19B4-B3D1AE456CC8}"/>
              </a:ext>
            </a:extLst>
          </p:cNvPr>
          <p:cNvCxnSpPr/>
          <p:nvPr/>
        </p:nvCxnSpPr>
        <p:spPr>
          <a:xfrm flipV="1">
            <a:off x="8181122" y="426883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F7C7B74B-3922-7527-07AD-71F7AB5B7E48}"/>
              </a:ext>
            </a:extLst>
          </p:cNvPr>
          <p:cNvSpPr/>
          <p:nvPr/>
        </p:nvSpPr>
        <p:spPr>
          <a:xfrm>
            <a:off x="7326442" y="2508490"/>
            <a:ext cx="6643204" cy="23212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24" name="Straight Connector 23">
            <a:extLst>
              <a:ext uri="{FF2B5EF4-FFF2-40B4-BE49-F238E27FC236}">
                <a16:creationId xmlns:a16="http://schemas.microsoft.com/office/drawing/2014/main" id="{4724149B-F847-4A1C-126C-607A1A8B5E20}"/>
              </a:ext>
            </a:extLst>
          </p:cNvPr>
          <p:cNvCxnSpPr/>
          <p:nvPr/>
        </p:nvCxnSpPr>
        <p:spPr>
          <a:xfrm flipV="1">
            <a:off x="7332812" y="3571869"/>
            <a:ext cx="6632615" cy="40322"/>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31C49DE0-22B5-2F6F-64E1-2D32DBD50E4B}"/>
              </a:ext>
            </a:extLst>
          </p:cNvPr>
          <p:cNvCxnSpPr>
            <a:stCxn id="23" idx="2"/>
            <a:endCxn id="23" idx="0"/>
          </p:cNvCxnSpPr>
          <p:nvPr/>
        </p:nvCxnSpPr>
        <p:spPr>
          <a:xfrm flipV="1">
            <a:off x="10648044" y="2508490"/>
            <a:ext cx="0" cy="2321252"/>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9CC79AE3-AE1E-EB18-3653-915B47431202}"/>
              </a:ext>
            </a:extLst>
          </p:cNvPr>
          <p:cNvSpPr txBox="1"/>
          <p:nvPr/>
        </p:nvSpPr>
        <p:spPr>
          <a:xfrm>
            <a:off x="7344196" y="2499112"/>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29" name="TextBox 28">
            <a:extLst>
              <a:ext uri="{FF2B5EF4-FFF2-40B4-BE49-F238E27FC236}">
                <a16:creationId xmlns:a16="http://schemas.microsoft.com/office/drawing/2014/main" id="{3B82B980-0260-A5F3-0D46-138BB3A8122F}"/>
              </a:ext>
            </a:extLst>
          </p:cNvPr>
          <p:cNvSpPr txBox="1"/>
          <p:nvPr/>
        </p:nvSpPr>
        <p:spPr>
          <a:xfrm>
            <a:off x="12868247" y="2466726"/>
            <a:ext cx="1112228" cy="276999"/>
          </a:xfrm>
          <a:prstGeom prst="rect">
            <a:avLst/>
          </a:prstGeom>
          <a:noFill/>
        </p:spPr>
        <p:txBody>
          <a:bodyPr wrap="none" rtlCol="0">
            <a:spAutoFit/>
          </a:bodyPr>
          <a:lstStyle/>
          <a:p>
            <a:r>
              <a:rPr lang="en-GB" sz="1200" b="1" noProof="0" dirty="0"/>
              <a:t>Characteristics</a:t>
            </a:r>
          </a:p>
        </p:txBody>
      </p:sp>
      <p:sp>
        <p:nvSpPr>
          <p:cNvPr id="30" name="TextBox 29">
            <a:extLst>
              <a:ext uri="{FF2B5EF4-FFF2-40B4-BE49-F238E27FC236}">
                <a16:creationId xmlns:a16="http://schemas.microsoft.com/office/drawing/2014/main" id="{E0127CD0-A30A-3E4B-80D2-EC7891FFBF89}"/>
              </a:ext>
            </a:extLst>
          </p:cNvPr>
          <p:cNvSpPr txBox="1"/>
          <p:nvPr/>
        </p:nvSpPr>
        <p:spPr>
          <a:xfrm>
            <a:off x="7359343" y="3596250"/>
            <a:ext cx="788164" cy="276999"/>
          </a:xfrm>
          <a:prstGeom prst="rect">
            <a:avLst/>
          </a:prstGeom>
          <a:noFill/>
        </p:spPr>
        <p:txBody>
          <a:bodyPr wrap="none" rtlCol="0">
            <a:spAutoFit/>
          </a:bodyPr>
          <a:lstStyle/>
          <a:p>
            <a:r>
              <a:rPr lang="en-GB" sz="1200" b="1" noProof="0" dirty="0"/>
              <a:t>Examples</a:t>
            </a:r>
          </a:p>
        </p:txBody>
      </p:sp>
      <p:sp>
        <p:nvSpPr>
          <p:cNvPr id="31" name="TextBox 30">
            <a:extLst>
              <a:ext uri="{FF2B5EF4-FFF2-40B4-BE49-F238E27FC236}">
                <a16:creationId xmlns:a16="http://schemas.microsoft.com/office/drawing/2014/main" id="{236EA4B5-685F-FB9D-170E-96DE654B5E77}"/>
              </a:ext>
            </a:extLst>
          </p:cNvPr>
          <p:cNvSpPr txBox="1"/>
          <p:nvPr/>
        </p:nvSpPr>
        <p:spPr>
          <a:xfrm>
            <a:off x="12796760" y="3571869"/>
            <a:ext cx="1172885" cy="276999"/>
          </a:xfrm>
          <a:prstGeom prst="rect">
            <a:avLst/>
          </a:prstGeom>
          <a:noFill/>
        </p:spPr>
        <p:txBody>
          <a:bodyPr wrap="none" rtlCol="0">
            <a:spAutoFit/>
          </a:bodyPr>
          <a:lstStyle/>
          <a:p>
            <a:r>
              <a:rPr lang="en-GB" sz="1200" b="1" noProof="0" dirty="0"/>
              <a:t>Non - Examples</a:t>
            </a:r>
          </a:p>
        </p:txBody>
      </p:sp>
      <p:sp>
        <p:nvSpPr>
          <p:cNvPr id="32" name="TextBox 31">
            <a:extLst>
              <a:ext uri="{FF2B5EF4-FFF2-40B4-BE49-F238E27FC236}">
                <a16:creationId xmlns:a16="http://schemas.microsoft.com/office/drawing/2014/main" id="{94F9D4A4-B330-827A-EB98-258FBB3C55EA}"/>
              </a:ext>
            </a:extLst>
          </p:cNvPr>
          <p:cNvSpPr txBox="1"/>
          <p:nvPr/>
        </p:nvSpPr>
        <p:spPr>
          <a:xfrm>
            <a:off x="7364975" y="2740169"/>
            <a:ext cx="3230335" cy="646331"/>
          </a:xfrm>
          <a:prstGeom prst="rect">
            <a:avLst/>
          </a:prstGeom>
          <a:noFill/>
        </p:spPr>
        <p:txBody>
          <a:bodyPr wrap="square" rtlCol="0">
            <a:spAutoFit/>
          </a:bodyPr>
          <a:lstStyle/>
          <a:p>
            <a:r>
              <a:rPr lang="en-GB" sz="1200" noProof="0" dirty="0"/>
              <a:t>A structured argument that follows a sequence of logical steps using facts and theorems to prove if a mathematical statement is true.</a:t>
            </a:r>
            <a:endParaRPr lang="en-GB" sz="600" noProof="0" dirty="0"/>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7D71C54-4428-2713-1F50-D9EA079F4E5F}"/>
                  </a:ext>
                </a:extLst>
              </p:cNvPr>
              <p:cNvSpPr txBox="1"/>
              <p:nvPr/>
            </p:nvSpPr>
            <p:spPr>
              <a:xfrm>
                <a:off x="10739310" y="2690130"/>
                <a:ext cx="3230335" cy="600164"/>
              </a:xfrm>
              <a:prstGeom prst="rect">
                <a:avLst/>
              </a:prstGeom>
              <a:noFill/>
            </p:spPr>
            <p:txBody>
              <a:bodyPr wrap="square" rtlCol="0">
                <a:spAutoFit/>
              </a:bodyPr>
              <a:lstStyle/>
              <a:p>
                <a:r>
                  <a:rPr lang="en-GB" sz="1100" noProof="0" dirty="0"/>
                  <a:t>For algebraic proof we perform proof by induction, this means it is true for </a:t>
                </a:r>
                <a:r>
                  <a:rPr lang="en-GB" sz="1100" b="1" noProof="0" dirty="0"/>
                  <a:t>any value. </a:t>
                </a:r>
              </a:p>
              <a:p>
                <a:r>
                  <a:rPr lang="en-GB" sz="1100" noProof="0" dirty="0"/>
                  <a:t>We tend to use </a:t>
                </a:r>
                <a14:m>
                  <m:oMath xmlns:m="http://schemas.openxmlformats.org/officeDocument/2006/math">
                    <m:r>
                      <a:rPr lang="en-GB" sz="1100" b="0" i="1" noProof="0" smtClean="0">
                        <a:latin typeface="Cambria Math" panose="02040503050406030204" pitchFamily="18" charset="0"/>
                      </a:rPr>
                      <m:t>𝑛</m:t>
                    </m:r>
                  </m:oMath>
                </a14:m>
                <a:r>
                  <a:rPr lang="en-GB" sz="1100" noProof="0" dirty="0"/>
                  <a:t> to denote </a:t>
                </a:r>
                <a:r>
                  <a:rPr lang="en-GB" sz="1100" b="1" noProof="0" dirty="0"/>
                  <a:t>any value. </a:t>
                </a:r>
              </a:p>
            </p:txBody>
          </p:sp>
        </mc:Choice>
        <mc:Fallback xmlns="">
          <p:sp>
            <p:nvSpPr>
              <p:cNvPr id="33" name="TextBox 32">
                <a:extLst>
                  <a:ext uri="{FF2B5EF4-FFF2-40B4-BE49-F238E27FC236}">
                    <a16:creationId xmlns:a16="http://schemas.microsoft.com/office/drawing/2014/main" id="{C7D71C54-4428-2713-1F50-D9EA079F4E5F}"/>
                  </a:ext>
                </a:extLst>
              </p:cNvPr>
              <p:cNvSpPr txBox="1">
                <a:spLocks noRot="1" noChangeAspect="1" noMove="1" noResize="1" noEditPoints="1" noAdjustHandles="1" noChangeArrowheads="1" noChangeShapeType="1" noTextEdit="1"/>
              </p:cNvSpPr>
              <p:nvPr/>
            </p:nvSpPr>
            <p:spPr>
              <a:xfrm>
                <a:off x="10739310" y="2690130"/>
                <a:ext cx="3230335" cy="600164"/>
              </a:xfrm>
              <a:prstGeom prst="rect">
                <a:avLst/>
              </a:prstGeom>
              <a:blipFill>
                <a:blip r:embed="rId4"/>
                <a:stretch>
                  <a:fillRect t="-1010" b="-6061"/>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3B6101FF-CD8B-F040-BC57-5B4DB18247F8}"/>
              </a:ext>
            </a:extLst>
          </p:cNvPr>
          <p:cNvSpPr txBox="1"/>
          <p:nvPr/>
        </p:nvSpPr>
        <p:spPr>
          <a:xfrm>
            <a:off x="10301096" y="3465729"/>
            <a:ext cx="693908" cy="369332"/>
          </a:xfrm>
          <a:prstGeom prst="rect">
            <a:avLst/>
          </a:prstGeom>
          <a:solidFill>
            <a:schemeClr val="bg1"/>
          </a:solidFill>
          <a:ln>
            <a:solidFill>
              <a:schemeClr val="tx1"/>
            </a:solidFill>
          </a:ln>
        </p:spPr>
        <p:txBody>
          <a:bodyPr wrap="none" rtlCol="0">
            <a:spAutoFit/>
          </a:bodyPr>
          <a:lstStyle/>
          <a:p>
            <a:r>
              <a:rPr lang="en-GB" noProof="0" dirty="0"/>
              <a:t>Proof</a:t>
            </a:r>
          </a:p>
        </p:txBody>
      </p:sp>
      <p:sp>
        <p:nvSpPr>
          <p:cNvPr id="35" name="Rectangle 34">
            <a:extLst>
              <a:ext uri="{FF2B5EF4-FFF2-40B4-BE49-F238E27FC236}">
                <a16:creationId xmlns:a16="http://schemas.microsoft.com/office/drawing/2014/main" id="{591A46C5-8A1A-0454-DDDF-EC783C3496A7}"/>
              </a:ext>
            </a:extLst>
          </p:cNvPr>
          <p:cNvSpPr/>
          <p:nvPr/>
        </p:nvSpPr>
        <p:spPr>
          <a:xfrm>
            <a:off x="7359343" y="3862441"/>
            <a:ext cx="3273285" cy="830997"/>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2n + 1 + 2n + 3 = 4n + 4 = 4(n + 1)</a:t>
            </a:r>
          </a:p>
        </p:txBody>
      </p: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71E2525B-096F-AE29-0F1F-8DA31F587FC1}"/>
                  </a:ext>
                </a:extLst>
              </p:cNvPr>
              <p:cNvSpPr/>
              <p:nvPr/>
            </p:nvSpPr>
            <p:spPr>
              <a:xfrm>
                <a:off x="10652804" y="3820501"/>
                <a:ext cx="3273285" cy="1015663"/>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3 + 5 = 8   8 </a:t>
                </a:r>
                <a14:m>
                  <m:oMath xmlns:m="http://schemas.openxmlformats.org/officeDocument/2006/math">
                    <m:r>
                      <a:rPr lang="en-GB" sz="1200" i="1" noProof="0" smtClean="0">
                        <a:latin typeface="Cambria Math" panose="02040503050406030204" pitchFamily="18" charset="0"/>
                        <a:ea typeface="Cambria Math" panose="02040503050406030204" pitchFamily="18" charset="0"/>
                      </a:rPr>
                      <m:t>÷</m:t>
                    </m:r>
                  </m:oMath>
                </a14:m>
                <a:r>
                  <a:rPr lang="en-GB" sz="1200" noProof="0" dirty="0"/>
                  <a:t> 4 = 2 so it is proved. (Why is this incorrect?</a:t>
                </a:r>
              </a:p>
            </p:txBody>
          </p:sp>
        </mc:Choice>
        <mc:Fallback xmlns="">
          <p:sp>
            <p:nvSpPr>
              <p:cNvPr id="41" name="Rectangle 40">
                <a:extLst>
                  <a:ext uri="{FF2B5EF4-FFF2-40B4-BE49-F238E27FC236}">
                    <a16:creationId xmlns:a16="http://schemas.microsoft.com/office/drawing/2014/main" id="{71E2525B-096F-AE29-0F1F-8DA31F587FC1}"/>
                  </a:ext>
                </a:extLst>
              </p:cNvPr>
              <p:cNvSpPr>
                <a:spLocks noRot="1" noChangeAspect="1" noMove="1" noResize="1" noEditPoints="1" noAdjustHandles="1" noChangeArrowheads="1" noChangeShapeType="1" noTextEdit="1"/>
              </p:cNvSpPr>
              <p:nvPr/>
            </p:nvSpPr>
            <p:spPr>
              <a:xfrm>
                <a:off x="10652804" y="3820501"/>
                <a:ext cx="3273285" cy="1015663"/>
              </a:xfrm>
              <a:prstGeom prst="rect">
                <a:avLst/>
              </a:prstGeom>
              <a:blipFill>
                <a:blip r:embed="rId5"/>
                <a:stretch>
                  <a:fillRect l="-187" t="-602" b="-4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3F773D4-8E17-F616-0489-1A15DBC938DE}"/>
                  </a:ext>
                </a:extLst>
              </p:cNvPr>
              <p:cNvSpPr txBox="1"/>
              <p:nvPr/>
            </p:nvSpPr>
            <p:spPr>
              <a:xfrm>
                <a:off x="107398" y="371082"/>
                <a:ext cx="6643204" cy="1938992"/>
              </a:xfrm>
              <a:prstGeom prst="rect">
                <a:avLst/>
              </a:prstGeom>
              <a:noFill/>
              <a:ln>
                <a:solidFill>
                  <a:schemeClr val="tx1"/>
                </a:solidFill>
              </a:ln>
            </p:spPr>
            <p:txBody>
              <a:bodyPr wrap="square" rtlCol="0">
                <a:spAutoFit/>
              </a:bodyPr>
              <a:lstStyle/>
              <a:p>
                <a:r>
                  <a:rPr lang="en-GB" sz="1200" noProof="0" dirty="0"/>
                  <a:t>If a term or an expression is divisible by an integer</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𝑘</m:t>
                    </m:r>
                  </m:oMath>
                </a14:m>
                <a:r>
                  <a:rPr lang="en-GB" sz="1200" noProof="0" dirty="0"/>
                  <a:t>, it can be written as </a:t>
                </a:r>
                <a14:m>
                  <m:oMath xmlns:m="http://schemas.openxmlformats.org/officeDocument/2006/math">
                    <m:r>
                      <a:rPr lang="en-GB" sz="1200" i="1" noProof="0">
                        <a:latin typeface="Cambria Math" panose="02040503050406030204" pitchFamily="18" charset="0"/>
                      </a:rPr>
                      <m:t>𝑘𝑛</m:t>
                    </m:r>
                  </m:oMath>
                </a14:m>
                <a:r>
                  <a:rPr lang="en-GB" sz="1200" noProof="0" dirty="0"/>
                  <a:t> or  </a:t>
                </a:r>
                <a14:m>
                  <m:oMath xmlns:m="http://schemas.openxmlformats.org/officeDocument/2006/math">
                    <m:r>
                      <a:rPr lang="en-GB" sz="1200" i="1" noProof="0">
                        <a:latin typeface="Cambria Math" panose="02040503050406030204" pitchFamily="18" charset="0"/>
                      </a:rPr>
                      <m:t>𝑘</m:t>
                    </m:r>
                    <m:r>
                      <a:rPr lang="en-GB" sz="1200" i="1" noProof="0">
                        <a:latin typeface="Cambria Math" panose="02040503050406030204" pitchFamily="18" charset="0"/>
                      </a:rPr>
                      <m:t>(…)</m:t>
                    </m:r>
                  </m:oMath>
                </a14:m>
                <a:r>
                  <a:rPr lang="en-GB" sz="1200" noProof="0" dirty="0"/>
                  <a:t> where </a:t>
                </a:r>
                <a14:m>
                  <m:oMath xmlns:m="http://schemas.openxmlformats.org/officeDocument/2006/math">
                    <m:r>
                      <a:rPr lang="en-GB" sz="1200" i="1" noProof="0">
                        <a:latin typeface="Cambria Math" panose="02040503050406030204" pitchFamily="18" charset="0"/>
                      </a:rPr>
                      <m:t>𝑘</m:t>
                    </m:r>
                  </m:oMath>
                </a14:m>
                <a:r>
                  <a:rPr lang="en-GB" sz="1200" noProof="0" dirty="0"/>
                  <a:t> is factorised out as a factor.</a:t>
                </a:r>
              </a:p>
              <a:p>
                <a:endParaRPr lang="en-GB" sz="1200" noProof="0" dirty="0"/>
              </a:p>
              <a:p>
                <a:r>
                  <a:rPr lang="en-GB" sz="1200" noProof="0" dirty="0"/>
                  <a:t>For example, if we are told that </a:t>
                </a:r>
                <a14:m>
                  <m:oMath xmlns:m="http://schemas.openxmlformats.org/officeDocument/2006/math">
                    <m:r>
                      <a:rPr lang="en-GB" sz="1200" b="0" i="1" noProof="0" smtClean="0">
                        <a:latin typeface="Cambria Math" panose="02040503050406030204" pitchFamily="18" charset="0"/>
                      </a:rPr>
                      <m:t>𝑛</m:t>
                    </m:r>
                    <m:r>
                      <a:rPr lang="en-GB" sz="1200" b="0" i="1" noProof="0" smtClean="0">
                        <a:latin typeface="Cambria Math" panose="02040503050406030204" pitchFamily="18" charset="0"/>
                      </a:rPr>
                      <m:t> </m:t>
                    </m:r>
                  </m:oMath>
                </a14:m>
                <a:r>
                  <a:rPr lang="en-GB" sz="1200" noProof="0" dirty="0"/>
                  <a:t>is an integer then to show that </a:t>
                </a:r>
                <a14:m>
                  <m:oMath xmlns:m="http://schemas.openxmlformats.org/officeDocument/2006/math">
                    <m:r>
                      <a:rPr lang="en-GB" sz="1200" b="0" i="1" noProof="0" smtClean="0">
                        <a:latin typeface="Cambria Math" panose="02040503050406030204" pitchFamily="18" charset="0"/>
                      </a:rPr>
                      <m:t>20</m:t>
                    </m:r>
                    <m:r>
                      <a:rPr lang="en-GB" sz="1200" b="0" i="1" noProof="0" smtClean="0">
                        <a:latin typeface="Cambria Math" panose="02040503050406030204" pitchFamily="18" charset="0"/>
                      </a:rPr>
                      <m:t>𝑛</m:t>
                    </m:r>
                    <m:r>
                      <a:rPr lang="en-GB" sz="1200" b="0" i="1" noProof="0" smtClean="0">
                        <a:latin typeface="Cambria Math" panose="02040503050406030204" pitchFamily="18" charset="0"/>
                      </a:rPr>
                      <m:t>−12 </m:t>
                    </m:r>
                  </m:oMath>
                </a14:m>
                <a:r>
                  <a:rPr lang="en-GB" sz="1200" noProof="0" dirty="0"/>
                  <a:t>is divisible by 4 we can factorise out the 4 as follows:</a:t>
                </a:r>
              </a:p>
              <a:p>
                <a:endParaRPr lang="en-GB" sz="1200" noProof="0" dirty="0"/>
              </a:p>
              <a:p>
                <a:endParaRPr lang="en-GB" sz="1200" noProof="0" dirty="0"/>
              </a:p>
              <a:p>
                <a:r>
                  <a:rPr lang="en-GB" sz="1200" noProof="0" dirty="0"/>
                  <a:t>And write our conclusion as follows: __________________________________________________</a:t>
                </a:r>
              </a:p>
              <a:p>
                <a:endParaRPr lang="en-GB" sz="1200" noProof="0" dirty="0"/>
              </a:p>
              <a:p>
                <a:endParaRPr lang="en-GB" sz="1200" noProof="0" dirty="0"/>
              </a:p>
            </p:txBody>
          </p:sp>
        </mc:Choice>
        <mc:Fallback xmlns="">
          <p:sp>
            <p:nvSpPr>
              <p:cNvPr id="2" name="TextBox 1">
                <a:extLst>
                  <a:ext uri="{FF2B5EF4-FFF2-40B4-BE49-F238E27FC236}">
                    <a16:creationId xmlns:a16="http://schemas.microsoft.com/office/drawing/2014/main" id="{33F773D4-8E17-F616-0489-1A15DBC938DE}"/>
                  </a:ext>
                </a:extLst>
              </p:cNvPr>
              <p:cNvSpPr txBox="1">
                <a:spLocks noRot="1" noChangeAspect="1" noMove="1" noResize="1" noEditPoints="1" noAdjustHandles="1" noChangeArrowheads="1" noChangeShapeType="1" noTextEdit="1"/>
              </p:cNvSpPr>
              <p:nvPr/>
            </p:nvSpPr>
            <p:spPr>
              <a:xfrm>
                <a:off x="107398" y="371082"/>
                <a:ext cx="6643204" cy="1938992"/>
              </a:xfrm>
              <a:prstGeom prst="rect">
                <a:avLst/>
              </a:prstGeom>
              <a:blipFill>
                <a:blip r:embed="rId6"/>
                <a:stretch>
                  <a:fillRect/>
                </a:stretch>
              </a:blipFill>
              <a:ln>
                <a:solidFill>
                  <a:schemeClr val="tx1"/>
                </a:solid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68CFD852-7130-84D5-519C-3AEED6263563}"/>
              </a:ext>
            </a:extLst>
          </p:cNvPr>
          <p:cNvSpPr txBox="1"/>
          <p:nvPr/>
        </p:nvSpPr>
        <p:spPr>
          <a:xfrm>
            <a:off x="0" y="2297300"/>
            <a:ext cx="1762598" cy="276999"/>
          </a:xfrm>
          <a:prstGeom prst="rect">
            <a:avLst/>
          </a:prstGeom>
          <a:solidFill>
            <a:srgbClr val="0070C0"/>
          </a:solidFill>
        </p:spPr>
        <p:txBody>
          <a:bodyPr wrap="none" rtlCol="0" anchor="ctr">
            <a:spAutoFit/>
          </a:bodyPr>
          <a:lstStyle/>
          <a:p>
            <a:pPr algn="r"/>
            <a:r>
              <a:rPr lang="en-GB" sz="1200" b="1" noProof="0" dirty="0">
                <a:solidFill>
                  <a:schemeClr val="bg1"/>
                </a:solidFill>
              </a:rPr>
              <a:t>INDEPENDENT PRACTICE</a:t>
            </a:r>
          </a:p>
        </p:txBody>
      </p:sp>
      <p:sp>
        <p:nvSpPr>
          <p:cNvPr id="5" name="TextBox 4">
            <a:extLst>
              <a:ext uri="{FF2B5EF4-FFF2-40B4-BE49-F238E27FC236}">
                <a16:creationId xmlns:a16="http://schemas.microsoft.com/office/drawing/2014/main" id="{FF54C246-65BB-E5A6-D667-860F1AE8599F}"/>
              </a:ext>
            </a:extLst>
          </p:cNvPr>
          <p:cNvSpPr txBox="1"/>
          <p:nvPr/>
        </p:nvSpPr>
        <p:spPr>
          <a:xfrm>
            <a:off x="1701498" y="2344599"/>
            <a:ext cx="5227117" cy="553998"/>
          </a:xfrm>
          <a:prstGeom prst="rect">
            <a:avLst/>
          </a:prstGeom>
          <a:noFill/>
        </p:spPr>
        <p:txBody>
          <a:bodyPr wrap="square" rtlCol="0">
            <a:spAutoFit/>
          </a:bodyPr>
          <a:lstStyle/>
          <a:p>
            <a:r>
              <a:rPr lang="en-GB" sz="1200" noProof="0" dirty="0"/>
              <a:t>1. Prove that the following expressions are divisible by the factors listed in </a:t>
            </a:r>
            <a:r>
              <a:rPr lang="en-GB" sz="1200" b="1" noProof="0" dirty="0"/>
              <a:t>bold</a:t>
            </a:r>
            <a:r>
              <a:rPr lang="en-GB" sz="1200" noProof="0" dirty="0"/>
              <a:t>.</a:t>
            </a:r>
          </a:p>
          <a:p>
            <a:endParaRPr lang="en-GB" noProof="0"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05ADDACF-3FA5-F39A-B8F4-E23FB25AE583}"/>
                  </a:ext>
                </a:extLst>
              </p:cNvPr>
              <p:cNvGraphicFramePr>
                <a:graphicFrameLocks noGrp="1"/>
              </p:cNvGraphicFramePr>
              <p:nvPr>
                <p:extLst>
                  <p:ext uri="{D42A27DB-BD31-4B8C-83A1-F6EECF244321}">
                    <p14:modId xmlns:p14="http://schemas.microsoft.com/office/powerpoint/2010/main" val="1225001443"/>
                  </p:ext>
                </p:extLst>
              </p:nvPr>
            </p:nvGraphicFramePr>
            <p:xfrm>
              <a:off x="100142" y="2634740"/>
              <a:ext cx="6621887" cy="2058699"/>
            </p:xfrm>
            <a:graphic>
              <a:graphicData uri="http://schemas.openxmlformats.org/drawingml/2006/table">
                <a:tbl>
                  <a:tblPr firstRow="1" firstCol="1" bandRow="1">
                    <a:tableStyleId>{5C22544A-7EE6-4342-B048-85BDC9FD1C3A}</a:tableStyleId>
                  </a:tblPr>
                  <a:tblGrid>
                    <a:gridCol w="588919">
                      <a:extLst>
                        <a:ext uri="{9D8B030D-6E8A-4147-A177-3AD203B41FA5}">
                          <a16:colId xmlns:a16="http://schemas.microsoft.com/office/drawing/2014/main" val="2170590296"/>
                        </a:ext>
                      </a:extLst>
                    </a:gridCol>
                    <a:gridCol w="1581543">
                      <a:extLst>
                        <a:ext uri="{9D8B030D-6E8A-4147-A177-3AD203B41FA5}">
                          <a16:colId xmlns:a16="http://schemas.microsoft.com/office/drawing/2014/main" val="2281464178"/>
                        </a:ext>
                      </a:extLst>
                    </a:gridCol>
                    <a:gridCol w="588919">
                      <a:extLst>
                        <a:ext uri="{9D8B030D-6E8A-4147-A177-3AD203B41FA5}">
                          <a16:colId xmlns:a16="http://schemas.microsoft.com/office/drawing/2014/main" val="1626324929"/>
                        </a:ext>
                      </a:extLst>
                    </a:gridCol>
                    <a:gridCol w="1585938">
                      <a:extLst>
                        <a:ext uri="{9D8B030D-6E8A-4147-A177-3AD203B41FA5}">
                          <a16:colId xmlns:a16="http://schemas.microsoft.com/office/drawing/2014/main" val="582988560"/>
                        </a:ext>
                      </a:extLst>
                    </a:gridCol>
                    <a:gridCol w="590803">
                      <a:extLst>
                        <a:ext uri="{9D8B030D-6E8A-4147-A177-3AD203B41FA5}">
                          <a16:colId xmlns:a16="http://schemas.microsoft.com/office/drawing/2014/main" val="1205657201"/>
                        </a:ext>
                      </a:extLst>
                    </a:gridCol>
                    <a:gridCol w="1685765">
                      <a:extLst>
                        <a:ext uri="{9D8B030D-6E8A-4147-A177-3AD203B41FA5}">
                          <a16:colId xmlns:a16="http://schemas.microsoft.com/office/drawing/2014/main" val="4074606001"/>
                        </a:ext>
                      </a:extLst>
                    </a:gridCol>
                  </a:tblGrid>
                  <a:tr h="686233">
                    <a:tc>
                      <a:txBody>
                        <a:bodyPr/>
                        <a:lstStyle/>
                        <a:p>
                          <a:pPr algn="ctr">
                            <a:lnSpc>
                              <a:spcPct val="107000"/>
                            </a:lnSpc>
                            <a:spcAft>
                              <a:spcPts val="800"/>
                            </a:spcAft>
                            <a:buNone/>
                          </a:pPr>
                          <a:r>
                            <a:rPr lang="en-GB" sz="1200" noProof="0" dirty="0">
                              <a:solidFill>
                                <a:schemeClr val="tx1"/>
                              </a:solidFill>
                              <a:effectLst/>
                            </a:rPr>
                            <a:t>2</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14−6</m:t>
                                </m:r>
                                <m:r>
                                  <a:rPr lang="en-GB" sz="1200" noProof="0" smtClean="0">
                                    <a:solidFill>
                                      <a:schemeClr val="tx1"/>
                                    </a:solidFill>
                                    <a:effectLst/>
                                    <a:latin typeface="Cambria Math" panose="02040503050406030204" pitchFamily="18" charset="0"/>
                                  </a:rPr>
                                  <m:t>𝑛</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noProof="0" dirty="0">
                              <a:solidFill>
                                <a:schemeClr val="tx1"/>
                              </a:solidFill>
                              <a:effectLst/>
                            </a:rPr>
                            <a:t>3</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12</m:t>
                                </m:r>
                                <m:sSup>
                                  <m:sSupPr>
                                    <m:ctrlPr>
                                      <a:rPr lang="en-GB" sz="1200" i="1" noProof="0" smtClean="0">
                                        <a:solidFill>
                                          <a:schemeClr val="tx1"/>
                                        </a:solidFill>
                                        <a:effectLst/>
                                        <a:latin typeface="Cambria Math" panose="02040503050406030204" pitchFamily="18" charset="0"/>
                                      </a:rPr>
                                    </m:ctrlPr>
                                  </m:sSupPr>
                                  <m:e>
                                    <m:r>
                                      <a:rPr lang="en-GB" sz="1200" noProof="0">
                                        <a:solidFill>
                                          <a:schemeClr val="tx1"/>
                                        </a:solidFill>
                                        <a:effectLst/>
                                        <a:latin typeface="Cambria Math" panose="02040503050406030204" pitchFamily="18" charset="0"/>
                                      </a:rPr>
                                      <m:t>𝑛</m:t>
                                    </m:r>
                                  </m:e>
                                  <m:sup>
                                    <m:r>
                                      <a:rPr lang="en-GB" sz="1200" noProof="0">
                                        <a:solidFill>
                                          <a:schemeClr val="tx1"/>
                                        </a:solidFill>
                                        <a:effectLst/>
                                        <a:latin typeface="Cambria Math" panose="02040503050406030204" pitchFamily="18" charset="0"/>
                                      </a:rPr>
                                      <m:t>2</m:t>
                                    </m:r>
                                  </m:sup>
                                </m:sSup>
                                <m:r>
                                  <a:rPr lang="en-GB" sz="1200" noProof="0">
                                    <a:solidFill>
                                      <a:schemeClr val="tx1"/>
                                    </a:solidFill>
                                    <a:effectLst/>
                                    <a:latin typeface="Cambria Math" panose="02040503050406030204" pitchFamily="18" charset="0"/>
                                  </a:rPr>
                                  <m:t>−6</m:t>
                                </m:r>
                                <m:r>
                                  <a:rPr lang="en-GB" sz="1200" noProof="0">
                                    <a:solidFill>
                                      <a:schemeClr val="tx1"/>
                                    </a:solidFill>
                                    <a:effectLst/>
                                    <a:latin typeface="Cambria Math" panose="02040503050406030204" pitchFamily="18" charset="0"/>
                                  </a:rPr>
                                  <m:t>𝑛</m:t>
                                </m:r>
                                <m:r>
                                  <a:rPr lang="en-GB" sz="1200" noProof="0">
                                    <a:solidFill>
                                      <a:schemeClr val="tx1"/>
                                    </a:solidFill>
                                    <a:effectLst/>
                                    <a:latin typeface="Cambria Math" panose="02040503050406030204" pitchFamily="18" charset="0"/>
                                  </a:rPr>
                                  <m:t>−9</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b="1" noProof="0" dirty="0">
                              <a:solidFill>
                                <a:schemeClr val="tx1"/>
                              </a:solidFill>
                              <a:effectLst/>
                            </a:rPr>
                            <a:t>11</a:t>
                          </a:r>
                          <a:endParaRPr lang="en-GB" sz="1100" b="1"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121</m:t>
                                </m:r>
                                <m:r>
                                  <a:rPr lang="en-GB" sz="1200" noProof="0" smtClean="0">
                                    <a:solidFill>
                                      <a:schemeClr val="tx1"/>
                                    </a:solidFill>
                                    <a:effectLst/>
                                    <a:latin typeface="Cambria Math" panose="02040503050406030204" pitchFamily="18" charset="0"/>
                                  </a:rPr>
                                  <m:t>𝑛</m:t>
                                </m:r>
                                <m:r>
                                  <a:rPr lang="en-GB" sz="1200" noProof="0" smtClean="0">
                                    <a:solidFill>
                                      <a:schemeClr val="tx1"/>
                                    </a:solidFill>
                                    <a:effectLst/>
                                    <a:latin typeface="Cambria Math" panose="02040503050406030204" pitchFamily="18" charset="0"/>
                                  </a:rPr>
                                  <m:t>−88</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853345"/>
                      </a:ext>
                    </a:extLst>
                  </a:tr>
                  <a:tr h="686233">
                    <a:tc>
                      <a:txBody>
                        <a:bodyPr/>
                        <a:lstStyle/>
                        <a:p>
                          <a:pPr algn="ctr">
                            <a:lnSpc>
                              <a:spcPct val="107000"/>
                            </a:lnSpc>
                            <a:spcAft>
                              <a:spcPts val="800"/>
                            </a:spcAft>
                            <a:buNone/>
                          </a:pPr>
                          <a:r>
                            <a:rPr lang="en-GB" sz="1200" noProof="0" dirty="0">
                              <a:solidFill>
                                <a:schemeClr val="tx1"/>
                              </a:solidFill>
                              <a:effectLst/>
                            </a:rPr>
                            <a:t>5</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30</m:t>
                                </m:r>
                                <m:r>
                                  <a:rPr lang="en-GB" sz="1200" noProof="0" smtClean="0">
                                    <a:solidFill>
                                      <a:schemeClr val="tx1"/>
                                    </a:solidFill>
                                    <a:effectLst/>
                                    <a:latin typeface="Cambria Math" panose="02040503050406030204" pitchFamily="18" charset="0"/>
                                  </a:rPr>
                                  <m:t>𝑛</m:t>
                                </m:r>
                                <m:r>
                                  <a:rPr lang="en-GB" sz="1200" noProof="0" smtClean="0">
                                    <a:solidFill>
                                      <a:schemeClr val="tx1"/>
                                    </a:solidFill>
                                    <a:effectLst/>
                                    <a:latin typeface="Cambria Math" panose="02040503050406030204" pitchFamily="18" charset="0"/>
                                  </a:rPr>
                                  <m:t>−25</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noProof="0" dirty="0">
                              <a:solidFill>
                                <a:schemeClr val="tx1"/>
                              </a:solidFill>
                              <a:effectLst/>
                            </a:rPr>
                            <a:t>6</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42−36</m:t>
                                </m:r>
                                <m:sSup>
                                  <m:sSupPr>
                                    <m:ctrlPr>
                                      <a:rPr lang="en-GB" sz="1200" i="1" noProof="0" smtClean="0">
                                        <a:solidFill>
                                          <a:schemeClr val="tx1"/>
                                        </a:solidFill>
                                        <a:effectLst/>
                                        <a:latin typeface="Cambria Math" panose="02040503050406030204" pitchFamily="18" charset="0"/>
                                      </a:rPr>
                                    </m:ctrlPr>
                                  </m:sSupPr>
                                  <m:e>
                                    <m:r>
                                      <a:rPr lang="en-GB" sz="1200" noProof="0">
                                        <a:solidFill>
                                          <a:schemeClr val="tx1"/>
                                        </a:solidFill>
                                        <a:effectLst/>
                                        <a:latin typeface="Cambria Math" panose="02040503050406030204" pitchFamily="18" charset="0"/>
                                      </a:rPr>
                                      <m:t>𝑛</m:t>
                                    </m:r>
                                  </m:e>
                                  <m:sup>
                                    <m:r>
                                      <a:rPr lang="en-GB" sz="1200" noProof="0">
                                        <a:solidFill>
                                          <a:schemeClr val="tx1"/>
                                        </a:solidFill>
                                        <a:effectLst/>
                                        <a:latin typeface="Cambria Math" panose="02040503050406030204" pitchFamily="18" charset="0"/>
                                      </a:rPr>
                                      <m:t>2</m:t>
                                    </m:r>
                                  </m:sup>
                                </m:sSup>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b="1" noProof="0" dirty="0">
                              <a:solidFill>
                                <a:schemeClr val="tx1"/>
                              </a:solidFill>
                              <a:effectLst/>
                            </a:rPr>
                            <a:t>10</a:t>
                          </a:r>
                          <a:endParaRPr lang="en-GB" sz="1100" b="1"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420−50</m:t>
                                </m:r>
                                <m:r>
                                  <a:rPr lang="en-GB" sz="1200" noProof="0" smtClean="0">
                                    <a:solidFill>
                                      <a:schemeClr val="tx1"/>
                                    </a:solidFill>
                                    <a:effectLst/>
                                    <a:latin typeface="Cambria Math" panose="02040503050406030204" pitchFamily="18" charset="0"/>
                                  </a:rPr>
                                  <m:t>𝑛</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5220457"/>
                      </a:ext>
                    </a:extLst>
                  </a:tr>
                  <a:tr h="686233">
                    <a:tc>
                      <a:txBody>
                        <a:bodyPr/>
                        <a:lstStyle/>
                        <a:p>
                          <a:pPr algn="ctr">
                            <a:lnSpc>
                              <a:spcPct val="107000"/>
                            </a:lnSpc>
                            <a:spcAft>
                              <a:spcPts val="800"/>
                            </a:spcAft>
                            <a:buNone/>
                          </a:pPr>
                          <a:r>
                            <a:rPr lang="en-GB" sz="1200" noProof="0" dirty="0">
                              <a:solidFill>
                                <a:schemeClr val="tx1"/>
                              </a:solidFill>
                              <a:effectLst/>
                            </a:rPr>
                            <a:t>7</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7</m:t>
                                </m:r>
                                <m:sSup>
                                  <m:sSupPr>
                                    <m:ctrlPr>
                                      <a:rPr lang="en-GB" sz="1200" i="1" noProof="0" smtClean="0">
                                        <a:solidFill>
                                          <a:schemeClr val="tx1"/>
                                        </a:solidFill>
                                        <a:effectLst/>
                                        <a:latin typeface="Cambria Math" panose="02040503050406030204" pitchFamily="18" charset="0"/>
                                      </a:rPr>
                                    </m:ctrlPr>
                                  </m:sSupPr>
                                  <m:e>
                                    <m:r>
                                      <a:rPr lang="en-GB" sz="1200" noProof="0">
                                        <a:solidFill>
                                          <a:schemeClr val="tx1"/>
                                        </a:solidFill>
                                        <a:effectLst/>
                                        <a:latin typeface="Cambria Math" panose="02040503050406030204" pitchFamily="18" charset="0"/>
                                      </a:rPr>
                                      <m:t>𝑛</m:t>
                                    </m:r>
                                  </m:e>
                                  <m:sup>
                                    <m:r>
                                      <a:rPr lang="en-GB" sz="1200" noProof="0">
                                        <a:solidFill>
                                          <a:schemeClr val="tx1"/>
                                        </a:solidFill>
                                        <a:effectLst/>
                                        <a:latin typeface="Cambria Math" panose="02040503050406030204" pitchFamily="18" charset="0"/>
                                      </a:rPr>
                                      <m:t>2</m:t>
                                    </m:r>
                                  </m:sup>
                                </m:sSup>
                                <m:r>
                                  <a:rPr lang="en-GB" sz="1200" noProof="0">
                                    <a:solidFill>
                                      <a:schemeClr val="tx1"/>
                                    </a:solidFill>
                                    <a:effectLst/>
                                    <a:latin typeface="Cambria Math" panose="02040503050406030204" pitchFamily="18" charset="0"/>
                                  </a:rPr>
                                  <m:t>−35</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noProof="0" dirty="0">
                              <a:solidFill>
                                <a:schemeClr val="tx1"/>
                              </a:solidFill>
                              <a:effectLst/>
                            </a:rPr>
                            <a:t>8</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8−16</m:t>
                                </m:r>
                                <m:sSup>
                                  <m:sSupPr>
                                    <m:ctrlPr>
                                      <a:rPr lang="en-GB" sz="1200" i="1" noProof="0" smtClean="0">
                                        <a:solidFill>
                                          <a:schemeClr val="tx1"/>
                                        </a:solidFill>
                                        <a:effectLst/>
                                        <a:latin typeface="Cambria Math" panose="02040503050406030204" pitchFamily="18" charset="0"/>
                                      </a:rPr>
                                    </m:ctrlPr>
                                  </m:sSupPr>
                                  <m:e>
                                    <m:r>
                                      <a:rPr lang="en-GB" sz="1200" noProof="0">
                                        <a:solidFill>
                                          <a:schemeClr val="tx1"/>
                                        </a:solidFill>
                                        <a:effectLst/>
                                        <a:latin typeface="Cambria Math" panose="02040503050406030204" pitchFamily="18" charset="0"/>
                                      </a:rPr>
                                      <m:t>𝑛</m:t>
                                    </m:r>
                                  </m:e>
                                  <m:sup>
                                    <m:r>
                                      <a:rPr lang="en-GB" sz="1200" noProof="0">
                                        <a:solidFill>
                                          <a:schemeClr val="tx1"/>
                                        </a:solidFill>
                                        <a:effectLst/>
                                        <a:latin typeface="Cambria Math" panose="02040503050406030204" pitchFamily="18" charset="0"/>
                                      </a:rPr>
                                      <m:t>2</m:t>
                                    </m:r>
                                  </m:sup>
                                </m:sSup>
                                <m:r>
                                  <a:rPr lang="en-GB" sz="1200" noProof="0">
                                    <a:solidFill>
                                      <a:schemeClr val="tx1"/>
                                    </a:solidFill>
                                    <a:effectLst/>
                                    <a:latin typeface="Cambria Math" panose="02040503050406030204" pitchFamily="18" charset="0"/>
                                  </a:rPr>
                                  <m:t>+24</m:t>
                                </m:r>
                                <m:r>
                                  <a:rPr lang="en-GB" sz="1200" noProof="0">
                                    <a:solidFill>
                                      <a:schemeClr val="tx1"/>
                                    </a:solidFill>
                                    <a:effectLst/>
                                    <a:latin typeface="Cambria Math" panose="02040503050406030204" pitchFamily="18" charset="0"/>
                                  </a:rPr>
                                  <m:t>𝑛</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b="1" noProof="0" dirty="0">
                              <a:solidFill>
                                <a:schemeClr val="tx1"/>
                              </a:solidFill>
                              <a:effectLst/>
                            </a:rPr>
                            <a:t>2</a:t>
                          </a:r>
                          <a:endParaRPr lang="en-GB" sz="1100" b="1"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26</m:t>
                                </m:r>
                                <m:sSup>
                                  <m:sSupPr>
                                    <m:ctrlPr>
                                      <a:rPr lang="en-GB" sz="1200" i="1" noProof="0" smtClean="0">
                                        <a:solidFill>
                                          <a:schemeClr val="tx1"/>
                                        </a:solidFill>
                                        <a:effectLst/>
                                        <a:latin typeface="Cambria Math" panose="02040503050406030204" pitchFamily="18" charset="0"/>
                                      </a:rPr>
                                    </m:ctrlPr>
                                  </m:sSupPr>
                                  <m:e>
                                    <m:r>
                                      <a:rPr lang="en-GB" sz="1200" noProof="0">
                                        <a:solidFill>
                                          <a:schemeClr val="tx1"/>
                                        </a:solidFill>
                                        <a:effectLst/>
                                        <a:latin typeface="Cambria Math" panose="02040503050406030204" pitchFamily="18" charset="0"/>
                                      </a:rPr>
                                      <m:t>𝑛</m:t>
                                    </m:r>
                                  </m:e>
                                  <m:sup>
                                    <m:r>
                                      <a:rPr lang="en-GB" sz="1200" noProof="0">
                                        <a:solidFill>
                                          <a:schemeClr val="tx1"/>
                                        </a:solidFill>
                                        <a:effectLst/>
                                        <a:latin typeface="Cambria Math" panose="02040503050406030204" pitchFamily="18" charset="0"/>
                                      </a:rPr>
                                      <m:t>2</m:t>
                                    </m:r>
                                  </m:sup>
                                </m:sSup>
                                <m:r>
                                  <a:rPr lang="en-GB" sz="1200" noProof="0">
                                    <a:solidFill>
                                      <a:schemeClr val="tx1"/>
                                    </a:solidFill>
                                    <a:effectLst/>
                                    <a:latin typeface="Cambria Math" panose="02040503050406030204" pitchFamily="18" charset="0"/>
                                  </a:rPr>
                                  <m:t>−6+18</m:t>
                                </m:r>
                                <m:r>
                                  <a:rPr lang="en-GB" sz="1200" noProof="0">
                                    <a:solidFill>
                                      <a:schemeClr val="tx1"/>
                                    </a:solidFill>
                                    <a:effectLst/>
                                    <a:latin typeface="Cambria Math" panose="02040503050406030204" pitchFamily="18" charset="0"/>
                                  </a:rPr>
                                  <m:t>𝑛</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5989639"/>
                      </a:ext>
                    </a:extLst>
                  </a:tr>
                </a:tbl>
              </a:graphicData>
            </a:graphic>
          </p:graphicFrame>
        </mc:Choice>
        <mc:Fallback xmlns="">
          <p:graphicFrame>
            <p:nvGraphicFramePr>
              <p:cNvPr id="6" name="Table 5">
                <a:extLst>
                  <a:ext uri="{FF2B5EF4-FFF2-40B4-BE49-F238E27FC236}">
                    <a16:creationId xmlns:a16="http://schemas.microsoft.com/office/drawing/2014/main" id="{05ADDACF-3FA5-F39A-B8F4-E23FB25AE583}"/>
                  </a:ext>
                </a:extLst>
              </p:cNvPr>
              <p:cNvGraphicFramePr>
                <a:graphicFrameLocks noGrp="1"/>
              </p:cNvGraphicFramePr>
              <p:nvPr>
                <p:extLst>
                  <p:ext uri="{D42A27DB-BD31-4B8C-83A1-F6EECF244321}">
                    <p14:modId xmlns:p14="http://schemas.microsoft.com/office/powerpoint/2010/main" val="1225001443"/>
                  </p:ext>
                </p:extLst>
              </p:nvPr>
            </p:nvGraphicFramePr>
            <p:xfrm>
              <a:off x="100142" y="2634740"/>
              <a:ext cx="6621887" cy="2058699"/>
            </p:xfrm>
            <a:graphic>
              <a:graphicData uri="http://schemas.openxmlformats.org/drawingml/2006/table">
                <a:tbl>
                  <a:tblPr firstRow="1" firstCol="1" bandRow="1">
                    <a:tableStyleId>{5C22544A-7EE6-4342-B048-85BDC9FD1C3A}</a:tableStyleId>
                  </a:tblPr>
                  <a:tblGrid>
                    <a:gridCol w="588919">
                      <a:extLst>
                        <a:ext uri="{9D8B030D-6E8A-4147-A177-3AD203B41FA5}">
                          <a16:colId xmlns:a16="http://schemas.microsoft.com/office/drawing/2014/main" val="2170590296"/>
                        </a:ext>
                      </a:extLst>
                    </a:gridCol>
                    <a:gridCol w="1581543">
                      <a:extLst>
                        <a:ext uri="{9D8B030D-6E8A-4147-A177-3AD203B41FA5}">
                          <a16:colId xmlns:a16="http://schemas.microsoft.com/office/drawing/2014/main" val="2281464178"/>
                        </a:ext>
                      </a:extLst>
                    </a:gridCol>
                    <a:gridCol w="588919">
                      <a:extLst>
                        <a:ext uri="{9D8B030D-6E8A-4147-A177-3AD203B41FA5}">
                          <a16:colId xmlns:a16="http://schemas.microsoft.com/office/drawing/2014/main" val="1626324929"/>
                        </a:ext>
                      </a:extLst>
                    </a:gridCol>
                    <a:gridCol w="1585938">
                      <a:extLst>
                        <a:ext uri="{9D8B030D-6E8A-4147-A177-3AD203B41FA5}">
                          <a16:colId xmlns:a16="http://schemas.microsoft.com/office/drawing/2014/main" val="582988560"/>
                        </a:ext>
                      </a:extLst>
                    </a:gridCol>
                    <a:gridCol w="590803">
                      <a:extLst>
                        <a:ext uri="{9D8B030D-6E8A-4147-A177-3AD203B41FA5}">
                          <a16:colId xmlns:a16="http://schemas.microsoft.com/office/drawing/2014/main" val="1205657201"/>
                        </a:ext>
                      </a:extLst>
                    </a:gridCol>
                    <a:gridCol w="1685765">
                      <a:extLst>
                        <a:ext uri="{9D8B030D-6E8A-4147-A177-3AD203B41FA5}">
                          <a16:colId xmlns:a16="http://schemas.microsoft.com/office/drawing/2014/main" val="4074606001"/>
                        </a:ext>
                      </a:extLst>
                    </a:gridCol>
                  </a:tblGrid>
                  <a:tr h="686233">
                    <a:tc>
                      <a:txBody>
                        <a:bodyPr/>
                        <a:lstStyle/>
                        <a:p>
                          <a:pPr algn="ctr">
                            <a:lnSpc>
                              <a:spcPct val="107000"/>
                            </a:lnSpc>
                            <a:spcAft>
                              <a:spcPts val="800"/>
                            </a:spcAft>
                            <a:buNone/>
                          </a:pPr>
                          <a:r>
                            <a:rPr lang="en-GB" sz="1200" noProof="0">
                              <a:solidFill>
                                <a:schemeClr val="tx1"/>
                              </a:solidFill>
                              <a:effectLst/>
                            </a:rPr>
                            <a:t>2</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838" t="-6195" r="-283012" b="-201770"/>
                          </a:stretch>
                        </a:blipFill>
                      </a:tcPr>
                    </a:tc>
                    <a:tc>
                      <a:txBody>
                        <a:bodyPr/>
                        <a:lstStyle/>
                        <a:p>
                          <a:pPr algn="ctr">
                            <a:lnSpc>
                              <a:spcPct val="107000"/>
                            </a:lnSpc>
                            <a:spcAft>
                              <a:spcPts val="800"/>
                            </a:spcAft>
                            <a:buNone/>
                          </a:pPr>
                          <a:r>
                            <a:rPr lang="en-GB" sz="1200" noProof="0">
                              <a:solidFill>
                                <a:schemeClr val="tx1"/>
                              </a:solidFill>
                              <a:effectLst/>
                            </a:rPr>
                            <a:t>3</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74615" t="-6195" r="-144615" b="-201770"/>
                          </a:stretch>
                        </a:blipFill>
                      </a:tcPr>
                    </a:tc>
                    <a:tc>
                      <a:txBody>
                        <a:bodyPr/>
                        <a:lstStyle/>
                        <a:p>
                          <a:pPr algn="ctr">
                            <a:lnSpc>
                              <a:spcPct val="107000"/>
                            </a:lnSpc>
                            <a:spcAft>
                              <a:spcPts val="800"/>
                            </a:spcAft>
                            <a:buNone/>
                          </a:pPr>
                          <a:r>
                            <a:rPr lang="en-GB" sz="1200" b="1" noProof="0">
                              <a:solidFill>
                                <a:schemeClr val="tx1"/>
                              </a:solidFill>
                              <a:effectLst/>
                            </a:rPr>
                            <a:t>11</a:t>
                          </a:r>
                          <a:endParaRPr lang="en-GB" sz="1100" b="1"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7"/>
                          <a:stretch>
                            <a:fillRect l="-292780" t="-6195" r="-722" b="-201770"/>
                          </a:stretch>
                        </a:blipFill>
                      </a:tcPr>
                    </a:tc>
                    <a:extLst>
                      <a:ext uri="{0D108BD9-81ED-4DB2-BD59-A6C34878D82A}">
                        <a16:rowId xmlns:a16="http://schemas.microsoft.com/office/drawing/2014/main" val="94853345"/>
                      </a:ext>
                    </a:extLst>
                  </a:tr>
                  <a:tr h="686233">
                    <a:tc>
                      <a:txBody>
                        <a:bodyPr/>
                        <a:lstStyle/>
                        <a:p>
                          <a:pPr algn="ctr">
                            <a:lnSpc>
                              <a:spcPct val="107000"/>
                            </a:lnSpc>
                            <a:spcAft>
                              <a:spcPts val="800"/>
                            </a:spcAft>
                            <a:buNone/>
                          </a:pPr>
                          <a:r>
                            <a:rPr lang="en-GB" sz="1200" noProof="0">
                              <a:solidFill>
                                <a:schemeClr val="tx1"/>
                              </a:solidFill>
                              <a:effectLst/>
                            </a:rPr>
                            <a:t>5</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838" t="-107143" r="-283012" b="-103571"/>
                          </a:stretch>
                        </a:blipFill>
                      </a:tcPr>
                    </a:tc>
                    <a:tc>
                      <a:txBody>
                        <a:bodyPr/>
                        <a:lstStyle/>
                        <a:p>
                          <a:pPr algn="ctr">
                            <a:lnSpc>
                              <a:spcPct val="107000"/>
                            </a:lnSpc>
                            <a:spcAft>
                              <a:spcPts val="800"/>
                            </a:spcAft>
                            <a:buNone/>
                          </a:pPr>
                          <a:r>
                            <a:rPr lang="en-GB" sz="1200" noProof="0">
                              <a:solidFill>
                                <a:schemeClr val="tx1"/>
                              </a:solidFill>
                              <a:effectLst/>
                            </a:rPr>
                            <a:t>6</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74615" t="-107143" r="-144615" b="-103571"/>
                          </a:stretch>
                        </a:blipFill>
                      </a:tcPr>
                    </a:tc>
                    <a:tc>
                      <a:txBody>
                        <a:bodyPr/>
                        <a:lstStyle/>
                        <a:p>
                          <a:pPr algn="ctr">
                            <a:lnSpc>
                              <a:spcPct val="107000"/>
                            </a:lnSpc>
                            <a:spcAft>
                              <a:spcPts val="800"/>
                            </a:spcAft>
                            <a:buNone/>
                          </a:pPr>
                          <a:r>
                            <a:rPr lang="en-GB" sz="1200" b="1" noProof="0">
                              <a:solidFill>
                                <a:schemeClr val="tx1"/>
                              </a:solidFill>
                              <a:effectLst/>
                            </a:rPr>
                            <a:t>10</a:t>
                          </a:r>
                          <a:endParaRPr lang="en-GB" sz="1100" b="1"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7"/>
                          <a:stretch>
                            <a:fillRect l="-292780" t="-107143" r="-722" b="-103571"/>
                          </a:stretch>
                        </a:blipFill>
                      </a:tcPr>
                    </a:tc>
                    <a:extLst>
                      <a:ext uri="{0D108BD9-81ED-4DB2-BD59-A6C34878D82A}">
                        <a16:rowId xmlns:a16="http://schemas.microsoft.com/office/drawing/2014/main" val="2305220457"/>
                      </a:ext>
                    </a:extLst>
                  </a:tr>
                  <a:tr h="686233">
                    <a:tc>
                      <a:txBody>
                        <a:bodyPr/>
                        <a:lstStyle/>
                        <a:p>
                          <a:pPr algn="ctr">
                            <a:lnSpc>
                              <a:spcPct val="107000"/>
                            </a:lnSpc>
                            <a:spcAft>
                              <a:spcPts val="800"/>
                            </a:spcAft>
                            <a:buNone/>
                          </a:pPr>
                          <a:r>
                            <a:rPr lang="en-GB" sz="1200" noProof="0">
                              <a:solidFill>
                                <a:schemeClr val="tx1"/>
                              </a:solidFill>
                              <a:effectLst/>
                            </a:rPr>
                            <a:t>7</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838" t="-205310" r="-283012" b="-2655"/>
                          </a:stretch>
                        </a:blipFill>
                      </a:tcPr>
                    </a:tc>
                    <a:tc>
                      <a:txBody>
                        <a:bodyPr/>
                        <a:lstStyle/>
                        <a:p>
                          <a:pPr algn="ctr">
                            <a:lnSpc>
                              <a:spcPct val="107000"/>
                            </a:lnSpc>
                            <a:spcAft>
                              <a:spcPts val="800"/>
                            </a:spcAft>
                            <a:buNone/>
                          </a:pPr>
                          <a:r>
                            <a:rPr lang="en-GB" sz="1200" noProof="0">
                              <a:solidFill>
                                <a:schemeClr val="tx1"/>
                              </a:solidFill>
                              <a:effectLst/>
                            </a:rPr>
                            <a:t>8</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74615" t="-205310" r="-144615" b="-2655"/>
                          </a:stretch>
                        </a:blipFill>
                      </a:tcPr>
                    </a:tc>
                    <a:tc>
                      <a:txBody>
                        <a:bodyPr/>
                        <a:lstStyle/>
                        <a:p>
                          <a:pPr algn="ctr">
                            <a:lnSpc>
                              <a:spcPct val="107000"/>
                            </a:lnSpc>
                            <a:spcAft>
                              <a:spcPts val="800"/>
                            </a:spcAft>
                            <a:buNone/>
                          </a:pPr>
                          <a:r>
                            <a:rPr lang="en-GB" sz="1200" b="1" noProof="0">
                              <a:solidFill>
                                <a:schemeClr val="tx1"/>
                              </a:solidFill>
                              <a:effectLst/>
                            </a:rPr>
                            <a:t>2</a:t>
                          </a:r>
                          <a:endParaRPr lang="en-GB" sz="1100" b="1"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7"/>
                          <a:stretch>
                            <a:fillRect l="-292780" t="-205310" r="-722" b="-2655"/>
                          </a:stretch>
                        </a:blipFill>
                      </a:tcPr>
                    </a:tc>
                    <a:extLst>
                      <a:ext uri="{0D108BD9-81ED-4DB2-BD59-A6C34878D82A}">
                        <a16:rowId xmlns:a16="http://schemas.microsoft.com/office/drawing/2014/main" val="4215989639"/>
                      </a:ext>
                    </a:extLst>
                  </a:tr>
                </a:tbl>
              </a:graphicData>
            </a:graphic>
          </p:graphicFrame>
        </mc:Fallback>
      </mc:AlternateContent>
    </p:spTree>
    <p:extLst>
      <p:ext uri="{BB962C8B-B14F-4D97-AF65-F5344CB8AC3E}">
        <p14:creationId xmlns:p14="http://schemas.microsoft.com/office/powerpoint/2010/main" val="26288434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14255" y="9561766"/>
            <a:ext cx="1543050" cy="527403"/>
          </a:xfrm>
        </p:spPr>
        <p:txBody>
          <a:bodyPr/>
          <a:lstStyle/>
          <a:p>
            <a:fld id="{9BD3B4A0-BFF9-422C-B253-48BA94BE2F5B}" type="slidenum">
              <a:rPr lang="en-GB" noProof="0" smtClean="0"/>
              <a:t>78</a:t>
            </a:fld>
            <a:endParaRPr lang="en-GB" noProof="0" dirty="0"/>
          </a:p>
        </p:txBody>
      </p:sp>
      <p:graphicFrame>
        <p:nvGraphicFramePr>
          <p:cNvPr id="6" name="Table 5"/>
          <p:cNvGraphicFramePr>
            <a:graphicFrameLocks noGrp="1"/>
          </p:cNvGraphicFramePr>
          <p:nvPr>
            <p:extLst>
              <p:ext uri="{D42A27DB-BD31-4B8C-83A1-F6EECF244321}">
                <p14:modId xmlns:p14="http://schemas.microsoft.com/office/powerpoint/2010/main" val="1133493495"/>
              </p:ext>
            </p:extLst>
          </p:nvPr>
        </p:nvGraphicFramePr>
        <p:xfrm>
          <a:off x="111717" y="311524"/>
          <a:ext cx="6638985" cy="9024388"/>
        </p:xfrm>
        <a:graphic>
          <a:graphicData uri="http://schemas.openxmlformats.org/drawingml/2006/table">
            <a:tbl>
              <a:tblPr firstRow="1" bandRow="1">
                <a:tableStyleId>{5C22544A-7EE6-4342-B048-85BDC9FD1C3A}</a:tableStyleId>
              </a:tblPr>
              <a:tblGrid>
                <a:gridCol w="1179276">
                  <a:extLst>
                    <a:ext uri="{9D8B030D-6E8A-4147-A177-3AD203B41FA5}">
                      <a16:colId xmlns:a16="http://schemas.microsoft.com/office/drawing/2014/main" val="1568142362"/>
                    </a:ext>
                  </a:extLst>
                </a:gridCol>
                <a:gridCol w="5459709">
                  <a:extLst>
                    <a:ext uri="{9D8B030D-6E8A-4147-A177-3AD203B41FA5}">
                      <a16:colId xmlns:a16="http://schemas.microsoft.com/office/drawing/2014/main" val="3551711160"/>
                    </a:ext>
                  </a:extLst>
                </a:gridCol>
              </a:tblGrid>
              <a:tr h="2919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458615">
                <a:tc rowSpan="8">
                  <a:txBody>
                    <a:bodyPr/>
                    <a:lstStyle/>
                    <a:p>
                      <a:r>
                        <a:rPr lang="en-GB" sz="1200" noProof="0" dirty="0"/>
                        <a:t>1) Write out the</a:t>
                      </a:r>
                      <a:r>
                        <a:rPr lang="en-GB" sz="1200" baseline="0" noProof="0" dirty="0"/>
                        <a:t> values algebraically using n. </a:t>
                      </a:r>
                    </a:p>
                    <a:p>
                      <a:endParaRPr lang="en-GB" sz="1200" noProof="0" dirty="0"/>
                    </a:p>
                    <a:p>
                      <a:r>
                        <a:rPr lang="en-GB" sz="1200" noProof="0" dirty="0"/>
                        <a:t>2) Simplify by collecting</a:t>
                      </a:r>
                      <a:r>
                        <a:rPr lang="en-GB" sz="1200" baseline="0" noProof="0" dirty="0"/>
                        <a:t> like terms. </a:t>
                      </a:r>
                    </a:p>
                    <a:p>
                      <a:endParaRPr lang="en-GB" sz="1200" noProof="0" dirty="0"/>
                    </a:p>
                    <a:p>
                      <a:r>
                        <a:rPr lang="en-GB" sz="1200" noProof="0" dirty="0"/>
                        <a:t>3) Factorise</a:t>
                      </a:r>
                      <a:r>
                        <a:rPr lang="en-GB" sz="1200" baseline="0" noProof="0" dirty="0"/>
                        <a:t> (if it is required)</a:t>
                      </a:r>
                    </a:p>
                    <a:p>
                      <a:endParaRPr lang="en-GB" sz="1200" noProof="0" dirty="0"/>
                    </a:p>
                    <a:p>
                      <a:r>
                        <a:rPr lang="en-GB" sz="1200" noProof="0" dirty="0"/>
                        <a:t>4) Prove</a:t>
                      </a:r>
                      <a:r>
                        <a:rPr lang="en-GB" sz="1200" baseline="0" noProof="0" dirty="0"/>
                        <a:t> with a statement. </a:t>
                      </a:r>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Prove algebraically that the sum of any two consecutive integers is always an odd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336984">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1869355"/>
                  </a:ext>
                </a:extLst>
              </a:tr>
              <a:tr h="368325">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486332">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Prove that the difference between the squares of two consecutive odd numbers is a multiple of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9470708"/>
                  </a:ext>
                </a:extLst>
              </a:tr>
              <a:tr h="2176048">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3533263"/>
                  </a:ext>
                </a:extLst>
              </a:tr>
              <a:tr h="351448">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721803"/>
                  </a:ext>
                </a:extLst>
              </a:tr>
              <a:tr h="548640">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n is an integer. Prove algebraically that the sum of n(n + 1) and n + 1 is always a square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0665404"/>
                  </a:ext>
                </a:extLst>
              </a:tr>
              <a:tr h="2006016">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311752"/>
                  </a:ext>
                </a:extLst>
              </a:tr>
            </a:tbl>
          </a:graphicData>
        </a:graphic>
      </p:graphicFrame>
    </p:spTree>
    <p:extLst>
      <p:ext uri="{BB962C8B-B14F-4D97-AF65-F5344CB8AC3E}">
        <p14:creationId xmlns:p14="http://schemas.microsoft.com/office/powerpoint/2010/main" val="34790347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0BB455A5-0A1F-B648-C8BC-102000DB7B73}"/>
              </a:ext>
            </a:extLst>
          </p:cNvPr>
          <p:cNvSpPr txBox="1">
            <a:spLocks/>
          </p:cNvSpPr>
          <p:nvPr/>
        </p:nvSpPr>
        <p:spPr>
          <a:xfrm>
            <a:off x="5287407" y="9378597"/>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79</a:t>
            </a:fld>
            <a:endParaRPr lang="en-GB" noProof="0" dirty="0"/>
          </a:p>
        </p:txBody>
      </p:sp>
      <p:sp>
        <p:nvSpPr>
          <p:cNvPr id="5" name="Rectangle 4">
            <a:extLst>
              <a:ext uri="{FF2B5EF4-FFF2-40B4-BE49-F238E27FC236}">
                <a16:creationId xmlns:a16="http://schemas.microsoft.com/office/drawing/2014/main" id="{36BD4811-7497-CDB1-EF5F-E5D0B77DD93A}"/>
              </a:ext>
            </a:extLst>
          </p:cNvPr>
          <p:cNvSpPr/>
          <p:nvPr/>
        </p:nvSpPr>
        <p:spPr>
          <a:xfrm>
            <a:off x="-4679739" y="5795167"/>
            <a:ext cx="3102016" cy="276999"/>
          </a:xfrm>
          <a:prstGeom prst="rect">
            <a:avLst/>
          </a:prstGeom>
        </p:spPr>
        <p:txBody>
          <a:bodyPr wrap="square">
            <a:spAutoFit/>
          </a:bodyPr>
          <a:lstStyle/>
          <a:p>
            <a:r>
              <a:rPr lang="en-GB" sz="1200" noProof="0" dirty="0"/>
              <a:t>.</a:t>
            </a:r>
          </a:p>
        </p:txBody>
      </p:sp>
      <p:sp>
        <p:nvSpPr>
          <p:cNvPr id="8" name="TextBox 7">
            <a:extLst>
              <a:ext uri="{FF2B5EF4-FFF2-40B4-BE49-F238E27FC236}">
                <a16:creationId xmlns:a16="http://schemas.microsoft.com/office/drawing/2014/main" id="{5B97A866-FC67-8B32-B964-58564C3F82BF}"/>
              </a:ext>
            </a:extLst>
          </p:cNvPr>
          <p:cNvSpPr txBox="1"/>
          <p:nvPr/>
        </p:nvSpPr>
        <p:spPr>
          <a:xfrm>
            <a:off x="111717" y="91703"/>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graphicFrame>
        <p:nvGraphicFramePr>
          <p:cNvPr id="9" name="Table 8">
            <a:extLst>
              <a:ext uri="{FF2B5EF4-FFF2-40B4-BE49-F238E27FC236}">
                <a16:creationId xmlns:a16="http://schemas.microsoft.com/office/drawing/2014/main" id="{695ECE51-E3AE-61A7-6A5C-62F257A4F51D}"/>
              </a:ext>
            </a:extLst>
          </p:cNvPr>
          <p:cNvGraphicFramePr>
            <a:graphicFrameLocks noGrp="1"/>
          </p:cNvGraphicFramePr>
          <p:nvPr>
            <p:extLst>
              <p:ext uri="{D42A27DB-BD31-4B8C-83A1-F6EECF244321}">
                <p14:modId xmlns:p14="http://schemas.microsoft.com/office/powerpoint/2010/main" val="1309476296"/>
              </p:ext>
            </p:extLst>
          </p:nvPr>
        </p:nvGraphicFramePr>
        <p:xfrm>
          <a:off x="111717" y="475489"/>
          <a:ext cx="6563403" cy="8903108"/>
        </p:xfrm>
        <a:graphic>
          <a:graphicData uri="http://schemas.openxmlformats.org/drawingml/2006/table">
            <a:tbl>
              <a:tblPr firstRow="1" bandRow="1">
                <a:tableStyleId>{5940675A-B579-460E-94D1-54222C63F5DA}</a:tableStyleId>
              </a:tblPr>
              <a:tblGrid>
                <a:gridCol w="6563403">
                  <a:extLst>
                    <a:ext uri="{9D8B030D-6E8A-4147-A177-3AD203B41FA5}">
                      <a16:colId xmlns:a16="http://schemas.microsoft.com/office/drawing/2014/main" val="721443831"/>
                    </a:ext>
                  </a:extLst>
                </a:gridCol>
              </a:tblGrid>
              <a:tr h="351303">
                <a:tc>
                  <a:txBody>
                    <a:bodyPr/>
                    <a:lstStyle/>
                    <a:p>
                      <a:r>
                        <a:rPr lang="en-GB" sz="1200" noProof="0" dirty="0">
                          <a:ea typeface="Times New Roman" panose="02020603050405020304" pitchFamily="18" charset="0"/>
                          <a:cs typeface="Times New Roman" panose="02020603050405020304" pitchFamily="18" charset="0"/>
                        </a:rPr>
                        <a:t>1) </a:t>
                      </a:r>
                      <a:r>
                        <a:rPr lang="en-GB" sz="1200" noProof="0" dirty="0"/>
                        <a:t>Prove algebraically that the sum of two consecutive odd numbers is divisible by 4</a:t>
                      </a:r>
                    </a:p>
                  </a:txBody>
                  <a:tcPr/>
                </a:tc>
                <a:extLst>
                  <a:ext uri="{0D108BD9-81ED-4DB2-BD59-A6C34878D82A}">
                    <a16:rowId xmlns:a16="http://schemas.microsoft.com/office/drawing/2014/main" val="3225648409"/>
                  </a:ext>
                </a:extLst>
              </a:tr>
              <a:tr h="2527690">
                <a:tc>
                  <a:txBody>
                    <a:bodyPr/>
                    <a:lstStyle/>
                    <a:p>
                      <a:endParaRPr lang="en-GB" sz="1200" noProof="0" dirty="0"/>
                    </a:p>
                  </a:txBody>
                  <a:tcPr/>
                </a:tc>
                <a:extLst>
                  <a:ext uri="{0D108BD9-81ED-4DB2-BD59-A6C34878D82A}">
                    <a16:rowId xmlns:a16="http://schemas.microsoft.com/office/drawing/2014/main" val="3904871108"/>
                  </a:ext>
                </a:extLst>
              </a:tr>
              <a:tr h="62353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ea typeface="Times New Roman" panose="02020603050405020304" pitchFamily="18" charset="0"/>
                          <a:cs typeface="Times New Roman" panose="02020603050405020304" pitchFamily="18" charset="0"/>
                        </a:rPr>
                        <a:t>2) </a:t>
                      </a:r>
                      <a:r>
                        <a:rPr lang="en-GB" sz="1200" noProof="0" dirty="0"/>
                        <a:t>I think of two consecutive integers. Prove that the difference of the squares of these integers is equal to the sum of the two integers. </a:t>
                      </a:r>
                    </a:p>
                  </a:txBody>
                  <a:tcPr/>
                </a:tc>
                <a:extLst>
                  <a:ext uri="{0D108BD9-81ED-4DB2-BD59-A6C34878D82A}">
                    <a16:rowId xmlns:a16="http://schemas.microsoft.com/office/drawing/2014/main" val="2519692335"/>
                  </a:ext>
                </a:extLst>
              </a:tr>
              <a:tr h="2527690">
                <a:tc>
                  <a:txBody>
                    <a:bodyPr/>
                    <a:lstStyle/>
                    <a:p>
                      <a:endParaRPr lang="en-GB" sz="1200" noProof="0" dirty="0"/>
                    </a:p>
                  </a:txBody>
                  <a:tcPr/>
                </a:tc>
                <a:extLst>
                  <a:ext uri="{0D108BD9-81ED-4DB2-BD59-A6C34878D82A}">
                    <a16:rowId xmlns:a16="http://schemas.microsoft.com/office/drawing/2014/main" val="751337645"/>
                  </a:ext>
                </a:extLst>
              </a:tr>
              <a:tr h="34520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3) Prove (n + 6)² − (n + 2)² is always a multiple of 8</a:t>
                      </a:r>
                    </a:p>
                  </a:txBody>
                  <a:tcPr/>
                </a:tc>
                <a:extLst>
                  <a:ext uri="{0D108BD9-81ED-4DB2-BD59-A6C34878D82A}">
                    <a16:rowId xmlns:a16="http://schemas.microsoft.com/office/drawing/2014/main" val="1984450214"/>
                  </a:ext>
                </a:extLst>
              </a:tr>
              <a:tr h="2527690">
                <a:tc>
                  <a:txBody>
                    <a:bodyPr/>
                    <a:lstStyle/>
                    <a:p>
                      <a:endParaRPr lang="en-GB" sz="1200" noProof="0" dirty="0"/>
                    </a:p>
                  </a:txBody>
                  <a:tcPr/>
                </a:tc>
                <a:extLst>
                  <a:ext uri="{0D108BD9-81ED-4DB2-BD59-A6C34878D82A}">
                    <a16:rowId xmlns:a16="http://schemas.microsoft.com/office/drawing/2014/main" val="1943512728"/>
                  </a:ext>
                </a:extLst>
              </a:tr>
            </a:tbl>
          </a:graphicData>
        </a:graphic>
      </p:graphicFrame>
    </p:spTree>
    <p:extLst>
      <p:ext uri="{BB962C8B-B14F-4D97-AF65-F5344CB8AC3E}">
        <p14:creationId xmlns:p14="http://schemas.microsoft.com/office/powerpoint/2010/main" val="17848178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5314950" y="9378597"/>
            <a:ext cx="1543050" cy="527403"/>
          </a:xfrm>
        </p:spPr>
        <p:txBody>
          <a:bodyPr/>
          <a:lstStyle/>
          <a:p>
            <a:fld id="{9BD3B4A0-BFF9-422C-B253-48BA94BE2F5B}" type="slidenum">
              <a:rPr lang="en-GB" noProof="0" smtClean="0"/>
              <a:t>80</a:t>
            </a:fld>
            <a:endParaRPr lang="en-GB" noProof="0"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9EEE1C9-D61A-B8C5-CF8D-52FE70284F27}"/>
                  </a:ext>
                </a:extLst>
              </p:cNvPr>
              <p:cNvGraphicFramePr>
                <a:graphicFrameLocks noGrp="1"/>
              </p:cNvGraphicFramePr>
              <p:nvPr>
                <p:extLst>
                  <p:ext uri="{D42A27DB-BD31-4B8C-83A1-F6EECF244321}">
                    <p14:modId xmlns:p14="http://schemas.microsoft.com/office/powerpoint/2010/main" val="123628032"/>
                  </p:ext>
                </p:extLst>
              </p:nvPr>
            </p:nvGraphicFramePr>
            <p:xfrm>
              <a:off x="147298" y="221488"/>
              <a:ext cx="6507502" cy="9157111"/>
            </p:xfrm>
            <a:graphic>
              <a:graphicData uri="http://schemas.openxmlformats.org/drawingml/2006/table">
                <a:tbl>
                  <a:tblPr firstRow="1" bandRow="1">
                    <a:tableStyleId>{5940675A-B579-460E-94D1-54222C63F5DA}</a:tableStyleId>
                  </a:tblPr>
                  <a:tblGrid>
                    <a:gridCol w="6507502">
                      <a:extLst>
                        <a:ext uri="{9D8B030D-6E8A-4147-A177-3AD203B41FA5}">
                          <a16:colId xmlns:a16="http://schemas.microsoft.com/office/drawing/2014/main" val="721443831"/>
                        </a:ext>
                      </a:extLst>
                    </a:gridCol>
                  </a:tblGrid>
                  <a:tr h="3749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4) Prove (n + 10)² − (n + 5)² is always a multiple of 5</a:t>
                          </a:r>
                        </a:p>
                      </a:txBody>
                      <a:tcPr/>
                    </a:tc>
                    <a:extLst>
                      <a:ext uri="{0D108BD9-81ED-4DB2-BD59-A6C34878D82A}">
                        <a16:rowId xmlns:a16="http://schemas.microsoft.com/office/drawing/2014/main" val="3225648409"/>
                      </a:ext>
                    </a:extLst>
                  </a:tr>
                  <a:tr h="2697762">
                    <a:tc>
                      <a:txBody>
                        <a:bodyPr/>
                        <a:lstStyle/>
                        <a:p>
                          <a:endParaRPr lang="en-GB" sz="1200" noProof="0" dirty="0"/>
                        </a:p>
                      </a:txBody>
                      <a:tcPr/>
                    </a:tc>
                    <a:extLst>
                      <a:ext uri="{0D108BD9-81ED-4DB2-BD59-A6C34878D82A}">
                        <a16:rowId xmlns:a16="http://schemas.microsoft.com/office/drawing/2014/main" val="3904871108"/>
                      </a:ext>
                    </a:extLst>
                  </a:tr>
                  <a:tr h="3204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5) Prove that </a:t>
                          </a:r>
                          <a14:m>
                            <m:oMath xmlns:m="http://schemas.openxmlformats.org/officeDocument/2006/math">
                              <m:sSup>
                                <m:sSupPr>
                                  <m:ctrlPr>
                                    <a:rPr lang="en-GB" sz="1200" b="0" i="1" noProof="0" smtClean="0">
                                      <a:latin typeface="Cambria Math" panose="02040503050406030204" pitchFamily="18" charset="0"/>
                                    </a:rPr>
                                  </m:ctrlPr>
                                </m:sSupPr>
                                <m:e>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3</m:t>
                                      </m:r>
                                      <m:r>
                                        <a:rPr lang="en-GB" sz="1200" i="1" noProof="0" smtClean="0">
                                          <a:latin typeface="Cambria Math" panose="02040503050406030204" pitchFamily="18" charset="0"/>
                                        </a:rPr>
                                        <m:t>𝑛</m:t>
                                      </m:r>
                                      <m:r>
                                        <a:rPr lang="en-GB" sz="1200" i="1" noProof="0" smtClean="0">
                                          <a:latin typeface="Cambria Math" panose="02040503050406030204" pitchFamily="18" charset="0"/>
                                        </a:rPr>
                                        <m:t> + 1</m:t>
                                      </m:r>
                                    </m:e>
                                  </m:d>
                                </m:e>
                                <m:sup>
                                  <m:r>
                                    <a:rPr lang="en-GB" sz="1200" b="0" i="1" noProof="0" smtClean="0">
                                      <a:latin typeface="Cambria Math" panose="02040503050406030204" pitchFamily="18" charset="0"/>
                                    </a:rPr>
                                    <m:t>2</m:t>
                                  </m:r>
                                </m:sup>
                              </m:sSup>
                              <m:r>
                                <a:rPr lang="en-GB" sz="1200" i="1" noProof="0" smtClean="0">
                                  <a:latin typeface="Cambria Math" panose="02040503050406030204" pitchFamily="18" charset="0"/>
                                </a:rPr>
                                <m:t> – </m:t>
                              </m:r>
                              <m:sSup>
                                <m:sSupPr>
                                  <m:ctrlPr>
                                    <a:rPr lang="en-GB" sz="1200" b="0" i="1" noProof="0" smtClean="0">
                                      <a:latin typeface="Cambria Math" panose="02040503050406030204" pitchFamily="18" charset="0"/>
                                    </a:rPr>
                                  </m:ctrlPr>
                                </m:sSupPr>
                                <m:e>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3</m:t>
                                      </m:r>
                                      <m:r>
                                        <a:rPr lang="en-GB" sz="1200" i="1" noProof="0" smtClean="0">
                                          <a:latin typeface="Cambria Math" panose="02040503050406030204" pitchFamily="18" charset="0"/>
                                        </a:rPr>
                                        <m:t>𝑛</m:t>
                                      </m:r>
                                      <m:r>
                                        <a:rPr lang="en-GB" sz="1200" i="1" noProof="0" smtClean="0">
                                          <a:latin typeface="Cambria Math" panose="02040503050406030204" pitchFamily="18" charset="0"/>
                                        </a:rPr>
                                        <m:t> – 1</m:t>
                                      </m:r>
                                    </m:e>
                                  </m:d>
                                </m:e>
                                <m:sup>
                                  <m:r>
                                    <a:rPr lang="en-GB" sz="1200" b="0" i="1" noProof="0" smtClean="0">
                                      <a:latin typeface="Cambria Math" panose="02040503050406030204" pitchFamily="18" charset="0"/>
                                    </a:rPr>
                                    <m:t>2</m:t>
                                  </m:r>
                                </m:sup>
                              </m:sSup>
                              <m:r>
                                <a:rPr lang="en-GB" sz="1200" i="1" noProof="0" smtClean="0">
                                  <a:latin typeface="Cambria Math" panose="02040503050406030204" pitchFamily="18" charset="0"/>
                                </a:rPr>
                                <m:t> </m:t>
                              </m:r>
                            </m:oMath>
                          </a14:m>
                          <a:r>
                            <a:rPr lang="en-GB" sz="1200" noProof="0" dirty="0"/>
                            <a:t>is always a multiple of 12, for all positive integer values of </a:t>
                          </a:r>
                          <a14:m>
                            <m:oMath xmlns:m="http://schemas.openxmlformats.org/officeDocument/2006/math">
                              <m:r>
                                <a:rPr lang="en-GB" sz="1200" b="0" i="1" noProof="0" smtClean="0">
                                  <a:latin typeface="Cambria Math" panose="02040503050406030204" pitchFamily="18" charset="0"/>
                                </a:rPr>
                                <m:t>𝑛</m:t>
                              </m:r>
                            </m:oMath>
                          </a14:m>
                          <a:r>
                            <a:rPr lang="en-GB" sz="1200" noProof="0" dirty="0"/>
                            <a:t>.</a:t>
                          </a:r>
                        </a:p>
                      </a:txBody>
                      <a:tcPr/>
                    </a:tc>
                    <a:extLst>
                      <a:ext uri="{0D108BD9-81ED-4DB2-BD59-A6C34878D82A}">
                        <a16:rowId xmlns:a16="http://schemas.microsoft.com/office/drawing/2014/main" val="2519692335"/>
                      </a:ext>
                    </a:extLst>
                  </a:tr>
                  <a:tr h="2697762">
                    <a:tc>
                      <a:txBody>
                        <a:bodyPr/>
                        <a:lstStyle/>
                        <a:p>
                          <a:endParaRPr lang="en-GB" sz="1200" noProof="0" dirty="0"/>
                        </a:p>
                      </a:txBody>
                      <a:tcPr/>
                    </a:tc>
                    <a:extLst>
                      <a:ext uri="{0D108BD9-81ED-4DB2-BD59-A6C34878D82A}">
                        <a16:rowId xmlns:a16="http://schemas.microsoft.com/office/drawing/2014/main" val="751337645"/>
                      </a:ext>
                    </a:extLst>
                  </a:tr>
                  <a:tr h="36843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6) Prove (2n + 9)² − (2n + 5)² is always a multiple of 4</a:t>
                          </a:r>
                        </a:p>
                      </a:txBody>
                      <a:tcPr/>
                    </a:tc>
                    <a:extLst>
                      <a:ext uri="{0D108BD9-81ED-4DB2-BD59-A6C34878D82A}">
                        <a16:rowId xmlns:a16="http://schemas.microsoft.com/office/drawing/2014/main" val="1984450214"/>
                      </a:ext>
                    </a:extLst>
                  </a:tr>
                  <a:tr h="2697762">
                    <a:tc>
                      <a:txBody>
                        <a:bodyPr/>
                        <a:lstStyle/>
                        <a:p>
                          <a:endParaRPr lang="en-GB" sz="1200" noProof="0" dirty="0"/>
                        </a:p>
                      </a:txBody>
                      <a:tcPr/>
                    </a:tc>
                    <a:extLst>
                      <a:ext uri="{0D108BD9-81ED-4DB2-BD59-A6C34878D82A}">
                        <a16:rowId xmlns:a16="http://schemas.microsoft.com/office/drawing/2014/main" val="1943512728"/>
                      </a:ext>
                    </a:extLst>
                  </a:tr>
                </a:tbl>
              </a:graphicData>
            </a:graphic>
          </p:graphicFrame>
        </mc:Choice>
        <mc:Fallback xmlns="">
          <p:graphicFrame>
            <p:nvGraphicFramePr>
              <p:cNvPr id="4" name="Table 3">
                <a:extLst>
                  <a:ext uri="{FF2B5EF4-FFF2-40B4-BE49-F238E27FC236}">
                    <a16:creationId xmlns:a16="http://schemas.microsoft.com/office/drawing/2014/main" id="{09EEE1C9-D61A-B8C5-CF8D-52FE70284F27}"/>
                  </a:ext>
                </a:extLst>
              </p:cNvPr>
              <p:cNvGraphicFramePr>
                <a:graphicFrameLocks noGrp="1"/>
              </p:cNvGraphicFramePr>
              <p:nvPr>
                <p:extLst>
                  <p:ext uri="{D42A27DB-BD31-4B8C-83A1-F6EECF244321}">
                    <p14:modId xmlns:p14="http://schemas.microsoft.com/office/powerpoint/2010/main" val="123628032"/>
                  </p:ext>
                </p:extLst>
              </p:nvPr>
            </p:nvGraphicFramePr>
            <p:xfrm>
              <a:off x="147298" y="221488"/>
              <a:ext cx="6507502" cy="9157111"/>
            </p:xfrm>
            <a:graphic>
              <a:graphicData uri="http://schemas.openxmlformats.org/drawingml/2006/table">
                <a:tbl>
                  <a:tblPr firstRow="1" bandRow="1">
                    <a:tableStyleId>{5940675A-B579-460E-94D1-54222C63F5DA}</a:tableStyleId>
                  </a:tblPr>
                  <a:tblGrid>
                    <a:gridCol w="6507502">
                      <a:extLst>
                        <a:ext uri="{9D8B030D-6E8A-4147-A177-3AD203B41FA5}">
                          <a16:colId xmlns:a16="http://schemas.microsoft.com/office/drawing/2014/main" val="721443831"/>
                        </a:ext>
                      </a:extLst>
                    </a:gridCol>
                  </a:tblGrid>
                  <a:tr h="3749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4) Prove (n + 10)² − (n + 5)² is always a multiple of 5</a:t>
                          </a:r>
                        </a:p>
                      </a:txBody>
                      <a:tcPr/>
                    </a:tc>
                    <a:extLst>
                      <a:ext uri="{0D108BD9-81ED-4DB2-BD59-A6C34878D82A}">
                        <a16:rowId xmlns:a16="http://schemas.microsoft.com/office/drawing/2014/main" val="3225648409"/>
                      </a:ext>
                    </a:extLst>
                  </a:tr>
                  <a:tr h="2697762">
                    <a:tc>
                      <a:txBody>
                        <a:bodyPr/>
                        <a:lstStyle/>
                        <a:p>
                          <a:endParaRPr lang="en-GB" sz="1200" noProof="0"/>
                        </a:p>
                      </a:txBody>
                      <a:tcPr/>
                    </a:tc>
                    <a:extLst>
                      <a:ext uri="{0D108BD9-81ED-4DB2-BD59-A6C34878D82A}">
                        <a16:rowId xmlns:a16="http://schemas.microsoft.com/office/drawing/2014/main" val="3904871108"/>
                      </a:ext>
                    </a:extLst>
                  </a:tr>
                  <a:tr h="320454">
                    <a:tc>
                      <a:txBody>
                        <a:bodyPr/>
                        <a:lstStyle/>
                        <a:p>
                          <a:endParaRPr lang="en-US"/>
                        </a:p>
                      </a:txBody>
                      <a:tcPr>
                        <a:blipFill>
                          <a:blip r:embed="rId2"/>
                          <a:stretch>
                            <a:fillRect l="-94" t="-952830" r="-187" b="-1788679"/>
                          </a:stretch>
                        </a:blipFill>
                      </a:tcPr>
                    </a:tc>
                    <a:extLst>
                      <a:ext uri="{0D108BD9-81ED-4DB2-BD59-A6C34878D82A}">
                        <a16:rowId xmlns:a16="http://schemas.microsoft.com/office/drawing/2014/main" val="2519692335"/>
                      </a:ext>
                    </a:extLst>
                  </a:tr>
                  <a:tr h="2697762">
                    <a:tc>
                      <a:txBody>
                        <a:bodyPr/>
                        <a:lstStyle/>
                        <a:p>
                          <a:endParaRPr lang="en-GB" sz="1200" noProof="0"/>
                        </a:p>
                      </a:txBody>
                      <a:tcPr/>
                    </a:tc>
                    <a:extLst>
                      <a:ext uri="{0D108BD9-81ED-4DB2-BD59-A6C34878D82A}">
                        <a16:rowId xmlns:a16="http://schemas.microsoft.com/office/drawing/2014/main" val="751337645"/>
                      </a:ext>
                    </a:extLst>
                  </a:tr>
                  <a:tr h="36843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6) Prove (2n + 9)² − (2n + 5)² is always a multiple of 4</a:t>
                          </a:r>
                        </a:p>
                      </a:txBody>
                      <a:tcPr/>
                    </a:tc>
                    <a:extLst>
                      <a:ext uri="{0D108BD9-81ED-4DB2-BD59-A6C34878D82A}">
                        <a16:rowId xmlns:a16="http://schemas.microsoft.com/office/drawing/2014/main" val="1984450214"/>
                      </a:ext>
                    </a:extLst>
                  </a:tr>
                  <a:tr h="2697762">
                    <a:tc>
                      <a:txBody>
                        <a:bodyPr/>
                        <a:lstStyle/>
                        <a:p>
                          <a:endParaRPr lang="en-GB" sz="1200" noProof="0"/>
                        </a:p>
                      </a:txBody>
                      <a:tcPr/>
                    </a:tc>
                    <a:extLst>
                      <a:ext uri="{0D108BD9-81ED-4DB2-BD59-A6C34878D82A}">
                        <a16:rowId xmlns:a16="http://schemas.microsoft.com/office/drawing/2014/main" val="1943512728"/>
                      </a:ext>
                    </a:extLst>
                  </a:tr>
                </a:tbl>
              </a:graphicData>
            </a:graphic>
          </p:graphicFrame>
        </mc:Fallback>
      </mc:AlternateContent>
    </p:spTree>
    <p:extLst>
      <p:ext uri="{BB962C8B-B14F-4D97-AF65-F5344CB8AC3E}">
        <p14:creationId xmlns:p14="http://schemas.microsoft.com/office/powerpoint/2010/main" val="18448801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5341076" y="9555935"/>
            <a:ext cx="1543050" cy="527403"/>
          </a:xfrm>
        </p:spPr>
        <p:txBody>
          <a:bodyPr/>
          <a:lstStyle/>
          <a:p>
            <a:fld id="{9BD3B4A0-BFF9-422C-B253-48BA94BE2F5B}" type="slidenum">
              <a:rPr lang="en-GB" noProof="0" smtClean="0"/>
              <a:t>81</a:t>
            </a:fld>
            <a:endParaRPr lang="en-GB" noProof="0" dirty="0"/>
          </a:p>
        </p:txBody>
      </p:sp>
      <p:graphicFrame>
        <p:nvGraphicFramePr>
          <p:cNvPr id="4" name="Table 3">
            <a:extLst>
              <a:ext uri="{FF2B5EF4-FFF2-40B4-BE49-F238E27FC236}">
                <a16:creationId xmlns:a16="http://schemas.microsoft.com/office/drawing/2014/main" id="{DAD1F573-93A1-2614-D6D2-AE7C7DDE4709}"/>
              </a:ext>
            </a:extLst>
          </p:cNvPr>
          <p:cNvGraphicFramePr>
            <a:graphicFrameLocks noGrp="1"/>
          </p:cNvGraphicFramePr>
          <p:nvPr>
            <p:extLst>
              <p:ext uri="{D42A27DB-BD31-4B8C-83A1-F6EECF244321}">
                <p14:modId xmlns:p14="http://schemas.microsoft.com/office/powerpoint/2010/main" val="2727792619"/>
              </p:ext>
            </p:extLst>
          </p:nvPr>
        </p:nvGraphicFramePr>
        <p:xfrm>
          <a:off x="175249" y="316564"/>
          <a:ext cx="6507502" cy="9239371"/>
        </p:xfrm>
        <a:graphic>
          <a:graphicData uri="http://schemas.openxmlformats.org/drawingml/2006/table">
            <a:tbl>
              <a:tblPr firstRow="1" bandRow="1">
                <a:tableStyleId>{5940675A-B579-460E-94D1-54222C63F5DA}</a:tableStyleId>
              </a:tblPr>
              <a:tblGrid>
                <a:gridCol w="6507502">
                  <a:extLst>
                    <a:ext uri="{9D8B030D-6E8A-4147-A177-3AD203B41FA5}">
                      <a16:colId xmlns:a16="http://schemas.microsoft.com/office/drawing/2014/main" val="721443831"/>
                    </a:ext>
                  </a:extLst>
                </a:gridCol>
              </a:tblGrid>
              <a:tr h="195468">
                <a:tc>
                  <a:txBody>
                    <a:bodyPr/>
                    <a:lstStyle/>
                    <a:p>
                      <a:r>
                        <a:rPr lang="en-GB" sz="1200" noProof="0" dirty="0"/>
                        <a:t>7) Prove that when two consecutive integers are squared, that the difference is equal to the sum of the two consecutive integers</a:t>
                      </a:r>
                    </a:p>
                  </a:txBody>
                  <a:tcPr/>
                </a:tc>
                <a:extLst>
                  <a:ext uri="{0D108BD9-81ED-4DB2-BD59-A6C34878D82A}">
                    <a16:rowId xmlns:a16="http://schemas.microsoft.com/office/drawing/2014/main" val="3225648409"/>
                  </a:ext>
                </a:extLst>
              </a:tr>
              <a:tr h="2697762">
                <a:tc>
                  <a:txBody>
                    <a:bodyPr/>
                    <a:lstStyle/>
                    <a:p>
                      <a:endParaRPr lang="en-GB" sz="1200" noProof="0" dirty="0"/>
                    </a:p>
                  </a:txBody>
                  <a:tcPr/>
                </a:tc>
                <a:extLst>
                  <a:ext uri="{0D108BD9-81ED-4DB2-BD59-A6C34878D82A}">
                    <a16:rowId xmlns:a16="http://schemas.microsoft.com/office/drawing/2014/main" val="3904871108"/>
                  </a:ext>
                </a:extLst>
              </a:tr>
              <a:tr h="320454">
                <a:tc>
                  <a:txBody>
                    <a:bodyPr/>
                    <a:lstStyle/>
                    <a:p>
                      <a:r>
                        <a:rPr lang="en-GB" sz="1200" noProof="0" dirty="0"/>
                        <a:t>8)  Prove that (2n + 1)(3n − 2) − (6n − 1)(n − 2) is always even</a:t>
                      </a:r>
                    </a:p>
                  </a:txBody>
                  <a:tcPr/>
                </a:tc>
                <a:extLst>
                  <a:ext uri="{0D108BD9-81ED-4DB2-BD59-A6C34878D82A}">
                    <a16:rowId xmlns:a16="http://schemas.microsoft.com/office/drawing/2014/main" val="2519692335"/>
                  </a:ext>
                </a:extLst>
              </a:tr>
              <a:tr h="2697762">
                <a:tc>
                  <a:txBody>
                    <a:bodyPr/>
                    <a:lstStyle/>
                    <a:p>
                      <a:endParaRPr lang="en-GB" sz="1200" noProof="0" dirty="0"/>
                    </a:p>
                  </a:txBody>
                  <a:tcPr/>
                </a:tc>
                <a:extLst>
                  <a:ext uri="{0D108BD9-81ED-4DB2-BD59-A6C34878D82A}">
                    <a16:rowId xmlns:a16="http://schemas.microsoft.com/office/drawing/2014/main" val="751337645"/>
                  </a:ext>
                </a:extLst>
              </a:tr>
              <a:tr h="368431">
                <a:tc>
                  <a:txBody>
                    <a:bodyPr/>
                    <a:lstStyle/>
                    <a:p>
                      <a:r>
                        <a:rPr lang="en-GB" sz="1200" noProof="0" dirty="0"/>
                        <a:t>9) Prove the product of three consecutive odd numbers is odd</a:t>
                      </a:r>
                    </a:p>
                  </a:txBody>
                  <a:tcPr/>
                </a:tc>
                <a:extLst>
                  <a:ext uri="{0D108BD9-81ED-4DB2-BD59-A6C34878D82A}">
                    <a16:rowId xmlns:a16="http://schemas.microsoft.com/office/drawing/2014/main" val="1984450214"/>
                  </a:ext>
                </a:extLst>
              </a:tr>
              <a:tr h="2697762">
                <a:tc>
                  <a:txBody>
                    <a:bodyPr/>
                    <a:lstStyle/>
                    <a:p>
                      <a:endParaRPr lang="en-GB" sz="1200" noProof="0" dirty="0"/>
                    </a:p>
                  </a:txBody>
                  <a:tcPr/>
                </a:tc>
                <a:extLst>
                  <a:ext uri="{0D108BD9-81ED-4DB2-BD59-A6C34878D82A}">
                    <a16:rowId xmlns:a16="http://schemas.microsoft.com/office/drawing/2014/main" val="1943512728"/>
                  </a:ext>
                </a:extLst>
              </a:tr>
            </a:tbl>
          </a:graphicData>
        </a:graphic>
      </p:graphicFrame>
    </p:spTree>
    <p:extLst>
      <p:ext uri="{BB962C8B-B14F-4D97-AF65-F5344CB8AC3E}">
        <p14:creationId xmlns:p14="http://schemas.microsoft.com/office/powerpoint/2010/main" val="9006855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5341076" y="9555935"/>
            <a:ext cx="1543050" cy="527403"/>
          </a:xfrm>
        </p:spPr>
        <p:txBody>
          <a:bodyPr/>
          <a:lstStyle/>
          <a:p>
            <a:fld id="{9BD3B4A0-BFF9-422C-B253-48BA94BE2F5B}" type="slidenum">
              <a:rPr lang="en-GB" noProof="0" smtClean="0"/>
              <a:t>82</a:t>
            </a:fld>
            <a:endParaRPr lang="en-GB" noProof="0" dirty="0"/>
          </a:p>
        </p:txBody>
      </p:sp>
      <p:graphicFrame>
        <p:nvGraphicFramePr>
          <p:cNvPr id="7" name="Table 6">
            <a:extLst>
              <a:ext uri="{FF2B5EF4-FFF2-40B4-BE49-F238E27FC236}">
                <a16:creationId xmlns:a16="http://schemas.microsoft.com/office/drawing/2014/main" id="{65B2C8ED-D705-1A59-8724-880B72E8FA38}"/>
              </a:ext>
            </a:extLst>
          </p:cNvPr>
          <p:cNvGraphicFramePr>
            <a:graphicFrameLocks noGrp="1"/>
          </p:cNvGraphicFramePr>
          <p:nvPr>
            <p:extLst>
              <p:ext uri="{D42A27DB-BD31-4B8C-83A1-F6EECF244321}">
                <p14:modId xmlns:p14="http://schemas.microsoft.com/office/powerpoint/2010/main" val="3878832"/>
              </p:ext>
            </p:extLst>
          </p:nvPr>
        </p:nvGraphicFramePr>
        <p:xfrm>
          <a:off x="175249" y="121058"/>
          <a:ext cx="6443795" cy="9434875"/>
        </p:xfrm>
        <a:graphic>
          <a:graphicData uri="http://schemas.openxmlformats.org/drawingml/2006/table">
            <a:tbl>
              <a:tblPr firstRow="1" bandRow="1">
                <a:tableStyleId>{5940675A-B579-460E-94D1-54222C63F5DA}</a:tableStyleId>
              </a:tblPr>
              <a:tblGrid>
                <a:gridCol w="6443795">
                  <a:extLst>
                    <a:ext uri="{9D8B030D-6E8A-4147-A177-3AD203B41FA5}">
                      <a16:colId xmlns:a16="http://schemas.microsoft.com/office/drawing/2014/main" val="721443831"/>
                    </a:ext>
                  </a:extLst>
                </a:gridCol>
              </a:tblGrid>
              <a:tr h="281530">
                <a:tc>
                  <a:txBody>
                    <a:bodyPr/>
                    <a:lstStyle/>
                    <a:p>
                      <a:r>
                        <a:rPr lang="en-GB" sz="1200" noProof="0" dirty="0"/>
                        <a:t>10) Prove algebraically that (4n + 1)² − (2n − 1) is an even number for all positive integer values of n.</a:t>
                      </a:r>
                    </a:p>
                  </a:txBody>
                  <a:tcPr/>
                </a:tc>
                <a:extLst>
                  <a:ext uri="{0D108BD9-81ED-4DB2-BD59-A6C34878D82A}">
                    <a16:rowId xmlns:a16="http://schemas.microsoft.com/office/drawing/2014/main" val="3225648409"/>
                  </a:ext>
                </a:extLst>
              </a:tr>
              <a:tr h="2768671">
                <a:tc>
                  <a:txBody>
                    <a:bodyPr/>
                    <a:lstStyle/>
                    <a:p>
                      <a:endParaRPr lang="en-GB" sz="1200" noProof="0" dirty="0"/>
                    </a:p>
                  </a:txBody>
                  <a:tcPr/>
                </a:tc>
                <a:extLst>
                  <a:ext uri="{0D108BD9-81ED-4DB2-BD59-A6C34878D82A}">
                    <a16:rowId xmlns:a16="http://schemas.microsoft.com/office/drawing/2014/main" val="3904871108"/>
                  </a:ext>
                </a:extLst>
              </a:tr>
              <a:tr h="469217">
                <a:tc>
                  <a:txBody>
                    <a:bodyPr/>
                    <a:lstStyle/>
                    <a:p>
                      <a:r>
                        <a:rPr lang="en-GB" sz="1200" noProof="0" dirty="0"/>
                        <a:t>11) Prove that the sum of the squares of any three consecutive odd numbers is always 11 more than a multiple of 12.</a:t>
                      </a:r>
                    </a:p>
                  </a:txBody>
                  <a:tcPr/>
                </a:tc>
                <a:extLst>
                  <a:ext uri="{0D108BD9-81ED-4DB2-BD59-A6C34878D82A}">
                    <a16:rowId xmlns:a16="http://schemas.microsoft.com/office/drawing/2014/main" val="2519692335"/>
                  </a:ext>
                </a:extLst>
              </a:tr>
              <a:tr h="2768671">
                <a:tc>
                  <a:txBody>
                    <a:bodyPr/>
                    <a:lstStyle/>
                    <a:p>
                      <a:endParaRPr lang="en-GB" sz="1200" noProof="0" dirty="0"/>
                    </a:p>
                  </a:txBody>
                  <a:tcPr/>
                </a:tc>
                <a:extLst>
                  <a:ext uri="{0D108BD9-81ED-4DB2-BD59-A6C34878D82A}">
                    <a16:rowId xmlns:a16="http://schemas.microsoft.com/office/drawing/2014/main" val="751337645"/>
                  </a:ext>
                </a:extLst>
              </a:tr>
              <a:tr h="378115">
                <a:tc>
                  <a:txBody>
                    <a:bodyPr/>
                    <a:lstStyle/>
                    <a:p>
                      <a:r>
                        <a:rPr lang="en-GB" sz="1200" noProof="0" dirty="0"/>
                        <a:t>12) Prove that the difference between two consecutive cubes is one more than a multiple of 6.</a:t>
                      </a:r>
                    </a:p>
                  </a:txBody>
                  <a:tcPr/>
                </a:tc>
                <a:extLst>
                  <a:ext uri="{0D108BD9-81ED-4DB2-BD59-A6C34878D82A}">
                    <a16:rowId xmlns:a16="http://schemas.microsoft.com/office/drawing/2014/main" val="1984450214"/>
                  </a:ext>
                </a:extLst>
              </a:tr>
              <a:tr h="2768671">
                <a:tc>
                  <a:txBody>
                    <a:bodyPr/>
                    <a:lstStyle/>
                    <a:p>
                      <a:endParaRPr lang="en-GB" sz="1200" noProof="0" dirty="0"/>
                    </a:p>
                  </a:txBody>
                  <a:tcPr/>
                </a:tc>
                <a:extLst>
                  <a:ext uri="{0D108BD9-81ED-4DB2-BD59-A6C34878D82A}">
                    <a16:rowId xmlns:a16="http://schemas.microsoft.com/office/drawing/2014/main" val="1943512728"/>
                  </a:ext>
                </a:extLst>
              </a:tr>
            </a:tbl>
          </a:graphicData>
        </a:graphic>
      </p:graphicFrame>
    </p:spTree>
    <p:extLst>
      <p:ext uri="{BB962C8B-B14F-4D97-AF65-F5344CB8AC3E}">
        <p14:creationId xmlns:p14="http://schemas.microsoft.com/office/powerpoint/2010/main" val="36578567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3197A5F-D0F5-0B96-A0FE-7E6E4B4375ED}"/>
              </a:ext>
            </a:extLst>
          </p:cNvPr>
          <p:cNvSpPr>
            <a:spLocks noGrp="1"/>
          </p:cNvSpPr>
          <p:nvPr>
            <p:ph type="sldNum" sz="quarter" idx="12"/>
          </p:nvPr>
        </p:nvSpPr>
        <p:spPr>
          <a:xfrm>
            <a:off x="5314950" y="9378597"/>
            <a:ext cx="1543050" cy="527403"/>
          </a:xfrm>
        </p:spPr>
        <p:txBody>
          <a:bodyPr/>
          <a:lstStyle/>
          <a:p>
            <a:fld id="{9BD3B4A0-BFF9-422C-B253-48BA94BE2F5B}" type="slidenum">
              <a:rPr lang="en-GB" noProof="0" smtClean="0"/>
              <a:t>83</a:t>
            </a:fld>
            <a:endParaRPr lang="en-GB" noProof="0" dirty="0"/>
          </a:p>
        </p:txBody>
      </p:sp>
      <p:graphicFrame>
        <p:nvGraphicFramePr>
          <p:cNvPr id="6" name="Table 5">
            <a:extLst>
              <a:ext uri="{FF2B5EF4-FFF2-40B4-BE49-F238E27FC236}">
                <a16:creationId xmlns:a16="http://schemas.microsoft.com/office/drawing/2014/main" id="{5190D59D-CAD4-DAD1-7253-432900F5262E}"/>
              </a:ext>
            </a:extLst>
          </p:cNvPr>
          <p:cNvGraphicFramePr>
            <a:graphicFrameLocks noGrp="1"/>
          </p:cNvGraphicFramePr>
          <p:nvPr>
            <p:extLst>
              <p:ext uri="{D42A27DB-BD31-4B8C-83A1-F6EECF244321}">
                <p14:modId xmlns:p14="http://schemas.microsoft.com/office/powerpoint/2010/main" val="479637056"/>
              </p:ext>
            </p:extLst>
          </p:nvPr>
        </p:nvGraphicFramePr>
        <p:xfrm>
          <a:off x="175249" y="179817"/>
          <a:ext cx="6495715" cy="8981137"/>
        </p:xfrm>
        <a:graphic>
          <a:graphicData uri="http://schemas.openxmlformats.org/drawingml/2006/table">
            <a:tbl>
              <a:tblPr firstRow="1" bandRow="1">
                <a:tableStyleId>{5940675A-B579-460E-94D1-54222C63F5DA}</a:tableStyleId>
              </a:tblPr>
              <a:tblGrid>
                <a:gridCol w="6495715">
                  <a:extLst>
                    <a:ext uri="{9D8B030D-6E8A-4147-A177-3AD203B41FA5}">
                      <a16:colId xmlns:a16="http://schemas.microsoft.com/office/drawing/2014/main" val="721443831"/>
                    </a:ext>
                  </a:extLst>
                </a:gridCol>
              </a:tblGrid>
              <a:tr h="52676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13) </a:t>
                      </a:r>
                      <a:r>
                        <a:rPr lang="en-GB" sz="1200" noProof="0" dirty="0">
                          <a:latin typeface="Calibri" panose="020F0502020204030204" pitchFamily="34" charset="0"/>
                          <a:ea typeface="Times New Roman" panose="02020603050405020304" pitchFamily="18" charset="0"/>
                          <a:cs typeface="Times New Roman" panose="02020603050405020304" pitchFamily="18" charset="0"/>
                        </a:rPr>
                        <a:t>Prove that there is exactly one sequence of five consecutive positive integers in which the sum of the squares of the first three integers is equal to the sum of the squares of the other two integers.</a:t>
                      </a:r>
                      <a:endParaRPr lang="en-GB" sz="1200" noProof="0" dirty="0"/>
                    </a:p>
                  </a:txBody>
                  <a:tcPr/>
                </a:tc>
                <a:extLst>
                  <a:ext uri="{0D108BD9-81ED-4DB2-BD59-A6C34878D82A}">
                    <a16:rowId xmlns:a16="http://schemas.microsoft.com/office/drawing/2014/main" val="3225648409"/>
                  </a:ext>
                </a:extLst>
              </a:tr>
              <a:tr h="4090026">
                <a:tc>
                  <a:txBody>
                    <a:bodyPr/>
                    <a:lstStyle/>
                    <a:p>
                      <a:endParaRPr lang="en-GB" sz="1200" noProof="0" dirty="0"/>
                    </a:p>
                  </a:txBody>
                  <a:tcPr/>
                </a:tc>
                <a:extLst>
                  <a:ext uri="{0D108BD9-81ED-4DB2-BD59-A6C34878D82A}">
                    <a16:rowId xmlns:a16="http://schemas.microsoft.com/office/drawing/2014/main" val="3904871108"/>
                  </a:ext>
                </a:extLst>
              </a:tr>
              <a:tr h="253241">
                <a:tc>
                  <a:txBody>
                    <a:bodyPr/>
                    <a:lstStyle/>
                    <a:p>
                      <a:r>
                        <a:rPr lang="en-GB" sz="1200" noProof="0" dirty="0"/>
                        <a:t>14) Prove that the product of four consecutive numbers is one less than a square number.</a:t>
                      </a:r>
                    </a:p>
                  </a:txBody>
                  <a:tcPr/>
                </a:tc>
                <a:extLst>
                  <a:ext uri="{0D108BD9-81ED-4DB2-BD59-A6C34878D82A}">
                    <a16:rowId xmlns:a16="http://schemas.microsoft.com/office/drawing/2014/main" val="2519692335"/>
                  </a:ext>
                </a:extLst>
              </a:tr>
              <a:tr h="4090026">
                <a:tc>
                  <a:txBody>
                    <a:bodyPr/>
                    <a:lstStyle/>
                    <a:p>
                      <a:endParaRPr lang="en-GB" sz="1200" noProof="0" dirty="0"/>
                    </a:p>
                  </a:txBody>
                  <a:tcPr/>
                </a:tc>
                <a:extLst>
                  <a:ext uri="{0D108BD9-81ED-4DB2-BD59-A6C34878D82A}">
                    <a16:rowId xmlns:a16="http://schemas.microsoft.com/office/drawing/2014/main" val="751337645"/>
                  </a:ext>
                </a:extLst>
              </a:tr>
            </a:tbl>
          </a:graphicData>
        </a:graphic>
      </p:graphicFrame>
    </p:spTree>
    <p:extLst>
      <p:ext uri="{BB962C8B-B14F-4D97-AF65-F5344CB8AC3E}">
        <p14:creationId xmlns:p14="http://schemas.microsoft.com/office/powerpoint/2010/main" val="19190841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6DD7D-3281-B69F-AA17-22AFD97EAC0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D0FC6E-DD74-FC7C-AB1F-71E0A6982A27}"/>
              </a:ext>
            </a:extLst>
          </p:cNvPr>
          <p:cNvSpPr>
            <a:spLocks noGrp="1"/>
          </p:cNvSpPr>
          <p:nvPr>
            <p:ph type="sldNum" sz="quarter" idx="12"/>
          </p:nvPr>
        </p:nvSpPr>
        <p:spPr>
          <a:xfrm>
            <a:off x="5214255" y="9561766"/>
            <a:ext cx="1543050" cy="527403"/>
          </a:xfrm>
        </p:spPr>
        <p:txBody>
          <a:bodyPr/>
          <a:lstStyle/>
          <a:p>
            <a:fld id="{9BD3B4A0-BFF9-422C-B253-48BA94BE2F5B}" type="slidenum">
              <a:rPr lang="en-GB" noProof="0" smtClean="0"/>
              <a:t>84</a:t>
            </a:fld>
            <a:endParaRPr lang="en-GB" noProof="0"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D58AA77D-D96E-DD0D-E18D-9D66A76B81A5}"/>
                  </a:ext>
                </a:extLst>
              </p:cNvPr>
              <p:cNvGraphicFramePr>
                <a:graphicFrameLocks noGrp="1"/>
              </p:cNvGraphicFramePr>
              <p:nvPr>
                <p:extLst>
                  <p:ext uri="{D42A27DB-BD31-4B8C-83A1-F6EECF244321}">
                    <p14:modId xmlns:p14="http://schemas.microsoft.com/office/powerpoint/2010/main" val="3696573522"/>
                  </p:ext>
                </p:extLst>
              </p:nvPr>
            </p:nvGraphicFramePr>
            <p:xfrm>
              <a:off x="118320" y="2749925"/>
              <a:ext cx="6638985" cy="6954877"/>
            </p:xfrm>
            <a:graphic>
              <a:graphicData uri="http://schemas.openxmlformats.org/drawingml/2006/table">
                <a:tbl>
                  <a:tblPr firstRow="1" bandRow="1">
                    <a:tableStyleId>{5C22544A-7EE6-4342-B048-85BDC9FD1C3A}</a:tableStyleId>
                  </a:tblPr>
                  <a:tblGrid>
                    <a:gridCol w="1179276">
                      <a:extLst>
                        <a:ext uri="{9D8B030D-6E8A-4147-A177-3AD203B41FA5}">
                          <a16:colId xmlns:a16="http://schemas.microsoft.com/office/drawing/2014/main" val="1568142362"/>
                        </a:ext>
                      </a:extLst>
                    </a:gridCol>
                    <a:gridCol w="5459709">
                      <a:extLst>
                        <a:ext uri="{9D8B030D-6E8A-4147-A177-3AD203B41FA5}">
                          <a16:colId xmlns:a16="http://schemas.microsoft.com/office/drawing/2014/main" val="3551711160"/>
                        </a:ext>
                      </a:extLst>
                    </a:gridCol>
                  </a:tblGrid>
                  <a:tr h="22189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369824">
                    <a:tc rowSpan="8">
                      <a:txBody>
                        <a:bodyPr/>
                        <a:lstStyle/>
                        <a:p>
                          <a:r>
                            <a:rPr lang="en-GB" sz="1200" noProof="0" dirty="0"/>
                            <a:t>1) Write out the</a:t>
                          </a:r>
                          <a:r>
                            <a:rPr lang="en-GB" sz="1200" baseline="0" noProof="0" dirty="0"/>
                            <a:t> numbers in full place value form</a:t>
                          </a:r>
                        </a:p>
                        <a:p>
                          <a:endParaRPr lang="en-GB" sz="1200" noProof="0" dirty="0"/>
                        </a:p>
                        <a:p>
                          <a:r>
                            <a:rPr lang="en-GB" sz="1200" noProof="0" dirty="0"/>
                            <a:t>2)Read the question carefully to work out the algebraic manipulation required</a:t>
                          </a:r>
                          <a:endParaRPr lang="en-GB" sz="1200" baseline="0" noProof="0" dirty="0"/>
                        </a:p>
                        <a:p>
                          <a:endParaRPr lang="en-GB" sz="1200" noProof="0" dirty="0"/>
                        </a:p>
                        <a:p>
                          <a:r>
                            <a:rPr lang="en-GB" sz="1200" noProof="0" dirty="0"/>
                            <a:t>3) Factorise</a:t>
                          </a:r>
                          <a:r>
                            <a:rPr lang="en-GB" sz="1200" baseline="0" noProof="0" dirty="0"/>
                            <a:t> (if it is required)</a:t>
                          </a:r>
                        </a:p>
                        <a:p>
                          <a:endParaRPr lang="en-GB" sz="1200" noProof="0" dirty="0"/>
                        </a:p>
                        <a:p>
                          <a:r>
                            <a:rPr lang="en-GB" sz="1200" noProof="0" dirty="0"/>
                            <a:t>4) Prove</a:t>
                          </a:r>
                          <a:r>
                            <a:rPr lang="en-GB" sz="1200" baseline="0" noProof="0" dirty="0"/>
                            <a:t> with a statement. </a:t>
                          </a:r>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kern="1200" dirty="0">
                              <a:solidFill>
                                <a:schemeClr val="dk1"/>
                              </a:solidFill>
                              <a:effectLst/>
                              <a:latin typeface="+mn-lt"/>
                              <a:ea typeface="+mn-ea"/>
                              <a:cs typeface="+mn-cs"/>
                            </a:rPr>
                            <a:t>Given that </a:t>
                          </a:r>
                          <a14:m>
                            <m:oMath xmlns:m="http://schemas.openxmlformats.org/officeDocument/2006/math">
                              <m:r>
                                <a:rPr lang="en-GB" sz="1200" i="1" kern="1200">
                                  <a:solidFill>
                                    <a:schemeClr val="dk1"/>
                                  </a:solidFill>
                                  <a:effectLst/>
                                  <a:latin typeface="Cambria Math" panose="02040503050406030204" pitchFamily="18" charset="0"/>
                                  <a:ea typeface="+mn-ea"/>
                                  <a:cs typeface="+mn-cs"/>
                                </a:rPr>
                                <m:t>𝑎𝑏𝑐𝑑</m:t>
                              </m:r>
                            </m:oMath>
                          </a14:m>
                          <a:r>
                            <a:rPr lang="en-GB" sz="1200" kern="1200" dirty="0">
                              <a:solidFill>
                                <a:schemeClr val="dk1"/>
                              </a:solidFill>
                              <a:effectLst/>
                              <a:latin typeface="+mn-lt"/>
                              <a:ea typeface="+mn-ea"/>
                              <a:cs typeface="+mn-cs"/>
                            </a:rPr>
                            <a:t> is a 4-digit number, prove that the difference between itself and its reverse is a multiple of 11</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706504">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1869355"/>
                      </a:ext>
                    </a:extLst>
                  </a:tr>
                  <a:tr h="268957">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369824">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r>
                            <a:rPr lang="en-GB" sz="1200" kern="1200" dirty="0">
                              <a:solidFill>
                                <a:schemeClr val="dk1"/>
                              </a:solidFill>
                              <a:effectLst/>
                              <a:latin typeface="+mn-lt"/>
                              <a:ea typeface="+mn-ea"/>
                              <a:cs typeface="+mn-cs"/>
                            </a:rPr>
                            <a:t>I think of a two-digit number. I then reverse the digits. Prove that the difference between the two numbers is a multiple of 9</a:t>
                          </a:r>
                          <a:endParaRPr lang="en-US" sz="12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9470708"/>
                      </a:ext>
                    </a:extLst>
                  </a:tr>
                  <a:tr h="1588987">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3533263"/>
                      </a:ext>
                    </a:extLst>
                  </a:tr>
                  <a:tr h="256633">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721803"/>
                      </a:ext>
                    </a:extLst>
                  </a:tr>
                  <a:tr h="400626">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GB" sz="1200" kern="1200" dirty="0">
                              <a:solidFill>
                                <a:schemeClr val="dk1"/>
                              </a:solidFill>
                              <a:effectLst/>
                              <a:latin typeface="+mn-lt"/>
                              <a:ea typeface="+mn-ea"/>
                              <a:cs typeface="+mn-cs"/>
                            </a:rPr>
                            <a:t>I think of a 3-digit number and then reverse its digits. Prove that the difference between these two numbers is a multiple of 11</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0665404"/>
                      </a:ext>
                    </a:extLst>
                  </a:tr>
                  <a:tr h="1464826">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311752"/>
                      </a:ext>
                    </a:extLst>
                  </a:tr>
                </a:tbl>
              </a:graphicData>
            </a:graphic>
          </p:graphicFrame>
        </mc:Choice>
        <mc:Fallback xmlns="">
          <p:graphicFrame>
            <p:nvGraphicFramePr>
              <p:cNvPr id="6" name="Table 5">
                <a:extLst>
                  <a:ext uri="{FF2B5EF4-FFF2-40B4-BE49-F238E27FC236}">
                    <a16:creationId xmlns:a16="http://schemas.microsoft.com/office/drawing/2014/main" id="{D58AA77D-D96E-DD0D-E18D-9D66A76B81A5}"/>
                  </a:ext>
                </a:extLst>
              </p:cNvPr>
              <p:cNvGraphicFramePr>
                <a:graphicFrameLocks noGrp="1"/>
              </p:cNvGraphicFramePr>
              <p:nvPr>
                <p:extLst>
                  <p:ext uri="{D42A27DB-BD31-4B8C-83A1-F6EECF244321}">
                    <p14:modId xmlns:p14="http://schemas.microsoft.com/office/powerpoint/2010/main" val="3696573522"/>
                  </p:ext>
                </p:extLst>
              </p:nvPr>
            </p:nvGraphicFramePr>
            <p:xfrm>
              <a:off x="118320" y="2749925"/>
              <a:ext cx="6638985" cy="6954877"/>
            </p:xfrm>
            <a:graphic>
              <a:graphicData uri="http://schemas.openxmlformats.org/drawingml/2006/table">
                <a:tbl>
                  <a:tblPr firstRow="1" bandRow="1">
                    <a:tableStyleId>{5C22544A-7EE6-4342-B048-85BDC9FD1C3A}</a:tableStyleId>
                  </a:tblPr>
                  <a:tblGrid>
                    <a:gridCol w="1179276">
                      <a:extLst>
                        <a:ext uri="{9D8B030D-6E8A-4147-A177-3AD203B41FA5}">
                          <a16:colId xmlns:a16="http://schemas.microsoft.com/office/drawing/2014/main" val="1568142362"/>
                        </a:ext>
                      </a:extLst>
                    </a:gridCol>
                    <a:gridCol w="5459709">
                      <a:extLst>
                        <a:ext uri="{9D8B030D-6E8A-4147-A177-3AD203B41FA5}">
                          <a16:colId xmlns:a16="http://schemas.microsoft.com/office/drawing/2014/main" val="3551711160"/>
                        </a:ext>
                      </a:extLst>
                    </a:gridCol>
                  </a:tblGrid>
                  <a:tr h="2743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457200">
                    <a:tc rowSpan="8">
                      <a:txBody>
                        <a:bodyPr/>
                        <a:lstStyle/>
                        <a:p>
                          <a:r>
                            <a:rPr lang="en-GB" sz="1200" noProof="0" dirty="0"/>
                            <a:t>1) Write out the</a:t>
                          </a:r>
                          <a:r>
                            <a:rPr lang="en-GB" sz="1200" baseline="0" noProof="0" dirty="0"/>
                            <a:t> numbers in full place value form</a:t>
                          </a:r>
                        </a:p>
                        <a:p>
                          <a:endParaRPr lang="en-GB" sz="1200" noProof="0" dirty="0"/>
                        </a:p>
                        <a:p>
                          <a:r>
                            <a:rPr lang="en-GB" sz="1200" noProof="0" dirty="0"/>
                            <a:t>2)Read the question carefully to work out the algebraic manipulation required</a:t>
                          </a:r>
                          <a:endParaRPr lang="en-GB" sz="1200" baseline="0" noProof="0" dirty="0"/>
                        </a:p>
                        <a:p>
                          <a:endParaRPr lang="en-GB" sz="1200" noProof="0" dirty="0"/>
                        </a:p>
                        <a:p>
                          <a:r>
                            <a:rPr lang="en-GB" sz="1200" noProof="0" dirty="0"/>
                            <a:t>3) Factorise</a:t>
                          </a:r>
                          <a:r>
                            <a:rPr lang="en-GB" sz="1200" baseline="0" noProof="0" dirty="0"/>
                            <a:t> (if it is required)</a:t>
                          </a:r>
                        </a:p>
                        <a:p>
                          <a:endParaRPr lang="en-GB" sz="1200" noProof="0" dirty="0"/>
                        </a:p>
                        <a:p>
                          <a:r>
                            <a:rPr lang="en-GB" sz="1200" noProof="0" dirty="0"/>
                            <a:t>4) Prove</a:t>
                          </a:r>
                          <a:r>
                            <a:rPr lang="en-GB" sz="1200" baseline="0" noProof="0" dirty="0"/>
                            <a:t> with a statement. </a:t>
                          </a:r>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1763" t="-61333" r="-223" b="-1365333"/>
                          </a:stretch>
                        </a:blipFill>
                      </a:tcPr>
                    </a:tc>
                    <a:extLst>
                      <a:ext uri="{0D108BD9-81ED-4DB2-BD59-A6C34878D82A}">
                        <a16:rowId xmlns:a16="http://schemas.microsoft.com/office/drawing/2014/main" val="2357201933"/>
                      </a:ext>
                    </a:extLst>
                  </a:tr>
                  <a:tr h="1706504">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1869355"/>
                      </a:ext>
                    </a:extLst>
                  </a:tr>
                  <a:tr h="274320">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457200">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r>
                            <a:rPr lang="en-GB" sz="1200" kern="1200" dirty="0">
                              <a:solidFill>
                                <a:schemeClr val="dk1"/>
                              </a:solidFill>
                              <a:effectLst/>
                              <a:latin typeface="+mn-lt"/>
                              <a:ea typeface="+mn-ea"/>
                              <a:cs typeface="+mn-cs"/>
                            </a:rPr>
                            <a:t>I think of a two-digit number. I then reverse the digits. Prove that the difference between the two numbers is a multiple of 9</a:t>
                          </a:r>
                          <a:endParaRPr lang="en-US" sz="12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9470708"/>
                      </a:ext>
                    </a:extLst>
                  </a:tr>
                  <a:tr h="1588987">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3533263"/>
                      </a:ext>
                    </a:extLst>
                  </a:tr>
                  <a:tr h="274320">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721803"/>
                      </a:ext>
                    </a:extLst>
                  </a:tr>
                  <a:tr h="457200">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GB" sz="1200" kern="1200" dirty="0">
                              <a:solidFill>
                                <a:schemeClr val="dk1"/>
                              </a:solidFill>
                              <a:effectLst/>
                              <a:latin typeface="+mn-lt"/>
                              <a:ea typeface="+mn-ea"/>
                              <a:cs typeface="+mn-cs"/>
                            </a:rPr>
                            <a:t>I think of a 3-digit number and then reverse its digits. Prove that the difference between these two numbers is a multiple of 11</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0665404"/>
                      </a:ext>
                    </a:extLst>
                  </a:tr>
                  <a:tr h="1464826">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311752"/>
                      </a:ext>
                    </a:extLst>
                  </a:tr>
                </a:tbl>
              </a:graphicData>
            </a:graphic>
          </p:graphicFrame>
        </mc:Fallback>
      </mc:AlternateContent>
      <p:sp>
        <p:nvSpPr>
          <p:cNvPr id="3" name="TextBox 2">
            <a:extLst>
              <a:ext uri="{FF2B5EF4-FFF2-40B4-BE49-F238E27FC236}">
                <a16:creationId xmlns:a16="http://schemas.microsoft.com/office/drawing/2014/main" id="{40A827B0-8B91-7015-767A-23DCE740B66B}"/>
              </a:ext>
            </a:extLst>
          </p:cNvPr>
          <p:cNvSpPr txBox="1"/>
          <p:nvPr/>
        </p:nvSpPr>
        <p:spPr>
          <a:xfrm>
            <a:off x="0" y="0"/>
            <a:ext cx="2367957" cy="276999"/>
          </a:xfrm>
          <a:prstGeom prst="rect">
            <a:avLst/>
          </a:prstGeom>
          <a:solidFill>
            <a:srgbClr val="0070C0"/>
          </a:solidFill>
        </p:spPr>
        <p:txBody>
          <a:bodyPr wrap="none" rtlCol="0" anchor="ctr">
            <a:spAutoFit/>
          </a:bodyPr>
          <a:lstStyle/>
          <a:p>
            <a:pPr algn="ctr"/>
            <a:r>
              <a:rPr lang="en-GB" sz="1200" b="1" noProof="0" dirty="0">
                <a:solidFill>
                  <a:schemeClr val="bg1"/>
                </a:solidFill>
              </a:rPr>
              <a:t>ALGEBRAIC PROOF: DIGIT PROOFS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0FE7BB-0941-C7C4-B295-6178C4F968BD}"/>
                  </a:ext>
                </a:extLst>
              </p:cNvPr>
              <p:cNvSpPr txBox="1"/>
              <p:nvPr/>
            </p:nvSpPr>
            <p:spPr>
              <a:xfrm>
                <a:off x="118320" y="276999"/>
                <a:ext cx="6638985" cy="2308324"/>
              </a:xfrm>
              <a:prstGeom prst="rect">
                <a:avLst/>
              </a:prstGeom>
              <a:noFill/>
              <a:ln>
                <a:solidFill>
                  <a:schemeClr val="tx1"/>
                </a:solidFill>
              </a:ln>
            </p:spPr>
            <p:txBody>
              <a:bodyPr wrap="square" rtlCol="0">
                <a:spAutoFit/>
              </a:bodyPr>
              <a:lstStyle/>
              <a:p>
                <a:r>
                  <a:rPr lang="en-GB" sz="1200" dirty="0"/>
                  <a:t>Digit proofs work by using place value to prove certain conclusions about numbers. The first thing we will do is practise writing numbers algebraically using place value.</a:t>
                </a:r>
              </a:p>
              <a:p>
                <a:endParaRPr lang="en-US" sz="1200" dirty="0"/>
              </a:p>
              <a:p>
                <a:r>
                  <a:rPr lang="en-GB" sz="1200" b="1" u="sng" dirty="0"/>
                  <a:t>Example:</a:t>
                </a:r>
                <a:r>
                  <a:rPr lang="en-GB" sz="1200" dirty="0"/>
                  <a:t> </a:t>
                </a:r>
                <a14:m>
                  <m:oMath xmlns:m="http://schemas.openxmlformats.org/officeDocument/2006/math">
                    <m:r>
                      <a:rPr lang="en-GB" sz="1200" i="1">
                        <a:latin typeface="Cambria Math" panose="02040503050406030204" pitchFamily="18" charset="0"/>
                      </a:rPr>
                      <m:t>𝑎𝑏𝑐𝑑</m:t>
                    </m:r>
                  </m:oMath>
                </a14:m>
                <a:r>
                  <a:rPr lang="en-GB" sz="1200" dirty="0"/>
                  <a:t> is a four-digit number, write down the value of </a:t>
                </a:r>
                <a14:m>
                  <m:oMath xmlns:m="http://schemas.openxmlformats.org/officeDocument/2006/math">
                    <m:r>
                      <a:rPr lang="en-GB" sz="1200" i="1">
                        <a:latin typeface="Cambria Math" panose="02040503050406030204" pitchFamily="18" charset="0"/>
                      </a:rPr>
                      <m:t>𝑎𝑏𝑐𝑑</m:t>
                    </m:r>
                  </m:oMath>
                </a14:m>
                <a:r>
                  <a:rPr lang="en-GB" sz="1200" dirty="0"/>
                  <a:t> using place value.</a:t>
                </a:r>
                <a:endParaRPr lang="en-US" sz="1200" dirty="0"/>
              </a:p>
              <a:p>
                <a:r>
                  <a:rPr lang="en-GB" sz="1200" b="1" dirty="0"/>
                  <a:t> </a:t>
                </a:r>
                <a:endParaRPr lang="en-US" sz="1200" dirty="0"/>
              </a:p>
              <a:p>
                <a:r>
                  <a:rPr lang="en-GB" sz="1200" b="1" dirty="0"/>
                  <a:t> </a:t>
                </a:r>
                <a:endParaRPr lang="en-US" sz="1200" dirty="0"/>
              </a:p>
              <a:p>
                <a:r>
                  <a:rPr lang="en-GB" sz="1200" b="1" dirty="0"/>
                  <a:t> </a:t>
                </a:r>
                <a:endParaRPr lang="en-US" sz="1200" dirty="0"/>
              </a:p>
              <a:p>
                <a:r>
                  <a:rPr lang="en-GB" sz="1200" b="1" u="sng" dirty="0"/>
                  <a:t>Your Turn:</a:t>
                </a:r>
                <a14:m>
                  <m:oMath xmlns:m="http://schemas.openxmlformats.org/officeDocument/2006/math">
                    <m:r>
                      <a:rPr lang="en-GB" sz="1200" b="1" i="0" smtClean="0">
                        <a:latin typeface="Cambria Math" panose="02040503050406030204" pitchFamily="18" charset="0"/>
                      </a:rPr>
                      <m:t>  </m:t>
                    </m:r>
                    <m:r>
                      <a:rPr lang="en-GB" sz="1200" i="1">
                        <a:latin typeface="Cambria Math" panose="02040503050406030204" pitchFamily="18" charset="0"/>
                      </a:rPr>
                      <m:t>4</m:t>
                    </m:r>
                    <m:r>
                      <a:rPr lang="en-GB" sz="1200" i="1">
                        <a:latin typeface="Cambria Math" panose="02040503050406030204" pitchFamily="18" charset="0"/>
                      </a:rPr>
                      <m:t>𝑎</m:t>
                    </m:r>
                    <m:r>
                      <a:rPr lang="en-GB" sz="1200" i="1">
                        <a:latin typeface="Cambria Math" panose="02040503050406030204" pitchFamily="18" charset="0"/>
                      </a:rPr>
                      <m:t>1</m:t>
                    </m:r>
                    <m:r>
                      <a:rPr lang="en-GB" sz="1200" i="1">
                        <a:latin typeface="Cambria Math" panose="02040503050406030204" pitchFamily="18" charset="0"/>
                      </a:rPr>
                      <m:t>𝑥𝑦</m:t>
                    </m:r>
                  </m:oMath>
                </a14:m>
                <a:r>
                  <a:rPr lang="en-GB" sz="1200" dirty="0"/>
                  <a:t>, is a five-digit number, write down the value of </a:t>
                </a:r>
                <a14:m>
                  <m:oMath xmlns:m="http://schemas.openxmlformats.org/officeDocument/2006/math">
                    <m:r>
                      <a:rPr lang="en-GB" sz="1200" i="1">
                        <a:latin typeface="Cambria Math" panose="02040503050406030204" pitchFamily="18" charset="0"/>
                      </a:rPr>
                      <m:t>421</m:t>
                    </m:r>
                    <m:r>
                      <a:rPr lang="en-GB" sz="1200" i="1">
                        <a:latin typeface="Cambria Math" panose="02040503050406030204" pitchFamily="18" charset="0"/>
                      </a:rPr>
                      <m:t>𝑥𝑦</m:t>
                    </m:r>
                  </m:oMath>
                </a14:m>
                <a:r>
                  <a:rPr lang="en-GB" sz="1200" dirty="0"/>
                  <a:t> using place value</a:t>
                </a:r>
              </a:p>
              <a:p>
                <a:endParaRPr lang="en-GB" sz="1200" dirty="0"/>
              </a:p>
              <a:p>
                <a:endParaRPr lang="en-GB" sz="1200" dirty="0"/>
              </a:p>
              <a:p>
                <a:endParaRPr lang="en-US" sz="1200" dirty="0"/>
              </a:p>
              <a:p>
                <a:endParaRPr lang="en-US" sz="1200" dirty="0"/>
              </a:p>
            </p:txBody>
          </p:sp>
        </mc:Choice>
        <mc:Fallback xmlns="">
          <p:sp>
            <p:nvSpPr>
              <p:cNvPr id="4" name="TextBox 3">
                <a:extLst>
                  <a:ext uri="{FF2B5EF4-FFF2-40B4-BE49-F238E27FC236}">
                    <a16:creationId xmlns:a16="http://schemas.microsoft.com/office/drawing/2014/main" id="{490FE7BB-0941-C7C4-B295-6178C4F968BD}"/>
                  </a:ext>
                </a:extLst>
              </p:cNvPr>
              <p:cNvSpPr txBox="1">
                <a:spLocks noRot="1" noChangeAspect="1" noMove="1" noResize="1" noEditPoints="1" noAdjustHandles="1" noChangeArrowheads="1" noChangeShapeType="1" noTextEdit="1"/>
              </p:cNvSpPr>
              <p:nvPr/>
            </p:nvSpPr>
            <p:spPr>
              <a:xfrm>
                <a:off x="118320" y="276999"/>
                <a:ext cx="6638985" cy="2308324"/>
              </a:xfrm>
              <a:prstGeom prst="rect">
                <a:avLst/>
              </a:prstGeom>
              <a:blipFill>
                <a:blip r:embed="rId3"/>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9018218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0E335-7C87-8978-98F0-A63B8AAAEC77}"/>
            </a:ext>
          </a:extLst>
        </p:cNvPr>
        <p:cNvGrpSpPr/>
        <p:nvPr/>
      </p:nvGrpSpPr>
      <p:grpSpPr>
        <a:xfrm>
          <a:off x="0" y="0"/>
          <a:ext cx="0" cy="0"/>
          <a:chOff x="0" y="0"/>
          <a:chExt cx="0" cy="0"/>
        </a:xfrm>
      </p:grpSpPr>
      <p:pic>
        <p:nvPicPr>
          <p:cNvPr id="12" name="Picture 11" descr="A white background with black text&#10;&#10;AI-generated content may be incorrect.">
            <a:extLst>
              <a:ext uri="{FF2B5EF4-FFF2-40B4-BE49-F238E27FC236}">
                <a16:creationId xmlns:a16="http://schemas.microsoft.com/office/drawing/2014/main" id="{B4F39B40-12FA-2078-E88D-83CE6A4D6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218" y="6632493"/>
            <a:ext cx="6089963" cy="3168813"/>
          </a:xfrm>
          <a:prstGeom prst="rect">
            <a:avLst/>
          </a:prstGeom>
        </p:spPr>
      </p:pic>
      <p:sp>
        <p:nvSpPr>
          <p:cNvPr id="2" name="Slide Number Placeholder 1">
            <a:extLst>
              <a:ext uri="{FF2B5EF4-FFF2-40B4-BE49-F238E27FC236}">
                <a16:creationId xmlns:a16="http://schemas.microsoft.com/office/drawing/2014/main" id="{52CC5956-AC7A-2BBE-282F-432FF24B377C}"/>
              </a:ext>
            </a:extLst>
          </p:cNvPr>
          <p:cNvSpPr>
            <a:spLocks noGrp="1"/>
          </p:cNvSpPr>
          <p:nvPr>
            <p:ph type="sldNum" sz="quarter" idx="12"/>
          </p:nvPr>
        </p:nvSpPr>
        <p:spPr>
          <a:xfrm>
            <a:off x="5280336" y="9253018"/>
            <a:ext cx="1543050" cy="527403"/>
          </a:xfrm>
        </p:spPr>
        <p:txBody>
          <a:bodyPr/>
          <a:lstStyle/>
          <a:p>
            <a:fld id="{9BD3B4A0-BFF9-422C-B253-48BA94BE2F5B}" type="slidenum">
              <a:rPr lang="en-GB" noProof="0" smtClean="0"/>
              <a:t>85</a:t>
            </a:fld>
            <a:endParaRPr lang="en-GB" noProof="0" dirty="0"/>
          </a:p>
        </p:txBody>
      </p:sp>
      <p:sp>
        <p:nvSpPr>
          <p:cNvPr id="3" name="TextBox 2">
            <a:extLst>
              <a:ext uri="{FF2B5EF4-FFF2-40B4-BE49-F238E27FC236}">
                <a16:creationId xmlns:a16="http://schemas.microsoft.com/office/drawing/2014/main" id="{D959BAE1-7E0E-90A6-D093-9C947C1014F7}"/>
              </a:ext>
            </a:extLst>
          </p:cNvPr>
          <p:cNvSpPr txBox="1"/>
          <p:nvPr/>
        </p:nvSpPr>
        <p:spPr>
          <a:xfrm>
            <a:off x="0" y="-2540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5" name="Picture 4" descr="A white background with black text&#10;&#10;AI-generated content may be incorrect.">
            <a:extLst>
              <a:ext uri="{FF2B5EF4-FFF2-40B4-BE49-F238E27FC236}">
                <a16:creationId xmlns:a16="http://schemas.microsoft.com/office/drawing/2014/main" id="{792E07F7-8A0C-2864-2B8B-569A398184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1599"/>
            <a:ext cx="6051861" cy="3041806"/>
          </a:xfrm>
          <a:prstGeom prst="rect">
            <a:avLst/>
          </a:prstGeom>
        </p:spPr>
      </p:pic>
      <p:cxnSp>
        <p:nvCxnSpPr>
          <p:cNvPr id="7" name="Straight Connector 6">
            <a:extLst>
              <a:ext uri="{FF2B5EF4-FFF2-40B4-BE49-F238E27FC236}">
                <a16:creationId xmlns:a16="http://schemas.microsoft.com/office/drawing/2014/main" id="{F2D47F10-AD9B-C9B1-5B11-7389191E004F}"/>
              </a:ext>
            </a:extLst>
          </p:cNvPr>
          <p:cNvCxnSpPr/>
          <p:nvPr/>
        </p:nvCxnSpPr>
        <p:spPr>
          <a:xfrm>
            <a:off x="0" y="3344205"/>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screenshot of a math test&#10;&#10;AI-generated content may be incorrect.">
            <a:extLst>
              <a:ext uri="{FF2B5EF4-FFF2-40B4-BE49-F238E27FC236}">
                <a16:creationId xmlns:a16="http://schemas.microsoft.com/office/drawing/2014/main" id="{3962587B-A599-745B-E549-9B81F5A354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51" y="3395006"/>
            <a:ext cx="6032810" cy="3060857"/>
          </a:xfrm>
          <a:prstGeom prst="rect">
            <a:avLst/>
          </a:prstGeom>
        </p:spPr>
      </p:pic>
      <p:cxnSp>
        <p:nvCxnSpPr>
          <p:cNvPr id="10" name="Straight Connector 9">
            <a:extLst>
              <a:ext uri="{FF2B5EF4-FFF2-40B4-BE49-F238E27FC236}">
                <a16:creationId xmlns:a16="http://schemas.microsoft.com/office/drawing/2014/main" id="{7DB2A34A-22A6-D445-FD04-0776C5E49F4A}"/>
              </a:ext>
            </a:extLst>
          </p:cNvPr>
          <p:cNvCxnSpPr/>
          <p:nvPr/>
        </p:nvCxnSpPr>
        <p:spPr>
          <a:xfrm>
            <a:off x="0" y="6455863"/>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69270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FDF31E-7356-B57A-2133-A3C5E7D16754}"/>
              </a:ext>
            </a:extLst>
          </p:cNvPr>
          <p:cNvSpPr>
            <a:spLocks noGrp="1"/>
          </p:cNvSpPr>
          <p:nvPr>
            <p:ph type="sldNum" sz="quarter" idx="12"/>
          </p:nvPr>
        </p:nvSpPr>
        <p:spPr/>
        <p:txBody>
          <a:bodyPr/>
          <a:lstStyle/>
          <a:p>
            <a:fld id="{9BD3B4A0-BFF9-422C-B253-48BA94BE2F5B}" type="slidenum">
              <a:rPr lang="en-GB" smtClean="0"/>
              <a:t>86</a:t>
            </a:fld>
            <a:endParaRPr lang="en-GB"/>
          </a:p>
        </p:txBody>
      </p:sp>
      <p:pic>
        <p:nvPicPr>
          <p:cNvPr id="4" name="Picture 3" descr="A white paper with black text&#10;&#10;AI-generated content may be incorrect.">
            <a:extLst>
              <a:ext uri="{FF2B5EF4-FFF2-40B4-BE49-F238E27FC236}">
                <a16:creationId xmlns:a16="http://schemas.microsoft.com/office/drawing/2014/main" id="{4D04800D-3B37-6CAF-A941-2A296DDEA8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134100" cy="4917420"/>
          </a:xfrm>
          <a:prstGeom prst="rect">
            <a:avLst/>
          </a:prstGeom>
        </p:spPr>
      </p:pic>
      <p:cxnSp>
        <p:nvCxnSpPr>
          <p:cNvPr id="5" name="Straight Connector 4">
            <a:extLst>
              <a:ext uri="{FF2B5EF4-FFF2-40B4-BE49-F238E27FC236}">
                <a16:creationId xmlns:a16="http://schemas.microsoft.com/office/drawing/2014/main" id="{9AFC289D-49E6-C4DB-EAEF-29E6349EC757}"/>
              </a:ext>
            </a:extLst>
          </p:cNvPr>
          <p:cNvCxnSpPr/>
          <p:nvPr/>
        </p:nvCxnSpPr>
        <p:spPr>
          <a:xfrm>
            <a:off x="0" y="4953000"/>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descr="A white background with black text&#10;&#10;AI-generated content may be incorrect.">
            <a:extLst>
              <a:ext uri="{FF2B5EF4-FFF2-40B4-BE49-F238E27FC236}">
                <a16:creationId xmlns:a16="http://schemas.microsoft.com/office/drawing/2014/main" id="{89BD90DC-B460-8030-6C6F-8D65DB99A9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18" y="5105400"/>
            <a:ext cx="6292291" cy="3975099"/>
          </a:xfrm>
          <a:prstGeom prst="rect">
            <a:avLst/>
          </a:prstGeom>
        </p:spPr>
      </p:pic>
    </p:spTree>
    <p:extLst>
      <p:ext uri="{BB962C8B-B14F-4D97-AF65-F5344CB8AC3E}">
        <p14:creationId xmlns:p14="http://schemas.microsoft.com/office/powerpoint/2010/main" val="11808885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4" ma:contentTypeDescription="Create a new document." ma:contentTypeScope="" ma:versionID="d122bacdc6e0e52b1daab86e5e474f38">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c50e756327527929f9f40a94500ed9ef"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8993FAD-BC98-4BC4-9AAA-9B0B2AFC55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0b71df-48f4-4db7-95c3-a9033c265cb9"/>
    <ds:schemaRef ds:uri="608ebbb4-e88b-4c99-b506-21d9362781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053D74A-5336-454B-8D4D-7A76286864F0}">
  <ds:schemaRefs>
    <ds:schemaRef ds:uri="http://schemas.microsoft.com/sharepoint/v3/contenttype/forms"/>
  </ds:schemaRefs>
</ds:datastoreItem>
</file>

<file path=customXml/itemProps3.xml><?xml version="1.0" encoding="utf-8"?>
<ds:datastoreItem xmlns:ds="http://schemas.openxmlformats.org/officeDocument/2006/customXml" ds:itemID="{00F551DF-02B3-45E2-A83E-993D28DAF02D}">
  <ds:schemaRefs>
    <ds:schemaRef ds:uri="608ebbb4-e88b-4c99-b506-21d9362781c6"/>
    <ds:schemaRef ds:uri="e30b71df-48f4-4db7-95c3-a9033c265cb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11097</Words>
  <Application>Microsoft Office PowerPoint</Application>
  <PresentationFormat>A4 Paper (210x297 mm)</PresentationFormat>
  <Paragraphs>1879</Paragraphs>
  <Slides>86</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86</vt:i4>
      </vt:variant>
    </vt:vector>
  </HeadingPairs>
  <TitlesOfParts>
    <vt:vector size="93" baseType="lpstr">
      <vt:lpstr>Arial</vt:lpstr>
      <vt:lpstr>Calibri</vt:lpstr>
      <vt:lpstr>Calibri Light</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Marcus Lindley (Staff, Astrea Academy Sheffield)</dc:creator>
  <cp:lastModifiedBy>Adam Brown (Astrea Central)</cp:lastModifiedBy>
  <cp:revision>9</cp:revision>
  <cp:lastPrinted>2023-02-02T08:32:36Z</cp:lastPrinted>
  <dcterms:created xsi:type="dcterms:W3CDTF">2022-06-06T15:50:05Z</dcterms:created>
  <dcterms:modified xsi:type="dcterms:W3CDTF">2025-08-07T13:19:34Z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ies>
</file>