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2"/>
  </p:notesMasterIdLst>
  <p:sldIdLst>
    <p:sldId id="300" r:id="rId5"/>
    <p:sldId id="301" r:id="rId6"/>
    <p:sldId id="302" r:id="rId7"/>
    <p:sldId id="359" r:id="rId8"/>
    <p:sldId id="360" r:id="rId9"/>
    <p:sldId id="361" r:id="rId10"/>
    <p:sldId id="362" r:id="rId11"/>
  </p:sldIdLst>
  <p:sldSz cx="6858000" cy="9906000" type="A4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31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am Brown (Astrea Central)" userId="e4577f1c-a0ea-4eef-9851-9bdbe8619e58" providerId="ADAL" clId="{2D7782A9-01BA-4902-A9D3-399B9574DEB0}"/>
    <pc:docChg chg="delSld">
      <pc:chgData name="Adam Brown (Astrea Central)" userId="e4577f1c-a0ea-4eef-9851-9bdbe8619e58" providerId="ADAL" clId="{2D7782A9-01BA-4902-A9D3-399B9574DEB0}" dt="2025-07-25T11:48:45.221" v="0" actId="47"/>
      <pc:docMkLst>
        <pc:docMk/>
      </pc:docMkLst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2420724009" sldId="257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1005434100" sldId="258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1544988901" sldId="260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1298809760" sldId="261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2535812588" sldId="262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314270034" sldId="263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171837948" sldId="264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1580091344" sldId="265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2414722630" sldId="266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3426703939" sldId="267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937638385" sldId="268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2931845994" sldId="269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814084658" sldId="270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4023999436" sldId="272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1555687156" sldId="273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488137902" sldId="275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57951128" sldId="277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2889196625" sldId="279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2672236804" sldId="280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1868544672" sldId="281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3971028310" sldId="284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1733324030" sldId="285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2917533864" sldId="286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1859692058" sldId="287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1926886564" sldId="288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1337681295" sldId="289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2141734747" sldId="290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3777180378" sldId="291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706008046" sldId="292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2905413640" sldId="293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2324741368" sldId="294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92328800" sldId="296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2815565918" sldId="303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4216146809" sldId="313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1844880138" sldId="314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826102320" sldId="322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2304709194" sldId="323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969948017" sldId="324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4032890790" sldId="325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2502521823" sldId="326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3767051523" sldId="327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4281584568" sldId="328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2219975397" sldId="329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2599370368" sldId="330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962353856" sldId="331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1908346100" sldId="334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3525067124" sldId="335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724810248" sldId="336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1629160325" sldId="344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4174300119" sldId="345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329431369" sldId="346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542520032" sldId="347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1042596037" sldId="348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3186429579" sldId="349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1856237109" sldId="350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1190930630" sldId="353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4096746058" sldId="355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3479034719" sldId="356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900685508" sldId="357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3657856763" sldId="358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1784817808" sldId="372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1919084134" sldId="373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4144469883" sldId="374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1627169086" sldId="375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3692886486" sldId="376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508847688" sldId="377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688274044" sldId="378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421593374" sldId="379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3063108936" sldId="952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2587464780" sldId="957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151953142" sldId="963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3651128130" sldId="964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2962015683" sldId="967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8561353" sldId="968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3956224976" sldId="971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4031722019" sldId="972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396356508" sldId="974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3752120071" sldId="979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4195919322" sldId="981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2599061422" sldId="982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1696658123" sldId="985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1328723957" sldId="987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1206986322" sldId="988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1594028101" sldId="989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2219029894" sldId="990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1135025790" sldId="1162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863086105" sldId="1163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1779407553" sldId="1173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271517831" sldId="2696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1380726865" sldId="2698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1343043793" sldId="2700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3301299181" sldId="2701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3757623286" sldId="2702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3911472027" sldId="2704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1845416459" sldId="2705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1886488787" sldId="2706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3400159256" sldId="2707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2664751948" sldId="2709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3722714943" sldId="2711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2752550148" sldId="2714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3615378340" sldId="2715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2217025205" sldId="2716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2572306068" sldId="2717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1685474441" sldId="2718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2538578330" sldId="2719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1813454950" sldId="2720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3422141095" sldId="2721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905767127" sldId="2722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509849628" sldId="2723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675915942" sldId="2724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1096353866" sldId="2725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240355490" sldId="2726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967788092" sldId="2727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933153135" sldId="2728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1290489478" sldId="2729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1894790025" sldId="2730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3800818377" sldId="2731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2522769965" sldId="2732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1710446999" sldId="2733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2556719208" sldId="2734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3087637966" sldId="2738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1083040939" sldId="2740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2874314852" sldId="2742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623754354" sldId="2743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953605078" sldId="2745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1123673023" sldId="2747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2554891542" sldId="2748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148444291" sldId="2749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759071522" sldId="2750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1546075972" sldId="2751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3552589205" sldId="2752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2566927058" sldId="2753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594926883" sldId="2754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450469358" sldId="2755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1755945383" sldId="2756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625410266" sldId="2757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2102929360" sldId="2758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1389947671" sldId="2759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2290734628" sldId="2760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1729915234" sldId="2761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3135394857" sldId="2762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2000600415" sldId="2763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2547779968" sldId="2764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649580854" sldId="2765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2109098751" sldId="2766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2673872755" sldId="2767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4276921759" sldId="2768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4072467659" sldId="2769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2116641321" sldId="2770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3503684853" sldId="2771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2628843454" sldId="2772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3901821836" sldId="2773"/>
        </pc:sldMkLst>
      </pc:sldChg>
      <pc:sldChg chg="del">
        <pc:chgData name="Adam Brown (Astrea Central)" userId="e4577f1c-a0ea-4eef-9851-9bdbe8619e58" providerId="ADAL" clId="{2D7782A9-01BA-4902-A9D3-399B9574DEB0}" dt="2025-07-25T11:48:45.221" v="0" actId="47"/>
        <pc:sldMkLst>
          <pc:docMk/>
          <pc:sldMk cId="1180888511" sldId="277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887872-9236-460B-BC2A-E44A8AC6C1EB}" type="datetimeFigureOut">
              <a:rPr lang="en-GB" smtClean="0"/>
              <a:t>18/07/2025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9963" y="1241425"/>
            <a:ext cx="23177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5AC23A-D8C2-4808-8C51-A2299E24BA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1726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645BB-F530-4C6B-ABAE-E32F8A251980}" type="datetime1">
              <a:rPr lang="en-GB" smtClean="0"/>
              <a:t>18/07/2025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B4A0-BFF9-422C-B253-48BA94BE2F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8696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EDB0C-8CB1-4E4B-A7D2-72D1E989F74F}" type="datetime1">
              <a:rPr lang="en-GB" smtClean="0"/>
              <a:t>18/07/2025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B4A0-BFF9-422C-B253-48BA94BE2F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8738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8B7CF-AD3A-412E-A236-AD334123F5DC}" type="datetime1">
              <a:rPr lang="en-GB" smtClean="0"/>
              <a:t>18/07/2025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B4A0-BFF9-422C-B253-48BA94BE2F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5247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8CF75-DE73-4975-8438-DCC60FF5A9C7}" type="datetime1">
              <a:rPr lang="en-GB" smtClean="0"/>
              <a:t>18/07/2025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B4A0-BFF9-422C-B253-48BA94BE2F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2259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433DA-9DCC-4C1C-BE87-1B843446F1E2}" type="datetime1">
              <a:rPr lang="en-GB" smtClean="0"/>
              <a:t>18/07/2025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B4A0-BFF9-422C-B253-48BA94BE2F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0260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6B931-B1B4-4301-9FA3-4AC76251F969}" type="datetime1">
              <a:rPr lang="en-GB" smtClean="0"/>
              <a:t>18/07/2025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B4A0-BFF9-422C-B253-48BA94BE2F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0737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EB317-EAB0-4C19-A195-2782EA19078C}" type="datetime1">
              <a:rPr lang="en-GB" smtClean="0"/>
              <a:t>18/07/2025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B4A0-BFF9-422C-B253-48BA94BE2F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690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7F5A2-2F3B-430C-BD43-6D2323C7CD6A}" type="datetime1">
              <a:rPr lang="en-GB" smtClean="0"/>
              <a:t>18/07/2025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B4A0-BFF9-422C-B253-48BA94BE2F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2427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AD09F-1297-4193-9BA9-680759B76EE0}" type="datetime1">
              <a:rPr lang="en-GB" smtClean="0"/>
              <a:t>18/07/2025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B4A0-BFF9-422C-B253-48BA94BE2F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5885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7873-3A83-4840-BD06-EB3A5B53B6DA}" type="datetime1">
              <a:rPr lang="en-GB" smtClean="0"/>
              <a:t>18/07/2025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B4A0-BFF9-422C-B253-48BA94BE2F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0277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7EED6-F9AB-4871-A4A9-4EB7B43E5F99}" type="datetime1">
              <a:rPr lang="en-GB" smtClean="0"/>
              <a:t>18/07/2025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B4A0-BFF9-422C-B253-48BA94BE2F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3891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118337-BCAC-4A6B-9508-65A0DEBA7F58}" type="datetime1">
              <a:rPr lang="en-GB" smtClean="0"/>
              <a:t>18/07/2025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D3B4A0-BFF9-422C-B253-48BA94BE2F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9756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8.png"/><Relationship Id="rId7" Type="http://schemas.microsoft.com/office/2007/relationships/hdphoto" Target="../media/hdphoto1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0.png"/><Relationship Id="rId10" Type="http://schemas.openxmlformats.org/officeDocument/2006/relationships/image" Target="../media/image33.png"/><Relationship Id="rId4" Type="http://schemas.openxmlformats.org/officeDocument/2006/relationships/image" Target="../media/image29.png"/><Relationship Id="rId9" Type="http://schemas.openxmlformats.org/officeDocument/2006/relationships/image" Target="../media/image3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D9761CF-86CD-F14F-B3B4-6AAF3436CD55}"/>
              </a:ext>
            </a:extLst>
          </p:cNvPr>
          <p:cNvSpPr txBox="1"/>
          <p:nvPr/>
        </p:nvSpPr>
        <p:spPr>
          <a:xfrm>
            <a:off x="181907" y="3078540"/>
            <a:ext cx="2134045" cy="25391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1050" b="1" noProof="0" dirty="0">
                <a:solidFill>
                  <a:schemeClr val="bg1"/>
                </a:solidFill>
              </a:rPr>
              <a:t>Q3 – Prior Knowledge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E880452-3BFC-EF43-891C-A9776558DA9C}"/>
              </a:ext>
            </a:extLst>
          </p:cNvPr>
          <p:cNvGrpSpPr/>
          <p:nvPr/>
        </p:nvGrpSpPr>
        <p:grpSpPr>
          <a:xfrm>
            <a:off x="181907" y="1264542"/>
            <a:ext cx="2554110" cy="1655363"/>
            <a:chOff x="174360" y="3964219"/>
            <a:chExt cx="6500426" cy="1743429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1D9761CF-86CD-F14F-B3B4-6AAF3436CD55}"/>
                </a:ext>
              </a:extLst>
            </p:cNvPr>
            <p:cNvSpPr txBox="1"/>
            <p:nvPr/>
          </p:nvSpPr>
          <p:spPr>
            <a:xfrm>
              <a:off x="174360" y="3964219"/>
              <a:ext cx="6500426" cy="25391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1050" b="1" noProof="0" dirty="0">
                  <a:solidFill>
                    <a:schemeClr val="bg1"/>
                  </a:solidFill>
                </a:rPr>
                <a:t>Q1 – Prior Knowledge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185F5D3-FC4D-B842-ACB5-292C07F15382}"/>
                </a:ext>
              </a:extLst>
            </p:cNvPr>
            <p:cNvSpPr/>
            <p:nvPr/>
          </p:nvSpPr>
          <p:spPr>
            <a:xfrm>
              <a:off x="180456" y="4184062"/>
              <a:ext cx="6494330" cy="1523586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050" noProof="0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99" name="Table 98">
            <a:extLst>
              <a:ext uri="{FF2B5EF4-FFF2-40B4-BE49-F238E27FC236}">
                <a16:creationId xmlns:a16="http://schemas.microsoft.com/office/drawing/2014/main" id="{AB51EEA6-B3AC-754A-8CC9-D50114044A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924121"/>
              </p:ext>
            </p:extLst>
          </p:nvPr>
        </p:nvGraphicFramePr>
        <p:xfrm>
          <a:off x="1593893" y="102106"/>
          <a:ext cx="5076807" cy="9564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9874">
                  <a:extLst>
                    <a:ext uri="{9D8B030D-6E8A-4147-A177-3AD203B41FA5}">
                      <a16:colId xmlns:a16="http://schemas.microsoft.com/office/drawing/2014/main" val="2813867104"/>
                    </a:ext>
                  </a:extLst>
                </a:gridCol>
                <a:gridCol w="329874">
                  <a:extLst>
                    <a:ext uri="{9D8B030D-6E8A-4147-A177-3AD203B41FA5}">
                      <a16:colId xmlns:a16="http://schemas.microsoft.com/office/drawing/2014/main" val="1171488809"/>
                    </a:ext>
                  </a:extLst>
                </a:gridCol>
                <a:gridCol w="329874">
                  <a:extLst>
                    <a:ext uri="{9D8B030D-6E8A-4147-A177-3AD203B41FA5}">
                      <a16:colId xmlns:a16="http://schemas.microsoft.com/office/drawing/2014/main" val="535809467"/>
                    </a:ext>
                  </a:extLst>
                </a:gridCol>
                <a:gridCol w="329874">
                  <a:extLst>
                    <a:ext uri="{9D8B030D-6E8A-4147-A177-3AD203B41FA5}">
                      <a16:colId xmlns:a16="http://schemas.microsoft.com/office/drawing/2014/main" val="61311696"/>
                    </a:ext>
                  </a:extLst>
                </a:gridCol>
                <a:gridCol w="329874">
                  <a:extLst>
                    <a:ext uri="{9D8B030D-6E8A-4147-A177-3AD203B41FA5}">
                      <a16:colId xmlns:a16="http://schemas.microsoft.com/office/drawing/2014/main" val="3125055640"/>
                    </a:ext>
                  </a:extLst>
                </a:gridCol>
                <a:gridCol w="329874">
                  <a:extLst>
                    <a:ext uri="{9D8B030D-6E8A-4147-A177-3AD203B41FA5}">
                      <a16:colId xmlns:a16="http://schemas.microsoft.com/office/drawing/2014/main" val="146641348"/>
                    </a:ext>
                  </a:extLst>
                </a:gridCol>
                <a:gridCol w="329874">
                  <a:extLst>
                    <a:ext uri="{9D8B030D-6E8A-4147-A177-3AD203B41FA5}">
                      <a16:colId xmlns:a16="http://schemas.microsoft.com/office/drawing/2014/main" val="2633963437"/>
                    </a:ext>
                  </a:extLst>
                </a:gridCol>
                <a:gridCol w="329874">
                  <a:extLst>
                    <a:ext uri="{9D8B030D-6E8A-4147-A177-3AD203B41FA5}">
                      <a16:colId xmlns:a16="http://schemas.microsoft.com/office/drawing/2014/main" val="2254325724"/>
                    </a:ext>
                  </a:extLst>
                </a:gridCol>
                <a:gridCol w="329874">
                  <a:extLst>
                    <a:ext uri="{9D8B030D-6E8A-4147-A177-3AD203B41FA5}">
                      <a16:colId xmlns:a16="http://schemas.microsoft.com/office/drawing/2014/main" val="2636094639"/>
                    </a:ext>
                  </a:extLst>
                </a:gridCol>
                <a:gridCol w="329874">
                  <a:extLst>
                    <a:ext uri="{9D8B030D-6E8A-4147-A177-3AD203B41FA5}">
                      <a16:colId xmlns:a16="http://schemas.microsoft.com/office/drawing/2014/main" val="1374906553"/>
                    </a:ext>
                  </a:extLst>
                </a:gridCol>
                <a:gridCol w="329874">
                  <a:extLst>
                    <a:ext uri="{9D8B030D-6E8A-4147-A177-3AD203B41FA5}">
                      <a16:colId xmlns:a16="http://schemas.microsoft.com/office/drawing/2014/main" val="1980713819"/>
                    </a:ext>
                  </a:extLst>
                </a:gridCol>
                <a:gridCol w="329874">
                  <a:extLst>
                    <a:ext uri="{9D8B030D-6E8A-4147-A177-3AD203B41FA5}">
                      <a16:colId xmlns:a16="http://schemas.microsoft.com/office/drawing/2014/main" val="1958072784"/>
                    </a:ext>
                  </a:extLst>
                </a:gridCol>
                <a:gridCol w="329874">
                  <a:extLst>
                    <a:ext uri="{9D8B030D-6E8A-4147-A177-3AD203B41FA5}">
                      <a16:colId xmlns:a16="http://schemas.microsoft.com/office/drawing/2014/main" val="3298754211"/>
                    </a:ext>
                  </a:extLst>
                </a:gridCol>
                <a:gridCol w="329874">
                  <a:extLst>
                    <a:ext uri="{9D8B030D-6E8A-4147-A177-3AD203B41FA5}">
                      <a16:colId xmlns:a16="http://schemas.microsoft.com/office/drawing/2014/main" val="3401959577"/>
                    </a:ext>
                  </a:extLst>
                </a:gridCol>
                <a:gridCol w="458571">
                  <a:extLst>
                    <a:ext uri="{9D8B030D-6E8A-4147-A177-3AD203B41FA5}">
                      <a16:colId xmlns:a16="http://schemas.microsoft.com/office/drawing/2014/main" val="3879824746"/>
                    </a:ext>
                  </a:extLst>
                </a:gridCol>
              </a:tblGrid>
              <a:tr h="302840">
                <a:tc gridSpan="15">
                  <a:txBody>
                    <a:bodyPr/>
                    <a:lstStyle/>
                    <a:p>
                      <a:pPr algn="ctr"/>
                      <a:r>
                        <a:rPr lang="en-GB" sz="1500" b="1" noProof="0" dirty="0"/>
                        <a:t>MY SCORE</a:t>
                      </a:r>
                    </a:p>
                  </a:txBody>
                  <a:tcPr marL="74295" marR="74295" marT="37148" marB="37148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1112720"/>
                  </a:ext>
                </a:extLst>
              </a:tr>
              <a:tr h="326797">
                <a:tc>
                  <a:txBody>
                    <a:bodyPr/>
                    <a:lstStyle/>
                    <a:p>
                      <a:pPr algn="ctr"/>
                      <a:r>
                        <a:rPr lang="en-GB" sz="800" noProof="0" dirty="0"/>
                        <a:t>Q1</a:t>
                      </a:r>
                    </a:p>
                  </a:txBody>
                  <a:tcPr marL="74295" marR="74295" marT="37148" marB="37148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noProof="0" dirty="0"/>
                        <a:t>Q2</a:t>
                      </a:r>
                    </a:p>
                  </a:txBody>
                  <a:tcPr marL="74295" marR="74295" marT="37148" marB="37148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noProof="0" dirty="0"/>
                        <a:t>Q3</a:t>
                      </a:r>
                    </a:p>
                  </a:txBody>
                  <a:tcPr marL="74295" marR="74295" marT="37148" marB="37148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noProof="0" dirty="0"/>
                        <a:t>Q4</a:t>
                      </a:r>
                    </a:p>
                  </a:txBody>
                  <a:tcPr marL="74295" marR="74295" marT="37148" marB="37148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noProof="0" dirty="0"/>
                        <a:t>Q5</a:t>
                      </a:r>
                    </a:p>
                  </a:txBody>
                  <a:tcPr marL="74295" marR="74295" marT="37148" marB="37148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noProof="0" dirty="0"/>
                        <a:t>Q6</a:t>
                      </a:r>
                    </a:p>
                  </a:txBody>
                  <a:tcPr marL="74295" marR="74295" marT="37148" marB="37148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noProof="0" dirty="0"/>
                        <a:t>Q7</a:t>
                      </a:r>
                    </a:p>
                  </a:txBody>
                  <a:tcPr marL="74295" marR="74295" marT="37148" marB="37148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noProof="0" dirty="0"/>
                        <a:t>Q8</a:t>
                      </a:r>
                    </a:p>
                  </a:txBody>
                  <a:tcPr marL="74295" marR="74295" marT="37148" marB="37148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noProof="0" dirty="0"/>
                        <a:t>Q9</a:t>
                      </a:r>
                    </a:p>
                  </a:txBody>
                  <a:tcPr marL="74295" marR="74295" marT="37148" marB="37148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noProof="0" dirty="0"/>
                        <a:t>Q10</a:t>
                      </a:r>
                    </a:p>
                  </a:txBody>
                  <a:tcPr marL="74295" marR="74295" marT="37148" marB="37148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noProof="0" dirty="0"/>
                        <a:t>Q11</a:t>
                      </a:r>
                    </a:p>
                  </a:txBody>
                  <a:tcPr marL="74295" marR="74295" marT="37148" marB="37148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noProof="0" dirty="0"/>
                        <a:t>Q12</a:t>
                      </a:r>
                    </a:p>
                  </a:txBody>
                  <a:tcPr marL="74295" marR="74295" marT="37148" marB="37148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noProof="0" dirty="0"/>
                        <a:t>Q13</a:t>
                      </a:r>
                    </a:p>
                  </a:txBody>
                  <a:tcPr marL="74295" marR="74295" marT="37148" marB="37148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noProof="0" dirty="0"/>
                        <a:t>Q14</a:t>
                      </a:r>
                    </a:p>
                  </a:txBody>
                  <a:tcPr marL="74295" marR="74295" marT="37148" marB="37148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1" noProof="0" dirty="0"/>
                        <a:t>Total</a:t>
                      </a:r>
                    </a:p>
                  </a:txBody>
                  <a:tcPr marL="74295" marR="74295" marT="37148" marB="37148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3497631"/>
                  </a:ext>
                </a:extLst>
              </a:tr>
              <a:tr h="326797">
                <a:tc>
                  <a:txBody>
                    <a:bodyPr/>
                    <a:lstStyle/>
                    <a:p>
                      <a:pPr algn="r"/>
                      <a:r>
                        <a:rPr lang="en-GB" sz="1100" noProof="0" dirty="0"/>
                        <a:t>/2</a:t>
                      </a: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noProof="0" dirty="0"/>
                        <a:t>/2</a:t>
                      </a: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noProof="0" dirty="0"/>
                        <a:t>/2</a:t>
                      </a: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noProof="0" dirty="0"/>
                        <a:t>/2</a:t>
                      </a: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noProof="0" dirty="0"/>
                        <a:t>/2</a:t>
                      </a: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noProof="0" dirty="0"/>
                        <a:t>/5</a:t>
                      </a: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noProof="0" dirty="0"/>
                        <a:t>/3</a:t>
                      </a: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noProof="0" dirty="0"/>
                        <a:t>/2</a:t>
                      </a: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noProof="0" dirty="0"/>
                        <a:t>/6</a:t>
                      </a: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noProof="0" dirty="0"/>
                        <a:t>/7</a:t>
                      </a: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noProof="0" dirty="0"/>
                        <a:t>/3</a:t>
                      </a: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noProof="0" dirty="0"/>
                        <a:t>/3</a:t>
                      </a: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noProof="0" dirty="0"/>
                        <a:t>/2</a:t>
                      </a: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noProof="0" dirty="0"/>
                        <a:t>/4</a:t>
                      </a: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noProof="0" dirty="0"/>
                        <a:t>/45</a:t>
                      </a:r>
                    </a:p>
                  </a:txBody>
                  <a:tcPr marL="74295" marR="74295" marT="37148" marB="37148" anchor="ctr"/>
                </a:tc>
                <a:extLst>
                  <a:ext uri="{0D108BD9-81ED-4DB2-BD59-A6C34878D82A}">
                    <a16:rowId xmlns:a16="http://schemas.microsoft.com/office/drawing/2014/main" val="460033712"/>
                  </a:ext>
                </a:extLst>
              </a:tr>
            </a:tbl>
          </a:graphicData>
        </a:graphic>
      </p:graphicFrame>
      <p:sp>
        <p:nvSpPr>
          <p:cNvPr id="101" name="Rectangle 100">
            <a:extLst>
              <a:ext uri="{FF2B5EF4-FFF2-40B4-BE49-F238E27FC236}">
                <a16:creationId xmlns:a16="http://schemas.microsoft.com/office/drawing/2014/main" id="{4323B830-AF60-BF46-A302-CF9098A8EA09}"/>
              </a:ext>
            </a:extLst>
          </p:cNvPr>
          <p:cNvSpPr/>
          <p:nvPr/>
        </p:nvSpPr>
        <p:spPr>
          <a:xfrm>
            <a:off x="158165" y="96747"/>
            <a:ext cx="1350771" cy="9618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138" b="1" u="sng" noProof="0" dirty="0">
                <a:solidFill>
                  <a:schemeClr val="tx1"/>
                </a:solidFill>
              </a:rPr>
              <a:t>Assessment</a:t>
            </a:r>
          </a:p>
          <a:p>
            <a:pPr algn="ctr"/>
            <a:endParaRPr lang="en-GB" sz="1138" b="1" u="sng" noProof="0" dirty="0">
              <a:solidFill>
                <a:schemeClr val="tx1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185F5D3-FC4D-B842-ACB5-292C07F15382}"/>
              </a:ext>
            </a:extLst>
          </p:cNvPr>
          <p:cNvSpPr/>
          <p:nvPr/>
        </p:nvSpPr>
        <p:spPr>
          <a:xfrm>
            <a:off x="189333" y="3347859"/>
            <a:ext cx="2126619" cy="235623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GB" sz="894" noProof="0" dirty="0">
              <a:solidFill>
                <a:schemeClr val="bg1"/>
              </a:solidFill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1ECF3861-3A67-1348-9EE8-E4E61440DA37}"/>
              </a:ext>
            </a:extLst>
          </p:cNvPr>
          <p:cNvSpPr txBox="1"/>
          <p:nvPr/>
        </p:nvSpPr>
        <p:spPr>
          <a:xfrm>
            <a:off x="195925" y="5764548"/>
            <a:ext cx="6486734" cy="25391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050" b="1" noProof="0" dirty="0">
                <a:solidFill>
                  <a:schemeClr val="bg1"/>
                </a:solidFill>
              </a:rPr>
              <a:t>Q6 – Simplify the algebraic fractions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B16CFEF2-A65A-6142-861C-58ACADF7EEFB}"/>
              </a:ext>
            </a:extLst>
          </p:cNvPr>
          <p:cNvSpPr/>
          <p:nvPr/>
        </p:nvSpPr>
        <p:spPr>
          <a:xfrm>
            <a:off x="193555" y="5993936"/>
            <a:ext cx="6482537" cy="382264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GB" sz="894" noProof="0" dirty="0">
              <a:solidFill>
                <a:schemeClr val="bg1"/>
              </a:solidFill>
            </a:endParaRPr>
          </a:p>
        </p:txBody>
      </p:sp>
      <p:sp>
        <p:nvSpPr>
          <p:cNvPr id="70" name="Slide Number Placeholder 3">
            <a:extLst>
              <a:ext uri="{FF2B5EF4-FFF2-40B4-BE49-F238E27FC236}">
                <a16:creationId xmlns:a16="http://schemas.microsoft.com/office/drawing/2014/main" id="{CC8B0F63-7BD8-5A41-9F25-DE3E23410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4400" y="9561628"/>
            <a:ext cx="1543050" cy="527403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F1D9CC-7119-45EC-A96C-D8C0660F3AAB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181903" y="1546878"/>
                <a:ext cx="1141210" cy="3572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200" noProof="0" dirty="0"/>
                  <a:t> Calculate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lang="en-GB" sz="1200" noProof="0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903" y="1546878"/>
                <a:ext cx="1141210" cy="357277"/>
              </a:xfrm>
              <a:prstGeom prst="rect">
                <a:avLst/>
              </a:prstGeom>
              <a:blipFill>
                <a:blip r:embed="rId2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/>
              <p:cNvSpPr txBox="1"/>
              <p:nvPr/>
            </p:nvSpPr>
            <p:spPr>
              <a:xfrm>
                <a:off x="2827883" y="1567184"/>
                <a:ext cx="15696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200" noProof="0" dirty="0"/>
                  <a:t>Factorise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+5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+6</m:t>
                    </m:r>
                  </m:oMath>
                </a14:m>
                <a:endParaRPr lang="en-GB" sz="1200" noProof="0" dirty="0"/>
              </a:p>
            </p:txBody>
          </p:sp>
        </mc:Choice>
        <mc:Fallback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7883" y="1567184"/>
                <a:ext cx="1569660" cy="276999"/>
              </a:xfrm>
              <a:prstGeom prst="rect">
                <a:avLst/>
              </a:prstGeom>
              <a:blipFill>
                <a:blip r:embed="rId3"/>
                <a:stretch>
                  <a:fillRect l="-389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5E880452-3BFC-EF43-891C-A9776558DA9C}"/>
              </a:ext>
            </a:extLst>
          </p:cNvPr>
          <p:cNvGrpSpPr/>
          <p:nvPr/>
        </p:nvGrpSpPr>
        <p:grpSpPr>
          <a:xfrm>
            <a:off x="2827883" y="1275416"/>
            <a:ext cx="3848201" cy="1644490"/>
            <a:chOff x="174360" y="3964219"/>
            <a:chExt cx="6500426" cy="1743429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D9761CF-86CD-F14F-B3B4-6AAF3436CD55}"/>
                </a:ext>
              </a:extLst>
            </p:cNvPr>
            <p:cNvSpPr txBox="1"/>
            <p:nvPr/>
          </p:nvSpPr>
          <p:spPr>
            <a:xfrm>
              <a:off x="174360" y="3964219"/>
              <a:ext cx="6500426" cy="25391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1050" b="1" noProof="0" dirty="0">
                  <a:solidFill>
                    <a:schemeClr val="bg1"/>
                  </a:solidFill>
                </a:rPr>
                <a:t>Q2 – Prior Knowledge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185F5D3-FC4D-B842-ACB5-292C07F15382}"/>
                </a:ext>
              </a:extLst>
            </p:cNvPr>
            <p:cNvSpPr/>
            <p:nvPr/>
          </p:nvSpPr>
          <p:spPr>
            <a:xfrm>
              <a:off x="180456" y="4184062"/>
              <a:ext cx="6494330" cy="1523586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050" noProof="0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/>
              <p:cNvSpPr txBox="1"/>
              <p:nvPr/>
            </p:nvSpPr>
            <p:spPr>
              <a:xfrm>
                <a:off x="232173" y="3408341"/>
                <a:ext cx="1090940" cy="3865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200" noProof="0" dirty="0"/>
                  <a:t>Simplify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3(</m:t>
                        </m:r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+1)</m:t>
                        </m:r>
                      </m:num>
                      <m:den>
                        <m:d>
                          <m:dPr>
                            <m:ctrlPr>
                              <a:rPr lang="en-GB" sz="1200" b="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200" b="0" i="1" noProof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1200" b="0" i="1" noProof="0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den>
                    </m:f>
                  </m:oMath>
                </a14:m>
                <a:endParaRPr lang="en-GB" sz="1200" noProof="0" dirty="0"/>
              </a:p>
            </p:txBody>
          </p:sp>
        </mc:Choice>
        <mc:Fallback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173" y="3408341"/>
                <a:ext cx="1090940" cy="3865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1D9761CF-86CD-F14F-B3B4-6AAF3436CD55}"/>
              </a:ext>
            </a:extLst>
          </p:cNvPr>
          <p:cNvSpPr txBox="1"/>
          <p:nvPr/>
        </p:nvSpPr>
        <p:spPr>
          <a:xfrm>
            <a:off x="2398320" y="3075102"/>
            <a:ext cx="2134045" cy="25391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1050" b="1" noProof="0" dirty="0">
                <a:solidFill>
                  <a:schemeClr val="bg1"/>
                </a:solidFill>
              </a:rPr>
              <a:t>Q4 – Prior Knowledge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185F5D3-FC4D-B842-ACB5-292C07F15382}"/>
              </a:ext>
            </a:extLst>
          </p:cNvPr>
          <p:cNvSpPr/>
          <p:nvPr/>
        </p:nvSpPr>
        <p:spPr>
          <a:xfrm>
            <a:off x="2405746" y="3344421"/>
            <a:ext cx="2127840" cy="235623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GB" sz="894" noProof="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/>
              <p:cNvSpPr txBox="1"/>
              <p:nvPr/>
            </p:nvSpPr>
            <p:spPr>
              <a:xfrm>
                <a:off x="2753576" y="3362554"/>
                <a:ext cx="142353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200" noProof="0" dirty="0"/>
                  <a:t>Make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200" noProof="0" dirty="0"/>
                  <a:t> the subject.</a:t>
                </a:r>
              </a:p>
              <a:p>
                <a:endParaRPr lang="en-GB" sz="1200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+2=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200" noProof="0" dirty="0"/>
              </a:p>
            </p:txBody>
          </p:sp>
        </mc:Choice>
        <mc:Fallback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3576" y="3362554"/>
                <a:ext cx="1423531" cy="646331"/>
              </a:xfrm>
              <a:prstGeom prst="rect">
                <a:avLst/>
              </a:prstGeom>
              <a:blipFill>
                <a:blip r:embed="rId5"/>
                <a:stretch>
                  <a:fillRect l="-429" t="-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>
            <a:extLst>
              <a:ext uri="{FF2B5EF4-FFF2-40B4-BE49-F238E27FC236}">
                <a16:creationId xmlns:a16="http://schemas.microsoft.com/office/drawing/2014/main" id="{1D9761CF-86CD-F14F-B3B4-6AAF3436CD55}"/>
              </a:ext>
            </a:extLst>
          </p:cNvPr>
          <p:cNvSpPr txBox="1"/>
          <p:nvPr/>
        </p:nvSpPr>
        <p:spPr>
          <a:xfrm>
            <a:off x="4614025" y="3077348"/>
            <a:ext cx="2060626" cy="25391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1050" b="1" noProof="0" dirty="0">
                <a:solidFill>
                  <a:schemeClr val="bg1"/>
                </a:solidFill>
              </a:rPr>
              <a:t>Q5 – Prior Knowledge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185F5D3-FC4D-B842-ACB5-292C07F15382}"/>
              </a:ext>
            </a:extLst>
          </p:cNvPr>
          <p:cNvSpPr/>
          <p:nvPr/>
        </p:nvSpPr>
        <p:spPr>
          <a:xfrm>
            <a:off x="4621450" y="3346667"/>
            <a:ext cx="2054634" cy="234873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GB" sz="894" noProof="0" dirty="0">
              <a:solidFill>
                <a:schemeClr val="bg1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612592" y="3344421"/>
            <a:ext cx="185294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noProof="0" dirty="0"/>
              <a:t>Here is a function machine</a:t>
            </a:r>
          </a:p>
          <a:p>
            <a:endParaRPr lang="en-GB" sz="1200" noProof="0" dirty="0"/>
          </a:p>
          <a:p>
            <a:endParaRPr lang="en-GB" sz="1200" noProof="0" dirty="0"/>
          </a:p>
          <a:p>
            <a:endParaRPr lang="en-GB" sz="1200" noProof="0" dirty="0"/>
          </a:p>
          <a:p>
            <a:endParaRPr lang="en-GB" sz="1200" noProof="0" dirty="0"/>
          </a:p>
          <a:p>
            <a:endParaRPr lang="en-GB" sz="1200" noProof="0" dirty="0"/>
          </a:p>
          <a:p>
            <a:endParaRPr lang="en-GB" sz="1200" noProof="0" dirty="0"/>
          </a:p>
          <a:p>
            <a:endParaRPr lang="en-GB" sz="1200" noProof="0" dirty="0"/>
          </a:p>
          <a:p>
            <a:endParaRPr lang="en-GB" sz="1200" noProof="0" dirty="0"/>
          </a:p>
        </p:txBody>
      </p:sp>
      <p:pic>
        <p:nvPicPr>
          <p:cNvPr id="63" name="Picture 62" descr="Diagram, text&#10;&#10;Description automatically generated">
            <a:extLst>
              <a:ext uri="{FF2B5EF4-FFF2-40B4-BE49-F238E27FC236}">
                <a16:creationId xmlns:a16="http://schemas.microsoft.com/office/drawing/2014/main" id="{CD1DDFE0-5472-E347-B502-C903C9B0B0F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51983" y="3636501"/>
            <a:ext cx="977877" cy="9819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711197" y="3956253"/>
            <a:ext cx="120625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noProof="0" dirty="0"/>
              <a:t>What is the output if the </a:t>
            </a:r>
          </a:p>
          <a:p>
            <a:r>
              <a:rPr lang="en-GB" sz="1200" noProof="0" dirty="0"/>
              <a:t>input is 4?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0C72494-9C03-4342-A2BB-E7221D414335}"/>
              </a:ext>
            </a:extLst>
          </p:cNvPr>
          <p:cNvSpPr txBox="1"/>
          <p:nvPr/>
        </p:nvSpPr>
        <p:spPr>
          <a:xfrm>
            <a:off x="1802167" y="2459443"/>
            <a:ext cx="904973" cy="4120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GB" sz="1600" b="1" noProof="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0C72494-9C03-4342-A2BB-E7221D414335}"/>
              </a:ext>
            </a:extLst>
          </p:cNvPr>
          <p:cNvSpPr txBox="1"/>
          <p:nvPr/>
        </p:nvSpPr>
        <p:spPr>
          <a:xfrm>
            <a:off x="5374401" y="2452584"/>
            <a:ext cx="1241770" cy="4120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GB" sz="1600" b="1" noProof="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0C72494-9C03-4342-A2BB-E7221D414335}"/>
              </a:ext>
            </a:extLst>
          </p:cNvPr>
          <p:cNvSpPr txBox="1"/>
          <p:nvPr/>
        </p:nvSpPr>
        <p:spPr>
          <a:xfrm>
            <a:off x="1323113" y="5246259"/>
            <a:ext cx="931540" cy="4269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GB" sz="1600" b="1" noProof="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0C72494-9C03-4342-A2BB-E7221D414335}"/>
              </a:ext>
            </a:extLst>
          </p:cNvPr>
          <p:cNvSpPr txBox="1"/>
          <p:nvPr/>
        </p:nvSpPr>
        <p:spPr>
          <a:xfrm>
            <a:off x="3045041" y="5246259"/>
            <a:ext cx="1403335" cy="4269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GB" sz="1600" b="1" noProof="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0C72494-9C03-4342-A2BB-E7221D414335}"/>
              </a:ext>
            </a:extLst>
          </p:cNvPr>
          <p:cNvSpPr txBox="1"/>
          <p:nvPr/>
        </p:nvSpPr>
        <p:spPr>
          <a:xfrm>
            <a:off x="5711197" y="5246259"/>
            <a:ext cx="904974" cy="4269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GB" sz="1600" b="1" noProof="0" dirty="0">
              <a:solidFill>
                <a:schemeClr val="bg1">
                  <a:lumMod val="85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8" name="TextBox 77"/>
              <p:cNvSpPr txBox="1"/>
              <p:nvPr/>
            </p:nvSpPr>
            <p:spPr>
              <a:xfrm>
                <a:off x="239782" y="6058359"/>
                <a:ext cx="1520544" cy="3545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200" noProof="0" dirty="0"/>
                  <a:t>a) Simplify fully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+12</m:t>
                        </m:r>
                      </m:num>
                      <m:den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+3</m:t>
                        </m:r>
                      </m:den>
                    </m:f>
                  </m:oMath>
                </a14:m>
                <a:endParaRPr lang="en-GB" sz="1200" noProof="0" dirty="0"/>
              </a:p>
            </p:txBody>
          </p:sp>
        </mc:Choice>
        <mc:Fallback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782" y="6058359"/>
                <a:ext cx="1520544" cy="354521"/>
              </a:xfrm>
              <a:prstGeom prst="rect">
                <a:avLst/>
              </a:prstGeom>
              <a:blipFill>
                <a:blip r:embed="rId8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9" name="TextBox 78"/>
              <p:cNvSpPr txBox="1"/>
              <p:nvPr/>
            </p:nvSpPr>
            <p:spPr>
              <a:xfrm>
                <a:off x="4006437" y="6039681"/>
                <a:ext cx="1735603" cy="3804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200" noProof="0" dirty="0"/>
                  <a:t>b) Simplify fully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20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sz="1200" i="1" noProof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200" i="1" noProof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sz="1200" i="1" noProof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1200" i="1" noProof="0" smtClean="0">
                            <a:latin typeface="Cambria Math" panose="02040503050406030204" pitchFamily="18" charset="0"/>
                          </a:rPr>
                          <m:t>+7</m:t>
                        </m:r>
                        <m:r>
                          <a:rPr lang="en-GB" sz="120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200" i="1" noProof="0" smtClean="0">
                            <a:latin typeface="Cambria Math" panose="02040503050406030204" pitchFamily="18" charset="0"/>
                          </a:rPr>
                          <m:t>+12</m:t>
                        </m:r>
                      </m:num>
                      <m:den>
                        <m:r>
                          <a:rPr lang="en-GB" sz="120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sz="120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200" i="1" noProof="0" smtClean="0">
                            <a:latin typeface="Cambria Math" panose="02040503050406030204" pitchFamily="18" charset="0"/>
                          </a:rPr>
                          <m:t>+8</m:t>
                        </m:r>
                      </m:den>
                    </m:f>
                  </m:oMath>
                </a14:m>
                <a:endParaRPr lang="en-GB" sz="1200" noProof="0" dirty="0"/>
              </a:p>
            </p:txBody>
          </p:sp>
        </mc:Choice>
        <mc:Fallback>
          <p:sp>
            <p:nvSpPr>
              <p:cNvPr id="79" name="TextBox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6437" y="6039681"/>
                <a:ext cx="1735603" cy="380489"/>
              </a:xfrm>
              <a:prstGeom prst="rect">
                <a:avLst/>
              </a:prstGeom>
              <a:blipFill>
                <a:blip r:embed="rId9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/>
          <p:cNvCxnSpPr/>
          <p:nvPr/>
        </p:nvCxnSpPr>
        <p:spPr>
          <a:xfrm>
            <a:off x="3413804" y="5993936"/>
            <a:ext cx="0" cy="38226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70C72494-9C03-4342-A2BB-E7221D414335}"/>
              </a:ext>
            </a:extLst>
          </p:cNvPr>
          <p:cNvSpPr txBox="1"/>
          <p:nvPr/>
        </p:nvSpPr>
        <p:spPr>
          <a:xfrm>
            <a:off x="1889790" y="9285129"/>
            <a:ext cx="1403335" cy="4269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GB" sz="1600" b="1" noProof="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0C72494-9C03-4342-A2BB-E7221D414335}"/>
              </a:ext>
            </a:extLst>
          </p:cNvPr>
          <p:cNvSpPr txBox="1"/>
          <p:nvPr/>
        </p:nvSpPr>
        <p:spPr>
          <a:xfrm>
            <a:off x="5205616" y="9286470"/>
            <a:ext cx="1403335" cy="4269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GB" sz="1600" b="1" noProof="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795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CF3861-3A67-1348-9EE8-E4E61440DA37}"/>
              </a:ext>
            </a:extLst>
          </p:cNvPr>
          <p:cNvSpPr txBox="1"/>
          <p:nvPr/>
        </p:nvSpPr>
        <p:spPr>
          <a:xfrm>
            <a:off x="130610" y="101547"/>
            <a:ext cx="3251683" cy="25391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050" b="1" noProof="0" dirty="0">
                <a:solidFill>
                  <a:schemeClr val="bg1"/>
                </a:solidFill>
              </a:rPr>
              <a:t>Q7 – Algebraic Fractions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6CFEF2-A65A-6142-861C-58ACADF7EEFB}"/>
              </a:ext>
            </a:extLst>
          </p:cNvPr>
          <p:cNvSpPr/>
          <p:nvPr/>
        </p:nvSpPr>
        <p:spPr>
          <a:xfrm>
            <a:off x="130610" y="355463"/>
            <a:ext cx="3234303" cy="382264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GB" sz="894" noProof="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C72494-9C03-4342-A2BB-E7221D414335}"/>
              </a:ext>
            </a:extLst>
          </p:cNvPr>
          <p:cNvSpPr txBox="1"/>
          <p:nvPr/>
        </p:nvSpPr>
        <p:spPr>
          <a:xfrm>
            <a:off x="1665505" y="3609065"/>
            <a:ext cx="1403335" cy="4269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GB" sz="1600" b="1" noProof="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CF3861-3A67-1348-9EE8-E4E61440DA37}"/>
              </a:ext>
            </a:extLst>
          </p:cNvPr>
          <p:cNvSpPr txBox="1"/>
          <p:nvPr/>
        </p:nvSpPr>
        <p:spPr>
          <a:xfrm>
            <a:off x="3457285" y="101547"/>
            <a:ext cx="3201887" cy="25391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050" b="1" noProof="0" dirty="0">
                <a:solidFill>
                  <a:schemeClr val="bg1"/>
                </a:solidFill>
              </a:rPr>
              <a:t>Q8 – Changing the subject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6CFEF2-A65A-6142-861C-58ACADF7EEFB}"/>
              </a:ext>
            </a:extLst>
          </p:cNvPr>
          <p:cNvSpPr/>
          <p:nvPr/>
        </p:nvSpPr>
        <p:spPr>
          <a:xfrm>
            <a:off x="3455368" y="355463"/>
            <a:ext cx="3193197" cy="382264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GB" sz="894" noProof="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3496474" y="355463"/>
                <a:ext cx="2319161" cy="9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400" b="0" noProof="0" dirty="0"/>
                  <a:t> 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GB" sz="1400" b="0" i="1" noProof="0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sz="14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GB" sz="1400" b="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1400" b="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GB" sz="1400" b="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num>
                          <m:den>
                            <m:r>
                              <a:rPr lang="en-GB" sz="1400" b="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</m:oMath>
                </a14:m>
                <a:endParaRPr lang="en-GB" sz="1200" noProof="0" dirty="0"/>
              </a:p>
              <a:p>
                <a:endParaRPr lang="en-GB" sz="1200" noProof="0" dirty="0"/>
              </a:p>
              <a:p>
                <a:r>
                  <a:rPr lang="en-GB" sz="1200" noProof="0" dirty="0"/>
                  <a:t>Make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GB" sz="1200" noProof="0" dirty="0"/>
                  <a:t> the subject of the formula</a:t>
                </a: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6474" y="355463"/>
                <a:ext cx="2319161" cy="900055"/>
              </a:xfrm>
              <a:prstGeom prst="rect">
                <a:avLst/>
              </a:prstGeom>
              <a:blipFill>
                <a:blip r:embed="rId2"/>
                <a:stretch>
                  <a:fillRect l="-263" b="-4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70C72494-9C03-4342-A2BB-E7221D414335}"/>
              </a:ext>
            </a:extLst>
          </p:cNvPr>
          <p:cNvSpPr txBox="1"/>
          <p:nvPr/>
        </p:nvSpPr>
        <p:spPr>
          <a:xfrm>
            <a:off x="5031368" y="3609064"/>
            <a:ext cx="1403335" cy="4269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GB" sz="1600" b="1" noProof="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CF3861-3A67-1348-9EE8-E4E61440DA37}"/>
              </a:ext>
            </a:extLst>
          </p:cNvPr>
          <p:cNvSpPr txBox="1"/>
          <p:nvPr/>
        </p:nvSpPr>
        <p:spPr>
          <a:xfrm>
            <a:off x="139301" y="4303433"/>
            <a:ext cx="3242993" cy="25391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050" b="1" noProof="0" dirty="0">
                <a:solidFill>
                  <a:schemeClr val="bg1"/>
                </a:solidFill>
              </a:rPr>
              <a:t>Q9 – Functions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16CFEF2-A65A-6142-861C-58ACADF7EEFB}"/>
              </a:ext>
            </a:extLst>
          </p:cNvPr>
          <p:cNvSpPr/>
          <p:nvPr/>
        </p:nvSpPr>
        <p:spPr>
          <a:xfrm>
            <a:off x="139301" y="4557349"/>
            <a:ext cx="3234303" cy="525650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GB" sz="894" noProof="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130610" y="4557349"/>
                <a:ext cx="2369559" cy="40913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200" b="0" noProof="0" dirty="0"/>
                  <a:t> Given that 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GB" sz="14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400" b="0" i="1" noProof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4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GB" sz="14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+2</m:t>
                        </m:r>
                      </m:num>
                      <m:den>
                        <m:r>
                          <a:rPr lang="en-GB" sz="14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GB" sz="1200" noProof="0" dirty="0"/>
              </a:p>
              <a:p>
                <a:endParaRPr lang="en-GB" sz="1200" noProof="0" dirty="0"/>
              </a:p>
              <a:p>
                <a:pPr marL="228600" indent="-228600">
                  <a:buAutoNum type="alphaLcParenR"/>
                </a:pPr>
                <a:r>
                  <a:rPr lang="en-GB" sz="1200" noProof="0" dirty="0"/>
                  <a:t>Find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16</m:t>
                        </m:r>
                      </m:e>
                    </m:d>
                  </m:oMath>
                </a14:m>
                <a:endParaRPr lang="en-GB" sz="1200" noProof="0" dirty="0"/>
              </a:p>
              <a:p>
                <a:pPr marL="228600" indent="-228600">
                  <a:buAutoNum type="alphaLcParenR"/>
                </a:pPr>
                <a:endParaRPr lang="en-GB" sz="1200" noProof="0" dirty="0"/>
              </a:p>
              <a:p>
                <a:pPr marL="228600" indent="-228600">
                  <a:buAutoNum type="alphaLcParenR"/>
                </a:pPr>
                <a:endParaRPr lang="en-GB" sz="1200" noProof="0" dirty="0"/>
              </a:p>
              <a:p>
                <a:pPr marL="228600" indent="-228600">
                  <a:buAutoNum type="alphaLcParenR"/>
                </a:pPr>
                <a:endParaRPr lang="en-GB" sz="1200" noProof="0" dirty="0"/>
              </a:p>
              <a:p>
                <a:pPr marL="228600" indent="-228600">
                  <a:buAutoNum type="alphaLcParenR"/>
                </a:pPr>
                <a:endParaRPr lang="en-GB" sz="1200" noProof="0" dirty="0"/>
              </a:p>
              <a:p>
                <a:pPr marL="228600" indent="-228600">
                  <a:buAutoNum type="alphaLcParenR"/>
                </a:pPr>
                <a:endParaRPr lang="en-GB" sz="1200" noProof="0" dirty="0"/>
              </a:p>
              <a:p>
                <a:pPr marL="228600" indent="-228600">
                  <a:buAutoNum type="alphaLcParenR"/>
                </a:pPr>
                <a:endParaRPr lang="en-GB" sz="1200" noProof="0" dirty="0"/>
              </a:p>
              <a:p>
                <a:pPr marL="228600" indent="-228600">
                  <a:buAutoNum type="alphaLcParenR"/>
                </a:pPr>
                <a:endParaRPr lang="en-GB" sz="1200" noProof="0" dirty="0"/>
              </a:p>
              <a:p>
                <a:pPr marL="228600" indent="-228600">
                  <a:buAutoNum type="alphaLcParenR"/>
                </a:pPr>
                <a:endParaRPr lang="en-GB" sz="1200" noProof="0" dirty="0"/>
              </a:p>
              <a:p>
                <a:pPr marL="228600" indent="-228600">
                  <a:buAutoNum type="alphaLcParenR"/>
                </a:pPr>
                <a:r>
                  <a:rPr lang="en-GB" sz="1200" noProof="0" dirty="0"/>
                  <a:t>Solve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endParaRPr lang="en-GB" sz="1200" noProof="0" dirty="0"/>
              </a:p>
              <a:p>
                <a:pPr marL="228600" indent="-228600">
                  <a:buAutoNum type="alphaLcParenR"/>
                </a:pPr>
                <a:endParaRPr lang="en-GB" sz="1200" noProof="0" dirty="0"/>
              </a:p>
              <a:p>
                <a:pPr marL="228600" indent="-228600">
                  <a:buAutoNum type="alphaLcParenR"/>
                </a:pPr>
                <a:endParaRPr lang="en-GB" sz="1200" noProof="0" dirty="0"/>
              </a:p>
              <a:p>
                <a:pPr marL="228600" indent="-228600">
                  <a:buAutoNum type="alphaLcParenR"/>
                </a:pPr>
                <a:endParaRPr lang="en-GB" sz="1200" noProof="0" dirty="0"/>
              </a:p>
              <a:p>
                <a:pPr marL="228600" indent="-228600">
                  <a:buAutoNum type="alphaLcParenR"/>
                </a:pPr>
                <a:endParaRPr lang="en-GB" sz="1200" noProof="0" dirty="0"/>
              </a:p>
              <a:p>
                <a:pPr marL="228600" indent="-228600">
                  <a:buAutoNum type="alphaLcParenR"/>
                </a:pPr>
                <a:endParaRPr lang="en-GB" sz="1200" noProof="0" dirty="0"/>
              </a:p>
              <a:p>
                <a:pPr marL="228600" indent="-228600">
                  <a:buAutoNum type="alphaLcParenR"/>
                </a:pPr>
                <a:endParaRPr lang="en-GB" sz="1200" noProof="0" dirty="0"/>
              </a:p>
              <a:p>
                <a:pPr marL="228600" indent="-228600">
                  <a:buAutoNum type="alphaLcParenR"/>
                </a:pPr>
                <a:endParaRPr lang="en-GB" sz="1200" noProof="0" dirty="0"/>
              </a:p>
              <a:p>
                <a:pPr marL="228600" indent="-228600">
                  <a:buAutoNum type="alphaLcParenR"/>
                </a:pPr>
                <a:endParaRPr lang="en-GB" sz="1200" noProof="0" dirty="0"/>
              </a:p>
              <a:p>
                <a:pPr marL="228600" indent="-228600">
                  <a:buAutoNum type="alphaLcParenR"/>
                </a:pPr>
                <a:r>
                  <a:rPr lang="en-GB" sz="1200" noProof="0" dirty="0"/>
                  <a:t>Write an expression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1200" noProof="0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610" y="4557349"/>
                <a:ext cx="2369559" cy="4091376"/>
              </a:xfrm>
              <a:prstGeom prst="rect">
                <a:avLst/>
              </a:prstGeom>
              <a:blipFill>
                <a:blip r:embed="rId3"/>
                <a:stretch>
                  <a:fillRect l="-257" b="-2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70C72494-9C03-4342-A2BB-E7221D414335}"/>
              </a:ext>
            </a:extLst>
          </p:cNvPr>
          <p:cNvSpPr txBox="1"/>
          <p:nvPr/>
        </p:nvSpPr>
        <p:spPr>
          <a:xfrm>
            <a:off x="2126511" y="6251945"/>
            <a:ext cx="1147811" cy="3829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GB" sz="1600" b="1" noProof="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C72494-9C03-4342-A2BB-E7221D414335}"/>
              </a:ext>
            </a:extLst>
          </p:cNvPr>
          <p:cNvSpPr txBox="1"/>
          <p:nvPr/>
        </p:nvSpPr>
        <p:spPr>
          <a:xfrm>
            <a:off x="2126511" y="7841403"/>
            <a:ext cx="1147811" cy="3829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GB" sz="1600" b="1" noProof="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C72494-9C03-4342-A2BB-E7221D414335}"/>
              </a:ext>
            </a:extLst>
          </p:cNvPr>
          <p:cNvSpPr txBox="1"/>
          <p:nvPr/>
        </p:nvSpPr>
        <p:spPr>
          <a:xfrm>
            <a:off x="2126511" y="9319915"/>
            <a:ext cx="1147811" cy="3829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GB" sz="1600" b="1" noProof="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CF3861-3A67-1348-9EE8-E4E61440DA37}"/>
              </a:ext>
            </a:extLst>
          </p:cNvPr>
          <p:cNvSpPr txBox="1"/>
          <p:nvPr/>
        </p:nvSpPr>
        <p:spPr>
          <a:xfrm>
            <a:off x="3455369" y="4303433"/>
            <a:ext cx="3212412" cy="25391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050" b="1" noProof="0" dirty="0">
                <a:solidFill>
                  <a:schemeClr val="bg1"/>
                </a:solidFill>
              </a:rPr>
              <a:t>Q10 – Functions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16CFEF2-A65A-6142-861C-58ACADF7EEFB}"/>
              </a:ext>
            </a:extLst>
          </p:cNvPr>
          <p:cNvSpPr/>
          <p:nvPr/>
        </p:nvSpPr>
        <p:spPr>
          <a:xfrm>
            <a:off x="3455369" y="4557349"/>
            <a:ext cx="3203804" cy="525650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GB" sz="894" noProof="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3496474" y="4598140"/>
                <a:ext cx="3029612" cy="39961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200" b="0" noProof="0" dirty="0"/>
                  <a:t> Given that 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ctrlPr>
                          <a:rPr lang="en-GB" sz="14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400" b="0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GB" sz="14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GB" sz="14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sz="1200" noProof="0" dirty="0"/>
                  <a:t> and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sz="1200" noProof="0" dirty="0"/>
              </a:p>
              <a:p>
                <a:endParaRPr lang="en-GB" sz="1200" noProof="0" dirty="0"/>
              </a:p>
              <a:p>
                <a:pPr marL="228600" indent="-228600">
                  <a:buAutoNum type="alphaLcParenR"/>
                </a:pPr>
                <a:r>
                  <a:rPr lang="en-GB" sz="1200" noProof="0" dirty="0"/>
                  <a:t>Find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𝑛𝑚</m:t>
                    </m:r>
                    <m:d>
                      <m:d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</m:oMath>
                </a14:m>
                <a:endParaRPr lang="en-GB" sz="1200" noProof="0" dirty="0"/>
              </a:p>
              <a:p>
                <a:pPr marL="228600" indent="-228600">
                  <a:buAutoNum type="alphaLcParenR"/>
                </a:pPr>
                <a:endParaRPr lang="en-GB" sz="1200" noProof="0" dirty="0"/>
              </a:p>
              <a:p>
                <a:pPr marL="228600" indent="-228600">
                  <a:buAutoNum type="alphaLcParenR"/>
                </a:pPr>
                <a:endParaRPr lang="en-GB" sz="1200" noProof="0" dirty="0"/>
              </a:p>
              <a:p>
                <a:pPr marL="228600" indent="-228600">
                  <a:buAutoNum type="alphaLcParenR"/>
                </a:pPr>
                <a:endParaRPr lang="en-GB" sz="1200" noProof="0" dirty="0"/>
              </a:p>
              <a:p>
                <a:pPr marL="228600" indent="-228600">
                  <a:buAutoNum type="alphaLcParenR"/>
                </a:pPr>
                <a:endParaRPr lang="en-GB" sz="1200" noProof="0" dirty="0"/>
              </a:p>
              <a:p>
                <a:pPr marL="228600" indent="-228600">
                  <a:buAutoNum type="alphaLcParenR"/>
                </a:pPr>
                <a:endParaRPr lang="en-GB" sz="1200" noProof="0" dirty="0"/>
              </a:p>
              <a:p>
                <a:pPr marL="228600" indent="-228600">
                  <a:buAutoNum type="alphaLcParenR"/>
                </a:pPr>
                <a:endParaRPr lang="en-GB" sz="1200" noProof="0" dirty="0"/>
              </a:p>
              <a:p>
                <a:pPr marL="228600" indent="-228600">
                  <a:buAutoNum type="alphaLcParenR"/>
                </a:pPr>
                <a:endParaRPr lang="en-GB" sz="1200" noProof="0" dirty="0"/>
              </a:p>
              <a:p>
                <a:pPr marL="228600" indent="-228600">
                  <a:buAutoNum type="alphaLcParenR"/>
                </a:pPr>
                <a:endParaRPr lang="en-GB" sz="1200" noProof="0" dirty="0"/>
              </a:p>
              <a:p>
                <a:pPr marL="228600" indent="-228600">
                  <a:buAutoNum type="alphaLcParenR"/>
                </a:pPr>
                <a:r>
                  <a:rPr lang="en-GB" sz="1200" noProof="0" dirty="0"/>
                  <a:t>Write an expression for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𝑛𝑚</m:t>
                    </m:r>
                    <m:d>
                      <m:d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GB" sz="1200" noProof="0" dirty="0"/>
              </a:p>
              <a:p>
                <a:pPr marL="228600" indent="-228600">
                  <a:buAutoNum type="alphaLcParenR"/>
                </a:pPr>
                <a:endParaRPr lang="en-GB" sz="1200" noProof="0" dirty="0"/>
              </a:p>
              <a:p>
                <a:pPr marL="228600" indent="-228600">
                  <a:buAutoNum type="alphaLcParenR"/>
                </a:pPr>
                <a:endParaRPr lang="en-GB" sz="1200" noProof="0" dirty="0"/>
              </a:p>
              <a:p>
                <a:pPr marL="228600" indent="-228600">
                  <a:buAutoNum type="alphaLcParenR"/>
                </a:pPr>
                <a:endParaRPr lang="en-GB" sz="1200" noProof="0" dirty="0"/>
              </a:p>
              <a:p>
                <a:pPr marL="228600" indent="-228600">
                  <a:buAutoNum type="alphaLcParenR"/>
                </a:pPr>
                <a:endParaRPr lang="en-GB" sz="1200" noProof="0" dirty="0"/>
              </a:p>
              <a:p>
                <a:pPr marL="228600" indent="-228600">
                  <a:buAutoNum type="alphaLcParenR"/>
                </a:pPr>
                <a:endParaRPr lang="en-GB" sz="1200" noProof="0" dirty="0"/>
              </a:p>
              <a:p>
                <a:pPr marL="228600" indent="-228600">
                  <a:buAutoNum type="alphaLcParenR"/>
                </a:pPr>
                <a:endParaRPr lang="en-GB" sz="1200" noProof="0" dirty="0"/>
              </a:p>
              <a:p>
                <a:pPr marL="228600" indent="-228600">
                  <a:buAutoNum type="alphaLcParenR"/>
                </a:pPr>
                <a:endParaRPr lang="en-GB" sz="1200" noProof="0" dirty="0"/>
              </a:p>
              <a:p>
                <a:pPr marL="228600" indent="-228600">
                  <a:buAutoNum type="alphaLcParenR"/>
                </a:pPr>
                <a:endParaRPr lang="en-GB" sz="1200" noProof="0" dirty="0"/>
              </a:p>
              <a:p>
                <a:pPr marL="228600" indent="-228600">
                  <a:buAutoNum type="alphaLcParenR"/>
                </a:pPr>
                <a:r>
                  <a:rPr lang="en-GB" sz="1200" noProof="0" dirty="0"/>
                  <a:t>Solve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𝑛𝑚</m:t>
                    </m:r>
                    <m:d>
                      <m:d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endParaRPr lang="en-GB" sz="1200" noProof="0" dirty="0"/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6474" y="4598140"/>
                <a:ext cx="3029612" cy="3996159"/>
              </a:xfrm>
              <a:prstGeom prst="rect">
                <a:avLst/>
              </a:prstGeom>
              <a:blipFill>
                <a:blip r:embed="rId4"/>
                <a:stretch>
                  <a:fillRect l="-201" b="-4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70C72494-9C03-4342-A2BB-E7221D414335}"/>
              </a:ext>
            </a:extLst>
          </p:cNvPr>
          <p:cNvSpPr txBox="1"/>
          <p:nvPr/>
        </p:nvSpPr>
        <p:spPr>
          <a:xfrm>
            <a:off x="5419380" y="6251945"/>
            <a:ext cx="1147811" cy="3829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GB" sz="1600" b="1" noProof="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0C72494-9C03-4342-A2BB-E7221D414335}"/>
              </a:ext>
            </a:extLst>
          </p:cNvPr>
          <p:cNvSpPr txBox="1"/>
          <p:nvPr/>
        </p:nvSpPr>
        <p:spPr>
          <a:xfrm>
            <a:off x="5419380" y="7841403"/>
            <a:ext cx="1147811" cy="3829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GB" sz="1600" b="1" noProof="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0C72494-9C03-4342-A2BB-E7221D414335}"/>
              </a:ext>
            </a:extLst>
          </p:cNvPr>
          <p:cNvSpPr txBox="1"/>
          <p:nvPr/>
        </p:nvSpPr>
        <p:spPr>
          <a:xfrm>
            <a:off x="5419380" y="9319915"/>
            <a:ext cx="1147811" cy="3829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GB" sz="1600" b="1" noProof="0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6920066" y="228505"/>
            <a:ext cx="6509120" cy="3943537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9260" y="355463"/>
            <a:ext cx="3883641" cy="2333235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5146502" y="5005594"/>
            <a:ext cx="4324350" cy="6696075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79260" y="3551812"/>
            <a:ext cx="4419600" cy="7267575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5340686" y="9471401"/>
            <a:ext cx="1543050" cy="527403"/>
          </a:xfrm>
        </p:spPr>
        <p:txBody>
          <a:bodyPr/>
          <a:lstStyle/>
          <a:p>
            <a:fld id="{9BD3B4A0-BFF9-422C-B253-48BA94BE2F5B}" type="slidenum">
              <a:rPr lang="en-GB" noProof="0" smtClean="0"/>
              <a:t>2</a:t>
            </a:fld>
            <a:endParaRPr lang="en-GB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/>
              <p:cNvSpPr txBox="1"/>
              <p:nvPr/>
            </p:nvSpPr>
            <p:spPr>
              <a:xfrm>
                <a:off x="130611" y="355463"/>
                <a:ext cx="1600887" cy="3984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200" noProof="0" dirty="0"/>
                  <a:t>Solve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4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0" i="1" noProof="0" smtClean="0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sz="14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400" b="0" i="1" noProof="0" smtClean="0">
                            <a:latin typeface="Cambria Math" panose="02040503050406030204" pitchFamily="18" charset="0"/>
                          </a:rPr>
                          <m:t>+3</m:t>
                        </m:r>
                      </m:den>
                    </m:f>
                    <m:r>
                      <a:rPr lang="en-GB" sz="1400" b="0" i="1" noProof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sz="14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sz="14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400" b="0" i="1" noProof="0" smtClean="0">
                            <a:latin typeface="Cambria Math" panose="02040503050406030204" pitchFamily="18" charset="0"/>
                          </a:rPr>
                          <m:t>+8</m:t>
                        </m:r>
                      </m:den>
                    </m:f>
                    <m:r>
                      <a:rPr lang="en-GB" sz="1400" b="0" i="1" noProof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GB" sz="1200" noProof="0" dirty="0"/>
              </a:p>
            </p:txBody>
          </p:sp>
        </mc:Choice>
        <mc:Fallback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611" y="355463"/>
                <a:ext cx="1600887" cy="39844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7828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27018" t="3259" r="30949" b="56322"/>
          <a:stretch/>
        </p:blipFill>
        <p:spPr>
          <a:xfrm>
            <a:off x="764382" y="451613"/>
            <a:ext cx="857249" cy="5042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ECF3861-3A67-1348-9EE8-E4E61440DA37}"/>
              </a:ext>
            </a:extLst>
          </p:cNvPr>
          <p:cNvSpPr txBox="1"/>
          <p:nvPr/>
        </p:nvSpPr>
        <p:spPr>
          <a:xfrm>
            <a:off x="139301" y="92709"/>
            <a:ext cx="3242993" cy="25391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050" b="1" noProof="0" dirty="0">
                <a:solidFill>
                  <a:schemeClr val="bg1"/>
                </a:solidFill>
              </a:rPr>
              <a:t>Q11 – Iteration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6CFEF2-A65A-6142-861C-58ACADF7EEFB}"/>
              </a:ext>
            </a:extLst>
          </p:cNvPr>
          <p:cNvSpPr/>
          <p:nvPr/>
        </p:nvSpPr>
        <p:spPr>
          <a:xfrm>
            <a:off x="139301" y="346625"/>
            <a:ext cx="3234303" cy="369890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GB" sz="894" noProof="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247563" y="548289"/>
                <a:ext cx="2176430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200" noProof="0" dirty="0"/>
                  <a:t>Using</a:t>
                </a:r>
              </a:p>
              <a:p>
                <a:endParaRPr lang="en-GB" sz="1200" noProof="0" dirty="0"/>
              </a:p>
              <a:p>
                <a:r>
                  <a:rPr lang="en-GB" sz="1200" noProof="0" dirty="0"/>
                  <a:t>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GB" sz="1200" noProof="0" dirty="0"/>
              </a:p>
              <a:p>
                <a:endParaRPr lang="en-GB" sz="1200" noProof="0" dirty="0"/>
              </a:p>
              <a:p>
                <a:r>
                  <a:rPr lang="en-GB" sz="1200" noProof="0" dirty="0"/>
                  <a:t>Find the 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1200" noProof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GB" sz="1200" noProof="0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563" y="548289"/>
                <a:ext cx="2176430" cy="1015663"/>
              </a:xfrm>
              <a:prstGeom prst="rect">
                <a:avLst/>
              </a:prstGeom>
              <a:blipFill>
                <a:blip r:embed="rId3"/>
                <a:stretch>
                  <a:fillRect l="-280" t="-599" b="-3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375343" y="-581315"/>
            <a:ext cx="4820544" cy="307438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/>
              <p:cNvSpPr/>
              <p:nvPr/>
            </p:nvSpPr>
            <p:spPr>
              <a:xfrm>
                <a:off x="1743805" y="3002707"/>
                <a:ext cx="526939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noProof="0" dirty="0"/>
              </a:p>
            </p:txBody>
          </p:sp>
        </mc:Choice>
        <mc:Fallback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3805" y="3002707"/>
                <a:ext cx="526939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/>
              <p:cNvSpPr/>
              <p:nvPr/>
            </p:nvSpPr>
            <p:spPr>
              <a:xfrm>
                <a:off x="1749853" y="3310388"/>
                <a:ext cx="530530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noProof="0" dirty="0"/>
              </a:p>
            </p:txBody>
          </p:sp>
        </mc:Choice>
        <mc:Fallback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9853" y="3310388"/>
                <a:ext cx="530530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/>
              <p:cNvSpPr/>
              <p:nvPr/>
            </p:nvSpPr>
            <p:spPr>
              <a:xfrm>
                <a:off x="1742009" y="3651044"/>
                <a:ext cx="530530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noProof="0" dirty="0"/>
              </a:p>
            </p:txBody>
          </p:sp>
        </mc:Choice>
        <mc:Fallback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2009" y="3651044"/>
                <a:ext cx="530530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70C72494-9C03-4342-A2BB-E7221D414335}"/>
              </a:ext>
            </a:extLst>
          </p:cNvPr>
          <p:cNvSpPr txBox="1"/>
          <p:nvPr/>
        </p:nvSpPr>
        <p:spPr>
          <a:xfrm>
            <a:off x="2270745" y="3002707"/>
            <a:ext cx="1079216" cy="2923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GB" sz="1600" b="1" noProof="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C72494-9C03-4342-A2BB-E7221D414335}"/>
              </a:ext>
            </a:extLst>
          </p:cNvPr>
          <p:cNvSpPr txBox="1"/>
          <p:nvPr/>
        </p:nvSpPr>
        <p:spPr>
          <a:xfrm>
            <a:off x="2270744" y="3343363"/>
            <a:ext cx="1079216" cy="2923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GB" sz="1600" b="1" noProof="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C72494-9C03-4342-A2BB-E7221D414335}"/>
              </a:ext>
            </a:extLst>
          </p:cNvPr>
          <p:cNvSpPr txBox="1"/>
          <p:nvPr/>
        </p:nvSpPr>
        <p:spPr>
          <a:xfrm>
            <a:off x="2270744" y="3666385"/>
            <a:ext cx="1079216" cy="2923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GB" sz="1600" b="1" noProof="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CF3861-3A67-1348-9EE8-E4E61440DA37}"/>
              </a:ext>
            </a:extLst>
          </p:cNvPr>
          <p:cNvSpPr txBox="1"/>
          <p:nvPr/>
        </p:nvSpPr>
        <p:spPr>
          <a:xfrm>
            <a:off x="3490556" y="92709"/>
            <a:ext cx="3242993" cy="57708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050" b="1" noProof="0" dirty="0">
                <a:solidFill>
                  <a:schemeClr val="bg1"/>
                </a:solidFill>
              </a:rPr>
              <a:t>Q12 – Changing the subject Changing the subject where the subject appears twice </a:t>
            </a:r>
          </a:p>
          <a:p>
            <a:r>
              <a:rPr lang="en-GB" sz="1050" b="1" noProof="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16CFEF2-A65A-6142-861C-58ACADF7EEFB}"/>
              </a:ext>
            </a:extLst>
          </p:cNvPr>
          <p:cNvSpPr/>
          <p:nvPr/>
        </p:nvSpPr>
        <p:spPr>
          <a:xfrm>
            <a:off x="3490556" y="669789"/>
            <a:ext cx="3234303" cy="337573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GB" sz="894" noProof="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3490556" y="733093"/>
                <a:ext cx="3017621" cy="5872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200" b="0" noProof="0" dirty="0"/>
                  <a:t> Make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GB" sz="1200" b="0" noProof="0" dirty="0"/>
                  <a:t> the subject of the formula 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1400" b="0" i="1" noProof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GB" sz="1400" b="0" i="1" noProof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4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GB" sz="14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+4</m:t>
                        </m:r>
                      </m:num>
                      <m:den>
                        <m:r>
                          <a:rPr lang="en-GB" sz="14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GB" sz="14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−3</m:t>
                        </m:r>
                      </m:den>
                    </m:f>
                  </m:oMath>
                </a14:m>
                <a:endParaRPr lang="en-GB" sz="1200" noProof="0" dirty="0"/>
              </a:p>
              <a:p>
                <a:endParaRPr lang="en-GB" sz="1200" noProof="0" dirty="0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0556" y="733093"/>
                <a:ext cx="3017621" cy="5872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0C72494-9C03-4342-A2BB-E7221D414335}"/>
              </a:ext>
            </a:extLst>
          </p:cNvPr>
          <p:cNvSpPr txBox="1"/>
          <p:nvPr/>
        </p:nvSpPr>
        <p:spPr>
          <a:xfrm>
            <a:off x="5505047" y="3598048"/>
            <a:ext cx="1147811" cy="3829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GB" sz="1600" b="1" noProof="0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25165" y="-331585"/>
            <a:ext cx="6657975" cy="4267200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6895404" y="4404429"/>
            <a:ext cx="6768274" cy="4257832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17360" y="4357687"/>
            <a:ext cx="3971925" cy="5781675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298761" y="9477445"/>
            <a:ext cx="1543050" cy="527403"/>
          </a:xfrm>
        </p:spPr>
        <p:txBody>
          <a:bodyPr/>
          <a:lstStyle/>
          <a:p>
            <a:fld id="{9BD3B4A0-BFF9-422C-B253-48BA94BE2F5B}" type="slidenum">
              <a:rPr lang="en-GB" noProof="0" smtClean="0"/>
              <a:t>3</a:t>
            </a:fld>
            <a:endParaRPr lang="en-GB" noProof="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ECF3861-3A67-1348-9EE8-E4E61440DA37}"/>
              </a:ext>
            </a:extLst>
          </p:cNvPr>
          <p:cNvSpPr txBox="1"/>
          <p:nvPr/>
        </p:nvSpPr>
        <p:spPr>
          <a:xfrm>
            <a:off x="147991" y="4150515"/>
            <a:ext cx="3242993" cy="25391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050" b="1" noProof="0" dirty="0">
                <a:solidFill>
                  <a:schemeClr val="bg1"/>
                </a:solidFill>
              </a:rPr>
              <a:t>Q13 – Proof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16CFEF2-A65A-6142-861C-58ACADF7EEFB}"/>
              </a:ext>
            </a:extLst>
          </p:cNvPr>
          <p:cNvSpPr/>
          <p:nvPr/>
        </p:nvSpPr>
        <p:spPr>
          <a:xfrm>
            <a:off x="147991" y="4404430"/>
            <a:ext cx="3234303" cy="515104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GB" sz="894" noProof="0" dirty="0">
              <a:solidFill>
                <a:schemeClr val="bg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ECF3861-3A67-1348-9EE8-E4E61440DA37}"/>
              </a:ext>
            </a:extLst>
          </p:cNvPr>
          <p:cNvSpPr txBox="1"/>
          <p:nvPr/>
        </p:nvSpPr>
        <p:spPr>
          <a:xfrm>
            <a:off x="3499246" y="4150515"/>
            <a:ext cx="3242993" cy="25391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050" b="1" noProof="0" dirty="0">
                <a:solidFill>
                  <a:schemeClr val="bg1"/>
                </a:solidFill>
              </a:rPr>
              <a:t>Q14 – Challenge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16CFEF2-A65A-6142-861C-58ACADF7EEFB}"/>
              </a:ext>
            </a:extLst>
          </p:cNvPr>
          <p:cNvSpPr/>
          <p:nvPr/>
        </p:nvSpPr>
        <p:spPr>
          <a:xfrm>
            <a:off x="3499246" y="4404430"/>
            <a:ext cx="3234303" cy="515104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GB" sz="894" noProof="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/>
              <p:cNvSpPr txBox="1"/>
              <p:nvPr/>
            </p:nvSpPr>
            <p:spPr>
              <a:xfrm>
                <a:off x="3507936" y="4404429"/>
                <a:ext cx="2554930" cy="7226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200" b="0" noProof="0" dirty="0"/>
                  <a:t>Simplify fully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sz="16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600" b="0" i="1" noProof="0" smtClean="0">
                            <a:latin typeface="Cambria Math" panose="02040503050406030204" pitchFamily="18" charset="0"/>
                          </a:rPr>
                          <m:t>−2</m:t>
                        </m:r>
                      </m:num>
                      <m:den>
                        <m:r>
                          <a:rPr lang="en-GB" sz="16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600" b="0" i="1" noProof="0" smtClean="0">
                            <a:latin typeface="Cambria Math" panose="02040503050406030204" pitchFamily="18" charset="0"/>
                          </a:rPr>
                          <m:t>+5</m:t>
                        </m:r>
                      </m:den>
                    </m:f>
                    <m:r>
                      <a:rPr lang="en-GB" sz="16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f>
                      <m:fPr>
                        <m:ctrlPr>
                          <a:rPr lang="en-GB" sz="16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sz="1600" b="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b="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sz="1600" b="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16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−4</m:t>
                        </m:r>
                        <m:r>
                          <a:rPr lang="en-GB" sz="16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GB" sz="16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+3</m:t>
                        </m:r>
                      </m:num>
                      <m:den>
                        <m:r>
                          <a:rPr lang="en-GB" sz="16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GB" sz="1600" b="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b="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sz="1600" b="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16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+13</m:t>
                        </m:r>
                        <m:r>
                          <a:rPr lang="en-GB" sz="16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GB" sz="16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+15</m:t>
                        </m:r>
                      </m:den>
                    </m:f>
                  </m:oMath>
                </a14:m>
                <a:endParaRPr lang="en-GB" sz="1600" noProof="0" dirty="0"/>
              </a:p>
              <a:p>
                <a:endParaRPr lang="en-GB" sz="1600" noProof="0" dirty="0"/>
              </a:p>
            </p:txBody>
          </p:sp>
        </mc:Choice>
        <mc:Fallback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7936" y="4404429"/>
                <a:ext cx="2554930" cy="72269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>
            <a:extLst>
              <a:ext uri="{FF2B5EF4-FFF2-40B4-BE49-F238E27FC236}">
                <a16:creationId xmlns:a16="http://schemas.microsoft.com/office/drawing/2014/main" id="{70C72494-9C03-4342-A2BB-E7221D414335}"/>
              </a:ext>
            </a:extLst>
          </p:cNvPr>
          <p:cNvSpPr txBox="1"/>
          <p:nvPr/>
        </p:nvSpPr>
        <p:spPr>
          <a:xfrm>
            <a:off x="2139709" y="9080093"/>
            <a:ext cx="1147811" cy="3829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GB" sz="1600" b="1" noProof="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119277" y="4430185"/>
            <a:ext cx="3429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1200" noProof="0" dirty="0"/>
              <a:t>Prove the sum of four consecutive odd numbers is always a multiple of 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0C72494-9C03-4342-A2BB-E7221D414335}"/>
              </a:ext>
            </a:extLst>
          </p:cNvPr>
          <p:cNvSpPr txBox="1"/>
          <p:nvPr/>
        </p:nvSpPr>
        <p:spPr>
          <a:xfrm>
            <a:off x="5488960" y="9027901"/>
            <a:ext cx="1147811" cy="3829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GB" sz="1600" b="1" noProof="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295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D9761CF-86CD-F14F-B3B4-6AAF3436CD55}"/>
              </a:ext>
            </a:extLst>
          </p:cNvPr>
          <p:cNvSpPr txBox="1"/>
          <p:nvPr/>
        </p:nvSpPr>
        <p:spPr>
          <a:xfrm>
            <a:off x="181907" y="3078540"/>
            <a:ext cx="2134045" cy="25391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1050" b="1" noProof="0" dirty="0">
                <a:solidFill>
                  <a:schemeClr val="bg1"/>
                </a:solidFill>
              </a:rPr>
              <a:t>Q3 – Prior Knowledge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E880452-3BFC-EF43-891C-A9776558DA9C}"/>
              </a:ext>
            </a:extLst>
          </p:cNvPr>
          <p:cNvGrpSpPr/>
          <p:nvPr/>
        </p:nvGrpSpPr>
        <p:grpSpPr>
          <a:xfrm>
            <a:off x="181907" y="1264542"/>
            <a:ext cx="2554110" cy="1655363"/>
            <a:chOff x="174360" y="3964219"/>
            <a:chExt cx="6500426" cy="1743429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1D9761CF-86CD-F14F-B3B4-6AAF3436CD55}"/>
                </a:ext>
              </a:extLst>
            </p:cNvPr>
            <p:cNvSpPr txBox="1"/>
            <p:nvPr/>
          </p:nvSpPr>
          <p:spPr>
            <a:xfrm>
              <a:off x="174360" y="3964219"/>
              <a:ext cx="6500426" cy="25391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1050" b="1" noProof="0" dirty="0">
                  <a:solidFill>
                    <a:schemeClr val="bg1"/>
                  </a:solidFill>
                </a:rPr>
                <a:t>Q1 – Prior Knowledge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185F5D3-FC4D-B842-ACB5-292C07F15382}"/>
                </a:ext>
              </a:extLst>
            </p:cNvPr>
            <p:cNvSpPr/>
            <p:nvPr/>
          </p:nvSpPr>
          <p:spPr>
            <a:xfrm>
              <a:off x="180456" y="4184062"/>
              <a:ext cx="6494330" cy="1523586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050" noProof="0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99" name="Table 98">
            <a:extLst>
              <a:ext uri="{FF2B5EF4-FFF2-40B4-BE49-F238E27FC236}">
                <a16:creationId xmlns:a16="http://schemas.microsoft.com/office/drawing/2014/main" id="{AB51EEA6-B3AC-754A-8CC9-D50114044A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4802864"/>
              </p:ext>
            </p:extLst>
          </p:nvPr>
        </p:nvGraphicFramePr>
        <p:xfrm>
          <a:off x="1593893" y="102106"/>
          <a:ext cx="5076807" cy="9564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9874">
                  <a:extLst>
                    <a:ext uri="{9D8B030D-6E8A-4147-A177-3AD203B41FA5}">
                      <a16:colId xmlns:a16="http://schemas.microsoft.com/office/drawing/2014/main" val="2813867104"/>
                    </a:ext>
                  </a:extLst>
                </a:gridCol>
                <a:gridCol w="329874">
                  <a:extLst>
                    <a:ext uri="{9D8B030D-6E8A-4147-A177-3AD203B41FA5}">
                      <a16:colId xmlns:a16="http://schemas.microsoft.com/office/drawing/2014/main" val="1171488809"/>
                    </a:ext>
                  </a:extLst>
                </a:gridCol>
                <a:gridCol w="329874">
                  <a:extLst>
                    <a:ext uri="{9D8B030D-6E8A-4147-A177-3AD203B41FA5}">
                      <a16:colId xmlns:a16="http://schemas.microsoft.com/office/drawing/2014/main" val="535809467"/>
                    </a:ext>
                  </a:extLst>
                </a:gridCol>
                <a:gridCol w="329874">
                  <a:extLst>
                    <a:ext uri="{9D8B030D-6E8A-4147-A177-3AD203B41FA5}">
                      <a16:colId xmlns:a16="http://schemas.microsoft.com/office/drawing/2014/main" val="61311696"/>
                    </a:ext>
                  </a:extLst>
                </a:gridCol>
                <a:gridCol w="329874">
                  <a:extLst>
                    <a:ext uri="{9D8B030D-6E8A-4147-A177-3AD203B41FA5}">
                      <a16:colId xmlns:a16="http://schemas.microsoft.com/office/drawing/2014/main" val="3125055640"/>
                    </a:ext>
                  </a:extLst>
                </a:gridCol>
                <a:gridCol w="329874">
                  <a:extLst>
                    <a:ext uri="{9D8B030D-6E8A-4147-A177-3AD203B41FA5}">
                      <a16:colId xmlns:a16="http://schemas.microsoft.com/office/drawing/2014/main" val="146641348"/>
                    </a:ext>
                  </a:extLst>
                </a:gridCol>
                <a:gridCol w="329874">
                  <a:extLst>
                    <a:ext uri="{9D8B030D-6E8A-4147-A177-3AD203B41FA5}">
                      <a16:colId xmlns:a16="http://schemas.microsoft.com/office/drawing/2014/main" val="2633963437"/>
                    </a:ext>
                  </a:extLst>
                </a:gridCol>
                <a:gridCol w="329874">
                  <a:extLst>
                    <a:ext uri="{9D8B030D-6E8A-4147-A177-3AD203B41FA5}">
                      <a16:colId xmlns:a16="http://schemas.microsoft.com/office/drawing/2014/main" val="2254325724"/>
                    </a:ext>
                  </a:extLst>
                </a:gridCol>
                <a:gridCol w="329874">
                  <a:extLst>
                    <a:ext uri="{9D8B030D-6E8A-4147-A177-3AD203B41FA5}">
                      <a16:colId xmlns:a16="http://schemas.microsoft.com/office/drawing/2014/main" val="2636094639"/>
                    </a:ext>
                  </a:extLst>
                </a:gridCol>
                <a:gridCol w="329874">
                  <a:extLst>
                    <a:ext uri="{9D8B030D-6E8A-4147-A177-3AD203B41FA5}">
                      <a16:colId xmlns:a16="http://schemas.microsoft.com/office/drawing/2014/main" val="1374906553"/>
                    </a:ext>
                  </a:extLst>
                </a:gridCol>
                <a:gridCol w="329874">
                  <a:extLst>
                    <a:ext uri="{9D8B030D-6E8A-4147-A177-3AD203B41FA5}">
                      <a16:colId xmlns:a16="http://schemas.microsoft.com/office/drawing/2014/main" val="1980713819"/>
                    </a:ext>
                  </a:extLst>
                </a:gridCol>
                <a:gridCol w="329874">
                  <a:extLst>
                    <a:ext uri="{9D8B030D-6E8A-4147-A177-3AD203B41FA5}">
                      <a16:colId xmlns:a16="http://schemas.microsoft.com/office/drawing/2014/main" val="1958072784"/>
                    </a:ext>
                  </a:extLst>
                </a:gridCol>
                <a:gridCol w="329874">
                  <a:extLst>
                    <a:ext uri="{9D8B030D-6E8A-4147-A177-3AD203B41FA5}">
                      <a16:colId xmlns:a16="http://schemas.microsoft.com/office/drawing/2014/main" val="3298754211"/>
                    </a:ext>
                  </a:extLst>
                </a:gridCol>
                <a:gridCol w="329874">
                  <a:extLst>
                    <a:ext uri="{9D8B030D-6E8A-4147-A177-3AD203B41FA5}">
                      <a16:colId xmlns:a16="http://schemas.microsoft.com/office/drawing/2014/main" val="3401959577"/>
                    </a:ext>
                  </a:extLst>
                </a:gridCol>
                <a:gridCol w="458571">
                  <a:extLst>
                    <a:ext uri="{9D8B030D-6E8A-4147-A177-3AD203B41FA5}">
                      <a16:colId xmlns:a16="http://schemas.microsoft.com/office/drawing/2014/main" val="3879824746"/>
                    </a:ext>
                  </a:extLst>
                </a:gridCol>
              </a:tblGrid>
              <a:tr h="302840">
                <a:tc gridSpan="15">
                  <a:txBody>
                    <a:bodyPr/>
                    <a:lstStyle/>
                    <a:p>
                      <a:pPr algn="ctr"/>
                      <a:r>
                        <a:rPr lang="en-GB" sz="1500" b="1" noProof="0" dirty="0"/>
                        <a:t>MY SCORE</a:t>
                      </a:r>
                    </a:p>
                  </a:txBody>
                  <a:tcPr marL="74295" marR="74295" marT="37148" marB="37148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1112720"/>
                  </a:ext>
                </a:extLst>
              </a:tr>
              <a:tr h="326797">
                <a:tc>
                  <a:txBody>
                    <a:bodyPr/>
                    <a:lstStyle/>
                    <a:p>
                      <a:pPr algn="ctr"/>
                      <a:r>
                        <a:rPr lang="en-GB" sz="800" noProof="0" dirty="0"/>
                        <a:t>Q1</a:t>
                      </a:r>
                    </a:p>
                  </a:txBody>
                  <a:tcPr marL="74295" marR="74295" marT="37148" marB="37148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noProof="0" dirty="0"/>
                        <a:t>Q2</a:t>
                      </a:r>
                    </a:p>
                  </a:txBody>
                  <a:tcPr marL="74295" marR="74295" marT="37148" marB="37148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noProof="0" dirty="0"/>
                        <a:t>Q3</a:t>
                      </a:r>
                    </a:p>
                  </a:txBody>
                  <a:tcPr marL="74295" marR="74295" marT="37148" marB="37148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noProof="0" dirty="0"/>
                        <a:t>Q4</a:t>
                      </a:r>
                    </a:p>
                  </a:txBody>
                  <a:tcPr marL="74295" marR="74295" marT="37148" marB="37148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noProof="0" dirty="0"/>
                        <a:t>Q5</a:t>
                      </a:r>
                    </a:p>
                  </a:txBody>
                  <a:tcPr marL="74295" marR="74295" marT="37148" marB="37148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noProof="0" dirty="0"/>
                        <a:t>Q6</a:t>
                      </a:r>
                    </a:p>
                  </a:txBody>
                  <a:tcPr marL="74295" marR="74295" marT="37148" marB="37148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noProof="0" dirty="0"/>
                        <a:t>Q7</a:t>
                      </a:r>
                    </a:p>
                  </a:txBody>
                  <a:tcPr marL="74295" marR="74295" marT="37148" marB="37148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noProof="0" dirty="0"/>
                        <a:t>Q8</a:t>
                      </a:r>
                    </a:p>
                  </a:txBody>
                  <a:tcPr marL="74295" marR="74295" marT="37148" marB="37148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noProof="0" dirty="0"/>
                        <a:t>Q9</a:t>
                      </a:r>
                    </a:p>
                  </a:txBody>
                  <a:tcPr marL="74295" marR="74295" marT="37148" marB="37148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noProof="0" dirty="0"/>
                        <a:t>Q10</a:t>
                      </a:r>
                    </a:p>
                  </a:txBody>
                  <a:tcPr marL="74295" marR="74295" marT="37148" marB="37148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noProof="0" dirty="0"/>
                        <a:t>Q11</a:t>
                      </a:r>
                    </a:p>
                  </a:txBody>
                  <a:tcPr marL="74295" marR="74295" marT="37148" marB="37148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noProof="0" dirty="0"/>
                        <a:t>Q12</a:t>
                      </a:r>
                    </a:p>
                  </a:txBody>
                  <a:tcPr marL="74295" marR="74295" marT="37148" marB="37148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noProof="0" dirty="0"/>
                        <a:t>Q13</a:t>
                      </a:r>
                    </a:p>
                  </a:txBody>
                  <a:tcPr marL="74295" marR="74295" marT="37148" marB="37148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noProof="0" dirty="0"/>
                        <a:t>Q14</a:t>
                      </a:r>
                    </a:p>
                  </a:txBody>
                  <a:tcPr marL="74295" marR="74295" marT="37148" marB="37148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1" noProof="0" dirty="0"/>
                        <a:t>Total</a:t>
                      </a:r>
                    </a:p>
                  </a:txBody>
                  <a:tcPr marL="74295" marR="74295" marT="37148" marB="37148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3497631"/>
                  </a:ext>
                </a:extLst>
              </a:tr>
              <a:tr h="326797">
                <a:tc>
                  <a:txBody>
                    <a:bodyPr/>
                    <a:lstStyle/>
                    <a:p>
                      <a:pPr algn="r"/>
                      <a:r>
                        <a:rPr lang="en-GB" sz="1100" noProof="0" dirty="0"/>
                        <a:t>/2</a:t>
                      </a: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noProof="0" dirty="0"/>
                        <a:t>/2</a:t>
                      </a: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noProof="0" dirty="0"/>
                        <a:t>/2</a:t>
                      </a: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noProof="0" dirty="0"/>
                        <a:t>/2</a:t>
                      </a: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noProof="0" dirty="0"/>
                        <a:t>/2</a:t>
                      </a: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noProof="0" dirty="0"/>
                        <a:t>/5</a:t>
                      </a: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noProof="0" dirty="0"/>
                        <a:t>/3</a:t>
                      </a: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noProof="0" dirty="0"/>
                        <a:t>/2</a:t>
                      </a: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noProof="0" dirty="0"/>
                        <a:t>/6</a:t>
                      </a: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noProof="0" dirty="0"/>
                        <a:t>/7</a:t>
                      </a: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noProof="0" dirty="0"/>
                        <a:t>/3</a:t>
                      </a: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noProof="0" dirty="0"/>
                        <a:t>/3</a:t>
                      </a: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noProof="0" dirty="0"/>
                        <a:t>/2</a:t>
                      </a: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noProof="0" dirty="0"/>
                        <a:t>/4</a:t>
                      </a: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noProof="0" dirty="0"/>
                        <a:t>/45</a:t>
                      </a:r>
                    </a:p>
                  </a:txBody>
                  <a:tcPr marL="74295" marR="74295" marT="37148" marB="37148" anchor="ctr"/>
                </a:tc>
                <a:extLst>
                  <a:ext uri="{0D108BD9-81ED-4DB2-BD59-A6C34878D82A}">
                    <a16:rowId xmlns:a16="http://schemas.microsoft.com/office/drawing/2014/main" val="460033712"/>
                  </a:ext>
                </a:extLst>
              </a:tr>
            </a:tbl>
          </a:graphicData>
        </a:graphic>
      </p:graphicFrame>
      <p:sp>
        <p:nvSpPr>
          <p:cNvPr id="101" name="Rectangle 100">
            <a:extLst>
              <a:ext uri="{FF2B5EF4-FFF2-40B4-BE49-F238E27FC236}">
                <a16:creationId xmlns:a16="http://schemas.microsoft.com/office/drawing/2014/main" id="{4323B830-AF60-BF46-A302-CF9098A8EA09}"/>
              </a:ext>
            </a:extLst>
          </p:cNvPr>
          <p:cNvSpPr/>
          <p:nvPr/>
        </p:nvSpPr>
        <p:spPr>
          <a:xfrm>
            <a:off x="158165" y="96747"/>
            <a:ext cx="1350771" cy="9618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138" b="1" u="sng" noProof="0" dirty="0">
                <a:solidFill>
                  <a:schemeClr val="tx1"/>
                </a:solidFill>
              </a:rPr>
              <a:t>Feedback Assessment</a:t>
            </a:r>
          </a:p>
          <a:p>
            <a:pPr algn="ctr"/>
            <a:endParaRPr lang="en-GB" sz="1138" b="1" u="sng" noProof="0" dirty="0">
              <a:solidFill>
                <a:schemeClr val="tx1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185F5D3-FC4D-B842-ACB5-292C07F15382}"/>
              </a:ext>
            </a:extLst>
          </p:cNvPr>
          <p:cNvSpPr/>
          <p:nvPr/>
        </p:nvSpPr>
        <p:spPr>
          <a:xfrm>
            <a:off x="189333" y="3347859"/>
            <a:ext cx="2126619" cy="235623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GB" sz="894" noProof="0" dirty="0">
              <a:solidFill>
                <a:schemeClr val="bg1"/>
              </a:solidFill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1ECF3861-3A67-1348-9EE8-E4E61440DA37}"/>
              </a:ext>
            </a:extLst>
          </p:cNvPr>
          <p:cNvSpPr txBox="1"/>
          <p:nvPr/>
        </p:nvSpPr>
        <p:spPr>
          <a:xfrm>
            <a:off x="195925" y="5764548"/>
            <a:ext cx="6486734" cy="25391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050" b="1" noProof="0" dirty="0">
                <a:solidFill>
                  <a:schemeClr val="bg1"/>
                </a:solidFill>
              </a:rPr>
              <a:t>Q6 – Simplify the algebraic fractions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B16CFEF2-A65A-6142-861C-58ACADF7EEFB}"/>
              </a:ext>
            </a:extLst>
          </p:cNvPr>
          <p:cNvSpPr/>
          <p:nvPr/>
        </p:nvSpPr>
        <p:spPr>
          <a:xfrm>
            <a:off x="193555" y="5993936"/>
            <a:ext cx="6482537" cy="382264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GB" sz="894" noProof="0" dirty="0">
              <a:solidFill>
                <a:schemeClr val="bg1"/>
              </a:solidFill>
            </a:endParaRPr>
          </a:p>
        </p:txBody>
      </p:sp>
      <p:sp>
        <p:nvSpPr>
          <p:cNvPr id="70" name="Slide Number Placeholder 3">
            <a:extLst>
              <a:ext uri="{FF2B5EF4-FFF2-40B4-BE49-F238E27FC236}">
                <a16:creationId xmlns:a16="http://schemas.microsoft.com/office/drawing/2014/main" id="{CC8B0F63-7BD8-5A41-9F25-DE3E23410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4400" y="9561628"/>
            <a:ext cx="1543050" cy="527403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F1D9CC-7119-45EC-A96C-D8C0660F3AAB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181903" y="1546878"/>
                <a:ext cx="1178079" cy="3534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200" noProof="0" dirty="0"/>
                  <a:t> Calculate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endParaRPr lang="en-GB" sz="1200" noProof="0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903" y="1546878"/>
                <a:ext cx="1178079" cy="353495"/>
              </a:xfrm>
              <a:prstGeom prst="rect">
                <a:avLst/>
              </a:prstGeom>
              <a:blipFill>
                <a:blip r:embed="rId2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/>
              <p:cNvSpPr txBox="1"/>
              <p:nvPr/>
            </p:nvSpPr>
            <p:spPr>
              <a:xfrm>
                <a:off x="2827883" y="1567184"/>
                <a:ext cx="148470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200" noProof="0" dirty="0"/>
                  <a:t>Factorise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−6</m:t>
                    </m:r>
                  </m:oMath>
                </a14:m>
                <a:endParaRPr lang="en-GB" sz="1200" noProof="0" dirty="0"/>
              </a:p>
            </p:txBody>
          </p:sp>
        </mc:Choice>
        <mc:Fallback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7883" y="1567184"/>
                <a:ext cx="1484702" cy="276999"/>
              </a:xfrm>
              <a:prstGeom prst="rect">
                <a:avLst/>
              </a:prstGeom>
              <a:blipFill>
                <a:blip r:embed="rId3"/>
                <a:stretch>
                  <a:fillRect l="-412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5E880452-3BFC-EF43-891C-A9776558DA9C}"/>
              </a:ext>
            </a:extLst>
          </p:cNvPr>
          <p:cNvGrpSpPr/>
          <p:nvPr/>
        </p:nvGrpSpPr>
        <p:grpSpPr>
          <a:xfrm>
            <a:off x="2827883" y="1275416"/>
            <a:ext cx="3848201" cy="1644490"/>
            <a:chOff x="174360" y="3964219"/>
            <a:chExt cx="6500426" cy="1743429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D9761CF-86CD-F14F-B3B4-6AAF3436CD55}"/>
                </a:ext>
              </a:extLst>
            </p:cNvPr>
            <p:cNvSpPr txBox="1"/>
            <p:nvPr/>
          </p:nvSpPr>
          <p:spPr>
            <a:xfrm>
              <a:off x="174360" y="3964219"/>
              <a:ext cx="6500426" cy="25391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1050" b="1" noProof="0" dirty="0">
                  <a:solidFill>
                    <a:schemeClr val="bg1"/>
                  </a:solidFill>
                </a:rPr>
                <a:t>Q2 – Prior Knowledge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185F5D3-FC4D-B842-ACB5-292C07F15382}"/>
                </a:ext>
              </a:extLst>
            </p:cNvPr>
            <p:cNvSpPr/>
            <p:nvPr/>
          </p:nvSpPr>
          <p:spPr>
            <a:xfrm>
              <a:off x="180456" y="4184062"/>
              <a:ext cx="6494330" cy="1523586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050" noProof="0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/>
              <p:cNvSpPr txBox="1"/>
              <p:nvPr/>
            </p:nvSpPr>
            <p:spPr>
              <a:xfrm>
                <a:off x="232173" y="3408341"/>
                <a:ext cx="1093954" cy="3817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200" noProof="0" dirty="0"/>
                  <a:t>Simplify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−2)</m:t>
                        </m:r>
                      </m:num>
                      <m:den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4</m:t>
                        </m:r>
                        <m:d>
                          <m:dPr>
                            <m:ctrlPr>
                              <a:rPr lang="en-GB" sz="1200" b="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200" b="0" i="1" noProof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1200" b="0" i="1" noProof="0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e>
                        </m:d>
                      </m:den>
                    </m:f>
                  </m:oMath>
                </a14:m>
                <a:endParaRPr lang="en-GB" sz="1200" noProof="0" dirty="0"/>
              </a:p>
            </p:txBody>
          </p:sp>
        </mc:Choice>
        <mc:Fallback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173" y="3408341"/>
                <a:ext cx="1093954" cy="3817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1D9761CF-86CD-F14F-B3B4-6AAF3436CD55}"/>
              </a:ext>
            </a:extLst>
          </p:cNvPr>
          <p:cNvSpPr txBox="1"/>
          <p:nvPr/>
        </p:nvSpPr>
        <p:spPr>
          <a:xfrm>
            <a:off x="2398320" y="3075102"/>
            <a:ext cx="2134045" cy="25391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1050" b="1" noProof="0" dirty="0">
                <a:solidFill>
                  <a:schemeClr val="bg1"/>
                </a:solidFill>
              </a:rPr>
              <a:t>Q4 – Prior Knowledge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185F5D3-FC4D-B842-ACB5-292C07F15382}"/>
              </a:ext>
            </a:extLst>
          </p:cNvPr>
          <p:cNvSpPr/>
          <p:nvPr/>
        </p:nvSpPr>
        <p:spPr>
          <a:xfrm>
            <a:off x="2405746" y="3344421"/>
            <a:ext cx="2127840" cy="235623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GB" sz="894" noProof="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/>
              <p:cNvSpPr txBox="1"/>
              <p:nvPr/>
            </p:nvSpPr>
            <p:spPr>
              <a:xfrm>
                <a:off x="2753576" y="3362554"/>
                <a:ext cx="142353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200" noProof="0" dirty="0"/>
                  <a:t>Make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200" noProof="0" dirty="0"/>
                  <a:t> the subject.</a:t>
                </a:r>
              </a:p>
              <a:p>
                <a:endParaRPr lang="en-GB" sz="1200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noProof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200" noProof="0" dirty="0"/>
              </a:p>
            </p:txBody>
          </p:sp>
        </mc:Choice>
        <mc:Fallback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3576" y="3362554"/>
                <a:ext cx="1423531" cy="646331"/>
              </a:xfrm>
              <a:prstGeom prst="rect">
                <a:avLst/>
              </a:prstGeom>
              <a:blipFill>
                <a:blip r:embed="rId5"/>
                <a:stretch>
                  <a:fillRect l="-429" t="-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>
            <a:extLst>
              <a:ext uri="{FF2B5EF4-FFF2-40B4-BE49-F238E27FC236}">
                <a16:creationId xmlns:a16="http://schemas.microsoft.com/office/drawing/2014/main" id="{1D9761CF-86CD-F14F-B3B4-6AAF3436CD55}"/>
              </a:ext>
            </a:extLst>
          </p:cNvPr>
          <p:cNvSpPr txBox="1"/>
          <p:nvPr/>
        </p:nvSpPr>
        <p:spPr>
          <a:xfrm>
            <a:off x="4614025" y="3077348"/>
            <a:ext cx="2060626" cy="25391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1050" b="1" noProof="0" dirty="0">
                <a:solidFill>
                  <a:schemeClr val="bg1"/>
                </a:solidFill>
              </a:rPr>
              <a:t>Q5 – Prior Knowledge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185F5D3-FC4D-B842-ACB5-292C07F15382}"/>
              </a:ext>
            </a:extLst>
          </p:cNvPr>
          <p:cNvSpPr/>
          <p:nvPr/>
        </p:nvSpPr>
        <p:spPr>
          <a:xfrm>
            <a:off x="4621450" y="3346667"/>
            <a:ext cx="2054634" cy="234873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GB" sz="894" noProof="0" dirty="0">
              <a:solidFill>
                <a:schemeClr val="bg1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612592" y="3344421"/>
            <a:ext cx="185294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noProof="0" dirty="0"/>
              <a:t>Here is a function machine</a:t>
            </a:r>
          </a:p>
          <a:p>
            <a:endParaRPr lang="en-GB" sz="1200" noProof="0" dirty="0"/>
          </a:p>
          <a:p>
            <a:endParaRPr lang="en-GB" sz="1200" noProof="0" dirty="0"/>
          </a:p>
          <a:p>
            <a:endParaRPr lang="en-GB" sz="1200" noProof="0" dirty="0"/>
          </a:p>
          <a:p>
            <a:endParaRPr lang="en-GB" sz="1200" noProof="0" dirty="0"/>
          </a:p>
          <a:p>
            <a:endParaRPr lang="en-GB" sz="1200" noProof="0" dirty="0"/>
          </a:p>
          <a:p>
            <a:endParaRPr lang="en-GB" sz="1200" noProof="0" dirty="0"/>
          </a:p>
          <a:p>
            <a:endParaRPr lang="en-GB" sz="1200" noProof="0" dirty="0"/>
          </a:p>
          <a:p>
            <a:endParaRPr lang="en-GB" sz="1200" noProof="0" dirty="0"/>
          </a:p>
        </p:txBody>
      </p:sp>
      <p:pic>
        <p:nvPicPr>
          <p:cNvPr id="63" name="Picture 62" descr="Diagram, text&#10;&#10;Description automatically generated">
            <a:extLst>
              <a:ext uri="{FF2B5EF4-FFF2-40B4-BE49-F238E27FC236}">
                <a16:creationId xmlns:a16="http://schemas.microsoft.com/office/drawing/2014/main" id="{CD1DDFE0-5472-E347-B502-C903C9B0B0F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51983" y="3636501"/>
            <a:ext cx="977877" cy="9819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711197" y="3956253"/>
            <a:ext cx="120625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noProof="0" dirty="0"/>
              <a:t>What is the output if the </a:t>
            </a:r>
          </a:p>
          <a:p>
            <a:r>
              <a:rPr lang="en-GB" sz="1200" noProof="0" dirty="0"/>
              <a:t>input is 7?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0C72494-9C03-4342-A2BB-E7221D414335}"/>
              </a:ext>
            </a:extLst>
          </p:cNvPr>
          <p:cNvSpPr txBox="1"/>
          <p:nvPr/>
        </p:nvSpPr>
        <p:spPr>
          <a:xfrm>
            <a:off x="1802167" y="2459443"/>
            <a:ext cx="904973" cy="4120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GB" sz="1600" b="1" noProof="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0C72494-9C03-4342-A2BB-E7221D414335}"/>
              </a:ext>
            </a:extLst>
          </p:cNvPr>
          <p:cNvSpPr txBox="1"/>
          <p:nvPr/>
        </p:nvSpPr>
        <p:spPr>
          <a:xfrm>
            <a:off x="5374401" y="2452584"/>
            <a:ext cx="1241770" cy="4120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GB" sz="1600" b="1" noProof="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0C72494-9C03-4342-A2BB-E7221D414335}"/>
              </a:ext>
            </a:extLst>
          </p:cNvPr>
          <p:cNvSpPr txBox="1"/>
          <p:nvPr/>
        </p:nvSpPr>
        <p:spPr>
          <a:xfrm>
            <a:off x="1323113" y="5246259"/>
            <a:ext cx="931540" cy="4269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GB" sz="1600" b="1" noProof="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0C72494-9C03-4342-A2BB-E7221D414335}"/>
              </a:ext>
            </a:extLst>
          </p:cNvPr>
          <p:cNvSpPr txBox="1"/>
          <p:nvPr/>
        </p:nvSpPr>
        <p:spPr>
          <a:xfrm>
            <a:off x="3045041" y="5246259"/>
            <a:ext cx="1403335" cy="4269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GB" sz="1600" b="1" noProof="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0C72494-9C03-4342-A2BB-E7221D414335}"/>
              </a:ext>
            </a:extLst>
          </p:cNvPr>
          <p:cNvSpPr txBox="1"/>
          <p:nvPr/>
        </p:nvSpPr>
        <p:spPr>
          <a:xfrm>
            <a:off x="5711197" y="5246259"/>
            <a:ext cx="904974" cy="4269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GB" sz="1600" b="1" noProof="0" dirty="0">
              <a:solidFill>
                <a:schemeClr val="bg1">
                  <a:lumMod val="85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8" name="TextBox 77"/>
              <p:cNvSpPr txBox="1"/>
              <p:nvPr/>
            </p:nvSpPr>
            <p:spPr>
              <a:xfrm>
                <a:off x="239782" y="6058359"/>
                <a:ext cx="1568635" cy="3571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200" noProof="0" dirty="0"/>
                  <a:t>a) Simplify fully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 − 15</m:t>
                        </m:r>
                      </m:num>
                      <m:den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−3</m:t>
                        </m:r>
                      </m:den>
                    </m:f>
                  </m:oMath>
                </a14:m>
                <a:endParaRPr lang="en-GB" sz="1200" noProof="0" dirty="0"/>
              </a:p>
            </p:txBody>
          </p:sp>
        </mc:Choice>
        <mc:Fallback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782" y="6058359"/>
                <a:ext cx="1568635" cy="357149"/>
              </a:xfrm>
              <a:prstGeom prst="rect">
                <a:avLst/>
              </a:prstGeom>
              <a:blipFill>
                <a:blip r:embed="rId8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9" name="TextBox 78"/>
              <p:cNvSpPr txBox="1"/>
              <p:nvPr/>
            </p:nvSpPr>
            <p:spPr>
              <a:xfrm>
                <a:off x="4006437" y="6039681"/>
                <a:ext cx="1735603" cy="3804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200" noProof="0" dirty="0"/>
                  <a:t>b) Simplify fully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sz="12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200" b="0" i="1" noProof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sz="1200" b="0" i="1" noProof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−12</m:t>
                        </m:r>
                      </m:num>
                      <m:den>
                        <m:sSup>
                          <m:sSupPr>
                            <m:ctrlPr>
                              <a:rPr lang="en-GB" sz="12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200" b="0" i="1" noProof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sz="1200" b="0" i="1" noProof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−9</m:t>
                        </m:r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+20</m:t>
                        </m:r>
                      </m:den>
                    </m:f>
                  </m:oMath>
                </a14:m>
                <a:endParaRPr lang="en-GB" sz="1200" noProof="0" dirty="0"/>
              </a:p>
            </p:txBody>
          </p:sp>
        </mc:Choice>
        <mc:Fallback>
          <p:sp>
            <p:nvSpPr>
              <p:cNvPr id="79" name="TextBox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6437" y="6039681"/>
                <a:ext cx="1735603" cy="380489"/>
              </a:xfrm>
              <a:prstGeom prst="rect">
                <a:avLst/>
              </a:prstGeom>
              <a:blipFill>
                <a:blip r:embed="rId9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/>
          <p:cNvCxnSpPr/>
          <p:nvPr/>
        </p:nvCxnSpPr>
        <p:spPr>
          <a:xfrm>
            <a:off x="3413804" y="5993936"/>
            <a:ext cx="0" cy="38226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70C72494-9C03-4342-A2BB-E7221D414335}"/>
              </a:ext>
            </a:extLst>
          </p:cNvPr>
          <p:cNvSpPr txBox="1"/>
          <p:nvPr/>
        </p:nvSpPr>
        <p:spPr>
          <a:xfrm>
            <a:off x="1889790" y="9285129"/>
            <a:ext cx="1403335" cy="4269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GB" sz="1600" b="1" noProof="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0C72494-9C03-4342-A2BB-E7221D414335}"/>
              </a:ext>
            </a:extLst>
          </p:cNvPr>
          <p:cNvSpPr txBox="1"/>
          <p:nvPr/>
        </p:nvSpPr>
        <p:spPr>
          <a:xfrm>
            <a:off x="5205616" y="9286470"/>
            <a:ext cx="1403335" cy="4269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GB" sz="1600" b="1" noProof="0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80739" y="5752817"/>
            <a:ext cx="1638300" cy="101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170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CF3861-3A67-1348-9EE8-E4E61440DA37}"/>
              </a:ext>
            </a:extLst>
          </p:cNvPr>
          <p:cNvSpPr txBox="1"/>
          <p:nvPr/>
        </p:nvSpPr>
        <p:spPr>
          <a:xfrm>
            <a:off x="130610" y="101547"/>
            <a:ext cx="3251683" cy="25391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050" b="1" noProof="0" dirty="0">
                <a:solidFill>
                  <a:schemeClr val="bg1"/>
                </a:solidFill>
              </a:rPr>
              <a:t>Q7 – Algebraic Fractions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6CFEF2-A65A-6142-861C-58ACADF7EEFB}"/>
              </a:ext>
            </a:extLst>
          </p:cNvPr>
          <p:cNvSpPr/>
          <p:nvPr/>
        </p:nvSpPr>
        <p:spPr>
          <a:xfrm>
            <a:off x="130610" y="355463"/>
            <a:ext cx="3234303" cy="382264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GB" sz="894" noProof="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C72494-9C03-4342-A2BB-E7221D414335}"/>
              </a:ext>
            </a:extLst>
          </p:cNvPr>
          <p:cNvSpPr txBox="1"/>
          <p:nvPr/>
        </p:nvSpPr>
        <p:spPr>
          <a:xfrm>
            <a:off x="1665505" y="3609065"/>
            <a:ext cx="1403335" cy="4269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GB" sz="1600" b="1" noProof="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CF3861-3A67-1348-9EE8-E4E61440DA37}"/>
              </a:ext>
            </a:extLst>
          </p:cNvPr>
          <p:cNvSpPr txBox="1"/>
          <p:nvPr/>
        </p:nvSpPr>
        <p:spPr>
          <a:xfrm>
            <a:off x="3457285" y="101547"/>
            <a:ext cx="3201887" cy="25391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050" b="1" noProof="0" dirty="0">
                <a:solidFill>
                  <a:schemeClr val="bg1"/>
                </a:solidFill>
              </a:rPr>
              <a:t>Q8 – Changing the subject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6CFEF2-A65A-6142-861C-58ACADF7EEFB}"/>
              </a:ext>
            </a:extLst>
          </p:cNvPr>
          <p:cNvSpPr/>
          <p:nvPr/>
        </p:nvSpPr>
        <p:spPr>
          <a:xfrm>
            <a:off x="3455368" y="355463"/>
            <a:ext cx="3193197" cy="382264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GB" sz="894" noProof="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3496474" y="355463"/>
                <a:ext cx="2319161" cy="7446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400" b="0" noProof="0" dirty="0"/>
                  <a:t> 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GB" sz="1400" b="0" i="1" noProof="0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ctrlPr>
                          <a:rPr lang="en-GB" sz="14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en-GB" noProof="0">
                            <a:latin typeface="Cambria Math" panose="02040503050406030204" pitchFamily="18" charset="0"/>
                          </a:rPr>
                          <m:t>3</m:t>
                        </m:r>
                      </m:deg>
                      <m:e>
                        <m:r>
                          <a:rPr lang="en-GB" b="0" i="1" noProof="0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GB" b="0" i="1" noProof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rad>
                    <m:r>
                      <a:rPr lang="en-GB" sz="14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GB" sz="1200" noProof="0" dirty="0"/>
              </a:p>
              <a:p>
                <a:endParaRPr lang="en-GB" sz="1200" noProof="0" dirty="0"/>
              </a:p>
              <a:p>
                <a:r>
                  <a:rPr lang="en-GB" sz="1200" noProof="0" dirty="0"/>
                  <a:t>Make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GB" sz="1200" noProof="0" dirty="0"/>
                  <a:t> the subject of the formula</a:t>
                </a: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6474" y="355463"/>
                <a:ext cx="2319161" cy="744691"/>
              </a:xfrm>
              <a:prstGeom prst="rect">
                <a:avLst/>
              </a:prstGeom>
              <a:blipFill>
                <a:blip r:embed="rId2"/>
                <a:stretch>
                  <a:fillRect l="-263" b="-57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70C72494-9C03-4342-A2BB-E7221D414335}"/>
              </a:ext>
            </a:extLst>
          </p:cNvPr>
          <p:cNvSpPr txBox="1"/>
          <p:nvPr/>
        </p:nvSpPr>
        <p:spPr>
          <a:xfrm>
            <a:off x="5031368" y="3609064"/>
            <a:ext cx="1403335" cy="4269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GB" sz="1600" b="1" noProof="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CF3861-3A67-1348-9EE8-E4E61440DA37}"/>
              </a:ext>
            </a:extLst>
          </p:cNvPr>
          <p:cNvSpPr txBox="1"/>
          <p:nvPr/>
        </p:nvSpPr>
        <p:spPr>
          <a:xfrm>
            <a:off x="139301" y="4303433"/>
            <a:ext cx="3242993" cy="25391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050" b="1" noProof="0" dirty="0">
                <a:solidFill>
                  <a:schemeClr val="bg1"/>
                </a:solidFill>
              </a:rPr>
              <a:t>Q9 – Functions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16CFEF2-A65A-6142-861C-58ACADF7EEFB}"/>
              </a:ext>
            </a:extLst>
          </p:cNvPr>
          <p:cNvSpPr/>
          <p:nvPr/>
        </p:nvSpPr>
        <p:spPr>
          <a:xfrm>
            <a:off x="139301" y="4557349"/>
            <a:ext cx="3234303" cy="525650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GB" sz="894" noProof="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130610" y="4557349"/>
                <a:ext cx="2369559" cy="40913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200" b="0" noProof="0" dirty="0"/>
                  <a:t> Given that 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GB" sz="14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400" b="0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>
                      <a:rPr lang="en-GB" sz="14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GB" sz="14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+3</m:t>
                    </m:r>
                  </m:oMath>
                </a14:m>
                <a:endParaRPr lang="en-GB" sz="1200" noProof="0" dirty="0"/>
              </a:p>
              <a:p>
                <a:endParaRPr lang="en-GB" sz="1200" noProof="0" dirty="0"/>
              </a:p>
              <a:p>
                <a:pPr marL="228600" indent="-228600">
                  <a:buAutoNum type="alphaLcParenR"/>
                </a:pPr>
                <a:r>
                  <a:rPr lang="en-GB" sz="1200" noProof="0" dirty="0"/>
                  <a:t>Find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−3</m:t>
                        </m:r>
                      </m:e>
                    </m:d>
                  </m:oMath>
                </a14:m>
                <a:endParaRPr lang="en-GB" sz="1200" noProof="0" dirty="0"/>
              </a:p>
              <a:p>
                <a:pPr marL="228600" indent="-228600">
                  <a:buAutoNum type="alphaLcParenR"/>
                </a:pPr>
                <a:endParaRPr lang="en-GB" sz="1200" noProof="0" dirty="0"/>
              </a:p>
              <a:p>
                <a:pPr marL="228600" indent="-228600">
                  <a:buAutoNum type="alphaLcParenR"/>
                </a:pPr>
                <a:endParaRPr lang="en-GB" sz="1200" noProof="0" dirty="0"/>
              </a:p>
              <a:p>
                <a:pPr marL="228600" indent="-228600">
                  <a:buAutoNum type="alphaLcParenR"/>
                </a:pPr>
                <a:endParaRPr lang="en-GB" sz="1200" noProof="0" dirty="0"/>
              </a:p>
              <a:p>
                <a:pPr marL="228600" indent="-228600">
                  <a:buAutoNum type="alphaLcParenR"/>
                </a:pPr>
                <a:endParaRPr lang="en-GB" sz="1200" noProof="0" dirty="0"/>
              </a:p>
              <a:p>
                <a:pPr marL="228600" indent="-228600">
                  <a:buAutoNum type="alphaLcParenR"/>
                </a:pPr>
                <a:endParaRPr lang="en-GB" sz="1200" noProof="0" dirty="0"/>
              </a:p>
              <a:p>
                <a:pPr marL="228600" indent="-228600">
                  <a:buAutoNum type="alphaLcParenR"/>
                </a:pPr>
                <a:endParaRPr lang="en-GB" sz="1200" noProof="0" dirty="0"/>
              </a:p>
              <a:p>
                <a:pPr marL="228600" indent="-228600">
                  <a:buAutoNum type="alphaLcParenR"/>
                </a:pPr>
                <a:endParaRPr lang="en-GB" sz="1200" noProof="0" dirty="0"/>
              </a:p>
              <a:p>
                <a:pPr marL="228600" indent="-228600">
                  <a:buAutoNum type="alphaLcParenR"/>
                </a:pPr>
                <a:endParaRPr lang="en-GB" sz="1200" noProof="0" dirty="0"/>
              </a:p>
              <a:p>
                <a:pPr marL="228600" indent="-228600">
                  <a:buAutoNum type="alphaLcParenR"/>
                </a:pPr>
                <a:r>
                  <a:rPr lang="en-GB" sz="1200" noProof="0" dirty="0"/>
                  <a:t>Solve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=19</m:t>
                    </m:r>
                  </m:oMath>
                </a14:m>
                <a:endParaRPr lang="en-GB" sz="1200" noProof="0" dirty="0"/>
              </a:p>
              <a:p>
                <a:pPr marL="228600" indent="-228600">
                  <a:buAutoNum type="alphaLcParenR"/>
                </a:pPr>
                <a:endParaRPr lang="en-GB" sz="1200" noProof="0" dirty="0"/>
              </a:p>
              <a:p>
                <a:pPr marL="228600" indent="-228600">
                  <a:buAutoNum type="alphaLcParenR"/>
                </a:pPr>
                <a:endParaRPr lang="en-GB" sz="1200" noProof="0" dirty="0"/>
              </a:p>
              <a:p>
                <a:pPr marL="228600" indent="-228600">
                  <a:buAutoNum type="alphaLcParenR"/>
                </a:pPr>
                <a:endParaRPr lang="en-GB" sz="1200" noProof="0" dirty="0"/>
              </a:p>
              <a:p>
                <a:pPr marL="228600" indent="-228600">
                  <a:buAutoNum type="alphaLcParenR"/>
                </a:pPr>
                <a:endParaRPr lang="en-GB" sz="1200" noProof="0" dirty="0"/>
              </a:p>
              <a:p>
                <a:pPr marL="228600" indent="-228600">
                  <a:buAutoNum type="alphaLcParenR"/>
                </a:pPr>
                <a:endParaRPr lang="en-GB" sz="1200" noProof="0" dirty="0"/>
              </a:p>
              <a:p>
                <a:pPr marL="228600" indent="-228600">
                  <a:buAutoNum type="alphaLcParenR"/>
                </a:pPr>
                <a:endParaRPr lang="en-GB" sz="1200" noProof="0" dirty="0"/>
              </a:p>
              <a:p>
                <a:pPr marL="228600" indent="-228600">
                  <a:buAutoNum type="alphaLcParenR"/>
                </a:pPr>
                <a:endParaRPr lang="en-GB" sz="1200" noProof="0" dirty="0"/>
              </a:p>
              <a:p>
                <a:pPr marL="228600" indent="-228600">
                  <a:buAutoNum type="alphaLcParenR"/>
                </a:pPr>
                <a:endParaRPr lang="en-GB" sz="1200" noProof="0" dirty="0"/>
              </a:p>
              <a:p>
                <a:pPr marL="228600" indent="-228600">
                  <a:buAutoNum type="alphaLcParenR"/>
                </a:pPr>
                <a:r>
                  <a:rPr lang="en-GB" sz="1200" noProof="0" dirty="0"/>
                  <a:t>Write an expression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1200" noProof="0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610" y="4557349"/>
                <a:ext cx="2369559" cy="4091376"/>
              </a:xfrm>
              <a:prstGeom prst="rect">
                <a:avLst/>
              </a:prstGeom>
              <a:blipFill>
                <a:blip r:embed="rId3"/>
                <a:stretch>
                  <a:fillRect l="-2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70C72494-9C03-4342-A2BB-E7221D414335}"/>
              </a:ext>
            </a:extLst>
          </p:cNvPr>
          <p:cNvSpPr txBox="1"/>
          <p:nvPr/>
        </p:nvSpPr>
        <p:spPr>
          <a:xfrm>
            <a:off x="2126511" y="6251945"/>
            <a:ext cx="1147811" cy="3829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GB" sz="1600" b="1" noProof="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C72494-9C03-4342-A2BB-E7221D414335}"/>
              </a:ext>
            </a:extLst>
          </p:cNvPr>
          <p:cNvSpPr txBox="1"/>
          <p:nvPr/>
        </p:nvSpPr>
        <p:spPr>
          <a:xfrm>
            <a:off x="2126511" y="7841403"/>
            <a:ext cx="1147811" cy="3829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GB" sz="1600" b="1" noProof="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C72494-9C03-4342-A2BB-E7221D414335}"/>
              </a:ext>
            </a:extLst>
          </p:cNvPr>
          <p:cNvSpPr txBox="1"/>
          <p:nvPr/>
        </p:nvSpPr>
        <p:spPr>
          <a:xfrm>
            <a:off x="2126511" y="9319915"/>
            <a:ext cx="1147811" cy="3829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GB" sz="1600" b="1" noProof="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CF3861-3A67-1348-9EE8-E4E61440DA37}"/>
              </a:ext>
            </a:extLst>
          </p:cNvPr>
          <p:cNvSpPr txBox="1"/>
          <p:nvPr/>
        </p:nvSpPr>
        <p:spPr>
          <a:xfrm>
            <a:off x="3455369" y="4303433"/>
            <a:ext cx="3212412" cy="25391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050" b="1" noProof="0" dirty="0">
                <a:solidFill>
                  <a:schemeClr val="bg1"/>
                </a:solidFill>
              </a:rPr>
              <a:t>Q10 – Functions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16CFEF2-A65A-6142-861C-58ACADF7EEFB}"/>
              </a:ext>
            </a:extLst>
          </p:cNvPr>
          <p:cNvSpPr/>
          <p:nvPr/>
        </p:nvSpPr>
        <p:spPr>
          <a:xfrm>
            <a:off x="3455369" y="4557349"/>
            <a:ext cx="3203804" cy="525650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GB" sz="894" noProof="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3496474" y="4598140"/>
                <a:ext cx="2935997" cy="40474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200" b="0" noProof="0" dirty="0"/>
                  <a:t> Given that 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ctrlPr>
                          <a:rPr lang="en-GB" sz="14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400" b="0" i="1" noProof="0" smtClean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n-GB" sz="14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GB" sz="14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lang="en-GB" sz="1200" noProof="0" dirty="0"/>
                  <a:t> and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endParaRPr lang="en-GB" sz="1200" noProof="0" dirty="0"/>
              </a:p>
              <a:p>
                <a:endParaRPr lang="en-GB" sz="1200" noProof="0" dirty="0"/>
              </a:p>
              <a:p>
                <a:pPr marL="228600" indent="-228600">
                  <a:buAutoNum type="alphaLcParenR"/>
                </a:pPr>
                <a:r>
                  <a:rPr lang="en-GB" sz="1200" noProof="0" dirty="0"/>
                  <a:t>Find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𝑛𝑚</m:t>
                    </m:r>
                    <m:d>
                      <m:d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lang="en-GB" sz="1200" noProof="0" dirty="0"/>
              </a:p>
              <a:p>
                <a:pPr marL="228600" indent="-228600">
                  <a:buAutoNum type="alphaLcParenR"/>
                </a:pPr>
                <a:endParaRPr lang="en-GB" sz="1200" noProof="0" dirty="0"/>
              </a:p>
              <a:p>
                <a:pPr marL="228600" indent="-228600">
                  <a:buAutoNum type="alphaLcParenR"/>
                </a:pPr>
                <a:endParaRPr lang="en-GB" sz="1200" noProof="0" dirty="0"/>
              </a:p>
              <a:p>
                <a:pPr marL="228600" indent="-228600">
                  <a:buAutoNum type="alphaLcParenR"/>
                </a:pPr>
                <a:endParaRPr lang="en-GB" sz="1200" noProof="0" dirty="0"/>
              </a:p>
              <a:p>
                <a:pPr marL="228600" indent="-228600">
                  <a:buAutoNum type="alphaLcParenR"/>
                </a:pPr>
                <a:endParaRPr lang="en-GB" sz="1200" noProof="0" dirty="0"/>
              </a:p>
              <a:p>
                <a:pPr marL="228600" indent="-228600">
                  <a:buAutoNum type="alphaLcParenR"/>
                </a:pPr>
                <a:endParaRPr lang="en-GB" sz="1200" noProof="0" dirty="0"/>
              </a:p>
              <a:p>
                <a:pPr marL="228600" indent="-228600">
                  <a:buAutoNum type="alphaLcParenR"/>
                </a:pPr>
                <a:endParaRPr lang="en-GB" sz="1200" noProof="0" dirty="0"/>
              </a:p>
              <a:p>
                <a:pPr marL="228600" indent="-228600">
                  <a:buAutoNum type="alphaLcParenR"/>
                </a:pPr>
                <a:endParaRPr lang="en-GB" sz="1200" noProof="0" dirty="0"/>
              </a:p>
              <a:p>
                <a:pPr marL="228600" indent="-228600">
                  <a:buAutoNum type="alphaLcParenR"/>
                </a:pPr>
                <a:endParaRPr lang="en-GB" sz="1200" noProof="0" dirty="0"/>
              </a:p>
              <a:p>
                <a:pPr marL="228600" indent="-228600">
                  <a:buAutoNum type="alphaLcParenR"/>
                </a:pPr>
                <a:r>
                  <a:rPr lang="en-GB" sz="1200" noProof="0" dirty="0"/>
                  <a:t>Write an expression for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𝑛𝑚</m:t>
                    </m:r>
                    <m:d>
                      <m:d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GB" sz="1200" noProof="0" dirty="0"/>
              </a:p>
              <a:p>
                <a:pPr marL="228600" indent="-228600">
                  <a:buAutoNum type="alphaLcParenR"/>
                </a:pPr>
                <a:endParaRPr lang="en-GB" sz="1200" noProof="0" dirty="0"/>
              </a:p>
              <a:p>
                <a:pPr marL="228600" indent="-228600">
                  <a:buAutoNum type="alphaLcParenR"/>
                </a:pPr>
                <a:endParaRPr lang="en-GB" sz="1200" noProof="0" dirty="0"/>
              </a:p>
              <a:p>
                <a:pPr marL="228600" indent="-228600">
                  <a:buAutoNum type="alphaLcParenR"/>
                </a:pPr>
                <a:endParaRPr lang="en-GB" sz="1200" noProof="0" dirty="0"/>
              </a:p>
              <a:p>
                <a:pPr marL="228600" indent="-228600">
                  <a:buAutoNum type="alphaLcParenR"/>
                </a:pPr>
                <a:endParaRPr lang="en-GB" sz="1200" noProof="0" dirty="0"/>
              </a:p>
              <a:p>
                <a:pPr marL="228600" indent="-228600">
                  <a:buAutoNum type="alphaLcParenR"/>
                </a:pPr>
                <a:endParaRPr lang="en-GB" sz="1200" noProof="0" dirty="0"/>
              </a:p>
              <a:p>
                <a:pPr marL="228600" indent="-228600">
                  <a:buAutoNum type="alphaLcParenR"/>
                </a:pPr>
                <a:endParaRPr lang="en-GB" sz="1200" noProof="0" dirty="0"/>
              </a:p>
              <a:p>
                <a:pPr marL="228600" indent="-228600">
                  <a:buAutoNum type="alphaLcParenR"/>
                </a:pPr>
                <a:endParaRPr lang="en-GB" sz="1200" noProof="0" dirty="0"/>
              </a:p>
              <a:p>
                <a:pPr marL="228600" indent="-228600">
                  <a:buAutoNum type="alphaLcParenR"/>
                </a:pPr>
                <a:endParaRPr lang="en-GB" sz="1200" noProof="0" dirty="0"/>
              </a:p>
              <a:p>
                <a:pPr marL="228600" indent="-228600">
                  <a:buAutoNum type="alphaLcParenR"/>
                </a:pPr>
                <a:r>
                  <a:rPr lang="en-GB" sz="1200" noProof="0" dirty="0"/>
                  <a:t>Solve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𝑛𝑚</m:t>
                    </m:r>
                    <m:d>
                      <m:d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GB" sz="1200" noProof="0" dirty="0"/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6474" y="4598140"/>
                <a:ext cx="2935997" cy="4047455"/>
              </a:xfrm>
              <a:prstGeom prst="rect">
                <a:avLst/>
              </a:prstGeom>
              <a:blipFill>
                <a:blip r:embed="rId4"/>
                <a:stretch>
                  <a:fillRect l="-208" b="-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70C72494-9C03-4342-A2BB-E7221D414335}"/>
              </a:ext>
            </a:extLst>
          </p:cNvPr>
          <p:cNvSpPr txBox="1"/>
          <p:nvPr/>
        </p:nvSpPr>
        <p:spPr>
          <a:xfrm>
            <a:off x="5419380" y="6251945"/>
            <a:ext cx="1147811" cy="3829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GB" sz="1600" b="1" noProof="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0C72494-9C03-4342-A2BB-E7221D414335}"/>
              </a:ext>
            </a:extLst>
          </p:cNvPr>
          <p:cNvSpPr txBox="1"/>
          <p:nvPr/>
        </p:nvSpPr>
        <p:spPr>
          <a:xfrm>
            <a:off x="5419380" y="7841403"/>
            <a:ext cx="1147811" cy="3829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GB" sz="1600" b="1" noProof="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0C72494-9C03-4342-A2BB-E7221D414335}"/>
              </a:ext>
            </a:extLst>
          </p:cNvPr>
          <p:cNvSpPr txBox="1"/>
          <p:nvPr/>
        </p:nvSpPr>
        <p:spPr>
          <a:xfrm>
            <a:off x="5419380" y="9319915"/>
            <a:ext cx="1147811" cy="3829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GB" sz="1600" b="1" noProof="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5340686" y="9471401"/>
            <a:ext cx="1543050" cy="527403"/>
          </a:xfrm>
        </p:spPr>
        <p:txBody>
          <a:bodyPr/>
          <a:lstStyle/>
          <a:p>
            <a:fld id="{9BD3B4A0-BFF9-422C-B253-48BA94BE2F5B}" type="slidenum">
              <a:rPr lang="en-GB" noProof="0" smtClean="0"/>
              <a:t>5</a:t>
            </a:fld>
            <a:endParaRPr lang="en-GB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/>
              <p:cNvSpPr txBox="1"/>
              <p:nvPr/>
            </p:nvSpPr>
            <p:spPr>
              <a:xfrm>
                <a:off x="130611" y="355463"/>
                <a:ext cx="1600887" cy="3981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200" noProof="0" dirty="0"/>
                  <a:t>Solve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4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GB" sz="14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400" b="0" i="1" noProof="0" smtClean="0">
                            <a:latin typeface="Cambria Math" panose="02040503050406030204" pitchFamily="18" charset="0"/>
                          </a:rPr>
                          <m:t>−3</m:t>
                        </m:r>
                      </m:den>
                    </m:f>
                    <m:r>
                      <a:rPr lang="en-GB" sz="1400" b="0" i="1" noProof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sz="14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4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400" b="0" i="1" noProof="0" smtClean="0">
                            <a:latin typeface="Cambria Math" panose="02040503050406030204" pitchFamily="18" charset="0"/>
                          </a:rPr>
                          <m:t>−4</m:t>
                        </m:r>
                      </m:den>
                    </m:f>
                    <m:r>
                      <a:rPr lang="en-GB" sz="1400" b="0" i="1" noProof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GB" sz="1200" noProof="0" dirty="0"/>
              </a:p>
            </p:txBody>
          </p:sp>
        </mc:Choice>
        <mc:Fallback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611" y="355463"/>
                <a:ext cx="1600887" cy="39812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3773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ECF3861-3A67-1348-9EE8-E4E61440DA37}"/>
              </a:ext>
            </a:extLst>
          </p:cNvPr>
          <p:cNvSpPr txBox="1"/>
          <p:nvPr/>
        </p:nvSpPr>
        <p:spPr>
          <a:xfrm>
            <a:off x="139301" y="92709"/>
            <a:ext cx="3242993" cy="25391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050" b="1" noProof="0" dirty="0">
                <a:solidFill>
                  <a:schemeClr val="bg1"/>
                </a:solidFill>
              </a:rPr>
              <a:t>Q11 – Iteration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6CFEF2-A65A-6142-861C-58ACADF7EEFB}"/>
              </a:ext>
            </a:extLst>
          </p:cNvPr>
          <p:cNvSpPr/>
          <p:nvPr/>
        </p:nvSpPr>
        <p:spPr>
          <a:xfrm>
            <a:off x="139301" y="346624"/>
            <a:ext cx="3234303" cy="509482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GB" sz="894" noProof="0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CF3861-3A67-1348-9EE8-E4E61440DA37}"/>
              </a:ext>
            </a:extLst>
          </p:cNvPr>
          <p:cNvSpPr txBox="1"/>
          <p:nvPr/>
        </p:nvSpPr>
        <p:spPr>
          <a:xfrm>
            <a:off x="3490556" y="92709"/>
            <a:ext cx="3242993" cy="41549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050" b="1" noProof="0" dirty="0">
                <a:solidFill>
                  <a:schemeClr val="bg1"/>
                </a:solidFill>
              </a:rPr>
              <a:t>Q12 – Changing the subject where the subject appears twice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16CFEF2-A65A-6142-861C-58ACADF7EEFB}"/>
              </a:ext>
            </a:extLst>
          </p:cNvPr>
          <p:cNvSpPr/>
          <p:nvPr/>
        </p:nvSpPr>
        <p:spPr>
          <a:xfrm>
            <a:off x="3490556" y="503655"/>
            <a:ext cx="3234303" cy="493779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GB" sz="894" noProof="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3490556" y="599876"/>
                <a:ext cx="3153635" cy="777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noProof="0" dirty="0"/>
                  <a:t>Make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sz="1200" noProof="0" dirty="0"/>
                  <a:t> the subject</a:t>
                </a:r>
              </a:p>
              <a:p>
                <a:endParaRPr lang="en-GB" sz="1200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𝑎𝑐</m:t>
                          </m:r>
                        </m:num>
                        <m:den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</m:oMath>
                  </m:oMathPara>
                </a14:m>
                <a:endParaRPr lang="en-GB" sz="1200" noProof="0" dirty="0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0556" y="599876"/>
                <a:ext cx="3153635" cy="777970"/>
              </a:xfrm>
              <a:prstGeom prst="rect">
                <a:avLst/>
              </a:prstGeom>
              <a:blipFill>
                <a:blip r:embed="rId2"/>
                <a:stretch>
                  <a:fillRect l="-1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0C72494-9C03-4342-A2BB-E7221D414335}"/>
              </a:ext>
            </a:extLst>
          </p:cNvPr>
          <p:cNvSpPr txBox="1"/>
          <p:nvPr/>
        </p:nvSpPr>
        <p:spPr>
          <a:xfrm>
            <a:off x="5150734" y="4803494"/>
            <a:ext cx="1493457" cy="5722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GB" sz="1600" b="1" noProof="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298761" y="9477445"/>
            <a:ext cx="1543050" cy="527403"/>
          </a:xfrm>
        </p:spPr>
        <p:txBody>
          <a:bodyPr/>
          <a:lstStyle/>
          <a:p>
            <a:fld id="{9BD3B4A0-BFF9-422C-B253-48BA94BE2F5B}" type="slidenum">
              <a:rPr lang="en-GB" noProof="0" smtClean="0"/>
              <a:t>6</a:t>
            </a:fld>
            <a:endParaRPr lang="en-GB" noProof="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ECF3861-3A67-1348-9EE8-E4E61440DA37}"/>
              </a:ext>
            </a:extLst>
          </p:cNvPr>
          <p:cNvSpPr txBox="1"/>
          <p:nvPr/>
        </p:nvSpPr>
        <p:spPr>
          <a:xfrm>
            <a:off x="139144" y="5577638"/>
            <a:ext cx="6603252" cy="25391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050" b="1" noProof="0" dirty="0">
                <a:solidFill>
                  <a:schemeClr val="bg1"/>
                </a:solidFill>
              </a:rPr>
              <a:t>Q13 – Proof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16CFEF2-A65A-6142-861C-58ACADF7EEFB}"/>
              </a:ext>
            </a:extLst>
          </p:cNvPr>
          <p:cNvSpPr/>
          <p:nvPr/>
        </p:nvSpPr>
        <p:spPr>
          <a:xfrm>
            <a:off x="147991" y="5831554"/>
            <a:ext cx="6585558" cy="3723925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GB" sz="894" noProof="0" dirty="0">
              <a:solidFill>
                <a:schemeClr val="bg1"/>
              </a:solidFill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157095" y="5852391"/>
            <a:ext cx="654206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noProof="0" dirty="0"/>
              <a:t>I think of two consecutive integers. Prove that the difference of the squares of these integers is equal to the sum of the two integers.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0C72494-9C03-4342-A2BB-E7221D414335}"/>
              </a:ext>
            </a:extLst>
          </p:cNvPr>
          <p:cNvSpPr txBox="1"/>
          <p:nvPr/>
        </p:nvSpPr>
        <p:spPr>
          <a:xfrm>
            <a:off x="274320" y="6483433"/>
            <a:ext cx="6362451" cy="29274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GB" sz="1600" b="1" noProof="0" dirty="0">
              <a:solidFill>
                <a:schemeClr val="bg1">
                  <a:lumMod val="85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130610" y="397676"/>
                <a:ext cx="3242993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noProof="0" dirty="0"/>
                  <a:t>The number of rabbits in a field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sz="1200" noProof="0" dirty="0"/>
                  <a:t> days from now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sz="1200" noProof="0" dirty="0"/>
                  <a:t> where </a:t>
                </a:r>
              </a:p>
              <a:p>
                <a:endParaRPr lang="en-GB" sz="1200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=220</m:t>
                      </m:r>
                    </m:oMath>
                  </m:oMathPara>
                </a14:m>
                <a:endParaRPr lang="en-GB" sz="1200" b="0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=1.15(</m:t>
                      </m:r>
                      <m:sSub>
                        <m:sSubPr>
                          <m:ctrlP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−20)</m:t>
                      </m:r>
                    </m:oMath>
                  </m:oMathPara>
                </a14:m>
                <a:endParaRPr lang="en-GB" sz="1200" noProof="0" dirty="0"/>
              </a:p>
              <a:p>
                <a:endParaRPr lang="en-GB" sz="1200" noProof="0" dirty="0"/>
              </a:p>
              <a:p>
                <a:r>
                  <a:rPr lang="en-GB" sz="1200" noProof="0" dirty="0"/>
                  <a:t>Work out the number of rabbits in the garden 3 days from now</a:t>
                </a:r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610" y="397676"/>
                <a:ext cx="3242993" cy="1569660"/>
              </a:xfrm>
              <a:prstGeom prst="rect">
                <a:avLst/>
              </a:prstGeom>
              <a:blipFill>
                <a:blip r:embed="rId3"/>
                <a:stretch>
                  <a:fillRect b="-19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70C72494-9C03-4342-A2BB-E7221D414335}"/>
              </a:ext>
            </a:extLst>
          </p:cNvPr>
          <p:cNvSpPr txBox="1"/>
          <p:nvPr/>
        </p:nvSpPr>
        <p:spPr>
          <a:xfrm>
            <a:off x="1794063" y="4803493"/>
            <a:ext cx="1493457" cy="5722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GB" sz="1600" b="1" noProof="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4798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B4A0-BFF9-422C-B253-48BA94BE2F5B}" type="slidenum">
              <a:rPr lang="en-GB" noProof="0" smtClean="0"/>
              <a:t>7</a:t>
            </a:fld>
            <a:endParaRPr lang="en-GB" noProof="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37" y="208627"/>
            <a:ext cx="6092763" cy="53604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ECF3861-3A67-1348-9EE8-E4E61440DA37}"/>
              </a:ext>
            </a:extLst>
          </p:cNvPr>
          <p:cNvSpPr txBox="1"/>
          <p:nvPr/>
        </p:nvSpPr>
        <p:spPr>
          <a:xfrm>
            <a:off x="155637" y="122525"/>
            <a:ext cx="6563693" cy="25391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050" b="1" noProof="0" dirty="0">
                <a:solidFill>
                  <a:schemeClr val="bg1"/>
                </a:solidFill>
              </a:rPr>
              <a:t>Q14 – Challenge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6CFEF2-A65A-6142-861C-58ACADF7EEFB}"/>
              </a:ext>
            </a:extLst>
          </p:cNvPr>
          <p:cNvSpPr/>
          <p:nvPr/>
        </p:nvSpPr>
        <p:spPr>
          <a:xfrm>
            <a:off x="155637" y="376440"/>
            <a:ext cx="6546105" cy="669492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GB" sz="894" noProof="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C72494-9C03-4342-A2BB-E7221D414335}"/>
              </a:ext>
            </a:extLst>
          </p:cNvPr>
          <p:cNvSpPr txBox="1"/>
          <p:nvPr/>
        </p:nvSpPr>
        <p:spPr>
          <a:xfrm>
            <a:off x="468183" y="933947"/>
            <a:ext cx="5918330" cy="15525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GB" sz="1600" b="1" noProof="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8183" y="3291840"/>
            <a:ext cx="5918330" cy="12801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0" name="Rectangle 9"/>
          <p:cNvSpPr/>
          <p:nvPr/>
        </p:nvSpPr>
        <p:spPr>
          <a:xfrm>
            <a:off x="468183" y="5331722"/>
            <a:ext cx="5918330" cy="16024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0350922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AB6388F5B3DD48A4F5524A84895604" ma:contentTypeVersion="14" ma:contentTypeDescription="Create a new document." ma:contentTypeScope="" ma:versionID="d122bacdc6e0e52b1daab86e5e474f38">
  <xsd:schema xmlns:xsd="http://www.w3.org/2001/XMLSchema" xmlns:xs="http://www.w3.org/2001/XMLSchema" xmlns:p="http://schemas.microsoft.com/office/2006/metadata/properties" xmlns:ns2="e30b71df-48f4-4db7-95c3-a9033c265cb9" xmlns:ns3="608ebbb4-e88b-4c99-b506-21d9362781c6" targetNamespace="http://schemas.microsoft.com/office/2006/metadata/properties" ma:root="true" ma:fieldsID="c50e756327527929f9f40a94500ed9ef" ns2:_="" ns3:_="">
    <xsd:import namespace="e30b71df-48f4-4db7-95c3-a9033c265cb9"/>
    <xsd:import namespace="608ebbb4-e88b-4c99-b506-21d9362781c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0b71df-48f4-4db7-95c3-a9033c265cb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8ebbb4-e88b-4c99-b506-21d9362781c6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053D74A-5336-454B-8D4D-7A76286864F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0F551DF-02B3-45E2-A83E-993D28DAF02D}">
  <ds:schemaRefs>
    <ds:schemaRef ds:uri="608ebbb4-e88b-4c99-b506-21d9362781c6"/>
    <ds:schemaRef ds:uri="e30b71df-48f4-4db7-95c3-a9033c265cb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D56892C-67AD-4E91-BD21-0B3125C3C9FE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590</Words>
  <Application>Microsoft Office PowerPoint</Application>
  <PresentationFormat>A4 Paper (210x297 mm)</PresentationFormat>
  <Paragraphs>247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Marcus Lindley (Staff, Astrea Academy Sheffield)</dc:creator>
  <cp:lastModifiedBy>Adam Brown (Astrea Central)</cp:lastModifiedBy>
  <cp:revision>8</cp:revision>
  <cp:lastPrinted>2023-02-02T08:32:36Z</cp:lastPrinted>
  <dcterms:created xsi:type="dcterms:W3CDTF">2022-06-06T15:50:05Z</dcterms:created>
  <dcterms:modified xsi:type="dcterms:W3CDTF">2025-07-25T11:48:54Z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0x010100CAAB6388F5B3DD48A4F5524A84895604</vt:lpwstr>
  </property>
</Properties>
</file>