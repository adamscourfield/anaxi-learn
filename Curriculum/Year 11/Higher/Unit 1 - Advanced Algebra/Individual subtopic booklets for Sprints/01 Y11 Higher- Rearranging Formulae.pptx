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1"/>
  </p:notesMasterIdLst>
  <p:sldIdLst>
    <p:sldId id="2696" r:id="rId5"/>
    <p:sldId id="2698" r:id="rId6"/>
    <p:sldId id="2700" r:id="rId7"/>
    <p:sldId id="2701" r:id="rId8"/>
    <p:sldId id="2702" r:id="rId9"/>
    <p:sldId id="2704" r:id="rId10"/>
    <p:sldId id="2706" r:id="rId11"/>
    <p:sldId id="2705" r:id="rId12"/>
    <p:sldId id="2707" r:id="rId13"/>
    <p:sldId id="2709" r:id="rId14"/>
    <p:sldId id="2714" r:id="rId15"/>
    <p:sldId id="2711" r:id="rId16"/>
    <p:sldId id="2715" r:id="rId17"/>
    <p:sldId id="2716" r:id="rId18"/>
    <p:sldId id="2717" r:id="rId19"/>
    <p:sldId id="2718" r:id="rId20"/>
  </p:sldIdLst>
  <p:sldSz cx="6858000" cy="9906000" type="A4"/>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898" autoAdjust="0"/>
    <p:restoredTop sz="94660"/>
  </p:normalViewPr>
  <p:slideViewPr>
    <p:cSldViewPr snapToGrid="0">
      <p:cViewPr varScale="1">
        <p:scale>
          <a:sx n="77" d="100"/>
          <a:sy n="77" d="100"/>
        </p:scale>
        <p:origin x="325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am Brown (Astrea Central)" userId="e4577f1c-a0ea-4eef-9851-9bdbe8619e58" providerId="ADAL" clId="{4B326657-257C-410C-AF64-A56A5377F265}"/>
    <pc:docChg chg="delSld">
      <pc:chgData name="Adam Brown (Astrea Central)" userId="e4577f1c-a0ea-4eef-9851-9bdbe8619e58" providerId="ADAL" clId="{4B326657-257C-410C-AF64-A56A5377F265}" dt="2025-08-06T13:23:31.317" v="1" actId="47"/>
      <pc:docMkLst>
        <pc:docMk/>
      </pc:docMkLst>
      <pc:sldChg chg="del">
        <pc:chgData name="Adam Brown (Astrea Central)" userId="e4577f1c-a0ea-4eef-9851-9bdbe8619e58" providerId="ADAL" clId="{4B326657-257C-410C-AF64-A56A5377F265}" dt="2025-08-06T13:22:58.356" v="0" actId="47"/>
        <pc:sldMkLst>
          <pc:docMk/>
          <pc:sldMk cId="2420724009" sldId="257"/>
        </pc:sldMkLst>
      </pc:sldChg>
      <pc:sldChg chg="del">
        <pc:chgData name="Adam Brown (Astrea Central)" userId="e4577f1c-a0ea-4eef-9851-9bdbe8619e58" providerId="ADAL" clId="{4B326657-257C-410C-AF64-A56A5377F265}" dt="2025-08-06T13:22:58.356" v="0" actId="47"/>
        <pc:sldMkLst>
          <pc:docMk/>
          <pc:sldMk cId="1005434100" sldId="258"/>
        </pc:sldMkLst>
      </pc:sldChg>
      <pc:sldChg chg="del">
        <pc:chgData name="Adam Brown (Astrea Central)" userId="e4577f1c-a0ea-4eef-9851-9bdbe8619e58" providerId="ADAL" clId="{4B326657-257C-410C-AF64-A56A5377F265}" dt="2025-08-06T13:23:31.317" v="1" actId="47"/>
        <pc:sldMkLst>
          <pc:docMk/>
          <pc:sldMk cId="1544988901" sldId="260"/>
        </pc:sldMkLst>
      </pc:sldChg>
      <pc:sldChg chg="del">
        <pc:chgData name="Adam Brown (Astrea Central)" userId="e4577f1c-a0ea-4eef-9851-9bdbe8619e58" providerId="ADAL" clId="{4B326657-257C-410C-AF64-A56A5377F265}" dt="2025-08-06T13:23:31.317" v="1" actId="47"/>
        <pc:sldMkLst>
          <pc:docMk/>
          <pc:sldMk cId="1298809760" sldId="261"/>
        </pc:sldMkLst>
      </pc:sldChg>
      <pc:sldChg chg="del">
        <pc:chgData name="Adam Brown (Astrea Central)" userId="e4577f1c-a0ea-4eef-9851-9bdbe8619e58" providerId="ADAL" clId="{4B326657-257C-410C-AF64-A56A5377F265}" dt="2025-08-06T13:23:31.317" v="1" actId="47"/>
        <pc:sldMkLst>
          <pc:docMk/>
          <pc:sldMk cId="2535812588" sldId="262"/>
        </pc:sldMkLst>
      </pc:sldChg>
      <pc:sldChg chg="del">
        <pc:chgData name="Adam Brown (Astrea Central)" userId="e4577f1c-a0ea-4eef-9851-9bdbe8619e58" providerId="ADAL" clId="{4B326657-257C-410C-AF64-A56A5377F265}" dt="2025-08-06T13:23:31.317" v="1" actId="47"/>
        <pc:sldMkLst>
          <pc:docMk/>
          <pc:sldMk cId="314270034" sldId="263"/>
        </pc:sldMkLst>
      </pc:sldChg>
      <pc:sldChg chg="del">
        <pc:chgData name="Adam Brown (Astrea Central)" userId="e4577f1c-a0ea-4eef-9851-9bdbe8619e58" providerId="ADAL" clId="{4B326657-257C-410C-AF64-A56A5377F265}" dt="2025-08-06T13:23:31.317" v="1" actId="47"/>
        <pc:sldMkLst>
          <pc:docMk/>
          <pc:sldMk cId="814084658" sldId="270"/>
        </pc:sldMkLst>
      </pc:sldChg>
      <pc:sldChg chg="del">
        <pc:chgData name="Adam Brown (Astrea Central)" userId="e4577f1c-a0ea-4eef-9851-9bdbe8619e58" providerId="ADAL" clId="{4B326657-257C-410C-AF64-A56A5377F265}" dt="2025-08-06T13:23:31.317" v="1" actId="47"/>
        <pc:sldMkLst>
          <pc:docMk/>
          <pc:sldMk cId="4023999436" sldId="272"/>
        </pc:sldMkLst>
      </pc:sldChg>
      <pc:sldChg chg="del">
        <pc:chgData name="Adam Brown (Astrea Central)" userId="e4577f1c-a0ea-4eef-9851-9bdbe8619e58" providerId="ADAL" clId="{4B326657-257C-410C-AF64-A56A5377F265}" dt="2025-08-06T13:23:31.317" v="1" actId="47"/>
        <pc:sldMkLst>
          <pc:docMk/>
          <pc:sldMk cId="1555687156" sldId="273"/>
        </pc:sldMkLst>
      </pc:sldChg>
      <pc:sldChg chg="del">
        <pc:chgData name="Adam Brown (Astrea Central)" userId="e4577f1c-a0ea-4eef-9851-9bdbe8619e58" providerId="ADAL" clId="{4B326657-257C-410C-AF64-A56A5377F265}" dt="2025-08-06T13:23:31.317" v="1" actId="47"/>
        <pc:sldMkLst>
          <pc:docMk/>
          <pc:sldMk cId="488137902" sldId="275"/>
        </pc:sldMkLst>
      </pc:sldChg>
      <pc:sldChg chg="del">
        <pc:chgData name="Adam Brown (Astrea Central)" userId="e4577f1c-a0ea-4eef-9851-9bdbe8619e58" providerId="ADAL" clId="{4B326657-257C-410C-AF64-A56A5377F265}" dt="2025-08-06T13:23:31.317" v="1" actId="47"/>
        <pc:sldMkLst>
          <pc:docMk/>
          <pc:sldMk cId="2889196625" sldId="279"/>
        </pc:sldMkLst>
      </pc:sldChg>
      <pc:sldChg chg="del">
        <pc:chgData name="Adam Brown (Astrea Central)" userId="e4577f1c-a0ea-4eef-9851-9bdbe8619e58" providerId="ADAL" clId="{4B326657-257C-410C-AF64-A56A5377F265}" dt="2025-08-06T13:23:31.317" v="1" actId="47"/>
        <pc:sldMkLst>
          <pc:docMk/>
          <pc:sldMk cId="2672236804" sldId="280"/>
        </pc:sldMkLst>
      </pc:sldChg>
      <pc:sldChg chg="del">
        <pc:chgData name="Adam Brown (Astrea Central)" userId="e4577f1c-a0ea-4eef-9851-9bdbe8619e58" providerId="ADAL" clId="{4B326657-257C-410C-AF64-A56A5377F265}" dt="2025-08-06T13:23:31.317" v="1" actId="47"/>
        <pc:sldMkLst>
          <pc:docMk/>
          <pc:sldMk cId="1868544672" sldId="281"/>
        </pc:sldMkLst>
      </pc:sldChg>
      <pc:sldChg chg="del">
        <pc:chgData name="Adam Brown (Astrea Central)" userId="e4577f1c-a0ea-4eef-9851-9bdbe8619e58" providerId="ADAL" clId="{4B326657-257C-410C-AF64-A56A5377F265}" dt="2025-08-06T13:23:31.317" v="1" actId="47"/>
        <pc:sldMkLst>
          <pc:docMk/>
          <pc:sldMk cId="3971028310" sldId="284"/>
        </pc:sldMkLst>
      </pc:sldChg>
      <pc:sldChg chg="del">
        <pc:chgData name="Adam Brown (Astrea Central)" userId="e4577f1c-a0ea-4eef-9851-9bdbe8619e58" providerId="ADAL" clId="{4B326657-257C-410C-AF64-A56A5377F265}" dt="2025-08-06T13:23:31.317" v="1" actId="47"/>
        <pc:sldMkLst>
          <pc:docMk/>
          <pc:sldMk cId="1733324030" sldId="285"/>
        </pc:sldMkLst>
      </pc:sldChg>
      <pc:sldChg chg="del">
        <pc:chgData name="Adam Brown (Astrea Central)" userId="e4577f1c-a0ea-4eef-9851-9bdbe8619e58" providerId="ADAL" clId="{4B326657-257C-410C-AF64-A56A5377F265}" dt="2025-08-06T13:23:31.317" v="1" actId="47"/>
        <pc:sldMkLst>
          <pc:docMk/>
          <pc:sldMk cId="3063108936" sldId="952"/>
        </pc:sldMkLst>
      </pc:sldChg>
      <pc:sldChg chg="del">
        <pc:chgData name="Adam Brown (Astrea Central)" userId="e4577f1c-a0ea-4eef-9851-9bdbe8619e58" providerId="ADAL" clId="{4B326657-257C-410C-AF64-A56A5377F265}" dt="2025-08-06T13:23:31.317" v="1" actId="47"/>
        <pc:sldMkLst>
          <pc:docMk/>
          <pc:sldMk cId="2587464780" sldId="957"/>
        </pc:sldMkLst>
      </pc:sldChg>
      <pc:sldChg chg="del">
        <pc:chgData name="Adam Brown (Astrea Central)" userId="e4577f1c-a0ea-4eef-9851-9bdbe8619e58" providerId="ADAL" clId="{4B326657-257C-410C-AF64-A56A5377F265}" dt="2025-08-06T13:23:31.317" v="1" actId="47"/>
        <pc:sldMkLst>
          <pc:docMk/>
          <pc:sldMk cId="151953142" sldId="963"/>
        </pc:sldMkLst>
      </pc:sldChg>
      <pc:sldChg chg="del">
        <pc:chgData name="Adam Brown (Astrea Central)" userId="e4577f1c-a0ea-4eef-9851-9bdbe8619e58" providerId="ADAL" clId="{4B326657-257C-410C-AF64-A56A5377F265}" dt="2025-08-06T13:23:31.317" v="1" actId="47"/>
        <pc:sldMkLst>
          <pc:docMk/>
          <pc:sldMk cId="3651128130" sldId="964"/>
        </pc:sldMkLst>
      </pc:sldChg>
      <pc:sldChg chg="del">
        <pc:chgData name="Adam Brown (Astrea Central)" userId="e4577f1c-a0ea-4eef-9851-9bdbe8619e58" providerId="ADAL" clId="{4B326657-257C-410C-AF64-A56A5377F265}" dt="2025-08-06T13:23:31.317" v="1" actId="47"/>
        <pc:sldMkLst>
          <pc:docMk/>
          <pc:sldMk cId="2962015683" sldId="967"/>
        </pc:sldMkLst>
      </pc:sldChg>
      <pc:sldChg chg="del">
        <pc:chgData name="Adam Brown (Astrea Central)" userId="e4577f1c-a0ea-4eef-9851-9bdbe8619e58" providerId="ADAL" clId="{4B326657-257C-410C-AF64-A56A5377F265}" dt="2025-08-06T13:23:31.317" v="1" actId="47"/>
        <pc:sldMkLst>
          <pc:docMk/>
          <pc:sldMk cId="8561353" sldId="968"/>
        </pc:sldMkLst>
      </pc:sldChg>
      <pc:sldChg chg="del">
        <pc:chgData name="Adam Brown (Astrea Central)" userId="e4577f1c-a0ea-4eef-9851-9bdbe8619e58" providerId="ADAL" clId="{4B326657-257C-410C-AF64-A56A5377F265}" dt="2025-08-06T13:23:31.317" v="1" actId="47"/>
        <pc:sldMkLst>
          <pc:docMk/>
          <pc:sldMk cId="3956224976" sldId="971"/>
        </pc:sldMkLst>
      </pc:sldChg>
      <pc:sldChg chg="del">
        <pc:chgData name="Adam Brown (Astrea Central)" userId="e4577f1c-a0ea-4eef-9851-9bdbe8619e58" providerId="ADAL" clId="{4B326657-257C-410C-AF64-A56A5377F265}" dt="2025-08-06T13:23:31.317" v="1" actId="47"/>
        <pc:sldMkLst>
          <pc:docMk/>
          <pc:sldMk cId="4031722019" sldId="972"/>
        </pc:sldMkLst>
      </pc:sldChg>
      <pc:sldChg chg="del">
        <pc:chgData name="Adam Brown (Astrea Central)" userId="e4577f1c-a0ea-4eef-9851-9bdbe8619e58" providerId="ADAL" clId="{4B326657-257C-410C-AF64-A56A5377F265}" dt="2025-08-06T13:23:31.317" v="1" actId="47"/>
        <pc:sldMkLst>
          <pc:docMk/>
          <pc:sldMk cId="396356508" sldId="974"/>
        </pc:sldMkLst>
      </pc:sldChg>
      <pc:sldChg chg="del">
        <pc:chgData name="Adam Brown (Astrea Central)" userId="e4577f1c-a0ea-4eef-9851-9bdbe8619e58" providerId="ADAL" clId="{4B326657-257C-410C-AF64-A56A5377F265}" dt="2025-08-06T13:23:31.317" v="1" actId="47"/>
        <pc:sldMkLst>
          <pc:docMk/>
          <pc:sldMk cId="3752120071" sldId="979"/>
        </pc:sldMkLst>
      </pc:sldChg>
      <pc:sldChg chg="del">
        <pc:chgData name="Adam Brown (Astrea Central)" userId="e4577f1c-a0ea-4eef-9851-9bdbe8619e58" providerId="ADAL" clId="{4B326657-257C-410C-AF64-A56A5377F265}" dt="2025-08-06T13:23:31.317" v="1" actId="47"/>
        <pc:sldMkLst>
          <pc:docMk/>
          <pc:sldMk cId="4195919322" sldId="981"/>
        </pc:sldMkLst>
      </pc:sldChg>
      <pc:sldChg chg="del">
        <pc:chgData name="Adam Brown (Astrea Central)" userId="e4577f1c-a0ea-4eef-9851-9bdbe8619e58" providerId="ADAL" clId="{4B326657-257C-410C-AF64-A56A5377F265}" dt="2025-08-06T13:23:31.317" v="1" actId="47"/>
        <pc:sldMkLst>
          <pc:docMk/>
          <pc:sldMk cId="2599061422" sldId="982"/>
        </pc:sldMkLst>
      </pc:sldChg>
      <pc:sldChg chg="del">
        <pc:chgData name="Adam Brown (Astrea Central)" userId="e4577f1c-a0ea-4eef-9851-9bdbe8619e58" providerId="ADAL" clId="{4B326657-257C-410C-AF64-A56A5377F265}" dt="2025-08-06T13:23:31.317" v="1" actId="47"/>
        <pc:sldMkLst>
          <pc:docMk/>
          <pc:sldMk cId="1696658123" sldId="985"/>
        </pc:sldMkLst>
      </pc:sldChg>
      <pc:sldChg chg="del">
        <pc:chgData name="Adam Brown (Astrea Central)" userId="e4577f1c-a0ea-4eef-9851-9bdbe8619e58" providerId="ADAL" clId="{4B326657-257C-410C-AF64-A56A5377F265}" dt="2025-08-06T13:23:31.317" v="1" actId="47"/>
        <pc:sldMkLst>
          <pc:docMk/>
          <pc:sldMk cId="1328723957" sldId="987"/>
        </pc:sldMkLst>
      </pc:sldChg>
      <pc:sldChg chg="del">
        <pc:chgData name="Adam Brown (Astrea Central)" userId="e4577f1c-a0ea-4eef-9851-9bdbe8619e58" providerId="ADAL" clId="{4B326657-257C-410C-AF64-A56A5377F265}" dt="2025-08-06T13:23:31.317" v="1" actId="47"/>
        <pc:sldMkLst>
          <pc:docMk/>
          <pc:sldMk cId="1206986322" sldId="988"/>
        </pc:sldMkLst>
      </pc:sldChg>
      <pc:sldChg chg="del">
        <pc:chgData name="Adam Brown (Astrea Central)" userId="e4577f1c-a0ea-4eef-9851-9bdbe8619e58" providerId="ADAL" clId="{4B326657-257C-410C-AF64-A56A5377F265}" dt="2025-08-06T13:23:31.317" v="1" actId="47"/>
        <pc:sldMkLst>
          <pc:docMk/>
          <pc:sldMk cId="1594028101" sldId="989"/>
        </pc:sldMkLst>
      </pc:sldChg>
      <pc:sldChg chg="del">
        <pc:chgData name="Adam Brown (Astrea Central)" userId="e4577f1c-a0ea-4eef-9851-9bdbe8619e58" providerId="ADAL" clId="{4B326657-257C-410C-AF64-A56A5377F265}" dt="2025-08-06T13:23:31.317" v="1" actId="47"/>
        <pc:sldMkLst>
          <pc:docMk/>
          <pc:sldMk cId="2219029894" sldId="990"/>
        </pc:sldMkLst>
      </pc:sldChg>
      <pc:sldChg chg="del">
        <pc:chgData name="Adam Brown (Astrea Central)" userId="e4577f1c-a0ea-4eef-9851-9bdbe8619e58" providerId="ADAL" clId="{4B326657-257C-410C-AF64-A56A5377F265}" dt="2025-08-06T13:23:31.317" v="1" actId="47"/>
        <pc:sldMkLst>
          <pc:docMk/>
          <pc:sldMk cId="1135025790" sldId="1162"/>
        </pc:sldMkLst>
      </pc:sldChg>
      <pc:sldChg chg="del">
        <pc:chgData name="Adam Brown (Astrea Central)" userId="e4577f1c-a0ea-4eef-9851-9bdbe8619e58" providerId="ADAL" clId="{4B326657-257C-410C-AF64-A56A5377F265}" dt="2025-08-06T13:23:31.317" v="1" actId="47"/>
        <pc:sldMkLst>
          <pc:docMk/>
          <pc:sldMk cId="863086105" sldId="1163"/>
        </pc:sldMkLst>
      </pc:sldChg>
      <pc:sldChg chg="del">
        <pc:chgData name="Adam Brown (Astrea Central)" userId="e4577f1c-a0ea-4eef-9851-9bdbe8619e58" providerId="ADAL" clId="{4B326657-257C-410C-AF64-A56A5377F265}" dt="2025-08-06T13:23:31.317" v="1" actId="47"/>
        <pc:sldMkLst>
          <pc:docMk/>
          <pc:sldMk cId="1779407553" sldId="1173"/>
        </pc:sldMkLst>
      </pc:sldChg>
      <pc:sldChg chg="del">
        <pc:chgData name="Adam Brown (Astrea Central)" userId="e4577f1c-a0ea-4eef-9851-9bdbe8619e58" providerId="ADAL" clId="{4B326657-257C-410C-AF64-A56A5377F265}" dt="2025-08-06T13:22:58.356" v="0" actId="47"/>
        <pc:sldMkLst>
          <pc:docMk/>
          <pc:sldMk cId="933153135" sldId="2728"/>
        </pc:sldMkLst>
      </pc:sldChg>
      <pc:sldChg chg="del">
        <pc:chgData name="Adam Brown (Astrea Central)" userId="e4577f1c-a0ea-4eef-9851-9bdbe8619e58" providerId="ADAL" clId="{4B326657-257C-410C-AF64-A56A5377F265}" dt="2025-08-06T13:23:31.317" v="1" actId="47"/>
        <pc:sldMkLst>
          <pc:docMk/>
          <pc:sldMk cId="1894790025" sldId="2730"/>
        </pc:sldMkLst>
      </pc:sldChg>
      <pc:sldChg chg="del">
        <pc:chgData name="Adam Brown (Astrea Central)" userId="e4577f1c-a0ea-4eef-9851-9bdbe8619e58" providerId="ADAL" clId="{4B326657-257C-410C-AF64-A56A5377F265}" dt="2025-08-06T13:23:31.317" v="1" actId="47"/>
        <pc:sldMkLst>
          <pc:docMk/>
          <pc:sldMk cId="3800818377" sldId="2731"/>
        </pc:sldMkLst>
      </pc:sldChg>
      <pc:sldChg chg="del">
        <pc:chgData name="Adam Brown (Astrea Central)" userId="e4577f1c-a0ea-4eef-9851-9bdbe8619e58" providerId="ADAL" clId="{4B326657-257C-410C-AF64-A56A5377F265}" dt="2025-08-06T13:23:31.317" v="1" actId="47"/>
        <pc:sldMkLst>
          <pc:docMk/>
          <pc:sldMk cId="2522769965" sldId="2732"/>
        </pc:sldMkLst>
      </pc:sldChg>
      <pc:sldChg chg="del">
        <pc:chgData name="Adam Brown (Astrea Central)" userId="e4577f1c-a0ea-4eef-9851-9bdbe8619e58" providerId="ADAL" clId="{4B326657-257C-410C-AF64-A56A5377F265}" dt="2025-08-06T13:23:31.317" v="1" actId="47"/>
        <pc:sldMkLst>
          <pc:docMk/>
          <pc:sldMk cId="1710446999" sldId="2733"/>
        </pc:sldMkLst>
      </pc:sldChg>
      <pc:sldChg chg="del">
        <pc:chgData name="Adam Brown (Astrea Central)" userId="e4577f1c-a0ea-4eef-9851-9bdbe8619e58" providerId="ADAL" clId="{4B326657-257C-410C-AF64-A56A5377F265}" dt="2025-08-06T13:23:31.317" v="1" actId="47"/>
        <pc:sldMkLst>
          <pc:docMk/>
          <pc:sldMk cId="2556719208" sldId="2734"/>
        </pc:sldMkLst>
      </pc:sldChg>
      <pc:sldChg chg="del">
        <pc:chgData name="Adam Brown (Astrea Central)" userId="e4577f1c-a0ea-4eef-9851-9bdbe8619e58" providerId="ADAL" clId="{4B326657-257C-410C-AF64-A56A5377F265}" dt="2025-08-06T13:23:31.317" v="1" actId="47"/>
        <pc:sldMkLst>
          <pc:docMk/>
          <pc:sldMk cId="3087637966" sldId="2738"/>
        </pc:sldMkLst>
      </pc:sldChg>
      <pc:sldChg chg="del">
        <pc:chgData name="Adam Brown (Astrea Central)" userId="e4577f1c-a0ea-4eef-9851-9bdbe8619e58" providerId="ADAL" clId="{4B326657-257C-410C-AF64-A56A5377F265}" dt="2025-08-06T13:23:31.317" v="1" actId="47"/>
        <pc:sldMkLst>
          <pc:docMk/>
          <pc:sldMk cId="1083040939" sldId="2740"/>
        </pc:sldMkLst>
      </pc:sldChg>
      <pc:sldChg chg="del">
        <pc:chgData name="Adam Brown (Astrea Central)" userId="e4577f1c-a0ea-4eef-9851-9bdbe8619e58" providerId="ADAL" clId="{4B326657-257C-410C-AF64-A56A5377F265}" dt="2025-08-06T13:23:31.317" v="1" actId="47"/>
        <pc:sldMkLst>
          <pc:docMk/>
          <pc:sldMk cId="2874314852" sldId="2742"/>
        </pc:sldMkLst>
      </pc:sldChg>
      <pc:sldChg chg="del">
        <pc:chgData name="Adam Brown (Astrea Central)" userId="e4577f1c-a0ea-4eef-9851-9bdbe8619e58" providerId="ADAL" clId="{4B326657-257C-410C-AF64-A56A5377F265}" dt="2025-08-06T13:23:31.317" v="1" actId="47"/>
        <pc:sldMkLst>
          <pc:docMk/>
          <pc:sldMk cId="623754354" sldId="2743"/>
        </pc:sldMkLst>
      </pc:sldChg>
      <pc:sldChg chg="del">
        <pc:chgData name="Adam Brown (Astrea Central)" userId="e4577f1c-a0ea-4eef-9851-9bdbe8619e58" providerId="ADAL" clId="{4B326657-257C-410C-AF64-A56A5377F265}" dt="2025-08-06T13:23:31.317" v="1" actId="47"/>
        <pc:sldMkLst>
          <pc:docMk/>
          <pc:sldMk cId="953605078" sldId="2745"/>
        </pc:sldMkLst>
      </pc:sldChg>
      <pc:sldChg chg="del">
        <pc:chgData name="Adam Brown (Astrea Central)" userId="e4577f1c-a0ea-4eef-9851-9bdbe8619e58" providerId="ADAL" clId="{4B326657-257C-410C-AF64-A56A5377F265}" dt="2025-08-06T13:23:31.317" v="1" actId="47"/>
        <pc:sldMkLst>
          <pc:docMk/>
          <pc:sldMk cId="1123673023" sldId="2747"/>
        </pc:sldMkLst>
      </pc:sldChg>
      <pc:sldChg chg="del">
        <pc:chgData name="Adam Brown (Astrea Central)" userId="e4577f1c-a0ea-4eef-9851-9bdbe8619e58" providerId="ADAL" clId="{4B326657-257C-410C-AF64-A56A5377F265}" dt="2025-08-06T13:23:31.317" v="1" actId="47"/>
        <pc:sldMkLst>
          <pc:docMk/>
          <pc:sldMk cId="2554891542" sldId="2748"/>
        </pc:sldMkLst>
      </pc:sldChg>
      <pc:sldChg chg="del">
        <pc:chgData name="Adam Brown (Astrea Central)" userId="e4577f1c-a0ea-4eef-9851-9bdbe8619e58" providerId="ADAL" clId="{4B326657-257C-410C-AF64-A56A5377F265}" dt="2025-08-06T13:23:31.317" v="1" actId="47"/>
        <pc:sldMkLst>
          <pc:docMk/>
          <pc:sldMk cId="148444291" sldId="2749"/>
        </pc:sldMkLst>
      </pc:sldChg>
      <pc:sldChg chg="del">
        <pc:chgData name="Adam Brown (Astrea Central)" userId="e4577f1c-a0ea-4eef-9851-9bdbe8619e58" providerId="ADAL" clId="{4B326657-257C-410C-AF64-A56A5377F265}" dt="2025-08-06T13:23:31.317" v="1" actId="47"/>
        <pc:sldMkLst>
          <pc:docMk/>
          <pc:sldMk cId="594926883" sldId="2754"/>
        </pc:sldMkLst>
      </pc:sldChg>
      <pc:sldChg chg="del">
        <pc:chgData name="Adam Brown (Astrea Central)" userId="e4577f1c-a0ea-4eef-9851-9bdbe8619e58" providerId="ADAL" clId="{4B326657-257C-410C-AF64-A56A5377F265}" dt="2025-08-06T13:23:31.317" v="1" actId="47"/>
        <pc:sldMkLst>
          <pc:docMk/>
          <pc:sldMk cId="450469358" sldId="2755"/>
        </pc:sldMkLst>
      </pc:sldChg>
      <pc:sldChg chg="del">
        <pc:chgData name="Adam Brown (Astrea Central)" userId="e4577f1c-a0ea-4eef-9851-9bdbe8619e58" providerId="ADAL" clId="{4B326657-257C-410C-AF64-A56A5377F265}" dt="2025-08-06T13:23:31.317" v="1" actId="47"/>
        <pc:sldMkLst>
          <pc:docMk/>
          <pc:sldMk cId="1755945383" sldId="2756"/>
        </pc:sldMkLst>
      </pc:sldChg>
      <pc:sldChg chg="del">
        <pc:chgData name="Adam Brown (Astrea Central)" userId="e4577f1c-a0ea-4eef-9851-9bdbe8619e58" providerId="ADAL" clId="{4B326657-257C-410C-AF64-A56A5377F265}" dt="2025-08-06T13:23:31.317" v="1" actId="47"/>
        <pc:sldMkLst>
          <pc:docMk/>
          <pc:sldMk cId="625410266" sldId="2757"/>
        </pc:sldMkLst>
      </pc:sldChg>
      <pc:sldChg chg="del">
        <pc:chgData name="Adam Brown (Astrea Central)" userId="e4577f1c-a0ea-4eef-9851-9bdbe8619e58" providerId="ADAL" clId="{4B326657-257C-410C-AF64-A56A5377F265}" dt="2025-08-06T13:23:31.317" v="1" actId="47"/>
        <pc:sldMkLst>
          <pc:docMk/>
          <pc:sldMk cId="2102929360" sldId="275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BD887872-9236-460B-BC2A-E44A8AC6C1EB}" type="datetimeFigureOut">
              <a:rPr lang="en-GB" smtClean="0"/>
              <a:t>06/08/2025</a:t>
            </a:fld>
            <a:endParaRPr lang="en-GB"/>
          </a:p>
        </p:txBody>
      </p:sp>
      <p:sp>
        <p:nvSpPr>
          <p:cNvPr id="4" name="Slide Image Placeholder 3"/>
          <p:cNvSpPr>
            <a:spLocks noGrp="1" noRot="1" noChangeAspect="1"/>
          </p:cNvSpPr>
          <p:nvPr>
            <p:ph type="sldImg" idx="2"/>
          </p:nvPr>
        </p:nvSpPr>
        <p:spPr>
          <a:xfrm>
            <a:off x="2239963" y="1241425"/>
            <a:ext cx="2317750"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A65AC23A-D8C2-4808-8C51-A2299E24BAA4}" type="slidenum">
              <a:rPr lang="en-GB" smtClean="0"/>
              <a:t>‹#›</a:t>
            </a:fld>
            <a:endParaRPr lang="en-GB"/>
          </a:p>
        </p:txBody>
      </p:sp>
    </p:spTree>
    <p:extLst>
      <p:ext uri="{BB962C8B-B14F-4D97-AF65-F5344CB8AC3E}">
        <p14:creationId xmlns:p14="http://schemas.microsoft.com/office/powerpoint/2010/main" val="3461726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C36645BB-F530-4C6B-ABAE-E32F8A251980}" type="datetime1">
              <a:rPr lang="en-GB" smtClean="0"/>
              <a:t>06/08/2025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28686962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0EDB0C-8CB1-4E4B-A7D2-72D1E989F74F}" type="datetime1">
              <a:rPr lang="en-GB" smtClean="0"/>
              <a:t>06/08/2025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3628738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418B7CF-AD3A-412E-A236-AD334123F5DC}" type="datetime1">
              <a:rPr lang="en-GB" smtClean="0"/>
              <a:t>06/08/2025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2965247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71488"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71863"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5F8CF75-DE73-4975-8438-DCC60FF5A9C7}" type="datetime1">
              <a:rPr lang="en-GB" smtClean="0"/>
              <a:t>06/08/2025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1642259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FD433DA-9DCC-4C1C-BE87-1B843446F1E2}" type="datetime1">
              <a:rPr lang="en-GB" smtClean="0"/>
              <a:t>06/08/2025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660260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036B931-B1B4-4301-9FA3-4AC76251F969}" type="datetime1">
              <a:rPr lang="en-GB" smtClean="0"/>
              <a:t>06/08/2025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4160737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4EB317-EAB0-4C19-A195-2782EA19078C}" type="datetime1">
              <a:rPr lang="en-GB" smtClean="0"/>
              <a:t>06/08/2025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377690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EEE7F5A2-2F3B-430C-BD43-6D2323C7CD6A}" type="datetime1">
              <a:rPr lang="en-GB" smtClean="0"/>
              <a:t>06/08/2025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1032427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3D6AD09F-1297-4193-9BA9-680759B76EE0}" type="datetime1">
              <a:rPr lang="en-GB" smtClean="0"/>
              <a:t>06/08/2025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3235885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8ED7873-3A83-4840-BD06-EB3A5B53B6DA}" type="datetime1">
              <a:rPr lang="en-GB" smtClean="0"/>
              <a:t>06/08/2025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21302779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E7EED6-F9AB-4871-A4A9-4EB7B43E5F99}" type="datetime1">
              <a:rPr lang="en-GB" smtClean="0"/>
              <a:t>06/08/2025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BD3B4A0-BFF9-422C-B253-48BA94BE2F5B}" type="slidenum">
              <a:rPr lang="en-GB" smtClean="0"/>
              <a:t>‹#›</a:t>
            </a:fld>
            <a:endParaRPr lang="en-GB"/>
          </a:p>
        </p:txBody>
      </p:sp>
    </p:spTree>
    <p:extLst>
      <p:ext uri="{BB962C8B-B14F-4D97-AF65-F5344CB8AC3E}">
        <p14:creationId xmlns:p14="http://schemas.microsoft.com/office/powerpoint/2010/main" val="1883891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80118337-BCAC-4A6B-9508-65A0DEBA7F58}" type="datetime1">
              <a:rPr lang="en-GB" smtClean="0"/>
              <a:t>06/08/2025</a:t>
            </a:fld>
            <a:endParaRPr lang="en-GB"/>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9BD3B4A0-BFF9-422C-B253-48BA94BE2F5B}" type="slidenum">
              <a:rPr lang="en-GB" smtClean="0"/>
              <a:t>‹#›</a:t>
            </a:fld>
            <a:endParaRPr lang="en-GB"/>
          </a:p>
        </p:txBody>
      </p:sp>
    </p:spTree>
    <p:extLst>
      <p:ext uri="{BB962C8B-B14F-4D97-AF65-F5344CB8AC3E}">
        <p14:creationId xmlns:p14="http://schemas.microsoft.com/office/powerpoint/2010/main" val="28197563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9" Type="http://schemas.openxmlformats.org/officeDocument/2006/relationships/image" Target="../media/image14.png"/></Relationships>
</file>

<file path=ppt/slides/_rels/slide2.xml.rels><?xml version="1.0" encoding="UTF-8" standalone="yes"?>
<Relationships xmlns="http://schemas.openxmlformats.org/package/2006/relationships"><Relationship Id="rId13" Type="http://schemas.openxmlformats.org/officeDocument/2006/relationships/image" Target="../media/image34.png"/><Relationship Id="rId3" Type="http://schemas.openxmlformats.org/officeDocument/2006/relationships/image" Target="../media/image24.png"/><Relationship Id="rId12" Type="http://schemas.openxmlformats.org/officeDocument/2006/relationships/image" Target="../media/image33.png"/><Relationship Id="rId2" Type="http://schemas.openxmlformats.org/officeDocument/2006/relationships/image" Target="../media/image23.png"/><Relationship Id="rId1" Type="http://schemas.openxmlformats.org/officeDocument/2006/relationships/slideLayout" Target="../slideLayouts/slideLayout7.xml"/><Relationship Id="rId14" Type="http://schemas.openxmlformats.org/officeDocument/2006/relationships/image" Target="../media/image35.png"/></Relationships>
</file>

<file path=ppt/slides/_rels/slide3.xml.rels><?xml version="1.0" encoding="UTF-8" standalone="yes"?>
<Relationships xmlns="http://schemas.openxmlformats.org/package/2006/relationships"><Relationship Id="rId2" Type="http://schemas.openxmlformats.org/officeDocument/2006/relationships/image" Target="../media/image40.png"/><Relationship Id="rId20" Type="http://schemas.openxmlformats.org/officeDocument/2006/relationships/image" Target="../media/image58.png"/><Relationship Id="rId1" Type="http://schemas.openxmlformats.org/officeDocument/2006/relationships/slideLayout" Target="../slideLayouts/slideLayout7.xml"/><Relationship Id="rId15" Type="http://schemas.openxmlformats.org/officeDocument/2006/relationships/image" Target="../media/image53.png"/><Relationship Id="rId19" Type="http://schemas.openxmlformats.org/officeDocument/2006/relationships/image" Target="../media/image57.png"/></Relationships>
</file>

<file path=ppt/slides/_rels/slide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 Id="rId11" Type="http://schemas.openxmlformats.org/officeDocument/2006/relationships/image" Target="../media/image72.png"/></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7.xml"/><Relationship Id="rId4" Type="http://schemas.openxmlformats.org/officeDocument/2006/relationships/image" Target="../media/image95.png"/></Relationships>
</file>

<file path=ppt/slides/_rels/slide7.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5.xml"/><Relationship Id="rId4" Type="http://schemas.openxmlformats.org/officeDocument/2006/relationships/image" Target="../media/image120.png"/></Relationships>
</file>

<file path=ppt/slides/_rels/slide9.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1.png"/><Relationship Id="rId1" Type="http://schemas.openxmlformats.org/officeDocument/2006/relationships/slideLayout" Target="../slideLayouts/slideLayout7.xml"/><Relationship Id="rId4" Type="http://schemas.openxmlformats.org/officeDocument/2006/relationships/image" Target="../media/image133.png"/></Relationships>
</file>

<file path=ppt/slides/_rels/slide10.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141.png"/><Relationship Id="rId1" Type="http://schemas.openxmlformats.org/officeDocument/2006/relationships/slideLayout" Target="../slideLayouts/slideLayout7.xml"/><Relationship Id="rId4" Type="http://schemas.openxmlformats.org/officeDocument/2006/relationships/image" Target="../media/image143.png"/></Relationships>
</file>

<file path=ppt/slides/_rels/slide11.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7.xml"/><Relationship Id="rId6" Type="http://schemas.openxmlformats.org/officeDocument/2006/relationships/image" Target="../media/image155.png"/><Relationship Id="rId10" Type="http://schemas.openxmlformats.org/officeDocument/2006/relationships/image" Target="../media/image159.png"/></Relationships>
</file>

<file path=ppt/slides/_rels/slide12.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60.png"/><Relationship Id="rId1" Type="http://schemas.openxmlformats.org/officeDocument/2006/relationships/slideLayout" Target="../slideLayouts/slideLayout7.xml"/><Relationship Id="rId4" Type="http://schemas.openxmlformats.org/officeDocument/2006/relationships/image" Target="../media/image16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85E66D-A82A-5E65-6FB9-B9726ACE0E17}"/>
              </a:ext>
            </a:extLst>
          </p:cNvPr>
          <p:cNvSpPr>
            <a:spLocks noGrp="1"/>
          </p:cNvSpPr>
          <p:nvPr>
            <p:ph type="sldNum" sz="quarter" idx="12"/>
          </p:nvPr>
        </p:nvSpPr>
        <p:spPr>
          <a:xfrm>
            <a:off x="5281613" y="9476672"/>
            <a:ext cx="1543050" cy="527403"/>
          </a:xfrm>
        </p:spPr>
        <p:txBody>
          <a:bodyPr/>
          <a:lstStyle/>
          <a:p>
            <a:fld id="{086C3A38-D272-42AA-9C88-F1FBEAE20D2C}" type="slidenum">
              <a:rPr lang="en-GB" noProof="0" smtClean="0"/>
              <a:t>1</a:t>
            </a:fld>
            <a:endParaRPr lang="en-GB" noProof="0" dirty="0"/>
          </a:p>
        </p:txBody>
      </p:sp>
      <p:sp>
        <p:nvSpPr>
          <p:cNvPr id="3" name="Rectangle 2">
            <a:extLst>
              <a:ext uri="{FF2B5EF4-FFF2-40B4-BE49-F238E27FC236}">
                <a16:creationId xmlns:a16="http://schemas.microsoft.com/office/drawing/2014/main" id="{352D07C6-173E-D017-2186-3A6FB8D99170}"/>
              </a:ext>
            </a:extLst>
          </p:cNvPr>
          <p:cNvSpPr/>
          <p:nvPr/>
        </p:nvSpPr>
        <p:spPr>
          <a:xfrm>
            <a:off x="0" y="0"/>
            <a:ext cx="6858000" cy="29191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noProof="0" dirty="0">
                <a:solidFill>
                  <a:schemeClr val="bg1"/>
                </a:solidFill>
              </a:rPr>
              <a:t>Subtopic 1 – </a:t>
            </a:r>
            <a:r>
              <a:rPr lang="en-GB" sz="1800" noProof="0" dirty="0">
                <a:effectLst/>
                <a:latin typeface="Calibri" panose="020F0502020204030204" pitchFamily="34" charset="0"/>
                <a:ea typeface="Calibri" panose="020F0502020204030204" pitchFamily="34" charset="0"/>
                <a:cs typeface="Times New Roman" panose="02020603050405020304" pitchFamily="18" charset="0"/>
              </a:rPr>
              <a:t>Rearranging </a:t>
            </a:r>
            <a:r>
              <a:rPr lang="en-GB" noProof="0" dirty="0">
                <a:latin typeface="Calibri" panose="020F0502020204030204" pitchFamily="34" charset="0"/>
                <a:ea typeface="Calibri" panose="020F0502020204030204" pitchFamily="34" charset="0"/>
                <a:cs typeface="Times New Roman" panose="02020603050405020304" pitchFamily="18" charset="0"/>
              </a:rPr>
              <a:t>Formulae/ Changing the Subject</a:t>
            </a:r>
            <a:endParaRPr lang="en-GB" sz="1800" b="0" i="0" noProof="0" dirty="0">
              <a:solidFill>
                <a:schemeClr val="bg1"/>
              </a:solidFill>
              <a:effectLst/>
              <a:latin typeface="Calibri Light" panose="020F0302020204030204" pitchFamily="34" charset="0"/>
              <a:cs typeface="Calibri Light" panose="020F0302020204030204" pitchFamily="34" charset="0"/>
            </a:endParaRPr>
          </a:p>
        </p:txBody>
      </p:sp>
      <p:sp>
        <p:nvSpPr>
          <p:cNvPr id="4" name="Rectangle 3">
            <a:extLst>
              <a:ext uri="{FF2B5EF4-FFF2-40B4-BE49-F238E27FC236}">
                <a16:creationId xmlns:a16="http://schemas.microsoft.com/office/drawing/2014/main" id="{C1A8C59C-55BB-4195-CEE0-9534A7797FB8}"/>
              </a:ext>
            </a:extLst>
          </p:cNvPr>
          <p:cNvSpPr/>
          <p:nvPr/>
        </p:nvSpPr>
        <p:spPr>
          <a:xfrm>
            <a:off x="86108" y="309496"/>
            <a:ext cx="6679742" cy="143539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noProof="0" dirty="0">
              <a:solidFill>
                <a:sysClr val="windowText" lastClr="000000"/>
              </a:solidFill>
            </a:endParaRPr>
          </a:p>
        </p:txBody>
      </p:sp>
      <p:sp>
        <p:nvSpPr>
          <p:cNvPr id="5" name="TextBox 4">
            <a:extLst>
              <a:ext uri="{FF2B5EF4-FFF2-40B4-BE49-F238E27FC236}">
                <a16:creationId xmlns:a16="http://schemas.microsoft.com/office/drawing/2014/main" id="{B2555FA6-7DE2-09C2-0879-F83E13C021EC}"/>
              </a:ext>
            </a:extLst>
          </p:cNvPr>
          <p:cNvSpPr txBox="1"/>
          <p:nvPr/>
        </p:nvSpPr>
        <p:spPr>
          <a:xfrm>
            <a:off x="72062" y="662545"/>
            <a:ext cx="1399768" cy="276999"/>
          </a:xfrm>
          <a:prstGeom prst="rect">
            <a:avLst/>
          </a:prstGeom>
          <a:noFill/>
        </p:spPr>
        <p:txBody>
          <a:bodyPr wrap="square" rtlCol="0">
            <a:spAutoFit/>
          </a:bodyPr>
          <a:lstStyle/>
          <a:p>
            <a:r>
              <a:rPr lang="en-GB" sz="1200" b="1" noProof="0" dirty="0"/>
              <a:t>Objectives:</a:t>
            </a:r>
          </a:p>
        </p:txBody>
      </p:sp>
      <p:sp>
        <p:nvSpPr>
          <p:cNvPr id="6" name="TextBox 5">
            <a:extLst>
              <a:ext uri="{FF2B5EF4-FFF2-40B4-BE49-F238E27FC236}">
                <a16:creationId xmlns:a16="http://schemas.microsoft.com/office/drawing/2014/main" id="{770F93AD-300C-2E56-A8E5-24FACB27BC40}"/>
              </a:ext>
            </a:extLst>
          </p:cNvPr>
          <p:cNvSpPr txBox="1"/>
          <p:nvPr/>
        </p:nvSpPr>
        <p:spPr>
          <a:xfrm>
            <a:off x="85040" y="892150"/>
            <a:ext cx="4667990" cy="646331"/>
          </a:xfrm>
          <a:prstGeom prst="rect">
            <a:avLst/>
          </a:prstGeom>
          <a:noFill/>
        </p:spPr>
        <p:txBody>
          <a:bodyPr wrap="square" rtlCol="0">
            <a:spAutoFit/>
          </a:bodyPr>
          <a:lstStyle/>
          <a:p>
            <a:pPr marL="342900" indent="-342900">
              <a:buFont typeface="+mj-lt"/>
              <a:buAutoNum type="arabicPeriod"/>
            </a:pPr>
            <a:r>
              <a:rPr lang="en-GB" sz="1200" noProof="0" dirty="0"/>
              <a:t>To be able to rearrange formulae with one-step</a:t>
            </a:r>
          </a:p>
          <a:p>
            <a:pPr marL="342900" indent="-342900">
              <a:buFont typeface="+mj-lt"/>
              <a:buAutoNum type="arabicPeriod"/>
            </a:pPr>
            <a:r>
              <a:rPr lang="en-GB" sz="1200" noProof="0" dirty="0"/>
              <a:t>To be able to rearrange formulae with two-steps</a:t>
            </a:r>
          </a:p>
          <a:p>
            <a:pPr marL="342900" indent="-342900">
              <a:buFont typeface="+mj-lt"/>
              <a:buAutoNum type="arabicPeriod"/>
            </a:pPr>
            <a:r>
              <a:rPr lang="en-GB" sz="1200" noProof="0" dirty="0"/>
              <a:t>To be able to rearrange formulae requiring many-steps</a:t>
            </a:r>
          </a:p>
        </p:txBody>
      </p:sp>
      <p:sp>
        <p:nvSpPr>
          <p:cNvPr id="7" name="TextBox 6">
            <a:extLst>
              <a:ext uri="{FF2B5EF4-FFF2-40B4-BE49-F238E27FC236}">
                <a16:creationId xmlns:a16="http://schemas.microsoft.com/office/drawing/2014/main" id="{A5B73CF7-4C62-83DC-56C0-001CE515D437}"/>
              </a:ext>
            </a:extLst>
          </p:cNvPr>
          <p:cNvSpPr txBox="1"/>
          <p:nvPr/>
        </p:nvSpPr>
        <p:spPr>
          <a:xfrm>
            <a:off x="142969" y="356923"/>
            <a:ext cx="6534707" cy="276999"/>
          </a:xfrm>
          <a:prstGeom prst="rect">
            <a:avLst/>
          </a:prstGeom>
          <a:noFill/>
          <a:ln>
            <a:solidFill>
              <a:schemeClr val="tx1"/>
            </a:solidFill>
          </a:ln>
        </p:spPr>
        <p:txBody>
          <a:bodyPr wrap="square" lIns="91440" tIns="45720" rIns="91440" bIns="45720" rtlCol="0" anchor="t">
            <a:spAutoFit/>
          </a:bodyPr>
          <a:lstStyle/>
          <a:p>
            <a:pPr algn="ctr"/>
            <a:r>
              <a:rPr lang="en-GB" sz="1200" noProof="0" dirty="0"/>
              <a:t>LEARNING OUTCOME: To be fluent when rearranging formulae/ changing the subject</a:t>
            </a:r>
          </a:p>
        </p:txBody>
      </p:sp>
      <p:sp>
        <p:nvSpPr>
          <p:cNvPr id="8" name="TextBox 7">
            <a:extLst>
              <a:ext uri="{FF2B5EF4-FFF2-40B4-BE49-F238E27FC236}">
                <a16:creationId xmlns:a16="http://schemas.microsoft.com/office/drawing/2014/main" id="{4656C853-B49D-CF98-B63A-94EA22F60E00}"/>
              </a:ext>
            </a:extLst>
          </p:cNvPr>
          <p:cNvSpPr txBox="1"/>
          <p:nvPr/>
        </p:nvSpPr>
        <p:spPr>
          <a:xfrm>
            <a:off x="5684384" y="671871"/>
            <a:ext cx="986253" cy="1015663"/>
          </a:xfrm>
          <a:prstGeom prst="rect">
            <a:avLst/>
          </a:prstGeom>
          <a:noFill/>
          <a:ln w="12700">
            <a:solidFill>
              <a:schemeClr val="tx1"/>
            </a:solidFill>
          </a:ln>
        </p:spPr>
        <p:txBody>
          <a:bodyPr wrap="square" rtlCol="0">
            <a:spAutoFit/>
          </a:bodyPr>
          <a:lstStyle/>
          <a:p>
            <a:r>
              <a:rPr lang="en-GB" sz="1200" b="1" u="sng" noProof="0" dirty="0"/>
              <a:t>Keywords:</a:t>
            </a:r>
            <a:endParaRPr lang="en-GB" sz="1200" noProof="0" dirty="0"/>
          </a:p>
          <a:p>
            <a:pPr marL="171450" indent="-171450">
              <a:buFontTx/>
              <a:buChar char="-"/>
            </a:pPr>
            <a:r>
              <a:rPr lang="en-GB" sz="1200" noProof="0" dirty="0"/>
              <a:t>Equation</a:t>
            </a:r>
          </a:p>
          <a:p>
            <a:pPr marL="171450" indent="-171450">
              <a:buFontTx/>
              <a:buChar char="-"/>
            </a:pPr>
            <a:r>
              <a:rPr lang="en-GB" sz="1200" noProof="0" dirty="0"/>
              <a:t>Subject</a:t>
            </a:r>
          </a:p>
          <a:p>
            <a:pPr marL="171450" indent="-171450">
              <a:buFontTx/>
              <a:buChar char="-"/>
            </a:pPr>
            <a:r>
              <a:rPr lang="en-GB" sz="1200" noProof="0" dirty="0"/>
              <a:t>Inverse</a:t>
            </a:r>
          </a:p>
          <a:p>
            <a:pPr marL="171450" indent="-171450">
              <a:buFontTx/>
              <a:buChar char="-"/>
            </a:pPr>
            <a:r>
              <a:rPr lang="en-GB" sz="1200" noProof="0" dirty="0"/>
              <a:t>Formulae</a:t>
            </a:r>
          </a:p>
        </p:txBody>
      </p:sp>
      <p:sp>
        <p:nvSpPr>
          <p:cNvPr id="22" name="Rectangle 21">
            <a:extLst>
              <a:ext uri="{FF2B5EF4-FFF2-40B4-BE49-F238E27FC236}">
                <a16:creationId xmlns:a16="http://schemas.microsoft.com/office/drawing/2014/main" id="{D059E010-4849-81D7-F453-10DD73E17728}"/>
              </a:ext>
            </a:extLst>
          </p:cNvPr>
          <p:cNvSpPr/>
          <p:nvPr/>
        </p:nvSpPr>
        <p:spPr>
          <a:xfrm>
            <a:off x="86109" y="1819625"/>
            <a:ext cx="6679742" cy="124983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GB" sz="1200" b="1" noProof="0" dirty="0">
                <a:solidFill>
                  <a:schemeClr val="tx1"/>
                </a:solidFill>
              </a:rPr>
              <a:t>Introduction/Recap </a:t>
            </a:r>
          </a:p>
          <a:p>
            <a:pPr marL="228600" indent="-228600">
              <a:buFont typeface="+mj-lt"/>
              <a:buAutoNum type="arabicPeriod"/>
            </a:pPr>
            <a:r>
              <a:rPr lang="en-GB" sz="1200" noProof="0" dirty="0">
                <a:solidFill>
                  <a:schemeClr val="tx1"/>
                </a:solidFill>
              </a:rPr>
              <a:t>Rearranging formulae is a lot like solving equations—you still use inverse operations on both sides to</a:t>
            </a:r>
          </a:p>
          <a:p>
            <a:pPr marL="228600" indent="-228600">
              <a:buFont typeface="+mj-lt"/>
              <a:buAutoNum type="arabicPeriod"/>
            </a:pPr>
            <a:r>
              <a:rPr lang="en-GB" sz="1200" noProof="0" dirty="0">
                <a:solidFill>
                  <a:schemeClr val="tx1"/>
                </a:solidFill>
              </a:rPr>
              <a:t>keep things balanced. The difference is, instead of finding a number, you're working to make a</a:t>
            </a:r>
          </a:p>
          <a:p>
            <a:pPr marL="228600" indent="-228600">
              <a:buFont typeface="+mj-lt"/>
              <a:buAutoNum type="arabicPeriod"/>
            </a:pPr>
            <a:r>
              <a:rPr lang="en-GB" sz="1200" noProof="0" dirty="0">
                <a:solidFill>
                  <a:schemeClr val="tx1"/>
                </a:solidFill>
              </a:rPr>
              <a:t>specific variable (called the </a:t>
            </a:r>
            <a:r>
              <a:rPr lang="en-GB" sz="1200" i="1" noProof="0" dirty="0">
                <a:solidFill>
                  <a:schemeClr val="tx1"/>
                </a:solidFill>
              </a:rPr>
              <a:t>subject</a:t>
            </a:r>
            <a:r>
              <a:rPr lang="en-GB" sz="1200" noProof="0" dirty="0">
                <a:solidFill>
                  <a:schemeClr val="tx1"/>
                </a:solidFill>
              </a:rPr>
              <a:t>) stand alone. Making a variable the subject means rewriting the</a:t>
            </a:r>
          </a:p>
          <a:p>
            <a:pPr marL="228600" indent="-228600">
              <a:buFont typeface="+mj-lt"/>
              <a:buAutoNum type="arabicPeriod"/>
            </a:pPr>
            <a:r>
              <a:rPr lang="en-GB" sz="1200" noProof="0" dirty="0">
                <a:solidFill>
                  <a:schemeClr val="tx1"/>
                </a:solidFill>
              </a:rPr>
              <a:t>equation so that it’s isolated on one side, usually the left. This lets you express that variable in terms</a:t>
            </a:r>
          </a:p>
          <a:p>
            <a:pPr marL="228600" indent="-228600">
              <a:buFont typeface="+mj-lt"/>
              <a:buAutoNum type="arabicPeriod"/>
            </a:pPr>
            <a:r>
              <a:rPr lang="en-GB" sz="1200" noProof="0" dirty="0">
                <a:solidFill>
                  <a:schemeClr val="tx1"/>
                </a:solidFill>
              </a:rPr>
              <a:t>of the others. This is sometimes called </a:t>
            </a:r>
            <a:r>
              <a:rPr lang="en-GB" sz="1200" b="1" noProof="0" dirty="0">
                <a:solidFill>
                  <a:schemeClr val="tx1"/>
                </a:solidFill>
              </a:rPr>
              <a:t>changing the subject.</a:t>
            </a:r>
            <a:endParaRPr lang="en-GB" sz="1200" noProof="0" dirty="0">
              <a:solidFill>
                <a:schemeClr val="tx1"/>
              </a:solidFill>
            </a:endParaRPr>
          </a:p>
        </p:txBody>
      </p:sp>
      <p:sp>
        <p:nvSpPr>
          <p:cNvPr id="15" name="Rectangle 14">
            <a:extLst>
              <a:ext uri="{FF2B5EF4-FFF2-40B4-BE49-F238E27FC236}">
                <a16:creationId xmlns:a16="http://schemas.microsoft.com/office/drawing/2014/main" id="{9546560C-03EE-FB7F-947F-F83BE792D7C5}"/>
              </a:ext>
            </a:extLst>
          </p:cNvPr>
          <p:cNvSpPr/>
          <p:nvPr/>
        </p:nvSpPr>
        <p:spPr>
          <a:xfrm>
            <a:off x="86108" y="3144195"/>
            <a:ext cx="6679742" cy="107510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GB" sz="1200" b="1" noProof="0" dirty="0">
                <a:solidFill>
                  <a:schemeClr val="tx1"/>
                </a:solidFill>
              </a:rPr>
              <a:t>Prior Knowledge Quiz – One Step Rearranging</a:t>
            </a:r>
          </a:p>
          <a:p>
            <a:r>
              <a:rPr lang="en-GB" sz="1200" noProof="0" dirty="0">
                <a:solidFill>
                  <a:schemeClr val="tx1"/>
                </a:solidFill>
              </a:rPr>
              <a:t>There are many types of ‘rearranging’ and ‘changing the subject’ questions – they can be simple or get very challenging. The Quiz  on the pages below should be attempted individually, and your teacher will assess how much recapping is needed before you move on to more advanced algebra topics. The later topics generally rely on you being able to rearrange formulae fluently.</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042B01D-59FB-D374-D810-688C53AC78F4}"/>
                  </a:ext>
                </a:extLst>
              </p:cNvPr>
              <p:cNvSpPr txBox="1"/>
              <p:nvPr/>
            </p:nvSpPr>
            <p:spPr>
              <a:xfrm>
                <a:off x="-235732" y="4256768"/>
                <a:ext cx="3646054" cy="276999"/>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Question 1. Make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oMath>
                </a14:m>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the subject of the following:</a:t>
                </a:r>
              </a:p>
            </p:txBody>
          </p:sp>
        </mc:Choice>
        <mc:Fallback xmlns="">
          <p:sp>
            <p:nvSpPr>
              <p:cNvPr id="16" name="TextBox 15">
                <a:extLst>
                  <a:ext uri="{FF2B5EF4-FFF2-40B4-BE49-F238E27FC236}">
                    <a16:creationId xmlns:a16="http://schemas.microsoft.com/office/drawing/2014/main" id="{8042B01D-59FB-D374-D810-688C53AC78F4}"/>
                  </a:ext>
                </a:extLst>
              </p:cNvPr>
              <p:cNvSpPr txBox="1">
                <a:spLocks noRot="1" noChangeAspect="1" noMove="1" noResize="1" noEditPoints="1" noAdjustHandles="1" noChangeArrowheads="1" noChangeShapeType="1" noTextEdit="1"/>
              </p:cNvSpPr>
              <p:nvPr/>
            </p:nvSpPr>
            <p:spPr>
              <a:xfrm>
                <a:off x="-235732" y="4256768"/>
                <a:ext cx="3646054" cy="276999"/>
              </a:xfrm>
              <a:prstGeom prst="rect">
                <a:avLst/>
              </a:prstGeom>
              <a:blipFill>
                <a:blip r:embed="rId2"/>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8" name="Table 17">
                <a:extLst>
                  <a:ext uri="{FF2B5EF4-FFF2-40B4-BE49-F238E27FC236}">
                    <a16:creationId xmlns:a16="http://schemas.microsoft.com/office/drawing/2014/main" id="{6FBE5AC2-90AA-1FC0-ADF6-ACA5BF09F159}"/>
                  </a:ext>
                </a:extLst>
              </p:cNvPr>
              <p:cNvGraphicFramePr>
                <a:graphicFrameLocks noGrp="1"/>
              </p:cNvGraphicFramePr>
              <p:nvPr>
                <p:extLst>
                  <p:ext uri="{D42A27DB-BD31-4B8C-83A1-F6EECF244321}">
                    <p14:modId xmlns:p14="http://schemas.microsoft.com/office/powerpoint/2010/main" val="145065972"/>
                  </p:ext>
                </p:extLst>
              </p:nvPr>
            </p:nvGraphicFramePr>
            <p:xfrm>
              <a:off x="69366" y="4533767"/>
              <a:ext cx="6681912" cy="1404000"/>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3647236309"/>
                        </a:ext>
                      </a:extLst>
                    </a:gridCol>
                    <a:gridCol w="1670478">
                      <a:extLst>
                        <a:ext uri="{9D8B030D-6E8A-4147-A177-3AD203B41FA5}">
                          <a16:colId xmlns:a16="http://schemas.microsoft.com/office/drawing/2014/main" val="2570924096"/>
                        </a:ext>
                      </a:extLst>
                    </a:gridCol>
                    <a:gridCol w="1670478">
                      <a:extLst>
                        <a:ext uri="{9D8B030D-6E8A-4147-A177-3AD203B41FA5}">
                          <a16:colId xmlns:a16="http://schemas.microsoft.com/office/drawing/2014/main" val="416811348"/>
                        </a:ext>
                      </a:extLst>
                    </a:gridCol>
                    <a:gridCol w="1670478">
                      <a:extLst>
                        <a:ext uri="{9D8B030D-6E8A-4147-A177-3AD203B41FA5}">
                          <a16:colId xmlns:a16="http://schemas.microsoft.com/office/drawing/2014/main" val="2813845385"/>
                        </a:ext>
                      </a:extLst>
                    </a:gridCol>
                  </a:tblGrid>
                  <a:tr h="1404000">
                    <a:tc>
                      <a:txBody>
                        <a:bodyPr/>
                        <a:lstStyle/>
                        <a:p>
                          <a:r>
                            <a:rPr lang="en-GB" sz="1200" b="0" noProof="0" dirty="0">
                              <a:solidFill>
                                <a:schemeClr val="tx1"/>
                              </a:solidFill>
                            </a:rPr>
                            <a:t>a)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+2</m:t>
                              </m:r>
                              <m:r>
                                <a:rPr lang="en-GB" sz="1200" b="0" i="1" noProof="0" smtClean="0">
                                  <a:solidFill>
                                    <a:schemeClr val="tx1"/>
                                  </a:solidFill>
                                  <a:latin typeface="Cambria Math" panose="02040503050406030204" pitchFamily="18" charset="0"/>
                                </a:rPr>
                                <m:t>𝑝</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𝑘</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b)</a:t>
                          </a:r>
                          <a14:m>
                            <m:oMath xmlns:m="http://schemas.openxmlformats.org/officeDocument/2006/math">
                              <m:r>
                                <a:rPr kumimoji="0" lang="en-GB" sz="12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12=</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r>
                                <a:rPr lang="en-GB" sz="1200" b="0" i="1" noProof="0" smtClean="0">
                                  <a:latin typeface="Cambria Math" panose="02040503050406030204" pitchFamily="18" charset="0"/>
                                </a:rPr>
                                <m:t>12=</m:t>
                              </m:r>
                              <m:r>
                                <a:rPr lang="en-GB" sz="1200" b="0" i="1" noProof="0" smtClean="0">
                                  <a:latin typeface="Cambria Math" panose="02040503050406030204" pitchFamily="18" charset="0"/>
                                </a:rPr>
                                <m:t>𝑥</m:t>
                              </m:r>
                              <m:r>
                                <a:rPr lang="en-GB" sz="1200" b="0" i="1" noProof="0" smtClean="0">
                                  <a:latin typeface="Cambria Math" panose="02040503050406030204" pitchFamily="18" charset="0"/>
                                </a:rPr>
                                <m:t>−2</m:t>
                              </m:r>
                              <m:r>
                                <a:rPr lang="en-GB" sz="1200" b="0" i="1" noProof="0" smtClean="0">
                                  <a:latin typeface="Cambria Math" panose="02040503050406030204" pitchFamily="18" charset="0"/>
                                </a:rPr>
                                <m:t>𝑦</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c)</a:t>
                          </a:r>
                          <a:r>
                            <a:rPr lang="en-GB" sz="1200" b="0" baseline="0" noProof="0" dirty="0">
                              <a:solidFill>
                                <a:schemeClr val="tx1"/>
                              </a:solidFill>
                            </a:rPr>
                            <a:t>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−12</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d) </a:t>
                          </a:r>
                          <a14:m>
                            <m:oMath xmlns:m="http://schemas.openxmlformats.org/officeDocument/2006/math">
                              <m:f>
                                <m:fPr>
                                  <m:ctrlP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𝑏</m:t>
                                  </m:r>
                                </m:num>
                                <m:den>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den>
                              </m:f>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𝑐</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94583780"/>
                      </a:ext>
                    </a:extLst>
                  </a:tr>
                </a:tbl>
              </a:graphicData>
            </a:graphic>
          </p:graphicFrame>
        </mc:Choice>
        <mc:Fallback xmlns="">
          <p:graphicFrame>
            <p:nvGraphicFramePr>
              <p:cNvPr id="18" name="Table 17">
                <a:extLst>
                  <a:ext uri="{FF2B5EF4-FFF2-40B4-BE49-F238E27FC236}">
                    <a16:creationId xmlns:a16="http://schemas.microsoft.com/office/drawing/2014/main" id="{6FBE5AC2-90AA-1FC0-ADF6-ACA5BF09F159}"/>
                  </a:ext>
                </a:extLst>
              </p:cNvPr>
              <p:cNvGraphicFramePr>
                <a:graphicFrameLocks noGrp="1"/>
              </p:cNvGraphicFramePr>
              <p:nvPr>
                <p:extLst>
                  <p:ext uri="{D42A27DB-BD31-4B8C-83A1-F6EECF244321}">
                    <p14:modId xmlns:p14="http://schemas.microsoft.com/office/powerpoint/2010/main" val="145065972"/>
                  </p:ext>
                </p:extLst>
              </p:nvPr>
            </p:nvGraphicFramePr>
            <p:xfrm>
              <a:off x="69366" y="4533767"/>
              <a:ext cx="6681912" cy="1404000"/>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3647236309"/>
                        </a:ext>
                      </a:extLst>
                    </a:gridCol>
                    <a:gridCol w="1670478">
                      <a:extLst>
                        <a:ext uri="{9D8B030D-6E8A-4147-A177-3AD203B41FA5}">
                          <a16:colId xmlns:a16="http://schemas.microsoft.com/office/drawing/2014/main" val="2570924096"/>
                        </a:ext>
                      </a:extLst>
                    </a:gridCol>
                    <a:gridCol w="1670478">
                      <a:extLst>
                        <a:ext uri="{9D8B030D-6E8A-4147-A177-3AD203B41FA5}">
                          <a16:colId xmlns:a16="http://schemas.microsoft.com/office/drawing/2014/main" val="416811348"/>
                        </a:ext>
                      </a:extLst>
                    </a:gridCol>
                    <a:gridCol w="1670478">
                      <a:extLst>
                        <a:ext uri="{9D8B030D-6E8A-4147-A177-3AD203B41FA5}">
                          <a16:colId xmlns:a16="http://schemas.microsoft.com/office/drawing/2014/main" val="2813845385"/>
                        </a:ext>
                      </a:extLst>
                    </a:gridCol>
                  </a:tblGrid>
                  <a:tr h="1404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5" t="-431" r="-301095" b="-86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000" t="-431" r="-200000" b="-86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730" t="-431" r="-100730" b="-86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730" t="-431" r="-730" b="-862"/>
                          </a:stretch>
                        </a:blipFill>
                      </a:tcPr>
                    </a:tc>
                    <a:extLst>
                      <a:ext uri="{0D108BD9-81ED-4DB2-BD59-A6C34878D82A}">
                        <a16:rowId xmlns:a16="http://schemas.microsoft.com/office/drawing/2014/main" val="289458378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6" name="Table 35">
                <a:extLst>
                  <a:ext uri="{FF2B5EF4-FFF2-40B4-BE49-F238E27FC236}">
                    <a16:creationId xmlns:a16="http://schemas.microsoft.com/office/drawing/2014/main" id="{325563D0-6FE8-F033-5BD9-AF2F93CC60D0}"/>
                  </a:ext>
                </a:extLst>
              </p:cNvPr>
              <p:cNvGraphicFramePr>
                <a:graphicFrameLocks noGrp="1"/>
              </p:cNvGraphicFramePr>
              <p:nvPr>
                <p:extLst>
                  <p:ext uri="{D42A27DB-BD31-4B8C-83A1-F6EECF244321}">
                    <p14:modId xmlns:p14="http://schemas.microsoft.com/office/powerpoint/2010/main" val="3157636022"/>
                  </p:ext>
                </p:extLst>
              </p:nvPr>
            </p:nvGraphicFramePr>
            <p:xfrm>
              <a:off x="99615" y="6436490"/>
              <a:ext cx="6681912" cy="3040182"/>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3873491915"/>
                        </a:ext>
                      </a:extLst>
                    </a:gridCol>
                    <a:gridCol w="1670478">
                      <a:extLst>
                        <a:ext uri="{9D8B030D-6E8A-4147-A177-3AD203B41FA5}">
                          <a16:colId xmlns:a16="http://schemas.microsoft.com/office/drawing/2014/main" val="2475474767"/>
                        </a:ext>
                      </a:extLst>
                    </a:gridCol>
                    <a:gridCol w="1670478">
                      <a:extLst>
                        <a:ext uri="{9D8B030D-6E8A-4147-A177-3AD203B41FA5}">
                          <a16:colId xmlns:a16="http://schemas.microsoft.com/office/drawing/2014/main" val="1424946353"/>
                        </a:ext>
                      </a:extLst>
                    </a:gridCol>
                    <a:gridCol w="1670478">
                      <a:extLst>
                        <a:ext uri="{9D8B030D-6E8A-4147-A177-3AD203B41FA5}">
                          <a16:colId xmlns:a16="http://schemas.microsoft.com/office/drawing/2014/main" val="3283084615"/>
                        </a:ext>
                      </a:extLst>
                    </a:gridCol>
                  </a:tblGrid>
                  <a:tr h="1520091">
                    <a:tc>
                      <a:txBody>
                        <a:bodyPr/>
                        <a:lstStyle/>
                        <a:p>
                          <a:r>
                            <a:rPr lang="en-GB" sz="1200" b="0" noProof="0" dirty="0">
                              <a:solidFill>
                                <a:schemeClr val="tx1"/>
                              </a:solidFill>
                            </a:rPr>
                            <a:t>a) </a:t>
                          </a:r>
                          <a14:m>
                            <m:oMath xmlns:m="http://schemas.openxmlformats.org/officeDocument/2006/math">
                              <m:r>
                                <a:rPr lang="en-GB" sz="1200" b="0" i="1" noProof="0" smtClean="0">
                                  <a:solidFill>
                                    <a:schemeClr val="tx1"/>
                                  </a:solidFill>
                                  <a:latin typeface="Cambria Math" panose="02040503050406030204" pitchFamily="18" charset="0"/>
                                </a:rPr>
                                <m:t>2</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b) </a:t>
                          </a:r>
                          <a14:m>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num>
                                <m:den>
                                  <m:r>
                                    <a:rPr lang="en-GB" sz="1200" b="0" i="1" noProof="0" smtClean="0">
                                      <a:solidFill>
                                        <a:schemeClr val="tx1"/>
                                      </a:solidFill>
                                      <a:latin typeface="Cambria Math" panose="02040503050406030204" pitchFamily="18" charset="0"/>
                                    </a:rPr>
                                    <m:t>2</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c) </a:t>
                          </a:r>
                          <a14:m>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num>
                                <m:den>
                                  <m:r>
                                    <a:rPr lang="en-GB" sz="1200" b="0" i="1" noProof="0" smtClean="0">
                                      <a:solidFill>
                                        <a:schemeClr val="tx1"/>
                                      </a:solidFill>
                                      <a:latin typeface="Cambria Math" panose="02040503050406030204" pitchFamily="18" charset="0"/>
                                    </a:rPr>
                                    <m:t>𝑐</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d) </a:t>
                          </a:r>
                          <a14:m>
                            <m:oMath xmlns:m="http://schemas.openxmlformats.org/officeDocument/2006/math">
                              <m:r>
                                <a:rPr lang="en-GB" sz="1200" b="0" i="1" noProof="0" smtClean="0">
                                  <a:solidFill>
                                    <a:schemeClr val="tx1"/>
                                  </a:solidFill>
                                  <a:latin typeface="Cambria Math" panose="02040503050406030204" pitchFamily="18" charset="0"/>
                                </a:rPr>
                                <m:t>𝑥𝑐</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95669354"/>
                      </a:ext>
                    </a:extLst>
                  </a:tr>
                  <a:tr h="1520091">
                    <a:tc>
                      <a:txBody>
                        <a:bodyPr/>
                        <a:lstStyle/>
                        <a:p>
                          <a:r>
                            <a:rPr lang="en-GB" sz="1200" b="0" noProof="0" dirty="0"/>
                            <a:t>e) </a:t>
                          </a:r>
                          <a14:m>
                            <m:oMath xmlns:m="http://schemas.openxmlformats.org/officeDocument/2006/math">
                              <m:r>
                                <a:rPr lang="en-GB" sz="1200" b="0" i="1" noProof="0" smtClean="0">
                                  <a:latin typeface="Cambria Math" panose="02040503050406030204" pitchFamily="18" charset="0"/>
                                </a:rPr>
                                <m:t>𝑎𝑏</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𝑐𝑥</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t>f) </a:t>
                          </a:r>
                          <a14:m>
                            <m:oMath xmlns:m="http://schemas.openxmlformats.org/officeDocument/2006/math">
                              <m:r>
                                <a:rPr lang="en-GB" sz="1200" b="0" i="1" noProof="0" smtClean="0">
                                  <a:latin typeface="Cambria Math" panose="02040503050406030204" pitchFamily="18" charset="0"/>
                                </a:rPr>
                                <m:t>𝑎𝑏</m:t>
                              </m:r>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𝑑</m:t>
                                  </m:r>
                                </m:den>
                              </m:f>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t>g)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𝑏𝑐</m:t>
                                  </m:r>
                                </m:den>
                              </m:f>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t>h) </a:t>
                          </a:r>
                          <a14:m>
                            <m:oMath xmlns:m="http://schemas.openxmlformats.org/officeDocument/2006/math">
                              <m:r>
                                <a:rPr lang="en-GB" sz="1200" b="0" i="1" noProof="0" smtClean="0">
                                  <a:latin typeface="Cambria Math" panose="02040503050406030204" pitchFamily="18" charset="0"/>
                                </a:rPr>
                                <m:t>𝑚𝑥</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𝑤</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𝑞</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49249069"/>
                      </a:ext>
                    </a:extLst>
                  </a:tr>
                </a:tbl>
              </a:graphicData>
            </a:graphic>
          </p:graphicFrame>
        </mc:Choice>
        <mc:Fallback xmlns="">
          <p:graphicFrame>
            <p:nvGraphicFramePr>
              <p:cNvPr id="36" name="Table 35">
                <a:extLst>
                  <a:ext uri="{FF2B5EF4-FFF2-40B4-BE49-F238E27FC236}">
                    <a16:creationId xmlns:a16="http://schemas.microsoft.com/office/drawing/2014/main" id="{325563D0-6FE8-F033-5BD9-AF2F93CC60D0}"/>
                  </a:ext>
                </a:extLst>
              </p:cNvPr>
              <p:cNvGraphicFramePr>
                <a:graphicFrameLocks noGrp="1"/>
              </p:cNvGraphicFramePr>
              <p:nvPr>
                <p:extLst>
                  <p:ext uri="{D42A27DB-BD31-4B8C-83A1-F6EECF244321}">
                    <p14:modId xmlns:p14="http://schemas.microsoft.com/office/powerpoint/2010/main" val="3157636022"/>
                  </p:ext>
                </p:extLst>
              </p:nvPr>
            </p:nvGraphicFramePr>
            <p:xfrm>
              <a:off x="99615" y="6436490"/>
              <a:ext cx="6681912" cy="3040182"/>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3873491915"/>
                        </a:ext>
                      </a:extLst>
                    </a:gridCol>
                    <a:gridCol w="1670478">
                      <a:extLst>
                        <a:ext uri="{9D8B030D-6E8A-4147-A177-3AD203B41FA5}">
                          <a16:colId xmlns:a16="http://schemas.microsoft.com/office/drawing/2014/main" val="2475474767"/>
                        </a:ext>
                      </a:extLst>
                    </a:gridCol>
                    <a:gridCol w="1670478">
                      <a:extLst>
                        <a:ext uri="{9D8B030D-6E8A-4147-A177-3AD203B41FA5}">
                          <a16:colId xmlns:a16="http://schemas.microsoft.com/office/drawing/2014/main" val="1424946353"/>
                        </a:ext>
                      </a:extLst>
                    </a:gridCol>
                    <a:gridCol w="1670478">
                      <a:extLst>
                        <a:ext uri="{9D8B030D-6E8A-4147-A177-3AD203B41FA5}">
                          <a16:colId xmlns:a16="http://schemas.microsoft.com/office/drawing/2014/main" val="3283084615"/>
                        </a:ext>
                      </a:extLst>
                    </a:gridCol>
                  </a:tblGrid>
                  <a:tr h="1520091">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365" t="-400" r="-301095" b="-1008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0000" t="-400" r="-200000" b="-1008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00730" t="-400" r="-100730" b="-1008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300730" t="-400" r="-730" b="-100800"/>
                          </a:stretch>
                        </a:blipFill>
                      </a:tcPr>
                    </a:tc>
                    <a:extLst>
                      <a:ext uri="{0D108BD9-81ED-4DB2-BD59-A6C34878D82A}">
                        <a16:rowId xmlns:a16="http://schemas.microsoft.com/office/drawing/2014/main" val="495669354"/>
                      </a:ext>
                    </a:extLst>
                  </a:tr>
                  <a:tr h="1520091">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365" t="-100400" r="-301095" b="-8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0000" t="-100400" r="-200000" b="-8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00730" t="-100400" r="-100730" b="-8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300730" t="-100400" r="-730" b="-800"/>
                          </a:stretch>
                        </a:blipFill>
                      </a:tcPr>
                    </a:tc>
                    <a:extLst>
                      <a:ext uri="{0D108BD9-81ED-4DB2-BD59-A6C34878D82A}">
                        <a16:rowId xmlns:a16="http://schemas.microsoft.com/office/drawing/2014/main" val="449249069"/>
                      </a:ext>
                    </a:extLst>
                  </a:tr>
                </a:tbl>
              </a:graphicData>
            </a:graphic>
          </p:graphicFrame>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834B110D-5E3E-4BC5-50FC-3A3CB287BAD6}"/>
                  </a:ext>
                </a:extLst>
              </p:cNvPr>
              <p:cNvSpPr txBox="1"/>
              <p:nvPr/>
            </p:nvSpPr>
            <p:spPr>
              <a:xfrm>
                <a:off x="-220075" y="6126721"/>
                <a:ext cx="3646054" cy="276999"/>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Question 2. Make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oMath>
                </a14:m>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the subject of the following:</a:t>
                </a:r>
              </a:p>
            </p:txBody>
          </p:sp>
        </mc:Choice>
        <mc:Fallback xmlns="">
          <p:sp>
            <p:nvSpPr>
              <p:cNvPr id="38" name="TextBox 37">
                <a:extLst>
                  <a:ext uri="{FF2B5EF4-FFF2-40B4-BE49-F238E27FC236}">
                    <a16:creationId xmlns:a16="http://schemas.microsoft.com/office/drawing/2014/main" id="{834B110D-5E3E-4BC5-50FC-3A3CB287BAD6}"/>
                  </a:ext>
                </a:extLst>
              </p:cNvPr>
              <p:cNvSpPr txBox="1">
                <a:spLocks noRot="1" noChangeAspect="1" noMove="1" noResize="1" noEditPoints="1" noAdjustHandles="1" noChangeArrowheads="1" noChangeShapeType="1" noTextEdit="1"/>
              </p:cNvSpPr>
              <p:nvPr/>
            </p:nvSpPr>
            <p:spPr>
              <a:xfrm>
                <a:off x="-220075" y="6126721"/>
                <a:ext cx="3646054" cy="276999"/>
              </a:xfrm>
              <a:prstGeom prst="rect">
                <a:avLst/>
              </a:prstGeom>
              <a:blipFill>
                <a:blip r:embed="rId9"/>
                <a:stretch>
                  <a:fillRect b="-17778"/>
                </a:stretch>
              </a:blipFill>
            </p:spPr>
            <p:txBody>
              <a:bodyPr/>
              <a:lstStyle/>
              <a:p>
                <a:r>
                  <a:rPr lang="en-US">
                    <a:noFill/>
                  </a:rPr>
                  <a:t> </a:t>
                </a:r>
              </a:p>
            </p:txBody>
          </p:sp>
        </mc:Fallback>
      </mc:AlternateContent>
    </p:spTree>
    <p:extLst>
      <p:ext uri="{BB962C8B-B14F-4D97-AF65-F5344CB8AC3E}">
        <p14:creationId xmlns:p14="http://schemas.microsoft.com/office/powerpoint/2010/main" val="271517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7BA6A5-ED37-C20B-70BA-C270B85E74EC}"/>
              </a:ext>
            </a:extLst>
          </p:cNvPr>
          <p:cNvSpPr>
            <a:spLocks noGrp="1"/>
          </p:cNvSpPr>
          <p:nvPr>
            <p:ph type="sldNum" sz="quarter" idx="12"/>
          </p:nvPr>
        </p:nvSpPr>
        <p:spPr>
          <a:xfrm>
            <a:off x="5314950" y="9493607"/>
            <a:ext cx="1543050" cy="527403"/>
          </a:xfrm>
        </p:spPr>
        <p:txBody>
          <a:bodyPr/>
          <a:lstStyle/>
          <a:p>
            <a:fld id="{086C3A38-D272-42AA-9C88-F1FBEAE20D2C}" type="slidenum">
              <a:rPr lang="en-GB" noProof="0" smtClean="0"/>
              <a:t>2</a:t>
            </a:fld>
            <a:endParaRPr lang="en-GB" noProof="0" dirty="0"/>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D630E05-B610-4197-6120-2B6BE949A3CA}"/>
                  </a:ext>
                </a:extLst>
              </p:cNvPr>
              <p:cNvSpPr txBox="1"/>
              <p:nvPr/>
            </p:nvSpPr>
            <p:spPr>
              <a:xfrm>
                <a:off x="-176298" y="117672"/>
                <a:ext cx="3646054" cy="276999"/>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Question 3. Make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oMath>
                </a14:m>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the subject of the following:</a:t>
                </a:r>
              </a:p>
            </p:txBody>
          </p:sp>
        </mc:Choice>
        <mc:Fallback xmlns="">
          <p:sp>
            <p:nvSpPr>
              <p:cNvPr id="16" name="TextBox 15">
                <a:extLst>
                  <a:ext uri="{FF2B5EF4-FFF2-40B4-BE49-F238E27FC236}">
                    <a16:creationId xmlns:a16="http://schemas.microsoft.com/office/drawing/2014/main" id="{3D630E05-B610-4197-6120-2B6BE949A3CA}"/>
                  </a:ext>
                </a:extLst>
              </p:cNvPr>
              <p:cNvSpPr txBox="1">
                <a:spLocks noRot="1" noChangeAspect="1" noMove="1" noResize="1" noEditPoints="1" noAdjustHandles="1" noChangeArrowheads="1" noChangeShapeType="1" noTextEdit="1"/>
              </p:cNvSpPr>
              <p:nvPr/>
            </p:nvSpPr>
            <p:spPr>
              <a:xfrm>
                <a:off x="-176298" y="117672"/>
                <a:ext cx="3646054" cy="276999"/>
              </a:xfrm>
              <a:prstGeom prst="rect">
                <a:avLst/>
              </a:prstGeom>
              <a:blipFill>
                <a:blip r:embed="rId2"/>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7" name="Table 16">
                <a:extLst>
                  <a:ext uri="{FF2B5EF4-FFF2-40B4-BE49-F238E27FC236}">
                    <a16:creationId xmlns:a16="http://schemas.microsoft.com/office/drawing/2014/main" id="{05A1A7EB-9212-705A-A88C-1554F7E18874}"/>
                  </a:ext>
                </a:extLst>
              </p:cNvPr>
              <p:cNvGraphicFramePr>
                <a:graphicFrameLocks noGrp="1"/>
              </p:cNvGraphicFramePr>
              <p:nvPr>
                <p:extLst>
                  <p:ext uri="{D42A27DB-BD31-4B8C-83A1-F6EECF244321}">
                    <p14:modId xmlns:p14="http://schemas.microsoft.com/office/powerpoint/2010/main" val="301732012"/>
                  </p:ext>
                </p:extLst>
              </p:nvPr>
            </p:nvGraphicFramePr>
            <p:xfrm>
              <a:off x="88044" y="441297"/>
              <a:ext cx="6681912" cy="2994234"/>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2173404643"/>
                        </a:ext>
                      </a:extLst>
                    </a:gridCol>
                    <a:gridCol w="1670478">
                      <a:extLst>
                        <a:ext uri="{9D8B030D-6E8A-4147-A177-3AD203B41FA5}">
                          <a16:colId xmlns:a16="http://schemas.microsoft.com/office/drawing/2014/main" val="3012951211"/>
                        </a:ext>
                      </a:extLst>
                    </a:gridCol>
                    <a:gridCol w="1670478">
                      <a:extLst>
                        <a:ext uri="{9D8B030D-6E8A-4147-A177-3AD203B41FA5}">
                          <a16:colId xmlns:a16="http://schemas.microsoft.com/office/drawing/2014/main" val="3671613065"/>
                        </a:ext>
                      </a:extLst>
                    </a:gridCol>
                    <a:gridCol w="1670478">
                      <a:extLst>
                        <a:ext uri="{9D8B030D-6E8A-4147-A177-3AD203B41FA5}">
                          <a16:colId xmlns:a16="http://schemas.microsoft.com/office/drawing/2014/main" val="1554076239"/>
                        </a:ext>
                      </a:extLst>
                    </a:gridCol>
                  </a:tblGrid>
                  <a:tr h="1497117">
                    <a:tc>
                      <a:txBody>
                        <a:bodyPr/>
                        <a:lstStyle/>
                        <a:p>
                          <a:r>
                            <a:rPr lang="en-GB" sz="1200" b="0" noProof="0" dirty="0">
                              <a:solidFill>
                                <a:schemeClr val="tx1"/>
                              </a:solidFill>
                            </a:rPr>
                            <a:t>a) </a:t>
                          </a:r>
                          <a14:m>
                            <m:oMath xmlns:m="http://schemas.openxmlformats.org/officeDocument/2006/math">
                              <m:sSup>
                                <m:sSupPr>
                                  <m:ctrlPr>
                                    <a:rPr lang="en-GB" sz="1200" b="0" i="1" noProof="0" smtClean="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𝑥</m:t>
                                  </m:r>
                                </m:e>
                                <m:sup>
                                  <m:r>
                                    <a:rPr lang="en-GB" sz="1200" b="0" i="1" noProof="0" smtClean="0">
                                      <a:solidFill>
                                        <a:schemeClr val="tx1"/>
                                      </a:solidFill>
                                      <a:latin typeface="Cambria Math" panose="02040503050406030204" pitchFamily="18" charset="0"/>
                                    </a:rPr>
                                    <m:t>2</m:t>
                                  </m:r>
                                </m:sup>
                              </m:sSup>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𝑦</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b) </a:t>
                          </a:r>
                          <a14:m>
                            <m:oMath xmlns:m="http://schemas.openxmlformats.org/officeDocument/2006/math">
                              <m:r>
                                <a:rPr lang="en-GB" sz="1200" b="0" i="1" noProof="0" smtClean="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m:t>
                              </m:r>
                              <m:sSup>
                                <m:sSupPr>
                                  <m:ctrlPr>
                                    <a:rPr lang="en-GB" sz="1200" b="0" i="1" noProof="0" smtClean="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𝑥</m:t>
                                  </m:r>
                                </m:e>
                                <m:sup>
                                  <m:r>
                                    <a:rPr lang="en-GB" sz="1200" b="0" i="1" noProof="0" smtClean="0">
                                      <a:solidFill>
                                        <a:schemeClr val="tx1"/>
                                      </a:solidFill>
                                      <a:latin typeface="Cambria Math" panose="02040503050406030204" pitchFamily="18" charset="0"/>
                                    </a:rPr>
                                    <m:t>2</m:t>
                                  </m:r>
                                </m:sup>
                              </m:sSup>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c) </a:t>
                          </a:r>
                          <a14:m>
                            <m:oMath xmlns:m="http://schemas.openxmlformats.org/officeDocument/2006/math">
                              <m:rad>
                                <m:radPr>
                                  <m:degHide m:val="on"/>
                                  <m:ctrlPr>
                                    <a:rPr lang="en-GB" sz="1200" b="0" i="1" noProof="0" smtClean="0">
                                      <a:solidFill>
                                        <a:schemeClr val="tx1"/>
                                      </a:solidFill>
                                      <a:latin typeface="Cambria Math" panose="02040503050406030204" pitchFamily="18" charset="0"/>
                                    </a:rPr>
                                  </m:ctrlPr>
                                </m:radPr>
                                <m:deg/>
                                <m:e>
                                  <m:r>
                                    <a:rPr lang="en-GB" sz="1200" b="0" i="1" noProof="0" smtClean="0">
                                      <a:solidFill>
                                        <a:schemeClr val="tx1"/>
                                      </a:solidFill>
                                      <a:latin typeface="Cambria Math" panose="02040503050406030204" pitchFamily="18" charset="0"/>
                                    </a:rPr>
                                    <m:t>𝑥</m:t>
                                  </m:r>
                                </m:e>
                              </m:rad>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d) </a:t>
                          </a:r>
                          <a14:m>
                            <m:oMath xmlns:m="http://schemas.openxmlformats.org/officeDocument/2006/math">
                              <m:sSup>
                                <m:sSupPr>
                                  <m:ctrlPr>
                                    <a:rPr lang="en-GB" sz="1200" b="0" i="1" noProof="0" smtClean="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𝑥</m:t>
                                  </m:r>
                                </m:e>
                                <m:sup>
                                  <m:r>
                                    <a:rPr lang="en-GB" sz="1200" b="0" i="1" noProof="0" smtClean="0">
                                      <a:solidFill>
                                        <a:schemeClr val="tx1"/>
                                      </a:solidFill>
                                      <a:latin typeface="Cambria Math" panose="02040503050406030204" pitchFamily="18" charset="0"/>
                                    </a:rPr>
                                    <m:t>2</m:t>
                                  </m:r>
                                </m:sup>
                              </m:sSup>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+5</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46429053"/>
                      </a:ext>
                    </a:extLst>
                  </a:tr>
                  <a:tr h="1497117">
                    <a:tc>
                      <a:txBody>
                        <a:bodyPr/>
                        <a:lstStyle/>
                        <a:p>
                          <a:r>
                            <a:rPr lang="en-GB" sz="1200" b="0" noProof="0" dirty="0"/>
                            <a:t>e) </a:t>
                          </a:r>
                          <a14:m>
                            <m:oMath xmlns:m="http://schemas.openxmlformats.org/officeDocument/2006/math">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=2</m:t>
                              </m:r>
                              <m:r>
                                <a:rPr lang="en-GB" sz="1200" b="0" i="1" noProof="0" smtClean="0">
                                  <a:latin typeface="Cambria Math" panose="02040503050406030204" pitchFamily="18" charset="0"/>
                                </a:rPr>
                                <m:t>𝑦</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t>f) </a:t>
                          </a:r>
                          <a14:m>
                            <m:oMath xmlns:m="http://schemas.openxmlformats.org/officeDocument/2006/math">
                              <m:rad>
                                <m:radPr>
                                  <m:degHide m:val="on"/>
                                  <m:ctrlPr>
                                    <a:rPr lang="en-GB" sz="1200" b="0" i="1" noProof="0" smtClean="0">
                                      <a:latin typeface="Cambria Math" panose="02040503050406030204" pitchFamily="18" charset="0"/>
                                    </a:rPr>
                                  </m:ctrlPr>
                                </m:radPr>
                                <m:deg/>
                                <m:e>
                                  <m:r>
                                    <a:rPr lang="en-GB" sz="1200" b="0" i="1" noProof="0" smtClean="0">
                                      <a:latin typeface="Cambria Math" panose="02040503050406030204" pitchFamily="18" charset="0"/>
                                    </a:rPr>
                                    <m:t>𝑥</m:t>
                                  </m:r>
                                </m:e>
                              </m:rad>
                              <m:r>
                                <a:rPr lang="en-GB" sz="1200" b="0" i="1" noProof="0" smtClean="0">
                                  <a:latin typeface="Cambria Math" panose="02040503050406030204" pitchFamily="18" charset="0"/>
                                </a:rPr>
                                <m:t>=</m:t>
                              </m:r>
                              <m:r>
                                <a:rPr lang="en-GB" sz="1200" b="0" i="1" noProof="0" smtClean="0">
                                  <a:latin typeface="Cambria Math" panose="02040503050406030204" pitchFamily="18" charset="0"/>
                                </a:rPr>
                                <m:t>𝑦</m:t>
                              </m:r>
                              <m:r>
                                <a:rPr lang="en-GB" sz="1200" b="0" i="1" noProof="0" smtClean="0">
                                  <a:latin typeface="Cambria Math" panose="02040503050406030204" pitchFamily="18" charset="0"/>
                                </a:rPr>
                                <m:t>+1</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t>g)</a:t>
                          </a:r>
                          <a14:m>
                            <m:oMath xmlns:m="http://schemas.openxmlformats.org/officeDocument/2006/math">
                              <m:r>
                                <a:rPr lang="en-GB" sz="1200" b="0" i="0" noProof="0" smtClean="0">
                                  <a:latin typeface="Cambria Math" panose="02040503050406030204" pitchFamily="18" charset="0"/>
                                </a:rPr>
                                <m:t> </m:t>
                              </m:r>
                              <m:rad>
                                <m:radPr>
                                  <m:degHide m:val="on"/>
                                  <m:ctrlPr>
                                    <a:rPr lang="en-GB" sz="1200" b="0" i="1" noProof="0" smtClean="0">
                                      <a:latin typeface="Cambria Math" panose="02040503050406030204" pitchFamily="18" charset="0"/>
                                    </a:rPr>
                                  </m:ctrlPr>
                                </m:radPr>
                                <m:deg/>
                                <m:e>
                                  <m:r>
                                    <a:rPr lang="en-GB" sz="1200" b="0" i="1" noProof="0" smtClean="0">
                                      <a:latin typeface="Cambria Math" panose="02040503050406030204" pitchFamily="18" charset="0"/>
                                    </a:rPr>
                                    <m:t>𝑥</m:t>
                                  </m:r>
                                </m:e>
                              </m:rad>
                              <m:r>
                                <a:rPr lang="en-GB" sz="1200" b="0" i="1" noProof="0" smtClean="0">
                                  <a:latin typeface="Cambria Math" panose="02040503050406030204" pitchFamily="18" charset="0"/>
                                </a:rPr>
                                <m:t>=</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𝑦</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+1</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t>h) </a:t>
                          </a:r>
                          <a14:m>
                            <m:oMath xmlns:m="http://schemas.openxmlformats.org/officeDocument/2006/math">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𝑦</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+1</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42428231"/>
                      </a:ext>
                    </a:extLst>
                  </a:tr>
                </a:tbl>
              </a:graphicData>
            </a:graphic>
          </p:graphicFrame>
        </mc:Choice>
        <mc:Fallback xmlns="">
          <p:graphicFrame>
            <p:nvGraphicFramePr>
              <p:cNvPr id="17" name="Table 16">
                <a:extLst>
                  <a:ext uri="{FF2B5EF4-FFF2-40B4-BE49-F238E27FC236}">
                    <a16:creationId xmlns:a16="http://schemas.microsoft.com/office/drawing/2014/main" id="{05A1A7EB-9212-705A-A88C-1554F7E18874}"/>
                  </a:ext>
                </a:extLst>
              </p:cNvPr>
              <p:cNvGraphicFramePr>
                <a:graphicFrameLocks noGrp="1"/>
              </p:cNvGraphicFramePr>
              <p:nvPr>
                <p:extLst>
                  <p:ext uri="{D42A27DB-BD31-4B8C-83A1-F6EECF244321}">
                    <p14:modId xmlns:p14="http://schemas.microsoft.com/office/powerpoint/2010/main" val="301732012"/>
                  </p:ext>
                </p:extLst>
              </p:nvPr>
            </p:nvGraphicFramePr>
            <p:xfrm>
              <a:off x="88044" y="441297"/>
              <a:ext cx="6681912" cy="2994234"/>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2173404643"/>
                        </a:ext>
                      </a:extLst>
                    </a:gridCol>
                    <a:gridCol w="1670478">
                      <a:extLst>
                        <a:ext uri="{9D8B030D-6E8A-4147-A177-3AD203B41FA5}">
                          <a16:colId xmlns:a16="http://schemas.microsoft.com/office/drawing/2014/main" val="3012951211"/>
                        </a:ext>
                      </a:extLst>
                    </a:gridCol>
                    <a:gridCol w="1670478">
                      <a:extLst>
                        <a:ext uri="{9D8B030D-6E8A-4147-A177-3AD203B41FA5}">
                          <a16:colId xmlns:a16="http://schemas.microsoft.com/office/drawing/2014/main" val="3671613065"/>
                        </a:ext>
                      </a:extLst>
                    </a:gridCol>
                    <a:gridCol w="1670478">
                      <a:extLst>
                        <a:ext uri="{9D8B030D-6E8A-4147-A177-3AD203B41FA5}">
                          <a16:colId xmlns:a16="http://schemas.microsoft.com/office/drawing/2014/main" val="1554076239"/>
                        </a:ext>
                      </a:extLst>
                    </a:gridCol>
                  </a:tblGrid>
                  <a:tr h="1497117">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5" t="-407" r="-301095" b="-10081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000" t="-407" r="-200000" b="-10081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730" t="-407" r="-100730" b="-10081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730" t="-407" r="-730" b="-100813"/>
                          </a:stretch>
                        </a:blipFill>
                      </a:tcPr>
                    </a:tc>
                    <a:extLst>
                      <a:ext uri="{0D108BD9-81ED-4DB2-BD59-A6C34878D82A}">
                        <a16:rowId xmlns:a16="http://schemas.microsoft.com/office/drawing/2014/main" val="1846429053"/>
                      </a:ext>
                    </a:extLst>
                  </a:tr>
                  <a:tr h="1497117">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5" t="-100407" r="-301095" b="-81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000" t="-100407" r="-200000" b="-81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730" t="-100407" r="-100730" b="-81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730" t="-100407" r="-730" b="-813"/>
                          </a:stretch>
                        </a:blipFill>
                      </a:tcPr>
                    </a:tc>
                    <a:extLst>
                      <a:ext uri="{0D108BD9-81ED-4DB2-BD59-A6C34878D82A}">
                        <a16:rowId xmlns:a16="http://schemas.microsoft.com/office/drawing/2014/main" val="2742428231"/>
                      </a:ext>
                    </a:extLst>
                  </a:tr>
                </a:tbl>
              </a:graphicData>
            </a:graphic>
          </p:graphicFrame>
        </mc:Fallback>
      </mc:AlternateContent>
      <p:sp>
        <p:nvSpPr>
          <p:cNvPr id="24" name="Rectangle 23">
            <a:extLst>
              <a:ext uri="{FF2B5EF4-FFF2-40B4-BE49-F238E27FC236}">
                <a16:creationId xmlns:a16="http://schemas.microsoft.com/office/drawing/2014/main" id="{1B3BA55E-141B-A2AD-9D41-E73EC0C2FE78}"/>
              </a:ext>
            </a:extLst>
          </p:cNvPr>
          <p:cNvSpPr/>
          <p:nvPr/>
        </p:nvSpPr>
        <p:spPr>
          <a:xfrm>
            <a:off x="118331" y="3636927"/>
            <a:ext cx="3782786" cy="24830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noProof="0" dirty="0">
                <a:solidFill>
                  <a:schemeClr val="bg1"/>
                </a:solidFill>
              </a:rPr>
              <a:t>Two step rearranging (addition/ subtraction with division)</a:t>
            </a:r>
          </a:p>
        </p:txBody>
      </p:sp>
      <mc:AlternateContent xmlns:mc="http://schemas.openxmlformats.org/markup-compatibility/2006" xmlns:a14="http://schemas.microsoft.com/office/drawing/2010/main">
        <mc:Choice Requires="a14">
          <p:graphicFrame>
            <p:nvGraphicFramePr>
              <p:cNvPr id="25" name="Table 24">
                <a:extLst>
                  <a:ext uri="{FF2B5EF4-FFF2-40B4-BE49-F238E27FC236}">
                    <a16:creationId xmlns:a16="http://schemas.microsoft.com/office/drawing/2014/main" id="{0EE0D704-CDE3-7EAF-23D7-7E2BF29F7990}"/>
                  </a:ext>
                </a:extLst>
              </p:cNvPr>
              <p:cNvGraphicFramePr>
                <a:graphicFrameLocks noGrp="1"/>
              </p:cNvGraphicFramePr>
              <p:nvPr>
                <p:extLst>
                  <p:ext uri="{D42A27DB-BD31-4B8C-83A1-F6EECF244321}">
                    <p14:modId xmlns:p14="http://schemas.microsoft.com/office/powerpoint/2010/main" val="1718452925"/>
                  </p:ext>
                </p:extLst>
              </p:nvPr>
            </p:nvGraphicFramePr>
            <p:xfrm>
              <a:off x="118331" y="3885231"/>
              <a:ext cx="6681913" cy="2886473"/>
            </p:xfrm>
            <a:graphic>
              <a:graphicData uri="http://schemas.openxmlformats.org/drawingml/2006/table">
                <a:tbl>
                  <a:tblPr firstRow="1" bandRow="1">
                    <a:tableStyleId>{5C22544A-7EE6-4342-B048-85BDC9FD1C3A}</a:tableStyleId>
                  </a:tblPr>
                  <a:tblGrid>
                    <a:gridCol w="1504025">
                      <a:extLst>
                        <a:ext uri="{9D8B030D-6E8A-4147-A177-3AD203B41FA5}">
                          <a16:colId xmlns:a16="http://schemas.microsoft.com/office/drawing/2014/main" val="1568142362"/>
                        </a:ext>
                      </a:extLst>
                    </a:gridCol>
                    <a:gridCol w="1741378">
                      <a:extLst>
                        <a:ext uri="{9D8B030D-6E8A-4147-A177-3AD203B41FA5}">
                          <a16:colId xmlns:a16="http://schemas.microsoft.com/office/drawing/2014/main" val="3551711160"/>
                        </a:ext>
                      </a:extLst>
                    </a:gridCol>
                    <a:gridCol w="1718255">
                      <a:extLst>
                        <a:ext uri="{9D8B030D-6E8A-4147-A177-3AD203B41FA5}">
                          <a16:colId xmlns:a16="http://schemas.microsoft.com/office/drawing/2014/main" val="1712497518"/>
                        </a:ext>
                      </a:extLst>
                    </a:gridCol>
                    <a:gridCol w="1718255">
                      <a:extLst>
                        <a:ext uri="{9D8B030D-6E8A-4147-A177-3AD203B41FA5}">
                          <a16:colId xmlns:a16="http://schemas.microsoft.com/office/drawing/2014/main" val="886122921"/>
                        </a:ext>
                      </a:extLst>
                    </a:gridCol>
                  </a:tblGrid>
                  <a:tr h="362337">
                    <a:tc>
                      <a:txBody>
                        <a:bodyPr/>
                        <a:lstStyle/>
                        <a:p>
                          <a:endParaRPr lang="en-GB" sz="1200" b="1" noProof="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1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2 -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3 -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603896">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902033">
                    <a:tc>
                      <a:txBody>
                        <a:bodyPr/>
                        <a:lstStyle/>
                        <a:p>
                          <a:pPr marL="0" indent="0">
                            <a:buNone/>
                          </a:pPr>
                          <a:r>
                            <a:rPr lang="en-GB" sz="1200" noProof="0" dirty="0">
                              <a:solidFill>
                                <a:schemeClr val="tx1"/>
                              </a:solidFill>
                            </a:rPr>
                            <a:t>1) Circle the variable you want to make the subject.</a:t>
                          </a:r>
                        </a:p>
                        <a:p>
                          <a:pPr marL="0" indent="0">
                            <a:buNone/>
                          </a:pPr>
                          <a:endParaRPr lang="en-GB" sz="1200" noProof="0" dirty="0">
                            <a:solidFill>
                              <a:schemeClr val="tx1"/>
                            </a:solidFill>
                          </a:endParaRPr>
                        </a:p>
                        <a:p>
                          <a:pPr marL="0" indent="0">
                            <a:buNone/>
                          </a:pPr>
                          <a:r>
                            <a:rPr lang="en-GB" sz="1200" noProof="0" dirty="0">
                              <a:solidFill>
                                <a:schemeClr val="tx1"/>
                              </a:solidFill>
                            </a:rPr>
                            <a:t>2) Use inverse operation</a:t>
                          </a:r>
                          <a:r>
                            <a:rPr lang="en-GB" sz="1200" b="1" u="sng" noProof="0" dirty="0">
                              <a:solidFill>
                                <a:schemeClr val="tx1"/>
                              </a:solidFill>
                            </a:rPr>
                            <a:t>s</a:t>
                          </a:r>
                          <a:r>
                            <a:rPr lang="en-GB" sz="1200" noProof="0" dirty="0">
                              <a:solidFill>
                                <a:schemeClr val="tx1"/>
                              </a:solidFill>
                            </a:rPr>
                            <a:t> to isolate the variable. Be careful about the order you do things 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𝑚𝑥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𝑐</m:t>
                                </m:r>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𝑎𝑏𝑥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𝑐</m:t>
                                </m:r>
                              </m:oMath>
                            </m:oMathPara>
                          </a14:m>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mc:Choice>
        <mc:Fallback xmlns="">
          <p:graphicFrame>
            <p:nvGraphicFramePr>
              <p:cNvPr id="25" name="Table 24">
                <a:extLst>
                  <a:ext uri="{FF2B5EF4-FFF2-40B4-BE49-F238E27FC236}">
                    <a16:creationId xmlns:a16="http://schemas.microsoft.com/office/drawing/2014/main" id="{0EE0D704-CDE3-7EAF-23D7-7E2BF29F7990}"/>
                  </a:ext>
                </a:extLst>
              </p:cNvPr>
              <p:cNvGraphicFramePr>
                <a:graphicFrameLocks noGrp="1"/>
              </p:cNvGraphicFramePr>
              <p:nvPr>
                <p:extLst>
                  <p:ext uri="{D42A27DB-BD31-4B8C-83A1-F6EECF244321}">
                    <p14:modId xmlns:p14="http://schemas.microsoft.com/office/powerpoint/2010/main" val="1718452925"/>
                  </p:ext>
                </p:extLst>
              </p:nvPr>
            </p:nvGraphicFramePr>
            <p:xfrm>
              <a:off x="118331" y="3885231"/>
              <a:ext cx="6681913" cy="2886473"/>
            </p:xfrm>
            <a:graphic>
              <a:graphicData uri="http://schemas.openxmlformats.org/drawingml/2006/table">
                <a:tbl>
                  <a:tblPr firstRow="1" bandRow="1">
                    <a:tableStyleId>{5C22544A-7EE6-4342-B048-85BDC9FD1C3A}</a:tableStyleId>
                  </a:tblPr>
                  <a:tblGrid>
                    <a:gridCol w="1504025">
                      <a:extLst>
                        <a:ext uri="{9D8B030D-6E8A-4147-A177-3AD203B41FA5}">
                          <a16:colId xmlns:a16="http://schemas.microsoft.com/office/drawing/2014/main" val="1568142362"/>
                        </a:ext>
                      </a:extLst>
                    </a:gridCol>
                    <a:gridCol w="1741378">
                      <a:extLst>
                        <a:ext uri="{9D8B030D-6E8A-4147-A177-3AD203B41FA5}">
                          <a16:colId xmlns:a16="http://schemas.microsoft.com/office/drawing/2014/main" val="3551711160"/>
                        </a:ext>
                      </a:extLst>
                    </a:gridCol>
                    <a:gridCol w="1718255">
                      <a:extLst>
                        <a:ext uri="{9D8B030D-6E8A-4147-A177-3AD203B41FA5}">
                          <a16:colId xmlns:a16="http://schemas.microsoft.com/office/drawing/2014/main" val="1712497518"/>
                        </a:ext>
                      </a:extLst>
                    </a:gridCol>
                    <a:gridCol w="1718255">
                      <a:extLst>
                        <a:ext uri="{9D8B030D-6E8A-4147-A177-3AD203B41FA5}">
                          <a16:colId xmlns:a16="http://schemas.microsoft.com/office/drawing/2014/main" val="886122921"/>
                        </a:ext>
                      </a:extLst>
                    </a:gridCol>
                  </a:tblGrid>
                  <a:tr h="362337">
                    <a:tc>
                      <a:txBody>
                        <a:bodyPr/>
                        <a:lstStyle/>
                        <a:p>
                          <a:endParaRPr lang="en-GB" sz="1200" b="1" noProof="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FF0000"/>
                              </a:solidFill>
                            </a:rPr>
                            <a:t>Example 1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chemeClr val="accent2"/>
                              </a:solidFill>
                            </a:rPr>
                            <a:t>Example 2 -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00B050"/>
                              </a:solidFill>
                            </a:rPr>
                            <a:t>Example 3 -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603896">
                    <a:tc>
                      <a:txBody>
                        <a:bodyPr/>
                        <a:lstStyle/>
                        <a:p>
                          <a:r>
                            <a:rPr lang="en-GB" sz="12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86713" t="-60606" r="-197902" b="-32626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189362" t="-60606" r="-100709" b="-32626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289362" t="-60606" r="-709" b="-326263"/>
                          </a:stretch>
                        </a:blipFill>
                      </a:tcPr>
                    </a:tc>
                    <a:extLst>
                      <a:ext uri="{0D108BD9-81ED-4DB2-BD59-A6C34878D82A}">
                        <a16:rowId xmlns:a16="http://schemas.microsoft.com/office/drawing/2014/main" val="2357201933"/>
                      </a:ext>
                    </a:extLst>
                  </a:tr>
                  <a:tr h="1920240">
                    <a:tc>
                      <a:txBody>
                        <a:bodyPr/>
                        <a:lstStyle/>
                        <a:p>
                          <a:pPr marL="0" indent="0">
                            <a:buNone/>
                          </a:pPr>
                          <a:r>
                            <a:rPr lang="en-GB" sz="1200" noProof="0">
                              <a:solidFill>
                                <a:schemeClr val="tx1"/>
                              </a:solidFill>
                            </a:rPr>
                            <a:t>1) Circle the variable you want to make the subject.</a:t>
                          </a:r>
                        </a:p>
                        <a:p>
                          <a:pPr marL="0" indent="0">
                            <a:buNone/>
                          </a:pPr>
                          <a:endParaRPr lang="en-GB" sz="1200" noProof="0">
                            <a:solidFill>
                              <a:schemeClr val="tx1"/>
                            </a:solidFill>
                          </a:endParaRPr>
                        </a:p>
                        <a:p>
                          <a:pPr marL="0" indent="0">
                            <a:buNone/>
                          </a:pPr>
                          <a:r>
                            <a:rPr lang="en-GB" sz="1200" noProof="0">
                              <a:solidFill>
                                <a:schemeClr val="tx1"/>
                              </a:solidFill>
                            </a:rPr>
                            <a:t>2) Use inverse operation</a:t>
                          </a:r>
                          <a:r>
                            <a:rPr lang="en-GB" sz="1200" b="1" u="sng" noProof="0">
                              <a:solidFill>
                                <a:schemeClr val="tx1"/>
                              </a:solidFill>
                            </a:rPr>
                            <a:t>s</a:t>
                          </a:r>
                          <a:r>
                            <a:rPr lang="en-GB" sz="1200" noProof="0">
                              <a:solidFill>
                                <a:schemeClr val="tx1"/>
                              </a:solidFill>
                            </a:rPr>
                            <a:t> to isolate the variable. Be careful about the order you do things 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86713" t="-50476" r="-197902" b="-254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189362" t="-50476" r="-100709" b="-254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2"/>
                          <a:stretch>
                            <a:fillRect l="-289362" t="-50476" r="-709" b="-2540"/>
                          </a:stretch>
                        </a:blipFill>
                      </a:tcPr>
                    </a:tc>
                    <a:extLst>
                      <a:ext uri="{0D108BD9-81ED-4DB2-BD59-A6C34878D82A}">
                        <a16:rowId xmlns:a16="http://schemas.microsoft.com/office/drawing/2014/main" val="3293625240"/>
                      </a:ext>
                    </a:extLst>
                  </a:tr>
                </a:tbl>
              </a:graphicData>
            </a:graphic>
          </p:graphicFrame>
        </mc:Fallback>
      </mc:AlternateContent>
      <p:sp>
        <p:nvSpPr>
          <p:cNvPr id="29" name="Rectangle 28">
            <a:extLst>
              <a:ext uri="{FF2B5EF4-FFF2-40B4-BE49-F238E27FC236}">
                <a16:creationId xmlns:a16="http://schemas.microsoft.com/office/drawing/2014/main" id="{C394120C-6472-A667-696A-0077690D31C4}"/>
              </a:ext>
            </a:extLst>
          </p:cNvPr>
          <p:cNvSpPr/>
          <p:nvPr/>
        </p:nvSpPr>
        <p:spPr>
          <a:xfrm>
            <a:off x="88044" y="6881508"/>
            <a:ext cx="2005410" cy="236794"/>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a:t>Independent Practice</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3C023E9B-61C7-359A-4D45-2BEFA8D03480}"/>
                  </a:ext>
                </a:extLst>
              </p:cNvPr>
              <p:cNvSpPr txBox="1"/>
              <p:nvPr/>
            </p:nvSpPr>
            <p:spPr>
              <a:xfrm>
                <a:off x="1879685" y="6881508"/>
                <a:ext cx="3646054" cy="276999"/>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Question 1. Make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oMath>
                </a14:m>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the subject of the following:</a:t>
                </a:r>
              </a:p>
            </p:txBody>
          </p:sp>
        </mc:Choice>
        <mc:Fallback xmlns="">
          <p:sp>
            <p:nvSpPr>
              <p:cNvPr id="30" name="TextBox 29">
                <a:extLst>
                  <a:ext uri="{FF2B5EF4-FFF2-40B4-BE49-F238E27FC236}">
                    <a16:creationId xmlns:a16="http://schemas.microsoft.com/office/drawing/2014/main" id="{3C023E9B-61C7-359A-4D45-2BEFA8D03480}"/>
                  </a:ext>
                </a:extLst>
              </p:cNvPr>
              <p:cNvSpPr txBox="1">
                <a:spLocks noRot="1" noChangeAspect="1" noMove="1" noResize="1" noEditPoints="1" noAdjustHandles="1" noChangeArrowheads="1" noChangeShapeType="1" noTextEdit="1"/>
              </p:cNvSpPr>
              <p:nvPr/>
            </p:nvSpPr>
            <p:spPr>
              <a:xfrm>
                <a:off x="1879685" y="6881508"/>
                <a:ext cx="3646054" cy="276999"/>
              </a:xfrm>
              <a:prstGeom prst="rect">
                <a:avLst/>
              </a:prstGeom>
              <a:blipFill>
                <a:blip r:embed="rId13"/>
                <a:stretch>
                  <a:fillRect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1" name="Table 30">
                <a:extLst>
                  <a:ext uri="{FF2B5EF4-FFF2-40B4-BE49-F238E27FC236}">
                    <a16:creationId xmlns:a16="http://schemas.microsoft.com/office/drawing/2014/main" id="{9796CC27-CC67-C547-CD37-A76CAAD8F380}"/>
                  </a:ext>
                </a:extLst>
              </p:cNvPr>
              <p:cNvGraphicFramePr>
                <a:graphicFrameLocks noGrp="1"/>
              </p:cNvGraphicFramePr>
              <p:nvPr>
                <p:extLst>
                  <p:ext uri="{D42A27DB-BD31-4B8C-83A1-F6EECF244321}">
                    <p14:modId xmlns:p14="http://schemas.microsoft.com/office/powerpoint/2010/main" val="870216596"/>
                  </p:ext>
                </p:extLst>
              </p:nvPr>
            </p:nvGraphicFramePr>
            <p:xfrm>
              <a:off x="118331" y="7434379"/>
              <a:ext cx="6681912" cy="2059228"/>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2855717783"/>
                        </a:ext>
                      </a:extLst>
                    </a:gridCol>
                    <a:gridCol w="1670478">
                      <a:extLst>
                        <a:ext uri="{9D8B030D-6E8A-4147-A177-3AD203B41FA5}">
                          <a16:colId xmlns:a16="http://schemas.microsoft.com/office/drawing/2014/main" val="3367264508"/>
                        </a:ext>
                      </a:extLst>
                    </a:gridCol>
                    <a:gridCol w="1670478">
                      <a:extLst>
                        <a:ext uri="{9D8B030D-6E8A-4147-A177-3AD203B41FA5}">
                          <a16:colId xmlns:a16="http://schemas.microsoft.com/office/drawing/2014/main" val="2199484341"/>
                        </a:ext>
                      </a:extLst>
                    </a:gridCol>
                    <a:gridCol w="1670478">
                      <a:extLst>
                        <a:ext uri="{9D8B030D-6E8A-4147-A177-3AD203B41FA5}">
                          <a16:colId xmlns:a16="http://schemas.microsoft.com/office/drawing/2014/main" val="705017797"/>
                        </a:ext>
                      </a:extLst>
                    </a:gridCol>
                  </a:tblGrid>
                  <a:tr h="2059228">
                    <a:tc>
                      <a:txBody>
                        <a:bodyPr/>
                        <a:lstStyle/>
                        <a:p>
                          <a:r>
                            <a:rPr lang="en-GB" sz="1200" b="0" noProof="0" dirty="0">
                              <a:solidFill>
                                <a:schemeClr val="tx1"/>
                              </a:solidFill>
                            </a:rPr>
                            <a:t>a) </a:t>
                          </a:r>
                          <a14:m>
                            <m:oMath xmlns:m="http://schemas.openxmlformats.org/officeDocument/2006/math">
                              <m:r>
                                <a:rPr lang="en-GB" sz="1200" b="0" i="1" noProof="0" smtClean="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b)</a:t>
                          </a:r>
                          <a14:m>
                            <m:oMath xmlns:m="http://schemas.openxmlformats.org/officeDocument/2006/math">
                              <m:r>
                                <a:rPr lang="en-GB" sz="1200" b="0" i="0" noProof="0" smtClean="0">
                                  <a:solidFill>
                                    <a:schemeClr val="tx1"/>
                                  </a:solidFill>
                                  <a:latin typeface="Cambria Math" panose="02040503050406030204" pitchFamily="18" charset="0"/>
                                </a:rPr>
                                <m:t> </m:t>
                              </m:r>
                              <m:r>
                                <a:rPr lang="en-GB" sz="1200" b="0" i="1" noProof="0" smtClean="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c) </a:t>
                          </a:r>
                          <a14:m>
                            <m:oMath xmlns:m="http://schemas.openxmlformats.org/officeDocument/2006/math">
                              <m:r>
                                <a:rPr lang="en-GB" sz="1200" b="0" i="1" noProof="0" smtClean="0">
                                  <a:solidFill>
                                    <a:schemeClr val="tx1"/>
                                  </a:solidFill>
                                  <a:latin typeface="Cambria Math" panose="02040503050406030204" pitchFamily="18" charset="0"/>
                                </a:rPr>
                                <m:t>4</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𝑐</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𝑤</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d) </a:t>
                          </a:r>
                          <a14:m>
                            <m:oMath xmlns:m="http://schemas.openxmlformats.org/officeDocument/2006/math">
                              <m:r>
                                <a:rPr lang="en-GB" sz="1200" b="0" i="1" noProof="0" smtClean="0">
                                  <a:solidFill>
                                    <a:schemeClr val="tx1"/>
                                  </a:solidFill>
                                  <a:latin typeface="Cambria Math" panose="02040503050406030204" pitchFamily="18" charset="0"/>
                                </a:rPr>
                                <m:t>7</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r>
                                <a:rPr lang="en-GB" sz="1200" b="0" i="1" noProof="0" smtClean="0">
                                  <a:solidFill>
                                    <a:schemeClr val="tx1"/>
                                  </a:solidFill>
                                  <a:latin typeface="Cambria Math" panose="02040503050406030204" pitchFamily="18" charset="0"/>
                                </a:rPr>
                                <m:t>=9</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47881400"/>
                      </a:ext>
                    </a:extLst>
                  </a:tr>
                </a:tbl>
              </a:graphicData>
            </a:graphic>
          </p:graphicFrame>
        </mc:Choice>
        <mc:Fallback xmlns="">
          <p:graphicFrame>
            <p:nvGraphicFramePr>
              <p:cNvPr id="31" name="Table 30">
                <a:extLst>
                  <a:ext uri="{FF2B5EF4-FFF2-40B4-BE49-F238E27FC236}">
                    <a16:creationId xmlns:a16="http://schemas.microsoft.com/office/drawing/2014/main" id="{9796CC27-CC67-C547-CD37-A76CAAD8F380}"/>
                  </a:ext>
                </a:extLst>
              </p:cNvPr>
              <p:cNvGraphicFramePr>
                <a:graphicFrameLocks noGrp="1"/>
              </p:cNvGraphicFramePr>
              <p:nvPr>
                <p:extLst>
                  <p:ext uri="{D42A27DB-BD31-4B8C-83A1-F6EECF244321}">
                    <p14:modId xmlns:p14="http://schemas.microsoft.com/office/powerpoint/2010/main" val="870216596"/>
                  </p:ext>
                </p:extLst>
              </p:nvPr>
            </p:nvGraphicFramePr>
            <p:xfrm>
              <a:off x="118331" y="7434379"/>
              <a:ext cx="6681912" cy="2059228"/>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2855717783"/>
                        </a:ext>
                      </a:extLst>
                    </a:gridCol>
                    <a:gridCol w="1670478">
                      <a:extLst>
                        <a:ext uri="{9D8B030D-6E8A-4147-A177-3AD203B41FA5}">
                          <a16:colId xmlns:a16="http://schemas.microsoft.com/office/drawing/2014/main" val="3367264508"/>
                        </a:ext>
                      </a:extLst>
                    </a:gridCol>
                    <a:gridCol w="1670478">
                      <a:extLst>
                        <a:ext uri="{9D8B030D-6E8A-4147-A177-3AD203B41FA5}">
                          <a16:colId xmlns:a16="http://schemas.microsoft.com/office/drawing/2014/main" val="2199484341"/>
                        </a:ext>
                      </a:extLst>
                    </a:gridCol>
                    <a:gridCol w="1670478">
                      <a:extLst>
                        <a:ext uri="{9D8B030D-6E8A-4147-A177-3AD203B41FA5}">
                          <a16:colId xmlns:a16="http://schemas.microsoft.com/office/drawing/2014/main" val="705017797"/>
                        </a:ext>
                      </a:extLst>
                    </a:gridCol>
                  </a:tblGrid>
                  <a:tr h="205922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4"/>
                          <a:stretch>
                            <a:fillRect l="-365" t="-295" r="-301095" b="-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4"/>
                          <a:stretch>
                            <a:fillRect l="-100000" t="-295" r="-200000" b="-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4"/>
                          <a:stretch>
                            <a:fillRect l="-200730" t="-295" r="-100730" b="-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4"/>
                          <a:stretch>
                            <a:fillRect l="-300730" t="-295" r="-730" b="-590"/>
                          </a:stretch>
                        </a:blipFill>
                      </a:tcPr>
                    </a:tc>
                    <a:extLst>
                      <a:ext uri="{0D108BD9-81ED-4DB2-BD59-A6C34878D82A}">
                        <a16:rowId xmlns:a16="http://schemas.microsoft.com/office/drawing/2014/main" val="3247881400"/>
                      </a:ext>
                    </a:extLst>
                  </a:tr>
                </a:tbl>
              </a:graphicData>
            </a:graphic>
          </p:graphicFrame>
        </mc:Fallback>
      </mc:AlternateContent>
    </p:spTree>
    <p:extLst>
      <p:ext uri="{BB962C8B-B14F-4D97-AF65-F5344CB8AC3E}">
        <p14:creationId xmlns:p14="http://schemas.microsoft.com/office/powerpoint/2010/main" val="13807268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536E924-F09A-E00C-48E2-CFB092F79A08}"/>
              </a:ext>
            </a:extLst>
          </p:cNvPr>
          <p:cNvSpPr>
            <a:spLocks noGrp="1"/>
          </p:cNvSpPr>
          <p:nvPr>
            <p:ph type="sldNum" sz="quarter" idx="12"/>
          </p:nvPr>
        </p:nvSpPr>
        <p:spPr>
          <a:xfrm>
            <a:off x="5257800" y="9429021"/>
            <a:ext cx="1543050" cy="527403"/>
          </a:xfrm>
        </p:spPr>
        <p:txBody>
          <a:bodyPr/>
          <a:lstStyle/>
          <a:p>
            <a:fld id="{086C3A38-D272-42AA-9C88-F1FBEAE20D2C}" type="slidenum">
              <a:rPr lang="en-GB" noProof="0" smtClean="0"/>
              <a:t>3</a:t>
            </a:fld>
            <a:endParaRPr lang="en-GB" noProof="0" dirty="0"/>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60CB6826-64A4-CD26-7118-9A5AFED907EA}"/>
                  </a:ext>
                </a:extLst>
              </p:cNvPr>
              <p:cNvGraphicFramePr>
                <a:graphicFrameLocks noGrp="1"/>
              </p:cNvGraphicFramePr>
              <p:nvPr>
                <p:extLst>
                  <p:ext uri="{D42A27DB-BD31-4B8C-83A1-F6EECF244321}">
                    <p14:modId xmlns:p14="http://schemas.microsoft.com/office/powerpoint/2010/main" val="3851951945"/>
                  </p:ext>
                </p:extLst>
              </p:nvPr>
            </p:nvGraphicFramePr>
            <p:xfrm>
              <a:off x="88044" y="97457"/>
              <a:ext cx="6681912" cy="4860000"/>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3647236309"/>
                        </a:ext>
                      </a:extLst>
                    </a:gridCol>
                    <a:gridCol w="1670478">
                      <a:extLst>
                        <a:ext uri="{9D8B030D-6E8A-4147-A177-3AD203B41FA5}">
                          <a16:colId xmlns:a16="http://schemas.microsoft.com/office/drawing/2014/main" val="2570924096"/>
                        </a:ext>
                      </a:extLst>
                    </a:gridCol>
                    <a:gridCol w="1670478">
                      <a:extLst>
                        <a:ext uri="{9D8B030D-6E8A-4147-A177-3AD203B41FA5}">
                          <a16:colId xmlns:a16="http://schemas.microsoft.com/office/drawing/2014/main" val="416811348"/>
                        </a:ext>
                      </a:extLst>
                    </a:gridCol>
                    <a:gridCol w="1670478">
                      <a:extLst>
                        <a:ext uri="{9D8B030D-6E8A-4147-A177-3AD203B41FA5}">
                          <a16:colId xmlns:a16="http://schemas.microsoft.com/office/drawing/2014/main" val="2813845385"/>
                        </a:ext>
                      </a:extLst>
                    </a:gridCol>
                  </a:tblGrid>
                  <a:tr h="1620000">
                    <a:tc>
                      <a:txBody>
                        <a:bodyPr/>
                        <a:lstStyle/>
                        <a:p>
                          <a:r>
                            <a:rPr lang="en-GB" sz="1200" b="0" noProof="0" dirty="0">
                              <a:solidFill>
                                <a:schemeClr val="tx1"/>
                              </a:solidFill>
                            </a:rPr>
                            <a:t>e) </a:t>
                          </a:r>
                          <a14:m>
                            <m:oMath xmlns:m="http://schemas.openxmlformats.org/officeDocument/2006/math">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+6</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𝑞</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f) </a:t>
                          </a:r>
                          <a14:m>
                            <m:oMath xmlns:m="http://schemas.openxmlformats.org/officeDocument/2006/math">
                              <m:r>
                                <a:rPr lang="en-GB" sz="1200" b="0" i="1" noProof="0" smtClean="0">
                                  <a:solidFill>
                                    <a:schemeClr val="tx1"/>
                                  </a:solidFill>
                                  <a:latin typeface="Cambria Math" panose="02040503050406030204" pitchFamily="18" charset="0"/>
                                </a:rPr>
                                <m:t>5</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𝑐</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g) </a:t>
                          </a:r>
                          <a14:m>
                            <m:oMath xmlns:m="http://schemas.openxmlformats.org/officeDocument/2006/math">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=2</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𝑐</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h) </a:t>
                          </a:r>
                          <a14:m>
                            <m:oMath xmlns:m="http://schemas.openxmlformats.org/officeDocument/2006/math">
                              <m:r>
                                <a:rPr lang="en-GB" sz="1200" b="0" i="1" noProof="0" smtClean="0">
                                  <a:solidFill>
                                    <a:schemeClr val="tx1"/>
                                  </a:solidFill>
                                  <a:latin typeface="Cambria Math" panose="02040503050406030204" pitchFamily="18" charset="0"/>
                                </a:rPr>
                                <m:t>𝑑𝑥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𝑡</m:t>
                              </m:r>
                              <m:r>
                                <a:rPr lang="en-GB" sz="1200" b="0" i="1" noProof="0" smtClean="0">
                                  <a:solidFill>
                                    <a:schemeClr val="tx1"/>
                                  </a:solidFill>
                                  <a:latin typeface="Cambria Math" panose="02040503050406030204" pitchFamily="18" charset="0"/>
                                </a:rPr>
                                <m:t>=8</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58045507"/>
                      </a:ext>
                    </a:extLst>
                  </a:tr>
                  <a:tr h="1620000">
                    <a:tc>
                      <a:txBody>
                        <a:bodyPr/>
                        <a:lstStyle/>
                        <a:p>
                          <a:r>
                            <a:rPr lang="en-GB" sz="1200" b="0" noProof="0" dirty="0" err="1"/>
                            <a:t>i</a:t>
                          </a:r>
                          <a:r>
                            <a:rPr lang="en-GB" sz="1200" b="0" noProof="0" dirty="0"/>
                            <a:t>)</a:t>
                          </a:r>
                          <a:r>
                            <a:rPr lang="en-GB" sz="1200" b="0" noProof="0" dirty="0">
                              <a:solidFill>
                                <a:schemeClr val="tx1"/>
                              </a:solidFill>
                            </a:rPr>
                            <a:t> </a:t>
                          </a:r>
                          <a14:m>
                            <m:oMath xmlns:m="http://schemas.openxmlformats.org/officeDocument/2006/math">
                              <m:r>
                                <a:rPr lang="en-GB" sz="1200" b="0" i="1" noProof="0" smtClean="0">
                                  <a:solidFill>
                                    <a:schemeClr val="tx1"/>
                                  </a:solidFill>
                                  <a:latin typeface="Cambria Math" panose="02040503050406030204" pitchFamily="18" charset="0"/>
                                </a:rPr>
                                <m:t>𝑠</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𝑡𝑥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𝑑</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t>j)</a:t>
                          </a:r>
                          <a:r>
                            <a:rPr lang="en-GB" sz="1200" b="0" noProof="0" dirty="0">
                              <a:solidFill>
                                <a:schemeClr val="tx1"/>
                              </a:solidFill>
                            </a:rPr>
                            <a:t> </a:t>
                          </a:r>
                          <a14:m>
                            <m:oMath xmlns:m="http://schemas.openxmlformats.org/officeDocument/2006/math">
                              <m:r>
                                <a:rPr lang="en-GB" sz="1200" b="0" i="1" noProof="0" smtClean="0">
                                  <a:solidFill>
                                    <a:schemeClr val="tx1"/>
                                  </a:solidFill>
                                  <a:latin typeface="Cambria Math" panose="02040503050406030204" pitchFamily="18" charset="0"/>
                                </a:rPr>
                                <m:t>2</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+2</m:t>
                              </m:r>
                              <m:r>
                                <a:rPr lang="en-GB" sz="1200" b="0" i="1" noProof="0" smtClean="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𝑝</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t>k)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𝑎𝑥</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𝑏</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t>l)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𝑎𝑥</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𝑏𝑐</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05854048"/>
                      </a:ext>
                    </a:extLst>
                  </a:tr>
                  <a:tr h="1620000">
                    <a:tc>
                      <a:txBody>
                        <a:bodyPr/>
                        <a:lstStyle/>
                        <a:p>
                          <a:r>
                            <a:rPr lang="en-GB" sz="1200" b="0" noProof="0" dirty="0"/>
                            <a:t>m)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𝑎𝑥</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𝑏𝑐𝑑</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t>n)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𝑎𝑥</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𝑏𝑐𝑑</m:t>
                              </m:r>
                            </m:oMath>
                          </a14:m>
                          <a:endParaRPr lang="en-GB" sz="1200" noProof="0" dirty="0"/>
                        </a:p>
                        <a:p>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t>o)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𝑑</m:t>
                                  </m:r>
                                </m:e>
                                <m:sup>
                                  <m:r>
                                    <a:rPr lang="en-GB" sz="1200" b="0" i="1" noProof="0" smtClean="0">
                                      <a:latin typeface="Cambria Math" panose="02040503050406030204" pitchFamily="18" charset="0"/>
                                    </a:rPr>
                                    <m:t>2</m:t>
                                  </m:r>
                                </m:sup>
                              </m:sSup>
                              <m:r>
                                <a:rPr lang="en-GB" sz="1200" b="0" i="1" noProof="0" smtClean="0">
                                  <a:latin typeface="Cambria Math" panose="02040503050406030204" pitchFamily="18" charset="0"/>
                                </a:rPr>
                                <m:t>𝑒𝑓</m:t>
                              </m:r>
                              <m:r>
                                <a:rPr lang="en-GB" sz="1200" b="0" i="1" noProof="0" smtClean="0">
                                  <a:latin typeface="Cambria Math" panose="02040503050406030204" pitchFamily="18" charset="0"/>
                                </a:rPr>
                                <m:t>+</m:t>
                              </m:r>
                              <m:r>
                                <a:rPr lang="en-GB" sz="1200" b="0" i="1" noProof="0" smtClean="0">
                                  <a:latin typeface="Cambria Math" panose="02040503050406030204" pitchFamily="18" charset="0"/>
                                </a:rPr>
                                <m:t>𝑎𝑥</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t>p)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rad>
                                <m:radPr>
                                  <m:degHide m:val="on"/>
                                  <m:ctrlPr>
                                    <a:rPr lang="en-GB" sz="1200" b="0" i="1" noProof="0" smtClean="0">
                                      <a:latin typeface="Cambria Math" panose="02040503050406030204" pitchFamily="18" charset="0"/>
                                    </a:rPr>
                                  </m:ctrlPr>
                                </m:radPr>
                                <m:deg/>
                                <m:e>
                                  <m:r>
                                    <a:rPr lang="en-GB" sz="1200" b="0" i="1" noProof="0" smtClean="0">
                                      <a:latin typeface="Cambria Math" panose="02040503050406030204" pitchFamily="18" charset="0"/>
                                    </a:rPr>
                                    <m:t>𝑏</m:t>
                                  </m:r>
                                </m:e>
                              </m:rad>
                              <m:r>
                                <a:rPr lang="en-GB" sz="1200" b="0" i="1" noProof="0" smtClean="0">
                                  <a:latin typeface="Cambria Math" panose="02040503050406030204" pitchFamily="18" charset="0"/>
                                </a:rPr>
                                <m:t>+</m:t>
                              </m:r>
                              <m:r>
                                <a:rPr lang="en-GB" sz="1200" b="0" i="1" noProof="0" smtClean="0">
                                  <a:latin typeface="Cambria Math" panose="02040503050406030204" pitchFamily="18" charset="0"/>
                                </a:rPr>
                                <m:t>𝑎𝑥</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14132893"/>
                      </a:ext>
                    </a:extLst>
                  </a:tr>
                </a:tbl>
              </a:graphicData>
            </a:graphic>
          </p:graphicFrame>
        </mc:Choice>
        <mc:Fallback xmlns="">
          <p:graphicFrame>
            <p:nvGraphicFramePr>
              <p:cNvPr id="6" name="Table 5">
                <a:extLst>
                  <a:ext uri="{FF2B5EF4-FFF2-40B4-BE49-F238E27FC236}">
                    <a16:creationId xmlns:a16="http://schemas.microsoft.com/office/drawing/2014/main" id="{60CB6826-64A4-CD26-7118-9A5AFED907EA}"/>
                  </a:ext>
                </a:extLst>
              </p:cNvPr>
              <p:cNvGraphicFramePr>
                <a:graphicFrameLocks noGrp="1"/>
              </p:cNvGraphicFramePr>
              <p:nvPr>
                <p:extLst>
                  <p:ext uri="{D42A27DB-BD31-4B8C-83A1-F6EECF244321}">
                    <p14:modId xmlns:p14="http://schemas.microsoft.com/office/powerpoint/2010/main" val="3851951945"/>
                  </p:ext>
                </p:extLst>
              </p:nvPr>
            </p:nvGraphicFramePr>
            <p:xfrm>
              <a:off x="88044" y="97457"/>
              <a:ext cx="6681912" cy="4860000"/>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3647236309"/>
                        </a:ext>
                      </a:extLst>
                    </a:gridCol>
                    <a:gridCol w="1670478">
                      <a:extLst>
                        <a:ext uri="{9D8B030D-6E8A-4147-A177-3AD203B41FA5}">
                          <a16:colId xmlns:a16="http://schemas.microsoft.com/office/drawing/2014/main" val="2570924096"/>
                        </a:ext>
                      </a:extLst>
                    </a:gridCol>
                    <a:gridCol w="1670478">
                      <a:extLst>
                        <a:ext uri="{9D8B030D-6E8A-4147-A177-3AD203B41FA5}">
                          <a16:colId xmlns:a16="http://schemas.microsoft.com/office/drawing/2014/main" val="416811348"/>
                        </a:ext>
                      </a:extLst>
                    </a:gridCol>
                    <a:gridCol w="1670478">
                      <a:extLst>
                        <a:ext uri="{9D8B030D-6E8A-4147-A177-3AD203B41FA5}">
                          <a16:colId xmlns:a16="http://schemas.microsoft.com/office/drawing/2014/main" val="2813845385"/>
                        </a:ext>
                      </a:extLst>
                    </a:gridCol>
                  </a:tblGrid>
                  <a:tr h="162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5" t="-376" r="-301095" b="-20112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000" t="-376" r="-200000" b="-20112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730" t="-376" r="-100730" b="-20112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0730" t="-376" r="-730" b="-201128"/>
                          </a:stretch>
                        </a:blipFill>
                      </a:tcPr>
                    </a:tc>
                    <a:extLst>
                      <a:ext uri="{0D108BD9-81ED-4DB2-BD59-A6C34878D82A}">
                        <a16:rowId xmlns:a16="http://schemas.microsoft.com/office/drawing/2014/main" val="3558045507"/>
                      </a:ext>
                    </a:extLst>
                  </a:tr>
                  <a:tr h="162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5" t="-100000" r="-301095" b="-10037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000" t="-100000" r="-200000" b="-10037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730" t="-100000" r="-100730" b="-10037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0730" t="-100000" r="-730" b="-100375"/>
                          </a:stretch>
                        </a:blipFill>
                      </a:tcPr>
                    </a:tc>
                    <a:extLst>
                      <a:ext uri="{0D108BD9-81ED-4DB2-BD59-A6C34878D82A}">
                        <a16:rowId xmlns:a16="http://schemas.microsoft.com/office/drawing/2014/main" val="3205854048"/>
                      </a:ext>
                    </a:extLst>
                  </a:tr>
                  <a:tr h="162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5" t="-200752" r="-301095" b="-75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000" t="-200752" r="-200000" b="-75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730" t="-200752" r="-100730" b="-75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0730" t="-200752" r="-730" b="-752"/>
                          </a:stretch>
                        </a:blipFill>
                      </a:tcPr>
                    </a:tc>
                    <a:extLst>
                      <a:ext uri="{0D108BD9-81ED-4DB2-BD59-A6C34878D82A}">
                        <a16:rowId xmlns:a16="http://schemas.microsoft.com/office/drawing/2014/main" val="2314132893"/>
                      </a:ext>
                    </a:extLst>
                  </a:tr>
                </a:tbl>
              </a:graphicData>
            </a:graphic>
          </p:graphicFrame>
        </mc:Fallback>
      </mc:AlternateContent>
      <p:sp>
        <p:nvSpPr>
          <p:cNvPr id="27" name="Rectangle 26">
            <a:extLst>
              <a:ext uri="{FF2B5EF4-FFF2-40B4-BE49-F238E27FC236}">
                <a16:creationId xmlns:a16="http://schemas.microsoft.com/office/drawing/2014/main" id="{D27E1FFF-CFAF-07D0-66D4-5FCC5BD7E961}"/>
              </a:ext>
            </a:extLst>
          </p:cNvPr>
          <p:cNvSpPr/>
          <p:nvPr/>
        </p:nvSpPr>
        <p:spPr>
          <a:xfrm>
            <a:off x="88043" y="5077527"/>
            <a:ext cx="4237700" cy="24830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noProof="0" dirty="0">
                <a:solidFill>
                  <a:schemeClr val="bg1"/>
                </a:solidFill>
              </a:rPr>
              <a:t>Two step rearranging (addition/ subtraction with multiplication)</a:t>
            </a:r>
          </a:p>
        </p:txBody>
      </p:sp>
      <mc:AlternateContent xmlns:mc="http://schemas.openxmlformats.org/markup-compatibility/2006" xmlns:a14="http://schemas.microsoft.com/office/drawing/2010/main">
        <mc:Choice Requires="a14">
          <p:graphicFrame>
            <p:nvGraphicFramePr>
              <p:cNvPr id="28" name="Table 27">
                <a:extLst>
                  <a:ext uri="{FF2B5EF4-FFF2-40B4-BE49-F238E27FC236}">
                    <a16:creationId xmlns:a16="http://schemas.microsoft.com/office/drawing/2014/main" id="{9871A7B5-DA2E-CDBA-52DA-8438260F2DCF}"/>
                  </a:ext>
                </a:extLst>
              </p:cNvPr>
              <p:cNvGraphicFramePr>
                <a:graphicFrameLocks noGrp="1"/>
              </p:cNvGraphicFramePr>
              <p:nvPr>
                <p:extLst>
                  <p:ext uri="{D42A27DB-BD31-4B8C-83A1-F6EECF244321}">
                    <p14:modId xmlns:p14="http://schemas.microsoft.com/office/powerpoint/2010/main" val="1962215747"/>
                  </p:ext>
                </p:extLst>
              </p:nvPr>
            </p:nvGraphicFramePr>
            <p:xfrm>
              <a:off x="88043" y="5358489"/>
              <a:ext cx="6681913" cy="2171520"/>
            </p:xfrm>
            <a:graphic>
              <a:graphicData uri="http://schemas.openxmlformats.org/drawingml/2006/table">
                <a:tbl>
                  <a:tblPr firstRow="1" bandRow="1">
                    <a:tableStyleId>{5C22544A-7EE6-4342-B048-85BDC9FD1C3A}</a:tableStyleId>
                  </a:tblPr>
                  <a:tblGrid>
                    <a:gridCol w="1504025">
                      <a:extLst>
                        <a:ext uri="{9D8B030D-6E8A-4147-A177-3AD203B41FA5}">
                          <a16:colId xmlns:a16="http://schemas.microsoft.com/office/drawing/2014/main" val="1568142362"/>
                        </a:ext>
                      </a:extLst>
                    </a:gridCol>
                    <a:gridCol w="1741378">
                      <a:extLst>
                        <a:ext uri="{9D8B030D-6E8A-4147-A177-3AD203B41FA5}">
                          <a16:colId xmlns:a16="http://schemas.microsoft.com/office/drawing/2014/main" val="3551711160"/>
                        </a:ext>
                      </a:extLst>
                    </a:gridCol>
                    <a:gridCol w="1718255">
                      <a:extLst>
                        <a:ext uri="{9D8B030D-6E8A-4147-A177-3AD203B41FA5}">
                          <a16:colId xmlns:a16="http://schemas.microsoft.com/office/drawing/2014/main" val="1712497518"/>
                        </a:ext>
                      </a:extLst>
                    </a:gridCol>
                    <a:gridCol w="1718255">
                      <a:extLst>
                        <a:ext uri="{9D8B030D-6E8A-4147-A177-3AD203B41FA5}">
                          <a16:colId xmlns:a16="http://schemas.microsoft.com/office/drawing/2014/main" val="886122921"/>
                        </a:ext>
                      </a:extLst>
                    </a:gridCol>
                  </a:tblGrid>
                  <a:tr h="0">
                    <a:tc>
                      <a:txBody>
                        <a:bodyPr/>
                        <a:lstStyle/>
                        <a:p>
                          <a:endParaRPr lang="en-GB" sz="1200" b="1" noProof="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4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5 -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6 -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302332">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𝑦</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𝑦</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𝑑</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440000">
                    <a:tc>
                      <a:txBody>
                        <a:bodyPr/>
                        <a:lstStyle/>
                        <a:p>
                          <a:pPr marL="0" indent="0">
                            <a:buNone/>
                          </a:pPr>
                          <a:r>
                            <a:rPr lang="en-GB" sz="1200" noProof="0" dirty="0">
                              <a:solidFill>
                                <a:schemeClr val="tx1"/>
                              </a:solidFill>
                            </a:rPr>
                            <a:t>1) Circle the variable you want to make the subject.</a:t>
                          </a:r>
                        </a:p>
                        <a:p>
                          <a:pPr marL="0" indent="0">
                            <a:buNone/>
                          </a:pPr>
                          <a:endParaRPr lang="en-GB" sz="1200" noProof="0" dirty="0">
                            <a:solidFill>
                              <a:schemeClr val="tx1"/>
                            </a:solidFill>
                          </a:endParaRPr>
                        </a:p>
                        <a:p>
                          <a:pPr marL="0" indent="0">
                            <a:buNone/>
                          </a:pPr>
                          <a:r>
                            <a:rPr lang="en-GB" sz="1200" noProof="0" dirty="0">
                              <a:solidFill>
                                <a:schemeClr val="tx1"/>
                              </a:solidFill>
                            </a:rPr>
                            <a:t>2) Use inverse operation</a:t>
                          </a:r>
                          <a:r>
                            <a:rPr lang="en-GB" sz="1200" b="1" u="sng" noProof="0" dirty="0">
                              <a:solidFill>
                                <a:schemeClr val="tx1"/>
                              </a:solidFill>
                            </a:rPr>
                            <a:t>s</a:t>
                          </a:r>
                          <a:r>
                            <a:rPr lang="en-GB" sz="1200" noProof="0" dirty="0">
                              <a:solidFill>
                                <a:schemeClr val="tx1"/>
                              </a:solidFill>
                            </a:rPr>
                            <a:t> to isolate the variable.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GB" sz="1200" i="1" noProof="0" smtClean="0">
                                        <a:solidFill>
                                          <a:schemeClr val="tx1"/>
                                        </a:solidFill>
                                        <a:latin typeface="Cambria Math" panose="02040503050406030204" pitchFamily="18" charset="0"/>
                                      </a:rPr>
                                    </m:ctrlPr>
                                  </m:fPr>
                                  <m:num>
                                    <m:r>
                                      <a:rPr lang="en-GB" sz="1200" i="1" noProof="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 −</m:t>
                                    </m:r>
                                    <m:r>
                                      <a:rPr lang="en-GB" sz="1200" b="0" i="1" noProof="0" smtClean="0">
                                        <a:solidFill>
                                          <a:schemeClr val="tx1"/>
                                        </a:solidFill>
                                        <a:latin typeface="Cambria Math" panose="02040503050406030204" pitchFamily="18" charset="0"/>
                                      </a:rPr>
                                      <m:t>𝑎</m:t>
                                    </m:r>
                                  </m:num>
                                  <m:den>
                                    <m:r>
                                      <a:rPr lang="en-GB" sz="1200" i="1" noProof="0">
                                        <a:solidFill>
                                          <a:schemeClr val="tx1"/>
                                        </a:solidFill>
                                        <a:latin typeface="Cambria Math" panose="02040503050406030204" pitchFamily="18" charset="0"/>
                                      </a:rPr>
                                      <m:t>5</m:t>
                                    </m:r>
                                  </m:den>
                                </m:f>
                                <m:r>
                                  <a:rPr lang="en-GB" sz="1200" i="1" noProof="0">
                                    <a:solidFill>
                                      <a:schemeClr val="tx1"/>
                                    </a:solidFill>
                                    <a:latin typeface="Cambria Math" panose="02040503050406030204" pitchFamily="18" charset="0"/>
                                  </a:rPr>
                                  <m:t>=</m:t>
                                </m:r>
                                <m:r>
                                  <a:rPr lang="en-GB" sz="1200" i="1" noProof="0">
                                    <a:solidFill>
                                      <a:schemeClr val="tx1"/>
                                    </a:solidFill>
                                    <a:latin typeface="Cambria Math" panose="02040503050406030204" pitchFamily="18" charset="0"/>
                                  </a:rPr>
                                  <m:t>𝑚</m:t>
                                </m:r>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𝑦</m:t>
                                    </m:r>
                                  </m:num>
                                  <m:den>
                                    <m:r>
                                      <a:rPr lang="en-GB" sz="1200" b="0" i="1" noProof="0" smtClean="0">
                                        <a:solidFill>
                                          <a:schemeClr val="tx1"/>
                                        </a:solidFill>
                                        <a:latin typeface="Cambria Math" panose="02040503050406030204" pitchFamily="18" charset="0"/>
                                      </a:rPr>
                                      <m:t>5</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𝑚</m:t>
                                </m:r>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𝑑</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m:t>
                                    </m:r>
                                  </m:num>
                                  <m:den>
                                    <m:r>
                                      <a:rPr lang="en-GB" sz="1200" b="0" i="1" noProof="0" smtClean="0">
                                        <a:solidFill>
                                          <a:schemeClr val="tx1"/>
                                        </a:solidFill>
                                        <a:latin typeface="Cambria Math" panose="02040503050406030204" pitchFamily="18" charset="0"/>
                                      </a:rPr>
                                      <m:t>4</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𝑠</m:t>
                                </m:r>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mc:Choice>
        <mc:Fallback xmlns="">
          <p:graphicFrame>
            <p:nvGraphicFramePr>
              <p:cNvPr id="28" name="Table 27">
                <a:extLst>
                  <a:ext uri="{FF2B5EF4-FFF2-40B4-BE49-F238E27FC236}">
                    <a16:creationId xmlns:a16="http://schemas.microsoft.com/office/drawing/2014/main" id="{9871A7B5-DA2E-CDBA-52DA-8438260F2DCF}"/>
                  </a:ext>
                </a:extLst>
              </p:cNvPr>
              <p:cNvGraphicFramePr>
                <a:graphicFrameLocks noGrp="1"/>
              </p:cNvGraphicFramePr>
              <p:nvPr>
                <p:extLst>
                  <p:ext uri="{D42A27DB-BD31-4B8C-83A1-F6EECF244321}">
                    <p14:modId xmlns:p14="http://schemas.microsoft.com/office/powerpoint/2010/main" val="1962215747"/>
                  </p:ext>
                </p:extLst>
              </p:nvPr>
            </p:nvGraphicFramePr>
            <p:xfrm>
              <a:off x="88043" y="5358489"/>
              <a:ext cx="6681913" cy="2171520"/>
            </p:xfrm>
            <a:graphic>
              <a:graphicData uri="http://schemas.openxmlformats.org/drawingml/2006/table">
                <a:tbl>
                  <a:tblPr firstRow="1" bandRow="1">
                    <a:tableStyleId>{5C22544A-7EE6-4342-B048-85BDC9FD1C3A}</a:tableStyleId>
                  </a:tblPr>
                  <a:tblGrid>
                    <a:gridCol w="1504025">
                      <a:extLst>
                        <a:ext uri="{9D8B030D-6E8A-4147-A177-3AD203B41FA5}">
                          <a16:colId xmlns:a16="http://schemas.microsoft.com/office/drawing/2014/main" val="1568142362"/>
                        </a:ext>
                      </a:extLst>
                    </a:gridCol>
                    <a:gridCol w="1741378">
                      <a:extLst>
                        <a:ext uri="{9D8B030D-6E8A-4147-A177-3AD203B41FA5}">
                          <a16:colId xmlns:a16="http://schemas.microsoft.com/office/drawing/2014/main" val="3551711160"/>
                        </a:ext>
                      </a:extLst>
                    </a:gridCol>
                    <a:gridCol w="1718255">
                      <a:extLst>
                        <a:ext uri="{9D8B030D-6E8A-4147-A177-3AD203B41FA5}">
                          <a16:colId xmlns:a16="http://schemas.microsoft.com/office/drawing/2014/main" val="1712497518"/>
                        </a:ext>
                      </a:extLst>
                    </a:gridCol>
                    <a:gridCol w="1718255">
                      <a:extLst>
                        <a:ext uri="{9D8B030D-6E8A-4147-A177-3AD203B41FA5}">
                          <a16:colId xmlns:a16="http://schemas.microsoft.com/office/drawing/2014/main" val="886122921"/>
                        </a:ext>
                      </a:extLst>
                    </a:gridCol>
                  </a:tblGrid>
                  <a:tr h="274320">
                    <a:tc>
                      <a:txBody>
                        <a:bodyPr/>
                        <a:lstStyle/>
                        <a:p>
                          <a:endParaRPr lang="en-GB" sz="1200" b="1" noProof="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FF0000"/>
                              </a:solidFill>
                            </a:rPr>
                            <a:t>Example 4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chemeClr val="accent2"/>
                              </a:solidFill>
                            </a:rPr>
                            <a:t>Example 5 -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00B050"/>
                              </a:solidFill>
                            </a:rPr>
                            <a:t>Example 6 -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457200">
                    <a:tc>
                      <a:txBody>
                        <a:bodyPr/>
                        <a:lstStyle/>
                        <a:p>
                          <a:r>
                            <a:rPr lang="en-GB" sz="12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5"/>
                          <a:stretch>
                            <a:fillRect l="-86713" t="-60000" r="-197902" b="-31866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5"/>
                          <a:stretch>
                            <a:fillRect l="-189362" t="-60000" r="-100709" b="-31866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5"/>
                          <a:stretch>
                            <a:fillRect l="-289362" t="-60000" r="-709" b="-318667"/>
                          </a:stretch>
                        </a:blipFill>
                      </a:tcPr>
                    </a:tc>
                    <a:extLst>
                      <a:ext uri="{0D108BD9-81ED-4DB2-BD59-A6C34878D82A}">
                        <a16:rowId xmlns:a16="http://schemas.microsoft.com/office/drawing/2014/main" val="2357201933"/>
                      </a:ext>
                    </a:extLst>
                  </a:tr>
                  <a:tr h="1440000">
                    <a:tc>
                      <a:txBody>
                        <a:bodyPr/>
                        <a:lstStyle/>
                        <a:p>
                          <a:pPr marL="0" indent="0">
                            <a:buNone/>
                          </a:pPr>
                          <a:r>
                            <a:rPr lang="en-GB" sz="1200" noProof="0">
                              <a:solidFill>
                                <a:schemeClr val="tx1"/>
                              </a:solidFill>
                            </a:rPr>
                            <a:t>1) Circle the variable you want to make the subject.</a:t>
                          </a:r>
                        </a:p>
                        <a:p>
                          <a:pPr marL="0" indent="0">
                            <a:buNone/>
                          </a:pPr>
                          <a:endParaRPr lang="en-GB" sz="1200" noProof="0">
                            <a:solidFill>
                              <a:schemeClr val="tx1"/>
                            </a:solidFill>
                          </a:endParaRPr>
                        </a:p>
                        <a:p>
                          <a:pPr marL="0" indent="0">
                            <a:buNone/>
                          </a:pPr>
                          <a:r>
                            <a:rPr lang="en-GB" sz="1200" noProof="0">
                              <a:solidFill>
                                <a:schemeClr val="tx1"/>
                              </a:solidFill>
                            </a:rPr>
                            <a:t>2) Use inverse operation</a:t>
                          </a:r>
                          <a:r>
                            <a:rPr lang="en-GB" sz="1200" b="1" u="sng" noProof="0">
                              <a:solidFill>
                                <a:schemeClr val="tx1"/>
                              </a:solidFill>
                            </a:rPr>
                            <a:t>s</a:t>
                          </a:r>
                          <a:r>
                            <a:rPr lang="en-GB" sz="1200" noProof="0">
                              <a:solidFill>
                                <a:schemeClr val="tx1"/>
                              </a:solidFill>
                            </a:rPr>
                            <a:t> to isolate the variable.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5"/>
                          <a:stretch>
                            <a:fillRect l="-86713" t="-50633" r="-197902" b="-84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5"/>
                          <a:stretch>
                            <a:fillRect l="-189362" t="-50633" r="-100709" b="-84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5"/>
                          <a:stretch>
                            <a:fillRect l="-289362" t="-50633" r="-709" b="-844"/>
                          </a:stretch>
                        </a:blipFill>
                      </a:tcPr>
                    </a:tc>
                    <a:extLst>
                      <a:ext uri="{0D108BD9-81ED-4DB2-BD59-A6C34878D82A}">
                        <a16:rowId xmlns:a16="http://schemas.microsoft.com/office/drawing/2014/main" val="3293625240"/>
                      </a:ext>
                    </a:extLst>
                  </a:tr>
                </a:tbl>
              </a:graphicData>
            </a:graphic>
          </p:graphicFrame>
        </mc:Fallback>
      </mc:AlternateContent>
      <p:sp>
        <p:nvSpPr>
          <p:cNvPr id="32" name="Rectangle 31">
            <a:extLst>
              <a:ext uri="{FF2B5EF4-FFF2-40B4-BE49-F238E27FC236}">
                <a16:creationId xmlns:a16="http://schemas.microsoft.com/office/drawing/2014/main" id="{BF4E70C8-4B13-D3DA-535F-C96D997083CF}"/>
              </a:ext>
            </a:extLst>
          </p:cNvPr>
          <p:cNvSpPr/>
          <p:nvPr/>
        </p:nvSpPr>
        <p:spPr>
          <a:xfrm>
            <a:off x="0" y="7562667"/>
            <a:ext cx="1959430" cy="248304"/>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a:t>Independent Practice</a:t>
            </a: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CA8915FD-871F-DB01-A4EC-A2E1A88796AD}"/>
                  </a:ext>
                </a:extLst>
              </p:cNvPr>
              <p:cNvSpPr txBox="1"/>
              <p:nvPr/>
            </p:nvSpPr>
            <p:spPr>
              <a:xfrm>
                <a:off x="1714355" y="7562667"/>
                <a:ext cx="3646054" cy="276999"/>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Question 2. Make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oMath>
                </a14:m>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the subject of the following:</a:t>
                </a:r>
              </a:p>
            </p:txBody>
          </p:sp>
        </mc:Choice>
        <mc:Fallback xmlns="">
          <p:sp>
            <p:nvSpPr>
              <p:cNvPr id="33" name="TextBox 32">
                <a:extLst>
                  <a:ext uri="{FF2B5EF4-FFF2-40B4-BE49-F238E27FC236}">
                    <a16:creationId xmlns:a16="http://schemas.microsoft.com/office/drawing/2014/main" id="{CA8915FD-871F-DB01-A4EC-A2E1A88796AD}"/>
                  </a:ext>
                </a:extLst>
              </p:cNvPr>
              <p:cNvSpPr txBox="1">
                <a:spLocks noRot="1" noChangeAspect="1" noMove="1" noResize="1" noEditPoints="1" noAdjustHandles="1" noChangeArrowheads="1" noChangeShapeType="1" noTextEdit="1"/>
              </p:cNvSpPr>
              <p:nvPr/>
            </p:nvSpPr>
            <p:spPr>
              <a:xfrm>
                <a:off x="1714355" y="7562667"/>
                <a:ext cx="3646054" cy="276999"/>
              </a:xfrm>
              <a:prstGeom prst="rect">
                <a:avLst/>
              </a:prstGeom>
              <a:blipFill>
                <a:blip r:embed="rId19"/>
                <a:stretch>
                  <a:fillRect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4" name="Table 33">
                <a:extLst>
                  <a:ext uri="{FF2B5EF4-FFF2-40B4-BE49-F238E27FC236}">
                    <a16:creationId xmlns:a16="http://schemas.microsoft.com/office/drawing/2014/main" id="{36113B6F-E74D-F63E-BB4E-C34AF028DF94}"/>
                  </a:ext>
                </a:extLst>
              </p:cNvPr>
              <p:cNvGraphicFramePr>
                <a:graphicFrameLocks noGrp="1"/>
              </p:cNvGraphicFramePr>
              <p:nvPr>
                <p:extLst>
                  <p:ext uri="{D42A27DB-BD31-4B8C-83A1-F6EECF244321}">
                    <p14:modId xmlns:p14="http://schemas.microsoft.com/office/powerpoint/2010/main" val="3039983864"/>
                  </p:ext>
                </p:extLst>
              </p:nvPr>
            </p:nvGraphicFramePr>
            <p:xfrm>
              <a:off x="88044" y="7985806"/>
              <a:ext cx="6681912" cy="1620000"/>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3178689366"/>
                        </a:ext>
                      </a:extLst>
                    </a:gridCol>
                    <a:gridCol w="1670478">
                      <a:extLst>
                        <a:ext uri="{9D8B030D-6E8A-4147-A177-3AD203B41FA5}">
                          <a16:colId xmlns:a16="http://schemas.microsoft.com/office/drawing/2014/main" val="3483665526"/>
                        </a:ext>
                      </a:extLst>
                    </a:gridCol>
                    <a:gridCol w="1670478">
                      <a:extLst>
                        <a:ext uri="{9D8B030D-6E8A-4147-A177-3AD203B41FA5}">
                          <a16:colId xmlns:a16="http://schemas.microsoft.com/office/drawing/2014/main" val="3288622662"/>
                        </a:ext>
                      </a:extLst>
                    </a:gridCol>
                    <a:gridCol w="1670478">
                      <a:extLst>
                        <a:ext uri="{9D8B030D-6E8A-4147-A177-3AD203B41FA5}">
                          <a16:colId xmlns:a16="http://schemas.microsoft.com/office/drawing/2014/main" val="2195074609"/>
                        </a:ext>
                      </a:extLst>
                    </a:gridCol>
                  </a:tblGrid>
                  <a:tr h="1620000">
                    <a:tc>
                      <a:txBody>
                        <a:bodyPr/>
                        <a:lstStyle/>
                        <a:p>
                          <a:r>
                            <a:rPr lang="en-GB" sz="1200" b="0" noProof="0" dirty="0">
                              <a:solidFill>
                                <a:schemeClr val="tx1"/>
                              </a:solidFill>
                            </a:rPr>
                            <a:t>a) </a:t>
                          </a:r>
                          <a14:m>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 + 4</m:t>
                                  </m:r>
                                </m:num>
                                <m:den>
                                  <m:r>
                                    <a:rPr lang="en-GB" sz="1200" b="0" i="1" noProof="0" smtClean="0">
                                      <a:solidFill>
                                        <a:schemeClr val="tx1"/>
                                      </a:solidFill>
                                      <a:latin typeface="Cambria Math" panose="02040503050406030204" pitchFamily="18" charset="0"/>
                                    </a:rPr>
                                    <m:t>3</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𝑚</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b) </a:t>
                          </a:r>
                          <a14:m>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 + 3</m:t>
                                  </m:r>
                                </m:num>
                                <m:den>
                                  <m:r>
                                    <a:rPr lang="en-GB" sz="1200" b="0" i="1" noProof="0" smtClean="0">
                                      <a:solidFill>
                                        <a:schemeClr val="tx1"/>
                                      </a:solidFill>
                                      <a:latin typeface="Cambria Math" panose="02040503050406030204" pitchFamily="18" charset="0"/>
                                    </a:rPr>
                                    <m:t>5</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h</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c) </a:t>
                          </a:r>
                          <a14:m>
                            <m:oMath xmlns:m="http://schemas.openxmlformats.org/officeDocument/2006/math">
                              <m:r>
                                <a:rPr lang="en-GB" sz="1200" b="0" i="1" noProof="0" smtClean="0">
                                  <a:solidFill>
                                    <a:schemeClr val="tx1"/>
                                  </a:solidFill>
                                  <a:latin typeface="Cambria Math" panose="02040503050406030204" pitchFamily="18" charset="0"/>
                                </a:rPr>
                                <m:t>𝑡</m:t>
                              </m:r>
                              <m:r>
                                <a:rPr lang="en-GB" sz="1200" b="0" i="1" noProof="0" smtClean="0">
                                  <a:solidFill>
                                    <a:schemeClr val="tx1"/>
                                  </a:solidFill>
                                  <a:latin typeface="Cambria Math" panose="02040503050406030204" pitchFamily="18" charset="0"/>
                                </a:rPr>
                                <m: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𝑣</m:t>
                                  </m:r>
                                </m:num>
                                <m:den>
                                  <m:r>
                                    <a:rPr lang="en-GB" sz="1200" b="0" i="1" noProof="0" smtClean="0">
                                      <a:solidFill>
                                        <a:schemeClr val="tx1"/>
                                      </a:solidFill>
                                      <a:latin typeface="Cambria Math" panose="02040503050406030204" pitchFamily="18" charset="0"/>
                                    </a:rPr>
                                    <m:t>4</m:t>
                                  </m:r>
                                </m:den>
                              </m:f>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d) </a:t>
                          </a:r>
                          <a14:m>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num>
                                <m:den>
                                  <m:r>
                                    <a:rPr lang="en-GB" sz="1200" b="0" i="1" noProof="0" smtClean="0">
                                      <a:solidFill>
                                        <a:schemeClr val="tx1"/>
                                      </a:solidFill>
                                      <a:latin typeface="Cambria Math" panose="02040503050406030204" pitchFamily="18" charset="0"/>
                                    </a:rPr>
                                    <m:t>𝑎</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𝑟</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6427893"/>
                      </a:ext>
                    </a:extLst>
                  </a:tr>
                </a:tbl>
              </a:graphicData>
            </a:graphic>
          </p:graphicFrame>
        </mc:Choice>
        <mc:Fallback xmlns="">
          <p:graphicFrame>
            <p:nvGraphicFramePr>
              <p:cNvPr id="34" name="Table 33">
                <a:extLst>
                  <a:ext uri="{FF2B5EF4-FFF2-40B4-BE49-F238E27FC236}">
                    <a16:creationId xmlns:a16="http://schemas.microsoft.com/office/drawing/2014/main" id="{36113B6F-E74D-F63E-BB4E-C34AF028DF94}"/>
                  </a:ext>
                </a:extLst>
              </p:cNvPr>
              <p:cNvGraphicFramePr>
                <a:graphicFrameLocks noGrp="1"/>
              </p:cNvGraphicFramePr>
              <p:nvPr>
                <p:extLst>
                  <p:ext uri="{D42A27DB-BD31-4B8C-83A1-F6EECF244321}">
                    <p14:modId xmlns:p14="http://schemas.microsoft.com/office/powerpoint/2010/main" val="3039983864"/>
                  </p:ext>
                </p:extLst>
              </p:nvPr>
            </p:nvGraphicFramePr>
            <p:xfrm>
              <a:off x="88044" y="7985806"/>
              <a:ext cx="6681912" cy="1620000"/>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3178689366"/>
                        </a:ext>
                      </a:extLst>
                    </a:gridCol>
                    <a:gridCol w="1670478">
                      <a:extLst>
                        <a:ext uri="{9D8B030D-6E8A-4147-A177-3AD203B41FA5}">
                          <a16:colId xmlns:a16="http://schemas.microsoft.com/office/drawing/2014/main" val="3483665526"/>
                        </a:ext>
                      </a:extLst>
                    </a:gridCol>
                    <a:gridCol w="1670478">
                      <a:extLst>
                        <a:ext uri="{9D8B030D-6E8A-4147-A177-3AD203B41FA5}">
                          <a16:colId xmlns:a16="http://schemas.microsoft.com/office/drawing/2014/main" val="3288622662"/>
                        </a:ext>
                      </a:extLst>
                    </a:gridCol>
                    <a:gridCol w="1670478">
                      <a:extLst>
                        <a:ext uri="{9D8B030D-6E8A-4147-A177-3AD203B41FA5}">
                          <a16:colId xmlns:a16="http://schemas.microsoft.com/office/drawing/2014/main" val="2195074609"/>
                        </a:ext>
                      </a:extLst>
                    </a:gridCol>
                  </a:tblGrid>
                  <a:tr h="162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0"/>
                          <a:stretch>
                            <a:fillRect l="-365" t="-752" r="-301095" b="-75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0"/>
                          <a:stretch>
                            <a:fillRect l="-100000" t="-752" r="-200000" b="-75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0"/>
                          <a:stretch>
                            <a:fillRect l="-200730" t="-752" r="-100730" b="-75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0"/>
                          <a:stretch>
                            <a:fillRect l="-300730" t="-752" r="-730" b="-752"/>
                          </a:stretch>
                        </a:blipFill>
                      </a:tcPr>
                    </a:tc>
                    <a:extLst>
                      <a:ext uri="{0D108BD9-81ED-4DB2-BD59-A6C34878D82A}">
                        <a16:rowId xmlns:a16="http://schemas.microsoft.com/office/drawing/2014/main" val="2606427893"/>
                      </a:ext>
                    </a:extLst>
                  </a:tr>
                </a:tbl>
              </a:graphicData>
            </a:graphic>
          </p:graphicFrame>
        </mc:Fallback>
      </mc:AlternateContent>
    </p:spTree>
    <p:extLst>
      <p:ext uri="{BB962C8B-B14F-4D97-AF65-F5344CB8AC3E}">
        <p14:creationId xmlns:p14="http://schemas.microsoft.com/office/powerpoint/2010/main" val="1343043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C5751-1545-41CC-36AC-CB3C1BC8B9F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27FE58-6F90-C4A7-952B-D99101E79304}"/>
              </a:ext>
            </a:extLst>
          </p:cNvPr>
          <p:cNvSpPr>
            <a:spLocks noGrp="1"/>
          </p:cNvSpPr>
          <p:nvPr>
            <p:ph type="sldNum" sz="quarter" idx="12"/>
          </p:nvPr>
        </p:nvSpPr>
        <p:spPr>
          <a:xfrm>
            <a:off x="5257800" y="9429021"/>
            <a:ext cx="1543050" cy="527403"/>
          </a:xfrm>
        </p:spPr>
        <p:txBody>
          <a:bodyPr/>
          <a:lstStyle/>
          <a:p>
            <a:fld id="{086C3A38-D272-42AA-9C88-F1FBEAE20D2C}" type="slidenum">
              <a:rPr lang="en-GB" noProof="0" smtClean="0"/>
              <a:t>4</a:t>
            </a:fld>
            <a:endParaRPr lang="en-GB" noProof="0" dirty="0"/>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75FC1A8D-B098-76C5-F990-4F21EF86AED2}"/>
                  </a:ext>
                </a:extLst>
              </p:cNvPr>
              <p:cNvGraphicFramePr>
                <a:graphicFrameLocks noGrp="1"/>
              </p:cNvGraphicFramePr>
              <p:nvPr>
                <p:extLst>
                  <p:ext uri="{D42A27DB-BD31-4B8C-83A1-F6EECF244321}">
                    <p14:modId xmlns:p14="http://schemas.microsoft.com/office/powerpoint/2010/main" val="2956727814"/>
                  </p:ext>
                </p:extLst>
              </p:nvPr>
            </p:nvGraphicFramePr>
            <p:xfrm>
              <a:off x="88044" y="144198"/>
              <a:ext cx="6681912" cy="4178218"/>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3647236309"/>
                        </a:ext>
                      </a:extLst>
                    </a:gridCol>
                    <a:gridCol w="1670478">
                      <a:extLst>
                        <a:ext uri="{9D8B030D-6E8A-4147-A177-3AD203B41FA5}">
                          <a16:colId xmlns:a16="http://schemas.microsoft.com/office/drawing/2014/main" val="2570924096"/>
                        </a:ext>
                      </a:extLst>
                    </a:gridCol>
                    <a:gridCol w="1670478">
                      <a:extLst>
                        <a:ext uri="{9D8B030D-6E8A-4147-A177-3AD203B41FA5}">
                          <a16:colId xmlns:a16="http://schemas.microsoft.com/office/drawing/2014/main" val="416811348"/>
                        </a:ext>
                      </a:extLst>
                    </a:gridCol>
                    <a:gridCol w="1670478">
                      <a:extLst>
                        <a:ext uri="{9D8B030D-6E8A-4147-A177-3AD203B41FA5}">
                          <a16:colId xmlns:a16="http://schemas.microsoft.com/office/drawing/2014/main" val="2813845385"/>
                        </a:ext>
                      </a:extLst>
                    </a:gridCol>
                  </a:tblGrid>
                  <a:tr h="2089109">
                    <a:tc>
                      <a:txBody>
                        <a:bodyPr/>
                        <a:lstStyle/>
                        <a:p>
                          <a:r>
                            <a:rPr lang="en-GB" sz="1200" b="0" noProof="0" dirty="0">
                              <a:solidFill>
                                <a:schemeClr val="tx1"/>
                              </a:solidFill>
                            </a:rPr>
                            <a:t>e) </a:t>
                          </a:r>
                          <a14:m>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 + 3</m:t>
                                  </m:r>
                                </m:num>
                                <m:den>
                                  <m:r>
                                    <a:rPr lang="en-GB" sz="1200" b="0" i="1" noProof="0" smtClean="0">
                                      <a:solidFill>
                                        <a:schemeClr val="tx1"/>
                                      </a:solidFill>
                                      <a:latin typeface="Cambria Math" panose="02040503050406030204" pitchFamily="18" charset="0"/>
                                    </a:rPr>
                                    <m:t>𝑐</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h</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f) </a:t>
                          </a:r>
                          <a14:m>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𝑤</m:t>
                                  </m:r>
                                  <m:r>
                                    <a:rPr lang="en-GB" sz="1200" b="0" i="1" noProof="0" smtClean="0">
                                      <a:solidFill>
                                        <a:schemeClr val="tx1"/>
                                      </a:solidFill>
                                      <a:latin typeface="Cambria Math" panose="02040503050406030204" pitchFamily="18" charset="0"/>
                                    </a:rPr>
                                    <m:t> + </m:t>
                                  </m:r>
                                  <m:r>
                                    <a:rPr lang="en-GB" sz="1200" b="0" i="1" noProof="0" smtClean="0">
                                      <a:solidFill>
                                        <a:schemeClr val="tx1"/>
                                      </a:solidFill>
                                      <a:latin typeface="Cambria Math" panose="02040503050406030204" pitchFamily="18" charset="0"/>
                                    </a:rPr>
                                    <m:t>𝑥</m:t>
                                  </m:r>
                                </m:num>
                                <m:den>
                                  <m:r>
                                    <a:rPr lang="en-GB" sz="1200" b="0" i="1" noProof="0" smtClean="0">
                                      <a:solidFill>
                                        <a:schemeClr val="tx1"/>
                                      </a:solidFill>
                                      <a:latin typeface="Cambria Math" panose="02040503050406030204" pitchFamily="18" charset="0"/>
                                    </a:rPr>
                                    <m:t>𝑢</m:t>
                                  </m:r>
                                </m:den>
                              </m:f>
                              <m:r>
                                <a:rPr lang="en-GB" sz="1200" b="0" i="1" noProof="0" smtClean="0">
                                  <a:solidFill>
                                    <a:schemeClr val="tx1"/>
                                  </a:solidFill>
                                  <a:latin typeface="Cambria Math" panose="02040503050406030204" pitchFamily="18" charset="0"/>
                                </a:rPr>
                                <m:t>=3</m:t>
                              </m:r>
                              <m:r>
                                <a:rPr lang="en-GB" sz="1200" b="0" i="1" noProof="0" smtClean="0">
                                  <a:solidFill>
                                    <a:schemeClr val="tx1"/>
                                  </a:solidFill>
                                  <a:latin typeface="Cambria Math" panose="02040503050406030204" pitchFamily="18" charset="0"/>
                                </a:rPr>
                                <m:t>𝑧</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g) </a:t>
                          </a:r>
                          <a14:m>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 + </m:t>
                                  </m:r>
                                  <m:r>
                                    <a:rPr lang="en-GB" sz="1200" b="0" i="1" noProof="0" smtClean="0">
                                      <a:solidFill>
                                        <a:schemeClr val="tx1"/>
                                      </a:solidFill>
                                      <a:latin typeface="Cambria Math" panose="02040503050406030204" pitchFamily="18" charset="0"/>
                                    </a:rPr>
                                    <m:t>𝑡</m:t>
                                  </m:r>
                                </m:num>
                                <m:den>
                                  <m:r>
                                    <a:rPr lang="en-GB" sz="1200" b="0" i="1" noProof="0" smtClean="0">
                                      <a:solidFill>
                                        <a:schemeClr val="tx1"/>
                                      </a:solidFill>
                                      <a:latin typeface="Cambria Math" panose="02040503050406030204" pitchFamily="18" charset="0"/>
                                    </a:rPr>
                                    <m:t>𝑚</m:t>
                                  </m:r>
                                </m:den>
                              </m:f>
                              <m:r>
                                <a:rPr lang="en-GB" sz="1200" b="0" i="1" noProof="0" smtClean="0">
                                  <a:solidFill>
                                    <a:schemeClr val="tx1"/>
                                  </a:solidFill>
                                  <a:latin typeface="Cambria Math" panose="02040503050406030204" pitchFamily="18" charset="0"/>
                                </a:rPr>
                                <m:t>=2</m:t>
                              </m:r>
                              <m:r>
                                <a:rPr lang="en-GB" sz="1200" b="0" i="1" noProof="0" smtClean="0">
                                  <a:solidFill>
                                    <a:schemeClr val="tx1"/>
                                  </a:solidFill>
                                  <a:latin typeface="Cambria Math" panose="02040503050406030204" pitchFamily="18" charset="0"/>
                                </a:rPr>
                                <m:t>𝑐</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solidFill>
                                <a:schemeClr val="tx1"/>
                              </a:solidFill>
                            </a:rPr>
                            <a:t>h) </a:t>
                          </a:r>
                          <a14:m>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 + </m:t>
                                  </m:r>
                                  <m:r>
                                    <a:rPr lang="en-GB" sz="1200" b="0" i="1" noProof="0" smtClean="0">
                                      <a:solidFill>
                                        <a:schemeClr val="tx1"/>
                                      </a:solidFill>
                                      <a:latin typeface="Cambria Math" panose="02040503050406030204" pitchFamily="18" charset="0"/>
                                    </a:rPr>
                                    <m:t>𝑞</m:t>
                                  </m:r>
                                </m:num>
                                <m:den>
                                  <m:r>
                                    <a:rPr lang="en-GB" sz="1200" b="0" i="1" noProof="0" smtClean="0">
                                      <a:solidFill>
                                        <a:schemeClr val="tx1"/>
                                      </a:solidFill>
                                      <a:latin typeface="Cambria Math" panose="02040503050406030204" pitchFamily="18" charset="0"/>
                                    </a:rPr>
                                    <m:t>𝑝</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𝑝</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58045507"/>
                      </a:ext>
                    </a:extLst>
                  </a:tr>
                  <a:tr h="2089109">
                    <a:tc>
                      <a:txBody>
                        <a:bodyPr/>
                        <a:lstStyle/>
                        <a:p>
                          <a:r>
                            <a:rPr lang="en-GB" sz="1200" b="0" noProof="0" dirty="0" err="1"/>
                            <a:t>i</a:t>
                          </a:r>
                          <a:r>
                            <a:rPr lang="en-GB" sz="1200" b="0" noProof="0" dirty="0"/>
                            <a:t>) </a:t>
                          </a:r>
                          <a14:m>
                            <m:oMath xmlns:m="http://schemas.openxmlformats.org/officeDocument/2006/math">
                              <m:r>
                                <a:rPr lang="en-GB" sz="1200" b="0" i="1" noProof="0" smtClean="0">
                                  <a:latin typeface="Cambria Math" panose="02040503050406030204" pitchFamily="18" charset="0"/>
                                </a:rPr>
                                <m:t>h</m:t>
                              </m:r>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2</m:t>
                                  </m:r>
                                </m:den>
                              </m:f>
                              <m:r>
                                <a:rPr lang="en-GB" sz="1200" b="0" i="1" noProof="0" smtClean="0">
                                  <a:latin typeface="Cambria Math" panose="02040503050406030204" pitchFamily="18" charset="0"/>
                                </a:rPr>
                                <m:t>−</m:t>
                              </m:r>
                              <m:r>
                                <a:rPr lang="en-GB" sz="1200" b="0" i="1" noProof="0" smtClean="0">
                                  <a:latin typeface="Cambria Math" panose="02040503050406030204" pitchFamily="18" charset="0"/>
                                </a:rPr>
                                <m:t>𝑓</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t>j) </a:t>
                          </a:r>
                          <a14:m>
                            <m:oMath xmlns:m="http://schemas.openxmlformats.org/officeDocument/2006/math">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6</m:t>
                                  </m:r>
                                </m:den>
                              </m:f>
                              <m:r>
                                <a:rPr lang="en-GB" sz="1200" b="0" i="1" noProof="0" smtClean="0">
                                  <a:latin typeface="Cambria Math" panose="02040503050406030204" pitchFamily="18" charset="0"/>
                                </a:rPr>
                                <m:t>−5=</m:t>
                              </m:r>
                              <m:r>
                                <a:rPr lang="en-GB" sz="1200" b="0" i="1" noProof="0" smtClean="0">
                                  <a:latin typeface="Cambria Math" panose="02040503050406030204" pitchFamily="18" charset="0"/>
                                </a:rPr>
                                <m:t>𝑤</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t>k) </a:t>
                          </a:r>
                          <a14:m>
                            <m:oMath xmlns:m="http://schemas.openxmlformats.org/officeDocument/2006/math">
                              <m:r>
                                <a:rPr lang="en-GB" sz="1200" b="0" i="1" noProof="0" smtClean="0">
                                  <a:solidFill>
                                    <a:schemeClr val="tx1"/>
                                  </a:solidFill>
                                  <a:latin typeface="Cambria Math" panose="02040503050406030204" pitchFamily="18" charset="0"/>
                                </a:rPr>
                                <m:t>𝑡</m:t>
                              </m:r>
                              <m:r>
                                <a:rPr lang="en-GB" sz="1200" b="0" i="1" noProof="0" smtClean="0">
                                  <a:solidFill>
                                    <a:schemeClr val="tx1"/>
                                  </a:solidFill>
                                  <a:latin typeface="Cambria Math" panose="02040503050406030204" pitchFamily="18" charset="0"/>
                                </a:rPr>
                                <m: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num>
                                <m:den>
                                  <m:r>
                                    <a:rPr lang="en-GB" sz="1200" b="0" i="1" noProof="0" smtClean="0">
                                      <a:solidFill>
                                        <a:schemeClr val="tx1"/>
                                      </a:solidFill>
                                      <a:latin typeface="Cambria Math" panose="02040503050406030204" pitchFamily="18" charset="0"/>
                                    </a:rPr>
                                    <m:t>4</m:t>
                                  </m:r>
                                </m:den>
                              </m:f>
                              <m:r>
                                <a:rPr lang="en-GB" sz="1200" b="0" i="1" noProof="0" smtClean="0">
                                  <a:solidFill>
                                    <a:schemeClr val="tx1"/>
                                  </a:solidFill>
                                  <a:latin typeface="Cambria Math" panose="02040503050406030204" pitchFamily="18" charset="0"/>
                                </a:rPr>
                                <m:t>+1</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t>l) </a:t>
                          </a:r>
                          <a14:m>
                            <m:oMath xmlns:m="http://schemas.openxmlformats.org/officeDocument/2006/math">
                              <m:r>
                                <a:rPr lang="en-GB" sz="1200" b="0" i="1" noProof="0" smtClean="0">
                                  <a:latin typeface="Cambria Math" panose="02040503050406030204" pitchFamily="18" charset="0"/>
                                </a:rPr>
                                <m:t>𝑦</m:t>
                              </m:r>
                              <m:r>
                                <a:rPr lang="en-GB" sz="1200" b="0" i="1" noProof="0" smtClean="0">
                                  <a:latin typeface="Cambria Math" panose="02040503050406030204" pitchFamily="18" charset="0"/>
                                </a:rPr>
                                <m:t>=</m:t>
                              </m:r>
                              <m:f>
                                <m:fPr>
                                  <m:ctrlPr>
                                    <a:rPr lang="en-GB" sz="1200" b="0" i="1" noProof="0" smtClean="0">
                                      <a:latin typeface="Cambria Math" panose="02040503050406030204" pitchFamily="18" charset="0"/>
                                    </a:rPr>
                                  </m:ctrlPr>
                                </m:fPr>
                                <m:num>
                                  <m:r>
                                    <a:rPr lang="en-GB" sz="1200" b="0" i="1" noProof="0" smtClean="0">
                                      <a:latin typeface="Cambria Math" panose="02040503050406030204" pitchFamily="18" charset="0"/>
                                    </a:rPr>
                                    <m:t>𝑥</m:t>
                                  </m:r>
                                </m:num>
                                <m:den>
                                  <m:r>
                                    <a:rPr lang="en-GB" sz="1200" b="0" i="1" noProof="0" smtClean="0">
                                      <a:latin typeface="Cambria Math" panose="02040503050406030204" pitchFamily="18" charset="0"/>
                                    </a:rPr>
                                    <m:t>3</m:t>
                                  </m:r>
                                </m:den>
                              </m:f>
                              <m:r>
                                <a:rPr lang="en-GB" sz="1200" b="0" i="1" noProof="0" smtClean="0">
                                  <a:latin typeface="Cambria Math" panose="02040503050406030204" pitchFamily="18" charset="0"/>
                                </a:rPr>
                                <m:t>−7</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05854048"/>
                      </a:ext>
                    </a:extLst>
                  </a:tr>
                </a:tbl>
              </a:graphicData>
            </a:graphic>
          </p:graphicFrame>
        </mc:Choice>
        <mc:Fallback xmlns="">
          <p:graphicFrame>
            <p:nvGraphicFramePr>
              <p:cNvPr id="6" name="Table 5">
                <a:extLst>
                  <a:ext uri="{FF2B5EF4-FFF2-40B4-BE49-F238E27FC236}">
                    <a16:creationId xmlns:a16="http://schemas.microsoft.com/office/drawing/2014/main" id="{75FC1A8D-B098-76C5-F990-4F21EF86AED2}"/>
                  </a:ext>
                </a:extLst>
              </p:cNvPr>
              <p:cNvGraphicFramePr>
                <a:graphicFrameLocks noGrp="1"/>
              </p:cNvGraphicFramePr>
              <p:nvPr>
                <p:extLst>
                  <p:ext uri="{D42A27DB-BD31-4B8C-83A1-F6EECF244321}">
                    <p14:modId xmlns:p14="http://schemas.microsoft.com/office/powerpoint/2010/main" val="2956727814"/>
                  </p:ext>
                </p:extLst>
              </p:nvPr>
            </p:nvGraphicFramePr>
            <p:xfrm>
              <a:off x="88044" y="144198"/>
              <a:ext cx="6681912" cy="4178218"/>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3647236309"/>
                        </a:ext>
                      </a:extLst>
                    </a:gridCol>
                    <a:gridCol w="1670478">
                      <a:extLst>
                        <a:ext uri="{9D8B030D-6E8A-4147-A177-3AD203B41FA5}">
                          <a16:colId xmlns:a16="http://schemas.microsoft.com/office/drawing/2014/main" val="2570924096"/>
                        </a:ext>
                      </a:extLst>
                    </a:gridCol>
                    <a:gridCol w="1670478">
                      <a:extLst>
                        <a:ext uri="{9D8B030D-6E8A-4147-A177-3AD203B41FA5}">
                          <a16:colId xmlns:a16="http://schemas.microsoft.com/office/drawing/2014/main" val="416811348"/>
                        </a:ext>
                      </a:extLst>
                    </a:gridCol>
                    <a:gridCol w="1670478">
                      <a:extLst>
                        <a:ext uri="{9D8B030D-6E8A-4147-A177-3AD203B41FA5}">
                          <a16:colId xmlns:a16="http://schemas.microsoft.com/office/drawing/2014/main" val="2813845385"/>
                        </a:ext>
                      </a:extLst>
                    </a:gridCol>
                  </a:tblGrid>
                  <a:tr h="208910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5" t="-291" r="-301095" b="-10029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000" t="-291" r="-200000" b="-10029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730" t="-291" r="-100730" b="-10029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0730" t="-291" r="-730" b="-100291"/>
                          </a:stretch>
                        </a:blipFill>
                      </a:tcPr>
                    </a:tc>
                    <a:extLst>
                      <a:ext uri="{0D108BD9-81ED-4DB2-BD59-A6C34878D82A}">
                        <a16:rowId xmlns:a16="http://schemas.microsoft.com/office/drawing/2014/main" val="3558045507"/>
                      </a:ext>
                    </a:extLst>
                  </a:tr>
                  <a:tr h="208910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5" t="-100583" r="-301095" b="-58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000" t="-100583" r="-200000" b="-58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730" t="-100583" r="-100730" b="-58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0730" t="-100583" r="-730" b="-583"/>
                          </a:stretch>
                        </a:blipFill>
                      </a:tcPr>
                    </a:tc>
                    <a:extLst>
                      <a:ext uri="{0D108BD9-81ED-4DB2-BD59-A6C34878D82A}">
                        <a16:rowId xmlns:a16="http://schemas.microsoft.com/office/drawing/2014/main" val="3205854048"/>
                      </a:ext>
                    </a:extLst>
                  </a:tr>
                </a:tbl>
              </a:graphicData>
            </a:graphic>
          </p:graphicFrame>
        </mc:Fallback>
      </mc:AlternateContent>
      <p:sp>
        <p:nvSpPr>
          <p:cNvPr id="27" name="Rectangle 26">
            <a:extLst>
              <a:ext uri="{FF2B5EF4-FFF2-40B4-BE49-F238E27FC236}">
                <a16:creationId xmlns:a16="http://schemas.microsoft.com/office/drawing/2014/main" id="{C6233564-6EB6-2C31-C596-D07DA6F84D43}"/>
              </a:ext>
            </a:extLst>
          </p:cNvPr>
          <p:cNvSpPr/>
          <p:nvPr/>
        </p:nvSpPr>
        <p:spPr>
          <a:xfrm>
            <a:off x="88043" y="4422681"/>
            <a:ext cx="2698733" cy="28096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noProof="0" dirty="0">
                <a:solidFill>
                  <a:schemeClr val="bg1"/>
                </a:solidFill>
              </a:rPr>
              <a:t>Multi-step rearranging </a:t>
            </a:r>
          </a:p>
        </p:txBody>
      </p:sp>
      <mc:AlternateContent xmlns:mc="http://schemas.openxmlformats.org/markup-compatibility/2006" xmlns:a14="http://schemas.microsoft.com/office/drawing/2010/main">
        <mc:Choice Requires="a14">
          <p:graphicFrame>
            <p:nvGraphicFramePr>
              <p:cNvPr id="28" name="Table 27">
                <a:extLst>
                  <a:ext uri="{FF2B5EF4-FFF2-40B4-BE49-F238E27FC236}">
                    <a16:creationId xmlns:a16="http://schemas.microsoft.com/office/drawing/2014/main" id="{B4F40624-1C9F-93CD-9D28-1857204E5C16}"/>
                  </a:ext>
                </a:extLst>
              </p:cNvPr>
              <p:cNvGraphicFramePr>
                <a:graphicFrameLocks noGrp="1"/>
              </p:cNvGraphicFramePr>
              <p:nvPr>
                <p:extLst>
                  <p:ext uri="{D42A27DB-BD31-4B8C-83A1-F6EECF244321}">
                    <p14:modId xmlns:p14="http://schemas.microsoft.com/office/powerpoint/2010/main" val="3329306703"/>
                  </p:ext>
                </p:extLst>
              </p:nvPr>
            </p:nvGraphicFramePr>
            <p:xfrm>
              <a:off x="88044" y="4703643"/>
              <a:ext cx="6681913" cy="4879211"/>
            </p:xfrm>
            <a:graphic>
              <a:graphicData uri="http://schemas.openxmlformats.org/drawingml/2006/table">
                <a:tbl>
                  <a:tblPr firstRow="1" bandRow="1">
                    <a:tableStyleId>{5C22544A-7EE6-4342-B048-85BDC9FD1C3A}</a:tableStyleId>
                  </a:tblPr>
                  <a:tblGrid>
                    <a:gridCol w="1504025">
                      <a:extLst>
                        <a:ext uri="{9D8B030D-6E8A-4147-A177-3AD203B41FA5}">
                          <a16:colId xmlns:a16="http://schemas.microsoft.com/office/drawing/2014/main" val="1568142362"/>
                        </a:ext>
                      </a:extLst>
                    </a:gridCol>
                    <a:gridCol w="1741378">
                      <a:extLst>
                        <a:ext uri="{9D8B030D-6E8A-4147-A177-3AD203B41FA5}">
                          <a16:colId xmlns:a16="http://schemas.microsoft.com/office/drawing/2014/main" val="3551711160"/>
                        </a:ext>
                      </a:extLst>
                    </a:gridCol>
                    <a:gridCol w="1718255">
                      <a:extLst>
                        <a:ext uri="{9D8B030D-6E8A-4147-A177-3AD203B41FA5}">
                          <a16:colId xmlns:a16="http://schemas.microsoft.com/office/drawing/2014/main" val="1712497518"/>
                        </a:ext>
                      </a:extLst>
                    </a:gridCol>
                    <a:gridCol w="1718255">
                      <a:extLst>
                        <a:ext uri="{9D8B030D-6E8A-4147-A177-3AD203B41FA5}">
                          <a16:colId xmlns:a16="http://schemas.microsoft.com/office/drawing/2014/main" val="886122921"/>
                        </a:ext>
                      </a:extLst>
                    </a:gridCol>
                  </a:tblGrid>
                  <a:tr h="364746">
                    <a:tc>
                      <a:txBody>
                        <a:bodyPr/>
                        <a:lstStyle/>
                        <a:p>
                          <a:endParaRPr lang="en-GB" sz="1200" b="1" noProof="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7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8 -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9 -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582545">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𝑦</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3109564">
                    <a:tc>
                      <a:txBody>
                        <a:bodyPr/>
                        <a:lstStyle/>
                        <a:p>
                          <a:pPr marL="0" indent="0">
                            <a:buNone/>
                          </a:pPr>
                          <a:r>
                            <a:rPr lang="en-GB" sz="1200" noProof="0" dirty="0">
                              <a:solidFill>
                                <a:schemeClr val="tx1"/>
                              </a:solidFill>
                            </a:rPr>
                            <a:t>1) Circle the variable you want to make the subject.</a:t>
                          </a:r>
                        </a:p>
                        <a:p>
                          <a:pPr marL="0" indent="0">
                            <a:buNone/>
                          </a:pPr>
                          <a:endParaRPr lang="en-GB" sz="1200" noProof="0" dirty="0">
                            <a:solidFill>
                              <a:schemeClr val="tx1"/>
                            </a:solidFill>
                          </a:endParaRPr>
                        </a:p>
                        <a:p>
                          <a:pPr marL="0" indent="0">
                            <a:buNone/>
                          </a:pPr>
                          <a:r>
                            <a:rPr lang="en-GB" sz="1200" noProof="0" dirty="0">
                              <a:solidFill>
                                <a:schemeClr val="tx1"/>
                              </a:solidFill>
                            </a:rPr>
                            <a:t>2) Use inverse operation</a:t>
                          </a:r>
                          <a:r>
                            <a:rPr lang="en-GB" sz="1200" b="1" u="sng" noProof="0" dirty="0">
                              <a:solidFill>
                                <a:schemeClr val="tx1"/>
                              </a:solidFill>
                            </a:rPr>
                            <a:t>s</a:t>
                          </a:r>
                          <a:r>
                            <a:rPr lang="en-GB" sz="1200" noProof="0" dirty="0">
                              <a:solidFill>
                                <a:schemeClr val="tx1"/>
                              </a:solidFill>
                            </a:rPr>
                            <a:t> to isolate the variable.</a:t>
                          </a:r>
                        </a:p>
                        <a:p>
                          <a:pPr marL="0" indent="0">
                            <a:buNone/>
                          </a:pPr>
                          <a:endParaRPr lang="en-GB" sz="1200" noProof="0" dirty="0">
                            <a:solidFill>
                              <a:schemeClr val="tx1"/>
                            </a:solidFill>
                          </a:endParaRPr>
                        </a:p>
                        <a:p>
                          <a:pPr marL="0" indent="0">
                            <a:buNone/>
                          </a:pPr>
                          <a:endParaRPr lang="en-GB" sz="1200" noProof="0" dirty="0">
                            <a:solidFill>
                              <a:schemeClr val="tx1"/>
                            </a:solidFill>
                          </a:endParaRPr>
                        </a:p>
                        <a:p>
                          <a:pPr marL="0" indent="0">
                            <a:buNone/>
                          </a:pPr>
                          <a:endParaRPr lang="en-GB" sz="1200" noProof="0" dirty="0">
                            <a:solidFill>
                              <a:schemeClr val="tx1"/>
                            </a:solidFill>
                          </a:endParaRPr>
                        </a:p>
                        <a:p>
                          <a:pPr marL="0" indent="0">
                            <a:buNone/>
                          </a:pPr>
                          <a:endParaRPr lang="en-GB" sz="1200" noProof="0" dirty="0">
                            <a:solidFill>
                              <a:schemeClr val="tx1"/>
                            </a:solidFill>
                          </a:endParaRPr>
                        </a:p>
                        <a:p>
                          <a:pPr marL="0" indent="0">
                            <a:buNone/>
                          </a:pPr>
                          <a:endParaRPr lang="en-GB" sz="1200" noProof="0" dirty="0">
                            <a:solidFill>
                              <a:schemeClr val="tx1"/>
                            </a:solidFill>
                          </a:endParaRPr>
                        </a:p>
                        <a:p>
                          <a:pPr marL="0" indent="0">
                            <a:buNone/>
                          </a:pPr>
                          <a:endParaRPr lang="en-GB" sz="1200" noProof="0" dirty="0">
                            <a:solidFill>
                              <a:schemeClr val="tx1"/>
                            </a:solidFill>
                          </a:endParaRPr>
                        </a:p>
                        <a:p>
                          <a:pPr marL="0" indent="0">
                            <a:buNone/>
                          </a:pPr>
                          <a:endParaRPr lang="en-GB" sz="1200" noProof="0" dirty="0">
                            <a:solidFill>
                              <a:schemeClr val="tx1"/>
                            </a:solidFill>
                          </a:endParaRPr>
                        </a:p>
                        <a:p>
                          <a:pPr marL="0" indent="0">
                            <a:buNone/>
                          </a:pPr>
                          <a:endParaRPr lang="en-GB" sz="1200" noProof="0" dirty="0">
                            <a:solidFill>
                              <a:schemeClr val="tx1"/>
                            </a:solidFill>
                          </a:endParaRPr>
                        </a:p>
                        <a:p>
                          <a:pPr marL="0" indent="0">
                            <a:buNone/>
                          </a:pPr>
                          <a:endParaRPr lang="en-GB" sz="1200" noProof="0" dirty="0">
                            <a:solidFill>
                              <a:schemeClr val="tx1"/>
                            </a:solidFill>
                          </a:endParaRPr>
                        </a:p>
                        <a:p>
                          <a:pPr marL="0" indent="0">
                            <a:buNone/>
                          </a:pPr>
                          <a:endParaRPr lang="en-GB" sz="1200" noProof="0" dirty="0">
                            <a:solidFill>
                              <a:schemeClr val="tx1"/>
                            </a:solidFill>
                          </a:endParaRPr>
                        </a:p>
                        <a:p>
                          <a:pPr marL="0" indent="0">
                            <a:buNone/>
                          </a:pPr>
                          <a:endParaRPr lang="en-GB" sz="1200" noProof="0" dirty="0">
                            <a:solidFill>
                              <a:schemeClr val="tx1"/>
                            </a:solidFill>
                          </a:endParaRPr>
                        </a:p>
                        <a:p>
                          <a:pPr marL="0" indent="0">
                            <a:buNone/>
                          </a:pPr>
                          <a:endParaRPr lang="en-GB" sz="1200" noProof="0" dirty="0">
                            <a:solidFill>
                              <a:schemeClr val="tx1"/>
                            </a:solidFill>
                          </a:endParaRPr>
                        </a:p>
                        <a:p>
                          <a:pPr marL="0" indent="0">
                            <a:buNone/>
                          </a:pPr>
                          <a:endParaRPr lang="en-GB" sz="1200" noProof="0" dirty="0">
                            <a:solidFill>
                              <a:schemeClr val="tx1"/>
                            </a:solidFill>
                          </a:endParaRPr>
                        </a:p>
                        <a:p>
                          <a:pPr marL="0" indent="0">
                            <a:buNone/>
                          </a:pPr>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7</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num>
                                  <m:den>
                                    <m:r>
                                      <a:rPr lang="en-GB" sz="1200" b="0" i="1" noProof="0" smtClean="0">
                                        <a:solidFill>
                                          <a:schemeClr val="tx1"/>
                                        </a:solidFill>
                                        <a:latin typeface="Cambria Math" panose="02040503050406030204" pitchFamily="18" charset="0"/>
                                      </a:rPr>
                                      <m:t>3</m:t>
                                    </m:r>
                                  </m:den>
                                </m:f>
                                <m:r>
                                  <a:rPr lang="en-GB" sz="1200" b="0" i="1" noProof="0" smtClean="0">
                                    <a:solidFill>
                                      <a:schemeClr val="tx1"/>
                                    </a:solidFill>
                                    <a:latin typeface="Cambria Math" panose="02040503050406030204" pitchFamily="18" charset="0"/>
                                  </a:rPr>
                                  <m:t>=9</m:t>
                                </m:r>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i="1" noProof="0" smtClean="0">
                                    <a:solidFill>
                                      <a:schemeClr val="tx1"/>
                                    </a:solidFill>
                                    <a:latin typeface="Cambria Math" panose="02040503050406030204" pitchFamily="18" charset="0"/>
                                  </a:rPr>
                                  <m:t>2</m:t>
                                </m:r>
                                <m:sSup>
                                  <m:sSupPr>
                                    <m:ctrlPr>
                                      <a:rPr lang="en-GB" sz="1200" b="0" i="1" noProof="0" smtClean="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𝑦</m:t>
                                    </m:r>
                                  </m:e>
                                  <m:sup>
                                    <m:r>
                                      <a:rPr lang="en-GB" sz="1200" b="0" i="1" noProof="0" smtClean="0">
                                        <a:solidFill>
                                          <a:schemeClr val="tx1"/>
                                        </a:solidFill>
                                        <a:latin typeface="Cambria Math" panose="02040503050406030204" pitchFamily="18" charset="0"/>
                                      </a:rPr>
                                      <m:t>2</m:t>
                                    </m:r>
                                  </m:sup>
                                </m:sSup>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𝑚</m:t>
                                </m:r>
                              </m:oMath>
                            </m:oMathPara>
                          </a14:m>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 </a:t>
                          </a:r>
                          <a14:m>
                            <m:oMath xmlns:m="http://schemas.openxmlformats.org/officeDocument/2006/math">
                              <m:f>
                                <m:fPr>
                                  <m:ctrlPr>
                                    <a:rPr lang="en-GB" sz="1200" b="0" i="1" noProof="0" smtClean="0">
                                      <a:solidFill>
                                        <a:schemeClr val="tx1"/>
                                      </a:solidFill>
                                      <a:latin typeface="Cambria Math" panose="02040503050406030204" pitchFamily="18" charset="0"/>
                                    </a:rPr>
                                  </m:ctrlPr>
                                </m:fPr>
                                <m:num>
                                  <m:rad>
                                    <m:radPr>
                                      <m:degHide m:val="on"/>
                                      <m:ctrlPr>
                                        <a:rPr lang="en-GB" sz="1200" b="0" i="1" noProof="0" smtClean="0">
                                          <a:solidFill>
                                            <a:schemeClr val="tx1"/>
                                          </a:solidFill>
                                          <a:latin typeface="Cambria Math" panose="02040503050406030204" pitchFamily="18" charset="0"/>
                                        </a:rPr>
                                      </m:ctrlPr>
                                    </m:radPr>
                                    <m:deg/>
                                    <m:e>
                                      <m:r>
                                        <a:rPr lang="en-GB" sz="1200" b="0" i="1" noProof="0" smtClean="0">
                                          <a:solidFill>
                                            <a:schemeClr val="tx1"/>
                                          </a:solidFill>
                                          <a:latin typeface="Cambria Math" panose="02040503050406030204" pitchFamily="18" charset="0"/>
                                        </a:rPr>
                                        <m:t>𝑥</m:t>
                                      </m:r>
                                    </m:e>
                                  </m:rad>
                                </m:num>
                                <m:den>
                                  <m:r>
                                    <a:rPr lang="en-GB" sz="1200" b="0" i="0" noProof="0" smtClean="0">
                                      <a:solidFill>
                                        <a:schemeClr val="tx1"/>
                                      </a:solidFill>
                                      <a:latin typeface="Cambria Math" panose="02040503050406030204" pitchFamily="18" charset="0"/>
                                    </a:rPr>
                                    <m:t>3</m:t>
                                  </m:r>
                                </m:den>
                              </m:f>
                              <m:r>
                                <a:rPr lang="en-GB" sz="1200" b="0" i="0" noProof="0" smtClean="0">
                                  <a:solidFill>
                                    <a:schemeClr val="tx1"/>
                                  </a:solidFill>
                                  <a:latin typeface="Cambria Math" panose="02040503050406030204" pitchFamily="18" charset="0"/>
                                </a:rPr>
                                <m:t>+9=</m:t>
                              </m:r>
                              <m:r>
                                <m:rPr>
                                  <m:sty m:val="p"/>
                                </m:rPr>
                                <a:rPr lang="en-GB" sz="1200" b="0" i="0" noProof="0" smtClean="0">
                                  <a:solidFill>
                                    <a:schemeClr val="tx1"/>
                                  </a:solidFill>
                                  <a:latin typeface="Cambria Math" panose="02040503050406030204" pitchFamily="18" charset="0"/>
                                </a:rPr>
                                <m:t>r</m:t>
                              </m:r>
                            </m:oMath>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mc:Choice>
        <mc:Fallback xmlns="">
          <p:graphicFrame>
            <p:nvGraphicFramePr>
              <p:cNvPr id="28" name="Table 27">
                <a:extLst>
                  <a:ext uri="{FF2B5EF4-FFF2-40B4-BE49-F238E27FC236}">
                    <a16:creationId xmlns:a16="http://schemas.microsoft.com/office/drawing/2014/main" id="{B4F40624-1C9F-93CD-9D28-1857204E5C16}"/>
                  </a:ext>
                </a:extLst>
              </p:cNvPr>
              <p:cNvGraphicFramePr>
                <a:graphicFrameLocks noGrp="1"/>
              </p:cNvGraphicFramePr>
              <p:nvPr>
                <p:extLst>
                  <p:ext uri="{D42A27DB-BD31-4B8C-83A1-F6EECF244321}">
                    <p14:modId xmlns:p14="http://schemas.microsoft.com/office/powerpoint/2010/main" val="3329306703"/>
                  </p:ext>
                </p:extLst>
              </p:nvPr>
            </p:nvGraphicFramePr>
            <p:xfrm>
              <a:off x="88044" y="4703643"/>
              <a:ext cx="6681913" cy="4879211"/>
            </p:xfrm>
            <a:graphic>
              <a:graphicData uri="http://schemas.openxmlformats.org/drawingml/2006/table">
                <a:tbl>
                  <a:tblPr firstRow="1" bandRow="1">
                    <a:tableStyleId>{5C22544A-7EE6-4342-B048-85BDC9FD1C3A}</a:tableStyleId>
                  </a:tblPr>
                  <a:tblGrid>
                    <a:gridCol w="1504025">
                      <a:extLst>
                        <a:ext uri="{9D8B030D-6E8A-4147-A177-3AD203B41FA5}">
                          <a16:colId xmlns:a16="http://schemas.microsoft.com/office/drawing/2014/main" val="1568142362"/>
                        </a:ext>
                      </a:extLst>
                    </a:gridCol>
                    <a:gridCol w="1741378">
                      <a:extLst>
                        <a:ext uri="{9D8B030D-6E8A-4147-A177-3AD203B41FA5}">
                          <a16:colId xmlns:a16="http://schemas.microsoft.com/office/drawing/2014/main" val="3551711160"/>
                        </a:ext>
                      </a:extLst>
                    </a:gridCol>
                    <a:gridCol w="1718255">
                      <a:extLst>
                        <a:ext uri="{9D8B030D-6E8A-4147-A177-3AD203B41FA5}">
                          <a16:colId xmlns:a16="http://schemas.microsoft.com/office/drawing/2014/main" val="1712497518"/>
                        </a:ext>
                      </a:extLst>
                    </a:gridCol>
                    <a:gridCol w="1718255">
                      <a:extLst>
                        <a:ext uri="{9D8B030D-6E8A-4147-A177-3AD203B41FA5}">
                          <a16:colId xmlns:a16="http://schemas.microsoft.com/office/drawing/2014/main" val="886122921"/>
                        </a:ext>
                      </a:extLst>
                    </a:gridCol>
                  </a:tblGrid>
                  <a:tr h="364746">
                    <a:tc>
                      <a:txBody>
                        <a:bodyPr/>
                        <a:lstStyle/>
                        <a:p>
                          <a:endParaRPr lang="en-GB" sz="1200" b="1" noProof="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FF0000"/>
                              </a:solidFill>
                            </a:rPr>
                            <a:t>Example 7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chemeClr val="accent2"/>
                              </a:solidFill>
                            </a:rPr>
                            <a:t>Example 8 -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00B050"/>
                              </a:solidFill>
                            </a:rPr>
                            <a:t>Example 9 -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582545">
                    <a:tc>
                      <a:txBody>
                        <a:bodyPr/>
                        <a:lstStyle/>
                        <a:p>
                          <a:r>
                            <a:rPr lang="en-GB" sz="12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l="-86713" t="-62500" r="-197902" b="-675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l="-189362" t="-62500" r="-100709" b="-675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l="-289362" t="-62500" r="-709" b="-675000"/>
                          </a:stretch>
                        </a:blipFill>
                      </a:tcPr>
                    </a:tc>
                    <a:extLst>
                      <a:ext uri="{0D108BD9-81ED-4DB2-BD59-A6C34878D82A}">
                        <a16:rowId xmlns:a16="http://schemas.microsoft.com/office/drawing/2014/main" val="2357201933"/>
                      </a:ext>
                    </a:extLst>
                  </a:tr>
                  <a:tr h="3931920">
                    <a:tc>
                      <a:txBody>
                        <a:bodyPr/>
                        <a:lstStyle/>
                        <a:p>
                          <a:pPr marL="0" indent="0">
                            <a:buNone/>
                          </a:pPr>
                          <a:r>
                            <a:rPr lang="en-GB" sz="1200" noProof="0">
                              <a:solidFill>
                                <a:schemeClr val="tx1"/>
                              </a:solidFill>
                            </a:rPr>
                            <a:t>1) Circle the variable you want to make the subject.</a:t>
                          </a:r>
                        </a:p>
                        <a:p>
                          <a:pPr marL="0" indent="0">
                            <a:buNone/>
                          </a:pPr>
                          <a:endParaRPr lang="en-GB" sz="1200" noProof="0">
                            <a:solidFill>
                              <a:schemeClr val="tx1"/>
                            </a:solidFill>
                          </a:endParaRPr>
                        </a:p>
                        <a:p>
                          <a:pPr marL="0" indent="0">
                            <a:buNone/>
                          </a:pPr>
                          <a:r>
                            <a:rPr lang="en-GB" sz="1200" noProof="0">
                              <a:solidFill>
                                <a:schemeClr val="tx1"/>
                              </a:solidFill>
                            </a:rPr>
                            <a:t>2) Use inverse operation</a:t>
                          </a:r>
                          <a:r>
                            <a:rPr lang="en-GB" sz="1200" b="1" u="sng" noProof="0">
                              <a:solidFill>
                                <a:schemeClr val="tx1"/>
                              </a:solidFill>
                            </a:rPr>
                            <a:t>s</a:t>
                          </a:r>
                          <a:r>
                            <a:rPr lang="en-GB" sz="1200" noProof="0">
                              <a:solidFill>
                                <a:schemeClr val="tx1"/>
                              </a:solidFill>
                            </a:rPr>
                            <a:t> to isolate the variable.</a:t>
                          </a:r>
                        </a:p>
                        <a:p>
                          <a:pPr marL="0" indent="0">
                            <a:buNone/>
                          </a:pPr>
                          <a:endParaRPr lang="en-GB" sz="1200" noProof="0">
                            <a:solidFill>
                              <a:schemeClr val="tx1"/>
                            </a:solidFill>
                          </a:endParaRPr>
                        </a:p>
                        <a:p>
                          <a:pPr marL="0" indent="0">
                            <a:buNone/>
                          </a:pPr>
                          <a:endParaRPr lang="en-GB" sz="1200" noProof="0">
                            <a:solidFill>
                              <a:schemeClr val="tx1"/>
                            </a:solidFill>
                          </a:endParaRPr>
                        </a:p>
                        <a:p>
                          <a:pPr marL="0" indent="0">
                            <a:buNone/>
                          </a:pPr>
                          <a:endParaRPr lang="en-GB" sz="1200" noProof="0">
                            <a:solidFill>
                              <a:schemeClr val="tx1"/>
                            </a:solidFill>
                          </a:endParaRPr>
                        </a:p>
                        <a:p>
                          <a:pPr marL="0" indent="0">
                            <a:buNone/>
                          </a:pPr>
                          <a:endParaRPr lang="en-GB" sz="1200" noProof="0">
                            <a:solidFill>
                              <a:schemeClr val="tx1"/>
                            </a:solidFill>
                          </a:endParaRPr>
                        </a:p>
                        <a:p>
                          <a:pPr marL="0" indent="0">
                            <a:buNone/>
                          </a:pPr>
                          <a:endParaRPr lang="en-GB" sz="1200" noProof="0">
                            <a:solidFill>
                              <a:schemeClr val="tx1"/>
                            </a:solidFill>
                          </a:endParaRPr>
                        </a:p>
                        <a:p>
                          <a:pPr marL="0" indent="0">
                            <a:buNone/>
                          </a:pPr>
                          <a:endParaRPr lang="en-GB" sz="1200" noProof="0">
                            <a:solidFill>
                              <a:schemeClr val="tx1"/>
                            </a:solidFill>
                          </a:endParaRPr>
                        </a:p>
                        <a:p>
                          <a:pPr marL="0" indent="0">
                            <a:buNone/>
                          </a:pPr>
                          <a:endParaRPr lang="en-GB" sz="1200" noProof="0">
                            <a:solidFill>
                              <a:schemeClr val="tx1"/>
                            </a:solidFill>
                          </a:endParaRPr>
                        </a:p>
                        <a:p>
                          <a:pPr marL="0" indent="0">
                            <a:buNone/>
                          </a:pPr>
                          <a:endParaRPr lang="en-GB" sz="1200" noProof="0">
                            <a:solidFill>
                              <a:schemeClr val="tx1"/>
                            </a:solidFill>
                          </a:endParaRPr>
                        </a:p>
                        <a:p>
                          <a:pPr marL="0" indent="0">
                            <a:buNone/>
                          </a:pPr>
                          <a:endParaRPr lang="en-GB" sz="1200" noProof="0">
                            <a:solidFill>
                              <a:schemeClr val="tx1"/>
                            </a:solidFill>
                          </a:endParaRPr>
                        </a:p>
                        <a:p>
                          <a:pPr marL="0" indent="0">
                            <a:buNone/>
                          </a:pPr>
                          <a:endParaRPr lang="en-GB" sz="1200" noProof="0">
                            <a:solidFill>
                              <a:schemeClr val="tx1"/>
                            </a:solidFill>
                          </a:endParaRPr>
                        </a:p>
                        <a:p>
                          <a:pPr marL="0" indent="0">
                            <a:buNone/>
                          </a:pPr>
                          <a:endParaRPr lang="en-GB" sz="1200" noProof="0">
                            <a:solidFill>
                              <a:schemeClr val="tx1"/>
                            </a:solidFill>
                          </a:endParaRPr>
                        </a:p>
                        <a:p>
                          <a:pPr marL="0" indent="0">
                            <a:buNone/>
                          </a:pPr>
                          <a:endParaRPr lang="en-GB" sz="1200" noProof="0">
                            <a:solidFill>
                              <a:schemeClr val="tx1"/>
                            </a:solidFill>
                          </a:endParaRPr>
                        </a:p>
                        <a:p>
                          <a:pPr marL="0" indent="0">
                            <a:buNone/>
                          </a:pPr>
                          <a:endParaRPr lang="en-GB" sz="1200" noProof="0">
                            <a:solidFill>
                              <a:schemeClr val="tx1"/>
                            </a:solidFill>
                          </a:endParaRPr>
                        </a:p>
                        <a:p>
                          <a:pPr marL="0" indent="0">
                            <a:buNone/>
                          </a:pPr>
                          <a:endParaRPr lang="en-GB" sz="12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l="-86713" t="-24186" r="-197902" b="-46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l="-189362" t="-24186" r="-100709" b="-46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l="-289362" t="-24186" r="-709" b="-465"/>
                          </a:stretch>
                        </a:blipFill>
                      </a:tcPr>
                    </a:tc>
                    <a:extLst>
                      <a:ext uri="{0D108BD9-81ED-4DB2-BD59-A6C34878D82A}">
                        <a16:rowId xmlns:a16="http://schemas.microsoft.com/office/drawing/2014/main" val="3293625240"/>
                      </a:ext>
                    </a:extLst>
                  </a:tr>
                </a:tbl>
              </a:graphicData>
            </a:graphic>
          </p:graphicFrame>
        </mc:Fallback>
      </mc:AlternateContent>
    </p:spTree>
    <p:extLst>
      <p:ext uri="{BB962C8B-B14F-4D97-AF65-F5344CB8AC3E}">
        <p14:creationId xmlns:p14="http://schemas.microsoft.com/office/powerpoint/2010/main" val="3301299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D8D70-ABAC-628E-4978-8145C8BA6A7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6CB760-881C-730E-E678-FE24DF7563C8}"/>
              </a:ext>
            </a:extLst>
          </p:cNvPr>
          <p:cNvSpPr>
            <a:spLocks noGrp="1"/>
          </p:cNvSpPr>
          <p:nvPr>
            <p:ph type="sldNum" sz="quarter" idx="12"/>
          </p:nvPr>
        </p:nvSpPr>
        <p:spPr>
          <a:xfrm>
            <a:off x="5257800" y="9429021"/>
            <a:ext cx="1543050" cy="527403"/>
          </a:xfrm>
        </p:spPr>
        <p:txBody>
          <a:bodyPr/>
          <a:lstStyle/>
          <a:p>
            <a:fld id="{086C3A38-D272-42AA-9C88-F1FBEAE20D2C}" type="slidenum">
              <a:rPr lang="en-GB" noProof="0" smtClean="0"/>
              <a:t>5</a:t>
            </a:fld>
            <a:endParaRPr lang="en-GB" noProof="0" dirty="0"/>
          </a:p>
        </p:txBody>
      </p:sp>
      <p:sp>
        <p:nvSpPr>
          <p:cNvPr id="5" name="Rectangle 4">
            <a:extLst>
              <a:ext uri="{FF2B5EF4-FFF2-40B4-BE49-F238E27FC236}">
                <a16:creationId xmlns:a16="http://schemas.microsoft.com/office/drawing/2014/main" id="{E70E09A3-1550-AB76-51D0-318359E2A1A3}"/>
              </a:ext>
            </a:extLst>
          </p:cNvPr>
          <p:cNvSpPr/>
          <p:nvPr/>
        </p:nvSpPr>
        <p:spPr>
          <a:xfrm>
            <a:off x="29695" y="51519"/>
            <a:ext cx="1702821" cy="276999"/>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a:t>Independent Practice</a:t>
            </a: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742D9E58-3D9D-0920-CCE1-A9E3E3D513D7}"/>
                  </a:ext>
                </a:extLst>
              </p:cNvPr>
              <p:cNvGraphicFramePr>
                <a:graphicFrameLocks noGrp="1"/>
              </p:cNvGraphicFramePr>
              <p:nvPr>
                <p:extLst>
                  <p:ext uri="{D42A27DB-BD31-4B8C-83A1-F6EECF244321}">
                    <p14:modId xmlns:p14="http://schemas.microsoft.com/office/powerpoint/2010/main" val="291305383"/>
                  </p:ext>
                </p:extLst>
              </p:nvPr>
            </p:nvGraphicFramePr>
            <p:xfrm>
              <a:off x="60589" y="537161"/>
              <a:ext cx="6681912" cy="9024848"/>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3647236309"/>
                        </a:ext>
                      </a:extLst>
                    </a:gridCol>
                    <a:gridCol w="1670478">
                      <a:extLst>
                        <a:ext uri="{9D8B030D-6E8A-4147-A177-3AD203B41FA5}">
                          <a16:colId xmlns:a16="http://schemas.microsoft.com/office/drawing/2014/main" val="2570924096"/>
                        </a:ext>
                      </a:extLst>
                    </a:gridCol>
                    <a:gridCol w="1670478">
                      <a:extLst>
                        <a:ext uri="{9D8B030D-6E8A-4147-A177-3AD203B41FA5}">
                          <a16:colId xmlns:a16="http://schemas.microsoft.com/office/drawing/2014/main" val="416811348"/>
                        </a:ext>
                      </a:extLst>
                    </a:gridCol>
                    <a:gridCol w="1670478">
                      <a:extLst>
                        <a:ext uri="{9D8B030D-6E8A-4147-A177-3AD203B41FA5}">
                          <a16:colId xmlns:a16="http://schemas.microsoft.com/office/drawing/2014/main" val="2813845385"/>
                        </a:ext>
                      </a:extLst>
                    </a:gridCol>
                  </a:tblGrid>
                  <a:tr h="2256212">
                    <a:tc>
                      <a:txBody>
                        <a:bodyPr/>
                        <a:lstStyle/>
                        <a:p>
                          <a:r>
                            <a:rPr lang="en-GB" sz="1200" b="0" noProof="0" dirty="0">
                              <a:solidFill>
                                <a:schemeClr val="tx1"/>
                              </a:solidFill>
                            </a:rPr>
                            <a:t>a) </a:t>
                          </a:r>
                          <a14:m>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7</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 + </m:t>
                                  </m:r>
                                  <m:r>
                                    <a:rPr lang="en-GB" sz="1200" b="0" i="1" noProof="0" smtClean="0">
                                      <a:solidFill>
                                        <a:schemeClr val="tx1"/>
                                      </a:solidFill>
                                      <a:latin typeface="Cambria Math" panose="02040503050406030204" pitchFamily="18" charset="0"/>
                                    </a:rPr>
                                    <m:t>𝑚</m:t>
                                  </m:r>
                                </m:num>
                                <m:den>
                                  <m:r>
                                    <a:rPr lang="en-GB" sz="1200" b="0" i="1" noProof="0" smtClean="0">
                                      <a:solidFill>
                                        <a:schemeClr val="tx1"/>
                                      </a:solidFill>
                                      <a:latin typeface="Cambria Math" panose="02040503050406030204" pitchFamily="18" charset="0"/>
                                    </a:rPr>
                                    <m:t>11</m:t>
                                  </m:r>
                                </m:den>
                              </m:f>
                              <m:r>
                                <a:rPr lang="en-GB" sz="1200" b="0" i="1" noProof="0" smtClean="0">
                                  <a:solidFill>
                                    <a:schemeClr val="tx1"/>
                                  </a:solidFill>
                                  <a:latin typeface="Cambria Math" panose="02040503050406030204" pitchFamily="18" charset="0"/>
                                </a:rPr>
                                <m:t>=1</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b) </a:t>
                          </a:r>
                          <a14:m>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7</m:t>
                                  </m:r>
                                  <m:sSup>
                                    <m:sSupPr>
                                      <m:ctrlPr>
                                        <a:rPr lang="en-GB" sz="1200" b="0" i="1" noProof="0" smtClean="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𝑥</m:t>
                                      </m:r>
                                    </m:e>
                                    <m:sup>
                                      <m:r>
                                        <a:rPr lang="en-GB" sz="1200" b="0" i="1" noProof="0" smtClean="0">
                                          <a:solidFill>
                                            <a:schemeClr val="tx1"/>
                                          </a:solidFill>
                                          <a:latin typeface="Cambria Math" panose="02040503050406030204" pitchFamily="18" charset="0"/>
                                        </a:rPr>
                                        <m:t>2</m:t>
                                      </m:r>
                                    </m:sup>
                                  </m:sSup>
                                  <m:r>
                                    <a:rPr lang="en-GB" sz="1200" b="0" i="1" noProof="0" smtClean="0">
                                      <a:solidFill>
                                        <a:schemeClr val="tx1"/>
                                      </a:solidFill>
                                      <a:latin typeface="Cambria Math" panose="02040503050406030204" pitchFamily="18" charset="0"/>
                                    </a:rPr>
                                    <m:t> + </m:t>
                                  </m:r>
                                  <m:r>
                                    <a:rPr lang="en-GB" sz="1200" b="0" i="1" noProof="0" smtClean="0">
                                      <a:solidFill>
                                        <a:schemeClr val="tx1"/>
                                      </a:solidFill>
                                      <a:latin typeface="Cambria Math" panose="02040503050406030204" pitchFamily="18" charset="0"/>
                                    </a:rPr>
                                    <m:t>𝑚</m:t>
                                  </m:r>
                                </m:num>
                                <m:den>
                                  <m:r>
                                    <a:rPr lang="en-GB" sz="1200" b="0" i="1" noProof="0" smtClean="0">
                                      <a:solidFill>
                                        <a:schemeClr val="tx1"/>
                                      </a:solidFill>
                                      <a:latin typeface="Cambria Math" panose="02040503050406030204" pitchFamily="18" charset="0"/>
                                    </a:rPr>
                                    <m:t>11</m:t>
                                  </m:r>
                                </m:den>
                              </m:f>
                              <m:r>
                                <a:rPr lang="en-GB" sz="1200" b="0" i="1" noProof="0" smtClean="0">
                                  <a:solidFill>
                                    <a:schemeClr val="tx1"/>
                                  </a:solidFill>
                                  <a:latin typeface="Cambria Math" panose="02040503050406030204" pitchFamily="18" charset="0"/>
                                </a:rPr>
                                <m:t>=1</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c) </a:t>
                          </a:r>
                          <a14:m>
                            <m:oMath xmlns:m="http://schemas.openxmlformats.org/officeDocument/2006/math">
                              <m:r>
                                <a:rPr lang="en-GB" sz="1200" b="0" i="1" noProof="0" smtClean="0">
                                  <a:solidFill>
                                    <a:schemeClr val="tx1"/>
                                  </a:solidFill>
                                  <a:latin typeface="Cambria Math" panose="02040503050406030204" pitchFamily="18" charset="0"/>
                                </a:rPr>
                                <m:t>5</m:t>
                              </m:r>
                              <m:sSup>
                                <m:sSupPr>
                                  <m:ctrlPr>
                                    <a:rPr lang="en-GB" sz="1200" b="0" i="1" noProof="0" smtClean="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𝑥</m:t>
                                  </m:r>
                                </m:e>
                                <m:sup>
                                  <m:r>
                                    <a:rPr lang="en-GB" sz="1200" b="0" i="1" noProof="0" smtClean="0">
                                      <a:solidFill>
                                        <a:schemeClr val="tx1"/>
                                      </a:solidFill>
                                      <a:latin typeface="Cambria Math" panose="02040503050406030204" pitchFamily="18" charset="0"/>
                                    </a:rPr>
                                    <m:t>2</m:t>
                                  </m:r>
                                </m:sup>
                              </m:sSup>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𝑎𝑏</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𝑐</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d) </a:t>
                          </a:r>
                          <a14:m>
                            <m:oMath xmlns:m="http://schemas.openxmlformats.org/officeDocument/2006/math">
                              <m:r>
                                <a:rPr lang="en-GB" sz="1200" b="0" i="1" noProof="0" smtClean="0">
                                  <a:solidFill>
                                    <a:schemeClr val="tx1"/>
                                  </a:solidFill>
                                  <a:latin typeface="Cambria Math" panose="02040503050406030204" pitchFamily="18" charset="0"/>
                                </a:rPr>
                                <m:t>5</m:t>
                              </m:r>
                              <m:sSup>
                                <m:sSupPr>
                                  <m:ctrlPr>
                                    <a:rPr lang="en-GB" sz="1200" b="0" i="1" noProof="0" smtClean="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𝑥</m:t>
                                  </m:r>
                                </m:e>
                                <m:sup>
                                  <m:r>
                                    <a:rPr lang="en-GB" sz="1200" b="0" i="1" noProof="0" smtClean="0">
                                      <a:solidFill>
                                        <a:schemeClr val="tx1"/>
                                      </a:solidFill>
                                      <a:latin typeface="Cambria Math" panose="02040503050406030204" pitchFamily="18" charset="0"/>
                                    </a:rPr>
                                    <m:t>2</m:t>
                                  </m:r>
                                </m:sup>
                              </m:sSup>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𝑎𝑏</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𝑐</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94583780"/>
                      </a:ext>
                    </a:extLst>
                  </a:tr>
                  <a:tr h="225621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e)</a:t>
                          </a:r>
                          <a14:m>
                            <m:oMath xmlns:m="http://schemas.openxmlformats.org/officeDocument/2006/math">
                              <m:r>
                                <a:rPr lang="en-GB" sz="1200" b="0" i="0" noProof="0" smtClean="0">
                                  <a:solidFill>
                                    <a:schemeClr val="tx1"/>
                                  </a:solidFill>
                                  <a:latin typeface="Cambria Math" panose="02040503050406030204" pitchFamily="18" charset="0"/>
                                </a:rPr>
                                <m:t> </m:t>
                              </m:r>
                              <m:r>
                                <a:rPr lang="en-GB" sz="1200" i="1" noProof="0" smtClean="0">
                                  <a:solidFill>
                                    <a:schemeClr val="tx1"/>
                                  </a:solidFill>
                                  <a:latin typeface="Cambria Math" panose="02040503050406030204" pitchFamily="18" charset="0"/>
                                </a:rPr>
                                <m:t>7</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𝑐</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r>
                                <a:rPr lang="en-GB" sz="1200" b="0" i="1" noProof="0" smtClean="0">
                                  <a:solidFill>
                                    <a:schemeClr val="tx1"/>
                                  </a:solidFill>
                                  <a:latin typeface="Cambria Math" panose="02040503050406030204" pitchFamily="18" charset="0"/>
                                </a:rPr>
                                <m:t>=9</m:t>
                              </m:r>
                            </m:oMath>
                          </a14:m>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f) </a:t>
                          </a:r>
                          <a14:m>
                            <m:oMath xmlns:m="http://schemas.openxmlformats.org/officeDocument/2006/math">
                              <m:f>
                                <m:fPr>
                                  <m:ctrlPr>
                                    <a:rPr lang="en-GB" sz="1200" i="1" noProof="0" smtClean="0">
                                      <a:solidFill>
                                        <a:schemeClr val="tx1"/>
                                      </a:solidFill>
                                      <a:latin typeface="Cambria Math" panose="02040503050406030204" pitchFamily="18" charset="0"/>
                                    </a:rPr>
                                  </m:ctrlPr>
                                </m:fPr>
                                <m:num>
                                  <m:r>
                                    <a:rPr lang="en-GB" sz="1200" i="1" noProof="0">
                                      <a:solidFill>
                                        <a:schemeClr val="tx1"/>
                                      </a:solidFill>
                                      <a:latin typeface="Cambria Math" panose="02040503050406030204" pitchFamily="18" charset="0"/>
                                    </a:rPr>
                                    <m:t>𝑝</m:t>
                                  </m:r>
                                  <m:r>
                                    <a:rPr lang="en-GB" sz="1200" b="0" i="1" noProof="0" smtClean="0">
                                      <a:solidFill>
                                        <a:schemeClr val="tx1"/>
                                      </a:solidFill>
                                      <a:latin typeface="Cambria Math" panose="02040503050406030204" pitchFamily="18" charset="0"/>
                                    </a:rPr>
                                    <m:t> </m:t>
                                  </m:r>
                                  <m:r>
                                    <a:rPr lang="en-GB" sz="1200" i="1" noProof="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 </m:t>
                                  </m:r>
                                  <m:r>
                                    <a:rPr lang="en-GB" sz="1200" i="1" noProof="0">
                                      <a:solidFill>
                                        <a:schemeClr val="tx1"/>
                                      </a:solidFill>
                                      <a:latin typeface="Cambria Math" panose="02040503050406030204" pitchFamily="18" charset="0"/>
                                    </a:rPr>
                                    <m:t>4</m:t>
                                  </m:r>
                                  <m:r>
                                    <a:rPr lang="en-GB" sz="1200" b="0" i="1" noProof="0" smtClean="0">
                                      <a:solidFill>
                                        <a:schemeClr val="tx1"/>
                                      </a:solidFill>
                                      <a:latin typeface="Cambria Math" panose="02040503050406030204" pitchFamily="18" charset="0"/>
                                    </a:rPr>
                                    <m:t> </m:t>
                                  </m:r>
                                  <m:r>
                                    <a:rPr lang="en-GB" sz="1200" i="1" noProof="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 </m:t>
                                  </m:r>
                                  <m:r>
                                    <a:rPr lang="en-GB" sz="1200" i="1" noProof="0">
                                      <a:solidFill>
                                        <a:schemeClr val="tx1"/>
                                      </a:solidFill>
                                      <a:latin typeface="Cambria Math" panose="02040503050406030204" pitchFamily="18" charset="0"/>
                                    </a:rPr>
                                    <m:t>2</m:t>
                                  </m:r>
                                  <m:r>
                                    <a:rPr lang="en-GB" sz="1200" i="1" noProof="0">
                                      <a:solidFill>
                                        <a:schemeClr val="tx1"/>
                                      </a:solidFill>
                                      <a:latin typeface="Cambria Math" panose="02040503050406030204" pitchFamily="18" charset="0"/>
                                    </a:rPr>
                                    <m:t>𝑥</m:t>
                                  </m:r>
                                </m:num>
                                <m:den>
                                  <m:r>
                                    <a:rPr lang="en-GB" sz="1200" i="1" noProof="0">
                                      <a:solidFill>
                                        <a:schemeClr val="tx1"/>
                                      </a:solidFill>
                                      <a:latin typeface="Cambria Math" panose="02040503050406030204" pitchFamily="18" charset="0"/>
                                    </a:rPr>
                                    <m:t>𝑚</m:t>
                                  </m:r>
                                </m:den>
                              </m:f>
                              <m:r>
                                <a:rPr lang="en-GB" sz="1200" i="1" noProof="0">
                                  <a:solidFill>
                                    <a:schemeClr val="tx1"/>
                                  </a:solidFill>
                                  <a:latin typeface="Cambria Math" panose="02040503050406030204" pitchFamily="18" charset="0"/>
                                </a:rPr>
                                <m:t>=</m:t>
                              </m:r>
                              <m:r>
                                <a:rPr lang="en-GB" sz="1200" i="1" noProof="0">
                                  <a:solidFill>
                                    <a:schemeClr val="tx1"/>
                                  </a:solidFill>
                                  <a:latin typeface="Cambria Math" panose="02040503050406030204" pitchFamily="18" charset="0"/>
                                </a:rPr>
                                <m:t>𝑚</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g) </a:t>
                          </a:r>
                          <a14:m>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 </m:t>
                                  </m:r>
                                  <m:sSup>
                                    <m:sSupPr>
                                      <m:ctrlPr>
                                        <a:rPr lang="en-GB" sz="1200" b="0" i="1" noProof="0" smtClean="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𝑥</m:t>
                                      </m:r>
                                    </m:e>
                                    <m:sup>
                                      <m:r>
                                        <a:rPr lang="en-GB" sz="1200" b="0" i="1" noProof="0" smtClean="0">
                                          <a:solidFill>
                                            <a:schemeClr val="tx1"/>
                                          </a:solidFill>
                                          <a:latin typeface="Cambria Math" panose="02040503050406030204" pitchFamily="18" charset="0"/>
                                        </a:rPr>
                                        <m:t>2</m:t>
                                      </m:r>
                                    </m:sup>
                                  </m:sSup>
                                </m:num>
                                <m:den>
                                  <m:r>
                                    <a:rPr lang="en-GB" sz="1200" b="0" i="1" noProof="0" smtClean="0">
                                      <a:solidFill>
                                        <a:schemeClr val="tx1"/>
                                      </a:solidFill>
                                      <a:latin typeface="Cambria Math" panose="02040503050406030204" pitchFamily="18" charset="0"/>
                                    </a:rPr>
                                    <m:t>3</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𝑔</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h)</a:t>
                          </a:r>
                          <a14:m>
                            <m:oMath xmlns:m="http://schemas.openxmlformats.org/officeDocument/2006/math">
                              <m:r>
                                <a:rPr lang="en-GB" sz="1200" b="0" i="0" noProof="0" smtClean="0">
                                  <a:solidFill>
                                    <a:schemeClr val="tx1"/>
                                  </a:solidFill>
                                  <a:latin typeface="Cambria Math" panose="02040503050406030204" pitchFamily="18" charset="0"/>
                                </a:rPr>
                                <m:t> </m:t>
                              </m:r>
                              <m:f>
                                <m:fPr>
                                  <m:ctrlPr>
                                    <a:rPr lang="en-GB" sz="1200" b="0" i="1" noProof="0" smtClean="0">
                                      <a:solidFill>
                                        <a:schemeClr val="tx1"/>
                                      </a:solidFill>
                                      <a:latin typeface="Cambria Math" panose="02040503050406030204" pitchFamily="18" charset="0"/>
                                    </a:rPr>
                                  </m:ctrlPr>
                                </m:fPr>
                                <m:num>
                                  <m:rad>
                                    <m:radPr>
                                      <m:degHide m:val="on"/>
                                      <m:ctrlPr>
                                        <a:rPr lang="en-GB" sz="1200" b="0" i="1" noProof="0" smtClean="0">
                                          <a:solidFill>
                                            <a:schemeClr val="tx1"/>
                                          </a:solidFill>
                                          <a:latin typeface="Cambria Math" panose="02040503050406030204" pitchFamily="18" charset="0"/>
                                        </a:rPr>
                                      </m:ctrlPr>
                                    </m:radPr>
                                    <m:deg/>
                                    <m:e>
                                      <m:r>
                                        <a:rPr lang="en-GB" sz="1200" b="0" i="1" noProof="0" smtClean="0">
                                          <a:solidFill>
                                            <a:schemeClr val="tx1"/>
                                          </a:solidFill>
                                          <a:latin typeface="Cambria Math" panose="02040503050406030204" pitchFamily="18" charset="0"/>
                                        </a:rPr>
                                        <m:t>𝑥</m:t>
                                      </m:r>
                                    </m:e>
                                  </m:rad>
                                </m:num>
                                <m:den>
                                  <m:r>
                                    <a:rPr lang="en-GB" sz="1200" b="0" i="1" noProof="0" smtClean="0">
                                      <a:solidFill>
                                        <a:schemeClr val="tx1"/>
                                      </a:solidFill>
                                      <a:latin typeface="Cambria Math" panose="02040503050406030204" pitchFamily="18" charset="0"/>
                                    </a:rPr>
                                    <m:t>𝑎</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𝑑</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𝑓</m:t>
                              </m:r>
                            </m:oMath>
                          </a14:m>
                          <a:endParaRPr lang="en-GB" sz="1200" noProof="0" dirty="0">
                            <a:solidFill>
                              <a:schemeClr val="tx1"/>
                            </a:solidFill>
                          </a:endParaRPr>
                        </a:p>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58045507"/>
                      </a:ext>
                    </a:extLst>
                  </a:tr>
                  <a:tr h="225621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err="1"/>
                            <a:t>i</a:t>
                          </a:r>
                          <a:r>
                            <a:rPr lang="en-GB" sz="1200" b="0" noProof="0" dirty="0"/>
                            <a:t>)</a:t>
                          </a:r>
                          <a14:m>
                            <m:oMath xmlns:m="http://schemas.openxmlformats.org/officeDocument/2006/math">
                              <m:r>
                                <a:rPr lang="en-GB" sz="1200" b="0" i="0" noProof="0" smtClean="0">
                                  <a:solidFill>
                                    <a:schemeClr val="tx1"/>
                                  </a:solidFill>
                                  <a:latin typeface="Cambria Math" panose="02040503050406030204" pitchFamily="18" charset="0"/>
                                </a:rPr>
                                <m:t> </m:t>
                              </m:r>
                              <m:f>
                                <m:fPr>
                                  <m:ctrlPr>
                                    <a:rPr lang="en-GB" sz="1200" b="0" i="1" noProof="0" smtClean="0">
                                      <a:solidFill>
                                        <a:schemeClr val="tx1"/>
                                      </a:solidFill>
                                      <a:latin typeface="Cambria Math" panose="02040503050406030204" pitchFamily="18" charset="0"/>
                                    </a:rPr>
                                  </m:ctrlPr>
                                </m:fPr>
                                <m:num>
                                  <m:rad>
                                    <m:radPr>
                                      <m:ctrlPr>
                                        <a:rPr lang="en-GB" sz="1200" b="0" i="1" noProof="0" smtClean="0">
                                          <a:solidFill>
                                            <a:schemeClr val="tx1"/>
                                          </a:solidFill>
                                          <a:latin typeface="Cambria Math" panose="02040503050406030204" pitchFamily="18" charset="0"/>
                                        </a:rPr>
                                      </m:ctrlPr>
                                    </m:radPr>
                                    <m:deg>
                                      <m:r>
                                        <a:rPr lang="en-GB" sz="1200" b="0" i="1" noProof="0" smtClean="0">
                                          <a:solidFill>
                                            <a:schemeClr val="tx1"/>
                                          </a:solidFill>
                                          <a:latin typeface="Cambria Math" panose="02040503050406030204" pitchFamily="18" charset="0"/>
                                        </a:rPr>
                                        <m:t>3</m:t>
                                      </m:r>
                                    </m:deg>
                                    <m:e>
                                      <m:r>
                                        <a:rPr lang="en-GB" sz="1200" b="0" i="1" noProof="0" smtClean="0">
                                          <a:solidFill>
                                            <a:schemeClr val="tx1"/>
                                          </a:solidFill>
                                          <a:latin typeface="Cambria Math" panose="02040503050406030204" pitchFamily="18" charset="0"/>
                                        </a:rPr>
                                        <m:t>𝑥</m:t>
                                      </m:r>
                                    </m:e>
                                  </m:rad>
                                </m:num>
                                <m:den>
                                  <m:r>
                                    <a:rPr lang="en-GB" sz="1200" b="0" i="1" noProof="0" smtClean="0">
                                      <a:solidFill>
                                        <a:schemeClr val="tx1"/>
                                      </a:solidFill>
                                      <a:latin typeface="Cambria Math" panose="02040503050406030204" pitchFamily="18" charset="0"/>
                                    </a:rPr>
                                    <m:t>𝑎</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𝑑</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𝑓</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t>j) </a:t>
                          </a:r>
                          <a14:m>
                            <m:oMath xmlns:m="http://schemas.openxmlformats.org/officeDocument/2006/math">
                              <m:f>
                                <m:fPr>
                                  <m:ctrlPr>
                                    <a:rPr lang="en-GB" sz="1200" b="0" i="1" noProof="0" smtClean="0">
                                      <a:solidFill>
                                        <a:schemeClr val="tx1"/>
                                      </a:solidFill>
                                      <a:latin typeface="Cambria Math" panose="02040503050406030204" pitchFamily="18" charset="0"/>
                                    </a:rPr>
                                  </m:ctrlPr>
                                </m:fPr>
                                <m:num>
                                  <m:rad>
                                    <m:radPr>
                                      <m:degHide m:val="on"/>
                                      <m:ctrlPr>
                                        <a:rPr lang="en-GB" sz="1200" i="1" noProof="0" smtClean="0">
                                          <a:solidFill>
                                            <a:schemeClr val="tx1"/>
                                          </a:solidFill>
                                          <a:latin typeface="Cambria Math" panose="02040503050406030204" pitchFamily="18" charset="0"/>
                                        </a:rPr>
                                      </m:ctrlPr>
                                    </m:radPr>
                                    <m:deg/>
                                    <m:e>
                                      <m:r>
                                        <a:rPr lang="en-GB" sz="1200" b="0" i="1" noProof="0" smtClean="0">
                                          <a:solidFill>
                                            <a:schemeClr val="tx1"/>
                                          </a:solidFill>
                                          <a:latin typeface="Cambria Math" panose="02040503050406030204" pitchFamily="18" charset="0"/>
                                        </a:rPr>
                                        <m:t>𝑥</m:t>
                                      </m:r>
                                    </m:e>
                                  </m:rad>
                                </m:num>
                                <m:den>
                                  <m:r>
                                    <a:rPr lang="en-GB" sz="1200" b="0" i="1" noProof="0" smtClean="0">
                                      <a:solidFill>
                                        <a:schemeClr val="tx1"/>
                                      </a:solidFill>
                                      <a:latin typeface="Cambria Math" panose="02040503050406030204" pitchFamily="18" charset="0"/>
                                    </a:rPr>
                                    <m:t>𝑔</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r>
                                <a:rPr lang="en-GB" sz="1200" i="1" noProof="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𝑚</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t>k) </a:t>
                          </a:r>
                          <a14:m>
                            <m:oMath xmlns:m="http://schemas.openxmlformats.org/officeDocument/2006/math">
                              <m:f>
                                <m:fPr>
                                  <m:ctrlPr>
                                    <a:rPr lang="en-GB" sz="1200" i="1" noProof="0" smtClean="0">
                                      <a:solidFill>
                                        <a:schemeClr val="tx1"/>
                                      </a:solidFill>
                                      <a:latin typeface="Cambria Math" panose="02040503050406030204" pitchFamily="18" charset="0"/>
                                    </a:rPr>
                                  </m:ctrlPr>
                                </m:fPr>
                                <m:num>
                                  <m:sSup>
                                    <m:sSupPr>
                                      <m:ctrlPr>
                                        <a:rPr lang="en-GB" sz="1200" i="1" noProof="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𝑥</m:t>
                                      </m:r>
                                    </m:e>
                                    <m:sup>
                                      <m:r>
                                        <a:rPr lang="en-GB" sz="1200" i="1" noProof="0">
                                          <a:solidFill>
                                            <a:schemeClr val="tx1"/>
                                          </a:solidFill>
                                          <a:latin typeface="Cambria Math" panose="02040503050406030204" pitchFamily="18" charset="0"/>
                                        </a:rPr>
                                        <m:t>3</m:t>
                                      </m:r>
                                    </m:sup>
                                  </m:sSup>
                                </m:num>
                                <m:den>
                                  <m:r>
                                    <a:rPr lang="en-GB" sz="1200" i="1" noProof="0">
                                      <a:solidFill>
                                        <a:schemeClr val="tx1"/>
                                      </a:solidFill>
                                      <a:latin typeface="Cambria Math" panose="02040503050406030204" pitchFamily="18" charset="0"/>
                                    </a:rPr>
                                    <m:t>2</m:t>
                                  </m:r>
                                </m:den>
                              </m:f>
                              <m:r>
                                <a:rPr lang="en-GB" sz="1200" i="1" noProof="0">
                                  <a:solidFill>
                                    <a:schemeClr val="tx1"/>
                                  </a:solidFill>
                                  <a:latin typeface="Cambria Math" panose="02040503050406030204" pitchFamily="18" charset="0"/>
                                </a:rPr>
                                <m:t>=</m:t>
                              </m:r>
                              <m:r>
                                <a:rPr lang="en-GB" sz="1200" i="1" noProof="0">
                                  <a:solidFill>
                                    <a:schemeClr val="tx1"/>
                                  </a:solidFill>
                                  <a:latin typeface="Cambria Math" panose="02040503050406030204" pitchFamily="18" charset="0"/>
                                </a:rPr>
                                <m:t>𝑔</m:t>
                              </m:r>
                              <m:r>
                                <a:rPr lang="en-GB" sz="1200" i="1" noProof="0">
                                  <a:solidFill>
                                    <a:schemeClr val="tx1"/>
                                  </a:solidFill>
                                  <a:latin typeface="Cambria Math" panose="02040503050406030204" pitchFamily="18" charset="0"/>
                                </a:rPr>
                                <m:t>+5</m:t>
                              </m:r>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200" b="0" noProof="0" dirty="0"/>
                            <a:t>l) </a:t>
                          </a:r>
                          <a14:m>
                            <m:oMath xmlns:m="http://schemas.openxmlformats.org/officeDocument/2006/math">
                              <m:f>
                                <m:fPr>
                                  <m:ctrlPr>
                                    <a:rPr lang="en-GB" sz="1200" b="0" i="1" noProof="0" smtClean="0">
                                      <a:latin typeface="Cambria Math" panose="02040503050406030204" pitchFamily="18" charset="0"/>
                                    </a:rPr>
                                  </m:ctrlPr>
                                </m:fPr>
                                <m:num>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num>
                                <m:den>
                                  <m:r>
                                    <a:rPr lang="en-GB" sz="1200" b="0" i="1" noProof="0" smtClean="0">
                                      <a:latin typeface="Cambria Math" panose="02040503050406030204" pitchFamily="18" charset="0"/>
                                    </a:rPr>
                                    <m:t>10</m:t>
                                  </m:r>
                                </m:den>
                              </m:f>
                              <m:r>
                                <a:rPr lang="en-GB" sz="1200" b="0" i="1" noProof="0" smtClean="0">
                                  <a:latin typeface="Cambria Math" panose="02040503050406030204" pitchFamily="18" charset="0"/>
                                </a:rPr>
                                <m:t>+</m:t>
                              </m:r>
                              <m:r>
                                <a:rPr lang="en-GB" sz="1200" b="0" i="1" noProof="0" smtClean="0">
                                  <a:latin typeface="Cambria Math" panose="02040503050406030204" pitchFamily="18" charset="0"/>
                                </a:rPr>
                                <m:t>𝑏</m:t>
                              </m:r>
                              <m:r>
                                <a:rPr lang="en-GB" sz="1200" b="0" i="1" noProof="0" smtClean="0">
                                  <a:latin typeface="Cambria Math" panose="02040503050406030204" pitchFamily="18" charset="0"/>
                                </a:rPr>
                                <m:t>=</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𝑎</m:t>
                                  </m:r>
                                </m:e>
                                <m:sup>
                                  <m:r>
                                    <a:rPr lang="en-GB" sz="1200" b="0" i="1" noProof="0" smtClean="0">
                                      <a:latin typeface="Cambria Math" panose="02040503050406030204" pitchFamily="18" charset="0"/>
                                    </a:rPr>
                                    <m:t>2</m:t>
                                  </m:r>
                                </m:sup>
                              </m:sSup>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05854048"/>
                      </a:ext>
                    </a:extLst>
                  </a:tr>
                  <a:tr h="2256212">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t>m) </a:t>
                          </a:r>
                          <a14:m>
                            <m:oMath xmlns:m="http://schemas.openxmlformats.org/officeDocument/2006/math">
                              <m:f>
                                <m:fPr>
                                  <m:ctrlPr>
                                    <a:rPr lang="en-GB" sz="1200" b="0" i="1" noProof="0" smtClean="0">
                                      <a:latin typeface="Cambria Math" panose="02040503050406030204" pitchFamily="18" charset="0"/>
                                    </a:rPr>
                                  </m:ctrlPr>
                                </m:fPr>
                                <m:num>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2</m:t>
                                      </m:r>
                                    </m:sup>
                                  </m:sSup>
                                </m:num>
                                <m:den>
                                  <m:r>
                                    <a:rPr lang="en-GB" sz="1200" b="0" i="1" noProof="0" smtClean="0">
                                      <a:latin typeface="Cambria Math" panose="02040503050406030204" pitchFamily="18" charset="0"/>
                                    </a:rPr>
                                    <m:t>5</m:t>
                                  </m:r>
                                </m:den>
                              </m:f>
                              <m:r>
                                <a:rPr lang="en-GB" sz="1200" b="0" i="1" noProof="0" smtClean="0">
                                  <a:latin typeface="Cambria Math" panose="02040503050406030204" pitchFamily="18" charset="0"/>
                                </a:rPr>
                                <m:t>+</m:t>
                              </m:r>
                              <m:r>
                                <a:rPr lang="en-GB" sz="1200" b="0" i="1" noProof="0" smtClean="0">
                                  <a:latin typeface="Cambria Math" panose="02040503050406030204" pitchFamily="18" charset="0"/>
                                </a:rPr>
                                <m:t>𝑎𝑏</m:t>
                              </m:r>
                              <m:r>
                                <a:rPr lang="en-GB" sz="1200" b="0" i="1" noProof="0" smtClean="0">
                                  <a:latin typeface="Cambria Math" panose="02040503050406030204" pitchFamily="18" charset="0"/>
                                </a:rPr>
                                <m:t>=</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𝑎</m:t>
                                  </m:r>
                                </m:e>
                                <m:sup>
                                  <m:r>
                                    <a:rPr lang="en-GB" sz="1200" b="0" i="1" noProof="0" smtClean="0">
                                      <a:latin typeface="Cambria Math" panose="02040503050406030204" pitchFamily="18" charset="0"/>
                                    </a:rPr>
                                    <m:t>2</m:t>
                                  </m:r>
                                </m:sup>
                              </m:sSup>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t>n)</a:t>
                          </a:r>
                          <a14:m>
                            <m:oMath xmlns:m="http://schemas.openxmlformats.org/officeDocument/2006/math">
                              <m:r>
                                <a:rPr lang="en-GB" sz="1200" b="0" i="0" noProof="0" smtClean="0">
                                  <a:latin typeface="Cambria Math" panose="02040503050406030204" pitchFamily="18" charset="0"/>
                                </a:rPr>
                                <m:t> </m:t>
                              </m:r>
                              <m:f>
                                <m:fPr>
                                  <m:ctrlPr>
                                    <a:rPr lang="en-GB" sz="1200" b="0" i="1" noProof="0" smtClean="0">
                                      <a:latin typeface="Cambria Math" panose="02040503050406030204" pitchFamily="18" charset="0"/>
                                    </a:rPr>
                                  </m:ctrlPr>
                                </m:fPr>
                                <m:num>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𝑥</m:t>
                                      </m:r>
                                    </m:e>
                                    <m:sup>
                                      <m:r>
                                        <a:rPr lang="en-GB" sz="1200" b="0" i="1" noProof="0" smtClean="0">
                                          <a:latin typeface="Cambria Math" panose="02040503050406030204" pitchFamily="18" charset="0"/>
                                        </a:rPr>
                                        <m:t>3</m:t>
                                      </m:r>
                                    </m:sup>
                                  </m:sSup>
                                </m:num>
                                <m:den>
                                  <m:r>
                                    <a:rPr lang="en-GB" sz="1200" b="0" i="1" noProof="0" smtClean="0">
                                      <a:latin typeface="Cambria Math" panose="02040503050406030204" pitchFamily="18" charset="0"/>
                                    </a:rPr>
                                    <m:t>5</m:t>
                                  </m:r>
                                </m:den>
                              </m:f>
                              <m:r>
                                <a:rPr lang="en-GB" sz="1200" b="0" i="1" noProof="0" smtClean="0">
                                  <a:latin typeface="Cambria Math" panose="02040503050406030204" pitchFamily="18" charset="0"/>
                                </a:rPr>
                                <m:t>+</m:t>
                              </m:r>
                              <m:r>
                                <a:rPr lang="en-GB" sz="1200" b="0" i="1" noProof="0" smtClean="0">
                                  <a:latin typeface="Cambria Math" panose="02040503050406030204" pitchFamily="18" charset="0"/>
                                </a:rPr>
                                <m:t>𝑎𝑏</m:t>
                              </m:r>
                              <m:r>
                                <a:rPr lang="en-GB" sz="1200" b="0" i="1" noProof="0" smtClean="0">
                                  <a:latin typeface="Cambria Math" panose="02040503050406030204" pitchFamily="18" charset="0"/>
                                </a:rPr>
                                <m:t>=</m:t>
                              </m:r>
                              <m:sSup>
                                <m:sSupPr>
                                  <m:ctrlPr>
                                    <a:rPr lang="en-GB" sz="1200" b="0" i="1" noProof="0" smtClean="0">
                                      <a:latin typeface="Cambria Math" panose="02040503050406030204" pitchFamily="18" charset="0"/>
                                    </a:rPr>
                                  </m:ctrlPr>
                                </m:sSupPr>
                                <m:e>
                                  <m:r>
                                    <a:rPr lang="en-GB" sz="1200" b="0" i="1" noProof="0" smtClean="0">
                                      <a:latin typeface="Cambria Math" panose="02040503050406030204" pitchFamily="18" charset="0"/>
                                    </a:rPr>
                                    <m:t>𝑎</m:t>
                                  </m:r>
                                </m:e>
                                <m:sup>
                                  <m:r>
                                    <a:rPr lang="en-GB" sz="1200" b="0" i="1" noProof="0" smtClean="0">
                                      <a:latin typeface="Cambria Math" panose="02040503050406030204" pitchFamily="18" charset="0"/>
                                    </a:rPr>
                                    <m:t>2</m:t>
                                  </m:r>
                                </m:sup>
                              </m:sSup>
                            </m:oMath>
                          </a14:m>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t>o) </a:t>
                          </a:r>
                          <a14:m>
                            <m:oMath xmlns:m="http://schemas.openxmlformats.org/officeDocument/2006/math">
                              <m:r>
                                <a:rPr lang="en-GB" sz="1200" i="1" noProof="0" smtClean="0">
                                  <a:solidFill>
                                    <a:schemeClr val="tx1"/>
                                  </a:solidFill>
                                  <a:latin typeface="Cambria Math" panose="02040503050406030204" pitchFamily="18" charset="0"/>
                                </a:rPr>
                                <m:t>(</m:t>
                              </m:r>
                              <m:r>
                                <a:rPr lang="en-GB" sz="1200" i="1" noProof="0" smtClean="0">
                                  <a:solidFill>
                                    <a:schemeClr val="tx1"/>
                                  </a:solidFill>
                                  <a:latin typeface="Cambria Math" panose="02040503050406030204" pitchFamily="18" charset="0"/>
                                </a:rPr>
                                <m:t>𝑚</m:t>
                              </m:r>
                              <m:r>
                                <a:rPr lang="en-GB" sz="1200" i="1" noProof="0" smtClean="0">
                                  <a:solidFill>
                                    <a:schemeClr val="tx1"/>
                                  </a:solidFill>
                                  <a:latin typeface="Cambria Math" panose="02040503050406030204" pitchFamily="18" charset="0"/>
                                </a:rPr>
                                <m:t>−3)</m:t>
                              </m:r>
                              <m:sSup>
                                <m:sSupPr>
                                  <m:ctrlPr>
                                    <a:rPr lang="en-GB" sz="1200" i="1" noProof="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𝑥</m:t>
                                  </m:r>
                                </m:e>
                                <m:sup>
                                  <m:r>
                                    <a:rPr lang="en-GB" sz="1200" i="1" noProof="0">
                                      <a:solidFill>
                                        <a:schemeClr val="tx1"/>
                                      </a:solidFill>
                                      <a:latin typeface="Cambria Math" panose="02040503050406030204" pitchFamily="18" charset="0"/>
                                    </a:rPr>
                                    <m:t>2</m:t>
                                  </m:r>
                                </m:sup>
                              </m:sSup>
                              <m:r>
                                <a:rPr lang="en-GB" sz="1200" i="1" noProof="0">
                                  <a:solidFill>
                                    <a:schemeClr val="tx1"/>
                                  </a:solidFill>
                                  <a:latin typeface="Cambria Math" panose="02040503050406030204" pitchFamily="18" charset="0"/>
                                </a:rPr>
                                <m:t>=</m:t>
                              </m:r>
                              <m:r>
                                <a:rPr lang="en-GB" sz="1200" i="1" noProof="0">
                                  <a:solidFill>
                                    <a:schemeClr val="tx1"/>
                                  </a:solidFill>
                                  <a:latin typeface="Cambria Math" panose="02040503050406030204" pitchFamily="18" charset="0"/>
                                </a:rPr>
                                <m:t>𝑔</m:t>
                              </m:r>
                            </m:oMath>
                          </a14:m>
                          <a:endParaRPr lang="en-GB" sz="1200" noProof="0" dirty="0">
                            <a:solidFill>
                              <a:schemeClr val="tx1"/>
                            </a:solidFill>
                          </a:endParaRPr>
                        </a:p>
                        <a:p>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t>p)</a:t>
                          </a:r>
                          <a14:m>
                            <m:oMath xmlns:m="http://schemas.openxmlformats.org/officeDocument/2006/math">
                              <m:d>
                                <m:dPr>
                                  <m:ctrlPr>
                                    <a:rPr lang="en-GB" sz="1200" i="1" noProof="0" smtClean="0">
                                      <a:solidFill>
                                        <a:schemeClr val="tx1"/>
                                      </a:solidFill>
                                      <a:latin typeface="Cambria Math" panose="02040503050406030204" pitchFamily="18" charset="0"/>
                                    </a:rPr>
                                  </m:ctrlPr>
                                </m:dPr>
                                <m:e>
                                  <m:r>
                                    <a:rPr lang="en-GB" sz="1200" i="1" noProof="0" smtClean="0">
                                      <a:solidFill>
                                        <a:schemeClr val="tx1"/>
                                      </a:solidFill>
                                      <a:latin typeface="Cambria Math" panose="02040503050406030204" pitchFamily="18" charset="0"/>
                                    </a:rPr>
                                    <m:t>𝑚</m:t>
                                  </m:r>
                                  <m:r>
                                    <a:rPr lang="en-GB" sz="120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𝑛</m:t>
                                  </m:r>
                                </m:e>
                              </m:d>
                              <m:sSup>
                                <m:sSupPr>
                                  <m:ctrlPr>
                                    <a:rPr lang="en-GB" sz="1200" b="0" i="1" noProof="0" smtClean="0">
                                      <a:solidFill>
                                        <a:schemeClr val="tx1"/>
                                      </a:solidFill>
                                      <a:latin typeface="Cambria Math" panose="02040503050406030204" pitchFamily="18" charset="0"/>
                                    </a:rPr>
                                  </m:ctrlPr>
                                </m:sSupPr>
                                <m:e>
                                  <m:r>
                                    <a:rPr lang="en-GB" sz="1200" i="1" noProof="0" smtClean="0">
                                      <a:solidFill>
                                        <a:schemeClr val="tx1"/>
                                      </a:solidFill>
                                      <a:latin typeface="Cambria Math" panose="02040503050406030204" pitchFamily="18" charset="0"/>
                                    </a:rPr>
                                    <m:t>𝑥</m:t>
                                  </m:r>
                                </m:e>
                                <m:sup>
                                  <m:r>
                                    <a:rPr lang="en-GB" sz="1200" b="0" i="1" noProof="0" smtClean="0">
                                      <a:solidFill>
                                        <a:schemeClr val="tx1"/>
                                      </a:solidFill>
                                      <a:latin typeface="Cambria Math" panose="02040503050406030204" pitchFamily="18" charset="0"/>
                                    </a:rPr>
                                    <m:t>2</m:t>
                                  </m:r>
                                </m:sup>
                              </m:sSup>
                              <m:r>
                                <a:rPr lang="en-GB" sz="1200" i="1" noProof="0">
                                  <a:solidFill>
                                    <a:schemeClr val="tx1"/>
                                  </a:solidFill>
                                  <a:latin typeface="Cambria Math" panose="02040503050406030204" pitchFamily="18" charset="0"/>
                                </a:rPr>
                                <m:t>=</m:t>
                              </m:r>
                              <m:r>
                                <a:rPr lang="en-GB" sz="1200" i="1" noProof="0">
                                  <a:solidFill>
                                    <a:schemeClr val="tx1"/>
                                  </a:solidFill>
                                  <a:latin typeface="Cambria Math" panose="02040503050406030204" pitchFamily="18" charset="0"/>
                                </a:rPr>
                                <m:t>𝑔</m:t>
                              </m:r>
                            </m:oMath>
                          </a14:m>
                          <a:endParaRPr lang="en-GB" sz="1200" noProof="0" dirty="0">
                            <a:solidFill>
                              <a:schemeClr val="tx1"/>
                            </a:solidFill>
                          </a:endParaRPr>
                        </a:p>
                        <a:p>
                          <a:endParaRPr lang="en-GB" sz="12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14132893"/>
                      </a:ext>
                    </a:extLst>
                  </a:tr>
                </a:tbl>
              </a:graphicData>
            </a:graphic>
          </p:graphicFrame>
        </mc:Choice>
        <mc:Fallback xmlns="">
          <p:graphicFrame>
            <p:nvGraphicFramePr>
              <p:cNvPr id="6" name="Table 5">
                <a:extLst>
                  <a:ext uri="{FF2B5EF4-FFF2-40B4-BE49-F238E27FC236}">
                    <a16:creationId xmlns:a16="http://schemas.microsoft.com/office/drawing/2014/main" id="{742D9E58-3D9D-0920-CCE1-A9E3E3D513D7}"/>
                  </a:ext>
                </a:extLst>
              </p:cNvPr>
              <p:cNvGraphicFramePr>
                <a:graphicFrameLocks noGrp="1"/>
              </p:cNvGraphicFramePr>
              <p:nvPr>
                <p:extLst>
                  <p:ext uri="{D42A27DB-BD31-4B8C-83A1-F6EECF244321}">
                    <p14:modId xmlns:p14="http://schemas.microsoft.com/office/powerpoint/2010/main" val="291305383"/>
                  </p:ext>
                </p:extLst>
              </p:nvPr>
            </p:nvGraphicFramePr>
            <p:xfrm>
              <a:off x="60589" y="537161"/>
              <a:ext cx="6681912" cy="9024848"/>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3647236309"/>
                        </a:ext>
                      </a:extLst>
                    </a:gridCol>
                    <a:gridCol w="1670478">
                      <a:extLst>
                        <a:ext uri="{9D8B030D-6E8A-4147-A177-3AD203B41FA5}">
                          <a16:colId xmlns:a16="http://schemas.microsoft.com/office/drawing/2014/main" val="2570924096"/>
                        </a:ext>
                      </a:extLst>
                    </a:gridCol>
                    <a:gridCol w="1670478">
                      <a:extLst>
                        <a:ext uri="{9D8B030D-6E8A-4147-A177-3AD203B41FA5}">
                          <a16:colId xmlns:a16="http://schemas.microsoft.com/office/drawing/2014/main" val="416811348"/>
                        </a:ext>
                      </a:extLst>
                    </a:gridCol>
                    <a:gridCol w="1670478">
                      <a:extLst>
                        <a:ext uri="{9D8B030D-6E8A-4147-A177-3AD203B41FA5}">
                          <a16:colId xmlns:a16="http://schemas.microsoft.com/office/drawing/2014/main" val="2813845385"/>
                        </a:ext>
                      </a:extLst>
                    </a:gridCol>
                  </a:tblGrid>
                  <a:tr h="22562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4" t="-270" r="-300000" b="-30081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730" t="-270" r="-201095" b="-30081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000" t="-270" r="-100364" b="-30081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1095" t="-270" r="-730" b="-300811"/>
                          </a:stretch>
                        </a:blipFill>
                      </a:tcPr>
                    </a:tc>
                    <a:extLst>
                      <a:ext uri="{0D108BD9-81ED-4DB2-BD59-A6C34878D82A}">
                        <a16:rowId xmlns:a16="http://schemas.microsoft.com/office/drawing/2014/main" val="2894583780"/>
                      </a:ext>
                    </a:extLst>
                  </a:tr>
                  <a:tr h="22562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4" t="-100000" r="-300000" b="-200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730" t="-100000" r="-201095" b="-200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000" t="-100000" r="-100364" b="-200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1095" t="-100000" r="-730" b="-200000"/>
                          </a:stretch>
                        </a:blipFill>
                      </a:tcPr>
                    </a:tc>
                    <a:extLst>
                      <a:ext uri="{0D108BD9-81ED-4DB2-BD59-A6C34878D82A}">
                        <a16:rowId xmlns:a16="http://schemas.microsoft.com/office/drawing/2014/main" val="3558045507"/>
                      </a:ext>
                    </a:extLst>
                  </a:tr>
                  <a:tr h="22562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4" t="-200541" r="-300000" b="-10054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730" t="-200541" r="-201095" b="-10054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000" t="-200541" r="-100364" b="-10054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1095" t="-200541" r="-730" b="-100541"/>
                          </a:stretch>
                        </a:blipFill>
                      </a:tcPr>
                    </a:tc>
                    <a:extLst>
                      <a:ext uri="{0D108BD9-81ED-4DB2-BD59-A6C34878D82A}">
                        <a16:rowId xmlns:a16="http://schemas.microsoft.com/office/drawing/2014/main" val="3205854048"/>
                      </a:ext>
                    </a:extLst>
                  </a:tr>
                  <a:tr h="225621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4" t="-300541" r="-300000" b="-54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730" t="-300541" r="-201095" b="-54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000" t="-300541" r="-100364" b="-541"/>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1095" t="-300541" r="-730" b="-541"/>
                          </a:stretch>
                        </a:blipFill>
                      </a:tcPr>
                    </a:tc>
                    <a:extLst>
                      <a:ext uri="{0D108BD9-81ED-4DB2-BD59-A6C34878D82A}">
                        <a16:rowId xmlns:a16="http://schemas.microsoft.com/office/drawing/2014/main" val="2314132893"/>
                      </a:ext>
                    </a:extLst>
                  </a:tr>
                </a:tbl>
              </a:graphicData>
            </a:graphic>
          </p:graphicFrame>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2A2CD6C-261B-1E38-B989-96F7D713B239}"/>
                  </a:ext>
                </a:extLst>
              </p:cNvPr>
              <p:cNvSpPr txBox="1"/>
              <p:nvPr/>
            </p:nvSpPr>
            <p:spPr>
              <a:xfrm>
                <a:off x="1732517" y="51519"/>
                <a:ext cx="3646054" cy="276999"/>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Question </a:t>
                </a:r>
                <a:r>
                  <a:rPr lang="en-GB" sz="1200" noProof="0" dirty="0">
                    <a:solidFill>
                      <a:prstClr val="black"/>
                    </a:solidFill>
                    <a:latin typeface="Calibri" panose="020F0502020204030204"/>
                  </a:rPr>
                  <a:t>3</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Make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oMath>
                </a14:m>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the subject of the following:</a:t>
                </a:r>
              </a:p>
            </p:txBody>
          </p:sp>
        </mc:Choice>
        <mc:Fallback xmlns="">
          <p:sp>
            <p:nvSpPr>
              <p:cNvPr id="7" name="TextBox 6">
                <a:extLst>
                  <a:ext uri="{FF2B5EF4-FFF2-40B4-BE49-F238E27FC236}">
                    <a16:creationId xmlns:a16="http://schemas.microsoft.com/office/drawing/2014/main" id="{12A2CD6C-261B-1E38-B989-96F7D713B239}"/>
                  </a:ext>
                </a:extLst>
              </p:cNvPr>
              <p:cNvSpPr txBox="1">
                <a:spLocks noRot="1" noChangeAspect="1" noMove="1" noResize="1" noEditPoints="1" noAdjustHandles="1" noChangeArrowheads="1" noChangeShapeType="1" noTextEdit="1"/>
              </p:cNvSpPr>
              <p:nvPr/>
            </p:nvSpPr>
            <p:spPr>
              <a:xfrm>
                <a:off x="1732517" y="51519"/>
                <a:ext cx="3646054" cy="276999"/>
              </a:xfrm>
              <a:prstGeom prst="rect">
                <a:avLst/>
              </a:prstGeom>
              <a:blipFill>
                <a:blip r:embed="rId3"/>
                <a:stretch>
                  <a:fillRect b="-15217"/>
                </a:stretch>
              </a:blipFill>
            </p:spPr>
            <p:txBody>
              <a:bodyPr/>
              <a:lstStyle/>
              <a:p>
                <a:r>
                  <a:rPr lang="en-US">
                    <a:noFill/>
                  </a:rPr>
                  <a:t> </a:t>
                </a:r>
              </a:p>
            </p:txBody>
          </p:sp>
        </mc:Fallback>
      </mc:AlternateContent>
    </p:spTree>
    <p:extLst>
      <p:ext uri="{BB962C8B-B14F-4D97-AF65-F5344CB8AC3E}">
        <p14:creationId xmlns:p14="http://schemas.microsoft.com/office/powerpoint/2010/main" val="3757623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16BDC-B2CF-189B-C93E-6C0D70C9CA4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4FB84D-3AAC-75A5-167D-56C8E6F5ACF1}"/>
              </a:ext>
            </a:extLst>
          </p:cNvPr>
          <p:cNvSpPr>
            <a:spLocks noGrp="1"/>
          </p:cNvSpPr>
          <p:nvPr>
            <p:ph type="sldNum" sz="quarter" idx="12"/>
          </p:nvPr>
        </p:nvSpPr>
        <p:spPr>
          <a:xfrm>
            <a:off x="5134626" y="9376815"/>
            <a:ext cx="1543050" cy="527403"/>
          </a:xfrm>
        </p:spPr>
        <p:txBody>
          <a:bodyPr/>
          <a:lstStyle/>
          <a:p>
            <a:fld id="{086C3A38-D272-42AA-9C88-F1FBEAE20D2C}" type="slidenum">
              <a:rPr lang="en-GB" noProof="0" smtClean="0"/>
              <a:t>6</a:t>
            </a:fld>
            <a:endParaRPr lang="en-GB" noProof="0" dirty="0"/>
          </a:p>
        </p:txBody>
      </p:sp>
      <p:sp>
        <p:nvSpPr>
          <p:cNvPr id="3" name="Rectangle 2">
            <a:extLst>
              <a:ext uri="{FF2B5EF4-FFF2-40B4-BE49-F238E27FC236}">
                <a16:creationId xmlns:a16="http://schemas.microsoft.com/office/drawing/2014/main" id="{8698C8D9-4080-7DEB-9013-B8571ADB70B1}"/>
              </a:ext>
            </a:extLst>
          </p:cNvPr>
          <p:cNvSpPr/>
          <p:nvPr/>
        </p:nvSpPr>
        <p:spPr>
          <a:xfrm>
            <a:off x="0" y="0"/>
            <a:ext cx="6858000" cy="29191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800" noProof="0" dirty="0">
                <a:effectLst/>
                <a:latin typeface="Calibri" panose="020F0502020204030204" pitchFamily="34" charset="0"/>
                <a:ea typeface="Calibri" panose="020F0502020204030204" pitchFamily="34" charset="0"/>
                <a:cs typeface="Times New Roman" panose="02020603050405020304" pitchFamily="18" charset="0"/>
              </a:rPr>
              <a:t>Rearranging More Complex Formulae</a:t>
            </a:r>
            <a:endParaRPr lang="en-GB" sz="1800" b="0" i="0" noProof="0" dirty="0">
              <a:solidFill>
                <a:schemeClr val="bg1"/>
              </a:solidFill>
              <a:effectLst/>
              <a:latin typeface="Calibri Light" panose="020F0302020204030204" pitchFamily="34" charset="0"/>
              <a:cs typeface="Calibri Light" panose="020F0302020204030204" pitchFamily="34" charset="0"/>
            </a:endParaRPr>
          </a:p>
        </p:txBody>
      </p:sp>
      <p:sp>
        <p:nvSpPr>
          <p:cNvPr id="4" name="Rectangle 3">
            <a:extLst>
              <a:ext uri="{FF2B5EF4-FFF2-40B4-BE49-F238E27FC236}">
                <a16:creationId xmlns:a16="http://schemas.microsoft.com/office/drawing/2014/main" id="{65F4647A-621F-2852-8D82-D1A7172333AB}"/>
              </a:ext>
            </a:extLst>
          </p:cNvPr>
          <p:cNvSpPr/>
          <p:nvPr/>
        </p:nvSpPr>
        <p:spPr>
          <a:xfrm>
            <a:off x="86108" y="309496"/>
            <a:ext cx="6679742" cy="143539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noProof="0" dirty="0">
              <a:solidFill>
                <a:sysClr val="windowText" lastClr="000000"/>
              </a:solidFill>
            </a:endParaRPr>
          </a:p>
        </p:txBody>
      </p:sp>
      <p:sp>
        <p:nvSpPr>
          <p:cNvPr id="5" name="TextBox 4">
            <a:extLst>
              <a:ext uri="{FF2B5EF4-FFF2-40B4-BE49-F238E27FC236}">
                <a16:creationId xmlns:a16="http://schemas.microsoft.com/office/drawing/2014/main" id="{17691CE3-9571-5625-D31D-E5D5D87EE8D4}"/>
              </a:ext>
            </a:extLst>
          </p:cNvPr>
          <p:cNvSpPr txBox="1"/>
          <p:nvPr/>
        </p:nvSpPr>
        <p:spPr>
          <a:xfrm>
            <a:off x="72062" y="662545"/>
            <a:ext cx="1399768" cy="276999"/>
          </a:xfrm>
          <a:prstGeom prst="rect">
            <a:avLst/>
          </a:prstGeom>
          <a:noFill/>
        </p:spPr>
        <p:txBody>
          <a:bodyPr wrap="square" rtlCol="0">
            <a:spAutoFit/>
          </a:bodyPr>
          <a:lstStyle/>
          <a:p>
            <a:r>
              <a:rPr lang="en-GB" sz="1200" b="1" noProof="0" dirty="0"/>
              <a:t>Objectives:</a:t>
            </a:r>
          </a:p>
        </p:txBody>
      </p:sp>
      <p:sp>
        <p:nvSpPr>
          <p:cNvPr id="6" name="TextBox 5">
            <a:extLst>
              <a:ext uri="{FF2B5EF4-FFF2-40B4-BE49-F238E27FC236}">
                <a16:creationId xmlns:a16="http://schemas.microsoft.com/office/drawing/2014/main" id="{9F4DB661-4FFB-F8F1-BADF-7E3E33BA5015}"/>
              </a:ext>
            </a:extLst>
          </p:cNvPr>
          <p:cNvSpPr txBox="1"/>
          <p:nvPr/>
        </p:nvSpPr>
        <p:spPr>
          <a:xfrm>
            <a:off x="85039" y="892150"/>
            <a:ext cx="5644429" cy="646331"/>
          </a:xfrm>
          <a:prstGeom prst="rect">
            <a:avLst/>
          </a:prstGeom>
          <a:noFill/>
        </p:spPr>
        <p:txBody>
          <a:bodyPr wrap="square" rtlCol="0">
            <a:spAutoFit/>
          </a:bodyPr>
          <a:lstStyle/>
          <a:p>
            <a:pPr marL="342900" indent="-342900">
              <a:buFont typeface="+mj-lt"/>
              <a:buAutoNum type="arabicPeriod"/>
            </a:pPr>
            <a:r>
              <a:rPr lang="en-GB" sz="1200" noProof="0" dirty="0"/>
              <a:t>To be able to rearrange equations with negative unknowns</a:t>
            </a:r>
          </a:p>
          <a:p>
            <a:pPr marL="342900" indent="-342900">
              <a:buFont typeface="+mj-lt"/>
              <a:buAutoNum type="arabicPeriod"/>
            </a:pPr>
            <a:r>
              <a:rPr lang="en-GB" sz="1200" noProof="0" dirty="0"/>
              <a:t>To be able to rearrange equations with the subject in the denominator</a:t>
            </a:r>
          </a:p>
          <a:p>
            <a:pPr marL="342900" indent="-342900">
              <a:buFont typeface="+mj-lt"/>
              <a:buAutoNum type="arabicPeriod"/>
            </a:pPr>
            <a:r>
              <a:rPr lang="en-GB" sz="1200" noProof="0" dirty="0"/>
              <a:t>To be able to rearrange equations where the subject appears more than once</a:t>
            </a:r>
          </a:p>
        </p:txBody>
      </p:sp>
      <p:sp>
        <p:nvSpPr>
          <p:cNvPr id="7" name="TextBox 6">
            <a:extLst>
              <a:ext uri="{FF2B5EF4-FFF2-40B4-BE49-F238E27FC236}">
                <a16:creationId xmlns:a16="http://schemas.microsoft.com/office/drawing/2014/main" id="{BFD91EE6-0F98-BB6E-550B-F60BD51F0F4F}"/>
              </a:ext>
            </a:extLst>
          </p:cNvPr>
          <p:cNvSpPr txBox="1"/>
          <p:nvPr/>
        </p:nvSpPr>
        <p:spPr>
          <a:xfrm>
            <a:off x="142969" y="356923"/>
            <a:ext cx="6534707" cy="276999"/>
          </a:xfrm>
          <a:prstGeom prst="rect">
            <a:avLst/>
          </a:prstGeom>
          <a:noFill/>
          <a:ln>
            <a:solidFill>
              <a:schemeClr val="tx1"/>
            </a:solidFill>
          </a:ln>
        </p:spPr>
        <p:txBody>
          <a:bodyPr wrap="square" lIns="91440" tIns="45720" rIns="91440" bIns="45720" rtlCol="0" anchor="t">
            <a:spAutoFit/>
          </a:bodyPr>
          <a:lstStyle/>
          <a:p>
            <a:pPr algn="ctr"/>
            <a:r>
              <a:rPr lang="en-GB" sz="1200" noProof="0" dirty="0"/>
              <a:t>LEARNING OUTCOME: To be able to rearrange more complex formulae</a:t>
            </a:r>
          </a:p>
        </p:txBody>
      </p:sp>
      <p:sp>
        <p:nvSpPr>
          <p:cNvPr id="8" name="TextBox 7">
            <a:extLst>
              <a:ext uri="{FF2B5EF4-FFF2-40B4-BE49-F238E27FC236}">
                <a16:creationId xmlns:a16="http://schemas.microsoft.com/office/drawing/2014/main" id="{E2B2DF55-ED8E-C65F-AEC9-8F339C567EFE}"/>
              </a:ext>
            </a:extLst>
          </p:cNvPr>
          <p:cNvSpPr txBox="1"/>
          <p:nvPr/>
        </p:nvSpPr>
        <p:spPr>
          <a:xfrm>
            <a:off x="5684384" y="671871"/>
            <a:ext cx="986253" cy="1015663"/>
          </a:xfrm>
          <a:prstGeom prst="rect">
            <a:avLst/>
          </a:prstGeom>
          <a:noFill/>
          <a:ln w="12700">
            <a:solidFill>
              <a:schemeClr val="tx1"/>
            </a:solidFill>
          </a:ln>
        </p:spPr>
        <p:txBody>
          <a:bodyPr wrap="square" rtlCol="0">
            <a:spAutoFit/>
          </a:bodyPr>
          <a:lstStyle/>
          <a:p>
            <a:r>
              <a:rPr lang="en-GB" sz="1200" b="1" u="sng" noProof="0" dirty="0"/>
              <a:t>Keywords:</a:t>
            </a:r>
            <a:endParaRPr lang="en-GB" sz="1200" noProof="0" dirty="0"/>
          </a:p>
          <a:p>
            <a:pPr marL="171450" indent="-171450">
              <a:buFontTx/>
              <a:buChar char="-"/>
            </a:pPr>
            <a:r>
              <a:rPr lang="en-GB" sz="1200" noProof="0" dirty="0"/>
              <a:t>Equation</a:t>
            </a:r>
          </a:p>
          <a:p>
            <a:pPr marL="171450" indent="-171450">
              <a:buFontTx/>
              <a:buChar char="-"/>
            </a:pPr>
            <a:r>
              <a:rPr lang="en-GB" sz="1200" noProof="0" dirty="0"/>
              <a:t>Subject</a:t>
            </a:r>
          </a:p>
          <a:p>
            <a:pPr marL="171450" indent="-171450">
              <a:buFontTx/>
              <a:buChar char="-"/>
            </a:pPr>
            <a:r>
              <a:rPr lang="en-GB" sz="1200" noProof="0" dirty="0"/>
              <a:t>Inverse</a:t>
            </a:r>
          </a:p>
          <a:p>
            <a:pPr marL="171450" indent="-171450">
              <a:buFontTx/>
              <a:buChar char="-"/>
            </a:pPr>
            <a:r>
              <a:rPr lang="en-GB" sz="1200" noProof="0" dirty="0"/>
              <a:t>Formulae</a:t>
            </a:r>
          </a:p>
        </p:txBody>
      </p:sp>
      <p:cxnSp>
        <p:nvCxnSpPr>
          <p:cNvPr id="9" name="Straight Connector 8">
            <a:extLst>
              <a:ext uri="{FF2B5EF4-FFF2-40B4-BE49-F238E27FC236}">
                <a16:creationId xmlns:a16="http://schemas.microsoft.com/office/drawing/2014/main" id="{93AA4CEE-CF6D-99A3-9B16-2F59E964240C}"/>
              </a:ext>
            </a:extLst>
          </p:cNvPr>
          <p:cNvCxnSpPr/>
          <p:nvPr/>
        </p:nvCxnSpPr>
        <p:spPr>
          <a:xfrm flipV="1">
            <a:off x="914747" y="4854887"/>
            <a:ext cx="5541513" cy="2282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C81DCFED-B8D6-4C13-A73F-926686908DCF}"/>
              </a:ext>
            </a:extLst>
          </p:cNvPr>
          <p:cNvSpPr/>
          <p:nvPr/>
        </p:nvSpPr>
        <p:spPr>
          <a:xfrm>
            <a:off x="87955" y="3085691"/>
            <a:ext cx="6696000" cy="2592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chemeClr val="tx1"/>
              </a:solidFill>
            </a:endParaRPr>
          </a:p>
        </p:txBody>
      </p:sp>
      <p:cxnSp>
        <p:nvCxnSpPr>
          <p:cNvPr id="11" name="Straight Connector 10">
            <a:extLst>
              <a:ext uri="{FF2B5EF4-FFF2-40B4-BE49-F238E27FC236}">
                <a16:creationId xmlns:a16="http://schemas.microsoft.com/office/drawing/2014/main" id="{06BBC3D5-DE28-F273-B728-185AE5C97277}"/>
              </a:ext>
            </a:extLst>
          </p:cNvPr>
          <p:cNvCxnSpPr>
            <a:cxnSpLocks/>
          </p:cNvCxnSpPr>
          <p:nvPr/>
        </p:nvCxnSpPr>
        <p:spPr>
          <a:xfrm>
            <a:off x="87955" y="4507794"/>
            <a:ext cx="6696000" cy="0"/>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AD445EE3-4234-F5F0-67E5-4A59C82C090C}"/>
              </a:ext>
            </a:extLst>
          </p:cNvPr>
          <p:cNvCxnSpPr>
            <a:cxnSpLocks/>
            <a:stCxn id="10" idx="2"/>
            <a:endCxn id="10" idx="0"/>
          </p:cNvCxnSpPr>
          <p:nvPr/>
        </p:nvCxnSpPr>
        <p:spPr>
          <a:xfrm flipV="1">
            <a:off x="3435955" y="3085691"/>
            <a:ext cx="0" cy="2592000"/>
          </a:xfrm>
          <a:prstGeom prst="line">
            <a:avLst/>
          </a:prstGeom>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795A5E5F-8E6E-2072-7086-7F0EBC101BC9}"/>
              </a:ext>
            </a:extLst>
          </p:cNvPr>
          <p:cNvSpPr txBox="1"/>
          <p:nvPr/>
        </p:nvSpPr>
        <p:spPr>
          <a:xfrm>
            <a:off x="69419" y="3097063"/>
            <a:ext cx="824713" cy="461665"/>
          </a:xfrm>
          <a:prstGeom prst="rect">
            <a:avLst/>
          </a:prstGeom>
          <a:noFill/>
        </p:spPr>
        <p:txBody>
          <a:bodyPr wrap="none" rtlCol="0">
            <a:spAutoFit/>
          </a:bodyPr>
          <a:lstStyle/>
          <a:p>
            <a:r>
              <a:rPr lang="en-GB" sz="1200" b="1" noProof="0" dirty="0"/>
              <a:t>Definition</a:t>
            </a:r>
          </a:p>
          <a:p>
            <a:endParaRPr lang="en-GB" sz="1200" noProof="0" dirty="0"/>
          </a:p>
        </p:txBody>
      </p:sp>
      <p:sp>
        <p:nvSpPr>
          <p:cNvPr id="14" name="TextBox 13">
            <a:extLst>
              <a:ext uri="{FF2B5EF4-FFF2-40B4-BE49-F238E27FC236}">
                <a16:creationId xmlns:a16="http://schemas.microsoft.com/office/drawing/2014/main" id="{A4CE06CB-BFB8-B5B2-3F49-A7BB8CDC46E7}"/>
              </a:ext>
            </a:extLst>
          </p:cNvPr>
          <p:cNvSpPr txBox="1"/>
          <p:nvPr/>
        </p:nvSpPr>
        <p:spPr>
          <a:xfrm>
            <a:off x="5729468" y="3065512"/>
            <a:ext cx="1112228" cy="276999"/>
          </a:xfrm>
          <a:prstGeom prst="rect">
            <a:avLst/>
          </a:prstGeom>
          <a:noFill/>
        </p:spPr>
        <p:txBody>
          <a:bodyPr wrap="none" rtlCol="0">
            <a:spAutoFit/>
          </a:bodyPr>
          <a:lstStyle/>
          <a:p>
            <a:r>
              <a:rPr lang="en-GB" sz="1200" b="1" noProof="0" dirty="0"/>
              <a:t>Characteristics</a:t>
            </a:r>
          </a:p>
        </p:txBody>
      </p:sp>
      <p:sp>
        <p:nvSpPr>
          <p:cNvPr id="15" name="TextBox 14">
            <a:extLst>
              <a:ext uri="{FF2B5EF4-FFF2-40B4-BE49-F238E27FC236}">
                <a16:creationId xmlns:a16="http://schemas.microsoft.com/office/drawing/2014/main" id="{BD85E3FC-1AE1-CB57-C66B-54A941930CC1}"/>
              </a:ext>
            </a:extLst>
          </p:cNvPr>
          <p:cNvSpPr txBox="1"/>
          <p:nvPr/>
        </p:nvSpPr>
        <p:spPr>
          <a:xfrm>
            <a:off x="66107" y="4479171"/>
            <a:ext cx="788164" cy="276999"/>
          </a:xfrm>
          <a:prstGeom prst="rect">
            <a:avLst/>
          </a:prstGeom>
          <a:noFill/>
        </p:spPr>
        <p:txBody>
          <a:bodyPr wrap="none" rtlCol="0">
            <a:spAutoFit/>
          </a:bodyPr>
          <a:lstStyle/>
          <a:p>
            <a:r>
              <a:rPr lang="en-GB" sz="1200" b="1" noProof="0" dirty="0"/>
              <a:t>Examples</a:t>
            </a:r>
          </a:p>
        </p:txBody>
      </p:sp>
      <p:sp>
        <p:nvSpPr>
          <p:cNvPr id="16" name="TextBox 15">
            <a:extLst>
              <a:ext uri="{FF2B5EF4-FFF2-40B4-BE49-F238E27FC236}">
                <a16:creationId xmlns:a16="http://schemas.microsoft.com/office/drawing/2014/main" id="{C63EB935-6A21-5F51-F533-1045720F75A5}"/>
              </a:ext>
            </a:extLst>
          </p:cNvPr>
          <p:cNvSpPr txBox="1"/>
          <p:nvPr/>
        </p:nvSpPr>
        <p:spPr>
          <a:xfrm>
            <a:off x="5685115" y="4491688"/>
            <a:ext cx="1172885" cy="276999"/>
          </a:xfrm>
          <a:prstGeom prst="rect">
            <a:avLst/>
          </a:prstGeom>
          <a:noFill/>
        </p:spPr>
        <p:txBody>
          <a:bodyPr wrap="none" rtlCol="0">
            <a:spAutoFit/>
          </a:bodyPr>
          <a:lstStyle/>
          <a:p>
            <a:r>
              <a:rPr lang="en-GB" sz="1200" b="1" noProof="0" dirty="0"/>
              <a:t>Non - Examples</a:t>
            </a:r>
          </a:p>
        </p:txBody>
      </p:sp>
      <p:sp>
        <p:nvSpPr>
          <p:cNvPr id="17" name="TextBox 16">
            <a:extLst>
              <a:ext uri="{FF2B5EF4-FFF2-40B4-BE49-F238E27FC236}">
                <a16:creationId xmlns:a16="http://schemas.microsoft.com/office/drawing/2014/main" id="{EDC00A7F-CE1E-C40B-4CD7-5465C3EDDDD7}"/>
              </a:ext>
            </a:extLst>
          </p:cNvPr>
          <p:cNvSpPr txBox="1"/>
          <p:nvPr/>
        </p:nvSpPr>
        <p:spPr>
          <a:xfrm>
            <a:off x="2291019" y="4353590"/>
            <a:ext cx="2153154" cy="369332"/>
          </a:xfrm>
          <a:prstGeom prst="rect">
            <a:avLst/>
          </a:prstGeom>
          <a:solidFill>
            <a:schemeClr val="bg1"/>
          </a:solidFill>
          <a:ln>
            <a:solidFill>
              <a:schemeClr val="tx1"/>
            </a:solidFill>
          </a:ln>
        </p:spPr>
        <p:txBody>
          <a:bodyPr wrap="none" rtlCol="0">
            <a:spAutoFit/>
          </a:bodyPr>
          <a:lstStyle/>
          <a:p>
            <a:r>
              <a:rPr lang="en-GB" noProof="0" dirty="0"/>
              <a:t>Changing the subject</a:t>
            </a:r>
          </a:p>
        </p:txBody>
      </p:sp>
      <p:sp>
        <p:nvSpPr>
          <p:cNvPr id="18" name="TextBox 17">
            <a:extLst>
              <a:ext uri="{FF2B5EF4-FFF2-40B4-BE49-F238E27FC236}">
                <a16:creationId xmlns:a16="http://schemas.microsoft.com/office/drawing/2014/main" id="{343C7215-8FCE-AB04-66FE-6A354091326E}"/>
              </a:ext>
            </a:extLst>
          </p:cNvPr>
          <p:cNvSpPr txBox="1"/>
          <p:nvPr/>
        </p:nvSpPr>
        <p:spPr>
          <a:xfrm>
            <a:off x="103077" y="3341693"/>
            <a:ext cx="3230335" cy="830997"/>
          </a:xfrm>
          <a:prstGeom prst="rect">
            <a:avLst/>
          </a:prstGeom>
          <a:noFill/>
        </p:spPr>
        <p:txBody>
          <a:bodyPr wrap="square" rtlCol="0">
            <a:spAutoFit/>
          </a:bodyPr>
          <a:lstStyle/>
          <a:p>
            <a:r>
              <a:rPr lang="en-GB" sz="1200" noProof="0" dirty="0"/>
              <a:t>Changing the subject of a formula means rearranging the formula to make a different variable the subject (i.e., on its own on one side of the equals sign). </a:t>
            </a:r>
            <a:endParaRPr lang="en-GB" sz="1200" noProof="0" dirty="0">
              <a:solidFill>
                <a:srgbClr val="FF0000"/>
              </a:solidFill>
            </a:endParaRPr>
          </a:p>
        </p:txBody>
      </p:sp>
      <p:sp>
        <p:nvSpPr>
          <p:cNvPr id="19" name="TextBox 18">
            <a:extLst>
              <a:ext uri="{FF2B5EF4-FFF2-40B4-BE49-F238E27FC236}">
                <a16:creationId xmlns:a16="http://schemas.microsoft.com/office/drawing/2014/main" id="{9329556E-2FCD-BC6C-4672-68B40FFF2244}"/>
              </a:ext>
            </a:extLst>
          </p:cNvPr>
          <p:cNvSpPr txBox="1"/>
          <p:nvPr/>
        </p:nvSpPr>
        <p:spPr>
          <a:xfrm>
            <a:off x="3407456" y="3247732"/>
            <a:ext cx="3434239" cy="1015663"/>
          </a:xfrm>
          <a:prstGeom prst="rect">
            <a:avLst/>
          </a:prstGeom>
          <a:noFill/>
        </p:spPr>
        <p:txBody>
          <a:bodyPr wrap="square" rtlCol="0">
            <a:spAutoFit/>
          </a:bodyPr>
          <a:lstStyle/>
          <a:p>
            <a:pPr marL="171450" indent="-171450">
              <a:buFont typeface="Arial" panose="020B0604020202020204" pitchFamily="34" charset="0"/>
              <a:buChar char="•"/>
            </a:pPr>
            <a:r>
              <a:rPr lang="en-GB" sz="1200" noProof="0" dirty="0"/>
              <a:t>Involves inverse operations (e.g., undoing addition with subtraction) and works step-by-step like solving an equation, keeping the equation balanced on both sides.</a:t>
            </a:r>
          </a:p>
          <a:p>
            <a:pPr marL="171450" indent="-171450">
              <a:buFont typeface="Arial" panose="020B0604020202020204" pitchFamily="34" charset="0"/>
              <a:buChar char="•"/>
            </a:pPr>
            <a:r>
              <a:rPr lang="en-GB" sz="1200" noProof="0" dirty="0"/>
              <a:t>The subject is the variable you’re isolating.</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31329E91-D19B-F964-D54E-0CDB9DF1EAA7}"/>
                  </a:ext>
                </a:extLst>
              </p:cNvPr>
              <p:cNvSpPr txBox="1"/>
              <p:nvPr/>
            </p:nvSpPr>
            <p:spPr>
              <a:xfrm>
                <a:off x="74045" y="4751658"/>
                <a:ext cx="3375432" cy="971869"/>
              </a:xfrm>
              <a:prstGeom prst="rect">
                <a:avLst/>
              </a:prstGeom>
              <a:noFill/>
            </p:spPr>
            <p:txBody>
              <a:bodyPr wrap="square" rtlCol="0">
                <a:spAutoFit/>
              </a:bodyPr>
              <a:lstStyle/>
              <a:p>
                <a14:m>
                  <m:oMath xmlns:m="http://schemas.openxmlformats.org/officeDocument/2006/math">
                    <m:r>
                      <a:rPr lang="en-GB" sz="1200" i="1" noProof="0" smtClean="0">
                        <a:solidFill>
                          <a:schemeClr val="tx1"/>
                        </a:solidFill>
                        <a:latin typeface="Cambria Math" panose="02040503050406030204" pitchFamily="18" charset="0"/>
                      </a:rPr>
                      <m:t>𝐴</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𝑙𝑤</m:t>
                    </m:r>
                  </m:oMath>
                </a14:m>
                <a:r>
                  <a:rPr lang="en-GB" sz="1200" noProof="0" dirty="0">
                    <a:solidFill>
                      <a:schemeClr val="tx1"/>
                    </a:solidFill>
                  </a:rPr>
                  <a:t> has been rearranged to </a:t>
                </a:r>
                <a14:m>
                  <m:oMath xmlns:m="http://schemas.openxmlformats.org/officeDocument/2006/math">
                    <m:r>
                      <a:rPr lang="en-GB" sz="1200" b="0" i="1" noProof="0" smtClean="0">
                        <a:solidFill>
                          <a:schemeClr val="tx1"/>
                        </a:solidFill>
                        <a:latin typeface="Cambria Math" panose="02040503050406030204" pitchFamily="18" charset="0"/>
                      </a:rPr>
                      <m:t>𝑙</m:t>
                    </m:r>
                    <m:r>
                      <a:rPr lang="en-GB" sz="1200" b="0" i="1" noProof="0" smtClean="0">
                        <a:solidFill>
                          <a:schemeClr val="tx1"/>
                        </a:solidFill>
                        <a:latin typeface="Cambria Math" panose="02040503050406030204" pitchFamily="18" charset="0"/>
                      </a:rPr>
                      <m: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𝐴</m:t>
                        </m:r>
                      </m:num>
                      <m:den>
                        <m:r>
                          <a:rPr lang="en-GB" sz="1200" b="0" i="1" noProof="0" smtClean="0">
                            <a:solidFill>
                              <a:schemeClr val="tx1"/>
                            </a:solidFill>
                            <a:latin typeface="Cambria Math" panose="02040503050406030204" pitchFamily="18" charset="0"/>
                          </a:rPr>
                          <m:t>𝑤</m:t>
                        </m:r>
                      </m:den>
                    </m:f>
                  </m:oMath>
                </a14:m>
                <a:r>
                  <a:rPr lang="en-GB" sz="1200" noProof="0" dirty="0">
                    <a:solidFill>
                      <a:schemeClr val="tx1"/>
                    </a:solidFill>
                  </a:rPr>
                  <a:t> to make </a:t>
                </a:r>
                <a14:m>
                  <m:oMath xmlns:m="http://schemas.openxmlformats.org/officeDocument/2006/math">
                    <m:r>
                      <a:rPr lang="en-GB" sz="1200" b="0" i="1" noProof="0" smtClean="0">
                        <a:solidFill>
                          <a:schemeClr val="tx1"/>
                        </a:solidFill>
                        <a:latin typeface="Cambria Math" panose="02040503050406030204" pitchFamily="18" charset="0"/>
                      </a:rPr>
                      <m:t>𝑙</m:t>
                    </m:r>
                  </m:oMath>
                </a14:m>
                <a:r>
                  <a:rPr lang="en-GB" sz="1200" noProof="0" dirty="0">
                    <a:solidFill>
                      <a:schemeClr val="tx1"/>
                    </a:solidFill>
                  </a:rPr>
                  <a:t> the subject.</a:t>
                </a:r>
              </a:p>
              <a:p>
                <a14:m>
                  <m:oMath xmlns:m="http://schemas.openxmlformats.org/officeDocument/2006/math">
                    <m:r>
                      <a:rPr lang="en-GB" sz="1200" b="0" i="1" noProof="0" smtClean="0">
                        <a:solidFill>
                          <a:schemeClr val="tx1"/>
                        </a:solidFill>
                        <a:latin typeface="Cambria Math" panose="02040503050406030204" pitchFamily="18" charset="0"/>
                      </a:rPr>
                      <m:t>𝑣</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𝑢</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𝑎𝑡</m:t>
                    </m:r>
                  </m:oMath>
                </a14:m>
                <a:r>
                  <a:rPr lang="en-GB" sz="1200" noProof="0" dirty="0">
                    <a:solidFill>
                      <a:schemeClr val="tx1"/>
                    </a:solidFill>
                  </a:rPr>
                  <a:t> has been rearranged to </a:t>
                </a:r>
                <a14:m>
                  <m:oMath xmlns:m="http://schemas.openxmlformats.org/officeDocument/2006/math">
                    <m:r>
                      <a:rPr lang="en-GB" sz="1200" b="0" i="1" noProof="0" smtClean="0">
                        <a:solidFill>
                          <a:schemeClr val="tx1"/>
                        </a:solidFill>
                        <a:latin typeface="Cambria Math" panose="02040503050406030204" pitchFamily="18" charset="0"/>
                      </a:rPr>
                      <m:t>𝑡</m:t>
                    </m:r>
                    <m:r>
                      <a:rPr lang="en-GB" sz="1200" b="0" i="1" noProof="0" smtClean="0">
                        <a:solidFill>
                          <a:schemeClr val="tx1"/>
                        </a:solidFill>
                        <a:latin typeface="Cambria Math" panose="02040503050406030204" pitchFamily="18" charset="0"/>
                      </a:rPr>
                      <m: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𝑣</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𝑢</m:t>
                        </m:r>
                      </m:num>
                      <m:den>
                        <m:r>
                          <a:rPr lang="en-GB" sz="1200" b="0" i="1" noProof="0" smtClean="0">
                            <a:solidFill>
                              <a:schemeClr val="tx1"/>
                            </a:solidFill>
                            <a:latin typeface="Cambria Math" panose="02040503050406030204" pitchFamily="18" charset="0"/>
                          </a:rPr>
                          <m:t>𝑎</m:t>
                        </m:r>
                      </m:den>
                    </m:f>
                  </m:oMath>
                </a14:m>
                <a:r>
                  <a:rPr lang="en-GB" sz="1200" noProof="0" dirty="0">
                    <a:solidFill>
                      <a:schemeClr val="tx1"/>
                    </a:solidFill>
                  </a:rPr>
                  <a:t>  to make t the subject.</a:t>
                </a:r>
              </a:p>
            </p:txBody>
          </p:sp>
        </mc:Choice>
        <mc:Fallback xmlns="">
          <p:sp>
            <p:nvSpPr>
              <p:cNvPr id="20" name="TextBox 19">
                <a:extLst>
                  <a:ext uri="{FF2B5EF4-FFF2-40B4-BE49-F238E27FC236}">
                    <a16:creationId xmlns:a16="http://schemas.microsoft.com/office/drawing/2014/main" id="{31329E91-D19B-F964-D54E-0CDB9DF1EAA7}"/>
                  </a:ext>
                </a:extLst>
              </p:cNvPr>
              <p:cNvSpPr txBox="1">
                <a:spLocks noRot="1" noChangeAspect="1" noMove="1" noResize="1" noEditPoints="1" noAdjustHandles="1" noChangeArrowheads="1" noChangeShapeType="1" noTextEdit="1"/>
              </p:cNvSpPr>
              <p:nvPr/>
            </p:nvSpPr>
            <p:spPr>
              <a:xfrm>
                <a:off x="74045" y="4751658"/>
                <a:ext cx="3375432" cy="971869"/>
              </a:xfrm>
              <a:prstGeom prst="rect">
                <a:avLst/>
              </a:prstGeom>
              <a:blipFill>
                <a:blip r:embed="rId2"/>
                <a:stretch>
                  <a:fillRect r="-903" b="-37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D79C5616-EFA5-166E-1632-FB9CFA954900}"/>
                  </a:ext>
                </a:extLst>
              </p:cNvPr>
              <p:cNvSpPr txBox="1"/>
              <p:nvPr/>
            </p:nvSpPr>
            <p:spPr>
              <a:xfrm>
                <a:off x="3477976" y="4825109"/>
                <a:ext cx="3230335" cy="830997"/>
              </a:xfrm>
              <a:prstGeom prst="rect">
                <a:avLst/>
              </a:prstGeom>
              <a:noFill/>
            </p:spPr>
            <p:txBody>
              <a:bodyPr wrap="square" rtlCol="0">
                <a:spAutoFit/>
              </a:bodyPr>
              <a:lstStyle/>
              <a:p>
                <a:r>
                  <a:rPr lang="en-GB" sz="1200" noProof="0" dirty="0"/>
                  <a:t>“Solve </a:t>
                </a:r>
                <a14:m>
                  <m:oMath xmlns:m="http://schemas.openxmlformats.org/officeDocument/2006/math">
                    <m:r>
                      <a:rPr lang="en-GB" sz="1200" i="1" noProof="0" smtClean="0">
                        <a:latin typeface="Cambria Math" panose="02040503050406030204" pitchFamily="18" charset="0"/>
                      </a:rPr>
                      <m:t>3</m:t>
                    </m:r>
                    <m:r>
                      <a:rPr lang="en-GB" sz="1200" i="1" noProof="0" smtClean="0">
                        <a:latin typeface="Cambria Math" panose="02040503050406030204" pitchFamily="18" charset="0"/>
                      </a:rPr>
                      <m:t>𝑥</m:t>
                    </m:r>
                    <m:r>
                      <a:rPr lang="en-GB" sz="1200" i="1" noProof="0" smtClean="0">
                        <a:latin typeface="Cambria Math" panose="02040503050406030204" pitchFamily="18" charset="0"/>
                      </a:rPr>
                      <m:t>+2=11“</m:t>
                    </m:r>
                  </m:oMath>
                </a14:m>
                <a:endParaRPr lang="en-GB" sz="1200" b="0" noProof="0" dirty="0"/>
              </a:p>
              <a:p>
                <a:br>
                  <a:rPr lang="en-GB" sz="1200" noProof="0" dirty="0"/>
                </a:br>
                <a:r>
                  <a:rPr lang="en-GB" sz="1200" noProof="0" dirty="0"/>
                  <a:t>This is solving, not changing the subject of a formula.</a:t>
                </a:r>
              </a:p>
            </p:txBody>
          </p:sp>
        </mc:Choice>
        <mc:Fallback xmlns="">
          <p:sp>
            <p:nvSpPr>
              <p:cNvPr id="21" name="TextBox 20">
                <a:extLst>
                  <a:ext uri="{FF2B5EF4-FFF2-40B4-BE49-F238E27FC236}">
                    <a16:creationId xmlns:a16="http://schemas.microsoft.com/office/drawing/2014/main" id="{D79C5616-EFA5-166E-1632-FB9CFA954900}"/>
                  </a:ext>
                </a:extLst>
              </p:cNvPr>
              <p:cNvSpPr txBox="1">
                <a:spLocks noRot="1" noChangeAspect="1" noMove="1" noResize="1" noEditPoints="1" noAdjustHandles="1" noChangeArrowheads="1" noChangeShapeType="1" noTextEdit="1"/>
              </p:cNvSpPr>
              <p:nvPr/>
            </p:nvSpPr>
            <p:spPr>
              <a:xfrm>
                <a:off x="3477976" y="4825109"/>
                <a:ext cx="3230335" cy="830997"/>
              </a:xfrm>
              <a:prstGeom prst="rect">
                <a:avLst/>
              </a:prstGeom>
              <a:blipFill>
                <a:blip r:embed="rId3"/>
                <a:stretch>
                  <a:fillRect l="-189" t="-735" b="-5147"/>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9D572817-0797-8366-A6BD-D7C81A5386B9}"/>
              </a:ext>
            </a:extLst>
          </p:cNvPr>
          <p:cNvSpPr/>
          <p:nvPr/>
        </p:nvSpPr>
        <p:spPr>
          <a:xfrm>
            <a:off x="86109" y="1789145"/>
            <a:ext cx="6679742" cy="124983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GB" sz="1200" b="1" noProof="0" dirty="0">
                <a:solidFill>
                  <a:schemeClr val="tx1"/>
                </a:solidFill>
              </a:rPr>
              <a:t>Introduction  </a:t>
            </a:r>
          </a:p>
          <a:p>
            <a:pPr marL="228600" indent="-228600">
              <a:buFont typeface="+mj-lt"/>
              <a:buAutoNum type="arabicPeriod"/>
            </a:pPr>
            <a:r>
              <a:rPr lang="en-GB" sz="1200" noProof="0" dirty="0">
                <a:solidFill>
                  <a:schemeClr val="tx1"/>
                </a:solidFill>
              </a:rPr>
              <a:t>When rearranging more complex equations, you’ll use the same basic steps, but things can get a bit</a:t>
            </a:r>
          </a:p>
          <a:p>
            <a:pPr marL="228600" indent="-228600">
              <a:buFont typeface="+mj-lt"/>
              <a:buAutoNum type="arabicPeriod"/>
            </a:pPr>
            <a:r>
              <a:rPr lang="en-GB" sz="1200" noProof="0" dirty="0">
                <a:solidFill>
                  <a:schemeClr val="tx1"/>
                </a:solidFill>
              </a:rPr>
              <a:t>trickier. You might have to deal with negative variables, variables in the denominator, or even the</a:t>
            </a:r>
          </a:p>
          <a:p>
            <a:pPr marL="228600" indent="-228600">
              <a:buFont typeface="+mj-lt"/>
              <a:buAutoNum type="arabicPeriod"/>
            </a:pPr>
            <a:r>
              <a:rPr lang="en-GB" sz="1200" noProof="0" dirty="0">
                <a:solidFill>
                  <a:schemeClr val="tx1"/>
                </a:solidFill>
              </a:rPr>
              <a:t>subject appearing more than once. In these cases, you may need to multiply both sides to eliminate</a:t>
            </a:r>
          </a:p>
          <a:p>
            <a:pPr marL="228600" indent="-228600">
              <a:buFont typeface="+mj-lt"/>
              <a:buAutoNum type="arabicPeriod"/>
            </a:pPr>
            <a:r>
              <a:rPr lang="en-GB" sz="1200" noProof="0" dirty="0">
                <a:solidFill>
                  <a:schemeClr val="tx1"/>
                </a:solidFill>
              </a:rPr>
              <a:t>fractions, move terms carefully, and sometimes factorise expressions to get the subject on its own. It</a:t>
            </a:r>
          </a:p>
          <a:p>
            <a:pPr marL="228600" indent="-228600">
              <a:buFont typeface="+mj-lt"/>
              <a:buAutoNum type="arabicPeriod"/>
            </a:pPr>
            <a:r>
              <a:rPr lang="en-GB" sz="1200" noProof="0" dirty="0">
                <a:solidFill>
                  <a:schemeClr val="tx1"/>
                </a:solidFill>
              </a:rPr>
              <a:t>takes a few more steps, but the key is still to use inverse operations and keep both sides balanced.</a:t>
            </a:r>
          </a:p>
        </p:txBody>
      </p:sp>
      <p:sp>
        <p:nvSpPr>
          <p:cNvPr id="28" name="Rectangle 27">
            <a:extLst>
              <a:ext uri="{FF2B5EF4-FFF2-40B4-BE49-F238E27FC236}">
                <a16:creationId xmlns:a16="http://schemas.microsoft.com/office/drawing/2014/main" id="{611C2A7B-F4C7-F6D3-1687-4CB4C55DB712}"/>
              </a:ext>
            </a:extLst>
          </p:cNvPr>
          <p:cNvSpPr/>
          <p:nvPr/>
        </p:nvSpPr>
        <p:spPr>
          <a:xfrm>
            <a:off x="87837" y="5737439"/>
            <a:ext cx="4237700" cy="24830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noProof="0" dirty="0">
                <a:solidFill>
                  <a:schemeClr val="bg1"/>
                </a:solidFill>
              </a:rPr>
              <a:t>Rearranging with negative unknowns</a:t>
            </a:r>
          </a:p>
        </p:txBody>
      </p:sp>
      <mc:AlternateContent xmlns:mc="http://schemas.openxmlformats.org/markup-compatibility/2006" xmlns:a14="http://schemas.microsoft.com/office/drawing/2010/main">
        <mc:Choice Requires="a14">
          <p:graphicFrame>
            <p:nvGraphicFramePr>
              <p:cNvPr id="29" name="Table 28">
                <a:extLst>
                  <a:ext uri="{FF2B5EF4-FFF2-40B4-BE49-F238E27FC236}">
                    <a16:creationId xmlns:a16="http://schemas.microsoft.com/office/drawing/2014/main" id="{C258ED5A-A0A6-7B07-460B-9940A28696DE}"/>
                  </a:ext>
                </a:extLst>
              </p:cNvPr>
              <p:cNvGraphicFramePr>
                <a:graphicFrameLocks noGrp="1"/>
              </p:cNvGraphicFramePr>
              <p:nvPr>
                <p:extLst>
                  <p:ext uri="{D42A27DB-BD31-4B8C-83A1-F6EECF244321}">
                    <p14:modId xmlns:p14="http://schemas.microsoft.com/office/powerpoint/2010/main" val="4235358570"/>
                  </p:ext>
                </p:extLst>
              </p:nvPr>
            </p:nvGraphicFramePr>
            <p:xfrm>
              <a:off x="83937" y="5982349"/>
              <a:ext cx="6681913" cy="3566160"/>
            </p:xfrm>
            <a:graphic>
              <a:graphicData uri="http://schemas.openxmlformats.org/drawingml/2006/table">
                <a:tbl>
                  <a:tblPr firstRow="1" bandRow="1">
                    <a:tableStyleId>{5C22544A-7EE6-4342-B048-85BDC9FD1C3A}</a:tableStyleId>
                  </a:tblPr>
                  <a:tblGrid>
                    <a:gridCol w="1504025">
                      <a:extLst>
                        <a:ext uri="{9D8B030D-6E8A-4147-A177-3AD203B41FA5}">
                          <a16:colId xmlns:a16="http://schemas.microsoft.com/office/drawing/2014/main" val="1568142362"/>
                        </a:ext>
                      </a:extLst>
                    </a:gridCol>
                    <a:gridCol w="1741378">
                      <a:extLst>
                        <a:ext uri="{9D8B030D-6E8A-4147-A177-3AD203B41FA5}">
                          <a16:colId xmlns:a16="http://schemas.microsoft.com/office/drawing/2014/main" val="3551711160"/>
                        </a:ext>
                      </a:extLst>
                    </a:gridCol>
                    <a:gridCol w="1718255">
                      <a:extLst>
                        <a:ext uri="{9D8B030D-6E8A-4147-A177-3AD203B41FA5}">
                          <a16:colId xmlns:a16="http://schemas.microsoft.com/office/drawing/2014/main" val="1712497518"/>
                        </a:ext>
                      </a:extLst>
                    </a:gridCol>
                    <a:gridCol w="1718255">
                      <a:extLst>
                        <a:ext uri="{9D8B030D-6E8A-4147-A177-3AD203B41FA5}">
                          <a16:colId xmlns:a16="http://schemas.microsoft.com/office/drawing/2014/main" val="886122921"/>
                        </a:ext>
                      </a:extLst>
                    </a:gridCol>
                  </a:tblGrid>
                  <a:tr h="251176">
                    <a:tc>
                      <a:txBody>
                        <a:bodyPr/>
                        <a:lstStyle/>
                        <a:p>
                          <a:endParaRPr lang="en-GB" sz="1200" b="1" noProof="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1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2 -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3 -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418627">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𝑦</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318511">
                    <a:tc rowSpan="2">
                      <a:txBody>
                        <a:bodyPr/>
                        <a:lstStyle/>
                        <a:p>
                          <a:pPr marL="0" indent="0">
                            <a:buNone/>
                          </a:pPr>
                          <a:r>
                            <a:rPr lang="en-GB" sz="1200" noProof="0" dirty="0">
                              <a:solidFill>
                                <a:schemeClr val="tx1"/>
                              </a:solidFill>
                            </a:rPr>
                            <a:t>1) Circle the variable you want to make the subject.</a:t>
                          </a:r>
                        </a:p>
                        <a:p>
                          <a:pPr marL="0" indent="0">
                            <a:buNone/>
                          </a:pPr>
                          <a:endParaRPr lang="en-GB" sz="1200" noProof="0" dirty="0">
                            <a:solidFill>
                              <a:schemeClr val="tx1"/>
                            </a:solidFill>
                          </a:endParaRPr>
                        </a:p>
                        <a:p>
                          <a:pPr marL="0" indent="0">
                            <a:buNone/>
                          </a:pPr>
                          <a:r>
                            <a:rPr lang="en-GB" sz="1200" noProof="0" dirty="0">
                              <a:solidFill>
                                <a:schemeClr val="tx1"/>
                              </a:solidFill>
                            </a:rPr>
                            <a:t>2) Use inverse operation</a:t>
                          </a:r>
                          <a:r>
                            <a:rPr lang="en-GB" sz="1200" b="1" u="sng" noProof="0" dirty="0">
                              <a:solidFill>
                                <a:schemeClr val="tx1"/>
                              </a:solidFill>
                            </a:rPr>
                            <a:t>s</a:t>
                          </a:r>
                          <a:r>
                            <a:rPr lang="en-GB" sz="1200" noProof="0" dirty="0">
                              <a:solidFill>
                                <a:schemeClr val="tx1"/>
                              </a:solidFill>
                            </a:rPr>
                            <a:t> to isolate the variable.</a:t>
                          </a:r>
                        </a:p>
                        <a:p>
                          <a:pPr marL="0" indent="0">
                            <a:buNone/>
                          </a:pPr>
                          <a:endParaRPr lang="en-GB" sz="1200" noProof="0" dirty="0">
                            <a:solidFill>
                              <a:schemeClr val="tx1"/>
                            </a:solidFill>
                          </a:endParaRPr>
                        </a:p>
                        <a:p>
                          <a:pPr marL="0" indent="0">
                            <a:buNone/>
                          </a:pPr>
                          <a:r>
                            <a:rPr lang="en-GB" sz="1200" noProof="0" dirty="0">
                              <a:solidFill>
                                <a:schemeClr val="tx1"/>
                              </a:solidFill>
                            </a:rPr>
                            <a:t>3) Remember to divide by the coefficient of the subject (this will mean you are dividing by a negative).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−3</m:t>
                                </m:r>
                                <m:r>
                                  <a:rPr lang="en-GB" sz="1200" b="0" i="1" noProof="0" smtClean="0">
                                    <a:solidFill>
                                      <a:schemeClr val="tx1"/>
                                    </a:solidFill>
                                    <a:latin typeface="Cambria Math" panose="02040503050406030204" pitchFamily="18" charset="0"/>
                                  </a:rPr>
                                  <m:t>𝑦</m:t>
                                </m:r>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𝑢</m:t>
                                </m:r>
                                <m:r>
                                  <a:rPr lang="en-GB" sz="1200" b="0" i="1" noProof="0" smtClean="0">
                                    <a:solidFill>
                                      <a:schemeClr val="tx1"/>
                                    </a:solidFill>
                                    <a:latin typeface="Cambria Math" panose="02040503050406030204" pitchFamily="18" charset="0"/>
                                  </a:rPr>
                                  <m:t>=</m:t>
                                </m:r>
                                <m:f>
                                  <m:fPr>
                                    <m:ctrlPr>
                                      <a:rPr lang="en-GB" sz="1200" i="1" noProof="0">
                                        <a:solidFill>
                                          <a:schemeClr val="tx1"/>
                                        </a:solidFill>
                                        <a:latin typeface="Cambria Math" panose="02040503050406030204" pitchFamily="18" charset="0"/>
                                      </a:rPr>
                                    </m:ctrlPr>
                                  </m:fPr>
                                  <m:num>
                                    <m:r>
                                      <a:rPr lang="en-GB" sz="1200" b="0" i="1" noProof="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𝑥</m:t>
                                    </m:r>
                                  </m:num>
                                  <m:den>
                                    <m:r>
                                      <a:rPr lang="en-GB" sz="1200" b="0" i="1" noProof="0" smtClean="0">
                                        <a:solidFill>
                                          <a:schemeClr val="tx1"/>
                                        </a:solidFill>
                                        <a:latin typeface="Cambria Math" panose="02040503050406030204" pitchFamily="18" charset="0"/>
                                      </a:rPr>
                                      <m:t>𝑣</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𝑤</m:t>
                                    </m:r>
                                  </m:den>
                                </m:f>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5</m:t>
                                </m:r>
                                <m:r>
                                  <a:rPr lang="en-GB" sz="1200" b="0" i="1" noProof="0" smtClean="0">
                                    <a:solidFill>
                                      <a:schemeClr val="tx1"/>
                                    </a:solidFill>
                                    <a:latin typeface="Cambria Math" panose="02040503050406030204" pitchFamily="18" charset="0"/>
                                  </a:rPr>
                                  <m:t>𝑏</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m:t>
                                </m:r>
                              </m:oMath>
                            </m:oMathPara>
                          </a14:m>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318511">
                    <a:tc vMerge="1">
                      <a:txBody>
                        <a:bodyPr/>
                        <a:lstStyle/>
                        <a:p>
                          <a:pPr marL="0" indent="0">
                            <a:buNone/>
                          </a:pP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𝑦</m:t>
                                    </m:r>
                                  </m:num>
                                  <m:den>
                                    <m:r>
                                      <a:rPr lang="en-GB" sz="1200" b="0" i="1" noProof="0" smtClean="0">
                                        <a:solidFill>
                                          <a:schemeClr val="tx1"/>
                                        </a:solidFill>
                                        <a:latin typeface="Cambria Math" panose="02040503050406030204" pitchFamily="18" charset="0"/>
                                      </a:rPr>
                                      <m:t>𝑎</m:t>
                                    </m:r>
                                  </m:den>
                                </m:f>
                                <m:r>
                                  <a:rPr lang="en-GB" sz="1200" b="0" i="1" noProof="0" smtClean="0">
                                    <a:solidFill>
                                      <a:schemeClr val="tx1"/>
                                    </a:solidFill>
                                    <a:latin typeface="Cambria Math" panose="02040503050406030204" pitchFamily="18" charset="0"/>
                                  </a:rPr>
                                  <m:t>−4</m:t>
                                </m:r>
                              </m:oMath>
                            </m:oMathPara>
                          </a14:m>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40386360"/>
                      </a:ext>
                    </a:extLst>
                  </a:tr>
                </a:tbl>
              </a:graphicData>
            </a:graphic>
          </p:graphicFrame>
        </mc:Choice>
        <mc:Fallback xmlns="">
          <p:graphicFrame>
            <p:nvGraphicFramePr>
              <p:cNvPr id="29" name="Table 28">
                <a:extLst>
                  <a:ext uri="{FF2B5EF4-FFF2-40B4-BE49-F238E27FC236}">
                    <a16:creationId xmlns:a16="http://schemas.microsoft.com/office/drawing/2014/main" id="{C258ED5A-A0A6-7B07-460B-9940A28696DE}"/>
                  </a:ext>
                </a:extLst>
              </p:cNvPr>
              <p:cNvGraphicFramePr>
                <a:graphicFrameLocks noGrp="1"/>
              </p:cNvGraphicFramePr>
              <p:nvPr>
                <p:extLst>
                  <p:ext uri="{D42A27DB-BD31-4B8C-83A1-F6EECF244321}">
                    <p14:modId xmlns:p14="http://schemas.microsoft.com/office/powerpoint/2010/main" val="4235358570"/>
                  </p:ext>
                </p:extLst>
              </p:nvPr>
            </p:nvGraphicFramePr>
            <p:xfrm>
              <a:off x="83937" y="5982349"/>
              <a:ext cx="6681913" cy="3566160"/>
            </p:xfrm>
            <a:graphic>
              <a:graphicData uri="http://schemas.openxmlformats.org/drawingml/2006/table">
                <a:tbl>
                  <a:tblPr firstRow="1" bandRow="1">
                    <a:tableStyleId>{5C22544A-7EE6-4342-B048-85BDC9FD1C3A}</a:tableStyleId>
                  </a:tblPr>
                  <a:tblGrid>
                    <a:gridCol w="1504025">
                      <a:extLst>
                        <a:ext uri="{9D8B030D-6E8A-4147-A177-3AD203B41FA5}">
                          <a16:colId xmlns:a16="http://schemas.microsoft.com/office/drawing/2014/main" val="1568142362"/>
                        </a:ext>
                      </a:extLst>
                    </a:gridCol>
                    <a:gridCol w="1741378">
                      <a:extLst>
                        <a:ext uri="{9D8B030D-6E8A-4147-A177-3AD203B41FA5}">
                          <a16:colId xmlns:a16="http://schemas.microsoft.com/office/drawing/2014/main" val="3551711160"/>
                        </a:ext>
                      </a:extLst>
                    </a:gridCol>
                    <a:gridCol w="1718255">
                      <a:extLst>
                        <a:ext uri="{9D8B030D-6E8A-4147-A177-3AD203B41FA5}">
                          <a16:colId xmlns:a16="http://schemas.microsoft.com/office/drawing/2014/main" val="1712497518"/>
                        </a:ext>
                      </a:extLst>
                    </a:gridCol>
                    <a:gridCol w="1718255">
                      <a:extLst>
                        <a:ext uri="{9D8B030D-6E8A-4147-A177-3AD203B41FA5}">
                          <a16:colId xmlns:a16="http://schemas.microsoft.com/office/drawing/2014/main" val="886122921"/>
                        </a:ext>
                      </a:extLst>
                    </a:gridCol>
                  </a:tblGrid>
                  <a:tr h="274320">
                    <a:tc>
                      <a:txBody>
                        <a:bodyPr/>
                        <a:lstStyle/>
                        <a:p>
                          <a:endParaRPr lang="en-GB" sz="1200" b="1" noProof="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FF0000"/>
                              </a:solidFill>
                            </a:rPr>
                            <a:t>Example 1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chemeClr val="accent2"/>
                              </a:solidFill>
                            </a:rPr>
                            <a:t>Example 2 -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00B050"/>
                              </a:solidFill>
                            </a:rPr>
                            <a:t>Example 3 -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457200">
                    <a:tc>
                      <a:txBody>
                        <a:bodyPr/>
                        <a:lstStyle/>
                        <a:p>
                          <a:r>
                            <a:rPr lang="en-GB" sz="12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6713" t="-60000" r="-197902" b="-63066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89362" t="-60000" r="-100709" b="-63066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89362" t="-60000" r="-709" b="-630667"/>
                          </a:stretch>
                        </a:blipFill>
                      </a:tcPr>
                    </a:tc>
                    <a:extLst>
                      <a:ext uri="{0D108BD9-81ED-4DB2-BD59-A6C34878D82A}">
                        <a16:rowId xmlns:a16="http://schemas.microsoft.com/office/drawing/2014/main" val="2357201933"/>
                      </a:ext>
                    </a:extLst>
                  </a:tr>
                  <a:tr h="1318511">
                    <a:tc rowSpan="2">
                      <a:txBody>
                        <a:bodyPr/>
                        <a:lstStyle/>
                        <a:p>
                          <a:pPr marL="0" indent="0">
                            <a:buNone/>
                          </a:pPr>
                          <a:r>
                            <a:rPr lang="en-GB" sz="1200" noProof="0">
                              <a:solidFill>
                                <a:schemeClr val="tx1"/>
                              </a:solidFill>
                            </a:rPr>
                            <a:t>1) Circle the variable you want to make the subject.</a:t>
                          </a:r>
                        </a:p>
                        <a:p>
                          <a:pPr marL="0" indent="0">
                            <a:buNone/>
                          </a:pPr>
                          <a:endParaRPr lang="en-GB" sz="1200" noProof="0">
                            <a:solidFill>
                              <a:schemeClr val="tx1"/>
                            </a:solidFill>
                          </a:endParaRPr>
                        </a:p>
                        <a:p>
                          <a:pPr marL="0" indent="0">
                            <a:buNone/>
                          </a:pPr>
                          <a:r>
                            <a:rPr lang="en-GB" sz="1200" noProof="0">
                              <a:solidFill>
                                <a:schemeClr val="tx1"/>
                              </a:solidFill>
                            </a:rPr>
                            <a:t>2) Use inverse operation</a:t>
                          </a:r>
                          <a:r>
                            <a:rPr lang="en-GB" sz="1200" b="1" u="sng" noProof="0">
                              <a:solidFill>
                                <a:schemeClr val="tx1"/>
                              </a:solidFill>
                            </a:rPr>
                            <a:t>s</a:t>
                          </a:r>
                          <a:r>
                            <a:rPr lang="en-GB" sz="1200" noProof="0">
                              <a:solidFill>
                                <a:schemeClr val="tx1"/>
                              </a:solidFill>
                            </a:rPr>
                            <a:t> to isolate the variable.</a:t>
                          </a:r>
                        </a:p>
                        <a:p>
                          <a:pPr marL="0" indent="0">
                            <a:buNone/>
                          </a:pPr>
                          <a:endParaRPr lang="en-GB" sz="1200" noProof="0">
                            <a:solidFill>
                              <a:schemeClr val="tx1"/>
                            </a:solidFill>
                          </a:endParaRPr>
                        </a:p>
                        <a:p>
                          <a:pPr marL="0" indent="0">
                            <a:buNone/>
                          </a:pPr>
                          <a:r>
                            <a:rPr lang="en-GB" sz="1200" noProof="0">
                              <a:solidFill>
                                <a:schemeClr val="tx1"/>
                              </a:solidFill>
                            </a:rPr>
                            <a:t>3) Remember to divide by the coefficient of the subject (this will mean you are dividing by a negative).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6713" t="-25751" r="-197902" b="-1502"/>
                          </a:stretch>
                        </a:blipFill>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89362" t="-25751" r="-100709" b="-150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89362" t="-55300" r="-709" b="-117972"/>
                          </a:stretch>
                        </a:blipFill>
                      </a:tcPr>
                    </a:tc>
                    <a:extLst>
                      <a:ext uri="{0D108BD9-81ED-4DB2-BD59-A6C34878D82A}">
                        <a16:rowId xmlns:a16="http://schemas.microsoft.com/office/drawing/2014/main" val="3293625240"/>
                      </a:ext>
                    </a:extLst>
                  </a:tr>
                  <a:tr h="1516129">
                    <a:tc vMerge="1">
                      <a:txBody>
                        <a:bodyPr/>
                        <a:lstStyle/>
                        <a:p>
                          <a:pPr marL="0" indent="0">
                            <a:buNone/>
                          </a:pP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89362" t="-135341" r="-709" b="-2811"/>
                          </a:stretch>
                        </a:blipFill>
                      </a:tcPr>
                    </a:tc>
                    <a:extLst>
                      <a:ext uri="{0D108BD9-81ED-4DB2-BD59-A6C34878D82A}">
                        <a16:rowId xmlns:a16="http://schemas.microsoft.com/office/drawing/2014/main" val="1740386360"/>
                      </a:ext>
                    </a:extLst>
                  </a:tr>
                </a:tbl>
              </a:graphicData>
            </a:graphic>
          </p:graphicFrame>
        </mc:Fallback>
      </mc:AlternateContent>
    </p:spTree>
    <p:extLst>
      <p:ext uri="{BB962C8B-B14F-4D97-AF65-F5344CB8AC3E}">
        <p14:creationId xmlns:p14="http://schemas.microsoft.com/office/powerpoint/2010/main" val="39114720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218097-4C28-C12F-F3F0-F636CB91512B}"/>
              </a:ext>
            </a:extLst>
          </p:cNvPr>
          <p:cNvSpPr>
            <a:spLocks noGrp="1"/>
          </p:cNvSpPr>
          <p:nvPr>
            <p:ph type="sldNum" sz="quarter" idx="12"/>
          </p:nvPr>
        </p:nvSpPr>
        <p:spPr>
          <a:xfrm>
            <a:off x="5147311" y="9323871"/>
            <a:ext cx="1543050" cy="527403"/>
          </a:xfrm>
        </p:spPr>
        <p:txBody>
          <a:bodyPr/>
          <a:lstStyle/>
          <a:p>
            <a:fld id="{086C3A38-D272-42AA-9C88-F1FBEAE20D2C}" type="slidenum">
              <a:rPr lang="en-GB" noProof="0" smtClean="0"/>
              <a:t>7</a:t>
            </a:fld>
            <a:endParaRPr lang="en-GB" noProof="0" dirty="0"/>
          </a:p>
        </p:txBody>
      </p:sp>
      <p:sp>
        <p:nvSpPr>
          <p:cNvPr id="3" name="Rectangle 2">
            <a:extLst>
              <a:ext uri="{FF2B5EF4-FFF2-40B4-BE49-F238E27FC236}">
                <a16:creationId xmlns:a16="http://schemas.microsoft.com/office/drawing/2014/main" id="{58243CA3-0B58-25B0-A4C3-F6FE43075C3C}"/>
              </a:ext>
            </a:extLst>
          </p:cNvPr>
          <p:cNvSpPr/>
          <p:nvPr/>
        </p:nvSpPr>
        <p:spPr>
          <a:xfrm>
            <a:off x="128560" y="61495"/>
            <a:ext cx="1715480" cy="3240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a:t>Independent Practice</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23AF303-0795-9839-9570-0C02D580EEFF}"/>
                  </a:ext>
                </a:extLst>
              </p:cNvPr>
              <p:cNvSpPr txBox="1"/>
              <p:nvPr/>
            </p:nvSpPr>
            <p:spPr>
              <a:xfrm>
                <a:off x="1605973" y="179055"/>
                <a:ext cx="3646054" cy="276999"/>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Question 1. Make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oMath>
                </a14:m>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the subject of the following:</a:t>
                </a:r>
              </a:p>
            </p:txBody>
          </p:sp>
        </mc:Choice>
        <mc:Fallback xmlns="">
          <p:sp>
            <p:nvSpPr>
              <p:cNvPr id="4" name="TextBox 3">
                <a:extLst>
                  <a:ext uri="{FF2B5EF4-FFF2-40B4-BE49-F238E27FC236}">
                    <a16:creationId xmlns:a16="http://schemas.microsoft.com/office/drawing/2014/main" id="{623AF303-0795-9839-9570-0C02D580EEFF}"/>
                  </a:ext>
                </a:extLst>
              </p:cNvPr>
              <p:cNvSpPr txBox="1">
                <a:spLocks noRot="1" noChangeAspect="1" noMove="1" noResize="1" noEditPoints="1" noAdjustHandles="1" noChangeArrowheads="1" noChangeShapeType="1" noTextEdit="1"/>
              </p:cNvSpPr>
              <p:nvPr/>
            </p:nvSpPr>
            <p:spPr>
              <a:xfrm>
                <a:off x="1605973" y="179055"/>
                <a:ext cx="3646054" cy="276999"/>
              </a:xfrm>
              <a:prstGeom prst="rect">
                <a:avLst/>
              </a:prstGeom>
              <a:blipFill>
                <a:blip r:embed="rId2"/>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29FE6A91-D5D3-351C-4F0A-B483AD0B2342}"/>
                  </a:ext>
                </a:extLst>
              </p:cNvPr>
              <p:cNvGraphicFramePr>
                <a:graphicFrameLocks noGrp="1"/>
              </p:cNvGraphicFramePr>
              <p:nvPr>
                <p:extLst>
                  <p:ext uri="{D42A27DB-BD31-4B8C-83A1-F6EECF244321}">
                    <p14:modId xmlns:p14="http://schemas.microsoft.com/office/powerpoint/2010/main" val="415104452"/>
                  </p:ext>
                </p:extLst>
              </p:nvPr>
            </p:nvGraphicFramePr>
            <p:xfrm>
              <a:off x="128560" y="456054"/>
              <a:ext cx="6561801" cy="9000000"/>
            </p:xfrm>
            <a:graphic>
              <a:graphicData uri="http://schemas.openxmlformats.org/drawingml/2006/table">
                <a:tbl>
                  <a:tblPr firstRow="1" bandRow="1">
                    <a:tableStyleId>{5C22544A-7EE6-4342-B048-85BDC9FD1C3A}</a:tableStyleId>
                  </a:tblPr>
                  <a:tblGrid>
                    <a:gridCol w="2187267">
                      <a:extLst>
                        <a:ext uri="{9D8B030D-6E8A-4147-A177-3AD203B41FA5}">
                          <a16:colId xmlns:a16="http://schemas.microsoft.com/office/drawing/2014/main" val="1464315968"/>
                        </a:ext>
                      </a:extLst>
                    </a:gridCol>
                    <a:gridCol w="2187267">
                      <a:extLst>
                        <a:ext uri="{9D8B030D-6E8A-4147-A177-3AD203B41FA5}">
                          <a16:colId xmlns:a16="http://schemas.microsoft.com/office/drawing/2014/main" val="3455001627"/>
                        </a:ext>
                      </a:extLst>
                    </a:gridCol>
                    <a:gridCol w="2187267">
                      <a:extLst>
                        <a:ext uri="{9D8B030D-6E8A-4147-A177-3AD203B41FA5}">
                          <a16:colId xmlns:a16="http://schemas.microsoft.com/office/drawing/2014/main" val="175147489"/>
                        </a:ext>
                      </a:extLst>
                    </a:gridCol>
                  </a:tblGrid>
                  <a:tr h="1800000">
                    <a:tc>
                      <a:txBody>
                        <a:bodyPr/>
                        <a:lstStyle/>
                        <a:p>
                          <a:r>
                            <a:rPr lang="en-GB" sz="1200" b="0" noProof="0" dirty="0">
                              <a:solidFill>
                                <a:schemeClr val="tx1"/>
                              </a:solidFill>
                            </a:rPr>
                            <a:t>a) </a:t>
                          </a:r>
                          <a14:m>
                            <m:oMath xmlns:m="http://schemas.openxmlformats.org/officeDocument/2006/math">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𝑦</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b) </a:t>
                          </a:r>
                          <a14:m>
                            <m:oMath xmlns:m="http://schemas.openxmlformats.org/officeDocument/2006/math">
                              <m:r>
                                <a:rPr lang="en-GB" sz="1200" b="0" i="1" noProof="0" smtClean="0">
                                  <a:solidFill>
                                    <a:schemeClr val="tx1"/>
                                  </a:solidFill>
                                  <a:latin typeface="Cambria Math" panose="02040503050406030204" pitchFamily="18" charset="0"/>
                                </a:rPr>
                                <m:t>𝑏</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𝑐</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c)</a:t>
                          </a:r>
                          <a14:m>
                            <m:oMath xmlns:m="http://schemas.openxmlformats.org/officeDocument/2006/math">
                              <m:r>
                                <a:rPr lang="en-GB" sz="1200" b="0" i="0" noProof="0" smtClean="0">
                                  <a:solidFill>
                                    <a:schemeClr val="tx1"/>
                                  </a:solidFill>
                                  <a:latin typeface="Cambria Math" panose="02040503050406030204" pitchFamily="18" charset="0"/>
                                </a:rPr>
                                <m:t> </m:t>
                              </m:r>
                              <m:r>
                                <m:rPr>
                                  <m:sty m:val="p"/>
                                </m:rPr>
                                <a:rPr lang="en-GB" sz="1200" b="0" i="0" noProof="0" smtClean="0">
                                  <a:solidFill>
                                    <a:schemeClr val="tx1"/>
                                  </a:solidFill>
                                  <a:latin typeface="Cambria Math" panose="02040503050406030204" pitchFamily="18" charset="0"/>
                                </a:rPr>
                                <m:t>y</m:t>
                              </m:r>
                              <m:r>
                                <a:rPr lang="en-GB" sz="1200" b="0" i="1" noProof="0" smtClean="0">
                                  <a:solidFill>
                                    <a:schemeClr val="tx1"/>
                                  </a:solidFill>
                                  <a:latin typeface="Cambria Math" panose="02040503050406030204" pitchFamily="18" charset="0"/>
                                </a:rPr>
                                <m: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num>
                                <m:den>
                                  <m:r>
                                    <a:rPr lang="en-GB" sz="1200" b="0" i="1" noProof="0" smtClean="0">
                                      <a:solidFill>
                                        <a:schemeClr val="tx1"/>
                                      </a:solidFill>
                                      <a:latin typeface="Cambria Math" panose="02040503050406030204" pitchFamily="18" charset="0"/>
                                    </a:rPr>
                                    <m:t>𝑎</m:t>
                                  </m:r>
                                </m:den>
                              </m:f>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2947647"/>
                      </a:ext>
                    </a:extLst>
                  </a:tr>
                  <a:tr h="1800000">
                    <a:tc>
                      <a:txBody>
                        <a:bodyPr/>
                        <a:lstStyle/>
                        <a:p>
                          <a:r>
                            <a:rPr lang="en-GB" sz="1200" b="0" noProof="0" dirty="0">
                              <a:solidFill>
                                <a:schemeClr val="tx1"/>
                              </a:solidFill>
                            </a:rPr>
                            <a:t>d)</a:t>
                          </a:r>
                          <a14:m>
                            <m:oMath xmlns:m="http://schemas.openxmlformats.org/officeDocument/2006/math">
                              <m:r>
                                <a:rPr lang="en-GB" sz="1200" b="0" i="0" noProof="0" smtClean="0">
                                  <a:solidFill>
                                    <a:schemeClr val="tx1"/>
                                  </a:solidFill>
                                  <a:latin typeface="Cambria Math" panose="02040503050406030204" pitchFamily="18" charset="0"/>
                                </a:rPr>
                                <m:t> </m:t>
                              </m:r>
                              <m:r>
                                <a:rPr lang="en-GB" sz="1200" b="0" i="1" noProof="0" smtClean="0">
                                  <a:solidFill>
                                    <a:schemeClr val="tx1"/>
                                  </a:solidFill>
                                  <a:latin typeface="Cambria Math" panose="02040503050406030204" pitchFamily="18" charset="0"/>
                                </a:rPr>
                                <m: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num>
                                <m:den>
                                  <m:r>
                                    <a:rPr lang="en-GB" sz="1200" b="0" i="1" noProof="0" smtClean="0">
                                      <a:solidFill>
                                        <a:schemeClr val="tx1"/>
                                      </a:solidFill>
                                      <a:latin typeface="Cambria Math" panose="02040503050406030204" pitchFamily="18" charset="0"/>
                                    </a:rPr>
                                    <m:t>𝑚</m:t>
                                  </m:r>
                                </m:den>
                              </m:f>
                              <m:r>
                                <a:rPr lang="en-GB" sz="1200" b="0" i="0" noProof="0" smtClean="0">
                                  <a:solidFill>
                                    <a:schemeClr val="tx1"/>
                                  </a:solidFill>
                                  <a:latin typeface="Cambria Math" panose="02040503050406030204" pitchFamily="18" charset="0"/>
                                </a:rPr>
                                <m:t>=</m:t>
                              </m:r>
                              <m:r>
                                <m:rPr>
                                  <m:sty m:val="p"/>
                                </m:rPr>
                                <a:rPr lang="en-GB" sz="1200" b="0" i="0" noProof="0" smtClean="0">
                                  <a:solidFill>
                                    <a:schemeClr val="tx1"/>
                                  </a:solidFill>
                                  <a:latin typeface="Cambria Math" panose="02040503050406030204" pitchFamily="18" charset="0"/>
                                </a:rPr>
                                <m:t>k</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e)</a:t>
                          </a:r>
                          <a14:m>
                            <m:oMath xmlns:m="http://schemas.openxmlformats.org/officeDocument/2006/math">
                              <m:r>
                                <a:rPr lang="en-GB" sz="1200" b="0" i="0" noProof="0" smtClean="0">
                                  <a:solidFill>
                                    <a:schemeClr val="tx1"/>
                                  </a:solidFill>
                                  <a:latin typeface="Cambria Math" panose="02040503050406030204" pitchFamily="18" charset="0"/>
                                </a:rPr>
                                <m:t> </m:t>
                              </m:r>
                              <m:r>
                                <a:rPr lang="en-GB" sz="1200" b="0" i="1" noProof="0" smtClean="0">
                                  <a:solidFill>
                                    <a:schemeClr val="tx1"/>
                                  </a:solidFill>
                                  <a:latin typeface="Cambria Math" panose="02040503050406030204" pitchFamily="18" charset="0"/>
                                </a:rPr>
                                <m:t>𝑚</m:t>
                              </m:r>
                              <m:r>
                                <a:rPr lang="en-GB" sz="1200" b="0" i="1" noProof="0" smtClean="0">
                                  <a:solidFill>
                                    <a:schemeClr val="tx1"/>
                                  </a:solidFill>
                                  <a:latin typeface="Cambria Math" panose="02040503050406030204" pitchFamily="18" charset="0"/>
                                </a:rPr>
                                <m: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num>
                                <m:den>
                                  <m:sSup>
                                    <m:sSupPr>
                                      <m:ctrlPr>
                                        <a:rPr lang="en-GB" sz="1200" b="0" i="1" noProof="0" smtClean="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𝑎</m:t>
                                      </m:r>
                                    </m:e>
                                    <m:sup>
                                      <m:r>
                                        <a:rPr lang="en-GB" sz="1200" b="0" i="1" noProof="0" smtClean="0">
                                          <a:solidFill>
                                            <a:schemeClr val="tx1"/>
                                          </a:solidFill>
                                          <a:latin typeface="Cambria Math" panose="02040503050406030204" pitchFamily="18" charset="0"/>
                                        </a:rPr>
                                        <m:t>2</m:t>
                                      </m:r>
                                    </m:sup>
                                  </m:sSup>
                                </m:den>
                              </m:f>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f)</a:t>
                          </a:r>
                          <a14:m>
                            <m:oMath xmlns:m="http://schemas.openxmlformats.org/officeDocument/2006/math">
                              <m:r>
                                <a:rPr lang="en-GB" sz="1200" b="0" i="0" noProof="0" smtClean="0">
                                  <a:solidFill>
                                    <a:schemeClr val="tx1"/>
                                  </a:solidFill>
                                  <a:latin typeface="Cambria Math" panose="02040503050406030204" pitchFamily="18" charset="0"/>
                                </a:rPr>
                                <m:t> </m:t>
                              </m:r>
                              <m:r>
                                <a:rPr lang="en-GB" sz="1200" b="0" i="1" noProof="0" smtClean="0">
                                  <a:solidFill>
                                    <a:schemeClr val="tx1"/>
                                  </a:solidFill>
                                  <a:latin typeface="Cambria Math" panose="02040503050406030204" pitchFamily="18" charset="0"/>
                                </a:rPr>
                                <m:t>−10</m:t>
                              </m:r>
                              <m:r>
                                <a:rPr lang="en-GB" sz="1200" b="0" i="1" noProof="0" smtClean="0">
                                  <a:solidFill>
                                    <a:schemeClr val="tx1"/>
                                  </a:solidFill>
                                  <a:latin typeface="Cambria Math" panose="02040503050406030204" pitchFamily="18" charset="0"/>
                                </a:rPr>
                                <m:t>𝑎𝑥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8342804"/>
                      </a:ext>
                    </a:extLst>
                  </a:tr>
                  <a:tr h="1800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g) </a:t>
                          </a:r>
                          <a14:m>
                            <m:oMath xmlns:m="http://schemas.openxmlformats.org/officeDocument/2006/math">
                              <m:r>
                                <a:rPr lang="en-GB" sz="1200" b="0" i="1" noProof="0" smtClean="0">
                                  <a:solidFill>
                                    <a:schemeClr val="tx1"/>
                                  </a:solidFill>
                                  <a:latin typeface="Cambria Math" panose="02040503050406030204" pitchFamily="18" charset="0"/>
                                </a:rPr>
                                <m: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num>
                                <m:den>
                                  <m:r>
                                    <a:rPr lang="en-GB" sz="1200" b="0" i="0" noProof="0" smtClean="0">
                                      <a:solidFill>
                                        <a:schemeClr val="tx1"/>
                                      </a:solidFill>
                                      <a:latin typeface="Cambria Math" panose="02040503050406030204" pitchFamily="18" charset="0"/>
                                    </a:rPr>
                                    <m:t>5</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𝑚</m:t>
                              </m:r>
                            </m:oMath>
                          </a14:m>
                          <a:endParaRPr lang="en-GB" sz="1200" noProof="0" dirty="0"/>
                        </a:p>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h)</a:t>
                          </a:r>
                          <a14:m>
                            <m:oMath xmlns:m="http://schemas.openxmlformats.org/officeDocument/2006/math">
                              <m:r>
                                <a:rPr lang="en-GB" sz="1200" b="0" i="0" noProof="0" smtClean="0">
                                  <a:solidFill>
                                    <a:schemeClr val="tx1"/>
                                  </a:solidFill>
                                  <a:latin typeface="Cambria Math" panose="02040503050406030204" pitchFamily="18" charset="0"/>
                                </a:rPr>
                                <m:t> </m:t>
                              </m:r>
                              <m:r>
                                <a:rPr lang="en-GB" sz="1200" b="0" i="1" noProof="0" smtClean="0">
                                  <a:solidFill>
                                    <a:schemeClr val="tx1"/>
                                  </a:solidFill>
                                  <a:latin typeface="Cambria Math" panose="02040503050406030204" pitchFamily="18" charset="0"/>
                                </a:rPr>
                                <m: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num>
                                <m:den>
                                  <m:r>
                                    <a:rPr lang="en-GB" sz="1200" b="0" i="1" noProof="0" smtClean="0">
                                      <a:solidFill>
                                        <a:schemeClr val="tx1"/>
                                      </a:solidFill>
                                      <a:latin typeface="Cambria Math" panose="02040503050406030204" pitchFamily="18" charset="0"/>
                                    </a:rPr>
                                    <m:t>3</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err="1">
                              <a:solidFill>
                                <a:schemeClr val="tx1"/>
                              </a:solidFill>
                            </a:rPr>
                            <a:t>i</a:t>
                          </a:r>
                          <a:r>
                            <a:rPr lang="en-GB" sz="1200" b="0" noProof="0" dirty="0">
                              <a:solidFill>
                                <a:schemeClr val="tx1"/>
                              </a:solidFill>
                            </a:rPr>
                            <a:t>) </a:t>
                          </a:r>
                          <a14:m>
                            <m:oMath xmlns:m="http://schemas.openxmlformats.org/officeDocument/2006/math">
                              <m:r>
                                <a:rPr lang="en-GB" sz="1200" b="0" i="1" noProof="0" smtClean="0">
                                  <a:solidFill>
                                    <a:schemeClr val="tx1"/>
                                  </a:solidFill>
                                  <a:latin typeface="Cambria Math" panose="02040503050406030204" pitchFamily="18" charset="0"/>
                                </a:rPr>
                                <m:t>𝑓</m:t>
                              </m:r>
                              <m:r>
                                <a:rPr lang="en-GB" sz="1200" b="0" i="1" noProof="0" smtClean="0">
                                  <a:solidFill>
                                    <a:schemeClr val="tx1"/>
                                  </a:solidFill>
                                  <a:latin typeface="Cambria Math" panose="02040503050406030204" pitchFamily="18" charset="0"/>
                                </a:rPr>
                                <m: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num>
                                <m:den>
                                  <m:r>
                                    <a:rPr lang="en-GB" sz="1200" b="0" i="1" noProof="0" smtClean="0">
                                      <a:solidFill>
                                        <a:schemeClr val="tx1"/>
                                      </a:solidFill>
                                      <a:latin typeface="Cambria Math" panose="02040503050406030204" pitchFamily="18" charset="0"/>
                                    </a:rPr>
                                    <m:t>𝑐</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𝑞</m:t>
                              </m:r>
                            </m:oMath>
                          </a14:m>
                          <a:endParaRPr lang="en-GB" sz="1200" noProof="0" dirty="0"/>
                        </a:p>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522312"/>
                      </a:ext>
                    </a:extLst>
                  </a:tr>
                  <a:tr h="1800000">
                    <a:tc>
                      <a:txBody>
                        <a:bodyPr/>
                        <a:lstStyle/>
                        <a:p>
                          <a:r>
                            <a:rPr lang="en-GB" sz="1200" b="0" noProof="0" dirty="0">
                              <a:solidFill>
                                <a:schemeClr val="tx1"/>
                              </a:solidFill>
                            </a:rPr>
                            <a:t>j)</a:t>
                          </a:r>
                          <a14:m>
                            <m:oMath xmlns:m="http://schemas.openxmlformats.org/officeDocument/2006/math">
                              <m:r>
                                <a:rPr lang="en-GB" sz="1200" b="0" i="0" noProof="0" smtClean="0">
                                  <a:solidFill>
                                    <a:schemeClr val="tx1"/>
                                  </a:solidFill>
                                  <a:latin typeface="Cambria Math" panose="02040503050406030204" pitchFamily="18" charset="0"/>
                                </a:rPr>
                                <m:t>  </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𝑥</m:t>
                                  </m:r>
                                </m:num>
                                <m:den>
                                  <m:r>
                                    <a:rPr lang="en-GB" sz="1200" b="0" i="1" noProof="0" smtClean="0">
                                      <a:solidFill>
                                        <a:schemeClr val="tx1"/>
                                      </a:solidFill>
                                      <a:latin typeface="Cambria Math" panose="02040503050406030204" pitchFamily="18" charset="0"/>
                                    </a:rPr>
                                    <m:t>5</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𝑚</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k) </a:t>
                          </a:r>
                          <a14:m>
                            <m:oMath xmlns:m="http://schemas.openxmlformats.org/officeDocument/2006/math">
                              <m:r>
                                <a:rPr lang="en-GB" sz="1200" b="0" i="1" noProof="0" smtClean="0">
                                  <a:solidFill>
                                    <a:schemeClr val="tx1"/>
                                  </a:solidFill>
                                  <a:latin typeface="Cambria Math" panose="02040503050406030204" pitchFamily="18" charset="0"/>
                                </a:rPr>
                                <m:t>−5</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𝑚</m:t>
                              </m:r>
                            </m:oMath>
                          </a14:m>
                          <a:endParaRPr lang="en-GB" sz="1200" b="0" noProof="0" dirty="0">
                            <a:solidFill>
                              <a:schemeClr val="tx1"/>
                            </a:solidFill>
                          </a:endParaRPr>
                        </a:p>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l)</a:t>
                          </a:r>
                          <a14:m>
                            <m:oMath xmlns:m="http://schemas.openxmlformats.org/officeDocument/2006/math">
                              <m:r>
                                <a:rPr lang="en-GB" sz="1200" b="0" i="0" noProof="0" smtClean="0">
                                  <a:solidFill>
                                    <a:schemeClr val="tx1"/>
                                  </a:solidFill>
                                  <a:latin typeface="Cambria Math" panose="02040503050406030204" pitchFamily="18" charset="0"/>
                                </a:rPr>
                                <m:t> </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𝑝𝑥</m:t>
                              </m:r>
                              <m:r>
                                <a:rPr lang="en-GB" sz="1200" b="0" i="1" noProof="0" smtClean="0">
                                  <a:solidFill>
                                    <a:schemeClr val="tx1"/>
                                  </a:solidFill>
                                  <a:latin typeface="Cambria Math" panose="02040503050406030204" pitchFamily="18" charset="0"/>
                                </a:rPr>
                                <m:t> −</m:t>
                              </m:r>
                              <m:r>
                                <a:rPr lang="en-GB" sz="1200" b="0" i="1" noProof="0" smtClean="0">
                                  <a:solidFill>
                                    <a:schemeClr val="tx1"/>
                                  </a:solidFill>
                                  <a:latin typeface="Cambria Math" panose="02040503050406030204" pitchFamily="18" charset="0"/>
                                </a:rPr>
                                <m:t>𝑒</m:t>
                              </m:r>
                              <m:r>
                                <a:rPr lang="en-GB" sz="1200" b="0" i="1" noProof="0" smtClean="0">
                                  <a:solidFill>
                                    <a:schemeClr val="tx1"/>
                                  </a:solidFill>
                                  <a:latin typeface="Cambria Math" panose="02040503050406030204" pitchFamily="18" charset="0"/>
                                </a:rPr>
                                <m:t>=5</m:t>
                              </m:r>
                              <m:r>
                                <a:rPr lang="en-GB" sz="1200" b="0" i="1" noProof="0" smtClean="0">
                                  <a:solidFill>
                                    <a:schemeClr val="tx1"/>
                                  </a:solidFill>
                                  <a:latin typeface="Cambria Math" panose="02040503050406030204" pitchFamily="18" charset="0"/>
                                </a:rPr>
                                <m:t>𝑡</m:t>
                              </m:r>
                            </m:oMath>
                          </a14:m>
                          <a:endParaRPr lang="en-GB" sz="1200" noProof="0" dirty="0"/>
                        </a:p>
                        <a:p>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2900370"/>
                      </a:ext>
                    </a:extLst>
                  </a:tr>
                  <a:tr h="1800000">
                    <a:tc>
                      <a:txBody>
                        <a:bodyPr/>
                        <a:lstStyle/>
                        <a:p>
                          <a:r>
                            <a:rPr lang="en-GB" sz="1200" b="0" noProof="0" dirty="0">
                              <a:solidFill>
                                <a:schemeClr val="tx1"/>
                              </a:solidFill>
                            </a:rPr>
                            <a:t>m) </a:t>
                          </a:r>
                          <a14:m>
                            <m:oMath xmlns:m="http://schemas.openxmlformats.org/officeDocument/2006/math">
                              <m:r>
                                <a:rPr lang="en-GB" sz="1200" b="0" i="1" noProof="0" smtClean="0">
                                  <a:solidFill>
                                    <a:schemeClr val="tx1"/>
                                  </a:solidFill>
                                  <a:latin typeface="Cambria Math" panose="02040503050406030204" pitchFamily="18" charset="0"/>
                                </a:rPr>
                                <m:t>𝑡</m:t>
                              </m:r>
                              <m:r>
                                <a:rPr lang="en-GB" sz="1200" b="0" i="1" noProof="0" smtClean="0">
                                  <a:solidFill>
                                    <a:schemeClr val="tx1"/>
                                  </a:solidFill>
                                  <a:latin typeface="Cambria Math" panose="02040503050406030204" pitchFamily="18" charset="0"/>
                                </a:rPr>
                                <m: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2</m:t>
                                  </m:r>
                                  <m:r>
                                    <a:rPr lang="en-GB" sz="1200" b="0" i="1" noProof="0" smtClean="0">
                                      <a:solidFill>
                                        <a:schemeClr val="tx1"/>
                                      </a:solidFill>
                                      <a:latin typeface="Cambria Math" panose="02040503050406030204" pitchFamily="18" charset="0"/>
                                    </a:rPr>
                                    <m:t>𝑥</m:t>
                                  </m:r>
                                </m:num>
                                <m:den>
                                  <m:r>
                                    <a:rPr lang="en-GB" sz="1200" b="0" i="1" noProof="0" smtClean="0">
                                      <a:solidFill>
                                        <a:schemeClr val="tx1"/>
                                      </a:solidFill>
                                      <a:latin typeface="Cambria Math" panose="02040503050406030204" pitchFamily="18" charset="0"/>
                                    </a:rPr>
                                    <m:t>3</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n) </a:t>
                          </a:r>
                          <a14:m>
                            <m:oMath xmlns:m="http://schemas.openxmlformats.org/officeDocument/2006/math">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=2</m:t>
                              </m:r>
                              <m:r>
                                <a:rPr lang="en-GB" sz="1200" b="0" i="1" noProof="0" smtClean="0">
                                  <a:solidFill>
                                    <a:schemeClr val="tx1"/>
                                  </a:solidFill>
                                  <a:latin typeface="Cambria Math" panose="02040503050406030204" pitchFamily="18" charset="0"/>
                                </a:rPr>
                                <m:t>𝑟</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o) </a:t>
                          </a:r>
                          <a14:m>
                            <m:oMath xmlns:m="http://schemas.openxmlformats.org/officeDocument/2006/math">
                              <m:r>
                                <a:rPr lang="en-GB" sz="1200" b="0" i="1" noProof="0" smtClean="0">
                                  <a:solidFill>
                                    <a:schemeClr val="tx1"/>
                                  </a:solidFill>
                                  <a:latin typeface="Cambria Math" panose="02040503050406030204" pitchFamily="18" charset="0"/>
                                </a:rPr>
                                <m:t>−7</m:t>
                              </m:r>
                              <m:sSup>
                                <m:sSupPr>
                                  <m:ctrlPr>
                                    <a:rPr lang="en-GB" sz="1200" b="0" i="1" noProof="0" smtClean="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𝑥</m:t>
                                  </m:r>
                                </m:e>
                                <m:sup>
                                  <m:r>
                                    <a:rPr lang="en-GB" sz="1200" b="0" i="1" noProof="0" smtClean="0">
                                      <a:solidFill>
                                        <a:schemeClr val="tx1"/>
                                      </a:solidFill>
                                      <a:latin typeface="Cambria Math" panose="02040503050406030204" pitchFamily="18" charset="0"/>
                                    </a:rPr>
                                    <m:t>3</m:t>
                                  </m:r>
                                </m:sup>
                              </m:sSup>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r>
                                <a:rPr lang="en-GB" sz="1200" b="0" i="1" noProof="0" smtClean="0">
                                  <a:solidFill>
                                    <a:schemeClr val="tx1"/>
                                  </a:solidFill>
                                  <a:latin typeface="Cambria Math" panose="02040503050406030204" pitchFamily="18" charset="0"/>
                                </a:rPr>
                                <m:t>=9</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76786827"/>
                      </a:ext>
                    </a:extLst>
                  </a:tr>
                </a:tbl>
              </a:graphicData>
            </a:graphic>
          </p:graphicFrame>
        </mc:Choice>
        <mc:Fallback xmlns="">
          <p:graphicFrame>
            <p:nvGraphicFramePr>
              <p:cNvPr id="7" name="Table 6">
                <a:extLst>
                  <a:ext uri="{FF2B5EF4-FFF2-40B4-BE49-F238E27FC236}">
                    <a16:creationId xmlns:a16="http://schemas.microsoft.com/office/drawing/2014/main" id="{29FE6A91-D5D3-351C-4F0A-B483AD0B2342}"/>
                  </a:ext>
                </a:extLst>
              </p:cNvPr>
              <p:cNvGraphicFramePr>
                <a:graphicFrameLocks noGrp="1"/>
              </p:cNvGraphicFramePr>
              <p:nvPr>
                <p:extLst>
                  <p:ext uri="{D42A27DB-BD31-4B8C-83A1-F6EECF244321}">
                    <p14:modId xmlns:p14="http://schemas.microsoft.com/office/powerpoint/2010/main" val="415104452"/>
                  </p:ext>
                </p:extLst>
              </p:nvPr>
            </p:nvGraphicFramePr>
            <p:xfrm>
              <a:off x="128560" y="456054"/>
              <a:ext cx="6561801" cy="9000000"/>
            </p:xfrm>
            <a:graphic>
              <a:graphicData uri="http://schemas.openxmlformats.org/drawingml/2006/table">
                <a:tbl>
                  <a:tblPr firstRow="1" bandRow="1">
                    <a:tableStyleId>{5C22544A-7EE6-4342-B048-85BDC9FD1C3A}</a:tableStyleId>
                  </a:tblPr>
                  <a:tblGrid>
                    <a:gridCol w="2187267">
                      <a:extLst>
                        <a:ext uri="{9D8B030D-6E8A-4147-A177-3AD203B41FA5}">
                          <a16:colId xmlns:a16="http://schemas.microsoft.com/office/drawing/2014/main" val="1464315968"/>
                        </a:ext>
                      </a:extLst>
                    </a:gridCol>
                    <a:gridCol w="2187267">
                      <a:extLst>
                        <a:ext uri="{9D8B030D-6E8A-4147-A177-3AD203B41FA5}">
                          <a16:colId xmlns:a16="http://schemas.microsoft.com/office/drawing/2014/main" val="3455001627"/>
                        </a:ext>
                      </a:extLst>
                    </a:gridCol>
                    <a:gridCol w="2187267">
                      <a:extLst>
                        <a:ext uri="{9D8B030D-6E8A-4147-A177-3AD203B41FA5}">
                          <a16:colId xmlns:a16="http://schemas.microsoft.com/office/drawing/2014/main" val="175147489"/>
                        </a:ext>
                      </a:extLst>
                    </a:gridCol>
                  </a:tblGrid>
                  <a:tr h="180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79" t="-338" r="-200557" b="-400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279" t="-338" r="-100557" b="-400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279" t="-338" r="-557" b="-400000"/>
                          </a:stretch>
                        </a:blipFill>
                      </a:tcPr>
                    </a:tc>
                    <a:extLst>
                      <a:ext uri="{0D108BD9-81ED-4DB2-BD59-A6C34878D82A}">
                        <a16:rowId xmlns:a16="http://schemas.microsoft.com/office/drawing/2014/main" val="2332947647"/>
                      </a:ext>
                    </a:extLst>
                  </a:tr>
                  <a:tr h="180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79" t="-100678" r="-200557" b="-30135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279" t="-100678" r="-100557" b="-30135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279" t="-100678" r="-557" b="-301356"/>
                          </a:stretch>
                        </a:blipFill>
                      </a:tcPr>
                    </a:tc>
                    <a:extLst>
                      <a:ext uri="{0D108BD9-81ED-4DB2-BD59-A6C34878D82A}">
                        <a16:rowId xmlns:a16="http://schemas.microsoft.com/office/drawing/2014/main" val="1648342804"/>
                      </a:ext>
                    </a:extLst>
                  </a:tr>
                  <a:tr h="180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79" t="-200000" r="-200557" b="-20033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279" t="-200000" r="-100557" b="-20033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279" t="-200000" r="-557" b="-200338"/>
                          </a:stretch>
                        </a:blipFill>
                      </a:tcPr>
                    </a:tc>
                    <a:extLst>
                      <a:ext uri="{0D108BD9-81ED-4DB2-BD59-A6C34878D82A}">
                        <a16:rowId xmlns:a16="http://schemas.microsoft.com/office/drawing/2014/main" val="277522312"/>
                      </a:ext>
                    </a:extLst>
                  </a:tr>
                  <a:tr h="180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79" t="-301017" r="-200557" b="-10101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279" t="-301017" r="-100557" b="-10101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279" t="-301017" r="-557" b="-101017"/>
                          </a:stretch>
                        </a:blipFill>
                      </a:tcPr>
                    </a:tc>
                    <a:extLst>
                      <a:ext uri="{0D108BD9-81ED-4DB2-BD59-A6C34878D82A}">
                        <a16:rowId xmlns:a16="http://schemas.microsoft.com/office/drawing/2014/main" val="2502900370"/>
                      </a:ext>
                    </a:extLst>
                  </a:tr>
                  <a:tr h="180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79" t="-399662" r="-200557" b="-67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279" t="-399662" r="-100557" b="-67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279" t="-399662" r="-557" b="-676"/>
                          </a:stretch>
                        </a:blipFill>
                      </a:tcPr>
                    </a:tc>
                    <a:extLst>
                      <a:ext uri="{0D108BD9-81ED-4DB2-BD59-A6C34878D82A}">
                        <a16:rowId xmlns:a16="http://schemas.microsoft.com/office/drawing/2014/main" val="2876786827"/>
                      </a:ext>
                    </a:extLst>
                  </a:tr>
                </a:tbl>
              </a:graphicData>
            </a:graphic>
          </p:graphicFrame>
        </mc:Fallback>
      </mc:AlternateContent>
    </p:spTree>
    <p:extLst>
      <p:ext uri="{BB962C8B-B14F-4D97-AF65-F5344CB8AC3E}">
        <p14:creationId xmlns:p14="http://schemas.microsoft.com/office/powerpoint/2010/main" val="18864887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0491DD0-F06D-E3BA-9F5E-E134312DFD05}"/>
              </a:ext>
            </a:extLst>
          </p:cNvPr>
          <p:cNvSpPr>
            <a:spLocks noGrp="1"/>
          </p:cNvSpPr>
          <p:nvPr>
            <p:ph type="sldNum" sz="quarter" idx="12"/>
          </p:nvPr>
        </p:nvSpPr>
        <p:spPr>
          <a:xfrm>
            <a:off x="5226905" y="9289617"/>
            <a:ext cx="1543050" cy="527403"/>
          </a:xfrm>
        </p:spPr>
        <p:txBody>
          <a:bodyPr/>
          <a:lstStyle/>
          <a:p>
            <a:fld id="{086C3A38-D272-42AA-9C88-F1FBEAE20D2C}" type="slidenum">
              <a:rPr lang="en-GB" noProof="0" smtClean="0"/>
              <a:t>8</a:t>
            </a:fld>
            <a:endParaRPr lang="en-GB" noProof="0" dirty="0"/>
          </a:p>
        </p:txBody>
      </p:sp>
      <p:sp>
        <p:nvSpPr>
          <p:cNvPr id="8" name="Rectangle 7">
            <a:extLst>
              <a:ext uri="{FF2B5EF4-FFF2-40B4-BE49-F238E27FC236}">
                <a16:creationId xmlns:a16="http://schemas.microsoft.com/office/drawing/2014/main" id="{12A35E13-2583-7B6E-DE07-E4550CB73FBD}"/>
              </a:ext>
            </a:extLst>
          </p:cNvPr>
          <p:cNvSpPr/>
          <p:nvPr/>
        </p:nvSpPr>
        <p:spPr>
          <a:xfrm>
            <a:off x="91943" y="197200"/>
            <a:ext cx="4237700" cy="24830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noProof="0" dirty="0">
                <a:solidFill>
                  <a:schemeClr val="bg1"/>
                </a:solidFill>
              </a:rPr>
              <a:t>Rearranging with the subject in the denominator</a:t>
            </a:r>
          </a:p>
        </p:txBody>
      </p:sp>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DDE39AC3-E9DE-B826-97E9-2990913C1F7B}"/>
                  </a:ext>
                </a:extLst>
              </p:cNvPr>
              <p:cNvGraphicFramePr>
                <a:graphicFrameLocks noGrp="1"/>
              </p:cNvGraphicFramePr>
              <p:nvPr>
                <p:extLst>
                  <p:ext uri="{D42A27DB-BD31-4B8C-83A1-F6EECF244321}">
                    <p14:modId xmlns:p14="http://schemas.microsoft.com/office/powerpoint/2010/main" val="964303264"/>
                  </p:ext>
                </p:extLst>
              </p:nvPr>
            </p:nvGraphicFramePr>
            <p:xfrm>
              <a:off x="88043" y="472590"/>
              <a:ext cx="6681913" cy="3611520"/>
            </p:xfrm>
            <a:graphic>
              <a:graphicData uri="http://schemas.openxmlformats.org/drawingml/2006/table">
                <a:tbl>
                  <a:tblPr firstRow="1" bandRow="1">
                    <a:tableStyleId>{5C22544A-7EE6-4342-B048-85BDC9FD1C3A}</a:tableStyleId>
                  </a:tblPr>
                  <a:tblGrid>
                    <a:gridCol w="1504025">
                      <a:extLst>
                        <a:ext uri="{9D8B030D-6E8A-4147-A177-3AD203B41FA5}">
                          <a16:colId xmlns:a16="http://schemas.microsoft.com/office/drawing/2014/main" val="1568142362"/>
                        </a:ext>
                      </a:extLst>
                    </a:gridCol>
                    <a:gridCol w="1741378">
                      <a:extLst>
                        <a:ext uri="{9D8B030D-6E8A-4147-A177-3AD203B41FA5}">
                          <a16:colId xmlns:a16="http://schemas.microsoft.com/office/drawing/2014/main" val="3551711160"/>
                        </a:ext>
                      </a:extLst>
                    </a:gridCol>
                    <a:gridCol w="1718255">
                      <a:extLst>
                        <a:ext uri="{9D8B030D-6E8A-4147-A177-3AD203B41FA5}">
                          <a16:colId xmlns:a16="http://schemas.microsoft.com/office/drawing/2014/main" val="1712497518"/>
                        </a:ext>
                      </a:extLst>
                    </a:gridCol>
                    <a:gridCol w="1718255">
                      <a:extLst>
                        <a:ext uri="{9D8B030D-6E8A-4147-A177-3AD203B41FA5}">
                          <a16:colId xmlns:a16="http://schemas.microsoft.com/office/drawing/2014/main" val="886122921"/>
                        </a:ext>
                      </a:extLst>
                    </a:gridCol>
                  </a:tblGrid>
                  <a:tr h="0">
                    <a:tc>
                      <a:txBody>
                        <a:bodyPr/>
                        <a:lstStyle/>
                        <a:p>
                          <a:endParaRPr lang="en-GB" sz="1200" b="1" noProof="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4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5 -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6 -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302332">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𝑦</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𝑦</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 </m:t>
                              </m:r>
                            </m:oMath>
                          </a14:m>
                          <a:r>
                            <a:rPr lang="en-GB" sz="1200" b="0" noProof="0" dirty="0">
                              <a:solidFill>
                                <a:schemeClr val="tx1"/>
                              </a:solidFill>
                            </a:rPr>
                            <a:t>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1440000">
                    <a:tc rowSpan="2">
                      <a:txBody>
                        <a:bodyPr/>
                        <a:lstStyle/>
                        <a:p>
                          <a:pPr marL="0" indent="0">
                            <a:buNone/>
                          </a:pPr>
                          <a:r>
                            <a:rPr lang="en-GB" sz="1200" noProof="0" dirty="0">
                              <a:solidFill>
                                <a:schemeClr val="tx1"/>
                              </a:solidFill>
                            </a:rPr>
                            <a:t>1) Circle the variable you want to make the subject.</a:t>
                          </a:r>
                        </a:p>
                        <a:p>
                          <a:pPr marL="0" indent="0">
                            <a:buNone/>
                          </a:pPr>
                          <a:endParaRPr lang="en-GB" sz="1200" noProof="0" dirty="0">
                            <a:solidFill>
                              <a:schemeClr val="tx1"/>
                            </a:solidFill>
                          </a:endParaRPr>
                        </a:p>
                        <a:p>
                          <a:pPr marL="0" indent="0">
                            <a:buNone/>
                          </a:pPr>
                          <a:r>
                            <a:rPr lang="en-GB" sz="1200" noProof="0" dirty="0">
                              <a:solidFill>
                                <a:schemeClr val="tx1"/>
                              </a:solidFill>
                            </a:rPr>
                            <a:t>2) Multiply both sides by the denominator (subject).</a:t>
                          </a:r>
                        </a:p>
                        <a:p>
                          <a:pPr marL="0" indent="0">
                            <a:buNone/>
                          </a:pPr>
                          <a:endParaRPr lang="en-GB" sz="1200" noProof="0" dirty="0">
                            <a:solidFill>
                              <a:schemeClr val="tx1"/>
                            </a:solidFill>
                          </a:endParaRPr>
                        </a:p>
                        <a:p>
                          <a:pPr marL="0" indent="0">
                            <a:buNone/>
                          </a:pPr>
                          <a:r>
                            <a:rPr lang="en-GB" sz="1200" noProof="0" dirty="0">
                              <a:solidFill>
                                <a:schemeClr val="tx1"/>
                              </a:solidFill>
                            </a:rPr>
                            <a:t>3) Use inverse operation</a:t>
                          </a:r>
                          <a:r>
                            <a:rPr lang="en-GB" sz="1200" b="1" u="sng" noProof="0" dirty="0">
                              <a:solidFill>
                                <a:schemeClr val="tx1"/>
                              </a:solidFill>
                            </a:rPr>
                            <a:t>s</a:t>
                          </a:r>
                          <a:r>
                            <a:rPr lang="en-GB" sz="1200" noProof="0" dirty="0">
                              <a:solidFill>
                                <a:schemeClr val="tx1"/>
                              </a:solidFill>
                            </a:rPr>
                            <a:t> to isolate the variable.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𝑝</m:t>
                                    </m:r>
                                  </m:num>
                                  <m:den>
                                    <m:r>
                                      <a:rPr lang="en-GB" sz="1200" b="0" i="1" noProof="0" smtClean="0">
                                        <a:solidFill>
                                          <a:schemeClr val="tx1"/>
                                        </a:solidFill>
                                        <a:latin typeface="Cambria Math" panose="02040503050406030204" pitchFamily="18" charset="0"/>
                                      </a:rPr>
                                      <m:t>𝑦</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𝑥</m:t>
                                </m:r>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𝑚</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𝑤</m:t>
                                    </m:r>
                                  </m:num>
                                  <m:den>
                                    <m:r>
                                      <a:rPr lang="en-GB" sz="1200" b="0" i="1" noProof="0" smtClean="0">
                                        <a:solidFill>
                                          <a:schemeClr val="tx1"/>
                                        </a:solidFill>
                                        <a:latin typeface="Cambria Math" panose="02040503050406030204" pitchFamily="18" charset="0"/>
                                      </a:rPr>
                                      <m:t>𝑦</m:t>
                                    </m:r>
                                  </m:den>
                                </m:f>
                                <m:r>
                                  <a:rPr lang="en-GB" sz="1200" b="0" i="1" noProof="0" smtClean="0">
                                    <a:solidFill>
                                      <a:schemeClr val="tx1"/>
                                    </a:solidFill>
                                    <a:latin typeface="Cambria Math" panose="02040503050406030204" pitchFamily="18" charset="0"/>
                                  </a:rPr>
                                  <m:t>=</m:t>
                                </m:r>
                                <m:sSup>
                                  <m:sSupPr>
                                    <m:ctrlPr>
                                      <a:rPr lang="en-GB" sz="1200" b="0" i="1" noProof="0" smtClean="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𝑎</m:t>
                                    </m:r>
                                  </m:e>
                                  <m:sup>
                                    <m:r>
                                      <a:rPr lang="en-GB" sz="1200" b="0" i="1" noProof="0" smtClean="0">
                                        <a:solidFill>
                                          <a:schemeClr val="tx1"/>
                                        </a:solidFill>
                                        <a:latin typeface="Cambria Math" panose="02040503050406030204" pitchFamily="18" charset="0"/>
                                      </a:rPr>
                                      <m:t>2</m:t>
                                    </m:r>
                                  </m:sup>
                                </m:sSup>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GB" sz="1200" b="0" i="1" noProof="0" smtClean="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𝑟</m:t>
                                    </m:r>
                                  </m:e>
                                  <m:sup>
                                    <m:r>
                                      <a:rPr lang="en-GB" sz="1200" b="0" i="1" noProof="0" smtClean="0">
                                        <a:solidFill>
                                          <a:schemeClr val="tx1"/>
                                        </a:solidFill>
                                        <a:latin typeface="Cambria Math" panose="02040503050406030204" pitchFamily="18" charset="0"/>
                                      </a:rPr>
                                      <m:t>2</m:t>
                                    </m:r>
                                  </m:sup>
                                </m:sSup>
                                <m:r>
                                  <a:rPr lang="en-GB" sz="1200" b="0" i="1" noProof="0" smtClean="0">
                                    <a:solidFill>
                                      <a:schemeClr val="tx1"/>
                                    </a:solidFill>
                                    <a:latin typeface="Cambria Math" panose="02040503050406030204" pitchFamily="18" charset="0"/>
                                  </a:rPr>
                                  <m: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𝑝</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𝑞</m:t>
                                    </m:r>
                                  </m:num>
                                  <m:den>
                                    <m:r>
                                      <a:rPr lang="en-GB" sz="1200" b="0" i="1" noProof="0" smtClean="0">
                                        <a:solidFill>
                                          <a:schemeClr val="tx1"/>
                                        </a:solidFill>
                                        <a:latin typeface="Cambria Math" panose="02040503050406030204" pitchFamily="18" charset="0"/>
                                      </a:rPr>
                                      <m:t>𝑥</m:t>
                                    </m:r>
                                  </m:den>
                                </m:f>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r h="1440000">
                    <a:tc vMerge="1">
                      <a:txBody>
                        <a:bodyPr/>
                        <a:lstStyle/>
                        <a:p>
                          <a:pPr marL="0" indent="0">
                            <a:buNone/>
                          </a:pP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𝑎</m:t>
                                    </m:r>
                                  </m:num>
                                  <m:den>
                                    <m:r>
                                      <a:rPr lang="en-GB" sz="1200" b="0" i="1" noProof="0" smtClean="0">
                                        <a:solidFill>
                                          <a:schemeClr val="tx1"/>
                                        </a:solidFill>
                                        <a:latin typeface="Cambria Math" panose="02040503050406030204" pitchFamily="18" charset="0"/>
                                      </a:rPr>
                                      <m:t>𝑥</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r>
                                  <a:rPr lang="en-GB" sz="1200" b="0" i="1" noProof="0" smtClean="0">
                                    <a:solidFill>
                                      <a:schemeClr val="tx1"/>
                                    </a:solidFill>
                                    <a:latin typeface="Cambria Math" panose="02040503050406030204" pitchFamily="18" charset="0"/>
                                  </a:rPr>
                                  <m:t>+2</m:t>
                                </m:r>
                              </m:oMath>
                            </m:oMathPara>
                          </a14:m>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92223375"/>
                      </a:ext>
                    </a:extLst>
                  </a:tr>
                </a:tbl>
              </a:graphicData>
            </a:graphic>
          </p:graphicFrame>
        </mc:Choice>
        <mc:Fallback xmlns="">
          <p:graphicFrame>
            <p:nvGraphicFramePr>
              <p:cNvPr id="9" name="Table 8">
                <a:extLst>
                  <a:ext uri="{FF2B5EF4-FFF2-40B4-BE49-F238E27FC236}">
                    <a16:creationId xmlns:a16="http://schemas.microsoft.com/office/drawing/2014/main" id="{DDE39AC3-E9DE-B826-97E9-2990913C1F7B}"/>
                  </a:ext>
                </a:extLst>
              </p:cNvPr>
              <p:cNvGraphicFramePr>
                <a:graphicFrameLocks noGrp="1"/>
              </p:cNvGraphicFramePr>
              <p:nvPr>
                <p:extLst>
                  <p:ext uri="{D42A27DB-BD31-4B8C-83A1-F6EECF244321}">
                    <p14:modId xmlns:p14="http://schemas.microsoft.com/office/powerpoint/2010/main" val="964303264"/>
                  </p:ext>
                </p:extLst>
              </p:nvPr>
            </p:nvGraphicFramePr>
            <p:xfrm>
              <a:off x="88043" y="472590"/>
              <a:ext cx="6681913" cy="3611520"/>
            </p:xfrm>
            <a:graphic>
              <a:graphicData uri="http://schemas.openxmlformats.org/drawingml/2006/table">
                <a:tbl>
                  <a:tblPr firstRow="1" bandRow="1">
                    <a:tableStyleId>{5C22544A-7EE6-4342-B048-85BDC9FD1C3A}</a:tableStyleId>
                  </a:tblPr>
                  <a:tblGrid>
                    <a:gridCol w="1504025">
                      <a:extLst>
                        <a:ext uri="{9D8B030D-6E8A-4147-A177-3AD203B41FA5}">
                          <a16:colId xmlns:a16="http://schemas.microsoft.com/office/drawing/2014/main" val="1568142362"/>
                        </a:ext>
                      </a:extLst>
                    </a:gridCol>
                    <a:gridCol w="1741378">
                      <a:extLst>
                        <a:ext uri="{9D8B030D-6E8A-4147-A177-3AD203B41FA5}">
                          <a16:colId xmlns:a16="http://schemas.microsoft.com/office/drawing/2014/main" val="3551711160"/>
                        </a:ext>
                      </a:extLst>
                    </a:gridCol>
                    <a:gridCol w="1718255">
                      <a:extLst>
                        <a:ext uri="{9D8B030D-6E8A-4147-A177-3AD203B41FA5}">
                          <a16:colId xmlns:a16="http://schemas.microsoft.com/office/drawing/2014/main" val="1712497518"/>
                        </a:ext>
                      </a:extLst>
                    </a:gridCol>
                    <a:gridCol w="1718255">
                      <a:extLst>
                        <a:ext uri="{9D8B030D-6E8A-4147-A177-3AD203B41FA5}">
                          <a16:colId xmlns:a16="http://schemas.microsoft.com/office/drawing/2014/main" val="886122921"/>
                        </a:ext>
                      </a:extLst>
                    </a:gridCol>
                  </a:tblGrid>
                  <a:tr h="274320">
                    <a:tc>
                      <a:txBody>
                        <a:bodyPr/>
                        <a:lstStyle/>
                        <a:p>
                          <a:endParaRPr lang="en-GB" sz="1200" b="1" noProof="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FF0000"/>
                              </a:solidFill>
                            </a:rPr>
                            <a:t>Example 4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chemeClr val="accent2"/>
                              </a:solidFill>
                            </a:rPr>
                            <a:t>Example 5 -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00B050"/>
                              </a:solidFill>
                            </a:rPr>
                            <a:t>Example 6 -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457200">
                    <a:tc>
                      <a:txBody>
                        <a:bodyPr/>
                        <a:lstStyle/>
                        <a:p>
                          <a:r>
                            <a:rPr lang="en-GB" sz="12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6713" t="-60000" r="-197902" b="-63466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89362" t="-60000" r="-100709" b="-63466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89362" t="-60000" r="-709" b="-634667"/>
                          </a:stretch>
                        </a:blipFill>
                      </a:tcPr>
                    </a:tc>
                    <a:extLst>
                      <a:ext uri="{0D108BD9-81ED-4DB2-BD59-A6C34878D82A}">
                        <a16:rowId xmlns:a16="http://schemas.microsoft.com/office/drawing/2014/main" val="2357201933"/>
                      </a:ext>
                    </a:extLst>
                  </a:tr>
                  <a:tr h="1440000">
                    <a:tc rowSpan="2">
                      <a:txBody>
                        <a:bodyPr/>
                        <a:lstStyle/>
                        <a:p>
                          <a:pPr marL="0" indent="0">
                            <a:buNone/>
                          </a:pPr>
                          <a:r>
                            <a:rPr lang="en-GB" sz="1200" noProof="0">
                              <a:solidFill>
                                <a:schemeClr val="tx1"/>
                              </a:solidFill>
                            </a:rPr>
                            <a:t>1) Circle the variable you want to make the subject.</a:t>
                          </a:r>
                        </a:p>
                        <a:p>
                          <a:pPr marL="0" indent="0">
                            <a:buNone/>
                          </a:pPr>
                          <a:endParaRPr lang="en-GB" sz="1200" noProof="0">
                            <a:solidFill>
                              <a:schemeClr val="tx1"/>
                            </a:solidFill>
                          </a:endParaRPr>
                        </a:p>
                        <a:p>
                          <a:pPr marL="0" indent="0">
                            <a:buNone/>
                          </a:pPr>
                          <a:r>
                            <a:rPr lang="en-GB" sz="1200" noProof="0">
                              <a:solidFill>
                                <a:schemeClr val="tx1"/>
                              </a:solidFill>
                            </a:rPr>
                            <a:t>2) Multiply both sides by the denominator (subject).</a:t>
                          </a:r>
                        </a:p>
                        <a:p>
                          <a:pPr marL="0" indent="0">
                            <a:buNone/>
                          </a:pPr>
                          <a:endParaRPr lang="en-GB" sz="1200" noProof="0">
                            <a:solidFill>
                              <a:schemeClr val="tx1"/>
                            </a:solidFill>
                          </a:endParaRPr>
                        </a:p>
                        <a:p>
                          <a:pPr marL="0" indent="0">
                            <a:buNone/>
                          </a:pPr>
                          <a:r>
                            <a:rPr lang="en-GB" sz="1200" noProof="0">
                              <a:solidFill>
                                <a:schemeClr val="tx1"/>
                              </a:solidFill>
                            </a:rPr>
                            <a:t>3) Use inverse operation</a:t>
                          </a:r>
                          <a:r>
                            <a:rPr lang="en-GB" sz="1200" b="1" u="sng" noProof="0">
                              <a:solidFill>
                                <a:schemeClr val="tx1"/>
                              </a:solidFill>
                            </a:rPr>
                            <a:t>s</a:t>
                          </a:r>
                          <a:r>
                            <a:rPr lang="en-GB" sz="1200" noProof="0">
                              <a:solidFill>
                                <a:schemeClr val="tx1"/>
                              </a:solidFill>
                            </a:rPr>
                            <a:t> to isolate the variable.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6713" t="-25370" r="-197902" b="-634"/>
                          </a:stretch>
                        </a:blipFill>
                      </a:tcPr>
                    </a:tc>
                    <a:tc rowSpan="2">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89362" t="-25370" r="-100709" b="-63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89362" t="-50633" r="-709" b="-100844"/>
                          </a:stretch>
                        </a:blipFill>
                      </a:tcPr>
                    </a:tc>
                    <a:extLst>
                      <a:ext uri="{0D108BD9-81ED-4DB2-BD59-A6C34878D82A}">
                        <a16:rowId xmlns:a16="http://schemas.microsoft.com/office/drawing/2014/main" val="3293625240"/>
                      </a:ext>
                    </a:extLst>
                  </a:tr>
                  <a:tr h="1440000">
                    <a:tc vMerge="1">
                      <a:txBody>
                        <a:bodyPr/>
                        <a:lstStyle/>
                        <a:p>
                          <a:pPr marL="0" indent="0">
                            <a:buNone/>
                          </a:pP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89362" t="-151271" r="-709" b="-1271"/>
                          </a:stretch>
                        </a:blipFill>
                      </a:tcPr>
                    </a:tc>
                    <a:extLst>
                      <a:ext uri="{0D108BD9-81ED-4DB2-BD59-A6C34878D82A}">
                        <a16:rowId xmlns:a16="http://schemas.microsoft.com/office/drawing/2014/main" val="4092223375"/>
                      </a:ext>
                    </a:extLst>
                  </a:tr>
                </a:tbl>
              </a:graphicData>
            </a:graphic>
          </p:graphicFrame>
        </mc:Fallback>
      </mc:AlternateContent>
      <p:sp>
        <p:nvSpPr>
          <p:cNvPr id="12" name="Rectangle 11">
            <a:extLst>
              <a:ext uri="{FF2B5EF4-FFF2-40B4-BE49-F238E27FC236}">
                <a16:creationId xmlns:a16="http://schemas.microsoft.com/office/drawing/2014/main" id="{6C033025-BF0F-31BA-77C3-D0C52466DCFD}"/>
              </a:ext>
            </a:extLst>
          </p:cNvPr>
          <p:cNvSpPr/>
          <p:nvPr/>
        </p:nvSpPr>
        <p:spPr>
          <a:xfrm>
            <a:off x="88043" y="4190575"/>
            <a:ext cx="1715480" cy="3564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a:t>Independent Practice</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7ED9494-9B0C-3474-6BFE-4292706BF858}"/>
                  </a:ext>
                </a:extLst>
              </p:cNvPr>
              <p:cNvSpPr txBox="1"/>
              <p:nvPr/>
            </p:nvSpPr>
            <p:spPr>
              <a:xfrm>
                <a:off x="1565456" y="4310485"/>
                <a:ext cx="3646054" cy="276999"/>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Question </a:t>
                </a:r>
                <a:r>
                  <a:rPr lang="en-GB" sz="1200" noProof="0" dirty="0">
                    <a:solidFill>
                      <a:prstClr val="black"/>
                    </a:solidFill>
                    <a:latin typeface="Calibri" panose="020F0502020204030204"/>
                  </a:rPr>
                  <a:t>2</a:t>
                </a: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Make </a:t>
                </a:r>
                <a14:m>
                  <m:oMath xmlns:m="http://schemas.openxmlformats.org/officeDocument/2006/math">
                    <m:r>
                      <m:rPr>
                        <m:sty m:val="p"/>
                      </m:rPr>
                      <a:rPr kumimoji="0" lang="en-GB" sz="12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w</m:t>
                    </m:r>
                  </m:oMath>
                </a14:m>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the subject of the following:</a:t>
                </a:r>
              </a:p>
            </p:txBody>
          </p:sp>
        </mc:Choice>
        <mc:Fallback xmlns="">
          <p:sp>
            <p:nvSpPr>
              <p:cNvPr id="13" name="TextBox 12">
                <a:extLst>
                  <a:ext uri="{FF2B5EF4-FFF2-40B4-BE49-F238E27FC236}">
                    <a16:creationId xmlns:a16="http://schemas.microsoft.com/office/drawing/2014/main" id="{C7ED9494-9B0C-3474-6BFE-4292706BF858}"/>
                  </a:ext>
                </a:extLst>
              </p:cNvPr>
              <p:cNvSpPr txBox="1">
                <a:spLocks noRot="1" noChangeAspect="1" noMove="1" noResize="1" noEditPoints="1" noAdjustHandles="1" noChangeArrowheads="1" noChangeShapeType="1" noTextEdit="1"/>
              </p:cNvSpPr>
              <p:nvPr/>
            </p:nvSpPr>
            <p:spPr>
              <a:xfrm>
                <a:off x="1565456" y="4310485"/>
                <a:ext cx="3646054" cy="276999"/>
              </a:xfrm>
              <a:prstGeom prst="rect">
                <a:avLst/>
              </a:prstGeom>
              <a:blipFill>
                <a:blip r:embed="rId3"/>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5" name="Table 14">
                <a:extLst>
                  <a:ext uri="{FF2B5EF4-FFF2-40B4-BE49-F238E27FC236}">
                    <a16:creationId xmlns:a16="http://schemas.microsoft.com/office/drawing/2014/main" id="{F389B125-0745-23E0-27EC-445CB473C468}"/>
                  </a:ext>
                </a:extLst>
              </p:cNvPr>
              <p:cNvGraphicFramePr>
                <a:graphicFrameLocks noGrp="1"/>
              </p:cNvGraphicFramePr>
              <p:nvPr>
                <p:extLst>
                  <p:ext uri="{D42A27DB-BD31-4B8C-83A1-F6EECF244321}">
                    <p14:modId xmlns:p14="http://schemas.microsoft.com/office/powerpoint/2010/main" val="1121734169"/>
                  </p:ext>
                </p:extLst>
              </p:nvPr>
            </p:nvGraphicFramePr>
            <p:xfrm>
              <a:off x="88043" y="4666884"/>
              <a:ext cx="6681912" cy="4766526"/>
            </p:xfrm>
            <a:graphic>
              <a:graphicData uri="http://schemas.openxmlformats.org/drawingml/2006/table">
                <a:tbl>
                  <a:tblPr firstRow="1" bandRow="1">
                    <a:tableStyleId>{5C22544A-7EE6-4342-B048-85BDC9FD1C3A}</a:tableStyleId>
                  </a:tblPr>
                  <a:tblGrid>
                    <a:gridCol w="2227304">
                      <a:extLst>
                        <a:ext uri="{9D8B030D-6E8A-4147-A177-3AD203B41FA5}">
                          <a16:colId xmlns:a16="http://schemas.microsoft.com/office/drawing/2014/main" val="1633894357"/>
                        </a:ext>
                      </a:extLst>
                    </a:gridCol>
                    <a:gridCol w="2227304">
                      <a:extLst>
                        <a:ext uri="{9D8B030D-6E8A-4147-A177-3AD203B41FA5}">
                          <a16:colId xmlns:a16="http://schemas.microsoft.com/office/drawing/2014/main" val="2791324813"/>
                        </a:ext>
                      </a:extLst>
                    </a:gridCol>
                    <a:gridCol w="2227304">
                      <a:extLst>
                        <a:ext uri="{9D8B030D-6E8A-4147-A177-3AD203B41FA5}">
                          <a16:colId xmlns:a16="http://schemas.microsoft.com/office/drawing/2014/main" val="1086199984"/>
                        </a:ext>
                      </a:extLst>
                    </a:gridCol>
                  </a:tblGrid>
                  <a:tr h="2383263">
                    <a:tc>
                      <a:txBody>
                        <a:bodyPr/>
                        <a:lstStyle/>
                        <a:p>
                          <a:r>
                            <a:rPr lang="en-GB" sz="1200" b="0" noProof="0" dirty="0">
                              <a:solidFill>
                                <a:schemeClr val="tx1"/>
                              </a:solidFill>
                            </a:rPr>
                            <a:t>a) </a:t>
                          </a:r>
                          <a14:m>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𝑔</m:t>
                                  </m:r>
                                </m:num>
                                <m:den>
                                  <m:r>
                                    <a:rPr lang="en-GB" sz="1200" b="0" i="1" noProof="0" smtClean="0">
                                      <a:solidFill>
                                        <a:schemeClr val="tx1"/>
                                      </a:solidFill>
                                      <a:latin typeface="Cambria Math" panose="02040503050406030204" pitchFamily="18" charset="0"/>
                                    </a:rPr>
                                    <m:t>𝑤</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𝑚</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b) </a:t>
                          </a:r>
                          <a14:m>
                            <m:oMath xmlns:m="http://schemas.openxmlformats.org/officeDocument/2006/math">
                              <m:sSup>
                                <m:sSupPr>
                                  <m:ctrlPr>
                                    <a:rPr lang="en-GB" sz="1200" b="0" i="1" noProof="0" smtClean="0">
                                      <a:solidFill>
                                        <a:schemeClr val="tx1"/>
                                      </a:solidFill>
                                      <a:latin typeface="Cambria Math" panose="02040503050406030204" pitchFamily="18" charset="0"/>
                                    </a:rPr>
                                  </m:ctrlPr>
                                </m:sSupPr>
                                <m:e>
                                  <m:r>
                                    <a:rPr lang="en-GB" sz="1200" b="0" i="1" noProof="0" smtClean="0">
                                      <a:solidFill>
                                        <a:schemeClr val="tx1"/>
                                      </a:solidFill>
                                      <a:latin typeface="Cambria Math" panose="02040503050406030204" pitchFamily="18" charset="0"/>
                                    </a:rPr>
                                    <m:t>𝑎</m:t>
                                  </m:r>
                                </m:e>
                                <m:sup>
                                  <m:r>
                                    <a:rPr lang="en-GB" sz="1200" b="0" i="1" noProof="0" smtClean="0">
                                      <a:solidFill>
                                        <a:schemeClr val="tx1"/>
                                      </a:solidFill>
                                      <a:latin typeface="Cambria Math" panose="02040503050406030204" pitchFamily="18" charset="0"/>
                                    </a:rPr>
                                    <m:t>2</m:t>
                                  </m:r>
                                </m:sup>
                              </m:sSup>
                              <m:r>
                                <a:rPr lang="en-GB" sz="1200" b="0" i="1" noProof="0" smtClean="0">
                                  <a:solidFill>
                                    <a:schemeClr val="tx1"/>
                                  </a:solidFill>
                                  <a:latin typeface="Cambria Math" panose="02040503050406030204" pitchFamily="18" charset="0"/>
                                </a:rPr>
                                <m: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𝑝</m:t>
                                  </m:r>
                                </m:num>
                                <m:den>
                                  <m:r>
                                    <a:rPr lang="en-GB" sz="1200" b="0" i="1" noProof="0" smtClean="0">
                                      <a:solidFill>
                                        <a:schemeClr val="tx1"/>
                                      </a:solidFill>
                                      <a:latin typeface="Cambria Math" panose="02040503050406030204" pitchFamily="18" charset="0"/>
                                    </a:rPr>
                                    <m:t>𝑤</m:t>
                                  </m:r>
                                </m:den>
                              </m:f>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c) </a:t>
                          </a:r>
                          <a14:m>
                            <m:oMath xmlns:m="http://schemas.openxmlformats.org/officeDocument/2006/math">
                              <m:r>
                                <a:rPr lang="en-GB" sz="1200" b="0" i="1" noProof="0" smtClean="0">
                                  <a:solidFill>
                                    <a:schemeClr val="tx1"/>
                                  </a:solidFill>
                                  <a:latin typeface="Cambria Math" panose="02040503050406030204" pitchFamily="18" charset="0"/>
                                </a:rPr>
                                <m:t>𝑏</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𝑐</m:t>
                              </m:r>
                              <m:r>
                                <a:rPr lang="en-GB" sz="1200" b="0" i="1" noProof="0" smtClean="0">
                                  <a:solidFill>
                                    <a:schemeClr val="tx1"/>
                                  </a:solidFill>
                                  <a:latin typeface="Cambria Math" panose="02040503050406030204" pitchFamily="18" charset="0"/>
                                </a:rPr>
                                <m: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𝑎</m:t>
                                  </m:r>
                                </m:num>
                                <m:den>
                                  <m:r>
                                    <a:rPr lang="en-GB" sz="1200" b="0" i="1" noProof="0" smtClean="0">
                                      <a:solidFill>
                                        <a:schemeClr val="tx1"/>
                                      </a:solidFill>
                                      <a:latin typeface="Cambria Math" panose="02040503050406030204" pitchFamily="18" charset="0"/>
                                    </a:rPr>
                                    <m:t>𝑤</m:t>
                                  </m:r>
                                </m:den>
                              </m:f>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6516027"/>
                      </a:ext>
                    </a:extLst>
                  </a:tr>
                  <a:tr h="2383263">
                    <a:tc>
                      <a:txBody>
                        <a:bodyPr/>
                        <a:lstStyle/>
                        <a:p>
                          <a:r>
                            <a:rPr lang="en-GB" sz="1200" b="0" noProof="0" dirty="0">
                              <a:solidFill>
                                <a:schemeClr val="tx1"/>
                              </a:solidFill>
                            </a:rPr>
                            <a:t>d) </a:t>
                          </a:r>
                          <a14:m>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 + 2</m:t>
                                  </m:r>
                                </m:num>
                                <m:den>
                                  <m:r>
                                    <a:rPr lang="en-GB" sz="1200" b="0" i="1" noProof="0" smtClean="0">
                                      <a:solidFill>
                                        <a:schemeClr val="tx1"/>
                                      </a:solidFill>
                                      <a:latin typeface="Cambria Math" panose="02040503050406030204" pitchFamily="18" charset="0"/>
                                    </a:rPr>
                                    <m:t>𝑤</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𝑘</m:t>
                              </m:r>
                              <m:r>
                                <a:rPr lang="en-GB" sz="1200" b="0" i="1" noProof="0" smtClean="0">
                                  <a:solidFill>
                                    <a:schemeClr val="tx1"/>
                                  </a:solidFill>
                                  <a:latin typeface="Cambria Math" panose="02040503050406030204" pitchFamily="18" charset="0"/>
                                </a:rPr>
                                <m:t>−4</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e)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 + </m:t>
                                  </m:r>
                                  <m:r>
                                    <a:rPr lang="en-GB" sz="1200" b="0" i="1" noProof="0" smtClean="0">
                                      <a:solidFill>
                                        <a:schemeClr val="tx1"/>
                                      </a:solidFill>
                                      <a:latin typeface="Cambria Math" panose="02040503050406030204" pitchFamily="18" charset="0"/>
                                    </a:rPr>
                                    <m:t>𝑏</m:t>
                                  </m:r>
                                </m:num>
                                <m:den>
                                  <m:r>
                                    <a:rPr lang="en-GB" sz="1200" b="0" i="1" noProof="0" smtClean="0">
                                      <a:solidFill>
                                        <a:schemeClr val="tx1"/>
                                      </a:solidFill>
                                      <a:latin typeface="Cambria Math" panose="02040503050406030204" pitchFamily="18" charset="0"/>
                                    </a:rPr>
                                    <m:t>𝑤</m:t>
                                  </m:r>
                                </m:den>
                              </m:f>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f) </a:t>
                          </a:r>
                          <a14:m>
                            <m:oMath xmlns:m="http://schemas.openxmlformats.org/officeDocument/2006/math">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𝑐</m:t>
                                  </m:r>
                                  <m:r>
                                    <a:rPr lang="en-GB" sz="1200" b="0" i="1" noProof="0" smtClean="0">
                                      <a:solidFill>
                                        <a:schemeClr val="tx1"/>
                                      </a:solidFill>
                                      <a:latin typeface="Cambria Math" panose="02040503050406030204" pitchFamily="18" charset="0"/>
                                    </a:rPr>
                                    <m:t> − </m:t>
                                  </m:r>
                                  <m:r>
                                    <a:rPr lang="en-GB" sz="1200" b="0" i="1" noProof="0" smtClean="0">
                                      <a:solidFill>
                                        <a:schemeClr val="tx1"/>
                                      </a:solidFill>
                                      <a:latin typeface="Cambria Math" panose="02040503050406030204" pitchFamily="18" charset="0"/>
                                    </a:rPr>
                                    <m:t>𝑥</m:t>
                                  </m:r>
                                </m:num>
                                <m:den>
                                  <m:r>
                                    <a:rPr lang="en-GB" sz="1200" b="0" i="1" noProof="0" smtClean="0">
                                      <a:solidFill>
                                        <a:schemeClr val="tx1"/>
                                      </a:solidFill>
                                      <a:latin typeface="Cambria Math" panose="02040503050406030204" pitchFamily="18" charset="0"/>
                                    </a:rPr>
                                    <m:t>𝑤</m:t>
                                  </m:r>
                                </m:den>
                              </m:f>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𝑚</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𝑛</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4248807"/>
                      </a:ext>
                    </a:extLst>
                  </a:tr>
                </a:tbl>
              </a:graphicData>
            </a:graphic>
          </p:graphicFrame>
        </mc:Choice>
        <mc:Fallback xmlns="">
          <p:graphicFrame>
            <p:nvGraphicFramePr>
              <p:cNvPr id="15" name="Table 14">
                <a:extLst>
                  <a:ext uri="{FF2B5EF4-FFF2-40B4-BE49-F238E27FC236}">
                    <a16:creationId xmlns:a16="http://schemas.microsoft.com/office/drawing/2014/main" id="{F389B125-0745-23E0-27EC-445CB473C468}"/>
                  </a:ext>
                </a:extLst>
              </p:cNvPr>
              <p:cNvGraphicFramePr>
                <a:graphicFrameLocks noGrp="1"/>
              </p:cNvGraphicFramePr>
              <p:nvPr>
                <p:extLst>
                  <p:ext uri="{D42A27DB-BD31-4B8C-83A1-F6EECF244321}">
                    <p14:modId xmlns:p14="http://schemas.microsoft.com/office/powerpoint/2010/main" val="1121734169"/>
                  </p:ext>
                </p:extLst>
              </p:nvPr>
            </p:nvGraphicFramePr>
            <p:xfrm>
              <a:off x="88043" y="4666884"/>
              <a:ext cx="6681912" cy="4766526"/>
            </p:xfrm>
            <a:graphic>
              <a:graphicData uri="http://schemas.openxmlformats.org/drawingml/2006/table">
                <a:tbl>
                  <a:tblPr firstRow="1" bandRow="1">
                    <a:tableStyleId>{5C22544A-7EE6-4342-B048-85BDC9FD1C3A}</a:tableStyleId>
                  </a:tblPr>
                  <a:tblGrid>
                    <a:gridCol w="2227304">
                      <a:extLst>
                        <a:ext uri="{9D8B030D-6E8A-4147-A177-3AD203B41FA5}">
                          <a16:colId xmlns:a16="http://schemas.microsoft.com/office/drawing/2014/main" val="1633894357"/>
                        </a:ext>
                      </a:extLst>
                    </a:gridCol>
                    <a:gridCol w="2227304">
                      <a:extLst>
                        <a:ext uri="{9D8B030D-6E8A-4147-A177-3AD203B41FA5}">
                          <a16:colId xmlns:a16="http://schemas.microsoft.com/office/drawing/2014/main" val="2791324813"/>
                        </a:ext>
                      </a:extLst>
                    </a:gridCol>
                    <a:gridCol w="2227304">
                      <a:extLst>
                        <a:ext uri="{9D8B030D-6E8A-4147-A177-3AD203B41FA5}">
                          <a16:colId xmlns:a16="http://schemas.microsoft.com/office/drawing/2014/main" val="1086199984"/>
                        </a:ext>
                      </a:extLst>
                    </a:gridCol>
                  </a:tblGrid>
                  <a:tr h="238326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73" t="-255" r="-200273" b="-10025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548" t="-255" r="-100822" b="-10025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000" t="-255" r="-546" b="-100255"/>
                          </a:stretch>
                        </a:blipFill>
                      </a:tcPr>
                    </a:tc>
                    <a:extLst>
                      <a:ext uri="{0D108BD9-81ED-4DB2-BD59-A6C34878D82A}">
                        <a16:rowId xmlns:a16="http://schemas.microsoft.com/office/drawing/2014/main" val="1956516027"/>
                      </a:ext>
                    </a:extLst>
                  </a:tr>
                  <a:tr h="238326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73" t="-100512" r="-200273" b="-51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548" t="-100512" r="-100822" b="-51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000" t="-100512" r="-546" b="-512"/>
                          </a:stretch>
                        </a:blipFill>
                      </a:tcPr>
                    </a:tc>
                    <a:extLst>
                      <a:ext uri="{0D108BD9-81ED-4DB2-BD59-A6C34878D82A}">
                        <a16:rowId xmlns:a16="http://schemas.microsoft.com/office/drawing/2014/main" val="3634248807"/>
                      </a:ext>
                    </a:extLst>
                  </a:tr>
                </a:tbl>
              </a:graphicData>
            </a:graphic>
          </p:graphicFrame>
        </mc:Fallback>
      </mc:AlternateContent>
    </p:spTree>
    <p:extLst>
      <p:ext uri="{BB962C8B-B14F-4D97-AF65-F5344CB8AC3E}">
        <p14:creationId xmlns:p14="http://schemas.microsoft.com/office/powerpoint/2010/main" val="18454164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6A793C-1A61-98D1-A7C0-2E10D027362F}"/>
              </a:ext>
            </a:extLst>
          </p:cNvPr>
          <p:cNvSpPr>
            <a:spLocks noGrp="1"/>
          </p:cNvSpPr>
          <p:nvPr>
            <p:ph type="sldNum" sz="quarter" idx="12"/>
          </p:nvPr>
        </p:nvSpPr>
        <p:spPr>
          <a:xfrm>
            <a:off x="5254020" y="9206148"/>
            <a:ext cx="1543050" cy="527403"/>
          </a:xfrm>
        </p:spPr>
        <p:txBody>
          <a:bodyPr/>
          <a:lstStyle/>
          <a:p>
            <a:fld id="{086C3A38-D272-42AA-9C88-F1FBEAE20D2C}" type="slidenum">
              <a:rPr lang="en-GB" noProof="0" smtClean="0"/>
              <a:t>9</a:t>
            </a:fld>
            <a:endParaRPr lang="en-GB" noProof="0" dirty="0"/>
          </a:p>
        </p:txBody>
      </p:sp>
      <p:sp>
        <p:nvSpPr>
          <p:cNvPr id="10" name="Rectangle 9">
            <a:extLst>
              <a:ext uri="{FF2B5EF4-FFF2-40B4-BE49-F238E27FC236}">
                <a16:creationId xmlns:a16="http://schemas.microsoft.com/office/drawing/2014/main" id="{DECF40D1-1A44-4507-6203-0DEF1B49B87E}"/>
              </a:ext>
            </a:extLst>
          </p:cNvPr>
          <p:cNvSpPr/>
          <p:nvPr/>
        </p:nvSpPr>
        <p:spPr>
          <a:xfrm>
            <a:off x="72803" y="11233"/>
            <a:ext cx="4237700" cy="324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noProof="0" dirty="0">
                <a:solidFill>
                  <a:schemeClr val="bg1"/>
                </a:solidFill>
              </a:rPr>
              <a:t>Rearranging where the subject appears twice</a:t>
            </a:r>
          </a:p>
        </p:txBody>
      </p:sp>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C84B3C5B-EA80-8F87-A8D7-3EF7C5BCEEA5}"/>
                  </a:ext>
                </a:extLst>
              </p:cNvPr>
              <p:cNvGraphicFramePr>
                <a:graphicFrameLocks noGrp="1"/>
              </p:cNvGraphicFramePr>
              <p:nvPr>
                <p:extLst>
                  <p:ext uri="{D42A27DB-BD31-4B8C-83A1-F6EECF244321}">
                    <p14:modId xmlns:p14="http://schemas.microsoft.com/office/powerpoint/2010/main" val="3067238899"/>
                  </p:ext>
                </p:extLst>
              </p:nvPr>
            </p:nvGraphicFramePr>
            <p:xfrm>
              <a:off x="88043" y="2145569"/>
              <a:ext cx="6681913" cy="3606579"/>
            </p:xfrm>
            <a:graphic>
              <a:graphicData uri="http://schemas.openxmlformats.org/drawingml/2006/table">
                <a:tbl>
                  <a:tblPr firstRow="1" bandRow="1">
                    <a:tableStyleId>{5C22544A-7EE6-4342-B048-85BDC9FD1C3A}</a:tableStyleId>
                  </a:tblPr>
                  <a:tblGrid>
                    <a:gridCol w="1053871">
                      <a:extLst>
                        <a:ext uri="{9D8B030D-6E8A-4147-A177-3AD203B41FA5}">
                          <a16:colId xmlns:a16="http://schemas.microsoft.com/office/drawing/2014/main" val="1568142362"/>
                        </a:ext>
                      </a:extLst>
                    </a:gridCol>
                    <a:gridCol w="1876014">
                      <a:extLst>
                        <a:ext uri="{9D8B030D-6E8A-4147-A177-3AD203B41FA5}">
                          <a16:colId xmlns:a16="http://schemas.microsoft.com/office/drawing/2014/main" val="3551711160"/>
                        </a:ext>
                      </a:extLst>
                    </a:gridCol>
                    <a:gridCol w="1876014">
                      <a:extLst>
                        <a:ext uri="{9D8B030D-6E8A-4147-A177-3AD203B41FA5}">
                          <a16:colId xmlns:a16="http://schemas.microsoft.com/office/drawing/2014/main" val="1712497518"/>
                        </a:ext>
                      </a:extLst>
                    </a:gridCol>
                    <a:gridCol w="1876014">
                      <a:extLst>
                        <a:ext uri="{9D8B030D-6E8A-4147-A177-3AD203B41FA5}">
                          <a16:colId xmlns:a16="http://schemas.microsoft.com/office/drawing/2014/main" val="886122921"/>
                        </a:ext>
                      </a:extLst>
                    </a:gridCol>
                  </a:tblGrid>
                  <a:tr h="304275">
                    <a:tc>
                      <a:txBody>
                        <a:bodyPr/>
                        <a:lstStyle/>
                        <a:p>
                          <a:endParaRPr lang="en-GB" sz="1200" b="1" noProof="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7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8 -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9 -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507125">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279517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1) </a:t>
                          </a:r>
                          <a:r>
                            <a:rPr lang="en-GB" sz="1200" noProof="0" dirty="0">
                              <a:cs typeface="Calibri" panose="020F0502020204030204" pitchFamily="34" charset="0"/>
                            </a:rPr>
                            <a:t>Circle the subject that we want to isolate.</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2) Factorise</a:t>
                          </a:r>
                          <a:r>
                            <a:rPr lang="en-GB" sz="1200" baseline="0" noProof="0" dirty="0">
                              <a:solidFill>
                                <a:schemeClr val="tx1"/>
                              </a:solidFill>
                            </a:rPr>
                            <a:t> the subject. </a:t>
                          </a:r>
                          <a:endParaRPr lang="en-GB" sz="1200" noProof="0" dirty="0">
                            <a:solidFill>
                              <a:schemeClr val="tx1"/>
                            </a:solidFill>
                          </a:endParaRPr>
                        </a:p>
                        <a:p>
                          <a:pPr marL="0" indent="0">
                            <a:buNone/>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3) Divide both sides of the equation. </a:t>
                          </a:r>
                        </a:p>
                        <a:p>
                          <a:pPr marL="0" indent="0">
                            <a:buNone/>
                          </a:pPr>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𝑎𝑥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𝑦</m:t>
                                </m:r>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𝑎𝑥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𝑦</m:t>
                                </m:r>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𝑏𝑥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𝑦</m:t>
                                </m:r>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mc:Choice>
        <mc:Fallback xmlns="">
          <p:graphicFrame>
            <p:nvGraphicFramePr>
              <p:cNvPr id="11" name="Table 10">
                <a:extLst>
                  <a:ext uri="{FF2B5EF4-FFF2-40B4-BE49-F238E27FC236}">
                    <a16:creationId xmlns:a16="http://schemas.microsoft.com/office/drawing/2014/main" id="{C84B3C5B-EA80-8F87-A8D7-3EF7C5BCEEA5}"/>
                  </a:ext>
                </a:extLst>
              </p:cNvPr>
              <p:cNvGraphicFramePr>
                <a:graphicFrameLocks noGrp="1"/>
              </p:cNvGraphicFramePr>
              <p:nvPr>
                <p:extLst>
                  <p:ext uri="{D42A27DB-BD31-4B8C-83A1-F6EECF244321}">
                    <p14:modId xmlns:p14="http://schemas.microsoft.com/office/powerpoint/2010/main" val="3067238899"/>
                  </p:ext>
                </p:extLst>
              </p:nvPr>
            </p:nvGraphicFramePr>
            <p:xfrm>
              <a:off x="88043" y="2145569"/>
              <a:ext cx="6681913" cy="3606579"/>
            </p:xfrm>
            <a:graphic>
              <a:graphicData uri="http://schemas.openxmlformats.org/drawingml/2006/table">
                <a:tbl>
                  <a:tblPr firstRow="1" bandRow="1">
                    <a:tableStyleId>{5C22544A-7EE6-4342-B048-85BDC9FD1C3A}</a:tableStyleId>
                  </a:tblPr>
                  <a:tblGrid>
                    <a:gridCol w="1053871">
                      <a:extLst>
                        <a:ext uri="{9D8B030D-6E8A-4147-A177-3AD203B41FA5}">
                          <a16:colId xmlns:a16="http://schemas.microsoft.com/office/drawing/2014/main" val="1568142362"/>
                        </a:ext>
                      </a:extLst>
                    </a:gridCol>
                    <a:gridCol w="1876014">
                      <a:extLst>
                        <a:ext uri="{9D8B030D-6E8A-4147-A177-3AD203B41FA5}">
                          <a16:colId xmlns:a16="http://schemas.microsoft.com/office/drawing/2014/main" val="3551711160"/>
                        </a:ext>
                      </a:extLst>
                    </a:gridCol>
                    <a:gridCol w="1876014">
                      <a:extLst>
                        <a:ext uri="{9D8B030D-6E8A-4147-A177-3AD203B41FA5}">
                          <a16:colId xmlns:a16="http://schemas.microsoft.com/office/drawing/2014/main" val="1712497518"/>
                        </a:ext>
                      </a:extLst>
                    </a:gridCol>
                    <a:gridCol w="1876014">
                      <a:extLst>
                        <a:ext uri="{9D8B030D-6E8A-4147-A177-3AD203B41FA5}">
                          <a16:colId xmlns:a16="http://schemas.microsoft.com/office/drawing/2014/main" val="886122921"/>
                        </a:ext>
                      </a:extLst>
                    </a:gridCol>
                  </a:tblGrid>
                  <a:tr h="304275">
                    <a:tc>
                      <a:txBody>
                        <a:bodyPr/>
                        <a:lstStyle/>
                        <a:p>
                          <a:endParaRPr lang="en-GB" sz="1200" b="1" noProof="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FF0000"/>
                              </a:solidFill>
                            </a:rPr>
                            <a:t>Example 7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chemeClr val="accent2"/>
                              </a:solidFill>
                            </a:rPr>
                            <a:t>Example 8 -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00B050"/>
                              </a:solidFill>
                            </a:rPr>
                            <a:t>Example 9 -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507125">
                    <a:tc>
                      <a:txBody>
                        <a:bodyPr/>
                        <a:lstStyle/>
                        <a:p>
                          <a:r>
                            <a:rPr lang="en-GB" sz="12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6494" t="-60241" r="-200649" b="-55662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56494" t="-60241" r="-100649" b="-55662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56494" t="-60241" r="-649" b="-556627"/>
                          </a:stretch>
                        </a:blipFill>
                      </a:tcPr>
                    </a:tc>
                    <a:extLst>
                      <a:ext uri="{0D108BD9-81ED-4DB2-BD59-A6C34878D82A}">
                        <a16:rowId xmlns:a16="http://schemas.microsoft.com/office/drawing/2014/main" val="2357201933"/>
                      </a:ext>
                    </a:extLst>
                  </a:tr>
                  <a:tr h="279517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solidFill>
                                <a:schemeClr val="tx1"/>
                              </a:solidFill>
                            </a:rPr>
                            <a:t>1) </a:t>
                          </a:r>
                          <a:r>
                            <a:rPr lang="en-GB" sz="1200" noProof="0">
                              <a:cs typeface="Calibri" panose="020F0502020204030204" pitchFamily="34" charset="0"/>
                            </a:rPr>
                            <a:t>Circle the subject that we want to isolate.</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solidFill>
                                <a:schemeClr val="tx1"/>
                              </a:solidFill>
                            </a:rPr>
                            <a:t>2) Factorise</a:t>
                          </a:r>
                          <a:r>
                            <a:rPr lang="en-GB" sz="1200" baseline="0" noProof="0">
                              <a:solidFill>
                                <a:schemeClr val="tx1"/>
                              </a:solidFill>
                            </a:rPr>
                            <a:t> the subject. </a:t>
                          </a:r>
                          <a:endParaRPr lang="en-GB" sz="1200" noProof="0">
                            <a:solidFill>
                              <a:schemeClr val="tx1"/>
                            </a:solidFill>
                          </a:endParaRPr>
                        </a:p>
                        <a:p>
                          <a:pPr marL="0" indent="0">
                            <a:buNone/>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solidFill>
                                <a:schemeClr val="tx1"/>
                              </a:solidFill>
                            </a:rPr>
                            <a:t>3) Divide both sides of the equation. </a:t>
                          </a:r>
                        </a:p>
                        <a:p>
                          <a:pPr marL="0" indent="0">
                            <a:buNone/>
                          </a:pPr>
                          <a:endParaRPr lang="en-GB" sz="12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6494" t="-28913" r="-200649" b="-43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56494" t="-28913" r="-100649" b="-43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56494" t="-28913" r="-649" b="-435"/>
                          </a:stretch>
                        </a:blipFill>
                      </a:tcPr>
                    </a:tc>
                    <a:extLst>
                      <a:ext uri="{0D108BD9-81ED-4DB2-BD59-A6C34878D82A}">
                        <a16:rowId xmlns:a16="http://schemas.microsoft.com/office/drawing/2014/main" val="329362524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99652523-4CBA-9D43-E6C5-BDB971D7A896}"/>
                  </a:ext>
                </a:extLst>
              </p:cNvPr>
              <p:cNvGraphicFramePr>
                <a:graphicFrameLocks noGrp="1"/>
              </p:cNvGraphicFramePr>
              <p:nvPr>
                <p:extLst>
                  <p:ext uri="{D42A27DB-BD31-4B8C-83A1-F6EECF244321}">
                    <p14:modId xmlns:p14="http://schemas.microsoft.com/office/powerpoint/2010/main" val="2446722207"/>
                  </p:ext>
                </p:extLst>
              </p:nvPr>
            </p:nvGraphicFramePr>
            <p:xfrm>
              <a:off x="89129" y="6321335"/>
              <a:ext cx="6681912" cy="3412215"/>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535141662"/>
                        </a:ext>
                      </a:extLst>
                    </a:gridCol>
                    <a:gridCol w="1670478">
                      <a:extLst>
                        <a:ext uri="{9D8B030D-6E8A-4147-A177-3AD203B41FA5}">
                          <a16:colId xmlns:a16="http://schemas.microsoft.com/office/drawing/2014/main" val="1060476510"/>
                        </a:ext>
                      </a:extLst>
                    </a:gridCol>
                    <a:gridCol w="1670478">
                      <a:extLst>
                        <a:ext uri="{9D8B030D-6E8A-4147-A177-3AD203B41FA5}">
                          <a16:colId xmlns:a16="http://schemas.microsoft.com/office/drawing/2014/main" val="2030626714"/>
                        </a:ext>
                      </a:extLst>
                    </a:gridCol>
                    <a:gridCol w="1670478">
                      <a:extLst>
                        <a:ext uri="{9D8B030D-6E8A-4147-A177-3AD203B41FA5}">
                          <a16:colId xmlns:a16="http://schemas.microsoft.com/office/drawing/2014/main" val="1072173642"/>
                        </a:ext>
                      </a:extLst>
                    </a:gridCol>
                  </a:tblGrid>
                  <a:tr h="3412215">
                    <a:tc>
                      <a:txBody>
                        <a:bodyPr/>
                        <a:lstStyle/>
                        <a:p>
                          <a:r>
                            <a:rPr lang="en-GB" sz="1200" b="0" noProof="0" dirty="0">
                              <a:solidFill>
                                <a:schemeClr val="tx1"/>
                              </a:solidFill>
                            </a:rPr>
                            <a:t>a) </a:t>
                          </a:r>
                          <a14:m>
                            <m:oMath xmlns:m="http://schemas.openxmlformats.org/officeDocument/2006/math">
                              <m:r>
                                <a:rPr lang="en-GB" sz="1200" b="0" i="1" noProof="0" smtClean="0">
                                  <a:solidFill>
                                    <a:schemeClr val="tx1"/>
                                  </a:solidFill>
                                  <a:latin typeface="Cambria Math" panose="02040503050406030204" pitchFamily="18" charset="0"/>
                                </a:rPr>
                                <m:t>𝑏h</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𝑎𝑏</m:t>
                              </m:r>
                              <m:r>
                                <a:rPr lang="en-GB" sz="1200" b="0" i="1" noProof="0" smtClean="0">
                                  <a:solidFill>
                                    <a:schemeClr val="tx1"/>
                                  </a:solidFill>
                                  <a:latin typeface="Cambria Math" panose="02040503050406030204" pitchFamily="18" charset="0"/>
                                </a:rPr>
                                <m:t>=9</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b) </a:t>
                          </a:r>
                          <a14:m>
                            <m:oMath xmlns:m="http://schemas.openxmlformats.org/officeDocument/2006/math">
                              <m:r>
                                <a:rPr lang="en-GB" sz="1200" b="0" i="1" noProof="0" smtClean="0">
                                  <a:solidFill>
                                    <a:schemeClr val="tx1"/>
                                  </a:solidFill>
                                  <a:latin typeface="Cambria Math" panose="02040503050406030204" pitchFamily="18" charset="0"/>
                                </a:rPr>
                                <m:t>5</m:t>
                              </m:r>
                              <m:r>
                                <a:rPr lang="en-GB" sz="1200" b="0" i="1" noProof="0" smtClean="0">
                                  <a:solidFill>
                                    <a:schemeClr val="tx1"/>
                                  </a:solidFill>
                                  <a:latin typeface="Cambria Math" panose="02040503050406030204" pitchFamily="18" charset="0"/>
                                </a:rPr>
                                <m:t>𝑏</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𝑎𝑏</m:t>
                              </m:r>
                              <m:r>
                                <a:rPr lang="en-GB" sz="1200" b="0" i="1" noProof="0" smtClean="0">
                                  <a:solidFill>
                                    <a:schemeClr val="tx1"/>
                                  </a:solidFill>
                                  <a:latin typeface="Cambria Math" panose="02040503050406030204" pitchFamily="18" charset="0"/>
                                </a:rPr>
                                <m:t>=9</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c) </a:t>
                          </a:r>
                          <a14:m>
                            <m:oMath xmlns:m="http://schemas.openxmlformats.org/officeDocument/2006/math">
                              <m:r>
                                <a:rPr lang="en-GB" sz="1200" b="0" i="1" noProof="0" smtClean="0">
                                  <a:solidFill>
                                    <a:schemeClr val="tx1"/>
                                  </a:solidFill>
                                  <a:latin typeface="Cambria Math" panose="02040503050406030204" pitchFamily="18" charset="0"/>
                                </a:rPr>
                                <m:t>𝑏h</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𝑎𝑏</m:t>
                              </m:r>
                              <m:r>
                                <a:rPr lang="en-GB" sz="1200" b="0" i="1" noProof="0" smtClean="0">
                                  <a:solidFill>
                                    <a:schemeClr val="tx1"/>
                                  </a:solidFill>
                                  <a:latin typeface="Cambria Math" panose="02040503050406030204" pitchFamily="18" charset="0"/>
                                </a:rPr>
                                <m:t>=9</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d) </a:t>
                          </a:r>
                          <a14:m>
                            <m:oMath xmlns:m="http://schemas.openxmlformats.org/officeDocument/2006/math">
                              <m:r>
                                <a:rPr lang="en-GB" sz="1200" b="0" i="1" noProof="0" smtClean="0">
                                  <a:solidFill>
                                    <a:schemeClr val="tx1"/>
                                  </a:solidFill>
                                  <a:latin typeface="Cambria Math" panose="02040503050406030204" pitchFamily="18" charset="0"/>
                                </a:rPr>
                                <m:t>6</m:t>
                              </m:r>
                              <m:r>
                                <a:rPr lang="en-GB" sz="1200" b="0" i="1" noProof="0" smtClean="0">
                                  <a:solidFill>
                                    <a:schemeClr val="tx1"/>
                                  </a:solidFill>
                                  <a:latin typeface="Cambria Math" panose="02040503050406030204" pitchFamily="18" charset="0"/>
                                </a:rPr>
                                <m:t>𝑏</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𝑎𝑏</m:t>
                              </m:r>
                              <m:r>
                                <a:rPr lang="en-GB" sz="1200" b="0" i="1" noProof="0" smtClean="0">
                                  <a:solidFill>
                                    <a:schemeClr val="tx1"/>
                                  </a:solidFill>
                                  <a:latin typeface="Cambria Math" panose="02040503050406030204" pitchFamily="18" charset="0"/>
                                </a:rPr>
                                <m:t>=9</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8309160"/>
                      </a:ext>
                    </a:extLst>
                  </a:tr>
                </a:tbl>
              </a:graphicData>
            </a:graphic>
          </p:graphicFrame>
        </mc:Choice>
        <mc:Fallback xmlns="">
          <p:graphicFrame>
            <p:nvGraphicFramePr>
              <p:cNvPr id="3" name="Table 2">
                <a:extLst>
                  <a:ext uri="{FF2B5EF4-FFF2-40B4-BE49-F238E27FC236}">
                    <a16:creationId xmlns:a16="http://schemas.microsoft.com/office/drawing/2014/main" id="{99652523-4CBA-9D43-E6C5-BDB971D7A896}"/>
                  </a:ext>
                </a:extLst>
              </p:cNvPr>
              <p:cNvGraphicFramePr>
                <a:graphicFrameLocks noGrp="1"/>
              </p:cNvGraphicFramePr>
              <p:nvPr>
                <p:extLst>
                  <p:ext uri="{D42A27DB-BD31-4B8C-83A1-F6EECF244321}">
                    <p14:modId xmlns:p14="http://schemas.microsoft.com/office/powerpoint/2010/main" val="2446722207"/>
                  </p:ext>
                </p:extLst>
              </p:nvPr>
            </p:nvGraphicFramePr>
            <p:xfrm>
              <a:off x="89129" y="6321335"/>
              <a:ext cx="6681912" cy="3412215"/>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535141662"/>
                        </a:ext>
                      </a:extLst>
                    </a:gridCol>
                    <a:gridCol w="1670478">
                      <a:extLst>
                        <a:ext uri="{9D8B030D-6E8A-4147-A177-3AD203B41FA5}">
                          <a16:colId xmlns:a16="http://schemas.microsoft.com/office/drawing/2014/main" val="1060476510"/>
                        </a:ext>
                      </a:extLst>
                    </a:gridCol>
                    <a:gridCol w="1670478">
                      <a:extLst>
                        <a:ext uri="{9D8B030D-6E8A-4147-A177-3AD203B41FA5}">
                          <a16:colId xmlns:a16="http://schemas.microsoft.com/office/drawing/2014/main" val="2030626714"/>
                        </a:ext>
                      </a:extLst>
                    </a:gridCol>
                    <a:gridCol w="1670478">
                      <a:extLst>
                        <a:ext uri="{9D8B030D-6E8A-4147-A177-3AD203B41FA5}">
                          <a16:colId xmlns:a16="http://schemas.microsoft.com/office/drawing/2014/main" val="1072173642"/>
                        </a:ext>
                      </a:extLst>
                    </a:gridCol>
                  </a:tblGrid>
                  <a:tr h="3412215">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5" t="-178" r="-301095" b="-35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000" t="-178" r="-200000" b="-35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730" t="-178" r="-100730" b="-35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730" t="-178" r="-730" b="-357"/>
                          </a:stretch>
                        </a:blipFill>
                      </a:tcPr>
                    </a:tc>
                    <a:extLst>
                      <a:ext uri="{0D108BD9-81ED-4DB2-BD59-A6C34878D82A}">
                        <a16:rowId xmlns:a16="http://schemas.microsoft.com/office/drawing/2014/main" val="1988309160"/>
                      </a:ext>
                    </a:extLst>
                  </a:tr>
                </a:tbl>
              </a:graphicData>
            </a:graphic>
          </p:graphicFrame>
        </mc:Fallback>
      </mc:AlternateContent>
      <p:sp>
        <p:nvSpPr>
          <p:cNvPr id="4" name="Rectangle 3">
            <a:extLst>
              <a:ext uri="{FF2B5EF4-FFF2-40B4-BE49-F238E27FC236}">
                <a16:creationId xmlns:a16="http://schemas.microsoft.com/office/drawing/2014/main" id="{14F1CB77-5876-1C25-0C64-BBE185449EE7}"/>
              </a:ext>
            </a:extLst>
          </p:cNvPr>
          <p:cNvSpPr/>
          <p:nvPr/>
        </p:nvSpPr>
        <p:spPr>
          <a:xfrm>
            <a:off x="89129" y="5858542"/>
            <a:ext cx="1715480" cy="3564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a:t>Independent Practice</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BB9D678-9701-FC58-0D09-950ABF2548D1}"/>
                  </a:ext>
                </a:extLst>
              </p:cNvPr>
              <p:cNvSpPr txBox="1"/>
              <p:nvPr/>
            </p:nvSpPr>
            <p:spPr>
              <a:xfrm>
                <a:off x="1566542" y="5978452"/>
                <a:ext cx="3646054" cy="276999"/>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Question 3. Make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𝑏</m:t>
                    </m:r>
                  </m:oMath>
                </a14:m>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the subject of the following:</a:t>
                </a:r>
              </a:p>
            </p:txBody>
          </p:sp>
        </mc:Choice>
        <mc:Fallback xmlns="">
          <p:sp>
            <p:nvSpPr>
              <p:cNvPr id="5" name="TextBox 4">
                <a:extLst>
                  <a:ext uri="{FF2B5EF4-FFF2-40B4-BE49-F238E27FC236}">
                    <a16:creationId xmlns:a16="http://schemas.microsoft.com/office/drawing/2014/main" id="{1BB9D678-9701-FC58-0D09-950ABF2548D1}"/>
                  </a:ext>
                </a:extLst>
              </p:cNvPr>
              <p:cNvSpPr txBox="1">
                <a:spLocks noRot="1" noChangeAspect="1" noMove="1" noResize="1" noEditPoints="1" noAdjustHandles="1" noChangeArrowheads="1" noChangeShapeType="1" noTextEdit="1"/>
              </p:cNvSpPr>
              <p:nvPr/>
            </p:nvSpPr>
            <p:spPr>
              <a:xfrm>
                <a:off x="1566542" y="5978452"/>
                <a:ext cx="3646054" cy="276999"/>
              </a:xfrm>
              <a:prstGeom prst="rect">
                <a:avLst/>
              </a:prstGeom>
              <a:blipFill>
                <a:blip r:embed="rId4"/>
                <a:stretch>
                  <a:fillRect t="-2222" b="-17778"/>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id="{7217D695-79CB-D365-DE2B-6A65D576E374}"/>
              </a:ext>
            </a:extLst>
          </p:cNvPr>
          <p:cNvSpPr/>
          <p:nvPr/>
        </p:nvSpPr>
        <p:spPr>
          <a:xfrm>
            <a:off x="72803" y="407831"/>
            <a:ext cx="6679742" cy="161581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GB" sz="1200" b="1" u="sng" noProof="0" dirty="0">
                <a:solidFill>
                  <a:schemeClr val="tx1"/>
                </a:solidFill>
              </a:rPr>
              <a:t>Introduction </a:t>
            </a:r>
            <a:endParaRPr lang="en-GB" sz="1200" noProof="0" dirty="0">
              <a:solidFill>
                <a:schemeClr val="tx1"/>
              </a:solidFill>
            </a:endParaRPr>
          </a:p>
          <a:p>
            <a:pPr marL="228600" indent="-228600">
              <a:buFont typeface="+mj-lt"/>
              <a:buAutoNum type="arabicPeriod"/>
            </a:pPr>
            <a:r>
              <a:rPr lang="en-GB" sz="1200" noProof="0" dirty="0">
                <a:solidFill>
                  <a:schemeClr val="tx1"/>
                </a:solidFill>
              </a:rPr>
              <a:t>Sometimes, when rearranging a formula, the variable you want to make the subject appears more</a:t>
            </a:r>
          </a:p>
          <a:p>
            <a:pPr marL="228600" indent="-228600">
              <a:buFont typeface="+mj-lt"/>
              <a:buAutoNum type="arabicPeriod"/>
            </a:pPr>
            <a:r>
              <a:rPr lang="en-GB" sz="1200" noProof="0" dirty="0">
                <a:solidFill>
                  <a:schemeClr val="tx1"/>
                </a:solidFill>
              </a:rPr>
              <a:t>than once. In this case, you can’t isolate it right away—you first need to collect all the terms</a:t>
            </a:r>
          </a:p>
          <a:p>
            <a:pPr marL="228600" indent="-228600">
              <a:buFont typeface="+mj-lt"/>
              <a:buAutoNum type="arabicPeriod"/>
            </a:pPr>
            <a:r>
              <a:rPr lang="en-GB" sz="1200" noProof="0" dirty="0">
                <a:solidFill>
                  <a:schemeClr val="tx1"/>
                </a:solidFill>
              </a:rPr>
              <a:t>containing that variable on one side of the formula. Then, you factorise by taking the variable out,</a:t>
            </a:r>
          </a:p>
          <a:p>
            <a:pPr marL="228600" indent="-228600">
              <a:buFont typeface="+mj-lt"/>
              <a:buAutoNum type="arabicPeriod"/>
            </a:pPr>
            <a:r>
              <a:rPr lang="en-GB" sz="1200" noProof="0" dirty="0">
                <a:solidFill>
                  <a:schemeClr val="tx1"/>
                </a:solidFill>
              </a:rPr>
              <a:t>which means writing it once, multiplied by a bracket. This makes it possible to divide and fully isolate</a:t>
            </a:r>
          </a:p>
          <a:p>
            <a:pPr marL="228600" indent="-228600">
              <a:buFont typeface="+mj-lt"/>
              <a:buAutoNum type="arabicPeriod"/>
            </a:pPr>
            <a:r>
              <a:rPr lang="en-GB" sz="1200" noProof="0" dirty="0">
                <a:solidFill>
                  <a:schemeClr val="tx1"/>
                </a:solidFill>
              </a:rPr>
              <a:t>the subject. It’s an extra step, but it follows the same logic: work step by step to get the subject by</a:t>
            </a:r>
          </a:p>
          <a:p>
            <a:pPr marL="228600" indent="-228600">
              <a:buFont typeface="+mj-lt"/>
              <a:buAutoNum type="arabicPeriod"/>
            </a:pPr>
            <a:r>
              <a:rPr lang="en-GB" sz="1200" noProof="0" dirty="0">
                <a:solidFill>
                  <a:schemeClr val="tx1"/>
                </a:solidFill>
              </a:rPr>
              <a:t>itself. In this section you will practice a series of increasingly difficult question types that involve</a:t>
            </a:r>
          </a:p>
          <a:p>
            <a:pPr marL="228600" indent="-228600">
              <a:buFont typeface="+mj-lt"/>
              <a:buAutoNum type="arabicPeriod"/>
            </a:pPr>
            <a:r>
              <a:rPr lang="en-GB" sz="1200" noProof="0" dirty="0">
                <a:solidFill>
                  <a:schemeClr val="tx1"/>
                </a:solidFill>
              </a:rPr>
              <a:t>factorising, while incorporating all of the previous rearranging knowledge you have acquired.</a:t>
            </a:r>
          </a:p>
        </p:txBody>
      </p:sp>
    </p:spTree>
    <p:extLst>
      <p:ext uri="{BB962C8B-B14F-4D97-AF65-F5344CB8AC3E}">
        <p14:creationId xmlns:p14="http://schemas.microsoft.com/office/powerpoint/2010/main" val="34001592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ED367CB-794A-DAA1-0E67-04A675EFAE3E}"/>
              </a:ext>
            </a:extLst>
          </p:cNvPr>
          <p:cNvSpPr>
            <a:spLocks noGrp="1"/>
          </p:cNvSpPr>
          <p:nvPr>
            <p:ph type="sldNum" sz="quarter" idx="12"/>
          </p:nvPr>
        </p:nvSpPr>
        <p:spPr>
          <a:xfrm>
            <a:off x="5253990" y="9383182"/>
            <a:ext cx="1543050" cy="527403"/>
          </a:xfrm>
        </p:spPr>
        <p:txBody>
          <a:bodyPr/>
          <a:lstStyle/>
          <a:p>
            <a:fld id="{086C3A38-D272-42AA-9C88-F1FBEAE20D2C}" type="slidenum">
              <a:rPr lang="en-GB" noProof="0" smtClean="0"/>
              <a:t>10</a:t>
            </a:fld>
            <a:endParaRPr lang="en-GB" noProof="0" dirty="0"/>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7ADA8B71-A07C-C5C9-4C35-7244B033FE48}"/>
                  </a:ext>
                </a:extLst>
              </p:cNvPr>
              <p:cNvGraphicFramePr>
                <a:graphicFrameLocks noGrp="1"/>
              </p:cNvGraphicFramePr>
              <p:nvPr>
                <p:extLst>
                  <p:ext uri="{D42A27DB-BD31-4B8C-83A1-F6EECF244321}">
                    <p14:modId xmlns:p14="http://schemas.microsoft.com/office/powerpoint/2010/main" val="66564880"/>
                  </p:ext>
                </p:extLst>
              </p:nvPr>
            </p:nvGraphicFramePr>
            <p:xfrm>
              <a:off x="88044" y="5776853"/>
              <a:ext cx="6681912" cy="3749040"/>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535141662"/>
                        </a:ext>
                      </a:extLst>
                    </a:gridCol>
                    <a:gridCol w="1670478">
                      <a:extLst>
                        <a:ext uri="{9D8B030D-6E8A-4147-A177-3AD203B41FA5}">
                          <a16:colId xmlns:a16="http://schemas.microsoft.com/office/drawing/2014/main" val="1060476510"/>
                        </a:ext>
                      </a:extLst>
                    </a:gridCol>
                    <a:gridCol w="1670478">
                      <a:extLst>
                        <a:ext uri="{9D8B030D-6E8A-4147-A177-3AD203B41FA5}">
                          <a16:colId xmlns:a16="http://schemas.microsoft.com/office/drawing/2014/main" val="2030626714"/>
                        </a:ext>
                      </a:extLst>
                    </a:gridCol>
                    <a:gridCol w="1670478">
                      <a:extLst>
                        <a:ext uri="{9D8B030D-6E8A-4147-A177-3AD203B41FA5}">
                          <a16:colId xmlns:a16="http://schemas.microsoft.com/office/drawing/2014/main" val="1072173642"/>
                        </a:ext>
                      </a:extLst>
                    </a:gridCol>
                  </a:tblGrid>
                  <a:tr h="2412000">
                    <a:tc>
                      <a:txBody>
                        <a:bodyPr/>
                        <a:lstStyle/>
                        <a:p>
                          <a:pPr marL="228600" indent="-228600">
                            <a:buAutoNum type="alphaLcParenR"/>
                          </a:pP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𝑎𝑥</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m:t>
                              </m:r>
                            </m:oMath>
                          </a14:m>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b)</a:t>
                          </a:r>
                          <a14:m>
                            <m:oMath xmlns:m="http://schemas.openxmlformats.org/officeDocument/2006/math">
                              <m:r>
                                <a:rPr kumimoji="0" lang="en-GB" sz="12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𝑎𝑥</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𝑎𝑚</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c)</a:t>
                          </a:r>
                          <a14:m>
                            <m:oMath xmlns:m="http://schemas.openxmlformats.org/officeDocument/2006/math">
                              <m:r>
                                <a:rPr kumimoji="0" lang="en-GB" sz="12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𝑎𝑚</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d)</a:t>
                          </a:r>
                          <a14:m>
                            <m:oMath xmlns:m="http://schemas.openxmlformats.org/officeDocument/2006/math">
                              <m:r>
                                <a:rPr kumimoji="0" lang="en-GB" sz="12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+4=</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𝑎𝑚</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8309160"/>
                      </a:ext>
                    </a:extLst>
                  </a:tr>
                </a:tbl>
              </a:graphicData>
            </a:graphic>
          </p:graphicFrame>
        </mc:Choice>
        <mc:Fallback xmlns="">
          <p:graphicFrame>
            <p:nvGraphicFramePr>
              <p:cNvPr id="3" name="Table 2">
                <a:extLst>
                  <a:ext uri="{FF2B5EF4-FFF2-40B4-BE49-F238E27FC236}">
                    <a16:creationId xmlns:a16="http://schemas.microsoft.com/office/drawing/2014/main" id="{7ADA8B71-A07C-C5C9-4C35-7244B033FE48}"/>
                  </a:ext>
                </a:extLst>
              </p:cNvPr>
              <p:cNvGraphicFramePr>
                <a:graphicFrameLocks noGrp="1"/>
              </p:cNvGraphicFramePr>
              <p:nvPr>
                <p:extLst>
                  <p:ext uri="{D42A27DB-BD31-4B8C-83A1-F6EECF244321}">
                    <p14:modId xmlns:p14="http://schemas.microsoft.com/office/powerpoint/2010/main" val="66564880"/>
                  </p:ext>
                </p:extLst>
              </p:nvPr>
            </p:nvGraphicFramePr>
            <p:xfrm>
              <a:off x="88044" y="5776853"/>
              <a:ext cx="6681912" cy="3749040"/>
            </p:xfrm>
            <a:graphic>
              <a:graphicData uri="http://schemas.openxmlformats.org/drawingml/2006/table">
                <a:tbl>
                  <a:tblPr firstRow="1" bandRow="1">
                    <a:tableStyleId>{5C22544A-7EE6-4342-B048-85BDC9FD1C3A}</a:tableStyleId>
                  </a:tblPr>
                  <a:tblGrid>
                    <a:gridCol w="1670478">
                      <a:extLst>
                        <a:ext uri="{9D8B030D-6E8A-4147-A177-3AD203B41FA5}">
                          <a16:colId xmlns:a16="http://schemas.microsoft.com/office/drawing/2014/main" val="535141662"/>
                        </a:ext>
                      </a:extLst>
                    </a:gridCol>
                    <a:gridCol w="1670478">
                      <a:extLst>
                        <a:ext uri="{9D8B030D-6E8A-4147-A177-3AD203B41FA5}">
                          <a16:colId xmlns:a16="http://schemas.microsoft.com/office/drawing/2014/main" val="1060476510"/>
                        </a:ext>
                      </a:extLst>
                    </a:gridCol>
                    <a:gridCol w="1670478">
                      <a:extLst>
                        <a:ext uri="{9D8B030D-6E8A-4147-A177-3AD203B41FA5}">
                          <a16:colId xmlns:a16="http://schemas.microsoft.com/office/drawing/2014/main" val="2030626714"/>
                        </a:ext>
                      </a:extLst>
                    </a:gridCol>
                    <a:gridCol w="1670478">
                      <a:extLst>
                        <a:ext uri="{9D8B030D-6E8A-4147-A177-3AD203B41FA5}">
                          <a16:colId xmlns:a16="http://schemas.microsoft.com/office/drawing/2014/main" val="1072173642"/>
                        </a:ext>
                      </a:extLst>
                    </a:gridCol>
                  </a:tblGrid>
                  <a:tr h="37490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5" t="-162" r="-301095" b="-32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000" t="-162" r="-200000" b="-32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730" t="-162" r="-100730" b="-32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0730" t="-162" r="-730" b="-325"/>
                          </a:stretch>
                        </a:blipFill>
                      </a:tcPr>
                    </a:tc>
                    <a:extLst>
                      <a:ext uri="{0D108BD9-81ED-4DB2-BD59-A6C34878D82A}">
                        <a16:rowId xmlns:a16="http://schemas.microsoft.com/office/drawing/2014/main" val="1988309160"/>
                      </a:ext>
                    </a:extLst>
                  </a:tr>
                </a:tbl>
              </a:graphicData>
            </a:graphic>
          </p:graphicFrame>
        </mc:Fallback>
      </mc:AlternateContent>
      <p:sp>
        <p:nvSpPr>
          <p:cNvPr id="4" name="Rectangle 3">
            <a:extLst>
              <a:ext uri="{FF2B5EF4-FFF2-40B4-BE49-F238E27FC236}">
                <a16:creationId xmlns:a16="http://schemas.microsoft.com/office/drawing/2014/main" id="{C876FE40-28A8-B926-7393-3EE5AA2D6EF7}"/>
              </a:ext>
            </a:extLst>
          </p:cNvPr>
          <p:cNvSpPr/>
          <p:nvPr/>
        </p:nvSpPr>
        <p:spPr>
          <a:xfrm>
            <a:off x="88044" y="5329299"/>
            <a:ext cx="1715480" cy="3564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a:t>Independent Practice</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CBA7769-5CD1-93CC-61E8-9D8F83B31E68}"/>
                  </a:ext>
                </a:extLst>
              </p:cNvPr>
              <p:cNvSpPr txBox="1"/>
              <p:nvPr/>
            </p:nvSpPr>
            <p:spPr>
              <a:xfrm>
                <a:off x="1565457" y="5449209"/>
                <a:ext cx="3646054" cy="276999"/>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Question 4. Make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oMath>
                </a14:m>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the subject of the following:</a:t>
                </a:r>
              </a:p>
            </p:txBody>
          </p:sp>
        </mc:Choice>
        <mc:Fallback xmlns="">
          <p:sp>
            <p:nvSpPr>
              <p:cNvPr id="5" name="TextBox 4">
                <a:extLst>
                  <a:ext uri="{FF2B5EF4-FFF2-40B4-BE49-F238E27FC236}">
                    <a16:creationId xmlns:a16="http://schemas.microsoft.com/office/drawing/2014/main" id="{6CBA7769-5CD1-93CC-61E8-9D8F83B31E68}"/>
                  </a:ext>
                </a:extLst>
              </p:cNvPr>
              <p:cNvSpPr txBox="1">
                <a:spLocks noRot="1" noChangeAspect="1" noMove="1" noResize="1" noEditPoints="1" noAdjustHandles="1" noChangeArrowheads="1" noChangeShapeType="1" noTextEdit="1"/>
              </p:cNvSpPr>
              <p:nvPr/>
            </p:nvSpPr>
            <p:spPr>
              <a:xfrm>
                <a:off x="1565457" y="5449209"/>
                <a:ext cx="3646054" cy="276999"/>
              </a:xfrm>
              <a:prstGeom prst="rect">
                <a:avLst/>
              </a:prstGeom>
              <a:blipFill>
                <a:blip r:embed="rId3"/>
                <a:stretch>
                  <a:fillRect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2" name="Table 11">
                <a:extLst>
                  <a:ext uri="{FF2B5EF4-FFF2-40B4-BE49-F238E27FC236}">
                    <a16:creationId xmlns:a16="http://schemas.microsoft.com/office/drawing/2014/main" id="{F4C2BCC7-7C8B-329F-8F85-FF3415A00352}"/>
                  </a:ext>
                </a:extLst>
              </p:cNvPr>
              <p:cNvGraphicFramePr>
                <a:graphicFrameLocks noGrp="1"/>
              </p:cNvGraphicFramePr>
              <p:nvPr>
                <p:extLst>
                  <p:ext uri="{D42A27DB-BD31-4B8C-83A1-F6EECF244321}">
                    <p14:modId xmlns:p14="http://schemas.microsoft.com/office/powerpoint/2010/main" val="3863973326"/>
                  </p:ext>
                </p:extLst>
              </p:nvPr>
            </p:nvGraphicFramePr>
            <p:xfrm>
              <a:off x="115128" y="94218"/>
              <a:ext cx="6681913" cy="5212080"/>
            </p:xfrm>
            <a:graphic>
              <a:graphicData uri="http://schemas.openxmlformats.org/drawingml/2006/table">
                <a:tbl>
                  <a:tblPr firstRow="1" bandRow="1">
                    <a:tableStyleId>{5C22544A-7EE6-4342-B048-85BDC9FD1C3A}</a:tableStyleId>
                  </a:tblPr>
                  <a:tblGrid>
                    <a:gridCol w="1504025">
                      <a:extLst>
                        <a:ext uri="{9D8B030D-6E8A-4147-A177-3AD203B41FA5}">
                          <a16:colId xmlns:a16="http://schemas.microsoft.com/office/drawing/2014/main" val="1568142362"/>
                        </a:ext>
                      </a:extLst>
                    </a:gridCol>
                    <a:gridCol w="1741378">
                      <a:extLst>
                        <a:ext uri="{9D8B030D-6E8A-4147-A177-3AD203B41FA5}">
                          <a16:colId xmlns:a16="http://schemas.microsoft.com/office/drawing/2014/main" val="3551711160"/>
                        </a:ext>
                      </a:extLst>
                    </a:gridCol>
                    <a:gridCol w="1718255">
                      <a:extLst>
                        <a:ext uri="{9D8B030D-6E8A-4147-A177-3AD203B41FA5}">
                          <a16:colId xmlns:a16="http://schemas.microsoft.com/office/drawing/2014/main" val="1712497518"/>
                        </a:ext>
                      </a:extLst>
                    </a:gridCol>
                    <a:gridCol w="1718255">
                      <a:extLst>
                        <a:ext uri="{9D8B030D-6E8A-4147-A177-3AD203B41FA5}">
                          <a16:colId xmlns:a16="http://schemas.microsoft.com/office/drawing/2014/main" val="886122921"/>
                        </a:ext>
                      </a:extLst>
                    </a:gridCol>
                  </a:tblGrid>
                  <a:tr h="0">
                    <a:tc>
                      <a:txBody>
                        <a:bodyPr/>
                        <a:lstStyle/>
                        <a:p>
                          <a:endParaRPr lang="en-GB" sz="1200" b="1" noProof="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10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11 -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12 -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302332">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 </m:t>
                              </m:r>
                            </m:oMath>
                          </a14:m>
                          <a:r>
                            <a:rPr lang="en-GB" sz="1200" b="0" noProof="0" dirty="0">
                              <a:solidFill>
                                <a:schemeClr val="tx1"/>
                              </a:solidFill>
                            </a:rPr>
                            <a:t>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𝑎</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𝑎</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2412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1) </a:t>
                          </a:r>
                          <a:r>
                            <a:rPr lang="en-GB" sz="1200" noProof="0" dirty="0">
                              <a:cs typeface="Calibri" panose="020F0502020204030204" pitchFamily="34" charset="0"/>
                            </a:rPr>
                            <a:t>Circle the subject that we want to isolate.</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cs typeface="Calibri" panose="020F0502020204030204" pitchFamily="34" charset="0"/>
                            </a:rPr>
                            <a:t>2) Rearrange to get the subject on </a:t>
                          </a:r>
                          <a:r>
                            <a:rPr lang="en-GB" sz="1200" b="1" noProof="0" dirty="0">
                              <a:cs typeface="Calibri" panose="020F0502020204030204" pitchFamily="34" charset="0"/>
                            </a:rPr>
                            <a:t>one side.</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3) Factorise</a:t>
                          </a:r>
                          <a:r>
                            <a:rPr lang="en-GB" sz="1200" baseline="0" noProof="0" dirty="0">
                              <a:solidFill>
                                <a:schemeClr val="tx1"/>
                              </a:solidFill>
                            </a:rPr>
                            <a:t> the subject. </a:t>
                          </a:r>
                          <a:endParaRPr lang="en-GB" sz="1200" noProof="0" dirty="0">
                            <a:solidFill>
                              <a:schemeClr val="tx1"/>
                            </a:solidFill>
                          </a:endParaRPr>
                        </a:p>
                        <a:p>
                          <a:pPr marL="0" indent="0">
                            <a:buNone/>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4) Divide both sides of the equation. </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+2</m:t>
                                </m:r>
                                <m:r>
                                  <a:rPr lang="en-GB" sz="1200" b="0" i="1" noProof="0" smtClean="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=5+</m:t>
                                </m:r>
                                <m:r>
                                  <a:rPr lang="en-GB" sz="1200" b="0" i="1" noProof="0" smtClean="0">
                                    <a:solidFill>
                                      <a:schemeClr val="tx1"/>
                                    </a:solidFill>
                                    <a:latin typeface="Cambria Math" panose="02040503050406030204" pitchFamily="18" charset="0"/>
                                  </a:rPr>
                                  <m:t>𝑎𝑚</m:t>
                                </m:r>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𝑎𝑏</m:t>
                                </m:r>
                                <m:r>
                                  <a:rPr lang="en-GB" sz="1200" b="0" i="1" noProof="0" smtClean="0">
                                    <a:solidFill>
                                      <a:schemeClr val="tx1"/>
                                    </a:solidFill>
                                    <a:latin typeface="Cambria Math" panose="02040503050406030204" pitchFamily="18" charset="0"/>
                                  </a:rPr>
                                  <m:t>+3</m:t>
                                </m:r>
                                <m:r>
                                  <a:rPr lang="en-GB" sz="1200" b="0" i="1" noProof="0" smtClean="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=7</m:t>
                                </m:r>
                                <m:r>
                                  <a:rPr lang="en-GB" sz="1200" b="0" i="1" noProof="0" smtClean="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𝑎𝑘</m:t>
                                </m:r>
                              </m:oMath>
                            </m:oMathPara>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𝑎𝑥</m:t>
                                </m:r>
                                <m:r>
                                  <a:rPr lang="en-GB" sz="1200" b="0" i="1" noProof="0" smtClean="0">
                                    <a:solidFill>
                                      <a:schemeClr val="tx1"/>
                                    </a:solidFill>
                                    <a:latin typeface="Cambria Math" panose="02040503050406030204" pitchFamily="18" charset="0"/>
                                  </a:rPr>
                                  <m:t>−3</m:t>
                                </m:r>
                                <m:r>
                                  <a:rPr lang="en-GB" sz="1200" b="0" i="1" noProof="0" smtClean="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=9</m:t>
                                </m:r>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𝑥</m:t>
                                </m:r>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mc:Choice>
        <mc:Fallback xmlns="">
          <p:graphicFrame>
            <p:nvGraphicFramePr>
              <p:cNvPr id="12" name="Table 11">
                <a:extLst>
                  <a:ext uri="{FF2B5EF4-FFF2-40B4-BE49-F238E27FC236}">
                    <a16:creationId xmlns:a16="http://schemas.microsoft.com/office/drawing/2014/main" id="{F4C2BCC7-7C8B-329F-8F85-FF3415A00352}"/>
                  </a:ext>
                </a:extLst>
              </p:cNvPr>
              <p:cNvGraphicFramePr>
                <a:graphicFrameLocks noGrp="1"/>
              </p:cNvGraphicFramePr>
              <p:nvPr>
                <p:extLst>
                  <p:ext uri="{D42A27DB-BD31-4B8C-83A1-F6EECF244321}">
                    <p14:modId xmlns:p14="http://schemas.microsoft.com/office/powerpoint/2010/main" val="3863973326"/>
                  </p:ext>
                </p:extLst>
              </p:nvPr>
            </p:nvGraphicFramePr>
            <p:xfrm>
              <a:off x="115128" y="94218"/>
              <a:ext cx="6681913" cy="5212080"/>
            </p:xfrm>
            <a:graphic>
              <a:graphicData uri="http://schemas.openxmlformats.org/drawingml/2006/table">
                <a:tbl>
                  <a:tblPr firstRow="1" bandRow="1">
                    <a:tableStyleId>{5C22544A-7EE6-4342-B048-85BDC9FD1C3A}</a:tableStyleId>
                  </a:tblPr>
                  <a:tblGrid>
                    <a:gridCol w="1504025">
                      <a:extLst>
                        <a:ext uri="{9D8B030D-6E8A-4147-A177-3AD203B41FA5}">
                          <a16:colId xmlns:a16="http://schemas.microsoft.com/office/drawing/2014/main" val="1568142362"/>
                        </a:ext>
                      </a:extLst>
                    </a:gridCol>
                    <a:gridCol w="1741378">
                      <a:extLst>
                        <a:ext uri="{9D8B030D-6E8A-4147-A177-3AD203B41FA5}">
                          <a16:colId xmlns:a16="http://schemas.microsoft.com/office/drawing/2014/main" val="3551711160"/>
                        </a:ext>
                      </a:extLst>
                    </a:gridCol>
                    <a:gridCol w="1718255">
                      <a:extLst>
                        <a:ext uri="{9D8B030D-6E8A-4147-A177-3AD203B41FA5}">
                          <a16:colId xmlns:a16="http://schemas.microsoft.com/office/drawing/2014/main" val="1712497518"/>
                        </a:ext>
                      </a:extLst>
                    </a:gridCol>
                    <a:gridCol w="1718255">
                      <a:extLst>
                        <a:ext uri="{9D8B030D-6E8A-4147-A177-3AD203B41FA5}">
                          <a16:colId xmlns:a16="http://schemas.microsoft.com/office/drawing/2014/main" val="886122921"/>
                        </a:ext>
                      </a:extLst>
                    </a:gridCol>
                  </a:tblGrid>
                  <a:tr h="274320">
                    <a:tc>
                      <a:txBody>
                        <a:bodyPr/>
                        <a:lstStyle/>
                        <a:p>
                          <a:endParaRPr lang="en-GB" sz="1200" b="1" noProof="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FF0000"/>
                              </a:solidFill>
                            </a:rPr>
                            <a:t>Example 10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chemeClr val="accent2"/>
                              </a:solidFill>
                            </a:rPr>
                            <a:t>Example 11 -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00B050"/>
                              </a:solidFill>
                            </a:rPr>
                            <a:t>Example 12 -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457200">
                    <a:tc>
                      <a:txBody>
                        <a:bodyPr/>
                        <a:lstStyle/>
                        <a:p>
                          <a:r>
                            <a:rPr lang="en-GB" sz="12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6713" t="-60000" r="-198252" b="-984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88693" t="-60000" r="-100353" b="-984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89716" t="-60000" r="-709" b="-984000"/>
                          </a:stretch>
                        </a:blipFill>
                      </a:tcPr>
                    </a:tc>
                    <a:extLst>
                      <a:ext uri="{0D108BD9-81ED-4DB2-BD59-A6C34878D82A}">
                        <a16:rowId xmlns:a16="http://schemas.microsoft.com/office/drawing/2014/main" val="2357201933"/>
                      </a:ext>
                    </a:extLst>
                  </a:tr>
                  <a:tr h="448056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solidFill>
                                <a:schemeClr val="tx1"/>
                              </a:solidFill>
                            </a:rPr>
                            <a:t>1) </a:t>
                          </a:r>
                          <a:r>
                            <a:rPr lang="en-GB" sz="1200" noProof="0">
                              <a:cs typeface="Calibri" panose="020F0502020204030204" pitchFamily="34" charset="0"/>
                            </a:rPr>
                            <a:t>Circle the subject that we want to isolate.</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cs typeface="Calibri" panose="020F0502020204030204" pitchFamily="34" charset="0"/>
                            </a:rPr>
                            <a:t>2) Rearrange to get the subject on </a:t>
                          </a:r>
                          <a:r>
                            <a:rPr lang="en-GB" sz="1200" b="1" noProof="0">
                              <a:cs typeface="Calibri" panose="020F0502020204030204" pitchFamily="34" charset="0"/>
                            </a:rPr>
                            <a:t>one side.</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solidFill>
                                <a:schemeClr val="tx1"/>
                              </a:solidFill>
                            </a:rPr>
                            <a:t>3) Factorise</a:t>
                          </a:r>
                          <a:r>
                            <a:rPr lang="en-GB" sz="1200" baseline="0" noProof="0">
                              <a:solidFill>
                                <a:schemeClr val="tx1"/>
                              </a:solidFill>
                            </a:rPr>
                            <a:t> the subject. </a:t>
                          </a:r>
                          <a:endParaRPr lang="en-GB" sz="1200" noProof="0">
                            <a:solidFill>
                              <a:schemeClr val="tx1"/>
                            </a:solidFill>
                          </a:endParaRPr>
                        </a:p>
                        <a:p>
                          <a:pPr marL="0" indent="0">
                            <a:buNone/>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solidFill>
                                <a:schemeClr val="tx1"/>
                              </a:solidFill>
                            </a:rPr>
                            <a:t>4) Divide both sides of the equation. </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6713" t="-16304" r="-198252" b="-27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88693" t="-16304" r="-100353" b="-27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89716" t="-16304" r="-709" b="-272"/>
                          </a:stretch>
                        </a:blipFill>
                      </a:tcPr>
                    </a:tc>
                    <a:extLst>
                      <a:ext uri="{0D108BD9-81ED-4DB2-BD59-A6C34878D82A}">
                        <a16:rowId xmlns:a16="http://schemas.microsoft.com/office/drawing/2014/main" val="3293625240"/>
                      </a:ext>
                    </a:extLst>
                  </a:tr>
                </a:tbl>
              </a:graphicData>
            </a:graphic>
          </p:graphicFrame>
        </mc:Fallback>
      </mc:AlternateContent>
    </p:spTree>
    <p:extLst>
      <p:ext uri="{BB962C8B-B14F-4D97-AF65-F5344CB8AC3E}">
        <p14:creationId xmlns:p14="http://schemas.microsoft.com/office/powerpoint/2010/main" val="26647519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5D66FB2-1AFC-A9F5-381B-31F2BF01421A}"/>
              </a:ext>
            </a:extLst>
          </p:cNvPr>
          <p:cNvSpPr>
            <a:spLocks noGrp="1"/>
          </p:cNvSpPr>
          <p:nvPr>
            <p:ph type="sldNum" sz="quarter" idx="12"/>
          </p:nvPr>
        </p:nvSpPr>
        <p:spPr>
          <a:xfrm>
            <a:off x="5299710" y="9424317"/>
            <a:ext cx="1543050" cy="527403"/>
          </a:xfrm>
        </p:spPr>
        <p:txBody>
          <a:bodyPr/>
          <a:lstStyle/>
          <a:p>
            <a:fld id="{086C3A38-D272-42AA-9C88-F1FBEAE20D2C}" type="slidenum">
              <a:rPr lang="en-GB" noProof="0" smtClean="0"/>
              <a:t>11</a:t>
            </a:fld>
            <a:endParaRPr lang="en-GB" noProof="0" dirty="0"/>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E745EC0F-EDE8-8330-DD82-2EA60BBC9E0A}"/>
                  </a:ext>
                </a:extLst>
              </p:cNvPr>
              <p:cNvGraphicFramePr>
                <a:graphicFrameLocks noGrp="1"/>
              </p:cNvGraphicFramePr>
              <p:nvPr>
                <p:extLst>
                  <p:ext uri="{D42A27DB-BD31-4B8C-83A1-F6EECF244321}">
                    <p14:modId xmlns:p14="http://schemas.microsoft.com/office/powerpoint/2010/main" val="780260710"/>
                  </p:ext>
                </p:extLst>
              </p:nvPr>
            </p:nvGraphicFramePr>
            <p:xfrm>
              <a:off x="88043" y="0"/>
              <a:ext cx="6681914" cy="5760720"/>
            </p:xfrm>
            <a:graphic>
              <a:graphicData uri="http://schemas.openxmlformats.org/drawingml/2006/table">
                <a:tbl>
                  <a:tblPr firstRow="1" bandRow="1">
                    <a:tableStyleId>{5C22544A-7EE6-4342-B048-85BDC9FD1C3A}</a:tableStyleId>
                  </a:tblPr>
                  <a:tblGrid>
                    <a:gridCol w="1115060">
                      <a:extLst>
                        <a:ext uri="{9D8B030D-6E8A-4147-A177-3AD203B41FA5}">
                          <a16:colId xmlns:a16="http://schemas.microsoft.com/office/drawing/2014/main" val="1568142362"/>
                        </a:ext>
                      </a:extLst>
                    </a:gridCol>
                    <a:gridCol w="1855618">
                      <a:extLst>
                        <a:ext uri="{9D8B030D-6E8A-4147-A177-3AD203B41FA5}">
                          <a16:colId xmlns:a16="http://schemas.microsoft.com/office/drawing/2014/main" val="3551711160"/>
                        </a:ext>
                      </a:extLst>
                    </a:gridCol>
                    <a:gridCol w="1855618">
                      <a:extLst>
                        <a:ext uri="{9D8B030D-6E8A-4147-A177-3AD203B41FA5}">
                          <a16:colId xmlns:a16="http://schemas.microsoft.com/office/drawing/2014/main" val="1712497518"/>
                        </a:ext>
                      </a:extLst>
                    </a:gridCol>
                    <a:gridCol w="1855618">
                      <a:extLst>
                        <a:ext uri="{9D8B030D-6E8A-4147-A177-3AD203B41FA5}">
                          <a16:colId xmlns:a16="http://schemas.microsoft.com/office/drawing/2014/main" val="886122921"/>
                        </a:ext>
                      </a:extLst>
                    </a:gridCol>
                  </a:tblGrid>
                  <a:tr h="222379">
                    <a:tc>
                      <a:txBody>
                        <a:bodyPr/>
                        <a:lstStyle/>
                        <a:p>
                          <a:endParaRPr lang="en-GB" sz="1200" b="1" noProof="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13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14 -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15 -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370631">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 </m:t>
                              </m:r>
                            </m:oMath>
                          </a14:m>
                          <a:r>
                            <a:rPr lang="en-GB" sz="1200" b="0" noProof="0" dirty="0">
                              <a:solidFill>
                                <a:schemeClr val="tx1"/>
                              </a:solidFill>
                            </a:rPr>
                            <a:t>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𝑎</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𝑎</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318743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1) </a:t>
                          </a:r>
                          <a:r>
                            <a:rPr lang="en-GB" sz="1200" noProof="0" dirty="0">
                              <a:cs typeface="Calibri" panose="020F0502020204030204" pitchFamily="34" charset="0"/>
                            </a:rPr>
                            <a:t>Circle the subject that we want to isolate.</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cs typeface="Calibri" panose="020F0502020204030204" pitchFamily="34" charset="0"/>
                            </a:rPr>
                            <a:t>2) Expand and simplify the brackets.</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cs typeface="Calibri" panose="020F0502020204030204" pitchFamily="34" charset="0"/>
                            </a:rPr>
                            <a:t>3) Rearrange to get the subject on </a:t>
                          </a:r>
                          <a:r>
                            <a:rPr lang="en-GB" sz="1200" b="1" noProof="0" dirty="0">
                              <a:cs typeface="Calibri" panose="020F0502020204030204" pitchFamily="34" charset="0"/>
                            </a:rPr>
                            <a:t>one side.</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4) Factorise</a:t>
                          </a:r>
                          <a:r>
                            <a:rPr lang="en-GB" sz="1200" baseline="0" noProof="0" dirty="0">
                              <a:solidFill>
                                <a:schemeClr val="tx1"/>
                              </a:solidFill>
                            </a:rPr>
                            <a:t> the subject. </a:t>
                          </a:r>
                          <a:endParaRPr lang="en-GB" sz="1200" noProof="0" dirty="0">
                            <a:solidFill>
                              <a:schemeClr val="tx1"/>
                            </a:solidFill>
                          </a:endParaRPr>
                        </a:p>
                        <a:p>
                          <a:pPr marL="0" indent="0">
                            <a:buNone/>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5) Divide both sides of the equation.</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𝑚</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𝑦</m:t>
                                    </m:r>
                                  </m:e>
                                </m:d>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r>
                                  <a:rPr lang="en-GB" sz="1200" b="0" i="1" noProof="0" smtClean="0">
                                    <a:solidFill>
                                      <a:schemeClr val="tx1"/>
                                    </a:solidFill>
                                    <a:latin typeface="Cambria Math" panose="02040503050406030204" pitchFamily="18" charset="0"/>
                                  </a:rPr>
                                  <m:t>)</m:t>
                                </m:r>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3</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𝑥</m:t>
                                    </m:r>
                                  </m:e>
                                </m:d>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r>
                                  <a:rPr lang="en-GB" sz="1200" b="0" i="1" noProof="0" smtClean="0">
                                    <a:solidFill>
                                      <a:schemeClr val="tx1"/>
                                    </a:solidFill>
                                    <a:latin typeface="Cambria Math" panose="02040503050406030204" pitchFamily="18" charset="0"/>
                                  </a:rPr>
                                  <m:t>)</m:t>
                                </m:r>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𝑚</m:t>
                                </m:r>
                                <m:d>
                                  <m:dPr>
                                    <m:ctrlPr>
                                      <a:rPr lang="en-GB" sz="1200" b="0" i="1" noProof="0" smtClean="0">
                                        <a:solidFill>
                                          <a:schemeClr val="tx1"/>
                                        </a:solidFill>
                                        <a:latin typeface="Cambria Math" panose="02040503050406030204" pitchFamily="18" charset="0"/>
                                      </a:rPr>
                                    </m:ctrlPr>
                                  </m:dPr>
                                  <m:e>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𝑦</m:t>
                                    </m:r>
                                  </m:e>
                                </m:d>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𝑏</m:t>
                                </m:r>
                                <m:r>
                                  <a:rPr lang="en-GB" sz="1200" b="0" i="1" noProof="0" smtClean="0">
                                    <a:solidFill>
                                      <a:schemeClr val="tx1"/>
                                    </a:solidFill>
                                    <a:latin typeface="Cambria Math" panose="02040503050406030204" pitchFamily="18" charset="0"/>
                                  </a:rPr>
                                  <m:t>−</m:t>
                                </m:r>
                                <m:r>
                                  <a:rPr lang="en-GB" sz="1200" b="0" i="1" noProof="0" smtClean="0">
                                    <a:solidFill>
                                      <a:schemeClr val="tx1"/>
                                    </a:solidFill>
                                    <a:latin typeface="Cambria Math" panose="02040503050406030204" pitchFamily="18" charset="0"/>
                                  </a:rPr>
                                  <m:t>𝑎</m:t>
                                </m:r>
                                <m:r>
                                  <a:rPr lang="en-GB" sz="1200" b="0" i="1" noProof="0" smtClean="0">
                                    <a:solidFill>
                                      <a:schemeClr val="tx1"/>
                                    </a:solidFill>
                                    <a:latin typeface="Cambria Math" panose="02040503050406030204" pitchFamily="18" charset="0"/>
                                  </a:rPr>
                                  <m:t>)</m:t>
                                </m:r>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mc:Choice>
        <mc:Fallback xmlns="">
          <p:graphicFrame>
            <p:nvGraphicFramePr>
              <p:cNvPr id="6" name="Table 5">
                <a:extLst>
                  <a:ext uri="{FF2B5EF4-FFF2-40B4-BE49-F238E27FC236}">
                    <a16:creationId xmlns:a16="http://schemas.microsoft.com/office/drawing/2014/main" id="{E745EC0F-EDE8-8330-DD82-2EA60BBC9E0A}"/>
                  </a:ext>
                </a:extLst>
              </p:cNvPr>
              <p:cNvGraphicFramePr>
                <a:graphicFrameLocks noGrp="1"/>
              </p:cNvGraphicFramePr>
              <p:nvPr>
                <p:extLst>
                  <p:ext uri="{D42A27DB-BD31-4B8C-83A1-F6EECF244321}">
                    <p14:modId xmlns:p14="http://schemas.microsoft.com/office/powerpoint/2010/main" val="780260710"/>
                  </p:ext>
                </p:extLst>
              </p:nvPr>
            </p:nvGraphicFramePr>
            <p:xfrm>
              <a:off x="88043" y="0"/>
              <a:ext cx="6681914" cy="5760720"/>
            </p:xfrm>
            <a:graphic>
              <a:graphicData uri="http://schemas.openxmlformats.org/drawingml/2006/table">
                <a:tbl>
                  <a:tblPr firstRow="1" bandRow="1">
                    <a:tableStyleId>{5C22544A-7EE6-4342-B048-85BDC9FD1C3A}</a:tableStyleId>
                  </a:tblPr>
                  <a:tblGrid>
                    <a:gridCol w="1115060">
                      <a:extLst>
                        <a:ext uri="{9D8B030D-6E8A-4147-A177-3AD203B41FA5}">
                          <a16:colId xmlns:a16="http://schemas.microsoft.com/office/drawing/2014/main" val="1568142362"/>
                        </a:ext>
                      </a:extLst>
                    </a:gridCol>
                    <a:gridCol w="1855618">
                      <a:extLst>
                        <a:ext uri="{9D8B030D-6E8A-4147-A177-3AD203B41FA5}">
                          <a16:colId xmlns:a16="http://schemas.microsoft.com/office/drawing/2014/main" val="3551711160"/>
                        </a:ext>
                      </a:extLst>
                    </a:gridCol>
                    <a:gridCol w="1855618">
                      <a:extLst>
                        <a:ext uri="{9D8B030D-6E8A-4147-A177-3AD203B41FA5}">
                          <a16:colId xmlns:a16="http://schemas.microsoft.com/office/drawing/2014/main" val="1712497518"/>
                        </a:ext>
                      </a:extLst>
                    </a:gridCol>
                    <a:gridCol w="1855618">
                      <a:extLst>
                        <a:ext uri="{9D8B030D-6E8A-4147-A177-3AD203B41FA5}">
                          <a16:colId xmlns:a16="http://schemas.microsoft.com/office/drawing/2014/main" val="886122921"/>
                        </a:ext>
                      </a:extLst>
                    </a:gridCol>
                  </a:tblGrid>
                  <a:tr h="274320">
                    <a:tc>
                      <a:txBody>
                        <a:bodyPr/>
                        <a:lstStyle/>
                        <a:p>
                          <a:endParaRPr lang="en-GB" sz="1200" b="1" noProof="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FF0000"/>
                              </a:solidFill>
                            </a:rPr>
                            <a:t>Example 13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chemeClr val="accent2"/>
                              </a:solidFill>
                            </a:rPr>
                            <a:t>Example 14 -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00B050"/>
                              </a:solidFill>
                            </a:rPr>
                            <a:t>Example 15 -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457200">
                    <a:tc>
                      <a:txBody>
                        <a:bodyPr/>
                        <a:lstStyle/>
                        <a:p>
                          <a:r>
                            <a:rPr lang="en-GB" sz="12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0328" t="-60000" r="-200328" b="-1104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60855" t="-60000" r="-100987" b="-1104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60000" t="-60000" r="-656" b="-1104000"/>
                          </a:stretch>
                        </a:blipFill>
                      </a:tcPr>
                    </a:tc>
                    <a:extLst>
                      <a:ext uri="{0D108BD9-81ED-4DB2-BD59-A6C34878D82A}">
                        <a16:rowId xmlns:a16="http://schemas.microsoft.com/office/drawing/2014/main" val="2357201933"/>
                      </a:ext>
                    </a:extLst>
                  </a:tr>
                  <a:tr h="50292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solidFill>
                                <a:schemeClr val="tx1"/>
                              </a:solidFill>
                            </a:rPr>
                            <a:t>1) </a:t>
                          </a:r>
                          <a:r>
                            <a:rPr lang="en-GB" sz="1200" noProof="0">
                              <a:cs typeface="Calibri" panose="020F0502020204030204" pitchFamily="34" charset="0"/>
                            </a:rPr>
                            <a:t>Circle the subject that we want to isolate.</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cs typeface="Calibri" panose="020F0502020204030204" pitchFamily="34" charset="0"/>
                            </a:rPr>
                            <a:t>2) Expand and simplify the brackets.</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cs typeface="Calibri" panose="020F0502020204030204" pitchFamily="34" charset="0"/>
                            </a:rPr>
                            <a:t>3) Rearrange to get the subject on </a:t>
                          </a:r>
                          <a:r>
                            <a:rPr lang="en-GB" sz="1200" b="1" noProof="0">
                              <a:cs typeface="Calibri" panose="020F0502020204030204" pitchFamily="34" charset="0"/>
                            </a:rPr>
                            <a:t>one side.</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solidFill>
                                <a:schemeClr val="tx1"/>
                              </a:solidFill>
                            </a:rPr>
                            <a:t>4) Factorise</a:t>
                          </a:r>
                          <a:r>
                            <a:rPr lang="en-GB" sz="1200" baseline="0" noProof="0">
                              <a:solidFill>
                                <a:schemeClr val="tx1"/>
                              </a:solidFill>
                            </a:rPr>
                            <a:t> the subject. </a:t>
                          </a:r>
                          <a:endParaRPr lang="en-GB" sz="1200" noProof="0">
                            <a:solidFill>
                              <a:schemeClr val="tx1"/>
                            </a:solidFill>
                          </a:endParaRPr>
                        </a:p>
                        <a:p>
                          <a:pPr marL="0" indent="0">
                            <a:buNone/>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solidFill>
                                <a:schemeClr val="tx1"/>
                              </a:solidFill>
                            </a:rPr>
                            <a:t>5) Divide both sides of the equation.</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0328" t="-14545" r="-200328" b="-36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60855" t="-14545" r="-100987" b="-364"/>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60000" t="-14545" r="-656" b="-364"/>
                          </a:stretch>
                        </a:blipFill>
                      </a:tcPr>
                    </a:tc>
                    <a:extLst>
                      <a:ext uri="{0D108BD9-81ED-4DB2-BD59-A6C34878D82A}">
                        <a16:rowId xmlns:a16="http://schemas.microsoft.com/office/drawing/2014/main" val="329362524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3A5FAC56-4C9B-57A6-8FE7-32B284F87E46}"/>
                  </a:ext>
                </a:extLst>
              </p:cNvPr>
              <p:cNvGraphicFramePr>
                <a:graphicFrameLocks noGrp="1"/>
              </p:cNvGraphicFramePr>
              <p:nvPr>
                <p:extLst>
                  <p:ext uri="{D42A27DB-BD31-4B8C-83A1-F6EECF244321}">
                    <p14:modId xmlns:p14="http://schemas.microsoft.com/office/powerpoint/2010/main" val="3069348514"/>
                  </p:ext>
                </p:extLst>
              </p:nvPr>
            </p:nvGraphicFramePr>
            <p:xfrm>
              <a:off x="88044" y="6276753"/>
              <a:ext cx="6681915" cy="3411265"/>
            </p:xfrm>
            <a:graphic>
              <a:graphicData uri="http://schemas.openxmlformats.org/drawingml/2006/table">
                <a:tbl>
                  <a:tblPr firstRow="1" bandRow="1">
                    <a:tableStyleId>{5C22544A-7EE6-4342-B048-85BDC9FD1C3A}</a:tableStyleId>
                  </a:tblPr>
                  <a:tblGrid>
                    <a:gridCol w="2227305">
                      <a:extLst>
                        <a:ext uri="{9D8B030D-6E8A-4147-A177-3AD203B41FA5}">
                          <a16:colId xmlns:a16="http://schemas.microsoft.com/office/drawing/2014/main" val="2271296087"/>
                        </a:ext>
                      </a:extLst>
                    </a:gridCol>
                    <a:gridCol w="2227305">
                      <a:extLst>
                        <a:ext uri="{9D8B030D-6E8A-4147-A177-3AD203B41FA5}">
                          <a16:colId xmlns:a16="http://schemas.microsoft.com/office/drawing/2014/main" val="928498006"/>
                        </a:ext>
                      </a:extLst>
                    </a:gridCol>
                    <a:gridCol w="2227305">
                      <a:extLst>
                        <a:ext uri="{9D8B030D-6E8A-4147-A177-3AD203B41FA5}">
                          <a16:colId xmlns:a16="http://schemas.microsoft.com/office/drawing/2014/main" val="3609384367"/>
                        </a:ext>
                      </a:extLst>
                    </a:gridCol>
                  </a:tblGrid>
                  <a:tr h="3411265">
                    <a:tc>
                      <a:txBody>
                        <a:bodyPr/>
                        <a:lstStyle/>
                        <a:p>
                          <a:r>
                            <a:rPr lang="en-GB" sz="1200" b="0" noProof="0" dirty="0">
                              <a:solidFill>
                                <a:schemeClr val="tx1"/>
                              </a:solidFill>
                            </a:rPr>
                            <a:t>a)</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7</m:t>
                              </m:r>
                              <m:d>
                                <m:dPr>
                                  <m:ctrlP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𝑎</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e>
                              </m:d>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𝑎</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𝑏</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b)  </a:t>
                          </a:r>
                          <a:r>
                            <a:rPr kumimoji="0" lang="en-GB" sz="1200" b="0" i="0" u="none" strike="noStrike" kern="1200" cap="none" spc="0" normalizeH="0" baseline="0" noProof="0" dirty="0">
                              <a:ln>
                                <a:noFill/>
                              </a:ln>
                              <a:solidFill>
                                <a:prstClr val="black"/>
                              </a:solidFill>
                              <a:effectLst/>
                              <a:uLnTx/>
                              <a:uFillTx/>
                              <a:latin typeface="+mn-lt"/>
                              <a:ea typeface="+mn-ea"/>
                              <a:cs typeface="+mn-cs"/>
                            </a:rPr>
                            <a:t>5</a:t>
                          </a:r>
                          <a14:m>
                            <m:oMath xmlns:m="http://schemas.openxmlformats.org/officeDocument/2006/math">
                              <m:d>
                                <m:dPr>
                                  <m:ctrlP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𝑎</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e>
                              </m:d>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𝑎</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𝑏</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c)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6</m:t>
                              </m:r>
                              <m:d>
                                <m:dPr>
                                  <m:ctrlP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m:t>
                                  </m:r>
                                </m:e>
                              </m:d>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𝑎</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𝑏</m:t>
                              </m:r>
                              <m:r>
                                <a:rPr kumimoji="0" lang="en-GB" sz="1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21162609"/>
                      </a:ext>
                    </a:extLst>
                  </a:tr>
                </a:tbl>
              </a:graphicData>
            </a:graphic>
          </p:graphicFrame>
        </mc:Choice>
        <mc:Fallback xmlns="">
          <p:graphicFrame>
            <p:nvGraphicFramePr>
              <p:cNvPr id="10" name="Table 9">
                <a:extLst>
                  <a:ext uri="{FF2B5EF4-FFF2-40B4-BE49-F238E27FC236}">
                    <a16:creationId xmlns:a16="http://schemas.microsoft.com/office/drawing/2014/main" id="{3A5FAC56-4C9B-57A6-8FE7-32B284F87E46}"/>
                  </a:ext>
                </a:extLst>
              </p:cNvPr>
              <p:cNvGraphicFramePr>
                <a:graphicFrameLocks noGrp="1"/>
              </p:cNvGraphicFramePr>
              <p:nvPr>
                <p:extLst>
                  <p:ext uri="{D42A27DB-BD31-4B8C-83A1-F6EECF244321}">
                    <p14:modId xmlns:p14="http://schemas.microsoft.com/office/powerpoint/2010/main" val="3069348514"/>
                  </p:ext>
                </p:extLst>
              </p:nvPr>
            </p:nvGraphicFramePr>
            <p:xfrm>
              <a:off x="88044" y="6276753"/>
              <a:ext cx="6681915" cy="3411265"/>
            </p:xfrm>
            <a:graphic>
              <a:graphicData uri="http://schemas.openxmlformats.org/drawingml/2006/table">
                <a:tbl>
                  <a:tblPr firstRow="1" bandRow="1">
                    <a:tableStyleId>{5C22544A-7EE6-4342-B048-85BDC9FD1C3A}</a:tableStyleId>
                  </a:tblPr>
                  <a:tblGrid>
                    <a:gridCol w="2227305">
                      <a:extLst>
                        <a:ext uri="{9D8B030D-6E8A-4147-A177-3AD203B41FA5}">
                          <a16:colId xmlns:a16="http://schemas.microsoft.com/office/drawing/2014/main" val="2271296087"/>
                        </a:ext>
                      </a:extLst>
                    </a:gridCol>
                    <a:gridCol w="2227305">
                      <a:extLst>
                        <a:ext uri="{9D8B030D-6E8A-4147-A177-3AD203B41FA5}">
                          <a16:colId xmlns:a16="http://schemas.microsoft.com/office/drawing/2014/main" val="928498006"/>
                        </a:ext>
                      </a:extLst>
                    </a:gridCol>
                    <a:gridCol w="2227305">
                      <a:extLst>
                        <a:ext uri="{9D8B030D-6E8A-4147-A177-3AD203B41FA5}">
                          <a16:colId xmlns:a16="http://schemas.microsoft.com/office/drawing/2014/main" val="3609384367"/>
                        </a:ext>
                      </a:extLst>
                    </a:gridCol>
                  </a:tblGrid>
                  <a:tr h="3411265">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73" t="-178" r="-200273" b="-35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0548" t="-178" r="-100822" b="-35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00000" t="-178" r="-546" b="-357"/>
                          </a:stretch>
                        </a:blipFill>
                      </a:tcPr>
                    </a:tc>
                    <a:extLst>
                      <a:ext uri="{0D108BD9-81ED-4DB2-BD59-A6C34878D82A}">
                        <a16:rowId xmlns:a16="http://schemas.microsoft.com/office/drawing/2014/main" val="521162609"/>
                      </a:ext>
                    </a:extLst>
                  </a:tr>
                </a:tbl>
              </a:graphicData>
            </a:graphic>
          </p:graphicFrame>
        </mc:Fallback>
      </mc:AlternateContent>
      <p:sp>
        <p:nvSpPr>
          <p:cNvPr id="14" name="Rectangle 13">
            <a:extLst>
              <a:ext uri="{FF2B5EF4-FFF2-40B4-BE49-F238E27FC236}">
                <a16:creationId xmlns:a16="http://schemas.microsoft.com/office/drawing/2014/main" id="{AACE39D6-99ED-21D9-E7D4-E52882616DBB}"/>
              </a:ext>
            </a:extLst>
          </p:cNvPr>
          <p:cNvSpPr/>
          <p:nvPr/>
        </p:nvSpPr>
        <p:spPr>
          <a:xfrm>
            <a:off x="88043" y="5834851"/>
            <a:ext cx="1715480" cy="3564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a:t>Independent Practice</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AA8C9CD-48A2-B4BB-06AF-A7E7E93E2C64}"/>
                  </a:ext>
                </a:extLst>
              </p:cNvPr>
              <p:cNvSpPr txBox="1"/>
              <p:nvPr/>
            </p:nvSpPr>
            <p:spPr>
              <a:xfrm>
                <a:off x="1565456" y="5954761"/>
                <a:ext cx="3646054" cy="276999"/>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Question 6. Make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m:t>
                    </m:r>
                  </m:oMath>
                </a14:m>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 the subject of the following:</a:t>
                </a:r>
              </a:p>
            </p:txBody>
          </p:sp>
        </mc:Choice>
        <mc:Fallback xmlns="">
          <p:sp>
            <p:nvSpPr>
              <p:cNvPr id="15" name="TextBox 14">
                <a:extLst>
                  <a:ext uri="{FF2B5EF4-FFF2-40B4-BE49-F238E27FC236}">
                    <a16:creationId xmlns:a16="http://schemas.microsoft.com/office/drawing/2014/main" id="{2AA8C9CD-48A2-B4BB-06AF-A7E7E93E2C64}"/>
                  </a:ext>
                </a:extLst>
              </p:cNvPr>
              <p:cNvSpPr txBox="1">
                <a:spLocks noRot="1" noChangeAspect="1" noMove="1" noResize="1" noEditPoints="1" noAdjustHandles="1" noChangeArrowheads="1" noChangeShapeType="1" noTextEdit="1"/>
              </p:cNvSpPr>
              <p:nvPr/>
            </p:nvSpPr>
            <p:spPr>
              <a:xfrm>
                <a:off x="1565456" y="5954761"/>
                <a:ext cx="3646054" cy="276999"/>
              </a:xfrm>
              <a:prstGeom prst="rect">
                <a:avLst/>
              </a:prstGeom>
              <a:blipFill>
                <a:blip r:embed="rId10"/>
                <a:stretch>
                  <a:fillRect t="-2222" b="-17778"/>
                </a:stretch>
              </a:blipFill>
            </p:spPr>
            <p:txBody>
              <a:bodyPr/>
              <a:lstStyle/>
              <a:p>
                <a:r>
                  <a:rPr lang="en-US">
                    <a:noFill/>
                  </a:rPr>
                  <a:t> </a:t>
                </a:r>
              </a:p>
            </p:txBody>
          </p:sp>
        </mc:Fallback>
      </mc:AlternateContent>
    </p:spTree>
    <p:extLst>
      <p:ext uri="{BB962C8B-B14F-4D97-AF65-F5344CB8AC3E}">
        <p14:creationId xmlns:p14="http://schemas.microsoft.com/office/powerpoint/2010/main" val="2752550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E015305-3083-1457-26CB-2B014617E7DE}"/>
              </a:ext>
            </a:extLst>
          </p:cNvPr>
          <p:cNvSpPr>
            <a:spLocks noGrp="1"/>
          </p:cNvSpPr>
          <p:nvPr>
            <p:ph type="sldNum" sz="quarter" idx="12"/>
          </p:nvPr>
        </p:nvSpPr>
        <p:spPr>
          <a:xfrm>
            <a:off x="5299710" y="9467098"/>
            <a:ext cx="1543050" cy="527403"/>
          </a:xfrm>
        </p:spPr>
        <p:txBody>
          <a:bodyPr/>
          <a:lstStyle/>
          <a:p>
            <a:fld id="{086C3A38-D272-42AA-9C88-F1FBEAE20D2C}" type="slidenum">
              <a:rPr lang="en-GB" noProof="0" smtClean="0"/>
              <a:t>12</a:t>
            </a:fld>
            <a:endParaRPr lang="en-GB" noProof="0" dirty="0"/>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3E4673A6-5922-4791-866E-EC558881B3CE}"/>
                  </a:ext>
                </a:extLst>
              </p:cNvPr>
              <p:cNvGraphicFramePr>
                <a:graphicFrameLocks noGrp="1"/>
              </p:cNvGraphicFramePr>
              <p:nvPr>
                <p:extLst>
                  <p:ext uri="{D42A27DB-BD31-4B8C-83A1-F6EECF244321}">
                    <p14:modId xmlns:p14="http://schemas.microsoft.com/office/powerpoint/2010/main" val="878938659"/>
                  </p:ext>
                </p:extLst>
              </p:nvPr>
            </p:nvGraphicFramePr>
            <p:xfrm>
              <a:off x="72803" y="4809"/>
              <a:ext cx="6697152" cy="5029200"/>
            </p:xfrm>
            <a:graphic>
              <a:graphicData uri="http://schemas.openxmlformats.org/drawingml/2006/table">
                <a:tbl>
                  <a:tblPr firstRow="1" bandRow="1">
                    <a:tableStyleId>{5C22544A-7EE6-4342-B048-85BDC9FD1C3A}</a:tableStyleId>
                  </a:tblPr>
                  <a:tblGrid>
                    <a:gridCol w="1507455">
                      <a:extLst>
                        <a:ext uri="{9D8B030D-6E8A-4147-A177-3AD203B41FA5}">
                          <a16:colId xmlns:a16="http://schemas.microsoft.com/office/drawing/2014/main" val="1568142362"/>
                        </a:ext>
                      </a:extLst>
                    </a:gridCol>
                    <a:gridCol w="1745349">
                      <a:extLst>
                        <a:ext uri="{9D8B030D-6E8A-4147-A177-3AD203B41FA5}">
                          <a16:colId xmlns:a16="http://schemas.microsoft.com/office/drawing/2014/main" val="3551711160"/>
                        </a:ext>
                      </a:extLst>
                    </a:gridCol>
                    <a:gridCol w="1722174">
                      <a:extLst>
                        <a:ext uri="{9D8B030D-6E8A-4147-A177-3AD203B41FA5}">
                          <a16:colId xmlns:a16="http://schemas.microsoft.com/office/drawing/2014/main" val="1712497518"/>
                        </a:ext>
                      </a:extLst>
                    </a:gridCol>
                    <a:gridCol w="1722174">
                      <a:extLst>
                        <a:ext uri="{9D8B030D-6E8A-4147-A177-3AD203B41FA5}">
                          <a16:colId xmlns:a16="http://schemas.microsoft.com/office/drawing/2014/main" val="886122921"/>
                        </a:ext>
                      </a:extLst>
                    </a:gridCol>
                  </a:tblGrid>
                  <a:tr h="0">
                    <a:tc>
                      <a:txBody>
                        <a:bodyPr/>
                        <a:lstStyle/>
                        <a:p>
                          <a:endParaRPr lang="en-GB" sz="1200" b="1" noProof="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FF0000"/>
                              </a:solidFill>
                            </a:rPr>
                            <a:t>Example 16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chemeClr val="accent2"/>
                              </a:solidFill>
                            </a:rPr>
                            <a:t>Example 17 -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dirty="0">
                              <a:solidFill>
                                <a:srgbClr val="00B050"/>
                              </a:solidFill>
                            </a:rPr>
                            <a:t>Example 18 -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302332">
                    <a:tc>
                      <a:txBody>
                        <a:bodyPr/>
                        <a:lstStyle/>
                        <a:p>
                          <a:r>
                            <a:rPr lang="en-GB" sz="1200" b="1" noProof="0" dirty="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 </m:t>
                              </m:r>
                            </m:oMath>
                          </a14:m>
                          <a:r>
                            <a:rPr lang="en-GB" sz="1200" b="0" noProof="0" dirty="0">
                              <a:solidFill>
                                <a:schemeClr val="tx1"/>
                              </a:solidFill>
                            </a:rPr>
                            <a:t>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0" noProof="0" dirty="0">
                              <a:solidFill>
                                <a:schemeClr val="tx1"/>
                              </a:solidFill>
                            </a:rPr>
                            <a:t>Make </a:t>
                          </a:r>
                          <a14:m>
                            <m:oMath xmlns:m="http://schemas.openxmlformats.org/officeDocument/2006/math">
                              <m:r>
                                <a:rPr lang="en-GB" sz="1200" b="0" i="1" noProof="0" smtClean="0">
                                  <a:solidFill>
                                    <a:schemeClr val="tx1"/>
                                  </a:solidFill>
                                  <a:latin typeface="Cambria Math" panose="02040503050406030204" pitchFamily="18" charset="0"/>
                                </a:rPr>
                                <m:t>𝑥</m:t>
                              </m:r>
                            </m:oMath>
                          </a14:m>
                          <a:r>
                            <a:rPr lang="en-GB" sz="1200" b="0" noProof="0" dirty="0">
                              <a:solidFill>
                                <a:schemeClr val="tx1"/>
                              </a:solidFill>
                            </a:rPr>
                            <a:t> the subject of the following: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7201933"/>
                      </a:ext>
                    </a:extLst>
                  </a:tr>
                  <a:tr h="4140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1) </a:t>
                          </a:r>
                          <a:r>
                            <a:rPr lang="en-GB" sz="1200" noProof="0" dirty="0">
                              <a:cs typeface="Calibri" panose="020F0502020204030204" pitchFamily="34" charset="0"/>
                            </a:rPr>
                            <a:t>Circle the subject that we want to isolate.</a:t>
                          </a:r>
                        </a:p>
                        <a:p>
                          <a:pPr marL="0" marR="0" lvl="0" indent="0" algn="l" defTabSz="685800" rtl="0" eaLnBrk="1" fontAlgn="auto" latinLnBrk="0" hangingPunct="1">
                            <a:lnSpc>
                              <a:spcPct val="100000"/>
                            </a:lnSpc>
                            <a:spcBef>
                              <a:spcPts val="0"/>
                            </a:spcBef>
                            <a:spcAft>
                              <a:spcPts val="0"/>
                            </a:spcAft>
                            <a:buClrTx/>
                            <a:buSzTx/>
                            <a:buFontTx/>
                            <a:buNone/>
                            <a:tabLst/>
                            <a:defRPr/>
                          </a:pPr>
                          <a:br>
                            <a:rPr lang="en-GB" sz="1200" noProof="0" dirty="0">
                              <a:cs typeface="Calibri" panose="020F0502020204030204" pitchFamily="34" charset="0"/>
                            </a:rPr>
                          </a:br>
                          <a:r>
                            <a:rPr lang="en-GB" sz="1200" noProof="0" dirty="0">
                              <a:cs typeface="Calibri" panose="020F0502020204030204" pitchFamily="34" charset="0"/>
                            </a:rPr>
                            <a:t>2) Multiply both sides by the denominator.</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cs typeface="Calibri" panose="020F0502020204030204" pitchFamily="34" charset="0"/>
                            </a:rPr>
                            <a:t>3) Expand and simplify the brackets.</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cs typeface="Calibri" panose="020F0502020204030204" pitchFamily="34" charset="0"/>
                            </a:rPr>
                            <a:t>4) Rearrange to get the subject on </a:t>
                          </a:r>
                          <a:r>
                            <a:rPr lang="en-GB" sz="1200" b="1" noProof="0" dirty="0">
                              <a:cs typeface="Calibri" panose="020F0502020204030204" pitchFamily="34" charset="0"/>
                            </a:rPr>
                            <a:t>one side.</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dirty="0">
                            <a:solidFill>
                              <a:schemeClr val="tx1"/>
                            </a:solidFill>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5) Factorise</a:t>
                          </a:r>
                          <a:r>
                            <a:rPr lang="en-GB" sz="1200" baseline="0" noProof="0" dirty="0">
                              <a:solidFill>
                                <a:schemeClr val="tx1"/>
                              </a:solidFill>
                            </a:rPr>
                            <a:t> the subject. </a:t>
                          </a:r>
                          <a:endParaRPr lang="en-GB" sz="1200" noProof="0" dirty="0">
                            <a:solidFill>
                              <a:schemeClr val="tx1"/>
                            </a:solidFill>
                          </a:endParaRPr>
                        </a:p>
                        <a:p>
                          <a:pPr marL="0" indent="0">
                            <a:buNone/>
                          </a:pPr>
                          <a:endParaRPr lang="en-GB" sz="1200" noProof="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dirty="0">
                              <a:solidFill>
                                <a:schemeClr val="tx1"/>
                              </a:solidFill>
                            </a:rPr>
                            <a:t>6) Divide both sides of the equation. </a:t>
                          </a:r>
                        </a:p>
                        <a:p>
                          <a:pPr marL="0" indent="0">
                            <a:buNone/>
                          </a:pPr>
                          <a:endParaRPr lang="en-GB" sz="1200" noProof="0" dirty="0">
                            <a:solidFill>
                              <a:schemeClr val="tx1"/>
                            </a:solidFill>
                          </a:endParaRPr>
                        </a:p>
                        <a:p>
                          <a:pPr marL="0" indent="0">
                            <a:buNone/>
                          </a:pPr>
                          <a:endParaRPr lang="en-GB" sz="1200" noProof="0" dirty="0">
                            <a:solidFill>
                              <a:schemeClr val="tx1"/>
                            </a:solidFill>
                          </a:endParaRPr>
                        </a:p>
                        <a:p>
                          <a:pPr marL="0" indent="0">
                            <a:buNone/>
                          </a:pPr>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+2</m:t>
                                    </m:r>
                                  </m:num>
                                  <m:den>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−2</m:t>
                                    </m:r>
                                  </m:den>
                                </m:f>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+2</m:t>
                                    </m:r>
                                  </m:num>
                                  <m:den>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−3</m:t>
                                    </m:r>
                                  </m:den>
                                </m:f>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n-GB" sz="1200" b="0" i="1" noProof="0" smtClean="0">
                                    <a:solidFill>
                                      <a:schemeClr val="tx1"/>
                                    </a:solidFill>
                                    <a:latin typeface="Cambria Math" panose="02040503050406030204" pitchFamily="18" charset="0"/>
                                  </a:rPr>
                                  <m:t>𝑦</m:t>
                                </m:r>
                                <m:r>
                                  <a:rPr lang="en-GB" sz="1200" b="0" i="1" noProof="0" smtClean="0">
                                    <a:solidFill>
                                      <a:schemeClr val="tx1"/>
                                    </a:solidFill>
                                    <a:latin typeface="Cambria Math" panose="02040503050406030204" pitchFamily="18" charset="0"/>
                                  </a:rPr>
                                  <m:t>=</m:t>
                                </m:r>
                                <m:f>
                                  <m:fPr>
                                    <m:ctrlPr>
                                      <a:rPr lang="en-GB" sz="1200" b="0" i="1" noProof="0" smtClean="0">
                                        <a:solidFill>
                                          <a:schemeClr val="tx1"/>
                                        </a:solidFill>
                                        <a:latin typeface="Cambria Math" panose="02040503050406030204" pitchFamily="18" charset="0"/>
                                      </a:rPr>
                                    </m:ctrlPr>
                                  </m:fPr>
                                  <m:num>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−2</m:t>
                                    </m:r>
                                  </m:num>
                                  <m:den>
                                    <m:r>
                                      <a:rPr lang="en-GB" sz="1200" b="0" i="1" noProof="0" smtClean="0">
                                        <a:solidFill>
                                          <a:schemeClr val="tx1"/>
                                        </a:solidFill>
                                        <a:latin typeface="Cambria Math" panose="02040503050406030204" pitchFamily="18" charset="0"/>
                                      </a:rPr>
                                      <m:t>𝑥</m:t>
                                    </m:r>
                                    <m:r>
                                      <a:rPr lang="en-GB" sz="1200" b="0" i="1" noProof="0" smtClean="0">
                                        <a:solidFill>
                                          <a:schemeClr val="tx1"/>
                                        </a:solidFill>
                                        <a:latin typeface="Cambria Math" panose="02040503050406030204" pitchFamily="18" charset="0"/>
                                      </a:rPr>
                                      <m:t>+2</m:t>
                                    </m:r>
                                  </m:den>
                                </m:f>
                              </m:oMath>
                            </m:oMathPara>
                          </a14:m>
                          <a:endParaRPr lang="en-GB"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3625240"/>
                      </a:ext>
                    </a:extLst>
                  </a:tr>
                </a:tbl>
              </a:graphicData>
            </a:graphic>
          </p:graphicFrame>
        </mc:Choice>
        <mc:Fallback xmlns="">
          <p:graphicFrame>
            <p:nvGraphicFramePr>
              <p:cNvPr id="3" name="Table 2">
                <a:extLst>
                  <a:ext uri="{FF2B5EF4-FFF2-40B4-BE49-F238E27FC236}">
                    <a16:creationId xmlns:a16="http://schemas.microsoft.com/office/drawing/2014/main" id="{3E4673A6-5922-4791-866E-EC558881B3CE}"/>
                  </a:ext>
                </a:extLst>
              </p:cNvPr>
              <p:cNvGraphicFramePr>
                <a:graphicFrameLocks noGrp="1"/>
              </p:cNvGraphicFramePr>
              <p:nvPr>
                <p:extLst>
                  <p:ext uri="{D42A27DB-BD31-4B8C-83A1-F6EECF244321}">
                    <p14:modId xmlns:p14="http://schemas.microsoft.com/office/powerpoint/2010/main" val="878938659"/>
                  </p:ext>
                </p:extLst>
              </p:nvPr>
            </p:nvGraphicFramePr>
            <p:xfrm>
              <a:off x="72803" y="4809"/>
              <a:ext cx="6697152" cy="5029200"/>
            </p:xfrm>
            <a:graphic>
              <a:graphicData uri="http://schemas.openxmlformats.org/drawingml/2006/table">
                <a:tbl>
                  <a:tblPr firstRow="1" bandRow="1">
                    <a:tableStyleId>{5C22544A-7EE6-4342-B048-85BDC9FD1C3A}</a:tableStyleId>
                  </a:tblPr>
                  <a:tblGrid>
                    <a:gridCol w="1507455">
                      <a:extLst>
                        <a:ext uri="{9D8B030D-6E8A-4147-A177-3AD203B41FA5}">
                          <a16:colId xmlns:a16="http://schemas.microsoft.com/office/drawing/2014/main" val="1568142362"/>
                        </a:ext>
                      </a:extLst>
                    </a:gridCol>
                    <a:gridCol w="1745349">
                      <a:extLst>
                        <a:ext uri="{9D8B030D-6E8A-4147-A177-3AD203B41FA5}">
                          <a16:colId xmlns:a16="http://schemas.microsoft.com/office/drawing/2014/main" val="3551711160"/>
                        </a:ext>
                      </a:extLst>
                    </a:gridCol>
                    <a:gridCol w="1722174">
                      <a:extLst>
                        <a:ext uri="{9D8B030D-6E8A-4147-A177-3AD203B41FA5}">
                          <a16:colId xmlns:a16="http://schemas.microsoft.com/office/drawing/2014/main" val="1712497518"/>
                        </a:ext>
                      </a:extLst>
                    </a:gridCol>
                    <a:gridCol w="1722174">
                      <a:extLst>
                        <a:ext uri="{9D8B030D-6E8A-4147-A177-3AD203B41FA5}">
                          <a16:colId xmlns:a16="http://schemas.microsoft.com/office/drawing/2014/main" val="886122921"/>
                        </a:ext>
                      </a:extLst>
                    </a:gridCol>
                  </a:tblGrid>
                  <a:tr h="274320">
                    <a:tc>
                      <a:txBody>
                        <a:bodyPr/>
                        <a:lstStyle/>
                        <a:p>
                          <a:endParaRPr lang="en-GB" sz="1200" b="1" noProof="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FF0000"/>
                              </a:solidFill>
                            </a:rPr>
                            <a:t>Example 16 – I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chemeClr val="accent2"/>
                              </a:solidFill>
                            </a:rPr>
                            <a:t>Example 17 - We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1200" b="1" i="1" noProof="0">
                              <a:solidFill>
                                <a:srgbClr val="00B050"/>
                              </a:solidFill>
                            </a:rPr>
                            <a:t>Example 18 - You do…</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0528973"/>
                      </a:ext>
                    </a:extLst>
                  </a:tr>
                  <a:tr h="457200">
                    <a:tc>
                      <a:txBody>
                        <a:bodyPr/>
                        <a:lstStyle/>
                        <a:p>
                          <a:r>
                            <a:rPr lang="en-GB" sz="1200" b="1" noProof="0">
                              <a:solidFill>
                                <a:schemeClr val="tx1"/>
                              </a:solidFill>
                            </a:rPr>
                            <a:t>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7063" t="-60000" r="-198601" b="-944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89046" t="-60000" r="-100707" b="-944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89046" t="-60000" r="-707" b="-944000"/>
                          </a:stretch>
                        </a:blipFill>
                      </a:tcPr>
                    </a:tc>
                    <a:extLst>
                      <a:ext uri="{0D108BD9-81ED-4DB2-BD59-A6C34878D82A}">
                        <a16:rowId xmlns:a16="http://schemas.microsoft.com/office/drawing/2014/main" val="2357201933"/>
                      </a:ext>
                    </a:extLst>
                  </a:tr>
                  <a:tr h="42976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solidFill>
                                <a:schemeClr val="tx1"/>
                              </a:solidFill>
                            </a:rPr>
                            <a:t>1) </a:t>
                          </a:r>
                          <a:r>
                            <a:rPr lang="en-GB" sz="1200" noProof="0">
                              <a:cs typeface="Calibri" panose="020F0502020204030204" pitchFamily="34" charset="0"/>
                            </a:rPr>
                            <a:t>Circle the subject that we want to isolate.</a:t>
                          </a:r>
                        </a:p>
                        <a:p>
                          <a:pPr marL="0" marR="0" lvl="0" indent="0" algn="l" defTabSz="685800" rtl="0" eaLnBrk="1" fontAlgn="auto" latinLnBrk="0" hangingPunct="1">
                            <a:lnSpc>
                              <a:spcPct val="100000"/>
                            </a:lnSpc>
                            <a:spcBef>
                              <a:spcPts val="0"/>
                            </a:spcBef>
                            <a:spcAft>
                              <a:spcPts val="0"/>
                            </a:spcAft>
                            <a:buClrTx/>
                            <a:buSzTx/>
                            <a:buFontTx/>
                            <a:buNone/>
                            <a:tabLst/>
                            <a:defRPr/>
                          </a:pPr>
                          <a:br>
                            <a:rPr lang="en-GB" sz="1200" noProof="0">
                              <a:cs typeface="Calibri" panose="020F0502020204030204" pitchFamily="34" charset="0"/>
                            </a:rPr>
                          </a:br>
                          <a:r>
                            <a:rPr lang="en-GB" sz="1200" noProof="0">
                              <a:cs typeface="Calibri" panose="020F0502020204030204" pitchFamily="34" charset="0"/>
                            </a:rPr>
                            <a:t>2) Multiply both sides by the denominator.</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cs typeface="Calibri" panose="020F0502020204030204" pitchFamily="34" charset="0"/>
                            </a:rPr>
                            <a:t>3) Expand and simplify the brackets.</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cs typeface="Calibri" panose="020F0502020204030204" pitchFamily="34" charset="0"/>
                            </a:rPr>
                            <a:t>4) Rearrange to get the subject on </a:t>
                          </a:r>
                          <a:r>
                            <a:rPr lang="en-GB" sz="1200" b="1" noProof="0">
                              <a:cs typeface="Calibri" panose="020F0502020204030204" pitchFamily="34" charset="0"/>
                            </a:rPr>
                            <a:t>one side.</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1200" noProof="0">
                            <a:solidFill>
                              <a:schemeClr val="tx1"/>
                            </a:solidFill>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solidFill>
                                <a:schemeClr val="tx1"/>
                              </a:solidFill>
                            </a:rPr>
                            <a:t>5) Factorise</a:t>
                          </a:r>
                          <a:r>
                            <a:rPr lang="en-GB" sz="1200" baseline="0" noProof="0">
                              <a:solidFill>
                                <a:schemeClr val="tx1"/>
                              </a:solidFill>
                            </a:rPr>
                            <a:t> the subject. </a:t>
                          </a:r>
                          <a:endParaRPr lang="en-GB" sz="1200" noProof="0">
                            <a:solidFill>
                              <a:schemeClr val="tx1"/>
                            </a:solidFill>
                          </a:endParaRPr>
                        </a:p>
                        <a:p>
                          <a:pPr marL="0" indent="0">
                            <a:buNone/>
                          </a:pPr>
                          <a:endParaRPr lang="en-GB" sz="1200" noProof="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GB" sz="1200" noProof="0">
                              <a:solidFill>
                                <a:schemeClr val="tx1"/>
                              </a:solidFill>
                            </a:rPr>
                            <a:t>6) Divide both sides of the equation. </a:t>
                          </a:r>
                        </a:p>
                        <a:p>
                          <a:pPr marL="0" indent="0">
                            <a:buNone/>
                          </a:pPr>
                          <a:endParaRPr lang="en-GB" sz="1200" noProof="0">
                            <a:solidFill>
                              <a:schemeClr val="tx1"/>
                            </a:solidFill>
                          </a:endParaRPr>
                        </a:p>
                        <a:p>
                          <a:pPr marL="0" indent="0">
                            <a:buNone/>
                          </a:pPr>
                          <a:endParaRPr lang="en-GB" sz="1200" noProof="0">
                            <a:solidFill>
                              <a:schemeClr val="tx1"/>
                            </a:solidFill>
                          </a:endParaRPr>
                        </a:p>
                        <a:p>
                          <a:pPr marL="0" indent="0">
                            <a:buNone/>
                          </a:pPr>
                          <a:endParaRPr lang="en-GB" sz="1200" noProof="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7063" t="-16997" r="-198601" b="-28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89046" t="-16997" r="-100707" b="-283"/>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89046" t="-16997" r="-707" b="-283"/>
                          </a:stretch>
                        </a:blipFill>
                      </a:tcPr>
                    </a:tc>
                    <a:extLst>
                      <a:ext uri="{0D108BD9-81ED-4DB2-BD59-A6C34878D82A}">
                        <a16:rowId xmlns:a16="http://schemas.microsoft.com/office/drawing/2014/main" val="3293625240"/>
                      </a:ext>
                    </a:extLst>
                  </a:tr>
                </a:tbl>
              </a:graphicData>
            </a:graphic>
          </p:graphicFrame>
        </mc:Fallback>
      </mc:AlternateContent>
      <p:sp>
        <p:nvSpPr>
          <p:cNvPr id="4" name="Rectangle 3">
            <a:extLst>
              <a:ext uri="{FF2B5EF4-FFF2-40B4-BE49-F238E27FC236}">
                <a16:creationId xmlns:a16="http://schemas.microsoft.com/office/drawing/2014/main" id="{20935722-A04D-8A48-44E6-5ED95DA5F81C}"/>
              </a:ext>
            </a:extLst>
          </p:cNvPr>
          <p:cNvSpPr/>
          <p:nvPr/>
        </p:nvSpPr>
        <p:spPr>
          <a:xfrm>
            <a:off x="72803" y="5066760"/>
            <a:ext cx="1715480" cy="3564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a:t>Independent Practice</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640AC88-A471-6221-B465-90AC58CC9A97}"/>
                  </a:ext>
                </a:extLst>
              </p:cNvPr>
              <p:cNvSpPr txBox="1"/>
              <p:nvPr/>
            </p:nvSpPr>
            <p:spPr>
              <a:xfrm>
                <a:off x="1519736" y="5186670"/>
                <a:ext cx="3646054" cy="276999"/>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Question 7. Make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oMath>
                </a14:m>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the subject of the following:</a:t>
                </a:r>
              </a:p>
            </p:txBody>
          </p:sp>
        </mc:Choice>
        <mc:Fallback xmlns="">
          <p:sp>
            <p:nvSpPr>
              <p:cNvPr id="5" name="TextBox 4">
                <a:extLst>
                  <a:ext uri="{FF2B5EF4-FFF2-40B4-BE49-F238E27FC236}">
                    <a16:creationId xmlns:a16="http://schemas.microsoft.com/office/drawing/2014/main" id="{D640AC88-A471-6221-B465-90AC58CC9A97}"/>
                  </a:ext>
                </a:extLst>
              </p:cNvPr>
              <p:cNvSpPr txBox="1">
                <a:spLocks noRot="1" noChangeAspect="1" noMove="1" noResize="1" noEditPoints="1" noAdjustHandles="1" noChangeArrowheads="1" noChangeShapeType="1" noTextEdit="1"/>
              </p:cNvSpPr>
              <p:nvPr/>
            </p:nvSpPr>
            <p:spPr>
              <a:xfrm>
                <a:off x="1519736" y="5186670"/>
                <a:ext cx="3646054" cy="276999"/>
              </a:xfrm>
              <a:prstGeom prst="rect">
                <a:avLst/>
              </a:prstGeom>
              <a:blipFill>
                <a:blip r:embed="rId3"/>
                <a:stretch>
                  <a:fillRect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F2E16823-3B36-59B2-E36B-AA36AC0E5019}"/>
                  </a:ext>
                </a:extLst>
              </p:cNvPr>
              <p:cNvGraphicFramePr>
                <a:graphicFrameLocks noGrp="1"/>
              </p:cNvGraphicFramePr>
              <p:nvPr>
                <p:extLst>
                  <p:ext uri="{D42A27DB-BD31-4B8C-83A1-F6EECF244321}">
                    <p14:modId xmlns:p14="http://schemas.microsoft.com/office/powerpoint/2010/main" val="2069126677"/>
                  </p:ext>
                </p:extLst>
              </p:nvPr>
            </p:nvGraphicFramePr>
            <p:xfrm>
              <a:off x="72803" y="5484120"/>
              <a:ext cx="6697152" cy="4374452"/>
            </p:xfrm>
            <a:graphic>
              <a:graphicData uri="http://schemas.openxmlformats.org/drawingml/2006/table">
                <a:tbl>
                  <a:tblPr firstRow="1" bandRow="1">
                    <a:tableStyleId>{5C22544A-7EE6-4342-B048-85BDC9FD1C3A}</a:tableStyleId>
                  </a:tblPr>
                  <a:tblGrid>
                    <a:gridCol w="2232384">
                      <a:extLst>
                        <a:ext uri="{9D8B030D-6E8A-4147-A177-3AD203B41FA5}">
                          <a16:colId xmlns:a16="http://schemas.microsoft.com/office/drawing/2014/main" val="2392575474"/>
                        </a:ext>
                      </a:extLst>
                    </a:gridCol>
                    <a:gridCol w="2232384">
                      <a:extLst>
                        <a:ext uri="{9D8B030D-6E8A-4147-A177-3AD203B41FA5}">
                          <a16:colId xmlns:a16="http://schemas.microsoft.com/office/drawing/2014/main" val="3679908865"/>
                        </a:ext>
                      </a:extLst>
                    </a:gridCol>
                    <a:gridCol w="2232384">
                      <a:extLst>
                        <a:ext uri="{9D8B030D-6E8A-4147-A177-3AD203B41FA5}">
                          <a16:colId xmlns:a16="http://schemas.microsoft.com/office/drawing/2014/main" val="1925052908"/>
                        </a:ext>
                      </a:extLst>
                    </a:gridCol>
                  </a:tblGrid>
                  <a:tr h="4140000">
                    <a:tc>
                      <a:txBody>
                        <a:bodyPr/>
                        <a:lstStyle/>
                        <a:p>
                          <a:pPr marL="228600" indent="-228600">
                            <a:buAutoNum type="alphaLcParenR"/>
                          </a:pP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+ 3</m:t>
                                  </m:r>
                                </m:num>
                                <m:den>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− 2</m:t>
                                  </m:r>
                                </m:den>
                              </m:f>
                            </m:oMath>
                          </a14:m>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p>
                          <a:pPr marL="228600" indent="-228600">
                            <a:buAutoNum type="alphaLcParenR"/>
                          </a:pPr>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b) </a:t>
                          </a:r>
                          <a14:m>
                            <m:oMath xmlns:m="http://schemas.openxmlformats.org/officeDocument/2006/math">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− 3</m:t>
                                  </m:r>
                                </m:num>
                                <m:den>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+ 2</m:t>
                                  </m:r>
                                </m:den>
                              </m:f>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200" b="0" noProof="0" dirty="0">
                              <a:solidFill>
                                <a:schemeClr val="tx1"/>
                              </a:solidFill>
                            </a:rPr>
                            <a:t>c)</a:t>
                          </a:r>
                          <a14:m>
                            <m:oMath xmlns:m="http://schemas.openxmlformats.org/officeDocument/2006/math">
                              <m:r>
                                <a:rPr kumimoji="0" lang="en-GB" sz="12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+ 5</m:t>
                                  </m:r>
                                </m:num>
                                <m:den>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GB" sz="1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− 2</m:t>
                                  </m:r>
                                </m:den>
                              </m:f>
                            </m:oMath>
                          </a14:m>
                          <a:endParaRPr lang="en-GB" sz="1200" b="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37051138"/>
                      </a:ext>
                    </a:extLst>
                  </a:tr>
                </a:tbl>
              </a:graphicData>
            </a:graphic>
          </p:graphicFrame>
        </mc:Choice>
        <mc:Fallback xmlns="">
          <p:graphicFrame>
            <p:nvGraphicFramePr>
              <p:cNvPr id="6" name="Table 5">
                <a:extLst>
                  <a:ext uri="{FF2B5EF4-FFF2-40B4-BE49-F238E27FC236}">
                    <a16:creationId xmlns:a16="http://schemas.microsoft.com/office/drawing/2014/main" id="{F2E16823-3B36-59B2-E36B-AA36AC0E5019}"/>
                  </a:ext>
                </a:extLst>
              </p:cNvPr>
              <p:cNvGraphicFramePr>
                <a:graphicFrameLocks noGrp="1"/>
              </p:cNvGraphicFramePr>
              <p:nvPr>
                <p:extLst>
                  <p:ext uri="{D42A27DB-BD31-4B8C-83A1-F6EECF244321}">
                    <p14:modId xmlns:p14="http://schemas.microsoft.com/office/powerpoint/2010/main" val="2069126677"/>
                  </p:ext>
                </p:extLst>
              </p:nvPr>
            </p:nvGraphicFramePr>
            <p:xfrm>
              <a:off x="72803" y="5484120"/>
              <a:ext cx="6697152" cy="4374452"/>
            </p:xfrm>
            <a:graphic>
              <a:graphicData uri="http://schemas.openxmlformats.org/drawingml/2006/table">
                <a:tbl>
                  <a:tblPr firstRow="1" bandRow="1">
                    <a:tableStyleId>{5C22544A-7EE6-4342-B048-85BDC9FD1C3A}</a:tableStyleId>
                  </a:tblPr>
                  <a:tblGrid>
                    <a:gridCol w="2232384">
                      <a:extLst>
                        <a:ext uri="{9D8B030D-6E8A-4147-A177-3AD203B41FA5}">
                          <a16:colId xmlns:a16="http://schemas.microsoft.com/office/drawing/2014/main" val="2392575474"/>
                        </a:ext>
                      </a:extLst>
                    </a:gridCol>
                    <a:gridCol w="2232384">
                      <a:extLst>
                        <a:ext uri="{9D8B030D-6E8A-4147-A177-3AD203B41FA5}">
                          <a16:colId xmlns:a16="http://schemas.microsoft.com/office/drawing/2014/main" val="3679908865"/>
                        </a:ext>
                      </a:extLst>
                    </a:gridCol>
                    <a:gridCol w="2232384">
                      <a:extLst>
                        <a:ext uri="{9D8B030D-6E8A-4147-A177-3AD203B41FA5}">
                          <a16:colId xmlns:a16="http://schemas.microsoft.com/office/drawing/2014/main" val="1925052908"/>
                        </a:ext>
                      </a:extLst>
                    </a:gridCol>
                  </a:tblGrid>
                  <a:tr h="437445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72" t="-139" r="-200272" b="-27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546" t="-139" r="-100820" b="-27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000" t="-139" r="-545" b="-278"/>
                          </a:stretch>
                        </a:blipFill>
                      </a:tcPr>
                    </a:tc>
                    <a:extLst>
                      <a:ext uri="{0D108BD9-81ED-4DB2-BD59-A6C34878D82A}">
                        <a16:rowId xmlns:a16="http://schemas.microsoft.com/office/drawing/2014/main" val="3837051138"/>
                      </a:ext>
                    </a:extLst>
                  </a:tr>
                </a:tbl>
              </a:graphicData>
            </a:graphic>
          </p:graphicFrame>
        </mc:Fallback>
      </mc:AlternateContent>
    </p:spTree>
    <p:extLst>
      <p:ext uri="{BB962C8B-B14F-4D97-AF65-F5344CB8AC3E}">
        <p14:creationId xmlns:p14="http://schemas.microsoft.com/office/powerpoint/2010/main" val="37227149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F2963EA-949C-CDAA-34B6-BFDFF13ECC82}"/>
              </a:ext>
            </a:extLst>
          </p:cNvPr>
          <p:cNvSpPr>
            <a:spLocks noGrp="1"/>
          </p:cNvSpPr>
          <p:nvPr>
            <p:ph type="sldNum" sz="quarter" idx="12"/>
          </p:nvPr>
        </p:nvSpPr>
        <p:spPr/>
        <p:txBody>
          <a:bodyPr/>
          <a:lstStyle/>
          <a:p>
            <a:fld id="{9BD3B4A0-BFF9-422C-B253-48BA94BE2F5B}" type="slidenum">
              <a:rPr lang="en-GB" noProof="0" smtClean="0"/>
              <a:t>13</a:t>
            </a:fld>
            <a:endParaRPr lang="en-GB" noProof="0" dirty="0"/>
          </a:p>
        </p:txBody>
      </p:sp>
      <p:sp>
        <p:nvSpPr>
          <p:cNvPr id="3" name="Rectangle 2">
            <a:extLst>
              <a:ext uri="{FF2B5EF4-FFF2-40B4-BE49-F238E27FC236}">
                <a16:creationId xmlns:a16="http://schemas.microsoft.com/office/drawing/2014/main" id="{428C430B-6FB9-4821-B616-401851518AD1}"/>
              </a:ext>
            </a:extLst>
          </p:cNvPr>
          <p:cNvSpPr/>
          <p:nvPr/>
        </p:nvSpPr>
        <p:spPr>
          <a:xfrm>
            <a:off x="-1" y="0"/>
            <a:ext cx="3069771" cy="261258"/>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a:t>GCSE Past Paper Questions</a:t>
            </a:r>
          </a:p>
        </p:txBody>
      </p:sp>
      <p:pic>
        <p:nvPicPr>
          <p:cNvPr id="5" name="Picture 4" descr="A white background with black text&#10;&#10;AI-generated content may be incorrect.">
            <a:extLst>
              <a:ext uri="{FF2B5EF4-FFF2-40B4-BE49-F238E27FC236}">
                <a16:creationId xmlns:a16="http://schemas.microsoft.com/office/drawing/2014/main" id="{22CC129E-BFF0-3441-86A9-1545F4D8D9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302625"/>
            <a:ext cx="5969727" cy="1627644"/>
          </a:xfrm>
          <a:prstGeom prst="rect">
            <a:avLst/>
          </a:prstGeom>
        </p:spPr>
      </p:pic>
      <p:cxnSp>
        <p:nvCxnSpPr>
          <p:cNvPr id="7" name="Straight Connector 6">
            <a:extLst>
              <a:ext uri="{FF2B5EF4-FFF2-40B4-BE49-F238E27FC236}">
                <a16:creationId xmlns:a16="http://schemas.microsoft.com/office/drawing/2014/main" id="{367143A0-C318-866A-AC11-2CA95725CC6A}"/>
              </a:ext>
            </a:extLst>
          </p:cNvPr>
          <p:cNvCxnSpPr/>
          <p:nvPr/>
        </p:nvCxnSpPr>
        <p:spPr>
          <a:xfrm>
            <a:off x="-1" y="2024743"/>
            <a:ext cx="6858000" cy="0"/>
          </a:xfrm>
          <a:prstGeom prst="line">
            <a:avLst/>
          </a:prstGeom>
        </p:spPr>
        <p:style>
          <a:lnRef idx="1">
            <a:schemeClr val="dk1"/>
          </a:lnRef>
          <a:fillRef idx="0">
            <a:schemeClr val="dk1"/>
          </a:fillRef>
          <a:effectRef idx="0">
            <a:schemeClr val="dk1"/>
          </a:effectRef>
          <a:fontRef idx="minor">
            <a:schemeClr val="tx1"/>
          </a:fontRef>
        </p:style>
      </p:cxnSp>
      <p:pic>
        <p:nvPicPr>
          <p:cNvPr id="9" name="Picture 8" descr="A white sheet of paper with black text&#10;&#10;AI-generated content may be incorrect.">
            <a:extLst>
              <a:ext uri="{FF2B5EF4-FFF2-40B4-BE49-F238E27FC236}">
                <a16:creationId xmlns:a16="http://schemas.microsoft.com/office/drawing/2014/main" id="{9C0FEF5B-922F-5527-A614-B9AA191846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145366"/>
            <a:ext cx="5969726" cy="3755788"/>
          </a:xfrm>
          <a:prstGeom prst="rect">
            <a:avLst/>
          </a:prstGeom>
        </p:spPr>
      </p:pic>
      <p:cxnSp>
        <p:nvCxnSpPr>
          <p:cNvPr id="10" name="Straight Connector 9">
            <a:extLst>
              <a:ext uri="{FF2B5EF4-FFF2-40B4-BE49-F238E27FC236}">
                <a16:creationId xmlns:a16="http://schemas.microsoft.com/office/drawing/2014/main" id="{47FAFBBB-5088-2937-BCBF-9025F405E1B7}"/>
              </a:ext>
            </a:extLst>
          </p:cNvPr>
          <p:cNvCxnSpPr/>
          <p:nvPr/>
        </p:nvCxnSpPr>
        <p:spPr>
          <a:xfrm>
            <a:off x="-1" y="5901154"/>
            <a:ext cx="6858000" cy="0"/>
          </a:xfrm>
          <a:prstGeom prst="line">
            <a:avLst/>
          </a:prstGeom>
        </p:spPr>
        <p:style>
          <a:lnRef idx="1">
            <a:schemeClr val="dk1"/>
          </a:lnRef>
          <a:fillRef idx="0">
            <a:schemeClr val="dk1"/>
          </a:fillRef>
          <a:effectRef idx="0">
            <a:schemeClr val="dk1"/>
          </a:effectRef>
          <a:fontRef idx="minor">
            <a:schemeClr val="tx1"/>
          </a:fontRef>
        </p:style>
      </p:cxnSp>
      <p:pic>
        <p:nvPicPr>
          <p:cNvPr id="12" name="Picture 11" descr="A two math equations&#10;&#10;AI-generated content may be incorrect.">
            <a:extLst>
              <a:ext uri="{FF2B5EF4-FFF2-40B4-BE49-F238E27FC236}">
                <a16:creationId xmlns:a16="http://schemas.microsoft.com/office/drawing/2014/main" id="{60431BC4-0665-AC0E-C9A0-338F0E022F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031482"/>
            <a:ext cx="5985298" cy="3334586"/>
          </a:xfrm>
          <a:prstGeom prst="rect">
            <a:avLst/>
          </a:prstGeom>
        </p:spPr>
      </p:pic>
    </p:spTree>
    <p:extLst>
      <p:ext uri="{BB962C8B-B14F-4D97-AF65-F5344CB8AC3E}">
        <p14:creationId xmlns:p14="http://schemas.microsoft.com/office/powerpoint/2010/main" val="36153783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A5A87-F31C-E04C-597E-F465940D798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B8C4B30-1282-EFA9-55C6-1989E32A1B4C}"/>
              </a:ext>
            </a:extLst>
          </p:cNvPr>
          <p:cNvSpPr>
            <a:spLocks noGrp="1"/>
          </p:cNvSpPr>
          <p:nvPr>
            <p:ph type="sldNum" sz="quarter" idx="12"/>
          </p:nvPr>
        </p:nvSpPr>
        <p:spPr/>
        <p:txBody>
          <a:bodyPr/>
          <a:lstStyle/>
          <a:p>
            <a:fld id="{9BD3B4A0-BFF9-422C-B253-48BA94BE2F5B}" type="slidenum">
              <a:rPr lang="en-GB" noProof="0" smtClean="0"/>
              <a:t>14</a:t>
            </a:fld>
            <a:endParaRPr lang="en-GB" noProof="0" dirty="0"/>
          </a:p>
        </p:txBody>
      </p:sp>
      <p:cxnSp>
        <p:nvCxnSpPr>
          <p:cNvPr id="7" name="Straight Connector 6">
            <a:extLst>
              <a:ext uri="{FF2B5EF4-FFF2-40B4-BE49-F238E27FC236}">
                <a16:creationId xmlns:a16="http://schemas.microsoft.com/office/drawing/2014/main" id="{972C7508-A81A-4761-184E-673A90DDD0CE}"/>
              </a:ext>
            </a:extLst>
          </p:cNvPr>
          <p:cNvCxnSpPr/>
          <p:nvPr/>
        </p:nvCxnSpPr>
        <p:spPr>
          <a:xfrm>
            <a:off x="0" y="2664823"/>
            <a:ext cx="6858000" cy="0"/>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E1183BA9-3075-9EB6-8284-E792FD3C057F}"/>
              </a:ext>
            </a:extLst>
          </p:cNvPr>
          <p:cNvCxnSpPr/>
          <p:nvPr/>
        </p:nvCxnSpPr>
        <p:spPr>
          <a:xfrm>
            <a:off x="0" y="5469354"/>
            <a:ext cx="6858000" cy="0"/>
          </a:xfrm>
          <a:prstGeom prst="line">
            <a:avLst/>
          </a:prstGeom>
        </p:spPr>
        <p:style>
          <a:lnRef idx="1">
            <a:schemeClr val="dk1"/>
          </a:lnRef>
          <a:fillRef idx="0">
            <a:schemeClr val="dk1"/>
          </a:fillRef>
          <a:effectRef idx="0">
            <a:schemeClr val="dk1"/>
          </a:effectRef>
          <a:fontRef idx="minor">
            <a:schemeClr val="tx1"/>
          </a:fontRef>
        </p:style>
      </p:cxnSp>
      <p:pic>
        <p:nvPicPr>
          <p:cNvPr id="6" name="Picture 5" descr="A white background with black text&#10;&#10;AI-generated content may be incorrect.">
            <a:extLst>
              <a:ext uri="{FF2B5EF4-FFF2-40B4-BE49-F238E27FC236}">
                <a16:creationId xmlns:a16="http://schemas.microsoft.com/office/drawing/2014/main" id="{EBC9B5EA-0645-D49E-AAD3-4AC2D2BA82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6769448" cy="2533780"/>
          </a:xfrm>
          <a:prstGeom prst="rect">
            <a:avLst/>
          </a:prstGeom>
        </p:spPr>
      </p:pic>
      <p:pic>
        <p:nvPicPr>
          <p:cNvPr id="11" name="Picture 10" descr="A white background with black dots&#10;&#10;AI-generated content may be incorrect.">
            <a:extLst>
              <a:ext uri="{FF2B5EF4-FFF2-40B4-BE49-F238E27FC236}">
                <a16:creationId xmlns:a16="http://schemas.microsoft.com/office/drawing/2014/main" id="{4321C204-BA9C-A6CD-AD2B-751BB4DCFF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2795867"/>
            <a:ext cx="6769448" cy="2673487"/>
          </a:xfrm>
          <a:prstGeom prst="rect">
            <a:avLst/>
          </a:prstGeom>
        </p:spPr>
      </p:pic>
      <p:pic>
        <p:nvPicPr>
          <p:cNvPr id="14" name="Picture 13" descr="A white paper with black text&#10;&#10;AI-generated content may be incorrect.">
            <a:extLst>
              <a:ext uri="{FF2B5EF4-FFF2-40B4-BE49-F238E27FC236}">
                <a16:creationId xmlns:a16="http://schemas.microsoft.com/office/drawing/2014/main" id="{846311F5-C9DE-A69E-720D-825D4E21E6C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5721917"/>
            <a:ext cx="6769448" cy="3206915"/>
          </a:xfrm>
          <a:prstGeom prst="rect">
            <a:avLst/>
          </a:prstGeom>
        </p:spPr>
      </p:pic>
    </p:spTree>
    <p:extLst>
      <p:ext uri="{BB962C8B-B14F-4D97-AF65-F5344CB8AC3E}">
        <p14:creationId xmlns:p14="http://schemas.microsoft.com/office/powerpoint/2010/main" val="22170252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E607876-0972-9113-91DA-1A0D8B0588A2}"/>
              </a:ext>
            </a:extLst>
          </p:cNvPr>
          <p:cNvSpPr>
            <a:spLocks noGrp="1"/>
          </p:cNvSpPr>
          <p:nvPr>
            <p:ph type="sldNum" sz="quarter" idx="12"/>
          </p:nvPr>
        </p:nvSpPr>
        <p:spPr/>
        <p:txBody>
          <a:bodyPr/>
          <a:lstStyle/>
          <a:p>
            <a:fld id="{9BD3B4A0-BFF9-422C-B253-48BA94BE2F5B}" type="slidenum">
              <a:rPr lang="en-GB" noProof="0" smtClean="0"/>
              <a:t>15</a:t>
            </a:fld>
            <a:endParaRPr lang="en-GB" noProof="0" dirty="0"/>
          </a:p>
        </p:txBody>
      </p:sp>
      <p:pic>
        <p:nvPicPr>
          <p:cNvPr id="4" name="Picture 3" descr="A white background with black text&#10;&#10;AI-generated content may be incorrect.">
            <a:extLst>
              <a:ext uri="{FF2B5EF4-FFF2-40B4-BE49-F238E27FC236}">
                <a16:creationId xmlns:a16="http://schemas.microsoft.com/office/drawing/2014/main" id="{9505B72A-517D-3568-B4F3-2659811EEE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731346" cy="3391074"/>
          </a:xfrm>
          <a:prstGeom prst="rect">
            <a:avLst/>
          </a:prstGeom>
        </p:spPr>
      </p:pic>
      <p:pic>
        <p:nvPicPr>
          <p:cNvPr id="6" name="Picture 5" descr="A white background with black text&#10;&#10;AI-generated content may be incorrect.">
            <a:extLst>
              <a:ext uri="{FF2B5EF4-FFF2-40B4-BE49-F238E27FC236}">
                <a16:creationId xmlns:a16="http://schemas.microsoft.com/office/drawing/2014/main" id="{28A20D0C-3532-A1E4-F8F1-C89E614FBD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260481"/>
            <a:ext cx="6655142" cy="4051508"/>
          </a:xfrm>
          <a:prstGeom prst="rect">
            <a:avLst/>
          </a:prstGeom>
        </p:spPr>
      </p:pic>
      <p:cxnSp>
        <p:nvCxnSpPr>
          <p:cNvPr id="7" name="Straight Connector 6">
            <a:extLst>
              <a:ext uri="{FF2B5EF4-FFF2-40B4-BE49-F238E27FC236}">
                <a16:creationId xmlns:a16="http://schemas.microsoft.com/office/drawing/2014/main" id="{DD9A9FA4-4C32-7D15-1976-E8830C47BFC4}"/>
              </a:ext>
            </a:extLst>
          </p:cNvPr>
          <p:cNvCxnSpPr/>
          <p:nvPr/>
        </p:nvCxnSpPr>
        <p:spPr>
          <a:xfrm>
            <a:off x="0" y="4140926"/>
            <a:ext cx="68580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723060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B3C8E02-77B0-E044-F481-FC289E30251F}"/>
              </a:ext>
            </a:extLst>
          </p:cNvPr>
          <p:cNvSpPr>
            <a:spLocks noGrp="1"/>
          </p:cNvSpPr>
          <p:nvPr>
            <p:ph type="sldNum" sz="quarter" idx="12"/>
          </p:nvPr>
        </p:nvSpPr>
        <p:spPr/>
        <p:txBody>
          <a:bodyPr/>
          <a:lstStyle/>
          <a:p>
            <a:fld id="{9BD3B4A0-BFF9-422C-B253-48BA94BE2F5B}" type="slidenum">
              <a:rPr lang="en-GB" noProof="0" smtClean="0"/>
              <a:t>16</a:t>
            </a:fld>
            <a:endParaRPr lang="en-GB" noProof="0" dirty="0"/>
          </a:p>
        </p:txBody>
      </p:sp>
      <p:pic>
        <p:nvPicPr>
          <p:cNvPr id="4" name="Picture 3" descr="A white background with black text&#10;&#10;AI-generated content may be incorrect.">
            <a:extLst>
              <a:ext uri="{FF2B5EF4-FFF2-40B4-BE49-F238E27FC236}">
                <a16:creationId xmlns:a16="http://schemas.microsoft.com/office/drawing/2014/main" id="{EBFFDA9B-9484-EE19-6ADF-183AD95EE9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604" y="67491"/>
            <a:ext cx="6648792" cy="4210266"/>
          </a:xfrm>
          <a:prstGeom prst="rect">
            <a:avLst/>
          </a:prstGeom>
        </p:spPr>
      </p:pic>
      <p:pic>
        <p:nvPicPr>
          <p:cNvPr id="6" name="Picture 5" descr="A white background with black text&#10;&#10;AI-generated content may be incorrect.">
            <a:extLst>
              <a:ext uri="{FF2B5EF4-FFF2-40B4-BE49-F238E27FC236}">
                <a16:creationId xmlns:a16="http://schemas.microsoft.com/office/drawing/2014/main" id="{FC351AAF-A612-DC46-EA65-A20CED5079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451" y="4913982"/>
            <a:ext cx="6763098" cy="4191215"/>
          </a:xfrm>
          <a:prstGeom prst="rect">
            <a:avLst/>
          </a:prstGeom>
        </p:spPr>
      </p:pic>
      <p:cxnSp>
        <p:nvCxnSpPr>
          <p:cNvPr id="7" name="Straight Connector 6">
            <a:extLst>
              <a:ext uri="{FF2B5EF4-FFF2-40B4-BE49-F238E27FC236}">
                <a16:creationId xmlns:a16="http://schemas.microsoft.com/office/drawing/2014/main" id="{3DCEDB9A-44DA-A5FF-E0D6-71CD990E03E5}"/>
              </a:ext>
            </a:extLst>
          </p:cNvPr>
          <p:cNvCxnSpPr/>
          <p:nvPr/>
        </p:nvCxnSpPr>
        <p:spPr>
          <a:xfrm>
            <a:off x="0" y="4927045"/>
            <a:ext cx="68580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8547444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AAB6388F5B3DD48A4F5524A84895604" ma:contentTypeVersion="14" ma:contentTypeDescription="Create a new document." ma:contentTypeScope="" ma:versionID="d122bacdc6e0e52b1daab86e5e474f38">
  <xsd:schema xmlns:xsd="http://www.w3.org/2001/XMLSchema" xmlns:xs="http://www.w3.org/2001/XMLSchema" xmlns:p="http://schemas.microsoft.com/office/2006/metadata/properties" xmlns:ns2="e30b71df-48f4-4db7-95c3-a9033c265cb9" xmlns:ns3="608ebbb4-e88b-4c99-b506-21d9362781c6" targetNamespace="http://schemas.microsoft.com/office/2006/metadata/properties" ma:root="true" ma:fieldsID="c50e756327527929f9f40a94500ed9ef" ns2:_="" ns3:_="">
    <xsd:import namespace="e30b71df-48f4-4db7-95c3-a9033c265cb9"/>
    <xsd:import namespace="608ebbb4-e88b-4c99-b506-21d9362781c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3:SharedWithUsers" minOccurs="0"/>
                <xsd:element ref="ns3:SharedWithDetails" minOccurs="0"/>
                <xsd:element ref="ns2:MediaServiceObjectDetectorVersions" minOccurs="0"/>
                <xsd:element ref="ns2:MediaServiceSearchProperties" minOccurs="0"/>
                <xsd:element ref="ns2:MediaServiceGenerationTime" minOccurs="0"/>
                <xsd:element ref="ns2:MediaServiceEventHash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0b71df-48f4-4db7-95c3-a9033c265cb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8ebbb4-e88b-4c99-b506-21d9362781c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8993FAD-BC98-4BC4-9AAA-9B0B2AFC55D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30b71df-48f4-4db7-95c3-a9033c265cb9"/>
    <ds:schemaRef ds:uri="608ebbb4-e88b-4c99-b506-21d9362781c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053D74A-5336-454B-8D4D-7A76286864F0}">
  <ds:schemaRefs>
    <ds:schemaRef ds:uri="http://schemas.microsoft.com/sharepoint/v3/contenttype/forms"/>
  </ds:schemaRefs>
</ds:datastoreItem>
</file>

<file path=customXml/itemProps3.xml><?xml version="1.0" encoding="utf-8"?>
<ds:datastoreItem xmlns:ds="http://schemas.openxmlformats.org/officeDocument/2006/customXml" ds:itemID="{00F551DF-02B3-45E2-A83E-993D28DAF02D}">
  <ds:schemaRefs>
    <ds:schemaRef ds:uri="608ebbb4-e88b-4c99-b506-21d9362781c6"/>
    <ds:schemaRef ds:uri="e30b71df-48f4-4db7-95c3-a9033c265cb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2412</Words>
  <Application>Microsoft Office PowerPoint</Application>
  <PresentationFormat>A4 Paper (210x297 mm)</PresentationFormat>
  <Paragraphs>407</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Marcus Lindley (Staff, Astrea Academy Sheffield)</dc:creator>
  <cp:lastModifiedBy>Adam Brown (Astrea Central)</cp:lastModifiedBy>
  <cp:revision>10</cp:revision>
  <cp:lastPrinted>2023-02-02T08:32:36Z</cp:lastPrinted>
  <dcterms:created xsi:type="dcterms:W3CDTF">2022-06-06T15:50:05Z</dcterms:created>
  <dcterms:modified xsi:type="dcterms:W3CDTF">2025-08-06T13:23:40Z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0x010100CAAB6388F5B3DD48A4F5524A84895604</vt:lpwstr>
  </property>
</Properties>
</file>