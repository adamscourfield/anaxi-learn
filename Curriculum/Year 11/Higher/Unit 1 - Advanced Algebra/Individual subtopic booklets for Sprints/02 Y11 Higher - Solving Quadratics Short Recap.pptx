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0"/>
  </p:notesMasterIdLst>
  <p:sldIdLst>
    <p:sldId id="263" r:id="rId5"/>
    <p:sldId id="2730" r:id="rId6"/>
    <p:sldId id="1162" r:id="rId7"/>
    <p:sldId id="1163" r:id="rId8"/>
    <p:sldId id="1173" r:id="rId9"/>
  </p:sldIdLst>
  <p:sldSz cx="6858000" cy="9906000" type="A4"/>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898" autoAdjust="0"/>
    <p:restoredTop sz="94660"/>
  </p:normalViewPr>
  <p:slideViewPr>
    <p:cSldViewPr snapToGrid="0">
      <p:cViewPr varScale="1">
        <p:scale>
          <a:sx n="77" d="100"/>
          <a:sy n="77" d="100"/>
        </p:scale>
        <p:origin x="325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am Brown (Astrea Central)" userId="e4577f1c-a0ea-4eef-9851-9bdbe8619e58" providerId="ADAL" clId="{B5BD851A-292A-42B3-8025-6825172D1405}"/>
    <pc:docChg chg="delSld">
      <pc:chgData name="Adam Brown (Astrea Central)" userId="e4577f1c-a0ea-4eef-9851-9bdbe8619e58" providerId="ADAL" clId="{B5BD851A-292A-42B3-8025-6825172D1405}" dt="2025-08-06T13:24:48.367" v="2" actId="47"/>
      <pc:docMkLst>
        <pc:docMk/>
      </pc:docMkLst>
      <pc:sldChg chg="del">
        <pc:chgData name="Adam Brown (Astrea Central)" userId="e4577f1c-a0ea-4eef-9851-9bdbe8619e58" providerId="ADAL" clId="{B5BD851A-292A-42B3-8025-6825172D1405}" dt="2025-08-06T13:24:26.987" v="0" actId="47"/>
        <pc:sldMkLst>
          <pc:docMk/>
          <pc:sldMk cId="2420724009" sldId="257"/>
        </pc:sldMkLst>
      </pc:sldChg>
      <pc:sldChg chg="del">
        <pc:chgData name="Adam Brown (Astrea Central)" userId="e4577f1c-a0ea-4eef-9851-9bdbe8619e58" providerId="ADAL" clId="{B5BD851A-292A-42B3-8025-6825172D1405}" dt="2025-08-06T13:24:26.987" v="0" actId="47"/>
        <pc:sldMkLst>
          <pc:docMk/>
          <pc:sldMk cId="1005434100" sldId="258"/>
        </pc:sldMkLst>
      </pc:sldChg>
      <pc:sldChg chg="del">
        <pc:chgData name="Adam Brown (Astrea Central)" userId="e4577f1c-a0ea-4eef-9851-9bdbe8619e58" providerId="ADAL" clId="{B5BD851A-292A-42B3-8025-6825172D1405}" dt="2025-08-06T13:24:48.367" v="2" actId="47"/>
        <pc:sldMkLst>
          <pc:docMk/>
          <pc:sldMk cId="1544988901" sldId="260"/>
        </pc:sldMkLst>
      </pc:sldChg>
      <pc:sldChg chg="del">
        <pc:chgData name="Adam Brown (Astrea Central)" userId="e4577f1c-a0ea-4eef-9851-9bdbe8619e58" providerId="ADAL" clId="{B5BD851A-292A-42B3-8025-6825172D1405}" dt="2025-08-06T13:24:48.367" v="2" actId="47"/>
        <pc:sldMkLst>
          <pc:docMk/>
          <pc:sldMk cId="1298809760" sldId="261"/>
        </pc:sldMkLst>
      </pc:sldChg>
      <pc:sldChg chg="del">
        <pc:chgData name="Adam Brown (Astrea Central)" userId="e4577f1c-a0ea-4eef-9851-9bdbe8619e58" providerId="ADAL" clId="{B5BD851A-292A-42B3-8025-6825172D1405}" dt="2025-08-06T13:24:48.367" v="2" actId="47"/>
        <pc:sldMkLst>
          <pc:docMk/>
          <pc:sldMk cId="2535812588" sldId="262"/>
        </pc:sldMkLst>
      </pc:sldChg>
      <pc:sldChg chg="del">
        <pc:chgData name="Adam Brown (Astrea Central)" userId="e4577f1c-a0ea-4eef-9851-9bdbe8619e58" providerId="ADAL" clId="{B5BD851A-292A-42B3-8025-6825172D1405}" dt="2025-08-06T13:24:48.367" v="2" actId="47"/>
        <pc:sldMkLst>
          <pc:docMk/>
          <pc:sldMk cId="814084658" sldId="270"/>
        </pc:sldMkLst>
      </pc:sldChg>
      <pc:sldChg chg="del">
        <pc:chgData name="Adam Brown (Astrea Central)" userId="e4577f1c-a0ea-4eef-9851-9bdbe8619e58" providerId="ADAL" clId="{B5BD851A-292A-42B3-8025-6825172D1405}" dt="2025-08-06T13:24:48.367" v="2" actId="47"/>
        <pc:sldMkLst>
          <pc:docMk/>
          <pc:sldMk cId="4023999436" sldId="272"/>
        </pc:sldMkLst>
      </pc:sldChg>
      <pc:sldChg chg="del">
        <pc:chgData name="Adam Brown (Astrea Central)" userId="e4577f1c-a0ea-4eef-9851-9bdbe8619e58" providerId="ADAL" clId="{B5BD851A-292A-42B3-8025-6825172D1405}" dt="2025-08-06T13:24:48.367" v="2" actId="47"/>
        <pc:sldMkLst>
          <pc:docMk/>
          <pc:sldMk cId="1555687156" sldId="273"/>
        </pc:sldMkLst>
      </pc:sldChg>
      <pc:sldChg chg="del">
        <pc:chgData name="Adam Brown (Astrea Central)" userId="e4577f1c-a0ea-4eef-9851-9bdbe8619e58" providerId="ADAL" clId="{B5BD851A-292A-42B3-8025-6825172D1405}" dt="2025-08-06T13:24:48.367" v="2" actId="47"/>
        <pc:sldMkLst>
          <pc:docMk/>
          <pc:sldMk cId="488137902" sldId="275"/>
        </pc:sldMkLst>
      </pc:sldChg>
      <pc:sldChg chg="del">
        <pc:chgData name="Adam Brown (Astrea Central)" userId="e4577f1c-a0ea-4eef-9851-9bdbe8619e58" providerId="ADAL" clId="{B5BD851A-292A-42B3-8025-6825172D1405}" dt="2025-08-06T13:24:48.367" v="2" actId="47"/>
        <pc:sldMkLst>
          <pc:docMk/>
          <pc:sldMk cId="2889196625" sldId="279"/>
        </pc:sldMkLst>
      </pc:sldChg>
      <pc:sldChg chg="del">
        <pc:chgData name="Adam Brown (Astrea Central)" userId="e4577f1c-a0ea-4eef-9851-9bdbe8619e58" providerId="ADAL" clId="{B5BD851A-292A-42B3-8025-6825172D1405}" dt="2025-08-06T13:24:48.367" v="2" actId="47"/>
        <pc:sldMkLst>
          <pc:docMk/>
          <pc:sldMk cId="2672236804" sldId="280"/>
        </pc:sldMkLst>
      </pc:sldChg>
      <pc:sldChg chg="del">
        <pc:chgData name="Adam Brown (Astrea Central)" userId="e4577f1c-a0ea-4eef-9851-9bdbe8619e58" providerId="ADAL" clId="{B5BD851A-292A-42B3-8025-6825172D1405}" dt="2025-08-06T13:24:48.367" v="2" actId="47"/>
        <pc:sldMkLst>
          <pc:docMk/>
          <pc:sldMk cId="1868544672" sldId="281"/>
        </pc:sldMkLst>
      </pc:sldChg>
      <pc:sldChg chg="del">
        <pc:chgData name="Adam Brown (Astrea Central)" userId="e4577f1c-a0ea-4eef-9851-9bdbe8619e58" providerId="ADAL" clId="{B5BD851A-292A-42B3-8025-6825172D1405}" dt="2025-08-06T13:24:48.367" v="2" actId="47"/>
        <pc:sldMkLst>
          <pc:docMk/>
          <pc:sldMk cId="3971028310" sldId="284"/>
        </pc:sldMkLst>
      </pc:sldChg>
      <pc:sldChg chg="del">
        <pc:chgData name="Adam Brown (Astrea Central)" userId="e4577f1c-a0ea-4eef-9851-9bdbe8619e58" providerId="ADAL" clId="{B5BD851A-292A-42B3-8025-6825172D1405}" dt="2025-08-06T13:24:48.367" v="2" actId="47"/>
        <pc:sldMkLst>
          <pc:docMk/>
          <pc:sldMk cId="1733324030" sldId="285"/>
        </pc:sldMkLst>
      </pc:sldChg>
      <pc:sldChg chg="del">
        <pc:chgData name="Adam Brown (Astrea Central)" userId="e4577f1c-a0ea-4eef-9851-9bdbe8619e58" providerId="ADAL" clId="{B5BD851A-292A-42B3-8025-6825172D1405}" dt="2025-08-06T13:24:48.367" v="2" actId="47"/>
        <pc:sldMkLst>
          <pc:docMk/>
          <pc:sldMk cId="3063108936" sldId="952"/>
        </pc:sldMkLst>
      </pc:sldChg>
      <pc:sldChg chg="del">
        <pc:chgData name="Adam Brown (Astrea Central)" userId="e4577f1c-a0ea-4eef-9851-9bdbe8619e58" providerId="ADAL" clId="{B5BD851A-292A-42B3-8025-6825172D1405}" dt="2025-08-06T13:24:48.367" v="2" actId="47"/>
        <pc:sldMkLst>
          <pc:docMk/>
          <pc:sldMk cId="2587464780" sldId="957"/>
        </pc:sldMkLst>
      </pc:sldChg>
      <pc:sldChg chg="del">
        <pc:chgData name="Adam Brown (Astrea Central)" userId="e4577f1c-a0ea-4eef-9851-9bdbe8619e58" providerId="ADAL" clId="{B5BD851A-292A-42B3-8025-6825172D1405}" dt="2025-08-06T13:24:48.367" v="2" actId="47"/>
        <pc:sldMkLst>
          <pc:docMk/>
          <pc:sldMk cId="151953142" sldId="963"/>
        </pc:sldMkLst>
      </pc:sldChg>
      <pc:sldChg chg="del">
        <pc:chgData name="Adam Brown (Astrea Central)" userId="e4577f1c-a0ea-4eef-9851-9bdbe8619e58" providerId="ADAL" clId="{B5BD851A-292A-42B3-8025-6825172D1405}" dt="2025-08-06T13:24:48.367" v="2" actId="47"/>
        <pc:sldMkLst>
          <pc:docMk/>
          <pc:sldMk cId="3651128130" sldId="964"/>
        </pc:sldMkLst>
      </pc:sldChg>
      <pc:sldChg chg="del">
        <pc:chgData name="Adam Brown (Astrea Central)" userId="e4577f1c-a0ea-4eef-9851-9bdbe8619e58" providerId="ADAL" clId="{B5BD851A-292A-42B3-8025-6825172D1405}" dt="2025-08-06T13:24:48.367" v="2" actId="47"/>
        <pc:sldMkLst>
          <pc:docMk/>
          <pc:sldMk cId="2962015683" sldId="967"/>
        </pc:sldMkLst>
      </pc:sldChg>
      <pc:sldChg chg="del">
        <pc:chgData name="Adam Brown (Astrea Central)" userId="e4577f1c-a0ea-4eef-9851-9bdbe8619e58" providerId="ADAL" clId="{B5BD851A-292A-42B3-8025-6825172D1405}" dt="2025-08-06T13:24:48.367" v="2" actId="47"/>
        <pc:sldMkLst>
          <pc:docMk/>
          <pc:sldMk cId="8561353" sldId="968"/>
        </pc:sldMkLst>
      </pc:sldChg>
      <pc:sldChg chg="del">
        <pc:chgData name="Adam Brown (Astrea Central)" userId="e4577f1c-a0ea-4eef-9851-9bdbe8619e58" providerId="ADAL" clId="{B5BD851A-292A-42B3-8025-6825172D1405}" dt="2025-08-06T13:24:48.367" v="2" actId="47"/>
        <pc:sldMkLst>
          <pc:docMk/>
          <pc:sldMk cId="3956224976" sldId="971"/>
        </pc:sldMkLst>
      </pc:sldChg>
      <pc:sldChg chg="del">
        <pc:chgData name="Adam Brown (Astrea Central)" userId="e4577f1c-a0ea-4eef-9851-9bdbe8619e58" providerId="ADAL" clId="{B5BD851A-292A-42B3-8025-6825172D1405}" dt="2025-08-06T13:24:48.367" v="2" actId="47"/>
        <pc:sldMkLst>
          <pc:docMk/>
          <pc:sldMk cId="4031722019" sldId="972"/>
        </pc:sldMkLst>
      </pc:sldChg>
      <pc:sldChg chg="del">
        <pc:chgData name="Adam Brown (Astrea Central)" userId="e4577f1c-a0ea-4eef-9851-9bdbe8619e58" providerId="ADAL" clId="{B5BD851A-292A-42B3-8025-6825172D1405}" dt="2025-08-06T13:24:48.367" v="2" actId="47"/>
        <pc:sldMkLst>
          <pc:docMk/>
          <pc:sldMk cId="396356508" sldId="974"/>
        </pc:sldMkLst>
      </pc:sldChg>
      <pc:sldChg chg="del">
        <pc:chgData name="Adam Brown (Astrea Central)" userId="e4577f1c-a0ea-4eef-9851-9bdbe8619e58" providerId="ADAL" clId="{B5BD851A-292A-42B3-8025-6825172D1405}" dt="2025-08-06T13:24:48.367" v="2" actId="47"/>
        <pc:sldMkLst>
          <pc:docMk/>
          <pc:sldMk cId="3752120071" sldId="979"/>
        </pc:sldMkLst>
      </pc:sldChg>
      <pc:sldChg chg="del">
        <pc:chgData name="Adam Brown (Astrea Central)" userId="e4577f1c-a0ea-4eef-9851-9bdbe8619e58" providerId="ADAL" clId="{B5BD851A-292A-42B3-8025-6825172D1405}" dt="2025-08-06T13:24:48.367" v="2" actId="47"/>
        <pc:sldMkLst>
          <pc:docMk/>
          <pc:sldMk cId="4195919322" sldId="981"/>
        </pc:sldMkLst>
      </pc:sldChg>
      <pc:sldChg chg="del">
        <pc:chgData name="Adam Brown (Astrea Central)" userId="e4577f1c-a0ea-4eef-9851-9bdbe8619e58" providerId="ADAL" clId="{B5BD851A-292A-42B3-8025-6825172D1405}" dt="2025-08-06T13:24:48.367" v="2" actId="47"/>
        <pc:sldMkLst>
          <pc:docMk/>
          <pc:sldMk cId="2599061422" sldId="982"/>
        </pc:sldMkLst>
      </pc:sldChg>
      <pc:sldChg chg="del">
        <pc:chgData name="Adam Brown (Astrea Central)" userId="e4577f1c-a0ea-4eef-9851-9bdbe8619e58" providerId="ADAL" clId="{B5BD851A-292A-42B3-8025-6825172D1405}" dt="2025-08-06T13:24:48.367" v="2" actId="47"/>
        <pc:sldMkLst>
          <pc:docMk/>
          <pc:sldMk cId="1696658123" sldId="985"/>
        </pc:sldMkLst>
      </pc:sldChg>
      <pc:sldChg chg="del">
        <pc:chgData name="Adam Brown (Astrea Central)" userId="e4577f1c-a0ea-4eef-9851-9bdbe8619e58" providerId="ADAL" clId="{B5BD851A-292A-42B3-8025-6825172D1405}" dt="2025-08-06T13:24:48.367" v="2" actId="47"/>
        <pc:sldMkLst>
          <pc:docMk/>
          <pc:sldMk cId="1328723957" sldId="987"/>
        </pc:sldMkLst>
      </pc:sldChg>
      <pc:sldChg chg="del">
        <pc:chgData name="Adam Brown (Astrea Central)" userId="e4577f1c-a0ea-4eef-9851-9bdbe8619e58" providerId="ADAL" clId="{B5BD851A-292A-42B3-8025-6825172D1405}" dt="2025-08-06T13:24:48.367" v="2" actId="47"/>
        <pc:sldMkLst>
          <pc:docMk/>
          <pc:sldMk cId="1206986322" sldId="988"/>
        </pc:sldMkLst>
      </pc:sldChg>
      <pc:sldChg chg="del">
        <pc:chgData name="Adam Brown (Astrea Central)" userId="e4577f1c-a0ea-4eef-9851-9bdbe8619e58" providerId="ADAL" clId="{B5BD851A-292A-42B3-8025-6825172D1405}" dt="2025-08-06T13:24:48.367" v="2" actId="47"/>
        <pc:sldMkLst>
          <pc:docMk/>
          <pc:sldMk cId="1594028101" sldId="989"/>
        </pc:sldMkLst>
      </pc:sldChg>
      <pc:sldChg chg="del">
        <pc:chgData name="Adam Brown (Astrea Central)" userId="e4577f1c-a0ea-4eef-9851-9bdbe8619e58" providerId="ADAL" clId="{B5BD851A-292A-42B3-8025-6825172D1405}" dt="2025-08-06T13:24:48.367" v="2" actId="47"/>
        <pc:sldMkLst>
          <pc:docMk/>
          <pc:sldMk cId="2219029894" sldId="990"/>
        </pc:sldMkLst>
      </pc:sldChg>
      <pc:sldChg chg="del">
        <pc:chgData name="Adam Brown (Astrea Central)" userId="e4577f1c-a0ea-4eef-9851-9bdbe8619e58" providerId="ADAL" clId="{B5BD851A-292A-42B3-8025-6825172D1405}" dt="2025-08-06T13:24:35.796" v="1" actId="47"/>
        <pc:sldMkLst>
          <pc:docMk/>
          <pc:sldMk cId="271517831" sldId="2696"/>
        </pc:sldMkLst>
      </pc:sldChg>
      <pc:sldChg chg="del">
        <pc:chgData name="Adam Brown (Astrea Central)" userId="e4577f1c-a0ea-4eef-9851-9bdbe8619e58" providerId="ADAL" clId="{B5BD851A-292A-42B3-8025-6825172D1405}" dt="2025-08-06T13:24:35.796" v="1" actId="47"/>
        <pc:sldMkLst>
          <pc:docMk/>
          <pc:sldMk cId="1380726865" sldId="2698"/>
        </pc:sldMkLst>
      </pc:sldChg>
      <pc:sldChg chg="del">
        <pc:chgData name="Adam Brown (Astrea Central)" userId="e4577f1c-a0ea-4eef-9851-9bdbe8619e58" providerId="ADAL" clId="{B5BD851A-292A-42B3-8025-6825172D1405}" dt="2025-08-06T13:24:35.796" v="1" actId="47"/>
        <pc:sldMkLst>
          <pc:docMk/>
          <pc:sldMk cId="1343043793" sldId="2700"/>
        </pc:sldMkLst>
      </pc:sldChg>
      <pc:sldChg chg="del">
        <pc:chgData name="Adam Brown (Astrea Central)" userId="e4577f1c-a0ea-4eef-9851-9bdbe8619e58" providerId="ADAL" clId="{B5BD851A-292A-42B3-8025-6825172D1405}" dt="2025-08-06T13:24:35.796" v="1" actId="47"/>
        <pc:sldMkLst>
          <pc:docMk/>
          <pc:sldMk cId="3301299181" sldId="2701"/>
        </pc:sldMkLst>
      </pc:sldChg>
      <pc:sldChg chg="del">
        <pc:chgData name="Adam Brown (Astrea Central)" userId="e4577f1c-a0ea-4eef-9851-9bdbe8619e58" providerId="ADAL" clId="{B5BD851A-292A-42B3-8025-6825172D1405}" dt="2025-08-06T13:24:35.796" v="1" actId="47"/>
        <pc:sldMkLst>
          <pc:docMk/>
          <pc:sldMk cId="3757623286" sldId="2702"/>
        </pc:sldMkLst>
      </pc:sldChg>
      <pc:sldChg chg="del">
        <pc:chgData name="Adam Brown (Astrea Central)" userId="e4577f1c-a0ea-4eef-9851-9bdbe8619e58" providerId="ADAL" clId="{B5BD851A-292A-42B3-8025-6825172D1405}" dt="2025-08-06T13:24:35.796" v="1" actId="47"/>
        <pc:sldMkLst>
          <pc:docMk/>
          <pc:sldMk cId="3911472027" sldId="2704"/>
        </pc:sldMkLst>
      </pc:sldChg>
      <pc:sldChg chg="del">
        <pc:chgData name="Adam Brown (Astrea Central)" userId="e4577f1c-a0ea-4eef-9851-9bdbe8619e58" providerId="ADAL" clId="{B5BD851A-292A-42B3-8025-6825172D1405}" dt="2025-08-06T13:24:35.796" v="1" actId="47"/>
        <pc:sldMkLst>
          <pc:docMk/>
          <pc:sldMk cId="1845416459" sldId="2705"/>
        </pc:sldMkLst>
      </pc:sldChg>
      <pc:sldChg chg="del">
        <pc:chgData name="Adam Brown (Astrea Central)" userId="e4577f1c-a0ea-4eef-9851-9bdbe8619e58" providerId="ADAL" clId="{B5BD851A-292A-42B3-8025-6825172D1405}" dt="2025-08-06T13:24:35.796" v="1" actId="47"/>
        <pc:sldMkLst>
          <pc:docMk/>
          <pc:sldMk cId="1886488787" sldId="2706"/>
        </pc:sldMkLst>
      </pc:sldChg>
      <pc:sldChg chg="del">
        <pc:chgData name="Adam Brown (Astrea Central)" userId="e4577f1c-a0ea-4eef-9851-9bdbe8619e58" providerId="ADAL" clId="{B5BD851A-292A-42B3-8025-6825172D1405}" dt="2025-08-06T13:24:35.796" v="1" actId="47"/>
        <pc:sldMkLst>
          <pc:docMk/>
          <pc:sldMk cId="3400159256" sldId="2707"/>
        </pc:sldMkLst>
      </pc:sldChg>
      <pc:sldChg chg="del">
        <pc:chgData name="Adam Brown (Astrea Central)" userId="e4577f1c-a0ea-4eef-9851-9bdbe8619e58" providerId="ADAL" clId="{B5BD851A-292A-42B3-8025-6825172D1405}" dt="2025-08-06T13:24:35.796" v="1" actId="47"/>
        <pc:sldMkLst>
          <pc:docMk/>
          <pc:sldMk cId="2664751948" sldId="2709"/>
        </pc:sldMkLst>
      </pc:sldChg>
      <pc:sldChg chg="del">
        <pc:chgData name="Adam Brown (Astrea Central)" userId="e4577f1c-a0ea-4eef-9851-9bdbe8619e58" providerId="ADAL" clId="{B5BD851A-292A-42B3-8025-6825172D1405}" dt="2025-08-06T13:24:35.796" v="1" actId="47"/>
        <pc:sldMkLst>
          <pc:docMk/>
          <pc:sldMk cId="3722714943" sldId="2711"/>
        </pc:sldMkLst>
      </pc:sldChg>
      <pc:sldChg chg="del">
        <pc:chgData name="Adam Brown (Astrea Central)" userId="e4577f1c-a0ea-4eef-9851-9bdbe8619e58" providerId="ADAL" clId="{B5BD851A-292A-42B3-8025-6825172D1405}" dt="2025-08-06T13:24:35.796" v="1" actId="47"/>
        <pc:sldMkLst>
          <pc:docMk/>
          <pc:sldMk cId="2752550148" sldId="2714"/>
        </pc:sldMkLst>
      </pc:sldChg>
      <pc:sldChg chg="del">
        <pc:chgData name="Adam Brown (Astrea Central)" userId="e4577f1c-a0ea-4eef-9851-9bdbe8619e58" providerId="ADAL" clId="{B5BD851A-292A-42B3-8025-6825172D1405}" dt="2025-08-06T13:24:35.796" v="1" actId="47"/>
        <pc:sldMkLst>
          <pc:docMk/>
          <pc:sldMk cId="3615378340" sldId="2715"/>
        </pc:sldMkLst>
      </pc:sldChg>
      <pc:sldChg chg="del">
        <pc:chgData name="Adam Brown (Astrea Central)" userId="e4577f1c-a0ea-4eef-9851-9bdbe8619e58" providerId="ADAL" clId="{B5BD851A-292A-42B3-8025-6825172D1405}" dt="2025-08-06T13:24:35.796" v="1" actId="47"/>
        <pc:sldMkLst>
          <pc:docMk/>
          <pc:sldMk cId="2217025205" sldId="2716"/>
        </pc:sldMkLst>
      </pc:sldChg>
      <pc:sldChg chg="del">
        <pc:chgData name="Adam Brown (Astrea Central)" userId="e4577f1c-a0ea-4eef-9851-9bdbe8619e58" providerId="ADAL" clId="{B5BD851A-292A-42B3-8025-6825172D1405}" dt="2025-08-06T13:24:35.796" v="1" actId="47"/>
        <pc:sldMkLst>
          <pc:docMk/>
          <pc:sldMk cId="2572306068" sldId="2717"/>
        </pc:sldMkLst>
      </pc:sldChg>
      <pc:sldChg chg="del">
        <pc:chgData name="Adam Brown (Astrea Central)" userId="e4577f1c-a0ea-4eef-9851-9bdbe8619e58" providerId="ADAL" clId="{B5BD851A-292A-42B3-8025-6825172D1405}" dt="2025-08-06T13:24:35.796" v="1" actId="47"/>
        <pc:sldMkLst>
          <pc:docMk/>
          <pc:sldMk cId="1685474441" sldId="2718"/>
        </pc:sldMkLst>
      </pc:sldChg>
      <pc:sldChg chg="del">
        <pc:chgData name="Adam Brown (Astrea Central)" userId="e4577f1c-a0ea-4eef-9851-9bdbe8619e58" providerId="ADAL" clId="{B5BD851A-292A-42B3-8025-6825172D1405}" dt="2025-08-06T13:24:26.987" v="0" actId="47"/>
        <pc:sldMkLst>
          <pc:docMk/>
          <pc:sldMk cId="933153135" sldId="2728"/>
        </pc:sldMkLst>
      </pc:sldChg>
      <pc:sldChg chg="del">
        <pc:chgData name="Adam Brown (Astrea Central)" userId="e4577f1c-a0ea-4eef-9851-9bdbe8619e58" providerId="ADAL" clId="{B5BD851A-292A-42B3-8025-6825172D1405}" dt="2025-08-06T13:24:48.367" v="2" actId="47"/>
        <pc:sldMkLst>
          <pc:docMk/>
          <pc:sldMk cId="3800818377" sldId="2731"/>
        </pc:sldMkLst>
      </pc:sldChg>
      <pc:sldChg chg="del">
        <pc:chgData name="Adam Brown (Astrea Central)" userId="e4577f1c-a0ea-4eef-9851-9bdbe8619e58" providerId="ADAL" clId="{B5BD851A-292A-42B3-8025-6825172D1405}" dt="2025-08-06T13:24:48.367" v="2" actId="47"/>
        <pc:sldMkLst>
          <pc:docMk/>
          <pc:sldMk cId="2522769965" sldId="2732"/>
        </pc:sldMkLst>
      </pc:sldChg>
      <pc:sldChg chg="del">
        <pc:chgData name="Adam Brown (Astrea Central)" userId="e4577f1c-a0ea-4eef-9851-9bdbe8619e58" providerId="ADAL" clId="{B5BD851A-292A-42B3-8025-6825172D1405}" dt="2025-08-06T13:24:48.367" v="2" actId="47"/>
        <pc:sldMkLst>
          <pc:docMk/>
          <pc:sldMk cId="1710446999" sldId="2733"/>
        </pc:sldMkLst>
      </pc:sldChg>
      <pc:sldChg chg="del">
        <pc:chgData name="Adam Brown (Astrea Central)" userId="e4577f1c-a0ea-4eef-9851-9bdbe8619e58" providerId="ADAL" clId="{B5BD851A-292A-42B3-8025-6825172D1405}" dt="2025-08-06T13:24:48.367" v="2" actId="47"/>
        <pc:sldMkLst>
          <pc:docMk/>
          <pc:sldMk cId="2556719208" sldId="2734"/>
        </pc:sldMkLst>
      </pc:sldChg>
      <pc:sldChg chg="del">
        <pc:chgData name="Adam Brown (Astrea Central)" userId="e4577f1c-a0ea-4eef-9851-9bdbe8619e58" providerId="ADAL" clId="{B5BD851A-292A-42B3-8025-6825172D1405}" dt="2025-08-06T13:24:48.367" v="2" actId="47"/>
        <pc:sldMkLst>
          <pc:docMk/>
          <pc:sldMk cId="3087637966" sldId="2738"/>
        </pc:sldMkLst>
      </pc:sldChg>
      <pc:sldChg chg="del">
        <pc:chgData name="Adam Brown (Astrea Central)" userId="e4577f1c-a0ea-4eef-9851-9bdbe8619e58" providerId="ADAL" clId="{B5BD851A-292A-42B3-8025-6825172D1405}" dt="2025-08-06T13:24:48.367" v="2" actId="47"/>
        <pc:sldMkLst>
          <pc:docMk/>
          <pc:sldMk cId="1083040939" sldId="2740"/>
        </pc:sldMkLst>
      </pc:sldChg>
      <pc:sldChg chg="del">
        <pc:chgData name="Adam Brown (Astrea Central)" userId="e4577f1c-a0ea-4eef-9851-9bdbe8619e58" providerId="ADAL" clId="{B5BD851A-292A-42B3-8025-6825172D1405}" dt="2025-08-06T13:24:48.367" v="2" actId="47"/>
        <pc:sldMkLst>
          <pc:docMk/>
          <pc:sldMk cId="2874314852" sldId="2742"/>
        </pc:sldMkLst>
      </pc:sldChg>
      <pc:sldChg chg="del">
        <pc:chgData name="Adam Brown (Astrea Central)" userId="e4577f1c-a0ea-4eef-9851-9bdbe8619e58" providerId="ADAL" clId="{B5BD851A-292A-42B3-8025-6825172D1405}" dt="2025-08-06T13:24:48.367" v="2" actId="47"/>
        <pc:sldMkLst>
          <pc:docMk/>
          <pc:sldMk cId="623754354" sldId="2743"/>
        </pc:sldMkLst>
      </pc:sldChg>
      <pc:sldChg chg="del">
        <pc:chgData name="Adam Brown (Astrea Central)" userId="e4577f1c-a0ea-4eef-9851-9bdbe8619e58" providerId="ADAL" clId="{B5BD851A-292A-42B3-8025-6825172D1405}" dt="2025-08-06T13:24:48.367" v="2" actId="47"/>
        <pc:sldMkLst>
          <pc:docMk/>
          <pc:sldMk cId="953605078" sldId="2745"/>
        </pc:sldMkLst>
      </pc:sldChg>
      <pc:sldChg chg="del">
        <pc:chgData name="Adam Brown (Astrea Central)" userId="e4577f1c-a0ea-4eef-9851-9bdbe8619e58" providerId="ADAL" clId="{B5BD851A-292A-42B3-8025-6825172D1405}" dt="2025-08-06T13:24:48.367" v="2" actId="47"/>
        <pc:sldMkLst>
          <pc:docMk/>
          <pc:sldMk cId="1123673023" sldId="2747"/>
        </pc:sldMkLst>
      </pc:sldChg>
      <pc:sldChg chg="del">
        <pc:chgData name="Adam Brown (Astrea Central)" userId="e4577f1c-a0ea-4eef-9851-9bdbe8619e58" providerId="ADAL" clId="{B5BD851A-292A-42B3-8025-6825172D1405}" dt="2025-08-06T13:24:48.367" v="2" actId="47"/>
        <pc:sldMkLst>
          <pc:docMk/>
          <pc:sldMk cId="2554891542" sldId="2748"/>
        </pc:sldMkLst>
      </pc:sldChg>
      <pc:sldChg chg="del">
        <pc:chgData name="Adam Brown (Astrea Central)" userId="e4577f1c-a0ea-4eef-9851-9bdbe8619e58" providerId="ADAL" clId="{B5BD851A-292A-42B3-8025-6825172D1405}" dt="2025-08-06T13:24:48.367" v="2" actId="47"/>
        <pc:sldMkLst>
          <pc:docMk/>
          <pc:sldMk cId="148444291" sldId="2749"/>
        </pc:sldMkLst>
      </pc:sldChg>
      <pc:sldChg chg="del">
        <pc:chgData name="Adam Brown (Astrea Central)" userId="e4577f1c-a0ea-4eef-9851-9bdbe8619e58" providerId="ADAL" clId="{B5BD851A-292A-42B3-8025-6825172D1405}" dt="2025-08-06T13:24:48.367" v="2" actId="47"/>
        <pc:sldMkLst>
          <pc:docMk/>
          <pc:sldMk cId="594926883" sldId="2754"/>
        </pc:sldMkLst>
      </pc:sldChg>
      <pc:sldChg chg="del">
        <pc:chgData name="Adam Brown (Astrea Central)" userId="e4577f1c-a0ea-4eef-9851-9bdbe8619e58" providerId="ADAL" clId="{B5BD851A-292A-42B3-8025-6825172D1405}" dt="2025-08-06T13:24:48.367" v="2" actId="47"/>
        <pc:sldMkLst>
          <pc:docMk/>
          <pc:sldMk cId="450469358" sldId="2755"/>
        </pc:sldMkLst>
      </pc:sldChg>
      <pc:sldChg chg="del">
        <pc:chgData name="Adam Brown (Astrea Central)" userId="e4577f1c-a0ea-4eef-9851-9bdbe8619e58" providerId="ADAL" clId="{B5BD851A-292A-42B3-8025-6825172D1405}" dt="2025-08-06T13:24:48.367" v="2" actId="47"/>
        <pc:sldMkLst>
          <pc:docMk/>
          <pc:sldMk cId="1755945383" sldId="2756"/>
        </pc:sldMkLst>
      </pc:sldChg>
      <pc:sldChg chg="del">
        <pc:chgData name="Adam Brown (Astrea Central)" userId="e4577f1c-a0ea-4eef-9851-9bdbe8619e58" providerId="ADAL" clId="{B5BD851A-292A-42B3-8025-6825172D1405}" dt="2025-08-06T13:24:48.367" v="2" actId="47"/>
        <pc:sldMkLst>
          <pc:docMk/>
          <pc:sldMk cId="625410266" sldId="2757"/>
        </pc:sldMkLst>
      </pc:sldChg>
      <pc:sldChg chg="del">
        <pc:chgData name="Adam Brown (Astrea Central)" userId="e4577f1c-a0ea-4eef-9851-9bdbe8619e58" providerId="ADAL" clId="{B5BD851A-292A-42B3-8025-6825172D1405}" dt="2025-08-06T13:24:48.367" v="2" actId="47"/>
        <pc:sldMkLst>
          <pc:docMk/>
          <pc:sldMk cId="2102929360" sldId="275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BD887872-9236-460B-BC2A-E44A8AC6C1EB}" type="datetimeFigureOut">
              <a:rPr lang="en-GB" smtClean="0"/>
              <a:t>06/08/2025</a:t>
            </a:fld>
            <a:endParaRPr lang="en-GB"/>
          </a:p>
        </p:txBody>
      </p:sp>
      <p:sp>
        <p:nvSpPr>
          <p:cNvPr id="4" name="Slide Image Placeholder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A65AC23A-D8C2-4808-8C51-A2299E24BAA4}" type="slidenum">
              <a:rPr lang="en-GB" smtClean="0"/>
              <a:t>‹#›</a:t>
            </a:fld>
            <a:endParaRPr lang="en-GB"/>
          </a:p>
        </p:txBody>
      </p:sp>
    </p:spTree>
    <p:extLst>
      <p:ext uri="{BB962C8B-B14F-4D97-AF65-F5344CB8AC3E}">
        <p14:creationId xmlns:p14="http://schemas.microsoft.com/office/powerpoint/2010/main" val="3461726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68538" y="1243013"/>
            <a:ext cx="2320925" cy="3355975"/>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6C24A783-C653-C444-A1FE-7D3BC73388DB}" type="slidenum">
              <a:rPr lang="en-GB" smtClean="0">
                <a:solidFill>
                  <a:prstClr val="black"/>
                </a:solidFill>
              </a:rPr>
              <a:pPr/>
              <a:t>1</a:t>
            </a:fld>
            <a:endParaRPr lang="en-GB">
              <a:solidFill>
                <a:prstClr val="black"/>
              </a:solidFill>
            </a:endParaRPr>
          </a:p>
        </p:txBody>
      </p:sp>
    </p:spTree>
    <p:extLst>
      <p:ext uri="{BB962C8B-B14F-4D97-AF65-F5344CB8AC3E}">
        <p14:creationId xmlns:p14="http://schemas.microsoft.com/office/powerpoint/2010/main" val="3419967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409CD-2F0A-CCCD-E61A-0CF4B734D1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BFF181-7B11-1072-24EA-AB351C56F5C7}"/>
              </a:ext>
            </a:extLst>
          </p:cNvPr>
          <p:cNvSpPr>
            <a:spLocks noGrp="1" noRot="1" noChangeAspect="1"/>
          </p:cNvSpPr>
          <p:nvPr>
            <p:ph type="sldImg"/>
          </p:nvPr>
        </p:nvSpPr>
        <p:spPr>
          <a:xfrm>
            <a:off x="2268538" y="1243013"/>
            <a:ext cx="2320925" cy="3355975"/>
          </a:xfrm>
        </p:spPr>
      </p:sp>
      <p:sp>
        <p:nvSpPr>
          <p:cNvPr id="3" name="Notes Placeholder 2">
            <a:extLst>
              <a:ext uri="{FF2B5EF4-FFF2-40B4-BE49-F238E27FC236}">
                <a16:creationId xmlns:a16="http://schemas.microsoft.com/office/drawing/2014/main" id="{F2B41CD9-AA47-CFAB-3926-164F298C929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1329C30-F030-F1E9-2EAE-0C098E2D7974}"/>
              </a:ext>
            </a:extLst>
          </p:cNvPr>
          <p:cNvSpPr>
            <a:spLocks noGrp="1"/>
          </p:cNvSpPr>
          <p:nvPr>
            <p:ph type="sldNum" sz="quarter" idx="5"/>
          </p:nvPr>
        </p:nvSpPr>
        <p:spPr/>
        <p:txBody>
          <a:bodyPr/>
          <a:lstStyle/>
          <a:p>
            <a:fld id="{6C24A783-C653-C444-A1FE-7D3BC73388DB}" type="slidenum">
              <a:rPr lang="en-GB" smtClean="0">
                <a:solidFill>
                  <a:prstClr val="black"/>
                </a:solidFill>
              </a:rPr>
              <a:pPr/>
              <a:t>2</a:t>
            </a:fld>
            <a:endParaRPr lang="en-GB">
              <a:solidFill>
                <a:prstClr val="black"/>
              </a:solidFill>
            </a:endParaRPr>
          </a:p>
        </p:txBody>
      </p:sp>
    </p:spTree>
    <p:extLst>
      <p:ext uri="{BB962C8B-B14F-4D97-AF65-F5344CB8AC3E}">
        <p14:creationId xmlns:p14="http://schemas.microsoft.com/office/powerpoint/2010/main" val="6363664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C36645BB-F530-4C6B-ABAE-E32F8A251980}"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2868696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0EDB0C-8CB1-4E4B-A7D2-72D1E989F74F}"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3628738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418B7CF-AD3A-412E-A236-AD334123F5DC}"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2965247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1488"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71863"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5F8CF75-DE73-4975-8438-DCC60FF5A9C7}" type="datetime1">
              <a:rPr lang="en-GB" smtClean="0"/>
              <a:t>06/08/2025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1642259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FD433DA-9DCC-4C1C-BE87-1B843446F1E2}" type="datetime1">
              <a:rPr lang="en-GB" smtClean="0"/>
              <a:t>06/08/2025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660260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036B931-B1B4-4301-9FA3-4AC76251F969}" type="datetime1">
              <a:rPr lang="en-GB" smtClean="0"/>
              <a:t>06/08/2025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4160737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4EB317-EAB0-4C19-A195-2782EA19078C}" type="datetime1">
              <a:rPr lang="en-GB" smtClean="0"/>
              <a:t>06/08/2025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377690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EEE7F5A2-2F3B-430C-BD43-6D2323C7CD6A}" type="datetime1">
              <a:rPr lang="en-GB" smtClean="0"/>
              <a:t>06/08/2025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1032427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3D6AD09F-1297-4193-9BA9-680759B76EE0}" type="datetime1">
              <a:rPr lang="en-GB" smtClean="0"/>
              <a:t>06/08/2025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3235885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8ED7873-3A83-4840-BD06-EB3A5B53B6DA}"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2130277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E7EED6-F9AB-4871-A4A9-4EB7B43E5F99}"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1883891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80118337-BCAC-4A6B-9508-65A0DEBA7F58}" type="datetime1">
              <a:rPr lang="en-GB" smtClean="0"/>
              <a:t>06/08/2025</a:t>
            </a:fld>
            <a:endParaRPr lang="en-GB"/>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9BD3B4A0-BFF9-422C-B253-48BA94BE2F5B}" type="slidenum">
              <a:rPr lang="en-GB" smtClean="0"/>
              <a:t>‹#›</a:t>
            </a:fld>
            <a:endParaRPr lang="en-GB"/>
          </a:p>
        </p:txBody>
      </p:sp>
    </p:spTree>
    <p:extLst>
      <p:ext uri="{BB962C8B-B14F-4D97-AF65-F5344CB8AC3E}">
        <p14:creationId xmlns:p14="http://schemas.microsoft.com/office/powerpoint/2010/main" val="28197563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90.png"/><Relationship Id="rId12" Type="http://schemas.openxmlformats.org/officeDocument/2006/relationships/image" Target="../media/image199.png"/><Relationship Id="rId2" Type="http://schemas.openxmlformats.org/officeDocument/2006/relationships/notesSlide" Target="../notesSlides/notesSlide1.xml"/><Relationship Id="rId16" Type="http://schemas.openxmlformats.org/officeDocument/2006/relationships/image" Target="../media/image203.png"/><Relationship Id="rId1" Type="http://schemas.openxmlformats.org/officeDocument/2006/relationships/slideLayout" Target="../slideLayouts/slideLayout7.xml"/><Relationship Id="rId6" Type="http://schemas.openxmlformats.org/officeDocument/2006/relationships/image" Target="../media/image193.png"/><Relationship Id="rId11" Type="http://schemas.openxmlformats.org/officeDocument/2006/relationships/image" Target="../media/image198.png"/><Relationship Id="rId5" Type="http://schemas.openxmlformats.org/officeDocument/2006/relationships/image" Target="../media/image192.png"/><Relationship Id="rId10" Type="http://schemas.openxmlformats.org/officeDocument/2006/relationships/image" Target="../media/image197.png"/><Relationship Id="rId4" Type="http://schemas.openxmlformats.org/officeDocument/2006/relationships/image" Target="../media/image191.png"/></Relationships>
</file>

<file path=ppt/slides/_rels/slide2.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14.png"/><Relationship Id="rId3" Type="http://schemas.openxmlformats.org/officeDocument/2006/relationships/image" Target="../media/image204.png"/><Relationship Id="rId7" Type="http://schemas.openxmlformats.org/officeDocument/2006/relationships/image" Target="../media/image21.png"/><Relationship Id="rId2" Type="http://schemas.openxmlformats.org/officeDocument/2006/relationships/notesSlide" Target="../notesSlides/notesSlide2.xml"/><Relationship Id="rId16" Type="http://schemas.openxmlformats.org/officeDocument/2006/relationships/image" Target="../media/image217.png"/><Relationship Id="rId1" Type="http://schemas.openxmlformats.org/officeDocument/2006/relationships/slideLayout" Target="../slideLayouts/slideLayout7.xml"/><Relationship Id="rId6" Type="http://schemas.openxmlformats.org/officeDocument/2006/relationships/image" Target="../media/image207.png"/><Relationship Id="rId5" Type="http://schemas.openxmlformats.org/officeDocument/2006/relationships/image" Target="../media/image206.png"/><Relationship Id="rId15" Type="http://schemas.openxmlformats.org/officeDocument/2006/relationships/image" Target="../media/image27.png"/><Relationship Id="rId4" Type="http://schemas.openxmlformats.org/officeDocument/2006/relationships/image" Target="../media/image205.png"/><Relationship Id="rId9" Type="http://schemas.openxmlformats.org/officeDocument/2006/relationships/image" Target="../media/image25.png"/><Relationship Id="rId14" Type="http://schemas.openxmlformats.org/officeDocument/2006/relationships/image" Target="../media/image26.png"/></Relationships>
</file>

<file path=ppt/slides/_rels/slide3.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2.png"/><Relationship Id="rId4" Type="http://schemas.openxmlformats.org/officeDocument/2006/relationships/image" Target="../media/image30.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554F5C1-D21B-4CDE-B4FD-998FDBB2B0D6}"/>
              </a:ext>
            </a:extLst>
          </p:cNvPr>
          <p:cNvSpPr/>
          <p:nvPr/>
        </p:nvSpPr>
        <p:spPr>
          <a:xfrm>
            <a:off x="-9365" y="6061"/>
            <a:ext cx="6858000" cy="29191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noProof="0" dirty="0">
                <a:solidFill>
                  <a:prstClr val="white"/>
                </a:solidFill>
              </a:rPr>
              <a:t>Subtopic 2 – Recap: Solving Quadratic Equations</a:t>
            </a:r>
            <a:endParaRPr lang="en-GB" b="1" noProof="0" dirty="0">
              <a:solidFill>
                <a:prstClr val="white"/>
              </a:solidFill>
            </a:endParaRPr>
          </a:p>
        </p:txBody>
      </p:sp>
      <p:sp>
        <p:nvSpPr>
          <p:cNvPr id="18" name="Slide Number Placeholder 17"/>
          <p:cNvSpPr>
            <a:spLocks noGrp="1"/>
          </p:cNvSpPr>
          <p:nvPr>
            <p:ph type="sldNum" sz="quarter" idx="12"/>
          </p:nvPr>
        </p:nvSpPr>
        <p:spPr>
          <a:xfrm>
            <a:off x="5370231" y="9548817"/>
            <a:ext cx="1543050" cy="527403"/>
          </a:xfrm>
        </p:spPr>
        <p:txBody>
          <a:bodyPr/>
          <a:lstStyle/>
          <a:p>
            <a:fld id="{19F1D9CC-7119-45EC-A96C-D8C0660F3AAB}" type="slidenum">
              <a:rPr lang="en-GB" noProof="0" smtClean="0">
                <a:solidFill>
                  <a:schemeClr val="bg1"/>
                </a:solidFill>
              </a:rPr>
              <a:t>1</a:t>
            </a:fld>
            <a:endParaRPr lang="en-GB" noProof="0" dirty="0">
              <a:solidFill>
                <a:schemeClr val="bg1"/>
              </a:solidFill>
            </a:endParaRPr>
          </a:p>
        </p:txBody>
      </p:sp>
      <p:sp>
        <p:nvSpPr>
          <p:cNvPr id="65" name="Slide Number Placeholder 16"/>
          <p:cNvSpPr txBox="1">
            <a:spLocks/>
          </p:cNvSpPr>
          <p:nvPr/>
        </p:nvSpPr>
        <p:spPr>
          <a:xfrm>
            <a:off x="5257814" y="9488376"/>
            <a:ext cx="1543050" cy="527403"/>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D3B4A0-BFF9-422C-B253-48BA94BE2F5B}" type="slidenum">
              <a:rPr lang="en-GB" noProof="0" smtClean="0"/>
              <a:pPr/>
              <a:t>1</a:t>
            </a:fld>
            <a:endParaRPr lang="en-GB" noProof="0" dirty="0"/>
          </a:p>
        </p:txBody>
      </p:sp>
      <p:sp>
        <p:nvSpPr>
          <p:cNvPr id="4" name="Rectangle 3">
            <a:extLst>
              <a:ext uri="{FF2B5EF4-FFF2-40B4-BE49-F238E27FC236}">
                <a16:creationId xmlns:a16="http://schemas.microsoft.com/office/drawing/2014/main" id="{ED8558F4-BAD0-6F6A-64B7-E8D8DBB46328}"/>
              </a:ext>
            </a:extLst>
          </p:cNvPr>
          <p:cNvSpPr/>
          <p:nvPr/>
        </p:nvSpPr>
        <p:spPr>
          <a:xfrm>
            <a:off x="102618" y="317360"/>
            <a:ext cx="6647773" cy="14852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ysClr val="windowText" lastClr="000000"/>
              </a:solidFill>
            </a:endParaRPr>
          </a:p>
        </p:txBody>
      </p:sp>
      <p:sp>
        <p:nvSpPr>
          <p:cNvPr id="5" name="TextBox 4">
            <a:extLst>
              <a:ext uri="{FF2B5EF4-FFF2-40B4-BE49-F238E27FC236}">
                <a16:creationId xmlns:a16="http://schemas.microsoft.com/office/drawing/2014/main" id="{015AC15F-A645-233E-443A-F26000AB545F}"/>
              </a:ext>
            </a:extLst>
          </p:cNvPr>
          <p:cNvSpPr txBox="1"/>
          <p:nvPr/>
        </p:nvSpPr>
        <p:spPr>
          <a:xfrm>
            <a:off x="186511" y="742084"/>
            <a:ext cx="2647189" cy="307777"/>
          </a:xfrm>
          <a:prstGeom prst="rect">
            <a:avLst/>
          </a:prstGeom>
          <a:noFill/>
        </p:spPr>
        <p:txBody>
          <a:bodyPr wrap="square" rtlCol="0">
            <a:spAutoFit/>
          </a:bodyPr>
          <a:lstStyle/>
          <a:p>
            <a:r>
              <a:rPr lang="en-GB" sz="1400" b="1" noProof="0" dirty="0"/>
              <a:t>Objectives:</a:t>
            </a:r>
          </a:p>
        </p:txBody>
      </p:sp>
      <p:sp>
        <p:nvSpPr>
          <p:cNvPr id="7" name="TextBox 6">
            <a:extLst>
              <a:ext uri="{FF2B5EF4-FFF2-40B4-BE49-F238E27FC236}">
                <a16:creationId xmlns:a16="http://schemas.microsoft.com/office/drawing/2014/main" id="{22C9CE5C-0232-262F-3F2F-0289DC3B81CE}"/>
              </a:ext>
            </a:extLst>
          </p:cNvPr>
          <p:cNvSpPr txBox="1"/>
          <p:nvPr/>
        </p:nvSpPr>
        <p:spPr>
          <a:xfrm>
            <a:off x="377041" y="974013"/>
            <a:ext cx="3888646" cy="830997"/>
          </a:xfrm>
          <a:prstGeom prst="rect">
            <a:avLst/>
          </a:prstGeom>
          <a:noFill/>
        </p:spPr>
        <p:txBody>
          <a:bodyPr wrap="square" rtlCol="0">
            <a:spAutoFit/>
          </a:bodyPr>
          <a:lstStyle/>
          <a:p>
            <a:pPr marL="228600" indent="-228600">
              <a:buFont typeface="+mj-lt"/>
              <a:buAutoNum type="arabicPeriod"/>
              <a:defRPr/>
            </a:pPr>
            <a:r>
              <a:rPr lang="en-GB" sz="1200" noProof="0" dirty="0"/>
              <a:t>To recap the three main methods of solving quadratics:</a:t>
            </a:r>
          </a:p>
          <a:p>
            <a:pPr marL="685800" lvl="1" indent="-228600">
              <a:buFont typeface="Arial" panose="020B0604020202020204" pitchFamily="34" charset="0"/>
              <a:buChar char="•"/>
              <a:defRPr/>
            </a:pPr>
            <a:r>
              <a:rPr lang="en-GB" sz="1200" noProof="0" dirty="0"/>
              <a:t>Factorise</a:t>
            </a:r>
          </a:p>
          <a:p>
            <a:pPr marL="685800" lvl="1" indent="-228600">
              <a:buFont typeface="Arial" panose="020B0604020202020204" pitchFamily="34" charset="0"/>
              <a:buChar char="•"/>
              <a:defRPr/>
            </a:pPr>
            <a:r>
              <a:rPr lang="en-GB" sz="1200" noProof="0" dirty="0"/>
              <a:t>Use the quadratic formula</a:t>
            </a:r>
          </a:p>
          <a:p>
            <a:pPr marL="685800" lvl="1" indent="-228600">
              <a:buFont typeface="Arial" panose="020B0604020202020204" pitchFamily="34" charset="0"/>
              <a:buChar char="•"/>
              <a:defRPr/>
            </a:pPr>
            <a:r>
              <a:rPr lang="en-GB" sz="1200" noProof="0" dirty="0"/>
              <a:t>Complete the square</a:t>
            </a:r>
          </a:p>
        </p:txBody>
      </p:sp>
      <p:sp>
        <p:nvSpPr>
          <p:cNvPr id="8" name="TextBox 7">
            <a:extLst>
              <a:ext uri="{FF2B5EF4-FFF2-40B4-BE49-F238E27FC236}">
                <a16:creationId xmlns:a16="http://schemas.microsoft.com/office/drawing/2014/main" id="{8E43949C-A322-81DD-DC5C-4C6E22D4DF6A}"/>
              </a:ext>
            </a:extLst>
          </p:cNvPr>
          <p:cNvSpPr txBox="1"/>
          <p:nvPr/>
        </p:nvSpPr>
        <p:spPr>
          <a:xfrm>
            <a:off x="957393" y="403530"/>
            <a:ext cx="4991042" cy="276999"/>
          </a:xfrm>
          <a:prstGeom prst="rect">
            <a:avLst/>
          </a:prstGeom>
          <a:noFill/>
          <a:ln>
            <a:solidFill>
              <a:schemeClr val="tx1"/>
            </a:solidFill>
          </a:ln>
        </p:spPr>
        <p:txBody>
          <a:bodyPr wrap="square" rtlCol="0">
            <a:spAutoFit/>
          </a:bodyPr>
          <a:lstStyle/>
          <a:p>
            <a:pPr algn="ctr"/>
            <a:r>
              <a:rPr lang="en-GB" sz="1200" noProof="0" dirty="0"/>
              <a:t>LEARNING OUTCOME:  Recap the core skill of solving quadratics. </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AE8E6F9-27CE-FAC5-41B9-8FF8130679E6}"/>
                  </a:ext>
                </a:extLst>
              </p:cNvPr>
              <p:cNvSpPr txBox="1"/>
              <p:nvPr/>
            </p:nvSpPr>
            <p:spPr>
              <a:xfrm>
                <a:off x="88506" y="1880182"/>
                <a:ext cx="6654034" cy="3586495"/>
              </a:xfrm>
              <a:prstGeom prst="rect">
                <a:avLst/>
              </a:prstGeom>
              <a:noFill/>
              <a:ln>
                <a:solidFill>
                  <a:schemeClr val="tx1"/>
                </a:solidFill>
              </a:ln>
            </p:spPr>
            <p:txBody>
              <a:bodyPr wrap="square" rtlCol="0">
                <a:spAutoFit/>
              </a:bodyPr>
              <a:lstStyle/>
              <a:p>
                <a:pPr>
                  <a:lnSpc>
                    <a:spcPct val="107000"/>
                  </a:lnSpc>
                  <a:spcBef>
                    <a:spcPts val="200"/>
                  </a:spcBef>
                </a:pPr>
                <a:r>
                  <a:rPr lang="en-GB" sz="1200" b="1" noProof="0" dirty="0">
                    <a:effectLst/>
                    <a:latin typeface="Calibri Light" panose="020F0302020204030204" pitchFamily="34" charset="0"/>
                    <a:ea typeface="Times New Roman" panose="02020603050405020304" pitchFamily="18" charset="0"/>
                    <a:cs typeface="Times New Roman" panose="02020603050405020304" pitchFamily="18" charset="0"/>
                  </a:rPr>
                  <a:t>Recap: What is a Quadratic and why are they so important in GCSE maths?</a:t>
                </a:r>
              </a:p>
              <a:p>
                <a:pPr>
                  <a:lnSpc>
                    <a:spcPct val="107000"/>
                  </a:lnSpc>
                  <a:spcBef>
                    <a:spcPts val="200"/>
                  </a:spcBef>
                </a:pPr>
                <a:endParaRPr lang="en-GB" sz="1200" b="1" noProof="0" dirty="0">
                  <a:effectLst/>
                  <a:latin typeface="Calibri Light" panose="020F03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GB" sz="1200" noProof="0" dirty="0">
                    <a:effectLst/>
                    <a:latin typeface="Calibri" panose="020F0502020204030204" pitchFamily="34" charset="0"/>
                    <a:ea typeface="Calibri" panose="020F0502020204030204" pitchFamily="34" charset="0"/>
                    <a:cs typeface="Times New Roman" panose="02020603050405020304" pitchFamily="18" charset="0"/>
                  </a:rPr>
                  <a:t>A quadratic expression has the form,</a:t>
                </a:r>
              </a:p>
              <a:p>
                <a:pPr>
                  <a:lnSpc>
                    <a:spcPct val="107000"/>
                  </a:lnSpc>
                  <a:spcAft>
                    <a:spcPts val="800"/>
                  </a:spcAft>
                </a:pPr>
                <a14:m>
                  <m:oMathPara xmlns:m="http://schemas.openxmlformats.org/officeDocument/2006/math">
                    <m:oMathParaPr>
                      <m:jc m:val="centerGroup"/>
                    </m:oMathParaPr>
                    <m:oMath xmlns:m="http://schemas.openxmlformats.org/officeDocument/2006/math">
                      <m:r>
                        <a:rPr lang="en-GB" sz="1200" i="1" noProof="0">
                          <a:effectLst/>
                          <a:latin typeface="Cambria Math" panose="02040503050406030204" pitchFamily="18" charset="0"/>
                          <a:ea typeface="Calibri" panose="020F0502020204030204" pitchFamily="34" charset="0"/>
                          <a:cs typeface="Times New Roman" panose="02020603050405020304" pitchFamily="18" charset="0"/>
                        </a:rPr>
                        <m:t>𝑎</m:t>
                      </m:r>
                      <m:sSup>
                        <m:sSupPr>
                          <m:ctrlPr>
                            <a:rPr lang="en-GB" sz="1200" i="1" noProof="0">
                              <a:effectLst/>
                              <a:latin typeface="Cambria Math" panose="02040503050406030204" pitchFamily="18" charset="0"/>
                              <a:ea typeface="Calibri" panose="020F0502020204030204" pitchFamily="34" charset="0"/>
                              <a:cs typeface="Times New Roman" panose="02020603050405020304" pitchFamily="18" charset="0"/>
                            </a:rPr>
                          </m:ctrlPr>
                        </m:sSupPr>
                        <m:e>
                          <m:r>
                            <a:rPr lang="en-GB" sz="1200" i="1" noProof="0">
                              <a:effectLst/>
                              <a:latin typeface="Cambria Math" panose="02040503050406030204" pitchFamily="18" charset="0"/>
                              <a:ea typeface="Calibri" panose="020F0502020204030204" pitchFamily="34" charset="0"/>
                              <a:cs typeface="Times New Roman" panose="02020603050405020304" pitchFamily="18" charset="0"/>
                            </a:rPr>
                            <m:t>𝑥</m:t>
                          </m:r>
                        </m:e>
                        <m:sup>
                          <m:r>
                            <a:rPr lang="en-GB" sz="1200" i="1" noProof="0">
                              <a:effectLst/>
                              <a:latin typeface="Cambria Math" panose="02040503050406030204" pitchFamily="18" charset="0"/>
                              <a:ea typeface="Calibri" panose="020F0502020204030204" pitchFamily="34" charset="0"/>
                              <a:cs typeface="Times New Roman" panose="02020603050405020304" pitchFamily="18" charset="0"/>
                            </a:rPr>
                            <m:t>2</m:t>
                          </m:r>
                        </m:sup>
                      </m:sSup>
                      <m:r>
                        <a:rPr lang="en-GB" sz="1200" i="1" noProof="0">
                          <a:effectLst/>
                          <a:latin typeface="Cambria Math" panose="02040503050406030204" pitchFamily="18" charset="0"/>
                          <a:ea typeface="Calibri" panose="020F0502020204030204" pitchFamily="34" charset="0"/>
                          <a:cs typeface="Times New Roman" panose="02020603050405020304" pitchFamily="18" charset="0"/>
                        </a:rPr>
                        <m:t>+</m:t>
                      </m:r>
                      <m:r>
                        <a:rPr lang="en-GB" sz="1200" i="1" noProof="0">
                          <a:effectLst/>
                          <a:latin typeface="Cambria Math" panose="02040503050406030204" pitchFamily="18" charset="0"/>
                          <a:ea typeface="Calibri" panose="020F0502020204030204" pitchFamily="34" charset="0"/>
                          <a:cs typeface="Times New Roman" panose="02020603050405020304" pitchFamily="18" charset="0"/>
                        </a:rPr>
                        <m:t>𝑏𝑥</m:t>
                      </m:r>
                      <m:r>
                        <a:rPr lang="en-GB" sz="1200" i="1" noProof="0">
                          <a:effectLst/>
                          <a:latin typeface="Cambria Math" panose="02040503050406030204" pitchFamily="18" charset="0"/>
                          <a:ea typeface="Calibri" panose="020F0502020204030204" pitchFamily="34" charset="0"/>
                          <a:cs typeface="Times New Roman" panose="02020603050405020304" pitchFamily="18" charset="0"/>
                        </a:rPr>
                        <m:t>+</m:t>
                      </m:r>
                      <m:r>
                        <a:rPr lang="en-GB" sz="1200" i="1" noProof="0">
                          <a:effectLst/>
                          <a:latin typeface="Cambria Math" panose="02040503050406030204" pitchFamily="18" charset="0"/>
                          <a:ea typeface="Calibri" panose="020F0502020204030204" pitchFamily="34" charset="0"/>
                          <a:cs typeface="Times New Roman" panose="02020603050405020304" pitchFamily="18" charset="0"/>
                        </a:rPr>
                        <m:t>𝑐</m:t>
                      </m:r>
                      <m:r>
                        <a:rPr lang="en-GB" sz="1200" i="1" noProof="0">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GB" sz="1200" noProof="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200" noProof="0" dirty="0">
                    <a:effectLst/>
                    <a:latin typeface="Calibri" panose="020F0502020204030204" pitchFamily="34" charset="0"/>
                    <a:ea typeface="Times New Roman" panose="02020603050405020304" pitchFamily="18" charset="0"/>
                    <a:cs typeface="Times New Roman" panose="02020603050405020304" pitchFamily="18" charset="0"/>
                  </a:rPr>
                  <a:t>where </a:t>
                </a:r>
                <a14:m>
                  <m:oMath xmlns:m="http://schemas.openxmlformats.org/officeDocument/2006/math">
                    <m:r>
                      <a:rPr lang="en-GB" sz="1200" i="1" noProof="0">
                        <a:effectLst/>
                        <a:latin typeface="Cambria Math" panose="02040503050406030204" pitchFamily="18" charset="0"/>
                        <a:ea typeface="Times New Roman" panose="02020603050405020304" pitchFamily="18" charset="0"/>
                        <a:cs typeface="Times New Roman" panose="02020603050405020304" pitchFamily="18" charset="0"/>
                      </a:rPr>
                      <m:t>𝑎</m:t>
                    </m:r>
                    <m:r>
                      <a:rPr lang="en-GB" sz="1200" i="1" noProof="0">
                        <a:effectLst/>
                        <a:latin typeface="Cambria Math" panose="02040503050406030204" pitchFamily="18" charset="0"/>
                        <a:ea typeface="Times New Roman" panose="02020603050405020304" pitchFamily="18" charset="0"/>
                        <a:cs typeface="Times New Roman" panose="02020603050405020304" pitchFamily="18" charset="0"/>
                      </a:rPr>
                      <m:t>, </m:t>
                    </m:r>
                    <m:r>
                      <a:rPr lang="en-GB" sz="1200" i="1" noProof="0">
                        <a:effectLst/>
                        <a:latin typeface="Cambria Math" panose="02040503050406030204" pitchFamily="18" charset="0"/>
                        <a:ea typeface="Times New Roman" panose="02020603050405020304" pitchFamily="18" charset="0"/>
                        <a:cs typeface="Times New Roman" panose="02020603050405020304" pitchFamily="18" charset="0"/>
                      </a:rPr>
                      <m:t>𝑏</m:t>
                    </m:r>
                  </m:oMath>
                </a14:m>
                <a:r>
                  <a:rPr lang="en-GB" sz="1200" noProof="0" dirty="0">
                    <a:effectLst/>
                    <a:latin typeface="Calibri" panose="020F050202020403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GB" sz="1200" i="1" noProof="0">
                        <a:effectLst/>
                        <a:latin typeface="Cambria Math" panose="02040503050406030204" pitchFamily="18" charset="0"/>
                        <a:ea typeface="Times New Roman" panose="02020603050405020304" pitchFamily="18" charset="0"/>
                        <a:cs typeface="Times New Roman" panose="02020603050405020304" pitchFamily="18" charset="0"/>
                      </a:rPr>
                      <m:t>𝑐</m:t>
                    </m:r>
                  </m:oMath>
                </a14:m>
                <a:r>
                  <a:rPr lang="en-GB" sz="1200" noProof="0" dirty="0">
                    <a:effectLst/>
                    <a:latin typeface="Calibri" panose="020F0502020204030204" pitchFamily="34" charset="0"/>
                    <a:ea typeface="Times New Roman" panose="02020603050405020304" pitchFamily="18" charset="0"/>
                    <a:cs typeface="Times New Roman" panose="02020603050405020304" pitchFamily="18" charset="0"/>
                  </a:rPr>
                  <a:t> are constants.</a:t>
                </a:r>
                <a:endParaRPr lang="en-GB" sz="1200" noProof="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200" noProof="0" dirty="0">
                    <a:effectLst/>
                    <a:latin typeface="Calibri" panose="020F0502020204030204" pitchFamily="34" charset="0"/>
                    <a:ea typeface="Calibri" panose="020F0502020204030204" pitchFamily="34" charset="0"/>
                    <a:cs typeface="Times New Roman" panose="02020603050405020304" pitchFamily="18" charset="0"/>
                  </a:rPr>
                  <a:t>Any expression is called quadratic if there is only one algebraic variable in the expression, the highest power of that variable is </a:t>
                </a:r>
                <a14:m>
                  <m:oMath xmlns:m="http://schemas.openxmlformats.org/officeDocument/2006/math">
                    <m:r>
                      <a:rPr lang="en-GB" sz="1200" i="1" noProof="0">
                        <a:effectLst/>
                        <a:latin typeface="Cambria Math" panose="02040503050406030204" pitchFamily="18" charset="0"/>
                        <a:ea typeface="Calibri" panose="020F0502020204030204" pitchFamily="34" charset="0"/>
                        <a:cs typeface="Times New Roman" panose="02020603050405020304" pitchFamily="18" charset="0"/>
                      </a:rPr>
                      <m:t>2</m:t>
                    </m:r>
                  </m:oMath>
                </a14:m>
                <a:r>
                  <a:rPr lang="en-GB" sz="1200" noProof="0" dirty="0">
                    <a:effectLst/>
                    <a:latin typeface="Calibri" panose="020F0502020204030204" pitchFamily="34" charset="0"/>
                    <a:ea typeface="Calibri" panose="020F0502020204030204" pitchFamily="34" charset="0"/>
                    <a:cs typeface="Times New Roman" panose="02020603050405020304" pitchFamily="18" charset="0"/>
                  </a:rPr>
                  <a:t> and there are no variables to powers below 0 (i.e. </a:t>
                </a:r>
                <a14:m>
                  <m:oMath xmlns:m="http://schemas.openxmlformats.org/officeDocument/2006/math">
                    <m:sSup>
                      <m:sSupPr>
                        <m:ctrlPr>
                          <a:rPr lang="en-GB" sz="1200" i="1" noProof="0">
                            <a:effectLst/>
                            <a:latin typeface="Cambria Math" panose="02040503050406030204" pitchFamily="18" charset="0"/>
                            <a:ea typeface="Calibri" panose="020F0502020204030204" pitchFamily="34" charset="0"/>
                            <a:cs typeface="Times New Roman" panose="02020603050405020304" pitchFamily="18" charset="0"/>
                          </a:rPr>
                        </m:ctrlPr>
                      </m:sSupPr>
                      <m:e>
                        <m:r>
                          <a:rPr lang="en-GB" sz="1200" i="1" noProof="0">
                            <a:effectLst/>
                            <a:latin typeface="Cambria Math" panose="02040503050406030204" pitchFamily="18" charset="0"/>
                            <a:ea typeface="Calibri" panose="020F0502020204030204" pitchFamily="34" charset="0"/>
                            <a:cs typeface="Times New Roman" panose="02020603050405020304" pitchFamily="18" charset="0"/>
                          </a:rPr>
                          <m:t>𝑥</m:t>
                        </m:r>
                      </m:e>
                      <m:sup>
                        <m:r>
                          <a:rPr lang="en-GB" sz="1200" i="1" noProof="0">
                            <a:effectLst/>
                            <a:latin typeface="Cambria Math" panose="02040503050406030204" pitchFamily="18" charset="0"/>
                            <a:ea typeface="Calibri" panose="020F0502020204030204" pitchFamily="34" charset="0"/>
                            <a:cs typeface="Times New Roman" panose="02020603050405020304" pitchFamily="18" charset="0"/>
                          </a:rPr>
                          <m:t>−1</m:t>
                        </m:r>
                      </m:sup>
                    </m:sSup>
                  </m:oMath>
                </a14:m>
                <a:r>
                  <a:rPr lang="en-GB" sz="1200" noProof="0" dirty="0">
                    <a:effectLst/>
                    <a:latin typeface="Calibri" panose="020F0502020204030204" pitchFamily="34" charset="0"/>
                    <a:ea typeface="Times New Roman" panose="02020603050405020304" pitchFamily="18" charset="0"/>
                    <a:cs typeface="Times New Roman" panose="02020603050405020304" pitchFamily="18" charset="0"/>
                  </a:rPr>
                  <a:t>).</a:t>
                </a:r>
              </a:p>
              <a:p>
                <a:pPr>
                  <a:lnSpc>
                    <a:spcPct val="107000"/>
                  </a:lnSpc>
                  <a:spcAft>
                    <a:spcPts val="800"/>
                  </a:spcAft>
                </a:pPr>
                <a:r>
                  <a:rPr lang="en-GB" sz="1200" noProof="0" dirty="0">
                    <a:latin typeface="Calibri" panose="020F0502020204030204" pitchFamily="34" charset="0"/>
                    <a:ea typeface="Times New Roman" panose="02020603050405020304" pitchFamily="18" charset="0"/>
                    <a:cs typeface="Times New Roman" panose="02020603050405020304" pitchFamily="18" charset="0"/>
                  </a:rPr>
                  <a:t>Quadratic equations are where expressions are set to a value, and to solve them means to find the value(s) that make the equation true. Quadratic equations are special in that they may have 2 solutions (or sometimes 1, or sometimes even none).</a:t>
                </a:r>
                <a:endParaRPr lang="en-GB" sz="1200" noProof="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GB" sz="1200" noProof="0" dirty="0">
                    <a:latin typeface="Calibri" panose="020F0502020204030204" pitchFamily="34" charset="0"/>
                    <a:ea typeface="Calibri" panose="020F0502020204030204" pitchFamily="34" charset="0"/>
                    <a:cs typeface="Times New Roman" panose="02020603050405020304" pitchFamily="18" charset="0"/>
                  </a:rPr>
                  <a:t>For the ‘further algebra’ topics at Higher tier GCSE – such as ‘Algebraic fractions’, ‘Functions’ and ‘Simultaneous equations’, you will often construct a quadratic equation that eventually needs solving. For that reason, it is crucial that you are fluent in the main methods of solving equations, especially factorising and using the quadratic formula. (You may also have been shown how to solve by completing the square).</a:t>
                </a:r>
                <a:endParaRPr lang="en-GB" noProof="0" dirty="0"/>
              </a:p>
            </p:txBody>
          </p:sp>
        </mc:Choice>
        <mc:Fallback xmlns="">
          <p:sp>
            <p:nvSpPr>
              <p:cNvPr id="9" name="TextBox 8">
                <a:extLst>
                  <a:ext uri="{FF2B5EF4-FFF2-40B4-BE49-F238E27FC236}">
                    <a16:creationId xmlns:a16="http://schemas.microsoft.com/office/drawing/2014/main" id="{AAE8E6F9-27CE-FAC5-41B9-8FF8130679E6}"/>
                  </a:ext>
                </a:extLst>
              </p:cNvPr>
              <p:cNvSpPr txBox="1">
                <a:spLocks noRot="1" noChangeAspect="1" noMove="1" noResize="1" noEditPoints="1" noAdjustHandles="1" noChangeArrowheads="1" noChangeShapeType="1" noTextEdit="1"/>
              </p:cNvSpPr>
              <p:nvPr/>
            </p:nvSpPr>
            <p:spPr>
              <a:xfrm>
                <a:off x="88506" y="1880182"/>
                <a:ext cx="6654034" cy="3586495"/>
              </a:xfrm>
              <a:prstGeom prst="rect">
                <a:avLst/>
              </a:prstGeom>
              <a:blipFill>
                <a:blip r:embed="rId3"/>
                <a:stretch>
                  <a:fillRect b="-169"/>
                </a:stretch>
              </a:blipFill>
              <a:ln>
                <a:solidFill>
                  <a:schemeClr val="tx1"/>
                </a:solidFill>
              </a:ln>
            </p:spPr>
            <p:txBody>
              <a:bodyPr/>
              <a:lstStyle/>
              <a:p>
                <a:r>
                  <a:rPr lang="en-US">
                    <a:noFill/>
                  </a:rPr>
                  <a:t> </a:t>
                </a:r>
              </a:p>
            </p:txBody>
          </p:sp>
        </mc:Fallback>
      </mc:AlternateContent>
      <p:sp>
        <p:nvSpPr>
          <p:cNvPr id="12" name="TextBox 11">
            <a:extLst>
              <a:ext uri="{FF2B5EF4-FFF2-40B4-BE49-F238E27FC236}">
                <a16:creationId xmlns:a16="http://schemas.microsoft.com/office/drawing/2014/main" id="{66F96D0D-C689-9DFA-905A-E5C5B1BD285A}"/>
              </a:ext>
            </a:extLst>
          </p:cNvPr>
          <p:cNvSpPr txBox="1"/>
          <p:nvPr/>
        </p:nvSpPr>
        <p:spPr>
          <a:xfrm>
            <a:off x="33234" y="5507015"/>
            <a:ext cx="1817870" cy="276999"/>
          </a:xfrm>
          <a:prstGeom prst="rect">
            <a:avLst/>
          </a:prstGeom>
          <a:solidFill>
            <a:srgbClr val="0070C0"/>
          </a:solidFill>
        </p:spPr>
        <p:txBody>
          <a:bodyPr wrap="none" rtlCol="0" anchor="ctr">
            <a:spAutoFit/>
          </a:bodyPr>
          <a:lstStyle/>
          <a:p>
            <a:pPr algn="r"/>
            <a:r>
              <a:rPr lang="en-GB" sz="1200" b="1" noProof="0" dirty="0">
                <a:solidFill>
                  <a:schemeClr val="bg1"/>
                </a:solidFill>
              </a:rPr>
              <a:t>PRIOR KNOWLEDGE QUIZ</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4E86A81-6FB6-0CBB-DDE4-E2F08F28C9B4}"/>
                  </a:ext>
                </a:extLst>
              </p:cNvPr>
              <p:cNvSpPr txBox="1"/>
              <p:nvPr/>
            </p:nvSpPr>
            <p:spPr>
              <a:xfrm>
                <a:off x="562389" y="5955453"/>
                <a:ext cx="1184363" cy="184666"/>
              </a:xfrm>
              <a:prstGeom prst="rect">
                <a:avLst/>
              </a:prstGeom>
              <a:noFill/>
            </p:spPr>
            <p:txBody>
              <a:bodyPr wrap="none" lIns="0" tIns="0" rIns="0" bIns="0" rtlCol="0">
                <a:spAutoFit/>
              </a:bodyPr>
              <a:lstStyle/>
              <a:p>
                <a:pPr defTabSz="685800">
                  <a:defRPr/>
                </a:pPr>
                <a:r>
                  <a:rPr kumimoji="0" lang="en-GB" sz="1200" b="0" u="none" strike="noStrike" kern="1200" cap="none" spc="0" normalizeH="0" baseline="0" noProof="0" dirty="0">
                    <a:ln>
                      <a:noFill/>
                    </a:ln>
                    <a:solidFill>
                      <a:schemeClr val="tx1"/>
                    </a:solidFill>
                    <a:effectLst/>
                    <a:uLnTx/>
                    <a:uFillTx/>
                    <a:ea typeface="+mn-ea"/>
                    <a:cs typeface="+mn-cs"/>
                  </a:rPr>
                  <a:t>a.</a:t>
                </a:r>
                <a14:m>
                  <m:oMath xmlns:m="http://schemas.openxmlformats.org/officeDocument/2006/math">
                    <m:sSup>
                      <m:sSupPr>
                        <m:ctrlPr>
                          <a:rPr lang="en-GB" sz="1200" i="1" noProof="0">
                            <a:latin typeface="Cambria Math" panose="02040503050406030204" pitchFamily="18" charset="0"/>
                          </a:rPr>
                        </m:ctrlPr>
                      </m:sSupPr>
                      <m:e>
                        <m:r>
                          <a:rPr lang="en-GB" sz="1200" i="1" noProof="0" smtClean="0">
                            <a:latin typeface="Cambria Math" panose="02040503050406030204" pitchFamily="18" charset="0"/>
                          </a:rPr>
                          <m:t>𝑥</m:t>
                        </m:r>
                      </m:e>
                      <m:sup>
                        <m:r>
                          <a:rPr lang="en-GB" sz="1200" i="1" noProof="0" smtClean="0">
                            <a:latin typeface="Cambria Math" panose="02040503050406030204" pitchFamily="18" charset="0"/>
                          </a:rPr>
                          <m:t>2</m:t>
                        </m:r>
                      </m:sup>
                    </m:sSup>
                    <m:r>
                      <a:rPr lang="en-GB" sz="1200" i="1" noProof="0" smtClean="0">
                        <a:latin typeface="Cambria Math" panose="02040503050406030204" pitchFamily="18" charset="0"/>
                      </a:rPr>
                      <m:t>+4</m:t>
                    </m:r>
                    <m:r>
                      <a:rPr lang="en-GB" sz="1200" i="1" noProof="0" smtClean="0">
                        <a:latin typeface="Cambria Math" panose="02040503050406030204" pitchFamily="18" charset="0"/>
                      </a:rPr>
                      <m:t>𝑥</m:t>
                    </m:r>
                    <m:r>
                      <a:rPr lang="en-GB" sz="1200" i="1" noProof="0" smtClean="0">
                        <a:latin typeface="Cambria Math" panose="02040503050406030204" pitchFamily="18" charset="0"/>
                      </a:rPr>
                      <m:t>+4=0</m:t>
                    </m:r>
                  </m:oMath>
                </a14:m>
                <a:endParaRPr lang="en-GB" sz="1200" noProof="0" dirty="0"/>
              </a:p>
            </p:txBody>
          </p:sp>
        </mc:Choice>
        <mc:Fallback xmlns="">
          <p:sp>
            <p:nvSpPr>
              <p:cNvPr id="14" name="TextBox 13">
                <a:extLst>
                  <a:ext uri="{FF2B5EF4-FFF2-40B4-BE49-F238E27FC236}">
                    <a16:creationId xmlns:a16="http://schemas.microsoft.com/office/drawing/2014/main" id="{24E86A81-6FB6-0CBB-DDE4-E2F08F28C9B4}"/>
                  </a:ext>
                </a:extLst>
              </p:cNvPr>
              <p:cNvSpPr txBox="1">
                <a:spLocks noRot="1" noChangeAspect="1" noMove="1" noResize="1" noEditPoints="1" noAdjustHandles="1" noChangeArrowheads="1" noChangeShapeType="1" noTextEdit="1"/>
              </p:cNvSpPr>
              <p:nvPr/>
            </p:nvSpPr>
            <p:spPr>
              <a:xfrm>
                <a:off x="562389" y="5955453"/>
                <a:ext cx="1184363" cy="184666"/>
              </a:xfrm>
              <a:prstGeom prst="rect">
                <a:avLst/>
              </a:prstGeom>
              <a:blipFill>
                <a:blip r:embed="rId4"/>
                <a:stretch>
                  <a:fillRect l="-7692" t="-23333" r="-3590" b="-5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6A908F0-2C11-7730-20A0-C90A3ED86849}"/>
                  </a:ext>
                </a:extLst>
              </p:cNvPr>
              <p:cNvSpPr txBox="1"/>
              <p:nvPr/>
            </p:nvSpPr>
            <p:spPr>
              <a:xfrm>
                <a:off x="2800210" y="5950152"/>
                <a:ext cx="1226041" cy="369332"/>
              </a:xfrm>
              <a:prstGeom prst="rect">
                <a:avLst/>
              </a:prstGeom>
              <a:noFill/>
            </p:spPr>
            <p:txBody>
              <a:bodyPr wrap="none" lIns="0" tIns="0" rIns="0" bIns="0" rtlCol="0">
                <a:spAutoFit/>
              </a:bodyPr>
              <a:lstStyle/>
              <a:p>
                <a:pPr defTabSz="457200">
                  <a:defRPr/>
                </a:pPr>
                <a:r>
                  <a:rPr kumimoji="0" lang="en-GB" sz="1200" b="0" u="none" strike="noStrike" kern="1200" cap="none" spc="0" normalizeH="0" baseline="0" noProof="0" dirty="0">
                    <a:ln>
                      <a:noFill/>
                    </a:ln>
                    <a:solidFill>
                      <a:schemeClr val="tx1"/>
                    </a:solidFill>
                    <a:effectLst/>
                    <a:uLnTx/>
                    <a:uFillTx/>
                    <a:ea typeface="+mn-ea"/>
                    <a:cs typeface="+mn-cs"/>
                  </a:rPr>
                  <a:t>b. </a:t>
                </a:r>
                <a14:m>
                  <m:oMath xmlns:m="http://schemas.openxmlformats.org/officeDocument/2006/math">
                    <m:sSup>
                      <m:sSupPr>
                        <m:ctrlPr>
                          <a:rPr lang="en-GB" sz="1200" i="1" noProof="0">
                            <a:latin typeface="Cambria Math" panose="02040503050406030204" pitchFamily="18" charset="0"/>
                          </a:rPr>
                        </m:ctrlPr>
                      </m:sSupPr>
                      <m:e>
                        <m:r>
                          <a:rPr lang="en-GB" sz="1200" i="1" noProof="0" smtClean="0">
                            <a:latin typeface="Cambria Math" panose="02040503050406030204" pitchFamily="18" charset="0"/>
                          </a:rPr>
                          <m:t>𝑥</m:t>
                        </m:r>
                      </m:e>
                      <m:sup>
                        <m:r>
                          <a:rPr lang="en-GB" sz="1200" i="1" noProof="0" smtClean="0">
                            <a:latin typeface="Cambria Math" panose="02040503050406030204" pitchFamily="18" charset="0"/>
                          </a:rPr>
                          <m:t>2</m:t>
                        </m:r>
                      </m:sup>
                    </m:sSup>
                    <m:r>
                      <a:rPr lang="en-GB" sz="1200" i="1" noProof="0" smtClean="0">
                        <a:latin typeface="Cambria Math" panose="02040503050406030204" pitchFamily="18" charset="0"/>
                      </a:rPr>
                      <m:t>+5</m:t>
                    </m:r>
                    <m:r>
                      <a:rPr lang="en-GB" sz="1200" i="1" noProof="0" smtClean="0">
                        <a:latin typeface="Cambria Math" panose="02040503050406030204" pitchFamily="18" charset="0"/>
                      </a:rPr>
                      <m:t>𝑥</m:t>
                    </m:r>
                    <m:r>
                      <a:rPr lang="en-GB" sz="1200" i="1" noProof="0" smtClean="0">
                        <a:latin typeface="Cambria Math" panose="02040503050406030204" pitchFamily="18" charset="0"/>
                      </a:rPr>
                      <m:t>+6=0</m:t>
                    </m:r>
                  </m:oMath>
                </a14:m>
                <a:endParaRPr lang="en-GB" sz="1200" noProof="0" dirty="0"/>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mc:Choice>
        <mc:Fallback xmlns="">
          <p:sp>
            <p:nvSpPr>
              <p:cNvPr id="15" name="TextBox 14">
                <a:extLst>
                  <a:ext uri="{FF2B5EF4-FFF2-40B4-BE49-F238E27FC236}">
                    <a16:creationId xmlns:a16="http://schemas.microsoft.com/office/drawing/2014/main" id="{D6A908F0-2C11-7730-20A0-C90A3ED86849}"/>
                  </a:ext>
                </a:extLst>
              </p:cNvPr>
              <p:cNvSpPr txBox="1">
                <a:spLocks noRot="1" noChangeAspect="1" noMove="1" noResize="1" noEditPoints="1" noAdjustHandles="1" noChangeArrowheads="1" noChangeShapeType="1" noTextEdit="1"/>
              </p:cNvSpPr>
              <p:nvPr/>
            </p:nvSpPr>
            <p:spPr>
              <a:xfrm>
                <a:off x="2800210" y="5950152"/>
                <a:ext cx="1226041" cy="369332"/>
              </a:xfrm>
              <a:prstGeom prst="rect">
                <a:avLst/>
              </a:prstGeom>
              <a:blipFill>
                <a:blip r:embed="rId5"/>
                <a:stretch>
                  <a:fillRect l="-7463" t="-11475" r="-34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2759810-0798-B432-4F1C-FA1865113A52}"/>
                  </a:ext>
                </a:extLst>
              </p:cNvPr>
              <p:cNvSpPr txBox="1"/>
              <p:nvPr/>
            </p:nvSpPr>
            <p:spPr>
              <a:xfrm>
                <a:off x="4909534" y="6011657"/>
                <a:ext cx="1381532" cy="184666"/>
              </a:xfrm>
              <a:prstGeom prst="rect">
                <a:avLst/>
              </a:prstGeom>
              <a:noFill/>
            </p:spPr>
            <p:txBody>
              <a:bodyPr wrap="none" lIns="0" tIns="0" rIns="0" bIns="0" rtlCol="0">
                <a:spAutoFit/>
              </a:bodyPr>
              <a:lstStyle/>
              <a:p>
                <a:pPr defTabSz="685800">
                  <a:defRPr/>
                </a:pPr>
                <a:r>
                  <a:rPr lang="en-GB" sz="1200" noProof="0" dirty="0"/>
                  <a:t>c. </a:t>
                </a:r>
                <a14:m>
                  <m:oMath xmlns:m="http://schemas.openxmlformats.org/officeDocument/2006/math">
                    <m:sSup>
                      <m:sSupPr>
                        <m:ctrlPr>
                          <a:rPr lang="en-GB" sz="1200" i="1" noProof="0">
                            <a:latin typeface="Cambria Math" panose="02040503050406030204" pitchFamily="18" charset="0"/>
                          </a:rPr>
                        </m:ctrlPr>
                      </m:sSupPr>
                      <m:e>
                        <m:r>
                          <a:rPr lang="en-GB" sz="1200" i="1" noProof="0" smtClean="0">
                            <a:latin typeface="Cambria Math" panose="02040503050406030204" pitchFamily="18" charset="0"/>
                          </a:rPr>
                          <m:t>𝑥</m:t>
                        </m:r>
                      </m:e>
                      <m:sup>
                        <m:r>
                          <a:rPr lang="en-GB" sz="1200" i="1" noProof="0" smtClean="0">
                            <a:latin typeface="Cambria Math" panose="02040503050406030204" pitchFamily="18" charset="0"/>
                          </a:rPr>
                          <m:t>2</m:t>
                        </m:r>
                      </m:sup>
                    </m:sSup>
                    <m:r>
                      <a:rPr lang="en-GB" sz="1200" i="1" noProof="0" smtClean="0">
                        <a:latin typeface="Cambria Math" panose="02040503050406030204" pitchFamily="18" charset="0"/>
                      </a:rPr>
                      <m:t>+10</m:t>
                    </m:r>
                    <m:r>
                      <a:rPr lang="en-GB" sz="1200" i="1" noProof="0" smtClean="0">
                        <a:latin typeface="Cambria Math" panose="02040503050406030204" pitchFamily="18" charset="0"/>
                      </a:rPr>
                      <m:t>𝑥</m:t>
                    </m:r>
                    <m:r>
                      <a:rPr lang="en-GB" sz="1200" i="1" noProof="0" smtClean="0">
                        <a:latin typeface="Cambria Math" panose="02040503050406030204" pitchFamily="18" charset="0"/>
                      </a:rPr>
                      <m:t>+24=0</m:t>
                    </m:r>
                  </m:oMath>
                </a14:m>
                <a:endParaRPr lang="en-GB" sz="1200" noProof="0" dirty="0"/>
              </a:p>
            </p:txBody>
          </p:sp>
        </mc:Choice>
        <mc:Fallback xmlns="">
          <p:sp>
            <p:nvSpPr>
              <p:cNvPr id="16" name="TextBox 15">
                <a:extLst>
                  <a:ext uri="{FF2B5EF4-FFF2-40B4-BE49-F238E27FC236}">
                    <a16:creationId xmlns:a16="http://schemas.microsoft.com/office/drawing/2014/main" id="{02759810-0798-B432-4F1C-FA1865113A52}"/>
                  </a:ext>
                </a:extLst>
              </p:cNvPr>
              <p:cNvSpPr txBox="1">
                <a:spLocks noRot="1" noChangeAspect="1" noMove="1" noResize="1" noEditPoints="1" noAdjustHandles="1" noChangeArrowheads="1" noChangeShapeType="1" noTextEdit="1"/>
              </p:cNvSpPr>
              <p:nvPr/>
            </p:nvSpPr>
            <p:spPr>
              <a:xfrm>
                <a:off x="4909534" y="6011657"/>
                <a:ext cx="1381532" cy="184666"/>
              </a:xfrm>
              <a:prstGeom prst="rect">
                <a:avLst/>
              </a:prstGeom>
              <a:blipFill>
                <a:blip r:embed="rId6"/>
                <a:stretch>
                  <a:fillRect l="-6608" t="-23333" r="-3084" b="-5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77CBE5E6-94D8-B634-6B33-4D5818F155CF}"/>
                  </a:ext>
                </a:extLst>
              </p:cNvPr>
              <p:cNvSpPr txBox="1"/>
              <p:nvPr/>
            </p:nvSpPr>
            <p:spPr>
              <a:xfrm>
                <a:off x="562389" y="7867358"/>
                <a:ext cx="1115729" cy="247119"/>
              </a:xfrm>
              <a:prstGeom prst="rect">
                <a:avLst/>
              </a:prstGeom>
              <a:noFill/>
            </p:spPr>
            <p:txBody>
              <a:bodyPr wrap="square" lIns="0" tIns="0" rIns="0" bIns="0" rtlCol="0">
                <a:spAutoFit/>
              </a:bodyPr>
              <a:lstStyle/>
              <a:p>
                <a:pPr>
                  <a:lnSpc>
                    <a:spcPct val="150000"/>
                  </a:lnSpc>
                </a:pPr>
                <a:r>
                  <a:rPr lang="en-GB" sz="1200" noProof="0" dirty="0"/>
                  <a:t>d. </a:t>
                </a:r>
                <a14:m>
                  <m:oMath xmlns:m="http://schemas.openxmlformats.org/officeDocument/2006/math">
                    <m:sSup>
                      <m:sSupPr>
                        <m:ctrlPr>
                          <a:rPr lang="en-GB" sz="1200" i="1" noProof="0">
                            <a:latin typeface="Cambria Math" panose="02040503050406030204" pitchFamily="18" charset="0"/>
                          </a:rPr>
                        </m:ctrlPr>
                      </m:sSupPr>
                      <m:e>
                        <m:r>
                          <a:rPr lang="en-GB" sz="1200" i="1" noProof="0">
                            <a:latin typeface="Cambria Math" panose="02040503050406030204" pitchFamily="18" charset="0"/>
                          </a:rPr>
                          <m:t>𝑥</m:t>
                        </m:r>
                      </m:e>
                      <m:sup>
                        <m:r>
                          <a:rPr lang="en-GB" sz="1200" i="1" noProof="0">
                            <a:latin typeface="Cambria Math" panose="02040503050406030204" pitchFamily="18" charset="0"/>
                          </a:rPr>
                          <m:t>2</m:t>
                        </m:r>
                      </m:sup>
                    </m:sSup>
                    <m:r>
                      <a:rPr lang="en-GB" sz="1200" i="1" noProof="0">
                        <a:latin typeface="Cambria Math" panose="02040503050406030204" pitchFamily="18" charset="0"/>
                      </a:rPr>
                      <m:t>+20=9</m:t>
                    </m:r>
                    <m:r>
                      <a:rPr lang="en-GB" sz="1200" i="1" noProof="0">
                        <a:latin typeface="Cambria Math" panose="02040503050406030204" pitchFamily="18" charset="0"/>
                      </a:rPr>
                      <m:t>𝑥</m:t>
                    </m:r>
                  </m:oMath>
                </a14:m>
                <a:r>
                  <a:rPr lang="en-GB" sz="1200" noProof="0" dirty="0"/>
                  <a:t> </a:t>
                </a:r>
              </a:p>
            </p:txBody>
          </p:sp>
        </mc:Choice>
        <mc:Fallback xmlns="">
          <p:sp>
            <p:nvSpPr>
              <p:cNvPr id="68" name="TextBox 67">
                <a:extLst>
                  <a:ext uri="{FF2B5EF4-FFF2-40B4-BE49-F238E27FC236}">
                    <a16:creationId xmlns:a16="http://schemas.microsoft.com/office/drawing/2014/main" id="{77CBE5E6-94D8-B634-6B33-4D5818F155CF}"/>
                  </a:ext>
                </a:extLst>
              </p:cNvPr>
              <p:cNvSpPr txBox="1">
                <a:spLocks noRot="1" noChangeAspect="1" noMove="1" noResize="1" noEditPoints="1" noAdjustHandles="1" noChangeArrowheads="1" noChangeShapeType="1" noTextEdit="1"/>
              </p:cNvSpPr>
              <p:nvPr/>
            </p:nvSpPr>
            <p:spPr>
              <a:xfrm>
                <a:off x="562389" y="7867358"/>
                <a:ext cx="1115729" cy="247119"/>
              </a:xfrm>
              <a:prstGeom prst="rect">
                <a:avLst/>
              </a:prstGeom>
              <a:blipFill>
                <a:blip r:embed="rId10"/>
                <a:stretch>
                  <a:fillRect l="-8197" b="-4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55C524BF-1684-E8E1-E687-EB8DA22F6263}"/>
                  </a:ext>
                </a:extLst>
              </p:cNvPr>
              <p:cNvSpPr txBox="1"/>
              <p:nvPr/>
            </p:nvSpPr>
            <p:spPr>
              <a:xfrm>
                <a:off x="2731826" y="7911759"/>
                <a:ext cx="1198719" cy="525400"/>
              </a:xfrm>
              <a:prstGeom prst="rect">
                <a:avLst/>
              </a:prstGeom>
              <a:noFill/>
            </p:spPr>
            <p:txBody>
              <a:bodyPr wrap="square" lIns="0" tIns="0" rIns="0" bIns="0" rtlCol="0">
                <a:spAutoFit/>
              </a:bodyPr>
              <a:lstStyle/>
              <a:p>
                <a:pPr>
                  <a:lnSpc>
                    <a:spcPct val="150000"/>
                  </a:lnSpc>
                </a:pPr>
                <a:r>
                  <a:rPr lang="en-GB" sz="1200" noProof="0" dirty="0"/>
                  <a:t>e. </a:t>
                </a:r>
                <a14:m>
                  <m:oMath xmlns:m="http://schemas.openxmlformats.org/officeDocument/2006/math">
                    <m:sSup>
                      <m:sSupPr>
                        <m:ctrlPr>
                          <a:rPr lang="en-GB" sz="1200" i="1" noProof="0">
                            <a:latin typeface="Cambria Math" panose="02040503050406030204" pitchFamily="18" charset="0"/>
                          </a:rPr>
                        </m:ctrlPr>
                      </m:sSupPr>
                      <m:e>
                        <m:r>
                          <a:rPr lang="en-GB" sz="1200" i="1" noProof="0">
                            <a:latin typeface="Cambria Math" panose="02040503050406030204" pitchFamily="18" charset="0"/>
                          </a:rPr>
                          <m:t>𝑥</m:t>
                        </m:r>
                      </m:e>
                      <m:sup>
                        <m:r>
                          <a:rPr lang="en-GB" sz="1200" i="1" noProof="0">
                            <a:latin typeface="Cambria Math" panose="02040503050406030204" pitchFamily="18" charset="0"/>
                          </a:rPr>
                          <m:t>2</m:t>
                        </m:r>
                      </m:sup>
                    </m:sSup>
                    <m:r>
                      <a:rPr lang="en-GB" sz="1200" i="1" noProof="0">
                        <a:latin typeface="Cambria Math" panose="02040503050406030204" pitchFamily="18" charset="0"/>
                      </a:rPr>
                      <m:t>=12</m:t>
                    </m:r>
                    <m:r>
                      <a:rPr lang="en-GB" sz="1200" i="1" noProof="0">
                        <a:latin typeface="Cambria Math" panose="02040503050406030204" pitchFamily="18" charset="0"/>
                      </a:rPr>
                      <m:t>𝑥</m:t>
                    </m:r>
                    <m:r>
                      <a:rPr lang="en-GB" sz="1200" i="1" noProof="0">
                        <a:latin typeface="Cambria Math" panose="02040503050406030204" pitchFamily="18" charset="0"/>
                      </a:rPr>
                      <m:t> −20</m:t>
                    </m:r>
                  </m:oMath>
                </a14:m>
                <a:endParaRPr lang="en-GB" sz="1200" noProof="0" dirty="0"/>
              </a:p>
              <a:p>
                <a:pPr>
                  <a:lnSpc>
                    <a:spcPct val="150000"/>
                  </a:lnSpc>
                </a:pPr>
                <a:endParaRPr lang="en-GB" sz="1200" noProof="0" dirty="0"/>
              </a:p>
            </p:txBody>
          </p:sp>
        </mc:Choice>
        <mc:Fallback xmlns="">
          <p:sp>
            <p:nvSpPr>
              <p:cNvPr id="69" name="TextBox 68">
                <a:extLst>
                  <a:ext uri="{FF2B5EF4-FFF2-40B4-BE49-F238E27FC236}">
                    <a16:creationId xmlns:a16="http://schemas.microsoft.com/office/drawing/2014/main" id="{55C524BF-1684-E8E1-E687-EB8DA22F6263}"/>
                  </a:ext>
                </a:extLst>
              </p:cNvPr>
              <p:cNvSpPr txBox="1">
                <a:spLocks noRot="1" noChangeAspect="1" noMove="1" noResize="1" noEditPoints="1" noAdjustHandles="1" noChangeArrowheads="1" noChangeShapeType="1" noTextEdit="1"/>
              </p:cNvSpPr>
              <p:nvPr/>
            </p:nvSpPr>
            <p:spPr>
              <a:xfrm>
                <a:off x="2731826" y="7911759"/>
                <a:ext cx="1198719" cy="525400"/>
              </a:xfrm>
              <a:prstGeom prst="rect">
                <a:avLst/>
              </a:prstGeom>
              <a:blipFill>
                <a:blip r:embed="rId11"/>
                <a:stretch>
                  <a:fillRect l="-76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ED1F4667-31D3-1178-E28A-F9E003546E2A}"/>
                  </a:ext>
                </a:extLst>
              </p:cNvPr>
              <p:cNvSpPr txBox="1"/>
              <p:nvPr/>
            </p:nvSpPr>
            <p:spPr>
              <a:xfrm>
                <a:off x="4969299" y="7911759"/>
                <a:ext cx="998412" cy="184666"/>
              </a:xfrm>
              <a:prstGeom prst="rect">
                <a:avLst/>
              </a:prstGeom>
              <a:noFill/>
            </p:spPr>
            <p:txBody>
              <a:bodyPr wrap="square" lIns="0" tIns="0" rIns="0" bIns="0" rtlCol="0">
                <a:spAutoFit/>
              </a:bodyPr>
              <a:lstStyle/>
              <a:p>
                <a:pPr defTabSz="685800">
                  <a:defRPr/>
                </a:pPr>
                <a:r>
                  <a:rPr lang="en-GB" sz="1200" noProof="0" dirty="0"/>
                  <a:t>f. </a:t>
                </a:r>
                <a14:m>
                  <m:oMath xmlns:m="http://schemas.openxmlformats.org/officeDocument/2006/math">
                    <m:r>
                      <a:rPr lang="en-GB" sz="1200" i="1" noProof="0">
                        <a:latin typeface="Cambria Math" panose="02040503050406030204" pitchFamily="18" charset="0"/>
                      </a:rPr>
                      <m:t>1</m:t>
                    </m:r>
                    <m:r>
                      <a:rPr lang="en-GB" sz="1200" b="0" i="1" noProof="0" smtClean="0">
                        <a:latin typeface="Cambria Math" panose="02040503050406030204" pitchFamily="18" charset="0"/>
                      </a:rPr>
                      <m:t>5</m:t>
                    </m:r>
                    <m:r>
                      <a:rPr lang="en-GB" sz="1200" i="1" noProof="0">
                        <a:latin typeface="Cambria Math" panose="02040503050406030204" pitchFamily="18" charset="0"/>
                      </a:rPr>
                      <m:t>=</m:t>
                    </m:r>
                    <m:r>
                      <a:rPr lang="en-GB" sz="1200" b="0" i="1" noProof="0" smtClean="0">
                        <a:latin typeface="Cambria Math" panose="02040503050406030204" pitchFamily="18" charset="0"/>
                      </a:rPr>
                      <m:t>8</m:t>
                    </m:r>
                    <m:r>
                      <a:rPr lang="en-GB" sz="1200" b="0" i="1" noProof="0" smtClean="0">
                        <a:latin typeface="Cambria Math" panose="02040503050406030204" pitchFamily="18" charset="0"/>
                      </a:rPr>
                      <m:t>𝑥</m:t>
                    </m:r>
                    <m:sSup>
                      <m:sSupPr>
                        <m:ctrlPr>
                          <a:rPr lang="en-GB" sz="1200" i="1" noProof="0">
                            <a:latin typeface="Cambria Math" panose="02040503050406030204" pitchFamily="18" charset="0"/>
                          </a:rPr>
                        </m:ctrlPr>
                      </m:sSupPr>
                      <m:e>
                        <m:r>
                          <a:rPr lang="en-GB" sz="1200" i="1" noProof="0">
                            <a:latin typeface="Cambria Math" panose="02040503050406030204" pitchFamily="18" charset="0"/>
                          </a:rPr>
                          <m:t>−</m:t>
                        </m:r>
                        <m:r>
                          <a:rPr lang="en-GB" sz="1200" i="1" noProof="0">
                            <a:latin typeface="Cambria Math" panose="02040503050406030204" pitchFamily="18" charset="0"/>
                          </a:rPr>
                          <m:t>𝑥</m:t>
                        </m:r>
                      </m:e>
                      <m:sup>
                        <m:r>
                          <a:rPr lang="en-GB" sz="1200" i="1" noProof="0">
                            <a:latin typeface="Cambria Math" panose="02040503050406030204" pitchFamily="18" charset="0"/>
                          </a:rPr>
                          <m:t>2</m:t>
                        </m:r>
                      </m:sup>
                    </m:sSup>
                  </m:oMath>
                </a14:m>
                <a:endParaRPr lang="en-GB" sz="1200" noProof="0" dirty="0"/>
              </a:p>
            </p:txBody>
          </p:sp>
        </mc:Choice>
        <mc:Fallback xmlns="">
          <p:sp>
            <p:nvSpPr>
              <p:cNvPr id="70" name="TextBox 69">
                <a:extLst>
                  <a:ext uri="{FF2B5EF4-FFF2-40B4-BE49-F238E27FC236}">
                    <a16:creationId xmlns:a16="http://schemas.microsoft.com/office/drawing/2014/main" id="{ED1F4667-31D3-1178-E28A-F9E003546E2A}"/>
                  </a:ext>
                </a:extLst>
              </p:cNvPr>
              <p:cNvSpPr txBox="1">
                <a:spLocks noRot="1" noChangeAspect="1" noMove="1" noResize="1" noEditPoints="1" noAdjustHandles="1" noChangeArrowheads="1" noChangeShapeType="1" noTextEdit="1"/>
              </p:cNvSpPr>
              <p:nvPr/>
            </p:nvSpPr>
            <p:spPr>
              <a:xfrm>
                <a:off x="4969299" y="7911759"/>
                <a:ext cx="998412" cy="184666"/>
              </a:xfrm>
              <a:prstGeom prst="rect">
                <a:avLst/>
              </a:prstGeom>
              <a:blipFill>
                <a:blip r:embed="rId12"/>
                <a:stretch>
                  <a:fillRect l="-9146" t="-23333" b="-5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B47D7412-33E6-803A-1F82-9469CD2BF092}"/>
                  </a:ext>
                </a:extLst>
              </p:cNvPr>
              <p:cNvSpPr txBox="1"/>
              <p:nvPr/>
            </p:nvSpPr>
            <p:spPr>
              <a:xfrm>
                <a:off x="2026583" y="5458266"/>
                <a:ext cx="4886698" cy="461665"/>
              </a:xfrm>
              <a:prstGeom prst="rect">
                <a:avLst/>
              </a:prstGeom>
              <a:noFill/>
            </p:spPr>
            <p:txBody>
              <a:bodyPr wrap="square" rtlCol="0">
                <a:spAutoFit/>
              </a:bodyPr>
              <a:lstStyle/>
              <a:p>
                <a:r>
                  <a:rPr lang="en-GB" sz="1200" noProof="0" dirty="0">
                    <a:latin typeface="Calibri" panose="020F0502020204030204" pitchFamily="34" charset="0"/>
                    <a:cs typeface="Calibri" panose="020F0502020204030204" pitchFamily="34" charset="0"/>
                  </a:rPr>
                  <a:t>1. Solve each equation </a:t>
                </a:r>
                <a:r>
                  <a:rPr lang="en-GB" sz="1200" b="1" noProof="0" dirty="0">
                    <a:latin typeface="Calibri" panose="020F0502020204030204" pitchFamily="34" charset="0"/>
                    <a:cs typeface="Calibri" panose="020F0502020204030204" pitchFamily="34" charset="0"/>
                  </a:rPr>
                  <a:t>by factorising first</a:t>
                </a:r>
                <a:r>
                  <a:rPr lang="en-GB" sz="1200" noProof="0" dirty="0">
                    <a:latin typeface="Calibri" panose="020F0502020204030204" pitchFamily="34" charset="0"/>
                    <a:cs typeface="Calibri" panose="020F0502020204030204" pitchFamily="34" charset="0"/>
                  </a:rPr>
                  <a:t>.</a:t>
                </a:r>
              </a:p>
              <a:p>
                <a:r>
                  <a:rPr lang="en-GB" sz="1200" noProof="0" dirty="0">
                    <a:latin typeface="Calibri" panose="020F0502020204030204" pitchFamily="34" charset="0"/>
                    <a:cs typeface="Calibri" panose="020F0502020204030204" pitchFamily="34" charset="0"/>
                  </a:rPr>
                  <a:t>You will have to check the equation is in the form </a:t>
                </a:r>
                <a14:m>
                  <m:oMath xmlns:m="http://schemas.openxmlformats.org/officeDocument/2006/math">
                    <m:sSup>
                      <m:sSupPr>
                        <m:ctrlPr>
                          <a:rPr lang="en-GB" sz="1200" b="0" i="1" noProof="0" smtClean="0">
                            <a:latin typeface="Cambria Math" panose="02040503050406030204" pitchFamily="18" charset="0"/>
                            <a:cs typeface="Calibri" panose="020F0502020204030204" pitchFamily="34" charset="0"/>
                          </a:rPr>
                        </m:ctrlPr>
                      </m:sSupPr>
                      <m:e>
                        <m:r>
                          <a:rPr lang="en-GB" sz="1200" b="0" i="1" noProof="0" smtClean="0">
                            <a:latin typeface="Cambria Math" panose="02040503050406030204" pitchFamily="18" charset="0"/>
                            <a:cs typeface="Calibri" panose="020F0502020204030204" pitchFamily="34" charset="0"/>
                          </a:rPr>
                          <m:t>𝑥</m:t>
                        </m:r>
                      </m:e>
                      <m:sup>
                        <m:r>
                          <a:rPr lang="en-GB" sz="1200" b="0" i="1" noProof="0" smtClean="0">
                            <a:latin typeface="Cambria Math" panose="02040503050406030204" pitchFamily="18" charset="0"/>
                            <a:cs typeface="Calibri" panose="020F0502020204030204" pitchFamily="34" charset="0"/>
                          </a:rPr>
                          <m:t>2</m:t>
                        </m:r>
                      </m:sup>
                    </m:sSup>
                    <m:r>
                      <a:rPr lang="en-GB" sz="1200" b="0" i="1" noProof="0" smtClean="0">
                        <a:latin typeface="Cambria Math" panose="02040503050406030204" pitchFamily="18" charset="0"/>
                        <a:cs typeface="Calibri" panose="020F0502020204030204" pitchFamily="34" charset="0"/>
                      </a:rPr>
                      <m:t>+</m:t>
                    </m:r>
                    <m:r>
                      <a:rPr lang="en-GB" sz="1200" b="0" i="1" noProof="0" smtClean="0">
                        <a:latin typeface="Cambria Math" panose="02040503050406030204" pitchFamily="18" charset="0"/>
                        <a:cs typeface="Calibri" panose="020F0502020204030204" pitchFamily="34" charset="0"/>
                      </a:rPr>
                      <m:t>𝑏𝑥</m:t>
                    </m:r>
                    <m:r>
                      <a:rPr lang="en-GB" sz="1200" b="0" i="1" noProof="0" smtClean="0">
                        <a:latin typeface="Cambria Math" panose="02040503050406030204" pitchFamily="18" charset="0"/>
                        <a:cs typeface="Calibri" panose="020F0502020204030204" pitchFamily="34" charset="0"/>
                      </a:rPr>
                      <m:t>+</m:t>
                    </m:r>
                    <m:r>
                      <a:rPr lang="en-GB" sz="1200" b="0" i="1" noProof="0" smtClean="0">
                        <a:latin typeface="Cambria Math" panose="02040503050406030204" pitchFamily="18" charset="0"/>
                        <a:cs typeface="Calibri" panose="020F0502020204030204" pitchFamily="34" charset="0"/>
                      </a:rPr>
                      <m:t>𝑐</m:t>
                    </m:r>
                    <m:r>
                      <a:rPr lang="en-GB" sz="1200" b="0" i="1" noProof="0" smtClean="0">
                        <a:latin typeface="Cambria Math" panose="02040503050406030204" pitchFamily="18" charset="0"/>
                        <a:cs typeface="Calibri" panose="020F0502020204030204" pitchFamily="34" charset="0"/>
                      </a:rPr>
                      <m:t>=0</m:t>
                    </m:r>
                  </m:oMath>
                </a14:m>
                <a:r>
                  <a:rPr lang="en-GB" sz="1200" noProof="0" dirty="0">
                    <a:latin typeface="Calibri" panose="020F0502020204030204" pitchFamily="34" charset="0"/>
                    <a:cs typeface="Calibri" panose="020F0502020204030204" pitchFamily="34" charset="0"/>
                  </a:rPr>
                  <a:t> </a:t>
                </a:r>
              </a:p>
            </p:txBody>
          </p:sp>
        </mc:Choice>
        <mc:Fallback xmlns="">
          <p:sp>
            <p:nvSpPr>
              <p:cNvPr id="79" name="TextBox 78">
                <a:extLst>
                  <a:ext uri="{FF2B5EF4-FFF2-40B4-BE49-F238E27FC236}">
                    <a16:creationId xmlns:a16="http://schemas.microsoft.com/office/drawing/2014/main" id="{B47D7412-33E6-803A-1F82-9469CD2BF092}"/>
                  </a:ext>
                </a:extLst>
              </p:cNvPr>
              <p:cNvSpPr txBox="1">
                <a:spLocks noRot="1" noChangeAspect="1" noMove="1" noResize="1" noEditPoints="1" noAdjustHandles="1" noChangeArrowheads="1" noChangeShapeType="1" noTextEdit="1"/>
              </p:cNvSpPr>
              <p:nvPr/>
            </p:nvSpPr>
            <p:spPr>
              <a:xfrm>
                <a:off x="2026583" y="5458266"/>
                <a:ext cx="4886698" cy="461665"/>
              </a:xfrm>
              <a:prstGeom prst="rect">
                <a:avLst/>
              </a:prstGeom>
              <a:blipFill>
                <a:blip r:embed="rId16"/>
                <a:stretch>
                  <a:fillRect b="-10526"/>
                </a:stretch>
              </a:blipFill>
            </p:spPr>
            <p:txBody>
              <a:bodyPr/>
              <a:lstStyle/>
              <a:p>
                <a:r>
                  <a:rPr lang="en-US">
                    <a:noFill/>
                  </a:rPr>
                  <a:t> </a:t>
                </a:r>
              </a:p>
            </p:txBody>
          </p:sp>
        </mc:Fallback>
      </mc:AlternateContent>
      <p:graphicFrame>
        <p:nvGraphicFramePr>
          <p:cNvPr id="80" name="Table 79">
            <a:extLst>
              <a:ext uri="{FF2B5EF4-FFF2-40B4-BE49-F238E27FC236}">
                <a16:creationId xmlns:a16="http://schemas.microsoft.com/office/drawing/2014/main" id="{0BB656B7-CEAD-54D5-ABA2-1BCA6968816D}"/>
              </a:ext>
            </a:extLst>
          </p:cNvPr>
          <p:cNvGraphicFramePr>
            <a:graphicFrameLocks noGrp="1"/>
          </p:cNvGraphicFramePr>
          <p:nvPr>
            <p:extLst>
              <p:ext uri="{D42A27DB-BD31-4B8C-83A1-F6EECF244321}">
                <p14:modId xmlns:p14="http://schemas.microsoft.com/office/powerpoint/2010/main" val="3766679235"/>
              </p:ext>
            </p:extLst>
          </p:nvPr>
        </p:nvGraphicFramePr>
        <p:xfrm>
          <a:off x="115459" y="5900967"/>
          <a:ext cx="6654033" cy="3870050"/>
        </p:xfrm>
        <a:graphic>
          <a:graphicData uri="http://schemas.openxmlformats.org/drawingml/2006/table">
            <a:tbl>
              <a:tblPr firstRow="1" bandRow="1">
                <a:tableStyleId>{5C22544A-7EE6-4342-B048-85BDC9FD1C3A}</a:tableStyleId>
              </a:tblPr>
              <a:tblGrid>
                <a:gridCol w="2218011">
                  <a:extLst>
                    <a:ext uri="{9D8B030D-6E8A-4147-A177-3AD203B41FA5}">
                      <a16:colId xmlns:a16="http://schemas.microsoft.com/office/drawing/2014/main" val="3416969453"/>
                    </a:ext>
                  </a:extLst>
                </a:gridCol>
                <a:gridCol w="2218011">
                  <a:extLst>
                    <a:ext uri="{9D8B030D-6E8A-4147-A177-3AD203B41FA5}">
                      <a16:colId xmlns:a16="http://schemas.microsoft.com/office/drawing/2014/main" val="452260287"/>
                    </a:ext>
                  </a:extLst>
                </a:gridCol>
                <a:gridCol w="2218011">
                  <a:extLst>
                    <a:ext uri="{9D8B030D-6E8A-4147-A177-3AD203B41FA5}">
                      <a16:colId xmlns:a16="http://schemas.microsoft.com/office/drawing/2014/main" val="587074754"/>
                    </a:ext>
                  </a:extLst>
                </a:gridCol>
              </a:tblGrid>
              <a:tr h="1935025">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2197759"/>
                  </a:ext>
                </a:extLst>
              </a:tr>
              <a:tr h="1935025">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1877346"/>
                  </a:ext>
                </a:extLst>
              </a:tr>
            </a:tbl>
          </a:graphicData>
        </a:graphic>
      </p:graphicFrame>
    </p:spTree>
    <p:extLst>
      <p:ext uri="{BB962C8B-B14F-4D97-AF65-F5344CB8AC3E}">
        <p14:creationId xmlns:p14="http://schemas.microsoft.com/office/powerpoint/2010/main" val="314270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FAD8D-44E6-FA6C-D0A4-5E01FB3F6256}"/>
            </a:ext>
          </a:extLst>
        </p:cNvPr>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4CA61342-E9CF-E17F-77B9-CB9777DA905F}"/>
              </a:ext>
            </a:extLst>
          </p:cNvPr>
          <p:cNvGraphicFramePr>
            <a:graphicFrameLocks noGrp="1"/>
          </p:cNvGraphicFramePr>
          <p:nvPr>
            <p:extLst>
              <p:ext uri="{D42A27DB-BD31-4B8C-83A1-F6EECF244321}">
                <p14:modId xmlns:p14="http://schemas.microsoft.com/office/powerpoint/2010/main" val="1589787343"/>
              </p:ext>
            </p:extLst>
          </p:nvPr>
        </p:nvGraphicFramePr>
        <p:xfrm>
          <a:off x="119700" y="6304663"/>
          <a:ext cx="6649791" cy="3350862"/>
        </p:xfrm>
        <a:graphic>
          <a:graphicData uri="http://schemas.openxmlformats.org/drawingml/2006/table">
            <a:tbl>
              <a:tblPr firstRow="1" bandRow="1">
                <a:tableStyleId>{5C22544A-7EE6-4342-B048-85BDC9FD1C3A}</a:tableStyleId>
              </a:tblPr>
              <a:tblGrid>
                <a:gridCol w="2216597">
                  <a:extLst>
                    <a:ext uri="{9D8B030D-6E8A-4147-A177-3AD203B41FA5}">
                      <a16:colId xmlns:a16="http://schemas.microsoft.com/office/drawing/2014/main" val="2782121649"/>
                    </a:ext>
                  </a:extLst>
                </a:gridCol>
                <a:gridCol w="2216597">
                  <a:extLst>
                    <a:ext uri="{9D8B030D-6E8A-4147-A177-3AD203B41FA5}">
                      <a16:colId xmlns:a16="http://schemas.microsoft.com/office/drawing/2014/main" val="2706371298"/>
                    </a:ext>
                  </a:extLst>
                </a:gridCol>
                <a:gridCol w="2216597">
                  <a:extLst>
                    <a:ext uri="{9D8B030D-6E8A-4147-A177-3AD203B41FA5}">
                      <a16:colId xmlns:a16="http://schemas.microsoft.com/office/drawing/2014/main" val="1860225894"/>
                    </a:ext>
                  </a:extLst>
                </a:gridCol>
              </a:tblGrid>
              <a:tr h="3350862">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7668064"/>
                  </a:ext>
                </a:extLst>
              </a:tr>
            </a:tbl>
          </a:graphicData>
        </a:graphic>
      </p:graphicFrame>
      <p:graphicFrame>
        <p:nvGraphicFramePr>
          <p:cNvPr id="80" name="Table 79">
            <a:extLst>
              <a:ext uri="{FF2B5EF4-FFF2-40B4-BE49-F238E27FC236}">
                <a16:creationId xmlns:a16="http://schemas.microsoft.com/office/drawing/2014/main" id="{9370F338-1C3B-3B4D-E2F4-CAC85BCAA218}"/>
              </a:ext>
            </a:extLst>
          </p:cNvPr>
          <p:cNvGraphicFramePr>
            <a:graphicFrameLocks noGrp="1"/>
          </p:cNvGraphicFramePr>
          <p:nvPr>
            <p:extLst>
              <p:ext uri="{D42A27DB-BD31-4B8C-83A1-F6EECF244321}">
                <p14:modId xmlns:p14="http://schemas.microsoft.com/office/powerpoint/2010/main" val="2730899454"/>
              </p:ext>
            </p:extLst>
          </p:nvPr>
        </p:nvGraphicFramePr>
        <p:xfrm>
          <a:off x="115459" y="442701"/>
          <a:ext cx="6654033" cy="5260762"/>
        </p:xfrm>
        <a:graphic>
          <a:graphicData uri="http://schemas.openxmlformats.org/drawingml/2006/table">
            <a:tbl>
              <a:tblPr firstRow="1" bandRow="1">
                <a:tableStyleId>{5C22544A-7EE6-4342-B048-85BDC9FD1C3A}</a:tableStyleId>
              </a:tblPr>
              <a:tblGrid>
                <a:gridCol w="2218011">
                  <a:extLst>
                    <a:ext uri="{9D8B030D-6E8A-4147-A177-3AD203B41FA5}">
                      <a16:colId xmlns:a16="http://schemas.microsoft.com/office/drawing/2014/main" val="3416969453"/>
                    </a:ext>
                  </a:extLst>
                </a:gridCol>
                <a:gridCol w="2218011">
                  <a:extLst>
                    <a:ext uri="{9D8B030D-6E8A-4147-A177-3AD203B41FA5}">
                      <a16:colId xmlns:a16="http://schemas.microsoft.com/office/drawing/2014/main" val="452260287"/>
                    </a:ext>
                  </a:extLst>
                </a:gridCol>
                <a:gridCol w="2218011">
                  <a:extLst>
                    <a:ext uri="{9D8B030D-6E8A-4147-A177-3AD203B41FA5}">
                      <a16:colId xmlns:a16="http://schemas.microsoft.com/office/drawing/2014/main" val="587074754"/>
                    </a:ext>
                  </a:extLst>
                </a:gridCol>
              </a:tblGrid>
              <a:tr h="2630381">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2197759"/>
                  </a:ext>
                </a:extLst>
              </a:tr>
              <a:tr h="2630381">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1877346"/>
                  </a:ext>
                </a:extLst>
              </a:tr>
            </a:tbl>
          </a:graphicData>
        </a:graphic>
      </p:graphicFrame>
      <p:sp>
        <p:nvSpPr>
          <p:cNvPr id="18" name="Slide Number Placeholder 17">
            <a:extLst>
              <a:ext uri="{FF2B5EF4-FFF2-40B4-BE49-F238E27FC236}">
                <a16:creationId xmlns:a16="http://schemas.microsoft.com/office/drawing/2014/main" id="{32D7914E-3668-E850-8FB9-4CCCF4545546}"/>
              </a:ext>
            </a:extLst>
          </p:cNvPr>
          <p:cNvSpPr>
            <a:spLocks noGrp="1"/>
          </p:cNvSpPr>
          <p:nvPr>
            <p:ph type="sldNum" sz="quarter" idx="12"/>
          </p:nvPr>
        </p:nvSpPr>
        <p:spPr>
          <a:xfrm>
            <a:off x="5370231" y="9548817"/>
            <a:ext cx="1543050" cy="527403"/>
          </a:xfrm>
        </p:spPr>
        <p:txBody>
          <a:bodyPr/>
          <a:lstStyle/>
          <a:p>
            <a:fld id="{19F1D9CC-7119-45EC-A96C-D8C0660F3AAB}" type="slidenum">
              <a:rPr lang="en-GB" noProof="0" smtClean="0">
                <a:solidFill>
                  <a:schemeClr val="bg1"/>
                </a:solidFill>
              </a:rPr>
              <a:t>2</a:t>
            </a:fld>
            <a:endParaRPr lang="en-GB" noProof="0" dirty="0">
              <a:solidFill>
                <a:schemeClr val="bg1"/>
              </a:solidFill>
            </a:endParaRPr>
          </a:p>
        </p:txBody>
      </p:sp>
      <p:sp>
        <p:nvSpPr>
          <p:cNvPr id="65" name="Slide Number Placeholder 16">
            <a:extLst>
              <a:ext uri="{FF2B5EF4-FFF2-40B4-BE49-F238E27FC236}">
                <a16:creationId xmlns:a16="http://schemas.microsoft.com/office/drawing/2014/main" id="{626FD065-B39A-F862-5D0A-EF2C27FEBE0C}"/>
              </a:ext>
            </a:extLst>
          </p:cNvPr>
          <p:cNvSpPr txBox="1">
            <a:spLocks/>
          </p:cNvSpPr>
          <p:nvPr/>
        </p:nvSpPr>
        <p:spPr>
          <a:xfrm>
            <a:off x="5257814" y="9488376"/>
            <a:ext cx="1543050" cy="527403"/>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D3B4A0-BFF9-422C-B253-48BA94BE2F5B}" type="slidenum">
              <a:rPr lang="en-GB" noProof="0" smtClean="0"/>
              <a:pPr/>
              <a:t>2</a:t>
            </a:fld>
            <a:endParaRPr lang="en-GB" noProof="0" dirty="0"/>
          </a:p>
        </p:txBody>
      </p:sp>
      <p:sp>
        <p:nvSpPr>
          <p:cNvPr id="12" name="TextBox 11">
            <a:extLst>
              <a:ext uri="{FF2B5EF4-FFF2-40B4-BE49-F238E27FC236}">
                <a16:creationId xmlns:a16="http://schemas.microsoft.com/office/drawing/2014/main" id="{22A23C3C-B104-5663-A721-B8E44273DB10}"/>
              </a:ext>
            </a:extLst>
          </p:cNvPr>
          <p:cNvSpPr txBox="1"/>
          <p:nvPr/>
        </p:nvSpPr>
        <p:spPr>
          <a:xfrm>
            <a:off x="6079" y="-3018"/>
            <a:ext cx="2340898" cy="276999"/>
          </a:xfrm>
          <a:prstGeom prst="rect">
            <a:avLst/>
          </a:prstGeom>
          <a:solidFill>
            <a:srgbClr val="0070C0"/>
          </a:solidFill>
        </p:spPr>
        <p:txBody>
          <a:bodyPr wrap="none" rtlCol="0" anchor="ctr">
            <a:spAutoFit/>
          </a:bodyPr>
          <a:lstStyle/>
          <a:p>
            <a:pPr algn="r"/>
            <a:r>
              <a:rPr lang="en-GB" sz="1200" b="1" noProof="0" dirty="0">
                <a:solidFill>
                  <a:schemeClr val="bg1"/>
                </a:solidFill>
              </a:rPr>
              <a:t>PRIOR KNOWLEDGE QUIZ (CONT.)</a:t>
            </a:r>
          </a:p>
        </p:txBody>
      </p: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1BACE82E-20EB-B9AA-A605-9A9D21D5522E}"/>
                  </a:ext>
                </a:extLst>
              </p:cNvPr>
              <p:cNvSpPr txBox="1"/>
              <p:nvPr/>
            </p:nvSpPr>
            <p:spPr>
              <a:xfrm>
                <a:off x="2346730" y="0"/>
                <a:ext cx="4886698" cy="461665"/>
              </a:xfrm>
              <a:prstGeom prst="rect">
                <a:avLst/>
              </a:prstGeom>
              <a:noFill/>
            </p:spPr>
            <p:txBody>
              <a:bodyPr wrap="square" rtlCol="0">
                <a:spAutoFit/>
              </a:bodyPr>
              <a:lstStyle/>
              <a:p>
                <a:r>
                  <a:rPr lang="en-GB" sz="1200" noProof="0" dirty="0">
                    <a:latin typeface="Calibri" panose="020F0502020204030204" pitchFamily="34" charset="0"/>
                    <a:cs typeface="Calibri" panose="020F0502020204030204" pitchFamily="34" charset="0"/>
                  </a:rPr>
                  <a:t>2. Solve each equation, </a:t>
                </a:r>
                <a:r>
                  <a:rPr lang="en-GB" sz="1200" b="1" noProof="0" dirty="0">
                    <a:latin typeface="Calibri" panose="020F0502020204030204" pitchFamily="34" charset="0"/>
                    <a:cs typeface="Calibri" panose="020F0502020204030204" pitchFamily="34" charset="0"/>
                  </a:rPr>
                  <a:t>by factorising first</a:t>
                </a:r>
                <a:r>
                  <a:rPr lang="en-GB" sz="1200" noProof="0" dirty="0">
                    <a:latin typeface="Calibri" panose="020F0502020204030204" pitchFamily="34" charset="0"/>
                    <a:cs typeface="Calibri" panose="020F0502020204030204" pitchFamily="34" charset="0"/>
                  </a:rPr>
                  <a:t>.</a:t>
                </a:r>
              </a:p>
              <a:p>
                <a:r>
                  <a:rPr lang="en-GB" sz="1200" noProof="0" dirty="0">
                    <a:latin typeface="Calibri" panose="020F0502020204030204" pitchFamily="34" charset="0"/>
                    <a:cs typeface="Calibri" panose="020F0502020204030204" pitchFamily="34" charset="0"/>
                  </a:rPr>
                  <a:t>You will have to check the equation is in the form </a:t>
                </a:r>
                <a14:m>
                  <m:oMath xmlns:m="http://schemas.openxmlformats.org/officeDocument/2006/math">
                    <m:sSup>
                      <m:sSupPr>
                        <m:ctrlPr>
                          <a:rPr lang="en-GB" sz="1200" b="0" i="1" noProof="0" smtClean="0">
                            <a:latin typeface="Cambria Math" panose="02040503050406030204" pitchFamily="18" charset="0"/>
                            <a:cs typeface="Calibri" panose="020F0502020204030204" pitchFamily="34" charset="0"/>
                          </a:rPr>
                        </m:ctrlPr>
                      </m:sSupPr>
                      <m:e>
                        <m:r>
                          <a:rPr lang="en-GB" sz="1200" b="0" i="1" noProof="0" smtClean="0">
                            <a:latin typeface="Cambria Math" panose="02040503050406030204" pitchFamily="18" charset="0"/>
                            <a:cs typeface="Calibri" panose="020F0502020204030204" pitchFamily="34" charset="0"/>
                          </a:rPr>
                          <m:t>𝑎𝑥</m:t>
                        </m:r>
                      </m:e>
                      <m:sup>
                        <m:r>
                          <a:rPr lang="en-GB" sz="1200" b="0" i="1" noProof="0" smtClean="0">
                            <a:latin typeface="Cambria Math" panose="02040503050406030204" pitchFamily="18" charset="0"/>
                            <a:cs typeface="Calibri" panose="020F0502020204030204" pitchFamily="34" charset="0"/>
                          </a:rPr>
                          <m:t>2</m:t>
                        </m:r>
                      </m:sup>
                    </m:sSup>
                    <m:r>
                      <a:rPr lang="en-GB" sz="1200" b="0" i="1" noProof="0" smtClean="0">
                        <a:latin typeface="Cambria Math" panose="02040503050406030204" pitchFamily="18" charset="0"/>
                        <a:cs typeface="Calibri" panose="020F0502020204030204" pitchFamily="34" charset="0"/>
                      </a:rPr>
                      <m:t>+</m:t>
                    </m:r>
                    <m:r>
                      <a:rPr lang="en-GB" sz="1200" b="0" i="1" noProof="0" smtClean="0">
                        <a:latin typeface="Cambria Math" panose="02040503050406030204" pitchFamily="18" charset="0"/>
                        <a:cs typeface="Calibri" panose="020F0502020204030204" pitchFamily="34" charset="0"/>
                      </a:rPr>
                      <m:t>𝑏𝑥</m:t>
                    </m:r>
                    <m:r>
                      <a:rPr lang="en-GB" sz="1200" b="0" i="1" noProof="0" smtClean="0">
                        <a:latin typeface="Cambria Math" panose="02040503050406030204" pitchFamily="18" charset="0"/>
                        <a:cs typeface="Calibri" panose="020F0502020204030204" pitchFamily="34" charset="0"/>
                      </a:rPr>
                      <m:t>+</m:t>
                    </m:r>
                    <m:r>
                      <a:rPr lang="en-GB" sz="1200" b="0" i="1" noProof="0" smtClean="0">
                        <a:latin typeface="Cambria Math" panose="02040503050406030204" pitchFamily="18" charset="0"/>
                        <a:cs typeface="Calibri" panose="020F0502020204030204" pitchFamily="34" charset="0"/>
                      </a:rPr>
                      <m:t>𝑐</m:t>
                    </m:r>
                    <m:r>
                      <a:rPr lang="en-GB" sz="1200" b="0" i="1" noProof="0" smtClean="0">
                        <a:latin typeface="Cambria Math" panose="02040503050406030204" pitchFamily="18" charset="0"/>
                        <a:cs typeface="Calibri" panose="020F0502020204030204" pitchFamily="34" charset="0"/>
                      </a:rPr>
                      <m:t>=0</m:t>
                    </m:r>
                  </m:oMath>
                </a14:m>
                <a:r>
                  <a:rPr lang="en-GB" sz="1200" noProof="0" dirty="0">
                    <a:latin typeface="Calibri" panose="020F0502020204030204" pitchFamily="34" charset="0"/>
                    <a:cs typeface="Calibri" panose="020F0502020204030204" pitchFamily="34" charset="0"/>
                  </a:rPr>
                  <a:t> </a:t>
                </a:r>
              </a:p>
            </p:txBody>
          </p:sp>
        </mc:Choice>
        <mc:Fallback xmlns="">
          <p:sp>
            <p:nvSpPr>
              <p:cNvPr id="79" name="TextBox 78">
                <a:extLst>
                  <a:ext uri="{FF2B5EF4-FFF2-40B4-BE49-F238E27FC236}">
                    <a16:creationId xmlns:a16="http://schemas.microsoft.com/office/drawing/2014/main" id="{1BACE82E-20EB-B9AA-A605-9A9D21D5522E}"/>
                  </a:ext>
                </a:extLst>
              </p:cNvPr>
              <p:cNvSpPr txBox="1">
                <a:spLocks noRot="1" noChangeAspect="1" noMove="1" noResize="1" noEditPoints="1" noAdjustHandles="1" noChangeArrowheads="1" noChangeShapeType="1" noTextEdit="1"/>
              </p:cNvSpPr>
              <p:nvPr/>
            </p:nvSpPr>
            <p:spPr>
              <a:xfrm>
                <a:off x="2346730" y="0"/>
                <a:ext cx="4886698" cy="461665"/>
              </a:xfrm>
              <a:prstGeom prst="rect">
                <a:avLst/>
              </a:prstGeom>
              <a:blipFill>
                <a:blip r:embed="rId3"/>
                <a:stretch>
                  <a:fillRect l="-125"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1C84082-1F9B-8310-C39C-0220DE133904}"/>
                  </a:ext>
                </a:extLst>
              </p:cNvPr>
              <p:cNvSpPr txBox="1"/>
              <p:nvPr/>
            </p:nvSpPr>
            <p:spPr>
              <a:xfrm>
                <a:off x="181266" y="444148"/>
                <a:ext cx="1322221" cy="184666"/>
              </a:xfrm>
              <a:prstGeom prst="rect">
                <a:avLst/>
              </a:prstGeom>
              <a:noFill/>
            </p:spPr>
            <p:txBody>
              <a:bodyPr wrap="none" lIns="0" tIns="0" rIns="0" bIns="0" rtlCol="0">
                <a:spAutoFit/>
              </a:bodyPr>
              <a:lstStyle/>
              <a:p>
                <a:pPr>
                  <a:defRPr/>
                </a:pPr>
                <a:r>
                  <a:rPr lang="en-GB" sz="1200" noProof="0" dirty="0"/>
                  <a:t>a) 2</a:t>
                </a:r>
                <a14:m>
                  <m:oMath xmlns:m="http://schemas.openxmlformats.org/officeDocument/2006/math">
                    <m:r>
                      <a:rPr lang="en-GB" sz="1200" i="1" noProof="0">
                        <a:latin typeface="Cambria Math" panose="02040503050406030204" pitchFamily="18" charset="0"/>
                      </a:rPr>
                      <m:t>𝑥</m:t>
                    </m:r>
                  </m:oMath>
                </a14:m>
                <a:r>
                  <a:rPr lang="en-GB" sz="1200" baseline="30000" noProof="0" dirty="0"/>
                  <a:t>2</a:t>
                </a:r>
                <a:r>
                  <a:rPr lang="en-GB" sz="1200" noProof="0" dirty="0"/>
                  <a:t> </a:t>
                </a:r>
                <a14:m>
                  <m:oMath xmlns:m="http://schemas.openxmlformats.org/officeDocument/2006/math">
                    <m:r>
                      <a:rPr lang="en-GB" sz="1200" i="1" noProof="0">
                        <a:latin typeface="Cambria Math" panose="02040503050406030204" pitchFamily="18" charset="0"/>
                      </a:rPr>
                      <m:t>+</m:t>
                    </m:r>
                  </m:oMath>
                </a14:m>
                <a:r>
                  <a:rPr lang="en-GB" sz="1200" noProof="0" dirty="0"/>
                  <a:t> 3</a:t>
                </a:r>
                <a14:m>
                  <m:oMath xmlns:m="http://schemas.openxmlformats.org/officeDocument/2006/math">
                    <m:r>
                      <a:rPr lang="en-GB" sz="1200" i="1" noProof="0">
                        <a:latin typeface="Cambria Math" panose="02040503050406030204" pitchFamily="18" charset="0"/>
                      </a:rPr>
                      <m:t>𝑥</m:t>
                    </m:r>
                  </m:oMath>
                </a14:m>
                <a:r>
                  <a:rPr lang="en-GB" sz="1200" noProof="0" dirty="0"/>
                  <a:t> </a:t>
                </a:r>
                <a14:m>
                  <m:oMath xmlns:m="http://schemas.openxmlformats.org/officeDocument/2006/math">
                    <m:r>
                      <a:rPr lang="en-GB" sz="1200" i="1" noProof="0">
                        <a:latin typeface="Cambria Math" panose="02040503050406030204" pitchFamily="18" charset="0"/>
                      </a:rPr>
                      <m:t>−</m:t>
                    </m:r>
                  </m:oMath>
                </a14:m>
                <a:r>
                  <a:rPr lang="en-GB" sz="1200" noProof="0" dirty="0"/>
                  <a:t> 35 </a:t>
                </a:r>
                <a14:m>
                  <m:oMath xmlns:m="http://schemas.openxmlformats.org/officeDocument/2006/math">
                    <m:r>
                      <a:rPr lang="en-GB" sz="1200" i="1" noProof="0">
                        <a:latin typeface="Cambria Math" panose="02040503050406030204" pitchFamily="18" charset="0"/>
                      </a:rPr>
                      <m:t>=</m:t>
                    </m:r>
                  </m:oMath>
                </a14:m>
                <a:r>
                  <a:rPr lang="en-GB" sz="1200" noProof="0" dirty="0"/>
                  <a:t> 0</a:t>
                </a:r>
              </a:p>
            </p:txBody>
          </p:sp>
        </mc:Choice>
        <mc:Fallback xmlns="">
          <p:sp>
            <p:nvSpPr>
              <p:cNvPr id="2" name="TextBox 1">
                <a:extLst>
                  <a:ext uri="{FF2B5EF4-FFF2-40B4-BE49-F238E27FC236}">
                    <a16:creationId xmlns:a16="http://schemas.microsoft.com/office/drawing/2014/main" id="{01C84082-1F9B-8310-C39C-0220DE133904}"/>
                  </a:ext>
                </a:extLst>
              </p:cNvPr>
              <p:cNvSpPr txBox="1">
                <a:spLocks noRot="1" noChangeAspect="1" noMove="1" noResize="1" noEditPoints="1" noAdjustHandles="1" noChangeArrowheads="1" noChangeShapeType="1" noTextEdit="1"/>
              </p:cNvSpPr>
              <p:nvPr/>
            </p:nvSpPr>
            <p:spPr>
              <a:xfrm>
                <a:off x="181266" y="444148"/>
                <a:ext cx="1322221" cy="184666"/>
              </a:xfrm>
              <a:prstGeom prst="rect">
                <a:avLst/>
              </a:prstGeom>
              <a:blipFill>
                <a:blip r:embed="rId4"/>
                <a:stretch>
                  <a:fillRect l="-7373" t="-26667" r="-6912"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8FD5CBF-C7E4-DB9D-95C8-FA2C041A1E2F}"/>
                  </a:ext>
                </a:extLst>
              </p:cNvPr>
              <p:cNvSpPr txBox="1"/>
              <p:nvPr/>
            </p:nvSpPr>
            <p:spPr>
              <a:xfrm>
                <a:off x="2431358" y="416398"/>
                <a:ext cx="1328633" cy="525400"/>
              </a:xfrm>
              <a:prstGeom prst="rect">
                <a:avLst/>
              </a:prstGeom>
              <a:noFill/>
            </p:spPr>
            <p:txBody>
              <a:bodyPr wrap="none" lIns="0" tIns="0" rIns="0" bIns="0" rtlCol="0">
                <a:spAutoFit/>
              </a:bodyPr>
              <a:lstStyle/>
              <a:p>
                <a:pPr>
                  <a:lnSpc>
                    <a:spcPct val="150000"/>
                  </a:lnSpc>
                </a:pPr>
                <a:r>
                  <a:rPr lang="en-GB" sz="1200" noProof="0" dirty="0"/>
                  <a:t>b) 4</a:t>
                </a:r>
                <a14:m>
                  <m:oMath xmlns:m="http://schemas.openxmlformats.org/officeDocument/2006/math">
                    <m:r>
                      <a:rPr lang="en-GB" sz="1200" i="1" noProof="0">
                        <a:latin typeface="Cambria Math" panose="02040503050406030204" pitchFamily="18" charset="0"/>
                      </a:rPr>
                      <m:t>𝑥</m:t>
                    </m:r>
                  </m:oMath>
                </a14:m>
                <a:r>
                  <a:rPr lang="en-GB" sz="1200" baseline="30000" noProof="0" dirty="0"/>
                  <a:t>2</a:t>
                </a:r>
                <a:r>
                  <a:rPr lang="en-GB" sz="1200" noProof="0" dirty="0"/>
                  <a:t> </a:t>
                </a:r>
                <a14:m>
                  <m:oMath xmlns:m="http://schemas.openxmlformats.org/officeDocument/2006/math">
                    <m:r>
                      <a:rPr lang="en-GB" sz="1200" i="1" noProof="0">
                        <a:latin typeface="Cambria Math" panose="02040503050406030204" pitchFamily="18" charset="0"/>
                      </a:rPr>
                      <m:t>−</m:t>
                    </m:r>
                  </m:oMath>
                </a14:m>
                <a:r>
                  <a:rPr lang="en-GB" sz="1200" noProof="0" dirty="0"/>
                  <a:t> 3</a:t>
                </a:r>
                <a14:m>
                  <m:oMath xmlns:m="http://schemas.openxmlformats.org/officeDocument/2006/math">
                    <m:r>
                      <a:rPr lang="en-GB" sz="1200" i="1" noProof="0">
                        <a:latin typeface="Cambria Math" panose="02040503050406030204" pitchFamily="18" charset="0"/>
                      </a:rPr>
                      <m:t>𝑥</m:t>
                    </m:r>
                  </m:oMath>
                </a14:m>
                <a:r>
                  <a:rPr lang="en-GB" sz="1200" noProof="0" dirty="0"/>
                  <a:t> </a:t>
                </a:r>
                <a14:m>
                  <m:oMath xmlns:m="http://schemas.openxmlformats.org/officeDocument/2006/math">
                    <m:r>
                      <a:rPr lang="en-GB" sz="1200" i="1" noProof="0">
                        <a:latin typeface="Cambria Math" panose="02040503050406030204" pitchFamily="18" charset="0"/>
                      </a:rPr>
                      <m:t>−</m:t>
                    </m:r>
                  </m:oMath>
                </a14:m>
                <a:r>
                  <a:rPr lang="en-GB" sz="1200" noProof="0" dirty="0"/>
                  <a:t> 22 </a:t>
                </a:r>
                <a14:m>
                  <m:oMath xmlns:m="http://schemas.openxmlformats.org/officeDocument/2006/math">
                    <m:r>
                      <a:rPr lang="en-GB" sz="1200" i="1" noProof="0">
                        <a:latin typeface="Cambria Math" panose="02040503050406030204" pitchFamily="18" charset="0"/>
                      </a:rPr>
                      <m:t>=</m:t>
                    </m:r>
                  </m:oMath>
                </a14:m>
                <a:r>
                  <a:rPr lang="en-GB" sz="1200" noProof="0" dirty="0"/>
                  <a:t> 0</a:t>
                </a:r>
              </a:p>
              <a:p>
                <a:pPr>
                  <a:lnSpc>
                    <a:spcPct val="150000"/>
                  </a:lnSpc>
                </a:pPr>
                <a:endParaRPr lang="en-GB" sz="1200" noProof="0" dirty="0"/>
              </a:p>
            </p:txBody>
          </p:sp>
        </mc:Choice>
        <mc:Fallback xmlns="">
          <p:sp>
            <p:nvSpPr>
              <p:cNvPr id="3" name="TextBox 2">
                <a:extLst>
                  <a:ext uri="{FF2B5EF4-FFF2-40B4-BE49-F238E27FC236}">
                    <a16:creationId xmlns:a16="http://schemas.microsoft.com/office/drawing/2014/main" id="{38FD5CBF-C7E4-DB9D-95C8-FA2C041A1E2F}"/>
                  </a:ext>
                </a:extLst>
              </p:cNvPr>
              <p:cNvSpPr txBox="1">
                <a:spLocks noRot="1" noChangeAspect="1" noMove="1" noResize="1" noEditPoints="1" noAdjustHandles="1" noChangeArrowheads="1" noChangeShapeType="1" noTextEdit="1"/>
              </p:cNvSpPr>
              <p:nvPr/>
            </p:nvSpPr>
            <p:spPr>
              <a:xfrm>
                <a:off x="2431358" y="416398"/>
                <a:ext cx="1328633" cy="525400"/>
              </a:xfrm>
              <a:prstGeom prst="rect">
                <a:avLst/>
              </a:prstGeom>
              <a:blipFill>
                <a:blip r:embed="rId5"/>
                <a:stretch>
                  <a:fillRect l="-7339" r="-68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CB3B435-1DAE-6BD1-1083-396088B97F9B}"/>
                  </a:ext>
                </a:extLst>
              </p:cNvPr>
              <p:cNvSpPr txBox="1"/>
              <p:nvPr/>
            </p:nvSpPr>
            <p:spPr>
              <a:xfrm>
                <a:off x="4684077" y="444148"/>
                <a:ext cx="1243674" cy="184666"/>
              </a:xfrm>
              <a:prstGeom prst="rect">
                <a:avLst/>
              </a:prstGeom>
              <a:noFill/>
            </p:spPr>
            <p:txBody>
              <a:bodyPr wrap="none" lIns="0" tIns="0" rIns="0" bIns="0" rtlCol="0">
                <a:spAutoFit/>
              </a:bodyPr>
              <a:lstStyle/>
              <a:p>
                <a:pPr>
                  <a:defRPr/>
                </a:pPr>
                <a:r>
                  <a:rPr lang="en-GB" sz="1200" noProof="0" dirty="0"/>
                  <a:t>c) 3</a:t>
                </a:r>
                <a14:m>
                  <m:oMath xmlns:m="http://schemas.openxmlformats.org/officeDocument/2006/math">
                    <m:r>
                      <a:rPr lang="en-GB" sz="1200" i="1" noProof="0">
                        <a:latin typeface="Cambria Math" panose="02040503050406030204" pitchFamily="18" charset="0"/>
                      </a:rPr>
                      <m:t>𝑥</m:t>
                    </m:r>
                  </m:oMath>
                </a14:m>
                <a:r>
                  <a:rPr lang="en-GB" sz="1200" baseline="30000" noProof="0" dirty="0"/>
                  <a:t>2</a:t>
                </a:r>
                <a:r>
                  <a:rPr lang="en-GB" sz="1200" noProof="0" dirty="0"/>
                  <a:t> </a:t>
                </a:r>
                <a14:m>
                  <m:oMath xmlns:m="http://schemas.openxmlformats.org/officeDocument/2006/math">
                    <m:r>
                      <a:rPr lang="en-GB" sz="1200" i="1" noProof="0">
                        <a:latin typeface="Cambria Math" panose="02040503050406030204" pitchFamily="18" charset="0"/>
                      </a:rPr>
                      <m:t>+</m:t>
                    </m:r>
                  </m:oMath>
                </a14:m>
                <a:r>
                  <a:rPr lang="en-GB" sz="1200" noProof="0" dirty="0"/>
                  <a:t> 4</a:t>
                </a:r>
                <a14:m>
                  <m:oMath xmlns:m="http://schemas.openxmlformats.org/officeDocument/2006/math">
                    <m:r>
                      <a:rPr lang="en-GB" sz="1200" i="1" noProof="0">
                        <a:latin typeface="Cambria Math" panose="02040503050406030204" pitchFamily="18" charset="0"/>
                      </a:rPr>
                      <m:t>𝑥</m:t>
                    </m:r>
                  </m:oMath>
                </a14:m>
                <a:r>
                  <a:rPr lang="en-GB" sz="1200" noProof="0" dirty="0"/>
                  <a:t> </a:t>
                </a:r>
                <a14:m>
                  <m:oMath xmlns:m="http://schemas.openxmlformats.org/officeDocument/2006/math">
                    <m:r>
                      <a:rPr lang="en-GB" sz="1200" i="1" noProof="0">
                        <a:latin typeface="Cambria Math" panose="02040503050406030204" pitchFamily="18" charset="0"/>
                      </a:rPr>
                      <m:t>−</m:t>
                    </m:r>
                  </m:oMath>
                </a14:m>
                <a:r>
                  <a:rPr lang="en-GB" sz="1200" noProof="0" dirty="0"/>
                  <a:t> 4 </a:t>
                </a:r>
                <a14:m>
                  <m:oMath xmlns:m="http://schemas.openxmlformats.org/officeDocument/2006/math">
                    <m:r>
                      <a:rPr lang="en-GB" sz="1200" i="1" noProof="0">
                        <a:latin typeface="Cambria Math" panose="02040503050406030204" pitchFamily="18" charset="0"/>
                      </a:rPr>
                      <m:t>=</m:t>
                    </m:r>
                  </m:oMath>
                </a14:m>
                <a:r>
                  <a:rPr lang="en-GB" sz="1200" noProof="0" dirty="0"/>
                  <a:t> 0</a:t>
                </a:r>
              </a:p>
            </p:txBody>
          </p:sp>
        </mc:Choice>
        <mc:Fallback xmlns="">
          <p:sp>
            <p:nvSpPr>
              <p:cNvPr id="6" name="TextBox 5">
                <a:extLst>
                  <a:ext uri="{FF2B5EF4-FFF2-40B4-BE49-F238E27FC236}">
                    <a16:creationId xmlns:a16="http://schemas.microsoft.com/office/drawing/2014/main" id="{1CB3B435-1DAE-6BD1-1083-396088B97F9B}"/>
                  </a:ext>
                </a:extLst>
              </p:cNvPr>
              <p:cNvSpPr txBox="1">
                <a:spLocks noRot="1" noChangeAspect="1" noMove="1" noResize="1" noEditPoints="1" noAdjustHandles="1" noChangeArrowheads="1" noChangeShapeType="1" noTextEdit="1"/>
              </p:cNvSpPr>
              <p:nvPr/>
            </p:nvSpPr>
            <p:spPr>
              <a:xfrm>
                <a:off x="4684077" y="444148"/>
                <a:ext cx="1243674" cy="184666"/>
              </a:xfrm>
              <a:prstGeom prst="rect">
                <a:avLst/>
              </a:prstGeom>
              <a:blipFill>
                <a:blip r:embed="rId6"/>
                <a:stretch>
                  <a:fillRect l="-7353" t="-26667" r="-7353"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58C9712-C1A0-5837-F5A9-ACEA95AD44BC}"/>
                  </a:ext>
                </a:extLst>
              </p:cNvPr>
              <p:cNvSpPr txBox="1"/>
              <p:nvPr/>
            </p:nvSpPr>
            <p:spPr>
              <a:xfrm>
                <a:off x="265476" y="3163948"/>
                <a:ext cx="1672068" cy="553998"/>
              </a:xfrm>
              <a:prstGeom prst="rect">
                <a:avLst/>
              </a:prstGeom>
              <a:noFill/>
            </p:spPr>
            <p:txBody>
              <a:bodyPr wrap="square" lIns="0" tIns="0" rIns="0" bIns="0" rtlCol="0">
                <a:spAutoFit/>
              </a:bodyPr>
              <a:lstStyle/>
              <a:p>
                <a:pPr>
                  <a:defRPr/>
                </a:pPr>
                <a:r>
                  <a:rPr lang="en-GB" sz="1200" noProof="0" dirty="0"/>
                  <a:t>d)     2</a:t>
                </a:r>
                <a14:m>
                  <m:oMath xmlns:m="http://schemas.openxmlformats.org/officeDocument/2006/math">
                    <m:r>
                      <a:rPr lang="en-GB" sz="1200" i="1" noProof="0">
                        <a:latin typeface="Cambria Math" panose="02040503050406030204" pitchFamily="18" charset="0"/>
                      </a:rPr>
                      <m:t>𝑥</m:t>
                    </m:r>
                  </m:oMath>
                </a14:m>
                <a:r>
                  <a:rPr lang="en-GB" sz="1200" baseline="30000" noProof="0" dirty="0"/>
                  <a:t>2</a:t>
                </a:r>
                <a:r>
                  <a:rPr lang="en-GB" sz="1200" noProof="0" dirty="0"/>
                  <a:t> </a:t>
                </a:r>
                <a14:m>
                  <m:oMath xmlns:m="http://schemas.openxmlformats.org/officeDocument/2006/math">
                    <m:r>
                      <a:rPr lang="en-GB" sz="1200" i="1" noProof="0">
                        <a:latin typeface="Cambria Math" panose="02040503050406030204" pitchFamily="18" charset="0"/>
                      </a:rPr>
                      <m:t>=</m:t>
                    </m:r>
                  </m:oMath>
                </a14:m>
                <a:r>
                  <a:rPr lang="en-GB" sz="1200" noProof="0" dirty="0"/>
                  <a:t> 3</a:t>
                </a:r>
                <a14:m>
                  <m:oMath xmlns:m="http://schemas.openxmlformats.org/officeDocument/2006/math">
                    <m:r>
                      <a:rPr lang="en-GB" sz="1200" i="1" noProof="0">
                        <a:latin typeface="Cambria Math" panose="02040503050406030204" pitchFamily="18" charset="0"/>
                      </a:rPr>
                      <m:t>𝑥</m:t>
                    </m:r>
                  </m:oMath>
                </a14:m>
                <a:r>
                  <a:rPr lang="en-GB" sz="1200" noProof="0" dirty="0"/>
                  <a:t> </a:t>
                </a:r>
                <a14:m>
                  <m:oMath xmlns:m="http://schemas.openxmlformats.org/officeDocument/2006/math">
                    <m:r>
                      <a:rPr lang="en-GB" sz="1200" i="1" noProof="0">
                        <a:latin typeface="Cambria Math" panose="02040503050406030204" pitchFamily="18" charset="0"/>
                      </a:rPr>
                      <m:t>+</m:t>
                    </m:r>
                  </m:oMath>
                </a14:m>
                <a:r>
                  <a:rPr lang="en-GB" sz="1200" noProof="0" dirty="0"/>
                  <a:t> 5</a:t>
                </a:r>
              </a:p>
              <a:p>
                <a:pPr>
                  <a:defRPr/>
                </a:pPr>
                <a:endParaRPr lang="en-GB" sz="1200" noProof="0" dirty="0"/>
              </a:p>
              <a:p>
                <a:pPr>
                  <a:defRPr/>
                </a:pPr>
                <a:endParaRPr lang="en-GB" sz="1200" noProof="0" dirty="0"/>
              </a:p>
            </p:txBody>
          </p:sp>
        </mc:Choice>
        <mc:Fallback xmlns="">
          <p:sp>
            <p:nvSpPr>
              <p:cNvPr id="19" name="TextBox 18">
                <a:extLst>
                  <a:ext uri="{FF2B5EF4-FFF2-40B4-BE49-F238E27FC236}">
                    <a16:creationId xmlns:a16="http://schemas.microsoft.com/office/drawing/2014/main" id="{F58C9712-C1A0-5837-F5A9-ACEA95AD44BC}"/>
                  </a:ext>
                </a:extLst>
              </p:cNvPr>
              <p:cNvSpPr txBox="1">
                <a:spLocks noRot="1" noChangeAspect="1" noMove="1" noResize="1" noEditPoints="1" noAdjustHandles="1" noChangeArrowheads="1" noChangeShapeType="1" noTextEdit="1"/>
              </p:cNvSpPr>
              <p:nvPr/>
            </p:nvSpPr>
            <p:spPr>
              <a:xfrm>
                <a:off x="265476" y="3163948"/>
                <a:ext cx="1672068" cy="553998"/>
              </a:xfrm>
              <a:prstGeom prst="rect">
                <a:avLst/>
              </a:prstGeom>
              <a:blipFill>
                <a:blip r:embed="rId7"/>
                <a:stretch>
                  <a:fillRect l="-5839" t="-87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8E9820C-E629-7A0E-AF77-4F902A5105D1}"/>
                  </a:ext>
                </a:extLst>
              </p:cNvPr>
              <p:cNvSpPr txBox="1"/>
              <p:nvPr/>
            </p:nvSpPr>
            <p:spPr>
              <a:xfrm>
                <a:off x="2625530" y="3270570"/>
                <a:ext cx="1807730" cy="369332"/>
              </a:xfrm>
              <a:prstGeom prst="rect">
                <a:avLst/>
              </a:prstGeom>
              <a:noFill/>
            </p:spPr>
            <p:txBody>
              <a:bodyPr wrap="square" lIns="0" tIns="0" rIns="0" bIns="0" rtlCol="0">
                <a:spAutoFit/>
              </a:bodyPr>
              <a:lstStyle/>
              <a:p>
                <a:pPr>
                  <a:defRPr/>
                </a:pPr>
                <a:r>
                  <a:rPr lang="en-GB" sz="1200" noProof="0" dirty="0"/>
                  <a:t>e)     2</a:t>
                </a:r>
                <a14:m>
                  <m:oMath xmlns:m="http://schemas.openxmlformats.org/officeDocument/2006/math">
                    <m:r>
                      <a:rPr lang="en-GB" sz="1200" i="1" noProof="0">
                        <a:latin typeface="Cambria Math" panose="02040503050406030204" pitchFamily="18" charset="0"/>
                      </a:rPr>
                      <m:t>𝑥</m:t>
                    </m:r>
                  </m:oMath>
                </a14:m>
                <a:r>
                  <a:rPr lang="en-GB" sz="1200" baseline="30000" noProof="0" dirty="0"/>
                  <a:t>2</a:t>
                </a:r>
                <a:r>
                  <a:rPr lang="en-GB" sz="1200" noProof="0" dirty="0"/>
                  <a:t> </a:t>
                </a:r>
                <a14:m>
                  <m:oMath xmlns:m="http://schemas.openxmlformats.org/officeDocument/2006/math">
                    <m:r>
                      <a:rPr lang="en-GB" sz="1200" i="1" noProof="0">
                        <a:latin typeface="Cambria Math" panose="02040503050406030204" pitchFamily="18" charset="0"/>
                      </a:rPr>
                      <m:t>+</m:t>
                    </m:r>
                  </m:oMath>
                </a14:m>
                <a:r>
                  <a:rPr lang="en-GB" sz="1200" noProof="0" dirty="0"/>
                  <a:t> 1 </a:t>
                </a:r>
                <a14:m>
                  <m:oMath xmlns:m="http://schemas.openxmlformats.org/officeDocument/2006/math">
                    <m:r>
                      <a:rPr lang="en-GB" sz="1200" i="1" noProof="0">
                        <a:latin typeface="Cambria Math" panose="02040503050406030204" pitchFamily="18" charset="0"/>
                      </a:rPr>
                      <m:t>=</m:t>
                    </m:r>
                  </m:oMath>
                </a14:m>
                <a:r>
                  <a:rPr lang="en-GB" sz="1200" noProof="0" dirty="0"/>
                  <a:t> 3</a:t>
                </a:r>
                <a14:m>
                  <m:oMath xmlns:m="http://schemas.openxmlformats.org/officeDocument/2006/math">
                    <m:r>
                      <a:rPr lang="en-GB" sz="1200" i="1" noProof="0">
                        <a:latin typeface="Cambria Math" panose="02040503050406030204" pitchFamily="18" charset="0"/>
                      </a:rPr>
                      <m:t>𝑥</m:t>
                    </m:r>
                  </m:oMath>
                </a14:m>
                <a:endParaRPr lang="en-GB" sz="1200" noProof="0" dirty="0"/>
              </a:p>
              <a:p>
                <a:pPr defTabSz="685800">
                  <a:defRPr/>
                </a:pPr>
                <a:endParaRPr lang="en-GB" sz="1200" noProof="0" dirty="0"/>
              </a:p>
            </p:txBody>
          </p:sp>
        </mc:Choice>
        <mc:Fallback xmlns="">
          <p:sp>
            <p:nvSpPr>
              <p:cNvPr id="20" name="TextBox 19">
                <a:extLst>
                  <a:ext uri="{FF2B5EF4-FFF2-40B4-BE49-F238E27FC236}">
                    <a16:creationId xmlns:a16="http://schemas.microsoft.com/office/drawing/2014/main" id="{D8E9820C-E629-7A0E-AF77-4F902A5105D1}"/>
                  </a:ext>
                </a:extLst>
              </p:cNvPr>
              <p:cNvSpPr txBox="1">
                <a:spLocks noRot="1" noChangeAspect="1" noMove="1" noResize="1" noEditPoints="1" noAdjustHandles="1" noChangeArrowheads="1" noChangeShapeType="1" noTextEdit="1"/>
              </p:cNvSpPr>
              <p:nvPr/>
            </p:nvSpPr>
            <p:spPr>
              <a:xfrm>
                <a:off x="2625530" y="3270570"/>
                <a:ext cx="1807730" cy="369332"/>
              </a:xfrm>
              <a:prstGeom prst="rect">
                <a:avLst/>
              </a:prstGeom>
              <a:blipFill>
                <a:blip r:embed="rId8"/>
                <a:stretch>
                  <a:fillRect l="-5405" t="-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98B44B4-9CB4-0731-75C1-F053BE86775D}"/>
                  </a:ext>
                </a:extLst>
              </p:cNvPr>
              <p:cNvSpPr txBox="1"/>
              <p:nvPr/>
            </p:nvSpPr>
            <p:spPr>
              <a:xfrm>
                <a:off x="4871022" y="3218569"/>
                <a:ext cx="1292277" cy="738664"/>
              </a:xfrm>
              <a:prstGeom prst="rect">
                <a:avLst/>
              </a:prstGeom>
              <a:noFill/>
            </p:spPr>
            <p:txBody>
              <a:bodyPr wrap="none" lIns="0" tIns="0" rIns="0" bIns="0" rtlCol="0">
                <a:spAutoFit/>
              </a:bodyPr>
              <a:lstStyle/>
              <a:p>
                <a:pPr>
                  <a:defRPr/>
                </a:pPr>
                <a:r>
                  <a:rPr lang="en-GB" sz="1200" noProof="0" dirty="0"/>
                  <a:t>f)   3</a:t>
                </a:r>
                <a14:m>
                  <m:oMath xmlns:m="http://schemas.openxmlformats.org/officeDocument/2006/math">
                    <m:r>
                      <a:rPr lang="en-GB" sz="1200" i="1" noProof="0">
                        <a:latin typeface="Cambria Math" panose="02040503050406030204" pitchFamily="18" charset="0"/>
                      </a:rPr>
                      <m:t>𝑥</m:t>
                    </m:r>
                  </m:oMath>
                </a14:m>
                <a:r>
                  <a:rPr lang="en-GB" sz="1200" baseline="30000" noProof="0" dirty="0"/>
                  <a:t>2 </a:t>
                </a:r>
                <a14:m>
                  <m:oMath xmlns:m="http://schemas.openxmlformats.org/officeDocument/2006/math">
                    <m:r>
                      <a:rPr lang="en-GB" sz="1200" i="1" noProof="0">
                        <a:latin typeface="Cambria Math" panose="02040503050406030204" pitchFamily="18" charset="0"/>
                      </a:rPr>
                      <m:t>+</m:t>
                    </m:r>
                  </m:oMath>
                </a14:m>
                <a:r>
                  <a:rPr lang="en-GB" sz="1200" noProof="0" dirty="0"/>
                  <a:t> 6</a:t>
                </a:r>
                <a14:m>
                  <m:oMath xmlns:m="http://schemas.openxmlformats.org/officeDocument/2006/math">
                    <m:r>
                      <a:rPr lang="en-GB" sz="1200" i="1" noProof="0">
                        <a:latin typeface="Cambria Math" panose="02040503050406030204" pitchFamily="18" charset="0"/>
                      </a:rPr>
                      <m:t>𝑥</m:t>
                    </m:r>
                  </m:oMath>
                </a14:m>
                <a:r>
                  <a:rPr lang="en-GB" sz="1200" noProof="0" dirty="0"/>
                  <a:t> </a:t>
                </a:r>
                <a14:m>
                  <m:oMath xmlns:m="http://schemas.openxmlformats.org/officeDocument/2006/math">
                    <m:r>
                      <a:rPr lang="en-GB" sz="1200" i="1" noProof="0">
                        <a:latin typeface="Cambria Math" panose="02040503050406030204" pitchFamily="18" charset="0"/>
                      </a:rPr>
                      <m:t>=</m:t>
                    </m:r>
                  </m:oMath>
                </a14:m>
                <a:r>
                  <a:rPr lang="en-GB" sz="1200" noProof="0" dirty="0"/>
                  <a:t> </a:t>
                </a:r>
                <a14:m>
                  <m:oMath xmlns:m="http://schemas.openxmlformats.org/officeDocument/2006/math">
                    <m:r>
                      <a:rPr lang="en-GB" sz="1200" i="1" noProof="0">
                        <a:latin typeface="Cambria Math" panose="02040503050406030204" pitchFamily="18" charset="0"/>
                      </a:rPr>
                      <m:t>𝑥</m:t>
                    </m:r>
                  </m:oMath>
                </a14:m>
                <a:r>
                  <a:rPr lang="en-GB" sz="1200" noProof="0" dirty="0"/>
                  <a:t> </a:t>
                </a:r>
                <a14:m>
                  <m:oMath xmlns:m="http://schemas.openxmlformats.org/officeDocument/2006/math">
                    <m:r>
                      <a:rPr lang="en-GB" sz="1200" i="1" noProof="0">
                        <a:latin typeface="Cambria Math" panose="02040503050406030204" pitchFamily="18" charset="0"/>
                      </a:rPr>
                      <m:t>−</m:t>
                    </m:r>
                  </m:oMath>
                </a14:m>
                <a:r>
                  <a:rPr lang="en-GB" sz="1200" noProof="0" dirty="0"/>
                  <a:t> 2</a:t>
                </a:r>
              </a:p>
              <a:p>
                <a:pPr>
                  <a:defRPr/>
                </a:pPr>
                <a:endParaRPr lang="en-GB" sz="1200" noProof="0" dirty="0"/>
              </a:p>
              <a:p>
                <a:pPr>
                  <a:defRPr/>
                </a:pPr>
                <a:r>
                  <a:rPr lang="en-GB" sz="1200" noProof="0" dirty="0">
                    <a:solidFill>
                      <a:srgbClr val="FF0000"/>
                    </a:solidFill>
                  </a:rPr>
                  <a:t> </a:t>
                </a:r>
                <a:endParaRPr lang="en-GB" sz="1200" noProof="0" dirty="0"/>
              </a:p>
              <a:p>
                <a:pPr>
                  <a:defRPr/>
                </a:pPr>
                <a:endParaRPr lang="en-GB" sz="1200" noProof="0" dirty="0"/>
              </a:p>
            </p:txBody>
          </p:sp>
        </mc:Choice>
        <mc:Fallback xmlns="">
          <p:sp>
            <p:nvSpPr>
              <p:cNvPr id="21" name="TextBox 20">
                <a:extLst>
                  <a:ext uri="{FF2B5EF4-FFF2-40B4-BE49-F238E27FC236}">
                    <a16:creationId xmlns:a16="http://schemas.microsoft.com/office/drawing/2014/main" id="{E98B44B4-9CB4-0731-75C1-F053BE86775D}"/>
                  </a:ext>
                </a:extLst>
              </p:cNvPr>
              <p:cNvSpPr txBox="1">
                <a:spLocks noRot="1" noChangeAspect="1" noMove="1" noResize="1" noEditPoints="1" noAdjustHandles="1" noChangeArrowheads="1" noChangeShapeType="1" noTextEdit="1"/>
              </p:cNvSpPr>
              <p:nvPr/>
            </p:nvSpPr>
            <p:spPr>
              <a:xfrm>
                <a:off x="4871022" y="3218569"/>
                <a:ext cx="1292277" cy="738664"/>
              </a:xfrm>
              <a:prstGeom prst="rect">
                <a:avLst/>
              </a:prstGeom>
              <a:blipFill>
                <a:blip r:embed="rId9"/>
                <a:stretch>
                  <a:fillRect l="-7075" t="-6612" r="-70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DB1E2F1-CE79-36ED-3DE3-CFEF44AE724E}"/>
                  </a:ext>
                </a:extLst>
              </p:cNvPr>
              <p:cNvSpPr txBox="1"/>
              <p:nvPr/>
            </p:nvSpPr>
            <p:spPr>
              <a:xfrm>
                <a:off x="129979" y="5763904"/>
                <a:ext cx="4886698" cy="461665"/>
              </a:xfrm>
              <a:prstGeom prst="rect">
                <a:avLst/>
              </a:prstGeom>
              <a:noFill/>
            </p:spPr>
            <p:txBody>
              <a:bodyPr wrap="square" rtlCol="0">
                <a:spAutoFit/>
              </a:bodyPr>
              <a:lstStyle/>
              <a:p>
                <a:r>
                  <a:rPr lang="en-GB" sz="1200" noProof="0" dirty="0">
                    <a:latin typeface="Calibri" panose="020F0502020204030204" pitchFamily="34" charset="0"/>
                    <a:cs typeface="Calibri" panose="020F0502020204030204" pitchFamily="34" charset="0"/>
                  </a:rPr>
                  <a:t>3. Solve each equation </a:t>
                </a:r>
                <a:r>
                  <a:rPr lang="en-GB" sz="1200" b="1" noProof="0" dirty="0">
                    <a:latin typeface="Calibri" panose="020F0502020204030204" pitchFamily="34" charset="0"/>
                    <a:cs typeface="Calibri" panose="020F0502020204030204" pitchFamily="34" charset="0"/>
                  </a:rPr>
                  <a:t>using the quadratic formula</a:t>
                </a:r>
                <a:r>
                  <a:rPr lang="en-GB" sz="1200" noProof="0" dirty="0">
                    <a:latin typeface="Calibri" panose="020F0502020204030204" pitchFamily="34" charset="0"/>
                    <a:cs typeface="Calibri" panose="020F0502020204030204" pitchFamily="34" charset="0"/>
                  </a:rPr>
                  <a:t>.</a:t>
                </a:r>
              </a:p>
              <a:p>
                <a:r>
                  <a:rPr lang="en-GB" sz="1200" noProof="0" dirty="0">
                    <a:latin typeface="Calibri" panose="020F0502020204030204" pitchFamily="34" charset="0"/>
                    <a:cs typeface="Calibri" panose="020F0502020204030204" pitchFamily="34" charset="0"/>
                  </a:rPr>
                  <a:t>You will have to check the equation is in the form </a:t>
                </a:r>
                <a14:m>
                  <m:oMath xmlns:m="http://schemas.openxmlformats.org/officeDocument/2006/math">
                    <m:sSup>
                      <m:sSupPr>
                        <m:ctrlPr>
                          <a:rPr lang="en-GB" sz="1200" b="0" i="1" noProof="0" smtClean="0">
                            <a:latin typeface="Cambria Math" panose="02040503050406030204" pitchFamily="18" charset="0"/>
                            <a:cs typeface="Calibri" panose="020F0502020204030204" pitchFamily="34" charset="0"/>
                          </a:rPr>
                        </m:ctrlPr>
                      </m:sSupPr>
                      <m:e>
                        <m:r>
                          <a:rPr lang="en-GB" sz="1200" b="0" i="1" noProof="0" smtClean="0">
                            <a:latin typeface="Cambria Math" panose="02040503050406030204" pitchFamily="18" charset="0"/>
                            <a:cs typeface="Calibri" panose="020F0502020204030204" pitchFamily="34" charset="0"/>
                          </a:rPr>
                          <m:t>𝑎𝑥</m:t>
                        </m:r>
                      </m:e>
                      <m:sup>
                        <m:r>
                          <a:rPr lang="en-GB" sz="1200" b="0" i="1" noProof="0" smtClean="0">
                            <a:latin typeface="Cambria Math" panose="02040503050406030204" pitchFamily="18" charset="0"/>
                            <a:cs typeface="Calibri" panose="020F0502020204030204" pitchFamily="34" charset="0"/>
                          </a:rPr>
                          <m:t>2</m:t>
                        </m:r>
                      </m:sup>
                    </m:sSup>
                    <m:r>
                      <a:rPr lang="en-GB" sz="1200" b="0" i="1" noProof="0" smtClean="0">
                        <a:latin typeface="Cambria Math" panose="02040503050406030204" pitchFamily="18" charset="0"/>
                        <a:cs typeface="Calibri" panose="020F0502020204030204" pitchFamily="34" charset="0"/>
                      </a:rPr>
                      <m:t>+</m:t>
                    </m:r>
                    <m:r>
                      <a:rPr lang="en-GB" sz="1200" b="0" i="1" noProof="0" smtClean="0">
                        <a:latin typeface="Cambria Math" panose="02040503050406030204" pitchFamily="18" charset="0"/>
                        <a:cs typeface="Calibri" panose="020F0502020204030204" pitchFamily="34" charset="0"/>
                      </a:rPr>
                      <m:t>𝑏𝑥</m:t>
                    </m:r>
                    <m:r>
                      <a:rPr lang="en-GB" sz="1200" b="0" i="1" noProof="0" smtClean="0">
                        <a:latin typeface="Cambria Math" panose="02040503050406030204" pitchFamily="18" charset="0"/>
                        <a:cs typeface="Calibri" panose="020F0502020204030204" pitchFamily="34" charset="0"/>
                      </a:rPr>
                      <m:t>+</m:t>
                    </m:r>
                    <m:r>
                      <a:rPr lang="en-GB" sz="1200" b="0" i="1" noProof="0" smtClean="0">
                        <a:latin typeface="Cambria Math" panose="02040503050406030204" pitchFamily="18" charset="0"/>
                        <a:cs typeface="Calibri" panose="020F0502020204030204" pitchFamily="34" charset="0"/>
                      </a:rPr>
                      <m:t>𝑐</m:t>
                    </m:r>
                    <m:r>
                      <a:rPr lang="en-GB" sz="1200" b="0" i="1" noProof="0" smtClean="0">
                        <a:latin typeface="Cambria Math" panose="02040503050406030204" pitchFamily="18" charset="0"/>
                        <a:cs typeface="Calibri" panose="020F0502020204030204" pitchFamily="34" charset="0"/>
                      </a:rPr>
                      <m:t>=0</m:t>
                    </m:r>
                  </m:oMath>
                </a14:m>
                <a:r>
                  <a:rPr lang="en-GB" sz="1200" noProof="0" dirty="0">
                    <a:latin typeface="Calibri" panose="020F0502020204030204" pitchFamily="34" charset="0"/>
                    <a:cs typeface="Calibri" panose="020F0502020204030204" pitchFamily="34" charset="0"/>
                  </a:rPr>
                  <a:t> </a:t>
                </a:r>
              </a:p>
            </p:txBody>
          </p:sp>
        </mc:Choice>
        <mc:Fallback xmlns="">
          <p:sp>
            <p:nvSpPr>
              <p:cNvPr id="22" name="TextBox 21">
                <a:extLst>
                  <a:ext uri="{FF2B5EF4-FFF2-40B4-BE49-F238E27FC236}">
                    <a16:creationId xmlns:a16="http://schemas.microsoft.com/office/drawing/2014/main" id="{CDB1E2F1-CE79-36ED-3DE3-CFEF44AE724E}"/>
                  </a:ext>
                </a:extLst>
              </p:cNvPr>
              <p:cNvSpPr txBox="1">
                <a:spLocks noRot="1" noChangeAspect="1" noMove="1" noResize="1" noEditPoints="1" noAdjustHandles="1" noChangeArrowheads="1" noChangeShapeType="1" noTextEdit="1"/>
              </p:cNvSpPr>
              <p:nvPr/>
            </p:nvSpPr>
            <p:spPr>
              <a:xfrm>
                <a:off x="129979" y="5763904"/>
                <a:ext cx="4886698" cy="461665"/>
              </a:xfrm>
              <a:prstGeom prst="rect">
                <a:avLst/>
              </a:prstGeom>
              <a:blipFill>
                <a:blip r:embed="rId13"/>
                <a:stretch>
                  <a:fillRect t="-1333" b="-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FA5C837-3439-0F87-638B-E63E174A769E}"/>
                  </a:ext>
                </a:extLst>
              </p:cNvPr>
              <p:cNvSpPr txBox="1"/>
              <p:nvPr/>
            </p:nvSpPr>
            <p:spPr>
              <a:xfrm>
                <a:off x="75793" y="6386533"/>
                <a:ext cx="1487651" cy="1754326"/>
              </a:xfrm>
              <a:prstGeom prst="rect">
                <a:avLst/>
              </a:prstGeom>
              <a:noFill/>
            </p:spPr>
            <p:txBody>
              <a:bodyPr wrap="none" rtlCol="0">
                <a:spAutoFit/>
              </a:bodyPr>
              <a:lstStyle/>
              <a:p>
                <a:pPr marL="228600" indent="-228600">
                  <a:buAutoNum type="alphaLcParenR"/>
                </a:pPr>
                <a14:m>
                  <m:oMath xmlns:m="http://schemas.openxmlformats.org/officeDocument/2006/math">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+6</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+3=0</m:t>
                    </m:r>
                  </m:oMath>
                </a14:m>
                <a:endParaRPr lang="en-GB" sz="1200" noProof="0" dirty="0"/>
              </a:p>
              <a:p>
                <a:pPr marL="228600" indent="-228600">
                  <a:buAutoNum type="alphaLcParenR"/>
                </a:pPr>
                <a:endParaRPr lang="en-GB" sz="1200" noProof="0" dirty="0"/>
              </a:p>
              <a:p>
                <a:pPr marL="228600" indent="-228600">
                  <a:buAutoNum type="alphaLcParenR"/>
                </a:pPr>
                <a:endParaRPr lang="en-GB" sz="1200" noProof="0" dirty="0"/>
              </a:p>
              <a:p>
                <a:endParaRPr lang="en-GB" sz="1200" noProof="0" dirty="0"/>
              </a:p>
              <a:p>
                <a:endParaRPr lang="en-GB" sz="1200" noProof="0" dirty="0"/>
              </a:p>
              <a:p>
                <a:endParaRPr lang="en-GB" sz="1200" noProof="0" dirty="0"/>
              </a:p>
              <a:p>
                <a:endParaRPr lang="en-GB" sz="1200" noProof="0" dirty="0"/>
              </a:p>
              <a:p>
                <a:r>
                  <a:rPr lang="en-GB" sz="1200" noProof="0" dirty="0"/>
                  <a:t>                 </a:t>
                </a:r>
                <a:endParaRPr lang="en-GB" sz="1200" baseline="0" noProof="0" dirty="0">
                  <a:solidFill>
                    <a:srgbClr val="FF0000"/>
                  </a:solidFill>
                </a:endParaRPr>
              </a:p>
              <a:p>
                <a:endParaRPr lang="en-GB" sz="1200" noProof="0" dirty="0"/>
              </a:p>
            </p:txBody>
          </p:sp>
        </mc:Choice>
        <mc:Fallback xmlns="">
          <p:sp>
            <p:nvSpPr>
              <p:cNvPr id="23" name="TextBox 22">
                <a:extLst>
                  <a:ext uri="{FF2B5EF4-FFF2-40B4-BE49-F238E27FC236}">
                    <a16:creationId xmlns:a16="http://schemas.microsoft.com/office/drawing/2014/main" id="{EFA5C837-3439-0F87-638B-E63E174A769E}"/>
                  </a:ext>
                </a:extLst>
              </p:cNvPr>
              <p:cNvSpPr txBox="1">
                <a:spLocks noRot="1" noChangeAspect="1" noMove="1" noResize="1" noEditPoints="1" noAdjustHandles="1" noChangeArrowheads="1" noChangeShapeType="1" noTextEdit="1"/>
              </p:cNvSpPr>
              <p:nvPr/>
            </p:nvSpPr>
            <p:spPr>
              <a:xfrm>
                <a:off x="75793" y="6386533"/>
                <a:ext cx="1487651" cy="1754326"/>
              </a:xfrm>
              <a:prstGeom prst="rect">
                <a:avLst/>
              </a:prstGeom>
              <a:blipFill>
                <a:blip r:embed="rId14"/>
                <a:stretch>
                  <a:fillRect t="-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F1FECB7-8DC8-99DA-6F23-64E37370DD86}"/>
                  </a:ext>
                </a:extLst>
              </p:cNvPr>
              <p:cNvSpPr txBox="1"/>
              <p:nvPr/>
            </p:nvSpPr>
            <p:spPr>
              <a:xfrm>
                <a:off x="2626020" y="6386533"/>
                <a:ext cx="1503681" cy="1569660"/>
              </a:xfrm>
              <a:prstGeom prst="rect">
                <a:avLst/>
              </a:prstGeom>
              <a:noFill/>
            </p:spPr>
            <p:txBody>
              <a:bodyPr wrap="none" rtlCol="0">
                <a:spAutoFit/>
              </a:bodyPr>
              <a:lstStyle/>
              <a:p>
                <a:r>
                  <a:rPr lang="en-GB" sz="1200" noProof="0" dirty="0"/>
                  <a:t>b)</a:t>
                </a:r>
                <a:r>
                  <a:rPr lang="en-GB" sz="1200" b="1" noProof="0" dirty="0"/>
                  <a:t> </a:t>
                </a:r>
                <a14:m>
                  <m:oMath xmlns:m="http://schemas.openxmlformats.org/officeDocument/2006/math">
                    <m:r>
                      <a:rPr lang="en-GB" sz="1200" b="0" i="1" noProof="0" smtClean="0">
                        <a:latin typeface="Cambria Math" panose="02040503050406030204" pitchFamily="18" charset="0"/>
                      </a:rPr>
                      <m:t>2</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+7</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+1=0</m:t>
                    </m:r>
                  </m:oMath>
                </a14:m>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r>
                  <a:rPr lang="en-GB" sz="1200" noProof="0" dirty="0"/>
                  <a:t> </a:t>
                </a:r>
              </a:p>
            </p:txBody>
          </p:sp>
        </mc:Choice>
        <mc:Fallback xmlns="">
          <p:sp>
            <p:nvSpPr>
              <p:cNvPr id="24" name="TextBox 23">
                <a:extLst>
                  <a:ext uri="{FF2B5EF4-FFF2-40B4-BE49-F238E27FC236}">
                    <a16:creationId xmlns:a16="http://schemas.microsoft.com/office/drawing/2014/main" id="{BF1FECB7-8DC8-99DA-6F23-64E37370DD86}"/>
                  </a:ext>
                </a:extLst>
              </p:cNvPr>
              <p:cNvSpPr txBox="1">
                <a:spLocks noRot="1" noChangeAspect="1" noMove="1" noResize="1" noEditPoints="1" noAdjustHandles="1" noChangeArrowheads="1" noChangeShapeType="1" noTextEdit="1"/>
              </p:cNvSpPr>
              <p:nvPr/>
            </p:nvSpPr>
            <p:spPr>
              <a:xfrm>
                <a:off x="2626020" y="6386533"/>
                <a:ext cx="1503681" cy="1569660"/>
              </a:xfrm>
              <a:prstGeom prst="rect">
                <a:avLst/>
              </a:prstGeom>
              <a:blipFill>
                <a:blip r:embed="rId15"/>
                <a:stretch>
                  <a:fillRect l="-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359FE2D-5254-46B4-EF2C-75EAB895625A}"/>
                  </a:ext>
                </a:extLst>
              </p:cNvPr>
              <p:cNvSpPr txBox="1"/>
              <p:nvPr/>
            </p:nvSpPr>
            <p:spPr>
              <a:xfrm>
                <a:off x="4687201" y="6379769"/>
                <a:ext cx="1455591" cy="276999"/>
              </a:xfrm>
              <a:prstGeom prst="rect">
                <a:avLst/>
              </a:prstGeom>
              <a:noFill/>
            </p:spPr>
            <p:txBody>
              <a:bodyPr wrap="none" rtlCol="0">
                <a:spAutoFit/>
              </a:bodyPr>
              <a:lstStyle/>
              <a:p>
                <a:r>
                  <a:rPr lang="en-GB" sz="1200" noProof="0" dirty="0"/>
                  <a:t>c</a:t>
                </a:r>
                <a14:m>
                  <m:oMath xmlns:m="http://schemas.openxmlformats.org/officeDocument/2006/math">
                    <m:r>
                      <a:rPr lang="en-GB" sz="1200" b="0" i="0" noProof="0" smtClean="0">
                        <a:latin typeface="Cambria Math" panose="02040503050406030204" pitchFamily="18" charset="0"/>
                      </a:rPr>
                      <m:t>) </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−7</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+1=0</m:t>
                    </m:r>
                  </m:oMath>
                </a14:m>
                <a:r>
                  <a:rPr lang="en-GB" sz="1200" noProof="0" dirty="0"/>
                  <a:t> </a:t>
                </a:r>
              </a:p>
            </p:txBody>
          </p:sp>
        </mc:Choice>
        <mc:Fallback xmlns="">
          <p:sp>
            <p:nvSpPr>
              <p:cNvPr id="25" name="TextBox 24">
                <a:extLst>
                  <a:ext uri="{FF2B5EF4-FFF2-40B4-BE49-F238E27FC236}">
                    <a16:creationId xmlns:a16="http://schemas.microsoft.com/office/drawing/2014/main" id="{2359FE2D-5254-46B4-EF2C-75EAB895625A}"/>
                  </a:ext>
                </a:extLst>
              </p:cNvPr>
              <p:cNvSpPr txBox="1">
                <a:spLocks noRot="1" noChangeAspect="1" noMove="1" noResize="1" noEditPoints="1" noAdjustHandles="1" noChangeArrowheads="1" noChangeShapeType="1" noTextEdit="1"/>
              </p:cNvSpPr>
              <p:nvPr/>
            </p:nvSpPr>
            <p:spPr>
              <a:xfrm>
                <a:off x="4687201" y="6379769"/>
                <a:ext cx="1455591" cy="276999"/>
              </a:xfrm>
              <a:prstGeom prst="rect">
                <a:avLst/>
              </a:prstGeom>
              <a:blipFill>
                <a:blip r:embed="rId16"/>
                <a:stretch>
                  <a:fillRect l="-418" b="-20000"/>
                </a:stretch>
              </a:blipFill>
            </p:spPr>
            <p:txBody>
              <a:bodyPr/>
              <a:lstStyle/>
              <a:p>
                <a:r>
                  <a:rPr lang="en-US">
                    <a:noFill/>
                  </a:rPr>
                  <a:t> </a:t>
                </a:r>
              </a:p>
            </p:txBody>
          </p:sp>
        </mc:Fallback>
      </mc:AlternateContent>
    </p:spTree>
    <p:extLst>
      <p:ext uri="{BB962C8B-B14F-4D97-AF65-F5344CB8AC3E}">
        <p14:creationId xmlns:p14="http://schemas.microsoft.com/office/powerpoint/2010/main" val="1894790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0A43FB48-50D6-4CC7-A52A-C169E8D044E0}"/>
              </a:ext>
            </a:extLst>
          </p:cNvPr>
          <p:cNvSpPr/>
          <p:nvPr/>
        </p:nvSpPr>
        <p:spPr>
          <a:xfrm>
            <a:off x="3395822" y="4713765"/>
            <a:ext cx="3314356" cy="485967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Calibri" panose="020F0502020204030204" pitchFamily="34" charset="0"/>
              <a:cs typeface="Calibri" panose="020F0502020204030204" pitchFamily="34" charset="0"/>
            </a:endParaRPr>
          </a:p>
        </p:txBody>
      </p:sp>
      <p:sp>
        <p:nvSpPr>
          <p:cNvPr id="29" name="Rectangle 28">
            <a:extLst>
              <a:ext uri="{FF2B5EF4-FFF2-40B4-BE49-F238E27FC236}">
                <a16:creationId xmlns:a16="http://schemas.microsoft.com/office/drawing/2014/main" id="{0A43FB48-50D6-4CC7-A52A-C169E8D044E0}"/>
              </a:ext>
            </a:extLst>
          </p:cNvPr>
          <p:cNvSpPr/>
          <p:nvPr/>
        </p:nvSpPr>
        <p:spPr>
          <a:xfrm>
            <a:off x="3383122" y="332563"/>
            <a:ext cx="3314356" cy="41378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Calibri" panose="020F0502020204030204" pitchFamily="34" charset="0"/>
              <a:cs typeface="Calibri" panose="020F0502020204030204" pitchFamily="34" charset="0"/>
            </a:endParaRPr>
          </a:p>
        </p:txBody>
      </p:sp>
      <p:sp>
        <p:nvSpPr>
          <p:cNvPr id="30" name="Slide Number Placeholder 29"/>
          <p:cNvSpPr>
            <a:spLocks noGrp="1"/>
          </p:cNvSpPr>
          <p:nvPr>
            <p:ph type="sldNum" sz="quarter" idx="12"/>
          </p:nvPr>
        </p:nvSpPr>
        <p:spPr>
          <a:xfrm>
            <a:off x="5254760" y="9436102"/>
            <a:ext cx="1543050" cy="527403"/>
          </a:xfrm>
        </p:spPr>
        <p:txBody>
          <a:bodyPr/>
          <a:lstStyle/>
          <a:p>
            <a:fld id="{FBAE39DB-50DA-415B-9DF6-5539075545AD}" type="slidenum">
              <a:rPr lang="en-GB" noProof="0" smtClean="0"/>
              <a:t>3</a:t>
            </a:fld>
            <a:endParaRPr lang="en-GB" noProof="0" dirty="0"/>
          </a:p>
        </p:txBody>
      </p:sp>
      <p:pic>
        <p:nvPicPr>
          <p:cNvPr id="7" name="Picture 6"/>
          <p:cNvPicPr>
            <a:picLocks noChangeAspect="1"/>
          </p:cNvPicPr>
          <p:nvPr/>
        </p:nvPicPr>
        <p:blipFill>
          <a:blip r:embed="rId2"/>
          <a:stretch>
            <a:fillRect/>
          </a:stretch>
        </p:blipFill>
        <p:spPr>
          <a:xfrm>
            <a:off x="464978" y="566533"/>
            <a:ext cx="2426124" cy="1143430"/>
          </a:xfrm>
          <a:prstGeom prst="rect">
            <a:avLst/>
          </a:prstGeom>
        </p:spPr>
      </p:pic>
      <p:sp>
        <p:nvSpPr>
          <p:cNvPr id="8" name="Rectangle 7">
            <a:extLst>
              <a:ext uri="{FF2B5EF4-FFF2-40B4-BE49-F238E27FC236}">
                <a16:creationId xmlns:a16="http://schemas.microsoft.com/office/drawing/2014/main" id="{0A43FB48-50D6-4CC7-A52A-C169E8D044E0}"/>
              </a:ext>
            </a:extLst>
          </p:cNvPr>
          <p:cNvSpPr/>
          <p:nvPr/>
        </p:nvSpPr>
        <p:spPr>
          <a:xfrm>
            <a:off x="160522" y="332563"/>
            <a:ext cx="3135518" cy="41378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9" name="TextBox 8"/>
              <p:cNvSpPr txBox="1"/>
              <p:nvPr/>
            </p:nvSpPr>
            <p:spPr>
              <a:xfrm>
                <a:off x="149272" y="332563"/>
                <a:ext cx="2020040" cy="2492990"/>
              </a:xfrm>
              <a:prstGeom prst="rect">
                <a:avLst/>
              </a:prstGeom>
              <a:noFill/>
            </p:spPr>
            <p:txBody>
              <a:bodyPr wrap="none" rtlCol="0">
                <a:spAutoFit/>
              </a:bodyPr>
              <a:lstStyle/>
              <a:p>
                <a:pPr marL="228600" indent="-228600">
                  <a:buAutoNum type="alphaLcParenR"/>
                </a:pPr>
                <a:r>
                  <a:rPr lang="en-GB" sz="1200" noProof="0" dirty="0"/>
                  <a:t>Determine the value of </a:t>
                </a:r>
                <a14:m>
                  <m:oMath xmlns:m="http://schemas.openxmlformats.org/officeDocument/2006/math">
                    <m:r>
                      <a:rPr lang="en-GB" sz="1200" b="0" i="1" noProof="0" smtClean="0">
                        <a:latin typeface="Cambria Math" panose="02040503050406030204" pitchFamily="18" charset="0"/>
                      </a:rPr>
                      <m:t>𝑥</m:t>
                    </m:r>
                  </m:oMath>
                </a14:m>
                <a:r>
                  <a:rPr lang="en-GB" sz="1200" noProof="0" dirty="0"/>
                  <a:t>:</a:t>
                </a:r>
              </a:p>
              <a:p>
                <a:pPr marL="228600" indent="-228600">
                  <a:buAutoNum type="alphaLcParenR"/>
                </a:pPr>
                <a:endParaRPr lang="en-GB" sz="1200" noProof="0" dirty="0"/>
              </a:p>
              <a:p>
                <a:pPr marL="228600" indent="-228600">
                  <a:buAutoNum type="alphaLcParenR"/>
                </a:pPr>
                <a:endParaRPr lang="en-GB" sz="1200" noProof="0" dirty="0"/>
              </a:p>
              <a:p>
                <a:pPr marL="228600" indent="-228600">
                  <a:buAutoNum type="alphaLcParenR"/>
                </a:pPr>
                <a:endParaRPr lang="en-GB" sz="1200" noProof="0" dirty="0"/>
              </a:p>
              <a:p>
                <a:pPr marL="228600" indent="-228600">
                  <a:buAutoNum type="alphaLcParenR"/>
                </a:pPr>
                <a:endParaRPr lang="en-GB" sz="1200" noProof="0" dirty="0"/>
              </a:p>
              <a:p>
                <a:pPr marL="228600" indent="-228600">
                  <a:buAutoNum type="alphaLcParenR"/>
                </a:pPr>
                <a:endParaRPr lang="en-GB" sz="1200" noProof="0" dirty="0"/>
              </a:p>
              <a:p>
                <a:pPr marL="228600" indent="-228600">
                  <a:buAutoNum type="alphaLcParenR"/>
                </a:pPr>
                <a:endParaRPr lang="en-GB" sz="1200" noProof="0" dirty="0"/>
              </a:p>
              <a:p>
                <a:pPr marL="228600" indent="-228600">
                  <a:buAutoNum type="alphaLcParenR"/>
                </a:pPr>
                <a:endParaRPr lang="en-GB" sz="1200" noProof="0" dirty="0"/>
              </a:p>
              <a:p>
                <a:pPr marL="228600" indent="-228600">
                  <a:buAutoNum type="alphaLcParenR"/>
                </a:pPr>
                <a:endParaRPr lang="en-GB" sz="1200" noProof="0" dirty="0"/>
              </a:p>
              <a:p>
                <a:pPr marL="228600" indent="-228600">
                  <a:buAutoNum type="alphaLcParenR"/>
                </a:pPr>
                <a:endParaRPr lang="en-GB" sz="1200" noProof="0" dirty="0"/>
              </a:p>
              <a:p>
                <a:pPr marL="228600" indent="-228600">
                  <a:buAutoNum type="alphaLcParenR"/>
                </a:pPr>
                <a:endParaRPr lang="en-GB" sz="1200" noProof="0" dirty="0"/>
              </a:p>
              <a:p>
                <a:endParaRPr lang="en-GB" sz="1100" noProof="0" dirty="0"/>
              </a:p>
              <a:p>
                <a:pPr marL="228600" indent="-228600">
                  <a:buAutoNum type="alphaLcParenR"/>
                </a:pPr>
                <a:endParaRPr lang="en-GB" sz="1200" noProof="0" dirty="0"/>
              </a:p>
            </p:txBody>
          </p:sp>
        </mc:Choice>
        <mc:Fallback xmlns="">
          <p:sp>
            <p:nvSpPr>
              <p:cNvPr id="9" name="TextBox 8"/>
              <p:cNvSpPr txBox="1">
                <a:spLocks noRot="1" noChangeAspect="1" noMove="1" noResize="1" noEditPoints="1" noAdjustHandles="1" noChangeArrowheads="1" noChangeShapeType="1" noTextEdit="1"/>
              </p:cNvSpPr>
              <p:nvPr/>
            </p:nvSpPr>
            <p:spPr>
              <a:xfrm>
                <a:off x="149272" y="332563"/>
                <a:ext cx="2020040" cy="2492990"/>
              </a:xfrm>
              <a:prstGeom prst="rect">
                <a:avLst/>
              </a:prstGeom>
              <a:blipFill>
                <a:blip r:embed="rId3"/>
                <a:stretch>
                  <a:fillRect l="-301" t="-489"/>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0A43FB48-50D6-4CC7-A52A-C169E8D044E0}"/>
              </a:ext>
            </a:extLst>
          </p:cNvPr>
          <p:cNvSpPr/>
          <p:nvPr/>
        </p:nvSpPr>
        <p:spPr>
          <a:xfrm>
            <a:off x="160522" y="4713765"/>
            <a:ext cx="3135518" cy="485967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1" name="TextBox 10"/>
              <p:cNvSpPr txBox="1"/>
              <p:nvPr/>
            </p:nvSpPr>
            <p:spPr>
              <a:xfrm>
                <a:off x="195943" y="4763271"/>
                <a:ext cx="1895006" cy="2677656"/>
              </a:xfrm>
              <a:prstGeom prst="rect">
                <a:avLst/>
              </a:prstGeom>
              <a:noFill/>
            </p:spPr>
            <p:txBody>
              <a:bodyPr wrap="none" rtlCol="0">
                <a:spAutoFit/>
              </a:bodyPr>
              <a:lstStyle/>
              <a:p>
                <a:r>
                  <a:rPr lang="en-GB" sz="1200" noProof="0" dirty="0"/>
                  <a:t>c) Determine the value of </a:t>
                </a:r>
                <a14:m>
                  <m:oMath xmlns:m="http://schemas.openxmlformats.org/officeDocument/2006/math">
                    <m:r>
                      <a:rPr lang="en-GB" sz="1200" b="0" i="1" noProof="0" smtClean="0">
                        <a:latin typeface="Cambria Math" panose="02040503050406030204" pitchFamily="18" charset="0"/>
                      </a:rPr>
                      <m:t>𝑥</m:t>
                    </m:r>
                  </m:oMath>
                </a14:m>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p:txBody>
          </p:sp>
        </mc:Choice>
        <mc:Fallback xmlns="">
          <p:sp>
            <p:nvSpPr>
              <p:cNvPr id="11" name="TextBox 10"/>
              <p:cNvSpPr txBox="1">
                <a:spLocks noRot="1" noChangeAspect="1" noMove="1" noResize="1" noEditPoints="1" noAdjustHandles="1" noChangeArrowheads="1" noChangeShapeType="1" noTextEdit="1"/>
              </p:cNvSpPr>
              <p:nvPr/>
            </p:nvSpPr>
            <p:spPr>
              <a:xfrm>
                <a:off x="195943" y="4763271"/>
                <a:ext cx="1895006" cy="2677656"/>
              </a:xfrm>
              <a:prstGeom prst="rect">
                <a:avLst/>
              </a:prstGeom>
              <a:blipFill>
                <a:blip r:embed="rId4"/>
                <a:stretch>
                  <a:fillRect/>
                </a:stretch>
              </a:blipFill>
            </p:spPr>
            <p:txBody>
              <a:bodyPr/>
              <a:lstStyle/>
              <a:p>
                <a:r>
                  <a:rPr lang="en-US">
                    <a:noFill/>
                  </a:rPr>
                  <a:t> </a:t>
                </a:r>
              </a:p>
            </p:txBody>
          </p:sp>
        </mc:Fallback>
      </mc:AlternateContent>
      <p:pic>
        <p:nvPicPr>
          <p:cNvPr id="12" name="Picture 11"/>
          <p:cNvPicPr>
            <a:picLocks noChangeAspect="1"/>
          </p:cNvPicPr>
          <p:nvPr/>
        </p:nvPicPr>
        <p:blipFill>
          <a:blip r:embed="rId5"/>
          <a:stretch>
            <a:fillRect/>
          </a:stretch>
        </p:blipFill>
        <p:spPr>
          <a:xfrm>
            <a:off x="810468" y="5195313"/>
            <a:ext cx="1979124" cy="1427565"/>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554BDD9-CBEC-B4D8-F242-24B89659AA88}"/>
                  </a:ext>
                </a:extLst>
              </p:cNvPr>
              <p:cNvSpPr txBox="1"/>
              <p:nvPr/>
            </p:nvSpPr>
            <p:spPr>
              <a:xfrm>
                <a:off x="3677735" y="4901309"/>
                <a:ext cx="1880515" cy="1536511"/>
              </a:xfrm>
              <a:prstGeom prst="rect">
                <a:avLst/>
              </a:prstGeom>
              <a:noFill/>
            </p:spPr>
            <p:txBody>
              <a:bodyPr wrap="none" rtlCol="0">
                <a:spAutoFit/>
              </a:bodyPr>
              <a:lstStyle/>
              <a:p>
                <a:r>
                  <a:rPr lang="en-GB" sz="1200" noProof="0" dirty="0"/>
                  <a:t>Solve </a:t>
                </a:r>
                <a14:m>
                  <m:oMath xmlns:m="http://schemas.openxmlformats.org/officeDocument/2006/math">
                    <m:f>
                      <m:fPr>
                        <m:ctrlPr>
                          <a:rPr lang="en-GB" sz="1400" i="1" noProof="0" smtClean="0">
                            <a:latin typeface="Cambria Math" panose="02040503050406030204" pitchFamily="18" charset="0"/>
                          </a:rPr>
                        </m:ctrlPr>
                      </m:fPr>
                      <m:num>
                        <m:r>
                          <a:rPr lang="en-GB" sz="1400" b="0" i="1" noProof="0" smtClean="0">
                            <a:latin typeface="Cambria Math" panose="02040503050406030204" pitchFamily="18" charset="0"/>
                          </a:rPr>
                          <m:t>5</m:t>
                        </m:r>
                        <m:sSup>
                          <m:sSupPr>
                            <m:ctrlPr>
                              <a:rPr lang="en-GB" sz="1400" b="0" i="1" noProof="0" smtClean="0">
                                <a:latin typeface="Cambria Math" panose="02040503050406030204" pitchFamily="18" charset="0"/>
                              </a:rPr>
                            </m:ctrlPr>
                          </m:sSupPr>
                          <m:e>
                            <m:d>
                              <m:dPr>
                                <m:ctrlPr>
                                  <a:rPr lang="en-GB" sz="1400" b="0" i="1" noProof="0" smtClean="0">
                                    <a:latin typeface="Cambria Math" panose="02040503050406030204" pitchFamily="18" charset="0"/>
                                  </a:rPr>
                                </m:ctrlPr>
                              </m:dPr>
                              <m:e>
                                <m:r>
                                  <a:rPr lang="en-GB" sz="1400" b="0" i="1" noProof="0" smtClean="0">
                                    <a:latin typeface="Cambria Math" panose="02040503050406030204" pitchFamily="18" charset="0"/>
                                  </a:rPr>
                                  <m:t>2</m:t>
                                </m:r>
                                <m:r>
                                  <a:rPr lang="en-GB" sz="1400" b="0" i="1" noProof="0" smtClean="0">
                                    <a:latin typeface="Cambria Math" panose="02040503050406030204" pitchFamily="18" charset="0"/>
                                  </a:rPr>
                                  <m:t>𝑥</m:t>
                                </m:r>
                                <m:r>
                                  <a:rPr lang="en-GB" sz="1400" b="0" i="1" noProof="0" smtClean="0">
                                    <a:latin typeface="Cambria Math" panose="02040503050406030204" pitchFamily="18" charset="0"/>
                                  </a:rPr>
                                  <m:t>+1</m:t>
                                </m:r>
                              </m:e>
                            </m:d>
                          </m:e>
                          <m:sup>
                            <m:r>
                              <a:rPr lang="en-GB" sz="1400" b="0" i="1" noProof="0" smtClean="0">
                                <a:latin typeface="Cambria Math" panose="02040503050406030204" pitchFamily="18" charset="0"/>
                              </a:rPr>
                              <m:t>2</m:t>
                            </m:r>
                          </m:sup>
                        </m:sSup>
                      </m:num>
                      <m:den>
                        <m:r>
                          <a:rPr lang="en-GB" sz="1400" b="0" i="1" noProof="0" smtClean="0">
                            <a:latin typeface="Cambria Math" panose="02040503050406030204" pitchFamily="18" charset="0"/>
                          </a:rPr>
                          <m:t>4</m:t>
                        </m:r>
                        <m:r>
                          <a:rPr lang="en-GB" sz="1400" b="0" i="1" noProof="0" smtClean="0">
                            <a:latin typeface="Cambria Math" panose="02040503050406030204" pitchFamily="18" charset="0"/>
                          </a:rPr>
                          <m:t>𝑥</m:t>
                        </m:r>
                        <m:r>
                          <a:rPr lang="en-GB" sz="1400" b="0" i="1" noProof="0" smtClean="0">
                            <a:latin typeface="Cambria Math" panose="02040503050406030204" pitchFamily="18" charset="0"/>
                          </a:rPr>
                          <m:t>+5</m:t>
                        </m:r>
                      </m:den>
                    </m:f>
                    <m:r>
                      <a:rPr lang="en-GB" sz="1400" b="0" i="1" noProof="0" smtClean="0">
                        <a:latin typeface="Cambria Math" panose="02040503050406030204" pitchFamily="18" charset="0"/>
                      </a:rPr>
                      <m:t>=5</m:t>
                    </m:r>
                    <m:r>
                      <a:rPr lang="en-GB" sz="1400" b="0" i="1" noProof="0" smtClean="0">
                        <a:latin typeface="Cambria Math" panose="02040503050406030204" pitchFamily="18" charset="0"/>
                      </a:rPr>
                      <m:t>𝑥</m:t>
                    </m:r>
                    <m:r>
                      <a:rPr lang="en-GB" sz="1400" b="0" i="1" noProof="0" smtClean="0">
                        <a:latin typeface="Cambria Math" panose="02040503050406030204" pitchFamily="18" charset="0"/>
                      </a:rPr>
                      <m:t>−1</m:t>
                    </m:r>
                  </m:oMath>
                </a14:m>
                <a:endParaRPr lang="en-GB" sz="1200" noProof="0" dirty="0"/>
              </a:p>
              <a:p>
                <a:pPr marL="228600" indent="-228600">
                  <a:buAutoNum type="alphaLcParenR" startAt="7"/>
                </a:pPr>
                <a:endParaRPr lang="en-GB" sz="1200" noProof="0" dirty="0"/>
              </a:p>
              <a:p>
                <a:pPr marL="228600" indent="-228600">
                  <a:buAutoNum type="alphaLcParenR" startAt="7"/>
                </a:pPr>
                <a:endParaRPr lang="en-GB" sz="1200" noProof="0" dirty="0"/>
              </a:p>
              <a:p>
                <a:pPr marL="228600" indent="-228600">
                  <a:buAutoNum type="alphaLcParenR" startAt="7"/>
                </a:pPr>
                <a:endParaRPr lang="en-GB" sz="1200" noProof="0" dirty="0"/>
              </a:p>
              <a:p>
                <a:endParaRPr lang="en-GB" sz="1200" noProof="0" dirty="0"/>
              </a:p>
              <a:p>
                <a:endParaRPr lang="en-GB" sz="1200" noProof="0" dirty="0"/>
              </a:p>
              <a:p>
                <a:endParaRPr lang="en-GB" sz="1200" noProof="0" dirty="0"/>
              </a:p>
            </p:txBody>
          </p:sp>
        </mc:Choice>
        <mc:Fallback xmlns="">
          <p:sp>
            <p:nvSpPr>
              <p:cNvPr id="2" name="TextBox 1">
                <a:extLst>
                  <a:ext uri="{FF2B5EF4-FFF2-40B4-BE49-F238E27FC236}">
                    <a16:creationId xmlns:a16="http://schemas.microsoft.com/office/drawing/2014/main" id="{E554BDD9-CBEC-B4D8-F242-24B89659AA88}"/>
                  </a:ext>
                </a:extLst>
              </p:cNvPr>
              <p:cNvSpPr txBox="1">
                <a:spLocks noRot="1" noChangeAspect="1" noMove="1" noResize="1" noEditPoints="1" noAdjustHandles="1" noChangeArrowheads="1" noChangeShapeType="1" noTextEdit="1"/>
              </p:cNvSpPr>
              <p:nvPr/>
            </p:nvSpPr>
            <p:spPr>
              <a:xfrm>
                <a:off x="3677735" y="4901309"/>
                <a:ext cx="1880515" cy="1536511"/>
              </a:xfrm>
              <a:prstGeom prst="rect">
                <a:avLst/>
              </a:prstGeom>
              <a:blipFill>
                <a:blip r:embed="rId6"/>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68D16503-9218-F363-9C27-2BFFB2E0705C}"/>
              </a:ext>
            </a:extLst>
          </p:cNvPr>
          <p:cNvSpPr txBox="1"/>
          <p:nvPr/>
        </p:nvSpPr>
        <p:spPr>
          <a:xfrm>
            <a:off x="6079" y="-3018"/>
            <a:ext cx="2340898" cy="276999"/>
          </a:xfrm>
          <a:prstGeom prst="rect">
            <a:avLst/>
          </a:prstGeom>
          <a:solidFill>
            <a:srgbClr val="0070C0"/>
          </a:solidFill>
        </p:spPr>
        <p:txBody>
          <a:bodyPr wrap="none" rtlCol="0" anchor="ctr">
            <a:spAutoFit/>
          </a:bodyPr>
          <a:lstStyle/>
          <a:p>
            <a:pPr algn="r"/>
            <a:r>
              <a:rPr lang="en-GB" sz="1200" b="1" noProof="0" dirty="0">
                <a:solidFill>
                  <a:schemeClr val="bg1"/>
                </a:solidFill>
              </a:rPr>
              <a:t>PRIOR KNOWLEDGE QUIZ (CONT.)</a:t>
            </a:r>
          </a:p>
        </p:txBody>
      </p:sp>
      <p:pic>
        <p:nvPicPr>
          <p:cNvPr id="14" name="Picture 2">
            <a:extLst>
              <a:ext uri="{FF2B5EF4-FFF2-40B4-BE49-F238E27FC236}">
                <a16:creationId xmlns:a16="http://schemas.microsoft.com/office/drawing/2014/main" id="{082F16D4-A8A8-1273-AD75-2AB4FAD3FBC1}"/>
              </a:ext>
            </a:extLst>
          </p:cNvPr>
          <p:cNvPicPr>
            <a:picLocks noChangeAspect="1" noChangeArrowheads="1"/>
          </p:cNvPicPr>
          <p:nvPr/>
        </p:nvPicPr>
        <p:blipFill rotWithShape="1">
          <a:blip r:embed="rId7" cstate="print"/>
          <a:srcRect l="5630" t="732" b="4584"/>
          <a:stretch/>
        </p:blipFill>
        <p:spPr bwMode="auto">
          <a:xfrm>
            <a:off x="3490847" y="398771"/>
            <a:ext cx="3047499" cy="2631812"/>
          </a:xfrm>
          <a:prstGeom prst="rect">
            <a:avLst/>
          </a:prstGeom>
          <a:noFill/>
          <a:ln w="9525">
            <a:noFill/>
            <a:miter lim="800000"/>
            <a:headEnd/>
            <a:tailEnd/>
          </a:ln>
        </p:spPr>
      </p:pic>
    </p:spTree>
    <p:extLst>
      <p:ext uri="{BB962C8B-B14F-4D97-AF65-F5344CB8AC3E}">
        <p14:creationId xmlns:p14="http://schemas.microsoft.com/office/powerpoint/2010/main" val="1135025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9BED3C-14E5-47E7-69B0-6B1FF7F1191B}"/>
              </a:ext>
            </a:extLst>
          </p:cNvPr>
          <p:cNvSpPr>
            <a:spLocks noGrp="1"/>
          </p:cNvSpPr>
          <p:nvPr>
            <p:ph type="sldNum" sz="quarter" idx="12"/>
          </p:nvPr>
        </p:nvSpPr>
        <p:spPr/>
        <p:txBody>
          <a:bodyPr/>
          <a:lstStyle/>
          <a:p>
            <a:fld id="{FBAE39DB-50DA-415B-9DF6-5539075545AD}" type="slidenum">
              <a:rPr lang="en-GB" noProof="0" smtClean="0"/>
              <a:t>4</a:t>
            </a:fld>
            <a:endParaRPr lang="en-GB" noProof="0" dirty="0"/>
          </a:p>
        </p:txBody>
      </p:sp>
      <p:pic>
        <p:nvPicPr>
          <p:cNvPr id="4" name="Picture 3">
            <a:extLst>
              <a:ext uri="{FF2B5EF4-FFF2-40B4-BE49-F238E27FC236}">
                <a16:creationId xmlns:a16="http://schemas.microsoft.com/office/drawing/2014/main" id="{11EFB05D-C7A0-82A0-51E3-D9BBA50596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606" y="858374"/>
            <a:ext cx="4585018" cy="2193334"/>
          </a:xfrm>
          <a:prstGeom prst="rect">
            <a:avLst/>
          </a:prstGeom>
        </p:spPr>
      </p:pic>
      <p:pic>
        <p:nvPicPr>
          <p:cNvPr id="5" name="Picture 4">
            <a:extLst>
              <a:ext uri="{FF2B5EF4-FFF2-40B4-BE49-F238E27FC236}">
                <a16:creationId xmlns:a16="http://schemas.microsoft.com/office/drawing/2014/main" id="{B3E9E3B2-6F0B-B707-70B7-1A1CA942226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0159" t="29973" r="21496" b="27991"/>
          <a:stretch/>
        </p:blipFill>
        <p:spPr bwMode="auto">
          <a:xfrm>
            <a:off x="31432" y="3200332"/>
            <a:ext cx="6336030" cy="2566670"/>
          </a:xfrm>
          <a:prstGeom prst="rect">
            <a:avLst/>
          </a:prstGeom>
          <a:ln>
            <a:noFill/>
          </a:ln>
          <a:extLst>
            <a:ext uri="{53640926-AAD7-44D8-BBD7-CCE9431645EC}">
              <a14:shadowObscured xmlns:a14="http://schemas.microsoft.com/office/drawing/2010/main"/>
            </a:ext>
          </a:extLst>
        </p:spPr>
      </p:pic>
      <p:pic>
        <p:nvPicPr>
          <p:cNvPr id="6" name="Picture 5">
            <a:extLst>
              <a:ext uri="{FF2B5EF4-FFF2-40B4-BE49-F238E27FC236}">
                <a16:creationId xmlns:a16="http://schemas.microsoft.com/office/drawing/2014/main" id="{C0860536-D341-6BC9-B451-ED69AD32867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0745" t="25150" r="22457" b="22479"/>
          <a:stretch/>
        </p:blipFill>
        <p:spPr bwMode="auto">
          <a:xfrm>
            <a:off x="156606" y="5915806"/>
            <a:ext cx="6040120" cy="3131820"/>
          </a:xfrm>
          <a:prstGeom prst="rect">
            <a:avLst/>
          </a:prstGeom>
          <a:ln>
            <a:noFill/>
          </a:ln>
          <a:extLst>
            <a:ext uri="{53640926-AAD7-44D8-BBD7-CCE9431645EC}">
              <a14:shadowObscured xmlns:a14="http://schemas.microsoft.com/office/drawing/2010/main"/>
            </a:ext>
          </a:extLst>
        </p:spPr>
      </p:pic>
      <p:sp>
        <p:nvSpPr>
          <p:cNvPr id="7" name="TextBox 6">
            <a:extLst>
              <a:ext uri="{FF2B5EF4-FFF2-40B4-BE49-F238E27FC236}">
                <a16:creationId xmlns:a16="http://schemas.microsoft.com/office/drawing/2014/main" id="{4D82223D-E1A4-F3B5-5FC7-10B2EEFCC9D2}"/>
              </a:ext>
            </a:extLst>
          </p:cNvPr>
          <p:cNvSpPr txBox="1"/>
          <p:nvPr/>
        </p:nvSpPr>
        <p:spPr>
          <a:xfrm>
            <a:off x="-1" y="-11541"/>
            <a:ext cx="2120901" cy="276999"/>
          </a:xfrm>
          <a:prstGeom prst="rect">
            <a:avLst/>
          </a:prstGeom>
          <a:solidFill>
            <a:srgbClr val="0070C0"/>
          </a:solidFill>
        </p:spPr>
        <p:txBody>
          <a:bodyPr wrap="square" lIns="91440" tIns="45720" rIns="91440" bIns="45720" rtlCol="0" anchor="ctr">
            <a:spAutoFit/>
          </a:bodyPr>
          <a:lstStyle/>
          <a:p>
            <a:r>
              <a:rPr lang="en-GB" sz="1200" b="1" noProof="0" dirty="0">
                <a:solidFill>
                  <a:schemeClr val="bg1"/>
                </a:solidFill>
              </a:rPr>
              <a:t>MIXED PRACTICE (SLOP)</a:t>
            </a:r>
          </a:p>
        </p:txBody>
      </p:sp>
      <p:sp>
        <p:nvSpPr>
          <p:cNvPr id="8" name="TextBox 7">
            <a:extLst>
              <a:ext uri="{FF2B5EF4-FFF2-40B4-BE49-F238E27FC236}">
                <a16:creationId xmlns:a16="http://schemas.microsoft.com/office/drawing/2014/main" id="{1A819BA4-534B-40F1-85D1-6F10721675C2}"/>
              </a:ext>
            </a:extLst>
          </p:cNvPr>
          <p:cNvSpPr txBox="1"/>
          <p:nvPr/>
        </p:nvSpPr>
        <p:spPr>
          <a:xfrm>
            <a:off x="67706" y="495300"/>
            <a:ext cx="5012294" cy="276999"/>
          </a:xfrm>
          <a:prstGeom prst="rect">
            <a:avLst/>
          </a:prstGeom>
          <a:noFill/>
        </p:spPr>
        <p:txBody>
          <a:bodyPr wrap="square" rtlCol="0">
            <a:spAutoFit/>
          </a:bodyPr>
          <a:lstStyle/>
          <a:p>
            <a:r>
              <a:rPr lang="en-GB" sz="1200" noProof="0" dirty="0"/>
              <a:t>Question 1: Solve these </a:t>
            </a:r>
            <a:r>
              <a:rPr lang="en-GB" sz="1200" b="1" noProof="0" dirty="0"/>
              <a:t>increasingly difficult </a:t>
            </a:r>
            <a:r>
              <a:rPr lang="en-GB" sz="1200" noProof="0" dirty="0"/>
              <a:t>quadratic equations:</a:t>
            </a:r>
            <a:endParaRPr lang="en-GB" sz="1200" b="1" noProof="0" dirty="0"/>
          </a:p>
        </p:txBody>
      </p:sp>
      <p:sp>
        <p:nvSpPr>
          <p:cNvPr id="9" name="Rectangle 8">
            <a:extLst>
              <a:ext uri="{FF2B5EF4-FFF2-40B4-BE49-F238E27FC236}">
                <a16:creationId xmlns:a16="http://schemas.microsoft.com/office/drawing/2014/main" id="{97B4499F-0A0F-2B8B-606C-B902D8AABEFA}"/>
              </a:ext>
            </a:extLst>
          </p:cNvPr>
          <p:cNvSpPr/>
          <p:nvPr/>
        </p:nvSpPr>
        <p:spPr>
          <a:xfrm>
            <a:off x="88900" y="338172"/>
            <a:ext cx="6612494" cy="93706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Calibri" panose="020F0502020204030204" pitchFamily="34" charset="0"/>
              <a:cs typeface="Calibri" panose="020F0502020204030204" pitchFamily="34" charset="0"/>
            </a:endParaRPr>
          </a:p>
        </p:txBody>
      </p:sp>
      <p:pic>
        <p:nvPicPr>
          <p:cNvPr id="10" name="Picture 9">
            <a:extLst>
              <a:ext uri="{FF2B5EF4-FFF2-40B4-BE49-F238E27FC236}">
                <a16:creationId xmlns:a16="http://schemas.microsoft.com/office/drawing/2014/main" id="{60FFEDFB-65E9-226D-831F-1911DD9C8179}"/>
              </a:ext>
            </a:extLst>
          </p:cNvPr>
          <p:cNvPicPr>
            <a:picLocks noChangeAspect="1"/>
          </p:cNvPicPr>
          <p:nvPr/>
        </p:nvPicPr>
        <p:blipFill>
          <a:blip r:embed="rId5"/>
          <a:stretch>
            <a:fillRect/>
          </a:stretch>
        </p:blipFill>
        <p:spPr>
          <a:xfrm>
            <a:off x="122238" y="764059"/>
            <a:ext cx="4903230" cy="2436273"/>
          </a:xfrm>
          <a:prstGeom prst="rect">
            <a:avLst/>
          </a:prstGeom>
        </p:spPr>
      </p:pic>
      <p:pic>
        <p:nvPicPr>
          <p:cNvPr id="12" name="Picture 11">
            <a:extLst>
              <a:ext uri="{FF2B5EF4-FFF2-40B4-BE49-F238E27FC236}">
                <a16:creationId xmlns:a16="http://schemas.microsoft.com/office/drawing/2014/main" id="{71C2868E-C691-BA23-E2FC-06A9AD2184D5}"/>
              </a:ext>
            </a:extLst>
          </p:cNvPr>
          <p:cNvPicPr>
            <a:picLocks noChangeAspect="1"/>
          </p:cNvPicPr>
          <p:nvPr/>
        </p:nvPicPr>
        <p:blipFill>
          <a:blip r:embed="rId6"/>
          <a:stretch>
            <a:fillRect/>
          </a:stretch>
        </p:blipFill>
        <p:spPr>
          <a:xfrm>
            <a:off x="156606" y="3477245"/>
            <a:ext cx="3686345" cy="2353117"/>
          </a:xfrm>
          <a:prstGeom prst="rect">
            <a:avLst/>
          </a:prstGeom>
          <a:ln>
            <a:solidFill>
              <a:schemeClr val="tx1"/>
            </a:solidFill>
          </a:ln>
        </p:spPr>
      </p:pic>
      <p:pic>
        <p:nvPicPr>
          <p:cNvPr id="14" name="Picture 13">
            <a:extLst>
              <a:ext uri="{FF2B5EF4-FFF2-40B4-BE49-F238E27FC236}">
                <a16:creationId xmlns:a16="http://schemas.microsoft.com/office/drawing/2014/main" id="{AEC5716A-8422-CAF5-3BC2-37C929447008}"/>
              </a:ext>
            </a:extLst>
          </p:cNvPr>
          <p:cNvPicPr>
            <a:picLocks noChangeAspect="1"/>
          </p:cNvPicPr>
          <p:nvPr/>
        </p:nvPicPr>
        <p:blipFill>
          <a:blip r:embed="rId7"/>
          <a:stretch>
            <a:fillRect/>
          </a:stretch>
        </p:blipFill>
        <p:spPr>
          <a:xfrm>
            <a:off x="173532" y="6213688"/>
            <a:ext cx="3879484" cy="2025179"/>
          </a:xfrm>
          <a:prstGeom prst="rect">
            <a:avLst/>
          </a:prstGeom>
          <a:ln>
            <a:solidFill>
              <a:schemeClr val="tx1"/>
            </a:solidFill>
          </a:ln>
        </p:spPr>
      </p:pic>
      <p:pic>
        <p:nvPicPr>
          <p:cNvPr id="16" name="Picture 15">
            <a:extLst>
              <a:ext uri="{FF2B5EF4-FFF2-40B4-BE49-F238E27FC236}">
                <a16:creationId xmlns:a16="http://schemas.microsoft.com/office/drawing/2014/main" id="{BF1B0108-440C-CA78-A33B-E1602E1FAFEE}"/>
              </a:ext>
            </a:extLst>
          </p:cNvPr>
          <p:cNvPicPr>
            <a:picLocks noChangeAspect="1"/>
          </p:cNvPicPr>
          <p:nvPr/>
        </p:nvPicPr>
        <p:blipFill>
          <a:blip r:embed="rId8"/>
          <a:stretch>
            <a:fillRect/>
          </a:stretch>
        </p:blipFill>
        <p:spPr>
          <a:xfrm>
            <a:off x="173532" y="8443085"/>
            <a:ext cx="5611008" cy="704948"/>
          </a:xfrm>
          <a:prstGeom prst="rect">
            <a:avLst/>
          </a:prstGeom>
          <a:ln>
            <a:solidFill>
              <a:schemeClr val="tx1"/>
            </a:solidFill>
          </a:ln>
        </p:spPr>
      </p:pic>
    </p:spTree>
    <p:extLst>
      <p:ext uri="{BB962C8B-B14F-4D97-AF65-F5344CB8AC3E}">
        <p14:creationId xmlns:p14="http://schemas.microsoft.com/office/powerpoint/2010/main" val="863086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2C16681-67B0-7494-A909-C0D90FE4FC19}"/>
              </a:ext>
            </a:extLst>
          </p:cNvPr>
          <p:cNvGrpSpPr/>
          <p:nvPr/>
        </p:nvGrpSpPr>
        <p:grpSpPr>
          <a:xfrm>
            <a:off x="0" y="0"/>
            <a:ext cx="6779619" cy="9591040"/>
            <a:chOff x="0" y="0"/>
            <a:chExt cx="6779619" cy="9591040"/>
          </a:xfrm>
        </p:grpSpPr>
        <p:grpSp>
          <p:nvGrpSpPr>
            <p:cNvPr id="6" name="Group 5">
              <a:extLst>
                <a:ext uri="{FF2B5EF4-FFF2-40B4-BE49-F238E27FC236}">
                  <a16:creationId xmlns:a16="http://schemas.microsoft.com/office/drawing/2014/main" id="{1C12CC40-C4A0-276F-1144-38ABA8F869A5}"/>
                </a:ext>
              </a:extLst>
            </p:cNvPr>
            <p:cNvGrpSpPr/>
            <p:nvPr/>
          </p:nvGrpSpPr>
          <p:grpSpPr>
            <a:xfrm>
              <a:off x="0" y="0"/>
              <a:ext cx="6779619" cy="9591040"/>
              <a:chOff x="0" y="0"/>
              <a:chExt cx="6779619" cy="9591040"/>
            </a:xfrm>
          </p:grpSpPr>
          <p:pic>
            <p:nvPicPr>
              <p:cNvPr id="10" name="Picture 9">
                <a:extLst>
                  <a:ext uri="{FF2B5EF4-FFF2-40B4-BE49-F238E27FC236}">
                    <a16:creationId xmlns:a16="http://schemas.microsoft.com/office/drawing/2014/main" id="{4AA15FDE-47CC-060F-9458-14DF0333DBE1}"/>
                  </a:ext>
                </a:extLst>
              </p:cNvPr>
              <p:cNvPicPr>
                <a:picLocks noChangeAspect="1"/>
              </p:cNvPicPr>
              <p:nvPr/>
            </p:nvPicPr>
            <p:blipFill rotWithShape="1">
              <a:blip r:embed="rId2"/>
              <a:srcRect l="3025" t="4979" r="4130" b="3452"/>
              <a:stretch/>
            </p:blipFill>
            <p:spPr>
              <a:xfrm>
                <a:off x="0" y="0"/>
                <a:ext cx="4984291" cy="6353298"/>
              </a:xfrm>
              <a:prstGeom prst="rect">
                <a:avLst/>
              </a:prstGeom>
            </p:spPr>
          </p:pic>
          <p:pic>
            <p:nvPicPr>
              <p:cNvPr id="11" name="Picture 10">
                <a:extLst>
                  <a:ext uri="{FF2B5EF4-FFF2-40B4-BE49-F238E27FC236}">
                    <a16:creationId xmlns:a16="http://schemas.microsoft.com/office/drawing/2014/main" id="{098695C5-9443-21E7-AD37-CD77E679E596}"/>
                  </a:ext>
                </a:extLst>
              </p:cNvPr>
              <p:cNvPicPr>
                <a:picLocks noChangeAspect="1"/>
              </p:cNvPicPr>
              <p:nvPr/>
            </p:nvPicPr>
            <p:blipFill rotWithShape="1">
              <a:blip r:embed="rId2"/>
              <a:srcRect l="3025" t="5293" r="4130" b="47240"/>
              <a:stretch/>
            </p:blipFill>
            <p:spPr>
              <a:xfrm>
                <a:off x="0" y="6297642"/>
                <a:ext cx="4984291" cy="3293398"/>
              </a:xfrm>
              <a:prstGeom prst="rect">
                <a:avLst/>
              </a:prstGeom>
            </p:spPr>
          </p:pic>
          <p:pic>
            <p:nvPicPr>
              <p:cNvPr id="12" name="Picture 11">
                <a:extLst>
                  <a:ext uri="{FF2B5EF4-FFF2-40B4-BE49-F238E27FC236}">
                    <a16:creationId xmlns:a16="http://schemas.microsoft.com/office/drawing/2014/main" id="{32CEE58D-7F72-CC55-BBD2-2CFF61039E32}"/>
                  </a:ext>
                </a:extLst>
              </p:cNvPr>
              <p:cNvPicPr>
                <a:picLocks noChangeAspect="1"/>
              </p:cNvPicPr>
              <p:nvPr/>
            </p:nvPicPr>
            <p:blipFill rotWithShape="1">
              <a:blip r:embed="rId2"/>
              <a:srcRect l="7910" t="4980" r="58113" b="43762"/>
              <a:stretch/>
            </p:blipFill>
            <p:spPr>
              <a:xfrm>
                <a:off x="4955623" y="6024363"/>
                <a:ext cx="1823994" cy="3556517"/>
              </a:xfrm>
              <a:prstGeom prst="rect">
                <a:avLst/>
              </a:prstGeom>
            </p:spPr>
          </p:pic>
          <p:pic>
            <p:nvPicPr>
              <p:cNvPr id="13" name="Picture 12">
                <a:extLst>
                  <a:ext uri="{FF2B5EF4-FFF2-40B4-BE49-F238E27FC236}">
                    <a16:creationId xmlns:a16="http://schemas.microsoft.com/office/drawing/2014/main" id="{81579FF3-1EF6-E26D-1955-9F5584A2C965}"/>
                  </a:ext>
                </a:extLst>
              </p:cNvPr>
              <p:cNvPicPr>
                <a:picLocks noChangeAspect="1"/>
              </p:cNvPicPr>
              <p:nvPr/>
            </p:nvPicPr>
            <p:blipFill rotWithShape="1">
              <a:blip r:embed="rId2"/>
              <a:srcRect l="7910" t="5294" r="58113" b="5410"/>
              <a:stretch/>
            </p:blipFill>
            <p:spPr>
              <a:xfrm>
                <a:off x="4955623" y="21772"/>
                <a:ext cx="1823996" cy="6195686"/>
              </a:xfrm>
              <a:prstGeom prst="rect">
                <a:avLst/>
              </a:prstGeom>
            </p:spPr>
          </p:pic>
        </p:grpSp>
        <p:cxnSp>
          <p:nvCxnSpPr>
            <p:cNvPr id="7" name="Straight Connector 6">
              <a:extLst>
                <a:ext uri="{FF2B5EF4-FFF2-40B4-BE49-F238E27FC236}">
                  <a16:creationId xmlns:a16="http://schemas.microsoft.com/office/drawing/2014/main" id="{586BE151-C2D2-E3FF-76EF-8405D00FC0CE}"/>
                </a:ext>
              </a:extLst>
            </p:cNvPr>
            <p:cNvCxnSpPr>
              <a:cxnSpLocks/>
            </p:cNvCxnSpPr>
            <p:nvPr/>
          </p:nvCxnSpPr>
          <p:spPr>
            <a:xfrm flipH="1">
              <a:off x="3749040" y="16476"/>
              <a:ext cx="3175" cy="956440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49E9BD9-625C-C685-5F84-8CCC1C4D37D5}"/>
                </a:ext>
              </a:extLst>
            </p:cNvPr>
            <p:cNvCxnSpPr>
              <a:cxnSpLocks/>
            </p:cNvCxnSpPr>
            <p:nvPr/>
          </p:nvCxnSpPr>
          <p:spPr>
            <a:xfrm flipH="1">
              <a:off x="3474720" y="16476"/>
              <a:ext cx="17897" cy="957456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8E55157-4E6B-27F5-1FBC-1BE818A92F47}"/>
                </a:ext>
              </a:extLst>
            </p:cNvPr>
            <p:cNvCxnSpPr>
              <a:cxnSpLocks/>
            </p:cNvCxnSpPr>
            <p:nvPr/>
          </p:nvCxnSpPr>
          <p:spPr>
            <a:xfrm>
              <a:off x="289103" y="24219"/>
              <a:ext cx="5537" cy="9566821"/>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2" name="Slide Number Placeholder 2">
            <a:extLst>
              <a:ext uri="{FF2B5EF4-FFF2-40B4-BE49-F238E27FC236}">
                <a16:creationId xmlns:a16="http://schemas.microsoft.com/office/drawing/2014/main" id="{F65E5999-2CED-C416-FB36-E0E3B5D0C91A}"/>
              </a:ext>
            </a:extLst>
          </p:cNvPr>
          <p:cNvSpPr>
            <a:spLocks noGrp="1"/>
          </p:cNvSpPr>
          <p:nvPr>
            <p:ph type="sldNum" sz="quarter" idx="12"/>
          </p:nvPr>
        </p:nvSpPr>
        <p:spPr>
          <a:xfrm>
            <a:off x="5357813" y="9580120"/>
            <a:ext cx="1543050" cy="527403"/>
          </a:xfrm>
        </p:spPr>
        <p:txBody>
          <a:bodyPr/>
          <a:lstStyle/>
          <a:p>
            <a:fld id="{19F1D9CC-7119-45EC-A96C-D8C0660F3AAB}" type="slidenum">
              <a:rPr lang="en-GB" noProof="0" smtClean="0"/>
              <a:t>5</a:t>
            </a:fld>
            <a:endParaRPr lang="en-GB" noProof="0" dirty="0"/>
          </a:p>
        </p:txBody>
      </p:sp>
    </p:spTree>
    <p:extLst>
      <p:ext uri="{BB962C8B-B14F-4D97-AF65-F5344CB8AC3E}">
        <p14:creationId xmlns:p14="http://schemas.microsoft.com/office/powerpoint/2010/main" val="177940755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AAB6388F5B3DD48A4F5524A84895604" ma:contentTypeVersion="14" ma:contentTypeDescription="Create a new document." ma:contentTypeScope="" ma:versionID="d122bacdc6e0e52b1daab86e5e474f38">
  <xsd:schema xmlns:xsd="http://www.w3.org/2001/XMLSchema" xmlns:xs="http://www.w3.org/2001/XMLSchema" xmlns:p="http://schemas.microsoft.com/office/2006/metadata/properties" xmlns:ns2="e30b71df-48f4-4db7-95c3-a9033c265cb9" xmlns:ns3="608ebbb4-e88b-4c99-b506-21d9362781c6" targetNamespace="http://schemas.microsoft.com/office/2006/metadata/properties" ma:root="true" ma:fieldsID="c50e756327527929f9f40a94500ed9ef" ns2:_="" ns3:_="">
    <xsd:import namespace="e30b71df-48f4-4db7-95c3-a9033c265cb9"/>
    <xsd:import namespace="608ebbb4-e88b-4c99-b506-21d9362781c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3:SharedWithUsers" minOccurs="0"/>
                <xsd:element ref="ns3:SharedWithDetails" minOccurs="0"/>
                <xsd:element ref="ns2:MediaServiceObjectDetectorVersions" minOccurs="0"/>
                <xsd:element ref="ns2:MediaServiceSearchProperties"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0b71df-48f4-4db7-95c3-a9033c265c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8ebbb4-e88b-4c99-b506-21d9362781c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8993FAD-BC98-4BC4-9AAA-9B0B2AFC55D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30b71df-48f4-4db7-95c3-a9033c265cb9"/>
    <ds:schemaRef ds:uri="608ebbb4-e88b-4c99-b506-21d9362781c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053D74A-5336-454B-8D4D-7A76286864F0}">
  <ds:schemaRefs>
    <ds:schemaRef ds:uri="http://schemas.microsoft.com/sharepoint/v3/contenttype/forms"/>
  </ds:schemaRefs>
</ds:datastoreItem>
</file>

<file path=customXml/itemProps3.xml><?xml version="1.0" encoding="utf-8"?>
<ds:datastoreItem xmlns:ds="http://schemas.openxmlformats.org/officeDocument/2006/customXml" ds:itemID="{00F551DF-02B3-45E2-A83E-993D28DAF02D}">
  <ds:schemaRefs>
    <ds:schemaRef ds:uri="608ebbb4-e88b-4c99-b506-21d9362781c6"/>
    <ds:schemaRef ds:uri="e30b71df-48f4-4db7-95c3-a9033c265cb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527</Words>
  <Application>Microsoft Office PowerPoint</Application>
  <PresentationFormat>A4 Paper (210x297 mm)</PresentationFormat>
  <Paragraphs>94</Paragraphs>
  <Slides>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Marcus Lindley (Staff, Astrea Academy Sheffield)</dc:creator>
  <cp:lastModifiedBy>Adam Brown (Astrea Central)</cp:lastModifiedBy>
  <cp:revision>10</cp:revision>
  <cp:lastPrinted>2023-02-02T08:32:36Z</cp:lastPrinted>
  <dcterms:created xsi:type="dcterms:W3CDTF">2022-06-06T15:50:05Z</dcterms:created>
  <dcterms:modified xsi:type="dcterms:W3CDTF">2025-08-06T13:24:52Z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0x010100CAAB6388F5B3DD48A4F5524A84895604</vt:lpwstr>
  </property>
</Properties>
</file>