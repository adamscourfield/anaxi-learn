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9"/>
  </p:notesMasterIdLst>
  <p:sldIdLst>
    <p:sldId id="2729" r:id="rId5"/>
    <p:sldId id="2762" r:id="rId6"/>
    <p:sldId id="2759" r:id="rId7"/>
    <p:sldId id="322" r:id="rId8"/>
    <p:sldId id="323" r:id="rId9"/>
    <p:sldId id="329" r:id="rId10"/>
    <p:sldId id="324" r:id="rId11"/>
    <p:sldId id="325" r:id="rId12"/>
    <p:sldId id="326" r:id="rId13"/>
    <p:sldId id="331" r:id="rId14"/>
    <p:sldId id="375" r:id="rId15"/>
    <p:sldId id="374" r:id="rId16"/>
    <p:sldId id="330" r:id="rId17"/>
    <p:sldId id="327" r:id="rId18"/>
    <p:sldId id="328" r:id="rId19"/>
    <p:sldId id="264" r:id="rId20"/>
    <p:sldId id="265" r:id="rId21"/>
    <p:sldId id="266" r:id="rId22"/>
    <p:sldId id="2760" r:id="rId23"/>
    <p:sldId id="2761" r:id="rId24"/>
    <p:sldId id="2750" r:id="rId25"/>
    <p:sldId id="2763" r:id="rId26"/>
    <p:sldId id="2764" r:id="rId27"/>
    <p:sldId id="2765" r:id="rId28"/>
    <p:sldId id="267" r:id="rId29"/>
    <p:sldId id="268" r:id="rId30"/>
    <p:sldId id="269" r:id="rId31"/>
    <p:sldId id="376" r:id="rId32"/>
    <p:sldId id="334" r:id="rId33"/>
    <p:sldId id="335" r:id="rId34"/>
    <p:sldId id="336" r:id="rId35"/>
    <p:sldId id="277" r:id="rId36"/>
    <p:sldId id="2751" r:id="rId37"/>
    <p:sldId id="2766" r:id="rId38"/>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98" autoAdjust="0"/>
    <p:restoredTop sz="94660"/>
  </p:normalViewPr>
  <p:slideViewPr>
    <p:cSldViewPr snapToGrid="0">
      <p:cViewPr varScale="1">
        <p:scale>
          <a:sx n="77" d="100"/>
          <a:sy n="77" d="100"/>
        </p:scale>
        <p:origin x="325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634B374C-05C8-4137-A116-DE52CA91FF49}"/>
    <pc:docChg chg="delSld">
      <pc:chgData name="Adam Brown (Astrea Central)" userId="e4577f1c-a0ea-4eef-9851-9bdbe8619e58" providerId="ADAL" clId="{634B374C-05C8-4137-A116-DE52CA91FF49}" dt="2025-08-06T14:09:00.889" v="1" actId="47"/>
      <pc:docMkLst>
        <pc:docMk/>
      </pc:docMkLst>
      <pc:sldChg chg="del">
        <pc:chgData name="Adam Brown (Astrea Central)" userId="e4577f1c-a0ea-4eef-9851-9bdbe8619e58" providerId="ADAL" clId="{634B374C-05C8-4137-A116-DE52CA91FF49}" dt="2025-08-06T14:08:43.240" v="0" actId="47"/>
        <pc:sldMkLst>
          <pc:docMk/>
          <pc:sldMk cId="2420724009" sldId="257"/>
        </pc:sldMkLst>
      </pc:sldChg>
      <pc:sldChg chg="del">
        <pc:chgData name="Adam Brown (Astrea Central)" userId="e4577f1c-a0ea-4eef-9851-9bdbe8619e58" providerId="ADAL" clId="{634B374C-05C8-4137-A116-DE52CA91FF49}" dt="2025-08-06T14:08:43.240" v="0" actId="47"/>
        <pc:sldMkLst>
          <pc:docMk/>
          <pc:sldMk cId="1005434100" sldId="258"/>
        </pc:sldMkLst>
      </pc:sldChg>
      <pc:sldChg chg="del">
        <pc:chgData name="Adam Brown (Astrea Central)" userId="e4577f1c-a0ea-4eef-9851-9bdbe8619e58" providerId="ADAL" clId="{634B374C-05C8-4137-A116-DE52CA91FF49}" dt="2025-08-06T14:09:00.889" v="1" actId="47"/>
        <pc:sldMkLst>
          <pc:docMk/>
          <pc:sldMk cId="2917533864" sldId="286"/>
        </pc:sldMkLst>
      </pc:sldChg>
      <pc:sldChg chg="del">
        <pc:chgData name="Adam Brown (Astrea Central)" userId="e4577f1c-a0ea-4eef-9851-9bdbe8619e58" providerId="ADAL" clId="{634B374C-05C8-4137-A116-DE52CA91FF49}" dt="2025-08-06T14:09:00.889" v="1" actId="47"/>
        <pc:sldMkLst>
          <pc:docMk/>
          <pc:sldMk cId="1859692058" sldId="287"/>
        </pc:sldMkLst>
      </pc:sldChg>
      <pc:sldChg chg="del">
        <pc:chgData name="Adam Brown (Astrea Central)" userId="e4577f1c-a0ea-4eef-9851-9bdbe8619e58" providerId="ADAL" clId="{634B374C-05C8-4137-A116-DE52CA91FF49}" dt="2025-08-06T14:09:00.889" v="1" actId="47"/>
        <pc:sldMkLst>
          <pc:docMk/>
          <pc:sldMk cId="1926886564" sldId="288"/>
        </pc:sldMkLst>
      </pc:sldChg>
      <pc:sldChg chg="del">
        <pc:chgData name="Adam Brown (Astrea Central)" userId="e4577f1c-a0ea-4eef-9851-9bdbe8619e58" providerId="ADAL" clId="{634B374C-05C8-4137-A116-DE52CA91FF49}" dt="2025-08-06T14:09:00.889" v="1" actId="47"/>
        <pc:sldMkLst>
          <pc:docMk/>
          <pc:sldMk cId="1337681295" sldId="289"/>
        </pc:sldMkLst>
      </pc:sldChg>
      <pc:sldChg chg="del">
        <pc:chgData name="Adam Brown (Astrea Central)" userId="e4577f1c-a0ea-4eef-9851-9bdbe8619e58" providerId="ADAL" clId="{634B374C-05C8-4137-A116-DE52CA91FF49}" dt="2025-08-06T14:09:00.889" v="1" actId="47"/>
        <pc:sldMkLst>
          <pc:docMk/>
          <pc:sldMk cId="2141734747" sldId="290"/>
        </pc:sldMkLst>
      </pc:sldChg>
      <pc:sldChg chg="del">
        <pc:chgData name="Adam Brown (Astrea Central)" userId="e4577f1c-a0ea-4eef-9851-9bdbe8619e58" providerId="ADAL" clId="{634B374C-05C8-4137-A116-DE52CA91FF49}" dt="2025-08-06T14:09:00.889" v="1" actId="47"/>
        <pc:sldMkLst>
          <pc:docMk/>
          <pc:sldMk cId="3777180378" sldId="291"/>
        </pc:sldMkLst>
      </pc:sldChg>
      <pc:sldChg chg="del">
        <pc:chgData name="Adam Brown (Astrea Central)" userId="e4577f1c-a0ea-4eef-9851-9bdbe8619e58" providerId="ADAL" clId="{634B374C-05C8-4137-A116-DE52CA91FF49}" dt="2025-08-06T14:09:00.889" v="1" actId="47"/>
        <pc:sldMkLst>
          <pc:docMk/>
          <pc:sldMk cId="706008046" sldId="292"/>
        </pc:sldMkLst>
      </pc:sldChg>
      <pc:sldChg chg="del">
        <pc:chgData name="Adam Brown (Astrea Central)" userId="e4577f1c-a0ea-4eef-9851-9bdbe8619e58" providerId="ADAL" clId="{634B374C-05C8-4137-A116-DE52CA91FF49}" dt="2025-08-06T14:09:00.889" v="1" actId="47"/>
        <pc:sldMkLst>
          <pc:docMk/>
          <pc:sldMk cId="2905413640" sldId="293"/>
        </pc:sldMkLst>
      </pc:sldChg>
      <pc:sldChg chg="del">
        <pc:chgData name="Adam Brown (Astrea Central)" userId="e4577f1c-a0ea-4eef-9851-9bdbe8619e58" providerId="ADAL" clId="{634B374C-05C8-4137-A116-DE52CA91FF49}" dt="2025-08-06T14:09:00.889" v="1" actId="47"/>
        <pc:sldMkLst>
          <pc:docMk/>
          <pc:sldMk cId="2324741368" sldId="294"/>
        </pc:sldMkLst>
      </pc:sldChg>
      <pc:sldChg chg="del">
        <pc:chgData name="Adam Brown (Astrea Central)" userId="e4577f1c-a0ea-4eef-9851-9bdbe8619e58" providerId="ADAL" clId="{634B374C-05C8-4137-A116-DE52CA91FF49}" dt="2025-08-06T14:09:00.889" v="1" actId="47"/>
        <pc:sldMkLst>
          <pc:docMk/>
          <pc:sldMk cId="92328800" sldId="296"/>
        </pc:sldMkLst>
      </pc:sldChg>
      <pc:sldChg chg="del">
        <pc:chgData name="Adam Brown (Astrea Central)" userId="e4577f1c-a0ea-4eef-9851-9bdbe8619e58" providerId="ADAL" clId="{634B374C-05C8-4137-A116-DE52CA91FF49}" dt="2025-08-06T14:09:00.889" v="1" actId="47"/>
        <pc:sldMkLst>
          <pc:docMk/>
          <pc:sldMk cId="2815565918" sldId="303"/>
        </pc:sldMkLst>
      </pc:sldChg>
      <pc:sldChg chg="del">
        <pc:chgData name="Adam Brown (Astrea Central)" userId="e4577f1c-a0ea-4eef-9851-9bdbe8619e58" providerId="ADAL" clId="{634B374C-05C8-4137-A116-DE52CA91FF49}" dt="2025-08-06T14:09:00.889" v="1" actId="47"/>
        <pc:sldMkLst>
          <pc:docMk/>
          <pc:sldMk cId="4216146809" sldId="313"/>
        </pc:sldMkLst>
      </pc:sldChg>
      <pc:sldChg chg="del">
        <pc:chgData name="Adam Brown (Astrea Central)" userId="e4577f1c-a0ea-4eef-9851-9bdbe8619e58" providerId="ADAL" clId="{634B374C-05C8-4137-A116-DE52CA91FF49}" dt="2025-08-06T14:09:00.889" v="1" actId="47"/>
        <pc:sldMkLst>
          <pc:docMk/>
          <pc:sldMk cId="1844880138" sldId="314"/>
        </pc:sldMkLst>
      </pc:sldChg>
      <pc:sldChg chg="del">
        <pc:chgData name="Adam Brown (Astrea Central)" userId="e4577f1c-a0ea-4eef-9851-9bdbe8619e58" providerId="ADAL" clId="{634B374C-05C8-4137-A116-DE52CA91FF49}" dt="2025-08-06T14:09:00.889" v="1" actId="47"/>
        <pc:sldMkLst>
          <pc:docMk/>
          <pc:sldMk cId="1629160325" sldId="344"/>
        </pc:sldMkLst>
      </pc:sldChg>
      <pc:sldChg chg="del">
        <pc:chgData name="Adam Brown (Astrea Central)" userId="e4577f1c-a0ea-4eef-9851-9bdbe8619e58" providerId="ADAL" clId="{634B374C-05C8-4137-A116-DE52CA91FF49}" dt="2025-08-06T14:09:00.889" v="1" actId="47"/>
        <pc:sldMkLst>
          <pc:docMk/>
          <pc:sldMk cId="4174300119" sldId="345"/>
        </pc:sldMkLst>
      </pc:sldChg>
      <pc:sldChg chg="del">
        <pc:chgData name="Adam Brown (Astrea Central)" userId="e4577f1c-a0ea-4eef-9851-9bdbe8619e58" providerId="ADAL" clId="{634B374C-05C8-4137-A116-DE52CA91FF49}" dt="2025-08-06T14:09:00.889" v="1" actId="47"/>
        <pc:sldMkLst>
          <pc:docMk/>
          <pc:sldMk cId="329431369" sldId="346"/>
        </pc:sldMkLst>
      </pc:sldChg>
      <pc:sldChg chg="del">
        <pc:chgData name="Adam Brown (Astrea Central)" userId="e4577f1c-a0ea-4eef-9851-9bdbe8619e58" providerId="ADAL" clId="{634B374C-05C8-4137-A116-DE52CA91FF49}" dt="2025-08-06T14:09:00.889" v="1" actId="47"/>
        <pc:sldMkLst>
          <pc:docMk/>
          <pc:sldMk cId="542520032" sldId="347"/>
        </pc:sldMkLst>
      </pc:sldChg>
      <pc:sldChg chg="del">
        <pc:chgData name="Adam Brown (Astrea Central)" userId="e4577f1c-a0ea-4eef-9851-9bdbe8619e58" providerId="ADAL" clId="{634B374C-05C8-4137-A116-DE52CA91FF49}" dt="2025-08-06T14:09:00.889" v="1" actId="47"/>
        <pc:sldMkLst>
          <pc:docMk/>
          <pc:sldMk cId="1042596037" sldId="348"/>
        </pc:sldMkLst>
      </pc:sldChg>
      <pc:sldChg chg="del">
        <pc:chgData name="Adam Brown (Astrea Central)" userId="e4577f1c-a0ea-4eef-9851-9bdbe8619e58" providerId="ADAL" clId="{634B374C-05C8-4137-A116-DE52CA91FF49}" dt="2025-08-06T14:09:00.889" v="1" actId="47"/>
        <pc:sldMkLst>
          <pc:docMk/>
          <pc:sldMk cId="3186429579" sldId="349"/>
        </pc:sldMkLst>
      </pc:sldChg>
      <pc:sldChg chg="del">
        <pc:chgData name="Adam Brown (Astrea Central)" userId="e4577f1c-a0ea-4eef-9851-9bdbe8619e58" providerId="ADAL" clId="{634B374C-05C8-4137-A116-DE52CA91FF49}" dt="2025-08-06T14:09:00.889" v="1" actId="47"/>
        <pc:sldMkLst>
          <pc:docMk/>
          <pc:sldMk cId="1856237109" sldId="350"/>
        </pc:sldMkLst>
      </pc:sldChg>
      <pc:sldChg chg="del">
        <pc:chgData name="Adam Brown (Astrea Central)" userId="e4577f1c-a0ea-4eef-9851-9bdbe8619e58" providerId="ADAL" clId="{634B374C-05C8-4137-A116-DE52CA91FF49}" dt="2025-08-06T14:09:00.889" v="1" actId="47"/>
        <pc:sldMkLst>
          <pc:docMk/>
          <pc:sldMk cId="1190930630" sldId="353"/>
        </pc:sldMkLst>
      </pc:sldChg>
      <pc:sldChg chg="del">
        <pc:chgData name="Adam Brown (Astrea Central)" userId="e4577f1c-a0ea-4eef-9851-9bdbe8619e58" providerId="ADAL" clId="{634B374C-05C8-4137-A116-DE52CA91FF49}" dt="2025-08-06T14:09:00.889" v="1" actId="47"/>
        <pc:sldMkLst>
          <pc:docMk/>
          <pc:sldMk cId="4096746058" sldId="355"/>
        </pc:sldMkLst>
      </pc:sldChg>
      <pc:sldChg chg="del">
        <pc:chgData name="Adam Brown (Astrea Central)" userId="e4577f1c-a0ea-4eef-9851-9bdbe8619e58" providerId="ADAL" clId="{634B374C-05C8-4137-A116-DE52CA91FF49}" dt="2025-08-06T14:09:00.889" v="1" actId="47"/>
        <pc:sldMkLst>
          <pc:docMk/>
          <pc:sldMk cId="3479034719" sldId="356"/>
        </pc:sldMkLst>
      </pc:sldChg>
      <pc:sldChg chg="del">
        <pc:chgData name="Adam Brown (Astrea Central)" userId="e4577f1c-a0ea-4eef-9851-9bdbe8619e58" providerId="ADAL" clId="{634B374C-05C8-4137-A116-DE52CA91FF49}" dt="2025-08-06T14:09:00.889" v="1" actId="47"/>
        <pc:sldMkLst>
          <pc:docMk/>
          <pc:sldMk cId="900685508" sldId="357"/>
        </pc:sldMkLst>
      </pc:sldChg>
      <pc:sldChg chg="del">
        <pc:chgData name="Adam Brown (Astrea Central)" userId="e4577f1c-a0ea-4eef-9851-9bdbe8619e58" providerId="ADAL" clId="{634B374C-05C8-4137-A116-DE52CA91FF49}" dt="2025-08-06T14:09:00.889" v="1" actId="47"/>
        <pc:sldMkLst>
          <pc:docMk/>
          <pc:sldMk cId="3657856763" sldId="358"/>
        </pc:sldMkLst>
      </pc:sldChg>
      <pc:sldChg chg="del">
        <pc:chgData name="Adam Brown (Astrea Central)" userId="e4577f1c-a0ea-4eef-9851-9bdbe8619e58" providerId="ADAL" clId="{634B374C-05C8-4137-A116-DE52CA91FF49}" dt="2025-08-06T14:09:00.889" v="1" actId="47"/>
        <pc:sldMkLst>
          <pc:docMk/>
          <pc:sldMk cId="1784817808" sldId="372"/>
        </pc:sldMkLst>
      </pc:sldChg>
      <pc:sldChg chg="del">
        <pc:chgData name="Adam Brown (Astrea Central)" userId="e4577f1c-a0ea-4eef-9851-9bdbe8619e58" providerId="ADAL" clId="{634B374C-05C8-4137-A116-DE52CA91FF49}" dt="2025-08-06T14:09:00.889" v="1" actId="47"/>
        <pc:sldMkLst>
          <pc:docMk/>
          <pc:sldMk cId="1919084134" sldId="373"/>
        </pc:sldMkLst>
      </pc:sldChg>
      <pc:sldChg chg="del">
        <pc:chgData name="Adam Brown (Astrea Central)" userId="e4577f1c-a0ea-4eef-9851-9bdbe8619e58" providerId="ADAL" clId="{634B374C-05C8-4137-A116-DE52CA91FF49}" dt="2025-08-06T14:09:00.889" v="1" actId="47"/>
        <pc:sldMkLst>
          <pc:docMk/>
          <pc:sldMk cId="508847688" sldId="377"/>
        </pc:sldMkLst>
      </pc:sldChg>
      <pc:sldChg chg="del">
        <pc:chgData name="Adam Brown (Astrea Central)" userId="e4577f1c-a0ea-4eef-9851-9bdbe8619e58" providerId="ADAL" clId="{634B374C-05C8-4137-A116-DE52CA91FF49}" dt="2025-08-06T14:09:00.889" v="1" actId="47"/>
        <pc:sldMkLst>
          <pc:docMk/>
          <pc:sldMk cId="688274044" sldId="378"/>
        </pc:sldMkLst>
      </pc:sldChg>
      <pc:sldChg chg="del">
        <pc:chgData name="Adam Brown (Astrea Central)" userId="e4577f1c-a0ea-4eef-9851-9bdbe8619e58" providerId="ADAL" clId="{634B374C-05C8-4137-A116-DE52CA91FF49}" dt="2025-08-06T14:09:00.889" v="1" actId="47"/>
        <pc:sldMkLst>
          <pc:docMk/>
          <pc:sldMk cId="421593374" sldId="379"/>
        </pc:sldMkLst>
      </pc:sldChg>
      <pc:sldChg chg="del">
        <pc:chgData name="Adam Brown (Astrea Central)" userId="e4577f1c-a0ea-4eef-9851-9bdbe8619e58" providerId="ADAL" clId="{634B374C-05C8-4137-A116-DE52CA91FF49}" dt="2025-08-06T14:09:00.889" v="1" actId="47"/>
        <pc:sldMkLst>
          <pc:docMk/>
          <pc:sldMk cId="2538578330" sldId="2719"/>
        </pc:sldMkLst>
      </pc:sldChg>
      <pc:sldChg chg="del">
        <pc:chgData name="Adam Brown (Astrea Central)" userId="e4577f1c-a0ea-4eef-9851-9bdbe8619e58" providerId="ADAL" clId="{634B374C-05C8-4137-A116-DE52CA91FF49}" dt="2025-08-06T14:09:00.889" v="1" actId="47"/>
        <pc:sldMkLst>
          <pc:docMk/>
          <pc:sldMk cId="1813454950" sldId="2720"/>
        </pc:sldMkLst>
      </pc:sldChg>
      <pc:sldChg chg="del">
        <pc:chgData name="Adam Brown (Astrea Central)" userId="e4577f1c-a0ea-4eef-9851-9bdbe8619e58" providerId="ADAL" clId="{634B374C-05C8-4137-A116-DE52CA91FF49}" dt="2025-08-06T14:09:00.889" v="1" actId="47"/>
        <pc:sldMkLst>
          <pc:docMk/>
          <pc:sldMk cId="3422141095" sldId="2721"/>
        </pc:sldMkLst>
      </pc:sldChg>
      <pc:sldChg chg="del">
        <pc:chgData name="Adam Brown (Astrea Central)" userId="e4577f1c-a0ea-4eef-9851-9bdbe8619e58" providerId="ADAL" clId="{634B374C-05C8-4137-A116-DE52CA91FF49}" dt="2025-08-06T14:09:00.889" v="1" actId="47"/>
        <pc:sldMkLst>
          <pc:docMk/>
          <pc:sldMk cId="905767127" sldId="2722"/>
        </pc:sldMkLst>
      </pc:sldChg>
      <pc:sldChg chg="del">
        <pc:chgData name="Adam Brown (Astrea Central)" userId="e4577f1c-a0ea-4eef-9851-9bdbe8619e58" providerId="ADAL" clId="{634B374C-05C8-4137-A116-DE52CA91FF49}" dt="2025-08-06T14:09:00.889" v="1" actId="47"/>
        <pc:sldMkLst>
          <pc:docMk/>
          <pc:sldMk cId="509849628" sldId="2723"/>
        </pc:sldMkLst>
      </pc:sldChg>
      <pc:sldChg chg="del">
        <pc:chgData name="Adam Brown (Astrea Central)" userId="e4577f1c-a0ea-4eef-9851-9bdbe8619e58" providerId="ADAL" clId="{634B374C-05C8-4137-A116-DE52CA91FF49}" dt="2025-08-06T14:09:00.889" v="1" actId="47"/>
        <pc:sldMkLst>
          <pc:docMk/>
          <pc:sldMk cId="675915942" sldId="2724"/>
        </pc:sldMkLst>
      </pc:sldChg>
      <pc:sldChg chg="del">
        <pc:chgData name="Adam Brown (Astrea Central)" userId="e4577f1c-a0ea-4eef-9851-9bdbe8619e58" providerId="ADAL" clId="{634B374C-05C8-4137-A116-DE52CA91FF49}" dt="2025-08-06T14:09:00.889" v="1" actId="47"/>
        <pc:sldMkLst>
          <pc:docMk/>
          <pc:sldMk cId="1096353866" sldId="2725"/>
        </pc:sldMkLst>
      </pc:sldChg>
      <pc:sldChg chg="del">
        <pc:chgData name="Adam Brown (Astrea Central)" userId="e4577f1c-a0ea-4eef-9851-9bdbe8619e58" providerId="ADAL" clId="{634B374C-05C8-4137-A116-DE52CA91FF49}" dt="2025-08-06T14:09:00.889" v="1" actId="47"/>
        <pc:sldMkLst>
          <pc:docMk/>
          <pc:sldMk cId="240355490" sldId="2726"/>
        </pc:sldMkLst>
      </pc:sldChg>
      <pc:sldChg chg="del">
        <pc:chgData name="Adam Brown (Astrea Central)" userId="e4577f1c-a0ea-4eef-9851-9bdbe8619e58" providerId="ADAL" clId="{634B374C-05C8-4137-A116-DE52CA91FF49}" dt="2025-08-06T14:09:00.889" v="1" actId="47"/>
        <pc:sldMkLst>
          <pc:docMk/>
          <pc:sldMk cId="967788092" sldId="2727"/>
        </pc:sldMkLst>
      </pc:sldChg>
      <pc:sldChg chg="del">
        <pc:chgData name="Adam Brown (Astrea Central)" userId="e4577f1c-a0ea-4eef-9851-9bdbe8619e58" providerId="ADAL" clId="{634B374C-05C8-4137-A116-DE52CA91FF49}" dt="2025-08-06T14:08:43.240" v="0" actId="47"/>
        <pc:sldMkLst>
          <pc:docMk/>
          <pc:sldMk cId="933153135" sldId="2728"/>
        </pc:sldMkLst>
      </pc:sldChg>
      <pc:sldChg chg="del">
        <pc:chgData name="Adam Brown (Astrea Central)" userId="e4577f1c-a0ea-4eef-9851-9bdbe8619e58" providerId="ADAL" clId="{634B374C-05C8-4137-A116-DE52CA91FF49}" dt="2025-08-06T14:09:00.889" v="1" actId="47"/>
        <pc:sldMkLst>
          <pc:docMk/>
          <pc:sldMk cId="3552589205" sldId="2752"/>
        </pc:sldMkLst>
      </pc:sldChg>
      <pc:sldChg chg="del">
        <pc:chgData name="Adam Brown (Astrea Central)" userId="e4577f1c-a0ea-4eef-9851-9bdbe8619e58" providerId="ADAL" clId="{634B374C-05C8-4137-A116-DE52CA91FF49}" dt="2025-08-06T14:09:00.889" v="1" actId="47"/>
        <pc:sldMkLst>
          <pc:docMk/>
          <pc:sldMk cId="2566927058" sldId="2753"/>
        </pc:sldMkLst>
      </pc:sldChg>
      <pc:sldChg chg="del">
        <pc:chgData name="Adam Brown (Astrea Central)" userId="e4577f1c-a0ea-4eef-9851-9bdbe8619e58" providerId="ADAL" clId="{634B374C-05C8-4137-A116-DE52CA91FF49}" dt="2025-08-06T14:09:00.889" v="1" actId="47"/>
        <pc:sldMkLst>
          <pc:docMk/>
          <pc:sldMk cId="2673872755" sldId="2767"/>
        </pc:sldMkLst>
      </pc:sldChg>
      <pc:sldChg chg="del">
        <pc:chgData name="Adam Brown (Astrea Central)" userId="e4577f1c-a0ea-4eef-9851-9bdbe8619e58" providerId="ADAL" clId="{634B374C-05C8-4137-A116-DE52CA91FF49}" dt="2025-08-06T14:09:00.889" v="1" actId="47"/>
        <pc:sldMkLst>
          <pc:docMk/>
          <pc:sldMk cId="4276921759" sldId="2768"/>
        </pc:sldMkLst>
      </pc:sldChg>
      <pc:sldChg chg="del">
        <pc:chgData name="Adam Brown (Astrea Central)" userId="e4577f1c-a0ea-4eef-9851-9bdbe8619e58" providerId="ADAL" clId="{634B374C-05C8-4137-A116-DE52CA91FF49}" dt="2025-08-06T14:09:00.889" v="1" actId="47"/>
        <pc:sldMkLst>
          <pc:docMk/>
          <pc:sldMk cId="4072467659" sldId="2769"/>
        </pc:sldMkLst>
      </pc:sldChg>
      <pc:sldChg chg="del">
        <pc:chgData name="Adam Brown (Astrea Central)" userId="e4577f1c-a0ea-4eef-9851-9bdbe8619e58" providerId="ADAL" clId="{634B374C-05C8-4137-A116-DE52CA91FF49}" dt="2025-08-06T14:09:00.889" v="1" actId="47"/>
        <pc:sldMkLst>
          <pc:docMk/>
          <pc:sldMk cId="2116641321" sldId="2770"/>
        </pc:sldMkLst>
      </pc:sldChg>
      <pc:sldChg chg="del">
        <pc:chgData name="Adam Brown (Astrea Central)" userId="e4577f1c-a0ea-4eef-9851-9bdbe8619e58" providerId="ADAL" clId="{634B374C-05C8-4137-A116-DE52CA91FF49}" dt="2025-08-06T14:09:00.889" v="1" actId="47"/>
        <pc:sldMkLst>
          <pc:docMk/>
          <pc:sldMk cId="3503684853" sldId="2771"/>
        </pc:sldMkLst>
      </pc:sldChg>
      <pc:sldChg chg="del">
        <pc:chgData name="Adam Brown (Astrea Central)" userId="e4577f1c-a0ea-4eef-9851-9bdbe8619e58" providerId="ADAL" clId="{634B374C-05C8-4137-A116-DE52CA91FF49}" dt="2025-08-06T14:09:00.889" v="1" actId="47"/>
        <pc:sldMkLst>
          <pc:docMk/>
          <pc:sldMk cId="2628843454" sldId="2772"/>
        </pc:sldMkLst>
      </pc:sldChg>
      <pc:sldChg chg="del">
        <pc:chgData name="Adam Brown (Astrea Central)" userId="e4577f1c-a0ea-4eef-9851-9bdbe8619e58" providerId="ADAL" clId="{634B374C-05C8-4137-A116-DE52CA91FF49}" dt="2025-08-06T14:09:00.889" v="1" actId="47"/>
        <pc:sldMkLst>
          <pc:docMk/>
          <pc:sldMk cId="3901821836" sldId="2773"/>
        </pc:sldMkLst>
      </pc:sldChg>
      <pc:sldChg chg="del">
        <pc:chgData name="Adam Brown (Astrea Central)" userId="e4577f1c-a0ea-4eef-9851-9bdbe8619e58" providerId="ADAL" clId="{634B374C-05C8-4137-A116-DE52CA91FF49}" dt="2025-08-06T14:09:00.889" v="1" actId="47"/>
        <pc:sldMkLst>
          <pc:docMk/>
          <pc:sldMk cId="1180888511" sldId="27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BD887872-9236-460B-BC2A-E44A8AC6C1EB}" type="datetimeFigureOut">
              <a:rPr lang="en-GB" smtClean="0"/>
              <a:t>06/08/2025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A65AC23A-D8C2-4808-8C51-A2299E24BAA4}" type="slidenum">
              <a:rPr lang="en-GB" smtClean="0"/>
              <a:t>‹#›</a:t>
            </a:fld>
            <a:endParaRPr lang="en-GB"/>
          </a:p>
        </p:txBody>
      </p:sp>
    </p:spTree>
    <p:extLst>
      <p:ext uri="{BB962C8B-B14F-4D97-AF65-F5344CB8AC3E}">
        <p14:creationId xmlns:p14="http://schemas.microsoft.com/office/powerpoint/2010/main" val="3461726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2FC71-A416-F403-9CF8-FA9BACE3FD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1D3E6-F9D9-B380-472A-03C54A80F0CB}"/>
              </a:ext>
            </a:extLst>
          </p:cNvPr>
          <p:cNvSpPr>
            <a:spLocks noGrp="1" noRot="1" noChangeAspect="1"/>
          </p:cNvSpPr>
          <p:nvPr>
            <p:ph type="sldImg"/>
          </p:nvPr>
        </p:nvSpPr>
        <p:spPr>
          <a:xfrm>
            <a:off x="2268538" y="1243013"/>
            <a:ext cx="2320925" cy="3355975"/>
          </a:xfrm>
        </p:spPr>
      </p:sp>
      <p:sp>
        <p:nvSpPr>
          <p:cNvPr id="3" name="Notes Placeholder 2">
            <a:extLst>
              <a:ext uri="{FF2B5EF4-FFF2-40B4-BE49-F238E27FC236}">
                <a16:creationId xmlns:a16="http://schemas.microsoft.com/office/drawing/2014/main" id="{742902D2-E33E-279A-898E-F8E7247E9D8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D4470AA-BF4B-FCEE-0BBE-A92127456E17}"/>
              </a:ext>
            </a:extLst>
          </p:cNvPr>
          <p:cNvSpPr>
            <a:spLocks noGrp="1"/>
          </p:cNvSpPr>
          <p:nvPr>
            <p:ph type="sldNum" sz="quarter" idx="5"/>
          </p:nvPr>
        </p:nvSpPr>
        <p:spPr/>
        <p:txBody>
          <a:bodyPr/>
          <a:lstStyle/>
          <a:p>
            <a:fld id="{6C24A783-C653-C444-A1FE-7D3BC73388DB}" type="slidenum">
              <a:rPr lang="en-GB" smtClean="0">
                <a:solidFill>
                  <a:prstClr val="black"/>
                </a:solidFill>
              </a:rPr>
              <a:pPr/>
              <a:t>1</a:t>
            </a:fld>
            <a:endParaRPr lang="en-GB">
              <a:solidFill>
                <a:prstClr val="black"/>
              </a:solidFill>
            </a:endParaRPr>
          </a:p>
        </p:txBody>
      </p:sp>
    </p:spTree>
    <p:extLst>
      <p:ext uri="{BB962C8B-B14F-4D97-AF65-F5344CB8AC3E}">
        <p14:creationId xmlns:p14="http://schemas.microsoft.com/office/powerpoint/2010/main" val="462952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5E708-5875-3E17-99F4-9F89760C1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01127-9840-A172-A725-EBB4F25C22F1}"/>
              </a:ext>
            </a:extLst>
          </p:cNvPr>
          <p:cNvSpPr>
            <a:spLocks noGrp="1" noRot="1" noChangeAspect="1"/>
          </p:cNvSpPr>
          <p:nvPr>
            <p:ph type="sldImg"/>
          </p:nvPr>
        </p:nvSpPr>
        <p:spPr>
          <a:xfrm>
            <a:off x="2268538" y="1243013"/>
            <a:ext cx="2320925" cy="3355975"/>
          </a:xfrm>
        </p:spPr>
      </p:sp>
      <p:sp>
        <p:nvSpPr>
          <p:cNvPr id="3" name="Notes Placeholder 2">
            <a:extLst>
              <a:ext uri="{FF2B5EF4-FFF2-40B4-BE49-F238E27FC236}">
                <a16:creationId xmlns:a16="http://schemas.microsoft.com/office/drawing/2014/main" id="{7821D153-0D08-76C3-FDF9-52A144F7FF3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F39E1E7-8A87-A03E-2935-E0A3237E5C76}"/>
              </a:ext>
            </a:extLst>
          </p:cNvPr>
          <p:cNvSpPr>
            <a:spLocks noGrp="1"/>
          </p:cNvSpPr>
          <p:nvPr>
            <p:ph type="sldNum" sz="quarter" idx="5"/>
          </p:nvPr>
        </p:nvSpPr>
        <p:spPr/>
        <p:txBody>
          <a:bodyPr/>
          <a:lstStyle/>
          <a:p>
            <a:fld id="{6C24A783-C653-C444-A1FE-7D3BC73388DB}" type="slidenum">
              <a:rPr lang="en-GB" smtClean="0">
                <a:solidFill>
                  <a:prstClr val="black"/>
                </a:solidFill>
              </a:rPr>
              <a:pPr/>
              <a:t>3</a:t>
            </a:fld>
            <a:endParaRPr lang="en-GB">
              <a:solidFill>
                <a:prstClr val="black"/>
              </a:solidFill>
            </a:endParaRPr>
          </a:p>
        </p:txBody>
      </p:sp>
    </p:spTree>
    <p:extLst>
      <p:ext uri="{BB962C8B-B14F-4D97-AF65-F5344CB8AC3E}">
        <p14:creationId xmlns:p14="http://schemas.microsoft.com/office/powerpoint/2010/main" val="2712256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36645BB-F530-4C6B-ABAE-E32F8A251980}"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868696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EDB0C-8CB1-4E4B-A7D2-72D1E989F74F}"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628738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418B7CF-AD3A-412E-A236-AD334123F5DC}"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965247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5F8CF75-DE73-4975-8438-DCC60FF5A9C7}"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642259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D433DA-9DCC-4C1C-BE87-1B843446F1E2}" type="datetime1">
              <a:rPr lang="en-GB" smtClean="0"/>
              <a:t>06/08/2025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66026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36B931-B1B4-4301-9FA3-4AC76251F969}" type="datetime1">
              <a:rPr lang="en-GB" smtClean="0"/>
              <a:t>06/08/2025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416073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EB317-EAB0-4C19-A195-2782EA19078C}" type="datetime1">
              <a:rPr lang="en-GB" smtClean="0"/>
              <a:t>06/08/2025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77690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EEE7F5A2-2F3B-430C-BD43-6D2323C7CD6A}"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03242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D6AD09F-1297-4193-9BA9-680759B76EE0}"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235885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ED7873-3A83-4840-BD06-EB3A5B53B6DA}"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130277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E7EED6-F9AB-4871-A4A9-4EB7B43E5F99}"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883891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80118337-BCAC-4A6B-9508-65A0DEBA7F58}" type="datetime1">
              <a:rPr lang="en-GB" smtClean="0"/>
              <a:t>06/08/2025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9BD3B4A0-BFF9-422C-B253-48BA94BE2F5B}" type="slidenum">
              <a:rPr lang="en-GB" smtClean="0"/>
              <a:t>‹#›</a:t>
            </a:fld>
            <a:endParaRPr lang="en-GB"/>
          </a:p>
        </p:txBody>
      </p:sp>
    </p:spTree>
    <p:extLst>
      <p:ext uri="{BB962C8B-B14F-4D97-AF65-F5344CB8AC3E}">
        <p14:creationId xmlns:p14="http://schemas.microsoft.com/office/powerpoint/2010/main" val="2819756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93.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95.png"/><Relationship Id="rId7" Type="http://schemas.openxmlformats.org/officeDocument/2006/relationships/image" Target="../media/image499.png"/><Relationship Id="rId2" Type="http://schemas.openxmlformats.org/officeDocument/2006/relationships/image" Target="../media/image494.png"/><Relationship Id="rId1" Type="http://schemas.openxmlformats.org/officeDocument/2006/relationships/slideLayout" Target="../slideLayouts/slideLayout7.xml"/><Relationship Id="rId6" Type="http://schemas.openxmlformats.org/officeDocument/2006/relationships/image" Target="../media/image498.png"/><Relationship Id="rId5" Type="http://schemas.openxmlformats.org/officeDocument/2006/relationships/image" Target="../media/image497.png"/><Relationship Id="rId4" Type="http://schemas.openxmlformats.org/officeDocument/2006/relationships/image" Target="../media/image496.png"/></Relationships>
</file>

<file path=ppt/slides/_rels/slide3.xml.rels><?xml version="1.0" encoding="UTF-8" standalone="yes"?>
<Relationships xmlns="http://schemas.openxmlformats.org/package/2006/relationships"><Relationship Id="rId8" Type="http://schemas.openxmlformats.org/officeDocument/2006/relationships/image" Target="../media/image505.png"/><Relationship Id="rId13" Type="http://schemas.openxmlformats.org/officeDocument/2006/relationships/image" Target="../media/image510.png"/><Relationship Id="rId3" Type="http://schemas.openxmlformats.org/officeDocument/2006/relationships/image" Target="../media/image500.png"/><Relationship Id="rId7" Type="http://schemas.openxmlformats.org/officeDocument/2006/relationships/image" Target="../media/image504.png"/><Relationship Id="rId12" Type="http://schemas.openxmlformats.org/officeDocument/2006/relationships/image" Target="../media/image50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03.png"/><Relationship Id="rId11" Type="http://schemas.openxmlformats.org/officeDocument/2006/relationships/image" Target="../media/image508.png"/><Relationship Id="rId5" Type="http://schemas.openxmlformats.org/officeDocument/2006/relationships/image" Target="../media/image502.png"/><Relationship Id="rId10" Type="http://schemas.openxmlformats.org/officeDocument/2006/relationships/image" Target="../media/image507.png"/><Relationship Id="rId4" Type="http://schemas.openxmlformats.org/officeDocument/2006/relationships/image" Target="../media/image501.png"/><Relationship Id="rId9" Type="http://schemas.openxmlformats.org/officeDocument/2006/relationships/image" Target="../media/image506.png"/><Relationship Id="rId1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518.png"/><Relationship Id="rId13" Type="http://schemas.openxmlformats.org/officeDocument/2006/relationships/image" Target="../media/image523.png"/><Relationship Id="rId3" Type="http://schemas.openxmlformats.org/officeDocument/2006/relationships/image" Target="../media/image513.png"/><Relationship Id="rId7" Type="http://schemas.openxmlformats.org/officeDocument/2006/relationships/image" Target="../media/image517.png"/><Relationship Id="rId12" Type="http://schemas.openxmlformats.org/officeDocument/2006/relationships/image" Target="../media/image522.png"/><Relationship Id="rId17" Type="http://schemas.openxmlformats.org/officeDocument/2006/relationships/image" Target="../media/image527.png"/><Relationship Id="rId2" Type="http://schemas.openxmlformats.org/officeDocument/2006/relationships/image" Target="../media/image512.png"/><Relationship Id="rId16" Type="http://schemas.openxmlformats.org/officeDocument/2006/relationships/image" Target="../media/image526.png"/><Relationship Id="rId1" Type="http://schemas.openxmlformats.org/officeDocument/2006/relationships/slideLayout" Target="../slideLayouts/slideLayout7.xml"/><Relationship Id="rId6" Type="http://schemas.openxmlformats.org/officeDocument/2006/relationships/image" Target="../media/image516.png"/><Relationship Id="rId11" Type="http://schemas.openxmlformats.org/officeDocument/2006/relationships/image" Target="../media/image521.png"/><Relationship Id="rId5" Type="http://schemas.openxmlformats.org/officeDocument/2006/relationships/image" Target="../media/image515.png"/><Relationship Id="rId15" Type="http://schemas.openxmlformats.org/officeDocument/2006/relationships/image" Target="../media/image525.png"/><Relationship Id="rId10" Type="http://schemas.openxmlformats.org/officeDocument/2006/relationships/image" Target="../media/image520.png"/><Relationship Id="rId4" Type="http://schemas.openxmlformats.org/officeDocument/2006/relationships/image" Target="../media/image514.png"/><Relationship Id="rId9" Type="http://schemas.openxmlformats.org/officeDocument/2006/relationships/image" Target="../media/image519.png"/><Relationship Id="rId14" Type="http://schemas.openxmlformats.org/officeDocument/2006/relationships/image" Target="../media/image524.png"/></Relationships>
</file>

<file path=ppt/slides/_rels/slide5.xml.rels><?xml version="1.0" encoding="UTF-8" standalone="yes"?>
<Relationships xmlns="http://schemas.openxmlformats.org/package/2006/relationships"><Relationship Id="rId8" Type="http://schemas.openxmlformats.org/officeDocument/2006/relationships/image" Target="../media/image534.png"/><Relationship Id="rId3" Type="http://schemas.openxmlformats.org/officeDocument/2006/relationships/image" Target="../media/image529.png"/><Relationship Id="rId7" Type="http://schemas.openxmlformats.org/officeDocument/2006/relationships/image" Target="../media/image533.png"/><Relationship Id="rId12" Type="http://schemas.openxmlformats.org/officeDocument/2006/relationships/image" Target="../media/image538.png"/><Relationship Id="rId2" Type="http://schemas.openxmlformats.org/officeDocument/2006/relationships/image" Target="../media/image528.png"/><Relationship Id="rId1" Type="http://schemas.openxmlformats.org/officeDocument/2006/relationships/slideLayout" Target="../slideLayouts/slideLayout7.xml"/><Relationship Id="rId6" Type="http://schemas.openxmlformats.org/officeDocument/2006/relationships/image" Target="../media/image532.png"/><Relationship Id="rId11" Type="http://schemas.openxmlformats.org/officeDocument/2006/relationships/image" Target="../media/image537.png"/><Relationship Id="rId5" Type="http://schemas.openxmlformats.org/officeDocument/2006/relationships/image" Target="../media/image531.png"/><Relationship Id="rId10" Type="http://schemas.openxmlformats.org/officeDocument/2006/relationships/image" Target="../media/image536.png"/><Relationship Id="rId4" Type="http://schemas.openxmlformats.org/officeDocument/2006/relationships/image" Target="../media/image530.png"/><Relationship Id="rId9" Type="http://schemas.openxmlformats.org/officeDocument/2006/relationships/image" Target="../media/image535.png"/></Relationships>
</file>

<file path=ppt/slides/_rels/slide6.xml.rels><?xml version="1.0" encoding="UTF-8" standalone="yes"?>
<Relationships xmlns="http://schemas.openxmlformats.org/package/2006/relationships"><Relationship Id="rId8" Type="http://schemas.openxmlformats.org/officeDocument/2006/relationships/image" Target="../media/image545.png"/><Relationship Id="rId3" Type="http://schemas.openxmlformats.org/officeDocument/2006/relationships/image" Target="../media/image540.png"/><Relationship Id="rId7" Type="http://schemas.openxmlformats.org/officeDocument/2006/relationships/image" Target="../media/image544.png"/><Relationship Id="rId2" Type="http://schemas.openxmlformats.org/officeDocument/2006/relationships/image" Target="../media/image539.png"/><Relationship Id="rId1" Type="http://schemas.openxmlformats.org/officeDocument/2006/relationships/slideLayout" Target="../slideLayouts/slideLayout7.xml"/><Relationship Id="rId6" Type="http://schemas.openxmlformats.org/officeDocument/2006/relationships/image" Target="../media/image543.png"/><Relationship Id="rId11" Type="http://schemas.openxmlformats.org/officeDocument/2006/relationships/image" Target="../media/image548.png"/><Relationship Id="rId5" Type="http://schemas.openxmlformats.org/officeDocument/2006/relationships/image" Target="../media/image542.png"/><Relationship Id="rId10" Type="http://schemas.openxmlformats.org/officeDocument/2006/relationships/image" Target="../media/image547.png"/><Relationship Id="rId4" Type="http://schemas.openxmlformats.org/officeDocument/2006/relationships/image" Target="../media/image541.png"/><Relationship Id="rId9" Type="http://schemas.openxmlformats.org/officeDocument/2006/relationships/image" Target="../media/image546.png"/></Relationships>
</file>

<file path=ppt/slides/_rels/slide7.xml.rels><?xml version="1.0" encoding="UTF-8" standalone="yes"?>
<Relationships xmlns="http://schemas.openxmlformats.org/package/2006/relationships"><Relationship Id="rId8" Type="http://schemas.openxmlformats.org/officeDocument/2006/relationships/image" Target="../media/image555.png"/><Relationship Id="rId13" Type="http://schemas.openxmlformats.org/officeDocument/2006/relationships/image" Target="../media/image560.png"/><Relationship Id="rId3" Type="http://schemas.openxmlformats.org/officeDocument/2006/relationships/image" Target="../media/image550.png"/><Relationship Id="rId7" Type="http://schemas.openxmlformats.org/officeDocument/2006/relationships/image" Target="../media/image554.png"/><Relationship Id="rId12" Type="http://schemas.openxmlformats.org/officeDocument/2006/relationships/image" Target="../media/image559.png"/><Relationship Id="rId2" Type="http://schemas.openxmlformats.org/officeDocument/2006/relationships/image" Target="../media/image549.png"/><Relationship Id="rId1" Type="http://schemas.openxmlformats.org/officeDocument/2006/relationships/slideLayout" Target="../slideLayouts/slideLayout7.xml"/><Relationship Id="rId6" Type="http://schemas.openxmlformats.org/officeDocument/2006/relationships/image" Target="../media/image553.png"/><Relationship Id="rId11" Type="http://schemas.openxmlformats.org/officeDocument/2006/relationships/image" Target="../media/image558.png"/><Relationship Id="rId5" Type="http://schemas.openxmlformats.org/officeDocument/2006/relationships/image" Target="../media/image552.png"/><Relationship Id="rId10" Type="http://schemas.openxmlformats.org/officeDocument/2006/relationships/image" Target="../media/image557.png"/><Relationship Id="rId4" Type="http://schemas.openxmlformats.org/officeDocument/2006/relationships/image" Target="../media/image551.png"/><Relationship Id="rId9" Type="http://schemas.openxmlformats.org/officeDocument/2006/relationships/image" Target="../media/image556.png"/></Relationships>
</file>

<file path=ppt/slides/_rels/slide8.xml.rels><?xml version="1.0" encoding="UTF-8" standalone="yes"?>
<Relationships xmlns="http://schemas.openxmlformats.org/package/2006/relationships"><Relationship Id="rId8" Type="http://schemas.openxmlformats.org/officeDocument/2006/relationships/image" Target="../media/image577.png"/><Relationship Id="rId3" Type="http://schemas.openxmlformats.org/officeDocument/2006/relationships/image" Target="../media/image572.png"/><Relationship Id="rId7" Type="http://schemas.openxmlformats.org/officeDocument/2006/relationships/image" Target="../media/image576.png"/><Relationship Id="rId2" Type="http://schemas.openxmlformats.org/officeDocument/2006/relationships/image" Target="../media/image571.png"/><Relationship Id="rId1" Type="http://schemas.openxmlformats.org/officeDocument/2006/relationships/slideLayout" Target="../slideLayouts/slideLayout7.xml"/><Relationship Id="rId6" Type="http://schemas.openxmlformats.org/officeDocument/2006/relationships/image" Target="../media/image575.png"/><Relationship Id="rId5" Type="http://schemas.openxmlformats.org/officeDocument/2006/relationships/image" Target="../media/image574.png"/><Relationship Id="rId10" Type="http://schemas.openxmlformats.org/officeDocument/2006/relationships/image" Target="../media/image579.png"/><Relationship Id="rId4" Type="http://schemas.openxmlformats.org/officeDocument/2006/relationships/image" Target="../media/image573.png"/><Relationship Id="rId9" Type="http://schemas.openxmlformats.org/officeDocument/2006/relationships/image" Target="../media/image578.png"/></Relationships>
</file>

<file path=ppt/slides/_rels/slide9.xml.rels><?xml version="1.0" encoding="UTF-8" standalone="yes"?>
<Relationships xmlns="http://schemas.openxmlformats.org/package/2006/relationships"><Relationship Id="rId3" Type="http://schemas.openxmlformats.org/officeDocument/2006/relationships/image" Target="../media/image581.png"/><Relationship Id="rId7" Type="http://schemas.openxmlformats.org/officeDocument/2006/relationships/image" Target="../media/image585.png"/><Relationship Id="rId2" Type="http://schemas.openxmlformats.org/officeDocument/2006/relationships/image" Target="../media/image580.png"/><Relationship Id="rId1" Type="http://schemas.openxmlformats.org/officeDocument/2006/relationships/slideLayout" Target="../slideLayouts/slideLayout7.xml"/><Relationship Id="rId6" Type="http://schemas.openxmlformats.org/officeDocument/2006/relationships/image" Target="../media/image584.png"/><Relationship Id="rId5" Type="http://schemas.openxmlformats.org/officeDocument/2006/relationships/image" Target="../media/image583.png"/><Relationship Id="rId4" Type="http://schemas.openxmlformats.org/officeDocument/2006/relationships/image" Target="../media/image582.png"/></Relationships>
</file>

<file path=ppt/slides/_rels/slide10.xml.rels><?xml version="1.0" encoding="UTF-8" standalone="yes"?>
<Relationships xmlns="http://schemas.openxmlformats.org/package/2006/relationships"><Relationship Id="rId3" Type="http://schemas.openxmlformats.org/officeDocument/2006/relationships/image" Target="../media/image587.png"/><Relationship Id="rId2" Type="http://schemas.openxmlformats.org/officeDocument/2006/relationships/image" Target="../media/image586.png"/><Relationship Id="rId1" Type="http://schemas.openxmlformats.org/officeDocument/2006/relationships/slideLayout" Target="../slideLayouts/slideLayout7.xml"/><Relationship Id="rId5" Type="http://schemas.openxmlformats.org/officeDocument/2006/relationships/image" Target="../media/image589.png"/><Relationship Id="rId4" Type="http://schemas.openxmlformats.org/officeDocument/2006/relationships/image" Target="../media/image588.png"/></Relationships>
</file>

<file path=ppt/slides/_rels/slide11.xml.rels><?xml version="1.0" encoding="UTF-8" standalone="yes"?>
<Relationships xmlns="http://schemas.openxmlformats.org/package/2006/relationships"><Relationship Id="rId3" Type="http://schemas.openxmlformats.org/officeDocument/2006/relationships/image" Target="../media/image591.png"/><Relationship Id="rId2" Type="http://schemas.openxmlformats.org/officeDocument/2006/relationships/image" Target="../media/image590.png"/><Relationship Id="rId1" Type="http://schemas.openxmlformats.org/officeDocument/2006/relationships/slideLayout" Target="../slideLayouts/slideLayout7.xml"/><Relationship Id="rId5" Type="http://schemas.openxmlformats.org/officeDocument/2006/relationships/image" Target="../media/image593.png"/><Relationship Id="rId4" Type="http://schemas.openxmlformats.org/officeDocument/2006/relationships/image" Target="../media/image592.png"/></Relationships>
</file>

<file path=ppt/slides/_rels/slide12.xml.rels><?xml version="1.0" encoding="UTF-8" standalone="yes"?>
<Relationships xmlns="http://schemas.openxmlformats.org/package/2006/relationships"><Relationship Id="rId3" Type="http://schemas.openxmlformats.org/officeDocument/2006/relationships/image" Target="../media/image595.png"/><Relationship Id="rId2" Type="http://schemas.openxmlformats.org/officeDocument/2006/relationships/image" Target="../media/image594.png"/><Relationship Id="rId1" Type="http://schemas.openxmlformats.org/officeDocument/2006/relationships/slideLayout" Target="../slideLayouts/slideLayout7.xml"/><Relationship Id="rId5" Type="http://schemas.openxmlformats.org/officeDocument/2006/relationships/image" Target="../media/image597.png"/><Relationship Id="rId4" Type="http://schemas.openxmlformats.org/officeDocument/2006/relationships/image" Target="../media/image596.png"/></Relationships>
</file>

<file path=ppt/slides/_rels/slide13.xml.rels><?xml version="1.0" encoding="UTF-8" standalone="yes"?>
<Relationships xmlns="http://schemas.openxmlformats.org/package/2006/relationships"><Relationship Id="rId3" Type="http://schemas.openxmlformats.org/officeDocument/2006/relationships/image" Target="../media/image599.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600.png"/></Relationships>
</file>

<file path=ppt/slides/_rels/slide14.xml.rels><?xml version="1.0" encoding="UTF-8" standalone="yes"?>
<Relationships xmlns="http://schemas.openxmlformats.org/package/2006/relationships"><Relationship Id="rId8" Type="http://schemas.openxmlformats.org/officeDocument/2006/relationships/image" Target="../media/image607.png"/><Relationship Id="rId3" Type="http://schemas.openxmlformats.org/officeDocument/2006/relationships/image" Target="../media/image602.png"/><Relationship Id="rId7" Type="http://schemas.openxmlformats.org/officeDocument/2006/relationships/image" Target="../media/image606.png"/><Relationship Id="rId2" Type="http://schemas.openxmlformats.org/officeDocument/2006/relationships/image" Target="../media/image601.png"/><Relationship Id="rId1" Type="http://schemas.openxmlformats.org/officeDocument/2006/relationships/slideLayout" Target="../slideLayouts/slideLayout7.xml"/><Relationship Id="rId6" Type="http://schemas.openxmlformats.org/officeDocument/2006/relationships/image" Target="../media/image605.png"/><Relationship Id="rId5" Type="http://schemas.openxmlformats.org/officeDocument/2006/relationships/image" Target="../media/image604.png"/><Relationship Id="rId4" Type="http://schemas.openxmlformats.org/officeDocument/2006/relationships/image" Target="../media/image603.png"/><Relationship Id="rId9"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609.png"/><Relationship Id="rId1" Type="http://schemas.openxmlformats.org/officeDocument/2006/relationships/slideLayout" Target="../slideLayouts/slideLayout7.xml"/><Relationship Id="rId6" Type="http://schemas.openxmlformats.org/officeDocument/2006/relationships/image" Target="../media/image613.png"/><Relationship Id="rId5" Type="http://schemas.openxmlformats.org/officeDocument/2006/relationships/image" Target="../media/image612.png"/><Relationship Id="rId4" Type="http://schemas.openxmlformats.org/officeDocument/2006/relationships/image" Target="../media/image611.png"/></Relationships>
</file>

<file path=ppt/slides/_rels/slide16.xml.rels><?xml version="1.0" encoding="UTF-8" standalone="yes"?>
<Relationships xmlns="http://schemas.openxmlformats.org/package/2006/relationships"><Relationship Id="rId8" Type="http://schemas.openxmlformats.org/officeDocument/2006/relationships/image" Target="../media/image620.png"/><Relationship Id="rId13" Type="http://schemas.openxmlformats.org/officeDocument/2006/relationships/image" Target="../media/image625.png"/><Relationship Id="rId3" Type="http://schemas.openxmlformats.org/officeDocument/2006/relationships/image" Target="../media/image615.png"/><Relationship Id="rId7" Type="http://schemas.openxmlformats.org/officeDocument/2006/relationships/image" Target="../media/image619.png"/><Relationship Id="rId12" Type="http://schemas.openxmlformats.org/officeDocument/2006/relationships/image" Target="../media/image624.png"/><Relationship Id="rId2" Type="http://schemas.openxmlformats.org/officeDocument/2006/relationships/image" Target="../media/image614.png"/><Relationship Id="rId1" Type="http://schemas.openxmlformats.org/officeDocument/2006/relationships/slideLayout" Target="../slideLayouts/slideLayout7.xml"/><Relationship Id="rId6" Type="http://schemas.openxmlformats.org/officeDocument/2006/relationships/image" Target="../media/image618.png"/><Relationship Id="rId11" Type="http://schemas.openxmlformats.org/officeDocument/2006/relationships/image" Target="../media/image623.png"/><Relationship Id="rId5" Type="http://schemas.openxmlformats.org/officeDocument/2006/relationships/image" Target="../media/image617.png"/><Relationship Id="rId15" Type="http://schemas.openxmlformats.org/officeDocument/2006/relationships/image" Target="../media/image627.png"/><Relationship Id="rId10" Type="http://schemas.openxmlformats.org/officeDocument/2006/relationships/image" Target="../media/image7.png"/><Relationship Id="rId4" Type="http://schemas.openxmlformats.org/officeDocument/2006/relationships/image" Target="../media/image616.png"/><Relationship Id="rId9" Type="http://schemas.openxmlformats.org/officeDocument/2006/relationships/image" Target="../media/image621.png"/><Relationship Id="rId14" Type="http://schemas.openxmlformats.org/officeDocument/2006/relationships/image" Target="../media/image626.png"/></Relationships>
</file>

<file path=ppt/slides/_rels/slide17.xml.rels><?xml version="1.0" encoding="UTF-8" standalone="yes"?>
<Relationships xmlns="http://schemas.openxmlformats.org/package/2006/relationships"><Relationship Id="rId8" Type="http://schemas.openxmlformats.org/officeDocument/2006/relationships/image" Target="../media/image634.png"/><Relationship Id="rId3" Type="http://schemas.openxmlformats.org/officeDocument/2006/relationships/image" Target="../media/image629.png"/><Relationship Id="rId7" Type="http://schemas.openxmlformats.org/officeDocument/2006/relationships/image" Target="../media/image633.png"/><Relationship Id="rId12" Type="http://schemas.openxmlformats.org/officeDocument/2006/relationships/image" Target="../media/image638.png"/><Relationship Id="rId2" Type="http://schemas.openxmlformats.org/officeDocument/2006/relationships/image" Target="../media/image628.png"/><Relationship Id="rId1" Type="http://schemas.openxmlformats.org/officeDocument/2006/relationships/slideLayout" Target="../slideLayouts/slideLayout7.xml"/><Relationship Id="rId6" Type="http://schemas.openxmlformats.org/officeDocument/2006/relationships/image" Target="../media/image632.png"/><Relationship Id="rId11" Type="http://schemas.openxmlformats.org/officeDocument/2006/relationships/image" Target="../media/image637.png"/><Relationship Id="rId5" Type="http://schemas.openxmlformats.org/officeDocument/2006/relationships/image" Target="../media/image631.png"/><Relationship Id="rId10" Type="http://schemas.openxmlformats.org/officeDocument/2006/relationships/image" Target="../media/image636.png"/><Relationship Id="rId4" Type="http://schemas.openxmlformats.org/officeDocument/2006/relationships/image" Target="../media/image630.png"/><Relationship Id="rId9" Type="http://schemas.openxmlformats.org/officeDocument/2006/relationships/image" Target="../media/image635.png"/></Relationships>
</file>

<file path=ppt/slides/_rels/slide18.xml.rels><?xml version="1.0" encoding="UTF-8" standalone="yes"?>
<Relationships xmlns="http://schemas.openxmlformats.org/package/2006/relationships"><Relationship Id="rId8" Type="http://schemas.openxmlformats.org/officeDocument/2006/relationships/image" Target="../media/image645.png"/><Relationship Id="rId13" Type="http://schemas.openxmlformats.org/officeDocument/2006/relationships/image" Target="../media/image650.png"/><Relationship Id="rId3" Type="http://schemas.openxmlformats.org/officeDocument/2006/relationships/image" Target="../media/image640.png"/><Relationship Id="rId7" Type="http://schemas.openxmlformats.org/officeDocument/2006/relationships/image" Target="../media/image644.png"/><Relationship Id="rId12" Type="http://schemas.openxmlformats.org/officeDocument/2006/relationships/image" Target="../media/image649.png"/><Relationship Id="rId2" Type="http://schemas.openxmlformats.org/officeDocument/2006/relationships/image" Target="../media/image639.png"/><Relationship Id="rId1" Type="http://schemas.openxmlformats.org/officeDocument/2006/relationships/slideLayout" Target="../slideLayouts/slideLayout7.xml"/><Relationship Id="rId6" Type="http://schemas.openxmlformats.org/officeDocument/2006/relationships/image" Target="../media/image643.png"/><Relationship Id="rId11" Type="http://schemas.openxmlformats.org/officeDocument/2006/relationships/image" Target="../media/image648.png"/><Relationship Id="rId5" Type="http://schemas.openxmlformats.org/officeDocument/2006/relationships/image" Target="../media/image642.png"/><Relationship Id="rId10" Type="http://schemas.openxmlformats.org/officeDocument/2006/relationships/image" Target="../media/image647.png"/><Relationship Id="rId4" Type="http://schemas.openxmlformats.org/officeDocument/2006/relationships/image" Target="../media/image641.png"/></Relationships>
</file>

<file path=ppt/slides/_rels/slide19.xml.rels><?xml version="1.0" encoding="UTF-8" standalone="yes"?>
<Relationships xmlns="http://schemas.openxmlformats.org/package/2006/relationships"><Relationship Id="rId3" Type="http://schemas.openxmlformats.org/officeDocument/2006/relationships/image" Target="../media/image652.png"/><Relationship Id="rId2" Type="http://schemas.openxmlformats.org/officeDocument/2006/relationships/image" Target="../media/image651.png"/><Relationship Id="rId1" Type="http://schemas.openxmlformats.org/officeDocument/2006/relationships/slideLayout" Target="../slideLayouts/slideLayout7.xml"/><Relationship Id="rId5" Type="http://schemas.openxmlformats.org/officeDocument/2006/relationships/image" Target="../media/image654.png"/><Relationship Id="rId4" Type="http://schemas.openxmlformats.org/officeDocument/2006/relationships/image" Target="../media/image653.png"/></Relationships>
</file>

<file path=ppt/slides/_rels/slide20.xml.rels><?xml version="1.0" encoding="UTF-8" standalone="yes"?>
<Relationships xmlns="http://schemas.openxmlformats.org/package/2006/relationships"><Relationship Id="rId2" Type="http://schemas.openxmlformats.org/officeDocument/2006/relationships/image" Target="../media/image65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681.png"/><Relationship Id="rId3" Type="http://schemas.openxmlformats.org/officeDocument/2006/relationships/image" Target="../media/image676.png"/><Relationship Id="rId7" Type="http://schemas.openxmlformats.org/officeDocument/2006/relationships/image" Target="../media/image680.png"/><Relationship Id="rId2" Type="http://schemas.openxmlformats.org/officeDocument/2006/relationships/image" Target="../media/image675.png"/><Relationship Id="rId1" Type="http://schemas.openxmlformats.org/officeDocument/2006/relationships/slideLayout" Target="../slideLayouts/slideLayout7.xml"/><Relationship Id="rId6" Type="http://schemas.openxmlformats.org/officeDocument/2006/relationships/image" Target="../media/image679.png"/><Relationship Id="rId5" Type="http://schemas.openxmlformats.org/officeDocument/2006/relationships/image" Target="../media/image678.png"/><Relationship Id="rId4" Type="http://schemas.openxmlformats.org/officeDocument/2006/relationships/image" Target="../media/image677.png"/><Relationship Id="rId9" Type="http://schemas.openxmlformats.org/officeDocument/2006/relationships/image" Target="../media/image682.png"/></Relationships>
</file>

<file path=ppt/slides/_rels/slide26.xml.rels><?xml version="1.0" encoding="UTF-8" standalone="yes"?>
<Relationships xmlns="http://schemas.openxmlformats.org/package/2006/relationships"><Relationship Id="rId3" Type="http://schemas.openxmlformats.org/officeDocument/2006/relationships/image" Target="../media/image684.png"/><Relationship Id="rId2" Type="http://schemas.openxmlformats.org/officeDocument/2006/relationships/image" Target="../media/image683.png"/><Relationship Id="rId1" Type="http://schemas.openxmlformats.org/officeDocument/2006/relationships/slideLayout" Target="../slideLayouts/slideLayout7.xml"/><Relationship Id="rId5" Type="http://schemas.openxmlformats.org/officeDocument/2006/relationships/image" Target="../media/image686.png"/><Relationship Id="rId4" Type="http://schemas.openxmlformats.org/officeDocument/2006/relationships/image" Target="../media/image685.png"/></Relationships>
</file>

<file path=ppt/slides/_rels/slide27.xml.rels><?xml version="1.0" encoding="UTF-8" standalone="yes"?>
<Relationships xmlns="http://schemas.openxmlformats.org/package/2006/relationships"><Relationship Id="rId2" Type="http://schemas.openxmlformats.org/officeDocument/2006/relationships/image" Target="../media/image68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8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90.png"/><Relationship Id="rId7" Type="http://schemas.openxmlformats.org/officeDocument/2006/relationships/image" Target="../media/image694.png"/><Relationship Id="rId2" Type="http://schemas.openxmlformats.org/officeDocument/2006/relationships/image" Target="../media/image689.png"/><Relationship Id="rId1" Type="http://schemas.openxmlformats.org/officeDocument/2006/relationships/slideLayout" Target="../slideLayouts/slideLayout7.xml"/><Relationship Id="rId6" Type="http://schemas.openxmlformats.org/officeDocument/2006/relationships/image" Target="../media/image693.png"/><Relationship Id="rId5" Type="http://schemas.openxmlformats.org/officeDocument/2006/relationships/image" Target="../media/image692.png"/><Relationship Id="rId4" Type="http://schemas.openxmlformats.org/officeDocument/2006/relationships/image" Target="../media/image691.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699.png"/><Relationship Id="rId5" Type="http://schemas.openxmlformats.org/officeDocument/2006/relationships/image" Target="../media/image698.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699.png"/><Relationship Id="rId2" Type="http://schemas.openxmlformats.org/officeDocument/2006/relationships/image" Target="../media/image698.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698.png"/><Relationship Id="rId5" Type="http://schemas.openxmlformats.org/officeDocument/2006/relationships/image" Target="../media/image699.png"/><Relationship Id="rId4" Type="http://schemas.openxmlformats.org/officeDocument/2006/relationships/image" Target="../media/image703.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B3779-C269-C16C-25AB-1788B2645D0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25DA89B-6965-C064-B55E-A2738716478E}"/>
              </a:ext>
            </a:extLst>
          </p:cNvPr>
          <p:cNvSpPr/>
          <p:nvPr/>
        </p:nvSpPr>
        <p:spPr>
          <a:xfrm>
            <a:off x="102618" y="317359"/>
            <a:ext cx="6647773" cy="1654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11" name="Rectangle 10">
            <a:extLst>
              <a:ext uri="{FF2B5EF4-FFF2-40B4-BE49-F238E27FC236}">
                <a16:creationId xmlns:a16="http://schemas.microsoft.com/office/drawing/2014/main" id="{23A2F89F-D366-0638-6761-31BFDDD2FB78}"/>
              </a:ext>
            </a:extLst>
          </p:cNvPr>
          <p:cNvSpPr/>
          <p:nvPr/>
        </p:nvSpPr>
        <p:spPr>
          <a:xfrm>
            <a:off x="-9365" y="6061"/>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prstClr val="white"/>
                </a:solidFill>
              </a:rPr>
              <a:t>Subtopic 4a – Algebraic Fractions: Manipulation and Simplifying</a:t>
            </a:r>
            <a:endParaRPr lang="en-GB" b="1" noProof="0" dirty="0">
              <a:solidFill>
                <a:prstClr val="white"/>
              </a:solidFill>
            </a:endParaRPr>
          </a:p>
        </p:txBody>
      </p:sp>
      <p:sp>
        <p:nvSpPr>
          <p:cNvPr id="13" name="TextBox 12">
            <a:extLst>
              <a:ext uri="{FF2B5EF4-FFF2-40B4-BE49-F238E27FC236}">
                <a16:creationId xmlns:a16="http://schemas.microsoft.com/office/drawing/2014/main" id="{31751232-F474-10C3-318B-FDD766E13000}"/>
              </a:ext>
            </a:extLst>
          </p:cNvPr>
          <p:cNvSpPr txBox="1"/>
          <p:nvPr/>
        </p:nvSpPr>
        <p:spPr>
          <a:xfrm>
            <a:off x="265577" y="780711"/>
            <a:ext cx="2647189" cy="307777"/>
          </a:xfrm>
          <a:prstGeom prst="rect">
            <a:avLst/>
          </a:prstGeom>
          <a:noFill/>
        </p:spPr>
        <p:txBody>
          <a:bodyPr wrap="square" rtlCol="0">
            <a:spAutoFit/>
          </a:bodyPr>
          <a:lstStyle/>
          <a:p>
            <a:r>
              <a:rPr lang="en-GB" sz="1400" b="1" noProof="0" dirty="0"/>
              <a:t>Objectives:</a:t>
            </a:r>
          </a:p>
        </p:txBody>
      </p:sp>
      <p:sp>
        <p:nvSpPr>
          <p:cNvPr id="59" name="TextBox 58">
            <a:extLst>
              <a:ext uri="{FF2B5EF4-FFF2-40B4-BE49-F238E27FC236}">
                <a16:creationId xmlns:a16="http://schemas.microsoft.com/office/drawing/2014/main" id="{CA38BBD4-C585-F8C2-64F6-648AD45A921B}"/>
              </a:ext>
            </a:extLst>
          </p:cNvPr>
          <p:cNvSpPr txBox="1"/>
          <p:nvPr/>
        </p:nvSpPr>
        <p:spPr>
          <a:xfrm>
            <a:off x="865735" y="408701"/>
            <a:ext cx="4991042" cy="276999"/>
          </a:xfrm>
          <a:prstGeom prst="rect">
            <a:avLst/>
          </a:prstGeom>
          <a:noFill/>
          <a:ln>
            <a:solidFill>
              <a:schemeClr val="tx1"/>
            </a:solidFill>
          </a:ln>
        </p:spPr>
        <p:txBody>
          <a:bodyPr wrap="square" rtlCol="0">
            <a:spAutoFit/>
          </a:bodyPr>
          <a:lstStyle/>
          <a:p>
            <a:pPr algn="ctr"/>
            <a:r>
              <a:rPr lang="en-GB" sz="1200" noProof="0" dirty="0"/>
              <a:t>LEARNING OUTCOME:  To simplify and solve algebraic fractions. </a:t>
            </a:r>
          </a:p>
        </p:txBody>
      </p:sp>
      <p:sp>
        <p:nvSpPr>
          <p:cNvPr id="61" name="TextBox 60">
            <a:extLst>
              <a:ext uri="{FF2B5EF4-FFF2-40B4-BE49-F238E27FC236}">
                <a16:creationId xmlns:a16="http://schemas.microsoft.com/office/drawing/2014/main" id="{A1D44562-F4FB-07A2-B7D0-72CA9B3FE7DD}"/>
              </a:ext>
            </a:extLst>
          </p:cNvPr>
          <p:cNvSpPr txBox="1"/>
          <p:nvPr/>
        </p:nvSpPr>
        <p:spPr>
          <a:xfrm>
            <a:off x="840920" y="1065117"/>
            <a:ext cx="3888646" cy="1015663"/>
          </a:xfrm>
          <a:prstGeom prst="rect">
            <a:avLst/>
          </a:prstGeom>
          <a:noFill/>
        </p:spPr>
        <p:txBody>
          <a:bodyPr wrap="square" rtlCol="0">
            <a:spAutoFit/>
          </a:bodyPr>
          <a:lstStyle/>
          <a:p>
            <a:pPr marL="228600" indent="-228600">
              <a:buFont typeface="+mj-lt"/>
              <a:buAutoNum type="arabicPeriod"/>
              <a:defRPr/>
            </a:pPr>
            <a:r>
              <a:rPr lang="en-GB" sz="1200" noProof="0" dirty="0"/>
              <a:t>To be able to simplify basic algebraic fractions.</a:t>
            </a:r>
          </a:p>
          <a:p>
            <a:pPr marL="228600" indent="-228600">
              <a:buFont typeface="+mj-lt"/>
              <a:buAutoNum type="arabicPeriod"/>
              <a:defRPr/>
            </a:pPr>
            <a:r>
              <a:rPr lang="en-GB" sz="1200" noProof="0" dirty="0"/>
              <a:t>To be able to simplify algebraic fractions by factorising.</a:t>
            </a:r>
          </a:p>
          <a:p>
            <a:pPr marL="228600" indent="-228600">
              <a:buFont typeface="+mj-lt"/>
              <a:buAutoNum type="arabicPeriod"/>
              <a:defRPr/>
            </a:pPr>
            <a:r>
              <a:rPr lang="en-GB" sz="1200" noProof="0" dirty="0"/>
              <a:t>To multiply and divide with algebraic fractions.</a:t>
            </a:r>
          </a:p>
          <a:p>
            <a:pPr marL="228600" indent="-228600">
              <a:buFont typeface="+mj-lt"/>
              <a:buAutoNum type="arabicPeriod"/>
              <a:defRPr/>
            </a:pPr>
            <a:r>
              <a:rPr lang="en-GB" sz="1200" noProof="0" dirty="0"/>
              <a:t>To solve equations involving algebraic fractions.</a:t>
            </a:r>
          </a:p>
          <a:p>
            <a:pPr marL="228600" indent="-228600">
              <a:buFont typeface="+mj-lt"/>
              <a:buAutoNum type="arabicPeriod"/>
              <a:defRPr/>
            </a:pPr>
            <a:endParaRPr lang="en-GB" sz="1200" noProof="0" dirty="0"/>
          </a:p>
        </p:txBody>
      </p:sp>
      <p:sp>
        <p:nvSpPr>
          <p:cNvPr id="74" name="TextBox 73">
            <a:extLst>
              <a:ext uri="{FF2B5EF4-FFF2-40B4-BE49-F238E27FC236}">
                <a16:creationId xmlns:a16="http://schemas.microsoft.com/office/drawing/2014/main" id="{C7457118-6CA5-C49D-31C3-6A4A82E8E64F}"/>
              </a:ext>
            </a:extLst>
          </p:cNvPr>
          <p:cNvSpPr txBox="1"/>
          <p:nvPr/>
        </p:nvSpPr>
        <p:spPr>
          <a:xfrm>
            <a:off x="5386356" y="908248"/>
            <a:ext cx="1235531" cy="1015663"/>
          </a:xfrm>
          <a:prstGeom prst="rect">
            <a:avLst/>
          </a:prstGeom>
          <a:noFill/>
          <a:ln w="12700">
            <a:solidFill>
              <a:schemeClr val="tx1"/>
            </a:solidFill>
          </a:ln>
        </p:spPr>
        <p:txBody>
          <a:bodyPr wrap="square" rtlCol="0">
            <a:spAutoFit/>
          </a:bodyPr>
          <a:lstStyle/>
          <a:p>
            <a:r>
              <a:rPr lang="en-GB" sz="1200" b="1" u="sng" noProof="0" dirty="0"/>
              <a:t>Keywords:</a:t>
            </a:r>
          </a:p>
          <a:p>
            <a:pPr marL="171450" indent="-171450">
              <a:buFontTx/>
              <a:buChar char="-"/>
            </a:pPr>
            <a:r>
              <a:rPr lang="en-GB" sz="1200" noProof="0" dirty="0"/>
              <a:t>Fraction</a:t>
            </a:r>
          </a:p>
          <a:p>
            <a:pPr marL="171450" indent="-171450">
              <a:buFontTx/>
              <a:buChar char="-"/>
            </a:pPr>
            <a:r>
              <a:rPr lang="en-GB" sz="1200" noProof="0" dirty="0"/>
              <a:t>Solve</a:t>
            </a:r>
          </a:p>
          <a:p>
            <a:pPr marL="171450" indent="-171450">
              <a:buFontTx/>
              <a:buChar char="-"/>
            </a:pPr>
            <a:r>
              <a:rPr lang="en-GB" sz="1200" noProof="0" dirty="0"/>
              <a:t>Factorise</a:t>
            </a:r>
          </a:p>
          <a:p>
            <a:pPr marL="171450" indent="-171450">
              <a:buFontTx/>
              <a:buChar char="-"/>
            </a:pPr>
            <a:r>
              <a:rPr lang="en-GB" sz="1200" noProof="0" dirty="0"/>
              <a:t>Denominator</a:t>
            </a:r>
          </a:p>
        </p:txBody>
      </p:sp>
      <p:sp>
        <p:nvSpPr>
          <p:cNvPr id="18" name="Slide Number Placeholder 17">
            <a:extLst>
              <a:ext uri="{FF2B5EF4-FFF2-40B4-BE49-F238E27FC236}">
                <a16:creationId xmlns:a16="http://schemas.microsoft.com/office/drawing/2014/main" id="{016AE37C-7D68-210E-A261-3AAE5F0E7C8F}"/>
              </a:ext>
            </a:extLst>
          </p:cNvPr>
          <p:cNvSpPr>
            <a:spLocks noGrp="1"/>
          </p:cNvSpPr>
          <p:nvPr>
            <p:ph type="sldNum" sz="quarter" idx="12"/>
          </p:nvPr>
        </p:nvSpPr>
        <p:spPr>
          <a:xfrm>
            <a:off x="5370231" y="9548817"/>
            <a:ext cx="1543050" cy="527403"/>
          </a:xfrm>
        </p:spPr>
        <p:txBody>
          <a:bodyPr/>
          <a:lstStyle/>
          <a:p>
            <a:fld id="{19F1D9CC-7119-45EC-A96C-D8C0660F3AAB}" type="slidenum">
              <a:rPr lang="en-GB" noProof="0" smtClean="0">
                <a:solidFill>
                  <a:schemeClr val="bg1"/>
                </a:solidFill>
              </a:rPr>
              <a:t>1</a:t>
            </a:fld>
            <a:endParaRPr lang="en-GB" noProof="0" dirty="0">
              <a:solidFill>
                <a:schemeClr val="bg1"/>
              </a:solidFill>
            </a:endParaRPr>
          </a:p>
        </p:txBody>
      </p:sp>
      <p:sp>
        <p:nvSpPr>
          <p:cNvPr id="65" name="Slide Number Placeholder 16">
            <a:extLst>
              <a:ext uri="{FF2B5EF4-FFF2-40B4-BE49-F238E27FC236}">
                <a16:creationId xmlns:a16="http://schemas.microsoft.com/office/drawing/2014/main" id="{FE14516E-8265-25D4-E435-D5309CAE3D80}"/>
              </a:ext>
            </a:extLst>
          </p:cNvPr>
          <p:cNvSpPr txBox="1">
            <a:spLocks/>
          </p:cNvSpPr>
          <p:nvPr/>
        </p:nvSpPr>
        <p:spPr>
          <a:xfrm>
            <a:off x="5257814" y="9488376"/>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1</a:t>
            </a:fld>
            <a:endParaRPr lang="en-GB" noProof="0" dirty="0"/>
          </a:p>
        </p:txBody>
      </p:sp>
      <p:graphicFrame>
        <p:nvGraphicFramePr>
          <p:cNvPr id="86" name="Table 85">
            <a:extLst>
              <a:ext uri="{FF2B5EF4-FFF2-40B4-BE49-F238E27FC236}">
                <a16:creationId xmlns:a16="http://schemas.microsoft.com/office/drawing/2014/main" id="{D569697E-B078-FC7F-CD59-DBDFB89BF100}"/>
              </a:ext>
            </a:extLst>
          </p:cNvPr>
          <p:cNvGraphicFramePr>
            <a:graphicFrameLocks noGrp="1"/>
          </p:cNvGraphicFramePr>
          <p:nvPr>
            <p:extLst>
              <p:ext uri="{D42A27DB-BD31-4B8C-83A1-F6EECF244321}">
                <p14:modId xmlns:p14="http://schemas.microsoft.com/office/powerpoint/2010/main" val="3554971881"/>
              </p:ext>
            </p:extLst>
          </p:nvPr>
        </p:nvGraphicFramePr>
        <p:xfrm>
          <a:off x="1053570" y="9110814"/>
          <a:ext cx="2534231" cy="498474"/>
        </p:xfrm>
        <a:graphic>
          <a:graphicData uri="http://schemas.openxmlformats.org/drawingml/2006/table">
            <a:tbl>
              <a:tblPr/>
              <a:tblGrid>
                <a:gridCol w="687493">
                  <a:extLst>
                    <a:ext uri="{9D8B030D-6E8A-4147-A177-3AD203B41FA5}">
                      <a16:colId xmlns:a16="http://schemas.microsoft.com/office/drawing/2014/main" val="4222988301"/>
                    </a:ext>
                  </a:extLst>
                </a:gridCol>
                <a:gridCol w="1846738">
                  <a:extLst>
                    <a:ext uri="{9D8B030D-6E8A-4147-A177-3AD203B41FA5}">
                      <a16:colId xmlns:a16="http://schemas.microsoft.com/office/drawing/2014/main" val="3473966253"/>
                    </a:ext>
                  </a:extLst>
                </a:gridCol>
              </a:tblGrid>
              <a:tr h="162338">
                <a:tc>
                  <a:txBody>
                    <a:bodyPr/>
                    <a:lstStyle/>
                    <a:p>
                      <a:r>
                        <a:rPr lang="en-GB" sz="1000" noProof="0" dirty="0">
                          <a:solidFill>
                            <a:schemeClr val="bg1"/>
                          </a:solidFill>
                          <a:effectLst/>
                          <a:latin typeface="Calibri" panose="020F0502020204030204" pitchFamily="34" charset="0"/>
                          <a:cs typeface="Calibri" panose="020F0502020204030204" pitchFamily="34" charset="0"/>
                        </a:rPr>
                        <a:t>1 × 20 = 20</a:t>
                      </a:r>
                    </a:p>
                  </a:txBody>
                  <a:tcPr marL="6879" marR="6879" marT="6879" marB="6879" anchor="ctr">
                    <a:lnL>
                      <a:noFill/>
                    </a:lnL>
                    <a:lnR>
                      <a:noFill/>
                    </a:lnR>
                    <a:lnT>
                      <a:noFill/>
                    </a:lnT>
                    <a:lnB>
                      <a:noFill/>
                    </a:lnB>
                    <a:noFill/>
                  </a:tcPr>
                </a:tc>
                <a:tc>
                  <a:txBody>
                    <a:bodyPr/>
                    <a:lstStyle/>
                    <a:p>
                      <a:r>
                        <a:rPr lang="en-GB" sz="1000" noProof="0" dirty="0">
                          <a:solidFill>
                            <a:schemeClr val="bg1"/>
                          </a:solidFill>
                          <a:effectLst/>
                          <a:latin typeface="Calibri" panose="020F0502020204030204" pitchFamily="34" charset="0"/>
                          <a:cs typeface="Calibri" panose="020F0502020204030204" pitchFamily="34" charset="0"/>
                        </a:rPr>
                        <a:t>so 1 and 20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1154864005"/>
                  </a:ext>
                </a:extLst>
              </a:tr>
              <a:tr h="162338">
                <a:tc>
                  <a:txBody>
                    <a:bodyPr/>
                    <a:lstStyle/>
                    <a:p>
                      <a:r>
                        <a:rPr lang="en-GB" sz="1000" noProof="0" dirty="0">
                          <a:solidFill>
                            <a:schemeClr val="bg1"/>
                          </a:solidFill>
                          <a:effectLst/>
                          <a:latin typeface="Calibri" panose="020F0502020204030204" pitchFamily="34" charset="0"/>
                          <a:cs typeface="Calibri" panose="020F0502020204030204" pitchFamily="34" charset="0"/>
                        </a:rPr>
                        <a:t>2 × 10 = 20</a:t>
                      </a:r>
                    </a:p>
                  </a:txBody>
                  <a:tcPr marL="6879" marR="6879" marT="6879" marB="6879" anchor="ctr">
                    <a:lnL>
                      <a:noFill/>
                    </a:lnL>
                    <a:lnR>
                      <a:noFill/>
                    </a:lnR>
                    <a:lnT>
                      <a:noFill/>
                    </a:lnT>
                    <a:lnB>
                      <a:noFill/>
                    </a:lnB>
                    <a:noFill/>
                  </a:tcPr>
                </a:tc>
                <a:tc>
                  <a:txBody>
                    <a:bodyPr/>
                    <a:lstStyle/>
                    <a:p>
                      <a:r>
                        <a:rPr lang="en-GB" sz="1000" noProof="0" dirty="0">
                          <a:solidFill>
                            <a:schemeClr val="bg1"/>
                          </a:solidFill>
                          <a:effectLst/>
                          <a:latin typeface="Calibri" panose="020F0502020204030204" pitchFamily="34" charset="0"/>
                          <a:cs typeface="Calibri" panose="020F0502020204030204" pitchFamily="34" charset="0"/>
                        </a:rPr>
                        <a:t>so 2 and 10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1006170939"/>
                  </a:ext>
                </a:extLst>
              </a:tr>
              <a:tr h="162338">
                <a:tc>
                  <a:txBody>
                    <a:bodyPr/>
                    <a:lstStyle/>
                    <a:p>
                      <a:r>
                        <a:rPr lang="en-GB" sz="1000" noProof="0" dirty="0">
                          <a:solidFill>
                            <a:schemeClr val="bg1"/>
                          </a:solidFill>
                          <a:effectLst/>
                          <a:latin typeface="Calibri" panose="020F0502020204030204" pitchFamily="34" charset="0"/>
                          <a:cs typeface="Calibri" panose="020F0502020204030204" pitchFamily="34" charset="0"/>
                        </a:rPr>
                        <a:t>4 × 5 = 20</a:t>
                      </a:r>
                    </a:p>
                  </a:txBody>
                  <a:tcPr marL="6879" marR="6879" marT="6879" marB="6879" anchor="ctr">
                    <a:lnL>
                      <a:noFill/>
                    </a:lnL>
                    <a:lnR>
                      <a:noFill/>
                    </a:lnR>
                    <a:lnT>
                      <a:noFill/>
                    </a:lnT>
                    <a:lnB>
                      <a:noFill/>
                    </a:lnB>
                    <a:noFill/>
                  </a:tcPr>
                </a:tc>
                <a:tc>
                  <a:txBody>
                    <a:bodyPr/>
                    <a:lstStyle/>
                    <a:p>
                      <a:r>
                        <a:rPr lang="en-GB" sz="1000" noProof="0" dirty="0">
                          <a:solidFill>
                            <a:schemeClr val="bg1"/>
                          </a:solidFill>
                          <a:effectLst/>
                          <a:latin typeface="Calibri" panose="020F0502020204030204" pitchFamily="34" charset="0"/>
                          <a:cs typeface="Calibri" panose="020F0502020204030204" pitchFamily="34" charset="0"/>
                        </a:rPr>
                        <a:t>so 4 and 5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2319069970"/>
                  </a:ext>
                </a:extLst>
              </a:tr>
            </a:tbl>
          </a:graphicData>
        </a:graphic>
      </p:graphicFrame>
      <p:cxnSp>
        <p:nvCxnSpPr>
          <p:cNvPr id="87" name="Straight Connector 86">
            <a:extLst>
              <a:ext uri="{FF2B5EF4-FFF2-40B4-BE49-F238E27FC236}">
                <a16:creationId xmlns:a16="http://schemas.microsoft.com/office/drawing/2014/main" id="{1FBA791A-FC4B-CABC-0658-3821DDB0E3AE}"/>
              </a:ext>
            </a:extLst>
          </p:cNvPr>
          <p:cNvCxnSpPr/>
          <p:nvPr/>
        </p:nvCxnSpPr>
        <p:spPr>
          <a:xfrm flipV="1">
            <a:off x="985418" y="9120231"/>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8" name="Rectangle 87">
            <a:extLst>
              <a:ext uri="{FF2B5EF4-FFF2-40B4-BE49-F238E27FC236}">
                <a16:creationId xmlns:a16="http://schemas.microsoft.com/office/drawing/2014/main" id="{321967A2-901C-270F-445E-79859DDB4107}"/>
              </a:ext>
            </a:extLst>
          </p:cNvPr>
          <p:cNvSpPr/>
          <p:nvPr/>
        </p:nvSpPr>
        <p:spPr>
          <a:xfrm>
            <a:off x="130738" y="7189636"/>
            <a:ext cx="6654034" cy="2459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89" name="Straight Connector 88">
            <a:extLst>
              <a:ext uri="{FF2B5EF4-FFF2-40B4-BE49-F238E27FC236}">
                <a16:creationId xmlns:a16="http://schemas.microsoft.com/office/drawing/2014/main" id="{BB12CEB4-921E-1774-5D1F-916336A273CF}"/>
              </a:ext>
            </a:extLst>
          </p:cNvPr>
          <p:cNvCxnSpPr>
            <a:stCxn id="88" idx="1"/>
            <a:endCxn id="88" idx="3"/>
          </p:cNvCxnSpPr>
          <p:nvPr/>
        </p:nvCxnSpPr>
        <p:spPr>
          <a:xfrm>
            <a:off x="130738" y="8419278"/>
            <a:ext cx="6654034" cy="0"/>
          </a:xfrm>
          <a:prstGeom prst="line">
            <a:avLst/>
          </a:prstGeom>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0F4223FA-4188-B85E-45FF-237054C113C9}"/>
              </a:ext>
            </a:extLst>
          </p:cNvPr>
          <p:cNvCxnSpPr>
            <a:stCxn id="88" idx="2"/>
            <a:endCxn id="88" idx="0"/>
          </p:cNvCxnSpPr>
          <p:nvPr/>
        </p:nvCxnSpPr>
        <p:spPr>
          <a:xfrm flipV="1">
            <a:off x="3457755" y="7189636"/>
            <a:ext cx="0" cy="2459284"/>
          </a:xfrm>
          <a:prstGeom prst="line">
            <a:avLst/>
          </a:prstGeom>
        </p:spPr>
        <p:style>
          <a:lnRef idx="1">
            <a:schemeClr val="dk1"/>
          </a:lnRef>
          <a:fillRef idx="0">
            <a:schemeClr val="dk1"/>
          </a:fillRef>
          <a:effectRef idx="0">
            <a:schemeClr val="dk1"/>
          </a:effectRef>
          <a:fontRef idx="minor">
            <a:schemeClr val="tx1"/>
          </a:fontRef>
        </p:style>
      </p:cxnSp>
      <p:sp>
        <p:nvSpPr>
          <p:cNvPr id="91" name="TextBox 90">
            <a:extLst>
              <a:ext uri="{FF2B5EF4-FFF2-40B4-BE49-F238E27FC236}">
                <a16:creationId xmlns:a16="http://schemas.microsoft.com/office/drawing/2014/main" id="{9F097476-D6E4-39E5-2183-23046721E438}"/>
              </a:ext>
            </a:extLst>
          </p:cNvPr>
          <p:cNvSpPr txBox="1"/>
          <p:nvPr/>
        </p:nvSpPr>
        <p:spPr>
          <a:xfrm>
            <a:off x="148492" y="7189635"/>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92" name="TextBox 91">
            <a:extLst>
              <a:ext uri="{FF2B5EF4-FFF2-40B4-BE49-F238E27FC236}">
                <a16:creationId xmlns:a16="http://schemas.microsoft.com/office/drawing/2014/main" id="{B53D2AD2-5D2F-F9B2-FE01-DD9ED0B353C5}"/>
              </a:ext>
            </a:extLst>
          </p:cNvPr>
          <p:cNvSpPr txBox="1"/>
          <p:nvPr/>
        </p:nvSpPr>
        <p:spPr>
          <a:xfrm>
            <a:off x="5672543" y="7157249"/>
            <a:ext cx="1112228" cy="276999"/>
          </a:xfrm>
          <a:prstGeom prst="rect">
            <a:avLst/>
          </a:prstGeom>
          <a:noFill/>
        </p:spPr>
        <p:txBody>
          <a:bodyPr wrap="none" rtlCol="0">
            <a:spAutoFit/>
          </a:bodyPr>
          <a:lstStyle/>
          <a:p>
            <a:r>
              <a:rPr lang="en-GB" sz="1200" b="1" noProof="0" dirty="0"/>
              <a:t>Characteristics</a:t>
            </a:r>
          </a:p>
        </p:txBody>
      </p:sp>
      <p:sp>
        <p:nvSpPr>
          <p:cNvPr id="93" name="TextBox 92">
            <a:extLst>
              <a:ext uri="{FF2B5EF4-FFF2-40B4-BE49-F238E27FC236}">
                <a16:creationId xmlns:a16="http://schemas.microsoft.com/office/drawing/2014/main" id="{26F04805-222B-0CA9-4318-FEBF7C2A7B44}"/>
              </a:ext>
            </a:extLst>
          </p:cNvPr>
          <p:cNvSpPr txBox="1"/>
          <p:nvPr/>
        </p:nvSpPr>
        <p:spPr>
          <a:xfrm>
            <a:off x="163639" y="8447643"/>
            <a:ext cx="788164" cy="276999"/>
          </a:xfrm>
          <a:prstGeom prst="rect">
            <a:avLst/>
          </a:prstGeom>
          <a:noFill/>
        </p:spPr>
        <p:txBody>
          <a:bodyPr wrap="none" rtlCol="0">
            <a:spAutoFit/>
          </a:bodyPr>
          <a:lstStyle/>
          <a:p>
            <a:r>
              <a:rPr lang="en-GB" sz="1200" b="1" noProof="0" dirty="0"/>
              <a:t>Examples</a:t>
            </a:r>
          </a:p>
        </p:txBody>
      </p:sp>
      <p:sp>
        <p:nvSpPr>
          <p:cNvPr id="94" name="TextBox 93">
            <a:extLst>
              <a:ext uri="{FF2B5EF4-FFF2-40B4-BE49-F238E27FC236}">
                <a16:creationId xmlns:a16="http://schemas.microsoft.com/office/drawing/2014/main" id="{E7E4332C-D3D0-3C7A-664B-4CE4AAF07F11}"/>
              </a:ext>
            </a:extLst>
          </p:cNvPr>
          <p:cNvSpPr txBox="1"/>
          <p:nvPr/>
        </p:nvSpPr>
        <p:spPr>
          <a:xfrm>
            <a:off x="5601056" y="8423262"/>
            <a:ext cx="1172885" cy="276999"/>
          </a:xfrm>
          <a:prstGeom prst="rect">
            <a:avLst/>
          </a:prstGeom>
          <a:noFill/>
        </p:spPr>
        <p:txBody>
          <a:bodyPr wrap="none" rtlCol="0">
            <a:spAutoFit/>
          </a:bodyPr>
          <a:lstStyle/>
          <a:p>
            <a:r>
              <a:rPr lang="en-GB" sz="1200" b="1" noProof="0" dirty="0"/>
              <a:t>Non - Examples</a:t>
            </a:r>
          </a:p>
        </p:txBody>
      </p:sp>
      <p:sp>
        <p:nvSpPr>
          <p:cNvPr id="95" name="TextBox 94">
            <a:extLst>
              <a:ext uri="{FF2B5EF4-FFF2-40B4-BE49-F238E27FC236}">
                <a16:creationId xmlns:a16="http://schemas.microsoft.com/office/drawing/2014/main" id="{5393360D-B5F0-C688-1AD3-2FC5E5A0CC15}"/>
              </a:ext>
            </a:extLst>
          </p:cNvPr>
          <p:cNvSpPr txBox="1"/>
          <p:nvPr/>
        </p:nvSpPr>
        <p:spPr>
          <a:xfrm>
            <a:off x="260792" y="7581548"/>
            <a:ext cx="3230335" cy="646331"/>
          </a:xfrm>
          <a:prstGeom prst="rect">
            <a:avLst/>
          </a:prstGeom>
          <a:noFill/>
        </p:spPr>
        <p:txBody>
          <a:bodyPr wrap="square" rtlCol="0">
            <a:spAutoFit/>
          </a:bodyPr>
          <a:lstStyle/>
          <a:p>
            <a:r>
              <a:rPr lang="en-GB" sz="1200" noProof="0" dirty="0"/>
              <a:t>A fraction represents a proportion - the number of parts of a whole when the whole has been split into equal parts. </a:t>
            </a:r>
          </a:p>
        </p:txBody>
      </p:sp>
      <p:sp>
        <p:nvSpPr>
          <p:cNvPr id="96" name="TextBox 95">
            <a:extLst>
              <a:ext uri="{FF2B5EF4-FFF2-40B4-BE49-F238E27FC236}">
                <a16:creationId xmlns:a16="http://schemas.microsoft.com/office/drawing/2014/main" id="{0975A043-A0A7-90BC-B2CD-21284251DB31}"/>
              </a:ext>
            </a:extLst>
          </p:cNvPr>
          <p:cNvSpPr txBox="1"/>
          <p:nvPr/>
        </p:nvSpPr>
        <p:spPr>
          <a:xfrm>
            <a:off x="3545374" y="7342469"/>
            <a:ext cx="3230335" cy="1200329"/>
          </a:xfrm>
          <a:prstGeom prst="rect">
            <a:avLst/>
          </a:prstGeom>
          <a:noFill/>
        </p:spPr>
        <p:txBody>
          <a:bodyPr wrap="square" rtlCol="0">
            <a:spAutoFit/>
          </a:bodyPr>
          <a:lstStyle/>
          <a:p>
            <a:pPr marL="171450" indent="-171450">
              <a:buFont typeface="Arial" panose="020B0604020202020204" pitchFamily="34" charset="0"/>
              <a:buChar char="•"/>
            </a:pPr>
            <a:r>
              <a:rPr lang="en-GB" sz="1200" noProof="0" dirty="0"/>
              <a:t>The numerator (top number) represents number of parts.</a:t>
            </a:r>
          </a:p>
          <a:p>
            <a:pPr marL="171450" indent="-171450">
              <a:buFont typeface="Arial" panose="020B0604020202020204" pitchFamily="34" charset="0"/>
              <a:buChar char="•"/>
            </a:pPr>
            <a:r>
              <a:rPr lang="en-GB" sz="1200" noProof="0" dirty="0"/>
              <a:t>The denominator (bottom number) represents how many parts in the whole.</a:t>
            </a:r>
          </a:p>
          <a:p>
            <a:pPr marL="171450" indent="-171450">
              <a:buFont typeface="Arial" panose="020B0604020202020204" pitchFamily="34" charset="0"/>
              <a:buChar char="•"/>
            </a:pPr>
            <a:r>
              <a:rPr lang="en-GB" sz="1200" noProof="0" dirty="0"/>
              <a:t>Each part must be equal.</a:t>
            </a:r>
          </a:p>
          <a:p>
            <a:pPr marL="171450" indent="-171450">
              <a:buFont typeface="Arial" panose="020B0604020202020204" pitchFamily="34" charset="0"/>
              <a:buChar char="•"/>
            </a:pPr>
            <a:endParaRPr lang="en-GB" sz="1200" noProof="0" dirty="0"/>
          </a:p>
        </p:txBody>
      </p:sp>
      <p:sp>
        <p:nvSpPr>
          <p:cNvPr id="97" name="TextBox 96">
            <a:extLst>
              <a:ext uri="{FF2B5EF4-FFF2-40B4-BE49-F238E27FC236}">
                <a16:creationId xmlns:a16="http://schemas.microsoft.com/office/drawing/2014/main" id="{977AAAFA-7E7A-EB32-2B81-E0D5AD98577E}"/>
              </a:ext>
            </a:extLst>
          </p:cNvPr>
          <p:cNvSpPr txBox="1"/>
          <p:nvPr/>
        </p:nvSpPr>
        <p:spPr>
          <a:xfrm>
            <a:off x="2898181" y="8296387"/>
            <a:ext cx="1037528" cy="369332"/>
          </a:xfrm>
          <a:prstGeom prst="rect">
            <a:avLst/>
          </a:prstGeom>
          <a:solidFill>
            <a:schemeClr val="bg1"/>
          </a:solidFill>
          <a:ln>
            <a:solidFill>
              <a:schemeClr val="tx1"/>
            </a:solidFill>
          </a:ln>
        </p:spPr>
        <p:txBody>
          <a:bodyPr wrap="none" rtlCol="0">
            <a:spAutoFit/>
          </a:bodyPr>
          <a:lstStyle/>
          <a:p>
            <a:r>
              <a:rPr lang="en-GB" noProof="0" dirty="0"/>
              <a:t>Fractions</a:t>
            </a:r>
          </a:p>
        </p:txBody>
      </p:sp>
      <p:sp>
        <p:nvSpPr>
          <p:cNvPr id="98" name="TextBox 97">
            <a:extLst>
              <a:ext uri="{FF2B5EF4-FFF2-40B4-BE49-F238E27FC236}">
                <a16:creationId xmlns:a16="http://schemas.microsoft.com/office/drawing/2014/main" id="{87C7880F-45C7-5C73-4D03-21CA7E490AFF}"/>
              </a:ext>
            </a:extLst>
          </p:cNvPr>
          <p:cNvSpPr txBox="1"/>
          <p:nvPr/>
        </p:nvSpPr>
        <p:spPr>
          <a:xfrm>
            <a:off x="4480794" y="8957081"/>
            <a:ext cx="508012" cy="338554"/>
          </a:xfrm>
          <a:prstGeom prst="rect">
            <a:avLst/>
          </a:prstGeom>
          <a:noFill/>
        </p:spPr>
        <p:txBody>
          <a:bodyPr wrap="square" rtlCol="0">
            <a:spAutoFit/>
          </a:bodyPr>
          <a:lstStyle/>
          <a:p>
            <a:r>
              <a:rPr lang="en-GB" sz="1600" noProof="0" dirty="0"/>
              <a:t>= ⅕</a:t>
            </a:r>
          </a:p>
        </p:txBody>
      </p:sp>
      <p:pic>
        <p:nvPicPr>
          <p:cNvPr id="99" name="Picture 98">
            <a:extLst>
              <a:ext uri="{FF2B5EF4-FFF2-40B4-BE49-F238E27FC236}">
                <a16:creationId xmlns:a16="http://schemas.microsoft.com/office/drawing/2014/main" id="{7DC34114-7F6D-9131-195A-A7A69AE53DA1}"/>
              </a:ext>
            </a:extLst>
          </p:cNvPr>
          <p:cNvPicPr>
            <a:picLocks noChangeAspect="1"/>
          </p:cNvPicPr>
          <p:nvPr/>
        </p:nvPicPr>
        <p:blipFill>
          <a:blip r:embed="rId3"/>
          <a:stretch>
            <a:fillRect/>
          </a:stretch>
        </p:blipFill>
        <p:spPr>
          <a:xfrm>
            <a:off x="5167088" y="8712222"/>
            <a:ext cx="936964" cy="855724"/>
          </a:xfrm>
          <a:prstGeom prst="rect">
            <a:avLst/>
          </a:prstGeom>
        </p:spPr>
      </p:pic>
      <p:sp>
        <p:nvSpPr>
          <p:cNvPr id="100" name="TextBox 99">
            <a:extLst>
              <a:ext uri="{FF2B5EF4-FFF2-40B4-BE49-F238E27FC236}">
                <a16:creationId xmlns:a16="http://schemas.microsoft.com/office/drawing/2014/main" id="{0735C08B-4686-DB1A-D9AE-A838DFFB09BA}"/>
              </a:ext>
            </a:extLst>
          </p:cNvPr>
          <p:cNvSpPr txBox="1"/>
          <p:nvPr/>
        </p:nvSpPr>
        <p:spPr>
          <a:xfrm>
            <a:off x="6065996" y="8924466"/>
            <a:ext cx="508012" cy="338554"/>
          </a:xfrm>
          <a:prstGeom prst="rect">
            <a:avLst/>
          </a:prstGeom>
          <a:noFill/>
        </p:spPr>
        <p:txBody>
          <a:bodyPr wrap="square" rtlCol="0">
            <a:spAutoFit/>
          </a:bodyPr>
          <a:lstStyle/>
          <a:p>
            <a:r>
              <a:rPr lang="en-GB" sz="1600" noProof="0" dirty="0"/>
              <a:t>= 3</a:t>
            </a:r>
          </a:p>
        </p:txBody>
      </p:sp>
      <p:pic>
        <p:nvPicPr>
          <p:cNvPr id="101" name="Picture 100">
            <a:extLst>
              <a:ext uri="{FF2B5EF4-FFF2-40B4-BE49-F238E27FC236}">
                <a16:creationId xmlns:a16="http://schemas.microsoft.com/office/drawing/2014/main" id="{ADB0A0CA-1A1C-471F-A3CA-ABCC10D1B795}"/>
              </a:ext>
            </a:extLst>
          </p:cNvPr>
          <p:cNvPicPr>
            <a:picLocks noChangeAspect="1"/>
          </p:cNvPicPr>
          <p:nvPr/>
        </p:nvPicPr>
        <p:blipFill>
          <a:blip r:embed="rId4"/>
          <a:stretch>
            <a:fillRect/>
          </a:stretch>
        </p:blipFill>
        <p:spPr>
          <a:xfrm>
            <a:off x="301739" y="8740851"/>
            <a:ext cx="776530" cy="821330"/>
          </a:xfrm>
          <a:prstGeom prst="rect">
            <a:avLst/>
          </a:prstGeom>
        </p:spPr>
      </p:pic>
      <p:sp>
        <p:nvSpPr>
          <p:cNvPr id="102" name="TextBox 101">
            <a:extLst>
              <a:ext uri="{FF2B5EF4-FFF2-40B4-BE49-F238E27FC236}">
                <a16:creationId xmlns:a16="http://schemas.microsoft.com/office/drawing/2014/main" id="{A99F744D-C738-6BAF-B252-5C2715A42041}"/>
              </a:ext>
            </a:extLst>
          </p:cNvPr>
          <p:cNvSpPr txBox="1"/>
          <p:nvPr/>
        </p:nvSpPr>
        <p:spPr>
          <a:xfrm>
            <a:off x="1049387" y="8928889"/>
            <a:ext cx="508012" cy="338554"/>
          </a:xfrm>
          <a:prstGeom prst="rect">
            <a:avLst/>
          </a:prstGeom>
          <a:noFill/>
        </p:spPr>
        <p:txBody>
          <a:bodyPr wrap="square" rtlCol="0">
            <a:spAutoFit/>
          </a:bodyPr>
          <a:lstStyle/>
          <a:p>
            <a:r>
              <a:rPr lang="en-GB" sz="1600" noProof="0" dirty="0"/>
              <a:t>= ⅔</a:t>
            </a:r>
          </a:p>
        </p:txBody>
      </p:sp>
      <p:pic>
        <p:nvPicPr>
          <p:cNvPr id="103" name="Picture 102">
            <a:extLst>
              <a:ext uri="{FF2B5EF4-FFF2-40B4-BE49-F238E27FC236}">
                <a16:creationId xmlns:a16="http://schemas.microsoft.com/office/drawing/2014/main" id="{DF411091-DC73-9921-BB8C-2168295240F2}"/>
              </a:ext>
            </a:extLst>
          </p:cNvPr>
          <p:cNvPicPr>
            <a:picLocks noChangeAspect="1"/>
          </p:cNvPicPr>
          <p:nvPr/>
        </p:nvPicPr>
        <p:blipFill>
          <a:blip r:embed="rId3"/>
          <a:stretch>
            <a:fillRect/>
          </a:stretch>
        </p:blipFill>
        <p:spPr>
          <a:xfrm>
            <a:off x="1694799" y="8744837"/>
            <a:ext cx="886133" cy="809300"/>
          </a:xfrm>
          <a:prstGeom prst="rect">
            <a:avLst/>
          </a:prstGeom>
        </p:spPr>
      </p:pic>
      <p:sp>
        <p:nvSpPr>
          <p:cNvPr id="104" name="TextBox 103">
            <a:extLst>
              <a:ext uri="{FF2B5EF4-FFF2-40B4-BE49-F238E27FC236}">
                <a16:creationId xmlns:a16="http://schemas.microsoft.com/office/drawing/2014/main" id="{989A6C75-A32C-BB90-B886-E8F3DEEA1757}"/>
              </a:ext>
            </a:extLst>
          </p:cNvPr>
          <p:cNvSpPr txBox="1"/>
          <p:nvPr/>
        </p:nvSpPr>
        <p:spPr>
          <a:xfrm>
            <a:off x="2570547" y="8948077"/>
            <a:ext cx="508012" cy="338554"/>
          </a:xfrm>
          <a:prstGeom prst="rect">
            <a:avLst/>
          </a:prstGeom>
          <a:noFill/>
        </p:spPr>
        <p:txBody>
          <a:bodyPr wrap="square" rtlCol="0">
            <a:spAutoFit/>
          </a:bodyPr>
          <a:lstStyle/>
          <a:p>
            <a:r>
              <a:rPr lang="en-GB" sz="1600" noProof="0" dirty="0"/>
              <a:t>= 1</a:t>
            </a:r>
          </a:p>
        </p:txBody>
      </p:sp>
      <p:pic>
        <p:nvPicPr>
          <p:cNvPr id="105" name="Picture 104">
            <a:extLst>
              <a:ext uri="{FF2B5EF4-FFF2-40B4-BE49-F238E27FC236}">
                <a16:creationId xmlns:a16="http://schemas.microsoft.com/office/drawing/2014/main" id="{59B5D735-15F9-BA33-ABB7-A7DCB67E7292}"/>
              </a:ext>
            </a:extLst>
          </p:cNvPr>
          <p:cNvPicPr>
            <a:picLocks noChangeAspect="1"/>
          </p:cNvPicPr>
          <p:nvPr/>
        </p:nvPicPr>
        <p:blipFill>
          <a:blip r:embed="rId5"/>
          <a:stretch>
            <a:fillRect/>
          </a:stretch>
        </p:blipFill>
        <p:spPr>
          <a:xfrm>
            <a:off x="3669311" y="8695589"/>
            <a:ext cx="847960" cy="864189"/>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71FF107-DE2B-BC4F-59E1-157DD67C274D}"/>
                  </a:ext>
                </a:extLst>
              </p:cNvPr>
              <p:cNvSpPr txBox="1"/>
              <p:nvPr/>
            </p:nvSpPr>
            <p:spPr>
              <a:xfrm>
                <a:off x="102618" y="2094901"/>
                <a:ext cx="6675899" cy="4990790"/>
              </a:xfrm>
              <a:prstGeom prst="rect">
                <a:avLst/>
              </a:prstGeom>
              <a:noFill/>
              <a:ln>
                <a:solidFill>
                  <a:schemeClr val="tx1"/>
                </a:solidFill>
              </a:ln>
            </p:spPr>
            <p:txBody>
              <a:bodyPr wrap="square" rtlCol="0">
                <a:spAutoFit/>
              </a:bodyPr>
              <a:lstStyle/>
              <a:p>
                <a:r>
                  <a:rPr lang="en-GB" sz="1200" noProof="0" dirty="0"/>
                  <a:t>An algebraic fraction is a fraction that has an algebraic term/expression in either the numerator, denominator or both. In a previous unit, we learned how to deal with simple algebraic fractions involving only single terms in the numerator or denominator. In this unit we will learn how to solve problems involving more complex algebraic fractions.</a:t>
                </a:r>
              </a:p>
              <a:p>
                <a:endParaRPr lang="en-GB" sz="1200" noProof="0" dirty="0"/>
              </a:p>
              <a:p>
                <a:r>
                  <a:rPr lang="en-GB" sz="1200" noProof="0" dirty="0"/>
                  <a:t>There are two types of expressions where it is unclear whether we should classify them as algebraic fractions or not:</a:t>
                </a:r>
              </a:p>
              <a:p>
                <a:endParaRPr lang="en-GB" sz="1200" noProof="0" dirty="0"/>
              </a:p>
              <a:p>
                <a:pPr marL="171450" lvl="0" indent="-171450">
                  <a:buFont typeface="Arial" panose="020B0604020202020204" pitchFamily="34" charset="0"/>
                  <a:buChar char="•"/>
                </a:pPr>
                <a:r>
                  <a:rPr lang="en-GB" sz="1200" noProof="0" dirty="0"/>
                  <a:t>A fraction of the form </a:t>
                </a:r>
                <a14:m>
                  <m:oMath xmlns:m="http://schemas.openxmlformats.org/officeDocument/2006/math">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𝑎𝑥</m:t>
                        </m:r>
                      </m:num>
                      <m:den>
                        <m:r>
                          <a:rPr lang="en-GB" sz="1200" i="1" noProof="0">
                            <a:latin typeface="Cambria Math" panose="02040503050406030204" pitchFamily="18" charset="0"/>
                          </a:rPr>
                          <m:t>𝑏</m:t>
                        </m:r>
                      </m:den>
                    </m:f>
                  </m:oMath>
                </a14:m>
                <a:r>
                  <a:rPr lang="en-GB" sz="1200" noProof="0" dirty="0"/>
                  <a:t> can be written as </a:t>
                </a:r>
                <a14:m>
                  <m:oMath xmlns:m="http://schemas.openxmlformats.org/officeDocument/2006/math">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𝑎</m:t>
                        </m:r>
                      </m:num>
                      <m:den>
                        <m:r>
                          <a:rPr lang="en-GB" sz="1200" i="1" noProof="0">
                            <a:latin typeface="Cambria Math" panose="02040503050406030204" pitchFamily="18" charset="0"/>
                          </a:rPr>
                          <m:t>𝑏</m:t>
                        </m:r>
                      </m:den>
                    </m:f>
                    <m:r>
                      <a:rPr lang="en-GB" sz="1200" i="1" noProof="0">
                        <a:latin typeface="Cambria Math" panose="02040503050406030204" pitchFamily="18" charset="0"/>
                      </a:rPr>
                      <m:t>𝑥</m:t>
                    </m:r>
                  </m:oMath>
                </a14:m>
                <a:r>
                  <a:rPr lang="en-GB" sz="1200" noProof="0" dirty="0"/>
                  <a:t>. The first form fits our definition of an algebraic fraction, as it has a term in the denominator. The second form does not: it is just a variable with a fractional coefficient. Whether we will consider these terms as algebraic fractions or not will depend on the context.</a:t>
                </a:r>
              </a:p>
              <a:p>
                <a:pPr marL="171450" lvl="0" indent="-171450">
                  <a:buFont typeface="Arial" panose="020B0604020202020204" pitchFamily="34" charset="0"/>
                  <a:buChar char="•"/>
                </a:pPr>
                <a:endParaRPr lang="en-GB" sz="1200" noProof="0" dirty="0"/>
              </a:p>
              <a:p>
                <a:pPr marL="171450" lvl="0" indent="-171450">
                  <a:buFont typeface="Arial" panose="020B0604020202020204" pitchFamily="34" charset="0"/>
                  <a:buChar char="•"/>
                </a:pPr>
                <a:r>
                  <a:rPr lang="en-GB" sz="1200" noProof="0" dirty="0"/>
                  <a:t>An algebraic fraction that can be simplified. For example:</a:t>
                </a:r>
              </a:p>
              <a:p>
                <a:pPr marL="171450" lvl="0" indent="-171450">
                  <a:buFont typeface="Arial" panose="020B0604020202020204" pitchFamily="34" charset="0"/>
                  <a:buChar char="•"/>
                </a:pPr>
                <a:endParaRPr lang="en-GB" sz="1200" noProof="0" dirty="0"/>
              </a:p>
              <a:p>
                <a:pPr/>
                <a14:m>
                  <m:oMathPara xmlns:m="http://schemas.openxmlformats.org/officeDocument/2006/math">
                    <m:oMathParaPr>
                      <m:jc m:val="centerGroup"/>
                    </m:oMathParaPr>
                    <m:oMath xmlns:m="http://schemas.openxmlformats.org/officeDocument/2006/math">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6</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3</m:t>
                              </m:r>
                            </m:sup>
                          </m:sSup>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𝑦</m:t>
                              </m:r>
                            </m:e>
                            <m:sup>
                              <m:r>
                                <a:rPr lang="en-GB" sz="1200" i="1" noProof="0">
                                  <a:latin typeface="Cambria Math" panose="02040503050406030204" pitchFamily="18" charset="0"/>
                                </a:rPr>
                                <m:t>2</m:t>
                              </m:r>
                            </m:sup>
                          </m:sSup>
                        </m:num>
                        <m:den>
                          <m:r>
                            <a:rPr lang="en-GB" sz="1200" i="1" noProof="0">
                              <a:latin typeface="Cambria Math" panose="02040503050406030204" pitchFamily="18" charset="0"/>
                            </a:rPr>
                            <m:t>2</m:t>
                          </m:r>
                          <m:r>
                            <a:rPr lang="en-GB" sz="1200" i="1" noProof="0">
                              <a:latin typeface="Cambria Math" panose="02040503050406030204" pitchFamily="18" charset="0"/>
                            </a:rPr>
                            <m:t>𝑥</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𝑦</m:t>
                              </m:r>
                            </m:e>
                            <m:sup>
                              <m:r>
                                <a:rPr lang="en-GB" sz="1200" i="1" noProof="0">
                                  <a:latin typeface="Cambria Math" panose="02040503050406030204" pitchFamily="18" charset="0"/>
                                </a:rPr>
                                <m:t>2</m:t>
                              </m:r>
                            </m:sup>
                          </m:sSup>
                        </m:den>
                      </m:f>
                      <m:r>
                        <a:rPr lang="en-GB" sz="1200" i="1" noProof="0">
                          <a:latin typeface="Cambria Math" panose="02040503050406030204" pitchFamily="18" charset="0"/>
                        </a:rPr>
                        <m:t>≡3</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oMath>
                  </m:oMathPara>
                </a14:m>
                <a:endParaRPr lang="en-GB" sz="1200" noProof="0" dirty="0"/>
              </a:p>
              <a:p>
                <a:endParaRPr lang="en-GB" sz="1200" noProof="0" dirty="0"/>
              </a:p>
              <a:p>
                <a:r>
                  <a:rPr lang="en-GB" sz="1200" noProof="0" dirty="0"/>
                  <a:t>The fraction on the left has algebraic terms in both its numerator and denominator, so we could consider it an algebraic fraction. The simplified expression is not an algebraic fraction. </a:t>
                </a:r>
              </a:p>
              <a:p>
                <a:endParaRPr lang="en-GB" sz="1200" noProof="0" dirty="0"/>
              </a:p>
              <a:p>
                <a:r>
                  <a:rPr lang="en-GB" sz="1200" noProof="0" dirty="0"/>
                  <a:t>In higher tier GCSE, there are two broad categories of ‘algebraic fractions’ questions: the first involved evaluating and simplifying by accurately applying operations to fractions. The second involves solving equations involving algebraic fractions. Each of these families of questions can be relatively straightforward or extremely complicated – the following pages cover the full range of difficulty.</a:t>
                </a:r>
              </a:p>
            </p:txBody>
          </p:sp>
        </mc:Choice>
        <mc:Fallback xmlns="">
          <p:sp>
            <p:nvSpPr>
              <p:cNvPr id="2" name="TextBox 1">
                <a:extLst>
                  <a:ext uri="{FF2B5EF4-FFF2-40B4-BE49-F238E27FC236}">
                    <a16:creationId xmlns:a16="http://schemas.microsoft.com/office/drawing/2014/main" id="{C71FF107-DE2B-BC4F-59E1-157DD67C274D}"/>
                  </a:ext>
                </a:extLst>
              </p:cNvPr>
              <p:cNvSpPr txBox="1">
                <a:spLocks noRot="1" noChangeAspect="1" noMove="1" noResize="1" noEditPoints="1" noAdjustHandles="1" noChangeArrowheads="1" noChangeShapeType="1" noTextEdit="1"/>
              </p:cNvSpPr>
              <p:nvPr/>
            </p:nvSpPr>
            <p:spPr>
              <a:xfrm>
                <a:off x="102618" y="2094901"/>
                <a:ext cx="6675899" cy="4990790"/>
              </a:xfrm>
              <a:prstGeom prst="rect">
                <a:avLst/>
              </a:prstGeom>
              <a:blipFill>
                <a:blip r:embed="rId6"/>
                <a:stretch>
                  <a:fillRect r="-182"/>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290489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4" name="Table 23">
                <a:extLst>
                  <a:ext uri="{FF2B5EF4-FFF2-40B4-BE49-F238E27FC236}">
                    <a16:creationId xmlns:a16="http://schemas.microsoft.com/office/drawing/2014/main" id="{7695B750-E8AE-0965-8CA0-670C80ADDCE9}"/>
                  </a:ext>
                </a:extLst>
              </p:cNvPr>
              <p:cNvGraphicFramePr>
                <a:graphicFrameLocks noGrp="1"/>
              </p:cNvGraphicFramePr>
              <p:nvPr>
                <p:extLst>
                  <p:ext uri="{D42A27DB-BD31-4B8C-83A1-F6EECF244321}">
                    <p14:modId xmlns:p14="http://schemas.microsoft.com/office/powerpoint/2010/main" val="1461167234"/>
                  </p:ext>
                </p:extLst>
              </p:nvPr>
            </p:nvGraphicFramePr>
            <p:xfrm>
              <a:off x="101599" y="8785649"/>
              <a:ext cx="6565900" cy="972777"/>
            </p:xfrm>
            <a:graphic>
              <a:graphicData uri="http://schemas.openxmlformats.org/drawingml/2006/table">
                <a:tbl>
                  <a:tblPr firstRow="1" firstCol="1" bandRow="1">
                    <a:tableStyleId>{5C22544A-7EE6-4342-B048-85BDC9FD1C3A}</a:tableStyleId>
                  </a:tblPr>
                  <a:tblGrid>
                    <a:gridCol w="1641475">
                      <a:extLst>
                        <a:ext uri="{9D8B030D-6E8A-4147-A177-3AD203B41FA5}">
                          <a16:colId xmlns:a16="http://schemas.microsoft.com/office/drawing/2014/main" val="3082044314"/>
                        </a:ext>
                      </a:extLst>
                    </a:gridCol>
                    <a:gridCol w="1641475">
                      <a:extLst>
                        <a:ext uri="{9D8B030D-6E8A-4147-A177-3AD203B41FA5}">
                          <a16:colId xmlns:a16="http://schemas.microsoft.com/office/drawing/2014/main" val="2999308126"/>
                        </a:ext>
                      </a:extLst>
                    </a:gridCol>
                    <a:gridCol w="1641475">
                      <a:extLst>
                        <a:ext uri="{9D8B030D-6E8A-4147-A177-3AD203B41FA5}">
                          <a16:colId xmlns:a16="http://schemas.microsoft.com/office/drawing/2014/main" val="2540098112"/>
                        </a:ext>
                      </a:extLst>
                    </a:gridCol>
                    <a:gridCol w="1641475">
                      <a:extLst>
                        <a:ext uri="{9D8B030D-6E8A-4147-A177-3AD203B41FA5}">
                          <a16:colId xmlns:a16="http://schemas.microsoft.com/office/drawing/2014/main" val="3720403999"/>
                        </a:ext>
                      </a:extLst>
                    </a:gridCol>
                  </a:tblGrid>
                  <a:tr h="972777">
                    <a:tc>
                      <a:txBody>
                        <a:bodyPr/>
                        <a:lstStyle/>
                        <a:p>
                          <a:pPr>
                            <a:lnSpc>
                              <a:spcPct val="107000"/>
                            </a:lnSpc>
                            <a:spcAft>
                              <a:spcPts val="800"/>
                            </a:spcAft>
                            <a:buNone/>
                          </a:pPr>
                          <a:r>
                            <a:rPr lang="en-GB" sz="1000" noProof="0" dirty="0">
                              <a:solidFill>
                                <a:schemeClr val="tx1"/>
                              </a:solidFill>
                              <a:effectLst/>
                            </a:rPr>
                            <a:t>a) </a:t>
                          </a:r>
                          <a14:m>
                            <m:oMath xmlns:m="http://schemas.openxmlformats.org/officeDocument/2006/math">
                              <m:r>
                                <a:rPr lang="en-GB" sz="1000" noProof="0">
                                  <a:solidFill>
                                    <a:schemeClr val="tx1"/>
                                  </a:solidFill>
                                  <a:effectLst/>
                                  <a:latin typeface="Cambria Math" panose="02040503050406030204" pitchFamily="18" charset="0"/>
                                </a:rPr>
                                <m:t>45</m:t>
                              </m:r>
                              <m:sSup>
                                <m:sSupPr>
                                  <m:ctrlPr>
                                    <a:rPr lang="en-GB" sz="1000" i="1" noProof="0" smtClean="0">
                                      <a:solidFill>
                                        <a:schemeClr val="tx1"/>
                                      </a:solidFill>
                                      <a:effectLst/>
                                      <a:latin typeface="Cambria Math" panose="02040503050406030204" pitchFamily="18" charset="0"/>
                                    </a:rPr>
                                  </m:ctrlPr>
                                </m:sSupPr>
                                <m:e>
                                  <m:r>
                                    <a:rPr lang="en-GB" sz="1000" noProof="0">
                                      <a:solidFill>
                                        <a:schemeClr val="tx1"/>
                                      </a:solidFill>
                                      <a:effectLst/>
                                      <a:latin typeface="Cambria Math" panose="02040503050406030204" pitchFamily="18" charset="0"/>
                                    </a:rPr>
                                    <m:t>𝑥</m:t>
                                  </m:r>
                                </m:e>
                                <m:sup>
                                  <m:r>
                                    <a:rPr lang="en-GB" sz="1000" noProof="0">
                                      <a:solidFill>
                                        <a:schemeClr val="tx1"/>
                                      </a:solidFill>
                                      <a:effectLst/>
                                      <a:latin typeface="Cambria Math" panose="02040503050406030204" pitchFamily="18" charset="0"/>
                                    </a:rPr>
                                    <m:t>2</m:t>
                                  </m:r>
                                </m:sup>
                              </m:sSup>
                              <m:r>
                                <a:rPr lang="en-GB" sz="1000" noProof="0">
                                  <a:solidFill>
                                    <a:schemeClr val="tx1"/>
                                  </a:solidFill>
                                  <a:effectLst/>
                                  <a:latin typeface="Cambria Math" panose="02040503050406030204" pitchFamily="18" charset="0"/>
                                </a:rPr>
                                <m:t>+18</m:t>
                              </m:r>
                              <m:r>
                                <a:rPr lang="en-GB" sz="1000" noProof="0">
                                  <a:solidFill>
                                    <a:schemeClr val="tx1"/>
                                  </a:solidFill>
                                  <a:effectLst/>
                                  <a:latin typeface="Cambria Math" panose="02040503050406030204" pitchFamily="18" charset="0"/>
                                </a:rPr>
                                <m:t>𝑥</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noProof="0" dirty="0">
                              <a:solidFill>
                                <a:schemeClr val="tx1"/>
                              </a:solidFill>
                              <a:effectLst/>
                            </a:rPr>
                            <a:t>b) </a:t>
                          </a:r>
                          <a14:m>
                            <m:oMath xmlns:m="http://schemas.openxmlformats.org/officeDocument/2006/math">
                              <m:r>
                                <a:rPr lang="en-GB" sz="1000" noProof="0">
                                  <a:solidFill>
                                    <a:schemeClr val="tx1"/>
                                  </a:solidFill>
                                  <a:effectLst/>
                                  <a:latin typeface="Cambria Math" panose="02040503050406030204" pitchFamily="18" charset="0"/>
                                </a:rPr>
                                <m:t>−6</m:t>
                              </m:r>
                              <m:sSup>
                                <m:sSupPr>
                                  <m:ctrlPr>
                                    <a:rPr lang="en-GB" sz="1000" i="1" noProof="0" smtClean="0">
                                      <a:solidFill>
                                        <a:schemeClr val="tx1"/>
                                      </a:solidFill>
                                      <a:effectLst/>
                                      <a:latin typeface="Cambria Math" panose="02040503050406030204" pitchFamily="18" charset="0"/>
                                    </a:rPr>
                                  </m:ctrlPr>
                                </m:sSupPr>
                                <m:e>
                                  <m:r>
                                    <a:rPr lang="en-GB" sz="1000" noProof="0">
                                      <a:solidFill>
                                        <a:schemeClr val="tx1"/>
                                      </a:solidFill>
                                      <a:effectLst/>
                                      <a:latin typeface="Cambria Math" panose="02040503050406030204" pitchFamily="18" charset="0"/>
                                    </a:rPr>
                                    <m:t>𝑥</m:t>
                                  </m:r>
                                </m:e>
                                <m:sup>
                                  <m:r>
                                    <a:rPr lang="en-GB" sz="1000" noProof="0">
                                      <a:solidFill>
                                        <a:schemeClr val="tx1"/>
                                      </a:solidFill>
                                      <a:effectLst/>
                                      <a:latin typeface="Cambria Math" panose="02040503050406030204" pitchFamily="18" charset="0"/>
                                    </a:rPr>
                                    <m:t>2</m:t>
                                  </m:r>
                                </m:sup>
                              </m:sSup>
                              <m:r>
                                <a:rPr lang="en-GB" sz="1000" noProof="0">
                                  <a:solidFill>
                                    <a:schemeClr val="tx1"/>
                                  </a:solidFill>
                                  <a:effectLst/>
                                  <a:latin typeface="Cambria Math" panose="02040503050406030204" pitchFamily="18" charset="0"/>
                                </a:rPr>
                                <m:t>+12</m:t>
                              </m:r>
                              <m:r>
                                <a:rPr lang="en-GB" sz="1000" noProof="0">
                                  <a:solidFill>
                                    <a:schemeClr val="tx1"/>
                                  </a:solidFill>
                                  <a:effectLst/>
                                  <a:latin typeface="Cambria Math" panose="02040503050406030204" pitchFamily="18" charset="0"/>
                                </a:rPr>
                                <m:t>𝑥</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noProof="0" dirty="0">
                              <a:solidFill>
                                <a:schemeClr val="tx1"/>
                              </a:solidFill>
                              <a:effectLst/>
                            </a:rPr>
                            <a:t>c) </a:t>
                          </a:r>
                          <a14:m>
                            <m:oMath xmlns:m="http://schemas.openxmlformats.org/officeDocument/2006/math">
                              <m:r>
                                <a:rPr lang="en-GB" sz="1000" noProof="0">
                                  <a:solidFill>
                                    <a:schemeClr val="tx1"/>
                                  </a:solidFill>
                                  <a:effectLst/>
                                  <a:latin typeface="Cambria Math" panose="02040503050406030204" pitchFamily="18" charset="0"/>
                                </a:rPr>
                                <m:t>32</m:t>
                              </m:r>
                              <m:r>
                                <a:rPr lang="en-GB" sz="1000" noProof="0">
                                  <a:solidFill>
                                    <a:schemeClr val="tx1"/>
                                  </a:solidFill>
                                  <a:effectLst/>
                                  <a:latin typeface="Cambria Math" panose="02040503050406030204" pitchFamily="18" charset="0"/>
                                </a:rPr>
                                <m:t>𝑥</m:t>
                              </m:r>
                              <m:r>
                                <a:rPr lang="en-GB" sz="1000" noProof="0">
                                  <a:solidFill>
                                    <a:schemeClr val="tx1"/>
                                  </a:solidFill>
                                  <a:effectLst/>
                                  <a:latin typeface="Cambria Math" panose="02040503050406030204" pitchFamily="18" charset="0"/>
                                </a:rPr>
                                <m:t>−28</m:t>
                              </m:r>
                              <m:sSup>
                                <m:sSupPr>
                                  <m:ctrlPr>
                                    <a:rPr lang="en-GB" sz="1000" i="1" noProof="0" smtClean="0">
                                      <a:solidFill>
                                        <a:schemeClr val="tx1"/>
                                      </a:solidFill>
                                      <a:effectLst/>
                                      <a:latin typeface="Cambria Math" panose="02040503050406030204" pitchFamily="18" charset="0"/>
                                    </a:rPr>
                                  </m:ctrlPr>
                                </m:sSupPr>
                                <m:e>
                                  <m:r>
                                    <a:rPr lang="en-GB" sz="1000" noProof="0">
                                      <a:solidFill>
                                        <a:schemeClr val="tx1"/>
                                      </a:solidFill>
                                      <a:effectLst/>
                                      <a:latin typeface="Cambria Math" panose="02040503050406030204" pitchFamily="18" charset="0"/>
                                    </a:rPr>
                                    <m:t>𝑥</m:t>
                                  </m:r>
                                </m:e>
                                <m:sup>
                                  <m:r>
                                    <a:rPr lang="en-GB" sz="1000" noProof="0">
                                      <a:solidFill>
                                        <a:schemeClr val="tx1"/>
                                      </a:solidFill>
                                      <a:effectLst/>
                                      <a:latin typeface="Cambria Math" panose="02040503050406030204" pitchFamily="18" charset="0"/>
                                    </a:rPr>
                                    <m:t>2</m:t>
                                  </m:r>
                                </m:sup>
                              </m:sSup>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noProof="0" dirty="0">
                              <a:solidFill>
                                <a:schemeClr val="tx1"/>
                              </a:solidFill>
                              <a:effectLst/>
                            </a:rPr>
                            <a:t>d) </a:t>
                          </a:r>
                          <a14:m>
                            <m:oMath xmlns:m="http://schemas.openxmlformats.org/officeDocument/2006/math">
                              <m:r>
                                <a:rPr lang="en-GB" sz="1000" noProof="0">
                                  <a:solidFill>
                                    <a:schemeClr val="tx1"/>
                                  </a:solidFill>
                                  <a:effectLst/>
                                  <a:latin typeface="Cambria Math" panose="02040503050406030204" pitchFamily="18" charset="0"/>
                                </a:rPr>
                                <m:t>5</m:t>
                              </m:r>
                              <m:r>
                                <a:rPr lang="en-GB" sz="1000" noProof="0">
                                  <a:solidFill>
                                    <a:schemeClr val="tx1"/>
                                  </a:solidFill>
                                  <a:effectLst/>
                                  <a:latin typeface="Cambria Math" panose="02040503050406030204" pitchFamily="18" charset="0"/>
                                </a:rPr>
                                <m:t>𝑥</m:t>
                              </m:r>
                              <m:d>
                                <m:dPr>
                                  <m:ctrlPr>
                                    <a:rPr lang="en-GB" sz="1000" i="1" noProof="0" smtClean="0">
                                      <a:solidFill>
                                        <a:schemeClr val="tx1"/>
                                      </a:solidFill>
                                      <a:effectLst/>
                                      <a:latin typeface="Cambria Math" panose="02040503050406030204" pitchFamily="18" charset="0"/>
                                    </a:rPr>
                                  </m:ctrlPr>
                                </m:dPr>
                                <m:e>
                                  <m:r>
                                    <a:rPr lang="en-GB" sz="1000" noProof="0">
                                      <a:solidFill>
                                        <a:schemeClr val="tx1"/>
                                      </a:solidFill>
                                      <a:effectLst/>
                                      <a:latin typeface="Cambria Math" panose="02040503050406030204" pitchFamily="18" charset="0"/>
                                    </a:rPr>
                                    <m:t>𝑥</m:t>
                                  </m:r>
                                  <m:r>
                                    <a:rPr lang="en-GB" sz="1000" noProof="0">
                                      <a:solidFill>
                                        <a:schemeClr val="tx1"/>
                                      </a:solidFill>
                                      <a:effectLst/>
                                      <a:latin typeface="Cambria Math" panose="02040503050406030204" pitchFamily="18" charset="0"/>
                                    </a:rPr>
                                    <m:t>+3</m:t>
                                  </m:r>
                                </m:e>
                              </m:d>
                              <m:r>
                                <a:rPr lang="en-GB" sz="1000" noProof="0">
                                  <a:solidFill>
                                    <a:schemeClr val="tx1"/>
                                  </a:solidFill>
                                  <a:effectLst/>
                                  <a:latin typeface="Cambria Math" panose="02040503050406030204" pitchFamily="18" charset="0"/>
                                </a:rPr>
                                <m:t>+6</m:t>
                              </m:r>
                              <m:r>
                                <a:rPr lang="en-GB" sz="1000" noProof="0">
                                  <a:solidFill>
                                    <a:schemeClr val="tx1"/>
                                  </a:solidFill>
                                  <a:effectLst/>
                                  <a:latin typeface="Cambria Math" panose="02040503050406030204" pitchFamily="18" charset="0"/>
                                </a:rPr>
                                <m:t>𝑥</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775861"/>
                      </a:ext>
                    </a:extLst>
                  </a:tr>
                </a:tbl>
              </a:graphicData>
            </a:graphic>
          </p:graphicFrame>
        </mc:Choice>
        <mc:Fallback xmlns="">
          <p:graphicFrame>
            <p:nvGraphicFramePr>
              <p:cNvPr id="24" name="Table 23">
                <a:extLst>
                  <a:ext uri="{FF2B5EF4-FFF2-40B4-BE49-F238E27FC236}">
                    <a16:creationId xmlns:a16="http://schemas.microsoft.com/office/drawing/2014/main" id="{7695B750-E8AE-0965-8CA0-670C80ADDCE9}"/>
                  </a:ext>
                </a:extLst>
              </p:cNvPr>
              <p:cNvGraphicFramePr>
                <a:graphicFrameLocks noGrp="1"/>
              </p:cNvGraphicFramePr>
              <p:nvPr>
                <p:extLst>
                  <p:ext uri="{D42A27DB-BD31-4B8C-83A1-F6EECF244321}">
                    <p14:modId xmlns:p14="http://schemas.microsoft.com/office/powerpoint/2010/main" val="1461167234"/>
                  </p:ext>
                </p:extLst>
              </p:nvPr>
            </p:nvGraphicFramePr>
            <p:xfrm>
              <a:off x="101599" y="8785649"/>
              <a:ext cx="6565900" cy="972777"/>
            </p:xfrm>
            <a:graphic>
              <a:graphicData uri="http://schemas.openxmlformats.org/drawingml/2006/table">
                <a:tbl>
                  <a:tblPr firstRow="1" firstCol="1" bandRow="1">
                    <a:tableStyleId>{5C22544A-7EE6-4342-B048-85BDC9FD1C3A}</a:tableStyleId>
                  </a:tblPr>
                  <a:tblGrid>
                    <a:gridCol w="1641475">
                      <a:extLst>
                        <a:ext uri="{9D8B030D-6E8A-4147-A177-3AD203B41FA5}">
                          <a16:colId xmlns:a16="http://schemas.microsoft.com/office/drawing/2014/main" val="3082044314"/>
                        </a:ext>
                      </a:extLst>
                    </a:gridCol>
                    <a:gridCol w="1641475">
                      <a:extLst>
                        <a:ext uri="{9D8B030D-6E8A-4147-A177-3AD203B41FA5}">
                          <a16:colId xmlns:a16="http://schemas.microsoft.com/office/drawing/2014/main" val="2999308126"/>
                        </a:ext>
                      </a:extLst>
                    </a:gridCol>
                    <a:gridCol w="1641475">
                      <a:extLst>
                        <a:ext uri="{9D8B030D-6E8A-4147-A177-3AD203B41FA5}">
                          <a16:colId xmlns:a16="http://schemas.microsoft.com/office/drawing/2014/main" val="2540098112"/>
                        </a:ext>
                      </a:extLst>
                    </a:gridCol>
                    <a:gridCol w="1641475">
                      <a:extLst>
                        <a:ext uri="{9D8B030D-6E8A-4147-A177-3AD203B41FA5}">
                          <a16:colId xmlns:a16="http://schemas.microsoft.com/office/drawing/2014/main" val="3720403999"/>
                        </a:ext>
                      </a:extLst>
                    </a:gridCol>
                  </a:tblGrid>
                  <a:tr h="972777">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0" t="-3750" r="-300000" b="-1250"/>
                          </a:stretch>
                        </a:blipFill>
                      </a:tcPr>
                    </a:tc>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43" t="-3750" r="-201115" b="-1250"/>
                          </a:stretch>
                        </a:blipFill>
                      </a:tcPr>
                    </a:tc>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3750" r="-100370" b="-1250"/>
                          </a:stretch>
                        </a:blipFill>
                      </a:tcPr>
                    </a:tc>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115" t="-3750" r="-743" b="-1250"/>
                          </a:stretch>
                        </a:blipFill>
                      </a:tcPr>
                    </a:tc>
                    <a:extLst>
                      <a:ext uri="{0D108BD9-81ED-4DB2-BD59-A6C34878D82A}">
                        <a16:rowId xmlns:a16="http://schemas.microsoft.com/office/drawing/2014/main" val="2470775861"/>
                      </a:ext>
                    </a:extLst>
                  </a:tr>
                </a:tbl>
              </a:graphicData>
            </a:graphic>
          </p:graphicFrame>
        </mc:Fallback>
      </mc:AlternateContent>
      <p:sp>
        <p:nvSpPr>
          <p:cNvPr id="2" name="Slide Number Placeholder 1">
            <a:extLst>
              <a:ext uri="{FF2B5EF4-FFF2-40B4-BE49-F238E27FC236}">
                <a16:creationId xmlns:a16="http://schemas.microsoft.com/office/drawing/2014/main" id="{7E6CD9A5-19BD-FF1A-6BDD-D0C543EE74A9}"/>
              </a:ext>
            </a:extLst>
          </p:cNvPr>
          <p:cNvSpPr>
            <a:spLocks noGrp="1"/>
          </p:cNvSpPr>
          <p:nvPr>
            <p:ph type="sldNum" sz="quarter" idx="12"/>
          </p:nvPr>
        </p:nvSpPr>
        <p:spPr>
          <a:xfrm>
            <a:off x="5314950" y="9530965"/>
            <a:ext cx="1543050" cy="527403"/>
          </a:xfrm>
        </p:spPr>
        <p:txBody>
          <a:bodyPr/>
          <a:lstStyle/>
          <a:p>
            <a:fld id="{9BD3B4A0-BFF9-422C-B253-48BA94BE2F5B}" type="slidenum">
              <a:rPr lang="en-GB" noProof="0" smtClean="0"/>
              <a:t>2</a:t>
            </a:fld>
            <a:endParaRPr lang="en-GB" noProof="0" dirty="0"/>
          </a:p>
        </p:txBody>
      </p:sp>
      <p:sp>
        <p:nvSpPr>
          <p:cNvPr id="3" name="TextBox 2">
            <a:extLst>
              <a:ext uri="{FF2B5EF4-FFF2-40B4-BE49-F238E27FC236}">
                <a16:creationId xmlns:a16="http://schemas.microsoft.com/office/drawing/2014/main" id="{47F6B1F3-ADF0-BCA2-B02F-27F3DCA78A6D}"/>
              </a:ext>
            </a:extLst>
          </p:cNvPr>
          <p:cNvSpPr txBox="1"/>
          <p:nvPr/>
        </p:nvSpPr>
        <p:spPr>
          <a:xfrm>
            <a:off x="0" y="0"/>
            <a:ext cx="1853584" cy="276999"/>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Writing in the correct form</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4B39EE9-AA91-A0FE-A380-8DEA9626ADC3}"/>
                  </a:ext>
                </a:extLst>
              </p:cNvPr>
              <p:cNvSpPr txBox="1"/>
              <p:nvPr/>
            </p:nvSpPr>
            <p:spPr>
              <a:xfrm>
                <a:off x="101600" y="276999"/>
                <a:ext cx="6565900" cy="4229556"/>
              </a:xfrm>
              <a:prstGeom prst="rect">
                <a:avLst/>
              </a:prstGeom>
              <a:noFill/>
              <a:ln>
                <a:solidFill>
                  <a:schemeClr val="tx1"/>
                </a:solidFill>
              </a:ln>
            </p:spPr>
            <p:txBody>
              <a:bodyPr wrap="square" rtlCol="0">
                <a:spAutoFit/>
              </a:bodyPr>
              <a:lstStyle/>
              <a:p>
                <a:r>
                  <a:rPr lang="en-GB" sz="1200" noProof="0" dirty="0"/>
                  <a:t>Later in this unit we will be asked to express algebraic fractions in a particular form - “write in the form…” is the most common way these questions are asked in your GCSE exam. </a:t>
                </a:r>
              </a:p>
              <a:p>
                <a:endParaRPr lang="en-GB" sz="1200" noProof="0" dirty="0"/>
              </a:p>
              <a:p>
                <a:r>
                  <a:rPr lang="en-GB" sz="1200" noProof="0" dirty="0"/>
                  <a:t>The skills required for this involve expanding brackets, factorising, and simplifying. We can practice these skills on individual expressions first, before applying them to algebraic fractions.</a:t>
                </a:r>
              </a:p>
              <a:p>
                <a:endParaRPr lang="en-GB" sz="1200" noProof="0" dirty="0"/>
              </a:p>
              <a:p>
                <a:r>
                  <a:rPr lang="en-GB" sz="1200" noProof="0" dirty="0"/>
                  <a:t>Look carefully at the questions in the following task, before deciding on your answer:</a:t>
                </a:r>
              </a:p>
              <a:p>
                <a:endParaRPr lang="en-GB" sz="1200" noProof="0" dirty="0"/>
              </a:p>
              <a:p>
                <a:r>
                  <a:rPr lang="en-GB" sz="1400" b="1" noProof="0" dirty="0"/>
                  <a:t>Task: </a:t>
                </a:r>
                <a:r>
                  <a:rPr lang="en-GB" sz="1400" noProof="0" dirty="0"/>
                  <a:t>Decide if the following expressions are in the correct form. If they are in correct form what are </a:t>
                </a:r>
                <a14:m>
                  <m:oMath xmlns:m="http://schemas.openxmlformats.org/officeDocument/2006/math">
                    <m:r>
                      <a:rPr lang="en-GB" sz="1400" i="1" noProof="0">
                        <a:latin typeface="Cambria Math" panose="02040503050406030204" pitchFamily="18" charset="0"/>
                      </a:rPr>
                      <m:t>𝑎</m:t>
                    </m:r>
                    <m:r>
                      <a:rPr lang="en-GB" sz="1400" i="1" noProof="0">
                        <a:latin typeface="Cambria Math" panose="02040503050406030204" pitchFamily="18" charset="0"/>
                      </a:rPr>
                      <m:t>, </m:t>
                    </m:r>
                    <m:r>
                      <a:rPr lang="en-GB" sz="1400" i="1" noProof="0">
                        <a:latin typeface="Cambria Math" panose="02040503050406030204" pitchFamily="18" charset="0"/>
                      </a:rPr>
                      <m:t>𝑏</m:t>
                    </m:r>
                  </m:oMath>
                </a14:m>
                <a:r>
                  <a:rPr lang="en-GB" sz="1400" noProof="0" dirty="0"/>
                  <a:t> and </a:t>
                </a:r>
                <a14:m>
                  <m:oMath xmlns:m="http://schemas.openxmlformats.org/officeDocument/2006/math">
                    <m:r>
                      <a:rPr lang="en-GB" sz="1400" i="1" noProof="0">
                        <a:latin typeface="Cambria Math" panose="02040503050406030204" pitchFamily="18" charset="0"/>
                      </a:rPr>
                      <m:t>𝑐</m:t>
                    </m:r>
                  </m:oMath>
                </a14:m>
                <a:r>
                  <a:rPr lang="en-GB" sz="1400" noProof="0" dirty="0"/>
                  <a:t>?</a:t>
                </a:r>
              </a:p>
              <a:p>
                <a:endParaRPr lang="en-GB" sz="1400" noProof="0" dirty="0"/>
              </a:p>
              <a:p>
                <a:pPr marL="342900" lvl="0" indent="-342900">
                  <a:buFont typeface="+mj-lt"/>
                  <a:buAutoNum type="alphaLcParenR"/>
                </a:pPr>
                <a:r>
                  <a:rPr lang="en-GB" sz="1400" noProof="0" dirty="0"/>
                  <a:t>Is </a:t>
                </a:r>
                <a14:m>
                  <m:oMath xmlns:m="http://schemas.openxmlformats.org/officeDocument/2006/math">
                    <m:r>
                      <a:rPr lang="en-GB" sz="1400" i="1" noProof="0">
                        <a:latin typeface="Cambria Math" panose="02040503050406030204" pitchFamily="18" charset="0"/>
                      </a:rPr>
                      <m:t>7</m:t>
                    </m:r>
                    <m:r>
                      <a:rPr lang="en-GB" sz="1400" i="1" noProof="0">
                        <a:latin typeface="Cambria Math" panose="02040503050406030204" pitchFamily="18" charset="0"/>
                      </a:rPr>
                      <m:t>𝑥</m:t>
                    </m:r>
                    <m:r>
                      <a:rPr lang="en-GB" sz="1400" i="1" noProof="0">
                        <a:latin typeface="Cambria Math" panose="02040503050406030204" pitchFamily="18" charset="0"/>
                      </a:rPr>
                      <m:t>+9</m:t>
                    </m:r>
                  </m:oMath>
                </a14:m>
                <a:r>
                  <a:rPr lang="en-GB" sz="1400" noProof="0" dirty="0"/>
                  <a:t> in the form </a:t>
                </a:r>
                <a14:m>
                  <m:oMath xmlns:m="http://schemas.openxmlformats.org/officeDocument/2006/math">
                    <m:r>
                      <a:rPr lang="en-GB" sz="1400" i="1" noProof="0">
                        <a:latin typeface="Cambria Math" panose="02040503050406030204" pitchFamily="18" charset="0"/>
                      </a:rPr>
                      <m:t>𝑎𝑥</m:t>
                    </m:r>
                    <m:r>
                      <a:rPr lang="en-GB" sz="1400" i="1" noProof="0">
                        <a:latin typeface="Cambria Math" panose="02040503050406030204" pitchFamily="18" charset="0"/>
                      </a:rPr>
                      <m:t>+</m:t>
                    </m:r>
                    <m:r>
                      <a:rPr lang="en-GB" sz="1400" i="1" noProof="0">
                        <a:latin typeface="Cambria Math" panose="02040503050406030204" pitchFamily="18" charset="0"/>
                      </a:rPr>
                      <m:t>𝑏</m:t>
                    </m:r>
                    <m:r>
                      <a:rPr lang="en-GB" sz="1400" i="1" noProof="0">
                        <a:latin typeface="Cambria Math" panose="02040503050406030204" pitchFamily="18" charset="0"/>
                      </a:rPr>
                      <m:t>?</m:t>
                    </m:r>
                  </m:oMath>
                </a14:m>
                <a:endParaRPr lang="en-GB" sz="1400" noProof="0" dirty="0"/>
              </a:p>
              <a:p>
                <a:pPr marL="342900" lvl="0" indent="-342900">
                  <a:buFont typeface="+mj-lt"/>
                  <a:buAutoNum type="alphaLcParenR"/>
                </a:pPr>
                <a:r>
                  <a:rPr lang="en-GB" sz="1400" noProof="0" dirty="0"/>
                  <a:t>Is </a:t>
                </a:r>
                <a14:m>
                  <m:oMath xmlns:m="http://schemas.openxmlformats.org/officeDocument/2006/math">
                    <m:r>
                      <a:rPr lang="en-GB" sz="1400" i="1" noProof="0">
                        <a:latin typeface="Cambria Math" panose="02040503050406030204" pitchFamily="18" charset="0"/>
                      </a:rPr>
                      <m:t>5</m:t>
                    </m:r>
                    <m:r>
                      <a:rPr lang="en-GB" sz="1400" i="1" noProof="0">
                        <a:latin typeface="Cambria Math" panose="02040503050406030204" pitchFamily="18" charset="0"/>
                      </a:rPr>
                      <m:t>𝑥</m:t>
                    </m:r>
                    <m:r>
                      <a:rPr lang="en-GB" sz="1400" i="1" noProof="0">
                        <a:latin typeface="Cambria Math" panose="02040503050406030204" pitchFamily="18" charset="0"/>
                      </a:rPr>
                      <m:t>−3</m:t>
                    </m:r>
                  </m:oMath>
                </a14:m>
                <a:r>
                  <a:rPr lang="en-GB" sz="1400" noProof="0" dirty="0"/>
                  <a:t> in the form </a:t>
                </a:r>
                <a14:m>
                  <m:oMath xmlns:m="http://schemas.openxmlformats.org/officeDocument/2006/math">
                    <m:r>
                      <a:rPr lang="en-GB" sz="1400" i="1" noProof="0">
                        <a:latin typeface="Cambria Math" panose="02040503050406030204" pitchFamily="18" charset="0"/>
                      </a:rPr>
                      <m:t>𝑎𝑥</m:t>
                    </m:r>
                    <m:r>
                      <a:rPr lang="en-GB" sz="1400" i="1" noProof="0">
                        <a:latin typeface="Cambria Math" panose="02040503050406030204" pitchFamily="18" charset="0"/>
                      </a:rPr>
                      <m:t>+</m:t>
                    </m:r>
                    <m:r>
                      <a:rPr lang="en-GB" sz="1400" i="1" noProof="0">
                        <a:latin typeface="Cambria Math" panose="02040503050406030204" pitchFamily="18" charset="0"/>
                      </a:rPr>
                      <m:t>𝑏</m:t>
                    </m:r>
                    <m:r>
                      <a:rPr lang="en-GB" sz="1400" i="1" noProof="0">
                        <a:latin typeface="Cambria Math" panose="02040503050406030204" pitchFamily="18" charset="0"/>
                      </a:rPr>
                      <m:t>?</m:t>
                    </m:r>
                  </m:oMath>
                </a14:m>
                <a:endParaRPr lang="en-GB" sz="1400" noProof="0" dirty="0"/>
              </a:p>
              <a:p>
                <a:pPr marL="342900" lvl="0" indent="-342900">
                  <a:buFont typeface="+mj-lt"/>
                  <a:buAutoNum type="alphaLcParenR"/>
                </a:pPr>
                <a:r>
                  <a:rPr lang="en-GB" sz="1400" noProof="0" dirty="0"/>
                  <a:t>Is </a:t>
                </a:r>
                <a14:m>
                  <m:oMath xmlns:m="http://schemas.openxmlformats.org/officeDocument/2006/math">
                    <m:r>
                      <a:rPr lang="en-GB" sz="1400" i="1" noProof="0">
                        <a:latin typeface="Cambria Math" panose="02040503050406030204" pitchFamily="18" charset="0"/>
                      </a:rPr>
                      <m:t>5</m:t>
                    </m:r>
                    <m:d>
                      <m:dPr>
                        <m:ctrlPr>
                          <a:rPr lang="en-GB" sz="1400" i="1" noProof="0" smtClean="0">
                            <a:latin typeface="Cambria Math" panose="02040503050406030204" pitchFamily="18" charset="0"/>
                          </a:rPr>
                        </m:ctrlPr>
                      </m:dPr>
                      <m:e>
                        <m:r>
                          <a:rPr lang="en-GB" sz="1400" i="1" noProof="0">
                            <a:latin typeface="Cambria Math" panose="02040503050406030204" pitchFamily="18" charset="0"/>
                          </a:rPr>
                          <m:t>2</m:t>
                        </m:r>
                        <m:r>
                          <a:rPr lang="en-GB" sz="1400" i="1" noProof="0">
                            <a:latin typeface="Cambria Math" panose="02040503050406030204" pitchFamily="18" charset="0"/>
                          </a:rPr>
                          <m:t>𝑥</m:t>
                        </m:r>
                        <m:r>
                          <a:rPr lang="en-GB" sz="1400" i="1" noProof="0">
                            <a:latin typeface="Cambria Math" panose="02040503050406030204" pitchFamily="18" charset="0"/>
                          </a:rPr>
                          <m:t>+3</m:t>
                        </m:r>
                      </m:e>
                    </m:d>
                  </m:oMath>
                </a14:m>
                <a:r>
                  <a:rPr lang="en-GB" sz="1400" noProof="0" dirty="0"/>
                  <a:t> in the form </a:t>
                </a:r>
                <a14:m>
                  <m:oMath xmlns:m="http://schemas.openxmlformats.org/officeDocument/2006/math">
                    <m:r>
                      <a:rPr lang="en-GB" sz="1400" i="1" noProof="0">
                        <a:latin typeface="Cambria Math" panose="02040503050406030204" pitchFamily="18" charset="0"/>
                      </a:rPr>
                      <m:t>𝑎𝑥</m:t>
                    </m:r>
                    <m:r>
                      <a:rPr lang="en-GB" sz="1400" i="1" noProof="0">
                        <a:latin typeface="Cambria Math" panose="02040503050406030204" pitchFamily="18" charset="0"/>
                      </a:rPr>
                      <m:t>+</m:t>
                    </m:r>
                    <m:r>
                      <a:rPr lang="en-GB" sz="1400" i="1" noProof="0">
                        <a:latin typeface="Cambria Math" panose="02040503050406030204" pitchFamily="18" charset="0"/>
                      </a:rPr>
                      <m:t>𝑏</m:t>
                    </m:r>
                    <m:r>
                      <a:rPr lang="en-GB" sz="1400" i="1" noProof="0">
                        <a:latin typeface="Cambria Math" panose="02040503050406030204" pitchFamily="18" charset="0"/>
                      </a:rPr>
                      <m:t>?</m:t>
                    </m:r>
                  </m:oMath>
                </a14:m>
                <a:endParaRPr lang="en-GB" sz="1400" noProof="0" dirty="0"/>
              </a:p>
              <a:p>
                <a:pPr marL="342900" lvl="0" indent="-342900">
                  <a:buFont typeface="+mj-lt"/>
                  <a:buAutoNum type="alphaLcParenR"/>
                </a:pPr>
                <a:r>
                  <a:rPr lang="en-GB" sz="1400" noProof="0" dirty="0"/>
                  <a:t>Is </a:t>
                </a:r>
                <a14:m>
                  <m:oMath xmlns:m="http://schemas.openxmlformats.org/officeDocument/2006/math">
                    <m:r>
                      <a:rPr lang="en-GB" sz="1400" i="1" noProof="0">
                        <a:latin typeface="Cambria Math" panose="02040503050406030204" pitchFamily="18" charset="0"/>
                      </a:rPr>
                      <m:t>4</m:t>
                    </m:r>
                    <m:sSup>
                      <m:sSupPr>
                        <m:ctrlPr>
                          <a:rPr lang="en-GB" sz="1400" i="1" noProof="0" smtClean="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−5</m:t>
                    </m:r>
                    <m:r>
                      <a:rPr lang="en-GB" sz="1400" i="1" noProof="0">
                        <a:latin typeface="Cambria Math" panose="02040503050406030204" pitchFamily="18" charset="0"/>
                      </a:rPr>
                      <m:t>𝑥</m:t>
                    </m:r>
                  </m:oMath>
                </a14:m>
                <a:r>
                  <a:rPr lang="en-GB" sz="1400" noProof="0" dirty="0"/>
                  <a:t> in the form </a:t>
                </a:r>
                <a14:m>
                  <m:oMath xmlns:m="http://schemas.openxmlformats.org/officeDocument/2006/math">
                    <m:r>
                      <a:rPr lang="en-GB" sz="1400" i="1" noProof="0">
                        <a:latin typeface="Cambria Math" panose="02040503050406030204" pitchFamily="18" charset="0"/>
                      </a:rPr>
                      <m:t>𝑥</m:t>
                    </m:r>
                    <m:r>
                      <a:rPr lang="en-GB" sz="1400" i="1" noProof="0">
                        <a:latin typeface="Cambria Math" panose="02040503050406030204" pitchFamily="18" charset="0"/>
                      </a:rPr>
                      <m:t>(</m:t>
                    </m:r>
                    <m:r>
                      <a:rPr lang="en-GB" sz="1400" i="1" noProof="0">
                        <a:latin typeface="Cambria Math" panose="02040503050406030204" pitchFamily="18" charset="0"/>
                      </a:rPr>
                      <m:t>𝑎𝑥</m:t>
                    </m:r>
                    <m:r>
                      <a:rPr lang="en-GB" sz="1400" i="1" noProof="0">
                        <a:latin typeface="Cambria Math" panose="02040503050406030204" pitchFamily="18" charset="0"/>
                      </a:rPr>
                      <m:t>+</m:t>
                    </m:r>
                    <m:r>
                      <a:rPr lang="en-GB" sz="1400" i="1" noProof="0">
                        <a:latin typeface="Cambria Math" panose="02040503050406030204" pitchFamily="18" charset="0"/>
                      </a:rPr>
                      <m:t>𝑏</m:t>
                    </m:r>
                    <m:r>
                      <a:rPr lang="en-GB" sz="1400" i="1" noProof="0">
                        <a:latin typeface="Cambria Math" panose="02040503050406030204" pitchFamily="18" charset="0"/>
                      </a:rPr>
                      <m:t>)?</m:t>
                    </m:r>
                  </m:oMath>
                </a14:m>
                <a:endParaRPr lang="en-GB" sz="1400" noProof="0" dirty="0"/>
              </a:p>
              <a:p>
                <a:pPr marL="342900" lvl="0" indent="-342900">
                  <a:buFont typeface="+mj-lt"/>
                  <a:buAutoNum type="alphaLcParenR"/>
                </a:pPr>
                <a:r>
                  <a:rPr lang="en-GB" sz="1400" noProof="0" dirty="0"/>
                  <a:t>Is </a:t>
                </a:r>
                <a14:m>
                  <m:oMath xmlns:m="http://schemas.openxmlformats.org/officeDocument/2006/math">
                    <m:r>
                      <a:rPr lang="en-GB" sz="1400" i="1" noProof="0">
                        <a:latin typeface="Cambria Math" panose="02040503050406030204" pitchFamily="18" charset="0"/>
                      </a:rPr>
                      <m:t>4</m:t>
                    </m:r>
                    <m:sSup>
                      <m:sSupPr>
                        <m:ctrlPr>
                          <a:rPr lang="en-GB" sz="1400" i="1" noProof="0" smtClean="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−5</m:t>
                    </m:r>
                    <m:r>
                      <a:rPr lang="en-GB" sz="1400" i="1" noProof="0">
                        <a:latin typeface="Cambria Math" panose="02040503050406030204" pitchFamily="18" charset="0"/>
                      </a:rPr>
                      <m:t>𝑥</m:t>
                    </m:r>
                  </m:oMath>
                </a14:m>
                <a:r>
                  <a:rPr lang="en-GB" sz="1400" noProof="0" dirty="0"/>
                  <a:t> in the form </a:t>
                </a:r>
                <a14:m>
                  <m:oMath xmlns:m="http://schemas.openxmlformats.org/officeDocument/2006/math">
                    <m:r>
                      <a:rPr lang="en-GB" sz="1400" i="1" noProof="0">
                        <a:latin typeface="Cambria Math" panose="02040503050406030204" pitchFamily="18" charset="0"/>
                      </a:rPr>
                      <m:t>𝑎</m:t>
                    </m:r>
                    <m:sSup>
                      <m:sSupPr>
                        <m:ctrlPr>
                          <a:rPr lang="en-GB" sz="1400" i="1" noProof="0" smtClean="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m:t>
                    </m:r>
                    <m:r>
                      <a:rPr lang="en-GB" sz="1400" i="1" noProof="0">
                        <a:latin typeface="Cambria Math" panose="02040503050406030204" pitchFamily="18" charset="0"/>
                      </a:rPr>
                      <m:t>𝑏𝑥</m:t>
                    </m:r>
                  </m:oMath>
                </a14:m>
                <a:r>
                  <a:rPr lang="en-GB" sz="1400" noProof="0" dirty="0"/>
                  <a:t>?</a:t>
                </a:r>
              </a:p>
              <a:p>
                <a:pPr marL="342900" lvl="0" indent="-342900">
                  <a:buFont typeface="+mj-lt"/>
                  <a:buAutoNum type="alphaLcParenR"/>
                </a:pPr>
                <a:r>
                  <a:rPr lang="en-GB" sz="1400" noProof="0" dirty="0"/>
                  <a:t>Is </a:t>
                </a:r>
                <a14:m>
                  <m:oMath xmlns:m="http://schemas.openxmlformats.org/officeDocument/2006/math">
                    <m:f>
                      <m:fPr>
                        <m:ctrlPr>
                          <a:rPr lang="en-GB" sz="1400" i="1" noProof="0" smtClean="0">
                            <a:latin typeface="Cambria Math" panose="02040503050406030204" pitchFamily="18" charset="0"/>
                          </a:rPr>
                        </m:ctrlPr>
                      </m:fPr>
                      <m:num>
                        <m:r>
                          <a:rPr lang="en-GB" sz="1400" i="1" noProof="0">
                            <a:latin typeface="Cambria Math" panose="02040503050406030204" pitchFamily="18" charset="0"/>
                          </a:rPr>
                          <m:t>3</m:t>
                        </m:r>
                      </m:num>
                      <m:den>
                        <m:r>
                          <a:rPr lang="en-GB" sz="1400" i="1" noProof="0">
                            <a:latin typeface="Cambria Math" panose="02040503050406030204" pitchFamily="18" charset="0"/>
                          </a:rPr>
                          <m:t>5</m:t>
                        </m:r>
                      </m:den>
                    </m:f>
                    <m:r>
                      <a:rPr lang="en-GB" sz="1400" i="1" noProof="0">
                        <a:latin typeface="Cambria Math" panose="02040503050406030204" pitchFamily="18" charset="0"/>
                      </a:rPr>
                      <m:t>𝑥</m:t>
                    </m:r>
                    <m:r>
                      <a:rPr lang="en-GB" sz="1400" i="1" noProof="0">
                        <a:latin typeface="Cambria Math" panose="02040503050406030204" pitchFamily="18" charset="0"/>
                      </a:rPr>
                      <m:t>+2</m:t>
                    </m:r>
                  </m:oMath>
                </a14:m>
                <a:r>
                  <a:rPr lang="en-GB" sz="1400" noProof="0" dirty="0"/>
                  <a:t> in the form </a:t>
                </a:r>
                <a14:m>
                  <m:oMath xmlns:m="http://schemas.openxmlformats.org/officeDocument/2006/math">
                    <m:r>
                      <a:rPr lang="en-GB" sz="1400" i="1" noProof="0">
                        <a:latin typeface="Cambria Math" panose="02040503050406030204" pitchFamily="18" charset="0"/>
                      </a:rPr>
                      <m:t>𝑎𝑥</m:t>
                    </m:r>
                    <m:r>
                      <a:rPr lang="en-GB" sz="1400" i="1" noProof="0">
                        <a:latin typeface="Cambria Math" panose="02040503050406030204" pitchFamily="18" charset="0"/>
                      </a:rPr>
                      <m:t>+</m:t>
                    </m:r>
                    <m:r>
                      <a:rPr lang="en-GB" sz="1400" i="1" noProof="0">
                        <a:latin typeface="Cambria Math" panose="02040503050406030204" pitchFamily="18" charset="0"/>
                      </a:rPr>
                      <m:t>𝑏</m:t>
                    </m:r>
                    <m:r>
                      <a:rPr lang="en-GB" sz="1400" i="1" noProof="0">
                        <a:latin typeface="Cambria Math" panose="02040503050406030204" pitchFamily="18" charset="0"/>
                      </a:rPr>
                      <m:t>?</m:t>
                    </m:r>
                  </m:oMath>
                </a14:m>
                <a:endParaRPr lang="en-GB" sz="1400" noProof="0" dirty="0"/>
              </a:p>
              <a:p>
                <a:pPr marL="342900" lvl="0" indent="-342900">
                  <a:buFont typeface="+mj-lt"/>
                  <a:buAutoNum type="alphaLcParenR"/>
                </a:pPr>
                <a:r>
                  <a:rPr lang="en-GB" sz="1400" noProof="0" dirty="0"/>
                  <a:t>Is </a:t>
                </a:r>
                <a14:m>
                  <m:oMath xmlns:m="http://schemas.openxmlformats.org/officeDocument/2006/math">
                    <m:r>
                      <a:rPr lang="en-GB" sz="1400" i="1" noProof="0">
                        <a:latin typeface="Cambria Math" panose="02040503050406030204" pitchFamily="18" charset="0"/>
                      </a:rPr>
                      <m:t>𝑥</m:t>
                    </m:r>
                    <m:r>
                      <a:rPr lang="en-GB" sz="1400" i="1" noProof="0">
                        <a:latin typeface="Cambria Math" panose="02040503050406030204" pitchFamily="18" charset="0"/>
                      </a:rPr>
                      <m:t>−3</m:t>
                    </m:r>
                  </m:oMath>
                </a14:m>
                <a:r>
                  <a:rPr lang="en-GB" sz="1400" noProof="0" dirty="0"/>
                  <a:t> in the form </a:t>
                </a:r>
                <a14:m>
                  <m:oMath xmlns:m="http://schemas.openxmlformats.org/officeDocument/2006/math">
                    <m:r>
                      <a:rPr lang="en-GB" sz="1400" i="1" noProof="0">
                        <a:latin typeface="Cambria Math" panose="02040503050406030204" pitchFamily="18" charset="0"/>
                      </a:rPr>
                      <m:t>𝑎𝑥</m:t>
                    </m:r>
                    <m:r>
                      <a:rPr lang="en-GB" sz="1400" i="1" noProof="0">
                        <a:latin typeface="Cambria Math" panose="02040503050406030204" pitchFamily="18" charset="0"/>
                      </a:rPr>
                      <m:t>+</m:t>
                    </m:r>
                    <m:r>
                      <a:rPr lang="en-GB" sz="1400" i="1" noProof="0">
                        <a:latin typeface="Cambria Math" panose="02040503050406030204" pitchFamily="18" charset="0"/>
                      </a:rPr>
                      <m:t>𝑏</m:t>
                    </m:r>
                    <m:r>
                      <a:rPr lang="en-GB" sz="1400" i="1" noProof="0">
                        <a:latin typeface="Cambria Math" panose="02040503050406030204" pitchFamily="18" charset="0"/>
                      </a:rPr>
                      <m:t>?</m:t>
                    </m:r>
                  </m:oMath>
                </a14:m>
                <a:endParaRPr lang="en-GB" sz="1400" noProof="0" dirty="0"/>
              </a:p>
              <a:p>
                <a:pPr marL="342900" indent="-342900">
                  <a:buFont typeface="+mj-lt"/>
                  <a:buAutoNum type="alphaLcParenR"/>
                </a:pPr>
                <a:r>
                  <a:rPr lang="en-GB" sz="1400" noProof="0" dirty="0"/>
                  <a:t>If </a:t>
                </a:r>
                <a14:m>
                  <m:oMath xmlns:m="http://schemas.openxmlformats.org/officeDocument/2006/math">
                    <m:r>
                      <a:rPr lang="en-GB" sz="1400" i="1" noProof="0">
                        <a:latin typeface="Cambria Math" panose="02040503050406030204" pitchFamily="18" charset="0"/>
                      </a:rPr>
                      <m:t>4</m:t>
                    </m:r>
                    <m:d>
                      <m:dPr>
                        <m:ctrlPr>
                          <a:rPr lang="en-GB" sz="1400" i="1" noProof="0" smtClean="0">
                            <a:latin typeface="Cambria Math" panose="02040503050406030204" pitchFamily="18" charset="0"/>
                          </a:rPr>
                        </m:ctrlPr>
                      </m:dPr>
                      <m:e>
                        <m:r>
                          <a:rPr lang="en-GB" sz="1400" i="1" noProof="0">
                            <a:latin typeface="Cambria Math" panose="02040503050406030204" pitchFamily="18" charset="0"/>
                          </a:rPr>
                          <m:t>𝑥</m:t>
                        </m:r>
                        <m:r>
                          <a:rPr lang="en-GB" sz="1400" i="1" noProof="0">
                            <a:latin typeface="Cambria Math" panose="02040503050406030204" pitchFamily="18" charset="0"/>
                          </a:rPr>
                          <m:t>+4</m:t>
                        </m:r>
                      </m:e>
                    </m:d>
                    <m:r>
                      <a:rPr lang="en-GB" sz="1400" i="1" noProof="0">
                        <a:latin typeface="Cambria Math" panose="02040503050406030204" pitchFamily="18" charset="0"/>
                      </a:rPr>
                      <m:t>+5</m:t>
                    </m:r>
                    <m:d>
                      <m:dPr>
                        <m:ctrlPr>
                          <a:rPr lang="en-GB" sz="1400" i="1" noProof="0" smtClean="0">
                            <a:latin typeface="Cambria Math" panose="02040503050406030204" pitchFamily="18" charset="0"/>
                          </a:rPr>
                        </m:ctrlPr>
                      </m:dPr>
                      <m:e>
                        <m:r>
                          <a:rPr lang="en-GB" sz="1400" i="1" noProof="0">
                            <a:latin typeface="Cambria Math" panose="02040503050406030204" pitchFamily="18" charset="0"/>
                          </a:rPr>
                          <m:t>𝑥</m:t>
                        </m:r>
                        <m:r>
                          <a:rPr lang="en-GB" sz="1400" i="1" noProof="0">
                            <a:latin typeface="Cambria Math" panose="02040503050406030204" pitchFamily="18" charset="0"/>
                          </a:rPr>
                          <m:t>+1</m:t>
                        </m:r>
                      </m:e>
                    </m:d>
                  </m:oMath>
                </a14:m>
                <a:r>
                  <a:rPr lang="en-GB" sz="1400" noProof="0" dirty="0"/>
                  <a:t> in the form </a:t>
                </a:r>
                <a14:m>
                  <m:oMath xmlns:m="http://schemas.openxmlformats.org/officeDocument/2006/math">
                    <m:r>
                      <a:rPr lang="en-GB" sz="1400" i="1" noProof="0">
                        <a:latin typeface="Cambria Math" panose="02040503050406030204" pitchFamily="18" charset="0"/>
                      </a:rPr>
                      <m:t>𝑎</m:t>
                    </m:r>
                    <m:r>
                      <a:rPr lang="en-GB" sz="1400" i="1" noProof="0">
                        <a:latin typeface="Cambria Math" panose="02040503050406030204" pitchFamily="18" charset="0"/>
                      </a:rPr>
                      <m:t>(</m:t>
                    </m:r>
                    <m:r>
                      <a:rPr lang="en-GB" sz="1400" i="1" noProof="0">
                        <a:latin typeface="Cambria Math" panose="02040503050406030204" pitchFamily="18" charset="0"/>
                      </a:rPr>
                      <m:t>𝑏𝑥</m:t>
                    </m:r>
                    <m:r>
                      <a:rPr lang="en-GB" sz="1400" i="1" noProof="0">
                        <a:latin typeface="Cambria Math" panose="02040503050406030204" pitchFamily="18" charset="0"/>
                      </a:rPr>
                      <m:t>+</m:t>
                    </m:r>
                    <m:r>
                      <a:rPr lang="en-GB" sz="1400" i="1" noProof="0">
                        <a:latin typeface="Cambria Math" panose="02040503050406030204" pitchFamily="18" charset="0"/>
                      </a:rPr>
                      <m:t>𝑐</m:t>
                    </m:r>
                    <m:r>
                      <a:rPr lang="en-GB" sz="1400" i="1" noProof="0">
                        <a:latin typeface="Cambria Math" panose="02040503050406030204" pitchFamily="18" charset="0"/>
                      </a:rPr>
                      <m:t>)</m:t>
                    </m:r>
                  </m:oMath>
                </a14:m>
                <a:r>
                  <a:rPr lang="en-GB" sz="1400" noProof="0" dirty="0"/>
                  <a:t>?</a:t>
                </a:r>
              </a:p>
              <a:p>
                <a:endParaRPr lang="en-GB" sz="1200" noProof="0" dirty="0"/>
              </a:p>
            </p:txBody>
          </p:sp>
        </mc:Choice>
        <mc:Fallback xmlns="">
          <p:sp>
            <p:nvSpPr>
              <p:cNvPr id="4" name="TextBox 3">
                <a:extLst>
                  <a:ext uri="{FF2B5EF4-FFF2-40B4-BE49-F238E27FC236}">
                    <a16:creationId xmlns:a16="http://schemas.microsoft.com/office/drawing/2014/main" id="{F4B39EE9-AA91-A0FE-A380-8DEA9626ADC3}"/>
                  </a:ext>
                </a:extLst>
              </p:cNvPr>
              <p:cNvSpPr txBox="1">
                <a:spLocks noRot="1" noChangeAspect="1" noMove="1" noResize="1" noEditPoints="1" noAdjustHandles="1" noChangeArrowheads="1" noChangeShapeType="1" noTextEdit="1"/>
              </p:cNvSpPr>
              <p:nvPr/>
            </p:nvSpPr>
            <p:spPr>
              <a:xfrm>
                <a:off x="101600" y="276999"/>
                <a:ext cx="6565900" cy="4229556"/>
              </a:xfrm>
              <a:prstGeom prst="rect">
                <a:avLst/>
              </a:prstGeom>
              <a:blipFill>
                <a:blip r:embed="rId3"/>
                <a:stretch>
                  <a:fillRect l="-278"/>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8841FE5-FE64-9193-C440-2F985BB4901A}"/>
                  </a:ext>
                </a:extLst>
              </p:cNvPr>
              <p:cNvGraphicFramePr>
                <a:graphicFrameLocks noGrp="1"/>
              </p:cNvGraphicFramePr>
              <p:nvPr>
                <p:extLst>
                  <p:ext uri="{D42A27DB-BD31-4B8C-83A1-F6EECF244321}">
                    <p14:modId xmlns:p14="http://schemas.microsoft.com/office/powerpoint/2010/main" val="3166796245"/>
                  </p:ext>
                </p:extLst>
              </p:nvPr>
            </p:nvGraphicFramePr>
            <p:xfrm>
              <a:off x="101600" y="4783555"/>
              <a:ext cx="6565899" cy="2381999"/>
            </p:xfrm>
            <a:graphic>
              <a:graphicData uri="http://schemas.openxmlformats.org/drawingml/2006/table">
                <a:tbl>
                  <a:tblPr firstRow="1" bandRow="1">
                    <a:tableStyleId>{5C22544A-7EE6-4342-B048-85BDC9FD1C3A}</a:tableStyleId>
                  </a:tblPr>
                  <a:tblGrid>
                    <a:gridCol w="1029430">
                      <a:extLst>
                        <a:ext uri="{9D8B030D-6E8A-4147-A177-3AD203B41FA5}">
                          <a16:colId xmlns:a16="http://schemas.microsoft.com/office/drawing/2014/main" val="1568142362"/>
                        </a:ext>
                      </a:extLst>
                    </a:gridCol>
                    <a:gridCol w="1743866">
                      <a:extLst>
                        <a:ext uri="{9D8B030D-6E8A-4147-A177-3AD203B41FA5}">
                          <a16:colId xmlns:a16="http://schemas.microsoft.com/office/drawing/2014/main" val="3551711160"/>
                        </a:ext>
                      </a:extLst>
                    </a:gridCol>
                    <a:gridCol w="1952204">
                      <a:extLst>
                        <a:ext uri="{9D8B030D-6E8A-4147-A177-3AD203B41FA5}">
                          <a16:colId xmlns:a16="http://schemas.microsoft.com/office/drawing/2014/main" val="925597041"/>
                        </a:ext>
                      </a:extLst>
                    </a:gridCol>
                    <a:gridCol w="1840399">
                      <a:extLst>
                        <a:ext uri="{9D8B030D-6E8A-4147-A177-3AD203B41FA5}">
                          <a16:colId xmlns:a16="http://schemas.microsoft.com/office/drawing/2014/main" val="4095172789"/>
                        </a:ext>
                      </a:extLst>
                    </a:gridCol>
                  </a:tblGrid>
                  <a:tr h="519848">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kern="1200" noProof="0" dirty="0">
                              <a:solidFill>
                                <a:schemeClr val="tx1"/>
                              </a:solidFill>
                              <a:effectLst/>
                              <a:latin typeface="+mn-lt"/>
                              <a:ea typeface="+mn-ea"/>
                              <a:cs typeface="+mn-cs"/>
                            </a:rPr>
                            <a:t>Express </a:t>
                          </a:r>
                          <a14:m>
                            <m:oMath xmlns:m="http://schemas.openxmlformats.org/officeDocument/2006/math">
                              <m:r>
                                <a:rPr lang="en-GB" sz="1200" b="0" i="1" kern="1200" noProof="0">
                                  <a:solidFill>
                                    <a:schemeClr val="tx1"/>
                                  </a:solidFill>
                                  <a:effectLst/>
                                  <a:latin typeface="Cambria Math" panose="02040503050406030204" pitchFamily="18" charset="0"/>
                                  <a:ea typeface="+mn-ea"/>
                                  <a:cs typeface="+mn-cs"/>
                                </a:rPr>
                                <m:t>6(2</m:t>
                              </m:r>
                              <m:r>
                                <a:rPr lang="en-GB" sz="1200" b="0" i="1" kern="1200" noProof="0">
                                  <a:solidFill>
                                    <a:schemeClr val="tx1"/>
                                  </a:solidFill>
                                  <a:effectLst/>
                                  <a:latin typeface="Cambria Math" panose="02040503050406030204" pitchFamily="18" charset="0"/>
                                  <a:ea typeface="+mn-ea"/>
                                  <a:cs typeface="+mn-cs"/>
                                </a:rPr>
                                <m:t>𝑥</m:t>
                              </m:r>
                              <m:r>
                                <a:rPr lang="en-GB" sz="1200" b="0" i="1" kern="1200" noProof="0">
                                  <a:solidFill>
                                    <a:schemeClr val="tx1"/>
                                  </a:solidFill>
                                  <a:effectLst/>
                                  <a:latin typeface="Cambria Math" panose="02040503050406030204" pitchFamily="18" charset="0"/>
                                  <a:ea typeface="+mn-ea"/>
                                  <a:cs typeface="+mn-cs"/>
                                </a:rPr>
                                <m:t>−3)</m:t>
                              </m:r>
                            </m:oMath>
                          </a14:m>
                          <a:r>
                            <a:rPr lang="en-GB" sz="1200" b="0" kern="1200" noProof="0" dirty="0">
                              <a:solidFill>
                                <a:schemeClr val="tx1"/>
                              </a:solidFill>
                              <a:effectLst/>
                              <a:latin typeface="+mn-lt"/>
                              <a:ea typeface="+mn-ea"/>
                              <a:cs typeface="+mn-cs"/>
                            </a:rPr>
                            <a:t> in the form </a:t>
                          </a:r>
                          <a14:m>
                            <m:oMath xmlns:m="http://schemas.openxmlformats.org/officeDocument/2006/math">
                              <m:r>
                                <a:rPr lang="en-GB" sz="1200" b="0" i="1" kern="1200" noProof="0">
                                  <a:solidFill>
                                    <a:schemeClr val="tx1"/>
                                  </a:solidFill>
                                  <a:effectLst/>
                                  <a:latin typeface="Cambria Math" panose="02040503050406030204" pitchFamily="18" charset="0"/>
                                  <a:ea typeface="+mn-ea"/>
                                  <a:cs typeface="+mn-cs"/>
                                </a:rPr>
                                <m:t>𝑎𝑥</m:t>
                              </m:r>
                              <m:r>
                                <a:rPr lang="en-GB" sz="1200" b="0" i="1" kern="1200" noProof="0">
                                  <a:solidFill>
                                    <a:schemeClr val="tx1"/>
                                  </a:solidFill>
                                  <a:effectLst/>
                                  <a:latin typeface="Cambria Math" panose="02040503050406030204" pitchFamily="18" charset="0"/>
                                  <a:ea typeface="+mn-ea"/>
                                  <a:cs typeface="+mn-cs"/>
                                </a:rPr>
                                <m:t>+</m:t>
                              </m:r>
                              <m:r>
                                <a:rPr lang="en-GB" sz="1200" b="0" i="1" kern="1200" noProof="0">
                                  <a:solidFill>
                                    <a:schemeClr val="tx1"/>
                                  </a:solidFill>
                                  <a:effectLst/>
                                  <a:latin typeface="Cambria Math" panose="02040503050406030204" pitchFamily="18" charset="0"/>
                                  <a:ea typeface="+mn-ea"/>
                                  <a:cs typeface="+mn-cs"/>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kern="1200" noProof="0" dirty="0">
                              <a:solidFill>
                                <a:schemeClr val="tx1"/>
                              </a:solidFill>
                              <a:effectLst/>
                              <a:latin typeface="+mn-lt"/>
                              <a:ea typeface="+mn-ea"/>
                              <a:cs typeface="+mn-cs"/>
                            </a:rPr>
                            <a:t>Express:</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kern="1200" noProof="0" dirty="0">
                              <a:solidFill>
                                <a:schemeClr val="tx1"/>
                              </a:solidFill>
                              <a:effectLst/>
                              <a:latin typeface="+mn-lt"/>
                              <a:ea typeface="+mn-ea"/>
                              <a:cs typeface="+mn-cs"/>
                            </a:rPr>
                            <a:t> </a:t>
                          </a:r>
                          <a14:m>
                            <m:oMath xmlns:m="http://schemas.openxmlformats.org/officeDocument/2006/math">
                              <m:r>
                                <a:rPr lang="en-GB" sz="1200" b="0" i="1" kern="1200" noProof="0">
                                  <a:solidFill>
                                    <a:schemeClr val="tx1"/>
                                  </a:solidFill>
                                  <a:effectLst/>
                                  <a:latin typeface="Cambria Math" panose="02040503050406030204" pitchFamily="18" charset="0"/>
                                  <a:ea typeface="+mn-ea"/>
                                  <a:cs typeface="+mn-cs"/>
                                </a:rPr>
                                <m:t>3</m:t>
                              </m:r>
                              <m:d>
                                <m:dPr>
                                  <m:ctrlPr>
                                    <a:rPr lang="en-GB" sz="1200" b="0" i="1" kern="1200" noProof="0" smtClean="0">
                                      <a:solidFill>
                                        <a:schemeClr val="tx1"/>
                                      </a:solidFill>
                                      <a:effectLst/>
                                      <a:latin typeface="Cambria Math" panose="02040503050406030204" pitchFamily="18" charset="0"/>
                                      <a:ea typeface="+mn-ea"/>
                                      <a:cs typeface="+mn-cs"/>
                                    </a:rPr>
                                  </m:ctrlPr>
                                </m:dPr>
                                <m:e>
                                  <m:r>
                                    <a:rPr lang="en-GB" sz="1200" b="0" i="1" kern="1200" noProof="0">
                                      <a:solidFill>
                                        <a:schemeClr val="tx1"/>
                                      </a:solidFill>
                                      <a:effectLst/>
                                      <a:latin typeface="Cambria Math" panose="02040503050406030204" pitchFamily="18" charset="0"/>
                                      <a:ea typeface="+mn-ea"/>
                                      <a:cs typeface="+mn-cs"/>
                                    </a:rPr>
                                    <m:t>𝑥</m:t>
                                  </m:r>
                                  <m:r>
                                    <a:rPr lang="en-GB" sz="1200" b="0" i="1" kern="1200" noProof="0">
                                      <a:solidFill>
                                        <a:schemeClr val="tx1"/>
                                      </a:solidFill>
                                      <a:effectLst/>
                                      <a:latin typeface="Cambria Math" panose="02040503050406030204" pitchFamily="18" charset="0"/>
                                      <a:ea typeface="+mn-ea"/>
                                      <a:cs typeface="+mn-cs"/>
                                    </a:rPr>
                                    <m:t>+2</m:t>
                                  </m:r>
                                </m:e>
                              </m:d>
                              <m:r>
                                <a:rPr lang="en-GB" sz="1200" b="0" i="1" kern="1200" noProof="0">
                                  <a:solidFill>
                                    <a:schemeClr val="tx1"/>
                                  </a:solidFill>
                                  <a:effectLst/>
                                  <a:latin typeface="Cambria Math" panose="02040503050406030204" pitchFamily="18" charset="0"/>
                                  <a:ea typeface="+mn-ea"/>
                                  <a:cs typeface="+mn-cs"/>
                                </a:rPr>
                                <m:t>+6(3</m:t>
                              </m:r>
                              <m:r>
                                <a:rPr lang="en-GB" sz="1200" b="0" i="1" kern="1200" noProof="0">
                                  <a:solidFill>
                                    <a:schemeClr val="tx1"/>
                                  </a:solidFill>
                                  <a:effectLst/>
                                  <a:latin typeface="Cambria Math" panose="02040503050406030204" pitchFamily="18" charset="0"/>
                                  <a:ea typeface="+mn-ea"/>
                                  <a:cs typeface="+mn-cs"/>
                                </a:rPr>
                                <m:t>𝑥</m:t>
                              </m:r>
                              <m:r>
                                <a:rPr lang="en-GB" sz="1200" b="0" i="1" kern="1200" noProof="0">
                                  <a:solidFill>
                                    <a:schemeClr val="tx1"/>
                                  </a:solidFill>
                                  <a:effectLst/>
                                  <a:latin typeface="Cambria Math" panose="02040503050406030204" pitchFamily="18" charset="0"/>
                                  <a:ea typeface="+mn-ea"/>
                                  <a:cs typeface="+mn-cs"/>
                                </a:rPr>
                                <m:t>+5)</m:t>
                              </m:r>
                            </m:oMath>
                          </a14:m>
                          <a:r>
                            <a:rPr lang="en-GB" sz="1200" b="0" kern="1200" noProof="0" dirty="0">
                              <a:solidFill>
                                <a:schemeClr val="tx1"/>
                              </a:solidFill>
                              <a:effectLst/>
                              <a:latin typeface="+mn-lt"/>
                              <a:ea typeface="+mn-ea"/>
                              <a:cs typeface="+mn-cs"/>
                            </a:rPr>
                            <a:t> in the form </a:t>
                          </a:r>
                          <a14:m>
                            <m:oMath xmlns:m="http://schemas.openxmlformats.org/officeDocument/2006/math">
                              <m:r>
                                <a:rPr lang="en-GB" sz="1200" b="0" i="1" kern="1200" noProof="0">
                                  <a:solidFill>
                                    <a:schemeClr val="tx1"/>
                                  </a:solidFill>
                                  <a:effectLst/>
                                  <a:latin typeface="Cambria Math" panose="02040503050406030204" pitchFamily="18" charset="0"/>
                                  <a:ea typeface="+mn-ea"/>
                                  <a:cs typeface="+mn-cs"/>
                                </a:rPr>
                                <m:t>𝑎</m:t>
                              </m:r>
                              <m:r>
                                <a:rPr lang="en-GB" sz="1200" b="0" i="1" kern="1200" noProof="0">
                                  <a:solidFill>
                                    <a:schemeClr val="tx1"/>
                                  </a:solidFill>
                                  <a:effectLst/>
                                  <a:latin typeface="Cambria Math" panose="02040503050406030204" pitchFamily="18" charset="0"/>
                                  <a:ea typeface="+mn-ea"/>
                                  <a:cs typeface="+mn-cs"/>
                                </a:rPr>
                                <m:t>(</m:t>
                              </m:r>
                              <m:r>
                                <a:rPr lang="en-GB" sz="1200" b="0" i="1" kern="1200" noProof="0">
                                  <a:solidFill>
                                    <a:schemeClr val="tx1"/>
                                  </a:solidFill>
                                  <a:effectLst/>
                                  <a:latin typeface="Cambria Math" panose="02040503050406030204" pitchFamily="18" charset="0"/>
                                  <a:ea typeface="+mn-ea"/>
                                  <a:cs typeface="+mn-cs"/>
                                </a:rPr>
                                <m:t>𝑏𝑥</m:t>
                              </m:r>
                              <m:r>
                                <a:rPr lang="en-GB" sz="1200" b="0" i="1" kern="1200" noProof="0">
                                  <a:solidFill>
                                    <a:schemeClr val="tx1"/>
                                  </a:solidFill>
                                  <a:effectLst/>
                                  <a:latin typeface="Cambria Math" panose="02040503050406030204" pitchFamily="18" charset="0"/>
                                  <a:ea typeface="+mn-ea"/>
                                  <a:cs typeface="+mn-cs"/>
                                </a:rPr>
                                <m:t>+</m:t>
                              </m:r>
                              <m:r>
                                <a:rPr lang="en-GB" sz="1200" b="0" i="1" kern="1200" noProof="0">
                                  <a:solidFill>
                                    <a:schemeClr val="tx1"/>
                                  </a:solidFill>
                                  <a:effectLst/>
                                  <a:latin typeface="Cambria Math" panose="02040503050406030204" pitchFamily="18" charset="0"/>
                                  <a:ea typeface="+mn-ea"/>
                                  <a:cs typeface="+mn-cs"/>
                                </a:rPr>
                                <m:t>𝑐</m:t>
                              </m:r>
                              <m:r>
                                <a:rPr lang="en-GB" sz="1200" b="0" i="1" kern="1200" noProof="0">
                                  <a:solidFill>
                                    <a:schemeClr val="tx1"/>
                                  </a:solidFill>
                                  <a:effectLst/>
                                  <a:latin typeface="Cambria Math" panose="02040503050406030204" pitchFamily="18" charset="0"/>
                                  <a:ea typeface="+mn-ea"/>
                                  <a:cs typeface="+mn-cs"/>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kern="1200" noProof="0" dirty="0">
                              <a:solidFill>
                                <a:schemeClr val="tx1"/>
                              </a:solidFill>
                              <a:effectLst/>
                              <a:latin typeface="+mn-lt"/>
                              <a:ea typeface="+mn-ea"/>
                              <a:cs typeface="+mn-cs"/>
                            </a:rPr>
                            <a:t>Express </a:t>
                          </a:r>
                          <a14:m>
                            <m:oMath xmlns:m="http://schemas.openxmlformats.org/officeDocument/2006/math">
                              <m:r>
                                <a:rPr lang="en-GB" sz="1200" b="0" i="1" kern="1200" noProof="0">
                                  <a:solidFill>
                                    <a:schemeClr val="tx1"/>
                                  </a:solidFill>
                                  <a:effectLst/>
                                  <a:latin typeface="Cambria Math" panose="02040503050406030204" pitchFamily="18" charset="0"/>
                                  <a:ea typeface="+mn-ea"/>
                                  <a:cs typeface="+mn-cs"/>
                                </a:rPr>
                                <m:t>12</m:t>
                              </m:r>
                              <m:sSup>
                                <m:sSupPr>
                                  <m:ctrlPr>
                                    <a:rPr lang="en-GB" sz="1200" b="0" i="1" kern="1200" noProof="0" smtClean="0">
                                      <a:solidFill>
                                        <a:schemeClr val="tx1"/>
                                      </a:solidFill>
                                      <a:effectLst/>
                                      <a:latin typeface="Cambria Math" panose="02040503050406030204" pitchFamily="18" charset="0"/>
                                      <a:ea typeface="+mn-ea"/>
                                      <a:cs typeface="+mn-cs"/>
                                    </a:rPr>
                                  </m:ctrlPr>
                                </m:sSupPr>
                                <m:e>
                                  <m:r>
                                    <a:rPr lang="en-GB" sz="1200" b="0" i="1" kern="1200" noProof="0">
                                      <a:solidFill>
                                        <a:schemeClr val="tx1"/>
                                      </a:solidFill>
                                      <a:effectLst/>
                                      <a:latin typeface="Cambria Math" panose="02040503050406030204" pitchFamily="18" charset="0"/>
                                      <a:ea typeface="+mn-ea"/>
                                      <a:cs typeface="+mn-cs"/>
                                    </a:rPr>
                                    <m:t>𝑥</m:t>
                                  </m:r>
                                </m:e>
                                <m:sup>
                                  <m:r>
                                    <a:rPr lang="en-GB" sz="1200" b="0" i="1" kern="1200" noProof="0">
                                      <a:solidFill>
                                        <a:schemeClr val="tx1"/>
                                      </a:solidFill>
                                      <a:effectLst/>
                                      <a:latin typeface="Cambria Math" panose="02040503050406030204" pitchFamily="18" charset="0"/>
                                      <a:ea typeface="+mn-ea"/>
                                      <a:cs typeface="+mn-cs"/>
                                    </a:rPr>
                                    <m:t>2</m:t>
                                  </m:r>
                                </m:sup>
                              </m:sSup>
                              <m:r>
                                <a:rPr lang="en-GB" sz="1200" b="0" i="1" kern="1200" noProof="0">
                                  <a:solidFill>
                                    <a:schemeClr val="tx1"/>
                                  </a:solidFill>
                                  <a:effectLst/>
                                  <a:latin typeface="Cambria Math" panose="02040503050406030204" pitchFamily="18" charset="0"/>
                                  <a:ea typeface="+mn-ea"/>
                                  <a:cs typeface="+mn-cs"/>
                                </a:rPr>
                                <m:t>−18</m:t>
                              </m:r>
                              <m:sSup>
                                <m:sSupPr>
                                  <m:ctrlPr>
                                    <a:rPr lang="en-GB" sz="1200" b="0" i="1" kern="1200" noProof="0" smtClean="0">
                                      <a:solidFill>
                                        <a:schemeClr val="tx1"/>
                                      </a:solidFill>
                                      <a:effectLst/>
                                      <a:latin typeface="Cambria Math" panose="02040503050406030204" pitchFamily="18" charset="0"/>
                                      <a:ea typeface="+mn-ea"/>
                                      <a:cs typeface="+mn-cs"/>
                                    </a:rPr>
                                  </m:ctrlPr>
                                </m:sSupPr>
                                <m:e>
                                  <m:r>
                                    <a:rPr lang="en-GB" sz="1200" b="0" i="1" kern="1200" noProof="0">
                                      <a:solidFill>
                                        <a:schemeClr val="tx1"/>
                                      </a:solidFill>
                                      <a:effectLst/>
                                      <a:latin typeface="Cambria Math" panose="02040503050406030204" pitchFamily="18" charset="0"/>
                                      <a:ea typeface="+mn-ea"/>
                                      <a:cs typeface="+mn-cs"/>
                                    </a:rPr>
                                    <m:t>𝑥</m:t>
                                  </m:r>
                                </m:e>
                                <m:sup>
                                  <m:r>
                                    <a:rPr lang="en-GB" sz="1200" b="0" i="1" kern="1200" noProof="0">
                                      <a:solidFill>
                                        <a:schemeClr val="tx1"/>
                                      </a:solidFill>
                                      <a:effectLst/>
                                      <a:latin typeface="Cambria Math" panose="02040503050406030204" pitchFamily="18" charset="0"/>
                                      <a:ea typeface="+mn-ea"/>
                                      <a:cs typeface="+mn-cs"/>
                                    </a:rPr>
                                    <m:t>5</m:t>
                                  </m:r>
                                </m:sup>
                              </m:sSup>
                            </m:oMath>
                          </a14:m>
                          <a:r>
                            <a:rPr lang="en-GB" sz="1200" b="0" kern="1200" noProof="0" dirty="0">
                              <a:solidFill>
                                <a:schemeClr val="tx1"/>
                              </a:solidFill>
                              <a:effectLst/>
                              <a:latin typeface="+mn-lt"/>
                              <a:ea typeface="+mn-ea"/>
                              <a:cs typeface="+mn-cs"/>
                            </a:rPr>
                            <a:t> in the form </a:t>
                          </a:r>
                          <a14:m>
                            <m:oMath xmlns:m="http://schemas.openxmlformats.org/officeDocument/2006/math">
                              <m:r>
                                <a:rPr lang="en-GB" sz="1200" b="0" i="1" kern="1200" noProof="0">
                                  <a:solidFill>
                                    <a:schemeClr val="tx1"/>
                                  </a:solidFill>
                                  <a:effectLst/>
                                  <a:latin typeface="Cambria Math" panose="02040503050406030204" pitchFamily="18" charset="0"/>
                                  <a:ea typeface="+mn-ea"/>
                                  <a:cs typeface="+mn-cs"/>
                                </a:rPr>
                                <m:t>𝑎</m:t>
                              </m:r>
                              <m:sSup>
                                <m:sSupPr>
                                  <m:ctrlPr>
                                    <a:rPr lang="en-GB" sz="1200" b="0" i="1" kern="1200" noProof="0" smtClean="0">
                                      <a:solidFill>
                                        <a:schemeClr val="tx1"/>
                                      </a:solidFill>
                                      <a:effectLst/>
                                      <a:latin typeface="Cambria Math" panose="02040503050406030204" pitchFamily="18" charset="0"/>
                                      <a:ea typeface="+mn-ea"/>
                                      <a:cs typeface="+mn-cs"/>
                                    </a:rPr>
                                  </m:ctrlPr>
                                </m:sSupPr>
                                <m:e>
                                  <m:r>
                                    <a:rPr lang="en-GB" sz="1200" b="0" i="1" kern="1200" noProof="0">
                                      <a:solidFill>
                                        <a:schemeClr val="tx1"/>
                                      </a:solidFill>
                                      <a:effectLst/>
                                      <a:latin typeface="Cambria Math" panose="02040503050406030204" pitchFamily="18" charset="0"/>
                                      <a:ea typeface="+mn-ea"/>
                                      <a:cs typeface="+mn-cs"/>
                                    </a:rPr>
                                    <m:t>𝑥</m:t>
                                  </m:r>
                                </m:e>
                                <m:sup>
                                  <m:r>
                                    <a:rPr lang="en-GB" sz="1200" b="0" i="1" kern="1200" noProof="0">
                                      <a:solidFill>
                                        <a:schemeClr val="tx1"/>
                                      </a:solidFill>
                                      <a:effectLst/>
                                      <a:latin typeface="Cambria Math" panose="02040503050406030204" pitchFamily="18" charset="0"/>
                                      <a:ea typeface="+mn-ea"/>
                                      <a:cs typeface="+mn-cs"/>
                                    </a:rPr>
                                    <m:t>2</m:t>
                                  </m:r>
                                </m:sup>
                              </m:sSup>
                              <m:r>
                                <a:rPr lang="en-GB" sz="1200" b="0" i="1" kern="1200" noProof="0">
                                  <a:solidFill>
                                    <a:schemeClr val="tx1"/>
                                  </a:solidFill>
                                  <a:effectLst/>
                                  <a:latin typeface="Cambria Math" panose="02040503050406030204" pitchFamily="18" charset="0"/>
                                  <a:ea typeface="+mn-ea"/>
                                  <a:cs typeface="+mn-cs"/>
                                </a:rPr>
                                <m:t>(</m:t>
                              </m:r>
                              <m:r>
                                <a:rPr lang="en-GB" sz="1200" b="0" i="1" kern="1200" noProof="0">
                                  <a:solidFill>
                                    <a:schemeClr val="tx1"/>
                                  </a:solidFill>
                                  <a:effectLst/>
                                  <a:latin typeface="Cambria Math" panose="02040503050406030204" pitchFamily="18" charset="0"/>
                                  <a:ea typeface="+mn-ea"/>
                                  <a:cs typeface="+mn-cs"/>
                                </a:rPr>
                                <m:t>𝑏</m:t>
                              </m:r>
                              <m:r>
                                <a:rPr lang="en-GB" sz="1200" b="0" i="1" kern="1200" noProof="0">
                                  <a:solidFill>
                                    <a:schemeClr val="tx1"/>
                                  </a:solidFill>
                                  <a:effectLst/>
                                  <a:latin typeface="Cambria Math" panose="02040503050406030204" pitchFamily="18" charset="0"/>
                                  <a:ea typeface="+mn-ea"/>
                                  <a:cs typeface="+mn-cs"/>
                                </a:rPr>
                                <m:t>+</m:t>
                              </m:r>
                              <m:r>
                                <a:rPr lang="en-GB" sz="1200" b="0" i="1" kern="1200" noProof="0">
                                  <a:solidFill>
                                    <a:schemeClr val="tx1"/>
                                  </a:solidFill>
                                  <a:effectLst/>
                                  <a:latin typeface="Cambria Math" panose="02040503050406030204" pitchFamily="18" charset="0"/>
                                  <a:ea typeface="+mn-ea"/>
                                  <a:cs typeface="+mn-cs"/>
                                </a:rPr>
                                <m:t>𝑐</m:t>
                              </m:r>
                              <m:sSup>
                                <m:sSupPr>
                                  <m:ctrlPr>
                                    <a:rPr lang="en-GB" sz="1200" b="0" i="1" kern="1200" noProof="0" smtClean="0">
                                      <a:solidFill>
                                        <a:schemeClr val="tx1"/>
                                      </a:solidFill>
                                      <a:effectLst/>
                                      <a:latin typeface="Cambria Math" panose="02040503050406030204" pitchFamily="18" charset="0"/>
                                      <a:ea typeface="+mn-ea"/>
                                      <a:cs typeface="+mn-cs"/>
                                    </a:rPr>
                                  </m:ctrlPr>
                                </m:sSupPr>
                                <m:e>
                                  <m:r>
                                    <a:rPr lang="en-GB" sz="1200" b="0" i="1" kern="1200" noProof="0">
                                      <a:solidFill>
                                        <a:schemeClr val="tx1"/>
                                      </a:solidFill>
                                      <a:effectLst/>
                                      <a:latin typeface="Cambria Math" panose="02040503050406030204" pitchFamily="18" charset="0"/>
                                      <a:ea typeface="+mn-ea"/>
                                      <a:cs typeface="+mn-cs"/>
                                    </a:rPr>
                                    <m:t>𝑥</m:t>
                                  </m:r>
                                </m:e>
                                <m:sup>
                                  <m:r>
                                    <a:rPr lang="en-GB" sz="1200" b="0" i="1" kern="1200" noProof="0">
                                      <a:solidFill>
                                        <a:schemeClr val="tx1"/>
                                      </a:solidFill>
                                      <a:effectLst/>
                                      <a:latin typeface="Cambria Math" panose="02040503050406030204" pitchFamily="18" charset="0"/>
                                      <a:ea typeface="+mn-ea"/>
                                      <a:cs typeface="+mn-cs"/>
                                    </a:rPr>
                                    <m:t>3</m:t>
                                  </m:r>
                                </m:sup>
                              </m:sSup>
                              <m:r>
                                <a:rPr lang="en-GB" sz="1200" b="0" i="1" kern="1200" noProof="0">
                                  <a:solidFill>
                                    <a:schemeClr val="tx1"/>
                                  </a:solidFill>
                                  <a:effectLst/>
                                  <a:latin typeface="Cambria Math" panose="02040503050406030204" pitchFamily="18" charset="0"/>
                                  <a:ea typeface="+mn-ea"/>
                                  <a:cs typeface="+mn-cs"/>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12279">
                    <a:tc>
                      <a:txBody>
                        <a:bodyPr/>
                        <a:lstStyle/>
                        <a:p>
                          <a:r>
                            <a:rPr lang="en-GB" sz="1100" noProof="0" dirty="0">
                              <a:solidFill>
                                <a:schemeClr val="tx1"/>
                              </a:solidFill>
                            </a:rPr>
                            <a:t>1) Expand and collect like terms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55018">
                    <a:tc>
                      <a:txBody>
                        <a:bodyPr/>
                        <a:lstStyle/>
                        <a:p>
                          <a:r>
                            <a:rPr lang="en-GB" sz="1100" noProof="0" dirty="0">
                              <a:solidFill>
                                <a:schemeClr val="tx1"/>
                              </a:solidFill>
                            </a:rPr>
                            <a:t>2) Check the required form and you may need to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GB"/>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44271317"/>
                      </a:ext>
                    </a:extLst>
                  </a:tr>
                </a:tbl>
              </a:graphicData>
            </a:graphic>
          </p:graphicFrame>
        </mc:Choice>
        <mc:Fallback xmlns="">
          <p:graphicFrame>
            <p:nvGraphicFramePr>
              <p:cNvPr id="5" name="Table 4">
                <a:extLst>
                  <a:ext uri="{FF2B5EF4-FFF2-40B4-BE49-F238E27FC236}">
                    <a16:creationId xmlns:a16="http://schemas.microsoft.com/office/drawing/2014/main" id="{E8841FE5-FE64-9193-C440-2F985BB4901A}"/>
                  </a:ext>
                </a:extLst>
              </p:cNvPr>
              <p:cNvGraphicFramePr>
                <a:graphicFrameLocks noGrp="1"/>
              </p:cNvGraphicFramePr>
              <p:nvPr>
                <p:extLst>
                  <p:ext uri="{D42A27DB-BD31-4B8C-83A1-F6EECF244321}">
                    <p14:modId xmlns:p14="http://schemas.microsoft.com/office/powerpoint/2010/main" val="3166796245"/>
                  </p:ext>
                </p:extLst>
              </p:nvPr>
            </p:nvGraphicFramePr>
            <p:xfrm>
              <a:off x="101600" y="4783555"/>
              <a:ext cx="6565899" cy="2381999"/>
            </p:xfrm>
            <a:graphic>
              <a:graphicData uri="http://schemas.openxmlformats.org/drawingml/2006/table">
                <a:tbl>
                  <a:tblPr firstRow="1" bandRow="1">
                    <a:tableStyleId>{5C22544A-7EE6-4342-B048-85BDC9FD1C3A}</a:tableStyleId>
                  </a:tblPr>
                  <a:tblGrid>
                    <a:gridCol w="1029430">
                      <a:extLst>
                        <a:ext uri="{9D8B030D-6E8A-4147-A177-3AD203B41FA5}">
                          <a16:colId xmlns:a16="http://schemas.microsoft.com/office/drawing/2014/main" val="1568142362"/>
                        </a:ext>
                      </a:extLst>
                    </a:gridCol>
                    <a:gridCol w="1743866">
                      <a:extLst>
                        <a:ext uri="{9D8B030D-6E8A-4147-A177-3AD203B41FA5}">
                          <a16:colId xmlns:a16="http://schemas.microsoft.com/office/drawing/2014/main" val="3551711160"/>
                        </a:ext>
                      </a:extLst>
                    </a:gridCol>
                    <a:gridCol w="1952204">
                      <a:extLst>
                        <a:ext uri="{9D8B030D-6E8A-4147-A177-3AD203B41FA5}">
                          <a16:colId xmlns:a16="http://schemas.microsoft.com/office/drawing/2014/main" val="925597041"/>
                        </a:ext>
                      </a:extLst>
                    </a:gridCol>
                    <a:gridCol w="1840399">
                      <a:extLst>
                        <a:ext uri="{9D8B030D-6E8A-4147-A177-3AD203B41FA5}">
                          <a16:colId xmlns:a16="http://schemas.microsoft.com/office/drawing/2014/main" val="4095172789"/>
                        </a:ext>
                      </a:extLst>
                    </a:gridCol>
                  </a:tblGrid>
                  <a:tr h="64008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9441" t="-952" r="-218531" b="-27904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2056" t="-952" r="-94704" b="-27904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57285" t="-952" r="-662" b="-279048"/>
                          </a:stretch>
                        </a:blipFill>
                      </a:tcPr>
                    </a:tc>
                    <a:extLst>
                      <a:ext uri="{0D108BD9-81ED-4DB2-BD59-A6C34878D82A}">
                        <a16:rowId xmlns:a16="http://schemas.microsoft.com/office/drawing/2014/main" val="2357201933"/>
                      </a:ext>
                    </a:extLst>
                  </a:tr>
                  <a:tr h="812279">
                    <a:tc>
                      <a:txBody>
                        <a:bodyPr/>
                        <a:lstStyle/>
                        <a:p>
                          <a:r>
                            <a:rPr lang="en-GB" sz="1100" noProof="0">
                              <a:solidFill>
                                <a:schemeClr val="tx1"/>
                              </a:solidFill>
                            </a:rPr>
                            <a:t>1) Expand and collect like terms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29640">
                    <a:tc>
                      <a:txBody>
                        <a:bodyPr/>
                        <a:lstStyle/>
                        <a:p>
                          <a:r>
                            <a:rPr lang="en-GB" sz="1100" noProof="0">
                              <a:solidFill>
                                <a:schemeClr val="tx1"/>
                              </a:solidFill>
                            </a:rPr>
                            <a:t>2) Check the required form and you may need to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GB"/>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44271317"/>
                      </a:ext>
                    </a:extLst>
                  </a:tr>
                </a:tbl>
              </a:graphicData>
            </a:graphic>
          </p:graphicFrame>
        </mc:Fallback>
      </mc:AlternateContent>
      <p:sp>
        <p:nvSpPr>
          <p:cNvPr id="6" name="TextBox 5">
            <a:extLst>
              <a:ext uri="{FF2B5EF4-FFF2-40B4-BE49-F238E27FC236}">
                <a16:creationId xmlns:a16="http://schemas.microsoft.com/office/drawing/2014/main" id="{ABB0F5F8-CB9D-DF89-F651-573560D51D14}"/>
              </a:ext>
            </a:extLst>
          </p:cNvPr>
          <p:cNvSpPr txBox="1"/>
          <p:nvPr/>
        </p:nvSpPr>
        <p:spPr>
          <a:xfrm>
            <a:off x="4853492" y="4506555"/>
            <a:ext cx="1517734" cy="276999"/>
          </a:xfrm>
          <a:prstGeom prst="rect">
            <a:avLst/>
          </a:prstGeom>
          <a:noFill/>
          <a:ln>
            <a:noFill/>
          </a:ln>
        </p:spPr>
        <p:txBody>
          <a:bodyPr wrap="squar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3 - You do…</a:t>
            </a:r>
          </a:p>
        </p:txBody>
      </p:sp>
      <p:sp>
        <p:nvSpPr>
          <p:cNvPr id="7" name="TextBox 6">
            <a:extLst>
              <a:ext uri="{FF2B5EF4-FFF2-40B4-BE49-F238E27FC236}">
                <a16:creationId xmlns:a16="http://schemas.microsoft.com/office/drawing/2014/main" id="{526B67B6-4416-2CCD-0566-2E5A0EC9F606}"/>
              </a:ext>
            </a:extLst>
          </p:cNvPr>
          <p:cNvSpPr txBox="1"/>
          <p:nvPr/>
        </p:nvSpPr>
        <p:spPr>
          <a:xfrm>
            <a:off x="3051789" y="4514183"/>
            <a:ext cx="1494425" cy="276999"/>
          </a:xfrm>
          <a:prstGeom prst="rect">
            <a:avLst/>
          </a:prstGeom>
          <a:noFill/>
          <a:ln>
            <a:noFill/>
          </a:ln>
        </p:spPr>
        <p:txBody>
          <a:bodyPr wrap="squar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2 - We do…</a:t>
            </a:r>
          </a:p>
        </p:txBody>
      </p:sp>
      <p:sp>
        <p:nvSpPr>
          <p:cNvPr id="8" name="TextBox 7">
            <a:extLst>
              <a:ext uri="{FF2B5EF4-FFF2-40B4-BE49-F238E27FC236}">
                <a16:creationId xmlns:a16="http://schemas.microsoft.com/office/drawing/2014/main" id="{300516A7-4320-95EE-0410-FBE1C5204371}"/>
              </a:ext>
            </a:extLst>
          </p:cNvPr>
          <p:cNvSpPr txBox="1"/>
          <p:nvPr/>
        </p:nvSpPr>
        <p:spPr>
          <a:xfrm>
            <a:off x="1310633" y="4523541"/>
            <a:ext cx="1325023" cy="276999"/>
          </a:xfrm>
          <a:prstGeom prst="rect">
            <a:avLst/>
          </a:prstGeom>
          <a:noFill/>
          <a:ln>
            <a:noFill/>
          </a:ln>
        </p:spPr>
        <p:txBody>
          <a:bodyPr wrap="squar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1 - I do…</a:t>
            </a:r>
          </a:p>
        </p:txBody>
      </p:sp>
      <p:sp>
        <p:nvSpPr>
          <p:cNvPr id="9" name="TextBox 8">
            <a:extLst>
              <a:ext uri="{FF2B5EF4-FFF2-40B4-BE49-F238E27FC236}">
                <a16:creationId xmlns:a16="http://schemas.microsoft.com/office/drawing/2014/main" id="{0CD51B4F-5479-53C0-1058-7C3344658B5D}"/>
              </a:ext>
            </a:extLst>
          </p:cNvPr>
          <p:cNvSpPr txBox="1"/>
          <p:nvPr/>
        </p:nvSpPr>
        <p:spPr>
          <a:xfrm>
            <a:off x="0" y="7236070"/>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F32B9A4B-178D-AFCA-C18B-9EDF06B144C2}"/>
                  </a:ext>
                </a:extLst>
              </p:cNvPr>
              <p:cNvGraphicFramePr>
                <a:graphicFrameLocks noGrp="1"/>
              </p:cNvGraphicFramePr>
              <p:nvPr>
                <p:extLst>
                  <p:ext uri="{D42A27DB-BD31-4B8C-83A1-F6EECF244321}">
                    <p14:modId xmlns:p14="http://schemas.microsoft.com/office/powerpoint/2010/main" val="2428008078"/>
                  </p:ext>
                </p:extLst>
              </p:nvPr>
            </p:nvGraphicFramePr>
            <p:xfrm>
              <a:off x="101599" y="7623041"/>
              <a:ext cx="6565900" cy="862666"/>
            </p:xfrm>
            <a:graphic>
              <a:graphicData uri="http://schemas.openxmlformats.org/drawingml/2006/table">
                <a:tbl>
                  <a:tblPr firstRow="1" firstCol="1" bandRow="1">
                    <a:tableStyleId>{5C22544A-7EE6-4342-B048-85BDC9FD1C3A}</a:tableStyleId>
                  </a:tblPr>
                  <a:tblGrid>
                    <a:gridCol w="1641475">
                      <a:extLst>
                        <a:ext uri="{9D8B030D-6E8A-4147-A177-3AD203B41FA5}">
                          <a16:colId xmlns:a16="http://schemas.microsoft.com/office/drawing/2014/main" val="2027684108"/>
                        </a:ext>
                      </a:extLst>
                    </a:gridCol>
                    <a:gridCol w="1641475">
                      <a:extLst>
                        <a:ext uri="{9D8B030D-6E8A-4147-A177-3AD203B41FA5}">
                          <a16:colId xmlns:a16="http://schemas.microsoft.com/office/drawing/2014/main" val="3518772541"/>
                        </a:ext>
                      </a:extLst>
                    </a:gridCol>
                    <a:gridCol w="1641475">
                      <a:extLst>
                        <a:ext uri="{9D8B030D-6E8A-4147-A177-3AD203B41FA5}">
                          <a16:colId xmlns:a16="http://schemas.microsoft.com/office/drawing/2014/main" val="3643976726"/>
                        </a:ext>
                      </a:extLst>
                    </a:gridCol>
                    <a:gridCol w="1641475">
                      <a:extLst>
                        <a:ext uri="{9D8B030D-6E8A-4147-A177-3AD203B41FA5}">
                          <a16:colId xmlns:a16="http://schemas.microsoft.com/office/drawing/2014/main" val="3385755172"/>
                        </a:ext>
                      </a:extLst>
                    </a:gridCol>
                  </a:tblGrid>
                  <a:tr h="862666">
                    <a:tc>
                      <a:txBody>
                        <a:bodyPr/>
                        <a:lstStyle/>
                        <a:p>
                          <a:pPr>
                            <a:lnSpc>
                              <a:spcPct val="107000"/>
                            </a:lnSpc>
                            <a:spcAft>
                              <a:spcPts val="800"/>
                            </a:spcAft>
                            <a:buNone/>
                          </a:pPr>
                          <a:r>
                            <a:rPr lang="en-GB" sz="1000" noProof="0" dirty="0">
                              <a:solidFill>
                                <a:schemeClr val="tx1"/>
                              </a:solidFill>
                              <a:effectLst/>
                            </a:rPr>
                            <a:t>a) </a:t>
                          </a:r>
                          <a14:m>
                            <m:oMath xmlns:m="http://schemas.openxmlformats.org/officeDocument/2006/math">
                              <m:r>
                                <a:rPr lang="en-GB" sz="1000" noProof="0">
                                  <a:solidFill>
                                    <a:schemeClr val="tx1"/>
                                  </a:solidFill>
                                  <a:effectLst/>
                                  <a:latin typeface="Cambria Math" panose="02040503050406030204" pitchFamily="18" charset="0"/>
                                </a:rPr>
                                <m:t>7(2</m:t>
                              </m:r>
                              <m:r>
                                <a:rPr lang="en-GB" sz="1000" noProof="0">
                                  <a:solidFill>
                                    <a:schemeClr val="tx1"/>
                                  </a:solidFill>
                                  <a:effectLst/>
                                  <a:latin typeface="Cambria Math" panose="02040503050406030204" pitchFamily="18" charset="0"/>
                                </a:rPr>
                                <m:t>𝑥</m:t>
                              </m:r>
                              <m:r>
                                <a:rPr lang="en-GB" sz="1000" noProof="0">
                                  <a:solidFill>
                                    <a:schemeClr val="tx1"/>
                                  </a:solidFill>
                                  <a:effectLst/>
                                  <a:latin typeface="Cambria Math" panose="02040503050406030204" pitchFamily="18" charset="0"/>
                                </a:rPr>
                                <m:t>+3)</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noProof="0" dirty="0">
                              <a:solidFill>
                                <a:schemeClr val="tx1"/>
                              </a:solidFill>
                              <a:effectLst/>
                            </a:rPr>
                            <a:t>b) </a:t>
                          </a:r>
                          <a14:m>
                            <m:oMath xmlns:m="http://schemas.openxmlformats.org/officeDocument/2006/math">
                              <m:r>
                                <a:rPr lang="en-GB" sz="1000" noProof="0">
                                  <a:solidFill>
                                    <a:schemeClr val="tx1"/>
                                  </a:solidFill>
                                  <a:effectLst/>
                                  <a:latin typeface="Cambria Math" panose="02040503050406030204" pitchFamily="18" charset="0"/>
                                </a:rPr>
                                <m:t>−2(</m:t>
                              </m:r>
                              <m:r>
                                <a:rPr lang="en-GB" sz="1000" noProof="0">
                                  <a:solidFill>
                                    <a:schemeClr val="tx1"/>
                                  </a:solidFill>
                                  <a:effectLst/>
                                  <a:latin typeface="Cambria Math" panose="02040503050406030204" pitchFamily="18" charset="0"/>
                                </a:rPr>
                                <m:t>𝑥</m:t>
                              </m:r>
                              <m:r>
                                <a:rPr lang="en-GB" sz="1000" noProof="0">
                                  <a:solidFill>
                                    <a:schemeClr val="tx1"/>
                                  </a:solidFill>
                                  <a:effectLst/>
                                  <a:latin typeface="Cambria Math" panose="02040503050406030204" pitchFamily="18" charset="0"/>
                                </a:rPr>
                                <m:t>+4)</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noProof="0" dirty="0">
                              <a:solidFill>
                                <a:schemeClr val="tx1"/>
                              </a:solidFill>
                              <a:effectLst/>
                            </a:rPr>
                            <a:t>c) </a:t>
                          </a:r>
                          <a14:m>
                            <m:oMath xmlns:m="http://schemas.openxmlformats.org/officeDocument/2006/math">
                              <m:f>
                                <m:fPr>
                                  <m:ctrlPr>
                                    <a:rPr lang="en-GB" sz="1000" i="1" noProof="0" smtClean="0">
                                      <a:solidFill>
                                        <a:schemeClr val="tx1"/>
                                      </a:solidFill>
                                      <a:effectLst/>
                                      <a:latin typeface="Cambria Math" panose="02040503050406030204" pitchFamily="18" charset="0"/>
                                    </a:rPr>
                                  </m:ctrlPr>
                                </m:fPr>
                                <m:num>
                                  <m:r>
                                    <a:rPr lang="en-GB" sz="1000" noProof="0">
                                      <a:solidFill>
                                        <a:schemeClr val="tx1"/>
                                      </a:solidFill>
                                      <a:effectLst/>
                                      <a:latin typeface="Cambria Math" panose="02040503050406030204" pitchFamily="18" charset="0"/>
                                    </a:rPr>
                                    <m:t>1</m:t>
                                  </m:r>
                                </m:num>
                                <m:den>
                                  <m:r>
                                    <a:rPr lang="en-GB" sz="1000" noProof="0">
                                      <a:solidFill>
                                        <a:schemeClr val="tx1"/>
                                      </a:solidFill>
                                      <a:effectLst/>
                                      <a:latin typeface="Cambria Math" panose="02040503050406030204" pitchFamily="18" charset="0"/>
                                    </a:rPr>
                                    <m:t>2</m:t>
                                  </m:r>
                                </m:den>
                              </m:f>
                              <m:r>
                                <a:rPr lang="en-GB" sz="1000" noProof="0">
                                  <a:solidFill>
                                    <a:schemeClr val="tx1"/>
                                  </a:solidFill>
                                  <a:effectLst/>
                                  <a:latin typeface="Cambria Math" panose="02040503050406030204" pitchFamily="18" charset="0"/>
                                </a:rPr>
                                <m:t>(6</m:t>
                              </m:r>
                              <m:r>
                                <a:rPr lang="en-GB" sz="1000" noProof="0">
                                  <a:solidFill>
                                    <a:schemeClr val="tx1"/>
                                  </a:solidFill>
                                  <a:effectLst/>
                                  <a:latin typeface="Cambria Math" panose="02040503050406030204" pitchFamily="18" charset="0"/>
                                </a:rPr>
                                <m:t>𝑥</m:t>
                              </m:r>
                              <m:r>
                                <a:rPr lang="en-GB" sz="1000" noProof="0">
                                  <a:solidFill>
                                    <a:schemeClr val="tx1"/>
                                  </a:solidFill>
                                  <a:effectLst/>
                                  <a:latin typeface="Cambria Math" panose="02040503050406030204" pitchFamily="18" charset="0"/>
                                </a:rPr>
                                <m:t>+8)</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noProof="0" dirty="0">
                              <a:solidFill>
                                <a:schemeClr val="tx1"/>
                              </a:solidFill>
                              <a:effectLst/>
                            </a:rPr>
                            <a:t>d) </a:t>
                          </a:r>
                          <a14:m>
                            <m:oMath xmlns:m="http://schemas.openxmlformats.org/officeDocument/2006/math">
                              <m:r>
                                <a:rPr lang="en-GB" sz="1000" noProof="0">
                                  <a:solidFill>
                                    <a:schemeClr val="tx1"/>
                                  </a:solidFill>
                                  <a:effectLst/>
                                  <a:latin typeface="Cambria Math" panose="02040503050406030204" pitchFamily="18" charset="0"/>
                                </a:rPr>
                                <m:t>−8(4−3</m:t>
                              </m:r>
                              <m:r>
                                <a:rPr lang="en-GB" sz="1000" noProof="0">
                                  <a:solidFill>
                                    <a:schemeClr val="tx1"/>
                                  </a:solidFill>
                                  <a:effectLst/>
                                  <a:latin typeface="Cambria Math" panose="02040503050406030204" pitchFamily="18" charset="0"/>
                                </a:rPr>
                                <m:t>𝑥</m:t>
                              </m:r>
                              <m:r>
                                <a:rPr lang="en-GB" sz="1000" noProof="0">
                                  <a:solidFill>
                                    <a:schemeClr val="tx1"/>
                                  </a:solidFill>
                                  <a:effectLst/>
                                  <a:latin typeface="Cambria Math" panose="02040503050406030204" pitchFamily="18" charset="0"/>
                                </a:rPr>
                                <m:t>)</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4852782"/>
                      </a:ext>
                    </a:extLst>
                  </a:tr>
                </a:tbl>
              </a:graphicData>
            </a:graphic>
          </p:graphicFrame>
        </mc:Choice>
        <mc:Fallback xmlns="">
          <p:graphicFrame>
            <p:nvGraphicFramePr>
              <p:cNvPr id="19" name="Table 18">
                <a:extLst>
                  <a:ext uri="{FF2B5EF4-FFF2-40B4-BE49-F238E27FC236}">
                    <a16:creationId xmlns:a16="http://schemas.microsoft.com/office/drawing/2014/main" id="{F32B9A4B-178D-AFCA-C18B-9EDF06B144C2}"/>
                  </a:ext>
                </a:extLst>
              </p:cNvPr>
              <p:cNvGraphicFramePr>
                <a:graphicFrameLocks noGrp="1"/>
              </p:cNvGraphicFramePr>
              <p:nvPr>
                <p:extLst>
                  <p:ext uri="{D42A27DB-BD31-4B8C-83A1-F6EECF244321}">
                    <p14:modId xmlns:p14="http://schemas.microsoft.com/office/powerpoint/2010/main" val="2428008078"/>
                  </p:ext>
                </p:extLst>
              </p:nvPr>
            </p:nvGraphicFramePr>
            <p:xfrm>
              <a:off x="101599" y="7623041"/>
              <a:ext cx="6565900" cy="862666"/>
            </p:xfrm>
            <a:graphic>
              <a:graphicData uri="http://schemas.openxmlformats.org/drawingml/2006/table">
                <a:tbl>
                  <a:tblPr firstRow="1" firstCol="1" bandRow="1">
                    <a:tableStyleId>{5C22544A-7EE6-4342-B048-85BDC9FD1C3A}</a:tableStyleId>
                  </a:tblPr>
                  <a:tblGrid>
                    <a:gridCol w="1641475">
                      <a:extLst>
                        <a:ext uri="{9D8B030D-6E8A-4147-A177-3AD203B41FA5}">
                          <a16:colId xmlns:a16="http://schemas.microsoft.com/office/drawing/2014/main" val="2027684108"/>
                        </a:ext>
                      </a:extLst>
                    </a:gridCol>
                    <a:gridCol w="1641475">
                      <a:extLst>
                        <a:ext uri="{9D8B030D-6E8A-4147-A177-3AD203B41FA5}">
                          <a16:colId xmlns:a16="http://schemas.microsoft.com/office/drawing/2014/main" val="3518772541"/>
                        </a:ext>
                      </a:extLst>
                    </a:gridCol>
                    <a:gridCol w="1641475">
                      <a:extLst>
                        <a:ext uri="{9D8B030D-6E8A-4147-A177-3AD203B41FA5}">
                          <a16:colId xmlns:a16="http://schemas.microsoft.com/office/drawing/2014/main" val="3643976726"/>
                        </a:ext>
                      </a:extLst>
                    </a:gridCol>
                    <a:gridCol w="1641475">
                      <a:extLst>
                        <a:ext uri="{9D8B030D-6E8A-4147-A177-3AD203B41FA5}">
                          <a16:colId xmlns:a16="http://schemas.microsoft.com/office/drawing/2014/main" val="3385755172"/>
                        </a:ext>
                      </a:extLst>
                    </a:gridCol>
                  </a:tblGrid>
                  <a:tr h="862666">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70" t="-3497" r="-300000" b="-1399"/>
                          </a:stretch>
                        </a:blipFill>
                      </a:tcPr>
                    </a:tc>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743" t="-3497" r="-201115" b="-1399"/>
                          </a:stretch>
                        </a:blipFill>
                      </a:tcPr>
                    </a:tc>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3497" r="-100370" b="-1399"/>
                          </a:stretch>
                        </a:blipFill>
                      </a:tcPr>
                    </a:tc>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1115" t="-3497" r="-743" b="-1399"/>
                          </a:stretch>
                        </a:blipFill>
                      </a:tcPr>
                    </a:tc>
                    <a:extLst>
                      <a:ext uri="{0D108BD9-81ED-4DB2-BD59-A6C34878D82A}">
                        <a16:rowId xmlns:a16="http://schemas.microsoft.com/office/drawing/2014/main" val="1514852782"/>
                      </a:ext>
                    </a:extLst>
                  </a:tr>
                </a:tbl>
              </a:graphicData>
            </a:graphic>
          </p:graphicFrame>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92B44FB-3D92-6AF9-7B14-70CAB0A961AA}"/>
                  </a:ext>
                </a:extLst>
              </p:cNvPr>
              <p:cNvSpPr txBox="1"/>
              <p:nvPr/>
            </p:nvSpPr>
            <p:spPr>
              <a:xfrm>
                <a:off x="0" y="8485707"/>
                <a:ext cx="3460750" cy="276999"/>
              </a:xfrm>
              <a:prstGeom prst="rect">
                <a:avLst/>
              </a:prstGeom>
              <a:noFill/>
            </p:spPr>
            <p:txBody>
              <a:bodyPr wrap="square">
                <a:spAutoFit/>
              </a:bodyPr>
              <a:lstStyle/>
              <a:p>
                <a:r>
                  <a:rPr lang="en-GB" sz="1200" noProof="0" dirty="0"/>
                  <a:t>Question 2: Express in the form </a:t>
                </a:r>
                <a14:m>
                  <m:oMath xmlns:m="http://schemas.openxmlformats.org/officeDocument/2006/math">
                    <m:r>
                      <a:rPr lang="en-GB" sz="1200" b="0" i="1" noProof="0">
                        <a:latin typeface="Cambria Math" panose="02040503050406030204" pitchFamily="18" charset="0"/>
                      </a:rPr>
                      <m:t>𝑎𝑥</m:t>
                    </m:r>
                    <m:r>
                      <a:rPr lang="en-GB" sz="1200" b="0" i="1" noProof="0">
                        <a:latin typeface="Cambria Math" panose="02040503050406030204" pitchFamily="18" charset="0"/>
                      </a:rPr>
                      <m:t>(</m:t>
                    </m:r>
                    <m:r>
                      <a:rPr lang="en-GB" sz="1200" b="0" i="1" noProof="0">
                        <a:latin typeface="Cambria Math" panose="02040503050406030204" pitchFamily="18" charset="0"/>
                      </a:rPr>
                      <m:t>𝑏𝑥</m:t>
                    </m:r>
                    <m:r>
                      <a:rPr lang="en-GB" sz="1200" b="0" i="1" noProof="0">
                        <a:latin typeface="Cambria Math" panose="02040503050406030204" pitchFamily="18" charset="0"/>
                      </a:rPr>
                      <m:t>+</m:t>
                    </m:r>
                    <m:r>
                      <a:rPr lang="en-GB" sz="1200" b="0" i="1" noProof="0">
                        <a:latin typeface="Cambria Math" panose="02040503050406030204" pitchFamily="18" charset="0"/>
                      </a:rPr>
                      <m:t>𝑐</m:t>
                    </m:r>
                    <m:r>
                      <a:rPr lang="en-GB" sz="1200" b="0" i="1" noProof="0">
                        <a:latin typeface="Cambria Math" panose="02040503050406030204" pitchFamily="18" charset="0"/>
                      </a:rPr>
                      <m:t>)</m:t>
                    </m:r>
                  </m:oMath>
                </a14:m>
                <a:endParaRPr lang="en-GB" sz="1200" noProof="0" dirty="0"/>
              </a:p>
            </p:txBody>
          </p:sp>
        </mc:Choice>
        <mc:Fallback xmlns="">
          <p:sp>
            <p:nvSpPr>
              <p:cNvPr id="21" name="TextBox 20">
                <a:extLst>
                  <a:ext uri="{FF2B5EF4-FFF2-40B4-BE49-F238E27FC236}">
                    <a16:creationId xmlns:a16="http://schemas.microsoft.com/office/drawing/2014/main" id="{A92B44FB-3D92-6AF9-7B14-70CAB0A961AA}"/>
                  </a:ext>
                </a:extLst>
              </p:cNvPr>
              <p:cNvSpPr txBox="1">
                <a:spLocks noRot="1" noChangeAspect="1" noMove="1" noResize="1" noEditPoints="1" noAdjustHandles="1" noChangeArrowheads="1" noChangeShapeType="1" noTextEdit="1"/>
              </p:cNvSpPr>
              <p:nvPr/>
            </p:nvSpPr>
            <p:spPr>
              <a:xfrm>
                <a:off x="0" y="8485707"/>
                <a:ext cx="3460750" cy="276999"/>
              </a:xfrm>
              <a:prstGeom prst="rect">
                <a:avLst/>
              </a:prstGeom>
              <a:blipFill>
                <a:blip r:embed="rId6"/>
                <a:stretch>
                  <a:fillRect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35AA76C-EB88-9EED-F0DE-FAC0F5D1FAE0}"/>
                  </a:ext>
                </a:extLst>
              </p:cNvPr>
              <p:cNvSpPr txBox="1"/>
              <p:nvPr/>
            </p:nvSpPr>
            <p:spPr>
              <a:xfrm>
                <a:off x="1654174" y="7195791"/>
                <a:ext cx="3460750" cy="280718"/>
              </a:xfrm>
              <a:prstGeom prst="rect">
                <a:avLst/>
              </a:prstGeom>
              <a:noFill/>
            </p:spPr>
            <p:txBody>
              <a:bodyPr wrap="square">
                <a:spAutoFit/>
              </a:bodyPr>
              <a:lstStyle/>
              <a:p>
                <a:pPr>
                  <a:lnSpc>
                    <a:spcPct val="107000"/>
                  </a:lnSpc>
                  <a:spcAft>
                    <a:spcPts val="800"/>
                  </a:spcAft>
                </a:pPr>
                <a:r>
                  <a:rPr lang="en-GB" sz="1200" noProof="0" dirty="0">
                    <a:effectLst/>
                    <a:latin typeface="Calibri" panose="020F0502020204030204" pitchFamily="34" charset="0"/>
                    <a:ea typeface="Calibri" panose="020F0502020204030204" pitchFamily="34" charset="0"/>
                    <a:cs typeface="Times New Roman" panose="02020603050405020304" pitchFamily="18" charset="0"/>
                  </a:rPr>
                  <a:t>Question 1: Express in the form </a:t>
                </a:r>
                <a14:m>
                  <m:oMath xmlns:m="http://schemas.openxmlformats.org/officeDocument/2006/math">
                    <m:r>
                      <a:rPr lang="en-GB" sz="1200" b="0" i="1" noProof="0">
                        <a:effectLst/>
                        <a:latin typeface="Cambria Math" panose="02040503050406030204" pitchFamily="18" charset="0"/>
                        <a:ea typeface="Calibri" panose="020F0502020204030204" pitchFamily="34" charset="0"/>
                        <a:cs typeface="Times New Roman" panose="02020603050405020304" pitchFamily="18" charset="0"/>
                      </a:rPr>
                      <m:t>𝑎𝑥</m:t>
                    </m:r>
                    <m:r>
                      <a:rPr lang="en-GB" sz="1200" b="0" i="1" noProof="0">
                        <a:effectLst/>
                        <a:latin typeface="Cambria Math" panose="02040503050406030204" pitchFamily="18" charset="0"/>
                        <a:ea typeface="Calibri" panose="020F0502020204030204" pitchFamily="34" charset="0"/>
                        <a:cs typeface="Times New Roman" panose="02020603050405020304" pitchFamily="18" charset="0"/>
                      </a:rPr>
                      <m:t>+</m:t>
                    </m:r>
                    <m:r>
                      <a:rPr lang="en-GB" sz="1200" b="0" i="1" noProof="0">
                        <a:effectLst/>
                        <a:latin typeface="Cambria Math" panose="02040503050406030204" pitchFamily="18" charset="0"/>
                        <a:ea typeface="Calibri" panose="020F0502020204030204" pitchFamily="34" charset="0"/>
                        <a:cs typeface="Times New Roman" panose="02020603050405020304" pitchFamily="18" charset="0"/>
                      </a:rPr>
                      <m:t>𝑏</m:t>
                    </m:r>
                  </m:oMath>
                </a14:m>
                <a:endParaRPr lang="en-GB" sz="1200" noProof="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TextBox 22">
                <a:extLst>
                  <a:ext uri="{FF2B5EF4-FFF2-40B4-BE49-F238E27FC236}">
                    <a16:creationId xmlns:a16="http://schemas.microsoft.com/office/drawing/2014/main" id="{535AA76C-EB88-9EED-F0DE-FAC0F5D1FAE0}"/>
                  </a:ext>
                </a:extLst>
              </p:cNvPr>
              <p:cNvSpPr txBox="1">
                <a:spLocks noRot="1" noChangeAspect="1" noMove="1" noResize="1" noEditPoints="1" noAdjustHandles="1" noChangeArrowheads="1" noChangeShapeType="1" noTextEdit="1"/>
              </p:cNvSpPr>
              <p:nvPr/>
            </p:nvSpPr>
            <p:spPr>
              <a:xfrm>
                <a:off x="1654174" y="7195791"/>
                <a:ext cx="3460750" cy="280718"/>
              </a:xfrm>
              <a:prstGeom prst="rect">
                <a:avLst/>
              </a:prstGeom>
              <a:blipFill>
                <a:blip r:embed="rId7"/>
                <a:stretch>
                  <a:fillRect b="-17391"/>
                </a:stretch>
              </a:blipFill>
            </p:spPr>
            <p:txBody>
              <a:bodyPr/>
              <a:lstStyle/>
              <a:p>
                <a:r>
                  <a:rPr lang="en-US">
                    <a:noFill/>
                  </a:rPr>
                  <a:t> </a:t>
                </a:r>
              </a:p>
            </p:txBody>
          </p:sp>
        </mc:Fallback>
      </mc:AlternateContent>
    </p:spTree>
    <p:extLst>
      <p:ext uri="{BB962C8B-B14F-4D97-AF65-F5344CB8AC3E}">
        <p14:creationId xmlns:p14="http://schemas.microsoft.com/office/powerpoint/2010/main" val="3135394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0E7B5-983D-076A-106A-033E582014E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7785FE6-1F71-1293-1C84-53063610C28F}"/>
                  </a:ext>
                </a:extLst>
              </p:cNvPr>
              <p:cNvGraphicFramePr>
                <a:graphicFrameLocks noGrp="1"/>
              </p:cNvGraphicFramePr>
              <p:nvPr>
                <p:extLst>
                  <p:ext uri="{D42A27DB-BD31-4B8C-83A1-F6EECF244321}">
                    <p14:modId xmlns:p14="http://schemas.microsoft.com/office/powerpoint/2010/main" val="297653761"/>
                  </p:ext>
                </p:extLst>
              </p:nvPr>
            </p:nvGraphicFramePr>
            <p:xfrm>
              <a:off x="186989" y="1537289"/>
              <a:ext cx="6484022" cy="3055233"/>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332266">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Simplify     </a:t>
                          </a:r>
                          <a14:m>
                            <m:oMath xmlns:m="http://schemas.openxmlformats.org/officeDocument/2006/math">
                              <m:f>
                                <m:fPr>
                                  <m:ctrlPr>
                                    <a:rPr lang="en-GB" sz="1400" b="1" i="1" kern="1200" noProof="0" smtClean="0">
                                      <a:solidFill>
                                        <a:schemeClr val="tx1"/>
                                      </a:solidFill>
                                      <a:effectLst/>
                                      <a:latin typeface="Cambria Math" panose="02040503050406030204" pitchFamily="18" charset="0"/>
                                      <a:ea typeface="+mn-ea"/>
                                      <a:cs typeface="+mn-cs"/>
                                    </a:rPr>
                                  </m:ctrlPr>
                                </m:fPr>
                                <m:num>
                                  <m:r>
                                    <a:rPr lang="en-GB" sz="1400" b="1" i="1" kern="1200" noProof="0">
                                      <a:solidFill>
                                        <a:schemeClr val="tx1"/>
                                      </a:solidFill>
                                      <a:effectLst/>
                                      <a:latin typeface="Cambria Math" panose="02040503050406030204" pitchFamily="18" charset="0"/>
                                      <a:ea typeface="+mn-ea"/>
                                      <a:cs typeface="+mn-cs"/>
                                    </a:rPr>
                                    <m:t>12</m:t>
                                  </m:r>
                                  <m:sSup>
                                    <m:sSupPr>
                                      <m:ctrlPr>
                                        <a:rPr lang="en-GB" sz="1400" b="1" i="1" kern="1200" noProof="0" smtClean="0">
                                          <a:solidFill>
                                            <a:schemeClr val="tx1"/>
                                          </a:solidFill>
                                          <a:effectLst/>
                                          <a:latin typeface="Cambria Math" panose="02040503050406030204" pitchFamily="18" charset="0"/>
                                          <a:ea typeface="+mn-ea"/>
                                          <a:cs typeface="+mn-cs"/>
                                        </a:rPr>
                                      </m:ctrlPr>
                                    </m:sSupPr>
                                    <m:e>
                                      <m:r>
                                        <a:rPr lang="en-GB" sz="1400" b="1" i="1" kern="1200" noProof="0">
                                          <a:solidFill>
                                            <a:schemeClr val="tx1"/>
                                          </a:solidFill>
                                          <a:effectLst/>
                                          <a:latin typeface="Cambria Math" panose="02040503050406030204" pitchFamily="18" charset="0"/>
                                          <a:ea typeface="+mn-ea"/>
                                          <a:cs typeface="+mn-cs"/>
                                        </a:rPr>
                                        <m:t>𝑥</m:t>
                                      </m:r>
                                    </m:e>
                                    <m:sup>
                                      <m:r>
                                        <a:rPr lang="en-GB" sz="1400" b="1" i="1" kern="1200" noProof="0">
                                          <a:solidFill>
                                            <a:schemeClr val="tx1"/>
                                          </a:solidFill>
                                          <a:effectLst/>
                                          <a:latin typeface="Cambria Math" panose="02040503050406030204" pitchFamily="18" charset="0"/>
                                          <a:ea typeface="+mn-ea"/>
                                          <a:cs typeface="+mn-cs"/>
                                        </a:rPr>
                                        <m:t>4</m:t>
                                      </m:r>
                                    </m:sup>
                                  </m:sSup>
                                  <m:sSup>
                                    <m:sSupPr>
                                      <m:ctrlPr>
                                        <a:rPr lang="en-GB" sz="1400" b="1" i="1" kern="1200" noProof="0" smtClean="0">
                                          <a:solidFill>
                                            <a:schemeClr val="tx1"/>
                                          </a:solidFill>
                                          <a:effectLst/>
                                          <a:latin typeface="Cambria Math" panose="02040503050406030204" pitchFamily="18" charset="0"/>
                                          <a:ea typeface="+mn-ea"/>
                                          <a:cs typeface="+mn-cs"/>
                                        </a:rPr>
                                      </m:ctrlPr>
                                    </m:sSupPr>
                                    <m:e>
                                      <m:r>
                                        <a:rPr lang="en-GB" sz="1400" b="1" i="1" kern="1200" noProof="0">
                                          <a:solidFill>
                                            <a:schemeClr val="tx1"/>
                                          </a:solidFill>
                                          <a:effectLst/>
                                          <a:latin typeface="Cambria Math" panose="02040503050406030204" pitchFamily="18" charset="0"/>
                                          <a:ea typeface="+mn-ea"/>
                                          <a:cs typeface="+mn-cs"/>
                                        </a:rPr>
                                        <m:t>𝑦</m:t>
                                      </m:r>
                                    </m:e>
                                    <m:sup>
                                      <m:r>
                                        <a:rPr lang="en-GB" sz="1400" b="1" i="1" kern="1200" noProof="0">
                                          <a:solidFill>
                                            <a:schemeClr val="tx1"/>
                                          </a:solidFill>
                                          <a:effectLst/>
                                          <a:latin typeface="Cambria Math" panose="02040503050406030204" pitchFamily="18" charset="0"/>
                                          <a:ea typeface="+mn-ea"/>
                                          <a:cs typeface="+mn-cs"/>
                                        </a:rPr>
                                        <m:t>3</m:t>
                                      </m:r>
                                    </m:sup>
                                  </m:sSup>
                                </m:num>
                                <m:den>
                                  <m:r>
                                    <a:rPr lang="en-GB" sz="1400" b="1" i="1" kern="1200" noProof="0">
                                      <a:solidFill>
                                        <a:schemeClr val="tx1"/>
                                      </a:solidFill>
                                      <a:effectLst/>
                                      <a:latin typeface="Cambria Math" panose="02040503050406030204" pitchFamily="18" charset="0"/>
                                      <a:ea typeface="+mn-ea"/>
                                      <a:cs typeface="+mn-cs"/>
                                    </a:rPr>
                                    <m:t>9</m:t>
                                  </m:r>
                                  <m:r>
                                    <a:rPr lang="en-GB" sz="1400" b="1" i="1" kern="1200" noProof="0">
                                      <a:solidFill>
                                        <a:schemeClr val="tx1"/>
                                      </a:solidFill>
                                      <a:effectLst/>
                                      <a:latin typeface="Cambria Math" panose="02040503050406030204" pitchFamily="18" charset="0"/>
                                      <a:ea typeface="+mn-ea"/>
                                      <a:cs typeface="+mn-cs"/>
                                    </a:rPr>
                                    <m:t>𝑥</m:t>
                                  </m:r>
                                  <m:sSup>
                                    <m:sSupPr>
                                      <m:ctrlPr>
                                        <a:rPr lang="en-GB" sz="1400" b="1" i="1" kern="1200" noProof="0" smtClean="0">
                                          <a:solidFill>
                                            <a:schemeClr val="tx1"/>
                                          </a:solidFill>
                                          <a:effectLst/>
                                          <a:latin typeface="Cambria Math" panose="02040503050406030204" pitchFamily="18" charset="0"/>
                                          <a:ea typeface="+mn-ea"/>
                                          <a:cs typeface="+mn-cs"/>
                                        </a:rPr>
                                      </m:ctrlPr>
                                    </m:sSupPr>
                                    <m:e>
                                      <m:r>
                                        <a:rPr lang="en-GB" sz="1400" b="1" i="1" kern="1200" noProof="0">
                                          <a:solidFill>
                                            <a:schemeClr val="tx1"/>
                                          </a:solidFill>
                                          <a:effectLst/>
                                          <a:latin typeface="Cambria Math" panose="02040503050406030204" pitchFamily="18" charset="0"/>
                                          <a:ea typeface="+mn-ea"/>
                                          <a:cs typeface="+mn-cs"/>
                                        </a:rPr>
                                        <m:t>𝑦</m:t>
                                      </m:r>
                                    </m:e>
                                    <m:sup>
                                      <m:r>
                                        <a:rPr lang="en-GB" sz="1400" b="1" i="1" kern="1200" noProof="0">
                                          <a:solidFill>
                                            <a:schemeClr val="tx1"/>
                                          </a:solidFill>
                                          <a:effectLst/>
                                          <a:latin typeface="Cambria Math" panose="02040503050406030204" pitchFamily="18" charset="0"/>
                                          <a:ea typeface="+mn-ea"/>
                                          <a:cs typeface="+mn-cs"/>
                                        </a:rPr>
                                        <m:t>2</m:t>
                                      </m:r>
                                    </m:sup>
                                  </m:sSup>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Simplify</a:t>
                          </a:r>
                          <a:r>
                            <a:rPr lang="en-GB" sz="1100" b="0" baseline="0" noProof="0" dirty="0">
                              <a:solidFill>
                                <a:schemeClr val="tx1"/>
                              </a:solidFill>
                            </a:rPr>
                            <a:t>   </a:t>
                          </a:r>
                          <a14:m>
                            <m:oMath xmlns:m="http://schemas.openxmlformats.org/officeDocument/2006/math">
                              <m:f>
                                <m:fPr>
                                  <m:ctrlPr>
                                    <a:rPr lang="en-GB" sz="1350" b="1" i="1" kern="1200" noProof="0" smtClean="0">
                                      <a:solidFill>
                                        <a:schemeClr val="tx1"/>
                                      </a:solidFill>
                                      <a:effectLst/>
                                      <a:latin typeface="Cambria Math" panose="02040503050406030204" pitchFamily="18" charset="0"/>
                                      <a:ea typeface="+mn-ea"/>
                                      <a:cs typeface="+mn-cs"/>
                                    </a:rPr>
                                  </m:ctrlPr>
                                </m:fPr>
                                <m:num>
                                  <m:r>
                                    <a:rPr lang="en-GB" sz="1350" b="1" i="1" kern="1200" noProof="0">
                                      <a:solidFill>
                                        <a:schemeClr val="tx1"/>
                                      </a:solidFill>
                                      <a:effectLst/>
                                      <a:latin typeface="Cambria Math" panose="02040503050406030204" pitchFamily="18" charset="0"/>
                                      <a:ea typeface="+mn-ea"/>
                                      <a:cs typeface="+mn-cs"/>
                                    </a:rPr>
                                    <m:t>28</m:t>
                                  </m:r>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𝑥</m:t>
                                      </m:r>
                                    </m:e>
                                    <m:sup>
                                      <m:r>
                                        <a:rPr lang="en-GB" sz="1350" b="1" i="1" kern="1200" noProof="0">
                                          <a:solidFill>
                                            <a:schemeClr val="tx1"/>
                                          </a:solidFill>
                                          <a:effectLst/>
                                          <a:latin typeface="Cambria Math" panose="02040503050406030204" pitchFamily="18" charset="0"/>
                                          <a:ea typeface="+mn-ea"/>
                                          <a:cs typeface="+mn-cs"/>
                                        </a:rPr>
                                        <m:t>5</m:t>
                                      </m:r>
                                    </m:sup>
                                  </m:sSup>
                                  <m:r>
                                    <a:rPr lang="en-GB" sz="1350" b="1" i="1" kern="1200" noProof="0">
                                      <a:solidFill>
                                        <a:schemeClr val="tx1"/>
                                      </a:solidFill>
                                      <a:effectLst/>
                                      <a:latin typeface="Cambria Math" panose="02040503050406030204" pitchFamily="18" charset="0"/>
                                      <a:ea typeface="+mn-ea"/>
                                      <a:cs typeface="+mn-cs"/>
                                    </a:rPr>
                                    <m:t>𝑦</m:t>
                                  </m:r>
                                </m:num>
                                <m:den>
                                  <m:r>
                                    <a:rPr lang="en-GB" sz="1350" b="1" i="1" kern="1200" noProof="0">
                                      <a:solidFill>
                                        <a:schemeClr val="tx1"/>
                                      </a:solidFill>
                                      <a:effectLst/>
                                      <a:latin typeface="Cambria Math" panose="02040503050406030204" pitchFamily="18" charset="0"/>
                                      <a:ea typeface="+mn-ea"/>
                                      <a:cs typeface="+mn-cs"/>
                                    </a:rPr>
                                    <m:t>49</m:t>
                                  </m:r>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𝑥</m:t>
                                      </m:r>
                                    </m:e>
                                    <m:sup>
                                      <m:r>
                                        <a:rPr lang="en-GB" sz="1350" b="1" i="1" kern="1200" noProof="0">
                                          <a:solidFill>
                                            <a:schemeClr val="tx1"/>
                                          </a:solidFill>
                                          <a:effectLst/>
                                          <a:latin typeface="Cambria Math" panose="02040503050406030204" pitchFamily="18" charset="0"/>
                                          <a:ea typeface="+mn-ea"/>
                                          <a:cs typeface="+mn-cs"/>
                                        </a:rPr>
                                        <m:t>5</m:t>
                                      </m:r>
                                    </m:sup>
                                  </m:sSup>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𝑦</m:t>
                                      </m:r>
                                    </m:e>
                                    <m:sup>
                                      <m:r>
                                        <a:rPr lang="en-GB" sz="1350" b="1" i="1" kern="1200" noProof="0">
                                          <a:solidFill>
                                            <a:schemeClr val="tx1"/>
                                          </a:solidFill>
                                          <a:effectLst/>
                                          <a:latin typeface="Cambria Math" panose="02040503050406030204" pitchFamily="18" charset="0"/>
                                          <a:ea typeface="+mn-ea"/>
                                          <a:cs typeface="+mn-cs"/>
                                        </a:rPr>
                                        <m:t>3</m:t>
                                      </m:r>
                                    </m:sup>
                                  </m:sSup>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100" b="0" noProof="0" dirty="0">
                              <a:solidFill>
                                <a:schemeClr val="tx1"/>
                              </a:solidFill>
                            </a:rPr>
                            <a:t>Simplify</a:t>
                          </a:r>
                          <a:r>
                            <a:rPr lang="en-GB" sz="1100" b="0" baseline="0" noProof="0" dirty="0">
                              <a:solidFill>
                                <a:schemeClr val="tx1"/>
                              </a:solidFill>
                            </a:rPr>
                            <a:t>   </a:t>
                          </a:r>
                          <a14:m>
                            <m:oMath xmlns:m="http://schemas.openxmlformats.org/officeDocument/2006/math">
                              <m:f>
                                <m:fPr>
                                  <m:ctrlPr>
                                    <a:rPr lang="en-GB" sz="1350" b="1" i="1" kern="1200" noProof="0" smtClean="0">
                                      <a:solidFill>
                                        <a:schemeClr val="tx1"/>
                                      </a:solidFill>
                                      <a:effectLst/>
                                      <a:latin typeface="Cambria Math" panose="02040503050406030204" pitchFamily="18" charset="0"/>
                                      <a:ea typeface="+mn-ea"/>
                                      <a:cs typeface="+mn-cs"/>
                                    </a:rPr>
                                  </m:ctrlPr>
                                </m:fPr>
                                <m:num>
                                  <m:r>
                                    <a:rPr lang="en-GB" sz="1350" b="1" i="1" kern="1200" noProof="0">
                                      <a:solidFill>
                                        <a:schemeClr val="tx1"/>
                                      </a:solidFill>
                                      <a:effectLst/>
                                      <a:latin typeface="Cambria Math" panose="02040503050406030204" pitchFamily="18" charset="0"/>
                                      <a:ea typeface="+mn-ea"/>
                                      <a:cs typeface="+mn-cs"/>
                                    </a:rPr>
                                    <m:t>30</m:t>
                                  </m:r>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𝑥</m:t>
                                      </m:r>
                                    </m:e>
                                    <m:sup>
                                      <m:r>
                                        <a:rPr lang="en-GB" sz="1350" b="1" i="1" kern="1200" noProof="0">
                                          <a:solidFill>
                                            <a:schemeClr val="tx1"/>
                                          </a:solidFill>
                                          <a:effectLst/>
                                          <a:latin typeface="Cambria Math" panose="02040503050406030204" pitchFamily="18" charset="0"/>
                                          <a:ea typeface="+mn-ea"/>
                                          <a:cs typeface="+mn-cs"/>
                                        </a:rPr>
                                        <m:t>5</m:t>
                                      </m:r>
                                    </m:sup>
                                  </m:sSup>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𝑦</m:t>
                                      </m:r>
                                    </m:e>
                                    <m:sup>
                                      <m:r>
                                        <a:rPr lang="en-GB" sz="1350" b="1" i="1" kern="1200" noProof="0">
                                          <a:solidFill>
                                            <a:schemeClr val="tx1"/>
                                          </a:solidFill>
                                          <a:effectLst/>
                                          <a:latin typeface="Cambria Math" panose="02040503050406030204" pitchFamily="18" charset="0"/>
                                          <a:ea typeface="+mn-ea"/>
                                          <a:cs typeface="+mn-cs"/>
                                        </a:rPr>
                                        <m:t>3</m:t>
                                      </m:r>
                                    </m:sup>
                                  </m:sSup>
                                </m:num>
                                <m:den>
                                  <m:r>
                                    <a:rPr lang="en-GB" sz="1350" b="1" i="1" kern="1200" noProof="0">
                                      <a:solidFill>
                                        <a:schemeClr val="tx1"/>
                                      </a:solidFill>
                                      <a:effectLst/>
                                      <a:latin typeface="Cambria Math" panose="02040503050406030204" pitchFamily="18" charset="0"/>
                                      <a:ea typeface="+mn-ea"/>
                                      <a:cs typeface="+mn-cs"/>
                                    </a:rPr>
                                    <m:t>18</m:t>
                                  </m:r>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𝑥</m:t>
                                      </m:r>
                                    </m:e>
                                    <m:sup>
                                      <m:r>
                                        <a:rPr lang="en-GB" sz="1350" b="1" i="1" kern="1200" noProof="0">
                                          <a:solidFill>
                                            <a:schemeClr val="tx1"/>
                                          </a:solidFill>
                                          <a:effectLst/>
                                          <a:latin typeface="Cambria Math" panose="02040503050406030204" pitchFamily="18" charset="0"/>
                                          <a:ea typeface="+mn-ea"/>
                                          <a:cs typeface="+mn-cs"/>
                                        </a:rPr>
                                        <m:t>10</m:t>
                                      </m:r>
                                    </m:sup>
                                  </m:sSup>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𝑦</m:t>
                                      </m:r>
                                    </m:e>
                                    <m:sup>
                                      <m:r>
                                        <a:rPr lang="en-GB" sz="1350" b="1" i="1" kern="1200" noProof="0">
                                          <a:solidFill>
                                            <a:schemeClr val="tx1"/>
                                          </a:solidFill>
                                          <a:effectLst/>
                                          <a:latin typeface="Cambria Math" panose="02040503050406030204" pitchFamily="18" charset="0"/>
                                          <a:ea typeface="+mn-ea"/>
                                          <a:cs typeface="+mn-cs"/>
                                        </a:rPr>
                                        <m:t>3</m:t>
                                      </m:r>
                                    </m:sup>
                                  </m:sSup>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09960">
                    <a:tc>
                      <a:txBody>
                        <a:bodyPr/>
                        <a:lstStyle/>
                        <a:p>
                          <a:r>
                            <a:rPr lang="en-GB" sz="1100" noProof="0" dirty="0">
                              <a:solidFill>
                                <a:schemeClr val="tx1"/>
                              </a:solidFill>
                            </a:rPr>
                            <a:t>1) Check</a:t>
                          </a:r>
                          <a:r>
                            <a:rPr lang="en-GB" sz="1100" baseline="0" noProof="0" dirty="0">
                              <a:solidFill>
                                <a:schemeClr val="tx1"/>
                              </a:solidFill>
                            </a:rPr>
                            <a:t> if the numerator/denominator for common factors.</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35284">
                    <a:tc>
                      <a:txBody>
                        <a:bodyPr/>
                        <a:lstStyle/>
                        <a:p>
                          <a:r>
                            <a:rPr lang="en-GB" sz="1100" noProof="0" dirty="0">
                              <a:solidFill>
                                <a:schemeClr val="tx1"/>
                              </a:solidFill>
                            </a:rPr>
                            <a:t>2) Cancel</a:t>
                          </a:r>
                          <a:r>
                            <a:rPr lang="en-GB" sz="1100" baseline="0" noProof="0" dirty="0">
                              <a:solidFill>
                                <a:schemeClr val="tx1"/>
                              </a:solidFill>
                            </a:rPr>
                            <a:t> common factors, being careful if powers are involved</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GB"/>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44271317"/>
                      </a:ext>
                    </a:extLst>
                  </a:tr>
                </a:tbl>
              </a:graphicData>
            </a:graphic>
          </p:graphicFrame>
        </mc:Choice>
        <mc:Fallback xmlns="">
          <p:graphicFrame>
            <p:nvGraphicFramePr>
              <p:cNvPr id="4" name="Table 3">
                <a:extLst>
                  <a:ext uri="{FF2B5EF4-FFF2-40B4-BE49-F238E27FC236}">
                    <a16:creationId xmlns:a16="http://schemas.microsoft.com/office/drawing/2014/main" id="{E7785FE6-1F71-1293-1C84-53063610C28F}"/>
                  </a:ext>
                </a:extLst>
              </p:cNvPr>
              <p:cNvGraphicFramePr>
                <a:graphicFrameLocks noGrp="1"/>
              </p:cNvGraphicFramePr>
              <p:nvPr>
                <p:extLst>
                  <p:ext uri="{D42A27DB-BD31-4B8C-83A1-F6EECF244321}">
                    <p14:modId xmlns:p14="http://schemas.microsoft.com/office/powerpoint/2010/main" val="297653761"/>
                  </p:ext>
                </p:extLst>
              </p:nvPr>
            </p:nvGraphicFramePr>
            <p:xfrm>
              <a:off x="186989" y="1537289"/>
              <a:ext cx="6484022" cy="3055233"/>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47993">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9364" t="-1351" r="-218021" b="-5864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2722" t="-1351" r="-95253" b="-5864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6522" t="-1351" r="-669" b="-586486"/>
                          </a:stretch>
                        </a:blipFill>
                      </a:tcPr>
                    </a:tc>
                    <a:extLst>
                      <a:ext uri="{0D108BD9-81ED-4DB2-BD59-A6C34878D82A}">
                        <a16:rowId xmlns:a16="http://schemas.microsoft.com/office/drawing/2014/main" val="2357201933"/>
                      </a:ext>
                    </a:extLst>
                  </a:tr>
                  <a:tr h="1509960">
                    <a:tc>
                      <a:txBody>
                        <a:bodyPr/>
                        <a:lstStyle/>
                        <a:p>
                          <a:r>
                            <a:rPr lang="en-GB" sz="1100" noProof="0">
                              <a:solidFill>
                                <a:schemeClr val="tx1"/>
                              </a:solidFill>
                            </a:rPr>
                            <a:t>1) Check</a:t>
                          </a:r>
                          <a:r>
                            <a:rPr lang="en-GB" sz="1100" baseline="0" noProof="0">
                              <a:solidFill>
                                <a:schemeClr val="tx1"/>
                              </a:solidFill>
                            </a:rPr>
                            <a:t> if the numerator/denominator for common factors.</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97280">
                    <a:tc>
                      <a:txBody>
                        <a:bodyPr/>
                        <a:lstStyle/>
                        <a:p>
                          <a:r>
                            <a:rPr lang="en-GB" sz="1100" noProof="0">
                              <a:solidFill>
                                <a:schemeClr val="tx1"/>
                              </a:solidFill>
                            </a:rPr>
                            <a:t>2) Cancel</a:t>
                          </a:r>
                          <a:r>
                            <a:rPr lang="en-GB" sz="1100" baseline="0" noProof="0">
                              <a:solidFill>
                                <a:schemeClr val="tx1"/>
                              </a:solidFill>
                            </a:rPr>
                            <a:t> common factors, being careful if powers are involved</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GB"/>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44271317"/>
                      </a:ext>
                    </a:extLst>
                  </a:tr>
                </a:tbl>
              </a:graphicData>
            </a:graphic>
          </p:graphicFrame>
        </mc:Fallback>
      </mc:AlternateContent>
      <p:sp>
        <p:nvSpPr>
          <p:cNvPr id="5" name="TextBox 4">
            <a:extLst>
              <a:ext uri="{FF2B5EF4-FFF2-40B4-BE49-F238E27FC236}">
                <a16:creationId xmlns:a16="http://schemas.microsoft.com/office/drawing/2014/main" id="{11AE4A52-39BA-662C-5154-3A281AB98554}"/>
              </a:ext>
            </a:extLst>
          </p:cNvPr>
          <p:cNvSpPr txBox="1"/>
          <p:nvPr/>
        </p:nvSpPr>
        <p:spPr>
          <a:xfrm>
            <a:off x="4938881" y="1260290"/>
            <a:ext cx="1498808"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3 - You do…</a:t>
            </a:r>
          </a:p>
        </p:txBody>
      </p:sp>
      <p:sp>
        <p:nvSpPr>
          <p:cNvPr id="7" name="TextBox 6">
            <a:extLst>
              <a:ext uri="{FF2B5EF4-FFF2-40B4-BE49-F238E27FC236}">
                <a16:creationId xmlns:a16="http://schemas.microsoft.com/office/drawing/2014/main" id="{23DD0580-E84F-F69C-8CFE-C9C4DAC5F6EB}"/>
              </a:ext>
            </a:extLst>
          </p:cNvPr>
          <p:cNvSpPr txBox="1"/>
          <p:nvPr/>
        </p:nvSpPr>
        <p:spPr>
          <a:xfrm>
            <a:off x="3137178" y="1267918"/>
            <a:ext cx="1475789"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2 - We do…</a:t>
            </a:r>
          </a:p>
        </p:txBody>
      </p:sp>
      <p:sp>
        <p:nvSpPr>
          <p:cNvPr id="8" name="TextBox 7">
            <a:extLst>
              <a:ext uri="{FF2B5EF4-FFF2-40B4-BE49-F238E27FC236}">
                <a16:creationId xmlns:a16="http://schemas.microsoft.com/office/drawing/2014/main" id="{B027A708-D0E2-CA2D-3277-6C1EBB198ED4}"/>
              </a:ext>
            </a:extLst>
          </p:cNvPr>
          <p:cNvSpPr txBox="1"/>
          <p:nvPr/>
        </p:nvSpPr>
        <p:spPr>
          <a:xfrm>
            <a:off x="1396023" y="1277276"/>
            <a:ext cx="1308500"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1 - I do…</a:t>
            </a:r>
          </a:p>
        </p:txBody>
      </p:sp>
      <p:sp>
        <p:nvSpPr>
          <p:cNvPr id="9" name="TextBox 8">
            <a:extLst>
              <a:ext uri="{FF2B5EF4-FFF2-40B4-BE49-F238E27FC236}">
                <a16:creationId xmlns:a16="http://schemas.microsoft.com/office/drawing/2014/main" id="{D8747270-963E-9927-A1E3-3B87A0B78C5B}"/>
              </a:ext>
            </a:extLst>
          </p:cNvPr>
          <p:cNvSpPr txBox="1"/>
          <p:nvPr/>
        </p:nvSpPr>
        <p:spPr>
          <a:xfrm>
            <a:off x="15240" y="4728887"/>
            <a:ext cx="1601721" cy="261610"/>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INDEPENDENT PRACTICE</a:t>
            </a:r>
          </a:p>
        </p:txBody>
      </p:sp>
      <p:sp>
        <p:nvSpPr>
          <p:cNvPr id="12" name="TextBox 11">
            <a:extLst>
              <a:ext uri="{FF2B5EF4-FFF2-40B4-BE49-F238E27FC236}">
                <a16:creationId xmlns:a16="http://schemas.microsoft.com/office/drawing/2014/main" id="{E73DC8E0-8E9A-9868-6924-03AA26569D89}"/>
              </a:ext>
            </a:extLst>
          </p:cNvPr>
          <p:cNvSpPr txBox="1"/>
          <p:nvPr/>
        </p:nvSpPr>
        <p:spPr>
          <a:xfrm>
            <a:off x="1619220" y="4746755"/>
            <a:ext cx="2433295" cy="276999"/>
          </a:xfrm>
          <a:prstGeom prst="rect">
            <a:avLst/>
          </a:prstGeom>
          <a:noFill/>
        </p:spPr>
        <p:txBody>
          <a:bodyPr wrap="none" rtlCol="0">
            <a:spAutoFit/>
          </a:bodyPr>
          <a:lstStyle/>
          <a:p>
            <a:r>
              <a:rPr lang="en-GB" sz="1200" noProof="0" dirty="0"/>
              <a:t>1. Simplify these algebraic fractions:</a:t>
            </a:r>
          </a:p>
        </p:txBody>
      </p:sp>
      <p:sp>
        <p:nvSpPr>
          <p:cNvPr id="14" name="Rectangle 13">
            <a:extLst>
              <a:ext uri="{FF2B5EF4-FFF2-40B4-BE49-F238E27FC236}">
                <a16:creationId xmlns:a16="http://schemas.microsoft.com/office/drawing/2014/main" id="{94F870DD-D025-D767-C0EF-CF1C189DD001}"/>
              </a:ext>
            </a:extLst>
          </p:cNvPr>
          <p:cNvSpPr/>
          <p:nvPr/>
        </p:nvSpPr>
        <p:spPr>
          <a:xfrm>
            <a:off x="504051" y="5469547"/>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2F0CB70-BD27-8C51-DC9A-ABE3CA4BA584}"/>
                  </a:ext>
                </a:extLst>
              </p:cNvPr>
              <p:cNvSpPr txBox="1"/>
              <p:nvPr/>
            </p:nvSpPr>
            <p:spPr>
              <a:xfrm>
                <a:off x="477208" y="5111128"/>
                <a:ext cx="286938" cy="261162"/>
              </a:xfrm>
              <a:prstGeom prst="rect">
                <a:avLst/>
              </a:prstGeom>
              <a:noFill/>
            </p:spPr>
            <p:txBody>
              <a:bodyPr wrap="none" lIns="0" tIns="0" rIns="0" bIns="0" rtlCol="0">
                <a:spAutoFit/>
              </a:bodyPr>
              <a:lstStyle/>
              <a:p>
                <a:r>
                  <a:rPr lang="en-GB" sz="1200" b="0" noProof="0" dirty="0"/>
                  <a:t>a)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12</m:t>
                        </m:r>
                      </m:den>
                    </m:f>
                  </m:oMath>
                </a14:m>
                <a:endParaRPr lang="en-GB" sz="1200" noProof="0" dirty="0"/>
              </a:p>
            </p:txBody>
          </p:sp>
        </mc:Choice>
        <mc:Fallback xmlns="">
          <p:sp>
            <p:nvSpPr>
              <p:cNvPr id="15" name="TextBox 14">
                <a:extLst>
                  <a:ext uri="{FF2B5EF4-FFF2-40B4-BE49-F238E27FC236}">
                    <a16:creationId xmlns:a16="http://schemas.microsoft.com/office/drawing/2014/main" id="{42F0CB70-BD27-8C51-DC9A-ABE3CA4BA584}"/>
                  </a:ext>
                </a:extLst>
              </p:cNvPr>
              <p:cNvSpPr txBox="1">
                <a:spLocks noRot="1" noChangeAspect="1" noMove="1" noResize="1" noEditPoints="1" noAdjustHandles="1" noChangeArrowheads="1" noChangeShapeType="1" noTextEdit="1"/>
              </p:cNvSpPr>
              <p:nvPr/>
            </p:nvSpPr>
            <p:spPr>
              <a:xfrm>
                <a:off x="477208" y="5111128"/>
                <a:ext cx="286938" cy="261162"/>
              </a:xfrm>
              <a:prstGeom prst="rect">
                <a:avLst/>
              </a:prstGeom>
              <a:blipFill>
                <a:blip r:embed="rId4"/>
                <a:stretch>
                  <a:fillRect l="-31915" t="-2326" r="-10638"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2493607-D7CA-A12A-A7BC-BD79E0FBE274}"/>
                  </a:ext>
                </a:extLst>
              </p:cNvPr>
              <p:cNvSpPr txBox="1"/>
              <p:nvPr/>
            </p:nvSpPr>
            <p:spPr>
              <a:xfrm>
                <a:off x="1782906" y="5116241"/>
                <a:ext cx="296363" cy="261162"/>
              </a:xfrm>
              <a:prstGeom prst="rect">
                <a:avLst/>
              </a:prstGeom>
              <a:noFill/>
            </p:spPr>
            <p:txBody>
              <a:bodyPr wrap="none" lIns="0" tIns="0" rIns="0" bIns="0" rtlCol="0">
                <a:spAutoFit/>
              </a:bodyPr>
              <a:lstStyle/>
              <a:p>
                <a:r>
                  <a:rPr lang="en-GB" sz="1200" noProof="0" dirty="0"/>
                  <a:t>b</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12</m:t>
                        </m:r>
                      </m:den>
                    </m:f>
                  </m:oMath>
                </a14:m>
                <a:endParaRPr lang="en-GB" sz="1200" noProof="0" dirty="0"/>
              </a:p>
            </p:txBody>
          </p:sp>
        </mc:Choice>
        <mc:Fallback xmlns="">
          <p:sp>
            <p:nvSpPr>
              <p:cNvPr id="16" name="TextBox 15">
                <a:extLst>
                  <a:ext uri="{FF2B5EF4-FFF2-40B4-BE49-F238E27FC236}">
                    <a16:creationId xmlns:a16="http://schemas.microsoft.com/office/drawing/2014/main" id="{F2493607-D7CA-A12A-A7BC-BD79E0FBE274}"/>
                  </a:ext>
                </a:extLst>
              </p:cNvPr>
              <p:cNvSpPr txBox="1">
                <a:spLocks noRot="1" noChangeAspect="1" noMove="1" noResize="1" noEditPoints="1" noAdjustHandles="1" noChangeArrowheads="1" noChangeShapeType="1" noTextEdit="1"/>
              </p:cNvSpPr>
              <p:nvPr/>
            </p:nvSpPr>
            <p:spPr>
              <a:xfrm>
                <a:off x="1782906" y="5116241"/>
                <a:ext cx="296363" cy="261162"/>
              </a:xfrm>
              <a:prstGeom prst="rect">
                <a:avLst/>
              </a:prstGeom>
              <a:blipFill>
                <a:blip r:embed="rId5"/>
                <a:stretch>
                  <a:fillRect l="-30612" t="-2326" r="-8163" b="-23256"/>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CFB39FDC-19B2-32CA-E752-3D4E60C63ED9}"/>
              </a:ext>
            </a:extLst>
          </p:cNvPr>
          <p:cNvSpPr/>
          <p:nvPr/>
        </p:nvSpPr>
        <p:spPr>
          <a:xfrm>
            <a:off x="1709233" y="5471097"/>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9" name="Rectangle 18">
            <a:extLst>
              <a:ext uri="{FF2B5EF4-FFF2-40B4-BE49-F238E27FC236}">
                <a16:creationId xmlns:a16="http://schemas.microsoft.com/office/drawing/2014/main" id="{9165BEA1-D313-6359-CE0E-146FE6B0E122}"/>
              </a:ext>
            </a:extLst>
          </p:cNvPr>
          <p:cNvSpPr/>
          <p:nvPr/>
        </p:nvSpPr>
        <p:spPr>
          <a:xfrm>
            <a:off x="2914415" y="5458785"/>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0" name="Rectangle 19">
            <a:extLst>
              <a:ext uri="{FF2B5EF4-FFF2-40B4-BE49-F238E27FC236}">
                <a16:creationId xmlns:a16="http://schemas.microsoft.com/office/drawing/2014/main" id="{666D956D-ECA6-1FBB-5F70-E159A0BB81C0}"/>
              </a:ext>
            </a:extLst>
          </p:cNvPr>
          <p:cNvSpPr/>
          <p:nvPr/>
        </p:nvSpPr>
        <p:spPr>
          <a:xfrm>
            <a:off x="4119597" y="5460335"/>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1" name="Rectangle 20">
            <a:extLst>
              <a:ext uri="{FF2B5EF4-FFF2-40B4-BE49-F238E27FC236}">
                <a16:creationId xmlns:a16="http://schemas.microsoft.com/office/drawing/2014/main" id="{2C62D4F5-8C49-4653-2F7F-200AB7DAEB27}"/>
              </a:ext>
            </a:extLst>
          </p:cNvPr>
          <p:cNvSpPr/>
          <p:nvPr/>
        </p:nvSpPr>
        <p:spPr>
          <a:xfrm>
            <a:off x="5324779" y="5458785"/>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8E6B488-D755-AFDE-F847-1CF657483281}"/>
                  </a:ext>
                </a:extLst>
              </p:cNvPr>
              <p:cNvSpPr txBox="1"/>
              <p:nvPr/>
            </p:nvSpPr>
            <p:spPr>
              <a:xfrm>
                <a:off x="2924007" y="5141750"/>
                <a:ext cx="347659" cy="262188"/>
              </a:xfrm>
              <a:prstGeom prst="rect">
                <a:avLst/>
              </a:prstGeom>
              <a:noFill/>
            </p:spPr>
            <p:txBody>
              <a:bodyPr wrap="none" lIns="0" tIns="0" rIns="0" bIns="0" rtlCol="0">
                <a:spAutoFit/>
              </a:bodyPr>
              <a:lstStyle/>
              <a:p>
                <a:r>
                  <a:rPr lang="en-GB" sz="1200" noProof="0" dirty="0"/>
                  <a:t>c</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den>
                    </m:f>
                  </m:oMath>
                </a14:m>
                <a:endParaRPr lang="en-GB" sz="1200" noProof="0" dirty="0"/>
              </a:p>
            </p:txBody>
          </p:sp>
        </mc:Choice>
        <mc:Fallback xmlns="">
          <p:sp>
            <p:nvSpPr>
              <p:cNvPr id="22" name="TextBox 21">
                <a:extLst>
                  <a:ext uri="{FF2B5EF4-FFF2-40B4-BE49-F238E27FC236}">
                    <a16:creationId xmlns:a16="http://schemas.microsoft.com/office/drawing/2014/main" id="{58E6B488-D755-AFDE-F847-1CF657483281}"/>
                  </a:ext>
                </a:extLst>
              </p:cNvPr>
              <p:cNvSpPr txBox="1">
                <a:spLocks noRot="1" noChangeAspect="1" noMove="1" noResize="1" noEditPoints="1" noAdjustHandles="1" noChangeArrowheads="1" noChangeShapeType="1" noTextEdit="1"/>
              </p:cNvSpPr>
              <p:nvPr/>
            </p:nvSpPr>
            <p:spPr>
              <a:xfrm>
                <a:off x="2924007" y="5141750"/>
                <a:ext cx="347659" cy="262188"/>
              </a:xfrm>
              <a:prstGeom prst="rect">
                <a:avLst/>
              </a:prstGeom>
              <a:blipFill>
                <a:blip r:embed="rId6"/>
                <a:stretch>
                  <a:fillRect l="-28070" t="-2326" r="-7018"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C590EC3-ABB6-3EDA-DC05-D723D45FBA84}"/>
                  </a:ext>
                </a:extLst>
              </p:cNvPr>
              <p:cNvSpPr txBox="1"/>
              <p:nvPr/>
            </p:nvSpPr>
            <p:spPr>
              <a:xfrm>
                <a:off x="4116404" y="5141750"/>
                <a:ext cx="362087" cy="262188"/>
              </a:xfrm>
              <a:prstGeom prst="rect">
                <a:avLst/>
              </a:prstGeom>
              <a:noFill/>
            </p:spPr>
            <p:txBody>
              <a:bodyPr wrap="none" lIns="0" tIns="0" rIns="0" bIns="0" rtlCol="0">
                <a:spAutoFit/>
              </a:bodyPr>
              <a:lstStyle/>
              <a:p>
                <a:r>
                  <a:rPr lang="en-GB" sz="1200" noProof="0" dirty="0"/>
                  <a:t>d</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6</m:t>
                        </m:r>
                      </m:den>
                    </m:f>
                  </m:oMath>
                </a14:m>
                <a:endParaRPr lang="en-GB" sz="1200" noProof="0" dirty="0"/>
              </a:p>
            </p:txBody>
          </p:sp>
        </mc:Choice>
        <mc:Fallback xmlns="">
          <p:sp>
            <p:nvSpPr>
              <p:cNvPr id="23" name="TextBox 22">
                <a:extLst>
                  <a:ext uri="{FF2B5EF4-FFF2-40B4-BE49-F238E27FC236}">
                    <a16:creationId xmlns:a16="http://schemas.microsoft.com/office/drawing/2014/main" id="{3C590EC3-ABB6-3EDA-DC05-D723D45FBA84}"/>
                  </a:ext>
                </a:extLst>
              </p:cNvPr>
              <p:cNvSpPr txBox="1">
                <a:spLocks noRot="1" noChangeAspect="1" noMove="1" noResize="1" noEditPoints="1" noAdjustHandles="1" noChangeArrowheads="1" noChangeShapeType="1" noTextEdit="1"/>
              </p:cNvSpPr>
              <p:nvPr/>
            </p:nvSpPr>
            <p:spPr>
              <a:xfrm>
                <a:off x="4116404" y="5141750"/>
                <a:ext cx="362087" cy="262188"/>
              </a:xfrm>
              <a:prstGeom prst="rect">
                <a:avLst/>
              </a:prstGeom>
              <a:blipFill>
                <a:blip r:embed="rId7"/>
                <a:stretch>
                  <a:fillRect l="-25000" t="-2326" r="-6667"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CA933F2-E98B-077D-8200-0AB00D2A62E2}"/>
                  </a:ext>
                </a:extLst>
              </p:cNvPr>
              <p:cNvSpPr txBox="1"/>
              <p:nvPr/>
            </p:nvSpPr>
            <p:spPr>
              <a:xfrm>
                <a:off x="5323229" y="5122324"/>
                <a:ext cx="358881" cy="262316"/>
              </a:xfrm>
              <a:prstGeom prst="rect">
                <a:avLst/>
              </a:prstGeom>
              <a:noFill/>
            </p:spPr>
            <p:txBody>
              <a:bodyPr wrap="none" lIns="0" tIns="0" rIns="0" bIns="0" rtlCol="0">
                <a:spAutoFit/>
              </a:bodyPr>
              <a:lstStyle/>
              <a:p>
                <a:r>
                  <a:rPr lang="en-GB" sz="1200" noProof="0" dirty="0"/>
                  <a:t>e</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6</m:t>
                        </m:r>
                        <m:r>
                          <a:rPr lang="en-GB" sz="1200" b="0" i="1" noProof="0" smtClean="0">
                            <a:latin typeface="Cambria Math" panose="02040503050406030204" pitchFamily="18" charset="0"/>
                          </a:rPr>
                          <m:t>𝑥</m:t>
                        </m:r>
                      </m:den>
                    </m:f>
                  </m:oMath>
                </a14:m>
                <a:endParaRPr lang="en-GB" sz="1200" noProof="0" dirty="0"/>
              </a:p>
            </p:txBody>
          </p:sp>
        </mc:Choice>
        <mc:Fallback xmlns="">
          <p:sp>
            <p:nvSpPr>
              <p:cNvPr id="24" name="TextBox 23">
                <a:extLst>
                  <a:ext uri="{FF2B5EF4-FFF2-40B4-BE49-F238E27FC236}">
                    <a16:creationId xmlns:a16="http://schemas.microsoft.com/office/drawing/2014/main" id="{5CA933F2-E98B-077D-8200-0AB00D2A62E2}"/>
                  </a:ext>
                </a:extLst>
              </p:cNvPr>
              <p:cNvSpPr txBox="1">
                <a:spLocks noRot="1" noChangeAspect="1" noMove="1" noResize="1" noEditPoints="1" noAdjustHandles="1" noChangeArrowheads="1" noChangeShapeType="1" noTextEdit="1"/>
              </p:cNvSpPr>
              <p:nvPr/>
            </p:nvSpPr>
            <p:spPr>
              <a:xfrm>
                <a:off x="5323229" y="5122324"/>
                <a:ext cx="358881" cy="262316"/>
              </a:xfrm>
              <a:prstGeom prst="rect">
                <a:avLst/>
              </a:prstGeom>
              <a:blipFill>
                <a:blip r:embed="rId8"/>
                <a:stretch>
                  <a:fillRect l="-25424" t="-2326" r="-6780" b="-23256"/>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7A75DF4F-4400-40CF-4677-70E01F63994D}"/>
              </a:ext>
            </a:extLst>
          </p:cNvPr>
          <p:cNvSpPr/>
          <p:nvPr/>
        </p:nvSpPr>
        <p:spPr>
          <a:xfrm>
            <a:off x="504051" y="7038260"/>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EB3061E-17EF-3111-99F0-801DBF29ED44}"/>
                  </a:ext>
                </a:extLst>
              </p:cNvPr>
              <p:cNvSpPr txBox="1"/>
              <p:nvPr/>
            </p:nvSpPr>
            <p:spPr>
              <a:xfrm>
                <a:off x="477208" y="6679841"/>
                <a:ext cx="392030" cy="287002"/>
              </a:xfrm>
              <a:prstGeom prst="rect">
                <a:avLst/>
              </a:prstGeom>
              <a:noFill/>
            </p:spPr>
            <p:txBody>
              <a:bodyPr wrap="none" lIns="0" tIns="0" rIns="0" bIns="0" rtlCol="0">
                <a:spAutoFit/>
              </a:bodyPr>
              <a:lstStyle/>
              <a:p>
                <a:r>
                  <a:rPr lang="en-GB" sz="1200" noProof="0" dirty="0"/>
                  <a:t>f</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3</m:t>
                        </m:r>
                      </m:den>
                    </m:f>
                  </m:oMath>
                </a14:m>
                <a:endParaRPr lang="en-GB" sz="1200" noProof="0" dirty="0"/>
              </a:p>
            </p:txBody>
          </p:sp>
        </mc:Choice>
        <mc:Fallback xmlns="">
          <p:sp>
            <p:nvSpPr>
              <p:cNvPr id="26" name="TextBox 25">
                <a:extLst>
                  <a:ext uri="{FF2B5EF4-FFF2-40B4-BE49-F238E27FC236}">
                    <a16:creationId xmlns:a16="http://schemas.microsoft.com/office/drawing/2014/main" id="{FEB3061E-17EF-3111-99F0-801DBF29ED44}"/>
                  </a:ext>
                </a:extLst>
              </p:cNvPr>
              <p:cNvSpPr txBox="1">
                <a:spLocks noRot="1" noChangeAspect="1" noMove="1" noResize="1" noEditPoints="1" noAdjustHandles="1" noChangeArrowheads="1" noChangeShapeType="1" noTextEdit="1"/>
              </p:cNvSpPr>
              <p:nvPr/>
            </p:nvSpPr>
            <p:spPr>
              <a:xfrm>
                <a:off x="477208" y="6679841"/>
                <a:ext cx="392030" cy="287002"/>
              </a:xfrm>
              <a:prstGeom prst="rect">
                <a:avLst/>
              </a:prstGeom>
              <a:blipFill>
                <a:blip r:embed="rId9"/>
                <a:stretch>
                  <a:fillRect l="-23077" r="-4615" b="-191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AA0EFEE-B265-2FA2-559D-DC8E70DA1603}"/>
                  </a:ext>
                </a:extLst>
              </p:cNvPr>
              <p:cNvSpPr txBox="1"/>
              <p:nvPr/>
            </p:nvSpPr>
            <p:spPr>
              <a:xfrm>
                <a:off x="1782906" y="6684954"/>
                <a:ext cx="415435" cy="287002"/>
              </a:xfrm>
              <a:prstGeom prst="rect">
                <a:avLst/>
              </a:prstGeom>
              <a:noFill/>
            </p:spPr>
            <p:txBody>
              <a:bodyPr wrap="none" lIns="0" tIns="0" rIns="0" bIns="0" rtlCol="0">
                <a:spAutoFit/>
              </a:bodyPr>
              <a:lstStyle/>
              <a:p>
                <a:r>
                  <a:rPr lang="en-GB" sz="1200" noProof="0" dirty="0"/>
                  <a:t>g</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3</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4</m:t>
                            </m:r>
                          </m:sup>
                        </m:sSup>
                      </m:den>
                    </m:f>
                  </m:oMath>
                </a14:m>
                <a:endParaRPr lang="en-GB" sz="1200" noProof="0" dirty="0"/>
              </a:p>
            </p:txBody>
          </p:sp>
        </mc:Choice>
        <mc:Fallback xmlns="">
          <p:sp>
            <p:nvSpPr>
              <p:cNvPr id="27" name="TextBox 26">
                <a:extLst>
                  <a:ext uri="{FF2B5EF4-FFF2-40B4-BE49-F238E27FC236}">
                    <a16:creationId xmlns:a16="http://schemas.microsoft.com/office/drawing/2014/main" id="{3AA0EFEE-B265-2FA2-559D-DC8E70DA1603}"/>
                  </a:ext>
                </a:extLst>
              </p:cNvPr>
              <p:cNvSpPr txBox="1">
                <a:spLocks noRot="1" noChangeAspect="1" noMove="1" noResize="1" noEditPoints="1" noAdjustHandles="1" noChangeArrowheads="1" noChangeShapeType="1" noTextEdit="1"/>
              </p:cNvSpPr>
              <p:nvPr/>
            </p:nvSpPr>
            <p:spPr>
              <a:xfrm>
                <a:off x="1782906" y="6684954"/>
                <a:ext cx="415435" cy="287002"/>
              </a:xfrm>
              <a:prstGeom prst="rect">
                <a:avLst/>
              </a:prstGeom>
              <a:blipFill>
                <a:blip r:embed="rId10"/>
                <a:stretch>
                  <a:fillRect l="-21739" r="-2899" b="-19149"/>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58FD2CD6-5A79-9E96-4A7B-4DDC41A89473}"/>
              </a:ext>
            </a:extLst>
          </p:cNvPr>
          <p:cNvSpPr/>
          <p:nvPr/>
        </p:nvSpPr>
        <p:spPr>
          <a:xfrm>
            <a:off x="1709233" y="7039810"/>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9" name="Rectangle 28">
            <a:extLst>
              <a:ext uri="{FF2B5EF4-FFF2-40B4-BE49-F238E27FC236}">
                <a16:creationId xmlns:a16="http://schemas.microsoft.com/office/drawing/2014/main" id="{1A21E8E1-191D-53FC-3E65-4257EDEDB169}"/>
              </a:ext>
            </a:extLst>
          </p:cNvPr>
          <p:cNvSpPr/>
          <p:nvPr/>
        </p:nvSpPr>
        <p:spPr>
          <a:xfrm>
            <a:off x="2914415" y="7027498"/>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0" name="Rectangle 29">
            <a:extLst>
              <a:ext uri="{FF2B5EF4-FFF2-40B4-BE49-F238E27FC236}">
                <a16:creationId xmlns:a16="http://schemas.microsoft.com/office/drawing/2014/main" id="{26F928C0-7C67-4F80-E7C6-AE142BB3802C}"/>
              </a:ext>
            </a:extLst>
          </p:cNvPr>
          <p:cNvSpPr/>
          <p:nvPr/>
        </p:nvSpPr>
        <p:spPr>
          <a:xfrm>
            <a:off x="4119597" y="7029048"/>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2" name="Rectangle 31">
            <a:extLst>
              <a:ext uri="{FF2B5EF4-FFF2-40B4-BE49-F238E27FC236}">
                <a16:creationId xmlns:a16="http://schemas.microsoft.com/office/drawing/2014/main" id="{E1373CE6-B8B1-F47A-3202-33A2D458BAD0}"/>
              </a:ext>
            </a:extLst>
          </p:cNvPr>
          <p:cNvSpPr/>
          <p:nvPr/>
        </p:nvSpPr>
        <p:spPr>
          <a:xfrm>
            <a:off x="5324779" y="7027498"/>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9B6A1FF-4B36-D757-D109-FEF9CBE8FBB1}"/>
                  </a:ext>
                </a:extLst>
              </p:cNvPr>
              <p:cNvSpPr txBox="1"/>
              <p:nvPr/>
            </p:nvSpPr>
            <p:spPr>
              <a:xfrm>
                <a:off x="2924007" y="6710463"/>
                <a:ext cx="555921" cy="288028"/>
              </a:xfrm>
              <a:prstGeom prst="rect">
                <a:avLst/>
              </a:prstGeom>
              <a:noFill/>
            </p:spPr>
            <p:txBody>
              <a:bodyPr wrap="none" lIns="0" tIns="0" rIns="0" bIns="0" rtlCol="0">
                <a:spAutoFit/>
              </a:bodyPr>
              <a:lstStyle/>
              <a:p>
                <a:r>
                  <a:rPr lang="en-GB" sz="1200" noProof="0" dirty="0"/>
                  <a:t>h</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𝑎</m:t>
                            </m:r>
                          </m:e>
                          <m:sup>
                            <m:r>
                              <a:rPr lang="en-GB" sz="1200" b="0" i="1" noProof="0" smtClean="0">
                                <a:latin typeface="Cambria Math" panose="02040503050406030204" pitchFamily="18" charset="0"/>
                              </a:rPr>
                              <m:t>3</m:t>
                            </m:r>
                          </m:sup>
                        </m:sSup>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3</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oMath>
                </a14:m>
                <a:endParaRPr lang="en-GB" sz="1200" noProof="0" dirty="0"/>
              </a:p>
            </p:txBody>
          </p:sp>
        </mc:Choice>
        <mc:Fallback xmlns="">
          <p:sp>
            <p:nvSpPr>
              <p:cNvPr id="33" name="TextBox 32">
                <a:extLst>
                  <a:ext uri="{FF2B5EF4-FFF2-40B4-BE49-F238E27FC236}">
                    <a16:creationId xmlns:a16="http://schemas.microsoft.com/office/drawing/2014/main" id="{89B6A1FF-4B36-D757-D109-FEF9CBE8FBB1}"/>
                  </a:ext>
                </a:extLst>
              </p:cNvPr>
              <p:cNvSpPr txBox="1">
                <a:spLocks noRot="1" noChangeAspect="1" noMove="1" noResize="1" noEditPoints="1" noAdjustHandles="1" noChangeArrowheads="1" noChangeShapeType="1" noTextEdit="1"/>
              </p:cNvSpPr>
              <p:nvPr/>
            </p:nvSpPr>
            <p:spPr>
              <a:xfrm>
                <a:off x="2924007" y="6710463"/>
                <a:ext cx="555921" cy="288028"/>
              </a:xfrm>
              <a:prstGeom prst="rect">
                <a:avLst/>
              </a:prstGeom>
              <a:blipFill>
                <a:blip r:embed="rId11"/>
                <a:stretch>
                  <a:fillRect l="-17582" r="-3297" b="-191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9C7BE6B-8066-073C-E519-05A3C1C07741}"/>
                  </a:ext>
                </a:extLst>
              </p:cNvPr>
              <p:cNvSpPr txBox="1"/>
              <p:nvPr/>
            </p:nvSpPr>
            <p:spPr>
              <a:xfrm>
                <a:off x="4116404" y="6710463"/>
                <a:ext cx="317203" cy="262188"/>
              </a:xfrm>
              <a:prstGeom prst="rect">
                <a:avLst/>
              </a:prstGeom>
              <a:noFill/>
            </p:spPr>
            <p:txBody>
              <a:bodyPr wrap="none" lIns="0" tIns="0" rIns="0" bIns="0" rtlCol="0">
                <a:spAutoFit/>
              </a:bodyPr>
              <a:lstStyle/>
              <a:p>
                <a:r>
                  <a:rPr lang="en-GB" sz="1200" noProof="0" dirty="0" err="1"/>
                  <a:t>i</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3</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oMath>
                </a14:m>
                <a:endParaRPr lang="en-GB" sz="1200" noProof="0" dirty="0"/>
              </a:p>
            </p:txBody>
          </p:sp>
        </mc:Choice>
        <mc:Fallback xmlns="">
          <p:sp>
            <p:nvSpPr>
              <p:cNvPr id="52" name="TextBox 51">
                <a:extLst>
                  <a:ext uri="{FF2B5EF4-FFF2-40B4-BE49-F238E27FC236}">
                    <a16:creationId xmlns:a16="http://schemas.microsoft.com/office/drawing/2014/main" id="{89C7BE6B-8066-073C-E519-05A3C1C07741}"/>
                  </a:ext>
                </a:extLst>
              </p:cNvPr>
              <p:cNvSpPr txBox="1">
                <a:spLocks noRot="1" noChangeAspect="1" noMove="1" noResize="1" noEditPoints="1" noAdjustHandles="1" noChangeArrowheads="1" noChangeShapeType="1" noTextEdit="1"/>
              </p:cNvSpPr>
              <p:nvPr/>
            </p:nvSpPr>
            <p:spPr>
              <a:xfrm>
                <a:off x="4116404" y="6710463"/>
                <a:ext cx="317203" cy="262188"/>
              </a:xfrm>
              <a:prstGeom prst="rect">
                <a:avLst/>
              </a:prstGeom>
              <a:blipFill>
                <a:blip r:embed="rId12"/>
                <a:stretch>
                  <a:fillRect l="-28846" t="-2326" r="-7692"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1B52B83-9DCD-1000-6875-3070F307E3F0}"/>
                  </a:ext>
                </a:extLst>
              </p:cNvPr>
              <p:cNvSpPr txBox="1"/>
              <p:nvPr/>
            </p:nvSpPr>
            <p:spPr>
              <a:xfrm>
                <a:off x="5323229" y="6691037"/>
                <a:ext cx="453457" cy="287002"/>
              </a:xfrm>
              <a:prstGeom prst="rect">
                <a:avLst/>
              </a:prstGeom>
              <a:noFill/>
            </p:spPr>
            <p:txBody>
              <a:bodyPr wrap="none" lIns="0" tIns="0" rIns="0" bIns="0" rtlCol="0">
                <a:spAutoFit/>
              </a:bodyPr>
              <a:lstStyle/>
              <a:p>
                <a:r>
                  <a:rPr lang="en-GB" sz="1200" noProof="0" dirty="0"/>
                  <a:t>j</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10</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7</m:t>
                            </m:r>
                          </m:sup>
                        </m:sSup>
                        <m:r>
                          <a:rPr lang="en-GB" sz="1200" b="0" i="1" noProof="0" smtClean="0">
                            <a:latin typeface="Cambria Math" panose="02040503050406030204" pitchFamily="18" charset="0"/>
                          </a:rPr>
                          <m:t>𝑦</m:t>
                        </m:r>
                      </m:num>
                      <m:den>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den>
                    </m:f>
                  </m:oMath>
                </a14:m>
                <a:endParaRPr lang="en-GB" sz="1200" noProof="0" dirty="0"/>
              </a:p>
            </p:txBody>
          </p:sp>
        </mc:Choice>
        <mc:Fallback xmlns="">
          <p:sp>
            <p:nvSpPr>
              <p:cNvPr id="53" name="TextBox 52">
                <a:extLst>
                  <a:ext uri="{FF2B5EF4-FFF2-40B4-BE49-F238E27FC236}">
                    <a16:creationId xmlns:a16="http://schemas.microsoft.com/office/drawing/2014/main" id="{41B52B83-9DCD-1000-6875-3070F307E3F0}"/>
                  </a:ext>
                </a:extLst>
              </p:cNvPr>
              <p:cNvSpPr txBox="1">
                <a:spLocks noRot="1" noChangeAspect="1" noMove="1" noResize="1" noEditPoints="1" noAdjustHandles="1" noChangeArrowheads="1" noChangeShapeType="1" noTextEdit="1"/>
              </p:cNvSpPr>
              <p:nvPr/>
            </p:nvSpPr>
            <p:spPr>
              <a:xfrm>
                <a:off x="5323229" y="6691037"/>
                <a:ext cx="453457" cy="287002"/>
              </a:xfrm>
              <a:prstGeom prst="rect">
                <a:avLst/>
              </a:prstGeom>
              <a:blipFill>
                <a:blip r:embed="rId13"/>
                <a:stretch>
                  <a:fillRect l="-20000" r="-6667" b="-19149"/>
                </a:stretch>
              </a:blipFill>
            </p:spPr>
            <p:txBody>
              <a:bodyPr/>
              <a:lstStyle/>
              <a:p>
                <a:r>
                  <a:rPr lang="en-US">
                    <a:noFill/>
                  </a:rPr>
                  <a:t> </a:t>
                </a:r>
              </a:p>
            </p:txBody>
          </p:sp>
        </mc:Fallback>
      </mc:AlternateContent>
      <p:sp>
        <p:nvSpPr>
          <p:cNvPr id="54" name="TextBox 53">
            <a:extLst>
              <a:ext uri="{FF2B5EF4-FFF2-40B4-BE49-F238E27FC236}">
                <a16:creationId xmlns:a16="http://schemas.microsoft.com/office/drawing/2014/main" id="{9C028328-FAC8-ACA4-89F0-432C3A3252CE}"/>
              </a:ext>
            </a:extLst>
          </p:cNvPr>
          <p:cNvSpPr txBox="1"/>
          <p:nvPr/>
        </p:nvSpPr>
        <p:spPr>
          <a:xfrm>
            <a:off x="0" y="-13289"/>
            <a:ext cx="2396426" cy="276999"/>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Simplifying basic algebraic fractions</a:t>
            </a:r>
          </a:p>
        </p:txBody>
      </p:sp>
      <p:sp>
        <p:nvSpPr>
          <p:cNvPr id="55" name="TextBox 54">
            <a:extLst>
              <a:ext uri="{FF2B5EF4-FFF2-40B4-BE49-F238E27FC236}">
                <a16:creationId xmlns:a16="http://schemas.microsoft.com/office/drawing/2014/main" id="{E7F97A79-E6CC-0858-7327-707A0A5DEB57}"/>
              </a:ext>
            </a:extLst>
          </p:cNvPr>
          <p:cNvSpPr txBox="1"/>
          <p:nvPr/>
        </p:nvSpPr>
        <p:spPr>
          <a:xfrm>
            <a:off x="169583" y="263710"/>
            <a:ext cx="6501428" cy="830997"/>
          </a:xfrm>
          <a:prstGeom prst="rect">
            <a:avLst/>
          </a:prstGeom>
          <a:noFill/>
          <a:ln>
            <a:solidFill>
              <a:schemeClr val="tx1"/>
            </a:solidFill>
          </a:ln>
        </p:spPr>
        <p:txBody>
          <a:bodyPr wrap="square" rtlCol="0">
            <a:spAutoFit/>
          </a:bodyPr>
          <a:lstStyle/>
          <a:p>
            <a:r>
              <a:rPr lang="en-GB" sz="1200" noProof="0" dirty="0"/>
              <a:t>The rules for simplifying algebraic fractions are like those for simplifying a normal fraction: divide (or occasionally multiply) the numerator and denominator by the same amount. </a:t>
            </a:r>
          </a:p>
          <a:p>
            <a:endParaRPr lang="en-GB" sz="1200" noProof="0" dirty="0"/>
          </a:p>
          <a:p>
            <a:r>
              <a:rPr lang="en-GB" sz="1200" noProof="0" dirty="0"/>
              <a:t>We begin below by simplifying fractions with only single terms in numerator and denominator:</a:t>
            </a:r>
          </a:p>
        </p:txBody>
      </p:sp>
      <p:sp>
        <p:nvSpPr>
          <p:cNvPr id="56" name="TextBox 55">
            <a:extLst>
              <a:ext uri="{FF2B5EF4-FFF2-40B4-BE49-F238E27FC236}">
                <a16:creationId xmlns:a16="http://schemas.microsoft.com/office/drawing/2014/main" id="{3E79164E-BDB8-4E01-3F9D-94412D7D21FA}"/>
              </a:ext>
            </a:extLst>
          </p:cNvPr>
          <p:cNvSpPr txBox="1"/>
          <p:nvPr/>
        </p:nvSpPr>
        <p:spPr>
          <a:xfrm>
            <a:off x="36766" y="8182234"/>
            <a:ext cx="3465436" cy="276999"/>
          </a:xfrm>
          <a:prstGeom prst="rect">
            <a:avLst/>
          </a:prstGeom>
          <a:noFill/>
        </p:spPr>
        <p:txBody>
          <a:bodyPr wrap="none" rtlCol="0">
            <a:spAutoFit/>
          </a:bodyPr>
          <a:lstStyle/>
          <a:p>
            <a:r>
              <a:rPr lang="en-GB" sz="1200" noProof="0" dirty="0"/>
              <a:t>2. Explain the mistake in the following simplification:</a:t>
            </a:r>
          </a:p>
        </p:txBody>
      </p:sp>
      <p:pic>
        <p:nvPicPr>
          <p:cNvPr id="62" name="Picture 61" descr="A math problem with numbers&#10;&#10;AI-generated content may be incorrect.">
            <a:extLst>
              <a:ext uri="{FF2B5EF4-FFF2-40B4-BE49-F238E27FC236}">
                <a16:creationId xmlns:a16="http://schemas.microsoft.com/office/drawing/2014/main" id="{2B300E51-057F-1D4A-4F8F-E6C8CE3D4B2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61089" y="8534316"/>
            <a:ext cx="6076600" cy="1253667"/>
          </a:xfrm>
          <a:prstGeom prst="rect">
            <a:avLst/>
          </a:prstGeom>
        </p:spPr>
      </p:pic>
    </p:spTree>
    <p:extLst>
      <p:ext uri="{BB962C8B-B14F-4D97-AF65-F5344CB8AC3E}">
        <p14:creationId xmlns:p14="http://schemas.microsoft.com/office/powerpoint/2010/main" val="1389947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C65E48-8C3D-6849-AD77-7AD8678AD8DA}"/>
              </a:ext>
            </a:extLst>
          </p:cNvPr>
          <p:cNvSpPr txBox="1"/>
          <p:nvPr/>
        </p:nvSpPr>
        <p:spPr>
          <a:xfrm>
            <a:off x="1355" y="14281"/>
            <a:ext cx="3775136" cy="276999"/>
          </a:xfrm>
          <a:prstGeom prst="rect">
            <a:avLst/>
          </a:prstGeom>
          <a:solidFill>
            <a:srgbClr val="0070C0"/>
          </a:solidFill>
        </p:spPr>
        <p:txBody>
          <a:bodyPr wrap="none" rtlCol="0" anchor="ctr">
            <a:spAutoFit/>
          </a:bodyPr>
          <a:lstStyle/>
          <a:p>
            <a:pPr algn="r"/>
            <a:r>
              <a:rPr lang="en-GB" sz="1200" b="1" noProof="0" dirty="0">
                <a:solidFill>
                  <a:schemeClr val="bg1"/>
                </a:solidFill>
              </a:rPr>
              <a:t>Simplifying simple algebraic fractions using factorisation</a:t>
            </a:r>
          </a:p>
        </p:txBody>
      </p:sp>
      <p:sp>
        <p:nvSpPr>
          <p:cNvPr id="3" name="TextBox 2">
            <a:extLst>
              <a:ext uri="{FF2B5EF4-FFF2-40B4-BE49-F238E27FC236}">
                <a16:creationId xmlns:a16="http://schemas.microsoft.com/office/drawing/2014/main" id="{6EAE242C-3BEA-324C-B746-6B1087575622}"/>
              </a:ext>
            </a:extLst>
          </p:cNvPr>
          <p:cNvSpPr txBox="1"/>
          <p:nvPr/>
        </p:nvSpPr>
        <p:spPr>
          <a:xfrm>
            <a:off x="0" y="786834"/>
            <a:ext cx="1194558" cy="261610"/>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Knowledge Check</a:t>
            </a:r>
          </a:p>
        </p:txBody>
      </p:sp>
      <p:sp>
        <p:nvSpPr>
          <p:cNvPr id="4" name="TextBox 3"/>
          <p:cNvSpPr txBox="1"/>
          <p:nvPr/>
        </p:nvSpPr>
        <p:spPr>
          <a:xfrm>
            <a:off x="1301274" y="835643"/>
            <a:ext cx="1936428" cy="276999"/>
          </a:xfrm>
          <a:prstGeom prst="rect">
            <a:avLst/>
          </a:prstGeom>
          <a:noFill/>
        </p:spPr>
        <p:txBody>
          <a:bodyPr wrap="none" rtlCol="0">
            <a:spAutoFit/>
          </a:bodyPr>
          <a:lstStyle/>
          <a:p>
            <a:r>
              <a:rPr lang="en-GB" sz="1200" noProof="0" dirty="0"/>
              <a:t>Factorise these expressions:</a:t>
            </a:r>
          </a:p>
        </p:txBody>
      </p:sp>
      <p:sp>
        <p:nvSpPr>
          <p:cNvPr id="5" name="Rectangle 4">
            <a:extLst>
              <a:ext uri="{FF2B5EF4-FFF2-40B4-BE49-F238E27FC236}">
                <a16:creationId xmlns:a16="http://schemas.microsoft.com/office/drawing/2014/main" id="{B16CFEF2-A65A-6142-861C-58ACADF7EEFB}"/>
              </a:ext>
            </a:extLst>
          </p:cNvPr>
          <p:cNvSpPr/>
          <p:nvPr/>
        </p:nvSpPr>
        <p:spPr>
          <a:xfrm>
            <a:off x="151059" y="1432584"/>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6" name="TextBox 5"/>
              <p:cNvSpPr txBox="1"/>
              <p:nvPr/>
            </p:nvSpPr>
            <p:spPr>
              <a:xfrm>
                <a:off x="182172" y="1090142"/>
                <a:ext cx="680571" cy="184666"/>
              </a:xfrm>
              <a:prstGeom prst="rect">
                <a:avLst/>
              </a:prstGeom>
              <a:noFill/>
            </p:spPr>
            <p:txBody>
              <a:bodyPr wrap="none" lIns="0" tIns="0" rIns="0" bIns="0" rtlCol="0">
                <a:spAutoFit/>
              </a:bodyPr>
              <a:lstStyle/>
              <a:p>
                <a:r>
                  <a:rPr lang="en-GB" sz="1200" noProof="0" dirty="0"/>
                  <a:t>a</a:t>
                </a:r>
                <a:r>
                  <a:rPr lang="en-GB" sz="1200" b="0" noProof="0" dirty="0"/>
                  <a:t>) </a:t>
                </a:r>
                <a14:m>
                  <m:oMath xmlns:m="http://schemas.openxmlformats.org/officeDocument/2006/math">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+12</m:t>
                    </m:r>
                  </m:oMath>
                </a14:m>
                <a:endParaRPr lang="en-GB" sz="1200" noProof="0" dirty="0"/>
              </a:p>
            </p:txBody>
          </p:sp>
        </mc:Choice>
        <mc:Fallback xmlns="">
          <p:sp>
            <p:nvSpPr>
              <p:cNvPr id="6" name="TextBox 5"/>
              <p:cNvSpPr txBox="1">
                <a:spLocks noRot="1" noChangeAspect="1" noMove="1" noResize="1" noEditPoints="1" noAdjustHandles="1" noChangeArrowheads="1" noChangeShapeType="1" noTextEdit="1"/>
              </p:cNvSpPr>
              <p:nvPr/>
            </p:nvSpPr>
            <p:spPr>
              <a:xfrm>
                <a:off x="182172" y="1090142"/>
                <a:ext cx="680571" cy="184666"/>
              </a:xfrm>
              <a:prstGeom prst="rect">
                <a:avLst/>
              </a:prstGeom>
              <a:blipFill>
                <a:blip r:embed="rId2"/>
                <a:stretch>
                  <a:fillRect l="-14286" t="-26667" r="-7143"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870164" y="1090270"/>
                <a:ext cx="602024" cy="184666"/>
              </a:xfrm>
              <a:prstGeom prst="rect">
                <a:avLst/>
              </a:prstGeom>
              <a:noFill/>
            </p:spPr>
            <p:txBody>
              <a:bodyPr wrap="none" lIns="0" tIns="0" rIns="0" bIns="0" rtlCol="0">
                <a:spAutoFit/>
              </a:bodyPr>
              <a:lstStyle/>
              <a:p>
                <a:r>
                  <a:rPr lang="en-GB" sz="1200" noProof="0" dirty="0"/>
                  <a:t>b</a:t>
                </a:r>
                <a:r>
                  <a:rPr lang="en-GB" sz="1200" b="0" noProof="0" dirty="0"/>
                  <a:t>) </a:t>
                </a:r>
                <a14:m>
                  <m:oMath xmlns:m="http://schemas.openxmlformats.org/officeDocument/2006/math">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−9</m:t>
                    </m:r>
                  </m:oMath>
                </a14:m>
                <a:endParaRPr lang="en-GB" sz="1200" noProof="0" dirty="0"/>
              </a:p>
            </p:txBody>
          </p:sp>
        </mc:Choice>
        <mc:Fallback xmlns="">
          <p:sp>
            <p:nvSpPr>
              <p:cNvPr id="7" name="TextBox 6"/>
              <p:cNvSpPr txBox="1">
                <a:spLocks noRot="1" noChangeAspect="1" noMove="1" noResize="1" noEditPoints="1" noAdjustHandles="1" noChangeArrowheads="1" noChangeShapeType="1" noTextEdit="1"/>
              </p:cNvSpPr>
              <p:nvPr/>
            </p:nvSpPr>
            <p:spPr>
              <a:xfrm>
                <a:off x="1870164" y="1090270"/>
                <a:ext cx="602024" cy="184666"/>
              </a:xfrm>
              <a:prstGeom prst="rect">
                <a:avLst/>
              </a:prstGeom>
              <a:blipFill>
                <a:blip r:embed="rId3"/>
                <a:stretch>
                  <a:fillRect l="-16162" t="-26667" r="-8081" b="-50000"/>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B16CFEF2-A65A-6142-861C-58ACADF7EEFB}"/>
              </a:ext>
            </a:extLst>
          </p:cNvPr>
          <p:cNvSpPr/>
          <p:nvPr/>
        </p:nvSpPr>
        <p:spPr>
          <a:xfrm>
            <a:off x="1811271" y="1432584"/>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9" name="Rectangle 8">
            <a:extLst>
              <a:ext uri="{FF2B5EF4-FFF2-40B4-BE49-F238E27FC236}">
                <a16:creationId xmlns:a16="http://schemas.microsoft.com/office/drawing/2014/main" id="{B16CFEF2-A65A-6142-861C-58ACADF7EEFB}"/>
              </a:ext>
            </a:extLst>
          </p:cNvPr>
          <p:cNvSpPr/>
          <p:nvPr/>
        </p:nvSpPr>
        <p:spPr>
          <a:xfrm>
            <a:off x="3483058" y="1432584"/>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0" name="Rectangle 9">
            <a:extLst>
              <a:ext uri="{FF2B5EF4-FFF2-40B4-BE49-F238E27FC236}">
                <a16:creationId xmlns:a16="http://schemas.microsoft.com/office/drawing/2014/main" id="{B16CFEF2-A65A-6142-861C-58ACADF7EEFB}"/>
              </a:ext>
            </a:extLst>
          </p:cNvPr>
          <p:cNvSpPr/>
          <p:nvPr/>
        </p:nvSpPr>
        <p:spPr>
          <a:xfrm>
            <a:off x="5160057" y="1432584"/>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11" name="TextBox 10"/>
              <p:cNvSpPr txBox="1"/>
              <p:nvPr/>
            </p:nvSpPr>
            <p:spPr>
              <a:xfrm>
                <a:off x="3482558" y="1090270"/>
                <a:ext cx="587597" cy="184666"/>
              </a:xfrm>
              <a:prstGeom prst="rect">
                <a:avLst/>
              </a:prstGeom>
              <a:noFill/>
            </p:spPr>
            <p:txBody>
              <a:bodyPr wrap="none" lIns="0" tIns="0" rIns="0" bIns="0" rtlCol="0">
                <a:spAutoFit/>
              </a:bodyPr>
              <a:lstStyle/>
              <a:p>
                <a:r>
                  <a:rPr lang="en-GB" sz="1200" noProof="0" dirty="0"/>
                  <a:t>c</a:t>
                </a:r>
                <a:r>
                  <a:rPr lang="en-GB" sz="1200" b="0" noProof="0" dirty="0"/>
                  <a:t>) </a:t>
                </a:r>
                <a14:m>
                  <m:oMath xmlns:m="http://schemas.openxmlformats.org/officeDocument/2006/math">
                    <m:r>
                      <a:rPr lang="en-GB" sz="1200" i="1" noProof="0" smtClean="0">
                        <a:latin typeface="Cambria Math" panose="02040503050406030204" pitchFamily="18" charset="0"/>
                      </a:rPr>
                      <m:t>6</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−8</m:t>
                    </m:r>
                  </m:oMath>
                </a14:m>
                <a:endParaRPr lang="en-GB" sz="1200" noProof="0" dirty="0"/>
              </a:p>
            </p:txBody>
          </p:sp>
        </mc:Choice>
        <mc:Fallback xmlns="">
          <p:sp>
            <p:nvSpPr>
              <p:cNvPr id="11" name="TextBox 10"/>
              <p:cNvSpPr txBox="1">
                <a:spLocks noRot="1" noChangeAspect="1" noMove="1" noResize="1" noEditPoints="1" noAdjustHandles="1" noChangeArrowheads="1" noChangeShapeType="1" noTextEdit="1"/>
              </p:cNvSpPr>
              <p:nvPr/>
            </p:nvSpPr>
            <p:spPr>
              <a:xfrm>
                <a:off x="3482558" y="1090270"/>
                <a:ext cx="587597" cy="184666"/>
              </a:xfrm>
              <a:prstGeom prst="rect">
                <a:avLst/>
              </a:prstGeom>
              <a:blipFill>
                <a:blip r:embed="rId4"/>
                <a:stretch>
                  <a:fillRect l="-15464" t="-26667" r="-8247"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120219" y="1079776"/>
                <a:ext cx="771943" cy="184666"/>
              </a:xfrm>
              <a:prstGeom prst="rect">
                <a:avLst/>
              </a:prstGeom>
              <a:noFill/>
            </p:spPr>
            <p:txBody>
              <a:bodyPr wrap="none" lIns="0" tIns="0" rIns="0" bIns="0" rtlCol="0">
                <a:spAutoFit/>
              </a:bodyPr>
              <a:lstStyle/>
              <a:p>
                <a:r>
                  <a:rPr lang="en-GB" sz="1200" noProof="0" dirty="0"/>
                  <a:t>d</a:t>
                </a:r>
                <a:r>
                  <a:rPr lang="en-GB" sz="1200" b="0" noProof="0" dirty="0"/>
                  <a:t>) </a:t>
                </a:r>
                <a14:m>
                  <m:oMath xmlns:m="http://schemas.openxmlformats.org/officeDocument/2006/math">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+30</m:t>
                    </m:r>
                  </m:oMath>
                </a14:m>
                <a:endParaRPr lang="en-GB" sz="1200" noProof="0" dirty="0"/>
              </a:p>
            </p:txBody>
          </p:sp>
        </mc:Choice>
        <mc:Fallback xmlns="">
          <p:sp>
            <p:nvSpPr>
              <p:cNvPr id="12" name="TextBox 11"/>
              <p:cNvSpPr txBox="1">
                <a:spLocks noRot="1" noChangeAspect="1" noMove="1" noResize="1" noEditPoints="1" noAdjustHandles="1" noChangeArrowheads="1" noChangeShapeType="1" noTextEdit="1"/>
              </p:cNvSpPr>
              <p:nvPr/>
            </p:nvSpPr>
            <p:spPr>
              <a:xfrm>
                <a:off x="5120219" y="1079776"/>
                <a:ext cx="771943" cy="184666"/>
              </a:xfrm>
              <a:prstGeom prst="rect">
                <a:avLst/>
              </a:prstGeom>
              <a:blipFill>
                <a:blip r:embed="rId5"/>
                <a:stretch>
                  <a:fillRect l="-12598" t="-26667" r="-6299" b="-5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02080" y="3285930"/>
                <a:ext cx="944939" cy="184666"/>
              </a:xfrm>
              <a:prstGeom prst="rect">
                <a:avLst/>
              </a:prstGeom>
              <a:noFill/>
            </p:spPr>
            <p:txBody>
              <a:bodyPr wrap="none" lIns="0" tIns="0" rIns="0" bIns="0" rtlCol="0">
                <a:spAutoFit/>
              </a:bodyPr>
              <a:lstStyle/>
              <a:p>
                <a:r>
                  <a:rPr lang="en-GB" sz="1200" noProof="0" dirty="0"/>
                  <a:t>e</a:t>
                </a:r>
                <a:r>
                  <a:rPr lang="en-GB" sz="1200" b="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oMath>
                </a14:m>
                <a:endParaRPr lang="en-GB" sz="1200" noProof="0" dirty="0"/>
              </a:p>
            </p:txBody>
          </p:sp>
        </mc:Choice>
        <mc:Fallback xmlns="">
          <p:sp>
            <p:nvSpPr>
              <p:cNvPr id="18" name="TextBox 17"/>
              <p:cNvSpPr txBox="1">
                <a:spLocks noRot="1" noChangeAspect="1" noMove="1" noResize="1" noEditPoints="1" noAdjustHandles="1" noChangeArrowheads="1" noChangeShapeType="1" noTextEdit="1"/>
              </p:cNvSpPr>
              <p:nvPr/>
            </p:nvSpPr>
            <p:spPr>
              <a:xfrm>
                <a:off x="202080" y="3285930"/>
                <a:ext cx="944939" cy="184666"/>
              </a:xfrm>
              <a:prstGeom prst="rect">
                <a:avLst/>
              </a:prstGeom>
              <a:blipFill>
                <a:blip r:embed="rId6"/>
                <a:stretch>
                  <a:fillRect l="-9677" t="-23333" r="-5161"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890072" y="3286058"/>
                <a:ext cx="923330" cy="184666"/>
              </a:xfrm>
              <a:prstGeom prst="rect">
                <a:avLst/>
              </a:prstGeom>
              <a:noFill/>
            </p:spPr>
            <p:txBody>
              <a:bodyPr wrap="none" lIns="0" tIns="0" rIns="0" bIns="0" rtlCol="0">
                <a:spAutoFit/>
              </a:bodyPr>
              <a:lstStyle/>
              <a:p>
                <a:r>
                  <a:rPr lang="en-GB" sz="1200" noProof="0" dirty="0"/>
                  <a:t>f</a:t>
                </a:r>
                <a:r>
                  <a:rPr lang="en-GB" sz="1200" b="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𝑦</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+9</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+8</m:t>
                    </m:r>
                  </m:oMath>
                </a14:m>
                <a:endParaRPr lang="en-GB" sz="1200" noProof="0" dirty="0"/>
              </a:p>
            </p:txBody>
          </p:sp>
        </mc:Choice>
        <mc:Fallback xmlns="">
          <p:sp>
            <p:nvSpPr>
              <p:cNvPr id="19" name="TextBox 18"/>
              <p:cNvSpPr txBox="1">
                <a:spLocks noRot="1" noChangeAspect="1" noMove="1" noResize="1" noEditPoints="1" noAdjustHandles="1" noChangeArrowheads="1" noChangeShapeType="1" noTextEdit="1"/>
              </p:cNvSpPr>
              <p:nvPr/>
            </p:nvSpPr>
            <p:spPr>
              <a:xfrm>
                <a:off x="1890072" y="3286058"/>
                <a:ext cx="923330" cy="184666"/>
              </a:xfrm>
              <a:prstGeom prst="rect">
                <a:avLst/>
              </a:prstGeom>
              <a:blipFill>
                <a:blip r:embed="rId7"/>
                <a:stretch>
                  <a:fillRect l="-9868" t="-23333" r="-4605"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3502466" y="3286058"/>
                <a:ext cx="945067" cy="184666"/>
              </a:xfrm>
              <a:prstGeom prst="rect">
                <a:avLst/>
              </a:prstGeom>
              <a:noFill/>
            </p:spPr>
            <p:txBody>
              <a:bodyPr wrap="none" lIns="0" tIns="0" rIns="0" bIns="0" rtlCol="0">
                <a:spAutoFit/>
              </a:bodyPr>
              <a:lstStyle/>
              <a:p>
                <a:r>
                  <a:rPr lang="en-GB" sz="1200" noProof="0" dirty="0"/>
                  <a:t>g</a:t>
                </a:r>
                <a:r>
                  <a:rPr lang="en-GB" sz="1200" b="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𝑛</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+6</m:t>
                    </m:r>
                    <m:r>
                      <a:rPr lang="en-GB" sz="1200" b="0" i="1" noProof="0" smtClean="0">
                        <a:latin typeface="Cambria Math" panose="02040503050406030204" pitchFamily="18" charset="0"/>
                      </a:rPr>
                      <m:t>𝑛</m:t>
                    </m:r>
                    <m:r>
                      <a:rPr lang="en-GB" sz="1200" b="0" i="1" noProof="0" smtClean="0">
                        <a:latin typeface="Cambria Math" panose="02040503050406030204" pitchFamily="18" charset="0"/>
                      </a:rPr>
                      <m:t>+5</m:t>
                    </m:r>
                  </m:oMath>
                </a14:m>
                <a:endParaRPr lang="en-GB" sz="1200" noProof="0" dirty="0"/>
              </a:p>
            </p:txBody>
          </p:sp>
        </mc:Choice>
        <mc:Fallback xmlns="">
          <p:sp>
            <p:nvSpPr>
              <p:cNvPr id="23" name="TextBox 22"/>
              <p:cNvSpPr txBox="1">
                <a:spLocks noRot="1" noChangeAspect="1" noMove="1" noResize="1" noEditPoints="1" noAdjustHandles="1" noChangeArrowheads="1" noChangeShapeType="1" noTextEdit="1"/>
              </p:cNvSpPr>
              <p:nvPr/>
            </p:nvSpPr>
            <p:spPr>
              <a:xfrm>
                <a:off x="3502466" y="3286058"/>
                <a:ext cx="945067" cy="184666"/>
              </a:xfrm>
              <a:prstGeom prst="rect">
                <a:avLst/>
              </a:prstGeom>
              <a:blipFill>
                <a:blip r:embed="rId8"/>
                <a:stretch>
                  <a:fillRect l="-10323" t="-23333" r="-5161"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5140127" y="3275564"/>
                <a:ext cx="1117037" cy="184666"/>
              </a:xfrm>
              <a:prstGeom prst="rect">
                <a:avLst/>
              </a:prstGeom>
              <a:noFill/>
            </p:spPr>
            <p:txBody>
              <a:bodyPr wrap="none" lIns="0" tIns="0" rIns="0" bIns="0" rtlCol="0">
                <a:spAutoFit/>
              </a:bodyPr>
              <a:lstStyle/>
              <a:p>
                <a:r>
                  <a:rPr lang="en-GB" sz="1200" noProof="0" dirty="0"/>
                  <a:t>h</a:t>
                </a:r>
                <a:r>
                  <a:rPr lang="en-GB" sz="1200" b="0" noProof="0" dirty="0"/>
                  <a:t>)</a:t>
                </a:r>
                <a:r>
                  <a:rPr lang="en-GB" sz="1200" b="0" i="1"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𝑘</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𝑘</m:t>
                    </m:r>
                    <m:r>
                      <a:rPr lang="en-GB" sz="1200" b="0" i="1" noProof="0" smtClean="0">
                        <a:latin typeface="Cambria Math" panose="02040503050406030204" pitchFamily="18" charset="0"/>
                      </a:rPr>
                      <m:t>+35</m:t>
                    </m:r>
                  </m:oMath>
                </a14:m>
                <a:endParaRPr lang="en-GB" sz="1200" noProof="0" dirty="0"/>
              </a:p>
            </p:txBody>
          </p:sp>
        </mc:Choice>
        <mc:Fallback xmlns="">
          <p:sp>
            <p:nvSpPr>
              <p:cNvPr id="24" name="TextBox 23"/>
              <p:cNvSpPr txBox="1">
                <a:spLocks noRot="1" noChangeAspect="1" noMove="1" noResize="1" noEditPoints="1" noAdjustHandles="1" noChangeArrowheads="1" noChangeShapeType="1" noTextEdit="1"/>
              </p:cNvSpPr>
              <p:nvPr/>
            </p:nvSpPr>
            <p:spPr>
              <a:xfrm>
                <a:off x="5140127" y="3275564"/>
                <a:ext cx="1117037" cy="184666"/>
              </a:xfrm>
              <a:prstGeom prst="rect">
                <a:avLst/>
              </a:prstGeom>
              <a:blipFill>
                <a:blip r:embed="rId9"/>
                <a:stretch>
                  <a:fillRect l="-8197" t="-22581" r="-5464" b="-51613"/>
                </a:stretch>
              </a:blipFill>
            </p:spPr>
            <p:txBody>
              <a:bodyPr/>
              <a:lstStyle/>
              <a:p>
                <a:r>
                  <a:rPr lang="en-US">
                    <a:noFill/>
                  </a:rPr>
                  <a:t> </a:t>
                </a:r>
              </a:p>
            </p:txBody>
          </p:sp>
        </mc:Fallback>
      </mc:AlternateContent>
      <p:sp>
        <p:nvSpPr>
          <p:cNvPr id="30" name="Rectangle 29">
            <a:extLst>
              <a:ext uri="{FF2B5EF4-FFF2-40B4-BE49-F238E27FC236}">
                <a16:creationId xmlns:a16="http://schemas.microsoft.com/office/drawing/2014/main" id="{B16CFEF2-A65A-6142-861C-58ACADF7EEFB}"/>
              </a:ext>
            </a:extLst>
          </p:cNvPr>
          <p:cNvSpPr/>
          <p:nvPr/>
        </p:nvSpPr>
        <p:spPr>
          <a:xfrm>
            <a:off x="151059" y="3553992"/>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1" name="Rectangle 30">
            <a:extLst>
              <a:ext uri="{FF2B5EF4-FFF2-40B4-BE49-F238E27FC236}">
                <a16:creationId xmlns:a16="http://schemas.microsoft.com/office/drawing/2014/main" id="{B16CFEF2-A65A-6142-861C-58ACADF7EEFB}"/>
              </a:ext>
            </a:extLst>
          </p:cNvPr>
          <p:cNvSpPr/>
          <p:nvPr/>
        </p:nvSpPr>
        <p:spPr>
          <a:xfrm>
            <a:off x="1811271" y="3553992"/>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2" name="Rectangle 31">
            <a:extLst>
              <a:ext uri="{FF2B5EF4-FFF2-40B4-BE49-F238E27FC236}">
                <a16:creationId xmlns:a16="http://schemas.microsoft.com/office/drawing/2014/main" id="{B16CFEF2-A65A-6142-861C-58ACADF7EEFB}"/>
              </a:ext>
            </a:extLst>
          </p:cNvPr>
          <p:cNvSpPr/>
          <p:nvPr/>
        </p:nvSpPr>
        <p:spPr>
          <a:xfrm>
            <a:off x="3483058" y="3553992"/>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3" name="Rectangle 32">
            <a:extLst>
              <a:ext uri="{FF2B5EF4-FFF2-40B4-BE49-F238E27FC236}">
                <a16:creationId xmlns:a16="http://schemas.microsoft.com/office/drawing/2014/main" id="{B16CFEF2-A65A-6142-861C-58ACADF7EEFB}"/>
              </a:ext>
            </a:extLst>
          </p:cNvPr>
          <p:cNvSpPr/>
          <p:nvPr/>
        </p:nvSpPr>
        <p:spPr>
          <a:xfrm>
            <a:off x="5160057" y="3553992"/>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8" name="TextBox 37"/>
              <p:cNvSpPr txBox="1"/>
              <p:nvPr/>
            </p:nvSpPr>
            <p:spPr>
              <a:xfrm>
                <a:off x="182150" y="5407338"/>
                <a:ext cx="548099" cy="184666"/>
              </a:xfrm>
              <a:prstGeom prst="rect">
                <a:avLst/>
              </a:prstGeom>
              <a:noFill/>
            </p:spPr>
            <p:txBody>
              <a:bodyPr wrap="none" lIns="0" tIns="0" rIns="0" bIns="0" rtlCol="0">
                <a:spAutoFit/>
              </a:bodyPr>
              <a:lstStyle/>
              <a:p>
                <a:r>
                  <a:rPr lang="en-GB" sz="1200" noProof="0" dirty="0" err="1"/>
                  <a:t>i</a:t>
                </a:r>
                <a:r>
                  <a:rPr lang="en-GB" sz="1200" b="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−4</m:t>
                    </m:r>
                  </m:oMath>
                </a14:m>
                <a:endParaRPr lang="en-GB" sz="1200" noProof="0" dirty="0"/>
              </a:p>
            </p:txBody>
          </p:sp>
        </mc:Choice>
        <mc:Fallback xmlns="">
          <p:sp>
            <p:nvSpPr>
              <p:cNvPr id="38" name="TextBox 37"/>
              <p:cNvSpPr txBox="1">
                <a:spLocks noRot="1" noChangeAspect="1" noMove="1" noResize="1" noEditPoints="1" noAdjustHandles="1" noChangeArrowheads="1" noChangeShapeType="1" noTextEdit="1"/>
              </p:cNvSpPr>
              <p:nvPr/>
            </p:nvSpPr>
            <p:spPr>
              <a:xfrm>
                <a:off x="182150" y="5407338"/>
                <a:ext cx="548099" cy="184666"/>
              </a:xfrm>
              <a:prstGeom prst="rect">
                <a:avLst/>
              </a:prstGeom>
              <a:blipFill>
                <a:blip r:embed="rId10"/>
                <a:stretch>
                  <a:fillRect l="-17778" t="-23333" r="-8889"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1870142" y="5407466"/>
                <a:ext cx="638508" cy="184666"/>
              </a:xfrm>
              <a:prstGeom prst="rect">
                <a:avLst/>
              </a:prstGeom>
              <a:noFill/>
            </p:spPr>
            <p:txBody>
              <a:bodyPr wrap="none" lIns="0" tIns="0" rIns="0" bIns="0" rtlCol="0">
                <a:spAutoFit/>
              </a:bodyPr>
              <a:lstStyle/>
              <a:p>
                <a:r>
                  <a:rPr lang="en-GB" sz="1200" noProof="0" dirty="0"/>
                  <a:t>j</a:t>
                </a:r>
                <a:r>
                  <a:rPr lang="en-GB" sz="1200" b="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𝑦</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−16</m:t>
                    </m:r>
                  </m:oMath>
                </a14:m>
                <a:endParaRPr lang="en-GB" sz="1200" noProof="0" dirty="0"/>
              </a:p>
            </p:txBody>
          </p:sp>
        </mc:Choice>
        <mc:Fallback xmlns="">
          <p:sp>
            <p:nvSpPr>
              <p:cNvPr id="39" name="TextBox 38"/>
              <p:cNvSpPr txBox="1">
                <a:spLocks noRot="1" noChangeAspect="1" noMove="1" noResize="1" noEditPoints="1" noAdjustHandles="1" noChangeArrowheads="1" noChangeShapeType="1" noTextEdit="1"/>
              </p:cNvSpPr>
              <p:nvPr/>
            </p:nvSpPr>
            <p:spPr>
              <a:xfrm>
                <a:off x="1870142" y="5407466"/>
                <a:ext cx="638508" cy="184666"/>
              </a:xfrm>
              <a:prstGeom prst="rect">
                <a:avLst/>
              </a:prstGeom>
              <a:blipFill>
                <a:blip r:embed="rId11"/>
                <a:stretch>
                  <a:fillRect l="-15238" t="-23333" r="-7619"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482536" y="5407466"/>
                <a:ext cx="668324" cy="184666"/>
              </a:xfrm>
              <a:prstGeom prst="rect">
                <a:avLst/>
              </a:prstGeom>
              <a:noFill/>
            </p:spPr>
            <p:txBody>
              <a:bodyPr wrap="none" lIns="0" tIns="0" rIns="0" bIns="0" rtlCol="0">
                <a:spAutoFit/>
              </a:bodyPr>
              <a:lstStyle/>
              <a:p>
                <a:r>
                  <a:rPr lang="en-GB" sz="1200" noProof="0" dirty="0"/>
                  <a:t>k</a:t>
                </a:r>
                <a:r>
                  <a:rPr lang="en-GB" sz="1200" b="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−49</m:t>
                    </m:r>
                  </m:oMath>
                </a14:m>
                <a:endParaRPr lang="en-GB" sz="1200" noProof="0" dirty="0"/>
              </a:p>
            </p:txBody>
          </p:sp>
        </mc:Choice>
        <mc:Fallback xmlns="">
          <p:sp>
            <p:nvSpPr>
              <p:cNvPr id="40" name="TextBox 39"/>
              <p:cNvSpPr txBox="1">
                <a:spLocks noRot="1" noChangeAspect="1" noMove="1" noResize="1" noEditPoints="1" noAdjustHandles="1" noChangeArrowheads="1" noChangeShapeType="1" noTextEdit="1"/>
              </p:cNvSpPr>
              <p:nvPr/>
            </p:nvSpPr>
            <p:spPr>
              <a:xfrm>
                <a:off x="3482536" y="5407466"/>
                <a:ext cx="668324" cy="184666"/>
              </a:xfrm>
              <a:prstGeom prst="rect">
                <a:avLst/>
              </a:prstGeom>
              <a:blipFill>
                <a:blip r:embed="rId12"/>
                <a:stretch>
                  <a:fillRect l="-13636" t="-23333" r="-7273"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5120197" y="5396972"/>
                <a:ext cx="718017" cy="184666"/>
              </a:xfrm>
              <a:prstGeom prst="rect">
                <a:avLst/>
              </a:prstGeom>
              <a:noFill/>
            </p:spPr>
            <p:txBody>
              <a:bodyPr wrap="none" lIns="0" tIns="0" rIns="0" bIns="0" rtlCol="0">
                <a:spAutoFit/>
              </a:bodyPr>
              <a:lstStyle/>
              <a:p>
                <a:r>
                  <a:rPr lang="en-GB" sz="1200" noProof="0" dirty="0"/>
                  <a:t>l</a:t>
                </a:r>
                <a:r>
                  <a:rPr lang="en-GB" sz="1200" b="0" noProof="0" dirty="0"/>
                  <a:t>)</a:t>
                </a:r>
                <a:r>
                  <a:rPr lang="en-GB" sz="1200" b="0" i="1"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−121</m:t>
                    </m:r>
                  </m:oMath>
                </a14:m>
                <a:endParaRPr lang="en-GB" sz="1200" noProof="0" dirty="0"/>
              </a:p>
            </p:txBody>
          </p:sp>
        </mc:Choice>
        <mc:Fallback xmlns="">
          <p:sp>
            <p:nvSpPr>
              <p:cNvPr id="41" name="TextBox 40"/>
              <p:cNvSpPr txBox="1">
                <a:spLocks noRot="1" noChangeAspect="1" noMove="1" noResize="1" noEditPoints="1" noAdjustHandles="1" noChangeArrowheads="1" noChangeShapeType="1" noTextEdit="1"/>
              </p:cNvSpPr>
              <p:nvPr/>
            </p:nvSpPr>
            <p:spPr>
              <a:xfrm>
                <a:off x="5120197" y="5396972"/>
                <a:ext cx="718017" cy="184666"/>
              </a:xfrm>
              <a:prstGeom prst="rect">
                <a:avLst/>
              </a:prstGeom>
              <a:blipFill>
                <a:blip r:embed="rId13"/>
                <a:stretch>
                  <a:fillRect l="-13559" t="-22581" r="-6780" b="-51613"/>
                </a:stretch>
              </a:blipFill>
            </p:spPr>
            <p:txBody>
              <a:bodyPr/>
              <a:lstStyle/>
              <a:p>
                <a:r>
                  <a:rPr lang="en-US">
                    <a:noFill/>
                  </a:rPr>
                  <a:t> </a:t>
                </a:r>
              </a:p>
            </p:txBody>
          </p:sp>
        </mc:Fallback>
      </mc:AlternateContent>
      <p:sp>
        <p:nvSpPr>
          <p:cNvPr id="42" name="Rectangle 41">
            <a:extLst>
              <a:ext uri="{FF2B5EF4-FFF2-40B4-BE49-F238E27FC236}">
                <a16:creationId xmlns:a16="http://schemas.microsoft.com/office/drawing/2014/main" id="{B16CFEF2-A65A-6142-861C-58ACADF7EEFB}"/>
              </a:ext>
            </a:extLst>
          </p:cNvPr>
          <p:cNvSpPr/>
          <p:nvPr/>
        </p:nvSpPr>
        <p:spPr>
          <a:xfrm>
            <a:off x="131129" y="5675400"/>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3" name="Rectangle 42">
            <a:extLst>
              <a:ext uri="{FF2B5EF4-FFF2-40B4-BE49-F238E27FC236}">
                <a16:creationId xmlns:a16="http://schemas.microsoft.com/office/drawing/2014/main" id="{B16CFEF2-A65A-6142-861C-58ACADF7EEFB}"/>
              </a:ext>
            </a:extLst>
          </p:cNvPr>
          <p:cNvSpPr/>
          <p:nvPr/>
        </p:nvSpPr>
        <p:spPr>
          <a:xfrm>
            <a:off x="1791341" y="5675400"/>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4" name="Rectangle 43">
            <a:extLst>
              <a:ext uri="{FF2B5EF4-FFF2-40B4-BE49-F238E27FC236}">
                <a16:creationId xmlns:a16="http://schemas.microsoft.com/office/drawing/2014/main" id="{B16CFEF2-A65A-6142-861C-58ACADF7EEFB}"/>
              </a:ext>
            </a:extLst>
          </p:cNvPr>
          <p:cNvSpPr/>
          <p:nvPr/>
        </p:nvSpPr>
        <p:spPr>
          <a:xfrm>
            <a:off x="3463128" y="5675400"/>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5" name="Rectangle 44">
            <a:extLst>
              <a:ext uri="{FF2B5EF4-FFF2-40B4-BE49-F238E27FC236}">
                <a16:creationId xmlns:a16="http://schemas.microsoft.com/office/drawing/2014/main" id="{B16CFEF2-A65A-6142-861C-58ACADF7EEFB}"/>
              </a:ext>
            </a:extLst>
          </p:cNvPr>
          <p:cNvSpPr/>
          <p:nvPr/>
        </p:nvSpPr>
        <p:spPr>
          <a:xfrm>
            <a:off x="5140127" y="5675400"/>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63" name="TextBox 62"/>
              <p:cNvSpPr txBox="1"/>
              <p:nvPr/>
            </p:nvSpPr>
            <p:spPr>
              <a:xfrm>
                <a:off x="182150" y="7671397"/>
                <a:ext cx="1076385" cy="184666"/>
              </a:xfrm>
              <a:prstGeom prst="rect">
                <a:avLst/>
              </a:prstGeom>
              <a:noFill/>
            </p:spPr>
            <p:txBody>
              <a:bodyPr wrap="none" lIns="0" tIns="0" rIns="0" bIns="0" rtlCol="0">
                <a:spAutoFit/>
              </a:bodyPr>
              <a:lstStyle/>
              <a:p>
                <a:r>
                  <a:rPr lang="en-GB" sz="1200" noProof="0" dirty="0"/>
                  <a:t>m</a:t>
                </a:r>
                <a:r>
                  <a:rPr lang="en-GB" sz="1200" b="0" noProof="0" dirty="0"/>
                  <a:t>)</a:t>
                </a:r>
                <a:r>
                  <a:rPr lang="en-GB" sz="1200" noProof="0" dirty="0"/>
                  <a:t> </a:t>
                </a:r>
                <a14:m>
                  <m:oMath xmlns:m="http://schemas.openxmlformats.org/officeDocument/2006/math">
                    <m:r>
                      <a:rPr lang="en-GB" sz="1200" i="1" noProof="0" smtClean="0">
                        <a:latin typeface="Cambria Math" panose="02040503050406030204" pitchFamily="18" charset="0"/>
                      </a:rPr>
                      <m:t>2</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−3</m:t>
                    </m:r>
                    <m:r>
                      <a:rPr lang="en-GB" sz="1200" i="1" noProof="0" smtClean="0">
                        <a:latin typeface="Cambria Math" panose="02040503050406030204" pitchFamily="18" charset="0"/>
                      </a:rPr>
                      <m:t>𝑥</m:t>
                    </m:r>
                    <m:r>
                      <a:rPr lang="en-GB" sz="1200" i="1" noProof="0" smtClean="0">
                        <a:latin typeface="Cambria Math" panose="02040503050406030204" pitchFamily="18" charset="0"/>
                      </a:rPr>
                      <m:t>−9</m:t>
                    </m:r>
                  </m:oMath>
                </a14:m>
                <a:endParaRPr lang="en-GB" sz="1200" noProof="0" dirty="0"/>
              </a:p>
            </p:txBody>
          </p:sp>
        </mc:Choice>
        <mc:Fallback xmlns="">
          <p:sp>
            <p:nvSpPr>
              <p:cNvPr id="63" name="TextBox 62"/>
              <p:cNvSpPr txBox="1">
                <a:spLocks noRot="1" noChangeAspect="1" noMove="1" noResize="1" noEditPoints="1" noAdjustHandles="1" noChangeArrowheads="1" noChangeShapeType="1" noTextEdit="1"/>
              </p:cNvSpPr>
              <p:nvPr/>
            </p:nvSpPr>
            <p:spPr>
              <a:xfrm>
                <a:off x="182150" y="7671397"/>
                <a:ext cx="1076385" cy="184666"/>
              </a:xfrm>
              <a:prstGeom prst="rect">
                <a:avLst/>
              </a:prstGeom>
              <a:blipFill>
                <a:blip r:embed="rId14"/>
                <a:stretch>
                  <a:fillRect l="-9091" t="-22581" r="-4545" b="-516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1870142" y="7671525"/>
                <a:ext cx="1033103" cy="184666"/>
              </a:xfrm>
              <a:prstGeom prst="rect">
                <a:avLst/>
              </a:prstGeom>
              <a:noFill/>
            </p:spPr>
            <p:txBody>
              <a:bodyPr wrap="none" lIns="0" tIns="0" rIns="0" bIns="0" rtlCol="0">
                <a:spAutoFit/>
              </a:bodyPr>
              <a:lstStyle/>
              <a:p>
                <a:r>
                  <a:rPr lang="en-GB" sz="1200" noProof="0" dirty="0"/>
                  <a:t>n</a:t>
                </a:r>
                <a:r>
                  <a:rPr lang="en-GB" sz="1200" b="0" noProof="0" dirty="0"/>
                  <a:t>) </a:t>
                </a:r>
                <a14:m>
                  <m:oMath xmlns:m="http://schemas.openxmlformats.org/officeDocument/2006/math">
                    <m:r>
                      <a:rPr lang="en-GB" sz="1200" i="1" noProof="0" smtClean="0">
                        <a:latin typeface="Cambria Math" panose="02040503050406030204" pitchFamily="18" charset="0"/>
                      </a:rPr>
                      <m:t>3</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+8</m:t>
                    </m:r>
                    <m:r>
                      <a:rPr lang="en-GB" sz="1200" i="1" noProof="0" smtClean="0">
                        <a:latin typeface="Cambria Math" panose="02040503050406030204" pitchFamily="18" charset="0"/>
                      </a:rPr>
                      <m:t>𝑥</m:t>
                    </m:r>
                    <m:r>
                      <a:rPr lang="en-GB" sz="1200" i="1" noProof="0" smtClean="0">
                        <a:latin typeface="Cambria Math" panose="02040503050406030204" pitchFamily="18" charset="0"/>
                      </a:rPr>
                      <m:t>+4</m:t>
                    </m:r>
                  </m:oMath>
                </a14:m>
                <a:endParaRPr lang="en-GB" sz="1200" noProof="0" dirty="0"/>
              </a:p>
            </p:txBody>
          </p:sp>
        </mc:Choice>
        <mc:Fallback xmlns="">
          <p:sp>
            <p:nvSpPr>
              <p:cNvPr id="64" name="TextBox 63"/>
              <p:cNvSpPr txBox="1">
                <a:spLocks noRot="1" noChangeAspect="1" noMove="1" noResize="1" noEditPoints="1" noAdjustHandles="1" noChangeArrowheads="1" noChangeShapeType="1" noTextEdit="1"/>
              </p:cNvSpPr>
              <p:nvPr/>
            </p:nvSpPr>
            <p:spPr>
              <a:xfrm>
                <a:off x="1870142" y="7671525"/>
                <a:ext cx="1033103" cy="184666"/>
              </a:xfrm>
              <a:prstGeom prst="rect">
                <a:avLst/>
              </a:prstGeom>
              <a:blipFill>
                <a:blip r:embed="rId15"/>
                <a:stretch>
                  <a:fillRect l="-9467" t="-22581" r="-4734" b="-516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3482536" y="7671525"/>
                <a:ext cx="1034707" cy="184666"/>
              </a:xfrm>
              <a:prstGeom prst="rect">
                <a:avLst/>
              </a:prstGeom>
              <a:noFill/>
            </p:spPr>
            <p:txBody>
              <a:bodyPr wrap="none" lIns="0" tIns="0" rIns="0" bIns="0" rtlCol="0">
                <a:spAutoFit/>
              </a:bodyPr>
              <a:lstStyle/>
              <a:p>
                <a:r>
                  <a:rPr lang="en-GB" sz="1200" noProof="0" dirty="0"/>
                  <a:t>o</a:t>
                </a:r>
                <a:r>
                  <a:rPr lang="en-GB" sz="1200" b="0" noProof="0" dirty="0"/>
                  <a:t>) </a:t>
                </a:r>
                <a14:m>
                  <m:oMath xmlns:m="http://schemas.openxmlformats.org/officeDocument/2006/math">
                    <m:r>
                      <a:rPr lang="en-GB" sz="1200" i="1" noProof="0" smtClean="0">
                        <a:latin typeface="Cambria Math" panose="02040503050406030204" pitchFamily="18" charset="0"/>
                      </a:rPr>
                      <m:t>4</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−9</m:t>
                    </m:r>
                    <m:r>
                      <a:rPr lang="en-GB" sz="1200" i="1" noProof="0" smtClean="0">
                        <a:latin typeface="Cambria Math" panose="02040503050406030204" pitchFamily="18" charset="0"/>
                      </a:rPr>
                      <m:t>𝑥</m:t>
                    </m:r>
                    <m:r>
                      <a:rPr lang="en-GB" sz="1200" i="1" noProof="0" smtClean="0">
                        <a:latin typeface="Cambria Math" panose="02040503050406030204" pitchFamily="18" charset="0"/>
                      </a:rPr>
                      <m:t>+2</m:t>
                    </m:r>
                  </m:oMath>
                </a14:m>
                <a:endParaRPr lang="en-GB" sz="1200" noProof="0" dirty="0"/>
              </a:p>
            </p:txBody>
          </p:sp>
        </mc:Choice>
        <mc:Fallback xmlns="">
          <p:sp>
            <p:nvSpPr>
              <p:cNvPr id="65" name="TextBox 64"/>
              <p:cNvSpPr txBox="1">
                <a:spLocks noRot="1" noChangeAspect="1" noMove="1" noResize="1" noEditPoints="1" noAdjustHandles="1" noChangeArrowheads="1" noChangeShapeType="1" noTextEdit="1"/>
              </p:cNvSpPr>
              <p:nvPr/>
            </p:nvSpPr>
            <p:spPr>
              <a:xfrm>
                <a:off x="3482536" y="7671525"/>
                <a:ext cx="1034707" cy="184666"/>
              </a:xfrm>
              <a:prstGeom prst="rect">
                <a:avLst/>
              </a:prstGeom>
              <a:blipFill>
                <a:blip r:embed="rId16"/>
                <a:stretch>
                  <a:fillRect l="-8824" t="-22581" r="-4118" b="-516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5120197" y="7661031"/>
                <a:ext cx="1118063" cy="369332"/>
              </a:xfrm>
              <a:prstGeom prst="rect">
                <a:avLst/>
              </a:prstGeom>
              <a:noFill/>
            </p:spPr>
            <p:txBody>
              <a:bodyPr wrap="none" lIns="0" tIns="0" rIns="0" bIns="0" rtlCol="0">
                <a:spAutoFit/>
              </a:bodyPr>
              <a:lstStyle/>
              <a:p>
                <a:r>
                  <a:rPr lang="en-GB" sz="1200" noProof="0" dirty="0"/>
                  <a:t>p)</a:t>
                </a:r>
                <a:r>
                  <a:rPr lang="en-GB" sz="1200" b="0" i="1" noProof="0" dirty="0"/>
                  <a:t> </a:t>
                </a:r>
                <a14:m>
                  <m:oMath xmlns:m="http://schemas.openxmlformats.org/officeDocument/2006/math">
                    <m:r>
                      <a:rPr lang="en-GB" sz="1200" i="1" noProof="0" smtClean="0">
                        <a:latin typeface="Cambria Math" panose="02040503050406030204" pitchFamily="18" charset="0"/>
                      </a:rPr>
                      <m:t>3</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+10</m:t>
                    </m:r>
                    <m:r>
                      <a:rPr lang="en-GB" sz="1200" i="1" noProof="0" smtClean="0">
                        <a:latin typeface="Cambria Math" panose="02040503050406030204" pitchFamily="18" charset="0"/>
                      </a:rPr>
                      <m:t>𝑥</m:t>
                    </m:r>
                    <m:r>
                      <a:rPr lang="en-GB" sz="1200" i="1" noProof="0" smtClean="0">
                        <a:latin typeface="Cambria Math" panose="02040503050406030204" pitchFamily="18" charset="0"/>
                      </a:rPr>
                      <m:t>+7</m:t>
                    </m:r>
                  </m:oMath>
                </a14:m>
                <a:endParaRPr lang="en-GB" sz="1200" noProof="0" dirty="0"/>
              </a:p>
              <a:p>
                <a:endParaRPr lang="en-GB" sz="1200" noProof="0" dirty="0"/>
              </a:p>
            </p:txBody>
          </p:sp>
        </mc:Choice>
        <mc:Fallback xmlns="">
          <p:sp>
            <p:nvSpPr>
              <p:cNvPr id="66" name="TextBox 65"/>
              <p:cNvSpPr txBox="1">
                <a:spLocks noRot="1" noChangeAspect="1" noMove="1" noResize="1" noEditPoints="1" noAdjustHandles="1" noChangeArrowheads="1" noChangeShapeType="1" noTextEdit="1"/>
              </p:cNvSpPr>
              <p:nvPr/>
            </p:nvSpPr>
            <p:spPr>
              <a:xfrm>
                <a:off x="5120197" y="7661031"/>
                <a:ext cx="1118063" cy="369332"/>
              </a:xfrm>
              <a:prstGeom prst="rect">
                <a:avLst/>
              </a:prstGeom>
              <a:blipFill>
                <a:blip r:embed="rId17"/>
                <a:stretch>
                  <a:fillRect l="-8743" t="-11667" r="-4372"/>
                </a:stretch>
              </a:blipFill>
            </p:spPr>
            <p:txBody>
              <a:bodyPr/>
              <a:lstStyle/>
              <a:p>
                <a:r>
                  <a:rPr lang="en-US">
                    <a:noFill/>
                  </a:rPr>
                  <a:t> </a:t>
                </a:r>
              </a:p>
            </p:txBody>
          </p:sp>
        </mc:Fallback>
      </mc:AlternateContent>
      <p:sp>
        <p:nvSpPr>
          <p:cNvPr id="67" name="Rectangle 66">
            <a:extLst>
              <a:ext uri="{FF2B5EF4-FFF2-40B4-BE49-F238E27FC236}">
                <a16:creationId xmlns:a16="http://schemas.microsoft.com/office/drawing/2014/main" id="{B16CFEF2-A65A-6142-861C-58ACADF7EEFB}"/>
              </a:ext>
            </a:extLst>
          </p:cNvPr>
          <p:cNvSpPr/>
          <p:nvPr/>
        </p:nvSpPr>
        <p:spPr>
          <a:xfrm>
            <a:off x="131129" y="7939459"/>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68" name="Rectangle 67">
            <a:extLst>
              <a:ext uri="{FF2B5EF4-FFF2-40B4-BE49-F238E27FC236}">
                <a16:creationId xmlns:a16="http://schemas.microsoft.com/office/drawing/2014/main" id="{B16CFEF2-A65A-6142-861C-58ACADF7EEFB}"/>
              </a:ext>
            </a:extLst>
          </p:cNvPr>
          <p:cNvSpPr/>
          <p:nvPr/>
        </p:nvSpPr>
        <p:spPr>
          <a:xfrm>
            <a:off x="1791341" y="7939459"/>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69" name="Rectangle 68">
            <a:extLst>
              <a:ext uri="{FF2B5EF4-FFF2-40B4-BE49-F238E27FC236}">
                <a16:creationId xmlns:a16="http://schemas.microsoft.com/office/drawing/2014/main" id="{B16CFEF2-A65A-6142-861C-58ACADF7EEFB}"/>
              </a:ext>
            </a:extLst>
          </p:cNvPr>
          <p:cNvSpPr/>
          <p:nvPr/>
        </p:nvSpPr>
        <p:spPr>
          <a:xfrm>
            <a:off x="3463128" y="7939459"/>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70" name="Rectangle 69">
            <a:extLst>
              <a:ext uri="{FF2B5EF4-FFF2-40B4-BE49-F238E27FC236}">
                <a16:creationId xmlns:a16="http://schemas.microsoft.com/office/drawing/2014/main" id="{B16CFEF2-A65A-6142-861C-58ACADF7EEFB}"/>
              </a:ext>
            </a:extLst>
          </p:cNvPr>
          <p:cNvSpPr/>
          <p:nvPr/>
        </p:nvSpPr>
        <p:spPr>
          <a:xfrm>
            <a:off x="5140127" y="7939459"/>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7" name="Slide Number Placeholder 16"/>
          <p:cNvSpPr>
            <a:spLocks noGrp="1"/>
          </p:cNvSpPr>
          <p:nvPr>
            <p:ph type="sldNum" sz="quarter" idx="12"/>
          </p:nvPr>
        </p:nvSpPr>
        <p:spPr>
          <a:xfrm>
            <a:off x="5257814" y="9488376"/>
            <a:ext cx="1543050" cy="527403"/>
          </a:xfrm>
        </p:spPr>
        <p:txBody>
          <a:bodyPr/>
          <a:lstStyle/>
          <a:p>
            <a:fld id="{9BD3B4A0-BFF9-422C-B253-48BA94BE2F5B}" type="slidenum">
              <a:rPr lang="en-GB" noProof="0" smtClean="0"/>
              <a:t>4</a:t>
            </a:fld>
            <a:endParaRPr lang="en-GB" noProof="0" dirty="0"/>
          </a:p>
        </p:txBody>
      </p:sp>
      <p:sp>
        <p:nvSpPr>
          <p:cNvPr id="20" name="TextBox 19">
            <a:extLst>
              <a:ext uri="{FF2B5EF4-FFF2-40B4-BE49-F238E27FC236}">
                <a16:creationId xmlns:a16="http://schemas.microsoft.com/office/drawing/2014/main" id="{47CFFC68-2B81-CCD0-EF97-A5F5B20ECF30}"/>
              </a:ext>
            </a:extLst>
          </p:cNvPr>
          <p:cNvSpPr txBox="1"/>
          <p:nvPr/>
        </p:nvSpPr>
        <p:spPr>
          <a:xfrm>
            <a:off x="76121" y="291703"/>
            <a:ext cx="6672715" cy="461665"/>
          </a:xfrm>
          <a:prstGeom prst="rect">
            <a:avLst/>
          </a:prstGeom>
          <a:noFill/>
          <a:ln>
            <a:solidFill>
              <a:schemeClr val="tx1"/>
            </a:solidFill>
          </a:ln>
        </p:spPr>
        <p:txBody>
          <a:bodyPr wrap="square" rtlCol="0">
            <a:spAutoFit/>
          </a:bodyPr>
          <a:lstStyle/>
          <a:p>
            <a:r>
              <a:rPr lang="en-GB" sz="1200" noProof="0" dirty="0"/>
              <a:t>Simplifying Algebraic Fractions will often use your knowledge of factorising – either into singe brackets or double brackets. </a:t>
            </a:r>
          </a:p>
        </p:txBody>
      </p:sp>
    </p:spTree>
    <p:extLst>
      <p:ext uri="{BB962C8B-B14F-4D97-AF65-F5344CB8AC3E}">
        <p14:creationId xmlns:p14="http://schemas.microsoft.com/office/powerpoint/2010/main" val="826102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5270368" y="9534239"/>
            <a:ext cx="1543050" cy="527403"/>
          </a:xfrm>
        </p:spPr>
        <p:txBody>
          <a:bodyPr/>
          <a:lstStyle/>
          <a:p>
            <a:fld id="{9BD3B4A0-BFF9-422C-B253-48BA94BE2F5B}" type="slidenum">
              <a:rPr lang="en-GB" noProof="0" smtClean="0"/>
              <a:t>5</a:t>
            </a:fld>
            <a:endParaRPr lang="en-GB" noProof="0" dirty="0"/>
          </a:p>
        </p:txBody>
      </p:sp>
      <mc:AlternateContent xmlns:mc="http://schemas.openxmlformats.org/markup-compatibility/2006" xmlns:a14="http://schemas.microsoft.com/office/drawing/2010/main">
        <mc:Choice Requires="a14">
          <p:graphicFrame>
            <p:nvGraphicFramePr>
              <p:cNvPr id="83" name="Table 82"/>
              <p:cNvGraphicFramePr>
                <a:graphicFrameLocks noGrp="1"/>
              </p:cNvGraphicFramePr>
              <p:nvPr>
                <p:extLst>
                  <p:ext uri="{D42A27DB-BD31-4B8C-83A1-F6EECF244321}">
                    <p14:modId xmlns:p14="http://schemas.microsoft.com/office/powerpoint/2010/main" val="2128830723"/>
                  </p:ext>
                </p:extLst>
              </p:nvPr>
            </p:nvGraphicFramePr>
            <p:xfrm>
              <a:off x="210129" y="276999"/>
              <a:ext cx="6484022" cy="3575348"/>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363131">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r>
                                    <a:rPr lang="en-GB" sz="1600" b="0" i="1" noProof="0" smtClean="0">
                                      <a:solidFill>
                                        <a:schemeClr val="tx1"/>
                                      </a:solidFill>
                                      <a:latin typeface="Cambria Math" panose="02040503050406030204" pitchFamily="18" charset="0"/>
                                    </a:rPr>
                                    <m:t>2(</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+2)</m:t>
                                  </m:r>
                                </m:num>
                                <m:den>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+2</m:t>
                                  </m:r>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r>
                                    <a:rPr lang="en-GB" sz="1600" b="0" i="1" noProof="0" smtClean="0">
                                      <a:solidFill>
                                        <a:schemeClr val="tx1"/>
                                      </a:solidFill>
                                      <a:latin typeface="Cambria Math" panose="02040503050406030204" pitchFamily="18" charset="0"/>
                                    </a:rPr>
                                    <m:t>(</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+3)</m:t>
                                  </m:r>
                                </m:num>
                                <m:den>
                                  <m:r>
                                    <a:rPr lang="en-GB" sz="1600" b="0" i="1" noProof="0" smtClean="0">
                                      <a:solidFill>
                                        <a:schemeClr val="tx1"/>
                                      </a:solidFill>
                                      <a:latin typeface="Cambria Math" panose="02040503050406030204" pitchFamily="18" charset="0"/>
                                    </a:rPr>
                                    <m:t>2(</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+3)</m:t>
                                  </m:r>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1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r>
                                    <a:rPr lang="en-GB" sz="1600" b="0" i="1" noProof="0" smtClean="0">
                                      <a:solidFill>
                                        <a:schemeClr val="tx1"/>
                                      </a:solidFill>
                                      <a:latin typeface="Cambria Math" panose="02040503050406030204" pitchFamily="18" charset="0"/>
                                    </a:rPr>
                                    <m:t>4(</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−3)</m:t>
                                  </m:r>
                                </m:num>
                                <m:den>
                                  <m:r>
                                    <a:rPr lang="en-GB" sz="1600" b="0" i="1" noProof="0" smtClean="0">
                                      <a:solidFill>
                                        <a:schemeClr val="tx1"/>
                                      </a:solidFill>
                                      <a:latin typeface="Cambria Math" panose="02040503050406030204" pitchFamily="18" charset="0"/>
                                    </a:rPr>
                                    <m:t>(</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−3)(</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+2)</m:t>
                                  </m:r>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68032">
                    <a:tc>
                      <a:txBody>
                        <a:bodyPr/>
                        <a:lstStyle/>
                        <a:p>
                          <a:r>
                            <a:rPr lang="en-GB" sz="1100" noProof="0" dirty="0">
                              <a:solidFill>
                                <a:schemeClr val="tx1"/>
                              </a:solidFill>
                            </a:rPr>
                            <a:t>1) Check</a:t>
                          </a:r>
                          <a:r>
                            <a:rPr lang="en-GB" sz="1100" baseline="0" noProof="0" dirty="0">
                              <a:solidFill>
                                <a:schemeClr val="tx1"/>
                              </a:solidFill>
                            </a:rPr>
                            <a:t> if the numerator/denominator need to be factorised.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13723">
                    <a:tc>
                      <a:txBody>
                        <a:bodyPr/>
                        <a:lstStyle/>
                        <a:p>
                          <a:r>
                            <a:rPr lang="en-GB" sz="1100" noProof="0" dirty="0">
                              <a:solidFill>
                                <a:schemeClr val="tx1"/>
                              </a:solidFill>
                            </a:rPr>
                            <a:t>2)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013723">
                    <a:tc>
                      <a:txBody>
                        <a:bodyPr/>
                        <a:lstStyle/>
                        <a:p>
                          <a:r>
                            <a:rPr lang="en-GB" sz="1100" noProof="0" dirty="0">
                              <a:solidFill>
                                <a:schemeClr val="tx1"/>
                              </a:solidFill>
                            </a:rPr>
                            <a:t>3) Cancel</a:t>
                          </a:r>
                          <a:r>
                            <a:rPr lang="en-GB" sz="1100" baseline="0" noProof="0" dirty="0">
                              <a:solidFill>
                                <a:schemeClr val="tx1"/>
                              </a:solidFill>
                            </a:rPr>
                            <a:t> common factors.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Choice>
        <mc:Fallback xmlns="">
          <p:graphicFrame>
            <p:nvGraphicFramePr>
              <p:cNvPr id="83" name="Table 82"/>
              <p:cNvGraphicFramePr>
                <a:graphicFrameLocks noGrp="1"/>
              </p:cNvGraphicFramePr>
              <p:nvPr>
                <p:extLst>
                  <p:ext uri="{D42A27DB-BD31-4B8C-83A1-F6EECF244321}">
                    <p14:modId xmlns:p14="http://schemas.microsoft.com/office/powerpoint/2010/main" val="2128830723"/>
                  </p:ext>
                </p:extLst>
              </p:nvPr>
            </p:nvGraphicFramePr>
            <p:xfrm>
              <a:off x="210129" y="276999"/>
              <a:ext cx="6484022" cy="3575348"/>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7987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9364" t="-1266" r="-218021" b="-6468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2722" t="-1266" r="-95253" b="-6468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6522" t="-1266" r="-669" b="-646835"/>
                          </a:stretch>
                        </a:blipFill>
                      </a:tcPr>
                    </a:tc>
                    <a:extLst>
                      <a:ext uri="{0D108BD9-81ED-4DB2-BD59-A6C34878D82A}">
                        <a16:rowId xmlns:a16="http://schemas.microsoft.com/office/drawing/2014/main" val="2357201933"/>
                      </a:ext>
                    </a:extLst>
                  </a:tr>
                  <a:tr h="1068032">
                    <a:tc>
                      <a:txBody>
                        <a:bodyPr/>
                        <a:lstStyle/>
                        <a:p>
                          <a:r>
                            <a:rPr lang="en-GB" sz="1100" noProof="0">
                              <a:solidFill>
                                <a:schemeClr val="tx1"/>
                              </a:solidFill>
                            </a:rPr>
                            <a:t>1) Check</a:t>
                          </a:r>
                          <a:r>
                            <a:rPr lang="en-GB" sz="1100" baseline="0" noProof="0">
                              <a:solidFill>
                                <a:schemeClr val="tx1"/>
                              </a:solidFill>
                            </a:rPr>
                            <a:t> if the numerator/denominator need to be factorised.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13723">
                    <a:tc>
                      <a:txBody>
                        <a:bodyPr/>
                        <a:lstStyle/>
                        <a:p>
                          <a:r>
                            <a:rPr lang="en-GB" sz="1100" noProof="0">
                              <a:solidFill>
                                <a:schemeClr val="tx1"/>
                              </a:solidFill>
                            </a:rPr>
                            <a:t>2)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013723">
                    <a:tc>
                      <a:txBody>
                        <a:bodyPr/>
                        <a:lstStyle/>
                        <a:p>
                          <a:r>
                            <a:rPr lang="en-GB" sz="1100" noProof="0">
                              <a:solidFill>
                                <a:schemeClr val="tx1"/>
                              </a:solidFill>
                            </a:rPr>
                            <a:t>3) Cancel</a:t>
                          </a:r>
                          <a:r>
                            <a:rPr lang="en-GB" sz="1100" baseline="0" noProof="0">
                              <a:solidFill>
                                <a:schemeClr val="tx1"/>
                              </a:solidFill>
                            </a:rPr>
                            <a:t> common factors.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Fallback>
      </mc:AlternateContent>
      <p:sp>
        <p:nvSpPr>
          <p:cNvPr id="84" name="TextBox 83">
            <a:extLst>
              <a:ext uri="{FF2B5EF4-FFF2-40B4-BE49-F238E27FC236}">
                <a16:creationId xmlns:a16="http://schemas.microsoft.com/office/drawing/2014/main" id="{72FAE9BB-D81F-4207-9FF8-E6BE971A99D9}"/>
              </a:ext>
            </a:extLst>
          </p:cNvPr>
          <p:cNvSpPr txBox="1"/>
          <p:nvPr/>
        </p:nvSpPr>
        <p:spPr>
          <a:xfrm>
            <a:off x="4962021" y="0"/>
            <a:ext cx="1498808"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3 - You do…</a:t>
            </a:r>
          </a:p>
        </p:txBody>
      </p:sp>
      <p:sp>
        <p:nvSpPr>
          <p:cNvPr id="85" name="TextBox 84">
            <a:extLst>
              <a:ext uri="{FF2B5EF4-FFF2-40B4-BE49-F238E27FC236}">
                <a16:creationId xmlns:a16="http://schemas.microsoft.com/office/drawing/2014/main" id="{337F58E6-37DE-4890-BDE3-0101DB4D4F11}"/>
              </a:ext>
            </a:extLst>
          </p:cNvPr>
          <p:cNvSpPr txBox="1"/>
          <p:nvPr/>
        </p:nvSpPr>
        <p:spPr>
          <a:xfrm>
            <a:off x="3160318" y="7628"/>
            <a:ext cx="1475789"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2 - We do…</a:t>
            </a:r>
          </a:p>
        </p:txBody>
      </p:sp>
      <p:sp>
        <p:nvSpPr>
          <p:cNvPr id="86" name="TextBox 85">
            <a:extLst>
              <a:ext uri="{FF2B5EF4-FFF2-40B4-BE49-F238E27FC236}">
                <a16:creationId xmlns:a16="http://schemas.microsoft.com/office/drawing/2014/main" id="{20EB31B5-3203-4E48-8A19-892EA568053E}"/>
              </a:ext>
            </a:extLst>
          </p:cNvPr>
          <p:cNvSpPr txBox="1"/>
          <p:nvPr/>
        </p:nvSpPr>
        <p:spPr>
          <a:xfrm>
            <a:off x="1419163" y="16986"/>
            <a:ext cx="1308500"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1 - I do…</a:t>
            </a:r>
          </a:p>
        </p:txBody>
      </p:sp>
      <p:sp>
        <p:nvSpPr>
          <p:cNvPr id="91" name="TextBox 90">
            <a:extLst>
              <a:ext uri="{FF2B5EF4-FFF2-40B4-BE49-F238E27FC236}">
                <a16:creationId xmlns:a16="http://schemas.microsoft.com/office/drawing/2014/main" id="{C3C65E48-8C3D-6849-AD77-7AD8678AD8DA}"/>
              </a:ext>
            </a:extLst>
          </p:cNvPr>
          <p:cNvSpPr txBox="1"/>
          <p:nvPr/>
        </p:nvSpPr>
        <p:spPr>
          <a:xfrm>
            <a:off x="-22412" y="3823273"/>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92" name="Rectangle 91">
            <a:extLst>
              <a:ext uri="{FF2B5EF4-FFF2-40B4-BE49-F238E27FC236}">
                <a16:creationId xmlns:a16="http://schemas.microsoft.com/office/drawing/2014/main" id="{B16CFEF2-A65A-6142-861C-58ACADF7EEFB}"/>
              </a:ext>
            </a:extLst>
          </p:cNvPr>
          <p:cNvSpPr/>
          <p:nvPr/>
        </p:nvSpPr>
        <p:spPr>
          <a:xfrm>
            <a:off x="161315" y="4743085"/>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93" name="TextBox 92"/>
              <p:cNvSpPr txBox="1"/>
              <p:nvPr/>
            </p:nvSpPr>
            <p:spPr>
              <a:xfrm>
                <a:off x="239326" y="6222088"/>
                <a:ext cx="1036566" cy="398635"/>
              </a:xfrm>
              <a:prstGeom prst="rect">
                <a:avLst/>
              </a:prstGeom>
              <a:noFill/>
            </p:spPr>
            <p:txBody>
              <a:bodyPr wrap="none" lIns="0" tIns="0" rIns="0" bIns="0" rtlCol="0">
                <a:spAutoFit/>
              </a:bodyPr>
              <a:lstStyle/>
              <a:p>
                <a:r>
                  <a:rPr lang="en-GB" sz="1600" noProof="0" dirty="0"/>
                  <a:t>e</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d>
                          <m:dPr>
                            <m:ctrlPr>
                              <a:rPr lang="en-GB" sz="1600" b="0" i="1" noProof="0" smtClean="0">
                                <a:latin typeface="Cambria Math" panose="02040503050406030204" pitchFamily="18" charset="0"/>
                              </a:rPr>
                            </m:ctrlPr>
                          </m:dPr>
                          <m:e>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e>
                        </m:d>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num>
                      <m:den>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93" name="TextBox 92"/>
              <p:cNvSpPr txBox="1">
                <a:spLocks noRot="1" noChangeAspect="1" noMove="1" noResize="1" noEditPoints="1" noAdjustHandles="1" noChangeArrowheads="1" noChangeShapeType="1" noTextEdit="1"/>
              </p:cNvSpPr>
              <p:nvPr/>
            </p:nvSpPr>
            <p:spPr>
              <a:xfrm>
                <a:off x="239326" y="6222088"/>
                <a:ext cx="1036566" cy="398635"/>
              </a:xfrm>
              <a:prstGeom prst="rect">
                <a:avLst/>
              </a:prstGeom>
              <a:blipFill>
                <a:blip r:embed="rId3"/>
                <a:stretch>
                  <a:fillRect l="-11765" r="-5882"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p:cNvSpPr txBox="1"/>
              <p:nvPr/>
            </p:nvSpPr>
            <p:spPr>
              <a:xfrm>
                <a:off x="1927318" y="6222216"/>
                <a:ext cx="999504" cy="398635"/>
              </a:xfrm>
              <a:prstGeom prst="rect">
                <a:avLst/>
              </a:prstGeom>
              <a:noFill/>
            </p:spPr>
            <p:txBody>
              <a:bodyPr wrap="none" lIns="0" tIns="0" rIns="0" bIns="0" rtlCol="0">
                <a:spAutoFit/>
              </a:bodyPr>
              <a:lstStyle/>
              <a:p>
                <a:r>
                  <a:rPr lang="en-GB" sz="1600" noProof="0" dirty="0"/>
                  <a:t>f</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b="0" i="1" noProof="0" smtClean="0">
                                <a:latin typeface="Cambria Math" panose="02040503050406030204" pitchFamily="18" charset="0"/>
                              </a:rPr>
                              <m:t>−1</m:t>
                            </m:r>
                          </m:e>
                        </m:d>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+1)</m:t>
                        </m:r>
                      </m:num>
                      <m:den>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−1</m:t>
                        </m:r>
                        <m:r>
                          <a:rPr lang="en-GB" sz="1600" i="1" noProof="0" smtClean="0">
                            <a:latin typeface="Cambria Math" panose="02040503050406030204" pitchFamily="18" charset="0"/>
                          </a:rPr>
                          <m:t>)</m:t>
                        </m:r>
                      </m:den>
                    </m:f>
                  </m:oMath>
                </a14:m>
                <a:endParaRPr lang="en-GB" sz="1600" noProof="0" dirty="0"/>
              </a:p>
            </p:txBody>
          </p:sp>
        </mc:Choice>
        <mc:Fallback xmlns="">
          <p:sp>
            <p:nvSpPr>
              <p:cNvPr id="94" name="TextBox 93"/>
              <p:cNvSpPr txBox="1">
                <a:spLocks noRot="1" noChangeAspect="1" noMove="1" noResize="1" noEditPoints="1" noAdjustHandles="1" noChangeArrowheads="1" noChangeShapeType="1" noTextEdit="1"/>
              </p:cNvSpPr>
              <p:nvPr/>
            </p:nvSpPr>
            <p:spPr>
              <a:xfrm>
                <a:off x="1927318" y="6222216"/>
                <a:ext cx="999504" cy="398635"/>
              </a:xfrm>
              <a:prstGeom prst="rect">
                <a:avLst/>
              </a:prstGeom>
              <a:blipFill>
                <a:blip r:embed="rId4"/>
                <a:stretch>
                  <a:fillRect l="-12195" r="-6098" b="-16923"/>
                </a:stretch>
              </a:blipFill>
            </p:spPr>
            <p:txBody>
              <a:bodyPr/>
              <a:lstStyle/>
              <a:p>
                <a:r>
                  <a:rPr lang="en-US">
                    <a:noFill/>
                  </a:rPr>
                  <a:t> </a:t>
                </a:r>
              </a:p>
            </p:txBody>
          </p:sp>
        </mc:Fallback>
      </mc:AlternateContent>
      <p:sp>
        <p:nvSpPr>
          <p:cNvPr id="95" name="Rectangle 94">
            <a:extLst>
              <a:ext uri="{FF2B5EF4-FFF2-40B4-BE49-F238E27FC236}">
                <a16:creationId xmlns:a16="http://schemas.microsoft.com/office/drawing/2014/main" id="{B16CFEF2-A65A-6142-861C-58ACADF7EEFB}"/>
              </a:ext>
            </a:extLst>
          </p:cNvPr>
          <p:cNvSpPr/>
          <p:nvPr/>
        </p:nvSpPr>
        <p:spPr>
          <a:xfrm>
            <a:off x="1821527" y="4743085"/>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96" name="Rectangle 95">
            <a:extLst>
              <a:ext uri="{FF2B5EF4-FFF2-40B4-BE49-F238E27FC236}">
                <a16:creationId xmlns:a16="http://schemas.microsoft.com/office/drawing/2014/main" id="{B16CFEF2-A65A-6142-861C-58ACADF7EEFB}"/>
              </a:ext>
            </a:extLst>
          </p:cNvPr>
          <p:cNvSpPr/>
          <p:nvPr/>
        </p:nvSpPr>
        <p:spPr>
          <a:xfrm>
            <a:off x="3493314" y="4743085"/>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97" name="Rectangle 96">
            <a:extLst>
              <a:ext uri="{FF2B5EF4-FFF2-40B4-BE49-F238E27FC236}">
                <a16:creationId xmlns:a16="http://schemas.microsoft.com/office/drawing/2014/main" id="{B16CFEF2-A65A-6142-861C-58ACADF7EEFB}"/>
              </a:ext>
            </a:extLst>
          </p:cNvPr>
          <p:cNvSpPr/>
          <p:nvPr/>
        </p:nvSpPr>
        <p:spPr>
          <a:xfrm>
            <a:off x="5170313" y="4743085"/>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98" name="TextBox 97"/>
              <p:cNvSpPr txBox="1"/>
              <p:nvPr/>
            </p:nvSpPr>
            <p:spPr>
              <a:xfrm>
                <a:off x="3539712" y="6222216"/>
                <a:ext cx="1030795" cy="398635"/>
              </a:xfrm>
              <a:prstGeom prst="rect">
                <a:avLst/>
              </a:prstGeom>
              <a:noFill/>
            </p:spPr>
            <p:txBody>
              <a:bodyPr wrap="none" lIns="0" tIns="0" rIns="0" bIns="0" rtlCol="0">
                <a:spAutoFit/>
              </a:bodyPr>
              <a:lstStyle/>
              <a:p>
                <a:r>
                  <a:rPr lang="en-GB" sz="1600" noProof="0" dirty="0"/>
                  <a:t>g</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e>
                        </m:d>
                      </m:num>
                      <m:den>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98" name="TextBox 97"/>
              <p:cNvSpPr txBox="1">
                <a:spLocks noRot="1" noChangeAspect="1" noMove="1" noResize="1" noEditPoints="1" noAdjustHandles="1" noChangeArrowheads="1" noChangeShapeType="1" noTextEdit="1"/>
              </p:cNvSpPr>
              <p:nvPr/>
            </p:nvSpPr>
            <p:spPr>
              <a:xfrm>
                <a:off x="3539712" y="6222216"/>
                <a:ext cx="1030795" cy="398635"/>
              </a:xfrm>
              <a:prstGeom prst="rect">
                <a:avLst/>
              </a:prstGeom>
              <a:blipFill>
                <a:blip r:embed="rId5"/>
                <a:stretch>
                  <a:fillRect l="-12426" r="-5325"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p:cNvSpPr txBox="1"/>
              <p:nvPr/>
            </p:nvSpPr>
            <p:spPr>
              <a:xfrm>
                <a:off x="5177373" y="6211722"/>
                <a:ext cx="1041375" cy="398635"/>
              </a:xfrm>
              <a:prstGeom prst="rect">
                <a:avLst/>
              </a:prstGeom>
              <a:noFill/>
            </p:spPr>
            <p:txBody>
              <a:bodyPr wrap="none" lIns="0" tIns="0" rIns="0" bIns="0" rtlCol="0">
                <a:spAutoFit/>
              </a:bodyPr>
              <a:lstStyle/>
              <a:p>
                <a:r>
                  <a:rPr lang="en-GB" sz="1600" noProof="0" dirty="0"/>
                  <a:t>h</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e>
                        </m:d>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+2)</m:t>
                        </m:r>
                      </m:num>
                      <m:den>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+2</m:t>
                        </m:r>
                        <m:r>
                          <a:rPr lang="en-GB" sz="1600" i="1" noProof="0" smtClean="0">
                            <a:latin typeface="Cambria Math" panose="02040503050406030204" pitchFamily="18" charset="0"/>
                          </a:rPr>
                          <m:t>)</m:t>
                        </m:r>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+9)</m:t>
                        </m:r>
                      </m:den>
                    </m:f>
                  </m:oMath>
                </a14:m>
                <a:endParaRPr lang="en-GB" sz="1600" noProof="0" dirty="0"/>
              </a:p>
            </p:txBody>
          </p:sp>
        </mc:Choice>
        <mc:Fallback xmlns="">
          <p:sp>
            <p:nvSpPr>
              <p:cNvPr id="99" name="TextBox 98"/>
              <p:cNvSpPr txBox="1">
                <a:spLocks noRot="1" noChangeAspect="1" noMove="1" noResize="1" noEditPoints="1" noAdjustHandles="1" noChangeArrowheads="1" noChangeShapeType="1" noTextEdit="1"/>
              </p:cNvSpPr>
              <p:nvPr/>
            </p:nvSpPr>
            <p:spPr>
              <a:xfrm>
                <a:off x="5177373" y="6211722"/>
                <a:ext cx="1041375" cy="398635"/>
              </a:xfrm>
              <a:prstGeom prst="rect">
                <a:avLst/>
              </a:prstGeom>
              <a:blipFill>
                <a:blip r:embed="rId6"/>
                <a:stretch>
                  <a:fillRect l="-11696" r="-5848" b="-16923"/>
                </a:stretch>
              </a:blipFill>
            </p:spPr>
            <p:txBody>
              <a:bodyPr/>
              <a:lstStyle/>
              <a:p>
                <a:r>
                  <a:rPr lang="en-US">
                    <a:noFill/>
                  </a:rPr>
                  <a:t> </a:t>
                </a:r>
              </a:p>
            </p:txBody>
          </p:sp>
        </mc:Fallback>
      </mc:AlternateContent>
      <p:sp>
        <p:nvSpPr>
          <p:cNvPr id="104" name="TextBox 103"/>
          <p:cNvSpPr txBox="1"/>
          <p:nvPr/>
        </p:nvSpPr>
        <p:spPr>
          <a:xfrm>
            <a:off x="1751243" y="3871679"/>
            <a:ext cx="2292231" cy="276999"/>
          </a:xfrm>
          <a:prstGeom prst="rect">
            <a:avLst/>
          </a:prstGeom>
          <a:noFill/>
        </p:spPr>
        <p:txBody>
          <a:bodyPr wrap="none" rtlCol="0">
            <a:spAutoFit/>
          </a:bodyPr>
          <a:lstStyle/>
          <a:p>
            <a:pPr algn="ctr"/>
            <a:r>
              <a:rPr lang="en-GB" sz="1200" noProof="0" dirty="0"/>
              <a:t>1. Simplify the algebraic fractions.</a:t>
            </a:r>
          </a:p>
        </p:txBody>
      </p:sp>
      <p:sp>
        <p:nvSpPr>
          <p:cNvPr id="105" name="Rectangle 104">
            <a:extLst>
              <a:ext uri="{FF2B5EF4-FFF2-40B4-BE49-F238E27FC236}">
                <a16:creationId xmlns:a16="http://schemas.microsoft.com/office/drawing/2014/main" id="{B16CFEF2-A65A-6142-861C-58ACADF7EEFB}"/>
              </a:ext>
            </a:extLst>
          </p:cNvPr>
          <p:cNvSpPr/>
          <p:nvPr/>
        </p:nvSpPr>
        <p:spPr>
          <a:xfrm>
            <a:off x="168823" y="6595443"/>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106" name="TextBox 105"/>
              <p:cNvSpPr txBox="1"/>
              <p:nvPr/>
            </p:nvSpPr>
            <p:spPr>
              <a:xfrm>
                <a:off x="212343" y="4333540"/>
                <a:ext cx="706155" cy="392223"/>
              </a:xfrm>
              <a:prstGeom prst="rect">
                <a:avLst/>
              </a:prstGeom>
              <a:noFill/>
            </p:spPr>
            <p:txBody>
              <a:bodyPr wrap="none" lIns="0" tIns="0" rIns="0" bIns="0" rtlCol="0">
                <a:spAutoFit/>
              </a:bodyPr>
              <a:lstStyle/>
              <a:p>
                <a:r>
                  <a:rPr lang="en-GB" sz="1600" noProof="0" dirty="0"/>
                  <a:t>a</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num>
                      <m:den>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106" name="TextBox 105"/>
              <p:cNvSpPr txBox="1">
                <a:spLocks noRot="1" noChangeAspect="1" noMove="1" noResize="1" noEditPoints="1" noAdjustHandles="1" noChangeArrowheads="1" noChangeShapeType="1" noTextEdit="1"/>
              </p:cNvSpPr>
              <p:nvPr/>
            </p:nvSpPr>
            <p:spPr>
              <a:xfrm>
                <a:off x="212343" y="4333540"/>
                <a:ext cx="706155" cy="392223"/>
              </a:xfrm>
              <a:prstGeom prst="rect">
                <a:avLst/>
              </a:prstGeom>
              <a:blipFill>
                <a:blip r:embed="rId7"/>
                <a:stretch>
                  <a:fillRect l="-18103" r="-8621"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TextBox 106"/>
              <p:cNvSpPr txBox="1"/>
              <p:nvPr/>
            </p:nvSpPr>
            <p:spPr>
              <a:xfrm>
                <a:off x="1903071" y="4374090"/>
                <a:ext cx="669286" cy="392223"/>
              </a:xfrm>
              <a:prstGeom prst="rect">
                <a:avLst/>
              </a:prstGeom>
              <a:noFill/>
            </p:spPr>
            <p:txBody>
              <a:bodyPr wrap="none" lIns="0" tIns="0" rIns="0" bIns="0" rtlCol="0">
                <a:spAutoFit/>
              </a:bodyPr>
              <a:lstStyle/>
              <a:p>
                <a:r>
                  <a:rPr lang="en-GB" sz="1600" noProof="0" dirty="0"/>
                  <a:t>b</a:t>
                </a:r>
                <a:r>
                  <a:rPr lang="en-GB" sz="1600" b="0" noProof="0" dirty="0"/>
                  <a:t>)</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2</m:t>
                        </m:r>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+1)</m:t>
                        </m:r>
                      </m:num>
                      <m:den>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+3</m:t>
                        </m:r>
                        <m:r>
                          <a:rPr lang="en-GB" sz="1600" i="1" noProof="0" smtClean="0">
                            <a:latin typeface="Cambria Math" panose="02040503050406030204" pitchFamily="18" charset="0"/>
                          </a:rPr>
                          <m:t>)</m:t>
                        </m:r>
                      </m:den>
                    </m:f>
                  </m:oMath>
                </a14:m>
                <a:endParaRPr lang="en-GB" sz="1600" noProof="0" dirty="0"/>
              </a:p>
            </p:txBody>
          </p:sp>
        </mc:Choice>
        <mc:Fallback xmlns="">
          <p:sp>
            <p:nvSpPr>
              <p:cNvPr id="107" name="TextBox 106"/>
              <p:cNvSpPr txBox="1">
                <a:spLocks noRot="1" noChangeAspect="1" noMove="1" noResize="1" noEditPoints="1" noAdjustHandles="1" noChangeArrowheads="1" noChangeShapeType="1" noTextEdit="1"/>
              </p:cNvSpPr>
              <p:nvPr/>
            </p:nvSpPr>
            <p:spPr>
              <a:xfrm>
                <a:off x="1903071" y="4374090"/>
                <a:ext cx="669286" cy="392223"/>
              </a:xfrm>
              <a:prstGeom prst="rect">
                <a:avLst/>
              </a:prstGeom>
              <a:blipFill>
                <a:blip r:embed="rId8"/>
                <a:stretch>
                  <a:fillRect l="-18182" r="-9091" b="-17188"/>
                </a:stretch>
              </a:blipFill>
            </p:spPr>
            <p:txBody>
              <a:bodyPr/>
              <a:lstStyle/>
              <a:p>
                <a:r>
                  <a:rPr lang="en-US">
                    <a:noFill/>
                  </a:rPr>
                  <a:t> </a:t>
                </a:r>
              </a:p>
            </p:txBody>
          </p:sp>
        </mc:Fallback>
      </mc:AlternateContent>
      <p:sp>
        <p:nvSpPr>
          <p:cNvPr id="108" name="Rectangle 107">
            <a:extLst>
              <a:ext uri="{FF2B5EF4-FFF2-40B4-BE49-F238E27FC236}">
                <a16:creationId xmlns:a16="http://schemas.microsoft.com/office/drawing/2014/main" id="{B16CFEF2-A65A-6142-861C-58ACADF7EEFB}"/>
              </a:ext>
            </a:extLst>
          </p:cNvPr>
          <p:cNvSpPr/>
          <p:nvPr/>
        </p:nvSpPr>
        <p:spPr>
          <a:xfrm>
            <a:off x="1829035" y="6595443"/>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09" name="Rectangle 108">
            <a:extLst>
              <a:ext uri="{FF2B5EF4-FFF2-40B4-BE49-F238E27FC236}">
                <a16:creationId xmlns:a16="http://schemas.microsoft.com/office/drawing/2014/main" id="{B16CFEF2-A65A-6142-861C-58ACADF7EEFB}"/>
              </a:ext>
            </a:extLst>
          </p:cNvPr>
          <p:cNvSpPr/>
          <p:nvPr/>
        </p:nvSpPr>
        <p:spPr>
          <a:xfrm>
            <a:off x="3500822" y="6595443"/>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10" name="Rectangle 109">
            <a:extLst>
              <a:ext uri="{FF2B5EF4-FFF2-40B4-BE49-F238E27FC236}">
                <a16:creationId xmlns:a16="http://schemas.microsoft.com/office/drawing/2014/main" id="{B16CFEF2-A65A-6142-861C-58ACADF7EEFB}"/>
              </a:ext>
            </a:extLst>
          </p:cNvPr>
          <p:cNvSpPr/>
          <p:nvPr/>
        </p:nvSpPr>
        <p:spPr>
          <a:xfrm>
            <a:off x="5177821" y="6595443"/>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111" name="TextBox 110"/>
              <p:cNvSpPr txBox="1"/>
              <p:nvPr/>
            </p:nvSpPr>
            <p:spPr>
              <a:xfrm>
                <a:off x="3515465" y="4374090"/>
                <a:ext cx="648447" cy="398635"/>
              </a:xfrm>
              <a:prstGeom prst="rect">
                <a:avLst/>
              </a:prstGeom>
              <a:noFill/>
            </p:spPr>
            <p:txBody>
              <a:bodyPr wrap="none" lIns="0" tIns="0" rIns="0" bIns="0" rtlCol="0">
                <a:spAutoFit/>
              </a:bodyPr>
              <a:lstStyle/>
              <a:p>
                <a:r>
                  <a:rPr lang="en-GB" sz="1600" noProof="0" dirty="0"/>
                  <a:t>c</a:t>
                </a:r>
                <a:r>
                  <a:rPr lang="en-GB" sz="1600" b="0" noProof="0" dirty="0"/>
                  <a:t>)</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b="0" i="1" noProof="0" smtClean="0">
                                <a:latin typeface="Cambria Math" panose="02040503050406030204" pitchFamily="18" charset="0"/>
                              </a:rPr>
                              <m:t>+3</m:t>
                            </m:r>
                          </m:e>
                        </m:d>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111" name="TextBox 110"/>
              <p:cNvSpPr txBox="1">
                <a:spLocks noRot="1" noChangeAspect="1" noMove="1" noResize="1" noEditPoints="1" noAdjustHandles="1" noChangeArrowheads="1" noChangeShapeType="1" noTextEdit="1"/>
              </p:cNvSpPr>
              <p:nvPr/>
            </p:nvSpPr>
            <p:spPr>
              <a:xfrm>
                <a:off x="3515465" y="4374090"/>
                <a:ext cx="648447" cy="398635"/>
              </a:xfrm>
              <a:prstGeom prst="rect">
                <a:avLst/>
              </a:prstGeom>
              <a:blipFill>
                <a:blip r:embed="rId9"/>
                <a:stretch>
                  <a:fillRect l="-19811" r="-9434"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p:cNvSpPr txBox="1"/>
              <p:nvPr/>
            </p:nvSpPr>
            <p:spPr>
              <a:xfrm>
                <a:off x="5153126" y="4363596"/>
                <a:ext cx="669286" cy="381258"/>
              </a:xfrm>
              <a:prstGeom prst="rect">
                <a:avLst/>
              </a:prstGeom>
              <a:noFill/>
            </p:spPr>
            <p:txBody>
              <a:bodyPr wrap="none" lIns="0" tIns="0" rIns="0" bIns="0" rtlCol="0">
                <a:spAutoFit/>
              </a:bodyPr>
              <a:lstStyle/>
              <a:p>
                <a:r>
                  <a:rPr lang="en-GB" sz="1600" noProof="0" dirty="0"/>
                  <a:t>d</a:t>
                </a:r>
                <a:r>
                  <a:rPr lang="en-GB" sz="1600" b="0" noProof="0" dirty="0"/>
                  <a:t>)</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112" name="TextBox 111"/>
              <p:cNvSpPr txBox="1">
                <a:spLocks noRot="1" noChangeAspect="1" noMove="1" noResize="1" noEditPoints="1" noAdjustHandles="1" noChangeArrowheads="1" noChangeShapeType="1" noTextEdit="1"/>
              </p:cNvSpPr>
              <p:nvPr/>
            </p:nvSpPr>
            <p:spPr>
              <a:xfrm>
                <a:off x="5153126" y="4363596"/>
                <a:ext cx="669286" cy="381258"/>
              </a:xfrm>
              <a:prstGeom prst="rect">
                <a:avLst/>
              </a:prstGeom>
              <a:blipFill>
                <a:blip r:embed="rId10"/>
                <a:stretch>
                  <a:fillRect l="-18182" t="-3226" r="-9091" b="-177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p:cNvSpPr txBox="1"/>
              <p:nvPr/>
            </p:nvSpPr>
            <p:spPr>
              <a:xfrm>
                <a:off x="161315" y="8191965"/>
                <a:ext cx="1393908" cy="398635"/>
              </a:xfrm>
              <a:prstGeom prst="rect">
                <a:avLst/>
              </a:prstGeom>
              <a:noFill/>
            </p:spPr>
            <p:txBody>
              <a:bodyPr wrap="none" lIns="0" tIns="0" rIns="0" bIns="0" rtlCol="0">
                <a:spAutoFit/>
              </a:bodyPr>
              <a:lstStyle/>
              <a:p>
                <a:r>
                  <a:rPr lang="en-GB" sz="1600" noProof="0" dirty="0" err="1"/>
                  <a:t>i</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d>
                          <m:dPr>
                            <m:ctrlPr>
                              <a:rPr lang="en-GB" sz="1600" b="0" i="1" noProof="0" smtClean="0">
                                <a:latin typeface="Cambria Math" panose="02040503050406030204" pitchFamily="18" charset="0"/>
                              </a:rPr>
                            </m:ctrlPr>
                          </m:dPr>
                          <m:e>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e>
                        </m:d>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num>
                      <m:den>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−4)</m:t>
                        </m:r>
                      </m:den>
                    </m:f>
                  </m:oMath>
                </a14:m>
                <a:endParaRPr lang="en-GB" sz="1600" noProof="0" dirty="0"/>
              </a:p>
            </p:txBody>
          </p:sp>
        </mc:Choice>
        <mc:Fallback xmlns="">
          <p:sp>
            <p:nvSpPr>
              <p:cNvPr id="117" name="TextBox 116"/>
              <p:cNvSpPr txBox="1">
                <a:spLocks noRot="1" noChangeAspect="1" noMove="1" noResize="1" noEditPoints="1" noAdjustHandles="1" noChangeArrowheads="1" noChangeShapeType="1" noTextEdit="1"/>
              </p:cNvSpPr>
              <p:nvPr/>
            </p:nvSpPr>
            <p:spPr>
              <a:xfrm>
                <a:off x="161315" y="8191965"/>
                <a:ext cx="1393908" cy="398635"/>
              </a:xfrm>
              <a:prstGeom prst="rect">
                <a:avLst/>
              </a:prstGeom>
              <a:blipFill>
                <a:blip r:embed="rId11"/>
                <a:stretch>
                  <a:fillRect l="-8734" r="-3930"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Box 117"/>
              <p:cNvSpPr txBox="1"/>
              <p:nvPr/>
            </p:nvSpPr>
            <p:spPr>
              <a:xfrm>
                <a:off x="3527627" y="8177523"/>
                <a:ext cx="1437188" cy="398635"/>
              </a:xfrm>
              <a:prstGeom prst="rect">
                <a:avLst/>
              </a:prstGeom>
              <a:noFill/>
            </p:spPr>
            <p:txBody>
              <a:bodyPr wrap="none" lIns="0" tIns="0" rIns="0" bIns="0" rtlCol="0">
                <a:spAutoFit/>
              </a:bodyPr>
              <a:lstStyle/>
              <a:p>
                <a:r>
                  <a:rPr lang="en-GB" sz="1600" noProof="0" dirty="0"/>
                  <a:t>j</a:t>
                </a:r>
                <a:r>
                  <a:rPr lang="en-GB" sz="1600" b="0" noProof="0" dirty="0"/>
                  <a:t>)</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b="0" i="1" noProof="0" smtClean="0">
                                <a:latin typeface="Cambria Math" panose="02040503050406030204" pitchFamily="18" charset="0"/>
                              </a:rPr>
                              <m:t>−</m:t>
                            </m:r>
                            <m:r>
                              <a:rPr lang="en-GB" sz="1600" i="1" noProof="0" smtClean="0">
                                <a:latin typeface="Cambria Math" panose="02040503050406030204" pitchFamily="18" charset="0"/>
                              </a:rPr>
                              <m:t>3</m:t>
                            </m:r>
                          </m:e>
                        </m:d>
                        <m:r>
                          <a:rPr lang="en-GB" sz="1600" i="1" noProof="0" smtClean="0">
                            <a:latin typeface="Cambria Math" panose="02040503050406030204" pitchFamily="18" charset="0"/>
                          </a:rPr>
                          <m:t>(</m:t>
                        </m:r>
                        <m:r>
                          <a:rPr lang="en-GB" sz="1600" b="0" i="1" noProof="0" smtClean="0">
                            <a:latin typeface="Cambria Math" panose="02040503050406030204" pitchFamily="18" charset="0"/>
                          </a:rPr>
                          <m:t>2</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−1</m:t>
                        </m:r>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+2)</m:t>
                        </m:r>
                      </m:num>
                      <m:den>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m:t>
                        </m:r>
                        <m:r>
                          <a:rPr lang="en-GB" sz="1600" i="1" noProof="0" smtClean="0">
                            <a:latin typeface="Cambria Math" panose="02040503050406030204" pitchFamily="18" charset="0"/>
                          </a:rPr>
                          <m:t>3)(</m:t>
                        </m:r>
                        <m:r>
                          <a:rPr lang="en-GB" sz="1600" i="1" noProof="0" smtClean="0">
                            <a:latin typeface="Cambria Math" panose="02040503050406030204" pitchFamily="18" charset="0"/>
                          </a:rPr>
                          <m:t>𝑥</m:t>
                        </m:r>
                        <m:r>
                          <a:rPr lang="en-GB" sz="1600" i="1" noProof="0" smtClean="0">
                            <a:latin typeface="Cambria Math" panose="02040503050406030204" pitchFamily="18" charset="0"/>
                          </a:rPr>
                          <m:t>+2)(2</m:t>
                        </m:r>
                        <m:r>
                          <a:rPr lang="en-GB" sz="1600" i="1" noProof="0" smtClean="0">
                            <a:latin typeface="Cambria Math" panose="02040503050406030204" pitchFamily="18" charset="0"/>
                          </a:rPr>
                          <m:t>𝑥</m:t>
                        </m:r>
                        <m:r>
                          <a:rPr lang="en-GB" sz="1600" i="1" noProof="0" smtClean="0">
                            <a:latin typeface="Cambria Math" panose="02040503050406030204" pitchFamily="18" charset="0"/>
                          </a:rPr>
                          <m:t>−1)</m:t>
                        </m:r>
                      </m:den>
                    </m:f>
                  </m:oMath>
                </a14:m>
                <a:endParaRPr lang="en-GB" sz="1600" noProof="0" dirty="0"/>
              </a:p>
            </p:txBody>
          </p:sp>
        </mc:Choice>
        <mc:Fallback xmlns="">
          <p:sp>
            <p:nvSpPr>
              <p:cNvPr id="118" name="TextBox 117"/>
              <p:cNvSpPr txBox="1">
                <a:spLocks noRot="1" noChangeAspect="1" noMove="1" noResize="1" noEditPoints="1" noAdjustHandles="1" noChangeArrowheads="1" noChangeShapeType="1" noTextEdit="1"/>
              </p:cNvSpPr>
              <p:nvPr/>
            </p:nvSpPr>
            <p:spPr>
              <a:xfrm>
                <a:off x="3527627" y="8177523"/>
                <a:ext cx="1437188" cy="398635"/>
              </a:xfrm>
              <a:prstGeom prst="rect">
                <a:avLst/>
              </a:prstGeom>
              <a:blipFill>
                <a:blip r:embed="rId12"/>
                <a:stretch>
                  <a:fillRect l="-8936" r="-3830" b="-16667"/>
                </a:stretch>
              </a:blipFill>
            </p:spPr>
            <p:txBody>
              <a:bodyPr/>
              <a:lstStyle/>
              <a:p>
                <a:r>
                  <a:rPr lang="en-US">
                    <a:noFill/>
                  </a:rPr>
                  <a:t> </a:t>
                </a:r>
              </a:p>
            </p:txBody>
          </p:sp>
        </mc:Fallback>
      </mc:AlternateContent>
      <p:sp>
        <p:nvSpPr>
          <p:cNvPr id="119" name="Rectangle 118">
            <a:extLst>
              <a:ext uri="{FF2B5EF4-FFF2-40B4-BE49-F238E27FC236}">
                <a16:creationId xmlns:a16="http://schemas.microsoft.com/office/drawing/2014/main" id="{B16CFEF2-A65A-6142-861C-58ACADF7EEFB}"/>
              </a:ext>
            </a:extLst>
          </p:cNvPr>
          <p:cNvSpPr/>
          <p:nvPr/>
        </p:nvSpPr>
        <p:spPr>
          <a:xfrm>
            <a:off x="161315" y="8577935"/>
            <a:ext cx="3257648" cy="11680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20" name="Rectangle 119">
            <a:extLst>
              <a:ext uri="{FF2B5EF4-FFF2-40B4-BE49-F238E27FC236}">
                <a16:creationId xmlns:a16="http://schemas.microsoft.com/office/drawing/2014/main" id="{B16CFEF2-A65A-6142-861C-58ACADF7EEFB}"/>
              </a:ext>
            </a:extLst>
          </p:cNvPr>
          <p:cNvSpPr/>
          <p:nvPr/>
        </p:nvSpPr>
        <p:spPr>
          <a:xfrm>
            <a:off x="3493314" y="8577934"/>
            <a:ext cx="3257648" cy="11680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Tree>
    <p:extLst>
      <p:ext uri="{BB962C8B-B14F-4D97-AF65-F5344CB8AC3E}">
        <p14:creationId xmlns:p14="http://schemas.microsoft.com/office/powerpoint/2010/main" val="2304709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9" name="Table 28"/>
              <p:cNvGraphicFramePr>
                <a:graphicFrameLocks noGrp="1"/>
              </p:cNvGraphicFramePr>
              <p:nvPr>
                <p:extLst>
                  <p:ext uri="{D42A27DB-BD31-4B8C-83A1-F6EECF244321}">
                    <p14:modId xmlns:p14="http://schemas.microsoft.com/office/powerpoint/2010/main" val="1303524096"/>
                  </p:ext>
                </p:extLst>
              </p:nvPr>
            </p:nvGraphicFramePr>
            <p:xfrm>
              <a:off x="196644" y="276998"/>
              <a:ext cx="6484022" cy="2591654"/>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394334">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Simplify</a:t>
                          </a:r>
                          <a:r>
                            <a:rPr lang="en-GB" sz="1400" b="0" noProof="0" dirty="0">
                              <a:solidFill>
                                <a:schemeClr val="tx1"/>
                              </a:solidFill>
                            </a:rPr>
                            <a:t>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r>
                                    <a:rPr lang="en-GB" sz="1600" b="0" i="1" noProof="0" smtClean="0">
                                      <a:solidFill>
                                        <a:schemeClr val="tx1"/>
                                      </a:solidFill>
                                      <a:latin typeface="Cambria Math" panose="02040503050406030204" pitchFamily="18" charset="0"/>
                                    </a:rPr>
                                    <m:t>5</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+10</m:t>
                                  </m:r>
                                </m:num>
                                <m:den>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+2</m:t>
                                  </m:r>
                                </m:den>
                              </m:f>
                            </m:oMath>
                          </a14:m>
                          <a:endParaRPr lang="en-GB" sz="14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1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r>
                                    <a:rPr lang="en-GB" sz="1600" b="0" i="1" noProof="0" smtClean="0">
                                      <a:solidFill>
                                        <a:schemeClr val="tx1"/>
                                      </a:solidFill>
                                      <a:latin typeface="Cambria Math" panose="02040503050406030204" pitchFamily="18" charset="0"/>
                                    </a:rPr>
                                    <m:t>5</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+15</m:t>
                                  </m:r>
                                </m:num>
                                <m:den>
                                  <m:r>
                                    <a:rPr lang="en-GB" sz="1600" b="0" i="1" noProof="0" smtClean="0">
                                      <a:solidFill>
                                        <a:schemeClr val="tx1"/>
                                      </a:solidFill>
                                      <a:latin typeface="Cambria Math" panose="02040503050406030204" pitchFamily="18" charset="0"/>
                                    </a:rPr>
                                    <m:t>2(</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+3)</m:t>
                                  </m:r>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1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r>
                                    <a:rPr lang="en-GB" sz="1600" b="0" i="1" noProof="0" smtClean="0">
                                      <a:solidFill>
                                        <a:schemeClr val="tx1"/>
                                      </a:solidFill>
                                      <a:latin typeface="Cambria Math" panose="02040503050406030204" pitchFamily="18" charset="0"/>
                                    </a:rPr>
                                    <m:t>4</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+12</m:t>
                                  </m:r>
                                </m:num>
                                <m:den>
                                  <m:r>
                                    <a:rPr lang="en-GB" sz="1600" b="0" i="1" noProof="0" smtClean="0">
                                      <a:solidFill>
                                        <a:schemeClr val="tx1"/>
                                      </a:solidFill>
                                      <a:latin typeface="Cambria Math" panose="02040503050406030204" pitchFamily="18" charset="0"/>
                                    </a:rPr>
                                    <m:t>2</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+6</m:t>
                                  </m:r>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65930">
                    <a:tc>
                      <a:txBody>
                        <a:bodyPr/>
                        <a:lstStyle/>
                        <a:p>
                          <a:r>
                            <a:rPr lang="en-GB" sz="1100" noProof="0" dirty="0">
                              <a:solidFill>
                                <a:schemeClr val="tx1"/>
                              </a:solidFill>
                            </a:rPr>
                            <a:t>1) Check</a:t>
                          </a:r>
                          <a:r>
                            <a:rPr lang="en-GB" sz="1100" baseline="0" noProof="0" dirty="0">
                              <a:solidFill>
                                <a:schemeClr val="tx1"/>
                              </a:solidFill>
                            </a:rPr>
                            <a:t> if the numerator/denominator need to be factorised.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594755">
                    <a:tc>
                      <a:txBody>
                        <a:bodyPr/>
                        <a:lstStyle/>
                        <a:p>
                          <a:r>
                            <a:rPr lang="en-GB" sz="1100" noProof="0" dirty="0">
                              <a:solidFill>
                                <a:schemeClr val="tx1"/>
                              </a:solidFill>
                            </a:rPr>
                            <a:t>2)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594755">
                    <a:tc>
                      <a:txBody>
                        <a:bodyPr/>
                        <a:lstStyle/>
                        <a:p>
                          <a:r>
                            <a:rPr lang="en-GB" sz="1100" noProof="0" dirty="0">
                              <a:solidFill>
                                <a:schemeClr val="tx1"/>
                              </a:solidFill>
                            </a:rPr>
                            <a:t>3) Cancel</a:t>
                          </a:r>
                          <a:r>
                            <a:rPr lang="en-GB" sz="1100" baseline="0" noProof="0" dirty="0">
                              <a:solidFill>
                                <a:schemeClr val="tx1"/>
                              </a:solidFill>
                            </a:rPr>
                            <a:t> common factors.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Choice>
        <mc:Fallback xmlns="">
          <p:graphicFrame>
            <p:nvGraphicFramePr>
              <p:cNvPr id="29" name="Table 28"/>
              <p:cNvGraphicFramePr>
                <a:graphicFrameLocks noGrp="1"/>
              </p:cNvGraphicFramePr>
              <p:nvPr>
                <p:extLst>
                  <p:ext uri="{D42A27DB-BD31-4B8C-83A1-F6EECF244321}">
                    <p14:modId xmlns:p14="http://schemas.microsoft.com/office/powerpoint/2010/main" val="1303524096"/>
                  </p:ext>
                </p:extLst>
              </p:nvPr>
            </p:nvGraphicFramePr>
            <p:xfrm>
              <a:off x="196644" y="276998"/>
              <a:ext cx="6484022" cy="2591654"/>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72504">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9574" t="-1282" r="-218794" b="-45384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1956" t="-1282" r="-94637" b="-45384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7383" t="-1282" r="-671" b="-453846"/>
                          </a:stretch>
                        </a:blipFill>
                      </a:tcPr>
                    </a:tc>
                    <a:extLst>
                      <a:ext uri="{0D108BD9-81ED-4DB2-BD59-A6C34878D82A}">
                        <a16:rowId xmlns:a16="http://schemas.microsoft.com/office/drawing/2014/main" val="2357201933"/>
                      </a:ext>
                    </a:extLst>
                  </a:tr>
                  <a:tr h="929640">
                    <a:tc>
                      <a:txBody>
                        <a:bodyPr/>
                        <a:lstStyle/>
                        <a:p>
                          <a:r>
                            <a:rPr lang="en-GB" sz="1100" noProof="0">
                              <a:solidFill>
                                <a:schemeClr val="tx1"/>
                              </a:solidFill>
                            </a:rPr>
                            <a:t>1) Check</a:t>
                          </a:r>
                          <a:r>
                            <a:rPr lang="en-GB" sz="1100" baseline="0" noProof="0">
                              <a:solidFill>
                                <a:schemeClr val="tx1"/>
                              </a:solidFill>
                            </a:rPr>
                            <a:t> if the numerator/denominator need to be factorised.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594755">
                    <a:tc>
                      <a:txBody>
                        <a:bodyPr/>
                        <a:lstStyle/>
                        <a:p>
                          <a:r>
                            <a:rPr lang="en-GB" sz="1100" noProof="0">
                              <a:solidFill>
                                <a:schemeClr val="tx1"/>
                              </a:solidFill>
                            </a:rPr>
                            <a:t>2)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594755">
                    <a:tc>
                      <a:txBody>
                        <a:bodyPr/>
                        <a:lstStyle/>
                        <a:p>
                          <a:r>
                            <a:rPr lang="en-GB" sz="1100" noProof="0">
                              <a:solidFill>
                                <a:schemeClr val="tx1"/>
                              </a:solidFill>
                            </a:rPr>
                            <a:t>3) Cancel</a:t>
                          </a:r>
                          <a:r>
                            <a:rPr lang="en-GB" sz="1100" baseline="0" noProof="0">
                              <a:solidFill>
                                <a:schemeClr val="tx1"/>
                              </a:solidFill>
                            </a:rPr>
                            <a:t> common factors.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Fallback>
      </mc:AlternateContent>
      <p:sp>
        <p:nvSpPr>
          <p:cNvPr id="30" name="TextBox 29">
            <a:extLst>
              <a:ext uri="{FF2B5EF4-FFF2-40B4-BE49-F238E27FC236}">
                <a16:creationId xmlns:a16="http://schemas.microsoft.com/office/drawing/2014/main" id="{72FAE9BB-D81F-4207-9FF8-E6BE971A99D9}"/>
              </a:ext>
            </a:extLst>
          </p:cNvPr>
          <p:cNvSpPr txBox="1"/>
          <p:nvPr/>
        </p:nvSpPr>
        <p:spPr>
          <a:xfrm>
            <a:off x="4948536" y="0"/>
            <a:ext cx="1498808"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6 - You do…</a:t>
            </a:r>
          </a:p>
        </p:txBody>
      </p:sp>
      <p:sp>
        <p:nvSpPr>
          <p:cNvPr id="31" name="TextBox 30">
            <a:extLst>
              <a:ext uri="{FF2B5EF4-FFF2-40B4-BE49-F238E27FC236}">
                <a16:creationId xmlns:a16="http://schemas.microsoft.com/office/drawing/2014/main" id="{337F58E6-37DE-4890-BDE3-0101DB4D4F11}"/>
              </a:ext>
            </a:extLst>
          </p:cNvPr>
          <p:cNvSpPr txBox="1"/>
          <p:nvPr/>
        </p:nvSpPr>
        <p:spPr>
          <a:xfrm>
            <a:off x="3146833" y="7628"/>
            <a:ext cx="1475789"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5 - We do…</a:t>
            </a:r>
          </a:p>
        </p:txBody>
      </p:sp>
      <p:sp>
        <p:nvSpPr>
          <p:cNvPr id="32" name="TextBox 31">
            <a:extLst>
              <a:ext uri="{FF2B5EF4-FFF2-40B4-BE49-F238E27FC236}">
                <a16:creationId xmlns:a16="http://schemas.microsoft.com/office/drawing/2014/main" id="{20EB31B5-3203-4E48-8A19-892EA568053E}"/>
              </a:ext>
            </a:extLst>
          </p:cNvPr>
          <p:cNvSpPr txBox="1"/>
          <p:nvPr/>
        </p:nvSpPr>
        <p:spPr>
          <a:xfrm>
            <a:off x="1405678" y="16986"/>
            <a:ext cx="1308500"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4 - I do…</a:t>
            </a:r>
          </a:p>
        </p:txBody>
      </p:sp>
      <p:sp>
        <p:nvSpPr>
          <p:cNvPr id="37" name="Rectangle 36">
            <a:extLst>
              <a:ext uri="{FF2B5EF4-FFF2-40B4-BE49-F238E27FC236}">
                <a16:creationId xmlns:a16="http://schemas.microsoft.com/office/drawing/2014/main" id="{B16CFEF2-A65A-6142-861C-58ACADF7EEFB}"/>
              </a:ext>
            </a:extLst>
          </p:cNvPr>
          <p:cNvSpPr/>
          <p:nvPr/>
        </p:nvSpPr>
        <p:spPr>
          <a:xfrm>
            <a:off x="166832" y="3556159"/>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8" name="TextBox 37"/>
              <p:cNvSpPr txBox="1"/>
              <p:nvPr/>
            </p:nvSpPr>
            <p:spPr>
              <a:xfrm>
                <a:off x="244837" y="5011795"/>
                <a:ext cx="710964" cy="381258"/>
              </a:xfrm>
              <a:prstGeom prst="rect">
                <a:avLst/>
              </a:prstGeom>
              <a:noFill/>
            </p:spPr>
            <p:txBody>
              <a:bodyPr wrap="none" lIns="0" tIns="0" rIns="0" bIns="0" rtlCol="0">
                <a:spAutoFit/>
              </a:bodyPr>
              <a:lstStyle/>
              <a:p>
                <a:r>
                  <a:rPr lang="en-GB" sz="1600" noProof="0" dirty="0"/>
                  <a:t>e</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num>
                      <m:den>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38" name="TextBox 37"/>
              <p:cNvSpPr txBox="1">
                <a:spLocks noRot="1" noChangeAspect="1" noMove="1" noResize="1" noEditPoints="1" noAdjustHandles="1" noChangeArrowheads="1" noChangeShapeType="1" noTextEdit="1"/>
              </p:cNvSpPr>
              <p:nvPr/>
            </p:nvSpPr>
            <p:spPr>
              <a:xfrm>
                <a:off x="244837" y="5011795"/>
                <a:ext cx="710964" cy="381258"/>
              </a:xfrm>
              <a:prstGeom prst="rect">
                <a:avLst/>
              </a:prstGeom>
              <a:blipFill>
                <a:blip r:embed="rId3"/>
                <a:stretch>
                  <a:fillRect l="-17094" t="-1587" r="-8547"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1932829" y="5011923"/>
                <a:ext cx="1000146" cy="381258"/>
              </a:xfrm>
              <a:prstGeom prst="rect">
                <a:avLst/>
              </a:prstGeom>
              <a:noFill/>
            </p:spPr>
            <p:txBody>
              <a:bodyPr wrap="none" lIns="0" tIns="0" rIns="0" bIns="0" rtlCol="0">
                <a:spAutoFit/>
              </a:bodyPr>
              <a:lstStyle/>
              <a:p>
                <a:r>
                  <a:rPr lang="en-GB" sz="1600" noProof="0" dirty="0"/>
                  <a:t>f</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num>
                      <m:den>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+3</m:t>
                        </m:r>
                        <m:r>
                          <a:rPr lang="en-GB" sz="1600" i="1" noProof="0" smtClean="0">
                            <a:latin typeface="Cambria Math" panose="02040503050406030204" pitchFamily="18" charset="0"/>
                          </a:rPr>
                          <m:t>)</m:t>
                        </m:r>
                      </m:den>
                    </m:f>
                  </m:oMath>
                </a14:m>
                <a:endParaRPr lang="en-GB" sz="1600" noProof="0" dirty="0"/>
              </a:p>
            </p:txBody>
          </p:sp>
        </mc:Choice>
        <mc:Fallback xmlns="">
          <p:sp>
            <p:nvSpPr>
              <p:cNvPr id="39" name="TextBox 38"/>
              <p:cNvSpPr txBox="1">
                <a:spLocks noRot="1" noChangeAspect="1" noMove="1" noResize="1" noEditPoints="1" noAdjustHandles="1" noChangeArrowheads="1" noChangeShapeType="1" noTextEdit="1"/>
              </p:cNvSpPr>
              <p:nvPr/>
            </p:nvSpPr>
            <p:spPr>
              <a:xfrm>
                <a:off x="1932829" y="5011923"/>
                <a:ext cx="1000146" cy="381258"/>
              </a:xfrm>
              <a:prstGeom prst="rect">
                <a:avLst/>
              </a:prstGeom>
              <a:blipFill>
                <a:blip r:embed="rId4"/>
                <a:stretch>
                  <a:fillRect l="-12195" t="-1587" r="-6098" b="-17460"/>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B16CFEF2-A65A-6142-861C-58ACADF7EEFB}"/>
              </a:ext>
            </a:extLst>
          </p:cNvPr>
          <p:cNvSpPr/>
          <p:nvPr/>
        </p:nvSpPr>
        <p:spPr>
          <a:xfrm>
            <a:off x="1827044" y="3556159"/>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1" name="Rectangle 40">
            <a:extLst>
              <a:ext uri="{FF2B5EF4-FFF2-40B4-BE49-F238E27FC236}">
                <a16:creationId xmlns:a16="http://schemas.microsoft.com/office/drawing/2014/main" id="{B16CFEF2-A65A-6142-861C-58ACADF7EEFB}"/>
              </a:ext>
            </a:extLst>
          </p:cNvPr>
          <p:cNvSpPr/>
          <p:nvPr/>
        </p:nvSpPr>
        <p:spPr>
          <a:xfrm>
            <a:off x="3498831" y="3556159"/>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2" name="Rectangle 41">
            <a:extLst>
              <a:ext uri="{FF2B5EF4-FFF2-40B4-BE49-F238E27FC236}">
                <a16:creationId xmlns:a16="http://schemas.microsoft.com/office/drawing/2014/main" id="{B16CFEF2-A65A-6142-861C-58ACADF7EEFB}"/>
              </a:ext>
            </a:extLst>
          </p:cNvPr>
          <p:cNvSpPr/>
          <p:nvPr/>
        </p:nvSpPr>
        <p:spPr>
          <a:xfrm>
            <a:off x="5175830" y="3556159"/>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43" name="TextBox 42"/>
              <p:cNvSpPr txBox="1"/>
              <p:nvPr/>
            </p:nvSpPr>
            <p:spPr>
              <a:xfrm>
                <a:off x="3545223" y="5011923"/>
                <a:ext cx="666080" cy="349455"/>
              </a:xfrm>
              <a:prstGeom prst="rect">
                <a:avLst/>
              </a:prstGeom>
              <a:noFill/>
            </p:spPr>
            <p:txBody>
              <a:bodyPr wrap="none" lIns="0" tIns="0" rIns="0" bIns="0" rtlCol="0">
                <a:spAutoFit/>
              </a:bodyPr>
              <a:lstStyle/>
              <a:p>
                <a:r>
                  <a:rPr lang="en-GB" sz="1600" noProof="0" dirty="0"/>
                  <a:t>g</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num>
                      <m:den>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den>
                    </m:f>
                  </m:oMath>
                </a14:m>
                <a:endParaRPr lang="en-GB" sz="1600" noProof="0" dirty="0"/>
              </a:p>
            </p:txBody>
          </p:sp>
        </mc:Choice>
        <mc:Fallback xmlns="">
          <p:sp>
            <p:nvSpPr>
              <p:cNvPr id="43" name="TextBox 42"/>
              <p:cNvSpPr txBox="1">
                <a:spLocks noRot="1" noChangeAspect="1" noMove="1" noResize="1" noEditPoints="1" noAdjustHandles="1" noChangeArrowheads="1" noChangeShapeType="1" noTextEdit="1"/>
              </p:cNvSpPr>
              <p:nvPr/>
            </p:nvSpPr>
            <p:spPr>
              <a:xfrm>
                <a:off x="3545223" y="5011923"/>
                <a:ext cx="666080" cy="349455"/>
              </a:xfrm>
              <a:prstGeom prst="rect">
                <a:avLst/>
              </a:prstGeom>
              <a:blipFill>
                <a:blip r:embed="rId5"/>
                <a:stretch>
                  <a:fillRect l="-19266" t="-1754" r="-6422" b="-228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5182884" y="5001429"/>
                <a:ext cx="677301" cy="352982"/>
              </a:xfrm>
              <a:prstGeom prst="rect">
                <a:avLst/>
              </a:prstGeom>
              <a:noFill/>
            </p:spPr>
            <p:txBody>
              <a:bodyPr wrap="none" lIns="0" tIns="0" rIns="0" bIns="0" rtlCol="0">
                <a:spAutoFit/>
              </a:bodyPr>
              <a:lstStyle/>
              <a:p>
                <a:r>
                  <a:rPr lang="en-GB" sz="1600" noProof="0" dirty="0"/>
                  <a:t>h</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5</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+15</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44" name="TextBox 43"/>
              <p:cNvSpPr txBox="1">
                <a:spLocks noRot="1" noChangeAspect="1" noMove="1" noResize="1" noEditPoints="1" noAdjustHandles="1" noChangeArrowheads="1" noChangeShapeType="1" noTextEdit="1"/>
              </p:cNvSpPr>
              <p:nvPr/>
            </p:nvSpPr>
            <p:spPr>
              <a:xfrm>
                <a:off x="5182884" y="5001429"/>
                <a:ext cx="677301" cy="352982"/>
              </a:xfrm>
              <a:prstGeom prst="rect">
                <a:avLst/>
              </a:prstGeom>
              <a:blipFill>
                <a:blip r:embed="rId6"/>
                <a:stretch>
                  <a:fillRect l="-18018" t="-1724" r="-7207" b="-20690"/>
                </a:stretch>
              </a:blipFill>
            </p:spPr>
            <p:txBody>
              <a:bodyPr/>
              <a:lstStyle/>
              <a:p>
                <a:r>
                  <a:rPr lang="en-US">
                    <a:noFill/>
                  </a:rPr>
                  <a:t> </a:t>
                </a:r>
              </a:p>
            </p:txBody>
          </p:sp>
        </mc:Fallback>
      </mc:AlternateContent>
      <p:sp>
        <p:nvSpPr>
          <p:cNvPr id="49" name="TextBox 48"/>
          <p:cNvSpPr txBox="1"/>
          <p:nvPr/>
        </p:nvSpPr>
        <p:spPr>
          <a:xfrm>
            <a:off x="1764268" y="2884161"/>
            <a:ext cx="2292231" cy="276999"/>
          </a:xfrm>
          <a:prstGeom prst="rect">
            <a:avLst/>
          </a:prstGeom>
          <a:noFill/>
        </p:spPr>
        <p:txBody>
          <a:bodyPr wrap="none" rtlCol="0">
            <a:spAutoFit/>
          </a:bodyPr>
          <a:lstStyle/>
          <a:p>
            <a:pPr algn="ctr"/>
            <a:r>
              <a:rPr lang="en-GB" sz="1200" noProof="0" dirty="0"/>
              <a:t>2. Simplify the algebraic fractions.</a:t>
            </a:r>
          </a:p>
        </p:txBody>
      </p:sp>
      <p:sp>
        <p:nvSpPr>
          <p:cNvPr id="50" name="Rectangle 49">
            <a:extLst>
              <a:ext uri="{FF2B5EF4-FFF2-40B4-BE49-F238E27FC236}">
                <a16:creationId xmlns:a16="http://schemas.microsoft.com/office/drawing/2014/main" id="{B16CFEF2-A65A-6142-861C-58ACADF7EEFB}"/>
              </a:ext>
            </a:extLst>
          </p:cNvPr>
          <p:cNvSpPr/>
          <p:nvPr/>
        </p:nvSpPr>
        <p:spPr>
          <a:xfrm>
            <a:off x="174340" y="5408517"/>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51" name="TextBox 50"/>
              <p:cNvSpPr txBox="1"/>
              <p:nvPr/>
            </p:nvSpPr>
            <p:spPr>
              <a:xfrm>
                <a:off x="220590" y="3163669"/>
                <a:ext cx="706155" cy="381258"/>
              </a:xfrm>
              <a:prstGeom prst="rect">
                <a:avLst/>
              </a:prstGeom>
              <a:noFill/>
            </p:spPr>
            <p:txBody>
              <a:bodyPr wrap="none" lIns="0" tIns="0" rIns="0" bIns="0" rtlCol="0">
                <a:spAutoFit/>
              </a:bodyPr>
              <a:lstStyle/>
              <a:p>
                <a:r>
                  <a:rPr lang="en-GB" sz="1600" noProof="0" dirty="0"/>
                  <a:t>a</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num>
                      <m:den>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m:t>
                        </m:r>
                      </m:den>
                    </m:f>
                  </m:oMath>
                </a14:m>
                <a:endParaRPr lang="en-GB" sz="1600" noProof="0" dirty="0"/>
              </a:p>
            </p:txBody>
          </p:sp>
        </mc:Choice>
        <mc:Fallback xmlns="">
          <p:sp>
            <p:nvSpPr>
              <p:cNvPr id="51" name="TextBox 50"/>
              <p:cNvSpPr txBox="1">
                <a:spLocks noRot="1" noChangeAspect="1" noMove="1" noResize="1" noEditPoints="1" noAdjustHandles="1" noChangeArrowheads="1" noChangeShapeType="1" noTextEdit="1"/>
              </p:cNvSpPr>
              <p:nvPr/>
            </p:nvSpPr>
            <p:spPr>
              <a:xfrm>
                <a:off x="220590" y="3163669"/>
                <a:ext cx="706155" cy="381258"/>
              </a:xfrm>
              <a:prstGeom prst="rect">
                <a:avLst/>
              </a:prstGeom>
              <a:blipFill>
                <a:blip r:embed="rId7"/>
                <a:stretch>
                  <a:fillRect l="-17241" t="-3175" r="-9483" b="-158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1908582" y="3163797"/>
                <a:ext cx="589136" cy="349455"/>
              </a:xfrm>
              <a:prstGeom prst="rect">
                <a:avLst/>
              </a:prstGeom>
              <a:noFill/>
            </p:spPr>
            <p:txBody>
              <a:bodyPr wrap="none" lIns="0" tIns="0" rIns="0" bIns="0" rtlCol="0">
                <a:spAutoFit/>
              </a:bodyPr>
              <a:lstStyle/>
              <a:p>
                <a:r>
                  <a:rPr lang="en-GB" sz="1600" noProof="0" dirty="0"/>
                  <a:t>b</a:t>
                </a:r>
                <a:r>
                  <a:rPr lang="en-GB" sz="1600" b="0" noProof="0" dirty="0"/>
                  <a:t>)</a:t>
                </a:r>
                <a14:m>
                  <m:oMath xmlns:m="http://schemas.openxmlformats.org/officeDocument/2006/math">
                    <m:r>
                      <a:rPr lang="en-GB" sz="1600" b="0" i="0" noProof="0" smtClean="0">
                        <a:latin typeface="Cambria Math" panose="02040503050406030204" pitchFamily="18" charset="0"/>
                      </a:rPr>
                      <m:t> </m:t>
                    </m:r>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num>
                      <m:den>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52" name="TextBox 51"/>
              <p:cNvSpPr txBox="1">
                <a:spLocks noRot="1" noChangeAspect="1" noMove="1" noResize="1" noEditPoints="1" noAdjustHandles="1" noChangeArrowheads="1" noChangeShapeType="1" noTextEdit="1"/>
              </p:cNvSpPr>
              <p:nvPr/>
            </p:nvSpPr>
            <p:spPr>
              <a:xfrm>
                <a:off x="1908582" y="3163797"/>
                <a:ext cx="589136" cy="349455"/>
              </a:xfrm>
              <a:prstGeom prst="rect">
                <a:avLst/>
              </a:prstGeom>
              <a:blipFill>
                <a:blip r:embed="rId8"/>
                <a:stretch>
                  <a:fillRect l="-20619" t="-3509" r="-6186" b="-21053"/>
                </a:stretch>
              </a:blipFill>
            </p:spPr>
            <p:txBody>
              <a:bodyPr/>
              <a:lstStyle/>
              <a:p>
                <a:r>
                  <a:rPr lang="en-US">
                    <a:noFill/>
                  </a:rPr>
                  <a:t> </a:t>
                </a:r>
              </a:p>
            </p:txBody>
          </p:sp>
        </mc:Fallback>
      </mc:AlternateContent>
      <p:sp>
        <p:nvSpPr>
          <p:cNvPr id="53" name="Rectangle 52">
            <a:extLst>
              <a:ext uri="{FF2B5EF4-FFF2-40B4-BE49-F238E27FC236}">
                <a16:creationId xmlns:a16="http://schemas.microsoft.com/office/drawing/2014/main" id="{B16CFEF2-A65A-6142-861C-58ACADF7EEFB}"/>
              </a:ext>
            </a:extLst>
          </p:cNvPr>
          <p:cNvSpPr/>
          <p:nvPr/>
        </p:nvSpPr>
        <p:spPr>
          <a:xfrm>
            <a:off x="1834552" y="5408517"/>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4" name="Rectangle 53">
            <a:extLst>
              <a:ext uri="{FF2B5EF4-FFF2-40B4-BE49-F238E27FC236}">
                <a16:creationId xmlns:a16="http://schemas.microsoft.com/office/drawing/2014/main" id="{B16CFEF2-A65A-6142-861C-58ACADF7EEFB}"/>
              </a:ext>
            </a:extLst>
          </p:cNvPr>
          <p:cNvSpPr/>
          <p:nvPr/>
        </p:nvSpPr>
        <p:spPr>
          <a:xfrm>
            <a:off x="3506339" y="5408517"/>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5" name="Rectangle 54">
            <a:extLst>
              <a:ext uri="{FF2B5EF4-FFF2-40B4-BE49-F238E27FC236}">
                <a16:creationId xmlns:a16="http://schemas.microsoft.com/office/drawing/2014/main" id="{B16CFEF2-A65A-6142-861C-58ACADF7EEFB}"/>
              </a:ext>
            </a:extLst>
          </p:cNvPr>
          <p:cNvSpPr/>
          <p:nvPr/>
        </p:nvSpPr>
        <p:spPr>
          <a:xfrm>
            <a:off x="5183338" y="5408517"/>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56" name="TextBox 55"/>
              <p:cNvSpPr txBox="1"/>
              <p:nvPr/>
            </p:nvSpPr>
            <p:spPr>
              <a:xfrm>
                <a:off x="3520976" y="3163797"/>
                <a:ext cx="648447" cy="381258"/>
              </a:xfrm>
              <a:prstGeom prst="rect">
                <a:avLst/>
              </a:prstGeom>
              <a:noFill/>
            </p:spPr>
            <p:txBody>
              <a:bodyPr wrap="none" lIns="0" tIns="0" rIns="0" bIns="0" rtlCol="0">
                <a:spAutoFit/>
              </a:bodyPr>
              <a:lstStyle/>
              <a:p>
                <a:r>
                  <a:rPr lang="en-GB" sz="1600" noProof="0" dirty="0"/>
                  <a:t>c</a:t>
                </a:r>
                <a:r>
                  <a:rPr lang="en-GB" sz="1600" b="0" noProof="0" dirty="0"/>
                  <a:t>)</a:t>
                </a:r>
                <a14:m>
                  <m:oMath xmlns:m="http://schemas.openxmlformats.org/officeDocument/2006/math">
                    <m:f>
                      <m:fPr>
                        <m:ctrlPr>
                          <a:rPr lang="en-GB" sz="1600" i="1" noProof="0" smtClean="0">
                            <a:latin typeface="Cambria Math" panose="02040503050406030204" pitchFamily="18" charset="0"/>
                          </a:rPr>
                        </m:ctrlPr>
                      </m:fPr>
                      <m:num>
                        <m:r>
                          <a:rPr lang="en-GB" sz="160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m:t>
                        </m:r>
                      </m:den>
                    </m:f>
                  </m:oMath>
                </a14:m>
                <a:endParaRPr lang="en-GB" sz="1600" noProof="0" dirty="0"/>
              </a:p>
            </p:txBody>
          </p:sp>
        </mc:Choice>
        <mc:Fallback xmlns="">
          <p:sp>
            <p:nvSpPr>
              <p:cNvPr id="56" name="TextBox 55"/>
              <p:cNvSpPr txBox="1">
                <a:spLocks noRot="1" noChangeAspect="1" noMove="1" noResize="1" noEditPoints="1" noAdjustHandles="1" noChangeArrowheads="1" noChangeShapeType="1" noTextEdit="1"/>
              </p:cNvSpPr>
              <p:nvPr/>
            </p:nvSpPr>
            <p:spPr>
              <a:xfrm>
                <a:off x="3520976" y="3163797"/>
                <a:ext cx="648447" cy="381258"/>
              </a:xfrm>
              <a:prstGeom prst="rect">
                <a:avLst/>
              </a:prstGeom>
              <a:blipFill>
                <a:blip r:embed="rId9"/>
                <a:stretch>
                  <a:fillRect l="-19811" t="-3175" r="-9434" b="-158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5158637" y="3153303"/>
                <a:ext cx="669286" cy="381258"/>
              </a:xfrm>
              <a:prstGeom prst="rect">
                <a:avLst/>
              </a:prstGeom>
              <a:noFill/>
            </p:spPr>
            <p:txBody>
              <a:bodyPr wrap="none" lIns="0" tIns="0" rIns="0" bIns="0" rtlCol="0">
                <a:spAutoFit/>
              </a:bodyPr>
              <a:lstStyle/>
              <a:p>
                <a:r>
                  <a:rPr lang="en-GB" sz="1600" noProof="0" dirty="0"/>
                  <a:t>d</a:t>
                </a:r>
                <a:r>
                  <a:rPr lang="en-GB" sz="1600" b="0" noProof="0" dirty="0"/>
                  <a:t>)</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57" name="TextBox 56"/>
              <p:cNvSpPr txBox="1">
                <a:spLocks noRot="1" noChangeAspect="1" noMove="1" noResize="1" noEditPoints="1" noAdjustHandles="1" noChangeArrowheads="1" noChangeShapeType="1" noTextEdit="1"/>
              </p:cNvSpPr>
              <p:nvPr/>
            </p:nvSpPr>
            <p:spPr>
              <a:xfrm>
                <a:off x="5158637" y="3153303"/>
                <a:ext cx="669286" cy="381258"/>
              </a:xfrm>
              <a:prstGeom prst="rect">
                <a:avLst/>
              </a:prstGeom>
              <a:blipFill>
                <a:blip r:embed="rId10"/>
                <a:stretch>
                  <a:fillRect l="-18182" t="-1587" r="-9091"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2" name="Table 61"/>
              <p:cNvGraphicFramePr>
                <a:graphicFrameLocks noGrp="1"/>
              </p:cNvGraphicFramePr>
              <p:nvPr>
                <p:extLst>
                  <p:ext uri="{D42A27DB-BD31-4B8C-83A1-F6EECF244321}">
                    <p14:modId xmlns:p14="http://schemas.microsoft.com/office/powerpoint/2010/main" val="1257581570"/>
                  </p:ext>
                </p:extLst>
              </p:nvPr>
            </p:nvGraphicFramePr>
            <p:xfrm>
              <a:off x="196644" y="7229459"/>
              <a:ext cx="6576621" cy="2566791"/>
            </p:xfrm>
            <a:graphic>
              <a:graphicData uri="http://schemas.openxmlformats.org/drawingml/2006/table">
                <a:tbl>
                  <a:tblPr firstRow="1" bandRow="1">
                    <a:tableStyleId>{5C22544A-7EE6-4342-B048-85BDC9FD1C3A}</a:tableStyleId>
                  </a:tblPr>
                  <a:tblGrid>
                    <a:gridCol w="1012396">
                      <a:extLst>
                        <a:ext uri="{9D8B030D-6E8A-4147-A177-3AD203B41FA5}">
                          <a16:colId xmlns:a16="http://schemas.microsoft.com/office/drawing/2014/main" val="1568142362"/>
                        </a:ext>
                      </a:extLst>
                    </a:gridCol>
                    <a:gridCol w="1765429">
                      <a:extLst>
                        <a:ext uri="{9D8B030D-6E8A-4147-A177-3AD203B41FA5}">
                          <a16:colId xmlns:a16="http://schemas.microsoft.com/office/drawing/2014/main" val="3551711160"/>
                        </a:ext>
                      </a:extLst>
                    </a:gridCol>
                    <a:gridCol w="1955392">
                      <a:extLst>
                        <a:ext uri="{9D8B030D-6E8A-4147-A177-3AD203B41FA5}">
                          <a16:colId xmlns:a16="http://schemas.microsoft.com/office/drawing/2014/main" val="925597041"/>
                        </a:ext>
                      </a:extLst>
                    </a:gridCol>
                    <a:gridCol w="1843404">
                      <a:extLst>
                        <a:ext uri="{9D8B030D-6E8A-4147-A177-3AD203B41FA5}">
                          <a16:colId xmlns:a16="http://schemas.microsoft.com/office/drawing/2014/main" val="4095172789"/>
                        </a:ext>
                      </a:extLst>
                    </a:gridCol>
                  </a:tblGrid>
                  <a:tr h="463583">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sSup>
                                    <m:sSupPr>
                                      <m:ctrlPr>
                                        <a:rPr lang="en-GB" sz="1600" b="0" i="1" noProof="0" smtClean="0">
                                          <a:solidFill>
                                            <a:schemeClr val="tx1"/>
                                          </a:solidFill>
                                          <a:latin typeface="Cambria Math" panose="02040503050406030204" pitchFamily="18" charset="0"/>
                                        </a:rPr>
                                      </m:ctrlPr>
                                    </m:sSupPr>
                                    <m:e>
                                      <m:r>
                                        <a:rPr lang="en-GB" sz="1600" b="0" i="1" noProof="0" smtClean="0">
                                          <a:solidFill>
                                            <a:schemeClr val="tx1"/>
                                          </a:solidFill>
                                          <a:latin typeface="Cambria Math" panose="02040503050406030204" pitchFamily="18" charset="0"/>
                                        </a:rPr>
                                        <m:t>𝑥</m:t>
                                      </m:r>
                                    </m:e>
                                    <m:sup>
                                      <m:r>
                                        <a:rPr lang="en-GB" sz="1600" b="0" i="1" noProof="0" smtClean="0">
                                          <a:solidFill>
                                            <a:schemeClr val="tx1"/>
                                          </a:solidFill>
                                          <a:latin typeface="Cambria Math" panose="02040503050406030204" pitchFamily="18" charset="0"/>
                                        </a:rPr>
                                        <m:t>2</m:t>
                                      </m:r>
                                    </m:sup>
                                  </m:sSup>
                                  <m:r>
                                    <a:rPr lang="en-GB" sz="1600" b="0" i="1" noProof="0" smtClean="0">
                                      <a:solidFill>
                                        <a:schemeClr val="tx1"/>
                                      </a:solidFill>
                                      <a:latin typeface="Cambria Math" panose="02040503050406030204" pitchFamily="18" charset="0"/>
                                    </a:rPr>
                                    <m:t>+5</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+6</m:t>
                                  </m:r>
                                </m:num>
                                <m:den>
                                  <m:r>
                                    <a:rPr lang="en-GB" sz="1600" b="0" i="1" noProof="0" smtClean="0">
                                      <a:solidFill>
                                        <a:schemeClr val="tx1"/>
                                      </a:solidFill>
                                      <a:latin typeface="Cambria Math" panose="02040503050406030204" pitchFamily="18" charset="0"/>
                                    </a:rPr>
                                    <m:t>(</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+3)(</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+4)</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sSup>
                                    <m:sSupPr>
                                      <m:ctrlPr>
                                        <a:rPr lang="en-GB" sz="1600" b="0" i="1" noProof="0" smtClean="0">
                                          <a:solidFill>
                                            <a:schemeClr val="tx1"/>
                                          </a:solidFill>
                                          <a:latin typeface="Cambria Math" panose="02040503050406030204" pitchFamily="18" charset="0"/>
                                        </a:rPr>
                                      </m:ctrlPr>
                                    </m:sSupPr>
                                    <m:e>
                                      <m:r>
                                        <a:rPr lang="en-GB" sz="1600" b="0" i="1" noProof="0" smtClean="0">
                                          <a:solidFill>
                                            <a:schemeClr val="tx1"/>
                                          </a:solidFill>
                                          <a:latin typeface="Cambria Math" panose="02040503050406030204" pitchFamily="18" charset="0"/>
                                        </a:rPr>
                                        <m:t>𝑥</m:t>
                                      </m:r>
                                    </m:e>
                                    <m:sup>
                                      <m:r>
                                        <a:rPr lang="en-GB" sz="1600" b="0" i="1" noProof="0" smtClean="0">
                                          <a:solidFill>
                                            <a:schemeClr val="tx1"/>
                                          </a:solidFill>
                                          <a:latin typeface="Cambria Math" panose="02040503050406030204" pitchFamily="18" charset="0"/>
                                        </a:rPr>
                                        <m:t>2</m:t>
                                      </m:r>
                                    </m:sup>
                                  </m:sSup>
                                  <m:r>
                                    <a:rPr lang="en-GB" sz="1600" b="0" i="1" noProof="0" smtClean="0">
                                      <a:solidFill>
                                        <a:schemeClr val="tx1"/>
                                      </a:solidFill>
                                      <a:latin typeface="Cambria Math" panose="02040503050406030204" pitchFamily="18" charset="0"/>
                                    </a:rPr>
                                    <m:t>−</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−12</m:t>
                                  </m:r>
                                </m:num>
                                <m:den>
                                  <m:r>
                                    <a:rPr lang="en-GB" sz="1600" b="0" i="1" noProof="0" smtClean="0">
                                      <a:solidFill>
                                        <a:schemeClr val="tx1"/>
                                      </a:solidFill>
                                      <a:latin typeface="Cambria Math" panose="02040503050406030204" pitchFamily="18" charset="0"/>
                                    </a:rPr>
                                    <m:t>2</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+6</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sSup>
                                    <m:sSupPr>
                                      <m:ctrlPr>
                                        <a:rPr lang="en-GB" sz="1600" b="0" i="1" noProof="0" smtClean="0">
                                          <a:solidFill>
                                            <a:schemeClr val="tx1"/>
                                          </a:solidFill>
                                          <a:latin typeface="Cambria Math" panose="02040503050406030204" pitchFamily="18" charset="0"/>
                                        </a:rPr>
                                      </m:ctrlPr>
                                    </m:sSupPr>
                                    <m:e>
                                      <m:r>
                                        <a:rPr lang="en-GB" sz="1600" b="0" i="1" noProof="0" smtClean="0">
                                          <a:solidFill>
                                            <a:schemeClr val="tx1"/>
                                          </a:solidFill>
                                          <a:latin typeface="Cambria Math" panose="02040503050406030204" pitchFamily="18" charset="0"/>
                                        </a:rPr>
                                        <m:t>𝑥</m:t>
                                      </m:r>
                                    </m:e>
                                    <m:sup>
                                      <m:r>
                                        <a:rPr lang="en-GB" sz="1600" b="0" i="1" noProof="0" smtClean="0">
                                          <a:solidFill>
                                            <a:schemeClr val="tx1"/>
                                          </a:solidFill>
                                          <a:latin typeface="Cambria Math" panose="02040503050406030204" pitchFamily="18" charset="0"/>
                                        </a:rPr>
                                        <m:t>2</m:t>
                                      </m:r>
                                    </m:sup>
                                  </m:sSup>
                                  <m:r>
                                    <a:rPr lang="en-GB" sz="1600" b="0" i="1" noProof="0" smtClean="0">
                                      <a:solidFill>
                                        <a:schemeClr val="tx1"/>
                                      </a:solidFill>
                                      <a:latin typeface="Cambria Math" panose="02040503050406030204" pitchFamily="18" charset="0"/>
                                    </a:rPr>
                                    <m:t>−</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−12</m:t>
                                  </m:r>
                                </m:num>
                                <m:den>
                                  <m:r>
                                    <a:rPr lang="en-GB" sz="1600" b="0" i="1" noProof="0" smtClean="0">
                                      <a:solidFill>
                                        <a:schemeClr val="tx1"/>
                                      </a:solidFill>
                                      <a:latin typeface="Cambria Math" panose="02040503050406030204" pitchFamily="18" charset="0"/>
                                    </a:rPr>
                                    <m:t>2</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−8</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56601">
                    <a:tc>
                      <a:txBody>
                        <a:bodyPr/>
                        <a:lstStyle/>
                        <a:p>
                          <a:r>
                            <a:rPr lang="en-GB" sz="1100" noProof="0" dirty="0">
                              <a:solidFill>
                                <a:schemeClr val="tx1"/>
                              </a:solidFill>
                            </a:rPr>
                            <a:t>1) Check</a:t>
                          </a:r>
                          <a:r>
                            <a:rPr lang="en-GB" sz="1100" baseline="0" noProof="0" dirty="0">
                              <a:solidFill>
                                <a:schemeClr val="tx1"/>
                              </a:solidFill>
                            </a:rPr>
                            <a:t> if the numerator/</a:t>
                          </a:r>
                        </a:p>
                        <a:p>
                          <a:r>
                            <a:rPr lang="en-GB" sz="1100" baseline="0" noProof="0" dirty="0">
                              <a:solidFill>
                                <a:schemeClr val="tx1"/>
                              </a:solidFill>
                            </a:rPr>
                            <a:t>denominator need to be factorised.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539680">
                    <a:tc>
                      <a:txBody>
                        <a:bodyPr/>
                        <a:lstStyle/>
                        <a:p>
                          <a:r>
                            <a:rPr lang="en-GB" sz="1100" noProof="0" dirty="0">
                              <a:solidFill>
                                <a:schemeClr val="tx1"/>
                              </a:solidFill>
                            </a:rPr>
                            <a:t>2)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539680">
                    <a:tc>
                      <a:txBody>
                        <a:bodyPr/>
                        <a:lstStyle/>
                        <a:p>
                          <a:r>
                            <a:rPr lang="en-GB" sz="1100" noProof="0" dirty="0">
                              <a:solidFill>
                                <a:schemeClr val="tx1"/>
                              </a:solidFill>
                            </a:rPr>
                            <a:t>3) Cancel</a:t>
                          </a:r>
                          <a:r>
                            <a:rPr lang="en-GB" sz="1100" baseline="0" noProof="0" dirty="0">
                              <a:solidFill>
                                <a:schemeClr val="tx1"/>
                              </a:solidFill>
                            </a:rPr>
                            <a:t> common factors.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Choice>
        <mc:Fallback xmlns="">
          <p:graphicFrame>
            <p:nvGraphicFramePr>
              <p:cNvPr id="62" name="Table 61"/>
              <p:cNvGraphicFramePr>
                <a:graphicFrameLocks noGrp="1"/>
              </p:cNvGraphicFramePr>
              <p:nvPr>
                <p:extLst>
                  <p:ext uri="{D42A27DB-BD31-4B8C-83A1-F6EECF244321}">
                    <p14:modId xmlns:p14="http://schemas.microsoft.com/office/powerpoint/2010/main" val="1257581570"/>
                  </p:ext>
                </p:extLst>
              </p:nvPr>
            </p:nvGraphicFramePr>
            <p:xfrm>
              <a:off x="196644" y="7229459"/>
              <a:ext cx="6576621" cy="2566791"/>
            </p:xfrm>
            <a:graphic>
              <a:graphicData uri="http://schemas.openxmlformats.org/drawingml/2006/table">
                <a:tbl>
                  <a:tblPr firstRow="1" bandRow="1">
                    <a:tableStyleId>{5C22544A-7EE6-4342-B048-85BDC9FD1C3A}</a:tableStyleId>
                  </a:tblPr>
                  <a:tblGrid>
                    <a:gridCol w="1012396">
                      <a:extLst>
                        <a:ext uri="{9D8B030D-6E8A-4147-A177-3AD203B41FA5}">
                          <a16:colId xmlns:a16="http://schemas.microsoft.com/office/drawing/2014/main" val="1568142362"/>
                        </a:ext>
                      </a:extLst>
                    </a:gridCol>
                    <a:gridCol w="1765429">
                      <a:extLst>
                        <a:ext uri="{9D8B030D-6E8A-4147-A177-3AD203B41FA5}">
                          <a16:colId xmlns:a16="http://schemas.microsoft.com/office/drawing/2014/main" val="3551711160"/>
                        </a:ext>
                      </a:extLst>
                    </a:gridCol>
                    <a:gridCol w="1955392">
                      <a:extLst>
                        <a:ext uri="{9D8B030D-6E8A-4147-A177-3AD203B41FA5}">
                          <a16:colId xmlns:a16="http://schemas.microsoft.com/office/drawing/2014/main" val="925597041"/>
                        </a:ext>
                      </a:extLst>
                    </a:gridCol>
                    <a:gridCol w="1843404">
                      <a:extLst>
                        <a:ext uri="{9D8B030D-6E8A-4147-A177-3AD203B41FA5}">
                          <a16:colId xmlns:a16="http://schemas.microsoft.com/office/drawing/2014/main" val="4095172789"/>
                        </a:ext>
                      </a:extLst>
                    </a:gridCol>
                  </a:tblGrid>
                  <a:tr h="503111">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57586" t="-1205" r="-215862" b="-4156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142368" t="-1205" r="-95016" b="-4156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256766" t="-1205" r="-660" b="-415663"/>
                          </a:stretch>
                        </a:blipFill>
                      </a:tcPr>
                    </a:tc>
                    <a:extLst>
                      <a:ext uri="{0D108BD9-81ED-4DB2-BD59-A6C34878D82A}">
                        <a16:rowId xmlns:a16="http://schemas.microsoft.com/office/drawing/2014/main" val="2357201933"/>
                      </a:ext>
                    </a:extLst>
                  </a:tr>
                  <a:tr h="929640">
                    <a:tc>
                      <a:txBody>
                        <a:bodyPr/>
                        <a:lstStyle/>
                        <a:p>
                          <a:r>
                            <a:rPr lang="en-GB" sz="1100" noProof="0">
                              <a:solidFill>
                                <a:schemeClr val="tx1"/>
                              </a:solidFill>
                            </a:rPr>
                            <a:t>1) Check</a:t>
                          </a:r>
                          <a:r>
                            <a:rPr lang="en-GB" sz="1100" baseline="0" noProof="0">
                              <a:solidFill>
                                <a:schemeClr val="tx1"/>
                              </a:solidFill>
                            </a:rPr>
                            <a:t> if the numerator/</a:t>
                          </a:r>
                        </a:p>
                        <a:p>
                          <a:r>
                            <a:rPr lang="en-GB" sz="1100" baseline="0" noProof="0">
                              <a:solidFill>
                                <a:schemeClr val="tx1"/>
                              </a:solidFill>
                            </a:rPr>
                            <a:t>denominator need to be factorised.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539680">
                    <a:tc>
                      <a:txBody>
                        <a:bodyPr/>
                        <a:lstStyle/>
                        <a:p>
                          <a:r>
                            <a:rPr lang="en-GB" sz="1100" noProof="0">
                              <a:solidFill>
                                <a:schemeClr val="tx1"/>
                              </a:solidFill>
                            </a:rPr>
                            <a:t>2)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594360">
                    <a:tc>
                      <a:txBody>
                        <a:bodyPr/>
                        <a:lstStyle/>
                        <a:p>
                          <a:r>
                            <a:rPr lang="en-GB" sz="1100" noProof="0">
                              <a:solidFill>
                                <a:schemeClr val="tx1"/>
                              </a:solidFill>
                            </a:rPr>
                            <a:t>3) Cancel</a:t>
                          </a:r>
                          <a:r>
                            <a:rPr lang="en-GB" sz="1100" baseline="0" noProof="0">
                              <a:solidFill>
                                <a:schemeClr val="tx1"/>
                              </a:solidFill>
                            </a:rPr>
                            <a:t> common factors.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Fallback>
      </mc:AlternateContent>
      <p:sp>
        <p:nvSpPr>
          <p:cNvPr id="63" name="TextBox 62">
            <a:extLst>
              <a:ext uri="{FF2B5EF4-FFF2-40B4-BE49-F238E27FC236}">
                <a16:creationId xmlns:a16="http://schemas.microsoft.com/office/drawing/2014/main" id="{72FAE9BB-D81F-4207-9FF8-E6BE971A99D9}"/>
              </a:ext>
            </a:extLst>
          </p:cNvPr>
          <p:cNvSpPr txBox="1"/>
          <p:nvPr/>
        </p:nvSpPr>
        <p:spPr>
          <a:xfrm>
            <a:off x="4948536" y="6952461"/>
            <a:ext cx="1498808"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9 - You do…</a:t>
            </a:r>
          </a:p>
        </p:txBody>
      </p:sp>
      <p:sp>
        <p:nvSpPr>
          <p:cNvPr id="64" name="TextBox 63">
            <a:extLst>
              <a:ext uri="{FF2B5EF4-FFF2-40B4-BE49-F238E27FC236}">
                <a16:creationId xmlns:a16="http://schemas.microsoft.com/office/drawing/2014/main" id="{337F58E6-37DE-4890-BDE3-0101DB4D4F11}"/>
              </a:ext>
            </a:extLst>
          </p:cNvPr>
          <p:cNvSpPr txBox="1"/>
          <p:nvPr/>
        </p:nvSpPr>
        <p:spPr>
          <a:xfrm>
            <a:off x="3146833" y="6960089"/>
            <a:ext cx="1475789"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8 - We do…</a:t>
            </a:r>
          </a:p>
        </p:txBody>
      </p:sp>
      <p:sp>
        <p:nvSpPr>
          <p:cNvPr id="65" name="TextBox 64">
            <a:extLst>
              <a:ext uri="{FF2B5EF4-FFF2-40B4-BE49-F238E27FC236}">
                <a16:creationId xmlns:a16="http://schemas.microsoft.com/office/drawing/2014/main" id="{20EB31B5-3203-4E48-8A19-892EA568053E}"/>
              </a:ext>
            </a:extLst>
          </p:cNvPr>
          <p:cNvSpPr txBox="1"/>
          <p:nvPr/>
        </p:nvSpPr>
        <p:spPr>
          <a:xfrm>
            <a:off x="1405678" y="6969447"/>
            <a:ext cx="1308500"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7 - I do…</a:t>
            </a:r>
          </a:p>
        </p:txBody>
      </p:sp>
      <p:sp>
        <p:nvSpPr>
          <p:cNvPr id="70" name="Slide Number Placeholder 16"/>
          <p:cNvSpPr>
            <a:spLocks noGrp="1"/>
          </p:cNvSpPr>
          <p:nvPr>
            <p:ph type="sldNum" sz="quarter" idx="12"/>
          </p:nvPr>
        </p:nvSpPr>
        <p:spPr>
          <a:xfrm>
            <a:off x="5377082" y="9514880"/>
            <a:ext cx="1543050" cy="527403"/>
          </a:xfrm>
        </p:spPr>
        <p:txBody>
          <a:bodyPr/>
          <a:lstStyle/>
          <a:p>
            <a:fld id="{9BD3B4A0-BFF9-422C-B253-48BA94BE2F5B}" type="slidenum">
              <a:rPr lang="en-GB" noProof="0" smtClean="0"/>
              <a:t>6</a:t>
            </a:fld>
            <a:endParaRPr lang="en-GB" noProof="0" dirty="0"/>
          </a:p>
        </p:txBody>
      </p:sp>
      <p:sp>
        <p:nvSpPr>
          <p:cNvPr id="71" name="TextBox 70">
            <a:extLst>
              <a:ext uri="{FF2B5EF4-FFF2-40B4-BE49-F238E27FC236}">
                <a16:creationId xmlns:a16="http://schemas.microsoft.com/office/drawing/2014/main" id="{C3C65E48-8C3D-6849-AD77-7AD8678AD8DA}"/>
              </a:ext>
            </a:extLst>
          </p:cNvPr>
          <p:cNvSpPr txBox="1"/>
          <p:nvPr/>
        </p:nvSpPr>
        <p:spPr>
          <a:xfrm>
            <a:off x="166832" y="2888768"/>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2219975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Table 48">
            <a:extLst>
              <a:ext uri="{FF2B5EF4-FFF2-40B4-BE49-F238E27FC236}">
                <a16:creationId xmlns:a16="http://schemas.microsoft.com/office/drawing/2014/main" id="{73A53F37-DB3C-B28F-3B16-CE09A2E26C64}"/>
              </a:ext>
            </a:extLst>
          </p:cNvPr>
          <p:cNvGraphicFramePr>
            <a:graphicFrameLocks noGrp="1"/>
          </p:cNvGraphicFramePr>
          <p:nvPr>
            <p:extLst>
              <p:ext uri="{D42A27DB-BD31-4B8C-83A1-F6EECF244321}">
                <p14:modId xmlns:p14="http://schemas.microsoft.com/office/powerpoint/2010/main" val="3354538178"/>
              </p:ext>
            </p:extLst>
          </p:nvPr>
        </p:nvGraphicFramePr>
        <p:xfrm>
          <a:off x="74287" y="103164"/>
          <a:ext cx="6644544" cy="9689178"/>
        </p:xfrm>
        <a:graphic>
          <a:graphicData uri="http://schemas.openxmlformats.org/drawingml/2006/table">
            <a:tbl>
              <a:tblPr firstRow="1" bandRow="1">
                <a:tableStyleId>{5C22544A-7EE6-4342-B048-85BDC9FD1C3A}</a:tableStyleId>
              </a:tblPr>
              <a:tblGrid>
                <a:gridCol w="1661136">
                  <a:extLst>
                    <a:ext uri="{9D8B030D-6E8A-4147-A177-3AD203B41FA5}">
                      <a16:colId xmlns:a16="http://schemas.microsoft.com/office/drawing/2014/main" val="3452299810"/>
                    </a:ext>
                  </a:extLst>
                </a:gridCol>
                <a:gridCol w="1661136">
                  <a:extLst>
                    <a:ext uri="{9D8B030D-6E8A-4147-A177-3AD203B41FA5}">
                      <a16:colId xmlns:a16="http://schemas.microsoft.com/office/drawing/2014/main" val="2626305464"/>
                    </a:ext>
                  </a:extLst>
                </a:gridCol>
                <a:gridCol w="1661136">
                  <a:extLst>
                    <a:ext uri="{9D8B030D-6E8A-4147-A177-3AD203B41FA5}">
                      <a16:colId xmlns:a16="http://schemas.microsoft.com/office/drawing/2014/main" val="2560868093"/>
                    </a:ext>
                  </a:extLst>
                </a:gridCol>
                <a:gridCol w="1661136">
                  <a:extLst>
                    <a:ext uri="{9D8B030D-6E8A-4147-A177-3AD203B41FA5}">
                      <a16:colId xmlns:a16="http://schemas.microsoft.com/office/drawing/2014/main" val="2298434427"/>
                    </a:ext>
                  </a:extLst>
                </a:gridCol>
              </a:tblGrid>
              <a:tr h="3229726">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3310359"/>
                  </a:ext>
                </a:extLst>
              </a:tr>
              <a:tr h="3229726">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765916"/>
                  </a:ext>
                </a:extLst>
              </a:tr>
              <a:tr h="3229726">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2396120"/>
                  </a:ext>
                </a:extLst>
              </a:tr>
            </a:tbl>
          </a:graphicData>
        </a:graphic>
      </p:graphicFrame>
      <mc:AlternateContent xmlns:mc="http://schemas.openxmlformats.org/markup-compatibility/2006" xmlns:a14="http://schemas.microsoft.com/office/drawing/2010/main">
        <mc:Choice Requires="a14">
          <p:sp>
            <p:nvSpPr>
              <p:cNvPr id="4" name="TextBox 3"/>
              <p:cNvSpPr txBox="1"/>
              <p:nvPr/>
            </p:nvSpPr>
            <p:spPr>
              <a:xfrm>
                <a:off x="164789" y="113530"/>
                <a:ext cx="980461" cy="367088"/>
              </a:xfrm>
              <a:prstGeom prst="rect">
                <a:avLst/>
              </a:prstGeom>
              <a:noFill/>
            </p:spPr>
            <p:txBody>
              <a:bodyPr wrap="none" lIns="0" tIns="0" rIns="0" bIns="0" rtlCol="0">
                <a:spAutoFit/>
              </a:bodyPr>
              <a:lstStyle/>
              <a:p>
                <a:r>
                  <a:rPr lang="en-GB" sz="1600" noProof="0" dirty="0" err="1"/>
                  <a:t>i</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d>
                          <m:dPr>
                            <m:ctrlPr>
                              <a:rPr lang="en-GB" sz="1600" b="0" i="1" noProof="0" smtClean="0">
                                <a:latin typeface="Cambria Math" panose="02040503050406030204" pitchFamily="18" charset="0"/>
                              </a:rPr>
                            </m:ctrlPr>
                          </m:dPr>
                          <m:e>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e>
                        </m:d>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den>
                    </m:f>
                  </m:oMath>
                </a14:m>
                <a:endParaRPr lang="en-GB" sz="1600" noProof="0" dirty="0"/>
              </a:p>
            </p:txBody>
          </p:sp>
        </mc:Choice>
        <mc:Fallback xmlns="">
          <p:sp>
            <p:nvSpPr>
              <p:cNvPr id="4" name="TextBox 3"/>
              <p:cNvSpPr txBox="1">
                <a:spLocks noRot="1" noChangeAspect="1" noMove="1" noResize="1" noEditPoints="1" noAdjustHandles="1" noChangeArrowheads="1" noChangeShapeType="1" noTextEdit="1"/>
              </p:cNvSpPr>
              <p:nvPr/>
            </p:nvSpPr>
            <p:spPr>
              <a:xfrm>
                <a:off x="164789" y="113530"/>
                <a:ext cx="980461" cy="367088"/>
              </a:xfrm>
              <a:prstGeom prst="rect">
                <a:avLst/>
              </a:prstGeom>
              <a:blipFill>
                <a:blip r:embed="rId2"/>
                <a:stretch>
                  <a:fillRect l="-12422" r="-6211"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852781" y="113658"/>
                <a:ext cx="983667" cy="367088"/>
              </a:xfrm>
              <a:prstGeom prst="rect">
                <a:avLst/>
              </a:prstGeom>
              <a:noFill/>
            </p:spPr>
            <p:txBody>
              <a:bodyPr wrap="none" lIns="0" tIns="0" rIns="0" bIns="0" rtlCol="0">
                <a:spAutoFit/>
              </a:bodyPr>
              <a:lstStyle/>
              <a:p>
                <a:r>
                  <a:rPr lang="en-GB" sz="1600" noProof="0" dirty="0"/>
                  <a:t>j</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b="0" i="1" noProof="0" smtClean="0">
                                <a:latin typeface="Cambria Math" panose="02040503050406030204" pitchFamily="18" charset="0"/>
                              </a:rPr>
                              <m:t>+3</m:t>
                            </m:r>
                          </m:e>
                        </m:d>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+4)</m:t>
                        </m:r>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den>
                    </m:f>
                  </m:oMath>
                </a14:m>
                <a:endParaRPr lang="en-GB" sz="1600" noProof="0" dirty="0"/>
              </a:p>
            </p:txBody>
          </p:sp>
        </mc:Choice>
        <mc:Fallback xmlns="">
          <p:sp>
            <p:nvSpPr>
              <p:cNvPr id="5" name="TextBox 4"/>
              <p:cNvSpPr txBox="1">
                <a:spLocks noRot="1" noChangeAspect="1" noMove="1" noResize="1" noEditPoints="1" noAdjustHandles="1" noChangeArrowheads="1" noChangeShapeType="1" noTextEdit="1"/>
              </p:cNvSpPr>
              <p:nvPr/>
            </p:nvSpPr>
            <p:spPr>
              <a:xfrm>
                <a:off x="1852781" y="113658"/>
                <a:ext cx="983667" cy="367088"/>
              </a:xfrm>
              <a:prstGeom prst="rect">
                <a:avLst/>
              </a:prstGeom>
              <a:blipFill>
                <a:blip r:embed="rId3"/>
                <a:stretch>
                  <a:fillRect l="-13043" r="-6211"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465175" y="113658"/>
                <a:ext cx="1026948" cy="613438"/>
              </a:xfrm>
              <a:prstGeom prst="rect">
                <a:avLst/>
              </a:prstGeom>
              <a:noFill/>
            </p:spPr>
            <p:txBody>
              <a:bodyPr wrap="none" lIns="0" tIns="0" rIns="0" bIns="0" rtlCol="0">
                <a:spAutoFit/>
              </a:bodyPr>
              <a:lstStyle/>
              <a:p>
                <a:r>
                  <a:rPr lang="en-GB" sz="1600" noProof="0" dirty="0"/>
                  <a:t>k</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e>
                        </m:d>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+4)</m:t>
                        </m:r>
                      </m:num>
                      <m:den>
                        <m:r>
                          <a:rPr lang="en-GB" sz="1600" i="1" noProof="0" smtClean="0">
                            <a:latin typeface="Cambria Math" panose="02040503050406030204" pitchFamily="18" charset="0"/>
                          </a:rPr>
                          <m:t>2</m:t>
                        </m:r>
                        <m:r>
                          <a:rPr lang="en-GB" sz="1600" i="1" noProof="0" smtClean="0">
                            <a:latin typeface="Cambria Math" panose="02040503050406030204" pitchFamily="18" charset="0"/>
                          </a:rPr>
                          <m:t>𝑥</m:t>
                        </m:r>
                        <m:r>
                          <a:rPr lang="en-GB" sz="1600" i="1" noProof="0" smtClean="0">
                            <a:latin typeface="Cambria Math" panose="02040503050406030204" pitchFamily="18" charset="0"/>
                          </a:rPr>
                          <m:t>+8</m:t>
                        </m:r>
                      </m:den>
                    </m:f>
                  </m:oMath>
                </a14:m>
                <a:endParaRPr lang="en-GB" sz="1600" noProof="0" dirty="0"/>
              </a:p>
              <a:p>
                <a:endParaRPr lang="en-GB" sz="1600" noProof="0" dirty="0"/>
              </a:p>
            </p:txBody>
          </p:sp>
        </mc:Choice>
        <mc:Fallback xmlns="">
          <p:sp>
            <p:nvSpPr>
              <p:cNvPr id="9" name="TextBox 8"/>
              <p:cNvSpPr txBox="1">
                <a:spLocks noRot="1" noChangeAspect="1" noMove="1" noResize="1" noEditPoints="1" noAdjustHandles="1" noChangeArrowheads="1" noChangeShapeType="1" noTextEdit="1"/>
              </p:cNvSpPr>
              <p:nvPr/>
            </p:nvSpPr>
            <p:spPr>
              <a:xfrm>
                <a:off x="3465175" y="113658"/>
                <a:ext cx="1026948" cy="613438"/>
              </a:xfrm>
              <a:prstGeom prst="rect">
                <a:avLst/>
              </a:prstGeom>
              <a:blipFill>
                <a:blip r:embed="rId4"/>
                <a:stretch>
                  <a:fillRect l="-11834" r="-59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003578" y="103164"/>
                <a:ext cx="898900" cy="384272"/>
              </a:xfrm>
              <a:prstGeom prst="rect">
                <a:avLst/>
              </a:prstGeom>
              <a:noFill/>
            </p:spPr>
            <p:txBody>
              <a:bodyPr wrap="none" lIns="0" tIns="0" rIns="0" bIns="0" rtlCol="0">
                <a:spAutoFit/>
              </a:bodyPr>
              <a:lstStyle/>
              <a:p>
                <a:pPr algn="ctr"/>
                <a:r>
                  <a:rPr lang="en-GB" sz="1600" noProof="0" dirty="0"/>
                  <a:t>l</a:t>
                </a:r>
                <a:r>
                  <a:rPr lang="en-GB" sz="1600" b="0" noProof="0" dirty="0"/>
                  <a:t>)</a:t>
                </a:r>
                <a14:m>
                  <m:oMath xmlns:m="http://schemas.openxmlformats.org/officeDocument/2006/math">
                    <m:r>
                      <a:rPr lang="en-GB" sz="1600" b="0" i="0" noProof="0" smtClean="0">
                        <a:latin typeface="Cambria Math" panose="02040503050406030204" pitchFamily="18" charset="0"/>
                      </a:rPr>
                      <m:t> </m:t>
                    </m:r>
                    <m:f>
                      <m:fPr>
                        <m:ctrlPr>
                          <a:rPr lang="en-GB" sz="1600" i="1" noProof="0" smtClean="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+7</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+8</m:t>
                        </m:r>
                      </m:den>
                    </m:f>
                  </m:oMath>
                </a14:m>
                <a:endParaRPr lang="en-GB" sz="1600" noProof="0" dirty="0"/>
              </a:p>
            </p:txBody>
          </p:sp>
        </mc:Choice>
        <mc:Fallback xmlns="">
          <p:sp>
            <p:nvSpPr>
              <p:cNvPr id="10" name="TextBox 9"/>
              <p:cNvSpPr txBox="1">
                <a:spLocks noRot="1" noChangeAspect="1" noMove="1" noResize="1" noEditPoints="1" noAdjustHandles="1" noChangeArrowheads="1" noChangeShapeType="1" noTextEdit="1"/>
              </p:cNvSpPr>
              <p:nvPr/>
            </p:nvSpPr>
            <p:spPr>
              <a:xfrm>
                <a:off x="5003578" y="103164"/>
                <a:ext cx="898900" cy="384272"/>
              </a:xfrm>
              <a:prstGeom prst="rect">
                <a:avLst/>
              </a:prstGeom>
              <a:blipFill>
                <a:blip r:embed="rId5"/>
                <a:stretch>
                  <a:fillRect l="-14286" r="-4762"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154844" y="3381265"/>
                <a:ext cx="1094915" cy="415691"/>
              </a:xfrm>
              <a:prstGeom prst="rect">
                <a:avLst/>
              </a:prstGeom>
              <a:noFill/>
            </p:spPr>
            <p:txBody>
              <a:bodyPr wrap="square" lIns="0" tIns="0" rIns="0" bIns="0" rtlCol="0">
                <a:spAutoFit/>
              </a:bodyPr>
              <a:lstStyle/>
              <a:p>
                <a:r>
                  <a:rPr lang="en-GB" sz="1600" noProof="0" dirty="0"/>
                  <a:t>m</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+7</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num>
                      <m:den>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−9)</m:t>
                        </m:r>
                      </m:den>
                    </m:f>
                  </m:oMath>
                </a14:m>
                <a:endParaRPr lang="en-GB" sz="1600" noProof="0" dirty="0"/>
              </a:p>
            </p:txBody>
          </p:sp>
        </mc:Choice>
        <mc:Fallback xmlns="">
          <p:sp>
            <p:nvSpPr>
              <p:cNvPr id="16" name="TextBox 15"/>
              <p:cNvSpPr txBox="1">
                <a:spLocks noRot="1" noChangeAspect="1" noMove="1" noResize="1" noEditPoints="1" noAdjustHandles="1" noChangeArrowheads="1" noChangeShapeType="1" noTextEdit="1"/>
              </p:cNvSpPr>
              <p:nvPr/>
            </p:nvSpPr>
            <p:spPr>
              <a:xfrm>
                <a:off x="154844" y="3381265"/>
                <a:ext cx="1094915" cy="415691"/>
              </a:xfrm>
              <a:prstGeom prst="rect">
                <a:avLst/>
              </a:prstGeom>
              <a:blipFill>
                <a:blip r:embed="rId6"/>
                <a:stretch>
                  <a:fillRect l="-11111" r="-5556" b="-14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1842836" y="3381393"/>
                <a:ext cx="961417" cy="384144"/>
              </a:xfrm>
              <a:prstGeom prst="rect">
                <a:avLst/>
              </a:prstGeom>
              <a:noFill/>
            </p:spPr>
            <p:txBody>
              <a:bodyPr wrap="square" lIns="0" tIns="0" rIns="0" bIns="0" rtlCol="0">
                <a:spAutoFit/>
              </a:bodyPr>
              <a:lstStyle/>
              <a:p>
                <a:r>
                  <a:rPr lang="en-GB" sz="1600" noProof="0" dirty="0"/>
                  <a:t>n</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+7</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num>
                      <m:den>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−5</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−36</m:t>
                        </m:r>
                      </m:den>
                    </m:f>
                  </m:oMath>
                </a14:m>
                <a:endParaRPr lang="en-GB" sz="1600" noProof="0" dirty="0"/>
              </a:p>
            </p:txBody>
          </p:sp>
        </mc:Choice>
        <mc:Fallback xmlns="">
          <p:sp>
            <p:nvSpPr>
              <p:cNvPr id="17" name="TextBox 16"/>
              <p:cNvSpPr txBox="1">
                <a:spLocks noRot="1" noChangeAspect="1" noMove="1" noResize="1" noEditPoints="1" noAdjustHandles="1" noChangeArrowheads="1" noChangeShapeType="1" noTextEdit="1"/>
              </p:cNvSpPr>
              <p:nvPr/>
            </p:nvSpPr>
            <p:spPr>
              <a:xfrm>
                <a:off x="1842836" y="3381393"/>
                <a:ext cx="961417" cy="384144"/>
              </a:xfrm>
              <a:prstGeom prst="rect">
                <a:avLst/>
              </a:prstGeom>
              <a:blipFill>
                <a:blip r:embed="rId7"/>
                <a:stretch>
                  <a:fillRect l="-12658" r="-3797"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455230" y="3381393"/>
                <a:ext cx="1136145" cy="384144"/>
              </a:xfrm>
              <a:prstGeom prst="rect">
                <a:avLst/>
              </a:prstGeom>
              <a:noFill/>
            </p:spPr>
            <p:txBody>
              <a:bodyPr wrap="square" lIns="0" tIns="0" rIns="0" bIns="0" rtlCol="0">
                <a:spAutoFit/>
              </a:bodyPr>
              <a:lstStyle/>
              <a:p>
                <a:r>
                  <a:rPr lang="en-GB" sz="1600" noProof="0" dirty="0"/>
                  <a:t>o</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2</m:t>
                        </m:r>
                        <m:sSup>
                          <m:sSupPr>
                            <m:ctrlPr>
                              <a:rPr lang="en-GB" sz="1600" b="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+14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+24</m:t>
                        </m:r>
                      </m:num>
                      <m:den>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−5</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−36</m:t>
                        </m:r>
                      </m:den>
                    </m:f>
                  </m:oMath>
                </a14:m>
                <a:endParaRPr lang="en-GB" sz="1600" noProof="0" dirty="0"/>
              </a:p>
            </p:txBody>
          </p:sp>
        </mc:Choice>
        <mc:Fallback xmlns="">
          <p:sp>
            <p:nvSpPr>
              <p:cNvPr id="21" name="TextBox 20"/>
              <p:cNvSpPr txBox="1">
                <a:spLocks noRot="1" noChangeAspect="1" noMove="1" noResize="1" noEditPoints="1" noAdjustHandles="1" noChangeArrowheads="1" noChangeShapeType="1" noTextEdit="1"/>
              </p:cNvSpPr>
              <p:nvPr/>
            </p:nvSpPr>
            <p:spPr>
              <a:xfrm>
                <a:off x="3455230" y="3381393"/>
                <a:ext cx="1136145" cy="384144"/>
              </a:xfrm>
              <a:prstGeom prst="rect">
                <a:avLst/>
              </a:prstGeom>
              <a:blipFill>
                <a:blip r:embed="rId8"/>
                <a:stretch>
                  <a:fillRect l="-11290" r="-3226"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092891" y="3370899"/>
                <a:ext cx="1221104" cy="384272"/>
              </a:xfrm>
              <a:prstGeom prst="rect">
                <a:avLst/>
              </a:prstGeom>
              <a:noFill/>
            </p:spPr>
            <p:txBody>
              <a:bodyPr wrap="square" lIns="0" tIns="0" rIns="0" bIns="0" rtlCol="0">
                <a:spAutoFit/>
              </a:bodyPr>
              <a:lstStyle/>
              <a:p>
                <a:r>
                  <a:rPr lang="en-GB" sz="1600" noProof="0" dirty="0"/>
                  <a:t>p</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2</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+14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+24</m:t>
                        </m:r>
                      </m:num>
                      <m:den>
                        <m:r>
                          <a:rPr lang="en-GB" sz="1600" b="0" i="1" noProof="0" smtClean="0">
                            <a:latin typeface="Cambria Math" panose="02040503050406030204" pitchFamily="18" charset="0"/>
                          </a:rPr>
                          <m:t>3</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−15</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−108</m:t>
                        </m:r>
                      </m:den>
                    </m:f>
                  </m:oMath>
                </a14:m>
                <a:endParaRPr lang="en-GB" sz="1600" noProof="0" dirty="0"/>
              </a:p>
            </p:txBody>
          </p:sp>
        </mc:Choice>
        <mc:Fallback xmlns="">
          <p:sp>
            <p:nvSpPr>
              <p:cNvPr id="22" name="TextBox 21"/>
              <p:cNvSpPr txBox="1">
                <a:spLocks noRot="1" noChangeAspect="1" noMove="1" noResize="1" noEditPoints="1" noAdjustHandles="1" noChangeArrowheads="1" noChangeShapeType="1" noTextEdit="1"/>
              </p:cNvSpPr>
              <p:nvPr/>
            </p:nvSpPr>
            <p:spPr>
              <a:xfrm>
                <a:off x="5092891" y="3370899"/>
                <a:ext cx="1221104" cy="384272"/>
              </a:xfrm>
              <a:prstGeom prst="rect">
                <a:avLst/>
              </a:prstGeom>
              <a:blipFill>
                <a:blip r:embed="rId9"/>
                <a:stretch>
                  <a:fillRect l="-9950" r="-2488"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154844" y="6707969"/>
                <a:ext cx="1134541" cy="384144"/>
              </a:xfrm>
              <a:prstGeom prst="rect">
                <a:avLst/>
              </a:prstGeom>
              <a:noFill/>
            </p:spPr>
            <p:txBody>
              <a:bodyPr wrap="square" lIns="0" tIns="0" rIns="0" bIns="0" rtlCol="0">
                <a:spAutoFit/>
              </a:bodyPr>
              <a:lstStyle/>
              <a:p>
                <a:r>
                  <a:rPr lang="en-GB" sz="1600" noProof="0" dirty="0"/>
                  <a:t>q</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+14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+24</m:t>
                        </m:r>
                      </m:num>
                      <m:den>
                        <m:r>
                          <a:rPr lang="en-GB" sz="1600" b="0" i="1" noProof="0" smtClean="0">
                            <a:latin typeface="Cambria Math" panose="02040503050406030204" pitchFamily="18" charset="0"/>
                          </a:rPr>
                          <m:t>3</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−15</m:t>
                        </m:r>
                      </m:den>
                    </m:f>
                  </m:oMath>
                </a14:m>
                <a:endParaRPr lang="en-GB" sz="1600" noProof="0" dirty="0"/>
              </a:p>
            </p:txBody>
          </p:sp>
        </mc:Choice>
        <mc:Fallback xmlns="">
          <p:sp>
            <p:nvSpPr>
              <p:cNvPr id="28" name="TextBox 27"/>
              <p:cNvSpPr txBox="1">
                <a:spLocks noRot="1" noChangeAspect="1" noMove="1" noResize="1" noEditPoints="1" noAdjustHandles="1" noChangeArrowheads="1" noChangeShapeType="1" noTextEdit="1"/>
              </p:cNvSpPr>
              <p:nvPr/>
            </p:nvSpPr>
            <p:spPr>
              <a:xfrm>
                <a:off x="154844" y="6707969"/>
                <a:ext cx="1134541" cy="384144"/>
              </a:xfrm>
              <a:prstGeom prst="rect">
                <a:avLst/>
              </a:prstGeom>
              <a:blipFill>
                <a:blip r:embed="rId10"/>
                <a:stretch>
                  <a:fillRect l="-10695" r="-2674"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1842836" y="6708097"/>
                <a:ext cx="1099275" cy="384144"/>
              </a:xfrm>
              <a:prstGeom prst="rect">
                <a:avLst/>
              </a:prstGeom>
              <a:noFill/>
            </p:spPr>
            <p:txBody>
              <a:bodyPr wrap="square" lIns="0" tIns="0" rIns="0" bIns="0" rtlCol="0">
                <a:spAutoFit/>
              </a:bodyPr>
              <a:lstStyle/>
              <a:p>
                <a:r>
                  <a:rPr lang="en-GB" sz="1600" noProof="0" dirty="0"/>
                  <a:t>r</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14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−24−2</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num>
                      <m:den>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−15</m:t>
                        </m:r>
                      </m:den>
                    </m:f>
                  </m:oMath>
                </a14:m>
                <a:endParaRPr lang="en-GB" sz="1600" noProof="0" dirty="0"/>
              </a:p>
            </p:txBody>
          </p:sp>
        </mc:Choice>
        <mc:Fallback xmlns="">
          <p:sp>
            <p:nvSpPr>
              <p:cNvPr id="29" name="TextBox 28"/>
              <p:cNvSpPr txBox="1">
                <a:spLocks noRot="1" noChangeAspect="1" noMove="1" noResize="1" noEditPoints="1" noAdjustHandles="1" noChangeArrowheads="1" noChangeShapeType="1" noTextEdit="1"/>
              </p:cNvSpPr>
              <p:nvPr/>
            </p:nvSpPr>
            <p:spPr>
              <a:xfrm>
                <a:off x="1842836" y="6708097"/>
                <a:ext cx="1099275" cy="384144"/>
              </a:xfrm>
              <a:prstGeom prst="rect">
                <a:avLst/>
              </a:prstGeom>
              <a:blipFill>
                <a:blip r:embed="rId11"/>
                <a:stretch>
                  <a:fillRect l="-11050" r="-1657"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3455230" y="6708097"/>
                <a:ext cx="1107291" cy="384144"/>
              </a:xfrm>
              <a:prstGeom prst="rect">
                <a:avLst/>
              </a:prstGeom>
              <a:noFill/>
            </p:spPr>
            <p:txBody>
              <a:bodyPr wrap="square" lIns="0" tIns="0" rIns="0" bIns="0" rtlCol="0">
                <a:spAutoFit/>
              </a:bodyPr>
              <a:lstStyle/>
              <a:p>
                <a:r>
                  <a:rPr lang="en-GB" sz="1600" noProof="0" dirty="0"/>
                  <a:t>s</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14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−24−2</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num>
                      <m:den>
                        <m:r>
                          <a:rPr lang="en-GB" sz="1600" b="0" i="1" noProof="0" smtClean="0">
                            <a:latin typeface="Cambria Math" panose="02040503050406030204" pitchFamily="18" charset="0"/>
                          </a:rPr>
                          <m:t>3</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−15</m:t>
                        </m:r>
                      </m:den>
                    </m:f>
                  </m:oMath>
                </a14:m>
                <a:endParaRPr lang="en-GB" sz="1600" noProof="0" dirty="0"/>
              </a:p>
            </p:txBody>
          </p:sp>
        </mc:Choice>
        <mc:Fallback xmlns="">
          <p:sp>
            <p:nvSpPr>
              <p:cNvPr id="33" name="TextBox 32"/>
              <p:cNvSpPr txBox="1">
                <a:spLocks noRot="1" noChangeAspect="1" noMove="1" noResize="1" noEditPoints="1" noAdjustHandles="1" noChangeArrowheads="1" noChangeShapeType="1" noTextEdit="1"/>
              </p:cNvSpPr>
              <p:nvPr/>
            </p:nvSpPr>
            <p:spPr>
              <a:xfrm>
                <a:off x="3455230" y="6708097"/>
                <a:ext cx="1107291" cy="384144"/>
              </a:xfrm>
              <a:prstGeom prst="rect">
                <a:avLst/>
              </a:prstGeom>
              <a:blipFill>
                <a:blip r:embed="rId12"/>
                <a:stretch>
                  <a:fillRect l="-11602" r="-1657"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5092891" y="6697603"/>
                <a:ext cx="1182631" cy="384144"/>
              </a:xfrm>
              <a:prstGeom prst="rect">
                <a:avLst/>
              </a:prstGeom>
              <a:noFill/>
            </p:spPr>
            <p:txBody>
              <a:bodyPr wrap="square" lIns="0" tIns="0" rIns="0" bIns="0" rtlCol="0">
                <a:spAutoFit/>
              </a:bodyPr>
              <a:lstStyle/>
              <a:p>
                <a:r>
                  <a:rPr lang="en-GB" sz="1600" noProof="0" dirty="0"/>
                  <a:t>t</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10</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−23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num>
                      <m:den>
                        <m:r>
                          <a:rPr lang="en-GB" sz="1600" b="0" i="1" noProof="0" smtClean="0">
                            <a:latin typeface="Cambria Math" panose="02040503050406030204" pitchFamily="18" charset="0"/>
                          </a:rPr>
                          <m:t>4</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−15</m:t>
                        </m:r>
                      </m:den>
                    </m:f>
                  </m:oMath>
                </a14:m>
                <a:endParaRPr lang="en-GB" sz="1600" noProof="0" dirty="0"/>
              </a:p>
            </p:txBody>
          </p:sp>
        </mc:Choice>
        <mc:Fallback xmlns="">
          <p:sp>
            <p:nvSpPr>
              <p:cNvPr id="34" name="TextBox 33"/>
              <p:cNvSpPr txBox="1">
                <a:spLocks noRot="1" noChangeAspect="1" noMove="1" noResize="1" noEditPoints="1" noAdjustHandles="1" noChangeArrowheads="1" noChangeShapeType="1" noTextEdit="1"/>
              </p:cNvSpPr>
              <p:nvPr/>
            </p:nvSpPr>
            <p:spPr>
              <a:xfrm>
                <a:off x="5092891" y="6697603"/>
                <a:ext cx="1182631" cy="384144"/>
              </a:xfrm>
              <a:prstGeom prst="rect">
                <a:avLst/>
              </a:prstGeom>
              <a:blipFill>
                <a:blip r:embed="rId13"/>
                <a:stretch>
                  <a:fillRect l="-10309" r="-3093" b="-17460"/>
                </a:stretch>
              </a:blipFill>
            </p:spPr>
            <p:txBody>
              <a:bodyPr/>
              <a:lstStyle/>
              <a:p>
                <a:r>
                  <a:rPr lang="en-US">
                    <a:noFill/>
                  </a:rPr>
                  <a:t> </a:t>
                </a:r>
              </a:p>
            </p:txBody>
          </p:sp>
        </mc:Fallback>
      </mc:AlternateContent>
      <p:sp>
        <p:nvSpPr>
          <p:cNvPr id="40" name="Slide Number Placeholder 39"/>
          <p:cNvSpPr>
            <a:spLocks noGrp="1"/>
          </p:cNvSpPr>
          <p:nvPr>
            <p:ph type="sldNum" sz="quarter" idx="12"/>
          </p:nvPr>
        </p:nvSpPr>
        <p:spPr>
          <a:xfrm>
            <a:off x="5299983" y="9589478"/>
            <a:ext cx="1543050" cy="527403"/>
          </a:xfrm>
        </p:spPr>
        <p:txBody>
          <a:bodyPr/>
          <a:lstStyle/>
          <a:p>
            <a:fld id="{9BD3B4A0-BFF9-422C-B253-48BA94BE2F5B}" type="slidenum">
              <a:rPr lang="en-GB" noProof="0" smtClean="0"/>
              <a:t>7</a:t>
            </a:fld>
            <a:endParaRPr lang="en-GB" noProof="0" dirty="0"/>
          </a:p>
        </p:txBody>
      </p:sp>
    </p:spTree>
    <p:extLst>
      <p:ext uri="{BB962C8B-B14F-4D97-AF65-F5344CB8AC3E}">
        <p14:creationId xmlns:p14="http://schemas.microsoft.com/office/powerpoint/2010/main" val="969948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195224" y="2489462"/>
                <a:ext cx="1779880" cy="357277"/>
              </a:xfrm>
              <a:prstGeom prst="rect">
                <a:avLst/>
              </a:prstGeom>
            </p:spPr>
            <p:txBody>
              <a:bodyPr wrap="square">
                <a:spAutoFit/>
              </a:bodyPr>
              <a:lstStyle/>
              <a:p>
                <a:r>
                  <a:rPr lang="en-GB" sz="1200" noProof="0" dirty="0"/>
                  <a:t>a)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3</m:t>
                        </m:r>
                      </m:num>
                      <m:den>
                        <m:r>
                          <a:rPr lang="en-GB" sz="1200" i="1" noProof="0" smtClean="0">
                            <a:latin typeface="Cambria Math" panose="02040503050406030204" pitchFamily="18" charset="0"/>
                          </a:rPr>
                          <m:t>15</m:t>
                        </m:r>
                      </m:den>
                    </m:f>
                    <m:r>
                      <a:rPr lang="en-GB" sz="1200" i="1" noProof="0">
                        <a:latin typeface="Cambria Math" panose="02040503050406030204" pitchFamily="18" charset="0"/>
                      </a:rPr>
                      <m:t>×</m:t>
                    </m:r>
                    <m:f>
                      <m:fPr>
                        <m:ctrlPr>
                          <a:rPr lang="en-GB" sz="1200" i="1" noProof="0">
                            <a:latin typeface="Cambria Math" panose="02040503050406030204" pitchFamily="18" charset="0"/>
                          </a:rPr>
                        </m:ctrlPr>
                      </m:fPr>
                      <m:num>
                        <m:r>
                          <a:rPr lang="en-GB" sz="1200" i="1" noProof="0">
                            <a:latin typeface="Cambria Math" panose="02040503050406030204" pitchFamily="18" charset="0"/>
                          </a:rPr>
                          <m:t>5</m:t>
                        </m:r>
                      </m:num>
                      <m:den>
                        <m:r>
                          <a:rPr lang="en-GB" sz="1200" i="1" noProof="0">
                            <a:latin typeface="Cambria Math" panose="02040503050406030204" pitchFamily="18" charset="0"/>
                          </a:rPr>
                          <m:t>11</m:t>
                        </m:r>
                      </m:den>
                    </m:f>
                    <m:r>
                      <a:rPr lang="en-GB" sz="1200" i="1" noProof="0">
                        <a:latin typeface="Cambria Math" panose="02040503050406030204" pitchFamily="18" charset="0"/>
                      </a:rPr>
                      <m:t>=</m:t>
                    </m:r>
                  </m:oMath>
                </a14:m>
                <a:endParaRPr lang="en-GB" sz="1200" noProof="0" dirty="0"/>
              </a:p>
            </p:txBody>
          </p:sp>
        </mc:Choice>
        <mc:Fallback xmlns="">
          <p:sp>
            <p:nvSpPr>
              <p:cNvPr id="2" name="Rectangle 1"/>
              <p:cNvSpPr>
                <a:spLocks noRot="1" noChangeAspect="1" noMove="1" noResize="1" noEditPoints="1" noAdjustHandles="1" noChangeArrowheads="1" noChangeShapeType="1" noTextEdit="1"/>
              </p:cNvSpPr>
              <p:nvPr/>
            </p:nvSpPr>
            <p:spPr>
              <a:xfrm>
                <a:off x="195224" y="2489462"/>
                <a:ext cx="1779880" cy="357277"/>
              </a:xfrm>
              <a:prstGeom prst="rect">
                <a:avLst/>
              </a:prstGeom>
              <a:blipFill>
                <a:blip r:embed="rId2"/>
                <a:stretch>
                  <a:fillRect b="-169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6EAE242C-3BEA-324C-B746-6B1087575622}"/>
              </a:ext>
            </a:extLst>
          </p:cNvPr>
          <p:cNvSpPr txBox="1"/>
          <p:nvPr/>
        </p:nvSpPr>
        <p:spPr>
          <a:xfrm>
            <a:off x="0" y="2098062"/>
            <a:ext cx="2579682" cy="276999"/>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Knowledge Check: Cross Simplification</a:t>
            </a:r>
          </a:p>
        </p:txBody>
      </p:sp>
      <mc:AlternateContent xmlns:mc="http://schemas.openxmlformats.org/markup-compatibility/2006" xmlns:a14="http://schemas.microsoft.com/office/drawing/2010/main">
        <mc:Choice Requires="a14">
          <p:sp>
            <p:nvSpPr>
              <p:cNvPr id="4" name="Rectangle 3"/>
              <p:cNvSpPr/>
              <p:nvPr/>
            </p:nvSpPr>
            <p:spPr>
              <a:xfrm>
                <a:off x="4509393" y="2504006"/>
                <a:ext cx="932178" cy="354777"/>
              </a:xfrm>
              <a:prstGeom prst="rect">
                <a:avLst/>
              </a:prstGeom>
            </p:spPr>
            <p:txBody>
              <a:bodyPr wrap="none">
                <a:spAutoFit/>
              </a:bodyPr>
              <a:lstStyle/>
              <a:p>
                <a:r>
                  <a:rPr lang="en-GB" sz="1200" noProof="0" dirty="0"/>
                  <a:t>c)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13</m:t>
                        </m:r>
                      </m:num>
                      <m:den>
                        <m:r>
                          <a:rPr lang="en-GB" sz="1200" i="1" noProof="0">
                            <a:latin typeface="Cambria Math" panose="02040503050406030204" pitchFamily="18" charset="0"/>
                          </a:rPr>
                          <m:t>80</m:t>
                        </m:r>
                      </m:den>
                    </m:f>
                    <m:r>
                      <a:rPr lang="en-GB" sz="1200" i="1" noProof="0">
                        <a:latin typeface="Cambria Math" panose="02040503050406030204" pitchFamily="18" charset="0"/>
                      </a:rPr>
                      <m:t>×</m:t>
                    </m:r>
                    <m:f>
                      <m:fPr>
                        <m:ctrlPr>
                          <a:rPr lang="en-GB" sz="1200" i="1" noProof="0">
                            <a:latin typeface="Cambria Math" panose="02040503050406030204" pitchFamily="18" charset="0"/>
                          </a:rPr>
                        </m:ctrlPr>
                      </m:fPr>
                      <m:num>
                        <m:r>
                          <a:rPr lang="en-GB" sz="1200" i="1" noProof="0">
                            <a:latin typeface="Cambria Math" panose="02040503050406030204" pitchFamily="18" charset="0"/>
                          </a:rPr>
                          <m:t>20</m:t>
                        </m:r>
                      </m:num>
                      <m:den>
                        <m:r>
                          <a:rPr lang="en-GB" sz="1200" i="1" noProof="0">
                            <a:latin typeface="Cambria Math" panose="02040503050406030204" pitchFamily="18" charset="0"/>
                          </a:rPr>
                          <m:t>39</m:t>
                        </m:r>
                      </m:den>
                    </m:f>
                    <m:r>
                      <a:rPr lang="en-GB" sz="1200" i="1" noProof="0">
                        <a:latin typeface="Cambria Math" panose="02040503050406030204" pitchFamily="18" charset="0"/>
                      </a:rPr>
                      <m:t>=</m:t>
                    </m:r>
                  </m:oMath>
                </a14:m>
                <a:endParaRPr lang="en-GB" sz="1200" noProof="0" dirty="0"/>
              </a:p>
            </p:txBody>
          </p:sp>
        </mc:Choice>
        <mc:Fallback xmlns="">
          <p:sp>
            <p:nvSpPr>
              <p:cNvPr id="4" name="Rectangle 3"/>
              <p:cNvSpPr>
                <a:spLocks noRot="1" noChangeAspect="1" noMove="1" noResize="1" noEditPoints="1" noAdjustHandles="1" noChangeArrowheads="1" noChangeShapeType="1" noTextEdit="1"/>
              </p:cNvSpPr>
              <p:nvPr/>
            </p:nvSpPr>
            <p:spPr>
              <a:xfrm>
                <a:off x="4509393" y="2504006"/>
                <a:ext cx="932178" cy="354777"/>
              </a:xfrm>
              <a:prstGeom prst="rect">
                <a:avLst/>
              </a:prstGeom>
              <a:blipFill>
                <a:blip r:embed="rId3"/>
                <a:stretch>
                  <a:fillRect l="-654"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453342" y="2501506"/>
                <a:ext cx="946606" cy="357277"/>
              </a:xfrm>
              <a:prstGeom prst="rect">
                <a:avLst/>
              </a:prstGeom>
            </p:spPr>
            <p:txBody>
              <a:bodyPr wrap="none">
                <a:spAutoFit/>
              </a:bodyPr>
              <a:lstStyle/>
              <a:p>
                <a:r>
                  <a:rPr lang="en-GB" sz="1200" noProof="0" dirty="0"/>
                  <a:t>b)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5</m:t>
                        </m:r>
                      </m:num>
                      <m:den>
                        <m:r>
                          <a:rPr lang="en-GB" sz="1200" i="1" noProof="0">
                            <a:latin typeface="Cambria Math" panose="02040503050406030204" pitchFamily="18" charset="0"/>
                          </a:rPr>
                          <m:t>14</m:t>
                        </m:r>
                      </m:den>
                    </m:f>
                    <m:r>
                      <a:rPr lang="en-GB" sz="1200" i="1" noProof="0">
                        <a:latin typeface="Cambria Math" panose="02040503050406030204" pitchFamily="18" charset="0"/>
                      </a:rPr>
                      <m:t>×</m:t>
                    </m:r>
                    <m:f>
                      <m:fPr>
                        <m:ctrlPr>
                          <a:rPr lang="en-GB" sz="1200" i="1" noProof="0">
                            <a:latin typeface="Cambria Math" panose="02040503050406030204" pitchFamily="18" charset="0"/>
                          </a:rPr>
                        </m:ctrlPr>
                      </m:fPr>
                      <m:num>
                        <m:r>
                          <a:rPr lang="en-GB" sz="1200" i="1" noProof="0">
                            <a:latin typeface="Cambria Math" panose="02040503050406030204" pitchFamily="18" charset="0"/>
                          </a:rPr>
                          <m:t>21</m:t>
                        </m:r>
                      </m:num>
                      <m:den>
                        <m:r>
                          <a:rPr lang="en-GB" sz="1200" i="1" noProof="0">
                            <a:latin typeface="Cambria Math" panose="02040503050406030204" pitchFamily="18" charset="0"/>
                          </a:rPr>
                          <m:t>15</m:t>
                        </m:r>
                      </m:den>
                    </m:f>
                    <m:r>
                      <a:rPr lang="en-GB" sz="1200" i="1" noProof="0">
                        <a:latin typeface="Cambria Math" panose="02040503050406030204" pitchFamily="18" charset="0"/>
                      </a:rPr>
                      <m:t>=</m:t>
                    </m:r>
                  </m:oMath>
                </a14:m>
                <a:endParaRPr lang="en-GB" sz="1200" noProof="0" dirty="0"/>
              </a:p>
            </p:txBody>
          </p:sp>
        </mc:Choice>
        <mc:Fallback xmlns="">
          <p:sp>
            <p:nvSpPr>
              <p:cNvPr id="5" name="Rectangle 4"/>
              <p:cNvSpPr>
                <a:spLocks noRot="1" noChangeAspect="1" noMove="1" noResize="1" noEditPoints="1" noAdjustHandles="1" noChangeArrowheads="1" noChangeShapeType="1" noTextEdit="1"/>
              </p:cNvSpPr>
              <p:nvPr/>
            </p:nvSpPr>
            <p:spPr>
              <a:xfrm>
                <a:off x="2453342" y="2501506"/>
                <a:ext cx="946606" cy="357277"/>
              </a:xfrm>
              <a:prstGeom prst="rect">
                <a:avLst/>
              </a:prstGeom>
              <a:blipFill>
                <a:blip r:embed="rId4"/>
                <a:stretch>
                  <a:fillRect b="-1695"/>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B16CFEF2-A65A-6142-861C-58ACADF7EEFB}"/>
              </a:ext>
            </a:extLst>
          </p:cNvPr>
          <p:cNvSpPr/>
          <p:nvPr/>
        </p:nvSpPr>
        <p:spPr>
          <a:xfrm>
            <a:off x="155211" y="2873166"/>
            <a:ext cx="2051643" cy="152436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7" name="Rectangle 6">
            <a:extLst>
              <a:ext uri="{FF2B5EF4-FFF2-40B4-BE49-F238E27FC236}">
                <a16:creationId xmlns:a16="http://schemas.microsoft.com/office/drawing/2014/main" id="{B16CFEF2-A65A-6142-861C-58ACADF7EEFB}"/>
              </a:ext>
            </a:extLst>
          </p:cNvPr>
          <p:cNvSpPr/>
          <p:nvPr/>
        </p:nvSpPr>
        <p:spPr>
          <a:xfrm>
            <a:off x="2333045" y="2873166"/>
            <a:ext cx="2051643" cy="152436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 name="Rectangle 7">
            <a:extLst>
              <a:ext uri="{FF2B5EF4-FFF2-40B4-BE49-F238E27FC236}">
                <a16:creationId xmlns:a16="http://schemas.microsoft.com/office/drawing/2014/main" id="{B16CFEF2-A65A-6142-861C-58ACADF7EEFB}"/>
              </a:ext>
            </a:extLst>
          </p:cNvPr>
          <p:cNvSpPr/>
          <p:nvPr/>
        </p:nvSpPr>
        <p:spPr>
          <a:xfrm>
            <a:off x="4474887" y="2873166"/>
            <a:ext cx="2051643" cy="152436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9" name="Slide Number Placeholder 8"/>
          <p:cNvSpPr>
            <a:spLocks noGrp="1"/>
          </p:cNvSpPr>
          <p:nvPr>
            <p:ph type="sldNum" sz="quarter" idx="12"/>
          </p:nvPr>
        </p:nvSpPr>
        <p:spPr>
          <a:xfrm>
            <a:off x="5353086" y="9570305"/>
            <a:ext cx="1543050" cy="527403"/>
          </a:xfrm>
        </p:spPr>
        <p:txBody>
          <a:bodyPr/>
          <a:lstStyle/>
          <a:p>
            <a:fld id="{9BD3B4A0-BFF9-422C-B253-48BA94BE2F5B}" type="slidenum">
              <a:rPr lang="en-GB" noProof="0" smtClean="0"/>
              <a:t>8</a:t>
            </a:fld>
            <a:endParaRPr lang="en-GB" noProof="0" dirty="0"/>
          </a:p>
        </p:txBody>
      </p:sp>
      <mc:AlternateContent xmlns:mc="http://schemas.openxmlformats.org/markup-compatibility/2006" xmlns:a14="http://schemas.microsoft.com/office/drawing/2010/main">
        <mc:Choice Requires="a14">
          <p:graphicFrame>
            <p:nvGraphicFramePr>
              <p:cNvPr id="59" name="Table 58"/>
              <p:cNvGraphicFramePr>
                <a:graphicFrameLocks noGrp="1"/>
              </p:cNvGraphicFramePr>
              <p:nvPr>
                <p:extLst>
                  <p:ext uri="{D42A27DB-BD31-4B8C-83A1-F6EECF244321}">
                    <p14:modId xmlns:p14="http://schemas.microsoft.com/office/powerpoint/2010/main" val="851739092"/>
                  </p:ext>
                </p:extLst>
              </p:nvPr>
            </p:nvGraphicFramePr>
            <p:xfrm>
              <a:off x="157937" y="4821039"/>
              <a:ext cx="6484022" cy="2382262"/>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30744">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latin typeface="+mn-lt"/>
                            </a:rPr>
                            <a:t>Simplify</a:t>
                          </a:r>
                          <a14:m>
                            <m:oMath xmlns:m="http://schemas.openxmlformats.org/officeDocument/2006/math">
                              <m:r>
                                <a:rPr lang="en-GB" sz="1200" b="0" i="0" noProof="0" smtClean="0">
                                  <a:solidFill>
                                    <a:schemeClr val="tx1"/>
                                  </a:solidFill>
                                  <a:latin typeface="Cambria Math" panose="02040503050406030204" pitchFamily="18" charset="0"/>
                                </a:rPr>
                                <m:t> </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2</m:t>
                                  </m:r>
                                  <m:r>
                                    <a:rPr lang="en-GB" sz="1200" b="0" i="1" noProof="0">
                                      <a:solidFill>
                                        <a:schemeClr val="tx1"/>
                                      </a:solidFill>
                                      <a:latin typeface="Cambria Math" panose="02040503050406030204" pitchFamily="18" charset="0"/>
                                    </a:rPr>
                                    <m:t>𝑏</m:t>
                                  </m:r>
                                </m:num>
                                <m:den>
                                  <m:r>
                                    <a:rPr lang="en-GB" sz="1200" b="0" i="1" noProof="0">
                                      <a:solidFill>
                                        <a:schemeClr val="tx1"/>
                                      </a:solidFill>
                                      <a:latin typeface="Cambria Math" panose="02040503050406030204" pitchFamily="18" charset="0"/>
                                    </a:rPr>
                                    <m:t>3</m:t>
                                  </m:r>
                                </m:den>
                              </m:f>
                              <m:r>
                                <a:rPr lang="en-GB" sz="1200" b="0" i="1" noProof="0">
                                  <a:solidFill>
                                    <a:schemeClr val="tx1"/>
                                  </a:solidFill>
                                  <a:latin typeface="Cambria Math" panose="02040503050406030204" pitchFamily="18" charset="0"/>
                                  <a:ea typeface="Cambria Math" panose="02040503050406030204" pitchFamily="18" charset="0"/>
                                </a:rPr>
                                <m:t>×</m:t>
                              </m:r>
                              <m:f>
                                <m:fPr>
                                  <m:ctrlPr>
                                    <a:rPr lang="en-GB" sz="1200" b="0" i="1" noProof="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4</m:t>
                                  </m:r>
                                </m:num>
                                <m:den>
                                  <m:r>
                                    <a:rPr lang="en-GB" sz="1200" b="0" i="1" noProof="0" smtClean="0">
                                      <a:solidFill>
                                        <a:schemeClr val="tx1"/>
                                      </a:solidFill>
                                      <a:latin typeface="Cambria Math" panose="02040503050406030204" pitchFamily="18" charset="0"/>
                                    </a:rPr>
                                    <m:t>𝑏</m:t>
                                  </m:r>
                                </m:den>
                              </m:f>
                            </m:oMath>
                          </a14:m>
                          <a:r>
                            <a:rPr lang="en-GB" sz="1200" b="0" noProof="0" dirty="0">
                              <a:solidFill>
                                <a:schemeClr val="tx1"/>
                              </a:solidFill>
                              <a:latin typeface="+mn-lt"/>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Simplify</a:t>
                          </a:r>
                          <a14:m>
                            <m:oMath xmlns:m="http://schemas.openxmlformats.org/officeDocument/2006/math">
                              <m:r>
                                <a:rPr lang="en-GB" sz="1200" b="0" i="0" noProof="0" smtClean="0">
                                  <a:solidFill>
                                    <a:schemeClr val="tx1"/>
                                  </a:solidFill>
                                  <a:latin typeface="Cambria Math" panose="02040503050406030204" pitchFamily="18" charset="0"/>
                                </a:rPr>
                                <m:t> </m:t>
                              </m:r>
                              <m:f>
                                <m:fPr>
                                  <m:ctrlPr>
                                    <a:rPr lang="en-GB" sz="1200" b="0" i="1" noProof="0" smtClean="0">
                                      <a:solidFill>
                                        <a:schemeClr val="tx1"/>
                                      </a:solidFill>
                                      <a:latin typeface="Cambria Math" panose="02040503050406030204" pitchFamily="18" charset="0"/>
                                    </a:rPr>
                                  </m:ctrlPr>
                                </m:fPr>
                                <m:num>
                                  <m:sSup>
                                    <m:sSupPr>
                                      <m:ctrlPr>
                                        <a:rPr lang="en-GB" sz="1200" b="0" i="1" noProof="0" smtClean="0">
                                          <a:solidFill>
                                            <a:schemeClr val="tx1"/>
                                          </a:solidFill>
                                          <a:latin typeface="Cambria Math" panose="02040503050406030204" pitchFamily="18" charset="0"/>
                                        </a:rPr>
                                      </m:ctrlPr>
                                    </m:sSupPr>
                                    <m:e>
                                      <m:r>
                                        <a:rPr lang="en-GB" sz="1200" b="0" i="1" noProof="0">
                                          <a:solidFill>
                                            <a:schemeClr val="tx1"/>
                                          </a:solidFill>
                                          <a:latin typeface="Cambria Math" panose="02040503050406030204" pitchFamily="18" charset="0"/>
                                        </a:rPr>
                                        <m:t>𝑏</m:t>
                                      </m:r>
                                    </m:e>
                                    <m:sup>
                                      <m:r>
                                        <a:rPr lang="en-GB" sz="1200" b="0" i="1" noProof="0" smtClean="0">
                                          <a:solidFill>
                                            <a:schemeClr val="tx1"/>
                                          </a:solidFill>
                                          <a:latin typeface="Cambria Math" panose="02040503050406030204" pitchFamily="18" charset="0"/>
                                        </a:rPr>
                                        <m:t>2</m:t>
                                      </m:r>
                                    </m:sup>
                                  </m:sSup>
                                </m:num>
                                <m:den>
                                  <m:r>
                                    <a:rPr lang="en-GB" sz="1200" b="0" i="1" noProof="0" smtClean="0">
                                      <a:solidFill>
                                        <a:schemeClr val="tx1"/>
                                      </a:solidFill>
                                      <a:latin typeface="Cambria Math" panose="02040503050406030204" pitchFamily="18" charset="0"/>
                                    </a:rPr>
                                    <m:t>2</m:t>
                                  </m:r>
                                </m:den>
                              </m:f>
                              <m:r>
                                <a:rPr lang="en-GB" sz="1200" b="0" i="1" noProof="0">
                                  <a:solidFill>
                                    <a:schemeClr val="tx1"/>
                                  </a:solidFill>
                                  <a:latin typeface="Cambria Math" panose="02040503050406030204" pitchFamily="18" charset="0"/>
                                  <a:ea typeface="Cambria Math" panose="02040503050406030204" pitchFamily="18" charset="0"/>
                                </a:rPr>
                                <m:t>×</m:t>
                              </m:r>
                              <m:f>
                                <m:fPr>
                                  <m:ctrlPr>
                                    <a:rPr lang="en-GB" sz="1200" b="0" i="1" noProof="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8</m:t>
                                  </m:r>
                                </m:num>
                                <m:den>
                                  <m:r>
                                    <a:rPr lang="en-GB" sz="1200" b="0" i="1" noProof="0" smtClean="0">
                                      <a:solidFill>
                                        <a:schemeClr val="tx1"/>
                                      </a:solidFill>
                                      <a:latin typeface="Cambria Math" panose="02040503050406030204" pitchFamily="18" charset="0"/>
                                    </a:rPr>
                                    <m:t>𝑏</m:t>
                                  </m:r>
                                </m:den>
                              </m:f>
                            </m:oMath>
                          </a14:m>
                          <a:r>
                            <a:rPr lang="en-GB" sz="1200" b="0" noProof="0" dirty="0">
                              <a:solidFill>
                                <a:schemeClr val="tx1"/>
                              </a:solidFill>
                              <a:latin typeface="+mn-lt"/>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Simplify</a:t>
                          </a:r>
                          <a14:m>
                            <m:oMath xmlns:m="http://schemas.openxmlformats.org/officeDocument/2006/math">
                              <m:r>
                                <a:rPr lang="en-GB" sz="1200" b="0" i="0" noProof="0" smtClean="0">
                                  <a:solidFill>
                                    <a:schemeClr val="tx1"/>
                                  </a:solidFill>
                                  <a:latin typeface="Cambria Math" panose="02040503050406030204" pitchFamily="18" charset="0"/>
                                </a:rPr>
                                <m:t> </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2</m:t>
                                  </m:r>
                                  <m:sSup>
                                    <m:sSupPr>
                                      <m:ctrlPr>
                                        <a:rPr lang="en-GB" sz="1200" b="0" i="1" noProof="0" smtClean="0">
                                          <a:solidFill>
                                            <a:schemeClr val="tx1"/>
                                          </a:solidFill>
                                          <a:latin typeface="Cambria Math" panose="02040503050406030204" pitchFamily="18" charset="0"/>
                                        </a:rPr>
                                      </m:ctrlPr>
                                    </m:sSupPr>
                                    <m:e>
                                      <m:r>
                                        <a:rPr lang="en-GB" sz="1200" b="0" i="1" noProof="0">
                                          <a:solidFill>
                                            <a:schemeClr val="tx1"/>
                                          </a:solidFill>
                                          <a:latin typeface="Cambria Math" panose="02040503050406030204" pitchFamily="18" charset="0"/>
                                        </a:rPr>
                                        <m:t>𝑏</m:t>
                                      </m:r>
                                    </m:e>
                                    <m:sup>
                                      <m:r>
                                        <a:rPr lang="en-GB" sz="1200" b="0" i="1" noProof="0" smtClean="0">
                                          <a:solidFill>
                                            <a:schemeClr val="tx1"/>
                                          </a:solidFill>
                                          <a:latin typeface="Cambria Math" panose="02040503050406030204" pitchFamily="18" charset="0"/>
                                        </a:rPr>
                                        <m:t>3</m:t>
                                      </m:r>
                                    </m:sup>
                                  </m:sSup>
                                </m:num>
                                <m:den>
                                  <m:r>
                                    <a:rPr lang="en-GB" sz="1200" b="0" i="1" noProof="0">
                                      <a:solidFill>
                                        <a:schemeClr val="tx1"/>
                                      </a:solidFill>
                                      <a:latin typeface="Cambria Math" panose="02040503050406030204" pitchFamily="18" charset="0"/>
                                    </a:rPr>
                                    <m:t>3</m:t>
                                  </m:r>
                                </m:den>
                              </m:f>
                              <m:r>
                                <a:rPr lang="en-GB" sz="1200" b="0" i="1" noProof="0">
                                  <a:solidFill>
                                    <a:schemeClr val="tx1"/>
                                  </a:solidFill>
                                  <a:latin typeface="Cambria Math" panose="02040503050406030204" pitchFamily="18" charset="0"/>
                                  <a:ea typeface="Cambria Math" panose="02040503050406030204" pitchFamily="18" charset="0"/>
                                </a:rPr>
                                <m:t>×</m:t>
                              </m:r>
                              <m:f>
                                <m:fPr>
                                  <m:ctrlPr>
                                    <a:rPr lang="en-GB" sz="1200" b="0" i="1" noProof="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4</m:t>
                                  </m:r>
                                </m:num>
                                <m:den>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𝑏</m:t>
                                  </m:r>
                                </m:den>
                              </m:f>
                            </m:oMath>
                          </a14:m>
                          <a:r>
                            <a:rPr lang="en-GB" sz="1200" b="0" noProof="0" dirty="0">
                              <a:solidFill>
                                <a:schemeClr val="tx1"/>
                              </a:solidFill>
                              <a:latin typeface="+mn-lt"/>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75759">
                    <a:tc>
                      <a:txBody>
                        <a:bodyPr/>
                        <a:lstStyle/>
                        <a:p>
                          <a:pPr marL="228600" indent="-228600">
                            <a:buAutoNum type="arabicParenR"/>
                          </a:pPr>
                          <a:r>
                            <a:rPr lang="en-GB" sz="1100" noProof="0" dirty="0">
                              <a:solidFill>
                                <a:schemeClr val="tx1"/>
                              </a:solidFill>
                            </a:rPr>
                            <a:t>Cross cancel.</a:t>
                          </a:r>
                        </a:p>
                        <a:p>
                          <a:pPr marL="228600" indent="-228600">
                            <a:buAutoNum type="arabicParenR"/>
                          </a:pP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757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2)    Simplify</a:t>
                          </a:r>
                        </a:p>
                        <a:p>
                          <a:pPr marL="228600" indent="-228600">
                            <a:buAutoNum type="arabicParenR"/>
                          </a:pP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585410849"/>
                      </a:ext>
                    </a:extLst>
                  </a:tr>
                </a:tbl>
              </a:graphicData>
            </a:graphic>
          </p:graphicFrame>
        </mc:Choice>
        <mc:Fallback xmlns="">
          <p:graphicFrame>
            <p:nvGraphicFramePr>
              <p:cNvPr id="59" name="Table 58"/>
              <p:cNvGraphicFramePr>
                <a:graphicFrameLocks noGrp="1"/>
              </p:cNvGraphicFramePr>
              <p:nvPr>
                <p:extLst>
                  <p:ext uri="{D42A27DB-BD31-4B8C-83A1-F6EECF244321}">
                    <p14:modId xmlns:p14="http://schemas.microsoft.com/office/powerpoint/2010/main" val="851739092"/>
                  </p:ext>
                </p:extLst>
              </p:nvPr>
            </p:nvGraphicFramePr>
            <p:xfrm>
              <a:off x="157937" y="4821039"/>
              <a:ext cx="6484022" cy="2382262"/>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30744">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9364" t="-1408" r="-218021" b="-4549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42722" t="-1408" r="-95253" b="-4549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56522" t="-1408" r="-669" b="-454930"/>
                          </a:stretch>
                        </a:blipFill>
                      </a:tcPr>
                    </a:tc>
                    <a:extLst>
                      <a:ext uri="{0D108BD9-81ED-4DB2-BD59-A6C34878D82A}">
                        <a16:rowId xmlns:a16="http://schemas.microsoft.com/office/drawing/2014/main" val="2357201933"/>
                      </a:ext>
                    </a:extLst>
                  </a:tr>
                  <a:tr h="975759">
                    <a:tc>
                      <a:txBody>
                        <a:bodyPr/>
                        <a:lstStyle/>
                        <a:p>
                          <a:pPr marL="228600" indent="-228600">
                            <a:buAutoNum type="arabicParenR"/>
                          </a:pPr>
                          <a:r>
                            <a:rPr lang="en-GB" sz="1100" noProof="0">
                              <a:solidFill>
                                <a:schemeClr val="tx1"/>
                              </a:solidFill>
                            </a:rPr>
                            <a:t>Cross cancel.</a:t>
                          </a:r>
                        </a:p>
                        <a:p>
                          <a:pPr marL="228600" indent="-228600">
                            <a:buAutoNum type="arabicParenR"/>
                          </a:pP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757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a:solidFill>
                                <a:schemeClr val="tx1"/>
                              </a:solidFill>
                            </a:rPr>
                            <a:t>2)    Simplify</a:t>
                          </a:r>
                        </a:p>
                        <a:p>
                          <a:pPr marL="228600" indent="-228600">
                            <a:buAutoNum type="arabicParenR"/>
                          </a:pP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585410849"/>
                      </a:ext>
                    </a:extLst>
                  </a:tr>
                </a:tbl>
              </a:graphicData>
            </a:graphic>
          </p:graphicFrame>
        </mc:Fallback>
      </mc:AlternateContent>
      <p:sp>
        <p:nvSpPr>
          <p:cNvPr id="62" name="TextBox 61">
            <a:extLst>
              <a:ext uri="{FF2B5EF4-FFF2-40B4-BE49-F238E27FC236}">
                <a16:creationId xmlns:a16="http://schemas.microsoft.com/office/drawing/2014/main" id="{72FAE9BB-D81F-4207-9FF8-E6BE971A99D9}"/>
              </a:ext>
            </a:extLst>
          </p:cNvPr>
          <p:cNvSpPr txBox="1"/>
          <p:nvPr/>
        </p:nvSpPr>
        <p:spPr>
          <a:xfrm>
            <a:off x="4949175" y="4511926"/>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15 - You do…</a:t>
            </a:r>
          </a:p>
        </p:txBody>
      </p:sp>
      <p:sp>
        <p:nvSpPr>
          <p:cNvPr id="63" name="TextBox 62">
            <a:extLst>
              <a:ext uri="{FF2B5EF4-FFF2-40B4-BE49-F238E27FC236}">
                <a16:creationId xmlns:a16="http://schemas.microsoft.com/office/drawing/2014/main" id="{337F58E6-37DE-4890-BDE3-0101DB4D4F11}"/>
              </a:ext>
            </a:extLst>
          </p:cNvPr>
          <p:cNvSpPr txBox="1"/>
          <p:nvPr/>
        </p:nvSpPr>
        <p:spPr>
          <a:xfrm>
            <a:off x="3156108" y="4511927"/>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14 - We do…</a:t>
            </a:r>
          </a:p>
        </p:txBody>
      </p:sp>
      <p:sp>
        <p:nvSpPr>
          <p:cNvPr id="64" name="TextBox 63">
            <a:extLst>
              <a:ext uri="{FF2B5EF4-FFF2-40B4-BE49-F238E27FC236}">
                <a16:creationId xmlns:a16="http://schemas.microsoft.com/office/drawing/2014/main" id="{20EB31B5-3203-4E48-8A19-892EA568053E}"/>
              </a:ext>
            </a:extLst>
          </p:cNvPr>
          <p:cNvSpPr txBox="1"/>
          <p:nvPr/>
        </p:nvSpPr>
        <p:spPr>
          <a:xfrm>
            <a:off x="1313547" y="4511928"/>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13 - I do…</a:t>
            </a:r>
          </a:p>
        </p:txBody>
      </p:sp>
      <p:sp>
        <p:nvSpPr>
          <p:cNvPr id="76" name="TextBox 75"/>
          <p:cNvSpPr txBox="1"/>
          <p:nvPr/>
        </p:nvSpPr>
        <p:spPr>
          <a:xfrm>
            <a:off x="1780529" y="7245280"/>
            <a:ext cx="2292231" cy="276999"/>
          </a:xfrm>
          <a:prstGeom prst="rect">
            <a:avLst/>
          </a:prstGeom>
          <a:noFill/>
        </p:spPr>
        <p:txBody>
          <a:bodyPr wrap="none" rtlCol="0">
            <a:spAutoFit/>
          </a:bodyPr>
          <a:lstStyle/>
          <a:p>
            <a:pPr algn="ctr"/>
            <a:r>
              <a:rPr lang="en-GB" sz="1200" noProof="0" dirty="0"/>
              <a:t>3. Simplify the algebraic fractions.</a:t>
            </a:r>
          </a:p>
        </p:txBody>
      </p:sp>
      <mc:AlternateContent xmlns:mc="http://schemas.openxmlformats.org/markup-compatibility/2006" xmlns:a14="http://schemas.microsoft.com/office/drawing/2010/main">
        <mc:Choice Requires="a14">
          <p:sp>
            <p:nvSpPr>
              <p:cNvPr id="13" name="TextBox 12"/>
              <p:cNvSpPr txBox="1"/>
              <p:nvPr/>
            </p:nvSpPr>
            <p:spPr>
              <a:xfrm>
                <a:off x="296824" y="7609046"/>
                <a:ext cx="695062" cy="542969"/>
              </a:xfrm>
              <a:prstGeom prst="rect">
                <a:avLst/>
              </a:prstGeom>
              <a:noFill/>
            </p:spPr>
            <p:txBody>
              <a:bodyPr wrap="none" rtlCol="0">
                <a:spAutoFit/>
              </a:bodyPr>
              <a:lstStyle/>
              <a:p>
                <a:r>
                  <a:rPr lang="en-GB" sz="1200" noProof="0" dirty="0"/>
                  <a:t>a)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𝑏</m:t>
                        </m:r>
                      </m:num>
                      <m:den>
                        <m:r>
                          <a:rPr lang="en-GB" sz="1200" b="0" i="1" noProof="0" smtClean="0">
                            <a:latin typeface="Cambria Math" panose="02040503050406030204" pitchFamily="18" charset="0"/>
                          </a:rPr>
                          <m:t>4</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num>
                      <m:den>
                        <m:r>
                          <a:rPr lang="en-GB" sz="1200" i="1" noProof="0" smtClean="0">
                            <a:latin typeface="Cambria Math" panose="02040503050406030204" pitchFamily="18" charset="0"/>
                          </a:rPr>
                          <m:t>𝑏</m:t>
                        </m:r>
                      </m:den>
                    </m:f>
                  </m:oMath>
                </a14:m>
                <a:r>
                  <a:rPr lang="en-GB" sz="1200" noProof="0" dirty="0"/>
                  <a:t> </a:t>
                </a:r>
              </a:p>
              <a:p>
                <a:r>
                  <a:rPr lang="en-GB" sz="1200" noProof="0" dirty="0"/>
                  <a:t> </a:t>
                </a:r>
              </a:p>
            </p:txBody>
          </p:sp>
        </mc:Choice>
        <mc:Fallback xmlns="">
          <p:sp>
            <p:nvSpPr>
              <p:cNvPr id="13" name="TextBox 12"/>
              <p:cNvSpPr txBox="1">
                <a:spLocks noRot="1" noChangeAspect="1" noMove="1" noResize="1" noEditPoints="1" noAdjustHandles="1" noChangeArrowheads="1" noChangeShapeType="1" noTextEdit="1"/>
              </p:cNvSpPr>
              <p:nvPr/>
            </p:nvSpPr>
            <p:spPr>
              <a:xfrm>
                <a:off x="296824" y="7609046"/>
                <a:ext cx="695062" cy="542969"/>
              </a:xfrm>
              <a:prstGeom prst="rect">
                <a:avLst/>
              </a:prstGeom>
              <a:blipFill>
                <a:blip r:embed="rId6"/>
                <a:stretch>
                  <a:fillRect l="-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1568477" y="7609647"/>
                <a:ext cx="760657" cy="564963"/>
              </a:xfrm>
              <a:prstGeom prst="rect">
                <a:avLst/>
              </a:prstGeom>
              <a:noFill/>
            </p:spPr>
            <p:txBody>
              <a:bodyPr wrap="none" rtlCol="0">
                <a:spAutoFit/>
              </a:bodyPr>
              <a:lstStyle/>
              <a:p>
                <a:r>
                  <a:rPr lang="en-GB" sz="1200" noProof="0" dirty="0"/>
                  <a:t>b) </a:t>
                </a:r>
                <a14:m>
                  <m:oMath xmlns:m="http://schemas.openxmlformats.org/officeDocument/2006/math">
                    <m:f>
                      <m:fPr>
                        <m:ctrlPr>
                          <a:rPr lang="en-GB" sz="1200" i="1" noProof="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i="1" noProof="0">
                                <a:latin typeface="Cambria Math" panose="02040503050406030204" pitchFamily="18" charset="0"/>
                              </a:rPr>
                              <m:t>𝑏</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4</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num>
                      <m:den>
                        <m:r>
                          <a:rPr lang="en-GB" sz="1200" i="1" noProof="0" smtClean="0">
                            <a:latin typeface="Cambria Math" panose="02040503050406030204" pitchFamily="18" charset="0"/>
                          </a:rPr>
                          <m:t>𝑏</m:t>
                        </m:r>
                      </m:den>
                    </m:f>
                  </m:oMath>
                </a14:m>
                <a:r>
                  <a:rPr lang="en-GB" sz="1200" noProof="0" dirty="0"/>
                  <a:t> </a:t>
                </a:r>
              </a:p>
              <a:p>
                <a:r>
                  <a:rPr lang="en-GB" sz="1200" noProof="0" dirty="0"/>
                  <a:t> </a:t>
                </a:r>
              </a:p>
            </p:txBody>
          </p:sp>
        </mc:Choice>
        <mc:Fallback xmlns="">
          <p:sp>
            <p:nvSpPr>
              <p:cNvPr id="77" name="TextBox 76"/>
              <p:cNvSpPr txBox="1">
                <a:spLocks noRot="1" noChangeAspect="1" noMove="1" noResize="1" noEditPoints="1" noAdjustHandles="1" noChangeArrowheads="1" noChangeShapeType="1" noTextEdit="1"/>
              </p:cNvSpPr>
              <p:nvPr/>
            </p:nvSpPr>
            <p:spPr>
              <a:xfrm>
                <a:off x="1568477" y="7609647"/>
                <a:ext cx="760657" cy="56496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2905726" y="7609046"/>
                <a:ext cx="871136" cy="564963"/>
              </a:xfrm>
              <a:prstGeom prst="rect">
                <a:avLst/>
              </a:prstGeom>
              <a:noFill/>
            </p:spPr>
            <p:txBody>
              <a:bodyPr wrap="none" rtlCol="0">
                <a:spAutoFit/>
              </a:bodyPr>
              <a:lstStyle/>
              <a:p>
                <a:r>
                  <a:rPr lang="en-GB" sz="1200" noProof="0" dirty="0"/>
                  <a:t>c) </a:t>
                </a:r>
                <a14:m>
                  <m:oMath xmlns:m="http://schemas.openxmlformats.org/officeDocument/2006/math">
                    <m:f>
                      <m:fPr>
                        <m:ctrlPr>
                          <a:rPr lang="en-GB" sz="1200" i="1" noProof="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i="1" noProof="0">
                                <a:latin typeface="Cambria Math" panose="02040503050406030204" pitchFamily="18" charset="0"/>
                              </a:rPr>
                              <m:t>𝑏</m:t>
                            </m:r>
                          </m:e>
                          <m:sup>
                            <m:r>
                              <a:rPr lang="en-GB" sz="1200" b="0" i="1" noProof="0" smtClean="0">
                                <a:latin typeface="Cambria Math" panose="02040503050406030204" pitchFamily="18" charset="0"/>
                              </a:rPr>
                              <m:t>3</m:t>
                            </m:r>
                          </m:sup>
                        </m:sSup>
                      </m:num>
                      <m:den>
                        <m:r>
                          <a:rPr lang="en-GB" sz="1200" b="0" i="1" noProof="0" smtClean="0">
                            <a:latin typeface="Cambria Math" panose="02040503050406030204" pitchFamily="18" charset="0"/>
                          </a:rPr>
                          <m:t>4</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num>
                      <m:den>
                        <m:r>
                          <a:rPr lang="en-GB" sz="1200" b="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𝑏</m:t>
                            </m:r>
                          </m:e>
                          <m:sup>
                            <m:r>
                              <a:rPr lang="en-GB" sz="1200" b="0" i="1" noProof="0" smtClean="0">
                                <a:latin typeface="Cambria Math" panose="02040503050406030204" pitchFamily="18" charset="0"/>
                              </a:rPr>
                              <m:t>2</m:t>
                            </m:r>
                          </m:sup>
                        </m:sSup>
                      </m:den>
                    </m:f>
                  </m:oMath>
                </a14:m>
                <a:r>
                  <a:rPr lang="en-GB" sz="1200" noProof="0" dirty="0"/>
                  <a:t> </a:t>
                </a:r>
              </a:p>
              <a:p>
                <a:r>
                  <a:rPr lang="en-GB" sz="1200" noProof="0" dirty="0"/>
                  <a:t> </a:t>
                </a:r>
              </a:p>
            </p:txBody>
          </p:sp>
        </mc:Choice>
        <mc:Fallback xmlns="">
          <p:sp>
            <p:nvSpPr>
              <p:cNvPr id="78" name="TextBox 77"/>
              <p:cNvSpPr txBox="1">
                <a:spLocks noRot="1" noChangeAspect="1" noMove="1" noResize="1" noEditPoints="1" noAdjustHandles="1" noChangeArrowheads="1" noChangeShapeType="1" noTextEdit="1"/>
              </p:cNvSpPr>
              <p:nvPr/>
            </p:nvSpPr>
            <p:spPr>
              <a:xfrm>
                <a:off x="2905726" y="7609046"/>
                <a:ext cx="871136" cy="564963"/>
              </a:xfrm>
              <a:prstGeom prst="rect">
                <a:avLst/>
              </a:prstGeom>
              <a:blipFill>
                <a:blip r:embed="rId8"/>
                <a:stretch>
                  <a:fillRect l="-6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p:cNvSpPr txBox="1"/>
              <p:nvPr/>
            </p:nvSpPr>
            <p:spPr>
              <a:xfrm>
                <a:off x="4244602" y="7633640"/>
                <a:ext cx="885563" cy="564963"/>
              </a:xfrm>
              <a:prstGeom prst="rect">
                <a:avLst/>
              </a:prstGeom>
              <a:noFill/>
            </p:spPr>
            <p:txBody>
              <a:bodyPr wrap="none" rtlCol="0">
                <a:spAutoFit/>
              </a:bodyPr>
              <a:lstStyle/>
              <a:p>
                <a:r>
                  <a:rPr lang="en-GB" sz="1200" noProof="0" dirty="0"/>
                  <a:t>d) </a:t>
                </a:r>
                <a14:m>
                  <m:oMath xmlns:m="http://schemas.openxmlformats.org/officeDocument/2006/math">
                    <m:f>
                      <m:fPr>
                        <m:ctrlPr>
                          <a:rPr lang="en-GB" sz="1200" i="1" noProof="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i="1" noProof="0">
                                <a:latin typeface="Cambria Math" panose="02040503050406030204" pitchFamily="18" charset="0"/>
                              </a:rPr>
                              <m:t>𝑏</m:t>
                            </m:r>
                          </m:e>
                          <m:sup>
                            <m:r>
                              <a:rPr lang="en-GB" sz="1200" b="0" i="1" noProof="0" smtClean="0">
                                <a:latin typeface="Cambria Math" panose="02040503050406030204" pitchFamily="18" charset="0"/>
                              </a:rPr>
                              <m:t>3</m:t>
                            </m:r>
                          </m:sup>
                        </m:sSup>
                      </m:num>
                      <m:den>
                        <m:r>
                          <a:rPr lang="en-GB" sz="1200" b="0" i="1" noProof="0" smtClean="0">
                            <a:latin typeface="Cambria Math" panose="02040503050406030204" pitchFamily="18" charset="0"/>
                          </a:rPr>
                          <m:t>4</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b="0" i="1" noProof="0" smtClean="0">
                            <a:latin typeface="Cambria Math" panose="02040503050406030204" pitchFamily="18" charset="0"/>
                          </a:rPr>
                          <m:t>8</m:t>
                        </m:r>
                      </m:num>
                      <m:den>
                        <m:r>
                          <a:rPr lang="en-GB" sz="1200" b="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𝑏</m:t>
                            </m:r>
                          </m:e>
                          <m:sup>
                            <m:r>
                              <a:rPr lang="en-GB" sz="1200" b="0" i="1" noProof="0" smtClean="0">
                                <a:latin typeface="Cambria Math" panose="02040503050406030204" pitchFamily="18" charset="0"/>
                              </a:rPr>
                              <m:t>2</m:t>
                            </m:r>
                          </m:sup>
                        </m:sSup>
                      </m:den>
                    </m:f>
                  </m:oMath>
                </a14:m>
                <a:r>
                  <a:rPr lang="en-GB" sz="1200" noProof="0" dirty="0"/>
                  <a:t> </a:t>
                </a:r>
              </a:p>
              <a:p>
                <a:r>
                  <a:rPr lang="en-GB" sz="1200" noProof="0" dirty="0"/>
                  <a:t> </a:t>
                </a:r>
              </a:p>
            </p:txBody>
          </p:sp>
        </mc:Choice>
        <mc:Fallback xmlns="">
          <p:sp>
            <p:nvSpPr>
              <p:cNvPr id="79" name="TextBox 78"/>
              <p:cNvSpPr txBox="1">
                <a:spLocks noRot="1" noChangeAspect="1" noMove="1" noResize="1" noEditPoints="1" noAdjustHandles="1" noChangeArrowheads="1" noChangeShapeType="1" noTextEdit="1"/>
              </p:cNvSpPr>
              <p:nvPr/>
            </p:nvSpPr>
            <p:spPr>
              <a:xfrm>
                <a:off x="4244602" y="7633640"/>
                <a:ext cx="885563" cy="56496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5534926" y="7644853"/>
                <a:ext cx="882357" cy="564963"/>
              </a:xfrm>
              <a:prstGeom prst="rect">
                <a:avLst/>
              </a:prstGeom>
              <a:noFill/>
            </p:spPr>
            <p:txBody>
              <a:bodyPr wrap="none" rtlCol="0">
                <a:spAutoFit/>
              </a:bodyPr>
              <a:lstStyle/>
              <a:p>
                <a:r>
                  <a:rPr lang="en-GB" sz="1200" noProof="0" dirty="0"/>
                  <a:t>e) </a:t>
                </a:r>
                <a14:m>
                  <m:oMath xmlns:m="http://schemas.openxmlformats.org/officeDocument/2006/math">
                    <m:f>
                      <m:fPr>
                        <m:ctrlPr>
                          <a:rPr lang="en-GB" sz="1200" i="1" noProof="0">
                            <a:latin typeface="Cambria Math" panose="02040503050406030204" pitchFamily="18" charset="0"/>
                          </a:rPr>
                        </m:ctrlPr>
                      </m:fPr>
                      <m:num>
                        <m:r>
                          <a:rPr lang="en-GB" sz="1200" b="0" i="1" noProof="0" smtClean="0">
                            <a:latin typeface="Cambria Math" panose="02040503050406030204" pitchFamily="18" charset="0"/>
                          </a:rPr>
                          <m:t>8</m:t>
                        </m:r>
                      </m:num>
                      <m:den>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𝑏</m:t>
                            </m:r>
                          </m:e>
                          <m:sup>
                            <m:r>
                              <a:rPr lang="en-GB" sz="1200" b="0" i="1" noProof="0" smtClean="0">
                                <a:latin typeface="Cambria Math" panose="02040503050406030204" pitchFamily="18" charset="0"/>
                              </a:rPr>
                              <m:t>3</m:t>
                            </m:r>
                          </m:sup>
                        </m:sSup>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b="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𝑏</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4</m:t>
                        </m:r>
                      </m:den>
                    </m:f>
                  </m:oMath>
                </a14:m>
                <a:r>
                  <a:rPr lang="en-GB" sz="1200" noProof="0" dirty="0"/>
                  <a:t> </a:t>
                </a:r>
              </a:p>
              <a:p>
                <a:r>
                  <a:rPr lang="en-GB" sz="1200" noProof="0" dirty="0"/>
                  <a:t> </a:t>
                </a:r>
              </a:p>
            </p:txBody>
          </p:sp>
        </mc:Choice>
        <mc:Fallback xmlns="">
          <p:sp>
            <p:nvSpPr>
              <p:cNvPr id="80" name="TextBox 79"/>
              <p:cNvSpPr txBox="1">
                <a:spLocks noRot="1" noChangeAspect="1" noMove="1" noResize="1" noEditPoints="1" noAdjustHandles="1" noChangeArrowheads="1" noChangeShapeType="1" noTextEdit="1"/>
              </p:cNvSpPr>
              <p:nvPr/>
            </p:nvSpPr>
            <p:spPr>
              <a:xfrm>
                <a:off x="5534926" y="7644853"/>
                <a:ext cx="882357" cy="564963"/>
              </a:xfrm>
              <a:prstGeom prst="rect">
                <a:avLst/>
              </a:prstGeom>
              <a:blipFill>
                <a:blip r:embed="rId10"/>
                <a:stretch>
                  <a:fillRect l="-690"/>
                </a:stretch>
              </a:blipFill>
            </p:spPr>
            <p:txBody>
              <a:bodyPr/>
              <a:lstStyle/>
              <a:p>
                <a:r>
                  <a:rPr lang="en-US">
                    <a:noFill/>
                  </a:rPr>
                  <a:t> </a:t>
                </a:r>
              </a:p>
            </p:txBody>
          </p:sp>
        </mc:Fallback>
      </mc:AlternateContent>
      <p:sp>
        <p:nvSpPr>
          <p:cNvPr id="81" name="Rectangle 80">
            <a:extLst>
              <a:ext uri="{FF2B5EF4-FFF2-40B4-BE49-F238E27FC236}">
                <a16:creationId xmlns:a16="http://schemas.microsoft.com/office/drawing/2014/main" id="{B16CFEF2-A65A-6142-861C-58ACADF7EEFB}"/>
              </a:ext>
            </a:extLst>
          </p:cNvPr>
          <p:cNvSpPr/>
          <p:nvPr/>
        </p:nvSpPr>
        <p:spPr>
          <a:xfrm>
            <a:off x="101493" y="8059578"/>
            <a:ext cx="1229095" cy="16603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2" name="Rectangle 81">
            <a:extLst>
              <a:ext uri="{FF2B5EF4-FFF2-40B4-BE49-F238E27FC236}">
                <a16:creationId xmlns:a16="http://schemas.microsoft.com/office/drawing/2014/main" id="{B16CFEF2-A65A-6142-861C-58ACADF7EEFB}"/>
              </a:ext>
            </a:extLst>
          </p:cNvPr>
          <p:cNvSpPr/>
          <p:nvPr/>
        </p:nvSpPr>
        <p:spPr>
          <a:xfrm>
            <a:off x="1444469" y="8054512"/>
            <a:ext cx="1229095" cy="16603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3" name="Rectangle 82">
            <a:extLst>
              <a:ext uri="{FF2B5EF4-FFF2-40B4-BE49-F238E27FC236}">
                <a16:creationId xmlns:a16="http://schemas.microsoft.com/office/drawing/2014/main" id="{B16CFEF2-A65A-6142-861C-58ACADF7EEFB}"/>
              </a:ext>
            </a:extLst>
          </p:cNvPr>
          <p:cNvSpPr/>
          <p:nvPr/>
        </p:nvSpPr>
        <p:spPr>
          <a:xfrm>
            <a:off x="2802151" y="8054511"/>
            <a:ext cx="1229095" cy="16603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4" name="Rectangle 83">
            <a:extLst>
              <a:ext uri="{FF2B5EF4-FFF2-40B4-BE49-F238E27FC236}">
                <a16:creationId xmlns:a16="http://schemas.microsoft.com/office/drawing/2014/main" id="{B16CFEF2-A65A-6142-861C-58ACADF7EEFB}"/>
              </a:ext>
            </a:extLst>
          </p:cNvPr>
          <p:cNvSpPr/>
          <p:nvPr/>
        </p:nvSpPr>
        <p:spPr>
          <a:xfrm>
            <a:off x="5521300" y="8054511"/>
            <a:ext cx="1229095" cy="16603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5" name="Rectangle 84">
            <a:extLst>
              <a:ext uri="{FF2B5EF4-FFF2-40B4-BE49-F238E27FC236}">
                <a16:creationId xmlns:a16="http://schemas.microsoft.com/office/drawing/2014/main" id="{B16CFEF2-A65A-6142-861C-58ACADF7EEFB}"/>
              </a:ext>
            </a:extLst>
          </p:cNvPr>
          <p:cNvSpPr/>
          <p:nvPr/>
        </p:nvSpPr>
        <p:spPr>
          <a:xfrm>
            <a:off x="4150522" y="8054511"/>
            <a:ext cx="1229095" cy="16603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0" name="TextBox 49">
            <a:extLst>
              <a:ext uri="{FF2B5EF4-FFF2-40B4-BE49-F238E27FC236}">
                <a16:creationId xmlns:a16="http://schemas.microsoft.com/office/drawing/2014/main" id="{C3C65E48-8C3D-6849-AD77-7AD8678AD8DA}"/>
              </a:ext>
            </a:extLst>
          </p:cNvPr>
          <p:cNvSpPr txBox="1"/>
          <p:nvPr/>
        </p:nvSpPr>
        <p:spPr>
          <a:xfrm>
            <a:off x="155211" y="7256822"/>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14" name="TextBox 13">
            <a:extLst>
              <a:ext uri="{FF2B5EF4-FFF2-40B4-BE49-F238E27FC236}">
                <a16:creationId xmlns:a16="http://schemas.microsoft.com/office/drawing/2014/main" id="{A098A075-6B7C-3536-25A7-36BB65EE413A}"/>
              </a:ext>
            </a:extLst>
          </p:cNvPr>
          <p:cNvSpPr txBox="1"/>
          <p:nvPr/>
        </p:nvSpPr>
        <p:spPr>
          <a:xfrm>
            <a:off x="-9512" y="-12700"/>
            <a:ext cx="4381519" cy="369332"/>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algn="r">
              <a:defRPr/>
            </a:pPr>
            <a:r>
              <a:rPr lang="en-GB" b="1" noProof="0" dirty="0"/>
              <a:t>Multiplying and Dividing Algebraic Fractions</a:t>
            </a:r>
            <a:endParaRPr kumimoji="0" lang="en-GB" sz="12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F90E1DC9-7E7B-A407-F469-380F415DE148}"/>
              </a:ext>
            </a:extLst>
          </p:cNvPr>
          <p:cNvSpPr txBox="1"/>
          <p:nvPr/>
        </p:nvSpPr>
        <p:spPr>
          <a:xfrm>
            <a:off x="37886" y="419855"/>
            <a:ext cx="6641959" cy="1569660"/>
          </a:xfrm>
          <a:prstGeom prst="rect">
            <a:avLst/>
          </a:prstGeom>
          <a:noFill/>
          <a:ln>
            <a:solidFill>
              <a:schemeClr val="tx1"/>
            </a:solidFill>
          </a:ln>
        </p:spPr>
        <p:txBody>
          <a:bodyPr wrap="square" rtlCol="0">
            <a:spAutoFit/>
          </a:bodyPr>
          <a:lstStyle/>
          <a:p>
            <a:r>
              <a:rPr lang="en-GB" sz="1200" noProof="0" dirty="0"/>
              <a:t>Multiplying and diving single term algebraic fractions works similarly to the numerical case:</a:t>
            </a:r>
          </a:p>
          <a:p>
            <a:endParaRPr lang="en-GB" sz="1200" noProof="0" dirty="0"/>
          </a:p>
          <a:p>
            <a:pPr marL="171450" lvl="0" indent="-171450">
              <a:buFont typeface="Arial" panose="020B0604020202020204" pitchFamily="34" charset="0"/>
              <a:buChar char="•"/>
            </a:pPr>
            <a:r>
              <a:rPr lang="en-GB" sz="1200" noProof="0" dirty="0"/>
              <a:t>For multiplication, the new numerator is the product of the numerators, the new denominator is the product of the denominators. Once the numerator and denominator are calculated, simplify if possible.</a:t>
            </a:r>
          </a:p>
          <a:p>
            <a:pPr lvl="0"/>
            <a:endParaRPr lang="en-GB" sz="1200" noProof="0" dirty="0"/>
          </a:p>
          <a:p>
            <a:pPr marL="171450" lvl="0" indent="-171450">
              <a:buFont typeface="Arial" panose="020B0604020202020204" pitchFamily="34" charset="0"/>
              <a:buChar char="•"/>
            </a:pPr>
            <a:r>
              <a:rPr lang="en-GB" sz="1200" noProof="0" dirty="0"/>
              <a:t>For division we need to rewrite the calculation so that we are multiplying by the reciprocal of the second fraction. </a:t>
            </a:r>
          </a:p>
        </p:txBody>
      </p:sp>
    </p:spTree>
    <p:extLst>
      <p:ext uri="{BB962C8B-B14F-4D97-AF65-F5344CB8AC3E}">
        <p14:creationId xmlns:p14="http://schemas.microsoft.com/office/powerpoint/2010/main" val="4032890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lide Number Placeholder 40"/>
          <p:cNvSpPr>
            <a:spLocks noGrp="1"/>
          </p:cNvSpPr>
          <p:nvPr>
            <p:ph type="sldNum" sz="quarter" idx="12"/>
          </p:nvPr>
        </p:nvSpPr>
        <p:spPr>
          <a:xfrm>
            <a:off x="5387983" y="9544918"/>
            <a:ext cx="1543050" cy="527403"/>
          </a:xfrm>
        </p:spPr>
        <p:txBody>
          <a:bodyPr/>
          <a:lstStyle/>
          <a:p>
            <a:fld id="{9BD3B4A0-BFF9-422C-B253-48BA94BE2F5B}" type="slidenum">
              <a:rPr lang="en-GB" noProof="0" smtClean="0"/>
              <a:t>9</a:t>
            </a:fld>
            <a:endParaRPr lang="en-GB" noProof="0" dirty="0"/>
          </a:p>
        </p:txBody>
      </p:sp>
      <mc:AlternateContent xmlns:mc="http://schemas.openxmlformats.org/markup-compatibility/2006" xmlns:a14="http://schemas.microsoft.com/office/drawing/2010/main">
        <mc:Choice Requires="a14">
          <p:graphicFrame>
            <p:nvGraphicFramePr>
              <p:cNvPr id="64" name="Table 63"/>
              <p:cNvGraphicFramePr>
                <a:graphicFrameLocks noGrp="1"/>
              </p:cNvGraphicFramePr>
              <p:nvPr>
                <p:extLst>
                  <p:ext uri="{D42A27DB-BD31-4B8C-83A1-F6EECF244321}">
                    <p14:modId xmlns:p14="http://schemas.microsoft.com/office/powerpoint/2010/main" val="2424439282"/>
                  </p:ext>
                </p:extLst>
              </p:nvPr>
            </p:nvGraphicFramePr>
            <p:xfrm>
              <a:off x="197694" y="309113"/>
              <a:ext cx="6484022" cy="2382810"/>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30744">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b="0" noProof="0" dirty="0">
                              <a:solidFill>
                                <a:schemeClr val="tx1"/>
                              </a:solidFill>
                            </a:rPr>
                            <a:t>Simplify</a:t>
                          </a:r>
                          <a14:m>
                            <m:oMath xmlns:m="http://schemas.openxmlformats.org/officeDocument/2006/math">
                              <m:r>
                                <a:rPr lang="en-GB" sz="1400" b="0" i="0" noProof="0" smtClean="0">
                                  <a:solidFill>
                                    <a:schemeClr val="tx1"/>
                                  </a:solidFill>
                                  <a:latin typeface="Cambria Math" panose="02040503050406030204" pitchFamily="18" charset="0"/>
                                </a:rPr>
                                <m:t> </m:t>
                              </m:r>
                              <m:f>
                                <m:fPr>
                                  <m:ctrlPr>
                                    <a:rPr lang="en-GB" sz="1400" b="0" i="1" noProof="0" smtClean="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2(</m:t>
                                  </m:r>
                                  <m:r>
                                    <a:rPr lang="en-GB" sz="1400" b="0" i="1" noProof="0">
                                      <a:solidFill>
                                        <a:schemeClr val="tx1"/>
                                      </a:solidFill>
                                      <a:latin typeface="Cambria Math" panose="02040503050406030204" pitchFamily="18" charset="0"/>
                                    </a:rPr>
                                    <m:t>𝑏</m:t>
                                  </m:r>
                                  <m:r>
                                    <a:rPr lang="en-GB" sz="1400" b="0" i="1" noProof="0" smtClean="0">
                                      <a:solidFill>
                                        <a:schemeClr val="tx1"/>
                                      </a:solidFill>
                                      <a:latin typeface="Cambria Math" panose="02040503050406030204" pitchFamily="18" charset="0"/>
                                    </a:rPr>
                                    <m:t>+2)</m:t>
                                  </m:r>
                                </m:num>
                                <m:den>
                                  <m:r>
                                    <a:rPr lang="en-GB" sz="1400" b="0" i="1" noProof="0" smtClean="0">
                                      <a:solidFill>
                                        <a:schemeClr val="tx1"/>
                                      </a:solidFill>
                                      <a:latin typeface="Cambria Math" panose="02040503050406030204" pitchFamily="18" charset="0"/>
                                    </a:rPr>
                                    <m:t>2</m:t>
                                  </m:r>
                                  <m:r>
                                    <a:rPr lang="en-GB" sz="1400" b="0" i="1" noProof="0" smtClean="0">
                                      <a:solidFill>
                                        <a:schemeClr val="tx1"/>
                                      </a:solidFill>
                                      <a:latin typeface="Cambria Math" panose="02040503050406030204" pitchFamily="18" charset="0"/>
                                    </a:rPr>
                                    <m:t>𝑐</m:t>
                                  </m:r>
                                </m:den>
                              </m:f>
                              <m:r>
                                <a:rPr lang="en-GB" sz="1400" b="0" i="1" noProof="0">
                                  <a:solidFill>
                                    <a:schemeClr val="tx1"/>
                                  </a:solidFill>
                                  <a:latin typeface="Cambria Math" panose="02040503050406030204" pitchFamily="18" charset="0"/>
                                  <a:ea typeface="Cambria Math" panose="02040503050406030204" pitchFamily="18" charset="0"/>
                                </a:rPr>
                                <m:t>×</m:t>
                              </m:r>
                              <m:f>
                                <m:fPr>
                                  <m:ctrlPr>
                                    <a:rPr lang="en-GB" sz="1400" b="0" i="1" noProof="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4</m:t>
                                  </m:r>
                                  <m:r>
                                    <a:rPr lang="en-GB" sz="1400" b="0" i="1" noProof="0" smtClean="0">
                                      <a:solidFill>
                                        <a:schemeClr val="tx1"/>
                                      </a:solidFill>
                                      <a:latin typeface="Cambria Math" panose="02040503050406030204" pitchFamily="18" charset="0"/>
                                    </a:rPr>
                                    <m:t>𝑐</m:t>
                                  </m:r>
                                </m:num>
                                <m:den>
                                  <m:r>
                                    <a:rPr lang="en-GB" sz="1400" b="0" i="1" noProof="0" smtClean="0">
                                      <a:solidFill>
                                        <a:schemeClr val="tx1"/>
                                      </a:solidFill>
                                      <a:latin typeface="Cambria Math" panose="02040503050406030204" pitchFamily="18" charset="0"/>
                                    </a:rPr>
                                    <m:t>𝑏</m:t>
                                  </m:r>
                                  <m:r>
                                    <a:rPr lang="en-GB" sz="1400" b="0" i="1" noProof="0" smtClean="0">
                                      <a:solidFill>
                                        <a:schemeClr val="tx1"/>
                                      </a:solidFill>
                                      <a:latin typeface="Cambria Math" panose="02040503050406030204" pitchFamily="18" charset="0"/>
                                    </a:rPr>
                                    <m:t>+2</m:t>
                                  </m:r>
                                </m:den>
                              </m:f>
                            </m:oMath>
                          </a14:m>
                          <a:r>
                            <a:rPr lang="en-GB"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Simplify </a:t>
                          </a:r>
                          <a14:m>
                            <m:oMath xmlns:m="http://schemas.openxmlformats.org/officeDocument/2006/math">
                              <m:f>
                                <m:fPr>
                                  <m:ctrlPr>
                                    <a:rPr lang="en-GB" sz="1400" b="0" i="1" noProof="0" smtClean="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2(</m:t>
                                  </m:r>
                                  <m:r>
                                    <a:rPr lang="en-GB" sz="1400" b="0" i="1" noProof="0" smtClean="0">
                                      <a:solidFill>
                                        <a:schemeClr val="tx1"/>
                                      </a:solidFill>
                                      <a:latin typeface="Cambria Math" panose="02040503050406030204" pitchFamily="18" charset="0"/>
                                    </a:rPr>
                                    <m:t>𝑎</m:t>
                                  </m:r>
                                  <m:r>
                                    <a:rPr lang="en-GB" sz="1400" b="0" i="1" noProof="0" smtClean="0">
                                      <a:solidFill>
                                        <a:schemeClr val="tx1"/>
                                      </a:solidFill>
                                      <a:latin typeface="Cambria Math" panose="02040503050406030204" pitchFamily="18" charset="0"/>
                                    </a:rPr>
                                    <m:t>+4)</m:t>
                                  </m:r>
                                </m:num>
                                <m:den>
                                  <m:r>
                                    <a:rPr lang="en-GB" sz="1400" b="0" i="1" noProof="0" smtClean="0">
                                      <a:solidFill>
                                        <a:schemeClr val="tx1"/>
                                      </a:solidFill>
                                      <a:latin typeface="Cambria Math" panose="02040503050406030204" pitchFamily="18" charset="0"/>
                                    </a:rPr>
                                    <m:t>2</m:t>
                                  </m:r>
                                  <m:r>
                                    <a:rPr lang="en-GB" sz="1400" b="0" i="1" noProof="0" smtClean="0">
                                      <a:solidFill>
                                        <a:schemeClr val="tx1"/>
                                      </a:solidFill>
                                      <a:latin typeface="Cambria Math" panose="02040503050406030204" pitchFamily="18" charset="0"/>
                                    </a:rPr>
                                    <m:t>𝑐</m:t>
                                  </m:r>
                                </m:den>
                              </m:f>
                              <m:r>
                                <a:rPr lang="en-GB" sz="1400" b="0" i="1" noProof="0">
                                  <a:solidFill>
                                    <a:schemeClr val="tx1"/>
                                  </a:solidFill>
                                  <a:latin typeface="Cambria Math" panose="02040503050406030204" pitchFamily="18" charset="0"/>
                                  <a:ea typeface="Cambria Math" panose="02040503050406030204" pitchFamily="18" charset="0"/>
                                </a:rPr>
                                <m:t>×</m:t>
                              </m:r>
                              <m:f>
                                <m:fPr>
                                  <m:ctrlPr>
                                    <a:rPr lang="en-GB" sz="1400" b="0" i="1" noProof="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4</m:t>
                                  </m:r>
                                  <m:r>
                                    <a:rPr lang="en-GB" sz="1400" b="0" i="1" noProof="0" smtClean="0">
                                      <a:solidFill>
                                        <a:schemeClr val="tx1"/>
                                      </a:solidFill>
                                      <a:latin typeface="Cambria Math" panose="02040503050406030204" pitchFamily="18" charset="0"/>
                                    </a:rPr>
                                    <m:t>𝑐</m:t>
                                  </m:r>
                                </m:num>
                                <m:den>
                                  <m:r>
                                    <a:rPr lang="en-GB" sz="1400" b="0" i="1" noProof="0" smtClean="0">
                                      <a:solidFill>
                                        <a:schemeClr val="tx1"/>
                                      </a:solidFill>
                                      <a:latin typeface="Cambria Math" panose="02040503050406030204" pitchFamily="18" charset="0"/>
                                    </a:rPr>
                                    <m:t>2(</m:t>
                                  </m:r>
                                  <m:r>
                                    <a:rPr lang="en-GB" sz="1400" b="0" i="1" noProof="0" smtClean="0">
                                      <a:solidFill>
                                        <a:schemeClr val="tx1"/>
                                      </a:solidFill>
                                      <a:latin typeface="Cambria Math" panose="02040503050406030204" pitchFamily="18" charset="0"/>
                                    </a:rPr>
                                    <m:t>𝑎</m:t>
                                  </m:r>
                                  <m:r>
                                    <a:rPr lang="en-GB" sz="1400" b="0" i="1" noProof="0" smtClean="0">
                                      <a:solidFill>
                                        <a:schemeClr val="tx1"/>
                                      </a:solidFill>
                                      <a:latin typeface="Cambria Math" panose="02040503050406030204" pitchFamily="18" charset="0"/>
                                    </a:rPr>
                                    <m:t>+4)</m:t>
                                  </m:r>
                                </m:den>
                              </m:f>
                            </m:oMath>
                          </a14:m>
                          <a:r>
                            <a:rPr lang="en-GB" sz="1400"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Simplify </a:t>
                          </a:r>
                          <a14:m>
                            <m:oMath xmlns:m="http://schemas.openxmlformats.org/officeDocument/2006/math">
                              <m:f>
                                <m:fPr>
                                  <m:ctrlPr>
                                    <a:rPr lang="en-GB" sz="1400" b="0" i="1" noProof="0" smtClean="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3(</m:t>
                                  </m:r>
                                  <m:r>
                                    <a:rPr lang="en-GB" sz="1400" b="0" i="1" noProof="0" smtClean="0">
                                      <a:solidFill>
                                        <a:schemeClr val="tx1"/>
                                      </a:solidFill>
                                      <a:latin typeface="Cambria Math" panose="02040503050406030204" pitchFamily="18" charset="0"/>
                                    </a:rPr>
                                    <m:t>𝑐</m:t>
                                  </m:r>
                                  <m:r>
                                    <a:rPr lang="en-GB" sz="1400" b="0" i="1" noProof="0" smtClean="0">
                                      <a:solidFill>
                                        <a:schemeClr val="tx1"/>
                                      </a:solidFill>
                                      <a:latin typeface="Cambria Math" panose="02040503050406030204" pitchFamily="18" charset="0"/>
                                    </a:rPr>
                                    <m:t>+2)</m:t>
                                  </m:r>
                                </m:num>
                                <m:den>
                                  <m:r>
                                    <a:rPr lang="en-GB" sz="1400" b="0" i="1" noProof="0" smtClean="0">
                                      <a:solidFill>
                                        <a:schemeClr val="tx1"/>
                                      </a:solidFill>
                                      <a:latin typeface="Cambria Math" panose="02040503050406030204" pitchFamily="18" charset="0"/>
                                    </a:rPr>
                                    <m:t>8</m:t>
                                  </m:r>
                                  <m:r>
                                    <a:rPr lang="en-GB" sz="1400" b="0" i="1" noProof="0" smtClean="0">
                                      <a:solidFill>
                                        <a:schemeClr val="tx1"/>
                                      </a:solidFill>
                                      <a:latin typeface="Cambria Math" panose="02040503050406030204" pitchFamily="18" charset="0"/>
                                    </a:rPr>
                                    <m:t>𝑐</m:t>
                                  </m:r>
                                </m:den>
                              </m:f>
                              <m:r>
                                <a:rPr lang="en-GB" sz="1400" b="0" i="1" noProof="0">
                                  <a:solidFill>
                                    <a:schemeClr val="tx1"/>
                                  </a:solidFill>
                                  <a:latin typeface="Cambria Math" panose="02040503050406030204" pitchFamily="18" charset="0"/>
                                  <a:ea typeface="Cambria Math" panose="02040503050406030204" pitchFamily="18" charset="0"/>
                                </a:rPr>
                                <m:t>×</m:t>
                              </m:r>
                              <m:f>
                                <m:fPr>
                                  <m:ctrlPr>
                                    <a:rPr lang="en-GB" sz="1400" b="0" i="1" noProof="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2</m:t>
                                  </m:r>
                                  <m:r>
                                    <a:rPr lang="en-GB" sz="1400" b="0" i="1" noProof="0" smtClean="0">
                                      <a:solidFill>
                                        <a:schemeClr val="tx1"/>
                                      </a:solidFill>
                                      <a:latin typeface="Cambria Math" panose="02040503050406030204" pitchFamily="18" charset="0"/>
                                    </a:rPr>
                                    <m:t>𝑐</m:t>
                                  </m:r>
                                  <m:r>
                                    <a:rPr lang="en-GB" sz="1400" b="0" i="1" noProof="0" smtClean="0">
                                      <a:solidFill>
                                        <a:schemeClr val="tx1"/>
                                      </a:solidFill>
                                      <a:latin typeface="Cambria Math" panose="02040503050406030204" pitchFamily="18" charset="0"/>
                                    </a:rPr>
                                    <m:t>(</m:t>
                                  </m:r>
                                  <m:r>
                                    <a:rPr lang="en-GB" sz="1400" b="0" i="1" noProof="0" smtClean="0">
                                      <a:solidFill>
                                        <a:schemeClr val="tx1"/>
                                      </a:solidFill>
                                      <a:latin typeface="Cambria Math" panose="02040503050406030204" pitchFamily="18" charset="0"/>
                                    </a:rPr>
                                    <m:t>𝑐</m:t>
                                  </m:r>
                                  <m:r>
                                    <a:rPr lang="en-GB" sz="1400" b="0" i="1" noProof="0" smtClean="0">
                                      <a:solidFill>
                                        <a:schemeClr val="tx1"/>
                                      </a:solidFill>
                                      <a:latin typeface="Cambria Math" panose="02040503050406030204" pitchFamily="18" charset="0"/>
                                    </a:rPr>
                                    <m:t>−1)</m:t>
                                  </m:r>
                                </m:num>
                                <m:den>
                                  <m:r>
                                    <a:rPr lang="en-GB" sz="1400" b="0" i="1" noProof="0" smtClean="0">
                                      <a:solidFill>
                                        <a:schemeClr val="tx1"/>
                                      </a:solidFill>
                                      <a:latin typeface="Cambria Math" panose="02040503050406030204" pitchFamily="18" charset="0"/>
                                    </a:rPr>
                                    <m:t>𝑐</m:t>
                                  </m:r>
                                  <m:r>
                                    <a:rPr lang="en-GB" sz="1400" b="0" i="1" noProof="0" smtClean="0">
                                      <a:solidFill>
                                        <a:schemeClr val="tx1"/>
                                      </a:solidFill>
                                      <a:latin typeface="Cambria Math" panose="02040503050406030204" pitchFamily="18" charset="0"/>
                                    </a:rPr>
                                    <m:t>+2</m:t>
                                  </m:r>
                                </m:den>
                              </m:f>
                            </m:oMath>
                          </a14:m>
                          <a:r>
                            <a:rPr lang="en-GB" sz="1400"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75759">
                    <a:tc>
                      <a:txBody>
                        <a:bodyPr/>
                        <a:lstStyle/>
                        <a:p>
                          <a:pPr marL="228600" indent="-228600">
                            <a:buAutoNum type="arabicParenR"/>
                          </a:pPr>
                          <a:r>
                            <a:rPr lang="en-GB" sz="1100" noProof="0" dirty="0">
                              <a:solidFill>
                                <a:schemeClr val="tx1"/>
                              </a:solidFill>
                            </a:rPr>
                            <a:t>Cross cancel.</a:t>
                          </a:r>
                        </a:p>
                        <a:p>
                          <a:pPr marL="228600" indent="-228600">
                            <a:buAutoNum type="arabicParenR"/>
                          </a:pP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757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2) Simplify</a:t>
                          </a:r>
                        </a:p>
                        <a:p>
                          <a:pPr marL="228600" indent="-228600">
                            <a:buAutoNum type="arabicParenR"/>
                          </a:pP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805106717"/>
                      </a:ext>
                    </a:extLst>
                  </a:tr>
                </a:tbl>
              </a:graphicData>
            </a:graphic>
          </p:graphicFrame>
        </mc:Choice>
        <mc:Fallback xmlns="">
          <p:graphicFrame>
            <p:nvGraphicFramePr>
              <p:cNvPr id="64" name="Table 63"/>
              <p:cNvGraphicFramePr>
                <a:graphicFrameLocks noGrp="1"/>
              </p:cNvGraphicFramePr>
              <p:nvPr>
                <p:extLst>
                  <p:ext uri="{D42A27DB-BD31-4B8C-83A1-F6EECF244321}">
                    <p14:modId xmlns:p14="http://schemas.microsoft.com/office/powerpoint/2010/main" val="2424439282"/>
                  </p:ext>
                </p:extLst>
              </p:nvPr>
            </p:nvGraphicFramePr>
            <p:xfrm>
              <a:off x="197694" y="309113"/>
              <a:ext cx="6484022" cy="2382810"/>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31292">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9364" t="-1408" r="-218021" b="-4549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2722" t="-1408" r="-95253" b="-4549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6522" t="-1408" r="-669" b="-454930"/>
                          </a:stretch>
                        </a:blipFill>
                      </a:tcPr>
                    </a:tc>
                    <a:extLst>
                      <a:ext uri="{0D108BD9-81ED-4DB2-BD59-A6C34878D82A}">
                        <a16:rowId xmlns:a16="http://schemas.microsoft.com/office/drawing/2014/main" val="2357201933"/>
                      </a:ext>
                    </a:extLst>
                  </a:tr>
                  <a:tr h="975759">
                    <a:tc>
                      <a:txBody>
                        <a:bodyPr/>
                        <a:lstStyle/>
                        <a:p>
                          <a:pPr marL="228600" indent="-228600">
                            <a:buAutoNum type="arabicParenR"/>
                          </a:pPr>
                          <a:r>
                            <a:rPr lang="en-GB" sz="1100" noProof="0">
                              <a:solidFill>
                                <a:schemeClr val="tx1"/>
                              </a:solidFill>
                            </a:rPr>
                            <a:t>Cross cancel.</a:t>
                          </a:r>
                        </a:p>
                        <a:p>
                          <a:pPr marL="228600" indent="-228600">
                            <a:buAutoNum type="arabicParenR"/>
                          </a:pP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757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a:solidFill>
                                <a:schemeClr val="tx1"/>
                              </a:solidFill>
                            </a:rPr>
                            <a:t>2) Simplify</a:t>
                          </a:r>
                        </a:p>
                        <a:p>
                          <a:pPr marL="228600" indent="-228600">
                            <a:buAutoNum type="arabicParenR"/>
                          </a:pP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805106717"/>
                      </a:ext>
                    </a:extLst>
                  </a:tr>
                </a:tbl>
              </a:graphicData>
            </a:graphic>
          </p:graphicFrame>
        </mc:Fallback>
      </mc:AlternateContent>
      <p:sp>
        <p:nvSpPr>
          <p:cNvPr id="65" name="TextBox 64">
            <a:extLst>
              <a:ext uri="{FF2B5EF4-FFF2-40B4-BE49-F238E27FC236}">
                <a16:creationId xmlns:a16="http://schemas.microsoft.com/office/drawing/2014/main" id="{72FAE9BB-D81F-4207-9FF8-E6BE971A99D9}"/>
              </a:ext>
            </a:extLst>
          </p:cNvPr>
          <p:cNvSpPr txBox="1"/>
          <p:nvPr/>
        </p:nvSpPr>
        <p:spPr>
          <a:xfrm>
            <a:off x="4988932" y="0"/>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18 - You do…</a:t>
            </a:r>
          </a:p>
        </p:txBody>
      </p:sp>
      <p:sp>
        <p:nvSpPr>
          <p:cNvPr id="66" name="TextBox 65">
            <a:extLst>
              <a:ext uri="{FF2B5EF4-FFF2-40B4-BE49-F238E27FC236}">
                <a16:creationId xmlns:a16="http://schemas.microsoft.com/office/drawing/2014/main" id="{337F58E6-37DE-4890-BDE3-0101DB4D4F11}"/>
              </a:ext>
            </a:extLst>
          </p:cNvPr>
          <p:cNvSpPr txBox="1"/>
          <p:nvPr/>
        </p:nvSpPr>
        <p:spPr>
          <a:xfrm>
            <a:off x="3195865" y="1"/>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17 - We do…</a:t>
            </a:r>
          </a:p>
        </p:txBody>
      </p:sp>
      <p:sp>
        <p:nvSpPr>
          <p:cNvPr id="69" name="TextBox 68">
            <a:extLst>
              <a:ext uri="{FF2B5EF4-FFF2-40B4-BE49-F238E27FC236}">
                <a16:creationId xmlns:a16="http://schemas.microsoft.com/office/drawing/2014/main" id="{20EB31B5-3203-4E48-8A19-892EA568053E}"/>
              </a:ext>
            </a:extLst>
          </p:cNvPr>
          <p:cNvSpPr txBox="1"/>
          <p:nvPr/>
        </p:nvSpPr>
        <p:spPr>
          <a:xfrm>
            <a:off x="1353304" y="2"/>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16 - I do…</a:t>
            </a:r>
          </a:p>
        </p:txBody>
      </p:sp>
      <mc:AlternateContent xmlns:mc="http://schemas.openxmlformats.org/markup-compatibility/2006" xmlns:a14="http://schemas.microsoft.com/office/drawing/2010/main">
        <mc:Choice Requires="a14">
          <p:sp>
            <p:nvSpPr>
              <p:cNvPr id="71" name="TextBox 70"/>
              <p:cNvSpPr txBox="1"/>
              <p:nvPr/>
            </p:nvSpPr>
            <p:spPr>
              <a:xfrm>
                <a:off x="298288" y="3026955"/>
                <a:ext cx="1110240" cy="547394"/>
              </a:xfrm>
              <a:prstGeom prst="rect">
                <a:avLst/>
              </a:prstGeom>
              <a:noFill/>
            </p:spPr>
            <p:txBody>
              <a:bodyPr wrap="none" rtlCol="0">
                <a:spAutoFit/>
              </a:bodyPr>
              <a:lstStyle/>
              <a:p>
                <a:r>
                  <a:rPr lang="en-GB" sz="1200" noProof="0" dirty="0"/>
                  <a:t>a) </a:t>
                </a:r>
                <a14:m>
                  <m:oMath xmlns:m="http://schemas.openxmlformats.org/officeDocument/2006/math">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i="1" noProof="0" smtClean="0">
                            <a:latin typeface="Cambria Math" panose="02040503050406030204" pitchFamily="18" charset="0"/>
                          </a:rPr>
                          <m:t>+2)</m:t>
                        </m:r>
                      </m:num>
                      <m:den>
                        <m:r>
                          <a:rPr lang="en-GB" sz="1200" i="1" noProof="0" smtClean="0">
                            <a:latin typeface="Cambria Math" panose="02040503050406030204" pitchFamily="18" charset="0"/>
                          </a:rPr>
                          <m:t>2</m:t>
                        </m:r>
                        <m:r>
                          <a:rPr lang="en-GB" sz="1200" i="1" noProof="0" smtClean="0">
                            <a:latin typeface="Cambria Math" panose="02040503050406030204" pitchFamily="18" charset="0"/>
                          </a:rPr>
                          <m:t>𝑐</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r>
                          <a:rPr lang="en-GB" sz="1200" i="1" noProof="0" smtClean="0">
                            <a:latin typeface="Cambria Math" panose="02040503050406030204" pitchFamily="18" charset="0"/>
                          </a:rPr>
                          <m:t>𝑐</m:t>
                        </m:r>
                      </m:num>
                      <m:den>
                        <m:r>
                          <a:rPr lang="en-GB" sz="1200" b="0" i="1" noProof="0" smtClean="0">
                            <a:latin typeface="Cambria Math" panose="02040503050406030204" pitchFamily="18" charset="0"/>
                          </a:rPr>
                          <m:t>𝑥</m:t>
                        </m:r>
                        <m:r>
                          <a:rPr lang="en-GB" sz="1200" i="1" noProof="0" smtClean="0">
                            <a:latin typeface="Cambria Math" panose="02040503050406030204" pitchFamily="18" charset="0"/>
                          </a:rPr>
                          <m:t>+2</m:t>
                        </m:r>
                      </m:den>
                    </m:f>
                  </m:oMath>
                </a14:m>
                <a:endParaRPr lang="en-GB" sz="1200" noProof="0" dirty="0"/>
              </a:p>
              <a:p>
                <a:r>
                  <a:rPr lang="en-GB" sz="1200" noProof="0" dirty="0"/>
                  <a:t> </a:t>
                </a:r>
              </a:p>
            </p:txBody>
          </p:sp>
        </mc:Choice>
        <mc:Fallback xmlns="">
          <p:sp>
            <p:nvSpPr>
              <p:cNvPr id="71" name="TextBox 70"/>
              <p:cNvSpPr txBox="1">
                <a:spLocks noRot="1" noChangeAspect="1" noMove="1" noResize="1" noEditPoints="1" noAdjustHandles="1" noChangeArrowheads="1" noChangeShapeType="1" noTextEdit="1"/>
              </p:cNvSpPr>
              <p:nvPr/>
            </p:nvSpPr>
            <p:spPr>
              <a:xfrm>
                <a:off x="298288" y="3026955"/>
                <a:ext cx="1110240" cy="547394"/>
              </a:xfrm>
              <a:prstGeom prst="rect">
                <a:avLst/>
              </a:prstGeom>
              <a:blipFill>
                <a:blip r:embed="rId3"/>
                <a:stretch>
                  <a:fillRect l="-5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1897250" y="3032622"/>
                <a:ext cx="1116652" cy="547394"/>
              </a:xfrm>
              <a:prstGeom prst="rect">
                <a:avLst/>
              </a:prstGeom>
              <a:noFill/>
            </p:spPr>
            <p:txBody>
              <a:bodyPr wrap="none" rtlCol="0">
                <a:spAutoFit/>
              </a:bodyPr>
              <a:lstStyle/>
              <a:p>
                <a:r>
                  <a:rPr lang="en-GB" sz="1200" noProof="0" dirty="0"/>
                  <a:t>b) </a:t>
                </a:r>
                <a14:m>
                  <m:oMath xmlns:m="http://schemas.openxmlformats.org/officeDocument/2006/math">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i="1" noProof="0" smtClean="0">
                            <a:latin typeface="Cambria Math" panose="02040503050406030204" pitchFamily="18" charset="0"/>
                          </a:rPr>
                          <m:t>2</m:t>
                        </m:r>
                        <m:r>
                          <a:rPr lang="en-GB" sz="1200" i="1" noProof="0" smtClean="0">
                            <a:latin typeface="Cambria Math" panose="02040503050406030204" pitchFamily="18" charset="0"/>
                          </a:rPr>
                          <m:t>𝑐</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r>
                          <a:rPr lang="en-GB" sz="1200" i="1" noProof="0" smtClean="0">
                            <a:latin typeface="Cambria Math" panose="02040503050406030204" pitchFamily="18" charset="0"/>
                          </a:rPr>
                          <m:t>𝑐</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den>
                    </m:f>
                  </m:oMath>
                </a14:m>
                <a:endParaRPr lang="en-GB" sz="1200" noProof="0" dirty="0"/>
              </a:p>
              <a:p>
                <a:r>
                  <a:rPr lang="en-GB" sz="1200" noProof="0" dirty="0"/>
                  <a:t> </a:t>
                </a:r>
              </a:p>
            </p:txBody>
          </p:sp>
        </mc:Choice>
        <mc:Fallback xmlns="">
          <p:sp>
            <p:nvSpPr>
              <p:cNvPr id="72" name="TextBox 71"/>
              <p:cNvSpPr txBox="1">
                <a:spLocks noRot="1" noChangeAspect="1" noMove="1" noResize="1" noEditPoints="1" noAdjustHandles="1" noChangeArrowheads="1" noChangeShapeType="1" noTextEdit="1"/>
              </p:cNvSpPr>
              <p:nvPr/>
            </p:nvSpPr>
            <p:spPr>
              <a:xfrm>
                <a:off x="1897250" y="3032622"/>
                <a:ext cx="1116652" cy="54739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3677012" y="3056616"/>
                <a:ext cx="1103828" cy="565026"/>
              </a:xfrm>
              <a:prstGeom prst="rect">
                <a:avLst/>
              </a:prstGeom>
              <a:noFill/>
            </p:spPr>
            <p:txBody>
              <a:bodyPr wrap="none" rtlCol="0">
                <a:spAutoFit/>
              </a:bodyPr>
              <a:lstStyle/>
              <a:p>
                <a:r>
                  <a:rPr lang="en-GB" sz="1200" noProof="0" dirty="0"/>
                  <a:t>c) </a:t>
                </a:r>
                <a14:m>
                  <m:oMath xmlns:m="http://schemas.openxmlformats.org/officeDocument/2006/math">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i="1" noProof="0" smtClean="0">
                            <a:latin typeface="Cambria Math" panose="02040503050406030204" pitchFamily="18" charset="0"/>
                          </a:rPr>
                          <m:t>+2)</m:t>
                        </m:r>
                      </m:num>
                      <m:den>
                        <m:r>
                          <a:rPr lang="en-GB" sz="120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𝑐</m:t>
                            </m:r>
                          </m:e>
                          <m:sup>
                            <m:r>
                              <a:rPr lang="en-GB" sz="1200" b="0" i="1" noProof="0" smtClean="0">
                                <a:latin typeface="Cambria Math" panose="02040503050406030204" pitchFamily="18" charset="0"/>
                              </a:rPr>
                              <m:t>3</m:t>
                            </m:r>
                          </m:sup>
                        </m:sSup>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𝑐</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𝑥</m:t>
                        </m:r>
                        <m:r>
                          <a:rPr lang="en-GB" sz="1200" i="1" noProof="0" smtClean="0">
                            <a:latin typeface="Cambria Math" panose="02040503050406030204" pitchFamily="18" charset="0"/>
                          </a:rPr>
                          <m:t>+2</m:t>
                        </m:r>
                      </m:den>
                    </m:f>
                  </m:oMath>
                </a14:m>
                <a:endParaRPr lang="en-GB" sz="1200" noProof="0" dirty="0"/>
              </a:p>
              <a:p>
                <a:r>
                  <a:rPr lang="en-GB" sz="1200" noProof="0" dirty="0"/>
                  <a:t> </a:t>
                </a:r>
              </a:p>
            </p:txBody>
          </p:sp>
        </mc:Choice>
        <mc:Fallback xmlns="">
          <p:sp>
            <p:nvSpPr>
              <p:cNvPr id="73" name="TextBox 72"/>
              <p:cNvSpPr txBox="1">
                <a:spLocks noRot="1" noChangeAspect="1" noMove="1" noResize="1" noEditPoints="1" noAdjustHandles="1" noChangeArrowheads="1" noChangeShapeType="1" noTextEdit="1"/>
              </p:cNvSpPr>
              <p:nvPr/>
            </p:nvSpPr>
            <p:spPr>
              <a:xfrm>
                <a:off x="3677012" y="3056616"/>
                <a:ext cx="1103828" cy="56502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5452420" y="3026955"/>
                <a:ext cx="1023678" cy="565026"/>
              </a:xfrm>
              <a:prstGeom prst="rect">
                <a:avLst/>
              </a:prstGeom>
              <a:noFill/>
            </p:spPr>
            <p:txBody>
              <a:bodyPr wrap="none" rtlCol="0">
                <a:spAutoFit/>
              </a:bodyPr>
              <a:lstStyle/>
              <a:p>
                <a:r>
                  <a:rPr lang="en-GB" sz="1200" noProof="0" dirty="0"/>
                  <a:t>d) </a:t>
                </a:r>
                <a14:m>
                  <m:oMath xmlns:m="http://schemas.openxmlformats.org/officeDocument/2006/math">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num>
                      <m:den>
                        <m:r>
                          <a:rPr lang="en-GB" sz="1200" i="1" noProof="0" smtClean="0">
                            <a:latin typeface="Cambria Math" panose="02040503050406030204" pitchFamily="18" charset="0"/>
                          </a:rPr>
                          <m:t>2</m:t>
                        </m:r>
                        <m:r>
                          <a:rPr lang="en-GB" sz="1200" i="1" noProof="0" smtClean="0">
                            <a:latin typeface="Cambria Math" panose="02040503050406030204" pitchFamily="18" charset="0"/>
                          </a:rPr>
                          <m:t>𝑐</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𝑐</m:t>
                            </m:r>
                          </m:e>
                          <m:sup>
                            <m:r>
                              <a:rPr lang="en-GB" sz="1200" b="0" i="1" noProof="0" smtClean="0">
                                <a:latin typeface="Cambria Math" panose="02040503050406030204" pitchFamily="18" charset="0"/>
                              </a:rPr>
                              <m:t>3</m:t>
                            </m:r>
                          </m:sup>
                        </m:sSup>
                      </m:num>
                      <m:den>
                        <m:r>
                          <a:rPr lang="en-GB" sz="1200" b="0" i="1" noProof="0" smtClean="0">
                            <a:latin typeface="Cambria Math" panose="02040503050406030204" pitchFamily="18" charset="0"/>
                          </a:rPr>
                          <m:t>𝑥</m:t>
                        </m:r>
                        <m:r>
                          <a:rPr lang="en-GB" sz="1200" i="1" noProof="0" smtClean="0">
                            <a:latin typeface="Cambria Math" panose="02040503050406030204" pitchFamily="18" charset="0"/>
                          </a:rPr>
                          <m:t>+2</m:t>
                        </m:r>
                      </m:den>
                    </m:f>
                  </m:oMath>
                </a14:m>
                <a:endParaRPr lang="en-GB" sz="1200" noProof="0" dirty="0"/>
              </a:p>
              <a:p>
                <a:r>
                  <a:rPr lang="en-GB" sz="1200" noProof="0" dirty="0"/>
                  <a:t> </a:t>
                </a:r>
              </a:p>
            </p:txBody>
          </p:sp>
        </mc:Choice>
        <mc:Fallback xmlns="">
          <p:sp>
            <p:nvSpPr>
              <p:cNvPr id="74" name="TextBox 73"/>
              <p:cNvSpPr txBox="1">
                <a:spLocks noRot="1" noChangeAspect="1" noMove="1" noResize="1" noEditPoints="1" noAdjustHandles="1" noChangeArrowheads="1" noChangeShapeType="1" noTextEdit="1"/>
              </p:cNvSpPr>
              <p:nvPr/>
            </p:nvSpPr>
            <p:spPr>
              <a:xfrm>
                <a:off x="5452420" y="3026955"/>
                <a:ext cx="1023678" cy="565026"/>
              </a:xfrm>
              <a:prstGeom prst="rect">
                <a:avLst/>
              </a:prstGeom>
              <a:blipFill>
                <a:blip r:embed="rId6"/>
                <a:stretch>
                  <a:fillRect/>
                </a:stretch>
              </a:blipFill>
            </p:spPr>
            <p:txBody>
              <a:bodyPr/>
              <a:lstStyle/>
              <a:p>
                <a:r>
                  <a:rPr lang="en-US">
                    <a:noFill/>
                  </a:rPr>
                  <a:t> </a:t>
                </a:r>
              </a:p>
            </p:txBody>
          </p:sp>
        </mc:Fallback>
      </mc:AlternateContent>
      <p:sp>
        <p:nvSpPr>
          <p:cNvPr id="75" name="Rectangle 74">
            <a:extLst>
              <a:ext uri="{FF2B5EF4-FFF2-40B4-BE49-F238E27FC236}">
                <a16:creationId xmlns:a16="http://schemas.microsoft.com/office/drawing/2014/main" id="{B16CFEF2-A65A-6142-861C-58ACADF7EEFB}"/>
              </a:ext>
            </a:extLst>
          </p:cNvPr>
          <p:cNvSpPr/>
          <p:nvPr/>
        </p:nvSpPr>
        <p:spPr>
          <a:xfrm>
            <a:off x="102957" y="3477487"/>
            <a:ext cx="1471816" cy="203939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76" name="Rectangle 75">
            <a:extLst>
              <a:ext uri="{FF2B5EF4-FFF2-40B4-BE49-F238E27FC236}">
                <a16:creationId xmlns:a16="http://schemas.microsoft.com/office/drawing/2014/main" id="{B16CFEF2-A65A-6142-861C-58ACADF7EEFB}"/>
              </a:ext>
            </a:extLst>
          </p:cNvPr>
          <p:cNvSpPr/>
          <p:nvPr/>
        </p:nvSpPr>
        <p:spPr>
          <a:xfrm>
            <a:off x="1812606" y="3477487"/>
            <a:ext cx="1492184" cy="203939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77" name="Rectangle 76">
            <a:extLst>
              <a:ext uri="{FF2B5EF4-FFF2-40B4-BE49-F238E27FC236}">
                <a16:creationId xmlns:a16="http://schemas.microsoft.com/office/drawing/2014/main" id="{B16CFEF2-A65A-6142-861C-58ACADF7EEFB}"/>
              </a:ext>
            </a:extLst>
          </p:cNvPr>
          <p:cNvSpPr/>
          <p:nvPr/>
        </p:nvSpPr>
        <p:spPr>
          <a:xfrm>
            <a:off x="3535680" y="3477486"/>
            <a:ext cx="1494047" cy="203939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78" name="Rectangle 77">
            <a:extLst>
              <a:ext uri="{FF2B5EF4-FFF2-40B4-BE49-F238E27FC236}">
                <a16:creationId xmlns:a16="http://schemas.microsoft.com/office/drawing/2014/main" id="{B16CFEF2-A65A-6142-861C-58ACADF7EEFB}"/>
              </a:ext>
            </a:extLst>
          </p:cNvPr>
          <p:cNvSpPr/>
          <p:nvPr/>
        </p:nvSpPr>
        <p:spPr>
          <a:xfrm>
            <a:off x="5236818" y="3477486"/>
            <a:ext cx="1511439" cy="203939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4" name="TextBox 83"/>
          <p:cNvSpPr txBox="1"/>
          <p:nvPr/>
        </p:nvSpPr>
        <p:spPr>
          <a:xfrm>
            <a:off x="1967862" y="2712708"/>
            <a:ext cx="2292231" cy="276999"/>
          </a:xfrm>
          <a:prstGeom prst="rect">
            <a:avLst/>
          </a:prstGeom>
          <a:noFill/>
        </p:spPr>
        <p:txBody>
          <a:bodyPr wrap="none" rtlCol="0">
            <a:spAutoFit/>
          </a:bodyPr>
          <a:lstStyle/>
          <a:p>
            <a:pPr algn="ctr"/>
            <a:r>
              <a:rPr lang="en-GB" sz="1200" noProof="0" dirty="0"/>
              <a:t>4. Simplify the algebraic fractions.</a:t>
            </a:r>
          </a:p>
        </p:txBody>
      </p:sp>
      <mc:AlternateContent xmlns:mc="http://schemas.openxmlformats.org/markup-compatibility/2006" xmlns:a14="http://schemas.microsoft.com/office/drawing/2010/main">
        <mc:Choice Requires="a14">
          <p:graphicFrame>
            <p:nvGraphicFramePr>
              <p:cNvPr id="97" name="Table 96"/>
              <p:cNvGraphicFramePr>
                <a:graphicFrameLocks noGrp="1"/>
              </p:cNvGraphicFramePr>
              <p:nvPr>
                <p:extLst>
                  <p:ext uri="{D42A27DB-BD31-4B8C-83A1-F6EECF244321}">
                    <p14:modId xmlns:p14="http://schemas.microsoft.com/office/powerpoint/2010/main" val="1949807000"/>
                  </p:ext>
                </p:extLst>
              </p:nvPr>
            </p:nvGraphicFramePr>
            <p:xfrm>
              <a:off x="181779" y="5937749"/>
              <a:ext cx="6484022" cy="3863301"/>
            </p:xfrm>
            <a:graphic>
              <a:graphicData uri="http://schemas.openxmlformats.org/drawingml/2006/table">
                <a:tbl>
                  <a:tblPr firstRow="1" bandRow="1">
                    <a:tableStyleId>{5C22544A-7EE6-4342-B048-85BDC9FD1C3A}</a:tableStyleId>
                  </a:tblPr>
                  <a:tblGrid>
                    <a:gridCol w="1113621">
                      <a:extLst>
                        <a:ext uri="{9D8B030D-6E8A-4147-A177-3AD203B41FA5}">
                          <a16:colId xmlns:a16="http://schemas.microsoft.com/office/drawing/2014/main" val="1568142362"/>
                        </a:ext>
                      </a:extLst>
                    </a:gridCol>
                    <a:gridCol w="1625092">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80585">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 xmlns:m="http://schemas.openxmlformats.org/officeDocument/2006/math">
                              <m:f>
                                <m:fPr>
                                  <m:ctrlPr>
                                    <a:rPr lang="en-GB" sz="1400" b="0" i="1" noProof="0" smtClean="0">
                                      <a:solidFill>
                                        <a:schemeClr val="tx1"/>
                                      </a:solidFill>
                                      <a:latin typeface="Cambria Math" panose="02040503050406030204" pitchFamily="18" charset="0"/>
                                    </a:rPr>
                                  </m:ctrlPr>
                                </m:fPr>
                                <m:num>
                                  <m:sSup>
                                    <m:sSupPr>
                                      <m:ctrlPr>
                                        <a:rPr lang="en-GB" sz="1400" b="0" i="1" noProof="0" smtClean="0">
                                          <a:solidFill>
                                            <a:schemeClr val="tx1"/>
                                          </a:solidFill>
                                          <a:latin typeface="Cambria Math" panose="02040503050406030204" pitchFamily="18" charset="0"/>
                                        </a:rPr>
                                      </m:ctrlPr>
                                    </m:sSupPr>
                                    <m:e>
                                      <m:r>
                                        <a:rPr lang="en-GB" sz="1400" b="0" i="1" noProof="0" smtClean="0">
                                          <a:solidFill>
                                            <a:schemeClr val="tx1"/>
                                          </a:solidFill>
                                          <a:latin typeface="Cambria Math" panose="02040503050406030204" pitchFamily="18" charset="0"/>
                                        </a:rPr>
                                        <m:t>𝑥</m:t>
                                      </m:r>
                                    </m:e>
                                    <m:sup>
                                      <m:r>
                                        <a:rPr lang="en-GB" sz="1400" b="0" i="1" noProof="0" smtClean="0">
                                          <a:solidFill>
                                            <a:schemeClr val="tx1"/>
                                          </a:solidFill>
                                          <a:latin typeface="Cambria Math" panose="02040503050406030204" pitchFamily="18" charset="0"/>
                                        </a:rPr>
                                        <m:t>2</m:t>
                                      </m:r>
                                    </m:sup>
                                  </m:sSup>
                                  <m:r>
                                    <a:rPr lang="en-GB" sz="1400" b="0" i="1" noProof="0" smtClean="0">
                                      <a:solidFill>
                                        <a:schemeClr val="tx1"/>
                                      </a:solidFill>
                                      <a:latin typeface="Cambria Math" panose="02040503050406030204" pitchFamily="18" charset="0"/>
                                    </a:rPr>
                                    <m:t>+5</m:t>
                                  </m:r>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+6</m:t>
                                  </m:r>
                                </m:num>
                                <m:den>
                                  <m:r>
                                    <a:rPr lang="en-GB" sz="1400" b="0" i="1" noProof="0" smtClean="0">
                                      <a:solidFill>
                                        <a:schemeClr val="tx1"/>
                                      </a:solidFill>
                                      <a:latin typeface="Cambria Math" panose="02040503050406030204" pitchFamily="18" charset="0"/>
                                    </a:rPr>
                                    <m:t>4</m:t>
                                  </m:r>
                                </m:den>
                              </m:f>
                              <m:r>
                                <a:rPr lang="en-GB" sz="1400" b="0" i="1" noProof="0">
                                  <a:solidFill>
                                    <a:schemeClr val="tx1"/>
                                  </a:solidFill>
                                  <a:latin typeface="Cambria Math" panose="02040503050406030204" pitchFamily="18" charset="0"/>
                                  <a:ea typeface="Cambria Math" panose="02040503050406030204" pitchFamily="18" charset="0"/>
                                </a:rPr>
                                <m:t>×</m:t>
                              </m:r>
                              <m:f>
                                <m:fPr>
                                  <m:ctrlPr>
                                    <a:rPr lang="en-GB" sz="1400" b="0" i="1" noProof="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2</m:t>
                                  </m:r>
                                </m:num>
                                <m:den>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+2</m:t>
                                  </m:r>
                                </m:den>
                              </m:f>
                            </m:oMath>
                          </a14:m>
                          <a:r>
                            <a:rPr lang="en-GB"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 </a:t>
                          </a:r>
                          <a14:m>
                            <m:oMath xmlns:m="http://schemas.openxmlformats.org/officeDocument/2006/math">
                              <m:f>
                                <m:fPr>
                                  <m:ctrlPr>
                                    <a:rPr lang="en-GB" sz="1400" b="0" i="1" noProof="0" smtClean="0">
                                      <a:solidFill>
                                        <a:schemeClr val="tx1"/>
                                      </a:solidFill>
                                      <a:latin typeface="Cambria Math" panose="02040503050406030204" pitchFamily="18" charset="0"/>
                                    </a:rPr>
                                  </m:ctrlPr>
                                </m:fPr>
                                <m:num>
                                  <m:sSup>
                                    <m:sSupPr>
                                      <m:ctrlPr>
                                        <a:rPr lang="en-GB" sz="1400" b="0" i="1" noProof="0" smtClean="0">
                                          <a:solidFill>
                                            <a:schemeClr val="tx1"/>
                                          </a:solidFill>
                                          <a:latin typeface="Cambria Math" panose="02040503050406030204" pitchFamily="18" charset="0"/>
                                        </a:rPr>
                                      </m:ctrlPr>
                                    </m:sSupPr>
                                    <m:e>
                                      <m:r>
                                        <a:rPr lang="en-GB" sz="1400" b="0" i="1" noProof="0" smtClean="0">
                                          <a:solidFill>
                                            <a:schemeClr val="tx1"/>
                                          </a:solidFill>
                                          <a:latin typeface="Cambria Math" panose="02040503050406030204" pitchFamily="18" charset="0"/>
                                        </a:rPr>
                                        <m:t>𝑥</m:t>
                                      </m:r>
                                    </m:e>
                                    <m:sup>
                                      <m:r>
                                        <a:rPr lang="en-GB" sz="1400" b="0" i="1" noProof="0" smtClean="0">
                                          <a:solidFill>
                                            <a:schemeClr val="tx1"/>
                                          </a:solidFill>
                                          <a:latin typeface="Cambria Math" panose="02040503050406030204" pitchFamily="18" charset="0"/>
                                        </a:rPr>
                                        <m:t>2</m:t>
                                      </m:r>
                                    </m:sup>
                                  </m:sSup>
                                  <m:r>
                                    <a:rPr lang="en-GB" sz="1400" b="0" i="1" noProof="0" smtClean="0">
                                      <a:solidFill>
                                        <a:schemeClr val="tx1"/>
                                      </a:solidFill>
                                      <a:latin typeface="Cambria Math" panose="02040503050406030204" pitchFamily="18" charset="0"/>
                                    </a:rPr>
                                    <m:t>+5</m:t>
                                  </m:r>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+6</m:t>
                                  </m:r>
                                </m:num>
                                <m:den>
                                  <m:sSup>
                                    <m:sSupPr>
                                      <m:ctrlPr>
                                        <a:rPr lang="en-GB" sz="1400" b="0" i="1" noProof="0" smtClean="0">
                                          <a:solidFill>
                                            <a:schemeClr val="tx1"/>
                                          </a:solidFill>
                                          <a:latin typeface="Cambria Math" panose="02040503050406030204" pitchFamily="18" charset="0"/>
                                        </a:rPr>
                                      </m:ctrlPr>
                                    </m:sSupPr>
                                    <m:e>
                                      <m:r>
                                        <a:rPr lang="en-GB" sz="1400" b="0" i="1" noProof="0" smtClean="0">
                                          <a:solidFill>
                                            <a:schemeClr val="tx1"/>
                                          </a:solidFill>
                                          <a:latin typeface="Cambria Math" panose="02040503050406030204" pitchFamily="18" charset="0"/>
                                        </a:rPr>
                                        <m:t>𝑥</m:t>
                                      </m:r>
                                    </m:e>
                                    <m:sup>
                                      <m:r>
                                        <a:rPr lang="en-GB" sz="1400" b="0" i="1" noProof="0" smtClean="0">
                                          <a:solidFill>
                                            <a:schemeClr val="tx1"/>
                                          </a:solidFill>
                                          <a:latin typeface="Cambria Math" panose="02040503050406030204" pitchFamily="18" charset="0"/>
                                        </a:rPr>
                                        <m:t>2</m:t>
                                      </m:r>
                                    </m:sup>
                                  </m:sSup>
                                  <m:r>
                                    <a:rPr lang="en-GB" sz="1400" b="0" i="1" noProof="0" smtClean="0">
                                      <a:solidFill>
                                        <a:schemeClr val="tx1"/>
                                      </a:solidFill>
                                      <a:latin typeface="Cambria Math" panose="02040503050406030204" pitchFamily="18" charset="0"/>
                                    </a:rPr>
                                    <m:t>+9</m:t>
                                  </m:r>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+20</m:t>
                                  </m:r>
                                </m:den>
                              </m:f>
                              <m:r>
                                <a:rPr lang="en-GB" sz="1400" b="0" i="1" noProof="0">
                                  <a:solidFill>
                                    <a:schemeClr val="tx1"/>
                                  </a:solidFill>
                                  <a:latin typeface="Cambria Math" panose="02040503050406030204" pitchFamily="18" charset="0"/>
                                  <a:ea typeface="Cambria Math" panose="02040503050406030204" pitchFamily="18" charset="0"/>
                                </a:rPr>
                                <m:t>×</m:t>
                              </m:r>
                              <m:f>
                                <m:fPr>
                                  <m:ctrlPr>
                                    <a:rPr lang="en-GB" sz="1400" b="0" i="1" noProof="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+4</m:t>
                                  </m:r>
                                </m:num>
                                <m:den>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+2</m:t>
                                  </m:r>
                                </m:den>
                              </m:f>
                            </m:oMath>
                          </a14:m>
                          <a:r>
                            <a:rPr lang="en-GB" sz="1400"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 </a:t>
                          </a:r>
                          <a14:m>
                            <m:oMath xmlns:m="http://schemas.openxmlformats.org/officeDocument/2006/math">
                              <m:f>
                                <m:fPr>
                                  <m:ctrlPr>
                                    <a:rPr lang="en-GB" sz="1400" b="0" i="1" noProof="0" smtClean="0">
                                      <a:solidFill>
                                        <a:schemeClr val="tx1"/>
                                      </a:solidFill>
                                      <a:latin typeface="Cambria Math" panose="02040503050406030204" pitchFamily="18" charset="0"/>
                                    </a:rPr>
                                  </m:ctrlPr>
                                </m:fPr>
                                <m:num>
                                  <m:sSup>
                                    <m:sSupPr>
                                      <m:ctrlPr>
                                        <a:rPr lang="en-GB" sz="1400" b="0" i="1" noProof="0" smtClean="0">
                                          <a:solidFill>
                                            <a:schemeClr val="tx1"/>
                                          </a:solidFill>
                                          <a:latin typeface="Cambria Math" panose="02040503050406030204" pitchFamily="18" charset="0"/>
                                        </a:rPr>
                                      </m:ctrlPr>
                                    </m:sSupPr>
                                    <m:e>
                                      <m:r>
                                        <a:rPr lang="en-GB" sz="1400" b="0" i="1" noProof="0" smtClean="0">
                                          <a:solidFill>
                                            <a:schemeClr val="tx1"/>
                                          </a:solidFill>
                                          <a:latin typeface="Cambria Math" panose="02040503050406030204" pitchFamily="18" charset="0"/>
                                        </a:rPr>
                                        <m:t>𝑥</m:t>
                                      </m:r>
                                    </m:e>
                                    <m:sup>
                                      <m:r>
                                        <a:rPr lang="en-GB" sz="1400" b="0" i="1" noProof="0" smtClean="0">
                                          <a:solidFill>
                                            <a:schemeClr val="tx1"/>
                                          </a:solidFill>
                                          <a:latin typeface="Cambria Math" panose="02040503050406030204" pitchFamily="18" charset="0"/>
                                        </a:rPr>
                                        <m:t>2</m:t>
                                      </m:r>
                                    </m:sup>
                                  </m:sSup>
                                  <m:r>
                                    <a:rPr lang="en-GB" sz="1400" b="0" i="1" noProof="0" smtClean="0">
                                      <a:solidFill>
                                        <a:schemeClr val="tx1"/>
                                      </a:solidFill>
                                      <a:latin typeface="Cambria Math" panose="02040503050406030204" pitchFamily="18" charset="0"/>
                                    </a:rPr>
                                    <m:t>+</m:t>
                                  </m:r>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−6</m:t>
                                  </m:r>
                                </m:num>
                                <m:den>
                                  <m:sSup>
                                    <m:sSupPr>
                                      <m:ctrlPr>
                                        <a:rPr lang="en-GB" sz="1400" b="0" i="1" noProof="0" smtClean="0">
                                          <a:solidFill>
                                            <a:schemeClr val="tx1"/>
                                          </a:solidFill>
                                          <a:latin typeface="Cambria Math" panose="02040503050406030204" pitchFamily="18" charset="0"/>
                                        </a:rPr>
                                      </m:ctrlPr>
                                    </m:sSupPr>
                                    <m:e>
                                      <m:r>
                                        <a:rPr lang="en-GB" sz="1400" b="0" i="1" noProof="0" smtClean="0">
                                          <a:solidFill>
                                            <a:schemeClr val="tx1"/>
                                          </a:solidFill>
                                          <a:latin typeface="Cambria Math" panose="02040503050406030204" pitchFamily="18" charset="0"/>
                                        </a:rPr>
                                        <m:t>𝑥</m:t>
                                      </m:r>
                                    </m:e>
                                    <m:sup>
                                      <m:r>
                                        <a:rPr lang="en-GB" sz="1400" b="0" i="1" noProof="0" smtClean="0">
                                          <a:solidFill>
                                            <a:schemeClr val="tx1"/>
                                          </a:solidFill>
                                          <a:latin typeface="Cambria Math" panose="02040503050406030204" pitchFamily="18" charset="0"/>
                                        </a:rPr>
                                        <m:t>2</m:t>
                                      </m:r>
                                    </m:sup>
                                  </m:sSup>
                                  <m:r>
                                    <a:rPr lang="en-GB" sz="1400" b="0" i="1" noProof="0" smtClean="0">
                                      <a:solidFill>
                                        <a:schemeClr val="tx1"/>
                                      </a:solidFill>
                                      <a:latin typeface="Cambria Math" panose="02040503050406030204" pitchFamily="18" charset="0"/>
                                    </a:rPr>
                                    <m:t>+9</m:t>
                                  </m:r>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+20</m:t>
                                  </m:r>
                                </m:den>
                              </m:f>
                              <m:r>
                                <a:rPr lang="en-GB" sz="1400" b="0" i="1" noProof="0">
                                  <a:solidFill>
                                    <a:schemeClr val="tx1"/>
                                  </a:solidFill>
                                  <a:latin typeface="Cambria Math" panose="02040503050406030204" pitchFamily="18" charset="0"/>
                                  <a:ea typeface="Cambria Math" panose="02040503050406030204" pitchFamily="18" charset="0"/>
                                </a:rPr>
                                <m:t>×</m:t>
                              </m:r>
                              <m:f>
                                <m:fPr>
                                  <m:ctrlPr>
                                    <a:rPr lang="en-GB" sz="1400" b="0" i="1" noProof="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+4</m:t>
                                  </m:r>
                                </m:num>
                                <m:den>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−2</m:t>
                                  </m:r>
                                </m:den>
                              </m:f>
                            </m:oMath>
                          </a14:m>
                          <a:r>
                            <a:rPr lang="en-GB" sz="1400"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58898">
                    <a:tc>
                      <a:txBody>
                        <a:bodyPr/>
                        <a:lstStyle/>
                        <a:p>
                          <a:pPr marL="228600" indent="-228600">
                            <a:buAutoNum type="arabicParenR"/>
                          </a:pPr>
                          <a:r>
                            <a:rPr lang="en-GB" sz="1100" noProof="0" dirty="0">
                              <a:solidFill>
                                <a:schemeClr val="tx1"/>
                              </a:solidFill>
                            </a:rPr>
                            <a:t>Where possible, factorise any parts of the expression</a:t>
                          </a:r>
                        </a:p>
                        <a:p>
                          <a:pPr marL="228600" indent="-228600">
                            <a:buAutoNum type="arabicParenR"/>
                          </a:pP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5889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2) Look to see if any terms can be cancelled out.</a:t>
                          </a:r>
                        </a:p>
                        <a:p>
                          <a:pPr marL="228600" indent="-228600">
                            <a:buAutoNum type="arabicParenR"/>
                          </a:pP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805106717"/>
                      </a:ext>
                    </a:extLst>
                  </a:tr>
                  <a:tr h="1058898">
                    <a:tc>
                      <a:txBody>
                        <a:bodyPr/>
                        <a:lstStyle/>
                        <a:p>
                          <a:pPr marL="0" indent="0">
                            <a:buNone/>
                          </a:pPr>
                          <a:r>
                            <a:rPr lang="en-GB" sz="1100" noProof="0" dirty="0">
                              <a:solidFill>
                                <a:schemeClr val="tx1"/>
                              </a:solidFill>
                            </a:rPr>
                            <a:t>3)</a:t>
                          </a:r>
                          <a:r>
                            <a:rPr lang="en-GB" sz="1100" baseline="0" noProof="0" dirty="0">
                              <a:solidFill>
                                <a:schemeClr val="tx1"/>
                              </a:solidFill>
                            </a:rPr>
                            <a:t> Simplify as appropriate.</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4131530"/>
                      </a:ext>
                    </a:extLst>
                  </a:tr>
                </a:tbl>
              </a:graphicData>
            </a:graphic>
          </p:graphicFrame>
        </mc:Choice>
        <mc:Fallback xmlns="">
          <p:graphicFrame>
            <p:nvGraphicFramePr>
              <p:cNvPr id="97" name="Table 96"/>
              <p:cNvGraphicFramePr>
                <a:graphicFrameLocks noGrp="1"/>
              </p:cNvGraphicFramePr>
              <p:nvPr>
                <p:extLst>
                  <p:ext uri="{D42A27DB-BD31-4B8C-83A1-F6EECF244321}">
                    <p14:modId xmlns:p14="http://schemas.microsoft.com/office/powerpoint/2010/main" val="1949807000"/>
                  </p:ext>
                </p:extLst>
              </p:nvPr>
            </p:nvGraphicFramePr>
            <p:xfrm>
              <a:off x="181779" y="5937749"/>
              <a:ext cx="6484022" cy="3863301"/>
            </p:xfrm>
            <a:graphic>
              <a:graphicData uri="http://schemas.openxmlformats.org/drawingml/2006/table">
                <a:tbl>
                  <a:tblPr firstRow="1" bandRow="1">
                    <a:tableStyleId>{5C22544A-7EE6-4342-B048-85BDC9FD1C3A}</a:tableStyleId>
                  </a:tblPr>
                  <a:tblGrid>
                    <a:gridCol w="1113621">
                      <a:extLst>
                        <a:ext uri="{9D8B030D-6E8A-4147-A177-3AD203B41FA5}">
                          <a16:colId xmlns:a16="http://schemas.microsoft.com/office/drawing/2014/main" val="1568142362"/>
                        </a:ext>
                      </a:extLst>
                    </a:gridCol>
                    <a:gridCol w="1625092">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80585">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68914" t="-2532" r="-231086" b="-7050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42722" t="-2532" r="-95253" b="-7050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56522" t="-2532" r="-669" b="-705063"/>
                          </a:stretch>
                        </a:blipFill>
                      </a:tcPr>
                    </a:tc>
                    <a:extLst>
                      <a:ext uri="{0D108BD9-81ED-4DB2-BD59-A6C34878D82A}">
                        <a16:rowId xmlns:a16="http://schemas.microsoft.com/office/drawing/2014/main" val="2357201933"/>
                      </a:ext>
                    </a:extLst>
                  </a:tr>
                  <a:tr h="1264920">
                    <a:tc>
                      <a:txBody>
                        <a:bodyPr/>
                        <a:lstStyle/>
                        <a:p>
                          <a:pPr marL="228600" indent="-228600">
                            <a:buAutoNum type="arabicParenR"/>
                          </a:pPr>
                          <a:r>
                            <a:rPr lang="en-GB" sz="1100" noProof="0">
                              <a:solidFill>
                                <a:schemeClr val="tx1"/>
                              </a:solidFill>
                            </a:rPr>
                            <a:t>Where possible, factorise any parts of the expression</a:t>
                          </a:r>
                        </a:p>
                        <a:p>
                          <a:pPr marL="228600" indent="-228600">
                            <a:buAutoNum type="arabicParenR"/>
                          </a:pP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5889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a:solidFill>
                                <a:schemeClr val="tx1"/>
                              </a:solidFill>
                            </a:rPr>
                            <a:t>2) Look to see if any terms can be cancelled out.</a:t>
                          </a:r>
                        </a:p>
                        <a:p>
                          <a:pPr marL="228600" indent="-228600">
                            <a:buAutoNum type="arabicParenR"/>
                          </a:pP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805106717"/>
                      </a:ext>
                    </a:extLst>
                  </a:tr>
                  <a:tr h="1058898">
                    <a:tc>
                      <a:txBody>
                        <a:bodyPr/>
                        <a:lstStyle/>
                        <a:p>
                          <a:pPr marL="0" indent="0">
                            <a:buNone/>
                          </a:pPr>
                          <a:r>
                            <a:rPr lang="en-GB" sz="1100" noProof="0">
                              <a:solidFill>
                                <a:schemeClr val="tx1"/>
                              </a:solidFill>
                            </a:rPr>
                            <a:t>3)</a:t>
                          </a:r>
                          <a:r>
                            <a:rPr lang="en-GB" sz="1100" baseline="0" noProof="0">
                              <a:solidFill>
                                <a:schemeClr val="tx1"/>
                              </a:solidFill>
                            </a:rPr>
                            <a:t> Simplify as appropriate.</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4131530"/>
                      </a:ext>
                    </a:extLst>
                  </a:tr>
                </a:tbl>
              </a:graphicData>
            </a:graphic>
          </p:graphicFrame>
        </mc:Fallback>
      </mc:AlternateContent>
      <p:sp>
        <p:nvSpPr>
          <p:cNvPr id="98" name="TextBox 97">
            <a:extLst>
              <a:ext uri="{FF2B5EF4-FFF2-40B4-BE49-F238E27FC236}">
                <a16:creationId xmlns:a16="http://schemas.microsoft.com/office/drawing/2014/main" id="{72FAE9BB-D81F-4207-9FF8-E6BE971A99D9}"/>
              </a:ext>
            </a:extLst>
          </p:cNvPr>
          <p:cNvSpPr txBox="1"/>
          <p:nvPr/>
        </p:nvSpPr>
        <p:spPr>
          <a:xfrm>
            <a:off x="4973017" y="5628637"/>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18 - You do…</a:t>
            </a:r>
          </a:p>
        </p:txBody>
      </p:sp>
      <p:sp>
        <p:nvSpPr>
          <p:cNvPr id="99" name="TextBox 98">
            <a:extLst>
              <a:ext uri="{FF2B5EF4-FFF2-40B4-BE49-F238E27FC236}">
                <a16:creationId xmlns:a16="http://schemas.microsoft.com/office/drawing/2014/main" id="{337F58E6-37DE-4890-BDE3-0101DB4D4F11}"/>
              </a:ext>
            </a:extLst>
          </p:cNvPr>
          <p:cNvSpPr txBox="1"/>
          <p:nvPr/>
        </p:nvSpPr>
        <p:spPr>
          <a:xfrm>
            <a:off x="3179950" y="5628638"/>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17 - We do…</a:t>
            </a:r>
          </a:p>
        </p:txBody>
      </p:sp>
      <p:sp>
        <p:nvSpPr>
          <p:cNvPr id="100" name="TextBox 99">
            <a:extLst>
              <a:ext uri="{FF2B5EF4-FFF2-40B4-BE49-F238E27FC236}">
                <a16:creationId xmlns:a16="http://schemas.microsoft.com/office/drawing/2014/main" id="{20EB31B5-3203-4E48-8A19-892EA568053E}"/>
              </a:ext>
            </a:extLst>
          </p:cNvPr>
          <p:cNvSpPr txBox="1"/>
          <p:nvPr/>
        </p:nvSpPr>
        <p:spPr>
          <a:xfrm>
            <a:off x="1337389" y="5628639"/>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16 - I do…</a:t>
            </a:r>
          </a:p>
        </p:txBody>
      </p:sp>
      <p:sp>
        <p:nvSpPr>
          <p:cNvPr id="27" name="TextBox 26">
            <a:extLst>
              <a:ext uri="{FF2B5EF4-FFF2-40B4-BE49-F238E27FC236}">
                <a16:creationId xmlns:a16="http://schemas.microsoft.com/office/drawing/2014/main" id="{C3C65E48-8C3D-6849-AD77-7AD8678AD8DA}"/>
              </a:ext>
            </a:extLst>
          </p:cNvPr>
          <p:cNvSpPr txBox="1"/>
          <p:nvPr/>
        </p:nvSpPr>
        <p:spPr>
          <a:xfrm>
            <a:off x="197694" y="2732481"/>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2502521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403616" y="9576100"/>
            <a:ext cx="1543050" cy="527403"/>
          </a:xfrm>
        </p:spPr>
        <p:txBody>
          <a:bodyPr/>
          <a:lstStyle/>
          <a:p>
            <a:fld id="{9BD3B4A0-BFF9-422C-B253-48BA94BE2F5B}" type="slidenum">
              <a:rPr lang="en-GB" noProof="0" smtClean="0"/>
              <a:t>10</a:t>
            </a:fld>
            <a:endParaRPr lang="en-GB" noProof="0" dirty="0"/>
          </a:p>
        </p:txBody>
      </p:sp>
      <p:sp>
        <p:nvSpPr>
          <p:cNvPr id="4" name="TextBox 3"/>
          <p:cNvSpPr txBox="1"/>
          <p:nvPr/>
        </p:nvSpPr>
        <p:spPr>
          <a:xfrm>
            <a:off x="1627607" y="80152"/>
            <a:ext cx="2292231" cy="276999"/>
          </a:xfrm>
          <a:prstGeom prst="rect">
            <a:avLst/>
          </a:prstGeom>
          <a:noFill/>
        </p:spPr>
        <p:txBody>
          <a:bodyPr wrap="none" rtlCol="0">
            <a:spAutoFit/>
          </a:bodyPr>
          <a:lstStyle/>
          <a:p>
            <a:pPr algn="ctr"/>
            <a:r>
              <a:rPr lang="en-GB" sz="1200" noProof="0" dirty="0"/>
              <a:t>5. Simplify the algebraic fractions.</a:t>
            </a:r>
          </a:p>
        </p:txBody>
      </p:sp>
      <mc:AlternateContent xmlns:mc="http://schemas.openxmlformats.org/markup-compatibility/2006" xmlns:a14="http://schemas.microsoft.com/office/drawing/2010/main">
        <mc:Choice Requires="a14">
          <p:sp>
            <p:nvSpPr>
              <p:cNvPr id="6" name="TextBox 5"/>
              <p:cNvSpPr txBox="1"/>
              <p:nvPr/>
            </p:nvSpPr>
            <p:spPr>
              <a:xfrm>
                <a:off x="3540498" y="465985"/>
                <a:ext cx="1734642" cy="722698"/>
              </a:xfrm>
              <a:prstGeom prst="rect">
                <a:avLst/>
              </a:prstGeom>
              <a:noFill/>
            </p:spPr>
            <p:txBody>
              <a:bodyPr wrap="none" rtlCol="0">
                <a:spAutoFit/>
              </a:bodyPr>
              <a:lstStyle/>
              <a:p>
                <a:r>
                  <a:rPr lang="en-GB" sz="1600" noProof="0" dirty="0"/>
                  <a:t>b) </a:t>
                </a:r>
                <a14:m>
                  <m:oMath xmlns:m="http://schemas.openxmlformats.org/officeDocument/2006/math">
                    <m:f>
                      <m:fPr>
                        <m:ctrlPr>
                          <a:rPr lang="en-GB" sz="1600" i="1" noProof="0">
                            <a:latin typeface="Cambria Math" panose="02040503050406030204" pitchFamily="18" charset="0"/>
                          </a:rPr>
                        </m:ctrlPr>
                      </m:fPr>
                      <m:num>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m:t>
                        </m:r>
                        <m:r>
                          <a:rPr lang="en-GB" sz="1600" b="0" i="1" noProof="0" smtClean="0">
                            <a:latin typeface="Cambria Math" panose="02040503050406030204" pitchFamily="18" charset="0"/>
                          </a:rPr>
                          <m:t>3</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−4</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num>
                      <m:den>
                        <m:r>
                          <a:rPr lang="en-GB" sz="1600" b="0" i="1" noProof="0" smtClean="0">
                            <a:latin typeface="Cambria Math" panose="02040503050406030204" pitchFamily="18" charset="0"/>
                          </a:rPr>
                          <m:t>6</m:t>
                        </m:r>
                        <m:r>
                          <a:rPr lang="en-GB" sz="1600" i="1" noProof="0" smtClean="0">
                            <a:latin typeface="Cambria Math" panose="02040503050406030204" pitchFamily="18" charset="0"/>
                          </a:rPr>
                          <m:t>𝑥</m:t>
                        </m:r>
                        <m:r>
                          <a:rPr lang="en-GB" sz="1600" i="1" noProof="0" smtClean="0">
                            <a:latin typeface="Cambria Math" panose="02040503050406030204" pitchFamily="18" charset="0"/>
                          </a:rPr>
                          <m:t>+24</m:t>
                        </m:r>
                      </m:den>
                    </m:f>
                  </m:oMath>
                </a14:m>
                <a:endParaRPr lang="en-GB" sz="1600" noProof="0" dirty="0"/>
              </a:p>
              <a:p>
                <a:r>
                  <a:rPr lang="en-GB" sz="1600" noProof="0" dirty="0"/>
                  <a:t> </a:t>
                </a:r>
              </a:p>
            </p:txBody>
          </p:sp>
        </mc:Choice>
        <mc:Fallback xmlns="">
          <p:sp>
            <p:nvSpPr>
              <p:cNvPr id="6" name="TextBox 5"/>
              <p:cNvSpPr txBox="1">
                <a:spLocks noRot="1" noChangeAspect="1" noMove="1" noResize="1" noEditPoints="1" noAdjustHandles="1" noChangeArrowheads="1" noChangeShapeType="1" noTextEdit="1"/>
              </p:cNvSpPr>
              <p:nvPr/>
            </p:nvSpPr>
            <p:spPr>
              <a:xfrm>
                <a:off x="3540498" y="465985"/>
                <a:ext cx="1734642" cy="722698"/>
              </a:xfrm>
              <a:prstGeom prst="rect">
                <a:avLst/>
              </a:prstGeom>
              <a:blipFill>
                <a:blip r:embed="rId2"/>
                <a:stretch>
                  <a:fillRect l="-21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589218" y="4876023"/>
                <a:ext cx="1561518" cy="476221"/>
              </a:xfrm>
              <a:prstGeom prst="rect">
                <a:avLst/>
              </a:prstGeom>
              <a:noFill/>
            </p:spPr>
            <p:txBody>
              <a:bodyPr wrap="none" rtlCol="0">
                <a:spAutoFit/>
              </a:bodyPr>
              <a:lstStyle/>
              <a:p>
                <a:r>
                  <a:rPr lang="en-GB" sz="1600" noProof="0" dirty="0"/>
                  <a:t>d) </a:t>
                </a:r>
                <a14:m>
                  <m:oMath xmlns:m="http://schemas.openxmlformats.org/officeDocument/2006/math">
                    <m:f>
                      <m:fPr>
                        <m:ctrlPr>
                          <a:rPr lang="en-GB" sz="1600" i="1" noProof="0">
                            <a:latin typeface="Cambria Math" panose="02040503050406030204" pitchFamily="18" charset="0"/>
                          </a:rPr>
                        </m:ctrlPr>
                      </m:fPr>
                      <m:num>
                        <m:sSup>
                          <m:sSupPr>
                            <m:ctrlPr>
                              <a:rPr lang="en-GB" sz="1600" b="0" i="1" noProof="0" smtClean="0">
                                <a:latin typeface="Cambria Math" panose="02040503050406030204" pitchFamily="18" charset="0"/>
                              </a:rPr>
                            </m:ctrlPr>
                          </m:sSupPr>
                          <m:e>
                            <m:d>
                              <m:dPr>
                                <m:ctrlPr>
                                  <a:rPr lang="en-GB" sz="1600" b="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i="1" noProof="0" smtClean="0">
                                    <a:latin typeface="Cambria Math" panose="02040503050406030204" pitchFamily="18" charset="0"/>
                                  </a:rPr>
                                  <m:t>+1</m:t>
                                </m:r>
                              </m:e>
                            </m:d>
                          </m:e>
                          <m:sup>
                            <m:r>
                              <a:rPr lang="en-GB" sz="1600" b="0" i="1" noProof="0" smtClean="0">
                                <a:latin typeface="Cambria Math" panose="02040503050406030204" pitchFamily="18" charset="0"/>
                              </a:rPr>
                              <m:t>2</m:t>
                            </m:r>
                          </m:sup>
                        </m:sSup>
                      </m:num>
                      <m:den>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+3</m:t>
                        </m:r>
                        <m:r>
                          <a:rPr lang="en-GB" sz="1600" i="1" noProof="0" smtClean="0">
                            <a:latin typeface="Cambria Math" panose="02040503050406030204" pitchFamily="18" charset="0"/>
                          </a:rPr>
                          <m:t>𝑥</m:t>
                        </m:r>
                        <m:r>
                          <a:rPr lang="en-GB" sz="1600" i="1" noProof="0" smtClean="0">
                            <a:latin typeface="Cambria Math" panose="02040503050406030204" pitchFamily="18" charset="0"/>
                          </a:rPr>
                          <m:t>−4</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m:t>
                        </m:r>
                      </m:num>
                      <m:den>
                        <m:r>
                          <a:rPr lang="en-GB" sz="1600" i="1" noProof="0" smtClean="0">
                            <a:latin typeface="Cambria Math" panose="02040503050406030204" pitchFamily="18" charset="0"/>
                          </a:rPr>
                          <m:t>𝑥</m:t>
                        </m:r>
                        <m:r>
                          <a:rPr lang="en-GB" sz="1600" i="1" noProof="0" smtClean="0">
                            <a:latin typeface="Cambria Math" panose="02040503050406030204" pitchFamily="18" charset="0"/>
                          </a:rPr>
                          <m:t>+1</m:t>
                        </m:r>
                      </m:den>
                    </m:f>
                  </m:oMath>
                </a14:m>
                <a:endParaRPr lang="en-GB" sz="1600" noProof="0" dirty="0"/>
              </a:p>
            </p:txBody>
          </p:sp>
        </mc:Choice>
        <mc:Fallback xmlns="">
          <p:sp>
            <p:nvSpPr>
              <p:cNvPr id="8" name="TextBox 7"/>
              <p:cNvSpPr txBox="1">
                <a:spLocks noRot="1" noChangeAspect="1" noMove="1" noResize="1" noEditPoints="1" noAdjustHandles="1" noChangeArrowheads="1" noChangeShapeType="1" noTextEdit="1"/>
              </p:cNvSpPr>
              <p:nvPr/>
            </p:nvSpPr>
            <p:spPr>
              <a:xfrm>
                <a:off x="3589218" y="4876023"/>
                <a:ext cx="1561518" cy="476221"/>
              </a:xfrm>
              <a:prstGeom prst="rect">
                <a:avLst/>
              </a:prstGeom>
              <a:blipFill>
                <a:blip r:embed="rId3"/>
                <a:stretch>
                  <a:fillRect l="-2344" b="-5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210500" y="4876023"/>
                <a:ext cx="1713802" cy="688009"/>
              </a:xfrm>
              <a:prstGeom prst="rect">
                <a:avLst/>
              </a:prstGeom>
              <a:noFill/>
            </p:spPr>
            <p:txBody>
              <a:bodyPr wrap="none" rtlCol="0">
                <a:spAutoFit/>
              </a:bodyPr>
              <a:lstStyle/>
              <a:p>
                <a:r>
                  <a:rPr lang="en-GB" sz="1600" noProof="0" dirty="0"/>
                  <a:t>c) </a:t>
                </a:r>
                <a14:m>
                  <m:oMath xmlns:m="http://schemas.openxmlformats.org/officeDocument/2006/math">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𝑥</m:t>
                        </m:r>
                        <m:r>
                          <a:rPr lang="en-GB" sz="1600" i="1" noProof="0" smtClean="0">
                            <a:latin typeface="Cambria Math" panose="02040503050406030204" pitchFamily="18" charset="0"/>
                          </a:rPr>
                          <m:t>+2</m:t>
                        </m:r>
                      </m:num>
                      <m:den>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+3</m:t>
                        </m:r>
                        <m:r>
                          <a:rPr lang="en-GB" sz="1600" i="1" noProof="0" smtClean="0">
                            <a:latin typeface="Cambria Math" panose="02040503050406030204" pitchFamily="18" charset="0"/>
                          </a:rPr>
                          <m:t>𝑥</m:t>
                        </m:r>
                        <m:r>
                          <a:rPr lang="en-GB" sz="1600" i="1" noProof="0" smtClean="0">
                            <a:latin typeface="Cambria Math" panose="02040503050406030204" pitchFamily="18" charset="0"/>
                          </a:rPr>
                          <m:t>−4</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6</m:t>
                        </m:r>
                        <m:r>
                          <a:rPr lang="en-GB" sz="1600" i="1" noProof="0" smtClean="0">
                            <a:latin typeface="Cambria Math" panose="02040503050406030204" pitchFamily="18" charset="0"/>
                          </a:rPr>
                          <m:t>𝑥</m:t>
                        </m:r>
                        <m:r>
                          <a:rPr lang="en-GB" sz="1600" i="1" noProof="0" smtClean="0">
                            <a:latin typeface="Cambria Math" panose="02040503050406030204" pitchFamily="18" charset="0"/>
                          </a:rPr>
                          <m:t>+24</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den>
                    </m:f>
                  </m:oMath>
                </a14:m>
                <a:endParaRPr lang="en-GB" sz="1600" noProof="0" dirty="0"/>
              </a:p>
              <a:p>
                <a:r>
                  <a:rPr lang="en-GB" sz="1600" noProof="0" dirty="0"/>
                  <a:t> </a:t>
                </a:r>
              </a:p>
            </p:txBody>
          </p:sp>
        </mc:Choice>
        <mc:Fallback xmlns="">
          <p:sp>
            <p:nvSpPr>
              <p:cNvPr id="46" name="TextBox 45"/>
              <p:cNvSpPr txBox="1">
                <a:spLocks noRot="1" noChangeAspect="1" noMove="1" noResize="1" noEditPoints="1" noAdjustHandles="1" noChangeArrowheads="1" noChangeShapeType="1" noTextEdit="1"/>
              </p:cNvSpPr>
              <p:nvPr/>
            </p:nvSpPr>
            <p:spPr>
              <a:xfrm>
                <a:off x="210500" y="4876023"/>
                <a:ext cx="1713802" cy="688009"/>
              </a:xfrm>
              <a:prstGeom prst="rect">
                <a:avLst/>
              </a:prstGeom>
              <a:blipFill>
                <a:blip r:embed="rId4"/>
                <a:stretch>
                  <a:fillRect l="-2135"/>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C3C65E48-8C3D-6849-AD77-7AD8678AD8DA}"/>
              </a:ext>
            </a:extLst>
          </p:cNvPr>
          <p:cNvSpPr txBox="1"/>
          <p:nvPr/>
        </p:nvSpPr>
        <p:spPr>
          <a:xfrm>
            <a:off x="67565" y="80152"/>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7" name="Rectangle 6">
            <a:extLst>
              <a:ext uri="{FF2B5EF4-FFF2-40B4-BE49-F238E27FC236}">
                <a16:creationId xmlns:a16="http://schemas.microsoft.com/office/drawing/2014/main" id="{7252113D-CAC0-6418-7D60-2176B7A34E38}"/>
              </a:ext>
            </a:extLst>
          </p:cNvPr>
          <p:cNvSpPr/>
          <p:nvPr/>
        </p:nvSpPr>
        <p:spPr>
          <a:xfrm>
            <a:off x="168184" y="1006701"/>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1" name="Rectangle 20">
            <a:extLst>
              <a:ext uri="{FF2B5EF4-FFF2-40B4-BE49-F238E27FC236}">
                <a16:creationId xmlns:a16="http://schemas.microsoft.com/office/drawing/2014/main" id="{25F405E5-41A0-0760-7319-011AEE606013}"/>
              </a:ext>
            </a:extLst>
          </p:cNvPr>
          <p:cNvSpPr/>
          <p:nvPr/>
        </p:nvSpPr>
        <p:spPr>
          <a:xfrm>
            <a:off x="3540498" y="1006701"/>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2" name="Rectangle 21">
            <a:extLst>
              <a:ext uri="{FF2B5EF4-FFF2-40B4-BE49-F238E27FC236}">
                <a16:creationId xmlns:a16="http://schemas.microsoft.com/office/drawing/2014/main" id="{6253F134-D554-FAEA-86F0-0B21C6CA1773}"/>
              </a:ext>
            </a:extLst>
          </p:cNvPr>
          <p:cNvSpPr/>
          <p:nvPr/>
        </p:nvSpPr>
        <p:spPr>
          <a:xfrm>
            <a:off x="168184" y="5498416"/>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3" name="Rectangle 22">
            <a:extLst>
              <a:ext uri="{FF2B5EF4-FFF2-40B4-BE49-F238E27FC236}">
                <a16:creationId xmlns:a16="http://schemas.microsoft.com/office/drawing/2014/main" id="{B0E2BE88-667E-1611-589A-E458ABB8ABEB}"/>
              </a:ext>
            </a:extLst>
          </p:cNvPr>
          <p:cNvSpPr/>
          <p:nvPr/>
        </p:nvSpPr>
        <p:spPr>
          <a:xfrm>
            <a:off x="3540498" y="5498416"/>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90EBD13-8391-246C-0842-8946B70D8D72}"/>
                  </a:ext>
                </a:extLst>
              </p:cNvPr>
              <p:cNvSpPr txBox="1"/>
              <p:nvPr/>
            </p:nvSpPr>
            <p:spPr>
              <a:xfrm>
                <a:off x="160806" y="478383"/>
                <a:ext cx="1763496" cy="754245"/>
              </a:xfrm>
              <a:prstGeom prst="rect">
                <a:avLst/>
              </a:prstGeom>
              <a:noFill/>
            </p:spPr>
            <p:txBody>
              <a:bodyPr wrap="none" rtlCol="0">
                <a:spAutoFit/>
              </a:bodyPr>
              <a:lstStyle/>
              <a:p>
                <a:r>
                  <a:rPr lang="en-GB" sz="1600" noProof="0" dirty="0"/>
                  <a:t>a) </a:t>
                </a:r>
                <a14:m>
                  <m:oMath xmlns:m="http://schemas.openxmlformats.org/officeDocument/2006/math">
                    <m:f>
                      <m:fPr>
                        <m:ctrlPr>
                          <a:rPr lang="en-GB" sz="1600" i="1" noProof="0">
                            <a:latin typeface="Cambria Math" panose="02040503050406030204" pitchFamily="18" charset="0"/>
                          </a:rPr>
                        </m:ctrlPr>
                      </m:fPr>
                      <m:num>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m:t>
                        </m:r>
                        <m:r>
                          <a:rPr lang="en-GB" sz="1600" b="0" i="1" noProof="0" smtClean="0">
                            <a:latin typeface="Cambria Math" panose="02040503050406030204" pitchFamily="18" charset="0"/>
                          </a:rPr>
                          <m:t>3</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−4</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num>
                      <m:den>
                        <m:r>
                          <a:rPr lang="en-GB" sz="1600" b="0" i="1" noProof="0" smtClean="0">
                            <a:latin typeface="Cambria Math" panose="02040503050406030204" pitchFamily="18" charset="0"/>
                          </a:rPr>
                          <m:t>6(</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+4)</m:t>
                        </m:r>
                      </m:den>
                    </m:f>
                  </m:oMath>
                </a14:m>
                <a:endParaRPr lang="en-GB" sz="1600" noProof="0" dirty="0"/>
              </a:p>
              <a:p>
                <a:r>
                  <a:rPr lang="en-GB" sz="1600" noProof="0" dirty="0"/>
                  <a:t> </a:t>
                </a:r>
              </a:p>
            </p:txBody>
          </p:sp>
        </mc:Choice>
        <mc:Fallback xmlns="">
          <p:sp>
            <p:nvSpPr>
              <p:cNvPr id="27" name="TextBox 26">
                <a:extLst>
                  <a:ext uri="{FF2B5EF4-FFF2-40B4-BE49-F238E27FC236}">
                    <a16:creationId xmlns:a16="http://schemas.microsoft.com/office/drawing/2014/main" id="{990EBD13-8391-246C-0842-8946B70D8D72}"/>
                  </a:ext>
                </a:extLst>
              </p:cNvPr>
              <p:cNvSpPr txBox="1">
                <a:spLocks noRot="1" noChangeAspect="1" noMove="1" noResize="1" noEditPoints="1" noAdjustHandles="1" noChangeArrowheads="1" noChangeShapeType="1" noTextEdit="1"/>
              </p:cNvSpPr>
              <p:nvPr/>
            </p:nvSpPr>
            <p:spPr>
              <a:xfrm>
                <a:off x="160806" y="478383"/>
                <a:ext cx="1763496" cy="754245"/>
              </a:xfrm>
              <a:prstGeom prst="rect">
                <a:avLst/>
              </a:prstGeom>
              <a:blipFill>
                <a:blip r:embed="rId5"/>
                <a:stretch>
                  <a:fillRect l="-1724"/>
                </a:stretch>
              </a:blipFill>
            </p:spPr>
            <p:txBody>
              <a:bodyPr/>
              <a:lstStyle/>
              <a:p>
                <a:r>
                  <a:rPr lang="en-US">
                    <a:noFill/>
                  </a:rPr>
                  <a:t> </a:t>
                </a:r>
              </a:p>
            </p:txBody>
          </p:sp>
        </mc:Fallback>
      </mc:AlternateContent>
    </p:spTree>
    <p:extLst>
      <p:ext uri="{BB962C8B-B14F-4D97-AF65-F5344CB8AC3E}">
        <p14:creationId xmlns:p14="http://schemas.microsoft.com/office/powerpoint/2010/main" val="962353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1714BD-EF17-527A-9BD4-018BE8CA55C6}"/>
              </a:ext>
            </a:extLst>
          </p:cNvPr>
          <p:cNvSpPr>
            <a:spLocks noGrp="1"/>
          </p:cNvSpPr>
          <p:nvPr>
            <p:ph type="sldNum" sz="quarter" idx="12"/>
          </p:nvPr>
        </p:nvSpPr>
        <p:spPr>
          <a:xfrm>
            <a:off x="5314950" y="9378597"/>
            <a:ext cx="1543050" cy="527403"/>
          </a:xfrm>
        </p:spPr>
        <p:txBody>
          <a:bodyPr/>
          <a:lstStyle/>
          <a:p>
            <a:fld id="{9BD3B4A0-BFF9-422C-B253-48BA94BE2F5B}" type="slidenum">
              <a:rPr lang="en-GB" noProof="0" smtClean="0"/>
              <a:t>11</a:t>
            </a:fld>
            <a:endParaRPr lang="en-GB" noProof="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C053CA-035C-B76B-4F59-9CDF4B0F72CF}"/>
                  </a:ext>
                </a:extLst>
              </p:cNvPr>
              <p:cNvSpPr txBox="1"/>
              <p:nvPr/>
            </p:nvSpPr>
            <p:spPr>
              <a:xfrm>
                <a:off x="168184" y="414069"/>
                <a:ext cx="2351028" cy="754245"/>
              </a:xfrm>
              <a:prstGeom prst="rect">
                <a:avLst/>
              </a:prstGeom>
              <a:noFill/>
            </p:spPr>
            <p:txBody>
              <a:bodyPr wrap="none" rtlCol="0">
                <a:spAutoFit/>
              </a:bodyPr>
              <a:lstStyle/>
              <a:p>
                <a:r>
                  <a:rPr lang="en-GB" sz="1600" noProof="0" dirty="0"/>
                  <a:t>e) </a:t>
                </a:r>
                <a14:m>
                  <m:oMath xmlns:m="http://schemas.openxmlformats.org/officeDocument/2006/math">
                    <m:f>
                      <m:fPr>
                        <m:ctrlPr>
                          <a:rPr lang="en-GB" sz="1600" i="1" noProof="0">
                            <a:latin typeface="Cambria Math" panose="02040503050406030204" pitchFamily="18" charset="0"/>
                          </a:rPr>
                        </m:ctrlPr>
                      </m:fPr>
                      <m:num>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m:t>
                        </m:r>
                        <m:r>
                          <a:rPr lang="en-GB" sz="1600" b="0" i="1" noProof="0" smtClean="0">
                            <a:latin typeface="Cambria Math" panose="02040503050406030204" pitchFamily="18" charset="0"/>
                          </a:rPr>
                          <m:t>16</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+63</m:t>
                        </m:r>
                      </m:num>
                      <m:den>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num>
                      <m:den>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+9)(</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−14)</m:t>
                        </m:r>
                      </m:den>
                    </m:f>
                  </m:oMath>
                </a14:m>
                <a:endParaRPr lang="en-GB" sz="1600" noProof="0" dirty="0"/>
              </a:p>
              <a:p>
                <a:r>
                  <a:rPr lang="en-GB" sz="1600" noProof="0" dirty="0"/>
                  <a:t> </a:t>
                </a:r>
              </a:p>
            </p:txBody>
          </p:sp>
        </mc:Choice>
        <mc:Fallback xmlns="">
          <p:sp>
            <p:nvSpPr>
              <p:cNvPr id="3" name="TextBox 2">
                <a:extLst>
                  <a:ext uri="{FF2B5EF4-FFF2-40B4-BE49-F238E27FC236}">
                    <a16:creationId xmlns:a16="http://schemas.microsoft.com/office/drawing/2014/main" id="{DCC053CA-035C-B76B-4F59-9CDF4B0F72CF}"/>
                  </a:ext>
                </a:extLst>
              </p:cNvPr>
              <p:cNvSpPr txBox="1">
                <a:spLocks noRot="1" noChangeAspect="1" noMove="1" noResize="1" noEditPoints="1" noAdjustHandles="1" noChangeArrowheads="1" noChangeShapeType="1" noTextEdit="1"/>
              </p:cNvSpPr>
              <p:nvPr/>
            </p:nvSpPr>
            <p:spPr>
              <a:xfrm>
                <a:off x="168184" y="414069"/>
                <a:ext cx="2351028" cy="754245"/>
              </a:xfrm>
              <a:prstGeom prst="rect">
                <a:avLst/>
              </a:prstGeom>
              <a:blipFill>
                <a:blip r:embed="rId2"/>
                <a:stretch>
                  <a:fillRect l="-1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FA7A3F5-9F52-DFBD-5859-7C830FE7F1FF}"/>
                  </a:ext>
                </a:extLst>
              </p:cNvPr>
              <p:cNvSpPr txBox="1"/>
              <p:nvPr/>
            </p:nvSpPr>
            <p:spPr>
              <a:xfrm>
                <a:off x="3484609" y="478102"/>
                <a:ext cx="1864678" cy="476284"/>
              </a:xfrm>
              <a:prstGeom prst="rect">
                <a:avLst/>
              </a:prstGeom>
              <a:noFill/>
            </p:spPr>
            <p:txBody>
              <a:bodyPr wrap="none" rtlCol="0">
                <a:spAutoFit/>
              </a:bodyPr>
              <a:lstStyle/>
              <a:p>
                <a:r>
                  <a:rPr lang="en-GB" sz="1600" noProof="0" dirty="0"/>
                  <a:t>f) </a:t>
                </a:r>
                <a14:m>
                  <m:oMath xmlns:m="http://schemas.openxmlformats.org/officeDocument/2006/math">
                    <m:f>
                      <m:fPr>
                        <m:ctrlPr>
                          <a:rPr lang="en-GB" sz="1600" i="1" noProof="0">
                            <a:latin typeface="Cambria Math" panose="02040503050406030204" pitchFamily="18" charset="0"/>
                          </a:rPr>
                        </m:ctrlPr>
                      </m:fPr>
                      <m:num>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+16</m:t>
                        </m:r>
                        <m:r>
                          <a:rPr lang="en-GB" sz="1600" i="1" noProof="0" smtClean="0">
                            <a:latin typeface="Cambria Math" panose="02040503050406030204" pitchFamily="18" charset="0"/>
                          </a:rPr>
                          <m:t>𝑥</m:t>
                        </m:r>
                        <m:r>
                          <a:rPr lang="en-GB" sz="1600" i="1" noProof="0" smtClean="0">
                            <a:latin typeface="Cambria Math" panose="02040503050406030204" pitchFamily="18" charset="0"/>
                          </a:rPr>
                          <m:t>+63</m:t>
                        </m:r>
                      </m:num>
                      <m:den>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num>
                      <m:den>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+9</m:t>
                        </m:r>
                        <m:r>
                          <a:rPr lang="en-GB" sz="1600" b="0" i="1" noProof="0" smtClean="0">
                            <a:latin typeface="Cambria Math" panose="02040503050406030204" pitchFamily="18" charset="0"/>
                          </a:rPr>
                          <m:t>𝑥</m:t>
                        </m:r>
                      </m:den>
                    </m:f>
                  </m:oMath>
                </a14:m>
                <a:endParaRPr lang="en-GB" sz="1600" noProof="0" dirty="0"/>
              </a:p>
            </p:txBody>
          </p:sp>
        </mc:Choice>
        <mc:Fallback xmlns="">
          <p:sp>
            <p:nvSpPr>
              <p:cNvPr id="4" name="TextBox 3">
                <a:extLst>
                  <a:ext uri="{FF2B5EF4-FFF2-40B4-BE49-F238E27FC236}">
                    <a16:creationId xmlns:a16="http://schemas.microsoft.com/office/drawing/2014/main" id="{1FA7A3F5-9F52-DFBD-5859-7C830FE7F1FF}"/>
                  </a:ext>
                </a:extLst>
              </p:cNvPr>
              <p:cNvSpPr txBox="1">
                <a:spLocks noRot="1" noChangeAspect="1" noMove="1" noResize="1" noEditPoints="1" noAdjustHandles="1" noChangeArrowheads="1" noChangeShapeType="1" noTextEdit="1"/>
              </p:cNvSpPr>
              <p:nvPr/>
            </p:nvSpPr>
            <p:spPr>
              <a:xfrm>
                <a:off x="3484609" y="478102"/>
                <a:ext cx="1864678" cy="476284"/>
              </a:xfrm>
              <a:prstGeom prst="rect">
                <a:avLst/>
              </a:prstGeom>
              <a:blipFill>
                <a:blip r:embed="rId3"/>
                <a:stretch>
                  <a:fillRect l="-1961" b="-37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B572ED4-C54D-C2A0-FD14-4590157B5172}"/>
                  </a:ext>
                </a:extLst>
              </p:cNvPr>
              <p:cNvSpPr txBox="1"/>
              <p:nvPr/>
            </p:nvSpPr>
            <p:spPr>
              <a:xfrm>
                <a:off x="202690" y="4981175"/>
                <a:ext cx="1848839" cy="968727"/>
              </a:xfrm>
              <a:prstGeom prst="rect">
                <a:avLst/>
              </a:prstGeom>
              <a:noFill/>
            </p:spPr>
            <p:txBody>
              <a:bodyPr wrap="none" rtlCol="0">
                <a:spAutoFit/>
              </a:bodyPr>
              <a:lstStyle/>
              <a:p>
                <a:r>
                  <a:rPr lang="en-GB" sz="1600" noProof="0" dirty="0"/>
                  <a:t>g)</a:t>
                </a:r>
                <a14:m>
                  <m:oMath xmlns:m="http://schemas.openxmlformats.org/officeDocument/2006/math">
                    <m:f>
                      <m:fPr>
                        <m:ctrlPr>
                          <a:rPr lang="en-GB" sz="1600" i="1" noProof="0">
                            <a:latin typeface="Cambria Math" panose="02040503050406030204" pitchFamily="18" charset="0"/>
                          </a:rPr>
                        </m:ctrlPr>
                      </m:fPr>
                      <m:num>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+16</m:t>
                        </m:r>
                        <m:r>
                          <a:rPr lang="en-GB" sz="1600" i="1" noProof="0" smtClean="0">
                            <a:latin typeface="Cambria Math" panose="02040503050406030204" pitchFamily="18" charset="0"/>
                          </a:rPr>
                          <m:t>𝑥</m:t>
                        </m:r>
                        <m:r>
                          <a:rPr lang="en-GB" sz="1600" i="1" noProof="0" smtClean="0">
                            <a:latin typeface="Cambria Math" panose="02040503050406030204" pitchFamily="18" charset="0"/>
                          </a:rPr>
                          <m:t>+63</m:t>
                        </m:r>
                      </m:num>
                      <m:den>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+9</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num>
                      <m:den>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+9</m:t>
                        </m:r>
                        <m:r>
                          <a:rPr lang="en-GB" sz="1600" i="1" noProof="0" smtClean="0">
                            <a:latin typeface="Cambria Math" panose="02040503050406030204" pitchFamily="18" charset="0"/>
                          </a:rPr>
                          <m:t>𝑥</m:t>
                        </m:r>
                      </m:den>
                    </m:f>
                  </m:oMath>
                </a14:m>
                <a:endParaRPr lang="en-GB" sz="1600" noProof="0" dirty="0"/>
              </a:p>
              <a:p>
                <a:endParaRPr lang="en-GB" sz="1600" noProof="0" dirty="0"/>
              </a:p>
              <a:p>
                <a:r>
                  <a:rPr lang="en-GB" sz="1600" noProof="0" dirty="0"/>
                  <a:t> </a:t>
                </a:r>
              </a:p>
            </p:txBody>
          </p:sp>
        </mc:Choice>
        <mc:Fallback xmlns="">
          <p:sp>
            <p:nvSpPr>
              <p:cNvPr id="5" name="TextBox 4">
                <a:extLst>
                  <a:ext uri="{FF2B5EF4-FFF2-40B4-BE49-F238E27FC236}">
                    <a16:creationId xmlns:a16="http://schemas.microsoft.com/office/drawing/2014/main" id="{EB572ED4-C54D-C2A0-FD14-4590157B5172}"/>
                  </a:ext>
                </a:extLst>
              </p:cNvPr>
              <p:cNvSpPr txBox="1">
                <a:spLocks noRot="1" noChangeAspect="1" noMove="1" noResize="1" noEditPoints="1" noAdjustHandles="1" noChangeArrowheads="1" noChangeShapeType="1" noTextEdit="1"/>
              </p:cNvSpPr>
              <p:nvPr/>
            </p:nvSpPr>
            <p:spPr>
              <a:xfrm>
                <a:off x="202690" y="4981175"/>
                <a:ext cx="1848839" cy="968727"/>
              </a:xfrm>
              <a:prstGeom prst="rect">
                <a:avLst/>
              </a:prstGeom>
              <a:blipFill>
                <a:blip r:embed="rId4"/>
                <a:stretch>
                  <a:fillRect l="-16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7FF3D0C-4BFC-229C-10D3-B84CC7B6C5FA}"/>
                  </a:ext>
                </a:extLst>
              </p:cNvPr>
              <p:cNvSpPr txBox="1"/>
              <p:nvPr/>
            </p:nvSpPr>
            <p:spPr>
              <a:xfrm>
                <a:off x="3540498" y="4943506"/>
                <a:ext cx="1906548" cy="722698"/>
              </a:xfrm>
              <a:prstGeom prst="rect">
                <a:avLst/>
              </a:prstGeom>
              <a:noFill/>
            </p:spPr>
            <p:txBody>
              <a:bodyPr wrap="none" rtlCol="0">
                <a:spAutoFit/>
              </a:bodyPr>
              <a:lstStyle/>
              <a:p>
                <a:r>
                  <a:rPr lang="en-GB" sz="1600" noProof="0" dirty="0"/>
                  <a:t>h) </a:t>
                </a:r>
                <a14:m>
                  <m:oMath xmlns:m="http://schemas.openxmlformats.org/officeDocument/2006/math">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3</m:t>
                        </m:r>
                        <m:r>
                          <a:rPr lang="en-GB" sz="1600" i="1" noProof="0" smtClean="0">
                            <a:latin typeface="Cambria Math" panose="02040503050406030204" pitchFamily="18" charset="0"/>
                          </a:rPr>
                          <m:t>𝑥</m:t>
                        </m:r>
                        <m:r>
                          <a:rPr lang="en-GB" sz="1600" i="1" noProof="0" smtClean="0">
                            <a:latin typeface="Cambria Math" panose="02040503050406030204" pitchFamily="18" charset="0"/>
                          </a:rPr>
                          <m:t>+9</m:t>
                        </m:r>
                      </m:num>
                      <m:den>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+16</m:t>
                        </m:r>
                        <m:r>
                          <a:rPr lang="en-GB" sz="1600" i="1" noProof="0" smtClean="0">
                            <a:latin typeface="Cambria Math" panose="02040503050406030204" pitchFamily="18" charset="0"/>
                          </a:rPr>
                          <m:t>𝑥</m:t>
                        </m:r>
                        <m:r>
                          <a:rPr lang="en-GB" sz="1600" i="1" noProof="0" smtClean="0">
                            <a:latin typeface="Cambria Math" panose="02040503050406030204" pitchFamily="18" charset="0"/>
                          </a:rPr>
                          <m:t>+63</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+9</m:t>
                        </m:r>
                        <m:r>
                          <a:rPr lang="en-GB" sz="1600" i="1" noProof="0" smtClean="0">
                            <a:latin typeface="Cambria Math" panose="02040503050406030204" pitchFamily="18" charset="0"/>
                          </a:rPr>
                          <m:t>𝑥</m:t>
                        </m:r>
                      </m:num>
                      <m:den>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den>
                    </m:f>
                  </m:oMath>
                </a14:m>
                <a:endParaRPr lang="en-GB" sz="1600" noProof="0" dirty="0"/>
              </a:p>
              <a:p>
                <a:r>
                  <a:rPr lang="en-GB" sz="1600" noProof="0" dirty="0"/>
                  <a:t> </a:t>
                </a:r>
              </a:p>
            </p:txBody>
          </p:sp>
        </mc:Choice>
        <mc:Fallback xmlns="">
          <p:sp>
            <p:nvSpPr>
              <p:cNvPr id="6" name="TextBox 5">
                <a:extLst>
                  <a:ext uri="{FF2B5EF4-FFF2-40B4-BE49-F238E27FC236}">
                    <a16:creationId xmlns:a16="http://schemas.microsoft.com/office/drawing/2014/main" id="{B7FF3D0C-4BFC-229C-10D3-B84CC7B6C5FA}"/>
                  </a:ext>
                </a:extLst>
              </p:cNvPr>
              <p:cNvSpPr txBox="1">
                <a:spLocks noRot="1" noChangeAspect="1" noMove="1" noResize="1" noEditPoints="1" noAdjustHandles="1" noChangeArrowheads="1" noChangeShapeType="1" noTextEdit="1"/>
              </p:cNvSpPr>
              <p:nvPr/>
            </p:nvSpPr>
            <p:spPr>
              <a:xfrm>
                <a:off x="3540498" y="4943506"/>
                <a:ext cx="1906548" cy="722698"/>
              </a:xfrm>
              <a:prstGeom prst="rect">
                <a:avLst/>
              </a:prstGeom>
              <a:blipFill>
                <a:blip r:embed="rId5"/>
                <a:stretch>
                  <a:fillRect l="-1917"/>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A5078945-FF95-A8C1-1D55-8B613A5301C4}"/>
              </a:ext>
            </a:extLst>
          </p:cNvPr>
          <p:cNvSpPr/>
          <p:nvPr/>
        </p:nvSpPr>
        <p:spPr>
          <a:xfrm>
            <a:off x="168184" y="1006701"/>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9" name="Rectangle 8">
            <a:extLst>
              <a:ext uri="{FF2B5EF4-FFF2-40B4-BE49-F238E27FC236}">
                <a16:creationId xmlns:a16="http://schemas.microsoft.com/office/drawing/2014/main" id="{28EF55DD-C30C-19F2-0028-139B1E71CDFB}"/>
              </a:ext>
            </a:extLst>
          </p:cNvPr>
          <p:cNvSpPr/>
          <p:nvPr/>
        </p:nvSpPr>
        <p:spPr>
          <a:xfrm>
            <a:off x="3540498" y="1006701"/>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0" name="Rectangle 9">
            <a:extLst>
              <a:ext uri="{FF2B5EF4-FFF2-40B4-BE49-F238E27FC236}">
                <a16:creationId xmlns:a16="http://schemas.microsoft.com/office/drawing/2014/main" id="{53578517-0EB2-EABF-3344-F0CFD7865BB0}"/>
              </a:ext>
            </a:extLst>
          </p:cNvPr>
          <p:cNvSpPr/>
          <p:nvPr/>
        </p:nvSpPr>
        <p:spPr>
          <a:xfrm>
            <a:off x="168184" y="5498416"/>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1" name="Rectangle 10">
            <a:extLst>
              <a:ext uri="{FF2B5EF4-FFF2-40B4-BE49-F238E27FC236}">
                <a16:creationId xmlns:a16="http://schemas.microsoft.com/office/drawing/2014/main" id="{29A7BE61-74D8-9851-CF6E-75842D04FF88}"/>
              </a:ext>
            </a:extLst>
          </p:cNvPr>
          <p:cNvSpPr/>
          <p:nvPr/>
        </p:nvSpPr>
        <p:spPr>
          <a:xfrm>
            <a:off x="3540498" y="5498416"/>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Tree>
    <p:extLst>
      <p:ext uri="{BB962C8B-B14F-4D97-AF65-F5344CB8AC3E}">
        <p14:creationId xmlns:p14="http://schemas.microsoft.com/office/powerpoint/2010/main" val="1627169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ECBDF3-1220-95CD-F41D-546845CECEB8}"/>
              </a:ext>
            </a:extLst>
          </p:cNvPr>
          <p:cNvSpPr>
            <a:spLocks noGrp="1"/>
          </p:cNvSpPr>
          <p:nvPr>
            <p:ph type="sldNum" sz="quarter" idx="12"/>
          </p:nvPr>
        </p:nvSpPr>
        <p:spPr/>
        <p:txBody>
          <a:bodyPr/>
          <a:lstStyle/>
          <a:p>
            <a:fld id="{9BD3B4A0-BFF9-422C-B253-48BA94BE2F5B}" type="slidenum">
              <a:rPr lang="en-GB" noProof="0" smtClean="0"/>
              <a:t>12</a:t>
            </a:fld>
            <a:endParaRPr lang="en-GB" noProof="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5CFB7F8-D909-C63F-2994-0519CB0346C4}"/>
                  </a:ext>
                </a:extLst>
              </p:cNvPr>
              <p:cNvSpPr txBox="1"/>
              <p:nvPr/>
            </p:nvSpPr>
            <p:spPr>
              <a:xfrm>
                <a:off x="119558" y="203050"/>
                <a:ext cx="1471300" cy="722442"/>
              </a:xfrm>
              <a:prstGeom prst="rect">
                <a:avLst/>
              </a:prstGeom>
              <a:noFill/>
            </p:spPr>
            <p:txBody>
              <a:bodyPr wrap="none" rtlCol="0">
                <a:spAutoFit/>
              </a:bodyPr>
              <a:lstStyle/>
              <a:p>
                <a:r>
                  <a:rPr lang="en-GB" sz="1600" noProof="0" dirty="0" err="1"/>
                  <a:t>i</a:t>
                </a:r>
                <a:r>
                  <a:rPr lang="en-GB" sz="1600" noProof="0" dirty="0"/>
                  <a:t>) </a:t>
                </a:r>
                <a14:m>
                  <m:oMath xmlns:m="http://schemas.openxmlformats.org/officeDocument/2006/math">
                    <m:f>
                      <m:fPr>
                        <m:ctrlPr>
                          <a:rPr lang="en-GB" sz="1600" i="1" noProof="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−9</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+4</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2</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+8</m:t>
                        </m:r>
                        <m:r>
                          <a:rPr lang="en-GB" sz="1600" b="0" i="1" noProof="0" smtClean="0">
                            <a:latin typeface="Cambria Math" panose="02040503050406030204" pitchFamily="18" charset="0"/>
                          </a:rPr>
                          <m:t>𝑥</m:t>
                        </m:r>
                      </m:num>
                      <m:den>
                        <m:r>
                          <a:rPr lang="en-GB" sz="1600" b="0" i="1" noProof="0" smtClean="0">
                            <a:latin typeface="Cambria Math" panose="02040503050406030204" pitchFamily="18" charset="0"/>
                          </a:rPr>
                          <m:t>𝑥</m:t>
                        </m:r>
                        <m:r>
                          <a:rPr lang="en-GB" sz="1600" i="1" noProof="0" smtClean="0">
                            <a:latin typeface="Cambria Math" panose="02040503050406030204" pitchFamily="18" charset="0"/>
                          </a:rPr>
                          <m:t>+</m:t>
                        </m:r>
                        <m:r>
                          <a:rPr lang="en-GB" sz="1600" b="0" i="1" noProof="0" smtClean="0">
                            <a:latin typeface="Cambria Math" panose="02040503050406030204" pitchFamily="18" charset="0"/>
                          </a:rPr>
                          <m:t>3</m:t>
                        </m:r>
                      </m:den>
                    </m:f>
                  </m:oMath>
                </a14:m>
                <a:endParaRPr lang="en-GB" sz="1600" noProof="0" dirty="0"/>
              </a:p>
              <a:p>
                <a:r>
                  <a:rPr lang="en-GB" sz="1600" noProof="0" dirty="0"/>
                  <a:t> </a:t>
                </a:r>
              </a:p>
            </p:txBody>
          </p:sp>
        </mc:Choice>
        <mc:Fallback xmlns="">
          <p:sp>
            <p:nvSpPr>
              <p:cNvPr id="3" name="TextBox 2">
                <a:extLst>
                  <a:ext uri="{FF2B5EF4-FFF2-40B4-BE49-F238E27FC236}">
                    <a16:creationId xmlns:a16="http://schemas.microsoft.com/office/drawing/2014/main" id="{65CFB7F8-D909-C63F-2994-0519CB0346C4}"/>
                  </a:ext>
                </a:extLst>
              </p:cNvPr>
              <p:cNvSpPr txBox="1">
                <a:spLocks noRot="1" noChangeAspect="1" noMove="1" noResize="1" noEditPoints="1" noAdjustHandles="1" noChangeArrowheads="1" noChangeShapeType="1" noTextEdit="1"/>
              </p:cNvSpPr>
              <p:nvPr/>
            </p:nvSpPr>
            <p:spPr>
              <a:xfrm>
                <a:off x="119558" y="203050"/>
                <a:ext cx="1471300" cy="722442"/>
              </a:xfrm>
              <a:prstGeom prst="rect">
                <a:avLst/>
              </a:prstGeom>
              <a:blipFill>
                <a:blip r:embed="rId2"/>
                <a:stretch>
                  <a:fillRect l="-24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5ED5538-47CF-45B8-0877-AE8689C24219}"/>
                  </a:ext>
                </a:extLst>
              </p:cNvPr>
              <p:cNvSpPr txBox="1"/>
              <p:nvPr/>
            </p:nvSpPr>
            <p:spPr>
              <a:xfrm>
                <a:off x="3540498" y="203050"/>
                <a:ext cx="1302601" cy="722698"/>
              </a:xfrm>
              <a:prstGeom prst="rect">
                <a:avLst/>
              </a:prstGeom>
              <a:noFill/>
            </p:spPr>
            <p:txBody>
              <a:bodyPr wrap="none" rtlCol="0">
                <a:spAutoFit/>
              </a:bodyPr>
              <a:lstStyle/>
              <a:p>
                <a:r>
                  <a:rPr lang="en-GB" sz="1600" noProof="0" dirty="0"/>
                  <a:t>j) </a:t>
                </a:r>
                <a14:m>
                  <m:oMath xmlns:m="http://schemas.openxmlformats.org/officeDocument/2006/math">
                    <m:f>
                      <m:fPr>
                        <m:ctrlPr>
                          <a:rPr lang="en-GB" sz="1600" i="1" noProof="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−36</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den>
                    </m:f>
                  </m:oMath>
                </a14:m>
                <a:endParaRPr lang="en-GB" sz="1600" noProof="0" dirty="0"/>
              </a:p>
              <a:p>
                <a:r>
                  <a:rPr lang="en-GB" sz="1600" noProof="0" dirty="0"/>
                  <a:t> </a:t>
                </a:r>
              </a:p>
            </p:txBody>
          </p:sp>
        </mc:Choice>
        <mc:Fallback xmlns="">
          <p:sp>
            <p:nvSpPr>
              <p:cNvPr id="4" name="TextBox 3">
                <a:extLst>
                  <a:ext uri="{FF2B5EF4-FFF2-40B4-BE49-F238E27FC236}">
                    <a16:creationId xmlns:a16="http://schemas.microsoft.com/office/drawing/2014/main" id="{D5ED5538-47CF-45B8-0877-AE8689C24219}"/>
                  </a:ext>
                </a:extLst>
              </p:cNvPr>
              <p:cNvSpPr txBox="1">
                <a:spLocks noRot="1" noChangeAspect="1" noMove="1" noResize="1" noEditPoints="1" noAdjustHandles="1" noChangeArrowheads="1" noChangeShapeType="1" noTextEdit="1"/>
              </p:cNvSpPr>
              <p:nvPr/>
            </p:nvSpPr>
            <p:spPr>
              <a:xfrm>
                <a:off x="3540498" y="203050"/>
                <a:ext cx="1302601" cy="722698"/>
              </a:xfrm>
              <a:prstGeom prst="rect">
                <a:avLst/>
              </a:prstGeom>
              <a:blipFill>
                <a:blip r:embed="rId3"/>
                <a:stretch>
                  <a:fillRect l="-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8A62369-701A-F2E6-7705-43698F449631}"/>
                  </a:ext>
                </a:extLst>
              </p:cNvPr>
              <p:cNvSpPr txBox="1"/>
              <p:nvPr/>
            </p:nvSpPr>
            <p:spPr>
              <a:xfrm>
                <a:off x="168184" y="4744342"/>
                <a:ext cx="2004331" cy="722698"/>
              </a:xfrm>
              <a:prstGeom prst="rect">
                <a:avLst/>
              </a:prstGeom>
              <a:noFill/>
            </p:spPr>
            <p:txBody>
              <a:bodyPr wrap="none" rtlCol="0">
                <a:spAutoFit/>
              </a:bodyPr>
              <a:lstStyle/>
              <a:p>
                <a:r>
                  <a:rPr lang="en-GB" sz="1600" noProof="0" dirty="0"/>
                  <a:t>k) </a:t>
                </a:r>
                <a14:m>
                  <m:oMath xmlns:m="http://schemas.openxmlformats.org/officeDocument/2006/math">
                    <m:f>
                      <m:fPr>
                        <m:ctrlPr>
                          <a:rPr lang="en-GB" sz="1600" i="1" noProof="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num>
                      <m:den>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−25</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+10</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+25</m:t>
                        </m:r>
                      </m:num>
                      <m:den>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−4</m:t>
                        </m:r>
                      </m:den>
                    </m:f>
                  </m:oMath>
                </a14:m>
                <a:endParaRPr lang="en-GB" sz="1600" noProof="0" dirty="0"/>
              </a:p>
              <a:p>
                <a:r>
                  <a:rPr lang="en-GB" sz="1600" noProof="0" dirty="0"/>
                  <a:t> </a:t>
                </a:r>
              </a:p>
            </p:txBody>
          </p:sp>
        </mc:Choice>
        <mc:Fallback xmlns="">
          <p:sp>
            <p:nvSpPr>
              <p:cNvPr id="5" name="TextBox 4">
                <a:extLst>
                  <a:ext uri="{FF2B5EF4-FFF2-40B4-BE49-F238E27FC236}">
                    <a16:creationId xmlns:a16="http://schemas.microsoft.com/office/drawing/2014/main" id="{58A62369-701A-F2E6-7705-43698F449631}"/>
                  </a:ext>
                </a:extLst>
              </p:cNvPr>
              <p:cNvSpPr txBox="1">
                <a:spLocks noRot="1" noChangeAspect="1" noMove="1" noResize="1" noEditPoints="1" noAdjustHandles="1" noChangeArrowheads="1" noChangeShapeType="1" noTextEdit="1"/>
              </p:cNvSpPr>
              <p:nvPr/>
            </p:nvSpPr>
            <p:spPr>
              <a:xfrm>
                <a:off x="168184" y="4744342"/>
                <a:ext cx="2004331" cy="722698"/>
              </a:xfrm>
              <a:prstGeom prst="rect">
                <a:avLst/>
              </a:prstGeom>
              <a:blipFill>
                <a:blip r:embed="rId4"/>
                <a:stretch>
                  <a:fillRect l="-18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F36C1E-8F0D-5EB3-8458-FF88D728140D}"/>
                  </a:ext>
                </a:extLst>
              </p:cNvPr>
              <p:cNvSpPr txBox="1"/>
              <p:nvPr/>
            </p:nvSpPr>
            <p:spPr>
              <a:xfrm>
                <a:off x="3540498" y="4744342"/>
                <a:ext cx="2130968" cy="722698"/>
              </a:xfrm>
              <a:prstGeom prst="rect">
                <a:avLst/>
              </a:prstGeom>
              <a:noFill/>
            </p:spPr>
            <p:txBody>
              <a:bodyPr wrap="none" rtlCol="0">
                <a:spAutoFit/>
              </a:bodyPr>
              <a:lstStyle/>
              <a:p>
                <a:r>
                  <a:rPr lang="en-GB" sz="1600" noProof="0" dirty="0"/>
                  <a:t>l) </a:t>
                </a:r>
                <a14:m>
                  <m:oMath xmlns:m="http://schemas.openxmlformats.org/officeDocument/2006/math">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3</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+8</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num>
                      <m:den>
                        <m:r>
                          <a:rPr lang="en-GB" sz="1600" i="1" noProof="0" smtClean="0">
                            <a:latin typeface="Cambria Math" panose="02040503050406030204" pitchFamily="18" charset="0"/>
                          </a:rPr>
                          <m:t>2</m:t>
                        </m:r>
                        <m:r>
                          <a:rPr lang="en-GB" sz="1600" b="0" i="1" noProof="0" smtClean="0">
                            <a:latin typeface="Cambria Math" panose="02040503050406030204" pitchFamily="18" charset="0"/>
                          </a:rPr>
                          <m:t>5</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30</m:t>
                        </m:r>
                      </m:num>
                      <m:den>
                        <m:r>
                          <a:rPr lang="en-GB" sz="1600" b="0" i="1" noProof="0" smtClean="0">
                            <a:latin typeface="Cambria Math" panose="02040503050406030204" pitchFamily="18" charset="0"/>
                          </a:rPr>
                          <m:t>6</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i="1" noProof="0" smtClean="0">
                            <a:latin typeface="Cambria Math" panose="02040503050406030204" pitchFamily="18" charset="0"/>
                          </a:rPr>
                          <m:t>+</m:t>
                        </m:r>
                        <m:r>
                          <a:rPr lang="en-GB" sz="1600" b="0" i="1" noProof="0" smtClean="0">
                            <a:latin typeface="Cambria Math" panose="02040503050406030204" pitchFamily="18" charset="0"/>
                          </a:rPr>
                          <m:t>13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−5</m:t>
                        </m:r>
                      </m:den>
                    </m:f>
                  </m:oMath>
                </a14:m>
                <a:endParaRPr lang="en-GB" sz="1600" noProof="0" dirty="0"/>
              </a:p>
              <a:p>
                <a:r>
                  <a:rPr lang="en-GB" sz="1600" noProof="0" dirty="0"/>
                  <a:t> </a:t>
                </a:r>
              </a:p>
            </p:txBody>
          </p:sp>
        </mc:Choice>
        <mc:Fallback xmlns="">
          <p:sp>
            <p:nvSpPr>
              <p:cNvPr id="6" name="TextBox 5">
                <a:extLst>
                  <a:ext uri="{FF2B5EF4-FFF2-40B4-BE49-F238E27FC236}">
                    <a16:creationId xmlns:a16="http://schemas.microsoft.com/office/drawing/2014/main" id="{0CF36C1E-8F0D-5EB3-8458-FF88D728140D}"/>
                  </a:ext>
                </a:extLst>
              </p:cNvPr>
              <p:cNvSpPr txBox="1">
                <a:spLocks noRot="1" noChangeAspect="1" noMove="1" noResize="1" noEditPoints="1" noAdjustHandles="1" noChangeArrowheads="1" noChangeShapeType="1" noTextEdit="1"/>
              </p:cNvSpPr>
              <p:nvPr/>
            </p:nvSpPr>
            <p:spPr>
              <a:xfrm>
                <a:off x="3540498" y="4744342"/>
                <a:ext cx="2130968" cy="722698"/>
              </a:xfrm>
              <a:prstGeom prst="rect">
                <a:avLst/>
              </a:prstGeom>
              <a:blipFill>
                <a:blip r:embed="rId5"/>
                <a:stretch>
                  <a:fillRect l="-1719"/>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7BAB7E8E-3B30-F345-E358-83033AD022F3}"/>
              </a:ext>
            </a:extLst>
          </p:cNvPr>
          <p:cNvSpPr/>
          <p:nvPr/>
        </p:nvSpPr>
        <p:spPr>
          <a:xfrm>
            <a:off x="168184" y="1006701"/>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5" name="Rectangle 14">
            <a:extLst>
              <a:ext uri="{FF2B5EF4-FFF2-40B4-BE49-F238E27FC236}">
                <a16:creationId xmlns:a16="http://schemas.microsoft.com/office/drawing/2014/main" id="{B8B3731D-F5A4-5BB2-86B9-53AA03920061}"/>
              </a:ext>
            </a:extLst>
          </p:cNvPr>
          <p:cNvSpPr/>
          <p:nvPr/>
        </p:nvSpPr>
        <p:spPr>
          <a:xfrm>
            <a:off x="3540498" y="1006701"/>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6" name="Rectangle 15">
            <a:extLst>
              <a:ext uri="{FF2B5EF4-FFF2-40B4-BE49-F238E27FC236}">
                <a16:creationId xmlns:a16="http://schemas.microsoft.com/office/drawing/2014/main" id="{CB052A1D-EF82-2EB1-5B40-6188F4E829AD}"/>
              </a:ext>
            </a:extLst>
          </p:cNvPr>
          <p:cNvSpPr/>
          <p:nvPr/>
        </p:nvSpPr>
        <p:spPr>
          <a:xfrm>
            <a:off x="168184" y="5498416"/>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7" name="Rectangle 16">
            <a:extLst>
              <a:ext uri="{FF2B5EF4-FFF2-40B4-BE49-F238E27FC236}">
                <a16:creationId xmlns:a16="http://schemas.microsoft.com/office/drawing/2014/main" id="{5AA09A9C-243C-FA79-10C5-C363F623EE89}"/>
              </a:ext>
            </a:extLst>
          </p:cNvPr>
          <p:cNvSpPr/>
          <p:nvPr/>
        </p:nvSpPr>
        <p:spPr>
          <a:xfrm>
            <a:off x="3540498" y="5498416"/>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Tree>
    <p:extLst>
      <p:ext uri="{BB962C8B-B14F-4D97-AF65-F5344CB8AC3E}">
        <p14:creationId xmlns:p14="http://schemas.microsoft.com/office/powerpoint/2010/main" val="4144469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Picture 62"/>
          <p:cNvPicPr>
            <a:picLocks noChangeAspect="1"/>
          </p:cNvPicPr>
          <p:nvPr/>
        </p:nvPicPr>
        <p:blipFill rotWithShape="1">
          <a:blip r:embed="rId2"/>
          <a:srcRect l="38753" t="34966" r="43224" b="33859"/>
          <a:stretch/>
        </p:blipFill>
        <p:spPr>
          <a:xfrm>
            <a:off x="288510" y="6985267"/>
            <a:ext cx="1342055" cy="370663"/>
          </a:xfrm>
          <a:prstGeom prst="rect">
            <a:avLst/>
          </a:prstGeom>
        </p:spPr>
      </p:pic>
      <p:pic>
        <p:nvPicPr>
          <p:cNvPr id="64" name="Picture 63"/>
          <p:cNvPicPr>
            <a:picLocks noChangeAspect="1"/>
          </p:cNvPicPr>
          <p:nvPr/>
        </p:nvPicPr>
        <p:blipFill rotWithShape="1">
          <a:blip r:embed="rId2"/>
          <a:srcRect l="71783" t="34920" r="7105" b="28530"/>
          <a:stretch/>
        </p:blipFill>
        <p:spPr>
          <a:xfrm>
            <a:off x="1777759" y="6967076"/>
            <a:ext cx="1572121" cy="434569"/>
          </a:xfrm>
          <a:prstGeom prst="rect">
            <a:avLst/>
          </a:prstGeom>
        </p:spPr>
      </p:pic>
      <p:pic>
        <p:nvPicPr>
          <p:cNvPr id="65" name="Picture 64"/>
          <p:cNvPicPr>
            <a:picLocks noChangeAspect="1"/>
          </p:cNvPicPr>
          <p:nvPr/>
        </p:nvPicPr>
        <p:blipFill rotWithShape="1">
          <a:blip r:embed="rId2"/>
          <a:srcRect l="4520" t="67123" r="74883" b="1702"/>
          <a:stretch/>
        </p:blipFill>
        <p:spPr>
          <a:xfrm>
            <a:off x="3411485" y="6973833"/>
            <a:ext cx="1533778" cy="370663"/>
          </a:xfrm>
          <a:prstGeom prst="rect">
            <a:avLst/>
          </a:prstGeom>
        </p:spPr>
      </p:pic>
      <p:sp>
        <p:nvSpPr>
          <p:cNvPr id="2" name="Slide Number Placeholder 1"/>
          <p:cNvSpPr>
            <a:spLocks noGrp="1"/>
          </p:cNvSpPr>
          <p:nvPr>
            <p:ph type="sldNum" sz="quarter" idx="12"/>
          </p:nvPr>
        </p:nvSpPr>
        <p:spPr>
          <a:xfrm>
            <a:off x="5402002" y="9479115"/>
            <a:ext cx="1543050" cy="527403"/>
          </a:xfrm>
        </p:spPr>
        <p:txBody>
          <a:bodyPr/>
          <a:lstStyle/>
          <a:p>
            <a:fld id="{9BD3B4A0-BFF9-422C-B253-48BA94BE2F5B}" type="slidenum">
              <a:rPr lang="en-GB" noProof="0" smtClean="0"/>
              <a:t>13</a:t>
            </a:fld>
            <a:endParaRPr lang="en-GB" noProof="0" dirty="0"/>
          </a:p>
        </p:txBody>
      </p:sp>
      <p:sp>
        <p:nvSpPr>
          <p:cNvPr id="6" name="TextBox 5">
            <a:extLst>
              <a:ext uri="{FF2B5EF4-FFF2-40B4-BE49-F238E27FC236}">
                <a16:creationId xmlns:a16="http://schemas.microsoft.com/office/drawing/2014/main" id="{337F58E6-37DE-4890-BDE3-0101DB4D4F11}"/>
              </a:ext>
            </a:extLst>
          </p:cNvPr>
          <p:cNvSpPr txBox="1"/>
          <p:nvPr/>
        </p:nvSpPr>
        <p:spPr>
          <a:xfrm>
            <a:off x="3146464" y="-30807"/>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20 - We do…</a:t>
            </a:r>
          </a:p>
        </p:txBody>
      </p:sp>
      <p:sp>
        <p:nvSpPr>
          <p:cNvPr id="7" name="TextBox 6">
            <a:extLst>
              <a:ext uri="{FF2B5EF4-FFF2-40B4-BE49-F238E27FC236}">
                <a16:creationId xmlns:a16="http://schemas.microsoft.com/office/drawing/2014/main" id="{20EB31B5-3203-4E48-8A19-892EA568053E}"/>
              </a:ext>
            </a:extLst>
          </p:cNvPr>
          <p:cNvSpPr txBox="1"/>
          <p:nvPr/>
        </p:nvSpPr>
        <p:spPr>
          <a:xfrm>
            <a:off x="1363853" y="-25519"/>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19 - I do…</a:t>
            </a:r>
          </a:p>
        </p:txBody>
      </p:sp>
      <p:sp>
        <p:nvSpPr>
          <p:cNvPr id="29" name="TextBox 28">
            <a:extLst>
              <a:ext uri="{FF2B5EF4-FFF2-40B4-BE49-F238E27FC236}">
                <a16:creationId xmlns:a16="http://schemas.microsoft.com/office/drawing/2014/main" id="{72FAE9BB-D81F-4207-9FF8-E6BE971A99D9}"/>
              </a:ext>
            </a:extLst>
          </p:cNvPr>
          <p:cNvSpPr txBox="1"/>
          <p:nvPr/>
        </p:nvSpPr>
        <p:spPr>
          <a:xfrm>
            <a:off x="5047975" y="-29235"/>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21 - You do…</a:t>
            </a:r>
          </a:p>
        </p:txBody>
      </p:sp>
      <mc:AlternateContent xmlns:mc="http://schemas.openxmlformats.org/markup-compatibility/2006" xmlns:a14="http://schemas.microsoft.com/office/drawing/2010/main">
        <mc:Choice Requires="a14">
          <p:graphicFrame>
            <p:nvGraphicFramePr>
              <p:cNvPr id="48" name="Table 47"/>
              <p:cNvGraphicFramePr>
                <a:graphicFrameLocks noGrp="1"/>
              </p:cNvGraphicFramePr>
              <p:nvPr>
                <p:extLst>
                  <p:ext uri="{D42A27DB-BD31-4B8C-83A1-F6EECF244321}">
                    <p14:modId xmlns:p14="http://schemas.microsoft.com/office/powerpoint/2010/main" val="2275691215"/>
                  </p:ext>
                </p:extLst>
              </p:nvPr>
            </p:nvGraphicFramePr>
            <p:xfrm>
              <a:off x="115354" y="231837"/>
              <a:ext cx="6640749" cy="3770321"/>
            </p:xfrm>
            <a:graphic>
              <a:graphicData uri="http://schemas.openxmlformats.org/drawingml/2006/table">
                <a:tbl>
                  <a:tblPr firstRow="1" bandRow="1">
                    <a:tableStyleId>{5C22544A-7EE6-4342-B048-85BDC9FD1C3A}</a:tableStyleId>
                  </a:tblPr>
                  <a:tblGrid>
                    <a:gridCol w="1041165">
                      <a:extLst>
                        <a:ext uri="{9D8B030D-6E8A-4147-A177-3AD203B41FA5}">
                          <a16:colId xmlns:a16="http://schemas.microsoft.com/office/drawing/2014/main" val="1568142362"/>
                        </a:ext>
                      </a:extLst>
                    </a:gridCol>
                    <a:gridCol w="1763746">
                      <a:extLst>
                        <a:ext uri="{9D8B030D-6E8A-4147-A177-3AD203B41FA5}">
                          <a16:colId xmlns:a16="http://schemas.microsoft.com/office/drawing/2014/main" val="3551711160"/>
                        </a:ext>
                      </a:extLst>
                    </a:gridCol>
                    <a:gridCol w="1974459">
                      <a:extLst>
                        <a:ext uri="{9D8B030D-6E8A-4147-A177-3AD203B41FA5}">
                          <a16:colId xmlns:a16="http://schemas.microsoft.com/office/drawing/2014/main" val="925597041"/>
                        </a:ext>
                      </a:extLst>
                    </a:gridCol>
                    <a:gridCol w="1861379">
                      <a:extLst>
                        <a:ext uri="{9D8B030D-6E8A-4147-A177-3AD203B41FA5}">
                          <a16:colId xmlns:a16="http://schemas.microsoft.com/office/drawing/2014/main" val="4095172789"/>
                        </a:ext>
                      </a:extLst>
                    </a:gridCol>
                  </a:tblGrid>
                  <a:tr h="509971">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Simplify </a:t>
                          </a:r>
                          <a14:m>
                            <m:oMath xmlns:m="http://schemas.openxmlformats.org/officeDocument/2006/math">
                              <m:f>
                                <m:fPr>
                                  <m:ctrlPr>
                                    <a:rPr lang="en-GB" sz="1200" i="1" noProof="0" smtClean="0">
                                      <a:solidFill>
                                        <a:schemeClr val="tx1"/>
                                      </a:solidFill>
                                      <a:latin typeface="Cambria Math" panose="02040503050406030204" pitchFamily="18" charset="0"/>
                                    </a:rPr>
                                  </m:ctrlPr>
                                </m:fPr>
                                <m:num>
                                  <m:r>
                                    <a:rPr lang="en-GB" sz="1200" i="1" noProof="0">
                                      <a:solidFill>
                                        <a:schemeClr val="tx1"/>
                                      </a:solidFill>
                                      <a:latin typeface="Cambria Math" panose="02040503050406030204" pitchFamily="18" charset="0"/>
                                    </a:rPr>
                                    <m:t>𝑏</m:t>
                                  </m:r>
                                </m:num>
                                <m:den>
                                  <m:r>
                                    <a:rPr lang="en-GB" sz="1200" i="1" noProof="0">
                                      <a:solidFill>
                                        <a:schemeClr val="tx1"/>
                                      </a:solidFill>
                                      <a:latin typeface="Cambria Math" panose="02040503050406030204" pitchFamily="18" charset="0"/>
                                    </a:rPr>
                                    <m:t>3</m:t>
                                  </m:r>
                                </m:den>
                              </m:f>
                              <m:r>
                                <a:rPr lang="en-GB" sz="1200" i="1" noProof="0">
                                  <a:solidFill>
                                    <a:schemeClr val="tx1"/>
                                  </a:solidFill>
                                  <a:latin typeface="Cambria Math" panose="02040503050406030204" pitchFamily="18" charset="0"/>
                                  <a:ea typeface="Cambria Math" panose="02040503050406030204" pitchFamily="18" charset="0"/>
                                </a:rPr>
                                <m:t>÷</m:t>
                              </m:r>
                              <m:f>
                                <m:fPr>
                                  <m:ctrlPr>
                                    <a:rPr lang="en-GB" sz="1200" i="1" noProof="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6</m:t>
                                  </m:r>
                                </m:num>
                                <m:den>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𝑏</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Simplify </a:t>
                          </a:r>
                          <a14:m>
                            <m:oMath xmlns:m="http://schemas.openxmlformats.org/officeDocument/2006/math">
                              <m:f>
                                <m:fPr>
                                  <m:ctrlPr>
                                    <a:rPr lang="en-GB" sz="120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num>
                                <m:den>
                                  <m:r>
                                    <a:rPr lang="en-GB" sz="1200" b="0" i="1" noProof="0" smtClean="0">
                                      <a:solidFill>
                                        <a:schemeClr val="tx1"/>
                                      </a:solidFill>
                                      <a:latin typeface="Cambria Math" panose="02040503050406030204" pitchFamily="18" charset="0"/>
                                    </a:rPr>
                                    <m:t>8</m:t>
                                  </m:r>
                                </m:den>
                              </m:f>
                              <m:r>
                                <a:rPr lang="en-GB" sz="1200" i="1" noProof="0">
                                  <a:solidFill>
                                    <a:schemeClr val="tx1"/>
                                  </a:solidFill>
                                  <a:latin typeface="Cambria Math" panose="02040503050406030204" pitchFamily="18" charset="0"/>
                                  <a:ea typeface="Cambria Math" panose="02040503050406030204" pitchFamily="18" charset="0"/>
                                </a:rPr>
                                <m:t>÷</m:t>
                              </m:r>
                              <m:f>
                                <m:fPr>
                                  <m:ctrlPr>
                                    <a:rPr lang="en-GB" sz="1200" i="1" noProof="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num>
                                <m:den>
                                  <m:r>
                                    <a:rPr lang="en-GB" sz="1200" b="0" i="1" noProof="0" smtClean="0">
                                      <a:solidFill>
                                        <a:schemeClr val="tx1"/>
                                      </a:solidFill>
                                      <a:latin typeface="Cambria Math" panose="02040503050406030204" pitchFamily="18" charset="0"/>
                                    </a:rPr>
                                    <m:t>2</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Simplify </a:t>
                          </a:r>
                          <a14:m>
                            <m:oMath xmlns:m="http://schemas.openxmlformats.org/officeDocument/2006/math">
                              <m:f>
                                <m:fPr>
                                  <m:ctrlPr>
                                    <a:rPr lang="en-GB" sz="1200" i="1" noProof="0" smtClean="0">
                                      <a:solidFill>
                                        <a:schemeClr val="tx1"/>
                                      </a:solidFill>
                                      <a:latin typeface="Cambria Math" panose="02040503050406030204" pitchFamily="18" charset="0"/>
                                    </a:rPr>
                                  </m:ctrlPr>
                                </m:fPr>
                                <m:num>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num>
                                <m:den>
                                  <m:r>
                                    <a:rPr lang="en-GB" sz="1200" b="0" i="1" noProof="0" smtClean="0">
                                      <a:solidFill>
                                        <a:schemeClr val="tx1"/>
                                      </a:solidFill>
                                      <a:latin typeface="Cambria Math" panose="02040503050406030204" pitchFamily="18" charset="0"/>
                                    </a:rPr>
                                    <m:t>8</m:t>
                                  </m:r>
                                </m:den>
                              </m:f>
                              <m:r>
                                <a:rPr lang="en-GB" sz="1200" i="1" noProof="0">
                                  <a:solidFill>
                                    <a:schemeClr val="tx1"/>
                                  </a:solidFill>
                                  <a:latin typeface="Cambria Math" panose="02040503050406030204" pitchFamily="18" charset="0"/>
                                  <a:ea typeface="Cambria Math" panose="02040503050406030204" pitchFamily="18" charset="0"/>
                                </a:rPr>
                                <m:t>÷</m:t>
                              </m:r>
                              <m:f>
                                <m:fPr>
                                  <m:ctrlPr>
                                    <a:rPr lang="en-GB" sz="1200" i="1" noProof="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num>
                                <m:den>
                                  <m:r>
                                    <a:rPr lang="en-GB" sz="1200" b="0" i="1" noProof="0" smtClean="0">
                                      <a:solidFill>
                                        <a:schemeClr val="tx1"/>
                                      </a:solidFill>
                                      <a:latin typeface="Cambria Math" panose="02040503050406030204" pitchFamily="18" charset="0"/>
                                    </a:rPr>
                                    <m:t>2</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16823">
                    <a:tc>
                      <a:txBody>
                        <a:bodyPr/>
                        <a:lstStyle/>
                        <a:p>
                          <a:r>
                            <a:rPr lang="en-GB" sz="1100" noProof="0" dirty="0">
                              <a:solidFill>
                                <a:schemeClr val="tx1"/>
                              </a:solidFill>
                            </a:rPr>
                            <a:t>1) Multiply</a:t>
                          </a:r>
                          <a:r>
                            <a:rPr lang="en-GB" sz="1100" baseline="0" noProof="0" dirty="0">
                              <a:solidFill>
                                <a:schemeClr val="tx1"/>
                              </a:solidFill>
                            </a:rPr>
                            <a:t> the first fraction by the </a:t>
                          </a:r>
                          <a:r>
                            <a:rPr lang="en-GB" sz="1100" b="1" baseline="0" noProof="0" dirty="0">
                              <a:solidFill>
                                <a:schemeClr val="tx1"/>
                              </a:solidFill>
                            </a:rPr>
                            <a:t>reciprocal </a:t>
                          </a:r>
                          <a:r>
                            <a:rPr lang="en-GB" sz="1100" baseline="0" noProof="0" dirty="0">
                              <a:solidFill>
                                <a:schemeClr val="tx1"/>
                              </a:solidFill>
                            </a:rPr>
                            <a:t>of the second.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14509">
                    <a:tc>
                      <a:txBody>
                        <a:bodyPr/>
                        <a:lstStyle/>
                        <a:p>
                          <a:r>
                            <a:rPr lang="en-GB" sz="1100" noProof="0" dirty="0">
                              <a:solidFill>
                                <a:schemeClr val="tx1"/>
                              </a:solidFill>
                            </a:rPr>
                            <a:t>2) Check if it can be factorised.</a:t>
                          </a:r>
                          <a:r>
                            <a:rPr lang="en-GB" sz="1100" baseline="0" noProof="0" dirty="0">
                              <a:solidFill>
                                <a:schemeClr val="tx1"/>
                              </a:solidFill>
                            </a:rPr>
                            <a:t>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42901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3) Cross Cancel and simplify</a:t>
                          </a:r>
                        </a:p>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Choice>
        <mc:Fallback xmlns="">
          <p:graphicFrame>
            <p:nvGraphicFramePr>
              <p:cNvPr id="48" name="Table 47"/>
              <p:cNvGraphicFramePr>
                <a:graphicFrameLocks noGrp="1"/>
              </p:cNvGraphicFramePr>
              <p:nvPr>
                <p:extLst>
                  <p:ext uri="{D42A27DB-BD31-4B8C-83A1-F6EECF244321}">
                    <p14:modId xmlns:p14="http://schemas.microsoft.com/office/powerpoint/2010/main" val="2275691215"/>
                  </p:ext>
                </p:extLst>
              </p:nvPr>
            </p:nvGraphicFramePr>
            <p:xfrm>
              <a:off x="115354" y="231837"/>
              <a:ext cx="6640749" cy="3770321"/>
            </p:xfrm>
            <a:graphic>
              <a:graphicData uri="http://schemas.openxmlformats.org/drawingml/2006/table">
                <a:tbl>
                  <a:tblPr firstRow="1" bandRow="1">
                    <a:tableStyleId>{5C22544A-7EE6-4342-B048-85BDC9FD1C3A}</a:tableStyleId>
                  </a:tblPr>
                  <a:tblGrid>
                    <a:gridCol w="1041165">
                      <a:extLst>
                        <a:ext uri="{9D8B030D-6E8A-4147-A177-3AD203B41FA5}">
                          <a16:colId xmlns:a16="http://schemas.microsoft.com/office/drawing/2014/main" val="1568142362"/>
                        </a:ext>
                      </a:extLst>
                    </a:gridCol>
                    <a:gridCol w="1763746">
                      <a:extLst>
                        <a:ext uri="{9D8B030D-6E8A-4147-A177-3AD203B41FA5}">
                          <a16:colId xmlns:a16="http://schemas.microsoft.com/office/drawing/2014/main" val="3551711160"/>
                        </a:ext>
                      </a:extLst>
                    </a:gridCol>
                    <a:gridCol w="1974459">
                      <a:extLst>
                        <a:ext uri="{9D8B030D-6E8A-4147-A177-3AD203B41FA5}">
                          <a16:colId xmlns:a16="http://schemas.microsoft.com/office/drawing/2014/main" val="925597041"/>
                        </a:ext>
                      </a:extLst>
                    </a:gridCol>
                    <a:gridCol w="1861379">
                      <a:extLst>
                        <a:ext uri="{9D8B030D-6E8A-4147-A177-3AD203B41FA5}">
                          <a16:colId xmlns:a16="http://schemas.microsoft.com/office/drawing/2014/main" val="4095172789"/>
                        </a:ext>
                      </a:extLst>
                    </a:gridCol>
                  </a:tblGrid>
                  <a:tr h="509971">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9310" t="-2381" r="-217931" b="-6392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2593" t="-2381" r="-95062" b="-6392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6863" t="-2381" r="-654" b="-639286"/>
                          </a:stretch>
                        </a:blipFill>
                      </a:tcPr>
                    </a:tc>
                    <a:extLst>
                      <a:ext uri="{0D108BD9-81ED-4DB2-BD59-A6C34878D82A}">
                        <a16:rowId xmlns:a16="http://schemas.microsoft.com/office/drawing/2014/main" val="2357201933"/>
                      </a:ext>
                    </a:extLst>
                  </a:tr>
                  <a:tr h="1116823">
                    <a:tc>
                      <a:txBody>
                        <a:bodyPr/>
                        <a:lstStyle/>
                        <a:p>
                          <a:r>
                            <a:rPr lang="en-GB" sz="1100" noProof="0">
                              <a:solidFill>
                                <a:schemeClr val="tx1"/>
                              </a:solidFill>
                            </a:rPr>
                            <a:t>1) Multiply</a:t>
                          </a:r>
                          <a:r>
                            <a:rPr lang="en-GB" sz="1100" baseline="0" noProof="0">
                              <a:solidFill>
                                <a:schemeClr val="tx1"/>
                              </a:solidFill>
                            </a:rPr>
                            <a:t> the first fraction by the </a:t>
                          </a:r>
                          <a:r>
                            <a:rPr lang="en-GB" sz="1100" b="1" baseline="0" noProof="0">
                              <a:solidFill>
                                <a:schemeClr val="tx1"/>
                              </a:solidFill>
                            </a:rPr>
                            <a:t>reciprocal </a:t>
                          </a:r>
                          <a:r>
                            <a:rPr lang="en-GB" sz="1100" baseline="0" noProof="0">
                              <a:solidFill>
                                <a:schemeClr val="tx1"/>
                              </a:solidFill>
                            </a:rPr>
                            <a:t>of the second.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14509">
                    <a:tc>
                      <a:txBody>
                        <a:bodyPr/>
                        <a:lstStyle/>
                        <a:p>
                          <a:r>
                            <a:rPr lang="en-GB" sz="1100" noProof="0">
                              <a:solidFill>
                                <a:schemeClr val="tx1"/>
                              </a:solidFill>
                            </a:rPr>
                            <a:t>2) Check if it can be factorised.</a:t>
                          </a:r>
                          <a:r>
                            <a:rPr lang="en-GB" sz="1100" baseline="0" noProof="0">
                              <a:solidFill>
                                <a:schemeClr val="tx1"/>
                              </a:solidFill>
                            </a:rPr>
                            <a:t>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42901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a:solidFill>
                                <a:schemeClr val="tx1"/>
                              </a:solidFill>
                            </a:rPr>
                            <a:t>3) Cross Cancel and simplify</a:t>
                          </a:r>
                        </a:p>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Fallback>
      </mc:AlternateContent>
      <p:sp>
        <p:nvSpPr>
          <p:cNvPr id="50" name="TextBox 49"/>
          <p:cNvSpPr txBox="1"/>
          <p:nvPr/>
        </p:nvSpPr>
        <p:spPr>
          <a:xfrm>
            <a:off x="2316559" y="4054846"/>
            <a:ext cx="2292231" cy="276999"/>
          </a:xfrm>
          <a:prstGeom prst="rect">
            <a:avLst/>
          </a:prstGeom>
          <a:noFill/>
        </p:spPr>
        <p:txBody>
          <a:bodyPr wrap="none" rtlCol="0">
            <a:spAutoFit/>
          </a:bodyPr>
          <a:lstStyle/>
          <a:p>
            <a:pPr algn="ctr"/>
            <a:r>
              <a:rPr lang="en-GB" sz="1200" noProof="0" dirty="0"/>
              <a:t>6. Simplify the algebraic fractions.</a:t>
            </a:r>
          </a:p>
        </p:txBody>
      </p:sp>
      <p:pic>
        <p:nvPicPr>
          <p:cNvPr id="51" name="Picture 50"/>
          <p:cNvPicPr>
            <a:picLocks noChangeAspect="1"/>
          </p:cNvPicPr>
          <p:nvPr/>
        </p:nvPicPr>
        <p:blipFill rotWithShape="1">
          <a:blip r:embed="rId2"/>
          <a:srcRect r="81289" b="70309"/>
          <a:stretch/>
        </p:blipFill>
        <p:spPr>
          <a:xfrm>
            <a:off x="0" y="4335633"/>
            <a:ext cx="1492054" cy="378074"/>
          </a:xfrm>
          <a:prstGeom prst="rect">
            <a:avLst/>
          </a:prstGeom>
        </p:spPr>
      </p:pic>
      <p:sp>
        <p:nvSpPr>
          <p:cNvPr id="52" name="Rectangle 51">
            <a:extLst>
              <a:ext uri="{FF2B5EF4-FFF2-40B4-BE49-F238E27FC236}">
                <a16:creationId xmlns:a16="http://schemas.microsoft.com/office/drawing/2014/main" id="{B16CFEF2-A65A-6142-861C-58ACADF7EEFB}"/>
              </a:ext>
            </a:extLst>
          </p:cNvPr>
          <p:cNvSpPr/>
          <p:nvPr/>
        </p:nvSpPr>
        <p:spPr>
          <a:xfrm>
            <a:off x="205164" y="4762621"/>
            <a:ext cx="1504055"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3" name="Rectangle 52">
            <a:extLst>
              <a:ext uri="{FF2B5EF4-FFF2-40B4-BE49-F238E27FC236}">
                <a16:creationId xmlns:a16="http://schemas.microsoft.com/office/drawing/2014/main" id="{B16CFEF2-A65A-6142-861C-58ACADF7EEFB}"/>
              </a:ext>
            </a:extLst>
          </p:cNvPr>
          <p:cNvSpPr/>
          <p:nvPr/>
        </p:nvSpPr>
        <p:spPr>
          <a:xfrm>
            <a:off x="1808324" y="4762619"/>
            <a:ext cx="1553841"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4" name="Rectangle 53">
            <a:extLst>
              <a:ext uri="{FF2B5EF4-FFF2-40B4-BE49-F238E27FC236}">
                <a16:creationId xmlns:a16="http://schemas.microsoft.com/office/drawing/2014/main" id="{B16CFEF2-A65A-6142-861C-58ACADF7EEFB}"/>
              </a:ext>
            </a:extLst>
          </p:cNvPr>
          <p:cNvSpPr/>
          <p:nvPr/>
        </p:nvSpPr>
        <p:spPr>
          <a:xfrm>
            <a:off x="3472445" y="4762619"/>
            <a:ext cx="1603159"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pic>
        <p:nvPicPr>
          <p:cNvPr id="55" name="Picture 54"/>
          <p:cNvPicPr>
            <a:picLocks noChangeAspect="1"/>
          </p:cNvPicPr>
          <p:nvPr/>
        </p:nvPicPr>
        <p:blipFill rotWithShape="1">
          <a:blip r:embed="rId2"/>
          <a:srcRect l="39597" t="-767" r="45984" b="68518"/>
          <a:stretch/>
        </p:blipFill>
        <p:spPr>
          <a:xfrm>
            <a:off x="1882218" y="4348690"/>
            <a:ext cx="1040331" cy="371547"/>
          </a:xfrm>
          <a:prstGeom prst="rect">
            <a:avLst/>
          </a:prstGeom>
        </p:spPr>
      </p:pic>
      <p:pic>
        <p:nvPicPr>
          <p:cNvPr id="56" name="Picture 55"/>
          <p:cNvPicPr>
            <a:picLocks noChangeAspect="1"/>
          </p:cNvPicPr>
          <p:nvPr/>
        </p:nvPicPr>
        <p:blipFill rotWithShape="1">
          <a:blip r:embed="rId2"/>
          <a:srcRect l="73012" t="-1534" r="7076" b="73584"/>
          <a:stretch/>
        </p:blipFill>
        <p:spPr>
          <a:xfrm>
            <a:off x="3435726" y="4357803"/>
            <a:ext cx="1587875" cy="355903"/>
          </a:xfrm>
          <a:prstGeom prst="rect">
            <a:avLst/>
          </a:prstGeom>
        </p:spPr>
      </p:pic>
      <p:pic>
        <p:nvPicPr>
          <p:cNvPr id="57" name="Picture 56"/>
          <p:cNvPicPr>
            <a:picLocks noChangeAspect="1"/>
          </p:cNvPicPr>
          <p:nvPr/>
        </p:nvPicPr>
        <p:blipFill rotWithShape="1">
          <a:blip r:embed="rId2"/>
          <a:srcRect l="3949" t="33173" r="75453" b="35651"/>
          <a:stretch/>
        </p:blipFill>
        <p:spPr>
          <a:xfrm>
            <a:off x="5056211" y="4351028"/>
            <a:ext cx="1642627" cy="396967"/>
          </a:xfrm>
          <a:prstGeom prst="rect">
            <a:avLst/>
          </a:prstGeom>
        </p:spPr>
      </p:pic>
      <p:sp>
        <p:nvSpPr>
          <p:cNvPr id="58" name="Rectangle 57">
            <a:extLst>
              <a:ext uri="{FF2B5EF4-FFF2-40B4-BE49-F238E27FC236}">
                <a16:creationId xmlns:a16="http://schemas.microsoft.com/office/drawing/2014/main" id="{B16CFEF2-A65A-6142-861C-58ACADF7EEFB}"/>
              </a:ext>
            </a:extLst>
          </p:cNvPr>
          <p:cNvSpPr/>
          <p:nvPr/>
        </p:nvSpPr>
        <p:spPr>
          <a:xfrm>
            <a:off x="5185884" y="4747996"/>
            <a:ext cx="1610685"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66" name="TextBox 65"/>
              <p:cNvSpPr txBox="1"/>
              <p:nvPr/>
            </p:nvSpPr>
            <p:spPr>
              <a:xfrm>
                <a:off x="5185884" y="6966089"/>
                <a:ext cx="1216910" cy="396968"/>
              </a:xfrm>
              <a:prstGeom prst="rect">
                <a:avLst/>
              </a:prstGeom>
              <a:noFill/>
            </p:spPr>
            <p:txBody>
              <a:bodyPr wrap="square" rtlCol="0">
                <a:spAutoFit/>
              </a:bodyPr>
              <a:lstStyle/>
              <a:p>
                <a:r>
                  <a:rPr lang="en-GB" sz="1200" noProof="0" dirty="0"/>
                  <a:t>h.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3</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+9</m:t>
                        </m:r>
                      </m:num>
                      <m:den>
                        <m:r>
                          <a:rPr lang="en-GB" sz="1400" b="0" i="1" noProof="0" smtClean="0">
                            <a:latin typeface="Cambria Math" panose="02040503050406030204" pitchFamily="18" charset="0"/>
                          </a:rPr>
                          <m:t>2</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𝑥</m:t>
                        </m:r>
                        <m:r>
                          <a:rPr lang="en-GB" sz="1400" b="0" i="1" noProof="0" smtClean="0">
                            <a:latin typeface="Cambria Math" panose="02040503050406030204" pitchFamily="18" charset="0"/>
                            <a:ea typeface="Cambria Math" panose="02040503050406030204" pitchFamily="18" charset="0"/>
                          </a:rPr>
                          <m:t>+3</m:t>
                        </m:r>
                      </m:num>
                      <m:den>
                        <m:r>
                          <a:rPr lang="en-GB" sz="1400" b="0" i="1" noProof="0" smtClean="0">
                            <a:latin typeface="Cambria Math" panose="02040503050406030204" pitchFamily="18" charset="0"/>
                            <a:ea typeface="Cambria Math" panose="02040503050406030204" pitchFamily="18" charset="0"/>
                          </a:rPr>
                          <m:t>4</m:t>
                        </m:r>
                      </m:den>
                    </m:f>
                  </m:oMath>
                </a14:m>
                <a:endParaRPr lang="en-GB" sz="1200" noProof="0" dirty="0"/>
              </a:p>
            </p:txBody>
          </p:sp>
        </mc:Choice>
        <mc:Fallback xmlns="">
          <p:sp>
            <p:nvSpPr>
              <p:cNvPr id="66" name="TextBox 65"/>
              <p:cNvSpPr txBox="1">
                <a:spLocks noRot="1" noChangeAspect="1" noMove="1" noResize="1" noEditPoints="1" noAdjustHandles="1" noChangeArrowheads="1" noChangeShapeType="1" noTextEdit="1"/>
              </p:cNvSpPr>
              <p:nvPr/>
            </p:nvSpPr>
            <p:spPr>
              <a:xfrm>
                <a:off x="5185884" y="6966089"/>
                <a:ext cx="1216910" cy="396968"/>
              </a:xfrm>
              <a:prstGeom prst="rect">
                <a:avLst/>
              </a:prstGeom>
              <a:blipFill>
                <a:blip r:embed="rId4"/>
                <a:stretch>
                  <a:fillRect l="-503"/>
                </a:stretch>
              </a:blipFill>
            </p:spPr>
            <p:txBody>
              <a:bodyPr/>
              <a:lstStyle/>
              <a:p>
                <a:r>
                  <a:rPr lang="en-US">
                    <a:noFill/>
                  </a:rPr>
                  <a:t> </a:t>
                </a:r>
              </a:p>
            </p:txBody>
          </p:sp>
        </mc:Fallback>
      </mc:AlternateContent>
      <p:sp>
        <p:nvSpPr>
          <p:cNvPr id="67" name="Rectangle 66">
            <a:extLst>
              <a:ext uri="{FF2B5EF4-FFF2-40B4-BE49-F238E27FC236}">
                <a16:creationId xmlns:a16="http://schemas.microsoft.com/office/drawing/2014/main" id="{B16CFEF2-A65A-6142-861C-58ACADF7EEFB}"/>
              </a:ext>
            </a:extLst>
          </p:cNvPr>
          <p:cNvSpPr/>
          <p:nvPr/>
        </p:nvSpPr>
        <p:spPr>
          <a:xfrm>
            <a:off x="179573" y="7422647"/>
            <a:ext cx="1504055"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68" name="Rectangle 67">
            <a:extLst>
              <a:ext uri="{FF2B5EF4-FFF2-40B4-BE49-F238E27FC236}">
                <a16:creationId xmlns:a16="http://schemas.microsoft.com/office/drawing/2014/main" id="{B16CFEF2-A65A-6142-861C-58ACADF7EEFB}"/>
              </a:ext>
            </a:extLst>
          </p:cNvPr>
          <p:cNvSpPr/>
          <p:nvPr/>
        </p:nvSpPr>
        <p:spPr>
          <a:xfrm>
            <a:off x="1782733" y="7422645"/>
            <a:ext cx="1553841"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69" name="Rectangle 68">
            <a:extLst>
              <a:ext uri="{FF2B5EF4-FFF2-40B4-BE49-F238E27FC236}">
                <a16:creationId xmlns:a16="http://schemas.microsoft.com/office/drawing/2014/main" id="{B16CFEF2-A65A-6142-861C-58ACADF7EEFB}"/>
              </a:ext>
            </a:extLst>
          </p:cNvPr>
          <p:cNvSpPr/>
          <p:nvPr/>
        </p:nvSpPr>
        <p:spPr>
          <a:xfrm>
            <a:off x="3446854" y="7422645"/>
            <a:ext cx="1603159"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70" name="Rectangle 69">
            <a:extLst>
              <a:ext uri="{FF2B5EF4-FFF2-40B4-BE49-F238E27FC236}">
                <a16:creationId xmlns:a16="http://schemas.microsoft.com/office/drawing/2014/main" id="{B16CFEF2-A65A-6142-861C-58ACADF7EEFB}"/>
              </a:ext>
            </a:extLst>
          </p:cNvPr>
          <p:cNvSpPr/>
          <p:nvPr/>
        </p:nvSpPr>
        <p:spPr>
          <a:xfrm>
            <a:off x="5160293" y="7408022"/>
            <a:ext cx="1610685"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4" name="TextBox 33">
            <a:extLst>
              <a:ext uri="{FF2B5EF4-FFF2-40B4-BE49-F238E27FC236}">
                <a16:creationId xmlns:a16="http://schemas.microsoft.com/office/drawing/2014/main" id="{C3C65E48-8C3D-6849-AD77-7AD8678AD8DA}"/>
              </a:ext>
            </a:extLst>
          </p:cNvPr>
          <p:cNvSpPr txBox="1"/>
          <p:nvPr/>
        </p:nvSpPr>
        <p:spPr>
          <a:xfrm>
            <a:off x="94275" y="4048269"/>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2599370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 name="TextBox 22"/>
              <p:cNvSpPr txBox="1"/>
              <p:nvPr/>
            </p:nvSpPr>
            <p:spPr>
              <a:xfrm>
                <a:off x="388670" y="391624"/>
                <a:ext cx="1161472" cy="398122"/>
              </a:xfrm>
              <a:prstGeom prst="rect">
                <a:avLst/>
              </a:prstGeom>
              <a:noFill/>
            </p:spPr>
            <p:txBody>
              <a:bodyPr wrap="square" rtlCol="0">
                <a:spAutoFit/>
              </a:bodyPr>
              <a:lstStyle/>
              <a:p>
                <a:r>
                  <a:rPr lang="en-GB" sz="1200" noProof="0" dirty="0" err="1"/>
                  <a:t>i</a:t>
                </a:r>
                <a:r>
                  <a:rPr lang="en-GB" sz="1200" noProof="0" dirty="0"/>
                  <a:t>.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4</m:t>
                        </m:r>
                      </m:num>
                      <m:den>
                        <m:r>
                          <a:rPr lang="en-GB" sz="1400" b="0" i="1" noProof="0" smtClean="0">
                            <a:latin typeface="Cambria Math" panose="02040503050406030204" pitchFamily="18" charset="0"/>
                          </a:rPr>
                          <m:t>𝑥</m:t>
                        </m:r>
                        <m:r>
                          <a:rPr lang="en-GB" sz="1400" b="0" i="1" noProof="0" smtClean="0">
                            <a:latin typeface="Cambria Math" panose="02040503050406030204" pitchFamily="18" charset="0"/>
                          </a:rPr>
                          <m:t>−2</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3</m:t>
                        </m:r>
                      </m:num>
                      <m:den>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2</m:t>
                            </m:r>
                          </m:sup>
                        </m:sSup>
                        <m:r>
                          <a:rPr lang="en-GB" sz="1400" b="0" i="1" noProof="0" smtClean="0">
                            <a:latin typeface="Cambria Math" panose="02040503050406030204" pitchFamily="18" charset="0"/>
                            <a:ea typeface="Cambria Math" panose="02040503050406030204" pitchFamily="18" charset="0"/>
                          </a:rPr>
                          <m:t>−2</m:t>
                        </m:r>
                        <m:r>
                          <a:rPr lang="en-GB" sz="1400" b="0" i="1" noProof="0" smtClean="0">
                            <a:latin typeface="Cambria Math" panose="02040503050406030204" pitchFamily="18" charset="0"/>
                            <a:ea typeface="Cambria Math" panose="02040503050406030204" pitchFamily="18" charset="0"/>
                          </a:rPr>
                          <m:t>𝑥</m:t>
                        </m:r>
                      </m:den>
                    </m:f>
                  </m:oMath>
                </a14:m>
                <a:endParaRPr lang="en-GB" sz="1400" noProof="0" dirty="0"/>
              </a:p>
            </p:txBody>
          </p:sp>
        </mc:Choice>
        <mc:Fallback xmlns="">
          <p:sp>
            <p:nvSpPr>
              <p:cNvPr id="23" name="TextBox 22"/>
              <p:cNvSpPr txBox="1">
                <a:spLocks noRot="1" noChangeAspect="1" noMove="1" noResize="1" noEditPoints="1" noAdjustHandles="1" noChangeArrowheads="1" noChangeShapeType="1" noTextEdit="1"/>
              </p:cNvSpPr>
              <p:nvPr/>
            </p:nvSpPr>
            <p:spPr>
              <a:xfrm>
                <a:off x="388670" y="391624"/>
                <a:ext cx="1161472" cy="398122"/>
              </a:xfrm>
              <a:prstGeom prst="rect">
                <a:avLst/>
              </a:prstGeom>
              <a:blipFill>
                <a:blip r:embed="rId2"/>
                <a:stretch>
                  <a:fillRect l="-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1998081" y="423479"/>
                <a:ext cx="1313758" cy="398122"/>
              </a:xfrm>
              <a:prstGeom prst="rect">
                <a:avLst/>
              </a:prstGeom>
              <a:noFill/>
            </p:spPr>
            <p:txBody>
              <a:bodyPr wrap="none" rtlCol="0">
                <a:spAutoFit/>
              </a:bodyPr>
              <a:lstStyle/>
              <a:p>
                <a:r>
                  <a:rPr lang="en-GB" sz="1200" noProof="0" dirty="0"/>
                  <a:t>j.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11</m:t>
                        </m:r>
                      </m:num>
                      <m:den>
                        <m:r>
                          <a:rPr lang="en-GB" sz="1400" b="0" i="1" noProof="0" smtClean="0">
                            <a:latin typeface="Cambria Math" panose="02040503050406030204" pitchFamily="18" charset="0"/>
                          </a:rPr>
                          <m:t>4</m:t>
                        </m:r>
                        <m:sSup>
                          <m:sSupPr>
                            <m:ctrlPr>
                              <a:rPr lang="en-GB" sz="1400" b="0" i="1" noProof="0" smtClean="0">
                                <a:latin typeface="Cambria Math" panose="02040503050406030204" pitchFamily="18" charset="0"/>
                              </a:rPr>
                            </m:ctrlPr>
                          </m:sSupPr>
                          <m:e>
                            <m:r>
                              <a:rPr lang="en-GB" sz="1400" b="0" i="1" noProof="0" smtClean="0">
                                <a:latin typeface="Cambria Math" panose="02040503050406030204" pitchFamily="18" charset="0"/>
                              </a:rPr>
                              <m:t>𝑥</m:t>
                            </m:r>
                          </m:e>
                          <m:sup>
                            <m:r>
                              <a:rPr lang="en-GB" sz="1400" b="0" i="1" noProof="0" smtClean="0">
                                <a:latin typeface="Cambria Math" panose="02040503050406030204" pitchFamily="18" charset="0"/>
                              </a:rPr>
                              <m:t>2</m:t>
                            </m:r>
                          </m:sup>
                        </m:sSup>
                        <m:r>
                          <a:rPr lang="en-GB" sz="1400" b="0" i="1" noProof="0" smtClean="0">
                            <a:latin typeface="Cambria Math" panose="02040503050406030204" pitchFamily="18" charset="0"/>
                          </a:rPr>
                          <m:t>+2</m:t>
                        </m:r>
                        <m:r>
                          <a:rPr lang="en-GB" sz="1400" b="0" i="1" noProof="0" smtClean="0">
                            <a:latin typeface="Cambria Math" panose="02040503050406030204" pitchFamily="18" charset="0"/>
                          </a:rPr>
                          <m:t>𝑥</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3</m:t>
                        </m:r>
                      </m:num>
                      <m:den>
                        <m:r>
                          <a:rPr lang="en-GB" sz="1400" b="0" i="1" noProof="0" smtClean="0">
                            <a:latin typeface="Cambria Math" panose="02040503050406030204" pitchFamily="18" charset="0"/>
                            <a:ea typeface="Cambria Math" panose="02040503050406030204" pitchFamily="18" charset="0"/>
                          </a:rPr>
                          <m:t>2</m:t>
                        </m:r>
                        <m:r>
                          <a:rPr lang="en-GB" sz="1400" b="0" i="1" noProof="0" smtClean="0">
                            <a:latin typeface="Cambria Math" panose="02040503050406030204" pitchFamily="18" charset="0"/>
                            <a:ea typeface="Cambria Math" panose="02040503050406030204" pitchFamily="18" charset="0"/>
                          </a:rPr>
                          <m:t>𝑥</m:t>
                        </m:r>
                        <m:r>
                          <a:rPr lang="en-GB" sz="1400" b="0" i="1" noProof="0" smtClean="0">
                            <a:latin typeface="Cambria Math" panose="02040503050406030204" pitchFamily="18" charset="0"/>
                            <a:ea typeface="Cambria Math" panose="02040503050406030204" pitchFamily="18" charset="0"/>
                          </a:rPr>
                          <m:t>+1</m:t>
                        </m:r>
                      </m:den>
                    </m:f>
                  </m:oMath>
                </a14:m>
                <a:endParaRPr lang="en-GB" sz="14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1998081" y="423479"/>
                <a:ext cx="1313758" cy="398122"/>
              </a:xfrm>
              <a:prstGeom prst="rect">
                <a:avLst/>
              </a:prstGeom>
              <a:blipFill>
                <a:blip r:embed="rId3"/>
                <a:stretch>
                  <a:fillRect l="-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3672403" y="423479"/>
                <a:ext cx="1233671" cy="420308"/>
              </a:xfrm>
              <a:prstGeom prst="rect">
                <a:avLst/>
              </a:prstGeom>
              <a:noFill/>
            </p:spPr>
            <p:txBody>
              <a:bodyPr wrap="none" rtlCol="0">
                <a:spAutoFit/>
              </a:bodyPr>
              <a:lstStyle/>
              <a:p>
                <a:r>
                  <a:rPr lang="en-GB" sz="1200" noProof="0" dirty="0"/>
                  <a:t>k</a:t>
                </a:r>
                <a:r>
                  <a:rPr lang="en-GB" sz="1400" noProof="0" dirty="0"/>
                  <a:t>.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+3</m:t>
                        </m:r>
                      </m:num>
                      <m:den>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𝑥</m:t>
                        </m:r>
                      </m:num>
                      <m:den>
                        <m:sSup>
                          <m:sSupPr>
                            <m:ctrlPr>
                              <a:rPr lang="en-GB" sz="1400" b="0" i="1" noProof="0" smtClean="0">
                                <a:latin typeface="Cambria Math" panose="02040503050406030204" pitchFamily="18" charset="0"/>
                                <a:ea typeface="Cambria Math" panose="02040503050406030204" pitchFamily="18" charset="0"/>
                              </a:rPr>
                            </m:ctrlPr>
                          </m:sSupPr>
                          <m:e>
                            <m:d>
                              <m:dPr>
                                <m:ctrlPr>
                                  <a:rPr lang="en-GB" sz="1400" b="0" i="1" noProof="0" smtClean="0">
                                    <a:latin typeface="Cambria Math" panose="02040503050406030204" pitchFamily="18" charset="0"/>
                                    <a:ea typeface="Cambria Math" panose="02040503050406030204" pitchFamily="18" charset="0"/>
                                  </a:rPr>
                                </m:ctrlPr>
                              </m:dPr>
                              <m:e>
                                <m:r>
                                  <a:rPr lang="en-GB" sz="1400" b="0" i="1" noProof="0" smtClean="0">
                                    <a:latin typeface="Cambria Math" panose="02040503050406030204" pitchFamily="18" charset="0"/>
                                    <a:ea typeface="Cambria Math" panose="02040503050406030204" pitchFamily="18" charset="0"/>
                                  </a:rPr>
                                  <m:t>𝑥</m:t>
                                </m:r>
                                <m:r>
                                  <a:rPr lang="en-GB" sz="1400" b="0" i="1" noProof="0" smtClean="0">
                                    <a:latin typeface="Cambria Math" panose="02040503050406030204" pitchFamily="18" charset="0"/>
                                    <a:ea typeface="Cambria Math" panose="02040503050406030204" pitchFamily="18" charset="0"/>
                                  </a:rPr>
                                  <m:t>+1</m:t>
                                </m:r>
                              </m:e>
                            </m:d>
                          </m:e>
                          <m:sup>
                            <m:r>
                              <a:rPr lang="en-GB" sz="1400" b="0" i="1" noProof="0" smtClean="0">
                                <a:latin typeface="Cambria Math" panose="02040503050406030204" pitchFamily="18" charset="0"/>
                                <a:ea typeface="Cambria Math" panose="02040503050406030204" pitchFamily="18" charset="0"/>
                              </a:rPr>
                              <m:t>2</m:t>
                            </m:r>
                          </m:sup>
                        </m:sSup>
                      </m:den>
                    </m:f>
                  </m:oMath>
                </a14:m>
                <a:endParaRPr lang="en-GB" sz="1400" noProof="0" dirty="0"/>
              </a:p>
            </p:txBody>
          </p:sp>
        </mc:Choice>
        <mc:Fallback xmlns="">
          <p:sp>
            <p:nvSpPr>
              <p:cNvPr id="33" name="TextBox 32"/>
              <p:cNvSpPr txBox="1">
                <a:spLocks noRot="1" noChangeAspect="1" noMove="1" noResize="1" noEditPoints="1" noAdjustHandles="1" noChangeArrowheads="1" noChangeShapeType="1" noTextEdit="1"/>
              </p:cNvSpPr>
              <p:nvPr/>
            </p:nvSpPr>
            <p:spPr>
              <a:xfrm>
                <a:off x="3672403" y="423479"/>
                <a:ext cx="1233671" cy="42030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5305153" y="361424"/>
                <a:ext cx="1211165" cy="428322"/>
              </a:xfrm>
              <a:prstGeom prst="rect">
                <a:avLst/>
              </a:prstGeom>
              <a:noFill/>
            </p:spPr>
            <p:txBody>
              <a:bodyPr wrap="none" rtlCol="0">
                <a:spAutoFit/>
              </a:bodyPr>
              <a:lstStyle/>
              <a:p>
                <a:r>
                  <a:rPr lang="en-GB" sz="1200" noProof="0" dirty="0"/>
                  <a:t>l. </a:t>
                </a:r>
                <a14:m>
                  <m:oMath xmlns:m="http://schemas.openxmlformats.org/officeDocument/2006/math">
                    <m:f>
                      <m:fPr>
                        <m:ctrlPr>
                          <a:rPr lang="en-GB" sz="1400" i="1" noProof="0" smtClean="0">
                            <a:latin typeface="Cambria Math" panose="02040503050406030204" pitchFamily="18" charset="0"/>
                          </a:rPr>
                        </m:ctrlPr>
                      </m:fPr>
                      <m:num>
                        <m:sSup>
                          <m:sSupPr>
                            <m:ctrlPr>
                              <a:rPr lang="en-GB" sz="1400" b="0" i="1" noProof="0" smtClean="0">
                                <a:latin typeface="Cambria Math" panose="02040503050406030204" pitchFamily="18" charset="0"/>
                              </a:rPr>
                            </m:ctrlPr>
                          </m:sSupPr>
                          <m:e>
                            <m:r>
                              <a:rPr lang="en-GB" sz="1400" b="0" i="1" noProof="0" smtClean="0">
                                <a:latin typeface="Cambria Math" panose="02040503050406030204" pitchFamily="18" charset="0"/>
                              </a:rPr>
                              <m:t>𝑥</m:t>
                            </m:r>
                          </m:e>
                          <m:sup>
                            <m:r>
                              <a:rPr lang="en-GB" sz="1400" b="0" i="1" noProof="0" smtClean="0">
                                <a:latin typeface="Cambria Math" panose="02040503050406030204" pitchFamily="18" charset="0"/>
                              </a:rPr>
                              <m:t>2</m:t>
                            </m:r>
                          </m:sup>
                        </m:sSup>
                      </m:num>
                      <m:den>
                        <m:r>
                          <a:rPr lang="en-GB" sz="1400" b="0" i="1" noProof="0" smtClean="0">
                            <a:latin typeface="Cambria Math" panose="02040503050406030204" pitchFamily="18" charset="0"/>
                          </a:rPr>
                          <m:t>7</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6</m:t>
                        </m:r>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3</m:t>
                            </m:r>
                          </m:sup>
                        </m:sSup>
                        <m:r>
                          <a:rPr lang="en-GB" sz="1400" b="0" i="1" noProof="0" smtClean="0">
                            <a:latin typeface="Cambria Math" panose="02040503050406030204" pitchFamily="18" charset="0"/>
                            <a:ea typeface="Cambria Math" panose="02040503050406030204" pitchFamily="18" charset="0"/>
                          </a:rPr>
                          <m:t>+8</m:t>
                        </m:r>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2</m:t>
                            </m:r>
                          </m:sup>
                        </m:sSup>
                      </m:num>
                      <m:den>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2</m:t>
                            </m:r>
                          </m:sup>
                        </m:sSup>
                        <m:r>
                          <a:rPr lang="en-GB" sz="1400" b="0" i="1" noProof="0" smtClean="0">
                            <a:latin typeface="Cambria Math" panose="02040503050406030204" pitchFamily="18" charset="0"/>
                            <a:ea typeface="Cambria Math" panose="02040503050406030204" pitchFamily="18" charset="0"/>
                          </a:rPr>
                          <m:t>−7</m:t>
                        </m:r>
                        <m:r>
                          <a:rPr lang="en-GB" sz="1400" b="0" i="1" noProof="0" smtClean="0">
                            <a:latin typeface="Cambria Math" panose="02040503050406030204" pitchFamily="18" charset="0"/>
                            <a:ea typeface="Cambria Math" panose="02040503050406030204" pitchFamily="18" charset="0"/>
                          </a:rPr>
                          <m:t>𝑥</m:t>
                        </m:r>
                      </m:den>
                    </m:f>
                  </m:oMath>
                </a14:m>
                <a:endParaRPr lang="en-GB" sz="1400" noProof="0" dirty="0"/>
              </a:p>
            </p:txBody>
          </p:sp>
        </mc:Choice>
        <mc:Fallback xmlns="">
          <p:sp>
            <p:nvSpPr>
              <p:cNvPr id="34" name="TextBox 33"/>
              <p:cNvSpPr txBox="1">
                <a:spLocks noRot="1" noChangeAspect="1" noMove="1" noResize="1" noEditPoints="1" noAdjustHandles="1" noChangeArrowheads="1" noChangeShapeType="1" noTextEdit="1"/>
              </p:cNvSpPr>
              <p:nvPr/>
            </p:nvSpPr>
            <p:spPr>
              <a:xfrm>
                <a:off x="5305153" y="361424"/>
                <a:ext cx="1211165" cy="428322"/>
              </a:xfrm>
              <a:prstGeom prst="rect">
                <a:avLst/>
              </a:prstGeom>
              <a:blipFill>
                <a:blip r:embed="rId5"/>
                <a:stretch>
                  <a:fillRect/>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B16CFEF2-A65A-6142-861C-58ACADF7EEFB}"/>
              </a:ext>
            </a:extLst>
          </p:cNvPr>
          <p:cNvSpPr/>
          <p:nvPr/>
        </p:nvSpPr>
        <p:spPr>
          <a:xfrm>
            <a:off x="324433" y="846603"/>
            <a:ext cx="1454735"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6" name="Rectangle 35">
            <a:extLst>
              <a:ext uri="{FF2B5EF4-FFF2-40B4-BE49-F238E27FC236}">
                <a16:creationId xmlns:a16="http://schemas.microsoft.com/office/drawing/2014/main" id="{B16CFEF2-A65A-6142-861C-58ACADF7EEFB}"/>
              </a:ext>
            </a:extLst>
          </p:cNvPr>
          <p:cNvSpPr/>
          <p:nvPr/>
        </p:nvSpPr>
        <p:spPr>
          <a:xfrm>
            <a:off x="1927593" y="846601"/>
            <a:ext cx="1454735"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7" name="Rectangle 36">
            <a:extLst>
              <a:ext uri="{FF2B5EF4-FFF2-40B4-BE49-F238E27FC236}">
                <a16:creationId xmlns:a16="http://schemas.microsoft.com/office/drawing/2014/main" id="{B16CFEF2-A65A-6142-861C-58ACADF7EEFB}"/>
              </a:ext>
            </a:extLst>
          </p:cNvPr>
          <p:cNvSpPr/>
          <p:nvPr/>
        </p:nvSpPr>
        <p:spPr>
          <a:xfrm>
            <a:off x="3530754" y="846602"/>
            <a:ext cx="1454735"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8" name="Rectangle 37">
            <a:extLst>
              <a:ext uri="{FF2B5EF4-FFF2-40B4-BE49-F238E27FC236}">
                <a16:creationId xmlns:a16="http://schemas.microsoft.com/office/drawing/2014/main" id="{B16CFEF2-A65A-6142-861C-58ACADF7EEFB}"/>
              </a:ext>
            </a:extLst>
          </p:cNvPr>
          <p:cNvSpPr/>
          <p:nvPr/>
        </p:nvSpPr>
        <p:spPr>
          <a:xfrm>
            <a:off x="5133914" y="846601"/>
            <a:ext cx="1454735"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 name="Slide Number Placeholder 2"/>
          <p:cNvSpPr>
            <a:spLocks noGrp="1"/>
          </p:cNvSpPr>
          <p:nvPr>
            <p:ph type="sldNum" sz="quarter" idx="12"/>
          </p:nvPr>
        </p:nvSpPr>
        <p:spPr>
          <a:xfrm>
            <a:off x="5285427" y="9450958"/>
            <a:ext cx="1543050" cy="527403"/>
          </a:xfrm>
        </p:spPr>
        <p:txBody>
          <a:bodyPr/>
          <a:lstStyle/>
          <a:p>
            <a:fld id="{9BD3B4A0-BFF9-422C-B253-48BA94BE2F5B}" type="slidenum">
              <a:rPr lang="en-GB" noProof="0" smtClean="0"/>
              <a:t>14</a:t>
            </a:fld>
            <a:endParaRPr lang="en-GB" noProof="0" dirty="0"/>
          </a:p>
        </p:txBody>
      </p:sp>
      <mc:AlternateContent xmlns:mc="http://schemas.openxmlformats.org/markup-compatibility/2006" xmlns:a14="http://schemas.microsoft.com/office/drawing/2010/main">
        <mc:Choice Requires="a14">
          <p:sp>
            <p:nvSpPr>
              <p:cNvPr id="44" name="TextBox 43"/>
              <p:cNvSpPr txBox="1"/>
              <p:nvPr/>
            </p:nvSpPr>
            <p:spPr>
              <a:xfrm>
                <a:off x="434327" y="3491010"/>
                <a:ext cx="1817421" cy="427168"/>
              </a:xfrm>
              <a:prstGeom prst="rect">
                <a:avLst/>
              </a:prstGeom>
              <a:noFill/>
            </p:spPr>
            <p:txBody>
              <a:bodyPr wrap="none" rtlCol="0">
                <a:spAutoFit/>
              </a:bodyPr>
              <a:lstStyle/>
              <a:p>
                <a:r>
                  <a:rPr lang="en-GB" sz="1200" noProof="0" dirty="0"/>
                  <a:t>m. </a:t>
                </a:r>
                <a14:m>
                  <m:oMath xmlns:m="http://schemas.openxmlformats.org/officeDocument/2006/math">
                    <m:f>
                      <m:fPr>
                        <m:ctrlPr>
                          <a:rPr lang="en-GB" sz="1400" i="1" noProof="0" smtClean="0">
                            <a:latin typeface="Cambria Math" panose="02040503050406030204" pitchFamily="18" charset="0"/>
                          </a:rPr>
                        </m:ctrlPr>
                      </m:fPr>
                      <m:num>
                        <m:sSup>
                          <m:sSupPr>
                            <m:ctrlPr>
                              <a:rPr lang="en-GB" sz="1400" b="0" i="1" noProof="0" smtClean="0">
                                <a:latin typeface="Cambria Math" panose="02040503050406030204" pitchFamily="18" charset="0"/>
                              </a:rPr>
                            </m:ctrlPr>
                          </m:sSupPr>
                          <m:e>
                            <m:r>
                              <a:rPr lang="en-GB" sz="1400" b="0" i="1" noProof="0" smtClean="0">
                                <a:latin typeface="Cambria Math" panose="02040503050406030204" pitchFamily="18" charset="0"/>
                              </a:rPr>
                              <m:t>𝑥</m:t>
                            </m:r>
                          </m:e>
                          <m:sup>
                            <m:r>
                              <a:rPr lang="en-GB" sz="1400" b="0" i="1" noProof="0" smtClean="0">
                                <a:latin typeface="Cambria Math" panose="02040503050406030204" pitchFamily="18" charset="0"/>
                              </a:rPr>
                              <m:t>2</m:t>
                            </m:r>
                          </m:sup>
                        </m:sSup>
                        <m:r>
                          <a:rPr lang="en-GB" sz="1400" b="0" i="1" noProof="0" smtClean="0">
                            <a:latin typeface="Cambria Math" panose="02040503050406030204" pitchFamily="18" charset="0"/>
                          </a:rPr>
                          <m:t>+7</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+10</m:t>
                        </m:r>
                      </m:num>
                      <m:den>
                        <m:r>
                          <a:rPr lang="en-GB" sz="1400" b="0" i="1" noProof="0" smtClean="0">
                            <a:latin typeface="Cambria Math" panose="02040503050406030204" pitchFamily="18" charset="0"/>
                          </a:rPr>
                          <m:t>2</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2</m:t>
                            </m:r>
                          </m:sup>
                        </m:sSup>
                        <m:r>
                          <a:rPr lang="en-GB" sz="1400" b="0" i="1" noProof="0" smtClean="0">
                            <a:latin typeface="Cambria Math" panose="02040503050406030204" pitchFamily="18" charset="0"/>
                            <a:ea typeface="Cambria Math" panose="02040503050406030204" pitchFamily="18" charset="0"/>
                          </a:rPr>
                          <m:t>+4</m:t>
                        </m:r>
                        <m:r>
                          <a:rPr lang="en-GB" sz="1400" b="0" i="1" noProof="0" smtClean="0">
                            <a:latin typeface="Cambria Math" panose="02040503050406030204" pitchFamily="18" charset="0"/>
                            <a:ea typeface="Cambria Math" panose="02040503050406030204" pitchFamily="18" charset="0"/>
                          </a:rPr>
                          <m:t>𝑥</m:t>
                        </m:r>
                        <m:r>
                          <a:rPr lang="en-GB" sz="1400" b="0" i="1" noProof="0" smtClean="0">
                            <a:latin typeface="Cambria Math" panose="02040503050406030204" pitchFamily="18" charset="0"/>
                            <a:ea typeface="Cambria Math" panose="02040503050406030204" pitchFamily="18" charset="0"/>
                          </a:rPr>
                          <m:t>−5</m:t>
                        </m:r>
                      </m:num>
                      <m:den>
                        <m:r>
                          <a:rPr lang="en-GB" sz="1400" b="0" i="1" noProof="0" smtClean="0">
                            <a:latin typeface="Cambria Math" panose="02040503050406030204" pitchFamily="18" charset="0"/>
                            <a:ea typeface="Cambria Math" panose="02040503050406030204" pitchFamily="18" charset="0"/>
                          </a:rPr>
                          <m:t>4</m:t>
                        </m:r>
                      </m:den>
                    </m:f>
                  </m:oMath>
                </a14:m>
                <a:endParaRPr lang="en-GB" sz="1200" noProof="0" dirty="0"/>
              </a:p>
            </p:txBody>
          </p:sp>
        </mc:Choice>
        <mc:Fallback xmlns="">
          <p:sp>
            <p:nvSpPr>
              <p:cNvPr id="44" name="TextBox 43"/>
              <p:cNvSpPr txBox="1">
                <a:spLocks noRot="1" noChangeAspect="1" noMove="1" noResize="1" noEditPoints="1" noAdjustHandles="1" noChangeArrowheads="1" noChangeShapeType="1" noTextEdit="1"/>
              </p:cNvSpPr>
              <p:nvPr/>
            </p:nvSpPr>
            <p:spPr>
              <a:xfrm>
                <a:off x="434327" y="3491010"/>
                <a:ext cx="1817421" cy="42716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2793732" y="3491010"/>
                <a:ext cx="1774140" cy="397866"/>
              </a:xfrm>
              <a:prstGeom prst="rect">
                <a:avLst/>
              </a:prstGeom>
              <a:noFill/>
            </p:spPr>
            <p:txBody>
              <a:bodyPr wrap="none" rtlCol="0">
                <a:spAutoFit/>
              </a:bodyPr>
              <a:lstStyle/>
              <a:p>
                <a:r>
                  <a:rPr lang="en-GB" sz="1200" noProof="0" dirty="0"/>
                  <a:t>n.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14</m:t>
                        </m:r>
                      </m:num>
                      <m:den>
                        <m:sSup>
                          <m:sSupPr>
                            <m:ctrlPr>
                              <a:rPr lang="en-GB" sz="1400" b="0" i="1" noProof="0" smtClean="0">
                                <a:latin typeface="Cambria Math" panose="02040503050406030204" pitchFamily="18" charset="0"/>
                              </a:rPr>
                            </m:ctrlPr>
                          </m:sSupPr>
                          <m:e>
                            <m:r>
                              <a:rPr lang="en-GB" sz="1400" b="0" i="1" noProof="0" smtClean="0">
                                <a:latin typeface="Cambria Math" panose="02040503050406030204" pitchFamily="18" charset="0"/>
                              </a:rPr>
                              <m:t>𝑥</m:t>
                            </m:r>
                          </m:e>
                          <m:sup>
                            <m:r>
                              <a:rPr lang="en-GB" sz="1400" b="0" i="1" noProof="0" smtClean="0">
                                <a:latin typeface="Cambria Math" panose="02040503050406030204" pitchFamily="18" charset="0"/>
                              </a:rPr>
                              <m:t>2</m:t>
                            </m:r>
                          </m:sup>
                        </m:sSup>
                        <m:r>
                          <a:rPr lang="en-GB" sz="1400" b="0" i="1" noProof="0" smtClean="0">
                            <a:latin typeface="Cambria Math" panose="02040503050406030204" pitchFamily="18" charset="0"/>
                          </a:rPr>
                          <m:t>−5</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+6</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7</m:t>
                        </m:r>
                      </m:num>
                      <m:den>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2</m:t>
                            </m:r>
                          </m:sup>
                        </m:sSup>
                        <m:r>
                          <a:rPr lang="en-GB" sz="1400" b="0" i="1" noProof="0" smtClean="0">
                            <a:latin typeface="Cambria Math" panose="02040503050406030204" pitchFamily="18" charset="0"/>
                            <a:ea typeface="Cambria Math" panose="02040503050406030204" pitchFamily="18" charset="0"/>
                          </a:rPr>
                          <m:t>+3</m:t>
                        </m:r>
                        <m:r>
                          <a:rPr lang="en-GB" sz="1400" b="0" i="1" noProof="0" smtClean="0">
                            <a:latin typeface="Cambria Math" panose="02040503050406030204" pitchFamily="18" charset="0"/>
                            <a:ea typeface="Cambria Math" panose="02040503050406030204" pitchFamily="18" charset="0"/>
                          </a:rPr>
                          <m:t>𝑥</m:t>
                        </m:r>
                        <m:r>
                          <a:rPr lang="en-GB" sz="1400" b="0" i="1" noProof="0" smtClean="0">
                            <a:latin typeface="Cambria Math" panose="02040503050406030204" pitchFamily="18" charset="0"/>
                            <a:ea typeface="Cambria Math" panose="02040503050406030204" pitchFamily="18" charset="0"/>
                          </a:rPr>
                          <m:t>−10</m:t>
                        </m:r>
                      </m:den>
                    </m:f>
                  </m:oMath>
                </a14:m>
                <a:endParaRPr lang="en-GB" sz="1400" noProof="0" dirty="0"/>
              </a:p>
            </p:txBody>
          </p:sp>
        </mc:Choice>
        <mc:Fallback xmlns="">
          <p:sp>
            <p:nvSpPr>
              <p:cNvPr id="45" name="TextBox 44"/>
              <p:cNvSpPr txBox="1">
                <a:spLocks noRot="1" noChangeAspect="1" noMove="1" noResize="1" noEditPoints="1" noAdjustHandles="1" noChangeArrowheads="1" noChangeShapeType="1" noTextEdit="1"/>
              </p:cNvSpPr>
              <p:nvPr/>
            </p:nvSpPr>
            <p:spPr>
              <a:xfrm>
                <a:off x="2793732" y="3491010"/>
                <a:ext cx="1774140" cy="39786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4906074" y="3497871"/>
                <a:ext cx="1206036" cy="398314"/>
              </a:xfrm>
              <a:prstGeom prst="rect">
                <a:avLst/>
              </a:prstGeom>
              <a:noFill/>
            </p:spPr>
            <p:txBody>
              <a:bodyPr wrap="none" rtlCol="0">
                <a:spAutoFit/>
              </a:bodyPr>
              <a:lstStyle/>
              <a:p>
                <a:r>
                  <a:rPr lang="en-GB" sz="1200" noProof="0" dirty="0"/>
                  <a:t>o.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+4</m:t>
                        </m:r>
                      </m:num>
                      <m:den>
                        <m:r>
                          <a:rPr lang="en-GB" sz="1400" b="0" i="1" noProof="0" smtClean="0">
                            <a:latin typeface="Cambria Math" panose="02040503050406030204" pitchFamily="18" charset="0"/>
                          </a:rPr>
                          <m:t>𝑥</m:t>
                        </m:r>
                        <m:r>
                          <a:rPr lang="en-GB" sz="1400" b="0" i="1" noProof="0" smtClean="0">
                            <a:latin typeface="Cambria Math" panose="02040503050406030204" pitchFamily="18" charset="0"/>
                          </a:rPr>
                          <m:t>+5</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3</m:t>
                        </m:r>
                        <m:r>
                          <a:rPr lang="en-GB" sz="1400" b="0" i="1" noProof="0" smtClean="0">
                            <a:latin typeface="Cambria Math" panose="02040503050406030204" pitchFamily="18" charset="0"/>
                            <a:ea typeface="Cambria Math" panose="02040503050406030204" pitchFamily="18" charset="0"/>
                          </a:rPr>
                          <m:t>𝑥</m:t>
                        </m:r>
                        <m:r>
                          <a:rPr lang="en-GB" sz="1400" b="0" i="1" noProof="0" smtClean="0">
                            <a:latin typeface="Cambria Math" panose="02040503050406030204" pitchFamily="18" charset="0"/>
                            <a:ea typeface="Cambria Math" panose="02040503050406030204" pitchFamily="18" charset="0"/>
                          </a:rPr>
                          <m:t>+12</m:t>
                        </m:r>
                      </m:num>
                      <m:den>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2</m:t>
                            </m:r>
                          </m:sup>
                        </m:sSup>
                        <m:r>
                          <a:rPr lang="en-GB" sz="1400" b="0" i="1" noProof="0" smtClean="0">
                            <a:latin typeface="Cambria Math" panose="02040503050406030204" pitchFamily="18" charset="0"/>
                            <a:ea typeface="Cambria Math" panose="02040503050406030204" pitchFamily="18" charset="0"/>
                          </a:rPr>
                          <m:t>−25</m:t>
                        </m:r>
                      </m:den>
                    </m:f>
                  </m:oMath>
                </a14:m>
                <a:endParaRPr lang="en-GB" sz="1400" noProof="0" dirty="0"/>
              </a:p>
            </p:txBody>
          </p:sp>
        </mc:Choice>
        <mc:Fallback xmlns="">
          <p:sp>
            <p:nvSpPr>
              <p:cNvPr id="46" name="TextBox 45"/>
              <p:cNvSpPr txBox="1">
                <a:spLocks noRot="1" noChangeAspect="1" noMove="1" noResize="1" noEditPoints="1" noAdjustHandles="1" noChangeArrowheads="1" noChangeShapeType="1" noTextEdit="1"/>
              </p:cNvSpPr>
              <p:nvPr/>
            </p:nvSpPr>
            <p:spPr>
              <a:xfrm>
                <a:off x="4906074" y="3497871"/>
                <a:ext cx="1206036" cy="398314"/>
              </a:xfrm>
              <a:prstGeom prst="rect">
                <a:avLst/>
              </a:prstGeom>
              <a:blipFill>
                <a:blip r:embed="rId8"/>
                <a:stretch>
                  <a:fillRect l="-505"/>
                </a:stretch>
              </a:blipFill>
            </p:spPr>
            <p:txBody>
              <a:bodyPr/>
              <a:lstStyle/>
              <a:p>
                <a:r>
                  <a:rPr lang="en-US">
                    <a:noFill/>
                  </a:rPr>
                  <a:t> </a:t>
                </a:r>
              </a:p>
            </p:txBody>
          </p:sp>
        </mc:Fallback>
      </mc:AlternateContent>
      <p:sp>
        <p:nvSpPr>
          <p:cNvPr id="47" name="Rectangle 46">
            <a:extLst>
              <a:ext uri="{FF2B5EF4-FFF2-40B4-BE49-F238E27FC236}">
                <a16:creationId xmlns:a16="http://schemas.microsoft.com/office/drawing/2014/main" id="{B16CFEF2-A65A-6142-861C-58ACADF7EEFB}"/>
              </a:ext>
            </a:extLst>
          </p:cNvPr>
          <p:cNvSpPr/>
          <p:nvPr/>
        </p:nvSpPr>
        <p:spPr>
          <a:xfrm>
            <a:off x="291965" y="3987344"/>
            <a:ext cx="1989396"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8" name="Rectangle 47">
            <a:extLst>
              <a:ext uri="{FF2B5EF4-FFF2-40B4-BE49-F238E27FC236}">
                <a16:creationId xmlns:a16="http://schemas.microsoft.com/office/drawing/2014/main" id="{B16CFEF2-A65A-6142-861C-58ACADF7EEFB}"/>
              </a:ext>
            </a:extLst>
          </p:cNvPr>
          <p:cNvSpPr/>
          <p:nvPr/>
        </p:nvSpPr>
        <p:spPr>
          <a:xfrm>
            <a:off x="2397807" y="3987344"/>
            <a:ext cx="2043824"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0" name="Rectangle 49">
            <a:extLst>
              <a:ext uri="{FF2B5EF4-FFF2-40B4-BE49-F238E27FC236}">
                <a16:creationId xmlns:a16="http://schemas.microsoft.com/office/drawing/2014/main" id="{B16CFEF2-A65A-6142-861C-58ACADF7EEFB}"/>
              </a:ext>
            </a:extLst>
          </p:cNvPr>
          <p:cNvSpPr/>
          <p:nvPr/>
        </p:nvSpPr>
        <p:spPr>
          <a:xfrm>
            <a:off x="4558077" y="3987344"/>
            <a:ext cx="2043824"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3" name="TextBox 52"/>
          <p:cNvSpPr txBox="1"/>
          <p:nvPr/>
        </p:nvSpPr>
        <p:spPr>
          <a:xfrm>
            <a:off x="219393" y="6729772"/>
            <a:ext cx="338554" cy="276999"/>
          </a:xfrm>
          <a:prstGeom prst="rect">
            <a:avLst/>
          </a:prstGeom>
          <a:noFill/>
        </p:spPr>
        <p:txBody>
          <a:bodyPr wrap="none" rtlCol="0">
            <a:spAutoFit/>
          </a:bodyPr>
          <a:lstStyle/>
          <a:p>
            <a:r>
              <a:rPr lang="en-GB" sz="1200" noProof="0" dirty="0"/>
              <a:t>p. </a:t>
            </a:r>
            <a:endParaRPr lang="en-GB" sz="1400" noProof="0" dirty="0"/>
          </a:p>
        </p:txBody>
      </p:sp>
      <p:sp>
        <p:nvSpPr>
          <p:cNvPr id="54" name="TextBox 53"/>
          <p:cNvSpPr txBox="1"/>
          <p:nvPr/>
        </p:nvSpPr>
        <p:spPr>
          <a:xfrm>
            <a:off x="3619453" y="6729772"/>
            <a:ext cx="338554" cy="276999"/>
          </a:xfrm>
          <a:prstGeom prst="rect">
            <a:avLst/>
          </a:prstGeom>
          <a:noFill/>
        </p:spPr>
        <p:txBody>
          <a:bodyPr wrap="none" rtlCol="0">
            <a:spAutoFit/>
          </a:bodyPr>
          <a:lstStyle/>
          <a:p>
            <a:r>
              <a:rPr lang="en-GB" sz="1200" noProof="0" dirty="0"/>
              <a:t>q. </a:t>
            </a:r>
            <a:endParaRPr lang="en-GB" sz="1400" noProof="0" dirty="0"/>
          </a:p>
        </p:txBody>
      </p:sp>
      <p:pic>
        <p:nvPicPr>
          <p:cNvPr id="55" name="Picture 54"/>
          <p:cNvPicPr>
            <a:picLocks noChangeAspect="1"/>
          </p:cNvPicPr>
          <p:nvPr/>
        </p:nvPicPr>
        <p:blipFill rotWithShape="1">
          <a:blip r:embed="rId9"/>
          <a:srcRect l="61589" t="33994" r="9628" b="40159"/>
          <a:stretch/>
        </p:blipFill>
        <p:spPr>
          <a:xfrm>
            <a:off x="545659" y="6675566"/>
            <a:ext cx="1482008" cy="506725"/>
          </a:xfrm>
          <a:prstGeom prst="rect">
            <a:avLst/>
          </a:prstGeom>
        </p:spPr>
      </p:pic>
      <p:sp>
        <p:nvSpPr>
          <p:cNvPr id="56" name="Rectangle 55">
            <a:extLst>
              <a:ext uri="{FF2B5EF4-FFF2-40B4-BE49-F238E27FC236}">
                <a16:creationId xmlns:a16="http://schemas.microsoft.com/office/drawing/2014/main" id="{B16CFEF2-A65A-6142-861C-58ACADF7EEFB}"/>
              </a:ext>
            </a:extLst>
          </p:cNvPr>
          <p:cNvSpPr/>
          <p:nvPr/>
        </p:nvSpPr>
        <p:spPr>
          <a:xfrm>
            <a:off x="294584" y="7201104"/>
            <a:ext cx="3167943"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7" name="Rectangle 56">
            <a:extLst>
              <a:ext uri="{FF2B5EF4-FFF2-40B4-BE49-F238E27FC236}">
                <a16:creationId xmlns:a16="http://schemas.microsoft.com/office/drawing/2014/main" id="{B16CFEF2-A65A-6142-861C-58ACADF7EEFB}"/>
              </a:ext>
            </a:extLst>
          </p:cNvPr>
          <p:cNvSpPr/>
          <p:nvPr/>
        </p:nvSpPr>
        <p:spPr>
          <a:xfrm>
            <a:off x="3530754" y="7201104"/>
            <a:ext cx="3057895"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pic>
        <p:nvPicPr>
          <p:cNvPr id="60" name="Picture 59"/>
          <p:cNvPicPr>
            <a:picLocks noChangeAspect="1"/>
          </p:cNvPicPr>
          <p:nvPr/>
        </p:nvPicPr>
        <p:blipFill rotWithShape="1">
          <a:blip r:embed="rId9"/>
          <a:srcRect l="9909" t="65998" r="55875" b="5706"/>
          <a:stretch/>
        </p:blipFill>
        <p:spPr>
          <a:xfrm>
            <a:off x="3908836" y="6649981"/>
            <a:ext cx="1609271" cy="506725"/>
          </a:xfrm>
          <a:prstGeom prst="rect">
            <a:avLst/>
          </a:prstGeom>
        </p:spPr>
      </p:pic>
      <p:sp>
        <p:nvSpPr>
          <p:cNvPr id="61" name="TextBox 60">
            <a:extLst>
              <a:ext uri="{FF2B5EF4-FFF2-40B4-BE49-F238E27FC236}">
                <a16:creationId xmlns:a16="http://schemas.microsoft.com/office/drawing/2014/main" id="{C3C65E48-8C3D-6849-AD77-7AD8678AD8DA}"/>
              </a:ext>
            </a:extLst>
          </p:cNvPr>
          <p:cNvSpPr txBox="1"/>
          <p:nvPr/>
        </p:nvSpPr>
        <p:spPr>
          <a:xfrm>
            <a:off x="101511" y="7623"/>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3767051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 name="Rectangle 31"/>
              <p:cNvSpPr/>
              <p:nvPr/>
            </p:nvSpPr>
            <p:spPr>
              <a:xfrm>
                <a:off x="262314" y="-99029"/>
                <a:ext cx="1807033" cy="637034"/>
              </a:xfrm>
              <a:prstGeom prst="rect">
                <a:avLst/>
              </a:prstGeom>
            </p:spPr>
            <p:txBody>
              <a:bodyPr wrap="none">
                <a:spAutoFit/>
              </a:bodyPr>
              <a:lstStyle/>
              <a:p>
                <a:endParaRPr lang="en-GB" sz="1200" i="1" noProof="0" dirty="0">
                  <a:latin typeface="Cambria Math" panose="02040503050406030204" pitchFamily="18" charset="0"/>
                </a:endParaRPr>
              </a:p>
              <a:p>
                <a:r>
                  <a:rPr lang="en-GB" sz="1200" noProof="0" dirty="0"/>
                  <a:t>r) </a:t>
                </a:r>
                <a14:m>
                  <m:oMath xmlns:m="http://schemas.openxmlformats.org/officeDocument/2006/math">
                    <m:f>
                      <m:fPr>
                        <m:ctrlPr>
                          <a:rPr lang="en-GB" sz="1400" i="1" noProof="0">
                            <a:latin typeface="Cambria Math" panose="02040503050406030204" pitchFamily="18" charset="0"/>
                          </a:rPr>
                        </m:ctrlPr>
                      </m:fPr>
                      <m:num>
                        <m:r>
                          <a:rPr lang="en-GB" sz="1400" i="1" noProof="0">
                            <a:latin typeface="Cambria Math"/>
                          </a:rPr>
                          <m:t>2</m:t>
                        </m:r>
                        <m:sSup>
                          <m:sSupPr>
                            <m:ctrlPr>
                              <a:rPr lang="en-GB" sz="1400" i="1" noProof="0">
                                <a:latin typeface="Cambria Math" panose="02040503050406030204" pitchFamily="18" charset="0"/>
                              </a:rPr>
                            </m:ctrlPr>
                          </m:sSupPr>
                          <m:e>
                            <m:r>
                              <a:rPr lang="en-GB" sz="1400" i="1" noProof="0">
                                <a:latin typeface="Cambria Math"/>
                              </a:rPr>
                              <m:t>𝑦</m:t>
                            </m:r>
                          </m:e>
                          <m:sup>
                            <m:r>
                              <a:rPr lang="en-GB" sz="1400" i="1" noProof="0">
                                <a:latin typeface="Cambria Math"/>
                              </a:rPr>
                              <m:t>2</m:t>
                            </m:r>
                          </m:sup>
                        </m:sSup>
                        <m:r>
                          <a:rPr lang="en-GB" sz="1400" i="1" noProof="0">
                            <a:latin typeface="Cambria Math"/>
                          </a:rPr>
                          <m:t>+4</m:t>
                        </m:r>
                        <m:r>
                          <a:rPr lang="en-GB" sz="1400" i="1" noProof="0">
                            <a:latin typeface="Cambria Math"/>
                          </a:rPr>
                          <m:t>𝑦</m:t>
                        </m:r>
                      </m:num>
                      <m:den>
                        <m:r>
                          <a:rPr lang="en-GB" sz="1400" i="1" noProof="0">
                            <a:latin typeface="Cambria Math"/>
                          </a:rPr>
                          <m:t>3</m:t>
                        </m:r>
                        <m:sSup>
                          <m:sSupPr>
                            <m:ctrlPr>
                              <a:rPr lang="en-GB" sz="1400" i="1" noProof="0">
                                <a:latin typeface="Cambria Math" panose="02040503050406030204" pitchFamily="18" charset="0"/>
                              </a:rPr>
                            </m:ctrlPr>
                          </m:sSupPr>
                          <m:e>
                            <m:r>
                              <a:rPr lang="en-GB" sz="1400" i="1" noProof="0">
                                <a:latin typeface="Cambria Math"/>
                              </a:rPr>
                              <m:t>𝑦</m:t>
                            </m:r>
                          </m:e>
                          <m:sup>
                            <m:r>
                              <a:rPr lang="en-GB" sz="1400" i="1" noProof="0">
                                <a:latin typeface="Cambria Math"/>
                              </a:rPr>
                              <m:t>2</m:t>
                            </m:r>
                          </m:sup>
                        </m:sSup>
                        <m:r>
                          <a:rPr lang="en-GB" sz="1400" i="1" noProof="0">
                            <a:latin typeface="Cambria Math"/>
                          </a:rPr>
                          <m:t>+7</m:t>
                        </m:r>
                        <m:r>
                          <a:rPr lang="en-GB" sz="1400" i="1" noProof="0">
                            <a:latin typeface="Cambria Math"/>
                          </a:rPr>
                          <m:t>𝑦</m:t>
                        </m:r>
                        <m:r>
                          <a:rPr lang="en-GB" sz="1400" i="1" noProof="0">
                            <a:latin typeface="Cambria Math"/>
                          </a:rPr>
                          <m:t>+2</m:t>
                        </m:r>
                      </m:den>
                    </m:f>
                    <m:r>
                      <a:rPr lang="en-GB" sz="1400" i="1" noProof="0" smtClean="0">
                        <a:latin typeface="Cambria Math" panose="02040503050406030204" pitchFamily="18" charset="0"/>
                        <a:ea typeface="Cambria Math" panose="02040503050406030204" pitchFamily="18" charset="0"/>
                      </a:rPr>
                      <m:t>÷</m:t>
                    </m:r>
                    <m:f>
                      <m:fPr>
                        <m:ctrlPr>
                          <a:rPr lang="en-GB" sz="1400" i="1" noProof="0">
                            <a:latin typeface="Cambria Math" panose="02040503050406030204" pitchFamily="18" charset="0"/>
                          </a:rPr>
                        </m:ctrlPr>
                      </m:fPr>
                      <m:num>
                        <m:r>
                          <a:rPr lang="en-GB" sz="1400" i="1" noProof="0">
                            <a:latin typeface="Cambria Math"/>
                          </a:rPr>
                          <m:t>9</m:t>
                        </m:r>
                        <m:sSup>
                          <m:sSupPr>
                            <m:ctrlPr>
                              <a:rPr lang="en-GB" sz="1400" i="1" noProof="0">
                                <a:latin typeface="Cambria Math" panose="02040503050406030204" pitchFamily="18" charset="0"/>
                              </a:rPr>
                            </m:ctrlPr>
                          </m:sSupPr>
                          <m:e>
                            <m:r>
                              <a:rPr lang="en-GB" sz="1400" i="1" noProof="0">
                                <a:latin typeface="Cambria Math"/>
                              </a:rPr>
                              <m:t>𝑦</m:t>
                            </m:r>
                          </m:e>
                          <m:sup>
                            <m:r>
                              <a:rPr lang="en-GB" sz="1400" i="1" noProof="0">
                                <a:latin typeface="Cambria Math"/>
                              </a:rPr>
                              <m:t>2</m:t>
                            </m:r>
                          </m:sup>
                        </m:sSup>
                        <m:r>
                          <a:rPr lang="en-GB" sz="1400" i="1" noProof="0">
                            <a:latin typeface="Cambria Math"/>
                          </a:rPr>
                          <m:t>−1</m:t>
                        </m:r>
                      </m:num>
                      <m:den>
                        <m:r>
                          <a:rPr lang="en-GB" sz="1400" i="1" noProof="0">
                            <a:latin typeface="Cambria Math"/>
                          </a:rPr>
                          <m:t>3</m:t>
                        </m:r>
                        <m:sSup>
                          <m:sSupPr>
                            <m:ctrlPr>
                              <a:rPr lang="en-GB" sz="1400" i="1" noProof="0">
                                <a:latin typeface="Cambria Math" panose="02040503050406030204" pitchFamily="18" charset="0"/>
                              </a:rPr>
                            </m:ctrlPr>
                          </m:sSupPr>
                          <m:e>
                            <m:r>
                              <a:rPr lang="en-GB" sz="1400" i="1" noProof="0">
                                <a:latin typeface="Cambria Math"/>
                              </a:rPr>
                              <m:t>𝑦</m:t>
                            </m:r>
                          </m:e>
                          <m:sup>
                            <m:r>
                              <a:rPr lang="en-GB" sz="1400" i="1" noProof="0">
                                <a:latin typeface="Cambria Math"/>
                              </a:rPr>
                              <m:t>2</m:t>
                            </m:r>
                          </m:sup>
                        </m:sSup>
                        <m:r>
                          <a:rPr lang="en-GB" sz="1400" i="1" noProof="0">
                            <a:latin typeface="Cambria Math"/>
                          </a:rPr>
                          <m:t>−</m:t>
                        </m:r>
                        <m:r>
                          <a:rPr lang="en-GB" sz="1400" i="1" noProof="0">
                            <a:latin typeface="Cambria Math"/>
                          </a:rPr>
                          <m:t>𝑦</m:t>
                        </m:r>
                      </m:den>
                    </m:f>
                    <m:r>
                      <a:rPr lang="en-GB" sz="1400" i="1" noProof="0">
                        <a:latin typeface="Cambria Math"/>
                      </a:rPr>
                      <m:t>=</m:t>
                    </m:r>
                  </m:oMath>
                </a14:m>
                <a:endParaRPr lang="en-GB" sz="1400" noProof="0" dirty="0"/>
              </a:p>
            </p:txBody>
          </p:sp>
        </mc:Choice>
        <mc:Fallback xmlns="">
          <p:sp>
            <p:nvSpPr>
              <p:cNvPr id="32" name="Rectangle 31"/>
              <p:cNvSpPr>
                <a:spLocks noRot="1" noChangeAspect="1" noMove="1" noResize="1" noEditPoints="1" noAdjustHandles="1" noChangeArrowheads="1" noChangeShapeType="1" noTextEdit="1"/>
              </p:cNvSpPr>
              <p:nvPr/>
            </p:nvSpPr>
            <p:spPr>
              <a:xfrm>
                <a:off x="262314" y="-99029"/>
                <a:ext cx="1807033" cy="637034"/>
              </a:xfrm>
              <a:prstGeom prst="rect">
                <a:avLst/>
              </a:prstGeom>
              <a:blipFill>
                <a:blip r:embed="rId2"/>
                <a:stretch>
                  <a:fillRect b="-9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2409114" y="-107346"/>
                <a:ext cx="1809598" cy="613181"/>
              </a:xfrm>
              <a:prstGeom prst="rect">
                <a:avLst/>
              </a:prstGeom>
            </p:spPr>
            <p:txBody>
              <a:bodyPr wrap="none">
                <a:spAutoFit/>
              </a:bodyPr>
              <a:lstStyle/>
              <a:p>
                <a:endParaRPr lang="en-GB" sz="1200" i="1" noProof="0" dirty="0">
                  <a:latin typeface="Cambria Math" panose="02040503050406030204" pitchFamily="18" charset="0"/>
                </a:endParaRPr>
              </a:p>
              <a:p>
                <a:r>
                  <a:rPr lang="en-GB" sz="1200" noProof="0" dirty="0"/>
                  <a:t>s)</a:t>
                </a:r>
                <a14:m>
                  <m:oMath xmlns:m="http://schemas.openxmlformats.org/officeDocument/2006/math">
                    <m:r>
                      <a:rPr lang="en-GB" sz="1400" b="0" i="0" noProof="0" smtClean="0">
                        <a:latin typeface="Cambria Math" panose="02040503050406030204" pitchFamily="18" charset="0"/>
                      </a:rPr>
                      <m:t> </m:t>
                    </m:r>
                    <m:f>
                      <m:fPr>
                        <m:ctrlPr>
                          <a:rPr lang="en-GB" sz="1400" i="1" noProof="0">
                            <a:latin typeface="Cambria Math" panose="02040503050406030204" pitchFamily="18" charset="0"/>
                          </a:rPr>
                        </m:ctrlPr>
                      </m:fPr>
                      <m:num>
                        <m:sSup>
                          <m:sSupPr>
                            <m:ctrlPr>
                              <a:rPr lang="en-GB" sz="1400" i="1" noProof="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+4</m:t>
                        </m:r>
                        <m:r>
                          <a:rPr lang="en-GB" sz="1400" i="1" noProof="0">
                            <a:latin typeface="Cambria Math" panose="02040503050406030204" pitchFamily="18" charset="0"/>
                          </a:rPr>
                          <m:t>𝑥</m:t>
                        </m:r>
                        <m:r>
                          <a:rPr lang="en-GB" sz="1400" i="1" noProof="0">
                            <a:latin typeface="Cambria Math" panose="02040503050406030204" pitchFamily="18" charset="0"/>
                          </a:rPr>
                          <m:t>−12</m:t>
                        </m:r>
                      </m:num>
                      <m:den>
                        <m:sSup>
                          <m:sSupPr>
                            <m:ctrlPr>
                              <a:rPr lang="en-GB" sz="1400" i="1" noProof="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−25</m:t>
                        </m:r>
                      </m:den>
                    </m:f>
                    <m:r>
                      <a:rPr lang="en-GB" sz="1400" i="1" noProof="0">
                        <a:latin typeface="Cambria Math" panose="02040503050406030204" pitchFamily="18" charset="0"/>
                      </a:rPr>
                      <m:t>÷</m:t>
                    </m:r>
                    <m:f>
                      <m:fPr>
                        <m:ctrlPr>
                          <a:rPr lang="en-GB" sz="1400" i="1" noProof="0">
                            <a:latin typeface="Cambria Math" panose="02040503050406030204" pitchFamily="18" charset="0"/>
                          </a:rPr>
                        </m:ctrlPr>
                      </m:fPr>
                      <m:num>
                        <m:r>
                          <a:rPr lang="en-GB" sz="1400" i="1" noProof="0">
                            <a:latin typeface="Cambria Math" panose="02040503050406030204" pitchFamily="18" charset="0"/>
                          </a:rPr>
                          <m:t>𝑥</m:t>
                        </m:r>
                        <m:r>
                          <a:rPr lang="en-GB" sz="1400" i="1" noProof="0">
                            <a:latin typeface="Cambria Math" panose="02040503050406030204" pitchFamily="18" charset="0"/>
                          </a:rPr>
                          <m:t>+6</m:t>
                        </m:r>
                      </m:num>
                      <m:den>
                        <m:sSup>
                          <m:sSupPr>
                            <m:ctrlPr>
                              <a:rPr lang="en-GB" sz="1400" i="1" noProof="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−5</m:t>
                        </m:r>
                        <m:r>
                          <a:rPr lang="en-GB" sz="1400" i="1" noProof="0">
                            <a:latin typeface="Cambria Math" panose="02040503050406030204" pitchFamily="18" charset="0"/>
                          </a:rPr>
                          <m:t>𝑥</m:t>
                        </m:r>
                      </m:den>
                    </m:f>
                    <m:r>
                      <a:rPr lang="en-GB" sz="1600" i="1" noProof="0">
                        <a:latin typeface="Cambria Math"/>
                      </a:rPr>
                      <m:t>=</m:t>
                    </m:r>
                  </m:oMath>
                </a14:m>
                <a:endParaRPr lang="en-GB" sz="1400" noProof="0" dirty="0"/>
              </a:p>
            </p:txBody>
          </p:sp>
        </mc:Choice>
        <mc:Fallback xmlns="">
          <p:sp>
            <p:nvSpPr>
              <p:cNvPr id="35" name="Rectangle 34"/>
              <p:cNvSpPr>
                <a:spLocks noRot="1" noChangeAspect="1" noMove="1" noResize="1" noEditPoints="1" noAdjustHandles="1" noChangeArrowheads="1" noChangeShapeType="1" noTextEdit="1"/>
              </p:cNvSpPr>
              <p:nvPr/>
            </p:nvSpPr>
            <p:spPr>
              <a:xfrm>
                <a:off x="2409114" y="-107346"/>
                <a:ext cx="1809598" cy="61318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4539745" y="77192"/>
                <a:ext cx="1843069" cy="428643"/>
              </a:xfrm>
              <a:prstGeom prst="rect">
                <a:avLst/>
              </a:prstGeom>
            </p:spPr>
            <p:txBody>
              <a:bodyPr wrap="none">
                <a:spAutoFit/>
              </a:bodyPr>
              <a:lstStyle/>
              <a:p>
                <a:r>
                  <a:rPr lang="en-GB" sz="1200" noProof="0" dirty="0"/>
                  <a:t>t) </a:t>
                </a:r>
                <a14:m>
                  <m:oMath xmlns:m="http://schemas.openxmlformats.org/officeDocument/2006/math">
                    <m:f>
                      <m:fPr>
                        <m:ctrlPr>
                          <a:rPr lang="en-GB" sz="1400" i="1" noProof="0">
                            <a:latin typeface="Cambria Math" panose="02040503050406030204" pitchFamily="18" charset="0"/>
                          </a:rPr>
                        </m:ctrlPr>
                      </m:fPr>
                      <m:num>
                        <m:r>
                          <a:rPr lang="en-GB" sz="1400" i="1" noProof="0">
                            <a:latin typeface="Cambria Math" panose="02040503050406030204" pitchFamily="18" charset="0"/>
                          </a:rPr>
                          <m:t>3</m:t>
                        </m:r>
                        <m:sSup>
                          <m:sSupPr>
                            <m:ctrlPr>
                              <a:rPr lang="en-GB" sz="1400" i="1" noProof="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−5</m:t>
                        </m:r>
                        <m:r>
                          <a:rPr lang="en-GB" sz="1400" i="1" noProof="0">
                            <a:latin typeface="Cambria Math" panose="02040503050406030204" pitchFamily="18" charset="0"/>
                          </a:rPr>
                          <m:t>𝑥</m:t>
                        </m:r>
                        <m:r>
                          <a:rPr lang="en-GB" sz="1400" i="1" noProof="0">
                            <a:latin typeface="Cambria Math" panose="02040503050406030204" pitchFamily="18" charset="0"/>
                          </a:rPr>
                          <m:t>−2</m:t>
                        </m:r>
                      </m:num>
                      <m:den>
                        <m:sSup>
                          <m:sSupPr>
                            <m:ctrlPr>
                              <a:rPr lang="en-GB" sz="1400" i="1" noProof="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−4</m:t>
                        </m:r>
                        <m:r>
                          <a:rPr lang="en-GB" sz="1400" i="1" noProof="0">
                            <a:latin typeface="Cambria Math" panose="02040503050406030204" pitchFamily="18" charset="0"/>
                          </a:rPr>
                          <m:t>𝑥</m:t>
                        </m:r>
                      </m:den>
                    </m:f>
                    <m:r>
                      <a:rPr lang="en-GB" sz="1400" i="1" noProof="0">
                        <a:latin typeface="Cambria Math" panose="02040503050406030204" pitchFamily="18" charset="0"/>
                      </a:rPr>
                      <m:t>÷</m:t>
                    </m:r>
                    <m:f>
                      <m:fPr>
                        <m:ctrlPr>
                          <a:rPr lang="en-GB" sz="1400" i="1" noProof="0">
                            <a:latin typeface="Cambria Math" panose="02040503050406030204" pitchFamily="18" charset="0"/>
                          </a:rPr>
                        </m:ctrlPr>
                      </m:fPr>
                      <m:num>
                        <m:r>
                          <a:rPr lang="en-GB" sz="1400" i="1" noProof="0">
                            <a:latin typeface="Cambria Math" panose="02040503050406030204" pitchFamily="18" charset="0"/>
                          </a:rPr>
                          <m:t>3</m:t>
                        </m:r>
                        <m:r>
                          <a:rPr lang="en-GB" sz="1400" i="1" noProof="0">
                            <a:latin typeface="Cambria Math" panose="02040503050406030204" pitchFamily="18" charset="0"/>
                          </a:rPr>
                          <m:t>𝑥</m:t>
                        </m:r>
                        <m:r>
                          <a:rPr lang="en-GB" sz="1400" i="1" noProof="0">
                            <a:latin typeface="Cambria Math" panose="02040503050406030204" pitchFamily="18" charset="0"/>
                          </a:rPr>
                          <m:t>+1</m:t>
                        </m:r>
                      </m:num>
                      <m:den>
                        <m:sSup>
                          <m:sSupPr>
                            <m:ctrlPr>
                              <a:rPr lang="en-GB" sz="1400" i="1" noProof="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−8</m:t>
                        </m:r>
                        <m:r>
                          <a:rPr lang="en-GB" sz="1400" i="1" noProof="0">
                            <a:latin typeface="Cambria Math" panose="02040503050406030204" pitchFamily="18" charset="0"/>
                          </a:rPr>
                          <m:t>𝑥</m:t>
                        </m:r>
                        <m:r>
                          <a:rPr lang="en-GB" sz="1400" i="1" noProof="0">
                            <a:latin typeface="Cambria Math" panose="02040503050406030204" pitchFamily="18" charset="0"/>
                          </a:rPr>
                          <m:t>+16</m:t>
                        </m:r>
                      </m:den>
                    </m:f>
                  </m:oMath>
                </a14:m>
                <a:endParaRPr lang="en-GB" noProof="0" dirty="0"/>
              </a:p>
            </p:txBody>
          </p:sp>
        </mc:Choice>
        <mc:Fallback xmlns="">
          <p:sp>
            <p:nvSpPr>
              <p:cNvPr id="36" name="Rectangle 35"/>
              <p:cNvSpPr>
                <a:spLocks noRot="1" noChangeAspect="1" noMove="1" noResize="1" noEditPoints="1" noAdjustHandles="1" noChangeArrowheads="1" noChangeShapeType="1" noTextEdit="1"/>
              </p:cNvSpPr>
              <p:nvPr/>
            </p:nvSpPr>
            <p:spPr>
              <a:xfrm>
                <a:off x="4539745" y="77192"/>
                <a:ext cx="1843069" cy="428643"/>
              </a:xfrm>
              <a:prstGeom prst="rect">
                <a:avLst/>
              </a:prstGeom>
              <a:blipFill>
                <a:blip r:embed="rId4"/>
                <a:stretch>
                  <a:fillRect l="-331"/>
                </a:stretch>
              </a:blipFill>
            </p:spPr>
            <p:txBody>
              <a:bodyPr/>
              <a:lstStyle/>
              <a:p>
                <a:r>
                  <a:rPr lang="en-US">
                    <a:noFill/>
                  </a:rPr>
                  <a:t> </a:t>
                </a:r>
              </a:p>
            </p:txBody>
          </p:sp>
        </mc:Fallback>
      </mc:AlternateContent>
      <p:sp>
        <p:nvSpPr>
          <p:cNvPr id="37" name="Rectangle 36">
            <a:extLst>
              <a:ext uri="{FF2B5EF4-FFF2-40B4-BE49-F238E27FC236}">
                <a16:creationId xmlns:a16="http://schemas.microsoft.com/office/drawing/2014/main" id="{B16CFEF2-A65A-6142-861C-58ACADF7EEFB}"/>
              </a:ext>
            </a:extLst>
          </p:cNvPr>
          <p:cNvSpPr/>
          <p:nvPr/>
        </p:nvSpPr>
        <p:spPr>
          <a:xfrm>
            <a:off x="330894" y="610378"/>
            <a:ext cx="1989396" cy="344478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8" name="Rectangle 37">
            <a:extLst>
              <a:ext uri="{FF2B5EF4-FFF2-40B4-BE49-F238E27FC236}">
                <a16:creationId xmlns:a16="http://schemas.microsoft.com/office/drawing/2014/main" id="{B16CFEF2-A65A-6142-861C-58ACADF7EEFB}"/>
              </a:ext>
            </a:extLst>
          </p:cNvPr>
          <p:cNvSpPr/>
          <p:nvPr/>
        </p:nvSpPr>
        <p:spPr>
          <a:xfrm>
            <a:off x="2436736" y="610378"/>
            <a:ext cx="2043824" cy="344478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0" name="Rectangle 39">
            <a:extLst>
              <a:ext uri="{FF2B5EF4-FFF2-40B4-BE49-F238E27FC236}">
                <a16:creationId xmlns:a16="http://schemas.microsoft.com/office/drawing/2014/main" id="{B16CFEF2-A65A-6142-861C-58ACADF7EEFB}"/>
              </a:ext>
            </a:extLst>
          </p:cNvPr>
          <p:cNvSpPr/>
          <p:nvPr/>
        </p:nvSpPr>
        <p:spPr>
          <a:xfrm>
            <a:off x="4597006" y="610378"/>
            <a:ext cx="2043824" cy="344478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43" name="Rectangle 42"/>
              <p:cNvSpPr/>
              <p:nvPr/>
            </p:nvSpPr>
            <p:spPr>
              <a:xfrm>
                <a:off x="262314" y="4063206"/>
                <a:ext cx="2222724" cy="476477"/>
              </a:xfrm>
              <a:prstGeom prst="rect">
                <a:avLst/>
              </a:prstGeom>
            </p:spPr>
            <p:txBody>
              <a:bodyPr wrap="none">
                <a:spAutoFit/>
              </a:bodyPr>
              <a:lstStyle/>
              <a:p>
                <a:r>
                  <a:rPr lang="en-GB" sz="1600" noProof="0" dirty="0"/>
                  <a:t>u) </a:t>
                </a:r>
                <a14:m>
                  <m:oMath xmlns:m="http://schemas.openxmlformats.org/officeDocument/2006/math">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3</m:t>
                        </m:r>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+8</m:t>
                        </m:r>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num>
                      <m:den>
                        <m:r>
                          <a:rPr lang="en-GB" sz="1600" i="1" noProof="0" smtClean="0">
                            <a:latin typeface="Cambria Math" panose="02040503050406030204" pitchFamily="18" charset="0"/>
                          </a:rPr>
                          <m:t>25</m:t>
                        </m:r>
                      </m:den>
                    </m:f>
                    <m:r>
                      <a:rPr lang="en-GB" sz="1600" i="1" noProof="0" smtClean="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6</m:t>
                        </m:r>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+13</m:t>
                        </m:r>
                        <m:r>
                          <a:rPr lang="en-GB" sz="1600" i="1" noProof="0" smtClean="0">
                            <a:latin typeface="Cambria Math" panose="02040503050406030204" pitchFamily="18" charset="0"/>
                          </a:rPr>
                          <m:t>𝑥</m:t>
                        </m:r>
                        <m:r>
                          <a:rPr lang="en-GB" sz="1600" i="1" noProof="0" smtClean="0">
                            <a:latin typeface="Cambria Math" panose="02040503050406030204" pitchFamily="18" charset="0"/>
                          </a:rPr>
                          <m:t>−5</m:t>
                        </m:r>
                      </m:num>
                      <m:den>
                        <m:r>
                          <a:rPr lang="en-GB" sz="1600" b="0" i="1" noProof="0" smtClean="0">
                            <a:latin typeface="Cambria Math" panose="02040503050406030204" pitchFamily="18" charset="0"/>
                          </a:rPr>
                          <m:t>30</m:t>
                        </m:r>
                      </m:den>
                    </m:f>
                  </m:oMath>
                </a14:m>
                <a:endParaRPr lang="en-GB" sz="1600" noProof="0" dirty="0"/>
              </a:p>
            </p:txBody>
          </p:sp>
        </mc:Choice>
        <mc:Fallback xmlns="">
          <p:sp>
            <p:nvSpPr>
              <p:cNvPr id="43" name="Rectangle 42"/>
              <p:cNvSpPr>
                <a:spLocks noRot="1" noChangeAspect="1" noMove="1" noResize="1" noEditPoints="1" noAdjustHandles="1" noChangeArrowheads="1" noChangeShapeType="1" noTextEdit="1"/>
              </p:cNvSpPr>
              <p:nvPr/>
            </p:nvSpPr>
            <p:spPr>
              <a:xfrm>
                <a:off x="262314" y="4063206"/>
                <a:ext cx="2222724" cy="476477"/>
              </a:xfrm>
              <a:prstGeom prst="rect">
                <a:avLst/>
              </a:prstGeom>
              <a:blipFill>
                <a:blip r:embed="rId5"/>
                <a:stretch>
                  <a:fillRect l="-1370" b="-5128"/>
                </a:stretch>
              </a:blipFill>
            </p:spPr>
            <p:txBody>
              <a:bodyPr/>
              <a:lstStyle/>
              <a:p>
                <a:r>
                  <a:rPr lang="en-US">
                    <a:noFill/>
                  </a:rPr>
                  <a:t> </a:t>
                </a:r>
              </a:p>
            </p:txBody>
          </p:sp>
        </mc:Fallback>
      </mc:AlternateContent>
      <p:sp>
        <p:nvSpPr>
          <p:cNvPr id="44" name="Rectangle 43">
            <a:extLst>
              <a:ext uri="{FF2B5EF4-FFF2-40B4-BE49-F238E27FC236}">
                <a16:creationId xmlns:a16="http://schemas.microsoft.com/office/drawing/2014/main" id="{B16CFEF2-A65A-6142-861C-58ACADF7EEFB}"/>
              </a:ext>
            </a:extLst>
          </p:cNvPr>
          <p:cNvSpPr/>
          <p:nvPr/>
        </p:nvSpPr>
        <p:spPr>
          <a:xfrm>
            <a:off x="330894" y="4635006"/>
            <a:ext cx="6302860" cy="20281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 name="Slide Number Placeholder 2"/>
          <p:cNvSpPr>
            <a:spLocks noGrp="1"/>
          </p:cNvSpPr>
          <p:nvPr>
            <p:ph type="sldNum" sz="quarter" idx="12"/>
          </p:nvPr>
        </p:nvSpPr>
        <p:spPr>
          <a:xfrm>
            <a:off x="5314950" y="9466431"/>
            <a:ext cx="1543050" cy="527403"/>
          </a:xfrm>
        </p:spPr>
        <p:txBody>
          <a:bodyPr/>
          <a:lstStyle/>
          <a:p>
            <a:fld id="{9BD3B4A0-BFF9-422C-B253-48BA94BE2F5B}" type="slidenum">
              <a:rPr lang="en-GB" noProof="0" smtClean="0"/>
              <a:t>15</a:t>
            </a:fld>
            <a:endParaRPr lang="en-GB" noProof="0" dirty="0"/>
          </a:p>
        </p:txBody>
      </p:sp>
      <mc:AlternateContent xmlns:mc="http://schemas.openxmlformats.org/markup-compatibility/2006" xmlns:a14="http://schemas.microsoft.com/office/drawing/2010/main">
        <mc:Choice Requires="a14">
          <p:sp>
            <p:nvSpPr>
              <p:cNvPr id="47" name="Rectangle 46"/>
              <p:cNvSpPr/>
              <p:nvPr/>
            </p:nvSpPr>
            <p:spPr>
              <a:xfrm>
                <a:off x="292631" y="6856076"/>
                <a:ext cx="1684768" cy="476221"/>
              </a:xfrm>
              <a:prstGeom prst="rect">
                <a:avLst/>
              </a:prstGeom>
            </p:spPr>
            <p:txBody>
              <a:bodyPr wrap="square">
                <a:spAutoFit/>
              </a:bodyPr>
              <a:lstStyle/>
              <a:p>
                <a:r>
                  <a:rPr lang="en-GB" sz="1600" noProof="0" dirty="0"/>
                  <a:t>v) </a:t>
                </a:r>
                <a14:m>
                  <m:oMath xmlns:m="http://schemas.openxmlformats.org/officeDocument/2006/math">
                    <m:f>
                      <m:fPr>
                        <m:ctrlPr>
                          <a:rPr lang="en-GB" sz="1600" i="1" noProof="0">
                            <a:latin typeface="Cambria Math" panose="02040503050406030204" pitchFamily="18" charset="0"/>
                          </a:rPr>
                        </m:ctrlPr>
                      </m:fPr>
                      <m:num>
                        <m:sSup>
                          <m:sSupPr>
                            <m:ctrlPr>
                              <a:rPr lang="en-GB" sz="1600" i="1" noProof="0">
                                <a:latin typeface="Cambria Math" panose="02040503050406030204" pitchFamily="18" charset="0"/>
                              </a:rPr>
                            </m:ctrlPr>
                          </m:sSupPr>
                          <m:e>
                            <m:r>
                              <a:rPr lang="en-GB" sz="1600" i="1" noProof="0">
                                <a:latin typeface="Cambria Math" panose="02040503050406030204" pitchFamily="18" charset="0"/>
                              </a:rPr>
                              <m:t>𝑥</m:t>
                            </m:r>
                          </m:e>
                          <m:sup>
                            <m:r>
                              <a:rPr lang="en-GB" sz="1600" i="1" noProof="0">
                                <a:latin typeface="Cambria Math" panose="02040503050406030204" pitchFamily="18" charset="0"/>
                              </a:rPr>
                              <m:t>3</m:t>
                            </m:r>
                          </m:sup>
                        </m:sSup>
                        <m:r>
                          <a:rPr lang="en-GB" sz="1600" i="1" noProof="0">
                            <a:latin typeface="Cambria Math" panose="02040503050406030204" pitchFamily="18" charset="0"/>
                          </a:rPr>
                          <m:t>−</m:t>
                        </m:r>
                        <m:r>
                          <a:rPr lang="en-GB" sz="1600" i="1" noProof="0">
                            <a:latin typeface="Cambria Math" panose="02040503050406030204" pitchFamily="18" charset="0"/>
                          </a:rPr>
                          <m:t>𝑥</m:t>
                        </m:r>
                      </m:num>
                      <m:den>
                        <m:sSup>
                          <m:sSupPr>
                            <m:ctrlPr>
                              <a:rPr lang="en-GB" sz="1600" i="1" noProof="0">
                                <a:latin typeface="Cambria Math" panose="02040503050406030204" pitchFamily="18" charset="0"/>
                              </a:rPr>
                            </m:ctrlPr>
                          </m:sSupPr>
                          <m:e>
                            <m:r>
                              <a:rPr lang="en-GB" sz="1600" i="1" noProof="0">
                                <a:latin typeface="Cambria Math" panose="02040503050406030204" pitchFamily="18" charset="0"/>
                              </a:rPr>
                              <m:t>𝑥</m:t>
                            </m:r>
                          </m:e>
                          <m:sup>
                            <m:r>
                              <a:rPr lang="en-GB" sz="1600" i="1" noProof="0">
                                <a:latin typeface="Cambria Math" panose="02040503050406030204" pitchFamily="18" charset="0"/>
                              </a:rPr>
                              <m:t>4</m:t>
                            </m:r>
                          </m:sup>
                        </m:sSup>
                        <m:r>
                          <a:rPr lang="en-GB" sz="1600" i="1" noProof="0">
                            <a:latin typeface="Cambria Math" panose="02040503050406030204" pitchFamily="18" charset="0"/>
                          </a:rPr>
                          <m:t>−1</m:t>
                        </m:r>
                      </m:den>
                    </m:f>
                    <m:r>
                      <a:rPr lang="en-GB" sz="1600" i="1" noProof="0">
                        <a:latin typeface="Cambria Math" panose="02040503050406030204" pitchFamily="18" charset="0"/>
                      </a:rPr>
                      <m:t>÷</m:t>
                    </m:r>
                    <m:f>
                      <m:fPr>
                        <m:ctrlPr>
                          <a:rPr lang="en-GB" sz="1600" i="1" noProof="0">
                            <a:latin typeface="Cambria Math" panose="02040503050406030204" pitchFamily="18" charset="0"/>
                          </a:rPr>
                        </m:ctrlPr>
                      </m:fPr>
                      <m:num>
                        <m:r>
                          <a:rPr lang="en-GB" sz="1600" i="1" noProof="0">
                            <a:latin typeface="Cambria Math" panose="02040503050406030204" pitchFamily="18" charset="0"/>
                          </a:rPr>
                          <m:t>𝑥</m:t>
                        </m:r>
                        <m:r>
                          <a:rPr lang="en-GB" sz="1600" i="1" noProof="0">
                            <a:latin typeface="Cambria Math" panose="02040503050406030204" pitchFamily="18" charset="0"/>
                          </a:rPr>
                          <m:t>+1</m:t>
                        </m:r>
                      </m:num>
                      <m:den>
                        <m:sSup>
                          <m:sSupPr>
                            <m:ctrlPr>
                              <a:rPr lang="en-GB" sz="1600" i="1" noProof="0">
                                <a:latin typeface="Cambria Math" panose="02040503050406030204" pitchFamily="18" charset="0"/>
                              </a:rPr>
                            </m:ctrlPr>
                          </m:sSupPr>
                          <m:e>
                            <m:r>
                              <a:rPr lang="en-GB" sz="1600" i="1" noProof="0">
                                <a:latin typeface="Cambria Math" panose="02040503050406030204" pitchFamily="18" charset="0"/>
                              </a:rPr>
                              <m:t>𝑥</m:t>
                            </m:r>
                          </m:e>
                          <m:sup>
                            <m:r>
                              <a:rPr lang="en-GB" sz="1600" i="1" noProof="0">
                                <a:latin typeface="Cambria Math" panose="02040503050406030204" pitchFamily="18" charset="0"/>
                              </a:rPr>
                              <m:t>3</m:t>
                            </m:r>
                          </m:sup>
                        </m:sSup>
                        <m:r>
                          <a:rPr lang="en-GB" sz="1600" i="1" noProof="0">
                            <a:latin typeface="Cambria Math" panose="02040503050406030204" pitchFamily="18" charset="0"/>
                          </a:rPr>
                          <m:t>+</m:t>
                        </m:r>
                        <m:r>
                          <a:rPr lang="en-GB" sz="1600" i="1" noProof="0">
                            <a:latin typeface="Cambria Math" panose="02040503050406030204" pitchFamily="18" charset="0"/>
                          </a:rPr>
                          <m:t>𝑥</m:t>
                        </m:r>
                      </m:den>
                    </m:f>
                  </m:oMath>
                </a14:m>
                <a:endParaRPr lang="en-GB" sz="1600" noProof="0" dirty="0"/>
              </a:p>
            </p:txBody>
          </p:sp>
        </mc:Choice>
        <mc:Fallback xmlns="">
          <p:sp>
            <p:nvSpPr>
              <p:cNvPr id="47" name="Rectangle 46"/>
              <p:cNvSpPr>
                <a:spLocks noRot="1" noChangeAspect="1" noMove="1" noResize="1" noEditPoints="1" noAdjustHandles="1" noChangeArrowheads="1" noChangeShapeType="1" noTextEdit="1"/>
              </p:cNvSpPr>
              <p:nvPr/>
            </p:nvSpPr>
            <p:spPr>
              <a:xfrm>
                <a:off x="292631" y="6856076"/>
                <a:ext cx="1684768" cy="476221"/>
              </a:xfrm>
              <a:prstGeom prst="rect">
                <a:avLst/>
              </a:prstGeom>
              <a:blipFill>
                <a:blip r:embed="rId6"/>
                <a:stretch>
                  <a:fillRect l="-1812" b="-5128"/>
                </a:stretch>
              </a:blipFill>
            </p:spPr>
            <p:txBody>
              <a:bodyPr/>
              <a:lstStyle/>
              <a:p>
                <a:r>
                  <a:rPr lang="en-US">
                    <a:noFill/>
                  </a:rPr>
                  <a:t> </a:t>
                </a:r>
              </a:p>
            </p:txBody>
          </p:sp>
        </mc:Fallback>
      </mc:AlternateContent>
      <p:sp>
        <p:nvSpPr>
          <p:cNvPr id="48" name="Rectangle 47">
            <a:extLst>
              <a:ext uri="{FF2B5EF4-FFF2-40B4-BE49-F238E27FC236}">
                <a16:creationId xmlns:a16="http://schemas.microsoft.com/office/drawing/2014/main" id="{B16CFEF2-A65A-6142-861C-58ACADF7EEFB}"/>
              </a:ext>
            </a:extLst>
          </p:cNvPr>
          <p:cNvSpPr/>
          <p:nvPr/>
        </p:nvSpPr>
        <p:spPr>
          <a:xfrm>
            <a:off x="361211" y="7337440"/>
            <a:ext cx="6302860" cy="230346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Tree>
    <p:extLst>
      <p:ext uri="{BB962C8B-B14F-4D97-AF65-F5344CB8AC3E}">
        <p14:creationId xmlns:p14="http://schemas.microsoft.com/office/powerpoint/2010/main" val="4281584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AE242C-3BEA-324C-B746-6B1087575622}"/>
              </a:ext>
            </a:extLst>
          </p:cNvPr>
          <p:cNvSpPr txBox="1"/>
          <p:nvPr/>
        </p:nvSpPr>
        <p:spPr>
          <a:xfrm>
            <a:off x="16395" y="1315282"/>
            <a:ext cx="1194558" cy="261610"/>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Knowledge Check</a:t>
            </a:r>
          </a:p>
        </p:txBody>
      </p:sp>
      <p:sp>
        <p:nvSpPr>
          <p:cNvPr id="3" name="TextBox 2"/>
          <p:cNvSpPr txBox="1"/>
          <p:nvPr/>
        </p:nvSpPr>
        <p:spPr>
          <a:xfrm>
            <a:off x="1473801" y="1338176"/>
            <a:ext cx="2397708" cy="276999"/>
          </a:xfrm>
          <a:prstGeom prst="rect">
            <a:avLst/>
          </a:prstGeom>
          <a:noFill/>
        </p:spPr>
        <p:txBody>
          <a:bodyPr wrap="none" rtlCol="0">
            <a:spAutoFit/>
          </a:bodyPr>
          <a:lstStyle/>
          <a:p>
            <a:r>
              <a:rPr lang="en-GB" sz="1200" noProof="0" dirty="0"/>
              <a:t>Evaluate and simplify the following:</a:t>
            </a:r>
          </a:p>
        </p:txBody>
      </p:sp>
      <p:sp>
        <p:nvSpPr>
          <p:cNvPr id="4" name="Rectangle 3">
            <a:extLst>
              <a:ext uri="{FF2B5EF4-FFF2-40B4-BE49-F238E27FC236}">
                <a16:creationId xmlns:a16="http://schemas.microsoft.com/office/drawing/2014/main" id="{B16CFEF2-A65A-6142-861C-58ACADF7EEFB}"/>
              </a:ext>
            </a:extLst>
          </p:cNvPr>
          <p:cNvSpPr/>
          <p:nvPr/>
        </p:nvSpPr>
        <p:spPr>
          <a:xfrm>
            <a:off x="540623" y="2087113"/>
            <a:ext cx="1112910" cy="163121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5" name="TextBox 4"/>
              <p:cNvSpPr txBox="1"/>
              <p:nvPr/>
            </p:nvSpPr>
            <p:spPr>
              <a:xfrm>
                <a:off x="540623" y="1699387"/>
                <a:ext cx="470706" cy="261675"/>
              </a:xfrm>
              <a:prstGeom prst="rect">
                <a:avLst/>
              </a:prstGeom>
              <a:noFill/>
            </p:spPr>
            <p:txBody>
              <a:bodyPr wrap="none" lIns="0" tIns="0" rIns="0" bIns="0" rtlCol="0">
                <a:spAutoFit/>
              </a:bodyPr>
              <a:lstStyle/>
              <a:p>
                <a:r>
                  <a:rPr lang="en-GB" sz="1200" b="0" noProof="0" dirty="0"/>
                  <a:t>a)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3</m:t>
                        </m:r>
                      </m:den>
                    </m:f>
                  </m:oMath>
                </a14:m>
                <a:endParaRPr lang="en-GB" sz="1200" noProof="0" dirty="0"/>
              </a:p>
            </p:txBody>
          </p:sp>
        </mc:Choice>
        <mc:Fallback xmlns="">
          <p:sp>
            <p:nvSpPr>
              <p:cNvPr id="5" name="TextBox 4"/>
              <p:cNvSpPr txBox="1">
                <a:spLocks noRot="1" noChangeAspect="1" noMove="1" noResize="1" noEditPoints="1" noAdjustHandles="1" noChangeArrowheads="1" noChangeShapeType="1" noTextEdit="1"/>
              </p:cNvSpPr>
              <p:nvPr/>
            </p:nvSpPr>
            <p:spPr>
              <a:xfrm>
                <a:off x="540623" y="1699387"/>
                <a:ext cx="470706" cy="261675"/>
              </a:xfrm>
              <a:prstGeom prst="rect">
                <a:avLst/>
              </a:prstGeom>
              <a:blipFill>
                <a:blip r:embed="rId2"/>
                <a:stretch>
                  <a:fillRect l="-20779" t="-2326" r="-6494"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846321" y="1704500"/>
                <a:ext cx="477118" cy="262316"/>
              </a:xfrm>
              <a:prstGeom prst="rect">
                <a:avLst/>
              </a:prstGeom>
              <a:noFill/>
            </p:spPr>
            <p:txBody>
              <a:bodyPr wrap="none" lIns="0" tIns="0" rIns="0" bIns="0" rtlCol="0">
                <a:spAutoFit/>
              </a:bodyPr>
              <a:lstStyle/>
              <a:p>
                <a:r>
                  <a:rPr lang="en-GB" sz="1200" noProof="0" dirty="0"/>
                  <a:t>b</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6" name="TextBox 5"/>
              <p:cNvSpPr txBox="1">
                <a:spLocks noRot="1" noChangeAspect="1" noMove="1" noResize="1" noEditPoints="1" noAdjustHandles="1" noChangeArrowheads="1" noChangeShapeType="1" noTextEdit="1"/>
              </p:cNvSpPr>
              <p:nvPr/>
            </p:nvSpPr>
            <p:spPr>
              <a:xfrm>
                <a:off x="1846321" y="1704500"/>
                <a:ext cx="477118" cy="262316"/>
              </a:xfrm>
              <a:prstGeom prst="rect">
                <a:avLst/>
              </a:prstGeom>
              <a:blipFill>
                <a:blip r:embed="rId3"/>
                <a:stretch>
                  <a:fillRect l="-20513" t="-2326" r="-6410" b="-20930"/>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B16CFEF2-A65A-6142-861C-58ACADF7EEFB}"/>
              </a:ext>
            </a:extLst>
          </p:cNvPr>
          <p:cNvSpPr/>
          <p:nvPr/>
        </p:nvSpPr>
        <p:spPr>
          <a:xfrm>
            <a:off x="1745805" y="2088663"/>
            <a:ext cx="1112910" cy="163121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 name="Rectangle 7">
            <a:extLst>
              <a:ext uri="{FF2B5EF4-FFF2-40B4-BE49-F238E27FC236}">
                <a16:creationId xmlns:a16="http://schemas.microsoft.com/office/drawing/2014/main" id="{B16CFEF2-A65A-6142-861C-58ACADF7EEFB}"/>
              </a:ext>
            </a:extLst>
          </p:cNvPr>
          <p:cNvSpPr/>
          <p:nvPr/>
        </p:nvSpPr>
        <p:spPr>
          <a:xfrm>
            <a:off x="2950987" y="2076351"/>
            <a:ext cx="1112910" cy="163121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9" name="Rectangle 8">
            <a:extLst>
              <a:ext uri="{FF2B5EF4-FFF2-40B4-BE49-F238E27FC236}">
                <a16:creationId xmlns:a16="http://schemas.microsoft.com/office/drawing/2014/main" id="{B16CFEF2-A65A-6142-861C-58ACADF7EEFB}"/>
              </a:ext>
            </a:extLst>
          </p:cNvPr>
          <p:cNvSpPr/>
          <p:nvPr/>
        </p:nvSpPr>
        <p:spPr>
          <a:xfrm>
            <a:off x="4156169" y="2077901"/>
            <a:ext cx="1112910" cy="163121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0" name="Rectangle 9">
            <a:extLst>
              <a:ext uri="{FF2B5EF4-FFF2-40B4-BE49-F238E27FC236}">
                <a16:creationId xmlns:a16="http://schemas.microsoft.com/office/drawing/2014/main" id="{B16CFEF2-A65A-6142-861C-58ACADF7EEFB}"/>
              </a:ext>
            </a:extLst>
          </p:cNvPr>
          <p:cNvSpPr/>
          <p:nvPr/>
        </p:nvSpPr>
        <p:spPr>
          <a:xfrm>
            <a:off x="5361351" y="2076351"/>
            <a:ext cx="1112910" cy="163121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11" name="TextBox 10"/>
              <p:cNvSpPr txBox="1"/>
              <p:nvPr/>
            </p:nvSpPr>
            <p:spPr>
              <a:xfrm>
                <a:off x="2987422" y="1730009"/>
                <a:ext cx="528414" cy="262316"/>
              </a:xfrm>
              <a:prstGeom prst="rect">
                <a:avLst/>
              </a:prstGeom>
              <a:noFill/>
            </p:spPr>
            <p:txBody>
              <a:bodyPr wrap="none" lIns="0" tIns="0" rIns="0" bIns="0" rtlCol="0">
                <a:spAutoFit/>
              </a:bodyPr>
              <a:lstStyle/>
              <a:p>
                <a:r>
                  <a:rPr lang="en-GB" sz="1200" noProof="0" dirty="0"/>
                  <a:t>c</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10</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11" name="TextBox 10"/>
              <p:cNvSpPr txBox="1">
                <a:spLocks noRot="1" noChangeAspect="1" noMove="1" noResize="1" noEditPoints="1" noAdjustHandles="1" noChangeArrowheads="1" noChangeShapeType="1" noTextEdit="1"/>
              </p:cNvSpPr>
              <p:nvPr/>
            </p:nvSpPr>
            <p:spPr>
              <a:xfrm>
                <a:off x="2987422" y="1730009"/>
                <a:ext cx="528414" cy="262316"/>
              </a:xfrm>
              <a:prstGeom prst="rect">
                <a:avLst/>
              </a:prstGeom>
              <a:blipFill>
                <a:blip r:embed="rId4"/>
                <a:stretch>
                  <a:fillRect l="-17241" t="-2326" r="-5747"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179819" y="1730009"/>
                <a:ext cx="477118" cy="262316"/>
              </a:xfrm>
              <a:prstGeom prst="rect">
                <a:avLst/>
              </a:prstGeom>
              <a:noFill/>
            </p:spPr>
            <p:txBody>
              <a:bodyPr wrap="none" lIns="0" tIns="0" rIns="0" bIns="0" rtlCol="0">
                <a:spAutoFit/>
              </a:bodyPr>
              <a:lstStyle/>
              <a:p>
                <a:r>
                  <a:rPr lang="en-GB" sz="1200" noProof="0" dirty="0"/>
                  <a:t>d</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7</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12" name="TextBox 11"/>
              <p:cNvSpPr txBox="1">
                <a:spLocks noRot="1" noChangeAspect="1" noMove="1" noResize="1" noEditPoints="1" noAdjustHandles="1" noChangeArrowheads="1" noChangeShapeType="1" noTextEdit="1"/>
              </p:cNvSpPr>
              <p:nvPr/>
            </p:nvSpPr>
            <p:spPr>
              <a:xfrm>
                <a:off x="4179819" y="1730009"/>
                <a:ext cx="477118" cy="262316"/>
              </a:xfrm>
              <a:prstGeom prst="rect">
                <a:avLst/>
              </a:prstGeom>
              <a:blipFill>
                <a:blip r:embed="rId5"/>
                <a:stretch>
                  <a:fillRect l="-20513" t="-2326" r="-6410"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386644" y="1710583"/>
                <a:ext cx="473912" cy="264944"/>
              </a:xfrm>
              <a:prstGeom prst="rect">
                <a:avLst/>
              </a:prstGeom>
              <a:noFill/>
            </p:spPr>
            <p:txBody>
              <a:bodyPr wrap="none" lIns="0" tIns="0" rIns="0" bIns="0" rtlCol="0">
                <a:spAutoFit/>
              </a:bodyPr>
              <a:lstStyle/>
              <a:p>
                <a:r>
                  <a:rPr lang="en-GB" sz="1200" noProof="0" dirty="0"/>
                  <a:t>e</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7</m:t>
                        </m:r>
                      </m:den>
                    </m:f>
                  </m:oMath>
                </a14:m>
                <a:endParaRPr lang="en-GB" sz="1200" noProof="0" dirty="0"/>
              </a:p>
            </p:txBody>
          </p:sp>
        </mc:Choice>
        <mc:Fallback xmlns="">
          <p:sp>
            <p:nvSpPr>
              <p:cNvPr id="13" name="TextBox 12"/>
              <p:cNvSpPr txBox="1">
                <a:spLocks noRot="1" noChangeAspect="1" noMove="1" noResize="1" noEditPoints="1" noAdjustHandles="1" noChangeArrowheads="1" noChangeShapeType="1" noTextEdit="1"/>
              </p:cNvSpPr>
              <p:nvPr/>
            </p:nvSpPr>
            <p:spPr>
              <a:xfrm>
                <a:off x="5386644" y="1710583"/>
                <a:ext cx="473912" cy="264944"/>
              </a:xfrm>
              <a:prstGeom prst="rect">
                <a:avLst/>
              </a:prstGeom>
              <a:blipFill>
                <a:blip r:embed="rId6"/>
                <a:stretch>
                  <a:fillRect l="-20779" t="-2326" r="-6494" b="-20930"/>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72FAE9BB-D81F-4207-9FF8-E6BE971A99D9}"/>
              </a:ext>
            </a:extLst>
          </p:cNvPr>
          <p:cNvSpPr txBox="1"/>
          <p:nvPr/>
        </p:nvSpPr>
        <p:spPr>
          <a:xfrm>
            <a:off x="5054276" y="3783801"/>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24 - You do…</a:t>
            </a:r>
          </a:p>
        </p:txBody>
      </p:sp>
      <p:sp>
        <p:nvSpPr>
          <p:cNvPr id="22" name="TextBox 21">
            <a:extLst>
              <a:ext uri="{FF2B5EF4-FFF2-40B4-BE49-F238E27FC236}">
                <a16:creationId xmlns:a16="http://schemas.microsoft.com/office/drawing/2014/main" id="{337F58E6-37DE-4890-BDE3-0101DB4D4F11}"/>
              </a:ext>
            </a:extLst>
          </p:cNvPr>
          <p:cNvSpPr txBox="1"/>
          <p:nvPr/>
        </p:nvSpPr>
        <p:spPr>
          <a:xfrm>
            <a:off x="3165754" y="3765814"/>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23 - We do…</a:t>
            </a:r>
          </a:p>
        </p:txBody>
      </p:sp>
      <p:sp>
        <p:nvSpPr>
          <p:cNvPr id="23" name="TextBox 22">
            <a:extLst>
              <a:ext uri="{FF2B5EF4-FFF2-40B4-BE49-F238E27FC236}">
                <a16:creationId xmlns:a16="http://schemas.microsoft.com/office/drawing/2014/main" id="{20EB31B5-3203-4E48-8A19-892EA568053E}"/>
              </a:ext>
            </a:extLst>
          </p:cNvPr>
          <p:cNvSpPr txBox="1"/>
          <p:nvPr/>
        </p:nvSpPr>
        <p:spPr>
          <a:xfrm>
            <a:off x="1477909" y="3765815"/>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22 - I do…</a:t>
            </a:r>
          </a:p>
        </p:txBody>
      </p:sp>
      <p:graphicFrame>
        <p:nvGraphicFramePr>
          <p:cNvPr id="59" name="Table 58"/>
          <p:cNvGraphicFramePr>
            <a:graphicFrameLocks noGrp="1"/>
          </p:cNvGraphicFramePr>
          <p:nvPr>
            <p:extLst>
              <p:ext uri="{D42A27DB-BD31-4B8C-83A1-F6EECF244321}">
                <p14:modId xmlns:p14="http://schemas.microsoft.com/office/powerpoint/2010/main" val="2086870092"/>
              </p:ext>
            </p:extLst>
          </p:nvPr>
        </p:nvGraphicFramePr>
        <p:xfrm>
          <a:off x="183760" y="4050898"/>
          <a:ext cx="6484022" cy="2901856"/>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290359">
                <a:tc>
                  <a:txBody>
                    <a:bodyPr/>
                    <a:lstStyle/>
                    <a:p>
                      <a:r>
                        <a:rPr lang="en-GB" sz="1100" b="1" noProof="0" dirty="0">
                          <a:solidFill>
                            <a:schemeClr val="tx1"/>
                          </a:solidFill>
                        </a:rPr>
                        <a:t>Steps</a:t>
                      </a:r>
                    </a:p>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53996">
                <a:tc>
                  <a:txBody>
                    <a:bodyPr/>
                    <a:lstStyle/>
                    <a:p>
                      <a:r>
                        <a:rPr lang="en-GB" sz="1100" noProof="0" dirty="0">
                          <a:solidFill>
                            <a:schemeClr val="tx1"/>
                          </a:solidFill>
                        </a:rPr>
                        <a:t>1) Find the Lowest</a:t>
                      </a:r>
                      <a:r>
                        <a:rPr lang="en-GB" sz="1100" baseline="0" noProof="0" dirty="0">
                          <a:solidFill>
                            <a:schemeClr val="tx1"/>
                          </a:solidFill>
                        </a:rPr>
                        <a:t> common denominator</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10570">
                <a:tc>
                  <a:txBody>
                    <a:bodyPr/>
                    <a:lstStyle/>
                    <a:p>
                      <a:r>
                        <a:rPr lang="en-GB" sz="1100" noProof="0" dirty="0">
                          <a:solidFill>
                            <a:schemeClr val="tx1"/>
                          </a:solidFill>
                        </a:rPr>
                        <a:t>2) Multiply the numerators.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810570">
                <a:tc>
                  <a:txBody>
                    <a:bodyPr/>
                    <a:lstStyle/>
                    <a:p>
                      <a:r>
                        <a:rPr lang="en-GB" sz="1100" noProof="0" dirty="0">
                          <a:solidFill>
                            <a:schemeClr val="tx1"/>
                          </a:solidFill>
                        </a:rPr>
                        <a:t>3) Write</a:t>
                      </a:r>
                      <a:r>
                        <a:rPr lang="en-GB" sz="1100" baseline="0" noProof="0" dirty="0">
                          <a:solidFill>
                            <a:schemeClr val="tx1"/>
                          </a:solidFill>
                        </a:rPr>
                        <a:t> in simplest form.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AlternateContent xmlns:mc="http://schemas.openxmlformats.org/markup-compatibility/2006" xmlns:a14="http://schemas.microsoft.com/office/drawing/2010/main">
        <mc:Choice Requires="a14">
          <p:sp>
            <p:nvSpPr>
              <p:cNvPr id="60" name="TextBox 59"/>
              <p:cNvSpPr txBox="1"/>
              <p:nvPr/>
            </p:nvSpPr>
            <p:spPr>
              <a:xfrm>
                <a:off x="1535960" y="4077783"/>
                <a:ext cx="1102994" cy="354777"/>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8</m:t>
                        </m:r>
                      </m:den>
                    </m:f>
                  </m:oMath>
                </a14:m>
                <a:endParaRPr lang="en-GB" sz="1200" noProof="0" dirty="0"/>
              </a:p>
            </p:txBody>
          </p:sp>
        </mc:Choice>
        <mc:Fallback xmlns="">
          <p:sp>
            <p:nvSpPr>
              <p:cNvPr id="60" name="TextBox 59"/>
              <p:cNvSpPr txBox="1">
                <a:spLocks noRot="1" noChangeAspect="1" noMove="1" noResize="1" noEditPoints="1" noAdjustHandles="1" noChangeArrowheads="1" noChangeShapeType="1" noTextEdit="1"/>
              </p:cNvSpPr>
              <p:nvPr/>
            </p:nvSpPr>
            <p:spPr>
              <a:xfrm>
                <a:off x="1535960" y="4077783"/>
                <a:ext cx="1102994" cy="354777"/>
              </a:xfrm>
              <a:prstGeom prst="rect">
                <a:avLst/>
              </a:prstGeom>
              <a:blipFill>
                <a:blip r:embed="rId7"/>
                <a:stretch>
                  <a:fillRect l="-552"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3413519" y="4049951"/>
                <a:ext cx="1102994" cy="354777"/>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7</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8</m:t>
                        </m:r>
                      </m:den>
                    </m:f>
                  </m:oMath>
                </a14:m>
                <a:endParaRPr lang="en-GB" sz="1200" noProof="0" dirty="0"/>
              </a:p>
            </p:txBody>
          </p:sp>
        </mc:Choice>
        <mc:Fallback xmlns="">
          <p:sp>
            <p:nvSpPr>
              <p:cNvPr id="63" name="TextBox 62"/>
              <p:cNvSpPr txBox="1">
                <a:spLocks noRot="1" noChangeAspect="1" noMove="1" noResize="1" noEditPoints="1" noAdjustHandles="1" noChangeArrowheads="1" noChangeShapeType="1" noTextEdit="1"/>
              </p:cNvSpPr>
              <p:nvPr/>
            </p:nvSpPr>
            <p:spPr>
              <a:xfrm>
                <a:off x="3413519" y="4049951"/>
                <a:ext cx="1102994" cy="354777"/>
              </a:xfrm>
              <a:prstGeom prst="rect">
                <a:avLst/>
              </a:prstGeom>
              <a:blipFill>
                <a:blip r:embed="rId8"/>
                <a:stretch>
                  <a:fillRect l="-552"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5090740" y="4088797"/>
                <a:ext cx="1168718" cy="354649"/>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7</m:t>
                        </m:r>
                      </m:den>
                    </m:f>
                  </m:oMath>
                </a14:m>
                <a:endParaRPr lang="en-GB" sz="1200" noProof="0" dirty="0"/>
              </a:p>
            </p:txBody>
          </p:sp>
        </mc:Choice>
        <mc:Fallback xmlns="">
          <p:sp>
            <p:nvSpPr>
              <p:cNvPr id="64" name="TextBox 63"/>
              <p:cNvSpPr txBox="1">
                <a:spLocks noRot="1" noChangeAspect="1" noMove="1" noResize="1" noEditPoints="1" noAdjustHandles="1" noChangeArrowheads="1" noChangeShapeType="1" noTextEdit="1"/>
              </p:cNvSpPr>
              <p:nvPr/>
            </p:nvSpPr>
            <p:spPr>
              <a:xfrm>
                <a:off x="5090740" y="4088797"/>
                <a:ext cx="1168718" cy="354649"/>
              </a:xfrm>
              <a:prstGeom prst="rect">
                <a:avLst/>
              </a:prstGeom>
              <a:blipFill>
                <a:blip r:embed="rId9"/>
                <a:stretch>
                  <a:fillRect b="-3448"/>
                </a:stretch>
              </a:blipFill>
            </p:spPr>
            <p:txBody>
              <a:bodyPr/>
              <a:lstStyle/>
              <a:p>
                <a:r>
                  <a:rPr lang="en-US">
                    <a:noFill/>
                  </a:rPr>
                  <a:t> </a:t>
                </a:r>
              </a:p>
            </p:txBody>
          </p:sp>
        </mc:Fallback>
      </mc:AlternateContent>
      <p:pic>
        <p:nvPicPr>
          <p:cNvPr id="66" name="Picture 65"/>
          <p:cNvPicPr>
            <a:picLocks noChangeAspect="1"/>
          </p:cNvPicPr>
          <p:nvPr/>
        </p:nvPicPr>
        <p:blipFill>
          <a:blip r:embed="rId10"/>
          <a:stretch>
            <a:fillRect/>
          </a:stretch>
        </p:blipFill>
        <p:spPr>
          <a:xfrm>
            <a:off x="3965016" y="-1274334"/>
            <a:ext cx="7334250" cy="1114425"/>
          </a:xfrm>
          <a:prstGeom prst="rect">
            <a:avLst/>
          </a:prstGeom>
        </p:spPr>
      </p:pic>
      <p:sp>
        <p:nvSpPr>
          <p:cNvPr id="33" name="Rectangle 32">
            <a:extLst>
              <a:ext uri="{FF2B5EF4-FFF2-40B4-BE49-F238E27FC236}">
                <a16:creationId xmlns:a16="http://schemas.microsoft.com/office/drawing/2014/main" id="{B16CFEF2-A65A-6142-861C-58ACADF7EEFB}"/>
              </a:ext>
            </a:extLst>
          </p:cNvPr>
          <p:cNvSpPr/>
          <p:nvPr/>
        </p:nvSpPr>
        <p:spPr>
          <a:xfrm>
            <a:off x="469542" y="7686699"/>
            <a:ext cx="1112910" cy="20487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4" name="TextBox 33"/>
              <p:cNvSpPr txBox="1"/>
              <p:nvPr/>
            </p:nvSpPr>
            <p:spPr>
              <a:xfrm>
                <a:off x="540623" y="7310169"/>
                <a:ext cx="608180" cy="262059"/>
              </a:xfrm>
              <a:prstGeom prst="rect">
                <a:avLst/>
              </a:prstGeom>
              <a:noFill/>
            </p:spPr>
            <p:txBody>
              <a:bodyPr wrap="none" lIns="0" tIns="0" rIns="0" bIns="0" rtlCol="0">
                <a:spAutoFit/>
              </a:bodyPr>
              <a:lstStyle/>
              <a:p>
                <a:r>
                  <a:rPr lang="en-GB" sz="1200" b="0" noProof="0" dirty="0"/>
                  <a:t>a)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34" name="TextBox 33"/>
              <p:cNvSpPr txBox="1">
                <a:spLocks noRot="1" noChangeAspect="1" noMove="1" noResize="1" noEditPoints="1" noAdjustHandles="1" noChangeArrowheads="1" noChangeShapeType="1" noTextEdit="1"/>
              </p:cNvSpPr>
              <p:nvPr/>
            </p:nvSpPr>
            <p:spPr>
              <a:xfrm>
                <a:off x="540623" y="7310169"/>
                <a:ext cx="608180" cy="262059"/>
              </a:xfrm>
              <a:prstGeom prst="rect">
                <a:avLst/>
              </a:prstGeom>
              <a:blipFill>
                <a:blip r:embed="rId11"/>
                <a:stretch>
                  <a:fillRect l="-16162" t="-2326" r="-5051"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1786642" y="7303019"/>
                <a:ext cx="548868" cy="261546"/>
              </a:xfrm>
              <a:prstGeom prst="rect">
                <a:avLst/>
              </a:prstGeom>
              <a:noFill/>
            </p:spPr>
            <p:txBody>
              <a:bodyPr wrap="none" lIns="0" tIns="0" rIns="0" bIns="0" rtlCol="0">
                <a:spAutoFit/>
              </a:bodyPr>
              <a:lstStyle/>
              <a:p>
                <a:r>
                  <a:rPr lang="en-GB" sz="1200" noProof="0" dirty="0"/>
                  <a:t>b</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35" name="TextBox 34"/>
              <p:cNvSpPr txBox="1">
                <a:spLocks noRot="1" noChangeAspect="1" noMove="1" noResize="1" noEditPoints="1" noAdjustHandles="1" noChangeArrowheads="1" noChangeShapeType="1" noTextEdit="1"/>
              </p:cNvSpPr>
              <p:nvPr/>
            </p:nvSpPr>
            <p:spPr>
              <a:xfrm>
                <a:off x="1786642" y="7303019"/>
                <a:ext cx="548868" cy="261546"/>
              </a:xfrm>
              <a:prstGeom prst="rect">
                <a:avLst/>
              </a:prstGeom>
              <a:blipFill>
                <a:blip r:embed="rId12"/>
                <a:stretch>
                  <a:fillRect l="-16667" t="-2326" r="-4444" b="-23256"/>
                </a:stretch>
              </a:blipFill>
            </p:spPr>
            <p:txBody>
              <a:bodyPr/>
              <a:lstStyle/>
              <a:p>
                <a:r>
                  <a:rPr lang="en-US">
                    <a:noFill/>
                  </a:rPr>
                  <a:t> </a:t>
                </a:r>
              </a:p>
            </p:txBody>
          </p:sp>
        </mc:Fallback>
      </mc:AlternateContent>
      <p:sp>
        <p:nvSpPr>
          <p:cNvPr id="36" name="Rectangle 35">
            <a:extLst>
              <a:ext uri="{FF2B5EF4-FFF2-40B4-BE49-F238E27FC236}">
                <a16:creationId xmlns:a16="http://schemas.microsoft.com/office/drawing/2014/main" id="{B16CFEF2-A65A-6142-861C-58ACADF7EEFB}"/>
              </a:ext>
            </a:extLst>
          </p:cNvPr>
          <p:cNvSpPr/>
          <p:nvPr/>
        </p:nvSpPr>
        <p:spPr>
          <a:xfrm>
            <a:off x="1674724" y="7688249"/>
            <a:ext cx="1112910" cy="20487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7" name="Rectangle 36">
            <a:extLst>
              <a:ext uri="{FF2B5EF4-FFF2-40B4-BE49-F238E27FC236}">
                <a16:creationId xmlns:a16="http://schemas.microsoft.com/office/drawing/2014/main" id="{B16CFEF2-A65A-6142-861C-58ACADF7EEFB}"/>
              </a:ext>
            </a:extLst>
          </p:cNvPr>
          <p:cNvSpPr/>
          <p:nvPr/>
        </p:nvSpPr>
        <p:spPr>
          <a:xfrm>
            <a:off x="2879906" y="7675937"/>
            <a:ext cx="1112910" cy="20487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8" name="Rectangle 37">
            <a:extLst>
              <a:ext uri="{FF2B5EF4-FFF2-40B4-BE49-F238E27FC236}">
                <a16:creationId xmlns:a16="http://schemas.microsoft.com/office/drawing/2014/main" id="{B16CFEF2-A65A-6142-861C-58ACADF7EEFB}"/>
              </a:ext>
            </a:extLst>
          </p:cNvPr>
          <p:cNvSpPr/>
          <p:nvPr/>
        </p:nvSpPr>
        <p:spPr>
          <a:xfrm>
            <a:off x="4085088" y="7677487"/>
            <a:ext cx="1112910" cy="20487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9" name="Rectangle 38">
            <a:extLst>
              <a:ext uri="{FF2B5EF4-FFF2-40B4-BE49-F238E27FC236}">
                <a16:creationId xmlns:a16="http://schemas.microsoft.com/office/drawing/2014/main" id="{B16CFEF2-A65A-6142-861C-58ACADF7EEFB}"/>
              </a:ext>
            </a:extLst>
          </p:cNvPr>
          <p:cNvSpPr/>
          <p:nvPr/>
        </p:nvSpPr>
        <p:spPr>
          <a:xfrm>
            <a:off x="5290270" y="7675937"/>
            <a:ext cx="1112910" cy="20487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40" name="TextBox 39"/>
              <p:cNvSpPr txBox="1"/>
              <p:nvPr/>
            </p:nvSpPr>
            <p:spPr>
              <a:xfrm>
                <a:off x="2916341" y="7329595"/>
                <a:ext cx="468718" cy="247247"/>
              </a:xfrm>
              <a:prstGeom prst="rect">
                <a:avLst/>
              </a:prstGeom>
              <a:noFill/>
            </p:spPr>
            <p:txBody>
              <a:bodyPr wrap="none" lIns="0" tIns="0" rIns="0" bIns="0" rtlCol="0">
                <a:spAutoFit/>
              </a:bodyPr>
              <a:lstStyle/>
              <a:p>
                <a:r>
                  <a:rPr lang="en-GB" sz="1200" noProof="0" dirty="0"/>
                  <a:t>c</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40" name="TextBox 39"/>
              <p:cNvSpPr txBox="1">
                <a:spLocks noRot="1" noChangeAspect="1" noMove="1" noResize="1" noEditPoints="1" noAdjustHandles="1" noChangeArrowheads="1" noChangeShapeType="1" noTextEdit="1"/>
              </p:cNvSpPr>
              <p:nvPr/>
            </p:nvSpPr>
            <p:spPr>
              <a:xfrm>
                <a:off x="2916341" y="7329595"/>
                <a:ext cx="468718" cy="247247"/>
              </a:xfrm>
              <a:prstGeom prst="rect">
                <a:avLst/>
              </a:prstGeom>
              <a:blipFill>
                <a:blip r:embed="rId13"/>
                <a:stretch>
                  <a:fillRect l="-19481" t="-9756" r="-6494" b="-219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4108738" y="7329595"/>
                <a:ext cx="483146" cy="247247"/>
              </a:xfrm>
              <a:prstGeom prst="rect">
                <a:avLst/>
              </a:prstGeom>
              <a:noFill/>
            </p:spPr>
            <p:txBody>
              <a:bodyPr wrap="none" lIns="0" tIns="0" rIns="0" bIns="0" rtlCol="0">
                <a:spAutoFit/>
              </a:bodyPr>
              <a:lstStyle/>
              <a:p>
                <a:r>
                  <a:rPr lang="en-GB" sz="1200" noProof="0" dirty="0"/>
                  <a:t>d</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41" name="TextBox 40"/>
              <p:cNvSpPr txBox="1">
                <a:spLocks noRot="1" noChangeAspect="1" noMove="1" noResize="1" noEditPoints="1" noAdjustHandles="1" noChangeArrowheads="1" noChangeShapeType="1" noTextEdit="1"/>
              </p:cNvSpPr>
              <p:nvPr/>
            </p:nvSpPr>
            <p:spPr>
              <a:xfrm>
                <a:off x="4108738" y="7329595"/>
                <a:ext cx="483146" cy="247247"/>
              </a:xfrm>
              <a:prstGeom prst="rect">
                <a:avLst/>
              </a:prstGeom>
              <a:blipFill>
                <a:blip r:embed="rId14"/>
                <a:stretch>
                  <a:fillRect l="-18987" t="-9756" r="-6329" b="-219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5315563" y="7310169"/>
                <a:ext cx="545662" cy="264944"/>
              </a:xfrm>
              <a:prstGeom prst="rect">
                <a:avLst/>
              </a:prstGeom>
              <a:noFill/>
            </p:spPr>
            <p:txBody>
              <a:bodyPr wrap="none" lIns="0" tIns="0" rIns="0" bIns="0" rtlCol="0">
                <a:spAutoFit/>
              </a:bodyPr>
              <a:lstStyle/>
              <a:p>
                <a:r>
                  <a:rPr lang="en-GB" sz="1200" noProof="0" dirty="0"/>
                  <a:t>e</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oMath>
                </a14:m>
                <a:endParaRPr lang="en-GB" sz="1200" noProof="0" dirty="0"/>
              </a:p>
            </p:txBody>
          </p:sp>
        </mc:Choice>
        <mc:Fallback xmlns="">
          <p:sp>
            <p:nvSpPr>
              <p:cNvPr id="42" name="TextBox 41"/>
              <p:cNvSpPr txBox="1">
                <a:spLocks noRot="1" noChangeAspect="1" noMove="1" noResize="1" noEditPoints="1" noAdjustHandles="1" noChangeArrowheads="1" noChangeShapeType="1" noTextEdit="1"/>
              </p:cNvSpPr>
              <p:nvPr/>
            </p:nvSpPr>
            <p:spPr>
              <a:xfrm>
                <a:off x="5315563" y="7310169"/>
                <a:ext cx="545662" cy="264944"/>
              </a:xfrm>
              <a:prstGeom prst="rect">
                <a:avLst/>
              </a:prstGeom>
              <a:blipFill>
                <a:blip r:embed="rId15"/>
                <a:stretch>
                  <a:fillRect l="-17978" t="-2273" r="-4494" b="-20455"/>
                </a:stretch>
              </a:blipFill>
            </p:spPr>
            <p:txBody>
              <a:bodyPr/>
              <a:lstStyle/>
              <a:p>
                <a:r>
                  <a:rPr lang="en-US">
                    <a:noFill/>
                  </a:rPr>
                  <a:t> </a:t>
                </a:r>
              </a:p>
            </p:txBody>
          </p:sp>
        </mc:Fallback>
      </mc:AlternateContent>
      <p:sp>
        <p:nvSpPr>
          <p:cNvPr id="49" name="TextBox 48">
            <a:extLst>
              <a:ext uri="{FF2B5EF4-FFF2-40B4-BE49-F238E27FC236}">
                <a16:creationId xmlns:a16="http://schemas.microsoft.com/office/drawing/2014/main" id="{6EAE242C-3BEA-324C-B746-6B1087575622}"/>
              </a:ext>
            </a:extLst>
          </p:cNvPr>
          <p:cNvSpPr txBox="1"/>
          <p:nvPr/>
        </p:nvSpPr>
        <p:spPr>
          <a:xfrm>
            <a:off x="0" y="6997081"/>
            <a:ext cx="1601721" cy="261610"/>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INDEPENDENT PRACTICE</a:t>
            </a:r>
          </a:p>
        </p:txBody>
      </p:sp>
      <p:sp>
        <p:nvSpPr>
          <p:cNvPr id="25" name="Slide Number Placeholder 24"/>
          <p:cNvSpPr>
            <a:spLocks noGrp="1"/>
          </p:cNvSpPr>
          <p:nvPr>
            <p:ph type="sldNum" sz="quarter" idx="12"/>
          </p:nvPr>
        </p:nvSpPr>
        <p:spPr>
          <a:xfrm>
            <a:off x="5243735" y="9425796"/>
            <a:ext cx="1543050" cy="527403"/>
          </a:xfrm>
        </p:spPr>
        <p:txBody>
          <a:bodyPr/>
          <a:lstStyle/>
          <a:p>
            <a:fld id="{9BD3B4A0-BFF9-422C-B253-48BA94BE2F5B}" type="slidenum">
              <a:rPr lang="en-GB" noProof="0" smtClean="0"/>
              <a:t>16</a:t>
            </a:fld>
            <a:endParaRPr lang="en-GB" noProof="0" dirty="0"/>
          </a:p>
        </p:txBody>
      </p:sp>
      <p:sp>
        <p:nvSpPr>
          <p:cNvPr id="19" name="TextBox 18">
            <a:extLst>
              <a:ext uri="{FF2B5EF4-FFF2-40B4-BE49-F238E27FC236}">
                <a16:creationId xmlns:a16="http://schemas.microsoft.com/office/drawing/2014/main" id="{B97C74F5-8A46-B1E1-9EAD-6A3B5F6E5F3F}"/>
              </a:ext>
            </a:extLst>
          </p:cNvPr>
          <p:cNvSpPr txBox="1"/>
          <p:nvPr/>
        </p:nvSpPr>
        <p:spPr>
          <a:xfrm>
            <a:off x="0" y="-19269"/>
            <a:ext cx="4272966" cy="369332"/>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algn="r">
              <a:defRPr/>
            </a:pPr>
            <a:r>
              <a:rPr lang="en-GB" b="1" noProof="0" dirty="0"/>
              <a:t>Adding and Subtracting Algebraic Fractions</a:t>
            </a:r>
            <a:endParaRPr kumimoji="0" lang="en-GB" sz="12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F7989BE2-444C-6A2A-A866-CCFFA9B9C472}"/>
              </a:ext>
            </a:extLst>
          </p:cNvPr>
          <p:cNvSpPr txBox="1"/>
          <p:nvPr/>
        </p:nvSpPr>
        <p:spPr>
          <a:xfrm>
            <a:off x="117616" y="533400"/>
            <a:ext cx="6550166" cy="646331"/>
          </a:xfrm>
          <a:prstGeom prst="rect">
            <a:avLst/>
          </a:prstGeom>
          <a:noFill/>
          <a:ln>
            <a:solidFill>
              <a:schemeClr val="tx1"/>
            </a:solidFill>
          </a:ln>
        </p:spPr>
        <p:txBody>
          <a:bodyPr wrap="square" rtlCol="0">
            <a:spAutoFit/>
          </a:bodyPr>
          <a:lstStyle/>
          <a:p>
            <a:r>
              <a:rPr lang="en-GB" sz="1200" noProof="0" dirty="0"/>
              <a:t>When the algebraic fractions we want to add or subtract have different denominators, it is necessary to find a common denominator. As with numerical fractions we do this by finding the lowest common multiple of the denominators. </a:t>
            </a:r>
          </a:p>
        </p:txBody>
      </p:sp>
    </p:spTree>
    <p:extLst>
      <p:ext uri="{BB962C8B-B14F-4D97-AF65-F5344CB8AC3E}">
        <p14:creationId xmlns:p14="http://schemas.microsoft.com/office/powerpoint/2010/main" val="171837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16CFEF2-A65A-6142-861C-58ACADF7EEFB}"/>
              </a:ext>
            </a:extLst>
          </p:cNvPr>
          <p:cNvSpPr/>
          <p:nvPr/>
        </p:nvSpPr>
        <p:spPr>
          <a:xfrm>
            <a:off x="64417" y="4289129"/>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0" name="TextBox 29"/>
              <p:cNvSpPr txBox="1"/>
              <p:nvPr/>
            </p:nvSpPr>
            <p:spPr>
              <a:xfrm>
                <a:off x="95530" y="3946688"/>
                <a:ext cx="771686" cy="262316"/>
              </a:xfrm>
              <a:prstGeom prst="rect">
                <a:avLst/>
              </a:prstGeom>
              <a:noFill/>
            </p:spPr>
            <p:txBody>
              <a:bodyPr wrap="none" lIns="0" tIns="0" rIns="0" bIns="0" rtlCol="0">
                <a:spAutoFit/>
              </a:bodyPr>
              <a:lstStyle/>
              <a:p>
                <a:r>
                  <a:rPr lang="en-GB" sz="1200" noProof="0" dirty="0"/>
                  <a:t>a</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30" name="TextBox 29"/>
              <p:cNvSpPr txBox="1">
                <a:spLocks noRot="1" noChangeAspect="1" noMove="1" noResize="1" noEditPoints="1" noAdjustHandles="1" noChangeArrowheads="1" noChangeShapeType="1" noTextEdit="1"/>
              </p:cNvSpPr>
              <p:nvPr/>
            </p:nvSpPr>
            <p:spPr>
              <a:xfrm>
                <a:off x="95530" y="3946688"/>
                <a:ext cx="771686" cy="262316"/>
              </a:xfrm>
              <a:prstGeom prst="rect">
                <a:avLst/>
              </a:prstGeom>
              <a:blipFill>
                <a:blip r:embed="rId2"/>
                <a:stretch>
                  <a:fillRect l="-12698" t="-2326" r="-3968"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1783522" y="3946816"/>
                <a:ext cx="763671" cy="262059"/>
              </a:xfrm>
              <a:prstGeom prst="rect">
                <a:avLst/>
              </a:prstGeom>
              <a:noFill/>
            </p:spPr>
            <p:txBody>
              <a:bodyPr wrap="none" lIns="0" tIns="0" rIns="0" bIns="0" rtlCol="0">
                <a:spAutoFit/>
              </a:bodyPr>
              <a:lstStyle/>
              <a:p>
                <a:r>
                  <a:rPr lang="en-GB" sz="1200" noProof="0" dirty="0"/>
                  <a:t>c</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3</m:t>
                        </m:r>
                      </m:den>
                    </m:f>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1783522" y="3946816"/>
                <a:ext cx="763671" cy="262059"/>
              </a:xfrm>
              <a:prstGeom prst="rect">
                <a:avLst/>
              </a:prstGeom>
              <a:blipFill>
                <a:blip r:embed="rId3"/>
                <a:stretch>
                  <a:fillRect l="-12800" t="-2326" r="-3200" b="-23256"/>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B16CFEF2-A65A-6142-861C-58ACADF7EEFB}"/>
              </a:ext>
            </a:extLst>
          </p:cNvPr>
          <p:cNvSpPr/>
          <p:nvPr/>
        </p:nvSpPr>
        <p:spPr>
          <a:xfrm>
            <a:off x="1724629" y="4289129"/>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6" name="Rectangle 35">
            <a:extLst>
              <a:ext uri="{FF2B5EF4-FFF2-40B4-BE49-F238E27FC236}">
                <a16:creationId xmlns:a16="http://schemas.microsoft.com/office/drawing/2014/main" id="{B16CFEF2-A65A-6142-861C-58ACADF7EEFB}"/>
              </a:ext>
            </a:extLst>
          </p:cNvPr>
          <p:cNvSpPr/>
          <p:nvPr/>
        </p:nvSpPr>
        <p:spPr>
          <a:xfrm>
            <a:off x="3396416" y="4289129"/>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7" name="Rectangle 36">
            <a:extLst>
              <a:ext uri="{FF2B5EF4-FFF2-40B4-BE49-F238E27FC236}">
                <a16:creationId xmlns:a16="http://schemas.microsoft.com/office/drawing/2014/main" id="{B16CFEF2-A65A-6142-861C-58ACADF7EEFB}"/>
              </a:ext>
            </a:extLst>
          </p:cNvPr>
          <p:cNvSpPr/>
          <p:nvPr/>
        </p:nvSpPr>
        <p:spPr>
          <a:xfrm>
            <a:off x="5073415" y="4289129"/>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8" name="TextBox 37"/>
              <p:cNvSpPr txBox="1"/>
              <p:nvPr/>
            </p:nvSpPr>
            <p:spPr>
              <a:xfrm>
                <a:off x="3395916" y="3859927"/>
                <a:ext cx="1159485" cy="403444"/>
              </a:xfrm>
              <a:prstGeom prst="rect">
                <a:avLst/>
              </a:prstGeom>
              <a:noFill/>
            </p:spPr>
            <p:txBody>
              <a:bodyPr wrap="none" lIns="0" tIns="0" rIns="0" bIns="0" rtlCol="0">
                <a:spAutoFit/>
              </a:bodyPr>
              <a:lstStyle/>
              <a:p>
                <a:r>
                  <a:rPr lang="en-GB" sz="1200" noProof="0" dirty="0"/>
                  <a:t>d</a:t>
                </a:r>
                <a:r>
                  <a:rPr lang="en-GB" sz="1200" b="0" noProof="0" dirty="0"/>
                  <a:t>)</a:t>
                </a:r>
                <a:r>
                  <a:rPr lang="en-GB" sz="1200" noProof="0" dirty="0"/>
                  <a:t> </a:t>
                </a:r>
                <a14:m>
                  <m:oMath xmlns:m="http://schemas.openxmlformats.org/officeDocument/2006/math">
                    <m:f>
                      <m:fPr>
                        <m:ctrlPr>
                          <a:rPr lang="en-GB" i="1" noProof="0" smtClean="0">
                            <a:latin typeface="Cambria Math" panose="02040503050406030204" pitchFamily="18" charset="0"/>
                          </a:rPr>
                        </m:ctrlPr>
                      </m:fPr>
                      <m:num>
                        <m:r>
                          <a:rPr lang="en-GB" i="1" noProof="0">
                            <a:latin typeface="Cambria Math" panose="02040503050406030204" pitchFamily="18" charset="0"/>
                          </a:rPr>
                          <m:t>3</m:t>
                        </m:r>
                      </m:num>
                      <m:den>
                        <m:r>
                          <a:rPr lang="en-GB" i="1" noProof="0">
                            <a:latin typeface="Cambria Math" panose="02040503050406030204" pitchFamily="18" charset="0"/>
                          </a:rPr>
                          <m:t>𝑥</m:t>
                        </m:r>
                        <m:r>
                          <a:rPr lang="en-GB" i="1" noProof="0">
                            <a:latin typeface="Cambria Math" panose="02040503050406030204" pitchFamily="18" charset="0"/>
                          </a:rPr>
                          <m:t>−1</m:t>
                        </m:r>
                      </m:den>
                    </m:f>
                    <m:r>
                      <a:rPr lang="en-GB" i="1" noProof="0">
                        <a:latin typeface="Cambria Math" panose="02040503050406030204" pitchFamily="18" charset="0"/>
                      </a:rPr>
                      <m:t>+</m:t>
                    </m:r>
                    <m:f>
                      <m:fPr>
                        <m:ctrlPr>
                          <a:rPr lang="en-GB" i="1" noProof="0" smtClean="0">
                            <a:latin typeface="Cambria Math" panose="02040503050406030204" pitchFamily="18" charset="0"/>
                          </a:rPr>
                        </m:ctrlPr>
                      </m:fPr>
                      <m:num>
                        <m:r>
                          <a:rPr lang="en-GB" i="1" noProof="0">
                            <a:latin typeface="Cambria Math" panose="02040503050406030204" pitchFamily="18" charset="0"/>
                          </a:rPr>
                          <m:t>4</m:t>
                        </m:r>
                      </m:num>
                      <m:den>
                        <m:r>
                          <a:rPr lang="en-GB" i="1" noProof="0">
                            <a:latin typeface="Cambria Math" panose="02040503050406030204" pitchFamily="18" charset="0"/>
                          </a:rPr>
                          <m:t>3</m:t>
                        </m:r>
                        <m:r>
                          <a:rPr lang="en-GB" i="1" noProof="0">
                            <a:latin typeface="Cambria Math" panose="02040503050406030204" pitchFamily="18" charset="0"/>
                          </a:rPr>
                          <m:t>𝑥</m:t>
                        </m:r>
                        <m:r>
                          <a:rPr lang="en-GB" i="1" noProof="0">
                            <a:latin typeface="Cambria Math" panose="02040503050406030204" pitchFamily="18" charset="0"/>
                          </a:rPr>
                          <m:t>+2</m:t>
                        </m:r>
                      </m:den>
                    </m:f>
                  </m:oMath>
                </a14:m>
                <a:endParaRPr lang="en-GB" sz="1200" noProof="0" dirty="0"/>
              </a:p>
            </p:txBody>
          </p:sp>
        </mc:Choice>
        <mc:Fallback xmlns="">
          <p:sp>
            <p:nvSpPr>
              <p:cNvPr id="38" name="TextBox 37"/>
              <p:cNvSpPr txBox="1">
                <a:spLocks noRot="1" noChangeAspect="1" noMove="1" noResize="1" noEditPoints="1" noAdjustHandles="1" noChangeArrowheads="1" noChangeShapeType="1" noTextEdit="1"/>
              </p:cNvSpPr>
              <p:nvPr/>
            </p:nvSpPr>
            <p:spPr>
              <a:xfrm>
                <a:off x="3395916" y="3859927"/>
                <a:ext cx="1159485" cy="403444"/>
              </a:xfrm>
              <a:prstGeom prst="rect">
                <a:avLst/>
              </a:prstGeom>
              <a:blipFill>
                <a:blip r:embed="rId4"/>
                <a:stretch>
                  <a:fillRect l="-7895" r="-5789" b="-106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5033577" y="3936322"/>
                <a:ext cx="774892" cy="262316"/>
              </a:xfrm>
              <a:prstGeom prst="rect">
                <a:avLst/>
              </a:prstGeom>
              <a:noFill/>
            </p:spPr>
            <p:txBody>
              <a:bodyPr wrap="none" lIns="0" tIns="0" rIns="0" bIns="0" rtlCol="0">
                <a:spAutoFit/>
              </a:bodyPr>
              <a:lstStyle/>
              <a:p>
                <a:r>
                  <a:rPr lang="en-GB" sz="1200" noProof="0" dirty="0"/>
                  <a:t>e</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5</m:t>
                        </m:r>
                      </m:den>
                    </m:f>
                    <m:r>
                      <a:rPr lang="en-GB" sz="120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i="1" noProof="0" smtClean="0">
                            <a:latin typeface="Cambria Math" panose="02040503050406030204" pitchFamily="18" charset="0"/>
                          </a:rPr>
                          <m:t>3</m:t>
                        </m:r>
                      </m:den>
                    </m:f>
                  </m:oMath>
                </a14:m>
                <a:endParaRPr lang="en-GB" sz="1200" noProof="0" dirty="0"/>
              </a:p>
            </p:txBody>
          </p:sp>
        </mc:Choice>
        <mc:Fallback xmlns="">
          <p:sp>
            <p:nvSpPr>
              <p:cNvPr id="39" name="TextBox 38"/>
              <p:cNvSpPr txBox="1">
                <a:spLocks noRot="1" noChangeAspect="1" noMove="1" noResize="1" noEditPoints="1" noAdjustHandles="1" noChangeArrowheads="1" noChangeShapeType="1" noTextEdit="1"/>
              </p:cNvSpPr>
              <p:nvPr/>
            </p:nvSpPr>
            <p:spPr>
              <a:xfrm>
                <a:off x="5033577" y="3936322"/>
                <a:ext cx="774892" cy="262316"/>
              </a:xfrm>
              <a:prstGeom prst="rect">
                <a:avLst/>
              </a:prstGeom>
              <a:blipFill>
                <a:blip r:embed="rId5"/>
                <a:stretch>
                  <a:fillRect l="-12598" t="-2326" r="-3150" b="-20930"/>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B16CFEF2-A65A-6142-861C-58ACADF7EEFB}"/>
              </a:ext>
            </a:extLst>
          </p:cNvPr>
          <p:cNvSpPr/>
          <p:nvPr/>
        </p:nvSpPr>
        <p:spPr>
          <a:xfrm>
            <a:off x="64417" y="7225704"/>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41" name="TextBox 40"/>
              <p:cNvSpPr txBox="1"/>
              <p:nvPr/>
            </p:nvSpPr>
            <p:spPr>
              <a:xfrm>
                <a:off x="95530" y="6883263"/>
                <a:ext cx="812402" cy="262316"/>
              </a:xfrm>
              <a:prstGeom prst="rect">
                <a:avLst/>
              </a:prstGeom>
              <a:noFill/>
            </p:spPr>
            <p:txBody>
              <a:bodyPr wrap="none" lIns="0" tIns="0" rIns="0" bIns="0" rtlCol="0">
                <a:spAutoFit/>
              </a:bodyPr>
              <a:lstStyle/>
              <a:p>
                <a:r>
                  <a:rPr lang="en-GB" sz="1200" noProof="0" dirty="0"/>
                  <a:t>f</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2</m:t>
                        </m:r>
                      </m:den>
                    </m:f>
                  </m:oMath>
                </a14:m>
                <a:endParaRPr lang="en-GB" sz="1200" noProof="0" dirty="0"/>
              </a:p>
            </p:txBody>
          </p:sp>
        </mc:Choice>
        <mc:Fallback xmlns="">
          <p:sp>
            <p:nvSpPr>
              <p:cNvPr id="41" name="TextBox 40"/>
              <p:cNvSpPr txBox="1">
                <a:spLocks noRot="1" noChangeAspect="1" noMove="1" noResize="1" noEditPoints="1" noAdjustHandles="1" noChangeArrowheads="1" noChangeShapeType="1" noTextEdit="1"/>
              </p:cNvSpPr>
              <p:nvPr/>
            </p:nvSpPr>
            <p:spPr>
              <a:xfrm>
                <a:off x="95530" y="6883263"/>
                <a:ext cx="812402" cy="262316"/>
              </a:xfrm>
              <a:prstGeom prst="rect">
                <a:avLst/>
              </a:prstGeom>
              <a:blipFill>
                <a:blip r:embed="rId6"/>
                <a:stretch>
                  <a:fillRect l="-12030" t="-2326" r="-3008"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1783522" y="6883391"/>
                <a:ext cx="835806" cy="262316"/>
              </a:xfrm>
              <a:prstGeom prst="rect">
                <a:avLst/>
              </a:prstGeom>
              <a:noFill/>
            </p:spPr>
            <p:txBody>
              <a:bodyPr wrap="none" lIns="0" tIns="0" rIns="0" bIns="0" rtlCol="0">
                <a:spAutoFit/>
              </a:bodyPr>
              <a:lstStyle/>
              <a:p>
                <a:r>
                  <a:rPr lang="en-GB" sz="1200" noProof="0" dirty="0"/>
                  <a:t>g</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42" name="TextBox 41"/>
              <p:cNvSpPr txBox="1">
                <a:spLocks noRot="1" noChangeAspect="1" noMove="1" noResize="1" noEditPoints="1" noAdjustHandles="1" noChangeArrowheads="1" noChangeShapeType="1" noTextEdit="1"/>
              </p:cNvSpPr>
              <p:nvPr/>
            </p:nvSpPr>
            <p:spPr>
              <a:xfrm>
                <a:off x="1783522" y="6883391"/>
                <a:ext cx="835806" cy="262316"/>
              </a:xfrm>
              <a:prstGeom prst="rect">
                <a:avLst/>
              </a:prstGeom>
              <a:blipFill>
                <a:blip r:embed="rId7"/>
                <a:stretch>
                  <a:fillRect l="-11679" t="-2326" r="-2920" b="-23256"/>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B16CFEF2-A65A-6142-861C-58ACADF7EEFB}"/>
              </a:ext>
            </a:extLst>
          </p:cNvPr>
          <p:cNvSpPr/>
          <p:nvPr/>
        </p:nvSpPr>
        <p:spPr>
          <a:xfrm>
            <a:off x="1724629" y="7225704"/>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4" name="Rectangle 43">
            <a:extLst>
              <a:ext uri="{FF2B5EF4-FFF2-40B4-BE49-F238E27FC236}">
                <a16:creationId xmlns:a16="http://schemas.microsoft.com/office/drawing/2014/main" id="{B16CFEF2-A65A-6142-861C-58ACADF7EEFB}"/>
              </a:ext>
            </a:extLst>
          </p:cNvPr>
          <p:cNvSpPr/>
          <p:nvPr/>
        </p:nvSpPr>
        <p:spPr>
          <a:xfrm>
            <a:off x="3396416" y="7225704"/>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5" name="Rectangle 44">
            <a:extLst>
              <a:ext uri="{FF2B5EF4-FFF2-40B4-BE49-F238E27FC236}">
                <a16:creationId xmlns:a16="http://schemas.microsoft.com/office/drawing/2014/main" id="{B16CFEF2-A65A-6142-861C-58ACADF7EEFB}"/>
              </a:ext>
            </a:extLst>
          </p:cNvPr>
          <p:cNvSpPr/>
          <p:nvPr/>
        </p:nvSpPr>
        <p:spPr>
          <a:xfrm>
            <a:off x="5073415" y="7225704"/>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46" name="TextBox 45"/>
              <p:cNvSpPr txBox="1"/>
              <p:nvPr/>
            </p:nvSpPr>
            <p:spPr>
              <a:xfrm>
                <a:off x="3395916" y="6883391"/>
                <a:ext cx="843821" cy="262059"/>
              </a:xfrm>
              <a:prstGeom prst="rect">
                <a:avLst/>
              </a:prstGeom>
              <a:noFill/>
            </p:spPr>
            <p:txBody>
              <a:bodyPr wrap="none" lIns="0" tIns="0" rIns="0" bIns="0" rtlCol="0">
                <a:spAutoFit/>
              </a:bodyPr>
              <a:lstStyle/>
              <a:p>
                <a:r>
                  <a:rPr lang="en-GB" sz="1200" noProof="0" dirty="0"/>
                  <a:t>h</a:t>
                </a:r>
                <a:r>
                  <a:rPr lang="en-GB" sz="1200" b="0" noProof="0" dirty="0"/>
                  <a:t>) </a:t>
                </a:r>
                <a14:m>
                  <m:oMath xmlns:m="http://schemas.openxmlformats.org/officeDocument/2006/math">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4</m:t>
                        </m:r>
                        <m:r>
                          <a:rPr lang="en-GB" sz="120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num>
                      <m:den>
                        <m:r>
                          <a:rPr lang="en-GB" sz="1200" i="1" noProof="0" smtClean="0">
                            <a:latin typeface="Cambria Math" panose="02040503050406030204" pitchFamily="18" charset="0"/>
                          </a:rPr>
                          <m:t>3</m:t>
                        </m:r>
                      </m:den>
                    </m:f>
                  </m:oMath>
                </a14:m>
                <a:endParaRPr lang="en-GB" sz="1200" noProof="0" dirty="0"/>
              </a:p>
            </p:txBody>
          </p:sp>
        </mc:Choice>
        <mc:Fallback xmlns="">
          <p:sp>
            <p:nvSpPr>
              <p:cNvPr id="46" name="TextBox 45"/>
              <p:cNvSpPr txBox="1">
                <a:spLocks noRot="1" noChangeAspect="1" noMove="1" noResize="1" noEditPoints="1" noAdjustHandles="1" noChangeArrowheads="1" noChangeShapeType="1" noTextEdit="1"/>
              </p:cNvSpPr>
              <p:nvPr/>
            </p:nvSpPr>
            <p:spPr>
              <a:xfrm>
                <a:off x="3395916" y="6883391"/>
                <a:ext cx="843821" cy="262059"/>
              </a:xfrm>
              <a:prstGeom prst="rect">
                <a:avLst/>
              </a:prstGeom>
              <a:blipFill>
                <a:blip r:embed="rId8"/>
                <a:stretch>
                  <a:fillRect l="-10870" t="-2326" r="-2899"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5033577" y="6872897"/>
                <a:ext cx="864660" cy="262059"/>
              </a:xfrm>
              <a:prstGeom prst="rect">
                <a:avLst/>
              </a:prstGeom>
              <a:noFill/>
            </p:spPr>
            <p:txBody>
              <a:bodyPr wrap="none" lIns="0" tIns="0" rIns="0" bIns="0" rtlCol="0">
                <a:spAutoFit/>
              </a:bodyPr>
              <a:lstStyle/>
              <a:p>
                <a:r>
                  <a:rPr lang="en-GB" sz="1200" noProof="0" dirty="0" err="1"/>
                  <a:t>i</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3</m:t>
                        </m:r>
                      </m:den>
                    </m:f>
                  </m:oMath>
                </a14:m>
                <a:endParaRPr lang="en-GB" sz="1200" noProof="0" dirty="0"/>
              </a:p>
            </p:txBody>
          </p:sp>
        </mc:Choice>
        <mc:Fallback xmlns="">
          <p:sp>
            <p:nvSpPr>
              <p:cNvPr id="47" name="TextBox 46"/>
              <p:cNvSpPr txBox="1">
                <a:spLocks noRot="1" noChangeAspect="1" noMove="1" noResize="1" noEditPoints="1" noAdjustHandles="1" noChangeArrowheads="1" noChangeShapeType="1" noTextEdit="1"/>
              </p:cNvSpPr>
              <p:nvPr/>
            </p:nvSpPr>
            <p:spPr>
              <a:xfrm>
                <a:off x="5033577" y="6872897"/>
                <a:ext cx="864660" cy="262059"/>
              </a:xfrm>
              <a:prstGeom prst="rect">
                <a:avLst/>
              </a:prstGeom>
              <a:blipFill>
                <a:blip r:embed="rId9"/>
                <a:stretch>
                  <a:fillRect l="-11268" t="-2326" r="-2817" b="-23256"/>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a:xfrm>
            <a:off x="5343553" y="9378597"/>
            <a:ext cx="1543050" cy="527403"/>
          </a:xfrm>
        </p:spPr>
        <p:txBody>
          <a:bodyPr/>
          <a:lstStyle/>
          <a:p>
            <a:fld id="{9BD3B4A0-BFF9-422C-B253-48BA94BE2F5B}" type="slidenum">
              <a:rPr lang="en-GB" noProof="0" smtClean="0"/>
              <a:t>17</a:t>
            </a:fld>
            <a:endParaRPr lang="en-GB" noProof="0" dirty="0"/>
          </a:p>
        </p:txBody>
      </p:sp>
      <p:sp>
        <p:nvSpPr>
          <p:cNvPr id="57" name="TextBox 56">
            <a:extLst>
              <a:ext uri="{FF2B5EF4-FFF2-40B4-BE49-F238E27FC236}">
                <a16:creationId xmlns:a16="http://schemas.microsoft.com/office/drawing/2014/main" id="{72FAE9BB-D81F-4207-9FF8-E6BE971A99D9}"/>
              </a:ext>
            </a:extLst>
          </p:cNvPr>
          <p:cNvSpPr txBox="1"/>
          <p:nvPr/>
        </p:nvSpPr>
        <p:spPr>
          <a:xfrm>
            <a:off x="5038610" y="13728"/>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27 - You do…</a:t>
            </a:r>
          </a:p>
        </p:txBody>
      </p:sp>
      <p:sp>
        <p:nvSpPr>
          <p:cNvPr id="58" name="TextBox 57">
            <a:extLst>
              <a:ext uri="{FF2B5EF4-FFF2-40B4-BE49-F238E27FC236}">
                <a16:creationId xmlns:a16="http://schemas.microsoft.com/office/drawing/2014/main" id="{337F58E6-37DE-4890-BDE3-0101DB4D4F11}"/>
              </a:ext>
            </a:extLst>
          </p:cNvPr>
          <p:cNvSpPr txBox="1"/>
          <p:nvPr/>
        </p:nvSpPr>
        <p:spPr>
          <a:xfrm>
            <a:off x="3150088" y="-4259"/>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26 - We do…</a:t>
            </a:r>
          </a:p>
        </p:txBody>
      </p:sp>
      <p:sp>
        <p:nvSpPr>
          <p:cNvPr id="59" name="TextBox 58">
            <a:extLst>
              <a:ext uri="{FF2B5EF4-FFF2-40B4-BE49-F238E27FC236}">
                <a16:creationId xmlns:a16="http://schemas.microsoft.com/office/drawing/2014/main" id="{20EB31B5-3203-4E48-8A19-892EA568053E}"/>
              </a:ext>
            </a:extLst>
          </p:cNvPr>
          <p:cNvSpPr txBox="1"/>
          <p:nvPr/>
        </p:nvSpPr>
        <p:spPr>
          <a:xfrm>
            <a:off x="1462243" y="-4258"/>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25 - I do…</a:t>
            </a:r>
          </a:p>
        </p:txBody>
      </p:sp>
      <mc:AlternateContent xmlns:mc="http://schemas.openxmlformats.org/markup-compatibility/2006" xmlns:a14="http://schemas.microsoft.com/office/drawing/2010/main">
        <mc:Choice Requires="a14">
          <p:graphicFrame>
            <p:nvGraphicFramePr>
              <p:cNvPr id="60" name="Table 59"/>
              <p:cNvGraphicFramePr>
                <a:graphicFrameLocks noGrp="1"/>
              </p:cNvGraphicFramePr>
              <p:nvPr>
                <p:extLst>
                  <p:ext uri="{D42A27DB-BD31-4B8C-83A1-F6EECF244321}">
                    <p14:modId xmlns:p14="http://schemas.microsoft.com/office/powerpoint/2010/main" val="1088075279"/>
                  </p:ext>
                </p:extLst>
              </p:nvPr>
            </p:nvGraphicFramePr>
            <p:xfrm>
              <a:off x="179321" y="292192"/>
              <a:ext cx="6484022" cy="3261733"/>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59833">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f>
                                  <m:fPr>
                                    <m:ctrlPr>
                                      <a:rPr lang="en-GB" sz="1350" b="1" i="1" kern="1200" noProof="0" smtClean="0">
                                        <a:solidFill>
                                          <a:schemeClr val="tx1"/>
                                        </a:solidFill>
                                        <a:effectLst/>
                                        <a:latin typeface="Cambria Math" panose="02040503050406030204" pitchFamily="18" charset="0"/>
                                        <a:ea typeface="+mn-ea"/>
                                        <a:cs typeface="+mn-cs"/>
                                      </a:rPr>
                                    </m:ctrlPr>
                                  </m:fPr>
                                  <m:num>
                                    <m:r>
                                      <a:rPr lang="en-GB" sz="1350" b="1" i="1" kern="1200" noProof="0">
                                        <a:solidFill>
                                          <a:schemeClr val="tx1"/>
                                        </a:solidFill>
                                        <a:effectLst/>
                                        <a:latin typeface="Cambria Math" panose="02040503050406030204" pitchFamily="18" charset="0"/>
                                        <a:ea typeface="+mn-ea"/>
                                        <a:cs typeface="+mn-cs"/>
                                      </a:rPr>
                                      <m:t>5</m:t>
                                    </m:r>
                                  </m:num>
                                  <m:den>
                                    <m:r>
                                      <a:rPr lang="en-GB" sz="1350" b="1" i="1" kern="1200" noProof="0">
                                        <a:solidFill>
                                          <a:schemeClr val="tx1"/>
                                        </a:solidFill>
                                        <a:effectLst/>
                                        <a:latin typeface="Cambria Math" panose="02040503050406030204" pitchFamily="18" charset="0"/>
                                        <a:ea typeface="+mn-ea"/>
                                        <a:cs typeface="+mn-cs"/>
                                      </a:rPr>
                                      <m:t>𝑥</m:t>
                                    </m:r>
                                    <m:r>
                                      <a:rPr lang="en-GB" sz="1350" b="1" i="1" kern="1200" noProof="0">
                                        <a:solidFill>
                                          <a:schemeClr val="tx1"/>
                                        </a:solidFill>
                                        <a:effectLst/>
                                        <a:latin typeface="Cambria Math" panose="02040503050406030204" pitchFamily="18" charset="0"/>
                                        <a:ea typeface="+mn-ea"/>
                                        <a:cs typeface="+mn-cs"/>
                                      </a:rPr>
                                      <m:t>+7</m:t>
                                    </m:r>
                                  </m:den>
                                </m:f>
                                <m:r>
                                  <a:rPr lang="en-GB" sz="1350" b="1" i="1" kern="1200" noProof="0">
                                    <a:solidFill>
                                      <a:schemeClr val="tx1"/>
                                    </a:solidFill>
                                    <a:effectLst/>
                                    <a:latin typeface="Cambria Math" panose="02040503050406030204" pitchFamily="18" charset="0"/>
                                    <a:ea typeface="+mn-ea"/>
                                    <a:cs typeface="+mn-cs"/>
                                  </a:rPr>
                                  <m:t>+</m:t>
                                </m:r>
                                <m:f>
                                  <m:fPr>
                                    <m:ctrlPr>
                                      <a:rPr lang="en-GB" sz="1350" b="1" i="1" kern="1200" noProof="0" smtClean="0">
                                        <a:solidFill>
                                          <a:schemeClr val="tx1"/>
                                        </a:solidFill>
                                        <a:effectLst/>
                                        <a:latin typeface="Cambria Math" panose="02040503050406030204" pitchFamily="18" charset="0"/>
                                        <a:ea typeface="+mn-ea"/>
                                        <a:cs typeface="+mn-cs"/>
                                      </a:rPr>
                                    </m:ctrlPr>
                                  </m:fPr>
                                  <m:num>
                                    <m:r>
                                      <a:rPr lang="en-GB" sz="1350" b="1" i="1" kern="1200" noProof="0">
                                        <a:solidFill>
                                          <a:schemeClr val="tx1"/>
                                        </a:solidFill>
                                        <a:effectLst/>
                                        <a:latin typeface="Cambria Math" panose="02040503050406030204" pitchFamily="18" charset="0"/>
                                        <a:ea typeface="+mn-ea"/>
                                        <a:cs typeface="+mn-cs"/>
                                      </a:rPr>
                                      <m:t>1</m:t>
                                    </m:r>
                                  </m:num>
                                  <m:den>
                                    <m:r>
                                      <a:rPr lang="en-GB" sz="1350" b="1" i="1" kern="1200" noProof="0">
                                        <a:solidFill>
                                          <a:schemeClr val="tx1"/>
                                        </a:solidFill>
                                        <a:effectLst/>
                                        <a:latin typeface="Cambria Math" panose="02040503050406030204" pitchFamily="18" charset="0"/>
                                        <a:ea typeface="+mn-ea"/>
                                        <a:cs typeface="+mn-cs"/>
                                      </a:rPr>
                                      <m:t>2</m:t>
                                    </m:r>
                                    <m:r>
                                      <a:rPr lang="en-GB" sz="1350" b="1" i="1" kern="1200" noProof="0">
                                        <a:solidFill>
                                          <a:schemeClr val="tx1"/>
                                        </a:solidFill>
                                        <a:effectLst/>
                                        <a:latin typeface="Cambria Math" panose="02040503050406030204" pitchFamily="18" charset="0"/>
                                        <a:ea typeface="+mn-ea"/>
                                        <a:cs typeface="+mn-cs"/>
                                      </a:rPr>
                                      <m:t>𝑥</m:t>
                                    </m:r>
                                    <m:r>
                                      <a:rPr lang="en-GB" sz="1350" b="1" i="1" kern="1200" noProof="0">
                                        <a:solidFill>
                                          <a:schemeClr val="tx1"/>
                                        </a:solidFill>
                                        <a:effectLst/>
                                        <a:latin typeface="Cambria Math" panose="02040503050406030204" pitchFamily="18" charset="0"/>
                                        <a:ea typeface="+mn-ea"/>
                                        <a:cs typeface="+mn-cs"/>
                                      </a:rPr>
                                      <m:t>−1</m:t>
                                    </m:r>
                                  </m:den>
                                </m:f>
                              </m:oMath>
                            </m:oMathPara>
                          </a14:m>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47340">
                    <a:tc>
                      <a:txBody>
                        <a:bodyPr/>
                        <a:lstStyle/>
                        <a:p>
                          <a:r>
                            <a:rPr lang="en-GB" sz="1100" noProof="0" dirty="0">
                              <a:solidFill>
                                <a:schemeClr val="tx1"/>
                              </a:solidFill>
                            </a:rPr>
                            <a:t>1) Find the Lowest</a:t>
                          </a:r>
                          <a:r>
                            <a:rPr lang="en-GB" sz="1100" baseline="0" noProof="0" dirty="0">
                              <a:solidFill>
                                <a:schemeClr val="tx1"/>
                              </a:solidFill>
                            </a:rPr>
                            <a:t> common denominator</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99168">
                    <a:tc>
                      <a:txBody>
                        <a:bodyPr/>
                        <a:lstStyle/>
                        <a:p>
                          <a:r>
                            <a:rPr lang="en-GB" sz="1100" noProof="0" dirty="0">
                              <a:solidFill>
                                <a:schemeClr val="tx1"/>
                              </a:solidFill>
                            </a:rPr>
                            <a:t>2) Multiply the numerators</a:t>
                          </a:r>
                          <a:r>
                            <a:rPr lang="en-GB" sz="1100" baseline="0" noProof="0" dirty="0">
                              <a:solidFill>
                                <a:schemeClr val="tx1"/>
                              </a:solidFill>
                            </a:rPr>
                            <a:t> and expand and simplify.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899168">
                    <a:tc>
                      <a:txBody>
                        <a:bodyPr/>
                        <a:lstStyle/>
                        <a:p>
                          <a:r>
                            <a:rPr lang="en-GB" sz="1100" noProof="0" dirty="0">
                              <a:solidFill>
                                <a:schemeClr val="tx1"/>
                              </a:solidFill>
                            </a:rPr>
                            <a:t>3) Write</a:t>
                          </a:r>
                          <a:r>
                            <a:rPr lang="en-GB" sz="1100" baseline="0" noProof="0" dirty="0">
                              <a:solidFill>
                                <a:schemeClr val="tx1"/>
                              </a:solidFill>
                            </a:rPr>
                            <a:t> in simplest form.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Choice>
        <mc:Fallback xmlns="">
          <p:graphicFrame>
            <p:nvGraphicFramePr>
              <p:cNvPr id="60" name="Table 59"/>
              <p:cNvGraphicFramePr>
                <a:graphicFrameLocks noGrp="1"/>
              </p:cNvGraphicFramePr>
              <p:nvPr>
                <p:extLst>
                  <p:ext uri="{D42A27DB-BD31-4B8C-83A1-F6EECF244321}">
                    <p14:modId xmlns:p14="http://schemas.microsoft.com/office/powerpoint/2010/main" val="1088075279"/>
                  </p:ext>
                </p:extLst>
              </p:nvPr>
            </p:nvGraphicFramePr>
            <p:xfrm>
              <a:off x="179321" y="292192"/>
              <a:ext cx="6484022" cy="3261733"/>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85585">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142722" t="-1250" r="-95253" b="-573750"/>
                          </a:stretch>
                        </a:blipFill>
                      </a:tcPr>
                    </a:tc>
                    <a:tc>
                      <a:txBody>
                        <a:bodyPr/>
                        <a:lstStyle/>
                        <a:p>
                          <a:endParaRPr lang="en-GB" sz="1100" b="1"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47340">
                    <a:tc>
                      <a:txBody>
                        <a:bodyPr/>
                        <a:lstStyle/>
                        <a:p>
                          <a:r>
                            <a:rPr lang="en-GB" sz="1100" noProof="0">
                              <a:solidFill>
                                <a:schemeClr val="tx1"/>
                              </a:solidFill>
                            </a:rPr>
                            <a:t>1) Find the Lowest</a:t>
                          </a:r>
                          <a:r>
                            <a:rPr lang="en-GB" sz="1100" baseline="0" noProof="0">
                              <a:solidFill>
                                <a:schemeClr val="tx1"/>
                              </a:solidFill>
                            </a:rPr>
                            <a:t> common denominator</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29640">
                    <a:tc>
                      <a:txBody>
                        <a:bodyPr/>
                        <a:lstStyle/>
                        <a:p>
                          <a:r>
                            <a:rPr lang="en-GB" sz="1100" noProof="0">
                              <a:solidFill>
                                <a:schemeClr val="tx1"/>
                              </a:solidFill>
                            </a:rPr>
                            <a:t>2) Multiply the numerators</a:t>
                          </a:r>
                          <a:r>
                            <a:rPr lang="en-GB" sz="1100" baseline="0" noProof="0">
                              <a:solidFill>
                                <a:schemeClr val="tx1"/>
                              </a:solidFill>
                            </a:rPr>
                            <a:t> and expand and simplify.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899168">
                    <a:tc>
                      <a:txBody>
                        <a:bodyPr/>
                        <a:lstStyle/>
                        <a:p>
                          <a:r>
                            <a:rPr lang="en-GB" sz="1100" noProof="0">
                              <a:solidFill>
                                <a:schemeClr val="tx1"/>
                              </a:solidFill>
                            </a:rPr>
                            <a:t>3) Write</a:t>
                          </a:r>
                          <a:r>
                            <a:rPr lang="en-GB" sz="1100" baseline="0" noProof="0">
                              <a:solidFill>
                                <a:schemeClr val="tx1"/>
                              </a:solidFill>
                            </a:rPr>
                            <a:t> in simplest form.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Fallback>
      </mc:AlternateContent>
      <mc:AlternateContent xmlns:mc="http://schemas.openxmlformats.org/markup-compatibility/2006" xmlns:a14="http://schemas.microsoft.com/office/drawing/2010/main">
        <mc:Choice Requires="a14">
          <p:sp>
            <p:nvSpPr>
              <p:cNvPr id="61" name="TextBox 60"/>
              <p:cNvSpPr txBox="1"/>
              <p:nvPr/>
            </p:nvSpPr>
            <p:spPr>
              <a:xfrm>
                <a:off x="1356684" y="281919"/>
                <a:ext cx="1332224" cy="354392"/>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i="1" noProof="0" smtClean="0">
                            <a:latin typeface="Cambria Math" panose="02040503050406030204" pitchFamily="18" charset="0"/>
                          </a:rPr>
                        </m:ctrlPr>
                      </m:fPr>
                      <m:num>
                        <m:r>
                          <a:rPr lang="en-GB" sz="1200" i="1" noProof="0" smtClean="0">
                            <a:latin typeface="Cambria Math" panose="02040503050406030204" pitchFamily="18" charset="0"/>
                          </a:rPr>
                          <m:t>𝑥</m:t>
                        </m:r>
                        <m:r>
                          <a:rPr lang="en-GB" sz="1200" i="1" noProof="0" smtClean="0">
                            <a:latin typeface="Cambria Math" panose="02040503050406030204" pitchFamily="18" charset="0"/>
                          </a:rPr>
                          <m:t>+1</m:t>
                        </m:r>
                      </m:num>
                      <m:den>
                        <m:r>
                          <a:rPr lang="en-GB" sz="1200" i="1" noProof="0" smtClean="0">
                            <a:latin typeface="Cambria Math" panose="02040503050406030204" pitchFamily="18" charset="0"/>
                          </a:rPr>
                          <m:t>2</m:t>
                        </m:r>
                      </m:den>
                    </m:f>
                    <m:r>
                      <a:rPr lang="en-GB" sz="120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i="1" noProof="0" smtClean="0">
                            <a:latin typeface="Cambria Math" panose="02040503050406030204" pitchFamily="18" charset="0"/>
                          </a:rPr>
                          <m:t>𝑥</m:t>
                        </m:r>
                        <m:r>
                          <a:rPr lang="en-GB" sz="1200" i="1" noProof="0" smtClean="0">
                            <a:latin typeface="Cambria Math" panose="02040503050406030204" pitchFamily="18" charset="0"/>
                          </a:rPr>
                          <m:t>+3</m:t>
                        </m:r>
                      </m:num>
                      <m:den>
                        <m:r>
                          <a:rPr lang="en-GB" sz="1200" i="1" noProof="0" smtClean="0">
                            <a:latin typeface="Cambria Math" panose="02040503050406030204" pitchFamily="18" charset="0"/>
                          </a:rPr>
                          <m:t>3</m:t>
                        </m:r>
                      </m:den>
                    </m:f>
                  </m:oMath>
                </a14:m>
                <a:endParaRPr lang="en-GB" sz="1200" noProof="0" dirty="0"/>
              </a:p>
            </p:txBody>
          </p:sp>
        </mc:Choice>
        <mc:Fallback xmlns="">
          <p:sp>
            <p:nvSpPr>
              <p:cNvPr id="61" name="TextBox 60"/>
              <p:cNvSpPr txBox="1">
                <a:spLocks noRot="1" noChangeAspect="1" noMove="1" noResize="1" noEditPoints="1" noAdjustHandles="1" noChangeArrowheads="1" noChangeShapeType="1" noTextEdit="1"/>
              </p:cNvSpPr>
              <p:nvPr/>
            </p:nvSpPr>
            <p:spPr>
              <a:xfrm>
                <a:off x="1356684" y="281919"/>
                <a:ext cx="1332224" cy="354392"/>
              </a:xfrm>
              <a:prstGeom prst="rect">
                <a:avLst/>
              </a:prstGeom>
              <a:blipFill>
                <a:blip r:embed="rId11"/>
                <a:stretch>
                  <a:fillRect l="-459"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4986344" y="280518"/>
                <a:ext cx="1332224" cy="357021"/>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i="1" noProof="0" smtClean="0">
                            <a:latin typeface="Cambria Math" panose="02040503050406030204" pitchFamily="18" charset="0"/>
                          </a:rPr>
                        </m:ctrlPr>
                      </m:fPr>
                      <m:num>
                        <m:r>
                          <a:rPr lang="en-GB" sz="1200" i="1" noProof="0" smtClean="0">
                            <a:latin typeface="Cambria Math" panose="02040503050406030204" pitchFamily="18" charset="0"/>
                          </a:rPr>
                          <m:t>𝑥</m:t>
                        </m:r>
                        <m:r>
                          <a:rPr lang="en-GB" sz="1200" i="1" noProof="0" smtClean="0">
                            <a:latin typeface="Cambria Math" panose="02040503050406030204" pitchFamily="18" charset="0"/>
                          </a:rPr>
                          <m:t>+5</m:t>
                        </m:r>
                      </m:num>
                      <m:den>
                        <m:r>
                          <a:rPr lang="en-GB" sz="1200" i="1" noProof="0" smtClean="0">
                            <a:latin typeface="Cambria Math" panose="02040503050406030204" pitchFamily="18" charset="0"/>
                          </a:rPr>
                          <m:t>3</m:t>
                        </m:r>
                      </m:den>
                    </m:f>
                    <m:r>
                      <a:rPr lang="en-GB" sz="120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i="1" noProof="0" smtClean="0">
                            <a:latin typeface="Cambria Math" panose="02040503050406030204" pitchFamily="18" charset="0"/>
                          </a:rPr>
                          <m:t>2</m:t>
                        </m:r>
                      </m:num>
                      <m:den>
                        <m:r>
                          <a:rPr lang="en-GB" sz="1200" i="1" noProof="0" smtClean="0">
                            <a:latin typeface="Cambria Math" panose="02040503050406030204" pitchFamily="18" charset="0"/>
                          </a:rPr>
                          <m:t>4</m:t>
                        </m:r>
                      </m:den>
                    </m:f>
                  </m:oMath>
                </a14:m>
                <a:endParaRPr lang="en-GB" sz="1200" noProof="0" dirty="0"/>
              </a:p>
            </p:txBody>
          </p:sp>
        </mc:Choice>
        <mc:Fallback xmlns="">
          <p:sp>
            <p:nvSpPr>
              <p:cNvPr id="63" name="TextBox 62"/>
              <p:cNvSpPr txBox="1">
                <a:spLocks noRot="1" noChangeAspect="1" noMove="1" noResize="1" noEditPoints="1" noAdjustHandles="1" noChangeArrowheads="1" noChangeShapeType="1" noTextEdit="1"/>
              </p:cNvSpPr>
              <p:nvPr/>
            </p:nvSpPr>
            <p:spPr>
              <a:xfrm>
                <a:off x="4986344" y="280518"/>
                <a:ext cx="1332224" cy="357021"/>
              </a:xfrm>
              <a:prstGeom prst="rect">
                <a:avLst/>
              </a:prstGeom>
              <a:blipFill>
                <a:blip r:embed="rId12"/>
                <a:stretch>
                  <a:fillRect l="-457" b="-1695"/>
                </a:stretch>
              </a:blipFill>
            </p:spPr>
            <p:txBody>
              <a:bodyPr/>
              <a:lstStyle/>
              <a:p>
                <a:r>
                  <a:rPr lang="en-US">
                    <a:noFill/>
                  </a:rPr>
                  <a:t> </a:t>
                </a:r>
              </a:p>
            </p:txBody>
          </p:sp>
        </mc:Fallback>
      </mc:AlternateContent>
      <p:sp>
        <p:nvSpPr>
          <p:cNvPr id="64" name="TextBox 63"/>
          <p:cNvSpPr txBox="1"/>
          <p:nvPr/>
        </p:nvSpPr>
        <p:spPr>
          <a:xfrm>
            <a:off x="1759898" y="3594626"/>
            <a:ext cx="2292231" cy="276999"/>
          </a:xfrm>
          <a:prstGeom prst="rect">
            <a:avLst/>
          </a:prstGeom>
          <a:noFill/>
        </p:spPr>
        <p:txBody>
          <a:bodyPr wrap="none" rtlCol="0">
            <a:spAutoFit/>
          </a:bodyPr>
          <a:lstStyle/>
          <a:p>
            <a:pPr algn="ctr"/>
            <a:r>
              <a:rPr lang="en-GB" sz="1200" noProof="0" dirty="0"/>
              <a:t>7. Simplify the algebraic fractions.</a:t>
            </a:r>
          </a:p>
        </p:txBody>
      </p:sp>
      <p:sp>
        <p:nvSpPr>
          <p:cNvPr id="48" name="TextBox 47">
            <a:extLst>
              <a:ext uri="{FF2B5EF4-FFF2-40B4-BE49-F238E27FC236}">
                <a16:creationId xmlns:a16="http://schemas.microsoft.com/office/drawing/2014/main" id="{C3C65E48-8C3D-6849-AD77-7AD8678AD8DA}"/>
              </a:ext>
            </a:extLst>
          </p:cNvPr>
          <p:cNvSpPr txBox="1"/>
          <p:nvPr/>
        </p:nvSpPr>
        <p:spPr>
          <a:xfrm>
            <a:off x="164587" y="3595237"/>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1580091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 name="Table 44"/>
          <p:cNvGraphicFramePr>
            <a:graphicFrameLocks noGrp="1"/>
          </p:cNvGraphicFramePr>
          <p:nvPr>
            <p:extLst>
              <p:ext uri="{D42A27DB-BD31-4B8C-83A1-F6EECF244321}">
                <p14:modId xmlns:p14="http://schemas.microsoft.com/office/powerpoint/2010/main" val="1785353571"/>
              </p:ext>
            </p:extLst>
          </p:nvPr>
        </p:nvGraphicFramePr>
        <p:xfrm>
          <a:off x="137667" y="3358742"/>
          <a:ext cx="6484022" cy="3547578"/>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372472">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95506">
                <a:tc>
                  <a:txBody>
                    <a:bodyPr/>
                    <a:lstStyle/>
                    <a:p>
                      <a:r>
                        <a:rPr lang="en-GB" sz="1100" noProof="0" dirty="0">
                          <a:solidFill>
                            <a:schemeClr val="tx1"/>
                          </a:solidFill>
                        </a:rPr>
                        <a:t>1) Find the Lowest</a:t>
                      </a:r>
                      <a:r>
                        <a:rPr lang="en-GB" sz="1100" baseline="0" noProof="0" dirty="0">
                          <a:solidFill>
                            <a:schemeClr val="tx1"/>
                          </a:solidFill>
                        </a:rPr>
                        <a:t> common denominator</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398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2) Multiply the numerators</a:t>
                      </a:r>
                      <a:r>
                        <a:rPr lang="en-GB" sz="1100" baseline="0" noProof="0" dirty="0">
                          <a:solidFill>
                            <a:schemeClr val="tx1"/>
                          </a:solidFill>
                        </a:rPr>
                        <a:t> and expand and simplify.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039800">
                <a:tc>
                  <a:txBody>
                    <a:bodyPr/>
                    <a:lstStyle/>
                    <a:p>
                      <a:r>
                        <a:rPr lang="en-GB" sz="1100" noProof="0" dirty="0">
                          <a:solidFill>
                            <a:schemeClr val="tx1"/>
                          </a:solidFill>
                        </a:rPr>
                        <a:t>3) Write</a:t>
                      </a:r>
                      <a:r>
                        <a:rPr lang="en-GB" sz="1100" baseline="0" noProof="0" dirty="0">
                          <a:solidFill>
                            <a:schemeClr val="tx1"/>
                          </a:solidFill>
                        </a:rPr>
                        <a:t> in simplest form.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p:sp>
        <p:nvSpPr>
          <p:cNvPr id="3" name="TextBox 2">
            <a:extLst>
              <a:ext uri="{FF2B5EF4-FFF2-40B4-BE49-F238E27FC236}">
                <a16:creationId xmlns:a16="http://schemas.microsoft.com/office/drawing/2014/main" id="{72FAE9BB-D81F-4207-9FF8-E6BE971A99D9}"/>
              </a:ext>
            </a:extLst>
          </p:cNvPr>
          <p:cNvSpPr txBox="1"/>
          <p:nvPr/>
        </p:nvSpPr>
        <p:spPr>
          <a:xfrm>
            <a:off x="4959526" y="3033722"/>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30 - You do…</a:t>
            </a:r>
          </a:p>
        </p:txBody>
      </p:sp>
      <p:sp>
        <p:nvSpPr>
          <p:cNvPr id="5" name="TextBox 4">
            <a:extLst>
              <a:ext uri="{FF2B5EF4-FFF2-40B4-BE49-F238E27FC236}">
                <a16:creationId xmlns:a16="http://schemas.microsoft.com/office/drawing/2014/main" id="{337F58E6-37DE-4890-BDE3-0101DB4D4F11}"/>
              </a:ext>
            </a:extLst>
          </p:cNvPr>
          <p:cNvSpPr txBox="1"/>
          <p:nvPr/>
        </p:nvSpPr>
        <p:spPr>
          <a:xfrm>
            <a:off x="3155472" y="3053309"/>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29 - We do…</a:t>
            </a:r>
          </a:p>
        </p:txBody>
      </p:sp>
      <p:sp>
        <p:nvSpPr>
          <p:cNvPr id="6" name="TextBox 5">
            <a:extLst>
              <a:ext uri="{FF2B5EF4-FFF2-40B4-BE49-F238E27FC236}">
                <a16:creationId xmlns:a16="http://schemas.microsoft.com/office/drawing/2014/main" id="{20EB31B5-3203-4E48-8A19-892EA568053E}"/>
              </a:ext>
            </a:extLst>
          </p:cNvPr>
          <p:cNvSpPr txBox="1"/>
          <p:nvPr/>
        </p:nvSpPr>
        <p:spPr>
          <a:xfrm>
            <a:off x="1356677" y="3029634"/>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28 - I do…</a:t>
            </a:r>
          </a:p>
        </p:txBody>
      </p:sp>
      <mc:AlternateContent xmlns:mc="http://schemas.openxmlformats.org/markup-compatibility/2006" xmlns:a14="http://schemas.microsoft.com/office/drawing/2010/main">
        <mc:Choice Requires="a14">
          <p:sp>
            <p:nvSpPr>
              <p:cNvPr id="9" name="TextBox 8"/>
              <p:cNvSpPr txBox="1"/>
              <p:nvPr/>
            </p:nvSpPr>
            <p:spPr>
              <a:xfrm>
                <a:off x="1344497" y="3358742"/>
                <a:ext cx="1102994" cy="357149"/>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𝑥</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8</m:t>
                        </m:r>
                      </m:num>
                      <m:den>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den>
                    </m:f>
                  </m:oMath>
                </a14:m>
                <a:endParaRPr lang="en-GB" sz="1200" noProof="0" dirty="0"/>
              </a:p>
            </p:txBody>
          </p:sp>
        </mc:Choice>
        <mc:Fallback xmlns="">
          <p:sp>
            <p:nvSpPr>
              <p:cNvPr id="9" name="TextBox 8"/>
              <p:cNvSpPr txBox="1">
                <a:spLocks noRot="1" noChangeAspect="1" noMove="1" noResize="1" noEditPoints="1" noAdjustHandles="1" noChangeArrowheads="1" noChangeShapeType="1" noTextEdit="1"/>
              </p:cNvSpPr>
              <p:nvPr/>
            </p:nvSpPr>
            <p:spPr>
              <a:xfrm>
                <a:off x="1344497" y="3358742"/>
                <a:ext cx="1102994" cy="357149"/>
              </a:xfrm>
              <a:prstGeom prst="rect">
                <a:avLst/>
              </a:prstGeom>
              <a:blipFill>
                <a:blip r:embed="rId2"/>
                <a:stretch>
                  <a:fillRect l="-556"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193266" y="3371589"/>
                <a:ext cx="1164358" cy="354521"/>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7</m:t>
                        </m:r>
                      </m:num>
                      <m:den>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oMath>
                </a14:m>
                <a:endParaRPr lang="en-GB" sz="1200" noProof="0" dirty="0"/>
              </a:p>
            </p:txBody>
          </p:sp>
        </mc:Choice>
        <mc:Fallback xmlns="">
          <p:sp>
            <p:nvSpPr>
              <p:cNvPr id="12" name="TextBox 11"/>
              <p:cNvSpPr txBox="1">
                <a:spLocks noRot="1" noChangeAspect="1" noMove="1" noResize="1" noEditPoints="1" noAdjustHandles="1" noChangeArrowheads="1" noChangeShapeType="1" noTextEdit="1"/>
              </p:cNvSpPr>
              <p:nvPr/>
            </p:nvSpPr>
            <p:spPr>
              <a:xfrm>
                <a:off x="3193266" y="3371589"/>
                <a:ext cx="1164358" cy="354521"/>
              </a:xfrm>
              <a:prstGeom prst="rect">
                <a:avLst/>
              </a:prstGeom>
              <a:blipFill>
                <a:blip r:embed="rId3"/>
                <a:stretch>
                  <a:fillRect l="-524"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051465" y="3350977"/>
                <a:ext cx="1164358" cy="357149"/>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7</m:t>
                        </m:r>
                      </m:num>
                      <m:den>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oMath>
                </a14:m>
                <a:endParaRPr lang="en-GB" sz="1200" noProof="0" dirty="0"/>
              </a:p>
            </p:txBody>
          </p:sp>
        </mc:Choice>
        <mc:Fallback xmlns="">
          <p:sp>
            <p:nvSpPr>
              <p:cNvPr id="13" name="TextBox 12"/>
              <p:cNvSpPr txBox="1">
                <a:spLocks noRot="1" noChangeAspect="1" noMove="1" noResize="1" noEditPoints="1" noAdjustHandles="1" noChangeArrowheads="1" noChangeShapeType="1" noTextEdit="1"/>
              </p:cNvSpPr>
              <p:nvPr/>
            </p:nvSpPr>
            <p:spPr>
              <a:xfrm>
                <a:off x="5051465" y="3350977"/>
                <a:ext cx="1164358" cy="357149"/>
              </a:xfrm>
              <a:prstGeom prst="rect">
                <a:avLst/>
              </a:prstGeom>
              <a:blipFill>
                <a:blip r:embed="rId4"/>
                <a:stretch>
                  <a:fillRect l="-524" b="-3448"/>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B16CFEF2-A65A-6142-861C-58ACADF7EEFB}"/>
              </a:ext>
            </a:extLst>
          </p:cNvPr>
          <p:cNvSpPr/>
          <p:nvPr/>
        </p:nvSpPr>
        <p:spPr>
          <a:xfrm>
            <a:off x="129538" y="391996"/>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15" name="TextBox 14"/>
              <p:cNvSpPr txBox="1"/>
              <p:nvPr/>
            </p:nvSpPr>
            <p:spPr>
              <a:xfrm>
                <a:off x="160651" y="49555"/>
                <a:ext cx="866263" cy="262316"/>
              </a:xfrm>
              <a:prstGeom prst="rect">
                <a:avLst/>
              </a:prstGeom>
              <a:noFill/>
            </p:spPr>
            <p:txBody>
              <a:bodyPr wrap="none" lIns="0" tIns="0" rIns="0" bIns="0" rtlCol="0">
                <a:spAutoFit/>
              </a:bodyPr>
              <a:lstStyle/>
              <a:p>
                <a:r>
                  <a:rPr lang="en-GB" sz="1200" noProof="0" dirty="0"/>
                  <a:t>j</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4</m:t>
                        </m:r>
                      </m:den>
                    </m:f>
                  </m:oMath>
                </a14:m>
                <a:endParaRPr lang="en-GB" sz="1200" noProof="0" dirty="0"/>
              </a:p>
            </p:txBody>
          </p:sp>
        </mc:Choice>
        <mc:Fallback xmlns="">
          <p:sp>
            <p:nvSpPr>
              <p:cNvPr id="15" name="TextBox 14"/>
              <p:cNvSpPr txBox="1">
                <a:spLocks noRot="1" noChangeAspect="1" noMove="1" noResize="1" noEditPoints="1" noAdjustHandles="1" noChangeArrowheads="1" noChangeShapeType="1" noTextEdit="1"/>
              </p:cNvSpPr>
              <p:nvPr/>
            </p:nvSpPr>
            <p:spPr>
              <a:xfrm>
                <a:off x="160651" y="49555"/>
                <a:ext cx="866263" cy="262316"/>
              </a:xfrm>
              <a:prstGeom prst="rect">
                <a:avLst/>
              </a:prstGeom>
              <a:blipFill>
                <a:blip r:embed="rId5"/>
                <a:stretch>
                  <a:fillRect l="-10563" t="-2326" r="-2817"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1848643" y="49683"/>
                <a:ext cx="899926" cy="261162"/>
              </a:xfrm>
              <a:prstGeom prst="rect">
                <a:avLst/>
              </a:prstGeom>
              <a:noFill/>
            </p:spPr>
            <p:txBody>
              <a:bodyPr wrap="none" lIns="0" tIns="0" rIns="0" bIns="0" rtlCol="0">
                <a:spAutoFit/>
              </a:bodyPr>
              <a:lstStyle/>
              <a:p>
                <a:r>
                  <a:rPr lang="en-GB" sz="1200" noProof="0" dirty="0"/>
                  <a:t>k</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4</m:t>
                        </m:r>
                      </m:den>
                    </m:f>
                  </m:oMath>
                </a14:m>
                <a:endParaRPr lang="en-GB" sz="1200" noProof="0" dirty="0"/>
              </a:p>
            </p:txBody>
          </p:sp>
        </mc:Choice>
        <mc:Fallback xmlns="">
          <p:sp>
            <p:nvSpPr>
              <p:cNvPr id="16" name="TextBox 15"/>
              <p:cNvSpPr txBox="1">
                <a:spLocks noRot="1" noChangeAspect="1" noMove="1" noResize="1" noEditPoints="1" noAdjustHandles="1" noChangeArrowheads="1" noChangeShapeType="1" noTextEdit="1"/>
              </p:cNvSpPr>
              <p:nvPr/>
            </p:nvSpPr>
            <p:spPr>
              <a:xfrm>
                <a:off x="1848643" y="49683"/>
                <a:ext cx="899926" cy="261162"/>
              </a:xfrm>
              <a:prstGeom prst="rect">
                <a:avLst/>
              </a:prstGeom>
              <a:blipFill>
                <a:blip r:embed="rId6"/>
                <a:stretch>
                  <a:fillRect l="-10135" t="-2326" r="-2703" b="-23256"/>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B16CFEF2-A65A-6142-861C-58ACADF7EEFB}"/>
              </a:ext>
            </a:extLst>
          </p:cNvPr>
          <p:cNvSpPr/>
          <p:nvPr/>
        </p:nvSpPr>
        <p:spPr>
          <a:xfrm>
            <a:off x="1789750" y="391996"/>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8" name="Rectangle 17">
            <a:extLst>
              <a:ext uri="{FF2B5EF4-FFF2-40B4-BE49-F238E27FC236}">
                <a16:creationId xmlns:a16="http://schemas.microsoft.com/office/drawing/2014/main" id="{B16CFEF2-A65A-6142-861C-58ACADF7EEFB}"/>
              </a:ext>
            </a:extLst>
          </p:cNvPr>
          <p:cNvSpPr/>
          <p:nvPr/>
        </p:nvSpPr>
        <p:spPr>
          <a:xfrm>
            <a:off x="3461537" y="391996"/>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9" name="Rectangle 18">
            <a:extLst>
              <a:ext uri="{FF2B5EF4-FFF2-40B4-BE49-F238E27FC236}">
                <a16:creationId xmlns:a16="http://schemas.microsoft.com/office/drawing/2014/main" id="{B16CFEF2-A65A-6142-861C-58ACADF7EEFB}"/>
              </a:ext>
            </a:extLst>
          </p:cNvPr>
          <p:cNvSpPr/>
          <p:nvPr/>
        </p:nvSpPr>
        <p:spPr>
          <a:xfrm>
            <a:off x="5138536" y="391996"/>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20" name="TextBox 19"/>
              <p:cNvSpPr txBox="1"/>
              <p:nvPr/>
            </p:nvSpPr>
            <p:spPr>
              <a:xfrm>
                <a:off x="3461037" y="49683"/>
                <a:ext cx="864660" cy="263790"/>
              </a:xfrm>
              <a:prstGeom prst="rect">
                <a:avLst/>
              </a:prstGeom>
              <a:noFill/>
            </p:spPr>
            <p:txBody>
              <a:bodyPr wrap="none" lIns="0" tIns="0" rIns="0" bIns="0" rtlCol="0">
                <a:spAutoFit/>
              </a:bodyPr>
              <a:lstStyle/>
              <a:p>
                <a:r>
                  <a:rPr lang="en-GB" sz="1200" noProof="0" dirty="0"/>
                  <a:t>l</a:t>
                </a:r>
                <a:r>
                  <a:rPr lang="en-GB" sz="1200" b="0" noProof="0" dirty="0"/>
                  <a:t>) </a:t>
                </a:r>
                <a14:m>
                  <m:oMath xmlns:m="http://schemas.openxmlformats.org/officeDocument/2006/math">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5</m:t>
                        </m:r>
                        <m:r>
                          <a:rPr lang="en-GB" sz="1200" i="1" noProof="0" smtClean="0">
                            <a:latin typeface="Cambria Math" panose="02040503050406030204" pitchFamily="18" charset="0"/>
                          </a:rPr>
                          <m:t>𝑥</m:t>
                        </m:r>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i="1" noProof="0" smtClean="0">
                            <a:latin typeface="Cambria Math" panose="02040503050406030204" pitchFamily="18" charset="0"/>
                          </a:rPr>
                          <m:t>𝑥</m:t>
                        </m:r>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2</m:t>
                        </m:r>
                      </m:den>
                    </m:f>
                  </m:oMath>
                </a14:m>
                <a:endParaRPr lang="en-GB" sz="1200" noProof="0" dirty="0"/>
              </a:p>
            </p:txBody>
          </p:sp>
        </mc:Choice>
        <mc:Fallback xmlns="">
          <p:sp>
            <p:nvSpPr>
              <p:cNvPr id="20" name="TextBox 19"/>
              <p:cNvSpPr txBox="1">
                <a:spLocks noRot="1" noChangeAspect="1" noMove="1" noResize="1" noEditPoints="1" noAdjustHandles="1" noChangeArrowheads="1" noChangeShapeType="1" noTextEdit="1"/>
              </p:cNvSpPr>
              <p:nvPr/>
            </p:nvSpPr>
            <p:spPr>
              <a:xfrm>
                <a:off x="3461037" y="49683"/>
                <a:ext cx="864660" cy="263790"/>
              </a:xfrm>
              <a:prstGeom prst="rect">
                <a:avLst/>
              </a:prstGeom>
              <a:blipFill>
                <a:blip r:embed="rId7"/>
                <a:stretch>
                  <a:fillRect l="-11268" t="-2326" r="-2817"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5098698" y="39189"/>
                <a:ext cx="952825" cy="264944"/>
              </a:xfrm>
              <a:prstGeom prst="rect">
                <a:avLst/>
              </a:prstGeom>
              <a:noFill/>
            </p:spPr>
            <p:txBody>
              <a:bodyPr wrap="none" lIns="0" tIns="0" rIns="0" bIns="0" rtlCol="0">
                <a:spAutoFit/>
              </a:bodyPr>
              <a:lstStyle/>
              <a:p>
                <a:r>
                  <a:rPr lang="en-GB" sz="1200" noProof="0" dirty="0"/>
                  <a:t>m</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7</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i="1" noProof="0" smtClean="0">
                            <a:latin typeface="Cambria Math" panose="02040503050406030204" pitchFamily="18" charset="0"/>
                          </a:rPr>
                          <m:t>𝑥</m:t>
                        </m:r>
                        <m:r>
                          <a:rPr lang="en-GB" sz="1200" i="1" noProof="0" smtClean="0">
                            <a:latin typeface="Cambria Math" panose="02040503050406030204" pitchFamily="18" charset="0"/>
                          </a:rPr>
                          <m:t>+1</m:t>
                        </m:r>
                      </m:num>
                      <m:den>
                        <m:r>
                          <a:rPr lang="en-GB" sz="1200" i="1" noProof="0" smtClean="0">
                            <a:latin typeface="Cambria Math" panose="02040503050406030204" pitchFamily="18" charset="0"/>
                          </a:rPr>
                          <m:t>3</m:t>
                        </m:r>
                      </m:den>
                    </m:f>
                  </m:oMath>
                </a14:m>
                <a:endParaRPr lang="en-GB" sz="1200" noProof="0" dirty="0"/>
              </a:p>
            </p:txBody>
          </p:sp>
        </mc:Choice>
        <mc:Fallback xmlns="">
          <p:sp>
            <p:nvSpPr>
              <p:cNvPr id="21" name="TextBox 20"/>
              <p:cNvSpPr txBox="1">
                <a:spLocks noRot="1" noChangeAspect="1" noMove="1" noResize="1" noEditPoints="1" noAdjustHandles="1" noChangeArrowheads="1" noChangeShapeType="1" noTextEdit="1"/>
              </p:cNvSpPr>
              <p:nvPr/>
            </p:nvSpPr>
            <p:spPr>
              <a:xfrm>
                <a:off x="5098698" y="39189"/>
                <a:ext cx="952825" cy="264944"/>
              </a:xfrm>
              <a:prstGeom prst="rect">
                <a:avLst/>
              </a:prstGeom>
              <a:blipFill>
                <a:blip r:embed="rId8"/>
                <a:stretch>
                  <a:fillRect l="-9554" t="-2273" r="-1911" b="-20455"/>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B16CFEF2-A65A-6142-861C-58ACADF7EEFB}"/>
              </a:ext>
            </a:extLst>
          </p:cNvPr>
          <p:cNvSpPr/>
          <p:nvPr/>
        </p:nvSpPr>
        <p:spPr>
          <a:xfrm>
            <a:off x="129538" y="7636944"/>
            <a:ext cx="1589928" cy="21210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26" name="TextBox 25"/>
              <p:cNvSpPr txBox="1"/>
              <p:nvPr/>
            </p:nvSpPr>
            <p:spPr>
              <a:xfrm>
                <a:off x="160651" y="7294503"/>
                <a:ext cx="476734" cy="264816"/>
              </a:xfrm>
              <a:prstGeom prst="rect">
                <a:avLst/>
              </a:prstGeom>
              <a:noFill/>
            </p:spPr>
            <p:txBody>
              <a:bodyPr wrap="none" lIns="0" tIns="0" rIns="0" bIns="0" rtlCol="0">
                <a:spAutoFit/>
              </a:bodyPr>
              <a:lstStyle/>
              <a:p>
                <a:r>
                  <a:rPr lang="en-GB" sz="1200" noProof="0" dirty="0"/>
                  <a:t>a</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𝑥</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𝑥</m:t>
                        </m:r>
                      </m:den>
                    </m:f>
                  </m:oMath>
                </a14:m>
                <a:endParaRPr lang="en-GB" sz="1200" noProof="0" dirty="0"/>
              </a:p>
            </p:txBody>
          </p:sp>
        </mc:Choice>
        <mc:Fallback xmlns="">
          <p:sp>
            <p:nvSpPr>
              <p:cNvPr id="26" name="TextBox 25"/>
              <p:cNvSpPr txBox="1">
                <a:spLocks noRot="1" noChangeAspect="1" noMove="1" noResize="1" noEditPoints="1" noAdjustHandles="1" noChangeArrowheads="1" noChangeShapeType="1" noTextEdit="1"/>
              </p:cNvSpPr>
              <p:nvPr/>
            </p:nvSpPr>
            <p:spPr>
              <a:xfrm>
                <a:off x="160651" y="7294503"/>
                <a:ext cx="476734" cy="264816"/>
              </a:xfrm>
              <a:prstGeom prst="rect">
                <a:avLst/>
              </a:prstGeom>
              <a:blipFill>
                <a:blip r:embed="rId10"/>
                <a:stretch>
                  <a:fillRect l="-18987" t="-2326" r="-3797"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1848643" y="7294631"/>
                <a:ext cx="544508" cy="264816"/>
              </a:xfrm>
              <a:prstGeom prst="rect">
                <a:avLst/>
              </a:prstGeom>
              <a:noFill/>
            </p:spPr>
            <p:txBody>
              <a:bodyPr wrap="none" lIns="0" tIns="0" rIns="0" bIns="0" rtlCol="0">
                <a:spAutoFit/>
              </a:bodyPr>
              <a:lstStyle/>
              <a:p>
                <a:r>
                  <a:rPr lang="en-GB" sz="1200" noProof="0" dirty="0"/>
                  <a:t>b</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𝑥</m:t>
                        </m:r>
                      </m:den>
                    </m:f>
                  </m:oMath>
                </a14:m>
                <a:endParaRPr lang="en-GB" sz="1200" noProof="0" dirty="0"/>
              </a:p>
            </p:txBody>
          </p:sp>
        </mc:Choice>
        <mc:Fallback xmlns="">
          <p:sp>
            <p:nvSpPr>
              <p:cNvPr id="27" name="TextBox 26"/>
              <p:cNvSpPr txBox="1">
                <a:spLocks noRot="1" noChangeAspect="1" noMove="1" noResize="1" noEditPoints="1" noAdjustHandles="1" noChangeArrowheads="1" noChangeShapeType="1" noTextEdit="1"/>
              </p:cNvSpPr>
              <p:nvPr/>
            </p:nvSpPr>
            <p:spPr>
              <a:xfrm>
                <a:off x="1848643" y="7294631"/>
                <a:ext cx="544508" cy="264816"/>
              </a:xfrm>
              <a:prstGeom prst="rect">
                <a:avLst/>
              </a:prstGeom>
              <a:blipFill>
                <a:blip r:embed="rId11"/>
                <a:stretch>
                  <a:fillRect l="-16667" t="-2326" r="-3333" b="-20930"/>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B16CFEF2-A65A-6142-861C-58ACADF7EEFB}"/>
              </a:ext>
            </a:extLst>
          </p:cNvPr>
          <p:cNvSpPr/>
          <p:nvPr/>
        </p:nvSpPr>
        <p:spPr>
          <a:xfrm>
            <a:off x="1789750" y="7636944"/>
            <a:ext cx="1589928" cy="21210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9" name="Rectangle 28">
            <a:extLst>
              <a:ext uri="{FF2B5EF4-FFF2-40B4-BE49-F238E27FC236}">
                <a16:creationId xmlns:a16="http://schemas.microsoft.com/office/drawing/2014/main" id="{B16CFEF2-A65A-6142-861C-58ACADF7EEFB}"/>
              </a:ext>
            </a:extLst>
          </p:cNvPr>
          <p:cNvSpPr/>
          <p:nvPr/>
        </p:nvSpPr>
        <p:spPr>
          <a:xfrm>
            <a:off x="3461537" y="7636944"/>
            <a:ext cx="1589928" cy="21210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0" name="Rectangle 29">
            <a:extLst>
              <a:ext uri="{FF2B5EF4-FFF2-40B4-BE49-F238E27FC236}">
                <a16:creationId xmlns:a16="http://schemas.microsoft.com/office/drawing/2014/main" id="{B16CFEF2-A65A-6142-861C-58ACADF7EEFB}"/>
              </a:ext>
            </a:extLst>
          </p:cNvPr>
          <p:cNvSpPr/>
          <p:nvPr/>
        </p:nvSpPr>
        <p:spPr>
          <a:xfrm>
            <a:off x="5138536" y="7636944"/>
            <a:ext cx="1589928" cy="21210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1" name="TextBox 30"/>
              <p:cNvSpPr txBox="1"/>
              <p:nvPr/>
            </p:nvSpPr>
            <p:spPr>
              <a:xfrm>
                <a:off x="3461037" y="7294631"/>
                <a:ext cx="595804" cy="264816"/>
              </a:xfrm>
              <a:prstGeom prst="rect">
                <a:avLst/>
              </a:prstGeom>
              <a:noFill/>
            </p:spPr>
            <p:txBody>
              <a:bodyPr wrap="none" lIns="0" tIns="0" rIns="0" bIns="0" rtlCol="0">
                <a:spAutoFit/>
              </a:bodyPr>
              <a:lstStyle/>
              <a:p>
                <a:r>
                  <a:rPr lang="en-GB" sz="1200" noProof="0" dirty="0"/>
                  <a:t>c</a:t>
                </a:r>
                <a:r>
                  <a:rPr lang="en-GB" sz="1200" b="0" noProof="0" dirty="0"/>
                  <a:t>) </a:t>
                </a:r>
                <a14:m>
                  <m:oMath xmlns:m="http://schemas.openxmlformats.org/officeDocument/2006/math">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5</m:t>
                        </m:r>
                      </m:num>
                      <m:den>
                        <m:r>
                          <a:rPr lang="en-GB" sz="120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r>
                      <a:rPr lang="en-GB" sz="1200" b="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𝑥</m:t>
                        </m:r>
                      </m:den>
                    </m:f>
                  </m:oMath>
                </a14:m>
                <a:endParaRPr lang="en-GB" sz="1200" noProof="0" dirty="0"/>
              </a:p>
            </p:txBody>
          </p:sp>
        </mc:Choice>
        <mc:Fallback xmlns="">
          <p:sp>
            <p:nvSpPr>
              <p:cNvPr id="31" name="TextBox 30"/>
              <p:cNvSpPr txBox="1">
                <a:spLocks noRot="1" noChangeAspect="1" noMove="1" noResize="1" noEditPoints="1" noAdjustHandles="1" noChangeArrowheads="1" noChangeShapeType="1" noTextEdit="1"/>
              </p:cNvSpPr>
              <p:nvPr/>
            </p:nvSpPr>
            <p:spPr>
              <a:xfrm>
                <a:off x="3461037" y="7294631"/>
                <a:ext cx="595804" cy="264816"/>
              </a:xfrm>
              <a:prstGeom prst="rect">
                <a:avLst/>
              </a:prstGeom>
              <a:blipFill>
                <a:blip r:embed="rId12"/>
                <a:stretch>
                  <a:fillRect l="-16495" t="-2326" r="-5155"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5098698" y="7284137"/>
                <a:ext cx="610232" cy="262188"/>
              </a:xfrm>
              <a:prstGeom prst="rect">
                <a:avLst/>
              </a:prstGeom>
              <a:noFill/>
            </p:spPr>
            <p:txBody>
              <a:bodyPr wrap="none" lIns="0" tIns="0" rIns="0" bIns="0" rtlCol="0">
                <a:spAutoFit/>
              </a:bodyPr>
              <a:lstStyle/>
              <a:p>
                <a:r>
                  <a:rPr lang="en-GB" sz="1200" noProof="0" dirty="0"/>
                  <a:t>d</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6</m:t>
                        </m:r>
                      </m:num>
                      <m:den>
                        <m:r>
                          <a:rPr lang="en-GB" sz="1200" b="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r>
                      <a:rPr lang="en-GB" sz="1200" b="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𝑥</m:t>
                        </m:r>
                      </m:den>
                    </m:f>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5098698" y="7284137"/>
                <a:ext cx="610232" cy="262188"/>
              </a:xfrm>
              <a:prstGeom prst="rect">
                <a:avLst/>
              </a:prstGeom>
              <a:blipFill>
                <a:blip r:embed="rId13"/>
                <a:stretch>
                  <a:fillRect l="-14851" t="-2326" r="-2970" b="-20930"/>
                </a:stretch>
              </a:blipFill>
            </p:spPr>
            <p:txBody>
              <a:bodyPr/>
              <a:lstStyle/>
              <a:p>
                <a:r>
                  <a:rPr lang="en-US">
                    <a:noFill/>
                  </a:rPr>
                  <a:t> </a:t>
                </a:r>
              </a:p>
            </p:txBody>
          </p:sp>
        </mc:Fallback>
      </mc:AlternateContent>
      <p:sp>
        <p:nvSpPr>
          <p:cNvPr id="22" name="Slide Number Placeholder 21"/>
          <p:cNvSpPr>
            <a:spLocks noGrp="1"/>
          </p:cNvSpPr>
          <p:nvPr>
            <p:ph type="sldNum" sz="quarter" idx="12"/>
          </p:nvPr>
        </p:nvSpPr>
        <p:spPr>
          <a:xfrm>
            <a:off x="5350660" y="9564384"/>
            <a:ext cx="1543050" cy="527403"/>
          </a:xfrm>
        </p:spPr>
        <p:txBody>
          <a:bodyPr/>
          <a:lstStyle/>
          <a:p>
            <a:fld id="{9BD3B4A0-BFF9-422C-B253-48BA94BE2F5B}" type="slidenum">
              <a:rPr lang="en-GB" noProof="0" smtClean="0"/>
              <a:t>18</a:t>
            </a:fld>
            <a:endParaRPr lang="en-GB" noProof="0" dirty="0"/>
          </a:p>
        </p:txBody>
      </p:sp>
      <p:sp>
        <p:nvSpPr>
          <p:cNvPr id="46" name="TextBox 45"/>
          <p:cNvSpPr txBox="1"/>
          <p:nvPr/>
        </p:nvSpPr>
        <p:spPr>
          <a:xfrm>
            <a:off x="2233562" y="6914085"/>
            <a:ext cx="2292231" cy="276999"/>
          </a:xfrm>
          <a:prstGeom prst="rect">
            <a:avLst/>
          </a:prstGeom>
          <a:noFill/>
        </p:spPr>
        <p:txBody>
          <a:bodyPr wrap="none" rtlCol="0">
            <a:spAutoFit/>
          </a:bodyPr>
          <a:lstStyle/>
          <a:p>
            <a:pPr algn="ctr"/>
            <a:r>
              <a:rPr lang="en-GB" sz="1200" noProof="0" dirty="0"/>
              <a:t>8. Simplify the algebraic fractions.</a:t>
            </a:r>
          </a:p>
        </p:txBody>
      </p:sp>
      <p:sp>
        <p:nvSpPr>
          <p:cNvPr id="48" name="TextBox 47">
            <a:extLst>
              <a:ext uri="{FF2B5EF4-FFF2-40B4-BE49-F238E27FC236}">
                <a16:creationId xmlns:a16="http://schemas.microsoft.com/office/drawing/2014/main" id="{C3C65E48-8C3D-6849-AD77-7AD8678AD8DA}"/>
              </a:ext>
            </a:extLst>
          </p:cNvPr>
          <p:cNvSpPr txBox="1"/>
          <p:nvPr/>
        </p:nvSpPr>
        <p:spPr>
          <a:xfrm>
            <a:off x="129538" y="6962962"/>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2414722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A293FF-7BB0-3E22-5E72-35B769001027}"/>
              </a:ext>
            </a:extLst>
          </p:cNvPr>
          <p:cNvSpPr>
            <a:spLocks noGrp="1"/>
          </p:cNvSpPr>
          <p:nvPr>
            <p:ph type="sldNum" sz="quarter" idx="12"/>
          </p:nvPr>
        </p:nvSpPr>
        <p:spPr/>
        <p:txBody>
          <a:bodyPr/>
          <a:lstStyle/>
          <a:p>
            <a:fld id="{9BD3B4A0-BFF9-422C-B253-48BA94BE2F5B}" type="slidenum">
              <a:rPr lang="en-GB" noProof="0" smtClean="0"/>
              <a:t>19</a:t>
            </a:fld>
            <a:endParaRPr lang="en-GB" noProof="0" dirty="0"/>
          </a:p>
        </p:txBody>
      </p:sp>
      <p:graphicFrame>
        <p:nvGraphicFramePr>
          <p:cNvPr id="3" name="Table 2">
            <a:extLst>
              <a:ext uri="{FF2B5EF4-FFF2-40B4-BE49-F238E27FC236}">
                <a16:creationId xmlns:a16="http://schemas.microsoft.com/office/drawing/2014/main" id="{943FECA0-5B15-88AB-BB9E-CE05EE2DCDFD}"/>
              </a:ext>
            </a:extLst>
          </p:cNvPr>
          <p:cNvGraphicFramePr>
            <a:graphicFrameLocks noGrp="1"/>
          </p:cNvGraphicFramePr>
          <p:nvPr>
            <p:extLst>
              <p:ext uri="{D42A27DB-BD31-4B8C-83A1-F6EECF244321}">
                <p14:modId xmlns:p14="http://schemas.microsoft.com/office/powerpoint/2010/main" val="996091623"/>
              </p:ext>
            </p:extLst>
          </p:nvPr>
        </p:nvGraphicFramePr>
        <p:xfrm>
          <a:off x="186989" y="863131"/>
          <a:ext cx="6417011" cy="4088794"/>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2700209">
                  <a:extLst>
                    <a:ext uri="{9D8B030D-6E8A-4147-A177-3AD203B41FA5}">
                      <a16:colId xmlns:a16="http://schemas.microsoft.com/office/drawing/2014/main" val="3551711160"/>
                    </a:ext>
                  </a:extLst>
                </a:gridCol>
                <a:gridCol w="2700209">
                  <a:extLst>
                    <a:ext uri="{9D8B030D-6E8A-4147-A177-3AD203B41FA5}">
                      <a16:colId xmlns:a16="http://schemas.microsoft.com/office/drawing/2014/main" val="4095172789"/>
                    </a:ext>
                  </a:extLst>
                </a:gridCol>
              </a:tblGrid>
              <a:tr h="1314067">
                <a:tc>
                  <a:txBody>
                    <a:bodyPr/>
                    <a:lstStyle/>
                    <a:p>
                      <a:r>
                        <a:rPr lang="en-GB" sz="1100" b="1" noProof="0" dirty="0">
                          <a:solidFill>
                            <a:schemeClr val="tx1"/>
                          </a:solidFill>
                        </a:rPr>
                        <a:t>Steps</a:t>
                      </a: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96954">
                <a:tc>
                  <a:txBody>
                    <a:bodyPr/>
                    <a:lstStyle/>
                    <a:p>
                      <a:r>
                        <a:rPr lang="en-GB" sz="1100" noProof="0" dirty="0">
                          <a:solidFill>
                            <a:schemeClr val="tx1"/>
                          </a:solidFill>
                        </a:rPr>
                        <a:t>1) Find the Lowest</a:t>
                      </a:r>
                      <a:r>
                        <a:rPr lang="en-GB" sz="1100" baseline="0" noProof="0" dirty="0">
                          <a:solidFill>
                            <a:schemeClr val="tx1"/>
                          </a:solidFill>
                        </a:rPr>
                        <a:t> common denominator</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065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2) Multiply the numerators</a:t>
                      </a:r>
                      <a:r>
                        <a:rPr lang="en-GB" sz="1100" baseline="0" noProof="0" dirty="0">
                          <a:solidFill>
                            <a:schemeClr val="tx1"/>
                          </a:solidFill>
                        </a:rPr>
                        <a:t> and expand and collect terms..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756429">
                <a:tc>
                  <a:txBody>
                    <a:bodyPr/>
                    <a:lstStyle/>
                    <a:p>
                      <a:r>
                        <a:rPr lang="en-GB" sz="1100" noProof="0" dirty="0">
                          <a:solidFill>
                            <a:schemeClr val="tx1"/>
                          </a:solidFill>
                        </a:rPr>
                        <a:t>3) Check if any final simplification is possible </a:t>
                      </a:r>
                      <a:r>
                        <a:rPr lang="en-GB" sz="1100" baseline="0" noProof="0" dirty="0">
                          <a:solidFill>
                            <a:schemeClr val="tx1"/>
                          </a:solidFill>
                        </a:rPr>
                        <a:t>.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bl>
          </a:graphicData>
        </a:graphic>
      </p:graphicFrame>
      <p:sp>
        <p:nvSpPr>
          <p:cNvPr id="4" name="TextBox 3">
            <a:extLst>
              <a:ext uri="{FF2B5EF4-FFF2-40B4-BE49-F238E27FC236}">
                <a16:creationId xmlns:a16="http://schemas.microsoft.com/office/drawing/2014/main" id="{5CA86938-5FF9-6066-7F85-6A8BE658E290}"/>
              </a:ext>
            </a:extLst>
          </p:cNvPr>
          <p:cNvSpPr txBox="1"/>
          <p:nvPr/>
        </p:nvSpPr>
        <p:spPr>
          <a:xfrm>
            <a:off x="4564348" y="894033"/>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32 - You do…</a:t>
            </a:r>
          </a:p>
        </p:txBody>
      </p:sp>
      <p:sp>
        <p:nvSpPr>
          <p:cNvPr id="6" name="TextBox 5">
            <a:extLst>
              <a:ext uri="{FF2B5EF4-FFF2-40B4-BE49-F238E27FC236}">
                <a16:creationId xmlns:a16="http://schemas.microsoft.com/office/drawing/2014/main" id="{47A84327-3737-FA4C-FA85-D0083D9C4789}"/>
              </a:ext>
            </a:extLst>
          </p:cNvPr>
          <p:cNvSpPr txBox="1"/>
          <p:nvPr/>
        </p:nvSpPr>
        <p:spPr>
          <a:xfrm>
            <a:off x="1405999" y="887872"/>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31 - I do…</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E6A84B3-7A41-F587-F8C9-C938E47BD5ED}"/>
                  </a:ext>
                </a:extLst>
              </p:cNvPr>
              <p:cNvSpPr txBox="1"/>
              <p:nvPr/>
            </p:nvSpPr>
            <p:spPr>
              <a:xfrm>
                <a:off x="1265764" y="1114852"/>
                <a:ext cx="1442903" cy="1000082"/>
              </a:xfrm>
              <a:prstGeom prst="rect">
                <a:avLst/>
              </a:prstGeom>
              <a:noFill/>
            </p:spPr>
            <p:txBody>
              <a:bodyPr wrap="square" rtlCol="0">
                <a:spAutoFit/>
              </a:bodyPr>
              <a:lstStyle/>
              <a:p>
                <a:r>
                  <a:rPr lang="en-GB" sz="1200" noProof="0" dirty="0"/>
                  <a:t>Express the following as a single simplified fraction.</a:t>
                </a:r>
              </a:p>
              <a:p>
                <a:pPr/>
                <a14:m>
                  <m:oMathPara xmlns:m="http://schemas.openxmlformats.org/officeDocument/2006/math">
                    <m:oMathParaPr>
                      <m:jc m:val="centerGroup"/>
                    </m:oMathParaPr>
                    <m:oMath xmlns:m="http://schemas.openxmlformats.org/officeDocument/2006/math">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𝑥</m:t>
                          </m:r>
                          <m:r>
                            <a:rPr lang="en-GB" sz="1200" i="1" noProof="0">
                              <a:latin typeface="Cambria Math" panose="02040503050406030204" pitchFamily="18" charset="0"/>
                            </a:rPr>
                            <m:t>−3</m:t>
                          </m:r>
                        </m:num>
                        <m:den>
                          <m:r>
                            <a:rPr lang="en-GB" sz="1200" i="1" noProof="0">
                              <a:latin typeface="Cambria Math" panose="02040503050406030204" pitchFamily="18" charset="0"/>
                            </a:rPr>
                            <m:t>𝑥</m:t>
                          </m:r>
                          <m:r>
                            <a:rPr lang="en-GB" sz="1200" i="1" noProof="0">
                              <a:latin typeface="Cambria Math" panose="02040503050406030204" pitchFamily="18" charset="0"/>
                            </a:rPr>
                            <m:t>+2</m:t>
                          </m:r>
                        </m:den>
                      </m:f>
                      <m:r>
                        <a:rPr lang="en-GB" sz="1200" i="1" noProof="0">
                          <a:latin typeface="Cambria Math" panose="02040503050406030204" pitchFamily="18" charset="0"/>
                        </a:rPr>
                        <m:t>+</m:t>
                      </m:r>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𝑥</m:t>
                          </m:r>
                          <m:r>
                            <a:rPr lang="en-GB" sz="1200" i="1" noProof="0">
                              <a:latin typeface="Cambria Math" panose="02040503050406030204" pitchFamily="18" charset="0"/>
                            </a:rPr>
                            <m:t>+5</m:t>
                          </m:r>
                        </m:num>
                        <m:den>
                          <m:r>
                            <a:rPr lang="en-GB" sz="1200" i="1" noProof="0">
                              <a:latin typeface="Cambria Math" panose="02040503050406030204" pitchFamily="18" charset="0"/>
                            </a:rPr>
                            <m:t>𝑥</m:t>
                          </m:r>
                          <m:r>
                            <a:rPr lang="en-GB" sz="1200" i="1" noProof="0">
                              <a:latin typeface="Cambria Math" panose="02040503050406030204" pitchFamily="18" charset="0"/>
                            </a:rPr>
                            <m:t>−2</m:t>
                          </m:r>
                        </m:den>
                      </m:f>
                    </m:oMath>
                  </m:oMathPara>
                </a14:m>
                <a:endParaRPr lang="en-GB" sz="1200" noProof="0" dirty="0"/>
              </a:p>
            </p:txBody>
          </p:sp>
        </mc:Choice>
        <mc:Fallback xmlns="">
          <p:sp>
            <p:nvSpPr>
              <p:cNvPr id="7" name="TextBox 6">
                <a:extLst>
                  <a:ext uri="{FF2B5EF4-FFF2-40B4-BE49-F238E27FC236}">
                    <a16:creationId xmlns:a16="http://schemas.microsoft.com/office/drawing/2014/main" id="{0E6A84B3-7A41-F587-F8C9-C938E47BD5ED}"/>
                  </a:ext>
                </a:extLst>
              </p:cNvPr>
              <p:cNvSpPr txBox="1">
                <a:spLocks noRot="1" noChangeAspect="1" noMove="1" noResize="1" noEditPoints="1" noAdjustHandles="1" noChangeArrowheads="1" noChangeShapeType="1" noTextEdit="1"/>
              </p:cNvSpPr>
              <p:nvPr/>
            </p:nvSpPr>
            <p:spPr>
              <a:xfrm>
                <a:off x="1265764" y="1114852"/>
                <a:ext cx="1442903" cy="1000082"/>
              </a:xfrm>
              <a:prstGeom prst="rect">
                <a:avLst/>
              </a:prstGeom>
              <a:blipFill>
                <a:blip r:embed="rId2"/>
                <a:stretch>
                  <a:fillRect l="-424" t="-610" r="-12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7C08837-8AB4-3051-1926-6729964425B8}"/>
                  </a:ext>
                </a:extLst>
              </p:cNvPr>
              <p:cNvSpPr txBox="1"/>
              <p:nvPr/>
            </p:nvSpPr>
            <p:spPr>
              <a:xfrm>
                <a:off x="4516053" y="1164871"/>
                <a:ext cx="1570223" cy="996298"/>
              </a:xfrm>
              <a:prstGeom prst="rect">
                <a:avLst/>
              </a:prstGeom>
              <a:noFill/>
            </p:spPr>
            <p:txBody>
              <a:bodyPr wrap="square" rtlCol="0">
                <a:spAutoFit/>
              </a:bodyPr>
              <a:lstStyle/>
              <a:p>
                <a:r>
                  <a:rPr lang="en-GB" sz="1200" noProof="0" dirty="0"/>
                  <a:t>Express the following as a single simplified fraction.</a:t>
                </a:r>
              </a:p>
              <a:p>
                <a:pPr/>
                <a14:m>
                  <m:oMathPara xmlns:m="http://schemas.openxmlformats.org/officeDocument/2006/math">
                    <m:oMathParaPr>
                      <m:jc m:val="centerGroup"/>
                    </m:oMathParaPr>
                    <m:oMath xmlns:m="http://schemas.openxmlformats.org/officeDocument/2006/math">
                      <m:f>
                        <m:fPr>
                          <m:ctrlPr>
                            <a:rPr lang="en-GB" sz="1200" b="1" i="1" noProof="0" smtClean="0">
                              <a:latin typeface="Cambria Math" panose="02040503050406030204" pitchFamily="18" charset="0"/>
                            </a:rPr>
                          </m:ctrlPr>
                        </m:fPr>
                        <m:num>
                          <m:r>
                            <a:rPr lang="en-GB" sz="1200" i="1" noProof="0">
                              <a:latin typeface="Cambria Math" panose="02040503050406030204" pitchFamily="18" charset="0"/>
                            </a:rPr>
                            <m:t>𝑥</m:t>
                          </m:r>
                          <m:r>
                            <a:rPr lang="en-GB" sz="1200" i="1" noProof="0">
                              <a:latin typeface="Cambria Math" panose="02040503050406030204" pitchFamily="18" charset="0"/>
                            </a:rPr>
                            <m:t>+7</m:t>
                          </m:r>
                        </m:num>
                        <m:den>
                          <m:r>
                            <a:rPr lang="en-GB" sz="1200" i="1" noProof="0">
                              <a:latin typeface="Cambria Math" panose="02040503050406030204" pitchFamily="18" charset="0"/>
                            </a:rPr>
                            <m:t>𝑥</m:t>
                          </m:r>
                          <m:r>
                            <a:rPr lang="en-GB" sz="1200" i="1" noProof="0">
                              <a:latin typeface="Cambria Math" panose="02040503050406030204" pitchFamily="18" charset="0"/>
                            </a:rPr>
                            <m:t>−3</m:t>
                          </m:r>
                        </m:den>
                      </m:f>
                      <m:r>
                        <a:rPr lang="en-GB" sz="1200" b="1" i="1" noProof="0">
                          <a:latin typeface="Cambria Math" panose="02040503050406030204" pitchFamily="18" charset="0"/>
                        </a:rPr>
                        <m:t>+</m:t>
                      </m:r>
                      <m:f>
                        <m:fPr>
                          <m:ctrlPr>
                            <a:rPr lang="en-GB" sz="1200" b="1" i="1" noProof="0" smtClean="0">
                              <a:latin typeface="Cambria Math" panose="02040503050406030204" pitchFamily="18" charset="0"/>
                            </a:rPr>
                          </m:ctrlPr>
                        </m:fPr>
                        <m:num>
                          <m:r>
                            <a:rPr lang="en-GB" sz="1200" i="1" noProof="0">
                              <a:latin typeface="Cambria Math" panose="02040503050406030204" pitchFamily="18" charset="0"/>
                            </a:rPr>
                            <m:t>𝑥</m:t>
                          </m:r>
                          <m:r>
                            <a:rPr lang="en-GB" sz="1200" i="1" noProof="0">
                              <a:latin typeface="Cambria Math" panose="02040503050406030204" pitchFamily="18" charset="0"/>
                            </a:rPr>
                            <m:t>−2</m:t>
                          </m:r>
                        </m:num>
                        <m:den>
                          <m:r>
                            <a:rPr lang="en-GB" sz="1200" i="1" noProof="0">
                              <a:latin typeface="Cambria Math" panose="02040503050406030204" pitchFamily="18" charset="0"/>
                            </a:rPr>
                            <m:t>𝑥</m:t>
                          </m:r>
                          <m:r>
                            <a:rPr lang="en-GB" sz="1200" i="1" noProof="0">
                              <a:latin typeface="Cambria Math" panose="02040503050406030204" pitchFamily="18" charset="0"/>
                            </a:rPr>
                            <m:t>+4</m:t>
                          </m:r>
                        </m:den>
                      </m:f>
                    </m:oMath>
                  </m:oMathPara>
                </a14:m>
                <a:endParaRPr lang="en-GB" sz="1200" noProof="0" dirty="0"/>
              </a:p>
            </p:txBody>
          </p:sp>
        </mc:Choice>
        <mc:Fallback xmlns="">
          <p:sp>
            <p:nvSpPr>
              <p:cNvPr id="9" name="TextBox 8">
                <a:extLst>
                  <a:ext uri="{FF2B5EF4-FFF2-40B4-BE49-F238E27FC236}">
                    <a16:creationId xmlns:a16="http://schemas.microsoft.com/office/drawing/2014/main" id="{07C08837-8AB4-3051-1926-6729964425B8}"/>
                  </a:ext>
                </a:extLst>
              </p:cNvPr>
              <p:cNvSpPr txBox="1">
                <a:spLocks noRot="1" noChangeAspect="1" noMove="1" noResize="1" noEditPoints="1" noAdjustHandles="1" noChangeArrowheads="1" noChangeShapeType="1" noTextEdit="1"/>
              </p:cNvSpPr>
              <p:nvPr/>
            </p:nvSpPr>
            <p:spPr>
              <a:xfrm>
                <a:off x="4516053" y="1164871"/>
                <a:ext cx="1570223" cy="996298"/>
              </a:xfrm>
              <a:prstGeom prst="rect">
                <a:avLst/>
              </a:prstGeom>
              <a:blipFill>
                <a:blip r:embed="rId3"/>
                <a:stretch>
                  <a:fillRect l="-389"/>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44EA543D-8D66-E481-7D65-2E2E2B58E2FD}"/>
              </a:ext>
            </a:extLst>
          </p:cNvPr>
          <p:cNvSpPr txBox="1"/>
          <p:nvPr/>
        </p:nvSpPr>
        <p:spPr>
          <a:xfrm>
            <a:off x="-16536" y="-25400"/>
            <a:ext cx="4775666" cy="253916"/>
          </a:xfrm>
          <a:prstGeom prst="rect">
            <a:avLst/>
          </a:prstGeom>
          <a:solidFill>
            <a:srgbClr val="0070C0"/>
          </a:solidFill>
        </p:spPr>
        <p:txBody>
          <a:bodyPr wrap="none" rtlCol="0" anchor="ctr">
            <a:spAutoFit/>
          </a:bodyPr>
          <a:lstStyle/>
          <a:p>
            <a:pPr algn="r"/>
            <a:r>
              <a:rPr lang="en-GB" sz="1050" b="1" noProof="0" dirty="0">
                <a:solidFill>
                  <a:schemeClr val="bg1"/>
                </a:solidFill>
              </a:rPr>
              <a:t>DEPTH: ADDING AND SUBTRACTING INVOLVING QUADRATICS/DOUBLE BRACKETS</a:t>
            </a:r>
          </a:p>
        </p:txBody>
      </p:sp>
      <p:sp>
        <p:nvSpPr>
          <p:cNvPr id="11" name="TextBox 10">
            <a:extLst>
              <a:ext uri="{FF2B5EF4-FFF2-40B4-BE49-F238E27FC236}">
                <a16:creationId xmlns:a16="http://schemas.microsoft.com/office/drawing/2014/main" id="{390305F7-B865-F74A-56EF-9BDE29E3B854}"/>
              </a:ext>
            </a:extLst>
          </p:cNvPr>
          <p:cNvSpPr txBox="1"/>
          <p:nvPr/>
        </p:nvSpPr>
        <p:spPr>
          <a:xfrm>
            <a:off x="186989" y="393700"/>
            <a:ext cx="6484022" cy="461665"/>
          </a:xfrm>
          <a:prstGeom prst="rect">
            <a:avLst/>
          </a:prstGeom>
          <a:noFill/>
          <a:ln>
            <a:solidFill>
              <a:schemeClr val="tx1"/>
            </a:solidFill>
          </a:ln>
        </p:spPr>
        <p:txBody>
          <a:bodyPr wrap="square" rtlCol="0">
            <a:spAutoFit/>
          </a:bodyPr>
          <a:lstStyle/>
          <a:p>
            <a:r>
              <a:rPr lang="en-GB" sz="1200" noProof="0" dirty="0"/>
              <a:t>When we are adding and subtracting algebraic fractions, it is sometimes necessary to either expand double brackets or factorise quadratics. </a:t>
            </a:r>
          </a:p>
        </p:txBody>
      </p:sp>
      <p:graphicFrame>
        <p:nvGraphicFramePr>
          <p:cNvPr id="12" name="Table 11">
            <a:extLst>
              <a:ext uri="{FF2B5EF4-FFF2-40B4-BE49-F238E27FC236}">
                <a16:creationId xmlns:a16="http://schemas.microsoft.com/office/drawing/2014/main" id="{183ECC56-34D0-F880-ADEB-7B8B7F6F7D5D}"/>
              </a:ext>
            </a:extLst>
          </p:cNvPr>
          <p:cNvGraphicFramePr>
            <a:graphicFrameLocks noGrp="1"/>
          </p:cNvGraphicFramePr>
          <p:nvPr>
            <p:extLst>
              <p:ext uri="{D42A27DB-BD31-4B8C-83A1-F6EECF244321}">
                <p14:modId xmlns:p14="http://schemas.microsoft.com/office/powerpoint/2010/main" val="2299613535"/>
              </p:ext>
            </p:extLst>
          </p:nvPr>
        </p:nvGraphicFramePr>
        <p:xfrm>
          <a:off x="186989" y="5091514"/>
          <a:ext cx="6399214" cy="4440026"/>
        </p:xfrm>
        <a:graphic>
          <a:graphicData uri="http://schemas.openxmlformats.org/drawingml/2006/table">
            <a:tbl>
              <a:tblPr firstRow="1" bandRow="1">
                <a:tableStyleId>{5C22544A-7EE6-4342-B048-85BDC9FD1C3A}</a:tableStyleId>
              </a:tblPr>
              <a:tblGrid>
                <a:gridCol w="1019511">
                  <a:extLst>
                    <a:ext uri="{9D8B030D-6E8A-4147-A177-3AD203B41FA5}">
                      <a16:colId xmlns:a16="http://schemas.microsoft.com/office/drawing/2014/main" val="1568142362"/>
                    </a:ext>
                  </a:extLst>
                </a:gridCol>
                <a:gridCol w="2827062">
                  <a:extLst>
                    <a:ext uri="{9D8B030D-6E8A-4147-A177-3AD203B41FA5}">
                      <a16:colId xmlns:a16="http://schemas.microsoft.com/office/drawing/2014/main" val="3551711160"/>
                    </a:ext>
                  </a:extLst>
                </a:gridCol>
                <a:gridCol w="2552641">
                  <a:extLst>
                    <a:ext uri="{9D8B030D-6E8A-4147-A177-3AD203B41FA5}">
                      <a16:colId xmlns:a16="http://schemas.microsoft.com/office/drawing/2014/main" val="4095172789"/>
                    </a:ext>
                  </a:extLst>
                </a:gridCol>
              </a:tblGrid>
              <a:tr h="372472">
                <a:tc>
                  <a:txBody>
                    <a:bodyPr/>
                    <a:lstStyle/>
                    <a:p>
                      <a:r>
                        <a:rPr lang="en-GB" sz="1100" b="1" noProof="0" dirty="0">
                          <a:solidFill>
                            <a:schemeClr val="tx1"/>
                          </a:solidFill>
                        </a:rPr>
                        <a:t>Steps</a:t>
                      </a: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95506">
                <a:tc>
                  <a:txBody>
                    <a:bodyPr/>
                    <a:lstStyle/>
                    <a:p>
                      <a:r>
                        <a:rPr lang="en-GB" sz="1100" noProof="0" dirty="0">
                          <a:solidFill>
                            <a:schemeClr val="tx1"/>
                          </a:solidFill>
                        </a:rPr>
                        <a:t>1) Find the Lowest</a:t>
                      </a:r>
                      <a:r>
                        <a:rPr lang="en-GB" sz="1100" baseline="0" noProof="0" dirty="0">
                          <a:solidFill>
                            <a:schemeClr val="tx1"/>
                          </a:solidFill>
                        </a:rPr>
                        <a:t> common denominator</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398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2) Multiply the numerators</a:t>
                      </a:r>
                      <a:r>
                        <a:rPr lang="en-GB" sz="1100" baseline="0" noProof="0" dirty="0">
                          <a:solidFill>
                            <a:schemeClr val="tx1"/>
                          </a:solidFill>
                        </a:rPr>
                        <a:t> and expand and collect terms..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1039800">
                <a:tc>
                  <a:txBody>
                    <a:bodyPr/>
                    <a:lstStyle/>
                    <a:p>
                      <a:r>
                        <a:rPr lang="en-GB" sz="1100" noProof="0" dirty="0">
                          <a:solidFill>
                            <a:schemeClr val="tx1"/>
                          </a:solidFill>
                        </a:rPr>
                        <a:t>3) Check if any final simplification is possible </a:t>
                      </a:r>
                      <a:r>
                        <a:rPr lang="en-GB" sz="1100" baseline="0" noProof="0" dirty="0">
                          <a:solidFill>
                            <a:schemeClr val="tx1"/>
                          </a:solidFill>
                        </a:rPr>
                        <a:t>.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bl>
          </a:graphicData>
        </a:graphic>
      </p:graphicFrame>
      <p:sp>
        <p:nvSpPr>
          <p:cNvPr id="13" name="TextBox 12">
            <a:extLst>
              <a:ext uri="{FF2B5EF4-FFF2-40B4-BE49-F238E27FC236}">
                <a16:creationId xmlns:a16="http://schemas.microsoft.com/office/drawing/2014/main" id="{20CC889E-D1D6-5033-4348-E0BE6226C796}"/>
              </a:ext>
            </a:extLst>
          </p:cNvPr>
          <p:cNvSpPr txBox="1"/>
          <p:nvPr/>
        </p:nvSpPr>
        <p:spPr>
          <a:xfrm>
            <a:off x="4312109" y="5111135"/>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34 - You do…</a:t>
            </a:r>
          </a:p>
        </p:txBody>
      </p:sp>
      <p:sp>
        <p:nvSpPr>
          <p:cNvPr id="15" name="TextBox 14">
            <a:extLst>
              <a:ext uri="{FF2B5EF4-FFF2-40B4-BE49-F238E27FC236}">
                <a16:creationId xmlns:a16="http://schemas.microsoft.com/office/drawing/2014/main" id="{4E9062C4-C1F1-A77B-D01F-69C076AB1B0B}"/>
              </a:ext>
            </a:extLst>
          </p:cNvPr>
          <p:cNvSpPr txBox="1"/>
          <p:nvPr/>
        </p:nvSpPr>
        <p:spPr>
          <a:xfrm>
            <a:off x="1677774" y="5111136"/>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33 - I do…</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D62BAB3-5A1B-6D44-FF9A-41FCE4D22E88}"/>
                  </a:ext>
                </a:extLst>
              </p:cNvPr>
              <p:cNvSpPr txBox="1"/>
              <p:nvPr/>
            </p:nvSpPr>
            <p:spPr>
              <a:xfrm>
                <a:off x="1593803" y="5388134"/>
                <a:ext cx="2229727" cy="811632"/>
              </a:xfrm>
              <a:prstGeom prst="rect">
                <a:avLst/>
              </a:prstGeom>
              <a:noFill/>
            </p:spPr>
            <p:txBody>
              <a:bodyPr wrap="square" rtlCol="0">
                <a:spAutoFit/>
              </a:bodyPr>
              <a:lstStyle/>
              <a:p>
                <a:r>
                  <a:rPr lang="en-GB" sz="1200" noProof="0" dirty="0"/>
                  <a:t>Express the following a single simplified fraction.</a:t>
                </a:r>
              </a:p>
              <a:p>
                <a:pPr/>
                <a14:m>
                  <m:oMathPara xmlns:m="http://schemas.openxmlformats.org/officeDocument/2006/math">
                    <m:oMathParaPr>
                      <m:jc m:val="centerGroup"/>
                    </m:oMathParaPr>
                    <m:oMath xmlns:m="http://schemas.openxmlformats.org/officeDocument/2006/math">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10</m:t>
                          </m:r>
                          <m:r>
                            <a:rPr lang="en-GB" sz="1200" i="1" noProof="0">
                              <a:latin typeface="Cambria Math" panose="02040503050406030204" pitchFamily="18" charset="0"/>
                            </a:rPr>
                            <m:t>𝑥</m:t>
                          </m:r>
                          <m:r>
                            <a:rPr lang="en-GB" sz="1200" i="1" noProof="0">
                              <a:latin typeface="Cambria Math" panose="02040503050406030204" pitchFamily="18" charset="0"/>
                            </a:rPr>
                            <m:t>+9</m:t>
                          </m:r>
                        </m:num>
                        <m:den>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r>
                            <a:rPr lang="en-GB" sz="1200" i="1" noProof="0">
                              <a:latin typeface="Cambria Math" panose="02040503050406030204" pitchFamily="18" charset="0"/>
                            </a:rPr>
                            <m:t>+6</m:t>
                          </m:r>
                          <m:r>
                            <a:rPr lang="en-GB" sz="1200" i="1" noProof="0">
                              <a:latin typeface="Cambria Math" panose="02040503050406030204" pitchFamily="18" charset="0"/>
                            </a:rPr>
                            <m:t>𝑥</m:t>
                          </m:r>
                          <m:r>
                            <a:rPr lang="en-GB" sz="1200" i="1" noProof="0">
                              <a:latin typeface="Cambria Math" panose="02040503050406030204" pitchFamily="18" charset="0"/>
                            </a:rPr>
                            <m:t>+5</m:t>
                          </m:r>
                        </m:den>
                      </m:f>
                      <m:r>
                        <a:rPr lang="en-GB" sz="1200" i="1" noProof="0">
                          <a:latin typeface="Cambria Math" panose="02040503050406030204" pitchFamily="18" charset="0"/>
                        </a:rPr>
                        <m:t>−</m:t>
                      </m:r>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3</m:t>
                          </m:r>
                        </m:num>
                        <m:den>
                          <m:r>
                            <a:rPr lang="en-GB" sz="1200" i="1" noProof="0">
                              <a:latin typeface="Cambria Math" panose="02040503050406030204" pitchFamily="18" charset="0"/>
                            </a:rPr>
                            <m:t>𝑥</m:t>
                          </m:r>
                          <m:r>
                            <a:rPr lang="en-GB" sz="1200" i="1" noProof="0">
                              <a:latin typeface="Cambria Math" panose="02040503050406030204" pitchFamily="18" charset="0"/>
                            </a:rPr>
                            <m:t>+5</m:t>
                          </m:r>
                        </m:den>
                      </m:f>
                    </m:oMath>
                  </m:oMathPara>
                </a14:m>
                <a:endParaRPr lang="en-GB" sz="1200" noProof="0" dirty="0"/>
              </a:p>
            </p:txBody>
          </p:sp>
        </mc:Choice>
        <mc:Fallback xmlns="">
          <p:sp>
            <p:nvSpPr>
              <p:cNvPr id="16" name="TextBox 15">
                <a:extLst>
                  <a:ext uri="{FF2B5EF4-FFF2-40B4-BE49-F238E27FC236}">
                    <a16:creationId xmlns:a16="http://schemas.microsoft.com/office/drawing/2014/main" id="{CD62BAB3-5A1B-6D44-FF9A-41FCE4D22E88}"/>
                  </a:ext>
                </a:extLst>
              </p:cNvPr>
              <p:cNvSpPr txBox="1">
                <a:spLocks noRot="1" noChangeAspect="1" noMove="1" noResize="1" noEditPoints="1" noAdjustHandles="1" noChangeArrowheads="1" noChangeShapeType="1" noTextEdit="1"/>
              </p:cNvSpPr>
              <p:nvPr/>
            </p:nvSpPr>
            <p:spPr>
              <a:xfrm>
                <a:off x="1593803" y="5388134"/>
                <a:ext cx="2229727" cy="811632"/>
              </a:xfrm>
              <a:prstGeom prst="rect">
                <a:avLst/>
              </a:prstGeom>
              <a:blipFill>
                <a:blip r:embed="rId4"/>
                <a:stretch>
                  <a:fillRect t="-7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44A76F6-0297-F7BA-8AA5-34CD954605E5}"/>
                  </a:ext>
                </a:extLst>
              </p:cNvPr>
              <p:cNvSpPr txBox="1"/>
              <p:nvPr/>
            </p:nvSpPr>
            <p:spPr>
              <a:xfrm>
                <a:off x="4346808" y="5388134"/>
                <a:ext cx="1935013" cy="811632"/>
              </a:xfrm>
              <a:prstGeom prst="rect">
                <a:avLst/>
              </a:prstGeom>
              <a:noFill/>
            </p:spPr>
            <p:txBody>
              <a:bodyPr wrap="square" rtlCol="0">
                <a:spAutoFit/>
              </a:bodyPr>
              <a:lstStyle/>
              <a:p>
                <a:r>
                  <a:rPr lang="en-GB" sz="1200" noProof="0" dirty="0"/>
                  <a:t>Express the following a single simplified fraction.</a:t>
                </a:r>
              </a:p>
              <a:p>
                <a:pPr/>
                <a14:m>
                  <m:oMathPara xmlns:m="http://schemas.openxmlformats.org/officeDocument/2006/math">
                    <m:oMathParaPr>
                      <m:jc m:val="centerGroup"/>
                    </m:oMathParaPr>
                    <m:oMath xmlns:m="http://schemas.openxmlformats.org/officeDocument/2006/math">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4</m:t>
                          </m:r>
                          <m:r>
                            <a:rPr lang="en-GB" sz="1200" i="1" noProof="0">
                              <a:latin typeface="Cambria Math" panose="02040503050406030204" pitchFamily="18" charset="0"/>
                            </a:rPr>
                            <m:t>𝑥</m:t>
                          </m:r>
                          <m:r>
                            <a:rPr lang="en-GB" sz="1200" i="1" noProof="0">
                              <a:latin typeface="Cambria Math" panose="02040503050406030204" pitchFamily="18" charset="0"/>
                            </a:rPr>
                            <m:t>+1</m:t>
                          </m:r>
                        </m:num>
                        <m:den>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r>
                            <a:rPr lang="en-GB" sz="1200" i="1" noProof="0">
                              <a:latin typeface="Cambria Math" panose="02040503050406030204" pitchFamily="18" charset="0"/>
                            </a:rPr>
                            <m:t>−2</m:t>
                          </m:r>
                          <m:r>
                            <a:rPr lang="en-GB" sz="1200" i="1" noProof="0">
                              <a:latin typeface="Cambria Math" panose="02040503050406030204" pitchFamily="18" charset="0"/>
                            </a:rPr>
                            <m:t>𝑥</m:t>
                          </m:r>
                          <m:r>
                            <a:rPr lang="en-GB" sz="1200" i="1" noProof="0">
                              <a:latin typeface="Cambria Math" panose="02040503050406030204" pitchFamily="18" charset="0"/>
                            </a:rPr>
                            <m:t>−15</m:t>
                          </m:r>
                        </m:den>
                      </m:f>
                      <m:r>
                        <a:rPr lang="en-GB" sz="1200" i="1" noProof="0">
                          <a:latin typeface="Cambria Math" panose="02040503050406030204" pitchFamily="18" charset="0"/>
                        </a:rPr>
                        <m:t>−</m:t>
                      </m:r>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3</m:t>
                          </m:r>
                        </m:num>
                        <m:den>
                          <m:r>
                            <a:rPr lang="en-GB" sz="1200" i="1" noProof="0">
                              <a:latin typeface="Cambria Math" panose="02040503050406030204" pitchFamily="18" charset="0"/>
                            </a:rPr>
                            <m:t>𝑥</m:t>
                          </m:r>
                          <m:r>
                            <a:rPr lang="en-GB" sz="1200" i="1" noProof="0">
                              <a:latin typeface="Cambria Math" panose="02040503050406030204" pitchFamily="18" charset="0"/>
                            </a:rPr>
                            <m:t>+3</m:t>
                          </m:r>
                        </m:den>
                      </m:f>
                    </m:oMath>
                  </m:oMathPara>
                </a14:m>
                <a:endParaRPr lang="en-GB" sz="1200" noProof="0" dirty="0"/>
              </a:p>
            </p:txBody>
          </p:sp>
        </mc:Choice>
        <mc:Fallback xmlns="">
          <p:sp>
            <p:nvSpPr>
              <p:cNvPr id="18" name="TextBox 17">
                <a:extLst>
                  <a:ext uri="{FF2B5EF4-FFF2-40B4-BE49-F238E27FC236}">
                    <a16:creationId xmlns:a16="http://schemas.microsoft.com/office/drawing/2014/main" id="{A44A76F6-0297-F7BA-8AA5-34CD954605E5}"/>
                  </a:ext>
                </a:extLst>
              </p:cNvPr>
              <p:cNvSpPr txBox="1">
                <a:spLocks noRot="1" noChangeAspect="1" noMove="1" noResize="1" noEditPoints="1" noAdjustHandles="1" noChangeArrowheads="1" noChangeShapeType="1" noTextEdit="1"/>
              </p:cNvSpPr>
              <p:nvPr/>
            </p:nvSpPr>
            <p:spPr>
              <a:xfrm>
                <a:off x="4346808" y="5388134"/>
                <a:ext cx="1935013" cy="811632"/>
              </a:xfrm>
              <a:prstGeom prst="rect">
                <a:avLst/>
              </a:prstGeom>
              <a:blipFill>
                <a:blip r:embed="rId5"/>
                <a:stretch>
                  <a:fillRect t="-752"/>
                </a:stretch>
              </a:blipFill>
            </p:spPr>
            <p:txBody>
              <a:bodyPr/>
              <a:lstStyle/>
              <a:p>
                <a:r>
                  <a:rPr lang="en-US">
                    <a:noFill/>
                  </a:rPr>
                  <a:t> </a:t>
                </a:r>
              </a:p>
            </p:txBody>
          </p:sp>
        </mc:Fallback>
      </mc:AlternateContent>
    </p:spTree>
    <p:extLst>
      <p:ext uri="{BB962C8B-B14F-4D97-AF65-F5344CB8AC3E}">
        <p14:creationId xmlns:p14="http://schemas.microsoft.com/office/powerpoint/2010/main" val="2290734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D30FA-786E-FF2E-7FC5-44D46660B24C}"/>
              </a:ext>
            </a:extLst>
          </p:cNvPr>
          <p:cNvSpPr>
            <a:spLocks noGrp="1"/>
          </p:cNvSpPr>
          <p:nvPr>
            <p:ph type="sldNum" sz="quarter" idx="12"/>
          </p:nvPr>
        </p:nvSpPr>
        <p:spPr/>
        <p:txBody>
          <a:bodyPr/>
          <a:lstStyle/>
          <a:p>
            <a:fld id="{9BD3B4A0-BFF9-422C-B253-48BA94BE2F5B}" type="slidenum">
              <a:rPr lang="en-GB" noProof="0" smtClean="0"/>
              <a:t>20</a:t>
            </a:fld>
            <a:endParaRPr lang="en-GB" noProof="0"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B2B182E9-6C31-6897-795A-A4268CFB7B28}"/>
                  </a:ext>
                </a:extLst>
              </p:cNvPr>
              <p:cNvGraphicFramePr>
                <a:graphicFrameLocks noGrp="1"/>
              </p:cNvGraphicFramePr>
              <p:nvPr>
                <p:extLst>
                  <p:ext uri="{D42A27DB-BD31-4B8C-83A1-F6EECF244321}">
                    <p14:modId xmlns:p14="http://schemas.microsoft.com/office/powerpoint/2010/main" val="4291544963"/>
                  </p:ext>
                </p:extLst>
              </p:nvPr>
            </p:nvGraphicFramePr>
            <p:xfrm>
              <a:off x="114300" y="515526"/>
              <a:ext cx="6527799" cy="8768174"/>
            </p:xfrm>
            <a:graphic>
              <a:graphicData uri="http://schemas.openxmlformats.org/drawingml/2006/table">
                <a:tbl>
                  <a:tblPr firstRow="1" firstCol="1" bandRow="1"/>
                  <a:tblGrid>
                    <a:gridCol w="262711">
                      <a:extLst>
                        <a:ext uri="{9D8B030D-6E8A-4147-A177-3AD203B41FA5}">
                          <a16:colId xmlns:a16="http://schemas.microsoft.com/office/drawing/2014/main" val="1937511295"/>
                        </a:ext>
                      </a:extLst>
                    </a:gridCol>
                    <a:gridCol w="3001188">
                      <a:extLst>
                        <a:ext uri="{9D8B030D-6E8A-4147-A177-3AD203B41FA5}">
                          <a16:colId xmlns:a16="http://schemas.microsoft.com/office/drawing/2014/main" val="322496139"/>
                        </a:ext>
                      </a:extLst>
                    </a:gridCol>
                    <a:gridCol w="272556">
                      <a:extLst>
                        <a:ext uri="{9D8B030D-6E8A-4147-A177-3AD203B41FA5}">
                          <a16:colId xmlns:a16="http://schemas.microsoft.com/office/drawing/2014/main" val="3964146266"/>
                        </a:ext>
                      </a:extLst>
                    </a:gridCol>
                    <a:gridCol w="2991344">
                      <a:extLst>
                        <a:ext uri="{9D8B030D-6E8A-4147-A177-3AD203B41FA5}">
                          <a16:colId xmlns:a16="http://schemas.microsoft.com/office/drawing/2014/main" val="688376738"/>
                        </a:ext>
                      </a:extLst>
                    </a:gridCol>
                  </a:tblGrid>
                  <a:tr h="3110072">
                    <a:tc>
                      <a:txBody>
                        <a:bodyPr/>
                        <a:lstStyle/>
                        <a:p>
                          <a:pPr>
                            <a:lnSpc>
                              <a:spcPct val="107000"/>
                            </a:lnSpc>
                            <a:spcAft>
                              <a:spcPts val="800"/>
                            </a:spcAft>
                            <a:buNone/>
                          </a:pPr>
                          <a:r>
                            <a:rPr lang="en-GB" sz="1000" b="1" noProof="0" dirty="0">
                              <a:effectLst/>
                              <a:latin typeface="Calibri" panose="020F0502020204030204" pitchFamily="34" charset="0"/>
                              <a:ea typeface="Calibri" panose="020F0502020204030204" pitchFamily="34" charset="0"/>
                              <a:cs typeface="Times New Roman" panose="02020603050405020304" pitchFamily="18" charset="0"/>
                            </a:rPr>
                            <a:t>a)</a:t>
                          </a:r>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−7</m:t>
                                    </m:r>
                                  </m:num>
                                  <m:den>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−1</m:t>
                                    </m:r>
                                  </m:den>
                                </m:f>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3</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num>
                                  <m:den>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den>
                                </m:f>
                              </m:oMath>
                            </m:oMathPara>
                          </a14:m>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b="1" noProof="0" dirty="0">
                              <a:effectLst/>
                              <a:latin typeface="Calibri" panose="020F0502020204030204" pitchFamily="34" charset="0"/>
                              <a:ea typeface="Calibri" panose="020F0502020204030204" pitchFamily="34" charset="0"/>
                              <a:cs typeface="Times New Roman" panose="02020603050405020304" pitchFamily="18" charset="0"/>
                            </a:rPr>
                            <a:t>b)</a:t>
                          </a:r>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+1</m:t>
                                    </m:r>
                                  </m:num>
                                  <m:den>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den>
                                </m:f>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3</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+4</m:t>
                                    </m:r>
                                  </m:num>
                                  <m:den>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den>
                                </m:f>
                              </m:oMath>
                            </m:oMathPara>
                          </a14:m>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1479174"/>
                      </a:ext>
                    </a:extLst>
                  </a:tr>
                  <a:tr h="2878715">
                    <a:tc>
                      <a:txBody>
                        <a:bodyPr/>
                        <a:lstStyle/>
                        <a:p>
                          <a:pPr>
                            <a:lnSpc>
                              <a:spcPct val="107000"/>
                            </a:lnSpc>
                            <a:spcAft>
                              <a:spcPts val="800"/>
                            </a:spcAft>
                            <a:buNone/>
                          </a:pPr>
                          <a:r>
                            <a:rPr lang="en-GB" sz="1000" b="1" noProof="0" dirty="0">
                              <a:effectLst/>
                              <a:latin typeface="Calibri" panose="020F0502020204030204" pitchFamily="34" charset="0"/>
                              <a:ea typeface="Calibri" panose="020F0502020204030204" pitchFamily="34" charset="0"/>
                              <a:cs typeface="Times New Roman" panose="02020603050405020304" pitchFamily="18" charset="0"/>
                            </a:rPr>
                            <a:t>c)</a:t>
                          </a:r>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4</m:t>
                                    </m:r>
                                  </m:num>
                                  <m:den>
                                    <m:sSup>
                                      <m:sSup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+1</m:t>
                                    </m:r>
                                  </m:den>
                                </m:f>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num>
                                  <m:den>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+1</m:t>
                                    </m:r>
                                  </m:den>
                                </m:f>
                              </m:oMath>
                            </m:oMathPara>
                          </a14:m>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b="1" noProof="0" dirty="0">
                              <a:effectLst/>
                              <a:latin typeface="Calibri" panose="020F0502020204030204" pitchFamily="34" charset="0"/>
                              <a:ea typeface="Calibri" panose="020F0502020204030204" pitchFamily="34" charset="0"/>
                              <a:cs typeface="Times New Roman" panose="02020603050405020304" pitchFamily="18" charset="0"/>
                            </a:rPr>
                            <a:t>d)</a:t>
                          </a:r>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+1</m:t>
                                    </m:r>
                                  </m:num>
                                  <m:den>
                                    <m:sSup>
                                      <m:sSup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−6</m:t>
                                    </m:r>
                                  </m:den>
                                </m:f>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1000" i="1" noProof="0"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2</m:t>
                                    </m:r>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𝑥</m:t>
                                    </m:r>
                                  </m:num>
                                  <m:den>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−3</m:t>
                                    </m:r>
                                  </m:den>
                                </m:f>
                              </m:oMath>
                            </m:oMathPara>
                          </a14:m>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4791554"/>
                      </a:ext>
                    </a:extLst>
                  </a:tr>
                  <a:tr h="2779387">
                    <a:tc>
                      <a:txBody>
                        <a:bodyPr/>
                        <a:lstStyle/>
                        <a:p>
                          <a:pPr>
                            <a:lnSpc>
                              <a:spcPct val="107000"/>
                            </a:lnSpc>
                            <a:spcAft>
                              <a:spcPts val="800"/>
                            </a:spcAft>
                            <a:buNone/>
                          </a:pPr>
                          <a:r>
                            <a:rPr lang="en-GB" sz="1000" b="1" noProof="0" dirty="0">
                              <a:effectLst/>
                              <a:latin typeface="Calibri" panose="020F0502020204030204" pitchFamily="34" charset="0"/>
                              <a:ea typeface="Calibri" panose="020F0502020204030204" pitchFamily="34" charset="0"/>
                              <a:cs typeface="Times New Roman" panose="02020603050405020304" pitchFamily="18" charset="0"/>
                            </a:rPr>
                            <a:t>e)</a:t>
                          </a:r>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8</m:t>
                                    </m:r>
                                  </m:num>
                                  <m:den>
                                    <m:sSup>
                                      <m:sSup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+4</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den>
                                </m:f>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5</m:t>
                                    </m:r>
                                  </m:num>
                                  <m:den>
                                    <m:sSup>
                                      <m:sSup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−4</m:t>
                                    </m:r>
                                  </m:den>
                                </m:f>
                              </m:oMath>
                            </m:oMathPara>
                          </a14:m>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b="1" noProof="0" dirty="0">
                              <a:effectLst/>
                              <a:latin typeface="Calibri" panose="020F0502020204030204" pitchFamily="34" charset="0"/>
                              <a:ea typeface="Calibri" panose="020F0502020204030204" pitchFamily="34" charset="0"/>
                              <a:cs typeface="Times New Roman" panose="02020603050405020304" pitchFamily="18" charset="0"/>
                            </a:rPr>
                            <a:t>f)</a:t>
                          </a:r>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5</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num>
                                  <m:den>
                                    <m:sSup>
                                      <m:sSup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+5</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+6</m:t>
                                    </m:r>
                                  </m:den>
                                </m:f>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1000" i="1" noProof="0"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7</m:t>
                                    </m:r>
                                  </m:num>
                                  <m:den>
                                    <m:sSup>
                                      <m:sSupPr>
                                        <m:ctrlPr>
                                          <a:rPr lang="en-GB" sz="1000" i="1"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𝑥</m:t>
                                    </m:r>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−6</m:t>
                                    </m:r>
                                  </m:den>
                                </m:f>
                              </m:oMath>
                            </m:oMathPara>
                          </a14:m>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3271540"/>
                      </a:ext>
                    </a:extLst>
                  </a:tr>
                </a:tbl>
              </a:graphicData>
            </a:graphic>
          </p:graphicFrame>
        </mc:Choice>
        <mc:Fallback xmlns="">
          <p:graphicFrame>
            <p:nvGraphicFramePr>
              <p:cNvPr id="5" name="Table 4">
                <a:extLst>
                  <a:ext uri="{FF2B5EF4-FFF2-40B4-BE49-F238E27FC236}">
                    <a16:creationId xmlns:a16="http://schemas.microsoft.com/office/drawing/2014/main" id="{B2B182E9-6C31-6897-795A-A4268CFB7B28}"/>
                  </a:ext>
                </a:extLst>
              </p:cNvPr>
              <p:cNvGraphicFramePr>
                <a:graphicFrameLocks noGrp="1"/>
              </p:cNvGraphicFramePr>
              <p:nvPr>
                <p:extLst>
                  <p:ext uri="{D42A27DB-BD31-4B8C-83A1-F6EECF244321}">
                    <p14:modId xmlns:p14="http://schemas.microsoft.com/office/powerpoint/2010/main" val="4291544963"/>
                  </p:ext>
                </p:extLst>
              </p:nvPr>
            </p:nvGraphicFramePr>
            <p:xfrm>
              <a:off x="114300" y="515526"/>
              <a:ext cx="6527799" cy="8768174"/>
            </p:xfrm>
            <a:graphic>
              <a:graphicData uri="http://schemas.openxmlformats.org/drawingml/2006/table">
                <a:tbl>
                  <a:tblPr firstRow="1" firstCol="1" bandRow="1"/>
                  <a:tblGrid>
                    <a:gridCol w="262711">
                      <a:extLst>
                        <a:ext uri="{9D8B030D-6E8A-4147-A177-3AD203B41FA5}">
                          <a16:colId xmlns:a16="http://schemas.microsoft.com/office/drawing/2014/main" val="1937511295"/>
                        </a:ext>
                      </a:extLst>
                    </a:gridCol>
                    <a:gridCol w="3001188">
                      <a:extLst>
                        <a:ext uri="{9D8B030D-6E8A-4147-A177-3AD203B41FA5}">
                          <a16:colId xmlns:a16="http://schemas.microsoft.com/office/drawing/2014/main" val="322496139"/>
                        </a:ext>
                      </a:extLst>
                    </a:gridCol>
                    <a:gridCol w="272556">
                      <a:extLst>
                        <a:ext uri="{9D8B030D-6E8A-4147-A177-3AD203B41FA5}">
                          <a16:colId xmlns:a16="http://schemas.microsoft.com/office/drawing/2014/main" val="3964146266"/>
                        </a:ext>
                      </a:extLst>
                    </a:gridCol>
                    <a:gridCol w="2991344">
                      <a:extLst>
                        <a:ext uri="{9D8B030D-6E8A-4147-A177-3AD203B41FA5}">
                          <a16:colId xmlns:a16="http://schemas.microsoft.com/office/drawing/2014/main" val="688376738"/>
                        </a:ext>
                      </a:extLst>
                    </a:gridCol>
                  </a:tblGrid>
                  <a:tr h="3110072">
                    <a:tc>
                      <a:txBody>
                        <a:bodyPr/>
                        <a:lstStyle/>
                        <a:p>
                          <a:pPr>
                            <a:lnSpc>
                              <a:spcPct val="107000"/>
                            </a:lnSpc>
                            <a:spcAft>
                              <a:spcPts val="800"/>
                            </a:spcAft>
                            <a:buNone/>
                          </a:pPr>
                          <a:r>
                            <a:rPr lang="en-GB" sz="1000" b="1" noProof="0">
                              <a:effectLst/>
                              <a:latin typeface="Calibri" panose="020F0502020204030204" pitchFamily="34" charset="0"/>
                              <a:ea typeface="Calibri" panose="020F0502020204030204" pitchFamily="34" charset="0"/>
                              <a:cs typeface="Times New Roman" panose="02020603050405020304" pitchFamily="18" charset="0"/>
                            </a:rPr>
                            <a:t>a)</a:t>
                          </a:r>
                          <a:endParaRPr lang="en-GB" sz="1000" noProof="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25" t="-980" r="-109128" b="-182549"/>
                          </a:stretch>
                        </a:blipFill>
                      </a:tcPr>
                    </a:tc>
                    <a:tc>
                      <a:txBody>
                        <a:bodyPr/>
                        <a:lstStyle/>
                        <a:p>
                          <a:pPr>
                            <a:lnSpc>
                              <a:spcPct val="107000"/>
                            </a:lnSpc>
                            <a:spcAft>
                              <a:spcPts val="800"/>
                            </a:spcAft>
                            <a:buNone/>
                          </a:pPr>
                          <a:r>
                            <a:rPr lang="en-GB" sz="1000" b="1" noProof="0">
                              <a:effectLst/>
                              <a:latin typeface="Calibri" panose="020F0502020204030204" pitchFamily="34" charset="0"/>
                              <a:ea typeface="Calibri" panose="020F0502020204030204" pitchFamily="34" charset="0"/>
                              <a:cs typeface="Times New Roman" panose="02020603050405020304" pitchFamily="18" charset="0"/>
                            </a:rPr>
                            <a:t>b)</a:t>
                          </a:r>
                          <a:endParaRPr lang="en-GB" sz="1000" noProof="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18534" t="-980" r="-407" b="-182549"/>
                          </a:stretch>
                        </a:blipFill>
                      </a:tcPr>
                    </a:tc>
                    <a:extLst>
                      <a:ext uri="{0D108BD9-81ED-4DB2-BD59-A6C34878D82A}">
                        <a16:rowId xmlns:a16="http://schemas.microsoft.com/office/drawing/2014/main" val="1141479174"/>
                      </a:ext>
                    </a:extLst>
                  </a:tr>
                  <a:tr h="2878715">
                    <a:tc>
                      <a:txBody>
                        <a:bodyPr/>
                        <a:lstStyle/>
                        <a:p>
                          <a:pPr>
                            <a:lnSpc>
                              <a:spcPct val="107000"/>
                            </a:lnSpc>
                            <a:spcAft>
                              <a:spcPts val="800"/>
                            </a:spcAft>
                            <a:buNone/>
                          </a:pPr>
                          <a:r>
                            <a:rPr lang="en-GB" sz="1000" b="1" noProof="0">
                              <a:effectLst/>
                              <a:latin typeface="Calibri" panose="020F0502020204030204" pitchFamily="34" charset="0"/>
                              <a:ea typeface="Calibri" panose="020F0502020204030204" pitchFamily="34" charset="0"/>
                              <a:cs typeface="Times New Roman" panose="02020603050405020304" pitchFamily="18" charset="0"/>
                            </a:rPr>
                            <a:t>c)</a:t>
                          </a:r>
                          <a:endParaRPr lang="en-GB" sz="1000" noProof="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25" t="-108879" r="-109128" b="-96829"/>
                          </a:stretch>
                        </a:blipFill>
                      </a:tcPr>
                    </a:tc>
                    <a:tc>
                      <a:txBody>
                        <a:bodyPr/>
                        <a:lstStyle/>
                        <a:p>
                          <a:pPr>
                            <a:lnSpc>
                              <a:spcPct val="107000"/>
                            </a:lnSpc>
                            <a:spcAft>
                              <a:spcPts val="800"/>
                            </a:spcAft>
                            <a:buNone/>
                          </a:pPr>
                          <a:r>
                            <a:rPr lang="en-GB" sz="1000" b="1" noProof="0">
                              <a:effectLst/>
                              <a:latin typeface="Calibri" panose="020F0502020204030204" pitchFamily="34" charset="0"/>
                              <a:ea typeface="Calibri" panose="020F0502020204030204" pitchFamily="34" charset="0"/>
                              <a:cs typeface="Times New Roman" panose="02020603050405020304" pitchFamily="18" charset="0"/>
                            </a:rPr>
                            <a:t>d)</a:t>
                          </a:r>
                          <a:endParaRPr lang="en-GB" sz="1000" noProof="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18534" t="-108879" r="-407" b="-96829"/>
                          </a:stretch>
                        </a:blipFill>
                      </a:tcPr>
                    </a:tc>
                    <a:extLst>
                      <a:ext uri="{0D108BD9-81ED-4DB2-BD59-A6C34878D82A}">
                        <a16:rowId xmlns:a16="http://schemas.microsoft.com/office/drawing/2014/main" val="2654791554"/>
                      </a:ext>
                    </a:extLst>
                  </a:tr>
                  <a:tr h="2779387">
                    <a:tc>
                      <a:txBody>
                        <a:bodyPr/>
                        <a:lstStyle/>
                        <a:p>
                          <a:pPr>
                            <a:lnSpc>
                              <a:spcPct val="107000"/>
                            </a:lnSpc>
                            <a:spcAft>
                              <a:spcPts val="800"/>
                            </a:spcAft>
                            <a:buNone/>
                          </a:pPr>
                          <a:r>
                            <a:rPr lang="en-GB" sz="1000" b="1" noProof="0">
                              <a:effectLst/>
                              <a:latin typeface="Calibri" panose="020F0502020204030204" pitchFamily="34" charset="0"/>
                              <a:ea typeface="Calibri" panose="020F0502020204030204" pitchFamily="34" charset="0"/>
                              <a:cs typeface="Times New Roman" panose="02020603050405020304" pitchFamily="18" charset="0"/>
                            </a:rPr>
                            <a:t>e)</a:t>
                          </a:r>
                          <a:endParaRPr lang="en-GB" sz="1000" noProof="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25" t="-216667" r="-109128" b="-439"/>
                          </a:stretch>
                        </a:blipFill>
                      </a:tcPr>
                    </a:tc>
                    <a:tc>
                      <a:txBody>
                        <a:bodyPr/>
                        <a:lstStyle/>
                        <a:p>
                          <a:pPr>
                            <a:lnSpc>
                              <a:spcPct val="107000"/>
                            </a:lnSpc>
                            <a:spcAft>
                              <a:spcPts val="800"/>
                            </a:spcAft>
                            <a:buNone/>
                          </a:pPr>
                          <a:r>
                            <a:rPr lang="en-GB" sz="1000" b="1" noProof="0">
                              <a:effectLst/>
                              <a:latin typeface="Calibri" panose="020F0502020204030204" pitchFamily="34" charset="0"/>
                              <a:ea typeface="Calibri" panose="020F0502020204030204" pitchFamily="34" charset="0"/>
                              <a:cs typeface="Times New Roman" panose="02020603050405020304" pitchFamily="18" charset="0"/>
                            </a:rPr>
                            <a:t>f)</a:t>
                          </a:r>
                          <a:endParaRPr lang="en-GB" sz="1000" noProof="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18534" t="-216667" r="-407" b="-439"/>
                          </a:stretch>
                        </a:blipFill>
                      </a:tcPr>
                    </a:tc>
                    <a:extLst>
                      <a:ext uri="{0D108BD9-81ED-4DB2-BD59-A6C34878D82A}">
                        <a16:rowId xmlns:a16="http://schemas.microsoft.com/office/drawing/2014/main" val="1893271540"/>
                      </a:ext>
                    </a:extLst>
                  </a:tr>
                </a:tbl>
              </a:graphicData>
            </a:graphic>
          </p:graphicFrame>
        </mc:Fallback>
      </mc:AlternateContent>
      <p:sp>
        <p:nvSpPr>
          <p:cNvPr id="6" name="Rectangle 2">
            <a:extLst>
              <a:ext uri="{FF2B5EF4-FFF2-40B4-BE49-F238E27FC236}">
                <a16:creationId xmlns:a16="http://schemas.microsoft.com/office/drawing/2014/main" id="{7E6BE284-2532-733E-ADD7-B6A26F765A16}"/>
              </a:ext>
            </a:extLst>
          </p:cNvPr>
          <p:cNvSpPr>
            <a:spLocks noChangeArrowheads="1"/>
          </p:cNvSpPr>
          <p:nvPr/>
        </p:nvSpPr>
        <p:spPr bwMode="auto">
          <a:xfrm>
            <a:off x="56121" y="253916"/>
            <a:ext cx="378180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1" i="0" u="none" strike="noStrike" cap="none" normalizeH="0" baseline="0" noProof="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Question 9. </a:t>
            </a:r>
            <a:r>
              <a:rPr kumimoji="0" lang="en-GB" sz="1100" b="0" i="0" u="none" strike="noStrike" cap="none" normalizeH="0" baseline="0" noProof="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Write as a single fraction, simplify where possible. </a:t>
            </a: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681CDC46-A7F6-50E5-5A79-6F73A61873F3}"/>
              </a:ext>
            </a:extLst>
          </p:cNvPr>
          <p:cNvSpPr txBox="1"/>
          <p:nvPr/>
        </p:nvSpPr>
        <p:spPr>
          <a:xfrm>
            <a:off x="0" y="0"/>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1729915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1D132-C138-ABE5-9F72-5301B1B56FD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39FD48-E91B-EAE8-99DB-920EAC0FB1AF}"/>
              </a:ext>
            </a:extLst>
          </p:cNvPr>
          <p:cNvSpPr>
            <a:spLocks noGrp="1"/>
          </p:cNvSpPr>
          <p:nvPr>
            <p:ph type="sldNum" sz="quarter" idx="12"/>
          </p:nvPr>
        </p:nvSpPr>
        <p:spPr/>
        <p:txBody>
          <a:bodyPr/>
          <a:lstStyle/>
          <a:p>
            <a:fld id="{9BD3B4A0-BFF9-422C-B253-48BA94BE2F5B}" type="slidenum">
              <a:rPr lang="en-GB" noProof="0" smtClean="0"/>
              <a:t>21</a:t>
            </a:fld>
            <a:endParaRPr lang="en-GB" noProof="0" dirty="0"/>
          </a:p>
        </p:txBody>
      </p:sp>
      <p:sp>
        <p:nvSpPr>
          <p:cNvPr id="3" name="TextBox 2">
            <a:extLst>
              <a:ext uri="{FF2B5EF4-FFF2-40B4-BE49-F238E27FC236}">
                <a16:creationId xmlns:a16="http://schemas.microsoft.com/office/drawing/2014/main" id="{6FF9CD61-9D93-CAB7-1FD5-82D66C87C830}"/>
              </a:ext>
            </a:extLst>
          </p:cNvPr>
          <p:cNvSpPr txBox="1"/>
          <p:nvPr/>
        </p:nvSpPr>
        <p:spPr>
          <a:xfrm>
            <a:off x="0" y="-25400"/>
            <a:ext cx="1294200" cy="276999"/>
          </a:xfrm>
          <a:prstGeom prst="rect">
            <a:avLst/>
          </a:prstGeom>
          <a:solidFill>
            <a:srgbClr val="0070C0"/>
          </a:solidFill>
        </p:spPr>
        <p:txBody>
          <a:bodyPr wrap="none" rtlCol="0" anchor="ctr">
            <a:spAutoFit/>
          </a:bodyPr>
          <a:lstStyle/>
          <a:p>
            <a:pPr algn="r"/>
            <a:r>
              <a:rPr lang="en-GB" sz="1200" b="1" noProof="0" dirty="0">
                <a:solidFill>
                  <a:schemeClr val="bg1"/>
                </a:solidFill>
              </a:rPr>
              <a:t>GCSE QUESTIONS</a:t>
            </a:r>
          </a:p>
        </p:txBody>
      </p:sp>
      <p:pic>
        <p:nvPicPr>
          <p:cNvPr id="5" name="Picture 4" descr="A math equations on a white background&#10;&#10;AI-generated content may be incorrect.">
            <a:extLst>
              <a:ext uri="{FF2B5EF4-FFF2-40B4-BE49-F238E27FC236}">
                <a16:creationId xmlns:a16="http://schemas.microsoft.com/office/drawing/2014/main" id="{A490D116-E1B2-D39C-935C-30C37813F8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00" y="251599"/>
            <a:ext cx="6801200" cy="2108308"/>
          </a:xfrm>
          <a:prstGeom prst="rect">
            <a:avLst/>
          </a:prstGeom>
        </p:spPr>
      </p:pic>
      <p:pic>
        <p:nvPicPr>
          <p:cNvPr id="7" name="Picture 6" descr="A white background with black text&#10;&#10;AI-generated content may be incorrect.">
            <a:extLst>
              <a:ext uri="{FF2B5EF4-FFF2-40B4-BE49-F238E27FC236}">
                <a16:creationId xmlns:a16="http://schemas.microsoft.com/office/drawing/2014/main" id="{34D59341-EA60-BCF0-8767-1FFAFD326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15507"/>
            <a:ext cx="6858000" cy="2873287"/>
          </a:xfrm>
          <a:prstGeom prst="rect">
            <a:avLst/>
          </a:prstGeom>
        </p:spPr>
      </p:pic>
      <p:pic>
        <p:nvPicPr>
          <p:cNvPr id="9" name="Picture 8" descr="A white background with black text&#10;&#10;AI-generated content may be incorrect.">
            <a:extLst>
              <a:ext uri="{FF2B5EF4-FFF2-40B4-BE49-F238E27FC236}">
                <a16:creationId xmlns:a16="http://schemas.microsoft.com/office/drawing/2014/main" id="{3669DD90-FCA4-CA4D-4413-4CBE4F19BD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53" y="5944394"/>
            <a:ext cx="6756747" cy="3048157"/>
          </a:xfrm>
          <a:prstGeom prst="rect">
            <a:avLst/>
          </a:prstGeom>
        </p:spPr>
      </p:pic>
      <p:cxnSp>
        <p:nvCxnSpPr>
          <p:cNvPr id="11" name="Straight Connector 10">
            <a:extLst>
              <a:ext uri="{FF2B5EF4-FFF2-40B4-BE49-F238E27FC236}">
                <a16:creationId xmlns:a16="http://schemas.microsoft.com/office/drawing/2014/main" id="{0DD82219-FB88-B57A-CF7A-2DD950C5CD1C}"/>
              </a:ext>
            </a:extLst>
          </p:cNvPr>
          <p:cNvCxnSpPr/>
          <p:nvPr/>
        </p:nvCxnSpPr>
        <p:spPr>
          <a:xfrm>
            <a:off x="0" y="2715507"/>
            <a:ext cx="6829600"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018E997-8303-EEDF-986A-FED99D1507A6}"/>
              </a:ext>
            </a:extLst>
          </p:cNvPr>
          <p:cNvCxnSpPr/>
          <p:nvPr/>
        </p:nvCxnSpPr>
        <p:spPr>
          <a:xfrm>
            <a:off x="14200" y="5944394"/>
            <a:ext cx="68296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59071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9BB91-C737-25DD-9CF8-76CBF2E3A7D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557C4E-0229-77D7-189D-6F7241AE9095}"/>
              </a:ext>
            </a:extLst>
          </p:cNvPr>
          <p:cNvSpPr>
            <a:spLocks noGrp="1"/>
          </p:cNvSpPr>
          <p:nvPr>
            <p:ph type="sldNum" sz="quarter" idx="12"/>
          </p:nvPr>
        </p:nvSpPr>
        <p:spPr/>
        <p:txBody>
          <a:bodyPr/>
          <a:lstStyle/>
          <a:p>
            <a:fld id="{9BD3B4A0-BFF9-422C-B253-48BA94BE2F5B}" type="slidenum">
              <a:rPr lang="en-GB" noProof="0" smtClean="0"/>
              <a:t>22</a:t>
            </a:fld>
            <a:endParaRPr lang="en-GB" noProof="0" dirty="0"/>
          </a:p>
        </p:txBody>
      </p:sp>
      <p:cxnSp>
        <p:nvCxnSpPr>
          <p:cNvPr id="11" name="Straight Connector 10">
            <a:extLst>
              <a:ext uri="{FF2B5EF4-FFF2-40B4-BE49-F238E27FC236}">
                <a16:creationId xmlns:a16="http://schemas.microsoft.com/office/drawing/2014/main" id="{F7B4994E-1EC2-DA13-7E22-14914C96E100}"/>
              </a:ext>
            </a:extLst>
          </p:cNvPr>
          <p:cNvCxnSpPr/>
          <p:nvPr/>
        </p:nvCxnSpPr>
        <p:spPr>
          <a:xfrm>
            <a:off x="14200" y="4544307"/>
            <a:ext cx="6829600" cy="0"/>
          </a:xfrm>
          <a:prstGeom prst="line">
            <a:avLst/>
          </a:prstGeom>
        </p:spPr>
        <p:style>
          <a:lnRef idx="1">
            <a:schemeClr val="dk1"/>
          </a:lnRef>
          <a:fillRef idx="0">
            <a:schemeClr val="dk1"/>
          </a:fillRef>
          <a:effectRef idx="0">
            <a:schemeClr val="dk1"/>
          </a:effectRef>
          <a:fontRef idx="minor">
            <a:schemeClr val="tx1"/>
          </a:fontRef>
        </p:style>
      </p:cxnSp>
      <p:pic>
        <p:nvPicPr>
          <p:cNvPr id="6" name="Picture 5" descr="A white paper with black text&#10;&#10;AI-generated content may be incorrect.">
            <a:extLst>
              <a:ext uri="{FF2B5EF4-FFF2-40B4-BE49-F238E27FC236}">
                <a16:creationId xmlns:a16="http://schemas.microsoft.com/office/drawing/2014/main" id="{880F3285-A2AA-59DA-5527-15CA2B767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00" y="124708"/>
            <a:ext cx="6965532" cy="3850391"/>
          </a:xfrm>
          <a:prstGeom prst="rect">
            <a:avLst/>
          </a:prstGeom>
        </p:spPr>
      </p:pic>
      <p:pic>
        <p:nvPicPr>
          <p:cNvPr id="10" name="Picture 9" descr="A white sheet with black text&#10;&#10;AI-generated content may be incorrect.">
            <a:extLst>
              <a:ext uri="{FF2B5EF4-FFF2-40B4-BE49-F238E27FC236}">
                <a16:creationId xmlns:a16="http://schemas.microsoft.com/office/drawing/2014/main" id="{D2B731D4-5B14-824F-6344-A8C2CCECC2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04" y="4709293"/>
            <a:ext cx="6648792" cy="4394426"/>
          </a:xfrm>
          <a:prstGeom prst="rect">
            <a:avLst/>
          </a:prstGeom>
        </p:spPr>
      </p:pic>
    </p:spTree>
    <p:extLst>
      <p:ext uri="{BB962C8B-B14F-4D97-AF65-F5344CB8AC3E}">
        <p14:creationId xmlns:p14="http://schemas.microsoft.com/office/powerpoint/2010/main" val="2000600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D5C043-F232-B8B1-5834-BB79AADFC814}"/>
              </a:ext>
            </a:extLst>
          </p:cNvPr>
          <p:cNvSpPr>
            <a:spLocks noGrp="1"/>
          </p:cNvSpPr>
          <p:nvPr>
            <p:ph type="sldNum" sz="quarter" idx="12"/>
          </p:nvPr>
        </p:nvSpPr>
        <p:spPr/>
        <p:txBody>
          <a:bodyPr/>
          <a:lstStyle/>
          <a:p>
            <a:fld id="{9BD3B4A0-BFF9-422C-B253-48BA94BE2F5B}" type="slidenum">
              <a:rPr lang="en-GB" noProof="0" smtClean="0"/>
              <a:t>23</a:t>
            </a:fld>
            <a:endParaRPr lang="en-GB" noProof="0" dirty="0"/>
          </a:p>
        </p:txBody>
      </p:sp>
      <p:pic>
        <p:nvPicPr>
          <p:cNvPr id="4" name="Picture 3" descr="A white background with black text&#10;&#10;AI-generated content may be incorrect.">
            <a:extLst>
              <a:ext uri="{FF2B5EF4-FFF2-40B4-BE49-F238E27FC236}">
                <a16:creationId xmlns:a16="http://schemas.microsoft.com/office/drawing/2014/main" id="{61DD2B84-51A4-EC47-B12D-DFB46C574E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782149" cy="3175163"/>
          </a:xfrm>
          <a:prstGeom prst="rect">
            <a:avLst/>
          </a:prstGeom>
        </p:spPr>
      </p:pic>
      <p:cxnSp>
        <p:nvCxnSpPr>
          <p:cNvPr id="5" name="Straight Connector 4">
            <a:extLst>
              <a:ext uri="{FF2B5EF4-FFF2-40B4-BE49-F238E27FC236}">
                <a16:creationId xmlns:a16="http://schemas.microsoft.com/office/drawing/2014/main" id="{5F7E54DD-040C-4A8A-120A-B6271E54FF18}"/>
              </a:ext>
            </a:extLst>
          </p:cNvPr>
          <p:cNvCxnSpPr/>
          <p:nvPr/>
        </p:nvCxnSpPr>
        <p:spPr>
          <a:xfrm>
            <a:off x="28400" y="3175163"/>
            <a:ext cx="6829600" cy="0"/>
          </a:xfrm>
          <a:prstGeom prst="line">
            <a:avLst/>
          </a:prstGeom>
        </p:spPr>
        <p:style>
          <a:lnRef idx="1">
            <a:schemeClr val="dk1"/>
          </a:lnRef>
          <a:fillRef idx="0">
            <a:schemeClr val="dk1"/>
          </a:fillRef>
          <a:effectRef idx="0">
            <a:schemeClr val="dk1"/>
          </a:effectRef>
          <a:fontRef idx="minor">
            <a:schemeClr val="tx1"/>
          </a:fontRef>
        </p:style>
      </p:cxnSp>
      <p:pic>
        <p:nvPicPr>
          <p:cNvPr id="7" name="Picture 6" descr="A math equations on a white background&#10;&#10;AI-generated content may be incorrect.">
            <a:extLst>
              <a:ext uri="{FF2B5EF4-FFF2-40B4-BE49-F238E27FC236}">
                <a16:creationId xmlns:a16="http://schemas.microsoft.com/office/drawing/2014/main" id="{7C1AC995-6F10-08BB-53EB-5ADD34F217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02" y="3327329"/>
            <a:ext cx="6756747" cy="2743341"/>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5B88F142-2538-2836-4841-D101D8DC5C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50" y="6219436"/>
            <a:ext cx="6813900" cy="2813195"/>
          </a:xfrm>
          <a:prstGeom prst="rect">
            <a:avLst/>
          </a:prstGeom>
        </p:spPr>
      </p:pic>
    </p:spTree>
    <p:extLst>
      <p:ext uri="{BB962C8B-B14F-4D97-AF65-F5344CB8AC3E}">
        <p14:creationId xmlns:p14="http://schemas.microsoft.com/office/powerpoint/2010/main" val="2547779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BE6D7E-1EFA-1470-7D3A-D84AE239D39C}"/>
              </a:ext>
            </a:extLst>
          </p:cNvPr>
          <p:cNvSpPr>
            <a:spLocks noGrp="1"/>
          </p:cNvSpPr>
          <p:nvPr>
            <p:ph type="sldNum" sz="quarter" idx="12"/>
          </p:nvPr>
        </p:nvSpPr>
        <p:spPr/>
        <p:txBody>
          <a:bodyPr/>
          <a:lstStyle/>
          <a:p>
            <a:fld id="{9BD3B4A0-BFF9-422C-B253-48BA94BE2F5B}" type="slidenum">
              <a:rPr lang="en-GB" noProof="0" smtClean="0"/>
              <a:t>24</a:t>
            </a:fld>
            <a:endParaRPr lang="en-GB" noProof="0" dirty="0"/>
          </a:p>
        </p:txBody>
      </p:sp>
      <p:pic>
        <p:nvPicPr>
          <p:cNvPr id="4" name="Picture 3" descr="A white paper with black text&#10;&#10;AI-generated content may be incorrect.">
            <a:extLst>
              <a:ext uri="{FF2B5EF4-FFF2-40B4-BE49-F238E27FC236}">
                <a16:creationId xmlns:a16="http://schemas.microsoft.com/office/drawing/2014/main" id="{ABB3452F-15BA-DFAF-BB3D-D73151E503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54" y="0"/>
            <a:ext cx="6661492" cy="3956253"/>
          </a:xfrm>
          <a:prstGeom prst="rect">
            <a:avLst/>
          </a:prstGeom>
        </p:spPr>
      </p:pic>
      <p:cxnSp>
        <p:nvCxnSpPr>
          <p:cNvPr id="5" name="Straight Connector 4">
            <a:extLst>
              <a:ext uri="{FF2B5EF4-FFF2-40B4-BE49-F238E27FC236}">
                <a16:creationId xmlns:a16="http://schemas.microsoft.com/office/drawing/2014/main" id="{65033E99-FFCA-44E7-1E99-2C7D1D4151A9}"/>
              </a:ext>
            </a:extLst>
          </p:cNvPr>
          <p:cNvCxnSpPr/>
          <p:nvPr/>
        </p:nvCxnSpPr>
        <p:spPr>
          <a:xfrm>
            <a:off x="0" y="3956253"/>
            <a:ext cx="6829600" cy="0"/>
          </a:xfrm>
          <a:prstGeom prst="line">
            <a:avLst/>
          </a:prstGeom>
        </p:spPr>
        <p:style>
          <a:lnRef idx="1">
            <a:schemeClr val="dk1"/>
          </a:lnRef>
          <a:fillRef idx="0">
            <a:schemeClr val="dk1"/>
          </a:fillRef>
          <a:effectRef idx="0">
            <a:schemeClr val="dk1"/>
          </a:effectRef>
          <a:fontRef idx="minor">
            <a:schemeClr val="tx1"/>
          </a:fontRef>
        </p:style>
      </p:cxnSp>
      <p:pic>
        <p:nvPicPr>
          <p:cNvPr id="7" name="Picture 6" descr="A white paper with black text&#10;&#10;AI-generated content may be incorrect.">
            <a:extLst>
              <a:ext uri="{FF2B5EF4-FFF2-40B4-BE49-F238E27FC236}">
                <a16:creationId xmlns:a16="http://schemas.microsoft.com/office/drawing/2014/main" id="{E564143D-2773-6871-78EA-35B96BDF2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27" y="4305504"/>
            <a:ext cx="6731346" cy="3924502"/>
          </a:xfrm>
          <a:prstGeom prst="rect">
            <a:avLst/>
          </a:prstGeom>
        </p:spPr>
      </p:pic>
    </p:spTree>
    <p:extLst>
      <p:ext uri="{BB962C8B-B14F-4D97-AF65-F5344CB8AC3E}">
        <p14:creationId xmlns:p14="http://schemas.microsoft.com/office/powerpoint/2010/main" val="649580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 name="Rectangle 22"/>
              <p:cNvSpPr/>
              <p:nvPr/>
            </p:nvSpPr>
            <p:spPr>
              <a:xfrm>
                <a:off x="161742" y="3220474"/>
                <a:ext cx="842282" cy="356380"/>
              </a:xfrm>
              <a:prstGeom prst="rect">
                <a:avLst/>
              </a:prstGeom>
            </p:spPr>
            <p:txBody>
              <a:bodyPr wrap="none">
                <a:spAutoFit/>
              </a:bodyPr>
              <a:lstStyle/>
              <a:p>
                <a:r>
                  <a:rPr lang="en-GB" sz="1200" noProof="0" dirty="0"/>
                  <a:t>a)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𝑥</m:t>
                        </m:r>
                        <m:r>
                          <a:rPr lang="en-GB" sz="1200" i="1" noProof="0">
                            <a:latin typeface="Cambria Math" panose="02040503050406030204" pitchFamily="18" charset="0"/>
                          </a:rPr>
                          <m:t>+5</m:t>
                        </m:r>
                      </m:num>
                      <m:den>
                        <m:r>
                          <a:rPr lang="en-GB" sz="1200" i="1" noProof="0">
                            <a:latin typeface="Cambria Math" panose="02040503050406030204" pitchFamily="18" charset="0"/>
                          </a:rPr>
                          <m:t>7</m:t>
                        </m:r>
                      </m:den>
                    </m:f>
                    <m:r>
                      <a:rPr lang="en-GB" sz="1200" i="1" noProof="0">
                        <a:latin typeface="Cambria Math" panose="02040503050406030204" pitchFamily="18" charset="0"/>
                      </a:rPr>
                      <m:t>=5</m:t>
                    </m:r>
                  </m:oMath>
                </a14:m>
                <a:endParaRPr lang="en-GB" sz="1200" noProof="0" dirty="0"/>
              </a:p>
            </p:txBody>
          </p:sp>
        </mc:Choice>
        <mc:Fallback xmlns="">
          <p:sp>
            <p:nvSpPr>
              <p:cNvPr id="23" name="Rectangle 22"/>
              <p:cNvSpPr>
                <a:spLocks noRot="1" noChangeAspect="1" noMove="1" noResize="1" noEditPoints="1" noAdjustHandles="1" noChangeArrowheads="1" noChangeShapeType="1" noTextEdit="1"/>
              </p:cNvSpPr>
              <p:nvPr/>
            </p:nvSpPr>
            <p:spPr>
              <a:xfrm>
                <a:off x="161742" y="3220474"/>
                <a:ext cx="842282" cy="356380"/>
              </a:xfrm>
              <a:prstGeom prst="rect">
                <a:avLst/>
              </a:prstGeom>
              <a:blipFill>
                <a:blip r:embed="rId2"/>
                <a:stretch>
                  <a:fillRect l="-725" b="-1695"/>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6EAE242C-3BEA-324C-B746-6B1087575622}"/>
              </a:ext>
            </a:extLst>
          </p:cNvPr>
          <p:cNvSpPr txBox="1"/>
          <p:nvPr/>
        </p:nvSpPr>
        <p:spPr>
          <a:xfrm>
            <a:off x="107531" y="2819965"/>
            <a:ext cx="1194558" cy="261610"/>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Knowledge Check</a:t>
            </a:r>
          </a:p>
        </p:txBody>
      </p:sp>
      <mc:AlternateContent xmlns:mc="http://schemas.openxmlformats.org/markup-compatibility/2006" xmlns:a14="http://schemas.microsoft.com/office/drawing/2010/main">
        <mc:Choice Requires="a14">
          <p:sp>
            <p:nvSpPr>
              <p:cNvPr id="26" name="Rectangle 25"/>
              <p:cNvSpPr/>
              <p:nvPr/>
            </p:nvSpPr>
            <p:spPr>
              <a:xfrm>
                <a:off x="1584933" y="3220474"/>
                <a:ext cx="879151" cy="354649"/>
              </a:xfrm>
              <a:prstGeom prst="rect">
                <a:avLst/>
              </a:prstGeom>
            </p:spPr>
            <p:txBody>
              <a:bodyPr wrap="none">
                <a:spAutoFit/>
              </a:bodyPr>
              <a:lstStyle/>
              <a:p>
                <a:r>
                  <a:rPr lang="en-GB" sz="1200" noProof="0" dirty="0"/>
                  <a:t>b)</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3</m:t>
                        </m:r>
                        <m:r>
                          <a:rPr lang="en-GB" sz="1200" i="1" noProof="0">
                            <a:latin typeface="Cambria Math" panose="02040503050406030204" pitchFamily="18" charset="0"/>
                          </a:rPr>
                          <m:t>𝑥</m:t>
                        </m:r>
                        <m:r>
                          <a:rPr lang="en-GB" sz="1200" i="1" noProof="0">
                            <a:latin typeface="Cambria Math" panose="02040503050406030204" pitchFamily="18" charset="0"/>
                          </a:rPr>
                          <m:t>−2</m:t>
                        </m:r>
                      </m:num>
                      <m:den>
                        <m:r>
                          <a:rPr lang="en-GB" sz="1200" i="1" noProof="0">
                            <a:latin typeface="Cambria Math" panose="02040503050406030204" pitchFamily="18" charset="0"/>
                          </a:rPr>
                          <m:t>5</m:t>
                        </m:r>
                      </m:den>
                    </m:f>
                    <m:r>
                      <a:rPr lang="en-GB" sz="1200" i="1" noProof="0">
                        <a:latin typeface="Cambria Math" panose="02040503050406030204" pitchFamily="18" charset="0"/>
                      </a:rPr>
                      <m:t>=4</m:t>
                    </m:r>
                  </m:oMath>
                </a14:m>
                <a:endParaRPr lang="en-GB" sz="1200" noProof="0" dirty="0"/>
              </a:p>
            </p:txBody>
          </p:sp>
        </mc:Choice>
        <mc:Fallback xmlns="">
          <p:sp>
            <p:nvSpPr>
              <p:cNvPr id="26" name="Rectangle 25"/>
              <p:cNvSpPr>
                <a:spLocks noRot="1" noChangeAspect="1" noMove="1" noResize="1" noEditPoints="1" noAdjustHandles="1" noChangeArrowheads="1" noChangeShapeType="1" noTextEdit="1"/>
              </p:cNvSpPr>
              <p:nvPr/>
            </p:nvSpPr>
            <p:spPr>
              <a:xfrm>
                <a:off x="1584933" y="3220474"/>
                <a:ext cx="879151" cy="354649"/>
              </a:xfrm>
              <a:prstGeom prst="rect">
                <a:avLst/>
              </a:prstGeom>
              <a:blipFill>
                <a:blip r:embed="rId3"/>
                <a:stretch>
                  <a:fillRect l="-694"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2874488" y="3220474"/>
                <a:ext cx="834267" cy="352982"/>
              </a:xfrm>
              <a:prstGeom prst="rect">
                <a:avLst/>
              </a:prstGeom>
            </p:spPr>
            <p:txBody>
              <a:bodyPr wrap="none">
                <a:spAutoFit/>
              </a:bodyPr>
              <a:lstStyle/>
              <a:p>
                <a:pPr algn="ctr"/>
                <a:r>
                  <a:rPr lang="en-GB" sz="1200" noProof="0" dirty="0"/>
                  <a:t>c)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a:rPr>
                          <m:t>𝑥</m:t>
                        </m:r>
                        <m:r>
                          <a:rPr lang="en-GB" sz="1200" i="1" noProof="0">
                            <a:latin typeface="Cambria Math"/>
                          </a:rPr>
                          <m:t>−4</m:t>
                        </m:r>
                      </m:num>
                      <m:den>
                        <m:r>
                          <a:rPr lang="en-GB" sz="1200" i="1" noProof="0">
                            <a:latin typeface="Cambria Math"/>
                          </a:rPr>
                          <m:t>7</m:t>
                        </m:r>
                      </m:den>
                    </m:f>
                    <m:r>
                      <a:rPr lang="en-GB" sz="1200" i="1" noProof="0">
                        <a:latin typeface="Cambria Math"/>
                      </a:rPr>
                      <m:t>=3</m:t>
                    </m:r>
                  </m:oMath>
                </a14:m>
                <a:endParaRPr lang="en-GB" sz="1200" noProof="0" dirty="0"/>
              </a:p>
            </p:txBody>
          </p:sp>
        </mc:Choice>
        <mc:Fallback xmlns="">
          <p:sp>
            <p:nvSpPr>
              <p:cNvPr id="27" name="Rectangle 26"/>
              <p:cNvSpPr>
                <a:spLocks noRot="1" noChangeAspect="1" noMove="1" noResize="1" noEditPoints="1" noAdjustHandles="1" noChangeArrowheads="1" noChangeShapeType="1" noTextEdit="1"/>
              </p:cNvSpPr>
              <p:nvPr/>
            </p:nvSpPr>
            <p:spPr>
              <a:xfrm>
                <a:off x="2874488" y="3220474"/>
                <a:ext cx="834267" cy="352982"/>
              </a:xfrm>
              <a:prstGeom prst="rect">
                <a:avLst/>
              </a:prstGeom>
              <a:blipFill>
                <a:blip r:embed="rId4"/>
                <a:stretch>
                  <a:fillRect l="-735"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4133586" y="3218807"/>
                <a:ext cx="918970" cy="354649"/>
              </a:xfrm>
              <a:prstGeom prst="rect">
                <a:avLst/>
              </a:prstGeom>
            </p:spPr>
            <p:txBody>
              <a:bodyPr wrap="none">
                <a:spAutoFit/>
              </a:bodyPr>
              <a:lstStyle/>
              <a:p>
                <a:r>
                  <a:rPr lang="en-GB" sz="1200" noProof="0" dirty="0"/>
                  <a:t>d) </a:t>
                </a:r>
                <a14:m>
                  <m:oMath xmlns:m="http://schemas.openxmlformats.org/officeDocument/2006/math">
                    <m:r>
                      <a:rPr lang="en-GB" sz="1200" i="1" noProof="0">
                        <a:latin typeface="Cambria Math"/>
                      </a:rPr>
                      <m:t>3=</m:t>
                    </m:r>
                    <m:f>
                      <m:fPr>
                        <m:ctrlPr>
                          <a:rPr lang="en-GB" sz="1200" i="1" noProof="0">
                            <a:latin typeface="Cambria Math" panose="02040503050406030204" pitchFamily="18" charset="0"/>
                          </a:rPr>
                        </m:ctrlPr>
                      </m:fPr>
                      <m:num>
                        <m:r>
                          <a:rPr lang="en-GB" sz="1200" i="1" noProof="0">
                            <a:latin typeface="Cambria Math"/>
                          </a:rPr>
                          <m:t>2</m:t>
                        </m:r>
                        <m:r>
                          <a:rPr lang="en-GB" sz="1200" i="1" noProof="0">
                            <a:latin typeface="Cambria Math"/>
                          </a:rPr>
                          <m:t>𝑦</m:t>
                        </m:r>
                        <m:r>
                          <a:rPr lang="en-GB" sz="1200" i="1" noProof="0">
                            <a:latin typeface="Cambria Math"/>
                          </a:rPr>
                          <m:t>+1</m:t>
                        </m:r>
                      </m:num>
                      <m:den>
                        <m:r>
                          <a:rPr lang="en-GB" sz="1200" i="1" noProof="0">
                            <a:latin typeface="Cambria Math"/>
                          </a:rPr>
                          <m:t>5</m:t>
                        </m:r>
                      </m:den>
                    </m:f>
                  </m:oMath>
                </a14:m>
                <a:endParaRPr lang="en-GB" sz="1200" noProof="0" dirty="0"/>
              </a:p>
            </p:txBody>
          </p:sp>
        </mc:Choice>
        <mc:Fallback xmlns="">
          <p:sp>
            <p:nvSpPr>
              <p:cNvPr id="28" name="Rectangle 27"/>
              <p:cNvSpPr>
                <a:spLocks noRot="1" noChangeAspect="1" noMove="1" noResize="1" noEditPoints="1" noAdjustHandles="1" noChangeArrowheads="1" noChangeShapeType="1" noTextEdit="1"/>
              </p:cNvSpPr>
              <p:nvPr/>
            </p:nvSpPr>
            <p:spPr>
              <a:xfrm>
                <a:off x="4133586" y="3218807"/>
                <a:ext cx="918970" cy="354649"/>
              </a:xfrm>
              <a:prstGeom prst="rect">
                <a:avLst/>
              </a:prstGeom>
              <a:blipFill>
                <a:blip r:embed="rId5"/>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5476709" y="3217333"/>
                <a:ext cx="915764" cy="356123"/>
              </a:xfrm>
              <a:prstGeom prst="rect">
                <a:avLst/>
              </a:prstGeom>
            </p:spPr>
            <p:txBody>
              <a:bodyPr wrap="none">
                <a:spAutoFit/>
              </a:bodyPr>
              <a:lstStyle/>
              <a:p>
                <a:pPr algn="ctr"/>
                <a:r>
                  <a:rPr lang="en-GB" sz="1200" noProof="0" dirty="0"/>
                  <a:t>e)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a:rPr>
                          <m:t>5</m:t>
                        </m:r>
                        <m:r>
                          <a:rPr lang="en-GB" sz="1200" i="1" noProof="0">
                            <a:latin typeface="Cambria Math"/>
                          </a:rPr>
                          <m:t>𝑎</m:t>
                        </m:r>
                        <m:r>
                          <a:rPr lang="en-GB" sz="1200" i="1" noProof="0">
                            <a:latin typeface="Cambria Math"/>
                          </a:rPr>
                          <m:t>+3</m:t>
                        </m:r>
                      </m:num>
                      <m:den>
                        <m:r>
                          <a:rPr lang="en-GB" sz="1200" i="1" noProof="0">
                            <a:latin typeface="Cambria Math"/>
                          </a:rPr>
                          <m:t>4</m:t>
                        </m:r>
                      </m:den>
                    </m:f>
                    <m:r>
                      <a:rPr lang="en-GB" sz="1200" i="1" noProof="0">
                        <a:latin typeface="Cambria Math"/>
                      </a:rPr>
                      <m:t>=7</m:t>
                    </m:r>
                  </m:oMath>
                </a14:m>
                <a:endParaRPr lang="en-GB" sz="1200" noProof="0" dirty="0"/>
              </a:p>
            </p:txBody>
          </p:sp>
        </mc:Choice>
        <mc:Fallback xmlns="">
          <p:sp>
            <p:nvSpPr>
              <p:cNvPr id="29" name="Rectangle 28"/>
              <p:cNvSpPr>
                <a:spLocks noRot="1" noChangeAspect="1" noMove="1" noResize="1" noEditPoints="1" noAdjustHandles="1" noChangeArrowheads="1" noChangeShapeType="1" noTextEdit="1"/>
              </p:cNvSpPr>
              <p:nvPr/>
            </p:nvSpPr>
            <p:spPr>
              <a:xfrm>
                <a:off x="5476709" y="3217333"/>
                <a:ext cx="915764" cy="356123"/>
              </a:xfrm>
              <a:prstGeom prst="rect">
                <a:avLst/>
              </a:prstGeom>
              <a:blipFill>
                <a:blip r:embed="rId6"/>
                <a:stretch>
                  <a:fillRect b="-3448"/>
                </a:stretch>
              </a:blipFill>
            </p:spPr>
            <p:txBody>
              <a:bodyPr/>
              <a:lstStyle/>
              <a:p>
                <a:r>
                  <a:rPr lang="en-US">
                    <a:noFill/>
                  </a:rPr>
                  <a:t> </a:t>
                </a:r>
              </a:p>
            </p:txBody>
          </p:sp>
        </mc:Fallback>
      </mc:AlternateContent>
      <p:sp>
        <p:nvSpPr>
          <p:cNvPr id="30" name="Rectangle 29">
            <a:extLst>
              <a:ext uri="{FF2B5EF4-FFF2-40B4-BE49-F238E27FC236}">
                <a16:creationId xmlns:a16="http://schemas.microsoft.com/office/drawing/2014/main" id="{B16CFEF2-A65A-6142-861C-58ACADF7EEFB}"/>
              </a:ext>
            </a:extLst>
          </p:cNvPr>
          <p:cNvSpPr/>
          <p:nvPr/>
        </p:nvSpPr>
        <p:spPr>
          <a:xfrm>
            <a:off x="90263" y="3611766"/>
            <a:ext cx="1229095" cy="258575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1" name="Rectangle 30">
            <a:extLst>
              <a:ext uri="{FF2B5EF4-FFF2-40B4-BE49-F238E27FC236}">
                <a16:creationId xmlns:a16="http://schemas.microsoft.com/office/drawing/2014/main" id="{B16CFEF2-A65A-6142-861C-58ACADF7EEFB}"/>
              </a:ext>
            </a:extLst>
          </p:cNvPr>
          <p:cNvSpPr/>
          <p:nvPr/>
        </p:nvSpPr>
        <p:spPr>
          <a:xfrm>
            <a:off x="1433239" y="3606700"/>
            <a:ext cx="1229095" cy="258575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2" name="Rectangle 31">
            <a:extLst>
              <a:ext uri="{FF2B5EF4-FFF2-40B4-BE49-F238E27FC236}">
                <a16:creationId xmlns:a16="http://schemas.microsoft.com/office/drawing/2014/main" id="{B16CFEF2-A65A-6142-861C-58ACADF7EEFB}"/>
              </a:ext>
            </a:extLst>
          </p:cNvPr>
          <p:cNvSpPr/>
          <p:nvPr/>
        </p:nvSpPr>
        <p:spPr>
          <a:xfrm>
            <a:off x="2790921" y="3606699"/>
            <a:ext cx="1229095" cy="258575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3" name="Rectangle 32">
            <a:extLst>
              <a:ext uri="{FF2B5EF4-FFF2-40B4-BE49-F238E27FC236}">
                <a16:creationId xmlns:a16="http://schemas.microsoft.com/office/drawing/2014/main" id="{B16CFEF2-A65A-6142-861C-58ACADF7EEFB}"/>
              </a:ext>
            </a:extLst>
          </p:cNvPr>
          <p:cNvSpPr/>
          <p:nvPr/>
        </p:nvSpPr>
        <p:spPr>
          <a:xfrm>
            <a:off x="5510070" y="3606699"/>
            <a:ext cx="1229095" cy="258575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4" name="Rectangle 33">
            <a:extLst>
              <a:ext uri="{FF2B5EF4-FFF2-40B4-BE49-F238E27FC236}">
                <a16:creationId xmlns:a16="http://schemas.microsoft.com/office/drawing/2014/main" id="{B16CFEF2-A65A-6142-861C-58ACADF7EEFB}"/>
              </a:ext>
            </a:extLst>
          </p:cNvPr>
          <p:cNvSpPr/>
          <p:nvPr/>
        </p:nvSpPr>
        <p:spPr>
          <a:xfrm>
            <a:off x="4139292" y="3606699"/>
            <a:ext cx="1229095" cy="258575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59" name="TextBox 58"/>
              <p:cNvSpPr txBox="1"/>
              <p:nvPr/>
            </p:nvSpPr>
            <p:spPr>
              <a:xfrm>
                <a:off x="49843" y="6251518"/>
                <a:ext cx="1233992" cy="354649"/>
              </a:xfrm>
              <a:prstGeom prst="rect">
                <a:avLst/>
              </a:prstGeom>
              <a:noFill/>
            </p:spPr>
            <p:txBody>
              <a:bodyPr wrap="none" rtlCol="0">
                <a:spAutoFit/>
              </a:bodyPr>
              <a:lstStyle/>
              <a:p>
                <a:r>
                  <a:rPr lang="en-GB" sz="1200" noProof="0" dirty="0"/>
                  <a:t>f) 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10</m:t>
                        </m:r>
                      </m:den>
                    </m:f>
                  </m:oMath>
                </a14:m>
                <a:endParaRPr lang="en-GB" sz="1200" noProof="0" dirty="0"/>
              </a:p>
            </p:txBody>
          </p:sp>
        </mc:Choice>
        <mc:Fallback xmlns="">
          <p:sp>
            <p:nvSpPr>
              <p:cNvPr id="59" name="TextBox 58"/>
              <p:cNvSpPr txBox="1">
                <a:spLocks noRot="1" noChangeAspect="1" noMove="1" noResize="1" noEditPoints="1" noAdjustHandles="1" noChangeArrowheads="1" noChangeShapeType="1" noTextEdit="1"/>
              </p:cNvSpPr>
              <p:nvPr/>
            </p:nvSpPr>
            <p:spPr>
              <a:xfrm>
                <a:off x="49843" y="6251518"/>
                <a:ext cx="1233992" cy="354649"/>
              </a:xfrm>
              <a:prstGeom prst="rect">
                <a:avLst/>
              </a:prstGeom>
              <a:blipFill>
                <a:blip r:embed="rId7"/>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2426363" y="6251775"/>
                <a:ext cx="1404872" cy="354392"/>
              </a:xfrm>
              <a:prstGeom prst="rect">
                <a:avLst/>
              </a:prstGeom>
              <a:noFill/>
            </p:spPr>
            <p:txBody>
              <a:bodyPr wrap="none" rtlCol="0">
                <a:spAutoFit/>
              </a:bodyPr>
              <a:lstStyle/>
              <a:p>
                <a:r>
                  <a:rPr lang="en-GB" sz="1200" noProof="0" dirty="0"/>
                  <a:t>g) 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+10</m:t>
                        </m:r>
                      </m:num>
                      <m:den>
                        <m:r>
                          <a:rPr lang="en-GB" sz="1200" b="0" i="1" noProof="0" smtClean="0">
                            <a:latin typeface="Cambria Math" panose="02040503050406030204" pitchFamily="18" charset="0"/>
                          </a:rPr>
                          <m:t>3</m:t>
                        </m:r>
                      </m:den>
                    </m:f>
                  </m:oMath>
                </a14:m>
                <a:endParaRPr lang="en-GB" sz="1200" noProof="0" dirty="0"/>
              </a:p>
            </p:txBody>
          </p:sp>
        </mc:Choice>
        <mc:Fallback xmlns="">
          <p:sp>
            <p:nvSpPr>
              <p:cNvPr id="60" name="TextBox 59"/>
              <p:cNvSpPr txBox="1">
                <a:spLocks noRot="1" noChangeAspect="1" noMove="1" noResize="1" noEditPoints="1" noAdjustHandles="1" noChangeArrowheads="1" noChangeShapeType="1" noTextEdit="1"/>
              </p:cNvSpPr>
              <p:nvPr/>
            </p:nvSpPr>
            <p:spPr>
              <a:xfrm>
                <a:off x="2426363" y="6251775"/>
                <a:ext cx="1404872" cy="354392"/>
              </a:xfrm>
              <a:prstGeom prst="rect">
                <a:avLst/>
              </a:prstGeom>
              <a:blipFill>
                <a:blip r:embed="rId8"/>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5027183" y="6252573"/>
                <a:ext cx="1347164" cy="354649"/>
              </a:xfrm>
              <a:prstGeom prst="rect">
                <a:avLst/>
              </a:prstGeom>
              <a:noFill/>
            </p:spPr>
            <p:txBody>
              <a:bodyPr wrap="none" rtlCol="0">
                <a:spAutoFit/>
              </a:bodyPr>
              <a:lstStyle/>
              <a:p>
                <a:r>
                  <a:rPr lang="en-GB" sz="1200" noProof="0" dirty="0"/>
                  <a:t>h) 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3</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61" name="TextBox 60"/>
              <p:cNvSpPr txBox="1">
                <a:spLocks noRot="1" noChangeAspect="1" noMove="1" noResize="1" noEditPoints="1" noAdjustHandles="1" noChangeArrowheads="1" noChangeShapeType="1" noTextEdit="1"/>
              </p:cNvSpPr>
              <p:nvPr/>
            </p:nvSpPr>
            <p:spPr>
              <a:xfrm>
                <a:off x="5027183" y="6252573"/>
                <a:ext cx="1347164" cy="354649"/>
              </a:xfrm>
              <a:prstGeom prst="rect">
                <a:avLst/>
              </a:prstGeom>
              <a:blipFill>
                <a:blip r:embed="rId9"/>
                <a:stretch>
                  <a:fillRect l="-452" b="-3448"/>
                </a:stretch>
              </a:blipFill>
            </p:spPr>
            <p:txBody>
              <a:bodyPr/>
              <a:lstStyle/>
              <a:p>
                <a:r>
                  <a:rPr lang="en-US">
                    <a:noFill/>
                  </a:rPr>
                  <a:t> </a:t>
                </a:r>
              </a:p>
            </p:txBody>
          </p:sp>
        </mc:Fallback>
      </mc:AlternateContent>
      <p:sp>
        <p:nvSpPr>
          <p:cNvPr id="62" name="Rectangle 61">
            <a:extLst>
              <a:ext uri="{FF2B5EF4-FFF2-40B4-BE49-F238E27FC236}">
                <a16:creationId xmlns:a16="http://schemas.microsoft.com/office/drawing/2014/main" id="{B16CFEF2-A65A-6142-861C-58ACADF7EEFB}"/>
              </a:ext>
            </a:extLst>
          </p:cNvPr>
          <p:cNvSpPr/>
          <p:nvPr/>
        </p:nvSpPr>
        <p:spPr>
          <a:xfrm>
            <a:off x="127205" y="6749040"/>
            <a:ext cx="2071985" cy="29273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63" name="Rectangle 62">
            <a:extLst>
              <a:ext uri="{FF2B5EF4-FFF2-40B4-BE49-F238E27FC236}">
                <a16:creationId xmlns:a16="http://schemas.microsoft.com/office/drawing/2014/main" id="{B16CFEF2-A65A-6142-861C-58ACADF7EEFB}"/>
              </a:ext>
            </a:extLst>
          </p:cNvPr>
          <p:cNvSpPr/>
          <p:nvPr/>
        </p:nvSpPr>
        <p:spPr>
          <a:xfrm>
            <a:off x="2369475" y="6749039"/>
            <a:ext cx="2071985" cy="29273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64" name="Rectangle 63">
            <a:extLst>
              <a:ext uri="{FF2B5EF4-FFF2-40B4-BE49-F238E27FC236}">
                <a16:creationId xmlns:a16="http://schemas.microsoft.com/office/drawing/2014/main" id="{B16CFEF2-A65A-6142-861C-58ACADF7EEFB}"/>
              </a:ext>
            </a:extLst>
          </p:cNvPr>
          <p:cNvSpPr/>
          <p:nvPr/>
        </p:nvSpPr>
        <p:spPr>
          <a:xfrm>
            <a:off x="4657570" y="6749039"/>
            <a:ext cx="2071985" cy="29273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1" name="Slide Number Placeholder 10"/>
          <p:cNvSpPr>
            <a:spLocks noGrp="1"/>
          </p:cNvSpPr>
          <p:nvPr>
            <p:ph type="sldNum" sz="quarter" idx="12"/>
          </p:nvPr>
        </p:nvSpPr>
        <p:spPr>
          <a:xfrm>
            <a:off x="5289271" y="9553695"/>
            <a:ext cx="1543050" cy="527403"/>
          </a:xfrm>
        </p:spPr>
        <p:txBody>
          <a:bodyPr/>
          <a:lstStyle/>
          <a:p>
            <a:fld id="{9BD3B4A0-BFF9-422C-B253-48BA94BE2F5B}" type="slidenum">
              <a:rPr lang="en-GB" noProof="0" smtClean="0"/>
              <a:t>25</a:t>
            </a:fld>
            <a:endParaRPr lang="en-GB" noProof="0" dirty="0"/>
          </a:p>
        </p:txBody>
      </p:sp>
      <p:sp>
        <p:nvSpPr>
          <p:cNvPr id="12" name="Rectangle 11">
            <a:extLst>
              <a:ext uri="{FF2B5EF4-FFF2-40B4-BE49-F238E27FC236}">
                <a16:creationId xmlns:a16="http://schemas.microsoft.com/office/drawing/2014/main" id="{F0F2CFDC-C15F-0A4F-50DF-BD9B04B5CA10}"/>
              </a:ext>
            </a:extLst>
          </p:cNvPr>
          <p:cNvSpPr/>
          <p:nvPr/>
        </p:nvSpPr>
        <p:spPr>
          <a:xfrm>
            <a:off x="-9365" y="6061"/>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prstClr val="white"/>
                </a:solidFill>
              </a:rPr>
              <a:t>Subtopic 4b – Algebraic Fractions: Solving</a:t>
            </a:r>
            <a:endParaRPr lang="en-GB" b="1" noProof="0" dirty="0">
              <a:solidFill>
                <a:prstClr val="white"/>
              </a:solidFill>
            </a:endParaRPr>
          </a:p>
        </p:txBody>
      </p:sp>
      <p:sp>
        <p:nvSpPr>
          <p:cNvPr id="13" name="TextBox 12">
            <a:extLst>
              <a:ext uri="{FF2B5EF4-FFF2-40B4-BE49-F238E27FC236}">
                <a16:creationId xmlns:a16="http://schemas.microsoft.com/office/drawing/2014/main" id="{341F84E3-3023-AAD4-DA0D-7442D0FF33C9}"/>
              </a:ext>
            </a:extLst>
          </p:cNvPr>
          <p:cNvSpPr txBox="1"/>
          <p:nvPr/>
        </p:nvSpPr>
        <p:spPr>
          <a:xfrm>
            <a:off x="90263" y="406400"/>
            <a:ext cx="6648901" cy="2123658"/>
          </a:xfrm>
          <a:prstGeom prst="rect">
            <a:avLst/>
          </a:prstGeom>
          <a:noFill/>
          <a:ln>
            <a:solidFill>
              <a:schemeClr val="tx1"/>
            </a:solidFill>
          </a:ln>
        </p:spPr>
        <p:txBody>
          <a:bodyPr wrap="square" rtlCol="0">
            <a:spAutoFit/>
          </a:bodyPr>
          <a:lstStyle/>
          <a:p>
            <a:r>
              <a:rPr lang="en-GB" sz="1200" noProof="0" dirty="0"/>
              <a:t>We can solve equations involving algebraic fractions in one of two ways:</a:t>
            </a:r>
          </a:p>
          <a:p>
            <a:endParaRPr lang="en-GB" sz="1200" noProof="0" dirty="0"/>
          </a:p>
          <a:p>
            <a:pPr marL="228600" lvl="0" indent="-228600">
              <a:buAutoNum type="arabicPeriod"/>
            </a:pPr>
            <a:r>
              <a:rPr lang="en-GB" sz="1200" noProof="0" dirty="0"/>
              <a:t>Simplify the equation so that each side is either a single algebraic fraction or an expression. Multiply through by the denominators of any algebraic fractions – leaving an equation with no algebraic fractions to be solved.</a:t>
            </a:r>
          </a:p>
          <a:p>
            <a:pPr marL="228600" lvl="0" indent="-228600">
              <a:buAutoNum type="arabicPeriod"/>
            </a:pPr>
            <a:r>
              <a:rPr lang="en-GB" sz="1200" noProof="0" dirty="0"/>
              <a:t>Calculate the lowest common multiple of the denominators of the algebraic fractions. Multiply through by this expression to again reach an equation free of algebraic fractions. </a:t>
            </a:r>
          </a:p>
          <a:p>
            <a:pPr marL="228600" lvl="0" indent="-228600">
              <a:buAutoNum type="arabicPeriod"/>
            </a:pPr>
            <a:endParaRPr lang="en-GB" sz="1200" noProof="0" dirty="0"/>
          </a:p>
          <a:p>
            <a:pPr lvl="0"/>
            <a:r>
              <a:rPr lang="en-GB" sz="1200" noProof="0" dirty="0"/>
              <a:t>Before we do this, we need to recap the solving of equations involving fractions that you have seen before. Attempt the questions below independently, showing clearly what you do for the steps at each stage.</a:t>
            </a:r>
          </a:p>
        </p:txBody>
      </p:sp>
    </p:spTree>
    <p:extLst>
      <p:ext uri="{BB962C8B-B14F-4D97-AF65-F5344CB8AC3E}">
        <p14:creationId xmlns:p14="http://schemas.microsoft.com/office/powerpoint/2010/main" val="3426703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able 34"/>
          <p:cNvGraphicFramePr>
            <a:graphicFrameLocks noGrp="1"/>
          </p:cNvGraphicFramePr>
          <p:nvPr>
            <p:extLst>
              <p:ext uri="{D42A27DB-BD31-4B8C-83A1-F6EECF244321}">
                <p14:modId xmlns:p14="http://schemas.microsoft.com/office/powerpoint/2010/main" val="1664272867"/>
              </p:ext>
            </p:extLst>
          </p:nvPr>
        </p:nvGraphicFramePr>
        <p:xfrm>
          <a:off x="187105" y="338782"/>
          <a:ext cx="6485158" cy="4609469"/>
        </p:xfrm>
        <a:graphic>
          <a:graphicData uri="http://schemas.openxmlformats.org/drawingml/2006/table">
            <a:tbl>
              <a:tblPr firstRow="1" bandRow="1">
                <a:tableStyleId>{5C22544A-7EE6-4342-B048-85BDC9FD1C3A}</a:tableStyleId>
              </a:tblPr>
              <a:tblGrid>
                <a:gridCol w="1400395">
                  <a:extLst>
                    <a:ext uri="{9D8B030D-6E8A-4147-A177-3AD203B41FA5}">
                      <a16:colId xmlns:a16="http://schemas.microsoft.com/office/drawing/2014/main" val="1568142362"/>
                    </a:ext>
                  </a:extLst>
                </a:gridCol>
                <a:gridCol w="2424370">
                  <a:extLst>
                    <a:ext uri="{9D8B030D-6E8A-4147-A177-3AD203B41FA5}">
                      <a16:colId xmlns:a16="http://schemas.microsoft.com/office/drawing/2014/main" val="3551711160"/>
                    </a:ext>
                  </a:extLst>
                </a:gridCol>
                <a:gridCol w="2660393">
                  <a:extLst>
                    <a:ext uri="{9D8B030D-6E8A-4147-A177-3AD203B41FA5}">
                      <a16:colId xmlns:a16="http://schemas.microsoft.com/office/drawing/2014/main" val="3207130226"/>
                    </a:ext>
                  </a:extLst>
                </a:gridCol>
              </a:tblGrid>
              <a:tr h="483964">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423421">
                <a:tc>
                  <a:txBody>
                    <a:bodyPr/>
                    <a:lstStyle/>
                    <a:p>
                      <a:r>
                        <a:rPr lang="en-GB" sz="1060" noProof="0" dirty="0">
                          <a:solidFill>
                            <a:schemeClr val="tx1"/>
                          </a:solidFill>
                        </a:rPr>
                        <a:t>1) Multiply through to make the </a:t>
                      </a:r>
                    </a:p>
                    <a:p>
                      <a:r>
                        <a:rPr lang="en-GB" sz="1060" noProof="0" dirty="0">
                          <a:solidFill>
                            <a:schemeClr val="tx1"/>
                          </a:solidFill>
                        </a:rPr>
                        <a:t>denominators</a:t>
                      </a:r>
                      <a:r>
                        <a:rPr lang="en-GB" sz="1060" baseline="0" noProof="0" dirty="0">
                          <a:solidFill>
                            <a:schemeClr val="tx1"/>
                          </a:solidFill>
                        </a:rPr>
                        <a:t> the same. </a:t>
                      </a:r>
                    </a:p>
                    <a:p>
                      <a:r>
                        <a:rPr lang="en-GB" sz="1060" baseline="0" noProof="0" dirty="0">
                          <a:solidFill>
                            <a:schemeClr val="tx1"/>
                          </a:solidFill>
                        </a:rPr>
                        <a:t>(or: clear the fraction by multiplying both sides appropriately)</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351042">
                <a:tc>
                  <a:txBody>
                    <a:bodyPr/>
                    <a:lstStyle/>
                    <a:p>
                      <a:r>
                        <a:rPr lang="en-GB" sz="1060" noProof="0" dirty="0">
                          <a:solidFill>
                            <a:schemeClr val="tx1"/>
                          </a:solidFill>
                        </a:rPr>
                        <a:t>2) Expand and simplify the numerators.</a:t>
                      </a:r>
                      <a:r>
                        <a:rPr lang="en-GB" sz="1060" baseline="0" noProof="0" dirty="0">
                          <a:solidFill>
                            <a:schemeClr val="tx1"/>
                          </a:solidFill>
                        </a:rPr>
                        <a:t>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1351042">
                <a:tc>
                  <a:txBody>
                    <a:bodyPr/>
                    <a:lstStyle/>
                    <a:p>
                      <a:r>
                        <a:rPr lang="en-GB" sz="1060" noProof="0" dirty="0">
                          <a:solidFill>
                            <a:schemeClr val="tx1"/>
                          </a:solidFill>
                        </a:rPr>
                        <a:t>3) Solve the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2255231599"/>
              </p:ext>
            </p:extLst>
          </p:nvPr>
        </p:nvGraphicFramePr>
        <p:xfrm>
          <a:off x="192198" y="5199567"/>
          <a:ext cx="6480064" cy="4329347"/>
        </p:xfrm>
        <a:graphic>
          <a:graphicData uri="http://schemas.openxmlformats.org/drawingml/2006/table">
            <a:tbl>
              <a:tblPr firstRow="1" bandRow="1">
                <a:tableStyleId>{5C22544A-7EE6-4342-B048-85BDC9FD1C3A}</a:tableStyleId>
              </a:tblPr>
              <a:tblGrid>
                <a:gridCol w="1408002">
                  <a:extLst>
                    <a:ext uri="{9D8B030D-6E8A-4147-A177-3AD203B41FA5}">
                      <a16:colId xmlns:a16="http://schemas.microsoft.com/office/drawing/2014/main" val="1568142362"/>
                    </a:ext>
                  </a:extLst>
                </a:gridCol>
                <a:gridCol w="2474182">
                  <a:extLst>
                    <a:ext uri="{9D8B030D-6E8A-4147-A177-3AD203B41FA5}">
                      <a16:colId xmlns:a16="http://schemas.microsoft.com/office/drawing/2014/main" val="3551711160"/>
                    </a:ext>
                  </a:extLst>
                </a:gridCol>
                <a:gridCol w="2597880">
                  <a:extLst>
                    <a:ext uri="{9D8B030D-6E8A-4147-A177-3AD203B41FA5}">
                      <a16:colId xmlns:a16="http://schemas.microsoft.com/office/drawing/2014/main" val="2093455259"/>
                    </a:ext>
                  </a:extLst>
                </a:gridCol>
              </a:tblGrid>
              <a:tr h="454553">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336918">
                <a:tc>
                  <a:txBody>
                    <a:bodyPr/>
                    <a:lstStyle/>
                    <a:p>
                      <a:r>
                        <a:rPr lang="en-GB" sz="1060" noProof="0" dirty="0">
                          <a:solidFill>
                            <a:schemeClr val="tx1"/>
                          </a:solidFill>
                        </a:rPr>
                        <a:t>1) Multiply through to make the </a:t>
                      </a:r>
                    </a:p>
                    <a:p>
                      <a:r>
                        <a:rPr lang="en-GB" sz="1060" noProof="0" dirty="0">
                          <a:solidFill>
                            <a:schemeClr val="tx1"/>
                          </a:solidFill>
                        </a:rPr>
                        <a:t>denominators</a:t>
                      </a:r>
                      <a:r>
                        <a:rPr lang="en-GB" sz="1060" baseline="0" noProof="0" dirty="0">
                          <a:solidFill>
                            <a:schemeClr val="tx1"/>
                          </a:solidFill>
                        </a:rPr>
                        <a:t> the same. </a:t>
                      </a:r>
                    </a:p>
                    <a:p>
                      <a:r>
                        <a:rPr lang="en-GB" sz="1060" baseline="0" noProof="0" dirty="0">
                          <a:solidFill>
                            <a:schemeClr val="tx1"/>
                          </a:solidFill>
                        </a:rPr>
                        <a:t>(or: clear the fraction by multiplying both sides appropriately)</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268938">
                <a:tc>
                  <a:txBody>
                    <a:bodyPr/>
                    <a:lstStyle/>
                    <a:p>
                      <a:r>
                        <a:rPr lang="en-GB" sz="1060" noProof="0" dirty="0">
                          <a:solidFill>
                            <a:schemeClr val="tx1"/>
                          </a:solidFill>
                        </a:rPr>
                        <a:t>2) Expand and simplify the numerators.</a:t>
                      </a:r>
                      <a:r>
                        <a:rPr lang="en-GB" sz="1060" baseline="0" noProof="0" dirty="0">
                          <a:solidFill>
                            <a:schemeClr val="tx1"/>
                          </a:solidFill>
                        </a:rPr>
                        <a:t>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1268938">
                <a:tc>
                  <a:txBody>
                    <a:bodyPr/>
                    <a:lstStyle/>
                    <a:p>
                      <a:r>
                        <a:rPr lang="en-GB" sz="1060" noProof="0" dirty="0">
                          <a:solidFill>
                            <a:schemeClr val="tx1"/>
                          </a:solidFill>
                        </a:rPr>
                        <a:t>3) Solve the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bl>
          </a:graphicData>
        </a:graphic>
      </p:graphicFrame>
      <p:sp>
        <p:nvSpPr>
          <p:cNvPr id="17" name="TextBox 16">
            <a:extLst>
              <a:ext uri="{FF2B5EF4-FFF2-40B4-BE49-F238E27FC236}">
                <a16:creationId xmlns:a16="http://schemas.microsoft.com/office/drawing/2014/main" id="{72FAE9BB-D81F-4207-9FF8-E6BE971A99D9}"/>
              </a:ext>
            </a:extLst>
          </p:cNvPr>
          <p:cNvSpPr txBox="1"/>
          <p:nvPr/>
        </p:nvSpPr>
        <p:spPr>
          <a:xfrm>
            <a:off x="2121030" y="4934151"/>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33 - You do…</a:t>
            </a:r>
          </a:p>
        </p:txBody>
      </p:sp>
      <p:sp>
        <p:nvSpPr>
          <p:cNvPr id="19" name="TextBox 18">
            <a:extLst>
              <a:ext uri="{FF2B5EF4-FFF2-40B4-BE49-F238E27FC236}">
                <a16:creationId xmlns:a16="http://schemas.microsoft.com/office/drawing/2014/main" id="{337F58E6-37DE-4890-BDE3-0101DB4D4F11}"/>
              </a:ext>
            </a:extLst>
          </p:cNvPr>
          <p:cNvSpPr txBox="1"/>
          <p:nvPr/>
        </p:nvSpPr>
        <p:spPr>
          <a:xfrm>
            <a:off x="4666212" y="-7990"/>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32 - We do…</a:t>
            </a:r>
          </a:p>
        </p:txBody>
      </p:sp>
      <p:sp>
        <p:nvSpPr>
          <p:cNvPr id="20" name="TextBox 19">
            <a:extLst>
              <a:ext uri="{FF2B5EF4-FFF2-40B4-BE49-F238E27FC236}">
                <a16:creationId xmlns:a16="http://schemas.microsoft.com/office/drawing/2014/main" id="{20EB31B5-3203-4E48-8A19-892EA568053E}"/>
              </a:ext>
            </a:extLst>
          </p:cNvPr>
          <p:cNvSpPr txBox="1"/>
          <p:nvPr/>
        </p:nvSpPr>
        <p:spPr>
          <a:xfrm>
            <a:off x="2023984" y="22049"/>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31 - I do…</a:t>
            </a:r>
          </a:p>
        </p:txBody>
      </p:sp>
      <mc:AlternateContent xmlns:mc="http://schemas.openxmlformats.org/markup-compatibility/2006" xmlns:a14="http://schemas.microsoft.com/office/drawing/2010/main">
        <mc:Choice Requires="a14">
          <p:sp>
            <p:nvSpPr>
              <p:cNvPr id="23" name="TextBox 22"/>
              <p:cNvSpPr txBox="1"/>
              <p:nvPr/>
            </p:nvSpPr>
            <p:spPr>
              <a:xfrm>
                <a:off x="2023984" y="383901"/>
                <a:ext cx="1594539" cy="357277"/>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+8</m:t>
                        </m:r>
                      </m:num>
                      <m:den>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=1</m:t>
                    </m:r>
                  </m:oMath>
                </a14:m>
                <a:endParaRPr lang="en-GB" sz="1200" noProof="0" dirty="0"/>
              </a:p>
            </p:txBody>
          </p:sp>
        </mc:Choice>
        <mc:Fallback xmlns="">
          <p:sp>
            <p:nvSpPr>
              <p:cNvPr id="23" name="TextBox 22"/>
              <p:cNvSpPr txBox="1">
                <a:spLocks noRot="1" noChangeAspect="1" noMove="1" noResize="1" noEditPoints="1" noAdjustHandles="1" noChangeArrowheads="1" noChangeShapeType="1" noTextEdit="1"/>
              </p:cNvSpPr>
              <p:nvPr/>
            </p:nvSpPr>
            <p:spPr>
              <a:xfrm>
                <a:off x="2023984" y="383901"/>
                <a:ext cx="1594539" cy="357277"/>
              </a:xfrm>
              <a:prstGeom prst="rect">
                <a:avLst/>
              </a:prstGeom>
              <a:blipFill>
                <a:blip r:embed="rId2"/>
                <a:stretch>
                  <a:fillRect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2121030" y="5248333"/>
                <a:ext cx="1519711" cy="353495"/>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=1</m:t>
                    </m:r>
                  </m:oMath>
                </a14:m>
                <a:endParaRPr lang="en-GB" sz="1200" noProof="0" dirty="0"/>
              </a:p>
            </p:txBody>
          </p:sp>
        </mc:Choice>
        <mc:Fallback xmlns="">
          <p:sp>
            <p:nvSpPr>
              <p:cNvPr id="30" name="TextBox 29"/>
              <p:cNvSpPr txBox="1">
                <a:spLocks noRot="1" noChangeAspect="1" noMove="1" noResize="1" noEditPoints="1" noAdjustHandles="1" noChangeArrowheads="1" noChangeShapeType="1" noTextEdit="1"/>
              </p:cNvSpPr>
              <p:nvPr/>
            </p:nvSpPr>
            <p:spPr>
              <a:xfrm>
                <a:off x="2121030" y="5248333"/>
                <a:ext cx="1519711" cy="353495"/>
              </a:xfrm>
              <a:prstGeom prst="rect">
                <a:avLst/>
              </a:prstGeom>
              <a:blipFill>
                <a:blip r:embed="rId3"/>
                <a:stretch>
                  <a:fillRect l="-402"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4542548" y="393325"/>
                <a:ext cx="1585434" cy="356123"/>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6</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5−2</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=7</m:t>
                    </m:r>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4542548" y="393325"/>
                <a:ext cx="1585434" cy="356123"/>
              </a:xfrm>
              <a:prstGeom prst="rect">
                <a:avLst/>
              </a:prstGeom>
              <a:blipFill>
                <a:blip r:embed="rId4"/>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4700837" y="5244807"/>
                <a:ext cx="1519711" cy="357021"/>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3</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=4</m:t>
                    </m:r>
                  </m:oMath>
                </a14:m>
                <a:endParaRPr lang="en-GB" sz="1200" noProof="0" dirty="0"/>
              </a:p>
            </p:txBody>
          </p:sp>
        </mc:Choice>
        <mc:Fallback xmlns="">
          <p:sp>
            <p:nvSpPr>
              <p:cNvPr id="37" name="TextBox 36"/>
              <p:cNvSpPr txBox="1">
                <a:spLocks noRot="1" noChangeAspect="1" noMove="1" noResize="1" noEditPoints="1" noAdjustHandles="1" noChangeArrowheads="1" noChangeShapeType="1" noTextEdit="1"/>
              </p:cNvSpPr>
              <p:nvPr/>
            </p:nvSpPr>
            <p:spPr>
              <a:xfrm>
                <a:off x="4700837" y="5244807"/>
                <a:ext cx="1519711" cy="357021"/>
              </a:xfrm>
              <a:prstGeom prst="rect">
                <a:avLst/>
              </a:prstGeom>
              <a:blipFill>
                <a:blip r:embed="rId5"/>
                <a:stretch>
                  <a:fillRect b="-1695"/>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72FAE9BB-D81F-4207-9FF8-E6BE971A99D9}"/>
              </a:ext>
            </a:extLst>
          </p:cNvPr>
          <p:cNvSpPr txBox="1"/>
          <p:nvPr/>
        </p:nvSpPr>
        <p:spPr>
          <a:xfrm>
            <a:off x="4838539" y="4919445"/>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34 - You do…</a:t>
            </a:r>
          </a:p>
        </p:txBody>
      </p:sp>
      <p:sp>
        <p:nvSpPr>
          <p:cNvPr id="3" name="Slide Number Placeholder 2"/>
          <p:cNvSpPr>
            <a:spLocks noGrp="1"/>
          </p:cNvSpPr>
          <p:nvPr>
            <p:ph type="sldNum" sz="quarter" idx="12"/>
          </p:nvPr>
        </p:nvSpPr>
        <p:spPr>
          <a:xfrm>
            <a:off x="5396724" y="9512675"/>
            <a:ext cx="1275538" cy="513229"/>
          </a:xfrm>
        </p:spPr>
        <p:txBody>
          <a:bodyPr/>
          <a:lstStyle/>
          <a:p>
            <a:fld id="{9BD3B4A0-BFF9-422C-B253-48BA94BE2F5B}" type="slidenum">
              <a:rPr lang="en-GB" noProof="0" smtClean="0"/>
              <a:t>26</a:t>
            </a:fld>
            <a:endParaRPr lang="en-GB" noProof="0" dirty="0"/>
          </a:p>
        </p:txBody>
      </p:sp>
    </p:spTree>
    <p:extLst>
      <p:ext uri="{BB962C8B-B14F-4D97-AF65-F5344CB8AC3E}">
        <p14:creationId xmlns:p14="http://schemas.microsoft.com/office/powerpoint/2010/main" val="937638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p:cNvSpPr txBox="1"/>
          <p:nvPr/>
        </p:nvSpPr>
        <p:spPr>
          <a:xfrm>
            <a:off x="2115043" y="75571"/>
            <a:ext cx="2128083" cy="276999"/>
          </a:xfrm>
          <a:prstGeom prst="rect">
            <a:avLst/>
          </a:prstGeom>
          <a:noFill/>
        </p:spPr>
        <p:txBody>
          <a:bodyPr wrap="none" rtlCol="0">
            <a:spAutoFit/>
          </a:bodyPr>
          <a:lstStyle/>
          <a:p>
            <a:pPr algn="ctr"/>
            <a:r>
              <a:rPr lang="en-GB" sz="1200" noProof="0" dirty="0"/>
              <a:t>1. Solve the algebraic fractions.</a:t>
            </a:r>
          </a:p>
        </p:txBody>
      </p:sp>
      <p:sp>
        <p:nvSpPr>
          <p:cNvPr id="44" name="TextBox 43">
            <a:extLst>
              <a:ext uri="{FF2B5EF4-FFF2-40B4-BE49-F238E27FC236}">
                <a16:creationId xmlns:a16="http://schemas.microsoft.com/office/drawing/2014/main" id="{C3C65E48-8C3D-6849-AD77-7AD8678AD8DA}"/>
              </a:ext>
            </a:extLst>
          </p:cNvPr>
          <p:cNvSpPr txBox="1"/>
          <p:nvPr/>
        </p:nvSpPr>
        <p:spPr>
          <a:xfrm>
            <a:off x="147355" y="93060"/>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07B6CF91-B50B-E1B0-1B07-0ADDA363BC3E}"/>
                  </a:ext>
                </a:extLst>
              </p:cNvPr>
              <p:cNvGraphicFramePr>
                <a:graphicFrameLocks noGrp="1"/>
              </p:cNvGraphicFramePr>
              <p:nvPr>
                <p:extLst>
                  <p:ext uri="{D42A27DB-BD31-4B8C-83A1-F6EECF244321}">
                    <p14:modId xmlns:p14="http://schemas.microsoft.com/office/powerpoint/2010/main" val="2441136424"/>
                  </p:ext>
                </p:extLst>
              </p:nvPr>
            </p:nvGraphicFramePr>
            <p:xfrm>
              <a:off x="112866" y="436986"/>
              <a:ext cx="6632268" cy="9032028"/>
            </p:xfrm>
            <a:graphic>
              <a:graphicData uri="http://schemas.openxmlformats.org/drawingml/2006/table">
                <a:tbl>
                  <a:tblPr firstRow="1" bandRow="1">
                    <a:tableStyleId>{5940675A-B579-460E-94D1-54222C63F5DA}</a:tableStyleId>
                  </a:tblPr>
                  <a:tblGrid>
                    <a:gridCol w="3316134">
                      <a:extLst>
                        <a:ext uri="{9D8B030D-6E8A-4147-A177-3AD203B41FA5}">
                          <a16:colId xmlns:a16="http://schemas.microsoft.com/office/drawing/2014/main" val="2553790693"/>
                        </a:ext>
                      </a:extLst>
                    </a:gridCol>
                    <a:gridCol w="3316134">
                      <a:extLst>
                        <a:ext uri="{9D8B030D-6E8A-4147-A177-3AD203B41FA5}">
                          <a16:colId xmlns:a16="http://schemas.microsoft.com/office/drawing/2014/main" val="1522167951"/>
                        </a:ext>
                      </a:extLst>
                    </a:gridCol>
                  </a:tblGrid>
                  <a:tr h="451601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400" noProof="0" dirty="0"/>
                            <a:t>a) </a:t>
                          </a:r>
                          <a14:m>
                            <m:oMath xmlns:m="http://schemas.openxmlformats.org/officeDocument/2006/math">
                              <m:f>
                                <m:fPr>
                                  <m:ctrlPr>
                                    <a:rPr lang="en-GB" sz="1400" i="1" noProof="0">
                                      <a:latin typeface="Cambria Math" panose="02040503050406030204" pitchFamily="18" charset="0"/>
                                    </a:rPr>
                                  </m:ctrlPr>
                                </m:fPr>
                                <m:num>
                                  <m:r>
                                    <a:rPr lang="en-GB" sz="1400" i="1" noProof="0">
                                      <a:latin typeface="Cambria Math" panose="02040503050406030204" pitchFamily="18" charset="0"/>
                                    </a:rPr>
                                    <m:t>𝑥</m:t>
                                  </m:r>
                                </m:num>
                                <m:den>
                                  <m:r>
                                    <a:rPr lang="en-GB" sz="1400" i="1" noProof="0">
                                      <a:latin typeface="Cambria Math" panose="02040503050406030204" pitchFamily="18" charset="0"/>
                                    </a:rPr>
                                    <m:t>3</m:t>
                                  </m:r>
                                </m:den>
                              </m:f>
                              <m:r>
                                <a:rPr lang="en-GB" sz="1400" i="1" noProof="0">
                                  <a:latin typeface="Cambria Math" panose="02040503050406030204" pitchFamily="18" charset="0"/>
                                </a:rPr>
                                <m:t>+</m:t>
                              </m:r>
                              <m:f>
                                <m:fPr>
                                  <m:ctrlPr>
                                    <a:rPr lang="en-GB" sz="1400" i="1" noProof="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−2</m:t>
                                  </m:r>
                                </m:num>
                                <m:den>
                                  <m:r>
                                    <a:rPr lang="en-GB" sz="1400" b="0" i="1" noProof="0" smtClean="0">
                                      <a:latin typeface="Cambria Math" panose="02040503050406030204" pitchFamily="18" charset="0"/>
                                    </a:rPr>
                                    <m:t>6</m:t>
                                  </m:r>
                                </m:den>
                              </m:f>
                              <m:r>
                                <a:rPr lang="en-GB" sz="1400" i="1" noProof="0">
                                  <a:latin typeface="Cambria Math" panose="02040503050406030204" pitchFamily="18" charset="0"/>
                                </a:rPr>
                                <m:t>=4</m:t>
                              </m:r>
                            </m:oMath>
                          </a14:m>
                          <a:endParaRPr lang="en-GB" sz="1400" noProof="0" dirty="0"/>
                        </a:p>
                        <a:p>
                          <a:endParaRPr lang="en-GB" noProof="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400" noProof="0" dirty="0"/>
                            <a:t>b) Solve </a:t>
                          </a:r>
                          <a14:m>
                            <m:oMath xmlns:m="http://schemas.openxmlformats.org/officeDocument/2006/math">
                              <m:f>
                                <m:fPr>
                                  <m:ctrlPr>
                                    <a:rPr lang="en-GB" sz="1400" b="0" i="1" noProof="0" smtClean="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+8</m:t>
                                  </m:r>
                                </m:num>
                                <m:den>
                                  <m:r>
                                    <a:rPr lang="en-GB" sz="1400" b="0" i="1" noProof="0" smtClean="0">
                                      <a:latin typeface="Cambria Math" panose="02040503050406030204" pitchFamily="18" charset="0"/>
                                    </a:rPr>
                                    <m:t>2</m:t>
                                  </m:r>
                                </m:den>
                              </m:f>
                              <m:r>
                                <a:rPr lang="en-GB" sz="1400" b="0" i="1" noProof="0" smtClean="0">
                                  <a:latin typeface="Cambria Math" panose="02040503050406030204" pitchFamily="18" charset="0"/>
                                </a:rPr>
                                <m:t>+</m:t>
                              </m:r>
                              <m:f>
                                <m:fPr>
                                  <m:ctrlPr>
                                    <a:rPr lang="en-GB" sz="1400" b="0" i="1" noProof="0" smtClean="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+6</m:t>
                                  </m:r>
                                </m:num>
                                <m:den>
                                  <m:r>
                                    <a:rPr lang="en-GB" sz="1400" b="0" i="1" noProof="0" smtClean="0">
                                      <a:latin typeface="Cambria Math" panose="02040503050406030204" pitchFamily="18" charset="0"/>
                                    </a:rPr>
                                    <m:t>4</m:t>
                                  </m:r>
                                </m:den>
                              </m:f>
                              <m:r>
                                <a:rPr lang="en-GB" sz="1400" b="0" i="1" noProof="0" smtClean="0">
                                  <a:latin typeface="Cambria Math" panose="02040503050406030204" pitchFamily="18" charset="0"/>
                                </a:rPr>
                                <m:t>=7</m:t>
                              </m:r>
                            </m:oMath>
                          </a14:m>
                          <a:endParaRPr lang="en-GB" sz="1400" noProof="0" dirty="0"/>
                        </a:p>
                        <a:p>
                          <a:endParaRPr lang="en-GB" noProof="0" dirty="0"/>
                        </a:p>
                      </a:txBody>
                      <a:tcPr/>
                    </a:tc>
                    <a:extLst>
                      <a:ext uri="{0D108BD9-81ED-4DB2-BD59-A6C34878D82A}">
                        <a16:rowId xmlns:a16="http://schemas.microsoft.com/office/drawing/2014/main" val="2117485703"/>
                      </a:ext>
                    </a:extLst>
                  </a:tr>
                  <a:tr h="451601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400" noProof="0" dirty="0"/>
                            <a:t>c) </a:t>
                          </a:r>
                          <a:r>
                            <a:rPr lang="en-GB" sz="1400" baseline="0" noProof="0" dirty="0"/>
                            <a:t> </a:t>
                          </a:r>
                          <a14:m>
                            <m:oMath xmlns:m="http://schemas.openxmlformats.org/officeDocument/2006/math">
                              <m:f>
                                <m:fPr>
                                  <m:ctrlPr>
                                    <a:rPr lang="en-GB" sz="1400" i="1" noProof="0" smtClean="0">
                                      <a:latin typeface="Cambria Math" panose="02040503050406030204" pitchFamily="18" charset="0"/>
                                    </a:rPr>
                                  </m:ctrlPr>
                                </m:fPr>
                                <m:num>
                                  <m:r>
                                    <a:rPr lang="en-GB" sz="1400" i="1" noProof="0" smtClean="0">
                                      <a:latin typeface="Cambria Math" panose="02040503050406030204" pitchFamily="18" charset="0"/>
                                    </a:rPr>
                                    <m:t>𝑥</m:t>
                                  </m:r>
                                  <m:r>
                                    <a:rPr lang="en-GB" sz="1400" i="1" noProof="0" smtClean="0">
                                      <a:latin typeface="Cambria Math" panose="02040503050406030204" pitchFamily="18" charset="0"/>
                                    </a:rPr>
                                    <m:t>+1</m:t>
                                  </m:r>
                                </m:num>
                                <m:den>
                                  <m:r>
                                    <a:rPr lang="en-GB" sz="1400" i="1" noProof="0" smtClean="0">
                                      <a:latin typeface="Cambria Math" panose="02040503050406030204" pitchFamily="18" charset="0"/>
                                    </a:rPr>
                                    <m:t>2</m:t>
                                  </m:r>
                                </m:den>
                              </m:f>
                              <m:r>
                                <a:rPr lang="en-GB" sz="1400" i="1" noProof="0" smtClean="0">
                                  <a:latin typeface="Cambria Math" panose="02040503050406030204" pitchFamily="18" charset="0"/>
                                </a:rPr>
                                <m:t>+</m:t>
                              </m:r>
                              <m:f>
                                <m:fPr>
                                  <m:ctrlPr>
                                    <a:rPr lang="en-GB" sz="1400" i="1" noProof="0" smtClean="0">
                                      <a:latin typeface="Cambria Math" panose="02040503050406030204" pitchFamily="18" charset="0"/>
                                    </a:rPr>
                                  </m:ctrlPr>
                                </m:fPr>
                                <m:num>
                                  <m:r>
                                    <a:rPr lang="en-GB" sz="1400" i="1" noProof="0" smtClean="0">
                                      <a:latin typeface="Cambria Math" panose="02040503050406030204" pitchFamily="18" charset="0"/>
                                    </a:rPr>
                                    <m:t>𝑥</m:t>
                                  </m:r>
                                  <m:r>
                                    <a:rPr lang="en-GB" sz="1400" i="1" noProof="0" smtClean="0">
                                      <a:latin typeface="Cambria Math" panose="02040503050406030204" pitchFamily="18" charset="0"/>
                                    </a:rPr>
                                    <m:t>+2</m:t>
                                  </m:r>
                                </m:num>
                                <m:den>
                                  <m:r>
                                    <a:rPr lang="en-GB" sz="1400" b="0" i="1" noProof="0" smtClean="0">
                                      <a:latin typeface="Cambria Math" panose="02040503050406030204" pitchFamily="18" charset="0"/>
                                    </a:rPr>
                                    <m:t>5</m:t>
                                  </m:r>
                                </m:den>
                              </m:f>
                              <m:r>
                                <a:rPr lang="en-GB" sz="1400" i="1" noProof="0" smtClean="0">
                                  <a:latin typeface="Cambria Math" panose="02040503050406030204" pitchFamily="18" charset="0"/>
                                </a:rPr>
                                <m:t>=</m:t>
                              </m:r>
                              <m:r>
                                <a:rPr lang="en-GB" sz="1400" b="0" i="1" noProof="0" smtClean="0">
                                  <a:latin typeface="Cambria Math" panose="02040503050406030204" pitchFamily="18" charset="0"/>
                                </a:rPr>
                                <m:t>3</m:t>
                              </m:r>
                            </m:oMath>
                          </a14:m>
                          <a:endParaRPr lang="en-GB" sz="1400" noProof="0" dirty="0"/>
                        </a:p>
                        <a:p>
                          <a:endParaRPr lang="en-GB" noProof="0" dirty="0"/>
                        </a:p>
                      </a:txBody>
                      <a:tcPr/>
                    </a:tc>
                    <a:tc>
                      <a:txBody>
                        <a:bodyPr/>
                        <a:lstStyle/>
                        <a:p>
                          <a:r>
                            <a:rPr lang="en-GB" sz="1400" noProof="0" dirty="0"/>
                            <a:t>d) </a:t>
                          </a:r>
                          <a14:m>
                            <m:oMath xmlns:m="http://schemas.openxmlformats.org/officeDocument/2006/math">
                              <m:f>
                                <m:fPr>
                                  <m:ctrlPr>
                                    <a:rPr lang="en-GB" sz="1400" i="1" noProof="0" smtClean="0">
                                      <a:latin typeface="Cambria Math" panose="02040503050406030204" pitchFamily="18" charset="0"/>
                                    </a:rPr>
                                  </m:ctrlPr>
                                </m:fPr>
                                <m:num>
                                  <m:r>
                                    <a:rPr lang="en-GB" sz="1400" i="1" noProof="0" smtClean="0">
                                      <a:latin typeface="Cambria Math" panose="02040503050406030204" pitchFamily="18" charset="0"/>
                                    </a:rPr>
                                    <m:t>𝑥</m:t>
                                  </m:r>
                                  <m:r>
                                    <a:rPr lang="en-GB" sz="1400" i="1" noProof="0" smtClean="0">
                                      <a:latin typeface="Cambria Math" panose="02040503050406030204" pitchFamily="18" charset="0"/>
                                    </a:rPr>
                                    <m:t>+1</m:t>
                                  </m:r>
                                </m:num>
                                <m:den>
                                  <m:r>
                                    <a:rPr lang="en-GB" sz="1400" i="1" noProof="0" smtClean="0">
                                      <a:latin typeface="Cambria Math" panose="02040503050406030204" pitchFamily="18" charset="0"/>
                                    </a:rPr>
                                    <m:t>2</m:t>
                                  </m:r>
                                </m:den>
                              </m:f>
                              <m:r>
                                <a:rPr lang="en-GB" sz="1400" i="1" noProof="0" smtClean="0">
                                  <a:latin typeface="Cambria Math" panose="02040503050406030204" pitchFamily="18" charset="0"/>
                                </a:rPr>
                                <m:t>+</m:t>
                              </m:r>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2</m:t>
                                  </m:r>
                                  <m:r>
                                    <a:rPr lang="en-GB" sz="1400" i="1" noProof="0" smtClean="0">
                                      <a:latin typeface="Cambria Math" panose="02040503050406030204" pitchFamily="18" charset="0"/>
                                    </a:rPr>
                                    <m:t>𝑥</m:t>
                                  </m:r>
                                  <m:r>
                                    <a:rPr lang="en-GB" sz="1400" i="1" noProof="0" smtClean="0">
                                      <a:latin typeface="Cambria Math" panose="02040503050406030204" pitchFamily="18" charset="0"/>
                                    </a:rPr>
                                    <m:t>+1</m:t>
                                  </m:r>
                                </m:num>
                                <m:den>
                                  <m:r>
                                    <a:rPr lang="en-GB" sz="1400" b="0" i="1" noProof="0" smtClean="0">
                                      <a:latin typeface="Cambria Math" panose="02040503050406030204" pitchFamily="18" charset="0"/>
                                    </a:rPr>
                                    <m:t>3</m:t>
                                  </m:r>
                                </m:den>
                              </m:f>
                              <m:r>
                                <a:rPr lang="en-GB" sz="1400" i="1" noProof="0" smtClean="0">
                                  <a:latin typeface="Cambria Math" panose="02040503050406030204" pitchFamily="18" charset="0"/>
                                </a:rPr>
                                <m:t>=</m:t>
                              </m:r>
                              <m:r>
                                <a:rPr lang="en-GB" sz="1400" b="0" i="1" noProof="0" smtClean="0">
                                  <a:latin typeface="Cambria Math" panose="02040503050406030204" pitchFamily="18" charset="0"/>
                                </a:rPr>
                                <m:t>9</m:t>
                              </m:r>
                            </m:oMath>
                          </a14:m>
                          <a:endParaRPr lang="en-GB" noProof="0" dirty="0"/>
                        </a:p>
                      </a:txBody>
                      <a:tcPr/>
                    </a:tc>
                    <a:extLst>
                      <a:ext uri="{0D108BD9-81ED-4DB2-BD59-A6C34878D82A}">
                        <a16:rowId xmlns:a16="http://schemas.microsoft.com/office/drawing/2014/main" val="4090492603"/>
                      </a:ext>
                    </a:extLst>
                  </a:tr>
                </a:tbl>
              </a:graphicData>
            </a:graphic>
          </p:graphicFrame>
        </mc:Choice>
        <mc:Fallback xmlns="">
          <p:graphicFrame>
            <p:nvGraphicFramePr>
              <p:cNvPr id="2" name="Table 1">
                <a:extLst>
                  <a:ext uri="{FF2B5EF4-FFF2-40B4-BE49-F238E27FC236}">
                    <a16:creationId xmlns:a16="http://schemas.microsoft.com/office/drawing/2014/main" id="{07B6CF91-B50B-E1B0-1B07-0ADDA363BC3E}"/>
                  </a:ext>
                </a:extLst>
              </p:cNvPr>
              <p:cNvGraphicFramePr>
                <a:graphicFrameLocks noGrp="1"/>
              </p:cNvGraphicFramePr>
              <p:nvPr>
                <p:extLst>
                  <p:ext uri="{D42A27DB-BD31-4B8C-83A1-F6EECF244321}">
                    <p14:modId xmlns:p14="http://schemas.microsoft.com/office/powerpoint/2010/main" val="2441136424"/>
                  </p:ext>
                </p:extLst>
              </p:nvPr>
            </p:nvGraphicFramePr>
            <p:xfrm>
              <a:off x="112866" y="436986"/>
              <a:ext cx="6632268" cy="9032028"/>
            </p:xfrm>
            <a:graphic>
              <a:graphicData uri="http://schemas.openxmlformats.org/drawingml/2006/table">
                <a:tbl>
                  <a:tblPr firstRow="1" bandRow="1">
                    <a:tableStyleId>{5940675A-B579-460E-94D1-54222C63F5DA}</a:tableStyleId>
                  </a:tblPr>
                  <a:tblGrid>
                    <a:gridCol w="3316134">
                      <a:extLst>
                        <a:ext uri="{9D8B030D-6E8A-4147-A177-3AD203B41FA5}">
                          <a16:colId xmlns:a16="http://schemas.microsoft.com/office/drawing/2014/main" val="2553790693"/>
                        </a:ext>
                      </a:extLst>
                    </a:gridCol>
                    <a:gridCol w="3316134">
                      <a:extLst>
                        <a:ext uri="{9D8B030D-6E8A-4147-A177-3AD203B41FA5}">
                          <a16:colId xmlns:a16="http://schemas.microsoft.com/office/drawing/2014/main" val="1522167951"/>
                        </a:ext>
                      </a:extLst>
                    </a:gridCol>
                  </a:tblGrid>
                  <a:tr h="4516014">
                    <a:tc>
                      <a:txBody>
                        <a:bodyPr/>
                        <a:lstStyle/>
                        <a:p>
                          <a:endParaRPr lang="en-US"/>
                        </a:p>
                      </a:txBody>
                      <a:tcPr>
                        <a:blipFill>
                          <a:blip r:embed="rId2"/>
                          <a:stretch>
                            <a:fillRect l="-183" t="-135" r="-100183" b="-100135"/>
                          </a:stretch>
                        </a:blipFill>
                      </a:tcPr>
                    </a:tc>
                    <a:tc>
                      <a:txBody>
                        <a:bodyPr/>
                        <a:lstStyle/>
                        <a:p>
                          <a:endParaRPr lang="en-US"/>
                        </a:p>
                      </a:txBody>
                      <a:tcPr>
                        <a:blipFill>
                          <a:blip r:embed="rId2"/>
                          <a:stretch>
                            <a:fillRect l="-100368" t="-135" r="-368" b="-100135"/>
                          </a:stretch>
                        </a:blipFill>
                      </a:tcPr>
                    </a:tc>
                    <a:extLst>
                      <a:ext uri="{0D108BD9-81ED-4DB2-BD59-A6C34878D82A}">
                        <a16:rowId xmlns:a16="http://schemas.microsoft.com/office/drawing/2014/main" val="2117485703"/>
                      </a:ext>
                    </a:extLst>
                  </a:tr>
                  <a:tr h="4516014">
                    <a:tc>
                      <a:txBody>
                        <a:bodyPr/>
                        <a:lstStyle/>
                        <a:p>
                          <a:endParaRPr lang="en-US"/>
                        </a:p>
                      </a:txBody>
                      <a:tcPr>
                        <a:blipFill>
                          <a:blip r:embed="rId2"/>
                          <a:stretch>
                            <a:fillRect l="-183" t="-100270" r="-100183" b="-270"/>
                          </a:stretch>
                        </a:blipFill>
                      </a:tcPr>
                    </a:tc>
                    <a:tc>
                      <a:txBody>
                        <a:bodyPr/>
                        <a:lstStyle/>
                        <a:p>
                          <a:endParaRPr lang="en-US"/>
                        </a:p>
                      </a:txBody>
                      <a:tcPr>
                        <a:blipFill>
                          <a:blip r:embed="rId2"/>
                          <a:stretch>
                            <a:fillRect l="-100368" t="-100270" r="-368" b="-270"/>
                          </a:stretch>
                        </a:blipFill>
                      </a:tcPr>
                    </a:tc>
                    <a:extLst>
                      <a:ext uri="{0D108BD9-81ED-4DB2-BD59-A6C34878D82A}">
                        <a16:rowId xmlns:a16="http://schemas.microsoft.com/office/drawing/2014/main" val="4090492603"/>
                      </a:ext>
                    </a:extLst>
                  </a:tr>
                </a:tbl>
              </a:graphicData>
            </a:graphic>
          </p:graphicFrame>
        </mc:Fallback>
      </mc:AlternateContent>
      <p:sp>
        <p:nvSpPr>
          <p:cNvPr id="7" name="Slide Number Placeholder 2">
            <a:extLst>
              <a:ext uri="{FF2B5EF4-FFF2-40B4-BE49-F238E27FC236}">
                <a16:creationId xmlns:a16="http://schemas.microsoft.com/office/drawing/2014/main" id="{08CE0435-B447-1322-1CD7-0FF7AD4736F8}"/>
              </a:ext>
            </a:extLst>
          </p:cNvPr>
          <p:cNvSpPr txBox="1">
            <a:spLocks/>
          </p:cNvSpPr>
          <p:nvPr/>
        </p:nvSpPr>
        <p:spPr>
          <a:xfrm>
            <a:off x="5396724" y="9512675"/>
            <a:ext cx="1275538" cy="513229"/>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27</a:t>
            </a:fld>
            <a:endParaRPr lang="en-GB" noProof="0" dirty="0"/>
          </a:p>
        </p:txBody>
      </p:sp>
    </p:spTree>
    <p:extLst>
      <p:ext uri="{BB962C8B-B14F-4D97-AF65-F5344CB8AC3E}">
        <p14:creationId xmlns:p14="http://schemas.microsoft.com/office/powerpoint/2010/main" val="29318459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9646DD-38BD-2D47-D215-B8972F632D55}"/>
              </a:ext>
            </a:extLst>
          </p:cNvPr>
          <p:cNvSpPr>
            <a:spLocks noGrp="1"/>
          </p:cNvSpPr>
          <p:nvPr>
            <p:ph type="sldNum" sz="quarter" idx="12"/>
          </p:nvPr>
        </p:nvSpPr>
        <p:spPr>
          <a:xfrm>
            <a:off x="5202084" y="9378597"/>
            <a:ext cx="1543050" cy="527403"/>
          </a:xfrm>
        </p:spPr>
        <p:txBody>
          <a:bodyPr/>
          <a:lstStyle/>
          <a:p>
            <a:fld id="{9BD3B4A0-BFF9-422C-B253-48BA94BE2F5B}" type="slidenum">
              <a:rPr lang="en-GB" noProof="0" smtClean="0"/>
              <a:t>28</a:t>
            </a:fld>
            <a:endParaRPr lang="en-GB" noProof="0"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B56F4F7A-8B5E-1BE4-4875-ABEE13F2C335}"/>
                  </a:ext>
                </a:extLst>
              </p:cNvPr>
              <p:cNvGraphicFramePr>
                <a:graphicFrameLocks noGrp="1"/>
              </p:cNvGraphicFramePr>
              <p:nvPr>
                <p:extLst>
                  <p:ext uri="{D42A27DB-BD31-4B8C-83A1-F6EECF244321}">
                    <p14:modId xmlns:p14="http://schemas.microsoft.com/office/powerpoint/2010/main" val="160239302"/>
                  </p:ext>
                </p:extLst>
              </p:nvPr>
            </p:nvGraphicFramePr>
            <p:xfrm>
              <a:off x="112866" y="413070"/>
              <a:ext cx="6632268" cy="9032028"/>
            </p:xfrm>
            <a:graphic>
              <a:graphicData uri="http://schemas.openxmlformats.org/drawingml/2006/table">
                <a:tbl>
                  <a:tblPr firstRow="1" bandRow="1">
                    <a:tableStyleId>{5940675A-B579-460E-94D1-54222C63F5DA}</a:tableStyleId>
                  </a:tblPr>
                  <a:tblGrid>
                    <a:gridCol w="3316134">
                      <a:extLst>
                        <a:ext uri="{9D8B030D-6E8A-4147-A177-3AD203B41FA5}">
                          <a16:colId xmlns:a16="http://schemas.microsoft.com/office/drawing/2014/main" val="2553790693"/>
                        </a:ext>
                      </a:extLst>
                    </a:gridCol>
                    <a:gridCol w="3316134">
                      <a:extLst>
                        <a:ext uri="{9D8B030D-6E8A-4147-A177-3AD203B41FA5}">
                          <a16:colId xmlns:a16="http://schemas.microsoft.com/office/drawing/2014/main" val="1522167951"/>
                        </a:ext>
                      </a:extLst>
                    </a:gridCol>
                  </a:tblGrid>
                  <a:tr h="451601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400" noProof="0" dirty="0"/>
                            <a:t>e) </a:t>
                          </a:r>
                          <a14:m>
                            <m:oMath xmlns:m="http://schemas.openxmlformats.org/officeDocument/2006/math">
                              <m:f>
                                <m:fPr>
                                  <m:ctrlPr>
                                    <a:rPr lang="en-GB" sz="1400" b="0" i="1" noProof="0" smtClean="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num>
                                <m:den>
                                  <m:r>
                                    <a:rPr lang="en-GB" sz="1400" b="0" i="1" noProof="0" smtClean="0">
                                      <a:latin typeface="Cambria Math" panose="02040503050406030204" pitchFamily="18" charset="0"/>
                                    </a:rPr>
                                    <m:t>2</m:t>
                                  </m:r>
                                </m:den>
                              </m:f>
                              <m:r>
                                <a:rPr lang="en-GB" sz="1400" b="0" i="1" noProof="0" smtClean="0">
                                  <a:latin typeface="Cambria Math" panose="02040503050406030204" pitchFamily="18" charset="0"/>
                                </a:rPr>
                                <m:t>+</m:t>
                              </m:r>
                              <m:f>
                                <m:fPr>
                                  <m:ctrlPr>
                                    <a:rPr lang="en-GB" sz="1400" b="0" i="1" noProof="0" smtClean="0">
                                      <a:latin typeface="Cambria Math" panose="02040503050406030204" pitchFamily="18" charset="0"/>
                                    </a:rPr>
                                  </m:ctrlPr>
                                </m:fPr>
                                <m:num>
                                  <m:r>
                                    <a:rPr lang="en-GB" sz="1400" b="0" i="1" noProof="0" smtClean="0">
                                      <a:latin typeface="Cambria Math" panose="02040503050406030204" pitchFamily="18" charset="0"/>
                                    </a:rPr>
                                    <m:t>3</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num>
                                <m:den>
                                  <m:r>
                                    <a:rPr lang="en-GB" sz="1400" b="0" i="1" noProof="0" smtClean="0">
                                      <a:latin typeface="Cambria Math" panose="02040503050406030204" pitchFamily="18" charset="0"/>
                                    </a:rPr>
                                    <m:t>4</m:t>
                                  </m:r>
                                </m:den>
                              </m:f>
                              <m:r>
                                <a:rPr lang="en-GB" sz="1400" b="0" i="1" noProof="0" smtClean="0">
                                  <a:latin typeface="Cambria Math" panose="02040503050406030204" pitchFamily="18" charset="0"/>
                                </a:rPr>
                                <m:t>=4</m:t>
                              </m:r>
                            </m:oMath>
                          </a14:m>
                          <a:endParaRPr lang="en-GB" sz="1400" noProof="0" dirty="0"/>
                        </a:p>
                        <a:p>
                          <a:endParaRPr lang="en-GB" noProof="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400" noProof="0" dirty="0"/>
                            <a:t>f)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4</m:t>
                                  </m:r>
                                  <m:r>
                                    <a:rPr lang="en-GB" sz="1400" i="1" noProof="0" smtClean="0">
                                      <a:latin typeface="Cambria Math" panose="02040503050406030204" pitchFamily="18" charset="0"/>
                                    </a:rPr>
                                    <m:t>𝑥</m:t>
                                  </m:r>
                                  <m:r>
                                    <a:rPr lang="en-GB" sz="1400" i="1" noProof="0" smtClean="0">
                                      <a:latin typeface="Cambria Math" panose="02040503050406030204" pitchFamily="18" charset="0"/>
                                    </a:rPr>
                                    <m:t>+1</m:t>
                                  </m:r>
                                </m:num>
                                <m:den>
                                  <m:r>
                                    <a:rPr lang="en-GB" sz="1400" b="0" i="1" noProof="0" smtClean="0">
                                      <a:latin typeface="Cambria Math" panose="02040503050406030204" pitchFamily="18" charset="0"/>
                                    </a:rPr>
                                    <m:t>3</m:t>
                                  </m:r>
                                </m:den>
                              </m:f>
                              <m:r>
                                <a:rPr lang="en-GB" sz="1400" b="0" i="1" noProof="0" smtClean="0">
                                  <a:latin typeface="Cambria Math" panose="02040503050406030204" pitchFamily="18" charset="0"/>
                                </a:rPr>
                                <m:t>−</m:t>
                              </m:r>
                              <m:f>
                                <m:fPr>
                                  <m:ctrlPr>
                                    <a:rPr lang="en-GB" sz="1400" i="1" noProof="0" smtClean="0">
                                      <a:latin typeface="Cambria Math" panose="02040503050406030204" pitchFamily="18" charset="0"/>
                                    </a:rPr>
                                  </m:ctrlPr>
                                </m:fPr>
                                <m:num>
                                  <m:r>
                                    <a:rPr lang="en-GB" sz="1400" i="1" noProof="0" smtClean="0">
                                      <a:latin typeface="Cambria Math" panose="02040503050406030204" pitchFamily="18" charset="0"/>
                                    </a:rPr>
                                    <m:t>𝑥</m:t>
                                  </m:r>
                                  <m:r>
                                    <a:rPr lang="en-GB" sz="1400" i="1" noProof="0" smtClean="0">
                                      <a:latin typeface="Cambria Math" panose="02040503050406030204" pitchFamily="18" charset="0"/>
                                    </a:rPr>
                                    <m:t>+2</m:t>
                                  </m:r>
                                </m:num>
                                <m:den>
                                  <m:r>
                                    <a:rPr lang="en-GB" sz="1400" b="0" i="1" noProof="0" smtClean="0">
                                      <a:latin typeface="Cambria Math" panose="02040503050406030204" pitchFamily="18" charset="0"/>
                                    </a:rPr>
                                    <m:t>4</m:t>
                                  </m:r>
                                </m:den>
                              </m:f>
                              <m:r>
                                <a:rPr lang="en-GB" sz="1400" i="1" noProof="0" smtClean="0">
                                  <a:latin typeface="Cambria Math" panose="02040503050406030204" pitchFamily="18" charset="0"/>
                                </a:rPr>
                                <m:t>=</m:t>
                              </m:r>
                              <m:r>
                                <a:rPr lang="en-GB" sz="1400" b="0" i="1" noProof="0" smtClean="0">
                                  <a:latin typeface="Cambria Math" panose="02040503050406030204" pitchFamily="18" charset="0"/>
                                </a:rPr>
                                <m:t>2</m:t>
                              </m:r>
                            </m:oMath>
                          </a14:m>
                          <a:endParaRPr lang="en-GB" noProof="0" dirty="0"/>
                        </a:p>
                      </a:txBody>
                      <a:tcPr/>
                    </a:tc>
                    <a:extLst>
                      <a:ext uri="{0D108BD9-81ED-4DB2-BD59-A6C34878D82A}">
                        <a16:rowId xmlns:a16="http://schemas.microsoft.com/office/drawing/2014/main" val="2117485703"/>
                      </a:ext>
                    </a:extLst>
                  </a:tr>
                  <a:tr h="4516014">
                    <a:tc>
                      <a:txBody>
                        <a:bodyPr/>
                        <a:lstStyle/>
                        <a:p>
                          <a:r>
                            <a:rPr lang="en-GB" noProof="0" dirty="0"/>
                            <a:t>g)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2</m:t>
                                  </m:r>
                                  <m:r>
                                    <a:rPr lang="en-GB" sz="1400" i="1" noProof="0" smtClean="0">
                                      <a:latin typeface="Cambria Math" panose="02040503050406030204" pitchFamily="18" charset="0"/>
                                    </a:rPr>
                                    <m:t>𝑥</m:t>
                                  </m:r>
                                  <m:r>
                                    <a:rPr lang="en-GB" sz="1400" i="1" noProof="0" smtClean="0">
                                      <a:latin typeface="Cambria Math" panose="02040503050406030204" pitchFamily="18" charset="0"/>
                                    </a:rPr>
                                    <m:t>+1</m:t>
                                  </m:r>
                                </m:num>
                                <m:den>
                                  <m:r>
                                    <a:rPr lang="en-GB" sz="1400" b="0" i="1" noProof="0" smtClean="0">
                                      <a:latin typeface="Cambria Math" panose="02040503050406030204" pitchFamily="18" charset="0"/>
                                    </a:rPr>
                                    <m:t>2</m:t>
                                  </m:r>
                                </m:den>
                              </m:f>
                              <m:r>
                                <a:rPr lang="en-GB" sz="1400" b="0" i="1" noProof="0" smtClean="0">
                                  <a:latin typeface="Cambria Math" panose="02040503050406030204" pitchFamily="18" charset="0"/>
                                </a:rPr>
                                <m:t>−</m:t>
                              </m:r>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num>
                                <m:den>
                                  <m:r>
                                    <a:rPr lang="en-GB" sz="1400" b="0" i="1" noProof="0" smtClean="0">
                                      <a:latin typeface="Cambria Math" panose="02040503050406030204" pitchFamily="18" charset="0"/>
                                    </a:rPr>
                                    <m:t>7</m:t>
                                  </m:r>
                                </m:den>
                              </m:f>
                              <m:r>
                                <a:rPr lang="en-GB" sz="1400" i="1" noProof="0" smtClean="0">
                                  <a:latin typeface="Cambria Math" panose="02040503050406030204" pitchFamily="18" charset="0"/>
                                </a:rPr>
                                <m:t>=</m:t>
                              </m:r>
                              <m:r>
                                <a:rPr lang="en-GB" sz="1400" b="0" i="1" noProof="0" smtClean="0">
                                  <a:latin typeface="Cambria Math" panose="02040503050406030204" pitchFamily="18" charset="0"/>
                                </a:rPr>
                                <m:t>1</m:t>
                              </m:r>
                            </m:oMath>
                          </a14:m>
                          <a:endParaRPr lang="en-GB" noProof="0" dirty="0"/>
                        </a:p>
                      </a:txBody>
                      <a:tcPr/>
                    </a:tc>
                    <a:tc>
                      <a:txBody>
                        <a:bodyPr/>
                        <a:lstStyle/>
                        <a:p>
                          <a:r>
                            <a:rPr lang="en-GB" noProof="0" dirty="0"/>
                            <a:t>h) </a:t>
                          </a:r>
                          <a14:m>
                            <m:oMath xmlns:m="http://schemas.openxmlformats.org/officeDocument/2006/math">
                              <m:f>
                                <m:fPr>
                                  <m:ctrlPr>
                                    <a:rPr lang="en-GB" sz="1400" b="0" i="1" noProof="0" smtClean="0">
                                      <a:latin typeface="Cambria Math" panose="02040503050406030204" pitchFamily="18" charset="0"/>
                                    </a:rPr>
                                  </m:ctrlPr>
                                </m:fPr>
                                <m:num>
                                  <m:r>
                                    <a:rPr lang="en-GB" sz="1400" b="0" i="1" noProof="0" smtClean="0">
                                      <a:latin typeface="Cambria Math" panose="02040503050406030204" pitchFamily="18" charset="0"/>
                                    </a:rPr>
                                    <m:t>3</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num>
                                <m:den>
                                  <m:r>
                                    <a:rPr lang="en-GB" sz="1400" b="0" i="1" noProof="0" smtClean="0">
                                      <a:latin typeface="Cambria Math" panose="02040503050406030204" pitchFamily="18" charset="0"/>
                                    </a:rPr>
                                    <m:t>5</m:t>
                                  </m:r>
                                </m:den>
                              </m:f>
                              <m:r>
                                <a:rPr lang="en-GB" sz="1400" b="0" i="1" noProof="0" smtClean="0">
                                  <a:latin typeface="Cambria Math" panose="02040503050406030204" pitchFamily="18" charset="0"/>
                                </a:rPr>
                                <m:t>−</m:t>
                              </m:r>
                              <m:f>
                                <m:fPr>
                                  <m:ctrlPr>
                                    <a:rPr lang="en-GB" sz="1400" b="0" i="1" noProof="0" smtClean="0">
                                      <a:latin typeface="Cambria Math" panose="02040503050406030204" pitchFamily="18" charset="0"/>
                                    </a:rPr>
                                  </m:ctrlPr>
                                </m:fPr>
                                <m:num>
                                  <m:r>
                                    <a:rPr lang="en-GB" sz="1400" b="0" i="1" noProof="0" smtClean="0">
                                      <a:latin typeface="Cambria Math" panose="02040503050406030204" pitchFamily="18" charset="0"/>
                                    </a:rPr>
                                    <m:t>5</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num>
                                <m:den>
                                  <m:r>
                                    <a:rPr lang="en-GB" sz="1400" b="0" i="1" noProof="0" smtClean="0">
                                      <a:latin typeface="Cambria Math" panose="02040503050406030204" pitchFamily="18" charset="0"/>
                                    </a:rPr>
                                    <m:t>7</m:t>
                                  </m:r>
                                </m:den>
                              </m:f>
                              <m:r>
                                <a:rPr lang="en-GB" sz="1400" b="0" i="1" noProof="0" smtClean="0">
                                  <a:latin typeface="Cambria Math" panose="02040503050406030204" pitchFamily="18" charset="0"/>
                                </a:rPr>
                                <m:t>=0</m:t>
                              </m:r>
                            </m:oMath>
                          </a14:m>
                          <a:endParaRPr lang="en-GB" noProof="0" dirty="0"/>
                        </a:p>
                      </a:txBody>
                      <a:tcPr/>
                    </a:tc>
                    <a:extLst>
                      <a:ext uri="{0D108BD9-81ED-4DB2-BD59-A6C34878D82A}">
                        <a16:rowId xmlns:a16="http://schemas.microsoft.com/office/drawing/2014/main" val="4090492603"/>
                      </a:ext>
                    </a:extLst>
                  </a:tr>
                </a:tbl>
              </a:graphicData>
            </a:graphic>
          </p:graphicFrame>
        </mc:Choice>
        <mc:Fallback xmlns="">
          <p:graphicFrame>
            <p:nvGraphicFramePr>
              <p:cNvPr id="3" name="Table 2">
                <a:extLst>
                  <a:ext uri="{FF2B5EF4-FFF2-40B4-BE49-F238E27FC236}">
                    <a16:creationId xmlns:a16="http://schemas.microsoft.com/office/drawing/2014/main" id="{B56F4F7A-8B5E-1BE4-4875-ABEE13F2C335}"/>
                  </a:ext>
                </a:extLst>
              </p:cNvPr>
              <p:cNvGraphicFramePr>
                <a:graphicFrameLocks noGrp="1"/>
              </p:cNvGraphicFramePr>
              <p:nvPr>
                <p:extLst>
                  <p:ext uri="{D42A27DB-BD31-4B8C-83A1-F6EECF244321}">
                    <p14:modId xmlns:p14="http://schemas.microsoft.com/office/powerpoint/2010/main" val="160239302"/>
                  </p:ext>
                </p:extLst>
              </p:nvPr>
            </p:nvGraphicFramePr>
            <p:xfrm>
              <a:off x="112866" y="413070"/>
              <a:ext cx="6632268" cy="9032028"/>
            </p:xfrm>
            <a:graphic>
              <a:graphicData uri="http://schemas.openxmlformats.org/drawingml/2006/table">
                <a:tbl>
                  <a:tblPr firstRow="1" bandRow="1">
                    <a:tableStyleId>{5940675A-B579-460E-94D1-54222C63F5DA}</a:tableStyleId>
                  </a:tblPr>
                  <a:tblGrid>
                    <a:gridCol w="3316134">
                      <a:extLst>
                        <a:ext uri="{9D8B030D-6E8A-4147-A177-3AD203B41FA5}">
                          <a16:colId xmlns:a16="http://schemas.microsoft.com/office/drawing/2014/main" val="2553790693"/>
                        </a:ext>
                      </a:extLst>
                    </a:gridCol>
                    <a:gridCol w="3316134">
                      <a:extLst>
                        <a:ext uri="{9D8B030D-6E8A-4147-A177-3AD203B41FA5}">
                          <a16:colId xmlns:a16="http://schemas.microsoft.com/office/drawing/2014/main" val="1522167951"/>
                        </a:ext>
                      </a:extLst>
                    </a:gridCol>
                  </a:tblGrid>
                  <a:tr h="4516014">
                    <a:tc>
                      <a:txBody>
                        <a:bodyPr/>
                        <a:lstStyle/>
                        <a:p>
                          <a:endParaRPr lang="en-US"/>
                        </a:p>
                      </a:txBody>
                      <a:tcPr>
                        <a:blipFill>
                          <a:blip r:embed="rId2"/>
                          <a:stretch>
                            <a:fillRect l="-183" t="-135" r="-100183" b="-100135"/>
                          </a:stretch>
                        </a:blipFill>
                      </a:tcPr>
                    </a:tc>
                    <a:tc>
                      <a:txBody>
                        <a:bodyPr/>
                        <a:lstStyle/>
                        <a:p>
                          <a:endParaRPr lang="en-US"/>
                        </a:p>
                      </a:txBody>
                      <a:tcPr>
                        <a:blipFill>
                          <a:blip r:embed="rId2"/>
                          <a:stretch>
                            <a:fillRect l="-100368" t="-135" r="-368" b="-100135"/>
                          </a:stretch>
                        </a:blipFill>
                      </a:tcPr>
                    </a:tc>
                    <a:extLst>
                      <a:ext uri="{0D108BD9-81ED-4DB2-BD59-A6C34878D82A}">
                        <a16:rowId xmlns:a16="http://schemas.microsoft.com/office/drawing/2014/main" val="2117485703"/>
                      </a:ext>
                    </a:extLst>
                  </a:tr>
                  <a:tr h="4516014">
                    <a:tc>
                      <a:txBody>
                        <a:bodyPr/>
                        <a:lstStyle/>
                        <a:p>
                          <a:endParaRPr lang="en-US"/>
                        </a:p>
                      </a:txBody>
                      <a:tcPr>
                        <a:blipFill>
                          <a:blip r:embed="rId2"/>
                          <a:stretch>
                            <a:fillRect l="-183" t="-100270" r="-100183" b="-270"/>
                          </a:stretch>
                        </a:blipFill>
                      </a:tcPr>
                    </a:tc>
                    <a:tc>
                      <a:txBody>
                        <a:bodyPr/>
                        <a:lstStyle/>
                        <a:p>
                          <a:endParaRPr lang="en-US"/>
                        </a:p>
                      </a:txBody>
                      <a:tcPr>
                        <a:blipFill>
                          <a:blip r:embed="rId2"/>
                          <a:stretch>
                            <a:fillRect l="-100368" t="-100270" r="-368" b="-270"/>
                          </a:stretch>
                        </a:blipFill>
                      </a:tcPr>
                    </a:tc>
                    <a:extLst>
                      <a:ext uri="{0D108BD9-81ED-4DB2-BD59-A6C34878D82A}">
                        <a16:rowId xmlns:a16="http://schemas.microsoft.com/office/drawing/2014/main" val="4090492603"/>
                      </a:ext>
                    </a:extLst>
                  </a:tr>
                </a:tbl>
              </a:graphicData>
            </a:graphic>
          </p:graphicFrame>
        </mc:Fallback>
      </mc:AlternateContent>
    </p:spTree>
    <p:extLst>
      <p:ext uri="{BB962C8B-B14F-4D97-AF65-F5344CB8AC3E}">
        <p14:creationId xmlns:p14="http://schemas.microsoft.com/office/powerpoint/2010/main" val="36928864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5" name="Table 34"/>
              <p:cNvGraphicFramePr>
                <a:graphicFrameLocks noGrp="1"/>
              </p:cNvGraphicFramePr>
              <p:nvPr>
                <p:extLst>
                  <p:ext uri="{D42A27DB-BD31-4B8C-83A1-F6EECF244321}">
                    <p14:modId xmlns:p14="http://schemas.microsoft.com/office/powerpoint/2010/main" val="2752998950"/>
                  </p:ext>
                </p:extLst>
              </p:nvPr>
            </p:nvGraphicFramePr>
            <p:xfrm>
              <a:off x="187105" y="338784"/>
              <a:ext cx="6557514" cy="4513767"/>
            </p:xfrm>
            <a:graphic>
              <a:graphicData uri="http://schemas.openxmlformats.org/drawingml/2006/table">
                <a:tbl>
                  <a:tblPr firstRow="1" bandRow="1">
                    <a:tableStyleId>{5C22544A-7EE6-4342-B048-85BDC9FD1C3A}</a:tableStyleId>
                  </a:tblPr>
                  <a:tblGrid>
                    <a:gridCol w="1177364">
                      <a:extLst>
                        <a:ext uri="{9D8B030D-6E8A-4147-A177-3AD203B41FA5}">
                          <a16:colId xmlns:a16="http://schemas.microsoft.com/office/drawing/2014/main" val="1568142362"/>
                        </a:ext>
                      </a:extLst>
                    </a:gridCol>
                    <a:gridCol w="2690075">
                      <a:extLst>
                        <a:ext uri="{9D8B030D-6E8A-4147-A177-3AD203B41FA5}">
                          <a16:colId xmlns:a16="http://schemas.microsoft.com/office/drawing/2014/main" val="3551711160"/>
                        </a:ext>
                      </a:extLst>
                    </a:gridCol>
                    <a:gridCol w="2690075">
                      <a:extLst>
                        <a:ext uri="{9D8B030D-6E8A-4147-A177-3AD203B41FA5}">
                          <a16:colId xmlns:a16="http://schemas.microsoft.com/office/drawing/2014/main" val="2470897508"/>
                        </a:ext>
                      </a:extLst>
                    </a:gridCol>
                  </a:tblGrid>
                  <a:tr h="364371">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4803">
                    <a:tc>
                      <a:txBody>
                        <a:bodyPr/>
                        <a:lstStyle/>
                        <a:p>
                          <a:r>
                            <a:rPr lang="en-GB" sz="1060" noProof="0" dirty="0">
                              <a:solidFill>
                                <a:schemeClr val="tx1"/>
                              </a:solidFill>
                            </a:rPr>
                            <a:t>1) Multiply through the make the </a:t>
                          </a:r>
                        </a:p>
                        <a:p>
                          <a:r>
                            <a:rPr lang="en-GB" sz="1060" noProof="0" dirty="0">
                              <a:solidFill>
                                <a:schemeClr val="tx1"/>
                              </a:solidFill>
                            </a:rPr>
                            <a:t>denominators</a:t>
                          </a:r>
                          <a:r>
                            <a:rPr lang="en-GB" sz="1060" baseline="0" noProof="0" dirty="0">
                              <a:solidFill>
                                <a:schemeClr val="tx1"/>
                              </a:solidFill>
                            </a:rPr>
                            <a:t> the same.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35201">
                    <a:tc>
                      <a:txBody>
                        <a:bodyPr/>
                        <a:lstStyle/>
                        <a:p>
                          <a:r>
                            <a:rPr lang="en-GB" sz="1060" noProof="0" dirty="0">
                              <a:solidFill>
                                <a:schemeClr val="tx1"/>
                              </a:solidFill>
                            </a:rPr>
                            <a:t>2) Expand and simplify the numerators.</a:t>
                          </a:r>
                          <a:r>
                            <a:rPr lang="en-GB" sz="1060" baseline="0" noProof="0" dirty="0">
                              <a:solidFill>
                                <a:schemeClr val="tx1"/>
                              </a:solidFill>
                            </a:rPr>
                            <a:t>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709432">
                    <a:tc>
                      <a:txBody>
                        <a:bodyPr/>
                        <a:lstStyle/>
                        <a:p>
                          <a:r>
                            <a:rPr lang="en-GB" sz="1060" noProof="0" dirty="0">
                              <a:solidFill>
                                <a:schemeClr val="tx1"/>
                              </a:solidFill>
                            </a:rPr>
                            <a:t>3) Multiply</a:t>
                          </a:r>
                          <a:r>
                            <a:rPr lang="en-GB" sz="1060" baseline="0" noProof="0" dirty="0">
                              <a:solidFill>
                                <a:schemeClr val="tx1"/>
                              </a:solidFill>
                            </a:rPr>
                            <a:t> through by the denominator.</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r h="635201">
                    <a:tc>
                      <a:txBody>
                        <a:bodyPr/>
                        <a:lstStyle/>
                        <a:p>
                          <a:r>
                            <a:rPr lang="en-GB" sz="1060" noProof="0" dirty="0">
                              <a:solidFill>
                                <a:schemeClr val="tx1"/>
                              </a:solidFill>
                            </a:rPr>
                            <a:t>4)</a:t>
                          </a:r>
                          <a:r>
                            <a:rPr lang="en-GB" sz="1060" baseline="0" noProof="0" dirty="0">
                              <a:solidFill>
                                <a:schemeClr val="tx1"/>
                              </a:solidFill>
                            </a:rPr>
                            <a:t> Expand and simplify the RHS.</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846642217"/>
                      </a:ext>
                    </a:extLst>
                  </a:tr>
                  <a:tr h="635201">
                    <a:tc>
                      <a:txBody>
                        <a:bodyPr/>
                        <a:lstStyle/>
                        <a:p>
                          <a:r>
                            <a:rPr lang="en-GB" sz="1060" noProof="0" dirty="0">
                              <a:solidFill>
                                <a:schemeClr val="tx1"/>
                              </a:solidFill>
                            </a:rPr>
                            <a:t>5) Rearrange</a:t>
                          </a:r>
                          <a:r>
                            <a:rPr lang="en-GB" sz="1060" baseline="0" noProof="0" dirty="0">
                              <a:solidFill>
                                <a:schemeClr val="tx1"/>
                              </a:solidFill>
                            </a:rPr>
                            <a:t> into form </a:t>
                          </a:r>
                          <a14:m>
                            <m:oMath xmlns:m="http://schemas.openxmlformats.org/officeDocument/2006/math">
                              <m:r>
                                <a:rPr lang="en-GB" sz="800" b="0" i="1" baseline="0" noProof="0" smtClean="0">
                                  <a:solidFill>
                                    <a:schemeClr val="tx1"/>
                                  </a:solidFill>
                                  <a:latin typeface="Cambria Math" panose="02040503050406030204" pitchFamily="18" charset="0"/>
                                </a:rPr>
                                <m:t>𝑎</m:t>
                              </m:r>
                              <m:sSup>
                                <m:sSupPr>
                                  <m:ctrlPr>
                                    <a:rPr lang="en-GB" sz="800" b="0" i="1" baseline="0" noProof="0" smtClean="0">
                                      <a:solidFill>
                                        <a:schemeClr val="tx1"/>
                                      </a:solidFill>
                                      <a:latin typeface="Cambria Math" panose="02040503050406030204" pitchFamily="18" charset="0"/>
                                    </a:rPr>
                                  </m:ctrlPr>
                                </m:sSupPr>
                                <m:e>
                                  <m:r>
                                    <a:rPr lang="en-GB" sz="800" b="0" i="1" baseline="0" noProof="0" smtClean="0">
                                      <a:solidFill>
                                        <a:schemeClr val="tx1"/>
                                      </a:solidFill>
                                      <a:latin typeface="Cambria Math" panose="02040503050406030204" pitchFamily="18" charset="0"/>
                                    </a:rPr>
                                    <m:t>𝑥</m:t>
                                  </m:r>
                                </m:e>
                                <m:sup>
                                  <m:r>
                                    <a:rPr lang="en-GB" sz="800" b="0" i="1" baseline="0" noProof="0" smtClean="0">
                                      <a:solidFill>
                                        <a:schemeClr val="tx1"/>
                                      </a:solidFill>
                                      <a:latin typeface="Cambria Math" panose="02040503050406030204" pitchFamily="18" charset="0"/>
                                    </a:rPr>
                                    <m:t>2</m:t>
                                  </m:r>
                                </m:sup>
                              </m:sSup>
                              <m:r>
                                <a:rPr lang="en-GB" sz="800" b="0" i="1" baseline="0" noProof="0" smtClean="0">
                                  <a:solidFill>
                                    <a:schemeClr val="tx1"/>
                                  </a:solidFill>
                                  <a:latin typeface="Cambria Math" panose="02040503050406030204" pitchFamily="18" charset="0"/>
                                </a:rPr>
                                <m:t>+</m:t>
                              </m:r>
                              <m:r>
                                <a:rPr lang="en-GB" sz="800" b="0" i="1" baseline="0" noProof="0" smtClean="0">
                                  <a:solidFill>
                                    <a:schemeClr val="tx1"/>
                                  </a:solidFill>
                                  <a:latin typeface="Cambria Math" panose="02040503050406030204" pitchFamily="18" charset="0"/>
                                </a:rPr>
                                <m:t>𝑏𝑥</m:t>
                              </m:r>
                              <m:r>
                                <a:rPr lang="en-GB" sz="800" b="0" i="1" baseline="0" noProof="0" smtClean="0">
                                  <a:solidFill>
                                    <a:schemeClr val="tx1"/>
                                  </a:solidFill>
                                  <a:latin typeface="Cambria Math" panose="02040503050406030204" pitchFamily="18" charset="0"/>
                                </a:rPr>
                                <m:t>+</m:t>
                              </m:r>
                              <m:r>
                                <a:rPr lang="en-GB" sz="800" b="0" i="1" baseline="0" noProof="0" smtClean="0">
                                  <a:solidFill>
                                    <a:schemeClr val="tx1"/>
                                  </a:solidFill>
                                  <a:latin typeface="Cambria Math" panose="02040503050406030204" pitchFamily="18" charset="0"/>
                                </a:rPr>
                                <m:t>𝑐</m:t>
                              </m:r>
                              <m:r>
                                <a:rPr lang="en-GB" sz="800" b="0" i="1" baseline="0" noProof="0" smtClean="0">
                                  <a:solidFill>
                                    <a:schemeClr val="tx1"/>
                                  </a:solidFill>
                                  <a:latin typeface="Cambria Math" panose="02040503050406030204" pitchFamily="18" charset="0"/>
                                </a:rPr>
                                <m:t>=0</m:t>
                              </m:r>
                            </m:oMath>
                          </a14:m>
                          <a:endParaRPr lang="en-GB" sz="8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51377966"/>
                      </a:ext>
                    </a:extLst>
                  </a:tr>
                  <a:tr h="635201">
                    <a:tc>
                      <a:txBody>
                        <a:bodyPr/>
                        <a:lstStyle/>
                        <a:p>
                          <a:r>
                            <a:rPr lang="en-GB" sz="1100" noProof="0" dirty="0">
                              <a:solidFill>
                                <a:schemeClr val="tx1"/>
                              </a:solidFill>
                            </a:rPr>
                            <a:t>6) Solve the quadratic equation.</a:t>
                          </a:r>
                          <a:r>
                            <a:rPr lang="en-GB" sz="1100" baseline="0" noProof="0" dirty="0">
                              <a:solidFill>
                                <a:schemeClr val="tx1"/>
                              </a:solidFill>
                            </a:rPr>
                            <a:t>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56251899"/>
                      </a:ext>
                    </a:extLst>
                  </a:tr>
                </a:tbl>
              </a:graphicData>
            </a:graphic>
          </p:graphicFrame>
        </mc:Choice>
        <mc:Fallback xmlns="">
          <p:graphicFrame>
            <p:nvGraphicFramePr>
              <p:cNvPr id="35" name="Table 34"/>
              <p:cNvGraphicFramePr>
                <a:graphicFrameLocks noGrp="1"/>
              </p:cNvGraphicFramePr>
              <p:nvPr>
                <p:extLst>
                  <p:ext uri="{D42A27DB-BD31-4B8C-83A1-F6EECF244321}">
                    <p14:modId xmlns:p14="http://schemas.microsoft.com/office/powerpoint/2010/main" val="2752998950"/>
                  </p:ext>
                </p:extLst>
              </p:nvPr>
            </p:nvGraphicFramePr>
            <p:xfrm>
              <a:off x="187105" y="338784"/>
              <a:ext cx="6557514" cy="4513767"/>
            </p:xfrm>
            <a:graphic>
              <a:graphicData uri="http://schemas.openxmlformats.org/drawingml/2006/table">
                <a:tbl>
                  <a:tblPr firstRow="1" bandRow="1">
                    <a:tableStyleId>{5C22544A-7EE6-4342-B048-85BDC9FD1C3A}</a:tableStyleId>
                  </a:tblPr>
                  <a:tblGrid>
                    <a:gridCol w="1177364">
                      <a:extLst>
                        <a:ext uri="{9D8B030D-6E8A-4147-A177-3AD203B41FA5}">
                          <a16:colId xmlns:a16="http://schemas.microsoft.com/office/drawing/2014/main" val="1568142362"/>
                        </a:ext>
                      </a:extLst>
                    </a:gridCol>
                    <a:gridCol w="2690075">
                      <a:extLst>
                        <a:ext uri="{9D8B030D-6E8A-4147-A177-3AD203B41FA5}">
                          <a16:colId xmlns:a16="http://schemas.microsoft.com/office/drawing/2014/main" val="3551711160"/>
                        </a:ext>
                      </a:extLst>
                    </a:gridCol>
                    <a:gridCol w="2690075">
                      <a:extLst>
                        <a:ext uri="{9D8B030D-6E8A-4147-A177-3AD203B41FA5}">
                          <a16:colId xmlns:a16="http://schemas.microsoft.com/office/drawing/2014/main" val="2470897508"/>
                        </a:ext>
                      </a:extLst>
                    </a:gridCol>
                  </a:tblGrid>
                  <a:tr h="364371">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99160">
                    <a:tc>
                      <a:txBody>
                        <a:bodyPr/>
                        <a:lstStyle/>
                        <a:p>
                          <a:r>
                            <a:rPr lang="en-GB" sz="1060" noProof="0">
                              <a:solidFill>
                                <a:schemeClr val="tx1"/>
                              </a:solidFill>
                            </a:rPr>
                            <a:t>1) Multiply through the make the </a:t>
                          </a:r>
                        </a:p>
                        <a:p>
                          <a:r>
                            <a:rPr lang="en-GB" sz="1060" noProof="0">
                              <a:solidFill>
                                <a:schemeClr val="tx1"/>
                              </a:solidFill>
                            </a:rPr>
                            <a:t>denominators</a:t>
                          </a:r>
                          <a:r>
                            <a:rPr lang="en-GB" sz="1060" baseline="0" noProof="0">
                              <a:solidFill>
                                <a:schemeClr val="tx1"/>
                              </a:solidFill>
                            </a:rPr>
                            <a:t> the same. </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35201">
                    <a:tc>
                      <a:txBody>
                        <a:bodyPr/>
                        <a:lstStyle/>
                        <a:p>
                          <a:r>
                            <a:rPr lang="en-GB" sz="1060" noProof="0">
                              <a:solidFill>
                                <a:schemeClr val="tx1"/>
                              </a:solidFill>
                            </a:rPr>
                            <a:t>2) Expand and simplify the numerators.</a:t>
                          </a:r>
                          <a:r>
                            <a:rPr lang="en-GB" sz="1060" baseline="0" noProof="0">
                              <a:solidFill>
                                <a:schemeClr val="tx1"/>
                              </a:solidFill>
                            </a:rPr>
                            <a:t> </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709432">
                    <a:tc>
                      <a:txBody>
                        <a:bodyPr/>
                        <a:lstStyle/>
                        <a:p>
                          <a:r>
                            <a:rPr lang="en-GB" sz="1060" noProof="0">
                              <a:solidFill>
                                <a:schemeClr val="tx1"/>
                              </a:solidFill>
                            </a:rPr>
                            <a:t>3) Multiply</a:t>
                          </a:r>
                          <a:r>
                            <a:rPr lang="en-GB" sz="1060" baseline="0" noProof="0">
                              <a:solidFill>
                                <a:schemeClr val="tx1"/>
                              </a:solidFill>
                            </a:rPr>
                            <a:t> through by the denominator.</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r h="635201">
                    <a:tc>
                      <a:txBody>
                        <a:bodyPr/>
                        <a:lstStyle/>
                        <a:p>
                          <a:r>
                            <a:rPr lang="en-GB" sz="1060" noProof="0">
                              <a:solidFill>
                                <a:schemeClr val="tx1"/>
                              </a:solidFill>
                            </a:rPr>
                            <a:t>4)</a:t>
                          </a:r>
                          <a:r>
                            <a:rPr lang="en-GB" sz="1060" baseline="0" noProof="0">
                              <a:solidFill>
                                <a:schemeClr val="tx1"/>
                              </a:solidFill>
                            </a:rPr>
                            <a:t> Expand and simplify the RHS.</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846642217"/>
                      </a:ext>
                    </a:extLst>
                  </a:tr>
                  <a:tr h="63520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18" t="-508571" r="-459067" b="-100952"/>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51377966"/>
                      </a:ext>
                    </a:extLst>
                  </a:tr>
                  <a:tr h="635201">
                    <a:tc>
                      <a:txBody>
                        <a:bodyPr/>
                        <a:lstStyle/>
                        <a:p>
                          <a:r>
                            <a:rPr lang="en-GB" sz="1100" noProof="0">
                              <a:solidFill>
                                <a:schemeClr val="tx1"/>
                              </a:solidFill>
                            </a:rPr>
                            <a:t>6) Solve the quadratic equation.</a:t>
                          </a:r>
                          <a:r>
                            <a:rPr lang="en-GB" sz="1100" baseline="0" noProof="0">
                              <a:solidFill>
                                <a:schemeClr val="tx1"/>
                              </a:solidFill>
                            </a:rPr>
                            <a:t>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56251899"/>
                      </a:ext>
                    </a:extLst>
                  </a:tr>
                </a:tbl>
              </a:graphicData>
            </a:graphic>
          </p:graphicFrame>
        </mc:Fallback>
      </mc:AlternateContent>
      <p:sp>
        <p:nvSpPr>
          <p:cNvPr id="17" name="TextBox 16">
            <a:extLst>
              <a:ext uri="{FF2B5EF4-FFF2-40B4-BE49-F238E27FC236}">
                <a16:creationId xmlns:a16="http://schemas.microsoft.com/office/drawing/2014/main" id="{72FAE9BB-D81F-4207-9FF8-E6BE971A99D9}"/>
              </a:ext>
            </a:extLst>
          </p:cNvPr>
          <p:cNvSpPr txBox="1"/>
          <p:nvPr/>
        </p:nvSpPr>
        <p:spPr>
          <a:xfrm>
            <a:off x="2011874" y="4907935"/>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37 - You do…</a:t>
            </a:r>
          </a:p>
        </p:txBody>
      </p:sp>
      <p:sp>
        <p:nvSpPr>
          <p:cNvPr id="19" name="TextBox 18">
            <a:extLst>
              <a:ext uri="{FF2B5EF4-FFF2-40B4-BE49-F238E27FC236}">
                <a16:creationId xmlns:a16="http://schemas.microsoft.com/office/drawing/2014/main" id="{337F58E6-37DE-4890-BDE3-0101DB4D4F11}"/>
              </a:ext>
            </a:extLst>
          </p:cNvPr>
          <p:cNvSpPr txBox="1"/>
          <p:nvPr/>
        </p:nvSpPr>
        <p:spPr>
          <a:xfrm>
            <a:off x="4693637" y="19367"/>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36 - We do…</a:t>
            </a:r>
          </a:p>
        </p:txBody>
      </p:sp>
      <p:sp>
        <p:nvSpPr>
          <p:cNvPr id="20" name="TextBox 19">
            <a:extLst>
              <a:ext uri="{FF2B5EF4-FFF2-40B4-BE49-F238E27FC236}">
                <a16:creationId xmlns:a16="http://schemas.microsoft.com/office/drawing/2014/main" id="{20EB31B5-3203-4E48-8A19-892EA568053E}"/>
              </a:ext>
            </a:extLst>
          </p:cNvPr>
          <p:cNvSpPr txBox="1"/>
          <p:nvPr/>
        </p:nvSpPr>
        <p:spPr>
          <a:xfrm>
            <a:off x="2011874" y="19367"/>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35 - I do…</a:t>
            </a:r>
          </a:p>
        </p:txBody>
      </p:sp>
      <mc:AlternateContent xmlns:mc="http://schemas.openxmlformats.org/markup-compatibility/2006" xmlns:a14="http://schemas.microsoft.com/office/drawing/2010/main">
        <mc:Choice Requires="a14">
          <p:sp>
            <p:nvSpPr>
              <p:cNvPr id="23" name="TextBox 22"/>
              <p:cNvSpPr txBox="1"/>
              <p:nvPr/>
            </p:nvSpPr>
            <p:spPr>
              <a:xfrm>
                <a:off x="2011874" y="334005"/>
                <a:ext cx="1453988" cy="357406"/>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+8</m:t>
                        </m:r>
                      </m:den>
                    </m:f>
                    <m:r>
                      <a:rPr lang="en-GB" sz="1200" b="0" i="1" noProof="0" smtClean="0">
                        <a:latin typeface="Cambria Math" panose="02040503050406030204" pitchFamily="18" charset="0"/>
                      </a:rPr>
                      <m:t>=1</m:t>
                    </m:r>
                  </m:oMath>
                </a14:m>
                <a:endParaRPr lang="en-GB" sz="1200" noProof="0" dirty="0"/>
              </a:p>
            </p:txBody>
          </p:sp>
        </mc:Choice>
        <mc:Fallback xmlns="">
          <p:sp>
            <p:nvSpPr>
              <p:cNvPr id="23" name="TextBox 22"/>
              <p:cNvSpPr txBox="1">
                <a:spLocks noRot="1" noChangeAspect="1" noMove="1" noResize="1" noEditPoints="1" noAdjustHandles="1" noChangeArrowheads="1" noChangeShapeType="1" noTextEdit="1"/>
              </p:cNvSpPr>
              <p:nvPr/>
            </p:nvSpPr>
            <p:spPr>
              <a:xfrm>
                <a:off x="2011874" y="334005"/>
                <a:ext cx="1453988" cy="357406"/>
              </a:xfrm>
              <a:prstGeom prst="rect">
                <a:avLst/>
              </a:prstGeom>
              <a:blipFill>
                <a:blip r:embed="rId3"/>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4797191" y="338781"/>
                <a:ext cx="1450782" cy="354649"/>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−9</m:t>
                        </m:r>
                      </m:den>
                    </m:f>
                    <m:r>
                      <a:rPr lang="en-GB" sz="1200" b="0" i="1" noProof="0" smtClean="0">
                        <a:latin typeface="Cambria Math" panose="02040503050406030204" pitchFamily="18" charset="0"/>
                      </a:rPr>
                      <m:t>=1</m:t>
                    </m:r>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4797191" y="338781"/>
                <a:ext cx="1450782" cy="354649"/>
              </a:xfrm>
              <a:prstGeom prst="rect">
                <a:avLst/>
              </a:prstGeom>
              <a:blipFill>
                <a:blip r:embed="rId4"/>
                <a:stretch>
                  <a:fillRect l="-420" b="-3448"/>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72FAE9BB-D81F-4207-9FF8-E6BE971A99D9}"/>
              </a:ext>
            </a:extLst>
          </p:cNvPr>
          <p:cNvSpPr txBox="1"/>
          <p:nvPr/>
        </p:nvSpPr>
        <p:spPr>
          <a:xfrm>
            <a:off x="4670618" y="4942007"/>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38 - You do…</a:t>
            </a:r>
          </a:p>
        </p:txBody>
      </p:sp>
      <p:sp>
        <p:nvSpPr>
          <p:cNvPr id="3" name="Slide Number Placeholder 2"/>
          <p:cNvSpPr>
            <a:spLocks noGrp="1"/>
          </p:cNvSpPr>
          <p:nvPr>
            <p:ph type="sldNum" sz="quarter" idx="12"/>
          </p:nvPr>
        </p:nvSpPr>
        <p:spPr>
          <a:xfrm>
            <a:off x="5415629" y="9567950"/>
            <a:ext cx="1543050" cy="527403"/>
          </a:xfrm>
        </p:spPr>
        <p:txBody>
          <a:bodyPr/>
          <a:lstStyle/>
          <a:p>
            <a:fld id="{9BD3B4A0-BFF9-422C-B253-48BA94BE2F5B}" type="slidenum">
              <a:rPr lang="en-GB" noProof="0" smtClean="0"/>
              <a:t>29</a:t>
            </a:fld>
            <a:endParaRPr lang="en-GB" noProof="0" dirty="0"/>
          </a:p>
        </p:txBody>
      </p:sp>
      <mc:AlternateContent xmlns:mc="http://schemas.openxmlformats.org/markup-compatibility/2006" xmlns:a14="http://schemas.microsoft.com/office/drawing/2010/main">
        <mc:Choice Requires="a14">
          <p:graphicFrame>
            <p:nvGraphicFramePr>
              <p:cNvPr id="54" name="Table 53"/>
              <p:cNvGraphicFramePr>
                <a:graphicFrameLocks noGrp="1"/>
              </p:cNvGraphicFramePr>
              <p:nvPr>
                <p:extLst>
                  <p:ext uri="{D42A27DB-BD31-4B8C-83A1-F6EECF244321}">
                    <p14:modId xmlns:p14="http://schemas.microsoft.com/office/powerpoint/2010/main" val="460942507"/>
                  </p:ext>
                </p:extLst>
              </p:nvPr>
            </p:nvGraphicFramePr>
            <p:xfrm>
              <a:off x="187105" y="5204828"/>
              <a:ext cx="6557514" cy="4616163"/>
            </p:xfrm>
            <a:graphic>
              <a:graphicData uri="http://schemas.openxmlformats.org/drawingml/2006/table">
                <a:tbl>
                  <a:tblPr firstRow="1" bandRow="1">
                    <a:tableStyleId>{5C22544A-7EE6-4342-B048-85BDC9FD1C3A}</a:tableStyleId>
                  </a:tblPr>
                  <a:tblGrid>
                    <a:gridCol w="1177364">
                      <a:extLst>
                        <a:ext uri="{9D8B030D-6E8A-4147-A177-3AD203B41FA5}">
                          <a16:colId xmlns:a16="http://schemas.microsoft.com/office/drawing/2014/main" val="1568142362"/>
                        </a:ext>
                      </a:extLst>
                    </a:gridCol>
                    <a:gridCol w="2690075">
                      <a:extLst>
                        <a:ext uri="{9D8B030D-6E8A-4147-A177-3AD203B41FA5}">
                          <a16:colId xmlns:a16="http://schemas.microsoft.com/office/drawing/2014/main" val="3551711160"/>
                        </a:ext>
                      </a:extLst>
                    </a:gridCol>
                    <a:gridCol w="2690075">
                      <a:extLst>
                        <a:ext uri="{9D8B030D-6E8A-4147-A177-3AD203B41FA5}">
                          <a16:colId xmlns:a16="http://schemas.microsoft.com/office/drawing/2014/main" val="3726521677"/>
                        </a:ext>
                      </a:extLst>
                    </a:gridCol>
                  </a:tblGrid>
                  <a:tr h="466767">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4803">
                    <a:tc>
                      <a:txBody>
                        <a:bodyPr/>
                        <a:lstStyle/>
                        <a:p>
                          <a:r>
                            <a:rPr lang="en-GB" sz="1060" noProof="0" dirty="0">
                              <a:solidFill>
                                <a:schemeClr val="tx1"/>
                              </a:solidFill>
                            </a:rPr>
                            <a:t>1) Multiply through the make the </a:t>
                          </a:r>
                        </a:p>
                        <a:p>
                          <a:r>
                            <a:rPr lang="en-GB" sz="1060" noProof="0" dirty="0">
                              <a:solidFill>
                                <a:schemeClr val="tx1"/>
                              </a:solidFill>
                            </a:rPr>
                            <a:t>denominators</a:t>
                          </a:r>
                          <a:r>
                            <a:rPr lang="en-GB" sz="1060" baseline="0" noProof="0" dirty="0">
                              <a:solidFill>
                                <a:schemeClr val="tx1"/>
                              </a:solidFill>
                            </a:rPr>
                            <a:t> the same.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35201">
                    <a:tc>
                      <a:txBody>
                        <a:bodyPr/>
                        <a:lstStyle/>
                        <a:p>
                          <a:r>
                            <a:rPr lang="en-GB" sz="1060" noProof="0" dirty="0">
                              <a:solidFill>
                                <a:schemeClr val="tx1"/>
                              </a:solidFill>
                            </a:rPr>
                            <a:t>2) Expand and simplify the numerators.</a:t>
                          </a:r>
                          <a:r>
                            <a:rPr lang="en-GB" sz="1060" baseline="0" noProof="0" dirty="0">
                              <a:solidFill>
                                <a:schemeClr val="tx1"/>
                              </a:solidFill>
                            </a:rPr>
                            <a:t>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709432">
                    <a:tc>
                      <a:txBody>
                        <a:bodyPr/>
                        <a:lstStyle/>
                        <a:p>
                          <a:r>
                            <a:rPr lang="en-GB" sz="1060" noProof="0" dirty="0">
                              <a:solidFill>
                                <a:schemeClr val="tx1"/>
                              </a:solidFill>
                            </a:rPr>
                            <a:t>3) Multiply</a:t>
                          </a:r>
                          <a:r>
                            <a:rPr lang="en-GB" sz="1060" baseline="0" noProof="0" dirty="0">
                              <a:solidFill>
                                <a:schemeClr val="tx1"/>
                              </a:solidFill>
                            </a:rPr>
                            <a:t> through by the denominator.</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r h="635201">
                    <a:tc>
                      <a:txBody>
                        <a:bodyPr/>
                        <a:lstStyle/>
                        <a:p>
                          <a:r>
                            <a:rPr lang="en-GB" sz="1060" noProof="0" dirty="0">
                              <a:solidFill>
                                <a:schemeClr val="tx1"/>
                              </a:solidFill>
                            </a:rPr>
                            <a:t>4)</a:t>
                          </a:r>
                          <a:r>
                            <a:rPr lang="en-GB" sz="1060" baseline="0" noProof="0" dirty="0">
                              <a:solidFill>
                                <a:schemeClr val="tx1"/>
                              </a:solidFill>
                            </a:rPr>
                            <a:t> Expand and simplify the RHS.</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846642217"/>
                      </a:ext>
                    </a:extLst>
                  </a:tr>
                  <a:tr h="635201">
                    <a:tc>
                      <a:txBody>
                        <a:bodyPr/>
                        <a:lstStyle/>
                        <a:p>
                          <a:r>
                            <a:rPr lang="en-GB" sz="1060" noProof="0" dirty="0">
                              <a:solidFill>
                                <a:schemeClr val="tx1"/>
                              </a:solidFill>
                            </a:rPr>
                            <a:t>5) Rearrange</a:t>
                          </a:r>
                          <a:r>
                            <a:rPr lang="en-GB" sz="1060" baseline="0" noProof="0" dirty="0">
                              <a:solidFill>
                                <a:schemeClr val="tx1"/>
                              </a:solidFill>
                            </a:rPr>
                            <a:t> into form </a:t>
                          </a:r>
                          <a14:m>
                            <m:oMath xmlns:m="http://schemas.openxmlformats.org/officeDocument/2006/math">
                              <m:r>
                                <a:rPr lang="en-GB" sz="800" b="0" i="1" baseline="0" noProof="0" smtClean="0">
                                  <a:solidFill>
                                    <a:schemeClr val="tx1"/>
                                  </a:solidFill>
                                  <a:latin typeface="Cambria Math" panose="02040503050406030204" pitchFamily="18" charset="0"/>
                                </a:rPr>
                                <m:t>𝑎</m:t>
                              </m:r>
                              <m:sSup>
                                <m:sSupPr>
                                  <m:ctrlPr>
                                    <a:rPr lang="en-GB" sz="800" b="0" i="1" baseline="0" noProof="0" smtClean="0">
                                      <a:solidFill>
                                        <a:schemeClr val="tx1"/>
                                      </a:solidFill>
                                      <a:latin typeface="Cambria Math" panose="02040503050406030204" pitchFamily="18" charset="0"/>
                                    </a:rPr>
                                  </m:ctrlPr>
                                </m:sSupPr>
                                <m:e>
                                  <m:r>
                                    <a:rPr lang="en-GB" sz="800" b="0" i="1" baseline="0" noProof="0" smtClean="0">
                                      <a:solidFill>
                                        <a:schemeClr val="tx1"/>
                                      </a:solidFill>
                                      <a:latin typeface="Cambria Math" panose="02040503050406030204" pitchFamily="18" charset="0"/>
                                    </a:rPr>
                                    <m:t>𝑥</m:t>
                                  </m:r>
                                </m:e>
                                <m:sup>
                                  <m:r>
                                    <a:rPr lang="en-GB" sz="800" b="0" i="1" baseline="0" noProof="0" smtClean="0">
                                      <a:solidFill>
                                        <a:schemeClr val="tx1"/>
                                      </a:solidFill>
                                      <a:latin typeface="Cambria Math" panose="02040503050406030204" pitchFamily="18" charset="0"/>
                                    </a:rPr>
                                    <m:t>2</m:t>
                                  </m:r>
                                </m:sup>
                              </m:sSup>
                              <m:r>
                                <a:rPr lang="en-GB" sz="800" b="0" i="1" baseline="0" noProof="0" smtClean="0">
                                  <a:solidFill>
                                    <a:schemeClr val="tx1"/>
                                  </a:solidFill>
                                  <a:latin typeface="Cambria Math" panose="02040503050406030204" pitchFamily="18" charset="0"/>
                                </a:rPr>
                                <m:t>+</m:t>
                              </m:r>
                              <m:r>
                                <a:rPr lang="en-GB" sz="800" b="0" i="1" baseline="0" noProof="0" smtClean="0">
                                  <a:solidFill>
                                    <a:schemeClr val="tx1"/>
                                  </a:solidFill>
                                  <a:latin typeface="Cambria Math" panose="02040503050406030204" pitchFamily="18" charset="0"/>
                                </a:rPr>
                                <m:t>𝑏𝑥</m:t>
                              </m:r>
                              <m:r>
                                <a:rPr lang="en-GB" sz="800" b="0" i="1" baseline="0" noProof="0" smtClean="0">
                                  <a:solidFill>
                                    <a:schemeClr val="tx1"/>
                                  </a:solidFill>
                                  <a:latin typeface="Cambria Math" panose="02040503050406030204" pitchFamily="18" charset="0"/>
                                </a:rPr>
                                <m:t>+</m:t>
                              </m:r>
                              <m:r>
                                <a:rPr lang="en-GB" sz="800" b="0" i="1" baseline="0" noProof="0" smtClean="0">
                                  <a:solidFill>
                                    <a:schemeClr val="tx1"/>
                                  </a:solidFill>
                                  <a:latin typeface="Cambria Math" panose="02040503050406030204" pitchFamily="18" charset="0"/>
                                </a:rPr>
                                <m:t>𝑐</m:t>
                              </m:r>
                              <m:r>
                                <a:rPr lang="en-GB" sz="800" b="0" i="1" baseline="0" noProof="0" smtClean="0">
                                  <a:solidFill>
                                    <a:schemeClr val="tx1"/>
                                  </a:solidFill>
                                  <a:latin typeface="Cambria Math" panose="02040503050406030204" pitchFamily="18" charset="0"/>
                                </a:rPr>
                                <m:t>=0</m:t>
                              </m:r>
                            </m:oMath>
                          </a14:m>
                          <a:endParaRPr lang="en-GB" sz="8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51377966"/>
                      </a:ext>
                    </a:extLst>
                  </a:tr>
                  <a:tr h="635201">
                    <a:tc>
                      <a:txBody>
                        <a:bodyPr/>
                        <a:lstStyle/>
                        <a:p>
                          <a:r>
                            <a:rPr lang="en-GB" sz="1100" noProof="0" dirty="0">
                              <a:solidFill>
                                <a:schemeClr val="tx1"/>
                              </a:solidFill>
                            </a:rPr>
                            <a:t>6) Solve the quadratic equation.</a:t>
                          </a:r>
                          <a:r>
                            <a:rPr lang="en-GB" sz="1100" baseline="0" noProof="0" dirty="0">
                              <a:solidFill>
                                <a:schemeClr val="tx1"/>
                              </a:solidFill>
                            </a:rPr>
                            <a:t>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56251899"/>
                      </a:ext>
                    </a:extLst>
                  </a:tr>
                </a:tbl>
              </a:graphicData>
            </a:graphic>
          </p:graphicFrame>
        </mc:Choice>
        <mc:Fallback xmlns="">
          <p:graphicFrame>
            <p:nvGraphicFramePr>
              <p:cNvPr id="54" name="Table 53"/>
              <p:cNvGraphicFramePr>
                <a:graphicFrameLocks noGrp="1"/>
              </p:cNvGraphicFramePr>
              <p:nvPr>
                <p:extLst>
                  <p:ext uri="{D42A27DB-BD31-4B8C-83A1-F6EECF244321}">
                    <p14:modId xmlns:p14="http://schemas.microsoft.com/office/powerpoint/2010/main" val="460942507"/>
                  </p:ext>
                </p:extLst>
              </p:nvPr>
            </p:nvGraphicFramePr>
            <p:xfrm>
              <a:off x="187105" y="5204828"/>
              <a:ext cx="6557514" cy="4616163"/>
            </p:xfrm>
            <a:graphic>
              <a:graphicData uri="http://schemas.openxmlformats.org/drawingml/2006/table">
                <a:tbl>
                  <a:tblPr firstRow="1" bandRow="1">
                    <a:tableStyleId>{5C22544A-7EE6-4342-B048-85BDC9FD1C3A}</a:tableStyleId>
                  </a:tblPr>
                  <a:tblGrid>
                    <a:gridCol w="1177364">
                      <a:extLst>
                        <a:ext uri="{9D8B030D-6E8A-4147-A177-3AD203B41FA5}">
                          <a16:colId xmlns:a16="http://schemas.microsoft.com/office/drawing/2014/main" val="1568142362"/>
                        </a:ext>
                      </a:extLst>
                    </a:gridCol>
                    <a:gridCol w="2690075">
                      <a:extLst>
                        <a:ext uri="{9D8B030D-6E8A-4147-A177-3AD203B41FA5}">
                          <a16:colId xmlns:a16="http://schemas.microsoft.com/office/drawing/2014/main" val="3551711160"/>
                        </a:ext>
                      </a:extLst>
                    </a:gridCol>
                    <a:gridCol w="2690075">
                      <a:extLst>
                        <a:ext uri="{9D8B030D-6E8A-4147-A177-3AD203B41FA5}">
                          <a16:colId xmlns:a16="http://schemas.microsoft.com/office/drawing/2014/main" val="3726521677"/>
                        </a:ext>
                      </a:extLst>
                    </a:gridCol>
                  </a:tblGrid>
                  <a:tr h="466767">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99160">
                    <a:tc>
                      <a:txBody>
                        <a:bodyPr/>
                        <a:lstStyle/>
                        <a:p>
                          <a:r>
                            <a:rPr lang="en-GB" sz="1060" noProof="0">
                              <a:solidFill>
                                <a:schemeClr val="tx1"/>
                              </a:solidFill>
                            </a:rPr>
                            <a:t>1) Multiply through the make the </a:t>
                          </a:r>
                        </a:p>
                        <a:p>
                          <a:r>
                            <a:rPr lang="en-GB" sz="1060" noProof="0">
                              <a:solidFill>
                                <a:schemeClr val="tx1"/>
                              </a:solidFill>
                            </a:rPr>
                            <a:t>denominators</a:t>
                          </a:r>
                          <a:r>
                            <a:rPr lang="en-GB" sz="1060" baseline="0" noProof="0">
                              <a:solidFill>
                                <a:schemeClr val="tx1"/>
                              </a:solidFill>
                            </a:rPr>
                            <a:t> the same. </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35201">
                    <a:tc>
                      <a:txBody>
                        <a:bodyPr/>
                        <a:lstStyle/>
                        <a:p>
                          <a:r>
                            <a:rPr lang="en-GB" sz="1060" noProof="0">
                              <a:solidFill>
                                <a:schemeClr val="tx1"/>
                              </a:solidFill>
                            </a:rPr>
                            <a:t>2) Expand and simplify the numerators.</a:t>
                          </a:r>
                          <a:r>
                            <a:rPr lang="en-GB" sz="1060" baseline="0" noProof="0">
                              <a:solidFill>
                                <a:schemeClr val="tx1"/>
                              </a:solidFill>
                            </a:rPr>
                            <a:t> </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709432">
                    <a:tc>
                      <a:txBody>
                        <a:bodyPr/>
                        <a:lstStyle/>
                        <a:p>
                          <a:r>
                            <a:rPr lang="en-GB" sz="1060" noProof="0">
                              <a:solidFill>
                                <a:schemeClr val="tx1"/>
                              </a:solidFill>
                            </a:rPr>
                            <a:t>3) Multiply</a:t>
                          </a:r>
                          <a:r>
                            <a:rPr lang="en-GB" sz="1060" baseline="0" noProof="0">
                              <a:solidFill>
                                <a:schemeClr val="tx1"/>
                              </a:solidFill>
                            </a:rPr>
                            <a:t> through by the denominator.</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r h="635201">
                    <a:tc>
                      <a:txBody>
                        <a:bodyPr/>
                        <a:lstStyle/>
                        <a:p>
                          <a:r>
                            <a:rPr lang="en-GB" sz="1060" noProof="0">
                              <a:solidFill>
                                <a:schemeClr val="tx1"/>
                              </a:solidFill>
                            </a:rPr>
                            <a:t>4)</a:t>
                          </a:r>
                          <a:r>
                            <a:rPr lang="en-GB" sz="1060" baseline="0" noProof="0">
                              <a:solidFill>
                                <a:schemeClr val="tx1"/>
                              </a:solidFill>
                            </a:rPr>
                            <a:t> Expand and simplify the RHS.</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846642217"/>
                      </a:ext>
                    </a:extLst>
                  </a:tr>
                  <a:tr h="63520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18" t="-524762" r="-459067" b="-100952"/>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51377966"/>
                      </a:ext>
                    </a:extLst>
                  </a:tr>
                  <a:tr h="635201">
                    <a:tc>
                      <a:txBody>
                        <a:bodyPr/>
                        <a:lstStyle/>
                        <a:p>
                          <a:r>
                            <a:rPr lang="en-GB" sz="1100" noProof="0">
                              <a:solidFill>
                                <a:schemeClr val="tx1"/>
                              </a:solidFill>
                            </a:rPr>
                            <a:t>6) Solve the quadratic equation.</a:t>
                          </a:r>
                          <a:r>
                            <a:rPr lang="en-GB" sz="1100" baseline="0" noProof="0">
                              <a:solidFill>
                                <a:schemeClr val="tx1"/>
                              </a:solidFill>
                            </a:rPr>
                            <a:t>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56251899"/>
                      </a:ext>
                    </a:extLst>
                  </a:tr>
                </a:tbl>
              </a:graphicData>
            </a:graphic>
          </p:graphicFrame>
        </mc:Fallback>
      </mc:AlternateContent>
      <mc:AlternateContent xmlns:mc="http://schemas.openxmlformats.org/markup-compatibility/2006" xmlns:a14="http://schemas.microsoft.com/office/drawing/2010/main">
        <mc:Choice Requires="a14">
          <p:sp>
            <p:nvSpPr>
              <p:cNvPr id="55" name="TextBox 54"/>
              <p:cNvSpPr txBox="1"/>
              <p:nvPr/>
            </p:nvSpPr>
            <p:spPr>
              <a:xfrm>
                <a:off x="2011874" y="5269583"/>
                <a:ext cx="1453988" cy="354777"/>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+8</m:t>
                        </m:r>
                      </m:den>
                    </m:f>
                    <m:r>
                      <a:rPr lang="en-GB" sz="1200" b="0" i="1" noProof="0" smtClean="0">
                        <a:latin typeface="Cambria Math" panose="02040503050406030204" pitchFamily="18" charset="0"/>
                      </a:rPr>
                      <m:t>=2</m:t>
                    </m:r>
                  </m:oMath>
                </a14:m>
                <a:endParaRPr lang="en-GB" sz="1200" noProof="0" dirty="0"/>
              </a:p>
            </p:txBody>
          </p:sp>
        </mc:Choice>
        <mc:Fallback xmlns="">
          <p:sp>
            <p:nvSpPr>
              <p:cNvPr id="55" name="TextBox 54"/>
              <p:cNvSpPr txBox="1">
                <a:spLocks noRot="1" noChangeAspect="1" noMove="1" noResize="1" noEditPoints="1" noAdjustHandles="1" noChangeArrowheads="1" noChangeShapeType="1" noTextEdit="1"/>
              </p:cNvSpPr>
              <p:nvPr/>
            </p:nvSpPr>
            <p:spPr>
              <a:xfrm>
                <a:off x="2011874" y="5269583"/>
                <a:ext cx="1453988" cy="354777"/>
              </a:xfrm>
              <a:prstGeom prst="rect">
                <a:avLst/>
              </a:prstGeom>
              <a:blipFill>
                <a:blip r:embed="rId6"/>
                <a:stretch>
                  <a:fillRect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4832357" y="5269583"/>
                <a:ext cx="1453988" cy="354777"/>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−8</m:t>
                        </m:r>
                      </m:den>
                    </m:f>
                    <m:r>
                      <a:rPr lang="en-GB" sz="1200" b="0" i="1" noProof="0" smtClean="0">
                        <a:latin typeface="Cambria Math" panose="02040503050406030204" pitchFamily="18" charset="0"/>
                      </a:rPr>
                      <m:t>=3</m:t>
                    </m:r>
                  </m:oMath>
                </a14:m>
                <a:endParaRPr lang="en-GB" sz="1200" noProof="0" dirty="0"/>
              </a:p>
            </p:txBody>
          </p:sp>
        </mc:Choice>
        <mc:Fallback xmlns="">
          <p:sp>
            <p:nvSpPr>
              <p:cNvPr id="56" name="TextBox 55"/>
              <p:cNvSpPr txBox="1">
                <a:spLocks noRot="1" noChangeAspect="1" noMove="1" noResize="1" noEditPoints="1" noAdjustHandles="1" noChangeArrowheads="1" noChangeShapeType="1" noTextEdit="1"/>
              </p:cNvSpPr>
              <p:nvPr/>
            </p:nvSpPr>
            <p:spPr>
              <a:xfrm>
                <a:off x="4832357" y="5269583"/>
                <a:ext cx="1453988" cy="354777"/>
              </a:xfrm>
              <a:prstGeom prst="rect">
                <a:avLst/>
              </a:prstGeom>
              <a:blipFill>
                <a:blip r:embed="rId7"/>
                <a:stretch>
                  <a:fillRect l="-420" b="-1695"/>
                </a:stretch>
              </a:blipFill>
            </p:spPr>
            <p:txBody>
              <a:bodyPr/>
              <a:lstStyle/>
              <a:p>
                <a:r>
                  <a:rPr lang="en-US">
                    <a:noFill/>
                  </a:rPr>
                  <a:t> </a:t>
                </a:r>
              </a:p>
            </p:txBody>
          </p:sp>
        </mc:Fallback>
      </mc:AlternateContent>
    </p:spTree>
    <p:extLst>
      <p:ext uri="{BB962C8B-B14F-4D97-AF65-F5344CB8AC3E}">
        <p14:creationId xmlns:p14="http://schemas.microsoft.com/office/powerpoint/2010/main" val="1908346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485914"/>
            <a:ext cx="1543050" cy="527403"/>
          </a:xfrm>
        </p:spPr>
        <p:txBody>
          <a:bodyPr/>
          <a:lstStyle/>
          <a:p>
            <a:fld id="{9BD3B4A0-BFF9-422C-B253-48BA94BE2F5B}" type="slidenum">
              <a:rPr lang="en-GB" noProof="0" smtClean="0"/>
              <a:t>30</a:t>
            </a:fld>
            <a:endParaRPr lang="en-GB" noProof="0" dirty="0"/>
          </a:p>
        </p:txBody>
      </p:sp>
      <p:sp>
        <p:nvSpPr>
          <p:cNvPr id="5" name="TextBox 4"/>
          <p:cNvSpPr txBox="1"/>
          <p:nvPr/>
        </p:nvSpPr>
        <p:spPr>
          <a:xfrm>
            <a:off x="2075770" y="75571"/>
            <a:ext cx="2206630" cy="276999"/>
          </a:xfrm>
          <a:prstGeom prst="rect">
            <a:avLst/>
          </a:prstGeom>
          <a:noFill/>
        </p:spPr>
        <p:txBody>
          <a:bodyPr wrap="none" rtlCol="0">
            <a:spAutoFit/>
          </a:bodyPr>
          <a:lstStyle/>
          <a:p>
            <a:pPr algn="ctr"/>
            <a:r>
              <a:rPr lang="en-GB" sz="1200" noProof="0" dirty="0"/>
              <a:t>10. Solve the algebraic fractions.</a:t>
            </a:r>
          </a:p>
        </p:txBody>
      </p:sp>
      <p:pic>
        <p:nvPicPr>
          <p:cNvPr id="6" name="Picture 5"/>
          <p:cNvPicPr>
            <a:picLocks noChangeAspect="1"/>
          </p:cNvPicPr>
          <p:nvPr/>
        </p:nvPicPr>
        <p:blipFill rotWithShape="1">
          <a:blip r:embed="rId2"/>
          <a:srcRect l="5618" t="52746" r="69152" b="25952"/>
          <a:stretch/>
        </p:blipFill>
        <p:spPr>
          <a:xfrm>
            <a:off x="360918" y="510171"/>
            <a:ext cx="1227356" cy="377648"/>
          </a:xfrm>
          <a:prstGeom prst="rect">
            <a:avLst/>
          </a:prstGeom>
        </p:spPr>
      </p:pic>
      <p:pic>
        <p:nvPicPr>
          <p:cNvPr id="7" name="Picture 6"/>
          <p:cNvPicPr>
            <a:picLocks noChangeAspect="1"/>
          </p:cNvPicPr>
          <p:nvPr/>
        </p:nvPicPr>
        <p:blipFill rotWithShape="1">
          <a:blip r:embed="rId2"/>
          <a:srcRect l="5618" t="77876" r="69152" b="157"/>
          <a:stretch/>
        </p:blipFill>
        <p:spPr>
          <a:xfrm>
            <a:off x="2517535" y="519457"/>
            <a:ext cx="1258846" cy="399441"/>
          </a:xfrm>
          <a:prstGeom prst="rect">
            <a:avLst/>
          </a:prstGeom>
        </p:spPr>
      </p:pic>
      <p:pic>
        <p:nvPicPr>
          <p:cNvPr id="8" name="Picture 7"/>
          <p:cNvPicPr>
            <a:picLocks noChangeAspect="1"/>
          </p:cNvPicPr>
          <p:nvPr/>
        </p:nvPicPr>
        <p:blipFill rotWithShape="1">
          <a:blip r:embed="rId3"/>
          <a:srcRect b="77529"/>
          <a:stretch/>
        </p:blipFill>
        <p:spPr>
          <a:xfrm>
            <a:off x="4705642" y="525202"/>
            <a:ext cx="1321778" cy="362617"/>
          </a:xfrm>
          <a:prstGeom prst="rect">
            <a:avLst/>
          </a:prstGeom>
        </p:spPr>
      </p:pic>
      <p:sp>
        <p:nvSpPr>
          <p:cNvPr id="9" name="TextBox 8"/>
          <p:cNvSpPr txBox="1"/>
          <p:nvPr/>
        </p:nvSpPr>
        <p:spPr>
          <a:xfrm>
            <a:off x="92353" y="560496"/>
            <a:ext cx="340158" cy="276999"/>
          </a:xfrm>
          <a:prstGeom prst="rect">
            <a:avLst/>
          </a:prstGeom>
          <a:noFill/>
        </p:spPr>
        <p:txBody>
          <a:bodyPr wrap="none" rtlCol="0">
            <a:spAutoFit/>
          </a:bodyPr>
          <a:lstStyle/>
          <a:p>
            <a:r>
              <a:rPr lang="en-GB" sz="1200" noProof="0" dirty="0"/>
              <a:t>a) </a:t>
            </a:r>
          </a:p>
        </p:txBody>
      </p:sp>
      <p:sp>
        <p:nvSpPr>
          <p:cNvPr id="10" name="TextBox 9"/>
          <p:cNvSpPr txBox="1"/>
          <p:nvPr/>
        </p:nvSpPr>
        <p:spPr>
          <a:xfrm>
            <a:off x="2247671" y="554715"/>
            <a:ext cx="346570" cy="276999"/>
          </a:xfrm>
          <a:prstGeom prst="rect">
            <a:avLst/>
          </a:prstGeom>
          <a:noFill/>
        </p:spPr>
        <p:txBody>
          <a:bodyPr wrap="none" rtlCol="0">
            <a:spAutoFit/>
          </a:bodyPr>
          <a:lstStyle/>
          <a:p>
            <a:r>
              <a:rPr lang="en-GB" sz="1200" noProof="0" dirty="0"/>
              <a:t>b) </a:t>
            </a:r>
          </a:p>
        </p:txBody>
      </p:sp>
      <p:sp>
        <p:nvSpPr>
          <p:cNvPr id="11" name="TextBox 10"/>
          <p:cNvSpPr txBox="1"/>
          <p:nvPr/>
        </p:nvSpPr>
        <p:spPr>
          <a:xfrm>
            <a:off x="4445860" y="569746"/>
            <a:ext cx="332142" cy="276999"/>
          </a:xfrm>
          <a:prstGeom prst="rect">
            <a:avLst/>
          </a:prstGeom>
          <a:noFill/>
        </p:spPr>
        <p:txBody>
          <a:bodyPr wrap="none" rtlCol="0">
            <a:spAutoFit/>
          </a:bodyPr>
          <a:lstStyle/>
          <a:p>
            <a:r>
              <a:rPr lang="en-GB" sz="1200" noProof="0" dirty="0"/>
              <a:t>c) </a:t>
            </a:r>
          </a:p>
        </p:txBody>
      </p:sp>
      <p:sp>
        <p:nvSpPr>
          <p:cNvPr id="12" name="Rectangle 11">
            <a:extLst>
              <a:ext uri="{FF2B5EF4-FFF2-40B4-BE49-F238E27FC236}">
                <a16:creationId xmlns:a16="http://schemas.microsoft.com/office/drawing/2014/main" id="{B16CFEF2-A65A-6142-861C-58ACADF7EEFB}"/>
              </a:ext>
            </a:extLst>
          </p:cNvPr>
          <p:cNvSpPr/>
          <p:nvPr/>
        </p:nvSpPr>
        <p:spPr>
          <a:xfrm>
            <a:off x="92353" y="997759"/>
            <a:ext cx="2090269" cy="400997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3" name="Rectangle 12">
            <a:extLst>
              <a:ext uri="{FF2B5EF4-FFF2-40B4-BE49-F238E27FC236}">
                <a16:creationId xmlns:a16="http://schemas.microsoft.com/office/drawing/2014/main" id="{B16CFEF2-A65A-6142-861C-58ACADF7EEFB}"/>
              </a:ext>
            </a:extLst>
          </p:cNvPr>
          <p:cNvSpPr/>
          <p:nvPr/>
        </p:nvSpPr>
        <p:spPr>
          <a:xfrm>
            <a:off x="2334187" y="997759"/>
            <a:ext cx="2090269" cy="400997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4" name="Rectangle 13">
            <a:extLst>
              <a:ext uri="{FF2B5EF4-FFF2-40B4-BE49-F238E27FC236}">
                <a16:creationId xmlns:a16="http://schemas.microsoft.com/office/drawing/2014/main" id="{B16CFEF2-A65A-6142-861C-58ACADF7EEFB}"/>
              </a:ext>
            </a:extLst>
          </p:cNvPr>
          <p:cNvSpPr/>
          <p:nvPr/>
        </p:nvSpPr>
        <p:spPr>
          <a:xfrm>
            <a:off x="4569853" y="997759"/>
            <a:ext cx="2090269" cy="400997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pic>
        <p:nvPicPr>
          <p:cNvPr id="15" name="Picture 14"/>
          <p:cNvPicPr>
            <a:picLocks noChangeAspect="1"/>
          </p:cNvPicPr>
          <p:nvPr/>
        </p:nvPicPr>
        <p:blipFill rotWithShape="1">
          <a:blip r:embed="rId4"/>
          <a:srcRect b="70616"/>
          <a:stretch/>
        </p:blipFill>
        <p:spPr>
          <a:xfrm>
            <a:off x="415968" y="5096228"/>
            <a:ext cx="1495921" cy="429508"/>
          </a:xfrm>
          <a:prstGeom prst="rect">
            <a:avLst/>
          </a:prstGeom>
        </p:spPr>
      </p:pic>
      <p:sp>
        <p:nvSpPr>
          <p:cNvPr id="16" name="TextBox 15"/>
          <p:cNvSpPr txBox="1"/>
          <p:nvPr/>
        </p:nvSpPr>
        <p:spPr>
          <a:xfrm>
            <a:off x="115475" y="5163233"/>
            <a:ext cx="346570" cy="276999"/>
          </a:xfrm>
          <a:prstGeom prst="rect">
            <a:avLst/>
          </a:prstGeom>
          <a:noFill/>
        </p:spPr>
        <p:txBody>
          <a:bodyPr wrap="none" rtlCol="0">
            <a:spAutoFit/>
          </a:bodyPr>
          <a:lstStyle/>
          <a:p>
            <a:r>
              <a:rPr lang="en-GB" sz="1200" noProof="0" dirty="0"/>
              <a:t>d) </a:t>
            </a:r>
          </a:p>
        </p:txBody>
      </p:sp>
      <p:sp>
        <p:nvSpPr>
          <p:cNvPr id="17" name="TextBox 16"/>
          <p:cNvSpPr txBox="1"/>
          <p:nvPr/>
        </p:nvSpPr>
        <p:spPr>
          <a:xfrm>
            <a:off x="2270793" y="5157452"/>
            <a:ext cx="343364" cy="276999"/>
          </a:xfrm>
          <a:prstGeom prst="rect">
            <a:avLst/>
          </a:prstGeom>
          <a:noFill/>
        </p:spPr>
        <p:txBody>
          <a:bodyPr wrap="none" rtlCol="0">
            <a:spAutoFit/>
          </a:bodyPr>
          <a:lstStyle/>
          <a:p>
            <a:r>
              <a:rPr lang="en-GB" sz="1200" noProof="0" dirty="0"/>
              <a:t>e) </a:t>
            </a:r>
          </a:p>
        </p:txBody>
      </p:sp>
      <p:sp>
        <p:nvSpPr>
          <p:cNvPr id="18" name="TextBox 17"/>
          <p:cNvSpPr txBox="1"/>
          <p:nvPr/>
        </p:nvSpPr>
        <p:spPr>
          <a:xfrm>
            <a:off x="4468982" y="5172483"/>
            <a:ext cx="315151" cy="276999"/>
          </a:xfrm>
          <a:prstGeom prst="rect">
            <a:avLst/>
          </a:prstGeom>
          <a:noFill/>
        </p:spPr>
        <p:txBody>
          <a:bodyPr wrap="none" rtlCol="0">
            <a:spAutoFit/>
          </a:bodyPr>
          <a:lstStyle/>
          <a:p>
            <a:r>
              <a:rPr lang="en-GB" sz="1200" noProof="0" dirty="0"/>
              <a:t>f) </a:t>
            </a:r>
          </a:p>
        </p:txBody>
      </p:sp>
      <p:pic>
        <p:nvPicPr>
          <p:cNvPr id="19" name="Picture 18"/>
          <p:cNvPicPr>
            <a:picLocks noChangeAspect="1"/>
          </p:cNvPicPr>
          <p:nvPr/>
        </p:nvPicPr>
        <p:blipFill rotWithShape="1">
          <a:blip r:embed="rId4"/>
          <a:srcRect t="35555" b="35252"/>
          <a:stretch/>
        </p:blipFill>
        <p:spPr>
          <a:xfrm>
            <a:off x="2561685" y="5126972"/>
            <a:ext cx="1495921" cy="426720"/>
          </a:xfrm>
          <a:prstGeom prst="rect">
            <a:avLst/>
          </a:prstGeom>
        </p:spPr>
      </p:pic>
      <p:pic>
        <p:nvPicPr>
          <p:cNvPr id="20" name="Picture 19"/>
          <p:cNvPicPr>
            <a:picLocks noChangeAspect="1"/>
          </p:cNvPicPr>
          <p:nvPr/>
        </p:nvPicPr>
        <p:blipFill rotWithShape="1">
          <a:blip r:embed="rId4"/>
          <a:srcRect t="70050" b="757"/>
          <a:stretch/>
        </p:blipFill>
        <p:spPr>
          <a:xfrm>
            <a:off x="4705642" y="5082591"/>
            <a:ext cx="1495921" cy="426720"/>
          </a:xfrm>
          <a:prstGeom prst="rect">
            <a:avLst/>
          </a:prstGeom>
        </p:spPr>
      </p:pic>
      <p:sp>
        <p:nvSpPr>
          <p:cNvPr id="21" name="Rectangle 20">
            <a:extLst>
              <a:ext uri="{FF2B5EF4-FFF2-40B4-BE49-F238E27FC236}">
                <a16:creationId xmlns:a16="http://schemas.microsoft.com/office/drawing/2014/main" id="{B16CFEF2-A65A-6142-861C-58ACADF7EEFB}"/>
              </a:ext>
            </a:extLst>
          </p:cNvPr>
          <p:cNvSpPr/>
          <p:nvPr/>
        </p:nvSpPr>
        <p:spPr>
          <a:xfrm>
            <a:off x="92353" y="5622114"/>
            <a:ext cx="2090269" cy="415310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2" name="Rectangle 21">
            <a:extLst>
              <a:ext uri="{FF2B5EF4-FFF2-40B4-BE49-F238E27FC236}">
                <a16:creationId xmlns:a16="http://schemas.microsoft.com/office/drawing/2014/main" id="{B16CFEF2-A65A-6142-861C-58ACADF7EEFB}"/>
              </a:ext>
            </a:extLst>
          </p:cNvPr>
          <p:cNvSpPr/>
          <p:nvPr/>
        </p:nvSpPr>
        <p:spPr>
          <a:xfrm>
            <a:off x="2334187" y="5622114"/>
            <a:ext cx="2090269" cy="415310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3" name="Rectangle 22">
            <a:extLst>
              <a:ext uri="{FF2B5EF4-FFF2-40B4-BE49-F238E27FC236}">
                <a16:creationId xmlns:a16="http://schemas.microsoft.com/office/drawing/2014/main" id="{B16CFEF2-A65A-6142-861C-58ACADF7EEFB}"/>
              </a:ext>
            </a:extLst>
          </p:cNvPr>
          <p:cNvSpPr/>
          <p:nvPr/>
        </p:nvSpPr>
        <p:spPr>
          <a:xfrm>
            <a:off x="4569853" y="5622114"/>
            <a:ext cx="2090269" cy="415310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grpSp>
        <p:nvGrpSpPr>
          <p:cNvPr id="30" name="Group 29"/>
          <p:cNvGrpSpPr/>
          <p:nvPr/>
        </p:nvGrpSpPr>
        <p:grpSpPr>
          <a:xfrm>
            <a:off x="503980" y="4600931"/>
            <a:ext cx="1601234" cy="276999"/>
            <a:chOff x="503980" y="4722851"/>
            <a:chExt cx="1601234" cy="276999"/>
          </a:xfrm>
        </p:grpSpPr>
        <mc:AlternateContent xmlns:mc="http://schemas.openxmlformats.org/markup-compatibility/2006" xmlns:a14="http://schemas.microsoft.com/office/drawing/2010/main">
          <mc:Choice Requires="a14">
            <p:sp>
              <p:nvSpPr>
                <p:cNvPr id="25" name="TextBox 24"/>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25" name="TextBox 24"/>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5"/>
                  <a:stretch>
                    <a:fillRect t="-2222" b="-17778"/>
                  </a:stretch>
                </a:blipFill>
              </p:spPr>
              <p:txBody>
                <a:bodyPr/>
                <a:lstStyle/>
                <a:p>
                  <a:r>
                    <a:rPr lang="en-US">
                      <a:noFill/>
                    </a:rPr>
                    <a:t> </a:t>
                  </a:r>
                </a:p>
              </p:txBody>
            </p:sp>
          </mc:Fallback>
        </mc:AlternateContent>
        <p:cxnSp>
          <p:nvCxnSpPr>
            <p:cNvPr id="27" name="Straight Connector 26"/>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1" name="Group 30"/>
          <p:cNvGrpSpPr/>
          <p:nvPr/>
        </p:nvGrpSpPr>
        <p:grpSpPr>
          <a:xfrm>
            <a:off x="2686400" y="4600931"/>
            <a:ext cx="1601234" cy="276999"/>
            <a:chOff x="503980" y="4722851"/>
            <a:chExt cx="1601234" cy="276999"/>
          </a:xfrm>
        </p:grpSpPr>
        <mc:AlternateContent xmlns:mc="http://schemas.openxmlformats.org/markup-compatibility/2006" xmlns:a14="http://schemas.microsoft.com/office/drawing/2010/main">
          <mc:Choice Requires="a14">
            <p:sp>
              <p:nvSpPr>
                <p:cNvPr id="32" name="TextBox 31"/>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5"/>
                  <a:stretch>
                    <a:fillRect t="-2222" b="-17778"/>
                  </a:stretch>
                </a:blipFill>
              </p:spPr>
              <p:txBody>
                <a:bodyPr/>
                <a:lstStyle/>
                <a:p>
                  <a:r>
                    <a:rPr lang="en-US">
                      <a:noFill/>
                    </a:rPr>
                    <a:t> </a:t>
                  </a:r>
                </a:p>
              </p:txBody>
            </p:sp>
          </mc:Fallback>
        </mc:AlternateContent>
        <p:cxnSp>
          <p:nvCxnSpPr>
            <p:cNvPr id="33" name="Straight Connector 32"/>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5" name="Group 34"/>
          <p:cNvGrpSpPr/>
          <p:nvPr/>
        </p:nvGrpSpPr>
        <p:grpSpPr>
          <a:xfrm>
            <a:off x="4871050" y="4603268"/>
            <a:ext cx="1601234" cy="276999"/>
            <a:chOff x="503980" y="4722851"/>
            <a:chExt cx="1601234" cy="276999"/>
          </a:xfrm>
        </p:grpSpPr>
        <mc:AlternateContent xmlns:mc="http://schemas.openxmlformats.org/markup-compatibility/2006" xmlns:a14="http://schemas.microsoft.com/office/drawing/2010/main">
          <mc:Choice Requires="a14">
            <p:sp>
              <p:nvSpPr>
                <p:cNvPr id="36" name="TextBox 35"/>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6" name="TextBox 35"/>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6"/>
                  <a:stretch>
                    <a:fillRect b="-15217"/>
                  </a:stretch>
                </a:blipFill>
              </p:spPr>
              <p:txBody>
                <a:bodyPr/>
                <a:lstStyle/>
                <a:p>
                  <a:r>
                    <a:rPr lang="en-US">
                      <a:noFill/>
                    </a:rPr>
                    <a:t> </a:t>
                  </a:r>
                </a:p>
              </p:txBody>
            </p:sp>
          </mc:Fallback>
        </mc:AlternateContent>
        <p:cxnSp>
          <p:nvCxnSpPr>
            <p:cNvPr id="37" name="Straight Connector 36"/>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9" name="Group 38"/>
          <p:cNvGrpSpPr/>
          <p:nvPr/>
        </p:nvGrpSpPr>
        <p:grpSpPr>
          <a:xfrm>
            <a:off x="511160" y="9365676"/>
            <a:ext cx="1601234" cy="276999"/>
            <a:chOff x="503980" y="4722851"/>
            <a:chExt cx="1601234" cy="276999"/>
          </a:xfrm>
        </p:grpSpPr>
        <mc:AlternateContent xmlns:mc="http://schemas.openxmlformats.org/markup-compatibility/2006" xmlns:a14="http://schemas.microsoft.com/office/drawing/2010/main">
          <mc:Choice Requires="a14">
            <p:sp>
              <p:nvSpPr>
                <p:cNvPr id="40" name="TextBox 39"/>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0" name="TextBox 39"/>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6"/>
                  <a:stretch>
                    <a:fillRect b="-15217"/>
                  </a:stretch>
                </a:blipFill>
              </p:spPr>
              <p:txBody>
                <a:bodyPr/>
                <a:lstStyle/>
                <a:p>
                  <a:r>
                    <a:rPr lang="en-US">
                      <a:noFill/>
                    </a:rPr>
                    <a:t> </a:t>
                  </a:r>
                </a:p>
              </p:txBody>
            </p:sp>
          </mc:Fallback>
        </mc:AlternateContent>
        <p:cxnSp>
          <p:nvCxnSpPr>
            <p:cNvPr id="41" name="Straight Connector 40"/>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43" name="Group 42"/>
          <p:cNvGrpSpPr/>
          <p:nvPr/>
        </p:nvGrpSpPr>
        <p:grpSpPr>
          <a:xfrm>
            <a:off x="2693580" y="9365676"/>
            <a:ext cx="1601234" cy="276999"/>
            <a:chOff x="503980" y="4722851"/>
            <a:chExt cx="1601234" cy="276999"/>
          </a:xfrm>
        </p:grpSpPr>
        <mc:AlternateContent xmlns:mc="http://schemas.openxmlformats.org/markup-compatibility/2006" xmlns:a14="http://schemas.microsoft.com/office/drawing/2010/main">
          <mc:Choice Requires="a14">
            <p:sp>
              <p:nvSpPr>
                <p:cNvPr id="44" name="TextBox 43"/>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4" name="TextBox 43"/>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6"/>
                  <a:stretch>
                    <a:fillRect b="-15217"/>
                  </a:stretch>
                </a:blipFill>
              </p:spPr>
              <p:txBody>
                <a:bodyPr/>
                <a:lstStyle/>
                <a:p>
                  <a:r>
                    <a:rPr lang="en-US">
                      <a:noFill/>
                    </a:rPr>
                    <a:t> </a:t>
                  </a:r>
                </a:p>
              </p:txBody>
            </p:sp>
          </mc:Fallback>
        </mc:AlternateContent>
        <p:cxnSp>
          <p:nvCxnSpPr>
            <p:cNvPr id="45" name="Straight Connector 44"/>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47" name="Group 46"/>
          <p:cNvGrpSpPr/>
          <p:nvPr/>
        </p:nvGrpSpPr>
        <p:grpSpPr>
          <a:xfrm>
            <a:off x="4878230" y="9368013"/>
            <a:ext cx="1601234" cy="276999"/>
            <a:chOff x="503980" y="4722851"/>
            <a:chExt cx="1601234" cy="276999"/>
          </a:xfrm>
        </p:grpSpPr>
        <mc:AlternateContent xmlns:mc="http://schemas.openxmlformats.org/markup-compatibility/2006" xmlns:a14="http://schemas.microsoft.com/office/drawing/2010/main">
          <mc:Choice Requires="a14">
            <p:sp>
              <p:nvSpPr>
                <p:cNvPr id="48" name="TextBox 47"/>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8" name="TextBox 47"/>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5"/>
                  <a:stretch>
                    <a:fillRect t="-2222" b="-17778"/>
                  </a:stretch>
                </a:blipFill>
              </p:spPr>
              <p:txBody>
                <a:bodyPr/>
                <a:lstStyle/>
                <a:p>
                  <a:r>
                    <a:rPr lang="en-US">
                      <a:noFill/>
                    </a:rPr>
                    <a:t> </a:t>
                  </a:r>
                </a:p>
              </p:txBody>
            </p:sp>
          </mc:Fallback>
        </mc:AlternateContent>
        <p:cxnSp>
          <p:nvCxnSpPr>
            <p:cNvPr id="49" name="Straight Connector 48"/>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sp>
        <p:nvSpPr>
          <p:cNvPr id="52" name="TextBox 51">
            <a:extLst>
              <a:ext uri="{FF2B5EF4-FFF2-40B4-BE49-F238E27FC236}">
                <a16:creationId xmlns:a16="http://schemas.microsoft.com/office/drawing/2014/main" id="{C3C65E48-8C3D-6849-AD77-7AD8678AD8DA}"/>
              </a:ext>
            </a:extLst>
          </p:cNvPr>
          <p:cNvSpPr txBox="1"/>
          <p:nvPr/>
        </p:nvSpPr>
        <p:spPr>
          <a:xfrm>
            <a:off x="138772" y="146120"/>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3525067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485914"/>
            <a:ext cx="1543050" cy="527403"/>
          </a:xfrm>
        </p:spPr>
        <p:txBody>
          <a:bodyPr/>
          <a:lstStyle/>
          <a:p>
            <a:fld id="{9BD3B4A0-BFF9-422C-B253-48BA94BE2F5B}" type="slidenum">
              <a:rPr lang="en-GB" noProof="0" smtClean="0"/>
              <a:t>31</a:t>
            </a:fld>
            <a:endParaRPr lang="en-GB" noProof="0" dirty="0"/>
          </a:p>
        </p:txBody>
      </p:sp>
      <p:sp>
        <p:nvSpPr>
          <p:cNvPr id="5" name="TextBox 4"/>
          <p:cNvSpPr txBox="1"/>
          <p:nvPr/>
        </p:nvSpPr>
        <p:spPr>
          <a:xfrm>
            <a:off x="2075770" y="75571"/>
            <a:ext cx="2206630" cy="276999"/>
          </a:xfrm>
          <a:prstGeom prst="rect">
            <a:avLst/>
          </a:prstGeom>
          <a:noFill/>
        </p:spPr>
        <p:txBody>
          <a:bodyPr wrap="none" rtlCol="0">
            <a:spAutoFit/>
          </a:bodyPr>
          <a:lstStyle/>
          <a:p>
            <a:pPr algn="ctr"/>
            <a:r>
              <a:rPr lang="en-GB" sz="1200" noProof="0" dirty="0"/>
              <a:t>10. Solve the algebraic fractions.</a:t>
            </a:r>
          </a:p>
        </p:txBody>
      </p:sp>
      <p:sp>
        <p:nvSpPr>
          <p:cNvPr id="9" name="TextBox 8"/>
          <p:cNvSpPr txBox="1"/>
          <p:nvPr/>
        </p:nvSpPr>
        <p:spPr>
          <a:xfrm>
            <a:off x="92353" y="560496"/>
            <a:ext cx="338554" cy="276999"/>
          </a:xfrm>
          <a:prstGeom prst="rect">
            <a:avLst/>
          </a:prstGeom>
          <a:noFill/>
        </p:spPr>
        <p:txBody>
          <a:bodyPr wrap="none" rtlCol="0">
            <a:spAutoFit/>
          </a:bodyPr>
          <a:lstStyle/>
          <a:p>
            <a:r>
              <a:rPr lang="en-GB" sz="1200" noProof="0" dirty="0"/>
              <a:t>g) </a:t>
            </a:r>
          </a:p>
        </p:txBody>
      </p:sp>
      <p:sp>
        <p:nvSpPr>
          <p:cNvPr id="10" name="TextBox 9"/>
          <p:cNvSpPr txBox="1"/>
          <p:nvPr/>
        </p:nvSpPr>
        <p:spPr>
          <a:xfrm>
            <a:off x="2247671" y="554715"/>
            <a:ext cx="346570" cy="276999"/>
          </a:xfrm>
          <a:prstGeom prst="rect">
            <a:avLst/>
          </a:prstGeom>
          <a:noFill/>
        </p:spPr>
        <p:txBody>
          <a:bodyPr wrap="none" rtlCol="0">
            <a:spAutoFit/>
          </a:bodyPr>
          <a:lstStyle/>
          <a:p>
            <a:r>
              <a:rPr lang="en-GB" sz="1200" noProof="0" dirty="0"/>
              <a:t>h) </a:t>
            </a:r>
          </a:p>
        </p:txBody>
      </p:sp>
      <p:sp>
        <p:nvSpPr>
          <p:cNvPr id="11" name="TextBox 10"/>
          <p:cNvSpPr txBox="1"/>
          <p:nvPr/>
        </p:nvSpPr>
        <p:spPr>
          <a:xfrm>
            <a:off x="4445860" y="569746"/>
            <a:ext cx="301686" cy="276999"/>
          </a:xfrm>
          <a:prstGeom prst="rect">
            <a:avLst/>
          </a:prstGeom>
          <a:noFill/>
        </p:spPr>
        <p:txBody>
          <a:bodyPr wrap="none" rtlCol="0">
            <a:spAutoFit/>
          </a:bodyPr>
          <a:lstStyle/>
          <a:p>
            <a:r>
              <a:rPr lang="en-GB" sz="1200" noProof="0" dirty="0" err="1"/>
              <a:t>i</a:t>
            </a:r>
            <a:r>
              <a:rPr lang="en-GB" sz="1200" noProof="0" dirty="0"/>
              <a:t>) </a:t>
            </a:r>
          </a:p>
        </p:txBody>
      </p:sp>
      <p:sp>
        <p:nvSpPr>
          <p:cNvPr id="12" name="Rectangle 11">
            <a:extLst>
              <a:ext uri="{FF2B5EF4-FFF2-40B4-BE49-F238E27FC236}">
                <a16:creationId xmlns:a16="http://schemas.microsoft.com/office/drawing/2014/main" id="{B16CFEF2-A65A-6142-861C-58ACADF7EEFB}"/>
              </a:ext>
            </a:extLst>
          </p:cNvPr>
          <p:cNvSpPr/>
          <p:nvPr/>
        </p:nvSpPr>
        <p:spPr>
          <a:xfrm>
            <a:off x="92353" y="997759"/>
            <a:ext cx="2090269" cy="400997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3" name="Rectangle 12">
            <a:extLst>
              <a:ext uri="{FF2B5EF4-FFF2-40B4-BE49-F238E27FC236}">
                <a16:creationId xmlns:a16="http://schemas.microsoft.com/office/drawing/2014/main" id="{B16CFEF2-A65A-6142-861C-58ACADF7EEFB}"/>
              </a:ext>
            </a:extLst>
          </p:cNvPr>
          <p:cNvSpPr/>
          <p:nvPr/>
        </p:nvSpPr>
        <p:spPr>
          <a:xfrm>
            <a:off x="2334187" y="997759"/>
            <a:ext cx="2090269" cy="400997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4" name="Rectangle 13">
            <a:extLst>
              <a:ext uri="{FF2B5EF4-FFF2-40B4-BE49-F238E27FC236}">
                <a16:creationId xmlns:a16="http://schemas.microsoft.com/office/drawing/2014/main" id="{B16CFEF2-A65A-6142-861C-58ACADF7EEFB}"/>
              </a:ext>
            </a:extLst>
          </p:cNvPr>
          <p:cNvSpPr/>
          <p:nvPr/>
        </p:nvSpPr>
        <p:spPr>
          <a:xfrm>
            <a:off x="4569853" y="997759"/>
            <a:ext cx="2090269" cy="400997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6" name="TextBox 15"/>
          <p:cNvSpPr txBox="1"/>
          <p:nvPr/>
        </p:nvSpPr>
        <p:spPr>
          <a:xfrm>
            <a:off x="115475" y="5163233"/>
            <a:ext cx="303288" cy="276999"/>
          </a:xfrm>
          <a:prstGeom prst="rect">
            <a:avLst/>
          </a:prstGeom>
          <a:noFill/>
        </p:spPr>
        <p:txBody>
          <a:bodyPr wrap="none" rtlCol="0">
            <a:spAutoFit/>
          </a:bodyPr>
          <a:lstStyle/>
          <a:p>
            <a:r>
              <a:rPr lang="en-GB" sz="1200" noProof="0" dirty="0"/>
              <a:t>j) </a:t>
            </a:r>
          </a:p>
        </p:txBody>
      </p:sp>
      <p:sp>
        <p:nvSpPr>
          <p:cNvPr id="17" name="TextBox 16"/>
          <p:cNvSpPr txBox="1"/>
          <p:nvPr/>
        </p:nvSpPr>
        <p:spPr>
          <a:xfrm>
            <a:off x="2270793" y="5157452"/>
            <a:ext cx="336952" cy="276999"/>
          </a:xfrm>
          <a:prstGeom prst="rect">
            <a:avLst/>
          </a:prstGeom>
          <a:noFill/>
        </p:spPr>
        <p:txBody>
          <a:bodyPr wrap="none" rtlCol="0">
            <a:spAutoFit/>
          </a:bodyPr>
          <a:lstStyle/>
          <a:p>
            <a:r>
              <a:rPr lang="en-GB" sz="1200" noProof="0" dirty="0"/>
              <a:t>k) </a:t>
            </a:r>
          </a:p>
        </p:txBody>
      </p:sp>
      <p:sp>
        <p:nvSpPr>
          <p:cNvPr id="18" name="TextBox 17"/>
          <p:cNvSpPr txBox="1"/>
          <p:nvPr/>
        </p:nvSpPr>
        <p:spPr>
          <a:xfrm>
            <a:off x="4468982" y="5172483"/>
            <a:ext cx="301686" cy="276999"/>
          </a:xfrm>
          <a:prstGeom prst="rect">
            <a:avLst/>
          </a:prstGeom>
          <a:noFill/>
        </p:spPr>
        <p:txBody>
          <a:bodyPr wrap="none" rtlCol="0">
            <a:spAutoFit/>
          </a:bodyPr>
          <a:lstStyle/>
          <a:p>
            <a:r>
              <a:rPr lang="en-GB" sz="1200" noProof="0" dirty="0"/>
              <a:t>l) </a:t>
            </a:r>
          </a:p>
        </p:txBody>
      </p:sp>
      <p:sp>
        <p:nvSpPr>
          <p:cNvPr id="21" name="Rectangle 20">
            <a:extLst>
              <a:ext uri="{FF2B5EF4-FFF2-40B4-BE49-F238E27FC236}">
                <a16:creationId xmlns:a16="http://schemas.microsoft.com/office/drawing/2014/main" id="{B16CFEF2-A65A-6142-861C-58ACADF7EEFB}"/>
              </a:ext>
            </a:extLst>
          </p:cNvPr>
          <p:cNvSpPr/>
          <p:nvPr/>
        </p:nvSpPr>
        <p:spPr>
          <a:xfrm>
            <a:off x="92353" y="5622114"/>
            <a:ext cx="2090269" cy="415310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2" name="Rectangle 21">
            <a:extLst>
              <a:ext uri="{FF2B5EF4-FFF2-40B4-BE49-F238E27FC236}">
                <a16:creationId xmlns:a16="http://schemas.microsoft.com/office/drawing/2014/main" id="{B16CFEF2-A65A-6142-861C-58ACADF7EEFB}"/>
              </a:ext>
            </a:extLst>
          </p:cNvPr>
          <p:cNvSpPr/>
          <p:nvPr/>
        </p:nvSpPr>
        <p:spPr>
          <a:xfrm>
            <a:off x="2334187" y="5622114"/>
            <a:ext cx="2090269" cy="415310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3" name="Rectangle 22">
            <a:extLst>
              <a:ext uri="{FF2B5EF4-FFF2-40B4-BE49-F238E27FC236}">
                <a16:creationId xmlns:a16="http://schemas.microsoft.com/office/drawing/2014/main" id="{B16CFEF2-A65A-6142-861C-58ACADF7EEFB}"/>
              </a:ext>
            </a:extLst>
          </p:cNvPr>
          <p:cNvSpPr/>
          <p:nvPr/>
        </p:nvSpPr>
        <p:spPr>
          <a:xfrm>
            <a:off x="4569853" y="5622114"/>
            <a:ext cx="2090269" cy="415310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grpSp>
        <p:nvGrpSpPr>
          <p:cNvPr id="30" name="Group 29"/>
          <p:cNvGrpSpPr/>
          <p:nvPr/>
        </p:nvGrpSpPr>
        <p:grpSpPr>
          <a:xfrm>
            <a:off x="503980" y="4600931"/>
            <a:ext cx="1601234" cy="276999"/>
            <a:chOff x="503980" y="4722851"/>
            <a:chExt cx="1601234" cy="276999"/>
          </a:xfrm>
        </p:grpSpPr>
        <mc:AlternateContent xmlns:mc="http://schemas.openxmlformats.org/markup-compatibility/2006" xmlns:a14="http://schemas.microsoft.com/office/drawing/2010/main">
          <mc:Choice Requires="a14">
            <p:sp>
              <p:nvSpPr>
                <p:cNvPr id="25" name="TextBox 24"/>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25" name="TextBox 24"/>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2"/>
                  <a:stretch>
                    <a:fillRect t="-2222" b="-17778"/>
                  </a:stretch>
                </a:blipFill>
              </p:spPr>
              <p:txBody>
                <a:bodyPr/>
                <a:lstStyle/>
                <a:p>
                  <a:r>
                    <a:rPr lang="en-US">
                      <a:noFill/>
                    </a:rPr>
                    <a:t> </a:t>
                  </a:r>
                </a:p>
              </p:txBody>
            </p:sp>
          </mc:Fallback>
        </mc:AlternateContent>
        <p:cxnSp>
          <p:nvCxnSpPr>
            <p:cNvPr id="27" name="Straight Connector 26"/>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1" name="Group 30"/>
          <p:cNvGrpSpPr/>
          <p:nvPr/>
        </p:nvGrpSpPr>
        <p:grpSpPr>
          <a:xfrm>
            <a:off x="2686400" y="4600931"/>
            <a:ext cx="1601234" cy="276999"/>
            <a:chOff x="503980" y="4722851"/>
            <a:chExt cx="1601234" cy="276999"/>
          </a:xfrm>
        </p:grpSpPr>
        <mc:AlternateContent xmlns:mc="http://schemas.openxmlformats.org/markup-compatibility/2006" xmlns:a14="http://schemas.microsoft.com/office/drawing/2010/main">
          <mc:Choice Requires="a14">
            <p:sp>
              <p:nvSpPr>
                <p:cNvPr id="32" name="TextBox 31"/>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2"/>
                  <a:stretch>
                    <a:fillRect t="-2222" b="-17778"/>
                  </a:stretch>
                </a:blipFill>
              </p:spPr>
              <p:txBody>
                <a:bodyPr/>
                <a:lstStyle/>
                <a:p>
                  <a:r>
                    <a:rPr lang="en-US">
                      <a:noFill/>
                    </a:rPr>
                    <a:t> </a:t>
                  </a:r>
                </a:p>
              </p:txBody>
            </p:sp>
          </mc:Fallback>
        </mc:AlternateContent>
        <p:cxnSp>
          <p:nvCxnSpPr>
            <p:cNvPr id="33" name="Straight Connector 32"/>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5" name="Group 34"/>
          <p:cNvGrpSpPr/>
          <p:nvPr/>
        </p:nvGrpSpPr>
        <p:grpSpPr>
          <a:xfrm>
            <a:off x="4871050" y="4603268"/>
            <a:ext cx="1601234" cy="276999"/>
            <a:chOff x="503980" y="4722851"/>
            <a:chExt cx="1601234" cy="276999"/>
          </a:xfrm>
        </p:grpSpPr>
        <mc:AlternateContent xmlns:mc="http://schemas.openxmlformats.org/markup-compatibility/2006" xmlns:a14="http://schemas.microsoft.com/office/drawing/2010/main">
          <mc:Choice Requires="a14">
            <p:sp>
              <p:nvSpPr>
                <p:cNvPr id="36" name="TextBox 35"/>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6" name="TextBox 35"/>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3"/>
                  <a:stretch>
                    <a:fillRect b="-15217"/>
                  </a:stretch>
                </a:blipFill>
              </p:spPr>
              <p:txBody>
                <a:bodyPr/>
                <a:lstStyle/>
                <a:p>
                  <a:r>
                    <a:rPr lang="en-US">
                      <a:noFill/>
                    </a:rPr>
                    <a:t> </a:t>
                  </a:r>
                </a:p>
              </p:txBody>
            </p:sp>
          </mc:Fallback>
        </mc:AlternateContent>
        <p:cxnSp>
          <p:nvCxnSpPr>
            <p:cNvPr id="37" name="Straight Connector 36"/>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9" name="Group 38"/>
          <p:cNvGrpSpPr/>
          <p:nvPr/>
        </p:nvGrpSpPr>
        <p:grpSpPr>
          <a:xfrm>
            <a:off x="511160" y="9365676"/>
            <a:ext cx="1601234" cy="276999"/>
            <a:chOff x="503980" y="4722851"/>
            <a:chExt cx="1601234" cy="276999"/>
          </a:xfrm>
        </p:grpSpPr>
        <mc:AlternateContent xmlns:mc="http://schemas.openxmlformats.org/markup-compatibility/2006" xmlns:a14="http://schemas.microsoft.com/office/drawing/2010/main">
          <mc:Choice Requires="a14">
            <p:sp>
              <p:nvSpPr>
                <p:cNvPr id="40" name="TextBox 39"/>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0" name="TextBox 39"/>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3"/>
                  <a:stretch>
                    <a:fillRect b="-15217"/>
                  </a:stretch>
                </a:blipFill>
              </p:spPr>
              <p:txBody>
                <a:bodyPr/>
                <a:lstStyle/>
                <a:p>
                  <a:r>
                    <a:rPr lang="en-US">
                      <a:noFill/>
                    </a:rPr>
                    <a:t> </a:t>
                  </a:r>
                </a:p>
              </p:txBody>
            </p:sp>
          </mc:Fallback>
        </mc:AlternateContent>
        <p:cxnSp>
          <p:nvCxnSpPr>
            <p:cNvPr id="41" name="Straight Connector 40"/>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43" name="Group 42"/>
          <p:cNvGrpSpPr/>
          <p:nvPr/>
        </p:nvGrpSpPr>
        <p:grpSpPr>
          <a:xfrm>
            <a:off x="2693580" y="9365676"/>
            <a:ext cx="1601234" cy="276999"/>
            <a:chOff x="503980" y="4722851"/>
            <a:chExt cx="1601234" cy="276999"/>
          </a:xfrm>
        </p:grpSpPr>
        <mc:AlternateContent xmlns:mc="http://schemas.openxmlformats.org/markup-compatibility/2006" xmlns:a14="http://schemas.microsoft.com/office/drawing/2010/main">
          <mc:Choice Requires="a14">
            <p:sp>
              <p:nvSpPr>
                <p:cNvPr id="44" name="TextBox 43"/>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4" name="TextBox 43"/>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3"/>
                  <a:stretch>
                    <a:fillRect b="-15217"/>
                  </a:stretch>
                </a:blipFill>
              </p:spPr>
              <p:txBody>
                <a:bodyPr/>
                <a:lstStyle/>
                <a:p>
                  <a:r>
                    <a:rPr lang="en-US">
                      <a:noFill/>
                    </a:rPr>
                    <a:t> </a:t>
                  </a:r>
                </a:p>
              </p:txBody>
            </p:sp>
          </mc:Fallback>
        </mc:AlternateContent>
        <p:cxnSp>
          <p:nvCxnSpPr>
            <p:cNvPr id="45" name="Straight Connector 44"/>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47" name="Group 46"/>
          <p:cNvGrpSpPr/>
          <p:nvPr/>
        </p:nvGrpSpPr>
        <p:grpSpPr>
          <a:xfrm>
            <a:off x="4878230" y="9368013"/>
            <a:ext cx="1601234" cy="276999"/>
            <a:chOff x="503980" y="4722851"/>
            <a:chExt cx="1601234" cy="276999"/>
          </a:xfrm>
        </p:grpSpPr>
        <mc:AlternateContent xmlns:mc="http://schemas.openxmlformats.org/markup-compatibility/2006" xmlns:a14="http://schemas.microsoft.com/office/drawing/2010/main">
          <mc:Choice Requires="a14">
            <p:sp>
              <p:nvSpPr>
                <p:cNvPr id="48" name="TextBox 47"/>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8" name="TextBox 47"/>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2"/>
                  <a:stretch>
                    <a:fillRect t="-2222" b="-17778"/>
                  </a:stretch>
                </a:blipFill>
              </p:spPr>
              <p:txBody>
                <a:bodyPr/>
                <a:lstStyle/>
                <a:p>
                  <a:r>
                    <a:rPr lang="en-US">
                      <a:noFill/>
                    </a:rPr>
                    <a:t> </a:t>
                  </a:r>
                </a:p>
              </p:txBody>
            </p:sp>
          </mc:Fallback>
        </mc:AlternateContent>
        <p:cxnSp>
          <p:nvCxnSpPr>
            <p:cNvPr id="49" name="Straight Connector 48"/>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pic>
        <p:nvPicPr>
          <p:cNvPr id="3" name="Picture 2"/>
          <p:cNvPicPr>
            <a:picLocks noChangeAspect="1"/>
          </p:cNvPicPr>
          <p:nvPr/>
        </p:nvPicPr>
        <p:blipFill rotWithShape="1">
          <a:blip r:embed="rId4"/>
          <a:srcRect l="5425" t="1919" r="64556" b="76695"/>
          <a:stretch/>
        </p:blipFill>
        <p:spPr>
          <a:xfrm>
            <a:off x="396052" y="554715"/>
            <a:ext cx="1337405" cy="355763"/>
          </a:xfrm>
          <a:prstGeom prst="rect">
            <a:avLst/>
          </a:prstGeom>
        </p:spPr>
      </p:pic>
      <p:pic>
        <p:nvPicPr>
          <p:cNvPr id="51" name="Picture 50"/>
          <p:cNvPicPr>
            <a:picLocks noChangeAspect="1"/>
          </p:cNvPicPr>
          <p:nvPr/>
        </p:nvPicPr>
        <p:blipFill rotWithShape="1">
          <a:blip r:embed="rId4"/>
          <a:srcRect l="5425" t="24458" r="64556" b="50807"/>
          <a:stretch/>
        </p:blipFill>
        <p:spPr>
          <a:xfrm>
            <a:off x="2607435" y="472924"/>
            <a:ext cx="1337405" cy="411480"/>
          </a:xfrm>
          <a:prstGeom prst="rect">
            <a:avLst/>
          </a:prstGeom>
        </p:spPr>
      </p:pic>
      <p:pic>
        <p:nvPicPr>
          <p:cNvPr id="52" name="Picture 51"/>
          <p:cNvPicPr>
            <a:picLocks noChangeAspect="1"/>
          </p:cNvPicPr>
          <p:nvPr/>
        </p:nvPicPr>
        <p:blipFill rotWithShape="1">
          <a:blip r:embed="rId4"/>
          <a:srcRect l="5425" t="52828" r="64556" b="22437"/>
          <a:stretch/>
        </p:blipFill>
        <p:spPr>
          <a:xfrm>
            <a:off x="4770668" y="499963"/>
            <a:ext cx="1337405" cy="411480"/>
          </a:xfrm>
          <a:prstGeom prst="rect">
            <a:avLst/>
          </a:prstGeom>
        </p:spPr>
      </p:pic>
      <p:pic>
        <p:nvPicPr>
          <p:cNvPr id="53" name="Picture 52"/>
          <p:cNvPicPr>
            <a:picLocks noChangeAspect="1"/>
          </p:cNvPicPr>
          <p:nvPr/>
        </p:nvPicPr>
        <p:blipFill rotWithShape="1">
          <a:blip r:embed="rId4"/>
          <a:srcRect l="5425" t="77741" r="64556" b="1189"/>
          <a:stretch/>
        </p:blipFill>
        <p:spPr>
          <a:xfrm>
            <a:off x="430907" y="5105791"/>
            <a:ext cx="1337405" cy="350519"/>
          </a:xfrm>
          <a:prstGeom prst="rect">
            <a:avLst/>
          </a:prstGeom>
        </p:spPr>
      </p:pic>
      <p:pic>
        <p:nvPicPr>
          <p:cNvPr id="54" name="Picture 53"/>
          <p:cNvPicPr>
            <a:picLocks noChangeAspect="1"/>
          </p:cNvPicPr>
          <p:nvPr/>
        </p:nvPicPr>
        <p:blipFill rotWithShape="1">
          <a:blip r:embed="rId4"/>
          <a:srcRect l="54591" t="1683" r="14965" b="71751"/>
          <a:stretch/>
        </p:blipFill>
        <p:spPr>
          <a:xfrm>
            <a:off x="2553260" y="5090211"/>
            <a:ext cx="1356360" cy="441960"/>
          </a:xfrm>
          <a:prstGeom prst="rect">
            <a:avLst/>
          </a:prstGeom>
        </p:spPr>
      </p:pic>
      <p:pic>
        <p:nvPicPr>
          <p:cNvPr id="55" name="Picture 54"/>
          <p:cNvPicPr>
            <a:picLocks noChangeAspect="1"/>
          </p:cNvPicPr>
          <p:nvPr/>
        </p:nvPicPr>
        <p:blipFill rotWithShape="1">
          <a:blip r:embed="rId4"/>
          <a:srcRect l="54591" t="25498" r="14965" b="47936"/>
          <a:stretch/>
        </p:blipFill>
        <p:spPr>
          <a:xfrm>
            <a:off x="4822910" y="5074971"/>
            <a:ext cx="1356360" cy="441959"/>
          </a:xfrm>
          <a:prstGeom prst="rect">
            <a:avLst/>
          </a:prstGeom>
        </p:spPr>
      </p:pic>
      <p:sp>
        <p:nvSpPr>
          <p:cNvPr id="56" name="TextBox 55">
            <a:extLst>
              <a:ext uri="{FF2B5EF4-FFF2-40B4-BE49-F238E27FC236}">
                <a16:creationId xmlns:a16="http://schemas.microsoft.com/office/drawing/2014/main" id="{C3C65E48-8C3D-6849-AD77-7AD8678AD8DA}"/>
              </a:ext>
            </a:extLst>
          </p:cNvPr>
          <p:cNvSpPr txBox="1"/>
          <p:nvPr/>
        </p:nvSpPr>
        <p:spPr>
          <a:xfrm>
            <a:off x="146940" y="88681"/>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7248102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3223" y="3929815"/>
            <a:ext cx="5276850" cy="742950"/>
          </a:xfrm>
          <a:prstGeom prst="rect">
            <a:avLst/>
          </a:prstGeom>
        </p:spPr>
      </p:pic>
      <p:pic>
        <p:nvPicPr>
          <p:cNvPr id="3" name="Picture 2"/>
          <p:cNvPicPr>
            <a:picLocks noChangeAspect="1"/>
          </p:cNvPicPr>
          <p:nvPr/>
        </p:nvPicPr>
        <p:blipFill>
          <a:blip r:embed="rId3"/>
          <a:stretch>
            <a:fillRect/>
          </a:stretch>
        </p:blipFill>
        <p:spPr>
          <a:xfrm>
            <a:off x="445063" y="6698991"/>
            <a:ext cx="5524500" cy="1266825"/>
          </a:xfrm>
          <a:prstGeom prst="rect">
            <a:avLst/>
          </a:prstGeom>
        </p:spPr>
      </p:pic>
      <p:sp>
        <p:nvSpPr>
          <p:cNvPr id="4" name="Rectangle 3"/>
          <p:cNvSpPr/>
          <p:nvPr/>
        </p:nvSpPr>
        <p:spPr>
          <a:xfrm>
            <a:off x="216190" y="3745577"/>
            <a:ext cx="344966" cy="276999"/>
          </a:xfrm>
          <a:prstGeom prst="rect">
            <a:avLst/>
          </a:prstGeom>
        </p:spPr>
        <p:txBody>
          <a:bodyPr wrap="none">
            <a:spAutoFit/>
          </a:bodyPr>
          <a:lstStyle/>
          <a:p>
            <a:r>
              <a:rPr lang="en-GB" sz="1200" noProof="0" dirty="0"/>
              <a:t>2) </a:t>
            </a:r>
          </a:p>
        </p:txBody>
      </p:sp>
      <p:sp>
        <p:nvSpPr>
          <p:cNvPr id="5" name="Rectangle 4"/>
          <p:cNvSpPr/>
          <p:nvPr/>
        </p:nvSpPr>
        <p:spPr>
          <a:xfrm>
            <a:off x="216190" y="6744418"/>
            <a:ext cx="344966" cy="276999"/>
          </a:xfrm>
          <a:prstGeom prst="rect">
            <a:avLst/>
          </a:prstGeom>
        </p:spPr>
        <p:txBody>
          <a:bodyPr wrap="none">
            <a:spAutoFit/>
          </a:bodyPr>
          <a:lstStyle/>
          <a:p>
            <a:r>
              <a:rPr lang="en-GB" sz="1200" noProof="0" dirty="0"/>
              <a:t>3) </a:t>
            </a:r>
          </a:p>
        </p:txBody>
      </p:sp>
      <p:sp>
        <p:nvSpPr>
          <p:cNvPr id="6" name="Rectangle 5">
            <a:extLst>
              <a:ext uri="{FF2B5EF4-FFF2-40B4-BE49-F238E27FC236}">
                <a16:creationId xmlns:a16="http://schemas.microsoft.com/office/drawing/2014/main" id="{B16CFEF2-A65A-6142-861C-58ACADF7EEFB}"/>
              </a:ext>
            </a:extLst>
          </p:cNvPr>
          <p:cNvSpPr/>
          <p:nvPr/>
        </p:nvSpPr>
        <p:spPr>
          <a:xfrm>
            <a:off x="295440" y="483675"/>
            <a:ext cx="6436663" cy="100319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0" name="Rectangle 9">
            <a:extLst>
              <a:ext uri="{FF2B5EF4-FFF2-40B4-BE49-F238E27FC236}">
                <a16:creationId xmlns:a16="http://schemas.microsoft.com/office/drawing/2014/main" id="{B16CFEF2-A65A-6142-861C-58ACADF7EEFB}"/>
              </a:ext>
            </a:extLst>
          </p:cNvPr>
          <p:cNvSpPr/>
          <p:nvPr/>
        </p:nvSpPr>
        <p:spPr>
          <a:xfrm>
            <a:off x="3493935" y="4672766"/>
            <a:ext cx="3223370" cy="166844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3" name="Rectangle 12">
            <a:extLst>
              <a:ext uri="{FF2B5EF4-FFF2-40B4-BE49-F238E27FC236}">
                <a16:creationId xmlns:a16="http://schemas.microsoft.com/office/drawing/2014/main" id="{B16CFEF2-A65A-6142-861C-58ACADF7EEFB}"/>
              </a:ext>
            </a:extLst>
          </p:cNvPr>
          <p:cNvSpPr/>
          <p:nvPr/>
        </p:nvSpPr>
        <p:spPr>
          <a:xfrm>
            <a:off x="300121" y="7965817"/>
            <a:ext cx="2981326" cy="174802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5" name="Rectangle 14">
            <a:extLst>
              <a:ext uri="{FF2B5EF4-FFF2-40B4-BE49-F238E27FC236}">
                <a16:creationId xmlns:a16="http://schemas.microsoft.com/office/drawing/2014/main" id="{B16CFEF2-A65A-6142-861C-58ACADF7EEFB}"/>
              </a:ext>
            </a:extLst>
          </p:cNvPr>
          <p:cNvSpPr/>
          <p:nvPr/>
        </p:nvSpPr>
        <p:spPr>
          <a:xfrm>
            <a:off x="3452897" y="7965816"/>
            <a:ext cx="3223370" cy="174802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 name="Slide Number Placeholder 7"/>
          <p:cNvSpPr>
            <a:spLocks noGrp="1"/>
          </p:cNvSpPr>
          <p:nvPr>
            <p:ph type="sldNum" sz="quarter" idx="12"/>
          </p:nvPr>
        </p:nvSpPr>
        <p:spPr>
          <a:xfrm>
            <a:off x="5352442" y="9537202"/>
            <a:ext cx="1543050" cy="527403"/>
          </a:xfrm>
        </p:spPr>
        <p:txBody>
          <a:bodyPr/>
          <a:lstStyle/>
          <a:p>
            <a:fld id="{9BD3B4A0-BFF9-422C-B253-48BA94BE2F5B}" type="slidenum">
              <a:rPr lang="en-GB" noProof="0" smtClean="0"/>
              <a:t>32</a:t>
            </a:fld>
            <a:endParaRPr lang="en-GB" noProof="0" dirty="0"/>
          </a:p>
        </p:txBody>
      </p:sp>
      <mc:AlternateContent xmlns:mc="http://schemas.openxmlformats.org/markup-compatibility/2006" xmlns:a14="http://schemas.microsoft.com/office/drawing/2010/main">
        <mc:Choice Requires="a14">
          <p:sp>
            <p:nvSpPr>
              <p:cNvPr id="9" name="Rectangle 8"/>
              <p:cNvSpPr/>
              <p:nvPr/>
            </p:nvSpPr>
            <p:spPr>
              <a:xfrm>
                <a:off x="138088" y="112521"/>
                <a:ext cx="6538179" cy="1743682"/>
              </a:xfrm>
              <a:prstGeom prst="rect">
                <a:avLst/>
              </a:prstGeom>
            </p:spPr>
            <p:txBody>
              <a:bodyPr wrap="square">
                <a:spAutoFit/>
              </a:bodyPr>
              <a:lstStyle/>
              <a:p>
                <a:pPr marL="228600" indent="-228600">
                  <a:buAutoNum type="arabicParenR"/>
                </a:pPr>
                <a:r>
                  <a:rPr lang="en-GB" sz="1200" noProof="0" dirty="0"/>
                  <a:t>Show that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4</m:t>
                        </m:r>
                      </m:num>
                      <m:den>
                        <m:r>
                          <a:rPr lang="en-GB" sz="1200" i="1" noProof="0">
                            <a:latin typeface="Cambria Math" panose="02040503050406030204" pitchFamily="18" charset="0"/>
                          </a:rPr>
                          <m:t>𝑥</m:t>
                        </m:r>
                      </m:den>
                    </m:f>
                    <m:r>
                      <a:rPr lang="en-GB" sz="1200" i="1" noProof="0">
                        <a:latin typeface="Cambria Math" panose="02040503050406030204" pitchFamily="18" charset="0"/>
                      </a:rPr>
                      <m:t>+</m:t>
                    </m:r>
                    <m:f>
                      <m:fPr>
                        <m:ctrlPr>
                          <a:rPr lang="en-GB" sz="1200" i="1" noProof="0">
                            <a:latin typeface="Cambria Math" panose="02040503050406030204" pitchFamily="18" charset="0"/>
                          </a:rPr>
                        </m:ctrlPr>
                      </m:fPr>
                      <m:num>
                        <m:r>
                          <a:rPr lang="en-GB" sz="1200" i="1" noProof="0">
                            <a:latin typeface="Cambria Math" panose="02040503050406030204" pitchFamily="18" charset="0"/>
                          </a:rPr>
                          <m:t>2</m:t>
                        </m:r>
                      </m:num>
                      <m:den>
                        <m:r>
                          <a:rPr lang="en-GB" sz="1200" i="1" noProof="0">
                            <a:latin typeface="Cambria Math" panose="02040503050406030204" pitchFamily="18" charset="0"/>
                          </a:rPr>
                          <m:t>𝑥</m:t>
                        </m:r>
                        <m:r>
                          <a:rPr lang="en-GB" sz="1200" i="1" noProof="0">
                            <a:latin typeface="Cambria Math" panose="02040503050406030204" pitchFamily="18" charset="0"/>
                          </a:rPr>
                          <m:t>−1</m:t>
                        </m:r>
                      </m:den>
                    </m:f>
                  </m:oMath>
                </a14:m>
                <a:r>
                  <a:rPr lang="en-GB" sz="1200" noProof="0" dirty="0"/>
                  <a:t> simplifies to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6</m:t>
                        </m:r>
                        <m:r>
                          <a:rPr lang="en-GB" sz="1200" i="1" noProof="0">
                            <a:latin typeface="Cambria Math" panose="02040503050406030204" pitchFamily="18" charset="0"/>
                          </a:rPr>
                          <m:t>𝑥</m:t>
                        </m:r>
                        <m:r>
                          <a:rPr lang="en-GB" sz="1200" i="1" noProof="0">
                            <a:latin typeface="Cambria Math" panose="02040503050406030204" pitchFamily="18" charset="0"/>
                          </a:rPr>
                          <m:t>−4</m:t>
                        </m:r>
                      </m:num>
                      <m:den>
                        <m:r>
                          <a:rPr lang="en-GB" sz="1200" i="1" noProof="0">
                            <a:latin typeface="Cambria Math" panose="02040503050406030204" pitchFamily="18" charset="0"/>
                          </a:rPr>
                          <m:t>𝑥</m:t>
                        </m:r>
                        <m:d>
                          <m:dPr>
                            <m:ctrlPr>
                              <a:rPr lang="en-GB" sz="1200" i="1" noProof="0">
                                <a:latin typeface="Cambria Math" panose="02040503050406030204" pitchFamily="18" charset="0"/>
                              </a:rPr>
                            </m:ctrlPr>
                          </m:dPr>
                          <m:e>
                            <m:r>
                              <a:rPr lang="en-GB" sz="1200" i="1" noProof="0">
                                <a:latin typeface="Cambria Math" panose="02040503050406030204" pitchFamily="18" charset="0"/>
                              </a:rPr>
                              <m:t>𝑥</m:t>
                            </m:r>
                            <m:r>
                              <a:rPr lang="en-GB" sz="1200" i="1" noProof="0">
                                <a:latin typeface="Cambria Math" panose="02040503050406030204" pitchFamily="18" charset="0"/>
                              </a:rPr>
                              <m:t>−1</m:t>
                            </m:r>
                          </m:e>
                        </m:d>
                      </m:den>
                    </m:f>
                  </m:oMath>
                </a14:m>
                <a:endParaRPr lang="en-GB" sz="1200" noProof="0" dirty="0"/>
              </a:p>
              <a:p>
                <a:pPr marL="228600" indent="-228600">
                  <a:buAutoNum type="arabicParenR"/>
                </a:pPr>
                <a:endParaRPr lang="en-GB" sz="1200" noProof="0" dirty="0"/>
              </a:p>
              <a:p>
                <a:pPr marL="228600" indent="-228600">
                  <a:buAutoNum type="arabicParenR"/>
                </a:pPr>
                <a:endParaRPr lang="en-GB" sz="1200" noProof="0" dirty="0"/>
              </a:p>
              <a:p>
                <a:endParaRPr lang="en-GB" sz="1200" b="1" noProof="0" dirty="0"/>
              </a:p>
              <a:p>
                <a:endParaRPr lang="en-GB" sz="1200" b="1" noProof="0" dirty="0"/>
              </a:p>
              <a:p>
                <a:endParaRPr lang="en-GB" sz="1200" b="1" noProof="0" dirty="0"/>
              </a:p>
              <a:p>
                <a:endParaRPr lang="en-GB" sz="1200" b="1" noProof="0" dirty="0"/>
              </a:p>
              <a:p>
                <a:r>
                  <a:rPr lang="en-GB" sz="1200" noProof="0" dirty="0"/>
                  <a:t>b) Hence or otherwise, solve </a:t>
                </a:r>
                <a14:m>
                  <m:oMath xmlns:m="http://schemas.openxmlformats.org/officeDocument/2006/math">
                    <m:f>
                      <m:fPr>
                        <m:ctrlPr>
                          <a:rPr lang="en-GB" sz="1200" i="1" noProof="0">
                            <a:latin typeface="Cambria Math" panose="02040503050406030204" pitchFamily="18" charset="0"/>
                          </a:rPr>
                        </m:ctrlPr>
                      </m:fPr>
                      <m:num>
                        <m:r>
                          <a:rPr lang="en-GB" sz="1200" b="0" i="1" noProof="0">
                            <a:latin typeface="Cambria Math" panose="02040503050406030204" pitchFamily="18" charset="0"/>
                          </a:rPr>
                          <m:t>4</m:t>
                        </m:r>
                      </m:num>
                      <m:den>
                        <m:r>
                          <a:rPr lang="en-GB" sz="1200" b="0" i="1" noProof="0">
                            <a:latin typeface="Cambria Math" panose="02040503050406030204" pitchFamily="18" charset="0"/>
                          </a:rPr>
                          <m:t>𝑥</m:t>
                        </m:r>
                      </m:den>
                    </m:f>
                    <m:r>
                      <a:rPr lang="en-GB" sz="1200" b="0" i="1" noProof="0">
                        <a:latin typeface="Cambria Math" panose="02040503050406030204" pitchFamily="18" charset="0"/>
                      </a:rPr>
                      <m:t>+</m:t>
                    </m:r>
                    <m:f>
                      <m:fPr>
                        <m:ctrlPr>
                          <a:rPr lang="en-GB" sz="1200" i="1" noProof="0">
                            <a:latin typeface="Cambria Math" panose="02040503050406030204" pitchFamily="18" charset="0"/>
                          </a:rPr>
                        </m:ctrlPr>
                      </m:fPr>
                      <m:num>
                        <m:r>
                          <a:rPr lang="en-GB" sz="1200" b="0" i="1" noProof="0">
                            <a:latin typeface="Cambria Math" panose="02040503050406030204" pitchFamily="18" charset="0"/>
                          </a:rPr>
                          <m:t>2</m:t>
                        </m:r>
                      </m:num>
                      <m:den>
                        <m:r>
                          <a:rPr lang="en-GB" sz="1200" b="0" i="1" noProof="0">
                            <a:latin typeface="Cambria Math" panose="02040503050406030204" pitchFamily="18" charset="0"/>
                          </a:rPr>
                          <m:t>𝑥</m:t>
                        </m:r>
                        <m:r>
                          <a:rPr lang="en-GB" sz="1200" b="0" i="1" noProof="0">
                            <a:latin typeface="Cambria Math" panose="02040503050406030204" pitchFamily="18" charset="0"/>
                          </a:rPr>
                          <m:t>−1</m:t>
                        </m:r>
                      </m:den>
                    </m:f>
                    <m:r>
                      <a:rPr lang="en-GB" sz="1200" b="0" i="1" noProof="0">
                        <a:latin typeface="Cambria Math" panose="02040503050406030204" pitchFamily="18" charset="0"/>
                      </a:rPr>
                      <m:t>=3</m:t>
                    </m:r>
                  </m:oMath>
                </a14:m>
                <a:r>
                  <a:rPr lang="en-GB" sz="1200" noProof="0" dirty="0"/>
                  <a:t>, giving your solutions correct to 3sf.</a:t>
                </a:r>
              </a:p>
            </p:txBody>
          </p:sp>
        </mc:Choice>
        <mc:Fallback xmlns="">
          <p:sp>
            <p:nvSpPr>
              <p:cNvPr id="9" name="Rectangle 8"/>
              <p:cNvSpPr>
                <a:spLocks noRot="1" noChangeAspect="1" noMove="1" noResize="1" noEditPoints="1" noAdjustHandles="1" noChangeArrowheads="1" noChangeShapeType="1" noTextEdit="1"/>
              </p:cNvSpPr>
              <p:nvPr/>
            </p:nvSpPr>
            <p:spPr>
              <a:xfrm>
                <a:off x="138088" y="112521"/>
                <a:ext cx="6538179" cy="1743682"/>
              </a:xfrm>
              <a:prstGeom prst="rect">
                <a:avLst/>
              </a:prstGeom>
              <a:blipFill>
                <a:blip r:embed="rId4"/>
                <a:stretch>
                  <a:fillRect l="-93"/>
                </a:stretch>
              </a:blipFill>
            </p:spPr>
            <p:txBody>
              <a:bodyPr/>
              <a:lstStyle/>
              <a:p>
                <a:r>
                  <a:rPr lang="en-US">
                    <a:noFill/>
                  </a:rPr>
                  <a:t> </a:t>
                </a:r>
              </a:p>
            </p:txBody>
          </p:sp>
        </mc:Fallback>
      </mc:AlternateContent>
      <p:sp>
        <p:nvSpPr>
          <p:cNvPr id="29" name="Rectangle 28">
            <a:extLst>
              <a:ext uri="{FF2B5EF4-FFF2-40B4-BE49-F238E27FC236}">
                <a16:creationId xmlns:a16="http://schemas.microsoft.com/office/drawing/2014/main" id="{B16CFEF2-A65A-6142-861C-58ACADF7EEFB}"/>
              </a:ext>
            </a:extLst>
          </p:cNvPr>
          <p:cNvSpPr/>
          <p:nvPr/>
        </p:nvSpPr>
        <p:spPr>
          <a:xfrm>
            <a:off x="295438" y="1899908"/>
            <a:ext cx="6436665" cy="174947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grpSp>
        <p:nvGrpSpPr>
          <p:cNvPr id="30" name="Group 29"/>
          <p:cNvGrpSpPr/>
          <p:nvPr/>
        </p:nvGrpSpPr>
        <p:grpSpPr>
          <a:xfrm>
            <a:off x="4771673" y="3207470"/>
            <a:ext cx="1601234" cy="276999"/>
            <a:chOff x="503980" y="4722851"/>
            <a:chExt cx="1601234" cy="276999"/>
          </a:xfrm>
        </p:grpSpPr>
        <mc:AlternateContent xmlns:mc="http://schemas.openxmlformats.org/markup-compatibility/2006" xmlns:a14="http://schemas.microsoft.com/office/drawing/2010/main">
          <mc:Choice Requires="a14">
            <p:sp>
              <p:nvSpPr>
                <p:cNvPr id="31" name="TextBox 30"/>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1" name="TextBox 30"/>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5"/>
                  <a:stretch>
                    <a:fillRect b="-15217"/>
                  </a:stretch>
                </a:blipFill>
              </p:spPr>
              <p:txBody>
                <a:bodyPr/>
                <a:lstStyle/>
                <a:p>
                  <a:r>
                    <a:rPr lang="en-US">
                      <a:noFill/>
                    </a:rPr>
                    <a:t> </a:t>
                  </a:r>
                </a:p>
              </p:txBody>
            </p:sp>
          </mc:Fallback>
        </mc:AlternateContent>
        <p:cxnSp>
          <p:nvCxnSpPr>
            <p:cNvPr id="32" name="Straight Connector 31"/>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sp>
        <p:nvSpPr>
          <p:cNvPr id="34" name="Rectangle 33">
            <a:extLst>
              <a:ext uri="{FF2B5EF4-FFF2-40B4-BE49-F238E27FC236}">
                <a16:creationId xmlns:a16="http://schemas.microsoft.com/office/drawing/2014/main" id="{B16CFEF2-A65A-6142-861C-58ACADF7EEFB}"/>
              </a:ext>
            </a:extLst>
          </p:cNvPr>
          <p:cNvSpPr/>
          <p:nvPr/>
        </p:nvSpPr>
        <p:spPr>
          <a:xfrm>
            <a:off x="307225" y="4684087"/>
            <a:ext cx="2967118" cy="168265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grpSp>
        <p:nvGrpSpPr>
          <p:cNvPr id="36" name="Group 35"/>
          <p:cNvGrpSpPr/>
          <p:nvPr/>
        </p:nvGrpSpPr>
        <p:grpSpPr>
          <a:xfrm>
            <a:off x="4719296" y="6052661"/>
            <a:ext cx="1601234" cy="276999"/>
            <a:chOff x="503980" y="4722851"/>
            <a:chExt cx="1601234" cy="276999"/>
          </a:xfrm>
        </p:grpSpPr>
        <mc:AlternateContent xmlns:mc="http://schemas.openxmlformats.org/markup-compatibility/2006" xmlns:a14="http://schemas.microsoft.com/office/drawing/2010/main">
          <mc:Choice Requires="a14">
            <p:sp>
              <p:nvSpPr>
                <p:cNvPr id="37" name="TextBox 36"/>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7" name="TextBox 36"/>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6"/>
                  <a:stretch>
                    <a:fillRect t="-2222" b="-17778"/>
                  </a:stretch>
                </a:blipFill>
              </p:spPr>
              <p:txBody>
                <a:bodyPr/>
                <a:lstStyle/>
                <a:p>
                  <a:r>
                    <a:rPr lang="en-US">
                      <a:noFill/>
                    </a:rPr>
                    <a:t> </a:t>
                  </a:r>
                </a:p>
              </p:txBody>
            </p:sp>
          </mc:Fallback>
        </mc:AlternateContent>
        <p:cxnSp>
          <p:nvCxnSpPr>
            <p:cNvPr id="38" name="Straight Connector 37"/>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579511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8E8C9-4318-76BE-7195-B5113EC9675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7078CD-991A-A185-665F-BF1283BC055A}"/>
              </a:ext>
            </a:extLst>
          </p:cNvPr>
          <p:cNvSpPr>
            <a:spLocks noGrp="1"/>
          </p:cNvSpPr>
          <p:nvPr>
            <p:ph type="sldNum" sz="quarter" idx="12"/>
          </p:nvPr>
        </p:nvSpPr>
        <p:spPr/>
        <p:txBody>
          <a:bodyPr/>
          <a:lstStyle/>
          <a:p>
            <a:fld id="{9BD3B4A0-BFF9-422C-B253-48BA94BE2F5B}" type="slidenum">
              <a:rPr lang="en-GB" noProof="0" smtClean="0"/>
              <a:t>33</a:t>
            </a:fld>
            <a:endParaRPr lang="en-GB" noProof="0" dirty="0"/>
          </a:p>
        </p:txBody>
      </p:sp>
      <p:sp>
        <p:nvSpPr>
          <p:cNvPr id="3" name="TextBox 2">
            <a:extLst>
              <a:ext uri="{FF2B5EF4-FFF2-40B4-BE49-F238E27FC236}">
                <a16:creationId xmlns:a16="http://schemas.microsoft.com/office/drawing/2014/main" id="{FE38D70B-1236-75B1-D030-13C3BDB58B36}"/>
              </a:ext>
            </a:extLst>
          </p:cNvPr>
          <p:cNvSpPr txBox="1"/>
          <p:nvPr/>
        </p:nvSpPr>
        <p:spPr>
          <a:xfrm>
            <a:off x="0" y="-25400"/>
            <a:ext cx="1294200" cy="276999"/>
          </a:xfrm>
          <a:prstGeom prst="rect">
            <a:avLst/>
          </a:prstGeom>
          <a:solidFill>
            <a:srgbClr val="0070C0"/>
          </a:solidFill>
        </p:spPr>
        <p:txBody>
          <a:bodyPr wrap="none" rtlCol="0" anchor="ctr">
            <a:spAutoFit/>
          </a:bodyPr>
          <a:lstStyle/>
          <a:p>
            <a:pPr algn="r"/>
            <a:r>
              <a:rPr lang="en-GB" sz="1200" b="1" noProof="0" dirty="0">
                <a:solidFill>
                  <a:schemeClr val="bg1"/>
                </a:solidFill>
              </a:rPr>
              <a:t>GCSE QUESTIONS</a:t>
            </a:r>
          </a:p>
        </p:txBody>
      </p:sp>
      <p:pic>
        <p:nvPicPr>
          <p:cNvPr id="5" name="Picture 4" descr="A white background with black lines and numbers&#10;&#10;AI-generated content may be incorrect.">
            <a:extLst>
              <a:ext uri="{FF2B5EF4-FFF2-40B4-BE49-F238E27FC236}">
                <a16:creationId xmlns:a16="http://schemas.microsoft.com/office/drawing/2014/main" id="{9660829A-8D1D-1CCE-0FD5-7C3EBDE6E3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48" y="377725"/>
            <a:ext cx="6845652" cy="3867349"/>
          </a:xfrm>
          <a:prstGeom prst="rect">
            <a:avLst/>
          </a:prstGeom>
        </p:spPr>
      </p:pic>
      <p:cxnSp>
        <p:nvCxnSpPr>
          <p:cNvPr id="7" name="Straight Connector 6">
            <a:extLst>
              <a:ext uri="{FF2B5EF4-FFF2-40B4-BE49-F238E27FC236}">
                <a16:creationId xmlns:a16="http://schemas.microsoft.com/office/drawing/2014/main" id="{1DDCB1D2-F789-D4C0-C654-0F61ACAC88A7}"/>
              </a:ext>
            </a:extLst>
          </p:cNvPr>
          <p:cNvCxnSpPr/>
          <p:nvPr/>
        </p:nvCxnSpPr>
        <p:spPr>
          <a:xfrm>
            <a:off x="12348" y="4381500"/>
            <a:ext cx="684565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white background with black text&#10;&#10;AI-generated content may be incorrect.">
            <a:extLst>
              <a:ext uri="{FF2B5EF4-FFF2-40B4-BE49-F238E27FC236}">
                <a16:creationId xmlns:a16="http://schemas.microsoft.com/office/drawing/2014/main" id="{9F5C9B62-1374-0B46-C143-9BF7892121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48" y="4711242"/>
            <a:ext cx="6705952" cy="4196047"/>
          </a:xfrm>
          <a:prstGeom prst="rect">
            <a:avLst/>
          </a:prstGeom>
        </p:spPr>
      </p:pic>
    </p:spTree>
    <p:extLst>
      <p:ext uri="{BB962C8B-B14F-4D97-AF65-F5344CB8AC3E}">
        <p14:creationId xmlns:p14="http://schemas.microsoft.com/office/powerpoint/2010/main" val="1546075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86116-0ED8-B5E7-470C-BA72FF6763F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D69BDD-6497-C1B8-6729-4F78E2BC6358}"/>
              </a:ext>
            </a:extLst>
          </p:cNvPr>
          <p:cNvSpPr>
            <a:spLocks noGrp="1"/>
          </p:cNvSpPr>
          <p:nvPr>
            <p:ph type="sldNum" sz="quarter" idx="12"/>
          </p:nvPr>
        </p:nvSpPr>
        <p:spPr/>
        <p:txBody>
          <a:bodyPr/>
          <a:lstStyle/>
          <a:p>
            <a:fld id="{9BD3B4A0-BFF9-422C-B253-48BA94BE2F5B}" type="slidenum">
              <a:rPr lang="en-GB" noProof="0" smtClean="0"/>
              <a:t>34</a:t>
            </a:fld>
            <a:endParaRPr lang="en-GB" noProof="0" dirty="0"/>
          </a:p>
        </p:txBody>
      </p:sp>
      <p:cxnSp>
        <p:nvCxnSpPr>
          <p:cNvPr id="7" name="Straight Connector 6">
            <a:extLst>
              <a:ext uri="{FF2B5EF4-FFF2-40B4-BE49-F238E27FC236}">
                <a16:creationId xmlns:a16="http://schemas.microsoft.com/office/drawing/2014/main" id="{C6F0709D-0E79-B72E-3F48-528A50A3311F}"/>
              </a:ext>
            </a:extLst>
          </p:cNvPr>
          <p:cNvCxnSpPr/>
          <p:nvPr/>
        </p:nvCxnSpPr>
        <p:spPr>
          <a:xfrm>
            <a:off x="12348" y="4400776"/>
            <a:ext cx="684565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descr="A white background with black text&#10;&#10;AI-generated content may be incorrect.">
            <a:extLst>
              <a:ext uri="{FF2B5EF4-FFF2-40B4-BE49-F238E27FC236}">
                <a16:creationId xmlns:a16="http://schemas.microsoft.com/office/drawing/2014/main" id="{1A7857CC-88FA-A044-8F42-386812C745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737696" cy="4400776"/>
          </a:xfrm>
          <a:prstGeom prst="rect">
            <a:avLst/>
          </a:prstGeom>
        </p:spPr>
      </p:pic>
      <p:pic>
        <p:nvPicPr>
          <p:cNvPr id="10" name="Picture 9" descr="A white background with black text&#10;&#10;AI-generated content may be incorrect.">
            <a:extLst>
              <a:ext uri="{FF2B5EF4-FFF2-40B4-BE49-F238E27FC236}">
                <a16:creationId xmlns:a16="http://schemas.microsoft.com/office/drawing/2014/main" id="{3BEF3ABF-C785-B949-D246-3A41D70080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32232"/>
            <a:ext cx="6737696" cy="3613336"/>
          </a:xfrm>
          <a:prstGeom prst="rect">
            <a:avLst/>
          </a:prstGeom>
        </p:spPr>
      </p:pic>
    </p:spTree>
    <p:extLst>
      <p:ext uri="{BB962C8B-B14F-4D97-AF65-F5344CB8AC3E}">
        <p14:creationId xmlns:p14="http://schemas.microsoft.com/office/powerpoint/2010/main" val="21090987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4" ma:contentTypeDescription="Create a new document." ma:contentTypeScope="" ma:versionID="d122bacdc6e0e52b1daab86e5e474f38">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c50e756327527929f9f40a94500ed9ef"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8993FAD-BC98-4BC4-9AAA-9B0B2AFC55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0b71df-48f4-4db7-95c3-a9033c265cb9"/>
    <ds:schemaRef ds:uri="608ebbb4-e88b-4c99-b506-21d9362781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053D74A-5336-454B-8D4D-7A76286864F0}">
  <ds:schemaRefs>
    <ds:schemaRef ds:uri="http://schemas.microsoft.com/sharepoint/v3/contenttype/forms"/>
  </ds:schemaRefs>
</ds:datastoreItem>
</file>

<file path=customXml/itemProps3.xml><?xml version="1.0" encoding="utf-8"?>
<ds:datastoreItem xmlns:ds="http://schemas.openxmlformats.org/officeDocument/2006/customXml" ds:itemID="{00F551DF-02B3-45E2-A83E-993D28DAF02D}">
  <ds:schemaRefs>
    <ds:schemaRef ds:uri="608ebbb4-e88b-4c99-b506-21d9362781c6"/>
    <ds:schemaRef ds:uri="e30b71df-48f4-4db7-95c3-a9033c265cb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3160</Words>
  <Application>Microsoft Office PowerPoint</Application>
  <PresentationFormat>A4 Paper (210x297 mm)</PresentationFormat>
  <Paragraphs>566</Paragraphs>
  <Slides>34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Marcus Lindley (Staff, Astrea Academy Sheffield)</dc:creator>
  <cp:lastModifiedBy>Adam Brown (Astrea Central)</cp:lastModifiedBy>
  <cp:revision>10</cp:revision>
  <cp:lastPrinted>2023-02-02T08:32:36Z</cp:lastPrinted>
  <dcterms:created xsi:type="dcterms:W3CDTF">2022-06-06T15:50:05Z</dcterms:created>
  <dcterms:modified xsi:type="dcterms:W3CDTF">2025-08-06T14:09:15Z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ies>
</file>