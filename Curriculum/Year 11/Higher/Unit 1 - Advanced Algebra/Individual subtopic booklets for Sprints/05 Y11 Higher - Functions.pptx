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2"/>
  </p:notesMasterIdLst>
  <p:sldIdLst>
    <p:sldId id="286" r:id="rId5"/>
    <p:sldId id="287" r:id="rId6"/>
    <p:sldId id="344" r:id="rId7"/>
    <p:sldId id="288" r:id="rId8"/>
    <p:sldId id="291" r:id="rId9"/>
    <p:sldId id="292" r:id="rId10"/>
    <p:sldId id="293" r:id="rId11"/>
    <p:sldId id="294" r:id="rId12"/>
    <p:sldId id="289" r:id="rId13"/>
    <p:sldId id="290" r:id="rId14"/>
    <p:sldId id="345" r:id="rId15"/>
    <p:sldId id="346" r:id="rId16"/>
    <p:sldId id="2752" r:id="rId17"/>
    <p:sldId id="2767" r:id="rId18"/>
    <p:sldId id="2768" r:id="rId19"/>
    <p:sldId id="2769" r:id="rId20"/>
    <p:sldId id="2770" r:id="rId21"/>
  </p:sldIdLst>
  <p:sldSz cx="6858000" cy="9906000" type="A4"/>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898" autoAdjust="0"/>
    <p:restoredTop sz="94660"/>
  </p:normalViewPr>
  <p:slideViewPr>
    <p:cSldViewPr snapToGrid="0">
      <p:cViewPr varScale="1">
        <p:scale>
          <a:sx n="77" d="100"/>
          <a:sy n="77" d="100"/>
        </p:scale>
        <p:origin x="315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am Brown (Astrea Central)" userId="e4577f1c-a0ea-4eef-9851-9bdbe8619e58" providerId="ADAL" clId="{1F0F9BDF-6AD5-4FD8-9627-0BC9CF5ACC17}"/>
    <pc:docChg chg="delSld">
      <pc:chgData name="Adam Brown (Astrea Central)" userId="e4577f1c-a0ea-4eef-9851-9bdbe8619e58" providerId="ADAL" clId="{1F0F9BDF-6AD5-4FD8-9627-0BC9CF5ACC17}" dt="2025-08-06T14:26:48.385" v="2" actId="47"/>
      <pc:docMkLst>
        <pc:docMk/>
      </pc:docMkLst>
      <pc:sldChg chg="del">
        <pc:chgData name="Adam Brown (Astrea Central)" userId="e4577f1c-a0ea-4eef-9851-9bdbe8619e58" providerId="ADAL" clId="{1F0F9BDF-6AD5-4FD8-9627-0BC9CF5ACC17}" dt="2025-08-06T14:26:18.141" v="0" actId="47"/>
        <pc:sldMkLst>
          <pc:docMk/>
          <pc:sldMk cId="2420724009" sldId="257"/>
        </pc:sldMkLst>
      </pc:sldChg>
      <pc:sldChg chg="del">
        <pc:chgData name="Adam Brown (Astrea Central)" userId="e4577f1c-a0ea-4eef-9851-9bdbe8619e58" providerId="ADAL" clId="{1F0F9BDF-6AD5-4FD8-9627-0BC9CF5ACC17}" dt="2025-08-06T14:26:18.141" v="0" actId="47"/>
        <pc:sldMkLst>
          <pc:docMk/>
          <pc:sldMk cId="1005434100" sldId="258"/>
        </pc:sldMkLst>
      </pc:sldChg>
      <pc:sldChg chg="del">
        <pc:chgData name="Adam Brown (Astrea Central)" userId="e4577f1c-a0ea-4eef-9851-9bdbe8619e58" providerId="ADAL" clId="{1F0F9BDF-6AD5-4FD8-9627-0BC9CF5ACC17}" dt="2025-08-06T14:26:36.305" v="1" actId="47"/>
        <pc:sldMkLst>
          <pc:docMk/>
          <pc:sldMk cId="171837948" sldId="264"/>
        </pc:sldMkLst>
      </pc:sldChg>
      <pc:sldChg chg="del">
        <pc:chgData name="Adam Brown (Astrea Central)" userId="e4577f1c-a0ea-4eef-9851-9bdbe8619e58" providerId="ADAL" clId="{1F0F9BDF-6AD5-4FD8-9627-0BC9CF5ACC17}" dt="2025-08-06T14:26:36.305" v="1" actId="47"/>
        <pc:sldMkLst>
          <pc:docMk/>
          <pc:sldMk cId="1580091344" sldId="265"/>
        </pc:sldMkLst>
      </pc:sldChg>
      <pc:sldChg chg="del">
        <pc:chgData name="Adam Brown (Astrea Central)" userId="e4577f1c-a0ea-4eef-9851-9bdbe8619e58" providerId="ADAL" clId="{1F0F9BDF-6AD5-4FD8-9627-0BC9CF5ACC17}" dt="2025-08-06T14:26:36.305" v="1" actId="47"/>
        <pc:sldMkLst>
          <pc:docMk/>
          <pc:sldMk cId="2414722630" sldId="266"/>
        </pc:sldMkLst>
      </pc:sldChg>
      <pc:sldChg chg="del">
        <pc:chgData name="Adam Brown (Astrea Central)" userId="e4577f1c-a0ea-4eef-9851-9bdbe8619e58" providerId="ADAL" clId="{1F0F9BDF-6AD5-4FD8-9627-0BC9CF5ACC17}" dt="2025-08-06T14:26:36.305" v="1" actId="47"/>
        <pc:sldMkLst>
          <pc:docMk/>
          <pc:sldMk cId="3426703939" sldId="267"/>
        </pc:sldMkLst>
      </pc:sldChg>
      <pc:sldChg chg="del">
        <pc:chgData name="Adam Brown (Astrea Central)" userId="e4577f1c-a0ea-4eef-9851-9bdbe8619e58" providerId="ADAL" clId="{1F0F9BDF-6AD5-4FD8-9627-0BC9CF5ACC17}" dt="2025-08-06T14:26:36.305" v="1" actId="47"/>
        <pc:sldMkLst>
          <pc:docMk/>
          <pc:sldMk cId="937638385" sldId="268"/>
        </pc:sldMkLst>
      </pc:sldChg>
      <pc:sldChg chg="del">
        <pc:chgData name="Adam Brown (Astrea Central)" userId="e4577f1c-a0ea-4eef-9851-9bdbe8619e58" providerId="ADAL" clId="{1F0F9BDF-6AD5-4FD8-9627-0BC9CF5ACC17}" dt="2025-08-06T14:26:36.305" v="1" actId="47"/>
        <pc:sldMkLst>
          <pc:docMk/>
          <pc:sldMk cId="2931845994" sldId="269"/>
        </pc:sldMkLst>
      </pc:sldChg>
      <pc:sldChg chg="del">
        <pc:chgData name="Adam Brown (Astrea Central)" userId="e4577f1c-a0ea-4eef-9851-9bdbe8619e58" providerId="ADAL" clId="{1F0F9BDF-6AD5-4FD8-9627-0BC9CF5ACC17}" dt="2025-08-06T14:26:36.305" v="1" actId="47"/>
        <pc:sldMkLst>
          <pc:docMk/>
          <pc:sldMk cId="57951128" sldId="277"/>
        </pc:sldMkLst>
      </pc:sldChg>
      <pc:sldChg chg="del">
        <pc:chgData name="Adam Brown (Astrea Central)" userId="e4577f1c-a0ea-4eef-9851-9bdbe8619e58" providerId="ADAL" clId="{1F0F9BDF-6AD5-4FD8-9627-0BC9CF5ACC17}" dt="2025-08-06T14:26:48.385" v="2" actId="47"/>
        <pc:sldMkLst>
          <pc:docMk/>
          <pc:sldMk cId="92328800" sldId="296"/>
        </pc:sldMkLst>
      </pc:sldChg>
      <pc:sldChg chg="del">
        <pc:chgData name="Adam Brown (Astrea Central)" userId="e4577f1c-a0ea-4eef-9851-9bdbe8619e58" providerId="ADAL" clId="{1F0F9BDF-6AD5-4FD8-9627-0BC9CF5ACC17}" dt="2025-08-06T14:26:48.385" v="2" actId="47"/>
        <pc:sldMkLst>
          <pc:docMk/>
          <pc:sldMk cId="2815565918" sldId="303"/>
        </pc:sldMkLst>
      </pc:sldChg>
      <pc:sldChg chg="del">
        <pc:chgData name="Adam Brown (Astrea Central)" userId="e4577f1c-a0ea-4eef-9851-9bdbe8619e58" providerId="ADAL" clId="{1F0F9BDF-6AD5-4FD8-9627-0BC9CF5ACC17}" dt="2025-08-06T14:26:48.385" v="2" actId="47"/>
        <pc:sldMkLst>
          <pc:docMk/>
          <pc:sldMk cId="4216146809" sldId="313"/>
        </pc:sldMkLst>
      </pc:sldChg>
      <pc:sldChg chg="del">
        <pc:chgData name="Adam Brown (Astrea Central)" userId="e4577f1c-a0ea-4eef-9851-9bdbe8619e58" providerId="ADAL" clId="{1F0F9BDF-6AD5-4FD8-9627-0BC9CF5ACC17}" dt="2025-08-06T14:26:48.385" v="2" actId="47"/>
        <pc:sldMkLst>
          <pc:docMk/>
          <pc:sldMk cId="1844880138" sldId="314"/>
        </pc:sldMkLst>
      </pc:sldChg>
      <pc:sldChg chg="del">
        <pc:chgData name="Adam Brown (Astrea Central)" userId="e4577f1c-a0ea-4eef-9851-9bdbe8619e58" providerId="ADAL" clId="{1F0F9BDF-6AD5-4FD8-9627-0BC9CF5ACC17}" dt="2025-08-06T14:26:36.305" v="1" actId="47"/>
        <pc:sldMkLst>
          <pc:docMk/>
          <pc:sldMk cId="826102320" sldId="322"/>
        </pc:sldMkLst>
      </pc:sldChg>
      <pc:sldChg chg="del">
        <pc:chgData name="Adam Brown (Astrea Central)" userId="e4577f1c-a0ea-4eef-9851-9bdbe8619e58" providerId="ADAL" clId="{1F0F9BDF-6AD5-4FD8-9627-0BC9CF5ACC17}" dt="2025-08-06T14:26:36.305" v="1" actId="47"/>
        <pc:sldMkLst>
          <pc:docMk/>
          <pc:sldMk cId="2304709194" sldId="323"/>
        </pc:sldMkLst>
      </pc:sldChg>
      <pc:sldChg chg="del">
        <pc:chgData name="Adam Brown (Astrea Central)" userId="e4577f1c-a0ea-4eef-9851-9bdbe8619e58" providerId="ADAL" clId="{1F0F9BDF-6AD5-4FD8-9627-0BC9CF5ACC17}" dt="2025-08-06T14:26:36.305" v="1" actId="47"/>
        <pc:sldMkLst>
          <pc:docMk/>
          <pc:sldMk cId="969948017" sldId="324"/>
        </pc:sldMkLst>
      </pc:sldChg>
      <pc:sldChg chg="del">
        <pc:chgData name="Adam Brown (Astrea Central)" userId="e4577f1c-a0ea-4eef-9851-9bdbe8619e58" providerId="ADAL" clId="{1F0F9BDF-6AD5-4FD8-9627-0BC9CF5ACC17}" dt="2025-08-06T14:26:36.305" v="1" actId="47"/>
        <pc:sldMkLst>
          <pc:docMk/>
          <pc:sldMk cId="4032890790" sldId="325"/>
        </pc:sldMkLst>
      </pc:sldChg>
      <pc:sldChg chg="del">
        <pc:chgData name="Adam Brown (Astrea Central)" userId="e4577f1c-a0ea-4eef-9851-9bdbe8619e58" providerId="ADAL" clId="{1F0F9BDF-6AD5-4FD8-9627-0BC9CF5ACC17}" dt="2025-08-06T14:26:36.305" v="1" actId="47"/>
        <pc:sldMkLst>
          <pc:docMk/>
          <pc:sldMk cId="2502521823" sldId="326"/>
        </pc:sldMkLst>
      </pc:sldChg>
      <pc:sldChg chg="del">
        <pc:chgData name="Adam Brown (Astrea Central)" userId="e4577f1c-a0ea-4eef-9851-9bdbe8619e58" providerId="ADAL" clId="{1F0F9BDF-6AD5-4FD8-9627-0BC9CF5ACC17}" dt="2025-08-06T14:26:36.305" v="1" actId="47"/>
        <pc:sldMkLst>
          <pc:docMk/>
          <pc:sldMk cId="3767051523" sldId="327"/>
        </pc:sldMkLst>
      </pc:sldChg>
      <pc:sldChg chg="del">
        <pc:chgData name="Adam Brown (Astrea Central)" userId="e4577f1c-a0ea-4eef-9851-9bdbe8619e58" providerId="ADAL" clId="{1F0F9BDF-6AD5-4FD8-9627-0BC9CF5ACC17}" dt="2025-08-06T14:26:36.305" v="1" actId="47"/>
        <pc:sldMkLst>
          <pc:docMk/>
          <pc:sldMk cId="4281584568" sldId="328"/>
        </pc:sldMkLst>
      </pc:sldChg>
      <pc:sldChg chg="del">
        <pc:chgData name="Adam Brown (Astrea Central)" userId="e4577f1c-a0ea-4eef-9851-9bdbe8619e58" providerId="ADAL" clId="{1F0F9BDF-6AD5-4FD8-9627-0BC9CF5ACC17}" dt="2025-08-06T14:26:36.305" v="1" actId="47"/>
        <pc:sldMkLst>
          <pc:docMk/>
          <pc:sldMk cId="2219975397" sldId="329"/>
        </pc:sldMkLst>
      </pc:sldChg>
      <pc:sldChg chg="del">
        <pc:chgData name="Adam Brown (Astrea Central)" userId="e4577f1c-a0ea-4eef-9851-9bdbe8619e58" providerId="ADAL" clId="{1F0F9BDF-6AD5-4FD8-9627-0BC9CF5ACC17}" dt="2025-08-06T14:26:36.305" v="1" actId="47"/>
        <pc:sldMkLst>
          <pc:docMk/>
          <pc:sldMk cId="2599370368" sldId="330"/>
        </pc:sldMkLst>
      </pc:sldChg>
      <pc:sldChg chg="del">
        <pc:chgData name="Adam Brown (Astrea Central)" userId="e4577f1c-a0ea-4eef-9851-9bdbe8619e58" providerId="ADAL" clId="{1F0F9BDF-6AD5-4FD8-9627-0BC9CF5ACC17}" dt="2025-08-06T14:26:36.305" v="1" actId="47"/>
        <pc:sldMkLst>
          <pc:docMk/>
          <pc:sldMk cId="962353856" sldId="331"/>
        </pc:sldMkLst>
      </pc:sldChg>
      <pc:sldChg chg="del">
        <pc:chgData name="Adam Brown (Astrea Central)" userId="e4577f1c-a0ea-4eef-9851-9bdbe8619e58" providerId="ADAL" clId="{1F0F9BDF-6AD5-4FD8-9627-0BC9CF5ACC17}" dt="2025-08-06T14:26:36.305" v="1" actId="47"/>
        <pc:sldMkLst>
          <pc:docMk/>
          <pc:sldMk cId="1908346100" sldId="334"/>
        </pc:sldMkLst>
      </pc:sldChg>
      <pc:sldChg chg="del">
        <pc:chgData name="Adam Brown (Astrea Central)" userId="e4577f1c-a0ea-4eef-9851-9bdbe8619e58" providerId="ADAL" clId="{1F0F9BDF-6AD5-4FD8-9627-0BC9CF5ACC17}" dt="2025-08-06T14:26:36.305" v="1" actId="47"/>
        <pc:sldMkLst>
          <pc:docMk/>
          <pc:sldMk cId="3525067124" sldId="335"/>
        </pc:sldMkLst>
      </pc:sldChg>
      <pc:sldChg chg="del">
        <pc:chgData name="Adam Brown (Astrea Central)" userId="e4577f1c-a0ea-4eef-9851-9bdbe8619e58" providerId="ADAL" clId="{1F0F9BDF-6AD5-4FD8-9627-0BC9CF5ACC17}" dt="2025-08-06T14:26:36.305" v="1" actId="47"/>
        <pc:sldMkLst>
          <pc:docMk/>
          <pc:sldMk cId="724810248" sldId="336"/>
        </pc:sldMkLst>
      </pc:sldChg>
      <pc:sldChg chg="del">
        <pc:chgData name="Adam Brown (Astrea Central)" userId="e4577f1c-a0ea-4eef-9851-9bdbe8619e58" providerId="ADAL" clId="{1F0F9BDF-6AD5-4FD8-9627-0BC9CF5ACC17}" dt="2025-08-06T14:26:48.385" v="2" actId="47"/>
        <pc:sldMkLst>
          <pc:docMk/>
          <pc:sldMk cId="542520032" sldId="347"/>
        </pc:sldMkLst>
      </pc:sldChg>
      <pc:sldChg chg="del">
        <pc:chgData name="Adam Brown (Astrea Central)" userId="e4577f1c-a0ea-4eef-9851-9bdbe8619e58" providerId="ADAL" clId="{1F0F9BDF-6AD5-4FD8-9627-0BC9CF5ACC17}" dt="2025-08-06T14:26:48.385" v="2" actId="47"/>
        <pc:sldMkLst>
          <pc:docMk/>
          <pc:sldMk cId="1042596037" sldId="348"/>
        </pc:sldMkLst>
      </pc:sldChg>
      <pc:sldChg chg="del">
        <pc:chgData name="Adam Brown (Astrea Central)" userId="e4577f1c-a0ea-4eef-9851-9bdbe8619e58" providerId="ADAL" clId="{1F0F9BDF-6AD5-4FD8-9627-0BC9CF5ACC17}" dt="2025-08-06T14:26:48.385" v="2" actId="47"/>
        <pc:sldMkLst>
          <pc:docMk/>
          <pc:sldMk cId="3186429579" sldId="349"/>
        </pc:sldMkLst>
      </pc:sldChg>
      <pc:sldChg chg="del">
        <pc:chgData name="Adam Brown (Astrea Central)" userId="e4577f1c-a0ea-4eef-9851-9bdbe8619e58" providerId="ADAL" clId="{1F0F9BDF-6AD5-4FD8-9627-0BC9CF5ACC17}" dt="2025-08-06T14:26:48.385" v="2" actId="47"/>
        <pc:sldMkLst>
          <pc:docMk/>
          <pc:sldMk cId="1856237109" sldId="350"/>
        </pc:sldMkLst>
      </pc:sldChg>
      <pc:sldChg chg="del">
        <pc:chgData name="Adam Brown (Astrea Central)" userId="e4577f1c-a0ea-4eef-9851-9bdbe8619e58" providerId="ADAL" clId="{1F0F9BDF-6AD5-4FD8-9627-0BC9CF5ACC17}" dt="2025-08-06T14:26:48.385" v="2" actId="47"/>
        <pc:sldMkLst>
          <pc:docMk/>
          <pc:sldMk cId="1190930630" sldId="353"/>
        </pc:sldMkLst>
      </pc:sldChg>
      <pc:sldChg chg="del">
        <pc:chgData name="Adam Brown (Astrea Central)" userId="e4577f1c-a0ea-4eef-9851-9bdbe8619e58" providerId="ADAL" clId="{1F0F9BDF-6AD5-4FD8-9627-0BC9CF5ACC17}" dt="2025-08-06T14:26:48.385" v="2" actId="47"/>
        <pc:sldMkLst>
          <pc:docMk/>
          <pc:sldMk cId="4096746058" sldId="355"/>
        </pc:sldMkLst>
      </pc:sldChg>
      <pc:sldChg chg="del">
        <pc:chgData name="Adam Brown (Astrea Central)" userId="e4577f1c-a0ea-4eef-9851-9bdbe8619e58" providerId="ADAL" clId="{1F0F9BDF-6AD5-4FD8-9627-0BC9CF5ACC17}" dt="2025-08-06T14:26:48.385" v="2" actId="47"/>
        <pc:sldMkLst>
          <pc:docMk/>
          <pc:sldMk cId="3479034719" sldId="356"/>
        </pc:sldMkLst>
      </pc:sldChg>
      <pc:sldChg chg="del">
        <pc:chgData name="Adam Brown (Astrea Central)" userId="e4577f1c-a0ea-4eef-9851-9bdbe8619e58" providerId="ADAL" clId="{1F0F9BDF-6AD5-4FD8-9627-0BC9CF5ACC17}" dt="2025-08-06T14:26:48.385" v="2" actId="47"/>
        <pc:sldMkLst>
          <pc:docMk/>
          <pc:sldMk cId="900685508" sldId="357"/>
        </pc:sldMkLst>
      </pc:sldChg>
      <pc:sldChg chg="del">
        <pc:chgData name="Adam Brown (Astrea Central)" userId="e4577f1c-a0ea-4eef-9851-9bdbe8619e58" providerId="ADAL" clId="{1F0F9BDF-6AD5-4FD8-9627-0BC9CF5ACC17}" dt="2025-08-06T14:26:48.385" v="2" actId="47"/>
        <pc:sldMkLst>
          <pc:docMk/>
          <pc:sldMk cId="3657856763" sldId="358"/>
        </pc:sldMkLst>
      </pc:sldChg>
      <pc:sldChg chg="del">
        <pc:chgData name="Adam Brown (Astrea Central)" userId="e4577f1c-a0ea-4eef-9851-9bdbe8619e58" providerId="ADAL" clId="{1F0F9BDF-6AD5-4FD8-9627-0BC9CF5ACC17}" dt="2025-08-06T14:26:48.385" v="2" actId="47"/>
        <pc:sldMkLst>
          <pc:docMk/>
          <pc:sldMk cId="1784817808" sldId="372"/>
        </pc:sldMkLst>
      </pc:sldChg>
      <pc:sldChg chg="del">
        <pc:chgData name="Adam Brown (Astrea Central)" userId="e4577f1c-a0ea-4eef-9851-9bdbe8619e58" providerId="ADAL" clId="{1F0F9BDF-6AD5-4FD8-9627-0BC9CF5ACC17}" dt="2025-08-06T14:26:48.385" v="2" actId="47"/>
        <pc:sldMkLst>
          <pc:docMk/>
          <pc:sldMk cId="1919084134" sldId="373"/>
        </pc:sldMkLst>
      </pc:sldChg>
      <pc:sldChg chg="del">
        <pc:chgData name="Adam Brown (Astrea Central)" userId="e4577f1c-a0ea-4eef-9851-9bdbe8619e58" providerId="ADAL" clId="{1F0F9BDF-6AD5-4FD8-9627-0BC9CF5ACC17}" dt="2025-08-06T14:26:36.305" v="1" actId="47"/>
        <pc:sldMkLst>
          <pc:docMk/>
          <pc:sldMk cId="4144469883" sldId="374"/>
        </pc:sldMkLst>
      </pc:sldChg>
      <pc:sldChg chg="del">
        <pc:chgData name="Adam Brown (Astrea Central)" userId="e4577f1c-a0ea-4eef-9851-9bdbe8619e58" providerId="ADAL" clId="{1F0F9BDF-6AD5-4FD8-9627-0BC9CF5ACC17}" dt="2025-08-06T14:26:36.305" v="1" actId="47"/>
        <pc:sldMkLst>
          <pc:docMk/>
          <pc:sldMk cId="1627169086" sldId="375"/>
        </pc:sldMkLst>
      </pc:sldChg>
      <pc:sldChg chg="del">
        <pc:chgData name="Adam Brown (Astrea Central)" userId="e4577f1c-a0ea-4eef-9851-9bdbe8619e58" providerId="ADAL" clId="{1F0F9BDF-6AD5-4FD8-9627-0BC9CF5ACC17}" dt="2025-08-06T14:26:36.305" v="1" actId="47"/>
        <pc:sldMkLst>
          <pc:docMk/>
          <pc:sldMk cId="3692886486" sldId="376"/>
        </pc:sldMkLst>
      </pc:sldChg>
      <pc:sldChg chg="del">
        <pc:chgData name="Adam Brown (Astrea Central)" userId="e4577f1c-a0ea-4eef-9851-9bdbe8619e58" providerId="ADAL" clId="{1F0F9BDF-6AD5-4FD8-9627-0BC9CF5ACC17}" dt="2025-08-06T14:26:48.385" v="2" actId="47"/>
        <pc:sldMkLst>
          <pc:docMk/>
          <pc:sldMk cId="508847688" sldId="377"/>
        </pc:sldMkLst>
      </pc:sldChg>
      <pc:sldChg chg="del">
        <pc:chgData name="Adam Brown (Astrea Central)" userId="e4577f1c-a0ea-4eef-9851-9bdbe8619e58" providerId="ADAL" clId="{1F0F9BDF-6AD5-4FD8-9627-0BC9CF5ACC17}" dt="2025-08-06T14:26:48.385" v="2" actId="47"/>
        <pc:sldMkLst>
          <pc:docMk/>
          <pc:sldMk cId="688274044" sldId="378"/>
        </pc:sldMkLst>
      </pc:sldChg>
      <pc:sldChg chg="del">
        <pc:chgData name="Adam Brown (Astrea Central)" userId="e4577f1c-a0ea-4eef-9851-9bdbe8619e58" providerId="ADAL" clId="{1F0F9BDF-6AD5-4FD8-9627-0BC9CF5ACC17}" dt="2025-08-06T14:26:48.385" v="2" actId="47"/>
        <pc:sldMkLst>
          <pc:docMk/>
          <pc:sldMk cId="421593374" sldId="379"/>
        </pc:sldMkLst>
      </pc:sldChg>
      <pc:sldChg chg="del">
        <pc:chgData name="Adam Brown (Astrea Central)" userId="e4577f1c-a0ea-4eef-9851-9bdbe8619e58" providerId="ADAL" clId="{1F0F9BDF-6AD5-4FD8-9627-0BC9CF5ACC17}" dt="2025-08-06T14:26:48.385" v="2" actId="47"/>
        <pc:sldMkLst>
          <pc:docMk/>
          <pc:sldMk cId="2538578330" sldId="2719"/>
        </pc:sldMkLst>
      </pc:sldChg>
      <pc:sldChg chg="del">
        <pc:chgData name="Adam Brown (Astrea Central)" userId="e4577f1c-a0ea-4eef-9851-9bdbe8619e58" providerId="ADAL" clId="{1F0F9BDF-6AD5-4FD8-9627-0BC9CF5ACC17}" dt="2025-08-06T14:26:48.385" v="2" actId="47"/>
        <pc:sldMkLst>
          <pc:docMk/>
          <pc:sldMk cId="1813454950" sldId="2720"/>
        </pc:sldMkLst>
      </pc:sldChg>
      <pc:sldChg chg="del">
        <pc:chgData name="Adam Brown (Astrea Central)" userId="e4577f1c-a0ea-4eef-9851-9bdbe8619e58" providerId="ADAL" clId="{1F0F9BDF-6AD5-4FD8-9627-0BC9CF5ACC17}" dt="2025-08-06T14:26:48.385" v="2" actId="47"/>
        <pc:sldMkLst>
          <pc:docMk/>
          <pc:sldMk cId="3422141095" sldId="2721"/>
        </pc:sldMkLst>
      </pc:sldChg>
      <pc:sldChg chg="del">
        <pc:chgData name="Adam Brown (Astrea Central)" userId="e4577f1c-a0ea-4eef-9851-9bdbe8619e58" providerId="ADAL" clId="{1F0F9BDF-6AD5-4FD8-9627-0BC9CF5ACC17}" dt="2025-08-06T14:26:48.385" v="2" actId="47"/>
        <pc:sldMkLst>
          <pc:docMk/>
          <pc:sldMk cId="905767127" sldId="2722"/>
        </pc:sldMkLst>
      </pc:sldChg>
      <pc:sldChg chg="del">
        <pc:chgData name="Adam Brown (Astrea Central)" userId="e4577f1c-a0ea-4eef-9851-9bdbe8619e58" providerId="ADAL" clId="{1F0F9BDF-6AD5-4FD8-9627-0BC9CF5ACC17}" dt="2025-08-06T14:26:48.385" v="2" actId="47"/>
        <pc:sldMkLst>
          <pc:docMk/>
          <pc:sldMk cId="509849628" sldId="2723"/>
        </pc:sldMkLst>
      </pc:sldChg>
      <pc:sldChg chg="del">
        <pc:chgData name="Adam Brown (Astrea Central)" userId="e4577f1c-a0ea-4eef-9851-9bdbe8619e58" providerId="ADAL" clId="{1F0F9BDF-6AD5-4FD8-9627-0BC9CF5ACC17}" dt="2025-08-06T14:26:48.385" v="2" actId="47"/>
        <pc:sldMkLst>
          <pc:docMk/>
          <pc:sldMk cId="675915942" sldId="2724"/>
        </pc:sldMkLst>
      </pc:sldChg>
      <pc:sldChg chg="del">
        <pc:chgData name="Adam Brown (Astrea Central)" userId="e4577f1c-a0ea-4eef-9851-9bdbe8619e58" providerId="ADAL" clId="{1F0F9BDF-6AD5-4FD8-9627-0BC9CF5ACC17}" dt="2025-08-06T14:26:48.385" v="2" actId="47"/>
        <pc:sldMkLst>
          <pc:docMk/>
          <pc:sldMk cId="1096353866" sldId="2725"/>
        </pc:sldMkLst>
      </pc:sldChg>
      <pc:sldChg chg="del">
        <pc:chgData name="Adam Brown (Astrea Central)" userId="e4577f1c-a0ea-4eef-9851-9bdbe8619e58" providerId="ADAL" clId="{1F0F9BDF-6AD5-4FD8-9627-0BC9CF5ACC17}" dt="2025-08-06T14:26:48.385" v="2" actId="47"/>
        <pc:sldMkLst>
          <pc:docMk/>
          <pc:sldMk cId="240355490" sldId="2726"/>
        </pc:sldMkLst>
      </pc:sldChg>
      <pc:sldChg chg="del">
        <pc:chgData name="Adam Brown (Astrea Central)" userId="e4577f1c-a0ea-4eef-9851-9bdbe8619e58" providerId="ADAL" clId="{1F0F9BDF-6AD5-4FD8-9627-0BC9CF5ACC17}" dt="2025-08-06T14:26:48.385" v="2" actId="47"/>
        <pc:sldMkLst>
          <pc:docMk/>
          <pc:sldMk cId="967788092" sldId="2727"/>
        </pc:sldMkLst>
      </pc:sldChg>
      <pc:sldChg chg="del">
        <pc:chgData name="Adam Brown (Astrea Central)" userId="e4577f1c-a0ea-4eef-9851-9bdbe8619e58" providerId="ADAL" clId="{1F0F9BDF-6AD5-4FD8-9627-0BC9CF5ACC17}" dt="2025-08-06T14:26:18.141" v="0" actId="47"/>
        <pc:sldMkLst>
          <pc:docMk/>
          <pc:sldMk cId="933153135" sldId="2728"/>
        </pc:sldMkLst>
      </pc:sldChg>
      <pc:sldChg chg="del">
        <pc:chgData name="Adam Brown (Astrea Central)" userId="e4577f1c-a0ea-4eef-9851-9bdbe8619e58" providerId="ADAL" clId="{1F0F9BDF-6AD5-4FD8-9627-0BC9CF5ACC17}" dt="2025-08-06T14:26:36.305" v="1" actId="47"/>
        <pc:sldMkLst>
          <pc:docMk/>
          <pc:sldMk cId="1290489478" sldId="2729"/>
        </pc:sldMkLst>
      </pc:sldChg>
      <pc:sldChg chg="del">
        <pc:chgData name="Adam Brown (Astrea Central)" userId="e4577f1c-a0ea-4eef-9851-9bdbe8619e58" providerId="ADAL" clId="{1F0F9BDF-6AD5-4FD8-9627-0BC9CF5ACC17}" dt="2025-08-06T14:26:36.305" v="1" actId="47"/>
        <pc:sldMkLst>
          <pc:docMk/>
          <pc:sldMk cId="759071522" sldId="2750"/>
        </pc:sldMkLst>
      </pc:sldChg>
      <pc:sldChg chg="del">
        <pc:chgData name="Adam Brown (Astrea Central)" userId="e4577f1c-a0ea-4eef-9851-9bdbe8619e58" providerId="ADAL" clId="{1F0F9BDF-6AD5-4FD8-9627-0BC9CF5ACC17}" dt="2025-08-06T14:26:36.305" v="1" actId="47"/>
        <pc:sldMkLst>
          <pc:docMk/>
          <pc:sldMk cId="1546075972" sldId="2751"/>
        </pc:sldMkLst>
      </pc:sldChg>
      <pc:sldChg chg="del">
        <pc:chgData name="Adam Brown (Astrea Central)" userId="e4577f1c-a0ea-4eef-9851-9bdbe8619e58" providerId="ADAL" clId="{1F0F9BDF-6AD5-4FD8-9627-0BC9CF5ACC17}" dt="2025-08-06T14:26:48.385" v="2" actId="47"/>
        <pc:sldMkLst>
          <pc:docMk/>
          <pc:sldMk cId="2566927058" sldId="2753"/>
        </pc:sldMkLst>
      </pc:sldChg>
      <pc:sldChg chg="del">
        <pc:chgData name="Adam Brown (Astrea Central)" userId="e4577f1c-a0ea-4eef-9851-9bdbe8619e58" providerId="ADAL" clId="{1F0F9BDF-6AD5-4FD8-9627-0BC9CF5ACC17}" dt="2025-08-06T14:26:36.305" v="1" actId="47"/>
        <pc:sldMkLst>
          <pc:docMk/>
          <pc:sldMk cId="1389947671" sldId="2759"/>
        </pc:sldMkLst>
      </pc:sldChg>
      <pc:sldChg chg="del">
        <pc:chgData name="Adam Brown (Astrea Central)" userId="e4577f1c-a0ea-4eef-9851-9bdbe8619e58" providerId="ADAL" clId="{1F0F9BDF-6AD5-4FD8-9627-0BC9CF5ACC17}" dt="2025-08-06T14:26:36.305" v="1" actId="47"/>
        <pc:sldMkLst>
          <pc:docMk/>
          <pc:sldMk cId="2290734628" sldId="2760"/>
        </pc:sldMkLst>
      </pc:sldChg>
      <pc:sldChg chg="del">
        <pc:chgData name="Adam Brown (Astrea Central)" userId="e4577f1c-a0ea-4eef-9851-9bdbe8619e58" providerId="ADAL" clId="{1F0F9BDF-6AD5-4FD8-9627-0BC9CF5ACC17}" dt="2025-08-06T14:26:36.305" v="1" actId="47"/>
        <pc:sldMkLst>
          <pc:docMk/>
          <pc:sldMk cId="1729915234" sldId="2761"/>
        </pc:sldMkLst>
      </pc:sldChg>
      <pc:sldChg chg="del">
        <pc:chgData name="Adam Brown (Astrea Central)" userId="e4577f1c-a0ea-4eef-9851-9bdbe8619e58" providerId="ADAL" clId="{1F0F9BDF-6AD5-4FD8-9627-0BC9CF5ACC17}" dt="2025-08-06T14:26:36.305" v="1" actId="47"/>
        <pc:sldMkLst>
          <pc:docMk/>
          <pc:sldMk cId="3135394857" sldId="2762"/>
        </pc:sldMkLst>
      </pc:sldChg>
      <pc:sldChg chg="del">
        <pc:chgData name="Adam Brown (Astrea Central)" userId="e4577f1c-a0ea-4eef-9851-9bdbe8619e58" providerId="ADAL" clId="{1F0F9BDF-6AD5-4FD8-9627-0BC9CF5ACC17}" dt="2025-08-06T14:26:36.305" v="1" actId="47"/>
        <pc:sldMkLst>
          <pc:docMk/>
          <pc:sldMk cId="2000600415" sldId="2763"/>
        </pc:sldMkLst>
      </pc:sldChg>
      <pc:sldChg chg="del">
        <pc:chgData name="Adam Brown (Astrea Central)" userId="e4577f1c-a0ea-4eef-9851-9bdbe8619e58" providerId="ADAL" clId="{1F0F9BDF-6AD5-4FD8-9627-0BC9CF5ACC17}" dt="2025-08-06T14:26:36.305" v="1" actId="47"/>
        <pc:sldMkLst>
          <pc:docMk/>
          <pc:sldMk cId="2547779968" sldId="2764"/>
        </pc:sldMkLst>
      </pc:sldChg>
      <pc:sldChg chg="del">
        <pc:chgData name="Adam Brown (Astrea Central)" userId="e4577f1c-a0ea-4eef-9851-9bdbe8619e58" providerId="ADAL" clId="{1F0F9BDF-6AD5-4FD8-9627-0BC9CF5ACC17}" dt="2025-08-06T14:26:36.305" v="1" actId="47"/>
        <pc:sldMkLst>
          <pc:docMk/>
          <pc:sldMk cId="649580854" sldId="2765"/>
        </pc:sldMkLst>
      </pc:sldChg>
      <pc:sldChg chg="del">
        <pc:chgData name="Adam Brown (Astrea Central)" userId="e4577f1c-a0ea-4eef-9851-9bdbe8619e58" providerId="ADAL" clId="{1F0F9BDF-6AD5-4FD8-9627-0BC9CF5ACC17}" dt="2025-08-06T14:26:36.305" v="1" actId="47"/>
        <pc:sldMkLst>
          <pc:docMk/>
          <pc:sldMk cId="2109098751" sldId="2766"/>
        </pc:sldMkLst>
      </pc:sldChg>
      <pc:sldChg chg="del">
        <pc:chgData name="Adam Brown (Astrea Central)" userId="e4577f1c-a0ea-4eef-9851-9bdbe8619e58" providerId="ADAL" clId="{1F0F9BDF-6AD5-4FD8-9627-0BC9CF5ACC17}" dt="2025-08-06T14:26:48.385" v="2" actId="47"/>
        <pc:sldMkLst>
          <pc:docMk/>
          <pc:sldMk cId="3503684853" sldId="2771"/>
        </pc:sldMkLst>
      </pc:sldChg>
      <pc:sldChg chg="del">
        <pc:chgData name="Adam Brown (Astrea Central)" userId="e4577f1c-a0ea-4eef-9851-9bdbe8619e58" providerId="ADAL" clId="{1F0F9BDF-6AD5-4FD8-9627-0BC9CF5ACC17}" dt="2025-08-06T14:26:48.385" v="2" actId="47"/>
        <pc:sldMkLst>
          <pc:docMk/>
          <pc:sldMk cId="2628843454" sldId="2772"/>
        </pc:sldMkLst>
      </pc:sldChg>
      <pc:sldChg chg="del">
        <pc:chgData name="Adam Brown (Astrea Central)" userId="e4577f1c-a0ea-4eef-9851-9bdbe8619e58" providerId="ADAL" clId="{1F0F9BDF-6AD5-4FD8-9627-0BC9CF5ACC17}" dt="2025-08-06T14:26:48.385" v="2" actId="47"/>
        <pc:sldMkLst>
          <pc:docMk/>
          <pc:sldMk cId="3901821836" sldId="2773"/>
        </pc:sldMkLst>
      </pc:sldChg>
      <pc:sldChg chg="del">
        <pc:chgData name="Adam Brown (Astrea Central)" userId="e4577f1c-a0ea-4eef-9851-9bdbe8619e58" providerId="ADAL" clId="{1F0F9BDF-6AD5-4FD8-9627-0BC9CF5ACC17}" dt="2025-08-06T14:26:48.385" v="2" actId="47"/>
        <pc:sldMkLst>
          <pc:docMk/>
          <pc:sldMk cId="1180888511" sldId="277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BD887872-9236-460B-BC2A-E44A8AC6C1EB}" type="datetimeFigureOut">
              <a:rPr lang="en-GB" smtClean="0"/>
              <a:t>06/08/2025</a:t>
            </a:fld>
            <a:endParaRPr lang="en-GB"/>
          </a:p>
        </p:txBody>
      </p:sp>
      <p:sp>
        <p:nvSpPr>
          <p:cNvPr id="4" name="Slide Image Placeholder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A65AC23A-D8C2-4808-8C51-A2299E24BAA4}" type="slidenum">
              <a:rPr lang="en-GB" smtClean="0"/>
              <a:t>‹#›</a:t>
            </a:fld>
            <a:endParaRPr lang="en-GB"/>
          </a:p>
        </p:txBody>
      </p:sp>
    </p:spTree>
    <p:extLst>
      <p:ext uri="{BB962C8B-B14F-4D97-AF65-F5344CB8AC3E}">
        <p14:creationId xmlns:p14="http://schemas.microsoft.com/office/powerpoint/2010/main" val="3461726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68538" y="1243013"/>
            <a:ext cx="2320925" cy="3355975"/>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6C24A783-C653-C444-A1FE-7D3BC73388DB}" type="slidenum">
              <a:rPr lang="en-GB" smtClean="0">
                <a:solidFill>
                  <a:prstClr val="black"/>
                </a:solidFill>
              </a:rPr>
              <a:pPr/>
              <a:t>1</a:t>
            </a:fld>
            <a:endParaRPr lang="en-GB">
              <a:solidFill>
                <a:prstClr val="black"/>
              </a:solidFill>
            </a:endParaRPr>
          </a:p>
        </p:txBody>
      </p:sp>
    </p:spTree>
    <p:extLst>
      <p:ext uri="{BB962C8B-B14F-4D97-AF65-F5344CB8AC3E}">
        <p14:creationId xmlns:p14="http://schemas.microsoft.com/office/powerpoint/2010/main" val="35612116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C36645BB-F530-4C6B-ABAE-E32F8A251980}"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2868696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0EDB0C-8CB1-4E4B-A7D2-72D1E989F74F}"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3628738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418B7CF-AD3A-412E-A236-AD334123F5DC}"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2965247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1488"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71863"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5F8CF75-DE73-4975-8438-DCC60FF5A9C7}" type="datetime1">
              <a:rPr lang="en-GB" smtClean="0"/>
              <a:t>06/08/2025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1642259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FD433DA-9DCC-4C1C-BE87-1B843446F1E2}" type="datetime1">
              <a:rPr lang="en-GB" smtClean="0"/>
              <a:t>06/08/2025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660260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036B931-B1B4-4301-9FA3-4AC76251F969}" type="datetime1">
              <a:rPr lang="en-GB" smtClean="0"/>
              <a:t>06/08/2025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4160737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4EB317-EAB0-4C19-A195-2782EA19078C}" type="datetime1">
              <a:rPr lang="en-GB" smtClean="0"/>
              <a:t>06/08/2025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377690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EEE7F5A2-2F3B-430C-BD43-6D2323C7CD6A}" type="datetime1">
              <a:rPr lang="en-GB" smtClean="0"/>
              <a:t>06/08/2025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1032427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3D6AD09F-1297-4193-9BA9-680759B76EE0}" type="datetime1">
              <a:rPr lang="en-GB" smtClean="0"/>
              <a:t>06/08/2025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3235885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8ED7873-3A83-4840-BD06-EB3A5B53B6DA}"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2130277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E7EED6-F9AB-4871-A4A9-4EB7B43E5F99}"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1883891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80118337-BCAC-4A6B-9508-65A0DEBA7F58}" type="datetime1">
              <a:rPr lang="en-GB" smtClean="0"/>
              <a:t>06/08/2025</a:t>
            </a:fld>
            <a:endParaRPr lang="en-GB"/>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9BD3B4A0-BFF9-422C-B253-48BA94BE2F5B}" type="slidenum">
              <a:rPr lang="en-GB" smtClean="0"/>
              <a:t>‹#›</a:t>
            </a:fld>
            <a:endParaRPr lang="en-GB"/>
          </a:p>
        </p:txBody>
      </p:sp>
    </p:spTree>
    <p:extLst>
      <p:ext uri="{BB962C8B-B14F-4D97-AF65-F5344CB8AC3E}">
        <p14:creationId xmlns:p14="http://schemas.microsoft.com/office/powerpoint/2010/main" val="28197563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17.png"/><Relationship Id="rId3" Type="http://schemas.openxmlformats.org/officeDocument/2006/relationships/image" Target="../media/image1.png"/><Relationship Id="rId7" Type="http://schemas.openxmlformats.org/officeDocument/2006/relationships/image" Target="../media/image716.png"/><Relationship Id="rId12" Type="http://schemas.openxmlformats.org/officeDocument/2006/relationships/image" Target="../media/image72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715.png"/><Relationship Id="rId11" Type="http://schemas.openxmlformats.org/officeDocument/2006/relationships/image" Target="../media/image720.png"/><Relationship Id="rId5" Type="http://schemas.openxmlformats.org/officeDocument/2006/relationships/image" Target="../media/image714.png"/><Relationship Id="rId10" Type="http://schemas.openxmlformats.org/officeDocument/2006/relationships/image" Target="../media/image719.png"/><Relationship Id="rId4" Type="http://schemas.openxmlformats.org/officeDocument/2006/relationships/image" Target="../media/image2.png"/><Relationship Id="rId9" Type="http://schemas.openxmlformats.org/officeDocument/2006/relationships/image" Target="../media/image718.png"/></Relationships>
</file>

<file path=ppt/slides/_rels/slide2.xml.rels><?xml version="1.0" encoding="UTF-8" standalone="yes"?>
<Relationships xmlns="http://schemas.openxmlformats.org/package/2006/relationships"><Relationship Id="rId8" Type="http://schemas.openxmlformats.org/officeDocument/2006/relationships/image" Target="../media/image728.png"/><Relationship Id="rId3" Type="http://schemas.openxmlformats.org/officeDocument/2006/relationships/image" Target="../media/image723.png"/><Relationship Id="rId7" Type="http://schemas.openxmlformats.org/officeDocument/2006/relationships/image" Target="../media/image727.png"/><Relationship Id="rId2" Type="http://schemas.openxmlformats.org/officeDocument/2006/relationships/image" Target="../media/image722.png"/><Relationship Id="rId1" Type="http://schemas.openxmlformats.org/officeDocument/2006/relationships/slideLayout" Target="../slideLayouts/slideLayout7.xml"/><Relationship Id="rId6" Type="http://schemas.openxmlformats.org/officeDocument/2006/relationships/image" Target="../media/image726.png"/><Relationship Id="rId5" Type="http://schemas.openxmlformats.org/officeDocument/2006/relationships/image" Target="../media/image725.png"/><Relationship Id="rId4" Type="http://schemas.openxmlformats.org/officeDocument/2006/relationships/image" Target="../media/image724.png"/></Relationships>
</file>

<file path=ppt/slides/_rels/slide3.xml.rels><?xml version="1.0" encoding="UTF-8" standalone="yes"?>
<Relationships xmlns="http://schemas.openxmlformats.org/package/2006/relationships"><Relationship Id="rId8" Type="http://schemas.openxmlformats.org/officeDocument/2006/relationships/image" Target="../media/image737.png"/><Relationship Id="rId3" Type="http://schemas.openxmlformats.org/officeDocument/2006/relationships/image" Target="../media/image732.png"/><Relationship Id="rId7" Type="http://schemas.openxmlformats.org/officeDocument/2006/relationships/image" Target="../media/image736.png"/><Relationship Id="rId2" Type="http://schemas.openxmlformats.org/officeDocument/2006/relationships/image" Target="../media/image731.png"/><Relationship Id="rId1" Type="http://schemas.openxmlformats.org/officeDocument/2006/relationships/slideLayout" Target="../slideLayouts/slideLayout7.xml"/><Relationship Id="rId6" Type="http://schemas.openxmlformats.org/officeDocument/2006/relationships/image" Target="../media/image735.png"/><Relationship Id="rId11" Type="http://schemas.openxmlformats.org/officeDocument/2006/relationships/image" Target="../media/image740.png"/><Relationship Id="rId5" Type="http://schemas.openxmlformats.org/officeDocument/2006/relationships/image" Target="../media/image734.png"/><Relationship Id="rId10" Type="http://schemas.openxmlformats.org/officeDocument/2006/relationships/image" Target="../media/image739.png"/><Relationship Id="rId4" Type="http://schemas.openxmlformats.org/officeDocument/2006/relationships/image" Target="../media/image733.png"/><Relationship Id="rId9" Type="http://schemas.openxmlformats.org/officeDocument/2006/relationships/image" Target="../media/image738.png"/></Relationships>
</file>

<file path=ppt/slides/_rels/slide4.xml.rels><?xml version="1.0" encoding="UTF-8" standalone="yes"?>
<Relationships xmlns="http://schemas.openxmlformats.org/package/2006/relationships"><Relationship Id="rId8" Type="http://schemas.openxmlformats.org/officeDocument/2006/relationships/image" Target="../media/image747.png"/><Relationship Id="rId3" Type="http://schemas.openxmlformats.org/officeDocument/2006/relationships/image" Target="../media/image742.png"/><Relationship Id="rId7" Type="http://schemas.openxmlformats.org/officeDocument/2006/relationships/image" Target="../media/image746.png"/><Relationship Id="rId2" Type="http://schemas.openxmlformats.org/officeDocument/2006/relationships/image" Target="../media/image741.png"/><Relationship Id="rId1" Type="http://schemas.openxmlformats.org/officeDocument/2006/relationships/slideLayout" Target="../slideLayouts/slideLayout7.xml"/><Relationship Id="rId6" Type="http://schemas.openxmlformats.org/officeDocument/2006/relationships/image" Target="../media/image745.png"/><Relationship Id="rId11" Type="http://schemas.openxmlformats.org/officeDocument/2006/relationships/image" Target="../media/image750.png"/><Relationship Id="rId5" Type="http://schemas.openxmlformats.org/officeDocument/2006/relationships/image" Target="../media/image744.png"/><Relationship Id="rId10" Type="http://schemas.openxmlformats.org/officeDocument/2006/relationships/image" Target="../media/image749.png"/><Relationship Id="rId4" Type="http://schemas.openxmlformats.org/officeDocument/2006/relationships/image" Target="../media/image743.png"/><Relationship Id="rId9" Type="http://schemas.openxmlformats.org/officeDocument/2006/relationships/image" Target="../media/image748.png"/></Relationships>
</file>

<file path=ppt/slides/_rels/slide5.xml.rels><?xml version="1.0" encoding="UTF-8" standalone="yes"?>
<Relationships xmlns="http://schemas.openxmlformats.org/package/2006/relationships"><Relationship Id="rId8" Type="http://schemas.openxmlformats.org/officeDocument/2006/relationships/image" Target="../media/image757.png"/><Relationship Id="rId13" Type="http://schemas.openxmlformats.org/officeDocument/2006/relationships/image" Target="../media/image153.png"/><Relationship Id="rId3" Type="http://schemas.openxmlformats.org/officeDocument/2006/relationships/image" Target="../media/image145.png"/><Relationship Id="rId7" Type="http://schemas.openxmlformats.org/officeDocument/2006/relationships/image" Target="../media/image756.png"/><Relationship Id="rId12" Type="http://schemas.openxmlformats.org/officeDocument/2006/relationships/image" Target="../media/image152.png"/><Relationship Id="rId2" Type="http://schemas.openxmlformats.org/officeDocument/2006/relationships/image" Target="../media/image144.png"/><Relationship Id="rId1" Type="http://schemas.openxmlformats.org/officeDocument/2006/relationships/slideLayout" Target="../slideLayouts/slideLayout7.xml"/><Relationship Id="rId6" Type="http://schemas.openxmlformats.org/officeDocument/2006/relationships/image" Target="../media/image148.png"/><Relationship Id="rId11" Type="http://schemas.openxmlformats.org/officeDocument/2006/relationships/image" Target="../media/image150.png"/><Relationship Id="rId5" Type="http://schemas.openxmlformats.org/officeDocument/2006/relationships/image" Target="../media/image147.png"/><Relationship Id="rId10" Type="http://schemas.openxmlformats.org/officeDocument/2006/relationships/image" Target="../media/image149.png"/><Relationship Id="rId4" Type="http://schemas.openxmlformats.org/officeDocument/2006/relationships/image" Target="../media/image146.png"/><Relationship Id="rId9" Type="http://schemas.openxmlformats.org/officeDocument/2006/relationships/image" Target="../media/image758.png"/><Relationship Id="rId14" Type="http://schemas.openxmlformats.org/officeDocument/2006/relationships/image" Target="../media/image763.png"/></Relationships>
</file>

<file path=ppt/slides/_rels/slide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765.png"/><Relationship Id="rId7" Type="http://schemas.openxmlformats.org/officeDocument/2006/relationships/image" Target="../media/image769.png"/><Relationship Id="rId12" Type="http://schemas.openxmlformats.org/officeDocument/2006/relationships/image" Target="../media/image774.png"/><Relationship Id="rId2" Type="http://schemas.openxmlformats.org/officeDocument/2006/relationships/image" Target="../media/image764.png"/><Relationship Id="rId1" Type="http://schemas.openxmlformats.org/officeDocument/2006/relationships/slideLayout" Target="../slideLayouts/slideLayout7.xml"/><Relationship Id="rId6" Type="http://schemas.openxmlformats.org/officeDocument/2006/relationships/image" Target="../media/image768.png"/><Relationship Id="rId11" Type="http://schemas.openxmlformats.org/officeDocument/2006/relationships/image" Target="../media/image773.png"/><Relationship Id="rId5" Type="http://schemas.openxmlformats.org/officeDocument/2006/relationships/image" Target="../media/image767.png"/><Relationship Id="rId10" Type="http://schemas.openxmlformats.org/officeDocument/2006/relationships/image" Target="../media/image772.png"/><Relationship Id="rId4" Type="http://schemas.openxmlformats.org/officeDocument/2006/relationships/image" Target="../media/image766.png"/><Relationship Id="rId9" Type="http://schemas.openxmlformats.org/officeDocument/2006/relationships/image" Target="../media/image771.png"/></Relationships>
</file>

<file path=ppt/slides/_rels/slide7.xml.rels><?xml version="1.0" encoding="UTF-8" standalone="yes"?>
<Relationships xmlns="http://schemas.openxmlformats.org/package/2006/relationships"><Relationship Id="rId8" Type="http://schemas.openxmlformats.org/officeDocument/2006/relationships/image" Target="../media/image780.png"/><Relationship Id="rId13" Type="http://schemas.openxmlformats.org/officeDocument/2006/relationships/image" Target="../media/image785.png"/><Relationship Id="rId3" Type="http://schemas.openxmlformats.org/officeDocument/2006/relationships/image" Target="../media/image776.png"/><Relationship Id="rId7" Type="http://schemas.openxmlformats.org/officeDocument/2006/relationships/image" Target="../media/image779.png"/><Relationship Id="rId12" Type="http://schemas.openxmlformats.org/officeDocument/2006/relationships/image" Target="../media/image784.png"/><Relationship Id="rId2" Type="http://schemas.openxmlformats.org/officeDocument/2006/relationships/image" Target="../media/image775.png"/><Relationship Id="rId16" Type="http://schemas.openxmlformats.org/officeDocument/2006/relationships/image" Target="../media/image788.png"/><Relationship Id="rId1" Type="http://schemas.openxmlformats.org/officeDocument/2006/relationships/slideLayout" Target="../slideLayouts/slideLayout7.xml"/><Relationship Id="rId6" Type="http://schemas.openxmlformats.org/officeDocument/2006/relationships/image" Target="../media/image778.png"/><Relationship Id="rId11" Type="http://schemas.openxmlformats.org/officeDocument/2006/relationships/image" Target="../media/image783.png"/><Relationship Id="rId5" Type="http://schemas.openxmlformats.org/officeDocument/2006/relationships/image" Target="../media/image773.png"/><Relationship Id="rId15" Type="http://schemas.openxmlformats.org/officeDocument/2006/relationships/image" Target="../media/image787.png"/><Relationship Id="rId10" Type="http://schemas.openxmlformats.org/officeDocument/2006/relationships/image" Target="../media/image782.png"/><Relationship Id="rId4" Type="http://schemas.openxmlformats.org/officeDocument/2006/relationships/image" Target="../media/image777.png"/><Relationship Id="rId9" Type="http://schemas.openxmlformats.org/officeDocument/2006/relationships/image" Target="../media/image781.png"/><Relationship Id="rId14" Type="http://schemas.openxmlformats.org/officeDocument/2006/relationships/image" Target="../media/image786.png"/></Relationships>
</file>

<file path=ppt/slides/_rels/slide8.xml.rels><?xml version="1.0" encoding="UTF-8" standalone="yes"?>
<Relationships xmlns="http://schemas.openxmlformats.org/package/2006/relationships"><Relationship Id="rId8" Type="http://schemas.openxmlformats.org/officeDocument/2006/relationships/image" Target="../media/image795.png"/><Relationship Id="rId13" Type="http://schemas.openxmlformats.org/officeDocument/2006/relationships/image" Target="../media/image800.png"/><Relationship Id="rId3" Type="http://schemas.openxmlformats.org/officeDocument/2006/relationships/image" Target="../media/image790.png"/><Relationship Id="rId12" Type="http://schemas.openxmlformats.org/officeDocument/2006/relationships/image" Target="../media/image799.png"/><Relationship Id="rId2" Type="http://schemas.openxmlformats.org/officeDocument/2006/relationships/image" Target="../media/image789.png"/><Relationship Id="rId1" Type="http://schemas.openxmlformats.org/officeDocument/2006/relationships/slideLayout" Target="../slideLayouts/slideLayout7.xml"/><Relationship Id="rId6" Type="http://schemas.openxmlformats.org/officeDocument/2006/relationships/image" Target="../media/image793.png"/><Relationship Id="rId11" Type="http://schemas.openxmlformats.org/officeDocument/2006/relationships/image" Target="../media/image798.png"/><Relationship Id="rId5" Type="http://schemas.openxmlformats.org/officeDocument/2006/relationships/image" Target="../media/image792.png"/><Relationship Id="rId10" Type="http://schemas.openxmlformats.org/officeDocument/2006/relationships/image" Target="../media/image797.png"/><Relationship Id="rId4" Type="http://schemas.openxmlformats.org/officeDocument/2006/relationships/image" Target="../media/image791.png"/><Relationship Id="rId9" Type="http://schemas.openxmlformats.org/officeDocument/2006/relationships/image" Target="../media/image796.png"/></Relationships>
</file>

<file path=ppt/slides/_rels/slide9.xml.rels><?xml version="1.0" encoding="UTF-8" standalone="yes"?>
<Relationships xmlns="http://schemas.openxmlformats.org/package/2006/relationships"><Relationship Id="rId8" Type="http://schemas.openxmlformats.org/officeDocument/2006/relationships/image" Target="../media/image808.png"/><Relationship Id="rId3" Type="http://schemas.openxmlformats.org/officeDocument/2006/relationships/image" Target="../media/image803.png"/><Relationship Id="rId7" Type="http://schemas.openxmlformats.org/officeDocument/2006/relationships/image" Target="../media/image807.png"/><Relationship Id="rId2" Type="http://schemas.openxmlformats.org/officeDocument/2006/relationships/image" Target="../media/image802.png"/><Relationship Id="rId1" Type="http://schemas.openxmlformats.org/officeDocument/2006/relationships/slideLayout" Target="../slideLayouts/slideLayout7.xml"/><Relationship Id="rId6" Type="http://schemas.openxmlformats.org/officeDocument/2006/relationships/image" Target="../media/image806.png"/><Relationship Id="rId11" Type="http://schemas.openxmlformats.org/officeDocument/2006/relationships/image" Target="../media/image811.png"/><Relationship Id="rId5" Type="http://schemas.openxmlformats.org/officeDocument/2006/relationships/image" Target="../media/image805.png"/><Relationship Id="rId10" Type="http://schemas.openxmlformats.org/officeDocument/2006/relationships/image" Target="../media/image810.png"/><Relationship Id="rId4" Type="http://schemas.openxmlformats.org/officeDocument/2006/relationships/image" Target="../media/image804.png"/><Relationship Id="rId9" Type="http://schemas.openxmlformats.org/officeDocument/2006/relationships/image" Target="../media/image809.png"/></Relationships>
</file>

<file path=ppt/slides/_rels/slide10.xml.rels><?xml version="1.0" encoding="UTF-8" standalone="yes"?>
<Relationships xmlns="http://schemas.openxmlformats.org/package/2006/relationships"><Relationship Id="rId8" Type="http://schemas.openxmlformats.org/officeDocument/2006/relationships/image" Target="../media/image818.png"/><Relationship Id="rId13" Type="http://schemas.openxmlformats.org/officeDocument/2006/relationships/image" Target="../media/image823.png"/><Relationship Id="rId3" Type="http://schemas.openxmlformats.org/officeDocument/2006/relationships/image" Target="../media/image813.png"/><Relationship Id="rId7" Type="http://schemas.openxmlformats.org/officeDocument/2006/relationships/image" Target="../media/image817.png"/><Relationship Id="rId12" Type="http://schemas.openxmlformats.org/officeDocument/2006/relationships/image" Target="../media/image822.png"/><Relationship Id="rId2" Type="http://schemas.openxmlformats.org/officeDocument/2006/relationships/image" Target="../media/image812.png"/><Relationship Id="rId1" Type="http://schemas.openxmlformats.org/officeDocument/2006/relationships/slideLayout" Target="../slideLayouts/slideLayout7.xml"/><Relationship Id="rId6" Type="http://schemas.openxmlformats.org/officeDocument/2006/relationships/image" Target="../media/image816.png"/><Relationship Id="rId11" Type="http://schemas.openxmlformats.org/officeDocument/2006/relationships/image" Target="../media/image821.png"/><Relationship Id="rId5" Type="http://schemas.openxmlformats.org/officeDocument/2006/relationships/image" Target="../media/image815.png"/><Relationship Id="rId15" Type="http://schemas.openxmlformats.org/officeDocument/2006/relationships/image" Target="../media/image825.png"/><Relationship Id="rId10" Type="http://schemas.openxmlformats.org/officeDocument/2006/relationships/image" Target="../media/image820.png"/><Relationship Id="rId4" Type="http://schemas.openxmlformats.org/officeDocument/2006/relationships/image" Target="../media/image814.png"/><Relationship Id="rId9" Type="http://schemas.openxmlformats.org/officeDocument/2006/relationships/image" Target="../media/image819.png"/></Relationships>
</file>

<file path=ppt/slides/_rels/slide11.xml.rels><?xml version="1.0" encoding="UTF-8" standalone="yes"?>
<Relationships xmlns="http://schemas.openxmlformats.org/package/2006/relationships"><Relationship Id="rId3" Type="http://schemas.openxmlformats.org/officeDocument/2006/relationships/image" Target="../media/image699.png"/><Relationship Id="rId7" Type="http://schemas.openxmlformats.org/officeDocument/2006/relationships/image" Target="../media/image5.png"/><Relationship Id="rId2" Type="http://schemas.openxmlformats.org/officeDocument/2006/relationships/image" Target="../media/image829.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698.png"/></Relationships>
</file>

<file path=ppt/slides/_rels/slide1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833.png"/><Relationship Id="rId7" Type="http://schemas.openxmlformats.org/officeDocument/2006/relationships/image" Target="../media/image8.png"/><Relationship Id="rId2" Type="http://schemas.openxmlformats.org/officeDocument/2006/relationships/image" Target="../media/image699.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698.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834.png"/><Relationship Id="rId9"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7F1A3AF-9DF9-429F-95F4-AB8E1E426D51}"/>
              </a:ext>
            </a:extLst>
          </p:cNvPr>
          <p:cNvSpPr/>
          <p:nvPr/>
        </p:nvSpPr>
        <p:spPr>
          <a:xfrm>
            <a:off x="102618" y="317359"/>
            <a:ext cx="6647773" cy="13742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ysClr val="windowText" lastClr="000000"/>
              </a:solidFill>
            </a:endParaRPr>
          </a:p>
        </p:txBody>
      </p:sp>
      <p:sp>
        <p:nvSpPr>
          <p:cNvPr id="11" name="Rectangle 10">
            <a:extLst>
              <a:ext uri="{FF2B5EF4-FFF2-40B4-BE49-F238E27FC236}">
                <a16:creationId xmlns:a16="http://schemas.microsoft.com/office/drawing/2014/main" id="{9554F5C1-D21B-4CDE-B4FD-998FDBB2B0D6}"/>
              </a:ext>
            </a:extLst>
          </p:cNvPr>
          <p:cNvSpPr/>
          <p:nvPr/>
        </p:nvSpPr>
        <p:spPr>
          <a:xfrm>
            <a:off x="-9365" y="6061"/>
            <a:ext cx="6858000" cy="29191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noProof="0" dirty="0">
                <a:solidFill>
                  <a:prstClr val="white"/>
                </a:solidFill>
              </a:rPr>
              <a:t>Subtopic 5 – Functions</a:t>
            </a:r>
            <a:endParaRPr lang="en-GB" b="1" noProof="0" dirty="0">
              <a:solidFill>
                <a:prstClr val="white"/>
              </a:solidFill>
            </a:endParaRPr>
          </a:p>
        </p:txBody>
      </p:sp>
      <p:sp>
        <p:nvSpPr>
          <p:cNvPr id="13" name="TextBox 12">
            <a:extLst>
              <a:ext uri="{FF2B5EF4-FFF2-40B4-BE49-F238E27FC236}">
                <a16:creationId xmlns:a16="http://schemas.microsoft.com/office/drawing/2014/main" id="{BEC5D410-9446-41B2-BEF5-E64D48C58308}"/>
              </a:ext>
            </a:extLst>
          </p:cNvPr>
          <p:cNvSpPr txBox="1"/>
          <p:nvPr/>
        </p:nvSpPr>
        <p:spPr>
          <a:xfrm>
            <a:off x="265577" y="780711"/>
            <a:ext cx="2647189" cy="307777"/>
          </a:xfrm>
          <a:prstGeom prst="rect">
            <a:avLst/>
          </a:prstGeom>
          <a:noFill/>
        </p:spPr>
        <p:txBody>
          <a:bodyPr wrap="square" rtlCol="0">
            <a:spAutoFit/>
          </a:bodyPr>
          <a:lstStyle/>
          <a:p>
            <a:r>
              <a:rPr lang="en-GB" sz="1400" b="1" noProof="0" dirty="0"/>
              <a:t>Objectives:</a:t>
            </a:r>
          </a:p>
        </p:txBody>
      </p:sp>
      <p:sp>
        <p:nvSpPr>
          <p:cNvPr id="59" name="TextBox 58">
            <a:extLst>
              <a:ext uri="{FF2B5EF4-FFF2-40B4-BE49-F238E27FC236}">
                <a16:creationId xmlns:a16="http://schemas.microsoft.com/office/drawing/2014/main" id="{D58F4060-A0FD-C84C-8A22-502E16E49D73}"/>
              </a:ext>
            </a:extLst>
          </p:cNvPr>
          <p:cNvSpPr txBox="1"/>
          <p:nvPr/>
        </p:nvSpPr>
        <p:spPr>
          <a:xfrm>
            <a:off x="780863" y="419764"/>
            <a:ext cx="5551303" cy="276999"/>
          </a:xfrm>
          <a:prstGeom prst="rect">
            <a:avLst/>
          </a:prstGeom>
          <a:noFill/>
          <a:ln>
            <a:solidFill>
              <a:schemeClr val="tx1"/>
            </a:solidFill>
          </a:ln>
        </p:spPr>
        <p:txBody>
          <a:bodyPr wrap="square" rtlCol="0">
            <a:spAutoFit/>
          </a:bodyPr>
          <a:lstStyle/>
          <a:p>
            <a:pPr algn="ctr"/>
            <a:r>
              <a:rPr lang="en-GB" sz="1200" noProof="0" dirty="0"/>
              <a:t>LEARNING OUTCOME:  To work with functions. </a:t>
            </a:r>
          </a:p>
        </p:txBody>
      </p:sp>
      <p:sp>
        <p:nvSpPr>
          <p:cNvPr id="61" name="TextBox 60">
            <a:extLst>
              <a:ext uri="{FF2B5EF4-FFF2-40B4-BE49-F238E27FC236}">
                <a16:creationId xmlns:a16="http://schemas.microsoft.com/office/drawing/2014/main" id="{AA176BCB-F2F4-854D-9A37-B7D4A0081FB0}"/>
              </a:ext>
            </a:extLst>
          </p:cNvPr>
          <p:cNvSpPr txBox="1"/>
          <p:nvPr/>
        </p:nvSpPr>
        <p:spPr>
          <a:xfrm>
            <a:off x="840920" y="1065117"/>
            <a:ext cx="3888646" cy="646331"/>
          </a:xfrm>
          <a:prstGeom prst="rect">
            <a:avLst/>
          </a:prstGeom>
          <a:noFill/>
        </p:spPr>
        <p:txBody>
          <a:bodyPr wrap="square" rtlCol="0">
            <a:spAutoFit/>
          </a:bodyPr>
          <a:lstStyle/>
          <a:p>
            <a:pPr marL="228600" indent="-228600">
              <a:buFont typeface="+mj-lt"/>
              <a:buAutoNum type="arabicPeriod"/>
              <a:defRPr/>
            </a:pPr>
            <a:r>
              <a:rPr lang="en-GB" sz="1200" noProof="0" dirty="0"/>
              <a:t>To understand what functions are</a:t>
            </a:r>
          </a:p>
          <a:p>
            <a:pPr marL="228600" indent="-228600">
              <a:buFont typeface="+mj-lt"/>
              <a:buAutoNum type="arabicPeriod"/>
              <a:defRPr/>
            </a:pPr>
            <a:r>
              <a:rPr lang="en-GB" sz="1200" noProof="0" dirty="0"/>
              <a:t>To be able to find inverse functions.</a:t>
            </a:r>
          </a:p>
          <a:p>
            <a:pPr marL="228600" indent="-228600">
              <a:buFont typeface="+mj-lt"/>
              <a:buAutoNum type="arabicPeriod"/>
              <a:defRPr/>
            </a:pPr>
            <a:r>
              <a:rPr lang="en-GB" sz="1200" noProof="0" dirty="0"/>
              <a:t>To be able to work with composite functions. </a:t>
            </a:r>
          </a:p>
        </p:txBody>
      </p:sp>
      <p:sp>
        <p:nvSpPr>
          <p:cNvPr id="18" name="Slide Number Placeholder 17"/>
          <p:cNvSpPr>
            <a:spLocks noGrp="1"/>
          </p:cNvSpPr>
          <p:nvPr>
            <p:ph type="sldNum" sz="quarter" idx="12"/>
          </p:nvPr>
        </p:nvSpPr>
        <p:spPr>
          <a:xfrm>
            <a:off x="5370231" y="9548817"/>
            <a:ext cx="1543050" cy="527403"/>
          </a:xfrm>
        </p:spPr>
        <p:txBody>
          <a:bodyPr/>
          <a:lstStyle/>
          <a:p>
            <a:fld id="{19F1D9CC-7119-45EC-A96C-D8C0660F3AAB}" type="slidenum">
              <a:rPr lang="en-GB" noProof="0" smtClean="0">
                <a:solidFill>
                  <a:schemeClr val="tx1"/>
                </a:solidFill>
              </a:rPr>
              <a:t>1</a:t>
            </a:fld>
            <a:endParaRPr lang="en-GB" noProof="0" dirty="0">
              <a:solidFill>
                <a:schemeClr val="tx1"/>
              </a:solidFill>
            </a:endParaRPr>
          </a:p>
        </p:txBody>
      </p:sp>
      <p:sp>
        <p:nvSpPr>
          <p:cNvPr id="77" name="TextBox 76">
            <a:extLst>
              <a:ext uri="{FF2B5EF4-FFF2-40B4-BE49-F238E27FC236}">
                <a16:creationId xmlns:a16="http://schemas.microsoft.com/office/drawing/2014/main" id="{6EAE242C-3BEA-324C-B746-6B1087575622}"/>
              </a:ext>
            </a:extLst>
          </p:cNvPr>
          <p:cNvSpPr txBox="1"/>
          <p:nvPr/>
        </p:nvSpPr>
        <p:spPr>
          <a:xfrm>
            <a:off x="123649" y="4001789"/>
            <a:ext cx="1503938" cy="261610"/>
          </a:xfrm>
          <a:prstGeom prst="rect">
            <a:avLst/>
          </a:prstGeom>
          <a:solidFill>
            <a:schemeClr val="accent1">
              <a:lumMod val="75000"/>
            </a:schemeClr>
          </a:solidFill>
        </p:spPr>
        <p:style>
          <a:lnRef idx="0">
            <a:schemeClr val="accent6"/>
          </a:lnRef>
          <a:fillRef idx="3">
            <a:schemeClr val="accent6"/>
          </a:fillRef>
          <a:effectRef idx="3">
            <a:schemeClr val="accent6"/>
          </a:effectRef>
          <a:fontRef idx="minor">
            <a:schemeClr val="lt1"/>
          </a:fontRef>
        </p:style>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Prior Knowledge Check</a:t>
            </a:r>
          </a:p>
        </p:txBody>
      </p:sp>
      <p:sp>
        <p:nvSpPr>
          <p:cNvPr id="69" name="TextBox 68">
            <a:extLst>
              <a:ext uri="{FF2B5EF4-FFF2-40B4-BE49-F238E27FC236}">
                <a16:creationId xmlns:a16="http://schemas.microsoft.com/office/drawing/2014/main" id="{C11832BB-D28D-4D3E-A9B3-3C442BB4F877}"/>
              </a:ext>
            </a:extLst>
          </p:cNvPr>
          <p:cNvSpPr txBox="1"/>
          <p:nvPr/>
        </p:nvSpPr>
        <p:spPr>
          <a:xfrm>
            <a:off x="4434839" y="858917"/>
            <a:ext cx="2315551" cy="830997"/>
          </a:xfrm>
          <a:prstGeom prst="rect">
            <a:avLst/>
          </a:prstGeom>
          <a:noFill/>
          <a:ln w="12700">
            <a:solidFill>
              <a:schemeClr val="tx1"/>
            </a:solidFill>
          </a:ln>
        </p:spPr>
        <p:txBody>
          <a:bodyPr wrap="square" rtlCol="0">
            <a:spAutoFit/>
          </a:bodyPr>
          <a:lstStyle/>
          <a:p>
            <a:r>
              <a:rPr lang="en-GB" sz="1200" u="sng" noProof="0" dirty="0">
                <a:cs typeface="Calibri" panose="020F0502020204030204" pitchFamily="34" charset="0"/>
              </a:rPr>
              <a:t>Keywords:</a:t>
            </a:r>
          </a:p>
          <a:p>
            <a:pPr marL="171450" indent="-171450">
              <a:buFontTx/>
              <a:buChar char="-"/>
            </a:pPr>
            <a:r>
              <a:rPr lang="en-GB" sz="1200" noProof="0" dirty="0">
                <a:cs typeface="Calibri" panose="020F0502020204030204" pitchFamily="34" charset="0"/>
              </a:rPr>
              <a:t>Function </a:t>
            </a:r>
          </a:p>
          <a:p>
            <a:pPr marL="171450" indent="-171450">
              <a:buFontTx/>
              <a:buChar char="-"/>
            </a:pPr>
            <a:r>
              <a:rPr lang="en-GB" sz="1200" noProof="0" dirty="0">
                <a:cs typeface="Calibri" panose="020F0502020204030204" pitchFamily="34" charset="0"/>
              </a:rPr>
              <a:t>Inverse</a:t>
            </a:r>
          </a:p>
          <a:p>
            <a:pPr marL="171450" indent="-171450">
              <a:buFontTx/>
              <a:buChar char="-"/>
            </a:pPr>
            <a:r>
              <a:rPr lang="en-GB" sz="1200" noProof="0" dirty="0">
                <a:cs typeface="Calibri" panose="020F0502020204030204" pitchFamily="34" charset="0"/>
              </a:rPr>
              <a:t>Composite</a:t>
            </a:r>
          </a:p>
        </p:txBody>
      </p:sp>
      <p:pic>
        <p:nvPicPr>
          <p:cNvPr id="2050" name="Picture 2" descr="97345_Ch24_004.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7834" y="4763460"/>
            <a:ext cx="2808339" cy="37993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75535" y="4285927"/>
            <a:ext cx="3429000" cy="461665"/>
          </a:xfrm>
          <a:prstGeom prst="rect">
            <a:avLst/>
          </a:prstGeom>
        </p:spPr>
        <p:txBody>
          <a:bodyPr>
            <a:spAutoFit/>
          </a:bodyPr>
          <a:lstStyle/>
          <a:p>
            <a:pPr algn="ctr"/>
            <a:r>
              <a:rPr lang="en-GB" sz="1200" b="1" noProof="0" dirty="0"/>
              <a:t>1</a:t>
            </a:r>
            <a:r>
              <a:rPr lang="en-GB" sz="1200" noProof="0" dirty="0"/>
              <a:t>. Use the function machine to find the output for each input.</a:t>
            </a:r>
          </a:p>
        </p:txBody>
      </p:sp>
      <p:sp>
        <p:nvSpPr>
          <p:cNvPr id="5" name="Rectangle 4"/>
          <p:cNvSpPr/>
          <p:nvPr/>
        </p:nvSpPr>
        <p:spPr>
          <a:xfrm>
            <a:off x="273189" y="5263964"/>
            <a:ext cx="457176" cy="276999"/>
          </a:xfrm>
          <a:prstGeom prst="rect">
            <a:avLst/>
          </a:prstGeom>
        </p:spPr>
        <p:txBody>
          <a:bodyPr wrap="none">
            <a:spAutoFit/>
          </a:bodyPr>
          <a:lstStyle/>
          <a:p>
            <a:r>
              <a:rPr lang="en-GB" sz="1200" b="1" noProof="0" dirty="0" err="1"/>
              <a:t>i</a:t>
            </a:r>
            <a:r>
              <a:rPr lang="en-GB" sz="1200" b="1" noProof="0" dirty="0"/>
              <a:t>.</a:t>
            </a:r>
            <a:r>
              <a:rPr lang="en-GB" sz="1200" noProof="0" dirty="0"/>
              <a:t> 11</a:t>
            </a:r>
          </a:p>
        </p:txBody>
      </p:sp>
      <p:sp>
        <p:nvSpPr>
          <p:cNvPr id="6" name="Rectangle 5"/>
          <p:cNvSpPr/>
          <p:nvPr/>
        </p:nvSpPr>
        <p:spPr>
          <a:xfrm>
            <a:off x="265577" y="5864651"/>
            <a:ext cx="495649" cy="276999"/>
          </a:xfrm>
          <a:prstGeom prst="rect">
            <a:avLst/>
          </a:prstGeom>
        </p:spPr>
        <p:txBody>
          <a:bodyPr wrap="none">
            <a:spAutoFit/>
          </a:bodyPr>
          <a:lstStyle/>
          <a:p>
            <a:r>
              <a:rPr lang="en-GB" sz="1200" b="1" noProof="0" dirty="0"/>
              <a:t>ii.</a:t>
            </a:r>
            <a:r>
              <a:rPr lang="en-GB" sz="1200" noProof="0" dirty="0"/>
              <a:t> 26</a:t>
            </a:r>
          </a:p>
        </p:txBody>
      </p:sp>
      <p:sp>
        <p:nvSpPr>
          <p:cNvPr id="7" name="Rectangle 6"/>
          <p:cNvSpPr/>
          <p:nvPr/>
        </p:nvSpPr>
        <p:spPr>
          <a:xfrm>
            <a:off x="307834" y="6530220"/>
            <a:ext cx="567784" cy="276999"/>
          </a:xfrm>
          <a:prstGeom prst="rect">
            <a:avLst/>
          </a:prstGeom>
        </p:spPr>
        <p:txBody>
          <a:bodyPr wrap="none">
            <a:spAutoFit/>
          </a:bodyPr>
          <a:lstStyle/>
          <a:p>
            <a:r>
              <a:rPr lang="en-GB" sz="1200" b="1" noProof="0" dirty="0"/>
              <a:t>iii.</a:t>
            </a:r>
            <a:r>
              <a:rPr lang="en-GB" sz="1200" noProof="0" dirty="0"/>
              <a:t> – 4</a:t>
            </a:r>
          </a:p>
        </p:txBody>
      </p:sp>
      <p:sp>
        <p:nvSpPr>
          <p:cNvPr id="8" name="Rectangle 7"/>
          <p:cNvSpPr/>
          <p:nvPr/>
        </p:nvSpPr>
        <p:spPr>
          <a:xfrm>
            <a:off x="307834" y="7168952"/>
            <a:ext cx="439864" cy="276999"/>
          </a:xfrm>
          <a:prstGeom prst="rect">
            <a:avLst/>
          </a:prstGeom>
        </p:spPr>
        <p:txBody>
          <a:bodyPr wrap="none">
            <a:spAutoFit/>
          </a:bodyPr>
          <a:lstStyle/>
          <a:p>
            <a:r>
              <a:rPr lang="en-GB" sz="1200" b="1" noProof="0" dirty="0"/>
              <a:t>iv.</a:t>
            </a:r>
            <a:r>
              <a:rPr lang="en-GB" sz="1200" noProof="0" dirty="0"/>
              <a:t> 1</a:t>
            </a:r>
          </a:p>
        </p:txBody>
      </p:sp>
      <p:sp>
        <p:nvSpPr>
          <p:cNvPr id="68" name="Rectangle 67">
            <a:extLst>
              <a:ext uri="{FF2B5EF4-FFF2-40B4-BE49-F238E27FC236}">
                <a16:creationId xmlns:a16="http://schemas.microsoft.com/office/drawing/2014/main" id="{633BAC49-01FC-4129-977D-EFE27505AFDD}"/>
              </a:ext>
            </a:extLst>
          </p:cNvPr>
          <p:cNvSpPr/>
          <p:nvPr/>
        </p:nvSpPr>
        <p:spPr>
          <a:xfrm>
            <a:off x="1179079" y="5299275"/>
            <a:ext cx="1937095" cy="347355"/>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74" name="Rectangle 73">
            <a:extLst>
              <a:ext uri="{FF2B5EF4-FFF2-40B4-BE49-F238E27FC236}">
                <a16:creationId xmlns:a16="http://schemas.microsoft.com/office/drawing/2014/main" id="{633BAC49-01FC-4129-977D-EFE27505AFDD}"/>
              </a:ext>
            </a:extLst>
          </p:cNvPr>
          <p:cNvSpPr/>
          <p:nvPr/>
        </p:nvSpPr>
        <p:spPr>
          <a:xfrm>
            <a:off x="1179080" y="5863499"/>
            <a:ext cx="1937095" cy="347355"/>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79" name="Rectangle 78">
            <a:extLst>
              <a:ext uri="{FF2B5EF4-FFF2-40B4-BE49-F238E27FC236}">
                <a16:creationId xmlns:a16="http://schemas.microsoft.com/office/drawing/2014/main" id="{633BAC49-01FC-4129-977D-EFE27505AFDD}"/>
              </a:ext>
            </a:extLst>
          </p:cNvPr>
          <p:cNvSpPr/>
          <p:nvPr/>
        </p:nvSpPr>
        <p:spPr>
          <a:xfrm>
            <a:off x="1179078" y="6530220"/>
            <a:ext cx="1937095" cy="347355"/>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80" name="Rectangle 79">
            <a:extLst>
              <a:ext uri="{FF2B5EF4-FFF2-40B4-BE49-F238E27FC236}">
                <a16:creationId xmlns:a16="http://schemas.microsoft.com/office/drawing/2014/main" id="{633BAC49-01FC-4129-977D-EFE27505AFDD}"/>
              </a:ext>
            </a:extLst>
          </p:cNvPr>
          <p:cNvSpPr/>
          <p:nvPr/>
        </p:nvSpPr>
        <p:spPr>
          <a:xfrm>
            <a:off x="1179077" y="7163430"/>
            <a:ext cx="1937095" cy="347355"/>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83" name="Rectangle 82"/>
          <p:cNvSpPr/>
          <p:nvPr/>
        </p:nvSpPr>
        <p:spPr>
          <a:xfrm>
            <a:off x="3538915" y="5315019"/>
            <a:ext cx="457176" cy="276999"/>
          </a:xfrm>
          <a:prstGeom prst="rect">
            <a:avLst/>
          </a:prstGeom>
        </p:spPr>
        <p:txBody>
          <a:bodyPr wrap="none">
            <a:spAutoFit/>
          </a:bodyPr>
          <a:lstStyle/>
          <a:p>
            <a:r>
              <a:rPr lang="en-GB" sz="1200" b="1" noProof="0" dirty="0" err="1"/>
              <a:t>i</a:t>
            </a:r>
            <a:r>
              <a:rPr lang="en-GB" sz="1200" b="1" noProof="0" dirty="0"/>
              <a:t>.</a:t>
            </a:r>
            <a:r>
              <a:rPr lang="en-GB" sz="1200" noProof="0" dirty="0"/>
              <a:t> 18</a:t>
            </a:r>
          </a:p>
        </p:txBody>
      </p:sp>
      <p:sp>
        <p:nvSpPr>
          <p:cNvPr id="97" name="Rectangle 96"/>
          <p:cNvSpPr/>
          <p:nvPr/>
        </p:nvSpPr>
        <p:spPr>
          <a:xfrm>
            <a:off x="3531303" y="5915706"/>
            <a:ext cx="417102" cy="276999"/>
          </a:xfrm>
          <a:prstGeom prst="rect">
            <a:avLst/>
          </a:prstGeom>
        </p:spPr>
        <p:txBody>
          <a:bodyPr wrap="none">
            <a:spAutoFit/>
          </a:bodyPr>
          <a:lstStyle/>
          <a:p>
            <a:r>
              <a:rPr lang="en-GB" sz="1200" b="1" noProof="0" dirty="0"/>
              <a:t>ii.</a:t>
            </a:r>
            <a:r>
              <a:rPr lang="en-GB" sz="1200" noProof="0" dirty="0"/>
              <a:t> 0</a:t>
            </a:r>
          </a:p>
        </p:txBody>
      </p:sp>
      <p:sp>
        <p:nvSpPr>
          <p:cNvPr id="120" name="Rectangle 119"/>
          <p:cNvSpPr/>
          <p:nvPr/>
        </p:nvSpPr>
        <p:spPr>
          <a:xfrm>
            <a:off x="3573560" y="6581275"/>
            <a:ext cx="612668" cy="276999"/>
          </a:xfrm>
          <a:prstGeom prst="rect">
            <a:avLst/>
          </a:prstGeom>
        </p:spPr>
        <p:txBody>
          <a:bodyPr wrap="none">
            <a:spAutoFit/>
          </a:bodyPr>
          <a:lstStyle/>
          <a:p>
            <a:r>
              <a:rPr lang="en-GB" sz="1200" b="1" noProof="0" dirty="0"/>
              <a:t>iii.</a:t>
            </a:r>
            <a:r>
              <a:rPr lang="en-GB" sz="1200" noProof="0" dirty="0"/>
              <a:t> 500</a:t>
            </a:r>
          </a:p>
        </p:txBody>
      </p:sp>
      <p:sp>
        <p:nvSpPr>
          <p:cNvPr id="121" name="Rectangle 120"/>
          <p:cNvSpPr/>
          <p:nvPr/>
        </p:nvSpPr>
        <p:spPr>
          <a:xfrm>
            <a:off x="3573560" y="7220007"/>
            <a:ext cx="439864" cy="276999"/>
          </a:xfrm>
          <a:prstGeom prst="rect">
            <a:avLst/>
          </a:prstGeom>
        </p:spPr>
        <p:txBody>
          <a:bodyPr wrap="none">
            <a:spAutoFit/>
          </a:bodyPr>
          <a:lstStyle/>
          <a:p>
            <a:r>
              <a:rPr lang="en-GB" sz="1200" b="1" noProof="0" dirty="0"/>
              <a:t>iv.</a:t>
            </a:r>
            <a:r>
              <a:rPr lang="en-GB" sz="1200" noProof="0" dirty="0"/>
              <a:t> 3</a:t>
            </a:r>
          </a:p>
        </p:txBody>
      </p:sp>
      <p:sp>
        <p:nvSpPr>
          <p:cNvPr id="122" name="Rectangle 121">
            <a:extLst>
              <a:ext uri="{FF2B5EF4-FFF2-40B4-BE49-F238E27FC236}">
                <a16:creationId xmlns:a16="http://schemas.microsoft.com/office/drawing/2014/main" id="{633BAC49-01FC-4129-977D-EFE27505AFDD}"/>
              </a:ext>
            </a:extLst>
          </p:cNvPr>
          <p:cNvSpPr/>
          <p:nvPr/>
        </p:nvSpPr>
        <p:spPr>
          <a:xfrm>
            <a:off x="4444805" y="5312752"/>
            <a:ext cx="1937095" cy="347355"/>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123" name="Rectangle 122">
            <a:extLst>
              <a:ext uri="{FF2B5EF4-FFF2-40B4-BE49-F238E27FC236}">
                <a16:creationId xmlns:a16="http://schemas.microsoft.com/office/drawing/2014/main" id="{633BAC49-01FC-4129-977D-EFE27505AFDD}"/>
              </a:ext>
            </a:extLst>
          </p:cNvPr>
          <p:cNvSpPr/>
          <p:nvPr/>
        </p:nvSpPr>
        <p:spPr>
          <a:xfrm>
            <a:off x="4444806" y="5876976"/>
            <a:ext cx="1937095" cy="347355"/>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124" name="Rectangle 123">
            <a:extLst>
              <a:ext uri="{FF2B5EF4-FFF2-40B4-BE49-F238E27FC236}">
                <a16:creationId xmlns:a16="http://schemas.microsoft.com/office/drawing/2014/main" id="{633BAC49-01FC-4129-977D-EFE27505AFDD}"/>
              </a:ext>
            </a:extLst>
          </p:cNvPr>
          <p:cNvSpPr/>
          <p:nvPr/>
        </p:nvSpPr>
        <p:spPr>
          <a:xfrm>
            <a:off x="4444804" y="6543697"/>
            <a:ext cx="1937095" cy="347355"/>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125" name="Rectangle 124">
            <a:extLst>
              <a:ext uri="{FF2B5EF4-FFF2-40B4-BE49-F238E27FC236}">
                <a16:creationId xmlns:a16="http://schemas.microsoft.com/office/drawing/2014/main" id="{633BAC49-01FC-4129-977D-EFE27505AFDD}"/>
              </a:ext>
            </a:extLst>
          </p:cNvPr>
          <p:cNvSpPr/>
          <p:nvPr/>
        </p:nvSpPr>
        <p:spPr>
          <a:xfrm>
            <a:off x="4444803" y="7176907"/>
            <a:ext cx="1937095" cy="347355"/>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126" name="Rectangle 125"/>
          <p:cNvSpPr/>
          <p:nvPr/>
        </p:nvSpPr>
        <p:spPr>
          <a:xfrm>
            <a:off x="3412029" y="4274850"/>
            <a:ext cx="3429000" cy="461665"/>
          </a:xfrm>
          <a:prstGeom prst="rect">
            <a:avLst/>
          </a:prstGeom>
        </p:spPr>
        <p:txBody>
          <a:bodyPr>
            <a:spAutoFit/>
          </a:bodyPr>
          <a:lstStyle/>
          <a:p>
            <a:pPr algn="ctr"/>
            <a:r>
              <a:rPr lang="en-GB" sz="1200" b="1" noProof="0" dirty="0"/>
              <a:t>2</a:t>
            </a:r>
            <a:r>
              <a:rPr lang="en-GB" sz="1200" noProof="0" dirty="0"/>
              <a:t>. Use the function machine to find the input for each output.</a:t>
            </a:r>
          </a:p>
        </p:txBody>
      </p:sp>
      <p:pic>
        <p:nvPicPr>
          <p:cNvPr id="2054" name="Picture 6" descr="97345_Ch24_006.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7834" y="8036433"/>
            <a:ext cx="3808134" cy="388916"/>
          </a:xfrm>
          <a:prstGeom prst="rect">
            <a:avLst/>
          </a:prstGeom>
          <a:noFill/>
          <a:extLst>
            <a:ext uri="{909E8E84-426E-40DD-AFC4-6F175D3DCCD1}">
              <a14:hiddenFill xmlns:a14="http://schemas.microsoft.com/office/drawing/2010/main">
                <a:solidFill>
                  <a:srgbClr val="FFFFFF"/>
                </a:solidFill>
              </a14:hiddenFill>
            </a:ext>
          </a:extLst>
        </p:spPr>
      </p:pic>
      <p:sp>
        <p:nvSpPr>
          <p:cNvPr id="128" name="Rectangle 127"/>
          <p:cNvSpPr/>
          <p:nvPr/>
        </p:nvSpPr>
        <p:spPr>
          <a:xfrm>
            <a:off x="273187" y="8622497"/>
            <a:ext cx="457176" cy="276999"/>
          </a:xfrm>
          <a:prstGeom prst="rect">
            <a:avLst/>
          </a:prstGeom>
        </p:spPr>
        <p:txBody>
          <a:bodyPr wrap="none">
            <a:spAutoFit/>
          </a:bodyPr>
          <a:lstStyle/>
          <a:p>
            <a:r>
              <a:rPr lang="en-GB" sz="1200" b="1" noProof="0" dirty="0" err="1"/>
              <a:t>i</a:t>
            </a:r>
            <a:r>
              <a:rPr lang="en-GB" sz="1200" b="1" noProof="0" dirty="0"/>
              <a:t>.</a:t>
            </a:r>
            <a:r>
              <a:rPr lang="en-GB" sz="1200" noProof="0" dirty="0"/>
              <a:t> 30</a:t>
            </a:r>
          </a:p>
        </p:txBody>
      </p:sp>
      <p:sp>
        <p:nvSpPr>
          <p:cNvPr id="129" name="Rectangle 128"/>
          <p:cNvSpPr/>
          <p:nvPr/>
        </p:nvSpPr>
        <p:spPr>
          <a:xfrm>
            <a:off x="269777" y="9313773"/>
            <a:ext cx="495649" cy="276999"/>
          </a:xfrm>
          <a:prstGeom prst="rect">
            <a:avLst/>
          </a:prstGeom>
        </p:spPr>
        <p:txBody>
          <a:bodyPr wrap="none">
            <a:spAutoFit/>
          </a:bodyPr>
          <a:lstStyle/>
          <a:p>
            <a:r>
              <a:rPr lang="en-GB" sz="1200" b="1" noProof="0" dirty="0"/>
              <a:t>ii.</a:t>
            </a:r>
            <a:r>
              <a:rPr lang="en-GB" sz="1200" noProof="0" dirty="0"/>
              <a:t> 60</a:t>
            </a:r>
          </a:p>
        </p:txBody>
      </p:sp>
      <p:sp>
        <p:nvSpPr>
          <p:cNvPr id="130" name="Rectangle 129"/>
          <p:cNvSpPr/>
          <p:nvPr/>
        </p:nvSpPr>
        <p:spPr>
          <a:xfrm>
            <a:off x="3377304" y="8674816"/>
            <a:ext cx="534121" cy="276999"/>
          </a:xfrm>
          <a:prstGeom prst="rect">
            <a:avLst/>
          </a:prstGeom>
        </p:spPr>
        <p:txBody>
          <a:bodyPr wrap="none">
            <a:spAutoFit/>
          </a:bodyPr>
          <a:lstStyle/>
          <a:p>
            <a:r>
              <a:rPr lang="en-GB" sz="1200" b="1" noProof="0" dirty="0"/>
              <a:t>iii.</a:t>
            </a:r>
            <a:r>
              <a:rPr lang="en-GB" sz="1200" noProof="0" dirty="0"/>
              <a:t> 18</a:t>
            </a:r>
          </a:p>
        </p:txBody>
      </p:sp>
      <p:sp>
        <p:nvSpPr>
          <p:cNvPr id="131" name="Rectangle 130">
            <a:extLst>
              <a:ext uri="{FF2B5EF4-FFF2-40B4-BE49-F238E27FC236}">
                <a16:creationId xmlns:a16="http://schemas.microsoft.com/office/drawing/2014/main" id="{633BAC49-01FC-4129-977D-EFE27505AFDD}"/>
              </a:ext>
            </a:extLst>
          </p:cNvPr>
          <p:cNvSpPr/>
          <p:nvPr/>
        </p:nvSpPr>
        <p:spPr>
          <a:xfrm>
            <a:off x="1179077" y="8620230"/>
            <a:ext cx="1937095" cy="347355"/>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132" name="Rectangle 131">
            <a:extLst>
              <a:ext uri="{FF2B5EF4-FFF2-40B4-BE49-F238E27FC236}">
                <a16:creationId xmlns:a16="http://schemas.microsoft.com/office/drawing/2014/main" id="{633BAC49-01FC-4129-977D-EFE27505AFDD}"/>
              </a:ext>
            </a:extLst>
          </p:cNvPr>
          <p:cNvSpPr/>
          <p:nvPr/>
        </p:nvSpPr>
        <p:spPr>
          <a:xfrm>
            <a:off x="1183280" y="9275043"/>
            <a:ext cx="1937095" cy="347355"/>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133" name="Rectangle 132">
            <a:extLst>
              <a:ext uri="{FF2B5EF4-FFF2-40B4-BE49-F238E27FC236}">
                <a16:creationId xmlns:a16="http://schemas.microsoft.com/office/drawing/2014/main" id="{633BAC49-01FC-4129-977D-EFE27505AFDD}"/>
              </a:ext>
            </a:extLst>
          </p:cNvPr>
          <p:cNvSpPr/>
          <p:nvPr/>
        </p:nvSpPr>
        <p:spPr>
          <a:xfrm>
            <a:off x="4248548" y="8637238"/>
            <a:ext cx="1937095" cy="347355"/>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134" name="Rectangle 133"/>
          <p:cNvSpPr/>
          <p:nvPr/>
        </p:nvSpPr>
        <p:spPr>
          <a:xfrm>
            <a:off x="229619" y="7543926"/>
            <a:ext cx="3429000" cy="461665"/>
          </a:xfrm>
          <a:prstGeom prst="rect">
            <a:avLst/>
          </a:prstGeom>
        </p:spPr>
        <p:txBody>
          <a:bodyPr>
            <a:spAutoFit/>
          </a:bodyPr>
          <a:lstStyle/>
          <a:p>
            <a:pPr algn="ctr"/>
            <a:r>
              <a:rPr lang="en-GB" sz="1200" b="1" noProof="0" dirty="0"/>
              <a:t>3</a:t>
            </a:r>
            <a:r>
              <a:rPr lang="en-GB" sz="1200" noProof="0" dirty="0"/>
              <a:t>. Use the function machine to find the input for each output.</a:t>
            </a:r>
          </a:p>
        </p:txBody>
      </p:sp>
      <p:sp>
        <p:nvSpPr>
          <p:cNvPr id="42" name="Rectangle 41">
            <a:extLst>
              <a:ext uri="{FF2B5EF4-FFF2-40B4-BE49-F238E27FC236}">
                <a16:creationId xmlns:a16="http://schemas.microsoft.com/office/drawing/2014/main" id="{1A1DBEA9-D546-4594-90FE-D6EBF9792C2E}"/>
              </a:ext>
            </a:extLst>
          </p:cNvPr>
          <p:cNvSpPr/>
          <p:nvPr/>
        </p:nvSpPr>
        <p:spPr>
          <a:xfrm>
            <a:off x="163842" y="4294141"/>
            <a:ext cx="3321161" cy="32497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3" name="Rectangle 42">
            <a:extLst>
              <a:ext uri="{FF2B5EF4-FFF2-40B4-BE49-F238E27FC236}">
                <a16:creationId xmlns:a16="http://schemas.microsoft.com/office/drawing/2014/main" id="{1A1DBEA9-D546-4594-90FE-D6EBF9792C2E}"/>
              </a:ext>
            </a:extLst>
          </p:cNvPr>
          <p:cNvSpPr/>
          <p:nvPr/>
        </p:nvSpPr>
        <p:spPr>
          <a:xfrm>
            <a:off x="3556515" y="4297072"/>
            <a:ext cx="3212212" cy="32497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4" name="Rectangle 43">
            <a:extLst>
              <a:ext uri="{FF2B5EF4-FFF2-40B4-BE49-F238E27FC236}">
                <a16:creationId xmlns:a16="http://schemas.microsoft.com/office/drawing/2014/main" id="{1A1DBEA9-D546-4594-90FE-D6EBF9792C2E}"/>
              </a:ext>
            </a:extLst>
          </p:cNvPr>
          <p:cNvSpPr/>
          <p:nvPr/>
        </p:nvSpPr>
        <p:spPr>
          <a:xfrm>
            <a:off x="156230" y="7589299"/>
            <a:ext cx="6612496" cy="21111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50" name="Picture 2" descr="97345_Ch24_004.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58451" y="4812527"/>
            <a:ext cx="2808339" cy="379933"/>
          </a:xfrm>
          <a:prstGeom prst="rect">
            <a:avLst/>
          </a:prstGeom>
          <a:noFill/>
          <a:extLst>
            <a:ext uri="{909E8E84-426E-40DD-AFC4-6F175D3DCCD1}">
              <a14:hiddenFill xmlns:a14="http://schemas.microsoft.com/office/drawing/2010/main">
                <a:solidFill>
                  <a:srgbClr val="FFFFFF"/>
                </a:solidFill>
              </a14:hiddenFill>
            </a:ext>
          </a:extLst>
        </p:spPr>
      </p:pic>
      <p:cxnSp>
        <p:nvCxnSpPr>
          <p:cNvPr id="47" name="Straight Connector 46">
            <a:extLst>
              <a:ext uri="{FF2B5EF4-FFF2-40B4-BE49-F238E27FC236}">
                <a16:creationId xmlns:a16="http://schemas.microsoft.com/office/drawing/2014/main" id="{FE7EDCC2-ABAA-434F-8C0E-6C3A1F76BAE7}"/>
              </a:ext>
            </a:extLst>
          </p:cNvPr>
          <p:cNvCxnSpPr/>
          <p:nvPr/>
        </p:nvCxnSpPr>
        <p:spPr>
          <a:xfrm flipV="1">
            <a:off x="7877387" y="3519143"/>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8" name="Rectangle 47"/>
          <p:cNvSpPr/>
          <p:nvPr/>
        </p:nvSpPr>
        <p:spPr>
          <a:xfrm>
            <a:off x="7022707" y="1758795"/>
            <a:ext cx="6643204" cy="216430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49" name="Straight Connector 48"/>
          <p:cNvCxnSpPr/>
          <p:nvPr/>
        </p:nvCxnSpPr>
        <p:spPr>
          <a:xfrm>
            <a:off x="7029077" y="2862496"/>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51" name="Straight Connector 50"/>
          <p:cNvCxnSpPr>
            <a:stCxn id="48" idx="2"/>
            <a:endCxn id="48" idx="0"/>
          </p:cNvCxnSpPr>
          <p:nvPr/>
        </p:nvCxnSpPr>
        <p:spPr>
          <a:xfrm flipV="1">
            <a:off x="10344309" y="1758795"/>
            <a:ext cx="0" cy="2164305"/>
          </a:xfrm>
          <a:prstGeom prst="line">
            <a:avLst/>
          </a:prstGeom>
        </p:spPr>
        <p:style>
          <a:lnRef idx="1">
            <a:schemeClr val="dk1"/>
          </a:lnRef>
          <a:fillRef idx="0">
            <a:schemeClr val="dk1"/>
          </a:fillRef>
          <a:effectRef idx="0">
            <a:schemeClr val="dk1"/>
          </a:effectRef>
          <a:fontRef idx="minor">
            <a:schemeClr val="tx1"/>
          </a:fontRef>
        </p:style>
      </p:cxnSp>
      <p:sp>
        <p:nvSpPr>
          <p:cNvPr id="52" name="TextBox 51"/>
          <p:cNvSpPr txBox="1"/>
          <p:nvPr/>
        </p:nvSpPr>
        <p:spPr>
          <a:xfrm>
            <a:off x="7040461" y="1749417"/>
            <a:ext cx="824713" cy="461665"/>
          </a:xfrm>
          <a:prstGeom prst="rect">
            <a:avLst/>
          </a:prstGeom>
          <a:noFill/>
        </p:spPr>
        <p:txBody>
          <a:bodyPr wrap="none" rtlCol="0">
            <a:spAutoFit/>
          </a:bodyPr>
          <a:lstStyle/>
          <a:p>
            <a:r>
              <a:rPr lang="en-GB" sz="1200" b="1" noProof="0" dirty="0"/>
              <a:t>Definition</a:t>
            </a:r>
          </a:p>
          <a:p>
            <a:endParaRPr lang="en-GB" sz="1200" noProof="0" dirty="0"/>
          </a:p>
        </p:txBody>
      </p:sp>
      <p:sp>
        <p:nvSpPr>
          <p:cNvPr id="53" name="TextBox 52"/>
          <p:cNvSpPr txBox="1"/>
          <p:nvPr/>
        </p:nvSpPr>
        <p:spPr>
          <a:xfrm>
            <a:off x="12564512" y="1717031"/>
            <a:ext cx="1112228" cy="276999"/>
          </a:xfrm>
          <a:prstGeom prst="rect">
            <a:avLst/>
          </a:prstGeom>
          <a:noFill/>
        </p:spPr>
        <p:txBody>
          <a:bodyPr wrap="none" rtlCol="0">
            <a:spAutoFit/>
          </a:bodyPr>
          <a:lstStyle/>
          <a:p>
            <a:r>
              <a:rPr lang="en-GB" sz="1200" b="1" noProof="0" dirty="0"/>
              <a:t>Characteristics</a:t>
            </a:r>
          </a:p>
        </p:txBody>
      </p:sp>
      <p:sp>
        <p:nvSpPr>
          <p:cNvPr id="54" name="TextBox 53"/>
          <p:cNvSpPr txBox="1"/>
          <p:nvPr/>
        </p:nvSpPr>
        <p:spPr>
          <a:xfrm>
            <a:off x="7055608" y="2846555"/>
            <a:ext cx="788164" cy="276999"/>
          </a:xfrm>
          <a:prstGeom prst="rect">
            <a:avLst/>
          </a:prstGeom>
          <a:noFill/>
        </p:spPr>
        <p:txBody>
          <a:bodyPr wrap="none" rtlCol="0">
            <a:spAutoFit/>
          </a:bodyPr>
          <a:lstStyle/>
          <a:p>
            <a:r>
              <a:rPr lang="en-GB" sz="1200" b="1" noProof="0" dirty="0"/>
              <a:t>Examples</a:t>
            </a:r>
          </a:p>
        </p:txBody>
      </p:sp>
      <p:sp>
        <p:nvSpPr>
          <p:cNvPr id="55" name="TextBox 54"/>
          <p:cNvSpPr txBox="1"/>
          <p:nvPr/>
        </p:nvSpPr>
        <p:spPr>
          <a:xfrm>
            <a:off x="12493025" y="2822174"/>
            <a:ext cx="1172885" cy="276999"/>
          </a:xfrm>
          <a:prstGeom prst="rect">
            <a:avLst/>
          </a:prstGeom>
          <a:noFill/>
        </p:spPr>
        <p:txBody>
          <a:bodyPr wrap="none" rtlCol="0">
            <a:spAutoFit/>
          </a:bodyPr>
          <a:lstStyle/>
          <a:p>
            <a:r>
              <a:rPr lang="en-GB" sz="1200" b="1" noProof="0" dirty="0"/>
              <a:t>Non - Examples</a:t>
            </a:r>
          </a:p>
        </p:txBody>
      </p:sp>
      <p:sp>
        <p:nvSpPr>
          <p:cNvPr id="56" name="TextBox 55"/>
          <p:cNvSpPr txBox="1"/>
          <p:nvPr/>
        </p:nvSpPr>
        <p:spPr>
          <a:xfrm>
            <a:off x="7061240" y="1990474"/>
            <a:ext cx="3230335" cy="769441"/>
          </a:xfrm>
          <a:prstGeom prst="rect">
            <a:avLst/>
          </a:prstGeom>
          <a:noFill/>
        </p:spPr>
        <p:txBody>
          <a:bodyPr wrap="square" rtlCol="0">
            <a:spAutoFit/>
          </a:bodyPr>
          <a:lstStyle/>
          <a:p>
            <a:r>
              <a:rPr lang="en-GB" sz="1100" b="1" noProof="0" dirty="0"/>
              <a:t>Function</a:t>
            </a:r>
            <a:r>
              <a:rPr lang="en-GB" sz="1100" noProof="0" dirty="0"/>
              <a:t>, in mathematics, an expression, rule, or law that defines a relationship between one variable (the independent variable) and another variable (the dependent variable). </a:t>
            </a:r>
            <a:endParaRPr lang="en-GB" sz="900" noProof="0" dirty="0"/>
          </a:p>
        </p:txBody>
      </p:sp>
      <mc:AlternateContent xmlns:mc="http://schemas.openxmlformats.org/markup-compatibility/2006" xmlns:a14="http://schemas.microsoft.com/office/drawing/2010/main">
        <mc:Choice Requires="a14">
          <p:sp>
            <p:nvSpPr>
              <p:cNvPr id="57" name="TextBox 56"/>
              <p:cNvSpPr txBox="1"/>
              <p:nvPr/>
            </p:nvSpPr>
            <p:spPr>
              <a:xfrm>
                <a:off x="10435575" y="1940435"/>
                <a:ext cx="3230335" cy="769441"/>
              </a:xfrm>
              <a:prstGeom prst="rect">
                <a:avLst/>
              </a:prstGeom>
              <a:noFill/>
            </p:spPr>
            <p:txBody>
              <a:bodyPr wrap="square" rtlCol="0">
                <a:spAutoFit/>
              </a:bodyPr>
              <a:lstStyle/>
              <a:p>
                <a:r>
                  <a:rPr lang="en-GB" sz="1100" i="1" noProof="0" dirty="0"/>
                  <a:t>y</a:t>
                </a:r>
                <a:r>
                  <a:rPr lang="en-GB" sz="1100" noProof="0" dirty="0"/>
                  <a:t> and </a:t>
                </a:r>
                <a:r>
                  <a:rPr lang="en-GB" sz="1100" i="1" noProof="0" dirty="0"/>
                  <a:t>x</a:t>
                </a:r>
                <a:r>
                  <a:rPr lang="en-GB" sz="1100" noProof="0" dirty="0"/>
                  <a:t> are related such that for every </a:t>
                </a:r>
                <a:r>
                  <a:rPr lang="en-GB" sz="1100" i="1" noProof="0" dirty="0"/>
                  <a:t>x</a:t>
                </a:r>
                <a:r>
                  <a:rPr lang="en-GB" sz="1100" noProof="0" dirty="0"/>
                  <a:t>, there is a unique value of </a:t>
                </a:r>
                <a:r>
                  <a:rPr lang="en-GB" sz="1100" i="1" noProof="0" dirty="0"/>
                  <a:t>y</a:t>
                </a:r>
                <a:r>
                  <a:rPr lang="en-GB" sz="1100" noProof="0" dirty="0"/>
                  <a:t>.</a:t>
                </a:r>
              </a:p>
              <a:p>
                <a:r>
                  <a:rPr lang="en-GB" sz="1100" noProof="0" dirty="0"/>
                  <a:t>We write functions as </a:t>
                </a:r>
                <a14:m>
                  <m:oMath xmlns:m="http://schemas.openxmlformats.org/officeDocument/2006/math">
                    <m:r>
                      <a:rPr lang="en-GB" sz="1100" b="0" i="1" noProof="0" smtClean="0">
                        <a:latin typeface="Cambria Math" panose="02040503050406030204" pitchFamily="18" charset="0"/>
                      </a:rPr>
                      <m:t>𝑓</m:t>
                    </m:r>
                    <m:d>
                      <m:dPr>
                        <m:ctrlPr>
                          <a:rPr lang="en-GB" sz="1100" b="0" i="1" noProof="0" smtClean="0">
                            <a:latin typeface="Cambria Math" panose="02040503050406030204" pitchFamily="18" charset="0"/>
                          </a:rPr>
                        </m:ctrlPr>
                      </m:dPr>
                      <m:e>
                        <m:r>
                          <a:rPr lang="en-GB" sz="1100" b="0" i="1" noProof="0" smtClean="0">
                            <a:latin typeface="Cambria Math" panose="02040503050406030204" pitchFamily="18" charset="0"/>
                          </a:rPr>
                          <m:t>𝑥</m:t>
                        </m:r>
                      </m:e>
                    </m:d>
                    <m:r>
                      <a:rPr lang="en-GB" sz="1100" b="0" i="1" noProof="0" smtClean="0">
                        <a:latin typeface="Cambria Math" panose="02040503050406030204" pitchFamily="18" charset="0"/>
                      </a:rPr>
                      <m:t>=</m:t>
                    </m:r>
                  </m:oMath>
                </a14:m>
                <a:endParaRPr lang="en-GB" sz="1100" noProof="0" dirty="0"/>
              </a:p>
              <a:p>
                <a:r>
                  <a:rPr lang="en-GB" sz="1100" noProof="0" dirty="0"/>
                  <a:t>Where </a:t>
                </a:r>
                <a14:m>
                  <m:oMath xmlns:m="http://schemas.openxmlformats.org/officeDocument/2006/math">
                    <m:r>
                      <a:rPr lang="en-GB" sz="1100" b="0" i="1" noProof="0" smtClean="0">
                        <a:latin typeface="Cambria Math" panose="02040503050406030204" pitchFamily="18" charset="0"/>
                      </a:rPr>
                      <m:t>𝑓</m:t>
                    </m:r>
                  </m:oMath>
                </a14:m>
                <a:r>
                  <a:rPr lang="en-GB" sz="1100" noProof="0" dirty="0"/>
                  <a:t> can be any letter</a:t>
                </a:r>
              </a:p>
            </p:txBody>
          </p:sp>
        </mc:Choice>
        <mc:Fallback xmlns="">
          <p:sp>
            <p:nvSpPr>
              <p:cNvPr id="57" name="TextBox 56"/>
              <p:cNvSpPr txBox="1">
                <a:spLocks noRot="1" noChangeAspect="1" noMove="1" noResize="1" noEditPoints="1" noAdjustHandles="1" noChangeArrowheads="1" noChangeShapeType="1" noTextEdit="1"/>
              </p:cNvSpPr>
              <p:nvPr/>
            </p:nvSpPr>
            <p:spPr>
              <a:xfrm>
                <a:off x="10435575" y="1940435"/>
                <a:ext cx="3230335" cy="769441"/>
              </a:xfrm>
              <a:prstGeom prst="rect">
                <a:avLst/>
              </a:prstGeom>
              <a:blipFill>
                <a:blip r:embed="rId5"/>
                <a:stretch>
                  <a:fillRect t="-787" b="-3937"/>
                </a:stretch>
              </a:blipFill>
            </p:spPr>
            <p:txBody>
              <a:bodyPr/>
              <a:lstStyle/>
              <a:p>
                <a:r>
                  <a:rPr lang="en-US">
                    <a:noFill/>
                  </a:rPr>
                  <a:t> </a:t>
                </a:r>
              </a:p>
            </p:txBody>
          </p:sp>
        </mc:Fallback>
      </mc:AlternateContent>
      <p:sp>
        <p:nvSpPr>
          <p:cNvPr id="58" name="TextBox 57"/>
          <p:cNvSpPr txBox="1"/>
          <p:nvPr/>
        </p:nvSpPr>
        <p:spPr>
          <a:xfrm>
            <a:off x="9774855" y="2719550"/>
            <a:ext cx="1095172" cy="369332"/>
          </a:xfrm>
          <a:prstGeom prst="rect">
            <a:avLst/>
          </a:prstGeom>
          <a:solidFill>
            <a:schemeClr val="bg1"/>
          </a:solidFill>
          <a:ln>
            <a:solidFill>
              <a:schemeClr val="tx1"/>
            </a:solidFill>
          </a:ln>
        </p:spPr>
        <p:txBody>
          <a:bodyPr wrap="none" rtlCol="0">
            <a:spAutoFit/>
          </a:bodyPr>
          <a:lstStyle/>
          <a:p>
            <a:r>
              <a:rPr lang="en-GB" noProof="0" dirty="0"/>
              <a:t>Functions</a:t>
            </a:r>
          </a:p>
        </p:txBody>
      </p:sp>
      <mc:AlternateContent xmlns:mc="http://schemas.openxmlformats.org/markup-compatibility/2006" xmlns:a14="http://schemas.microsoft.com/office/drawing/2010/main">
        <mc:Choice Requires="a14">
          <p:sp>
            <p:nvSpPr>
              <p:cNvPr id="9" name="Rectangle 8"/>
              <p:cNvSpPr/>
              <p:nvPr/>
            </p:nvSpPr>
            <p:spPr>
              <a:xfrm>
                <a:off x="7055608" y="3112746"/>
                <a:ext cx="1164614"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sz="1200" i="1" noProof="0" smtClean="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𝑥</m:t>
                          </m:r>
                        </m:e>
                      </m:d>
                      <m:r>
                        <a:rPr lang="en-GB" sz="1200" i="1" noProof="0" smtClean="0">
                          <a:latin typeface="Cambria Math" panose="02040503050406030204" pitchFamily="18" charset="0"/>
                        </a:rPr>
                        <m:t>=</m:t>
                      </m:r>
                      <m:r>
                        <a:rPr lang="en-GB" sz="1200" b="0" i="1" noProof="0" smtClean="0">
                          <a:latin typeface="Cambria Math" panose="02040503050406030204" pitchFamily="18" charset="0"/>
                        </a:rPr>
                        <m:t>4</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m:t>
                      </m:r>
                    </m:oMath>
                  </m:oMathPara>
                </a14:m>
                <a:endParaRPr lang="en-GB" sz="1200" noProof="0" dirty="0"/>
              </a:p>
            </p:txBody>
          </p:sp>
        </mc:Choice>
        <mc:Fallback xmlns="">
          <p:sp>
            <p:nvSpPr>
              <p:cNvPr id="9" name="Rectangle 8"/>
              <p:cNvSpPr>
                <a:spLocks noRot="1" noChangeAspect="1" noMove="1" noResize="1" noEditPoints="1" noAdjustHandles="1" noChangeArrowheads="1" noChangeShapeType="1" noTextEdit="1"/>
              </p:cNvSpPr>
              <p:nvPr/>
            </p:nvSpPr>
            <p:spPr>
              <a:xfrm>
                <a:off x="7055608" y="3112746"/>
                <a:ext cx="1164614" cy="276999"/>
              </a:xfrm>
              <a:prstGeom prst="rect">
                <a:avLst/>
              </a:prstGeom>
              <a:blipFill>
                <a:blip r:embed="rId6"/>
                <a:stretch>
                  <a:fillRect b="-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Rectangle 62"/>
              <p:cNvSpPr/>
              <p:nvPr/>
            </p:nvSpPr>
            <p:spPr>
              <a:xfrm>
                <a:off x="7063321" y="3432112"/>
                <a:ext cx="818686" cy="43922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𝑔</m:t>
                      </m:r>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𝑥</m:t>
                          </m:r>
                        </m:e>
                      </m:d>
                      <m:r>
                        <a:rPr lang="en-GB" sz="120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𝑥</m:t>
                          </m:r>
                        </m:den>
                      </m:f>
                    </m:oMath>
                  </m:oMathPara>
                </a14:m>
                <a:endParaRPr lang="en-GB" sz="1200" noProof="0" dirty="0"/>
              </a:p>
            </p:txBody>
          </p:sp>
        </mc:Choice>
        <mc:Fallback xmlns="">
          <p:sp>
            <p:nvSpPr>
              <p:cNvPr id="63" name="Rectangle 62"/>
              <p:cNvSpPr>
                <a:spLocks noRot="1" noChangeAspect="1" noMove="1" noResize="1" noEditPoints="1" noAdjustHandles="1" noChangeArrowheads="1" noChangeShapeType="1" noTextEdit="1"/>
              </p:cNvSpPr>
              <p:nvPr/>
            </p:nvSpPr>
            <p:spPr>
              <a:xfrm>
                <a:off x="7063321" y="3432112"/>
                <a:ext cx="818686" cy="439223"/>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Rectangle 69"/>
              <p:cNvSpPr/>
              <p:nvPr/>
            </p:nvSpPr>
            <p:spPr>
              <a:xfrm>
                <a:off x="8191273" y="3410432"/>
                <a:ext cx="1153714"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h</m:t>
                      </m:r>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𝑥</m:t>
                          </m:r>
                        </m:e>
                      </m:d>
                      <m:r>
                        <a:rPr lang="en-GB" sz="120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+3</m:t>
                      </m:r>
                    </m:oMath>
                  </m:oMathPara>
                </a14:m>
                <a:endParaRPr lang="en-GB" sz="1200" noProof="0" dirty="0"/>
              </a:p>
            </p:txBody>
          </p:sp>
        </mc:Choice>
        <mc:Fallback xmlns="">
          <p:sp>
            <p:nvSpPr>
              <p:cNvPr id="70" name="Rectangle 69"/>
              <p:cNvSpPr>
                <a:spLocks noRot="1" noChangeAspect="1" noMove="1" noResize="1" noEditPoints="1" noAdjustHandles="1" noChangeArrowheads="1" noChangeShapeType="1" noTextEdit="1"/>
              </p:cNvSpPr>
              <p:nvPr/>
            </p:nvSpPr>
            <p:spPr>
              <a:xfrm>
                <a:off x="8191273" y="3410432"/>
                <a:ext cx="1153714" cy="276999"/>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Rectangle 70"/>
              <p:cNvSpPr/>
              <p:nvPr/>
            </p:nvSpPr>
            <p:spPr>
              <a:xfrm>
                <a:off x="10339723" y="3152561"/>
                <a:ext cx="595035"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=3</m:t>
                      </m:r>
                    </m:oMath>
                  </m:oMathPara>
                </a14:m>
                <a:endParaRPr lang="en-GB" sz="1200" noProof="0" dirty="0"/>
              </a:p>
            </p:txBody>
          </p:sp>
        </mc:Choice>
        <mc:Fallback xmlns="">
          <p:sp>
            <p:nvSpPr>
              <p:cNvPr id="71" name="Rectangle 70"/>
              <p:cNvSpPr>
                <a:spLocks noRot="1" noChangeAspect="1" noMove="1" noResize="1" noEditPoints="1" noAdjustHandles="1" noChangeArrowheads="1" noChangeShapeType="1" noTextEdit="1"/>
              </p:cNvSpPr>
              <p:nvPr/>
            </p:nvSpPr>
            <p:spPr>
              <a:xfrm>
                <a:off x="10339723" y="3152561"/>
                <a:ext cx="595035" cy="276999"/>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Rectangle 71"/>
              <p:cNvSpPr/>
              <p:nvPr/>
            </p:nvSpPr>
            <p:spPr>
              <a:xfrm>
                <a:off x="10346592" y="3472695"/>
                <a:ext cx="681469"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rPr>
                        <m:t>3</m:t>
                      </m:r>
                      <m:r>
                        <a:rPr lang="en-GB" sz="1200" b="0" i="1" noProof="0" smtClean="0">
                          <a:latin typeface="Cambria Math" panose="02040503050406030204" pitchFamily="18" charset="0"/>
                        </a:rPr>
                        <m:t>𝑦</m:t>
                      </m:r>
                    </m:oMath>
                  </m:oMathPara>
                </a14:m>
                <a:endParaRPr lang="en-GB" sz="1200" noProof="0" dirty="0"/>
              </a:p>
            </p:txBody>
          </p:sp>
        </mc:Choice>
        <mc:Fallback xmlns="">
          <p:sp>
            <p:nvSpPr>
              <p:cNvPr id="72" name="Rectangle 71"/>
              <p:cNvSpPr>
                <a:spLocks noRot="1" noChangeAspect="1" noMove="1" noResize="1" noEditPoints="1" noAdjustHandles="1" noChangeArrowheads="1" noChangeShapeType="1" noTextEdit="1"/>
              </p:cNvSpPr>
              <p:nvPr/>
            </p:nvSpPr>
            <p:spPr>
              <a:xfrm>
                <a:off x="10346592" y="3472695"/>
                <a:ext cx="681469" cy="276999"/>
              </a:xfrm>
              <a:prstGeom prst="rect">
                <a:avLst/>
              </a:prstGeom>
              <a:blipFill>
                <a:blip r:embed="rId10"/>
                <a:stretch>
                  <a:fillRect b="-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Rectangle 72"/>
              <p:cNvSpPr/>
              <p:nvPr/>
            </p:nvSpPr>
            <p:spPr>
              <a:xfrm>
                <a:off x="11036056" y="3170276"/>
                <a:ext cx="749244"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4</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+7</m:t>
                      </m:r>
                      <m:r>
                        <a:rPr lang="en-GB" sz="1200" b="0" i="1" noProof="0" smtClean="0">
                          <a:latin typeface="Cambria Math" panose="02040503050406030204" pitchFamily="18" charset="0"/>
                        </a:rPr>
                        <m:t>𝑦</m:t>
                      </m:r>
                    </m:oMath>
                  </m:oMathPara>
                </a14:m>
                <a:endParaRPr lang="en-GB" sz="1200" noProof="0" dirty="0"/>
              </a:p>
            </p:txBody>
          </p:sp>
        </mc:Choice>
        <mc:Fallback xmlns="">
          <p:sp>
            <p:nvSpPr>
              <p:cNvPr id="73" name="Rectangle 72"/>
              <p:cNvSpPr>
                <a:spLocks noRot="1" noChangeAspect="1" noMove="1" noResize="1" noEditPoints="1" noAdjustHandles="1" noChangeArrowheads="1" noChangeShapeType="1" noTextEdit="1"/>
              </p:cNvSpPr>
              <p:nvPr/>
            </p:nvSpPr>
            <p:spPr>
              <a:xfrm>
                <a:off x="11036056" y="3170276"/>
                <a:ext cx="749244" cy="276999"/>
              </a:xfrm>
              <a:prstGeom prst="rect">
                <a:avLst/>
              </a:prstGeom>
              <a:blipFill>
                <a:blip r:embed="rId11"/>
                <a:stretch>
                  <a:fillRect b="-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E1E51A0-8542-3172-9ABD-304B3378E467}"/>
                  </a:ext>
                </a:extLst>
              </p:cNvPr>
              <p:cNvSpPr txBox="1"/>
              <p:nvPr/>
            </p:nvSpPr>
            <p:spPr>
              <a:xfrm>
                <a:off x="102618" y="1816100"/>
                <a:ext cx="6647772" cy="2131994"/>
              </a:xfrm>
              <a:prstGeom prst="rect">
                <a:avLst/>
              </a:prstGeom>
              <a:noFill/>
              <a:ln>
                <a:solidFill>
                  <a:schemeClr val="tx1"/>
                </a:solidFill>
              </a:ln>
            </p:spPr>
            <p:txBody>
              <a:bodyPr wrap="square" rtlCol="0">
                <a:spAutoFit/>
              </a:bodyPr>
              <a:lstStyle/>
              <a:p>
                <a:r>
                  <a:rPr lang="en-GB" sz="1200" noProof="0" dirty="0"/>
                  <a:t>Previously when studying mathematics, you have come across many functions, but they have not been in the formal function notation. You have seen them in this format.</a:t>
                </a:r>
              </a:p>
              <a:p>
                <a:endParaRPr lang="en-GB" sz="1200" noProof="0" dirty="0"/>
              </a:p>
              <a:p>
                <a:pPr/>
                <a14:m>
                  <m:oMathPara xmlns:m="http://schemas.openxmlformats.org/officeDocument/2006/math">
                    <m:oMathParaPr>
                      <m:jc m:val="centerGroup"/>
                    </m:oMathParaPr>
                    <m:oMath xmlns:m="http://schemas.openxmlformats.org/officeDocument/2006/math">
                      <m:r>
                        <a:rPr lang="en-GB" sz="1200" i="1" noProof="0">
                          <a:latin typeface="Cambria Math" panose="02040503050406030204" pitchFamily="18" charset="0"/>
                        </a:rPr>
                        <m:t>𝑦</m:t>
                      </m:r>
                      <m:r>
                        <a:rPr lang="en-GB" sz="1200" i="1" noProof="0">
                          <a:latin typeface="Cambria Math" panose="02040503050406030204" pitchFamily="18" charset="0"/>
                        </a:rPr>
                        <m:t>=3</m:t>
                      </m:r>
                      <m:r>
                        <a:rPr lang="en-GB" sz="1200" i="1" noProof="0">
                          <a:latin typeface="Cambria Math" panose="02040503050406030204" pitchFamily="18" charset="0"/>
                        </a:rPr>
                        <m:t>𝑥</m:t>
                      </m:r>
                      <m:r>
                        <a:rPr lang="en-GB" sz="1200" i="1" noProof="0">
                          <a:latin typeface="Cambria Math" panose="02040503050406030204" pitchFamily="18" charset="0"/>
                        </a:rPr>
                        <m:t>−5,  </m:t>
                      </m:r>
                      <m:r>
                        <a:rPr lang="en-GB" sz="1200" i="1" noProof="0">
                          <a:latin typeface="Cambria Math" panose="02040503050406030204" pitchFamily="18" charset="0"/>
                        </a:rPr>
                        <m:t>𝑦</m:t>
                      </m:r>
                      <m:r>
                        <a:rPr lang="en-GB" sz="1200" i="1" noProof="0">
                          <a:latin typeface="Cambria Math" panose="02040503050406030204" pitchFamily="18" charset="0"/>
                        </a:rPr>
                        <m:t>=</m:t>
                      </m:r>
                      <m:sSup>
                        <m:sSupPr>
                          <m:ctrlPr>
                            <a:rPr lang="en-GB" sz="1200" i="1" noProof="0" smtClean="0">
                              <a:latin typeface="Cambria Math" panose="02040503050406030204" pitchFamily="18" charset="0"/>
                            </a:rPr>
                          </m:ctrlPr>
                        </m:sSupPr>
                        <m:e>
                          <m:r>
                            <a:rPr lang="en-GB" sz="1200" i="1" noProof="0">
                              <a:latin typeface="Cambria Math" panose="02040503050406030204" pitchFamily="18" charset="0"/>
                            </a:rPr>
                            <m:t>𝑥</m:t>
                          </m:r>
                        </m:e>
                        <m:sup>
                          <m:r>
                            <a:rPr lang="en-GB" sz="1200" i="1" noProof="0">
                              <a:latin typeface="Cambria Math" panose="02040503050406030204" pitchFamily="18" charset="0"/>
                            </a:rPr>
                            <m:t>3</m:t>
                          </m:r>
                        </m:sup>
                      </m:sSup>
                      <m:r>
                        <a:rPr lang="en-GB" sz="1200" i="1" noProof="0">
                          <a:latin typeface="Cambria Math" panose="02040503050406030204" pitchFamily="18" charset="0"/>
                        </a:rPr>
                        <m:t>,  </m:t>
                      </m:r>
                      <m:r>
                        <a:rPr lang="en-GB" sz="1200" i="1" noProof="0">
                          <a:latin typeface="Cambria Math" panose="02040503050406030204" pitchFamily="18" charset="0"/>
                        </a:rPr>
                        <m:t>𝑦</m:t>
                      </m:r>
                      <m:r>
                        <a:rPr lang="en-GB" sz="1200" i="1" noProof="0">
                          <a:latin typeface="Cambria Math" panose="02040503050406030204" pitchFamily="18" charset="0"/>
                        </a:rPr>
                        <m:t>=23−</m:t>
                      </m:r>
                      <m:sSup>
                        <m:sSupPr>
                          <m:ctrlPr>
                            <a:rPr lang="en-GB" sz="1200" i="1" noProof="0" smtClean="0">
                              <a:latin typeface="Cambria Math" panose="02040503050406030204" pitchFamily="18" charset="0"/>
                            </a:rPr>
                          </m:ctrlPr>
                        </m:sSupPr>
                        <m:e>
                          <m:r>
                            <a:rPr lang="en-GB" sz="1200" i="1" noProof="0">
                              <a:latin typeface="Cambria Math" panose="02040503050406030204" pitchFamily="18" charset="0"/>
                            </a:rPr>
                            <m:t>𝑥</m:t>
                          </m:r>
                        </m:e>
                        <m:sup>
                          <m:r>
                            <a:rPr lang="en-GB" sz="1200" i="1" noProof="0">
                              <a:latin typeface="Cambria Math" panose="02040503050406030204" pitchFamily="18" charset="0"/>
                            </a:rPr>
                            <m:t>2</m:t>
                          </m:r>
                        </m:sup>
                      </m:sSup>
                    </m:oMath>
                  </m:oMathPara>
                </a14:m>
                <a:endParaRPr lang="en-GB" sz="1200" noProof="0" dirty="0"/>
              </a:p>
              <a:p>
                <a:endParaRPr lang="en-GB" sz="1200" noProof="0" dirty="0"/>
              </a:p>
              <a:p>
                <a:r>
                  <a:rPr lang="en-GB" sz="1200" noProof="0" dirty="0"/>
                  <a:t>Formal function notation replaces the variable </a:t>
                </a:r>
                <a14:m>
                  <m:oMath xmlns:m="http://schemas.openxmlformats.org/officeDocument/2006/math">
                    <m:r>
                      <a:rPr lang="en-GB" sz="1200" i="1" noProof="0">
                        <a:latin typeface="Cambria Math" panose="02040503050406030204" pitchFamily="18" charset="0"/>
                      </a:rPr>
                      <m:t>𝑦</m:t>
                    </m:r>
                  </m:oMath>
                </a14:m>
                <a:r>
                  <a:rPr lang="en-GB" sz="1200" noProof="0" dirty="0"/>
                  <a:t> with the notation </a:t>
                </a:r>
                <a14:m>
                  <m:oMath xmlns:m="http://schemas.openxmlformats.org/officeDocument/2006/math">
                    <m:r>
                      <a:rPr lang="en-GB" sz="1200" i="1" noProof="0">
                        <a:latin typeface="Cambria Math" panose="02040503050406030204" pitchFamily="18" charset="0"/>
                      </a:rPr>
                      <m:t>𝑓</m:t>
                    </m:r>
                    <m:r>
                      <a:rPr lang="en-GB" sz="1200" i="1" noProof="0">
                        <a:latin typeface="Cambria Math" panose="02040503050406030204" pitchFamily="18" charset="0"/>
                      </a:rPr>
                      <m:t>(</m:t>
                    </m:r>
                    <m:r>
                      <a:rPr lang="en-GB" sz="1200" i="1" noProof="0">
                        <a:latin typeface="Cambria Math" panose="02040503050406030204" pitchFamily="18" charset="0"/>
                      </a:rPr>
                      <m:t>𝑥</m:t>
                    </m:r>
                    <m:r>
                      <a:rPr lang="en-GB" sz="1200" i="1" noProof="0">
                        <a:latin typeface="Cambria Math" panose="02040503050406030204" pitchFamily="18" charset="0"/>
                      </a:rPr>
                      <m:t>)</m:t>
                    </m:r>
                  </m:oMath>
                </a14:m>
                <a:r>
                  <a:rPr lang="en-GB" sz="1200" noProof="0" dirty="0"/>
                  <a:t> (we say “</a:t>
                </a:r>
                <a14:m>
                  <m:oMath xmlns:m="http://schemas.openxmlformats.org/officeDocument/2006/math">
                    <m:r>
                      <a:rPr lang="en-GB" sz="1200" i="1" noProof="0">
                        <a:latin typeface="Cambria Math" panose="02040503050406030204" pitchFamily="18" charset="0"/>
                      </a:rPr>
                      <m:t>𝑓</m:t>
                    </m:r>
                    <m:r>
                      <a:rPr lang="en-GB" sz="1200" i="1" noProof="0">
                        <a:latin typeface="Cambria Math" panose="02040503050406030204" pitchFamily="18" charset="0"/>
                      </a:rPr>
                      <m:t> </m:t>
                    </m:r>
                  </m:oMath>
                </a14:m>
                <a:r>
                  <a:rPr lang="en-GB" sz="1200" noProof="0" dirty="0"/>
                  <a:t>of</a:t>
                </a:r>
                <a14:m>
                  <m:oMath xmlns:m="http://schemas.openxmlformats.org/officeDocument/2006/math">
                    <m:r>
                      <a:rPr lang="en-GB" sz="1200" i="1" noProof="0">
                        <a:latin typeface="Cambria Math" panose="02040503050406030204" pitchFamily="18" charset="0"/>
                      </a:rPr>
                      <m:t> </m:t>
                    </m:r>
                    <m:r>
                      <a:rPr lang="en-GB" sz="1200" i="1" noProof="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then</a:t>
                </a:r>
                <a14:m>
                  <m:oMath xmlns:m="http://schemas.openxmlformats.org/officeDocument/2006/math">
                    <m:r>
                      <a:rPr lang="en-GB" sz="1200" i="1" noProof="0">
                        <a:latin typeface="Cambria Math" panose="02040503050406030204" pitchFamily="18" charset="0"/>
                      </a:rPr>
                      <m:t> </m:t>
                    </m:r>
                    <m:r>
                      <a:rPr lang="en-GB" sz="1200" i="1" noProof="0">
                        <a:latin typeface="Cambria Math" panose="02040503050406030204" pitchFamily="18" charset="0"/>
                      </a:rPr>
                      <m:t>𝑔</m:t>
                    </m:r>
                    <m:r>
                      <a:rPr lang="en-GB" sz="1200" i="1" noProof="0">
                        <a:latin typeface="Cambria Math" panose="02040503050406030204" pitchFamily="18" charset="0"/>
                      </a:rPr>
                      <m:t>(</m:t>
                    </m:r>
                    <m:r>
                      <a:rPr lang="en-GB" sz="1200" i="1" noProof="0">
                        <a:latin typeface="Cambria Math" panose="02040503050406030204" pitchFamily="18" charset="0"/>
                      </a:rPr>
                      <m:t>𝑥</m:t>
                    </m:r>
                    <m:r>
                      <a:rPr lang="en-GB" sz="1200" i="1" noProof="0">
                        <a:latin typeface="Cambria Math" panose="02040503050406030204" pitchFamily="18" charset="0"/>
                      </a:rPr>
                      <m:t>)</m:t>
                    </m:r>
                  </m:oMath>
                </a14:m>
                <a:r>
                  <a:rPr lang="en-GB" sz="1200" noProof="0" dirty="0"/>
                  <a:t>,</a:t>
                </a:r>
                <a14:m>
                  <m:oMath xmlns:m="http://schemas.openxmlformats.org/officeDocument/2006/math">
                    <m:r>
                      <a:rPr lang="en-GB" sz="1200" i="1" noProof="0">
                        <a:latin typeface="Cambria Math" panose="02040503050406030204" pitchFamily="18" charset="0"/>
                      </a:rPr>
                      <m:t> </m:t>
                    </m:r>
                    <m:r>
                      <a:rPr lang="en-GB" sz="1200" i="1" noProof="0">
                        <a:latin typeface="Cambria Math" panose="02040503050406030204" pitchFamily="18" charset="0"/>
                      </a:rPr>
                      <m:t>h</m:t>
                    </m:r>
                    <m:r>
                      <a:rPr lang="en-GB" sz="1200" i="1" noProof="0">
                        <a:latin typeface="Cambria Math" panose="02040503050406030204" pitchFamily="18" charset="0"/>
                      </a:rPr>
                      <m:t>(</m:t>
                    </m:r>
                    <m:r>
                      <a:rPr lang="en-GB" sz="1200" i="1" noProof="0">
                        <a:latin typeface="Cambria Math" panose="02040503050406030204" pitchFamily="18" charset="0"/>
                      </a:rPr>
                      <m:t>𝑥</m:t>
                    </m:r>
                    <m:r>
                      <a:rPr lang="en-GB" sz="1200" i="1" noProof="0">
                        <a:latin typeface="Cambria Math" panose="02040503050406030204" pitchFamily="18" charset="0"/>
                      </a:rPr>
                      <m:t>)</m:t>
                    </m:r>
                  </m:oMath>
                </a14:m>
                <a:r>
                  <a:rPr lang="en-GB" sz="1200" noProof="0" dirty="0"/>
                  <a:t>, etc… </a:t>
                </a:r>
              </a:p>
              <a:p>
                <a:endParaRPr lang="en-GB" sz="1200" noProof="0" dirty="0"/>
              </a:p>
              <a:p>
                <a:r>
                  <a:rPr lang="en-GB" sz="1200" noProof="0" dirty="0"/>
                  <a:t>We refer to these as the functions</a:t>
                </a:r>
                <a14:m>
                  <m:oMath xmlns:m="http://schemas.openxmlformats.org/officeDocument/2006/math">
                    <m:r>
                      <a:rPr lang="en-GB" sz="1200" i="1" noProof="0">
                        <a:latin typeface="Cambria Math" panose="02040503050406030204" pitchFamily="18" charset="0"/>
                      </a:rPr>
                      <m:t> </m:t>
                    </m:r>
                    <m:r>
                      <a:rPr lang="en-GB" sz="1200" i="1" noProof="0">
                        <a:latin typeface="Cambria Math" panose="02040503050406030204" pitchFamily="18" charset="0"/>
                      </a:rPr>
                      <m:t>𝑓</m:t>
                    </m:r>
                  </m:oMath>
                </a14:m>
                <a:r>
                  <a:rPr lang="en-GB" sz="1200" noProof="0" dirty="0"/>
                  <a:t>, </a:t>
                </a:r>
                <a14:m>
                  <m:oMath xmlns:m="http://schemas.openxmlformats.org/officeDocument/2006/math">
                    <m:r>
                      <a:rPr lang="en-GB" sz="1200" i="1" noProof="0">
                        <a:latin typeface="Cambria Math" panose="02040503050406030204" pitchFamily="18" charset="0"/>
                      </a:rPr>
                      <m:t>𝑔</m:t>
                    </m:r>
                  </m:oMath>
                </a14:m>
                <a:r>
                  <a:rPr lang="en-GB" sz="1200" noProof="0" dirty="0"/>
                  <a:t> and </a:t>
                </a:r>
                <a14:m>
                  <m:oMath xmlns:m="http://schemas.openxmlformats.org/officeDocument/2006/math">
                    <m:r>
                      <a:rPr lang="en-GB" sz="1200" i="1" noProof="0">
                        <a:latin typeface="Cambria Math" panose="02040503050406030204" pitchFamily="18" charset="0"/>
                      </a:rPr>
                      <m:t>h</m:t>
                    </m:r>
                  </m:oMath>
                </a14:m>
                <a:r>
                  <a:rPr lang="en-GB" sz="1200" noProof="0" dirty="0"/>
                  <a:t> respectively and they could look like the following:</a:t>
                </a:r>
              </a:p>
              <a:p>
                <a:pPr/>
                <a14:m>
                  <m:oMathPara xmlns:m="http://schemas.openxmlformats.org/officeDocument/2006/math">
                    <m:oMathParaPr>
                      <m:jc m:val="centerGroup"/>
                    </m:oMathParaPr>
                    <m:oMath xmlns:m="http://schemas.openxmlformats.org/officeDocument/2006/math">
                      <m:r>
                        <a:rPr lang="en-GB" sz="1200" i="1" noProof="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a:latin typeface="Cambria Math" panose="02040503050406030204" pitchFamily="18" charset="0"/>
                            </a:rPr>
                            <m:t>𝑥</m:t>
                          </m:r>
                        </m:e>
                      </m:d>
                      <m:r>
                        <a:rPr lang="en-GB" sz="1200" i="1" noProof="0">
                          <a:latin typeface="Cambria Math" panose="02040503050406030204" pitchFamily="18" charset="0"/>
                        </a:rPr>
                        <m:t>=3</m:t>
                      </m:r>
                      <m:r>
                        <a:rPr lang="en-GB" sz="1200" i="1" noProof="0">
                          <a:latin typeface="Cambria Math" panose="02040503050406030204" pitchFamily="18" charset="0"/>
                        </a:rPr>
                        <m:t>𝑥</m:t>
                      </m:r>
                      <m:r>
                        <a:rPr lang="en-GB" sz="1200" i="1" noProof="0">
                          <a:latin typeface="Cambria Math" panose="02040503050406030204" pitchFamily="18" charset="0"/>
                        </a:rPr>
                        <m:t>−5,  </m:t>
                      </m:r>
                      <m:r>
                        <a:rPr lang="en-GB" sz="1200" i="1" noProof="0">
                          <a:latin typeface="Cambria Math" panose="02040503050406030204" pitchFamily="18" charset="0"/>
                        </a:rPr>
                        <m:t>𝑔</m:t>
                      </m:r>
                      <m:d>
                        <m:dPr>
                          <m:ctrlPr>
                            <a:rPr lang="en-GB" sz="1200" i="1" noProof="0" smtClean="0">
                              <a:latin typeface="Cambria Math" panose="02040503050406030204" pitchFamily="18" charset="0"/>
                            </a:rPr>
                          </m:ctrlPr>
                        </m:dPr>
                        <m:e>
                          <m:r>
                            <a:rPr lang="en-GB" sz="1200" i="1" noProof="0">
                              <a:latin typeface="Cambria Math" panose="02040503050406030204" pitchFamily="18" charset="0"/>
                            </a:rPr>
                            <m:t>𝑥</m:t>
                          </m:r>
                        </m:e>
                      </m:d>
                      <m:r>
                        <a:rPr lang="en-GB" sz="1200" i="1" noProof="0">
                          <a:latin typeface="Cambria Math" panose="02040503050406030204" pitchFamily="18" charset="0"/>
                        </a:rPr>
                        <m:t>=</m:t>
                      </m:r>
                      <m:sSup>
                        <m:sSupPr>
                          <m:ctrlPr>
                            <a:rPr lang="en-GB" sz="1200" i="1" noProof="0" smtClean="0">
                              <a:latin typeface="Cambria Math" panose="02040503050406030204" pitchFamily="18" charset="0"/>
                            </a:rPr>
                          </m:ctrlPr>
                        </m:sSupPr>
                        <m:e>
                          <m:r>
                            <a:rPr lang="en-GB" sz="1200" i="1" noProof="0">
                              <a:latin typeface="Cambria Math" panose="02040503050406030204" pitchFamily="18" charset="0"/>
                            </a:rPr>
                            <m:t>𝑥</m:t>
                          </m:r>
                        </m:e>
                        <m:sup>
                          <m:r>
                            <a:rPr lang="en-GB" sz="1200" i="1" noProof="0">
                              <a:latin typeface="Cambria Math" panose="02040503050406030204" pitchFamily="18" charset="0"/>
                            </a:rPr>
                            <m:t>3</m:t>
                          </m:r>
                        </m:sup>
                      </m:sSup>
                      <m:r>
                        <a:rPr lang="en-GB" sz="1200" i="1" noProof="0">
                          <a:latin typeface="Cambria Math" panose="02040503050406030204" pitchFamily="18" charset="0"/>
                        </a:rPr>
                        <m:t>,  </m:t>
                      </m:r>
                      <m:r>
                        <a:rPr lang="en-GB" sz="1200" i="1" noProof="0">
                          <a:latin typeface="Cambria Math" panose="02040503050406030204" pitchFamily="18" charset="0"/>
                        </a:rPr>
                        <m:t>h</m:t>
                      </m:r>
                      <m:d>
                        <m:dPr>
                          <m:ctrlPr>
                            <a:rPr lang="en-GB" sz="1200" i="1" noProof="0" smtClean="0">
                              <a:latin typeface="Cambria Math" panose="02040503050406030204" pitchFamily="18" charset="0"/>
                            </a:rPr>
                          </m:ctrlPr>
                        </m:dPr>
                        <m:e>
                          <m:r>
                            <a:rPr lang="en-GB" sz="1200" i="1" noProof="0">
                              <a:latin typeface="Cambria Math" panose="02040503050406030204" pitchFamily="18" charset="0"/>
                            </a:rPr>
                            <m:t>𝑥</m:t>
                          </m:r>
                        </m:e>
                      </m:d>
                      <m:r>
                        <a:rPr lang="en-GB" sz="1200" i="1" noProof="0">
                          <a:latin typeface="Cambria Math" panose="02040503050406030204" pitchFamily="18" charset="0"/>
                        </a:rPr>
                        <m:t>=23−</m:t>
                      </m:r>
                      <m:sSup>
                        <m:sSupPr>
                          <m:ctrlPr>
                            <a:rPr lang="en-GB" sz="1200" i="1" noProof="0" smtClean="0">
                              <a:latin typeface="Cambria Math" panose="02040503050406030204" pitchFamily="18" charset="0"/>
                            </a:rPr>
                          </m:ctrlPr>
                        </m:sSupPr>
                        <m:e>
                          <m:r>
                            <a:rPr lang="en-GB" sz="1200" i="1" noProof="0">
                              <a:latin typeface="Cambria Math" panose="02040503050406030204" pitchFamily="18" charset="0"/>
                            </a:rPr>
                            <m:t>𝑥</m:t>
                          </m:r>
                        </m:e>
                        <m:sup>
                          <m:r>
                            <a:rPr lang="en-GB" sz="1200" i="1" noProof="0">
                              <a:latin typeface="Cambria Math" panose="02040503050406030204" pitchFamily="18" charset="0"/>
                            </a:rPr>
                            <m:t>2</m:t>
                          </m:r>
                        </m:sup>
                      </m:sSup>
                    </m:oMath>
                  </m:oMathPara>
                </a14:m>
                <a:endParaRPr lang="en-GB" sz="1200" noProof="0" dirty="0"/>
              </a:p>
              <a:p>
                <a:endParaRPr lang="en-GB" sz="1200" noProof="0" dirty="0"/>
              </a:p>
            </p:txBody>
          </p:sp>
        </mc:Choice>
        <mc:Fallback xmlns="">
          <p:sp>
            <p:nvSpPr>
              <p:cNvPr id="4" name="TextBox 3">
                <a:extLst>
                  <a:ext uri="{FF2B5EF4-FFF2-40B4-BE49-F238E27FC236}">
                    <a16:creationId xmlns:a16="http://schemas.microsoft.com/office/drawing/2014/main" id="{1E1E51A0-8542-3172-9ABD-304B3378E467}"/>
                  </a:ext>
                </a:extLst>
              </p:cNvPr>
              <p:cNvSpPr txBox="1">
                <a:spLocks noRot="1" noChangeAspect="1" noMove="1" noResize="1" noEditPoints="1" noAdjustHandles="1" noChangeArrowheads="1" noChangeShapeType="1" noTextEdit="1"/>
              </p:cNvSpPr>
              <p:nvPr/>
            </p:nvSpPr>
            <p:spPr>
              <a:xfrm>
                <a:off x="102618" y="1816100"/>
                <a:ext cx="6647772" cy="2131994"/>
              </a:xfrm>
              <a:prstGeom prst="rect">
                <a:avLst/>
              </a:prstGeom>
              <a:blipFill>
                <a:blip r:embed="rId12"/>
                <a:stretch>
                  <a:fillRect/>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2917533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59B38D-7A78-46E4-B9C9-6312593C5041}"/>
              </a:ext>
            </a:extLst>
          </p:cNvPr>
          <p:cNvSpPr/>
          <p:nvPr/>
        </p:nvSpPr>
        <p:spPr>
          <a:xfrm>
            <a:off x="4620761" y="583530"/>
            <a:ext cx="2089777" cy="2591499"/>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p:txBody>
      </p:sp>
      <p:sp>
        <p:nvSpPr>
          <p:cNvPr id="3" name="TextBox 2">
            <a:extLst>
              <a:ext uri="{FF2B5EF4-FFF2-40B4-BE49-F238E27FC236}">
                <a16:creationId xmlns:a16="http://schemas.microsoft.com/office/drawing/2014/main" id="{EA4FD2D9-8D23-4ADE-B70E-F386FDED2BED}"/>
              </a:ext>
            </a:extLst>
          </p:cNvPr>
          <p:cNvSpPr txBox="1"/>
          <p:nvPr/>
        </p:nvSpPr>
        <p:spPr>
          <a:xfrm>
            <a:off x="4519143" y="310899"/>
            <a:ext cx="1463542" cy="276999"/>
          </a:xfrm>
          <a:prstGeom prst="rect">
            <a:avLst/>
          </a:prstGeom>
          <a:noFill/>
          <a:ln>
            <a:noFill/>
          </a:ln>
        </p:spPr>
        <p:txBody>
          <a:bodyPr wrap="none" rtlCol="0">
            <a:spAutoFit/>
          </a:bodyPr>
          <a:lstStyle/>
          <a:p>
            <a:r>
              <a:rPr lang="en-GB" sz="1200" b="1" i="1" noProof="0" dirty="0">
                <a:solidFill>
                  <a:srgbClr val="00B050"/>
                </a:solidFill>
              </a:rPr>
              <a:t>Example 3- You do…</a:t>
            </a:r>
          </a:p>
        </p:txBody>
      </p:sp>
      <p:sp>
        <p:nvSpPr>
          <p:cNvPr id="4" name="Rectangle 3">
            <a:extLst>
              <a:ext uri="{FF2B5EF4-FFF2-40B4-BE49-F238E27FC236}">
                <a16:creationId xmlns:a16="http://schemas.microsoft.com/office/drawing/2014/main" id="{3E9C8B3E-E2B2-49A4-89FE-F9C9137A06D7}"/>
              </a:ext>
            </a:extLst>
          </p:cNvPr>
          <p:cNvSpPr/>
          <p:nvPr/>
        </p:nvSpPr>
        <p:spPr>
          <a:xfrm>
            <a:off x="2395157" y="583531"/>
            <a:ext cx="2151812" cy="2591500"/>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1200" noProof="0" dirty="0">
              <a:solidFill>
                <a:schemeClr val="tx1"/>
              </a:solidFill>
            </a:endParaRPr>
          </a:p>
        </p:txBody>
      </p:sp>
      <p:sp>
        <p:nvSpPr>
          <p:cNvPr id="5" name="TextBox 4">
            <a:extLst>
              <a:ext uri="{FF2B5EF4-FFF2-40B4-BE49-F238E27FC236}">
                <a16:creationId xmlns:a16="http://schemas.microsoft.com/office/drawing/2014/main" id="{08E67FA9-518E-48EE-9C3C-DC43DA12711A}"/>
              </a:ext>
            </a:extLst>
          </p:cNvPr>
          <p:cNvSpPr txBox="1"/>
          <p:nvPr/>
        </p:nvSpPr>
        <p:spPr>
          <a:xfrm>
            <a:off x="2342625" y="309910"/>
            <a:ext cx="1475789" cy="276999"/>
          </a:xfrm>
          <a:prstGeom prst="rect">
            <a:avLst/>
          </a:prstGeom>
          <a:noFill/>
          <a:ln>
            <a:noFill/>
          </a:ln>
        </p:spPr>
        <p:txBody>
          <a:bodyPr wrap="none" rtlCol="0">
            <a:spAutoFit/>
          </a:bodyPr>
          <a:lstStyle/>
          <a:p>
            <a:r>
              <a:rPr lang="en-GB" sz="1200" b="1" i="1" noProof="0" dirty="0">
                <a:solidFill>
                  <a:schemeClr val="accent2"/>
                </a:solidFill>
              </a:rPr>
              <a:t>Example 2 - We do…</a:t>
            </a:r>
          </a:p>
        </p:txBody>
      </p:sp>
      <p:sp>
        <p:nvSpPr>
          <p:cNvPr id="6" name="TextBox 5">
            <a:extLst>
              <a:ext uri="{FF2B5EF4-FFF2-40B4-BE49-F238E27FC236}">
                <a16:creationId xmlns:a16="http://schemas.microsoft.com/office/drawing/2014/main" id="{0C5FDE3F-DC2A-468E-BF61-F69BF8BB2775}"/>
              </a:ext>
            </a:extLst>
          </p:cNvPr>
          <p:cNvSpPr txBox="1"/>
          <p:nvPr/>
        </p:nvSpPr>
        <p:spPr>
          <a:xfrm>
            <a:off x="0" y="325578"/>
            <a:ext cx="1308500" cy="276999"/>
          </a:xfrm>
          <a:prstGeom prst="rect">
            <a:avLst/>
          </a:prstGeom>
          <a:noFill/>
          <a:ln>
            <a:noFill/>
          </a:ln>
        </p:spPr>
        <p:txBody>
          <a:bodyPr wrap="none" rtlCol="0">
            <a:spAutoFit/>
          </a:bodyPr>
          <a:lstStyle/>
          <a:p>
            <a:r>
              <a:rPr lang="en-GB" sz="1200" b="1" i="1" noProof="0" dirty="0">
                <a:solidFill>
                  <a:srgbClr val="FF0000"/>
                </a:solidFill>
              </a:rPr>
              <a:t>Example 1 - I do…</a:t>
            </a:r>
          </a:p>
        </p:txBody>
      </p:sp>
      <p:sp>
        <p:nvSpPr>
          <p:cNvPr id="7" name="Rectangle 6">
            <a:extLst>
              <a:ext uri="{FF2B5EF4-FFF2-40B4-BE49-F238E27FC236}">
                <a16:creationId xmlns:a16="http://schemas.microsoft.com/office/drawing/2014/main" id="{88702858-2340-4E05-9D8E-B489EE06713C}"/>
              </a:ext>
            </a:extLst>
          </p:cNvPr>
          <p:cNvSpPr/>
          <p:nvPr/>
        </p:nvSpPr>
        <p:spPr>
          <a:xfrm>
            <a:off x="60232" y="583532"/>
            <a:ext cx="2261133" cy="259149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0B0F0"/>
              </a:solidFill>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80CA423-62E4-4D9E-A61F-19419774D88E}"/>
                  </a:ext>
                </a:extLst>
              </p:cNvPr>
              <p:cNvSpPr txBox="1"/>
              <p:nvPr/>
            </p:nvSpPr>
            <p:spPr>
              <a:xfrm>
                <a:off x="91630" y="604840"/>
                <a:ext cx="2155809" cy="249299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m:oMathPara>
                </a14:m>
                <a:endParaRPr lang="en-GB" sz="1200" noProof="0" dirty="0"/>
              </a:p>
              <a:p>
                <a:pPr algn="ctr"/>
                <a:endParaRPr lang="en-GB" sz="1200" noProof="0" dirty="0"/>
              </a:p>
              <a:p>
                <a:pPr algn="ctr"/>
                <a:r>
                  <a:rPr lang="en-GB" sz="1200" noProof="0" dirty="0"/>
                  <a:t>Find:</a:t>
                </a:r>
              </a:p>
              <a:p>
                <a:pPr algn="ctr"/>
                <a:endParaRPr lang="en-GB" sz="1200" noProof="0" dirty="0"/>
              </a:p>
              <a:p>
                <a:r>
                  <a:rPr lang="en-GB" sz="1200" b="0" noProof="0" dirty="0"/>
                  <a:t> </a:t>
                </a:r>
                <a14:m>
                  <m:oMath xmlns:m="http://schemas.openxmlformats.org/officeDocument/2006/math">
                    <m:r>
                      <a:rPr lang="en-GB" sz="1200" b="0" i="1" noProof="0" smtClean="0">
                        <a:latin typeface="Cambria Math" panose="02040503050406030204" pitchFamily="18" charset="0"/>
                      </a:rPr>
                      <m:t>𝑓</m:t>
                    </m:r>
                    <m:r>
                      <a:rPr lang="en-GB" sz="1200" b="0" i="1" noProof="0" smtClean="0">
                        <a:latin typeface="Cambria Math" panose="02040503050406030204" pitchFamily="18" charset="0"/>
                      </a:rPr>
                      <m:t>(3)</m:t>
                    </m:r>
                  </m:oMath>
                </a14:m>
                <a:endParaRPr lang="en-GB" sz="1200" noProof="0" dirty="0"/>
              </a:p>
              <a:p>
                <a:endParaRPr lang="en-GB" sz="1200" noProof="0" dirty="0"/>
              </a:p>
              <a:p>
                <a:endParaRPr lang="en-GB" sz="1200" noProof="0" dirty="0"/>
              </a:p>
              <a:p>
                <a:r>
                  <a:rPr lang="en-GB" sz="1200" noProof="0" dirty="0"/>
                  <a:t>Substitute 3 into the function.</a:t>
                </a:r>
              </a:p>
              <a:p>
                <a:endParaRPr lang="en-GB" sz="1200" noProof="0" dirty="0"/>
              </a:p>
              <a:p>
                <a:r>
                  <a:rPr lang="en-GB" sz="1200" noProof="0" dirty="0"/>
                  <a:t> </a:t>
                </a:r>
                <a14:m>
                  <m:oMath xmlns:m="http://schemas.openxmlformats.org/officeDocument/2006/math">
                    <m:r>
                      <a:rPr lang="en-GB" sz="1200" i="1" noProof="0" smtClean="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3</m:t>
                        </m:r>
                      </m:e>
                    </m:d>
                    <m:r>
                      <a:rPr lang="en-GB" sz="1200" b="0" i="1" noProof="0" smtClean="0">
                        <a:latin typeface="Cambria Math" panose="02040503050406030204" pitchFamily="18" charset="0"/>
                      </a:rPr>
                      <m:t>=2</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3</m:t>
                        </m:r>
                      </m:e>
                    </m:d>
                    <m:r>
                      <a:rPr lang="en-GB" sz="1200" b="0" i="1" noProof="0" smtClean="0">
                        <a:latin typeface="Cambria Math" panose="02040503050406030204" pitchFamily="18" charset="0"/>
                      </a:rPr>
                      <m:t>+1</m:t>
                    </m:r>
                  </m:oMath>
                </a14:m>
                <a:endParaRPr lang="en-GB" sz="1200" noProof="0" dirty="0"/>
              </a:p>
              <a:p>
                <a:endParaRPr lang="en-GB" sz="1200" noProof="0" dirty="0"/>
              </a:p>
              <a:p>
                <a:pPr/>
                <a14:m>
                  <m:oMathPara xmlns:m="http://schemas.openxmlformats.org/officeDocument/2006/math">
                    <m:oMathParaPr>
                      <m:jc m:val="left"/>
                    </m:oMathParaPr>
                    <m:oMath xmlns:m="http://schemas.openxmlformats.org/officeDocument/2006/math">
                      <m:r>
                        <a:rPr lang="en-GB" sz="1200" i="1" noProof="0" smtClean="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3</m:t>
                          </m:r>
                        </m:e>
                      </m:d>
                      <m:r>
                        <a:rPr lang="en-GB" sz="1200" i="1" noProof="0" smtClean="0">
                          <a:latin typeface="Cambria Math" panose="02040503050406030204" pitchFamily="18" charset="0"/>
                        </a:rPr>
                        <m:t>=</m:t>
                      </m:r>
                    </m:oMath>
                  </m:oMathPara>
                </a14:m>
                <a:endParaRPr lang="en-GB" sz="1200" noProof="0" dirty="0"/>
              </a:p>
              <a:p>
                <a:endParaRPr lang="en-GB" sz="1200" noProof="0" dirty="0"/>
              </a:p>
            </p:txBody>
          </p:sp>
        </mc:Choice>
        <mc:Fallback xmlns="">
          <p:sp>
            <p:nvSpPr>
              <p:cNvPr id="8" name="TextBox 7">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91630" y="604840"/>
                <a:ext cx="2155809" cy="2492990"/>
              </a:xfrm>
              <a:prstGeom prst="rect">
                <a:avLst/>
              </a:prstGeom>
              <a:blipFill>
                <a:blip r:embed="rId2"/>
                <a:stretch>
                  <a:fillRect/>
                </a:stretch>
              </a:blipFill>
            </p:spPr>
            <p:txBody>
              <a:bodyPr/>
              <a:lstStyle/>
              <a:p>
                <a:r>
                  <a:rPr lang="en-US">
                    <a:noFill/>
                  </a:rPr>
                  <a:t> </a:t>
                </a:r>
              </a:p>
            </p:txBody>
          </p:sp>
        </mc:Fallback>
      </mc:AlternateContent>
      <p:sp>
        <p:nvSpPr>
          <p:cNvPr id="45" name="Rectangle 44">
            <a:extLst>
              <a:ext uri="{FF2B5EF4-FFF2-40B4-BE49-F238E27FC236}">
                <a16:creationId xmlns:a16="http://schemas.microsoft.com/office/drawing/2014/main" id="{633BAC49-01FC-4129-977D-EFE27505AFDD}"/>
              </a:ext>
            </a:extLst>
          </p:cNvPr>
          <p:cNvSpPr/>
          <p:nvPr/>
        </p:nvSpPr>
        <p:spPr>
          <a:xfrm>
            <a:off x="729978" y="2554901"/>
            <a:ext cx="1152641" cy="40676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780CA423-62E4-4D9E-A61F-19419774D88E}"/>
                  </a:ext>
                </a:extLst>
              </p:cNvPr>
              <p:cNvSpPr txBox="1"/>
              <p:nvPr/>
            </p:nvSpPr>
            <p:spPr>
              <a:xfrm>
                <a:off x="2443692" y="633979"/>
                <a:ext cx="2155809" cy="193899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m:oMathPara>
                </a14:m>
                <a:endParaRPr lang="en-GB" sz="1200" noProof="0" dirty="0"/>
              </a:p>
              <a:p>
                <a:pPr algn="ctr"/>
                <a:endParaRPr lang="en-GB" sz="1200" noProof="0" dirty="0"/>
              </a:p>
              <a:p>
                <a:pPr algn="ctr"/>
                <a:r>
                  <a:rPr lang="en-GB" sz="1200" noProof="0" dirty="0"/>
                  <a:t>Find:</a:t>
                </a:r>
              </a:p>
              <a:p>
                <a:pPr algn="ctr"/>
                <a:endParaRPr lang="en-GB" sz="1200" noProof="0" dirty="0"/>
              </a:p>
              <a:p>
                <a:r>
                  <a:rPr lang="en-GB" sz="1200" b="0" noProof="0" dirty="0"/>
                  <a:t> </a:t>
                </a:r>
                <a14:m>
                  <m:oMath xmlns:m="http://schemas.openxmlformats.org/officeDocument/2006/math">
                    <m:r>
                      <a:rPr lang="en-GB" sz="1200" b="0" i="1" noProof="0" smtClean="0">
                        <a:latin typeface="Cambria Math" panose="02040503050406030204" pitchFamily="18" charset="0"/>
                      </a:rPr>
                      <m:t>𝑓</m:t>
                    </m:r>
                    <m:r>
                      <a:rPr lang="en-GB" sz="1200" b="0" i="1" noProof="0" smtClean="0">
                        <a:latin typeface="Cambria Math" panose="02040503050406030204" pitchFamily="18" charset="0"/>
                      </a:rPr>
                      <m:t>(−7)</m:t>
                    </m:r>
                  </m:oMath>
                </a14:m>
                <a:endParaRPr lang="en-GB" sz="1200" noProof="0" dirty="0"/>
              </a:p>
              <a:p>
                <a:endParaRPr lang="en-GB" sz="1200" noProof="0" dirty="0"/>
              </a:p>
              <a:p>
                <a:endParaRPr lang="en-GB" sz="1200" noProof="0" dirty="0"/>
              </a:p>
              <a:p>
                <a:r>
                  <a:rPr lang="en-GB" sz="1200" noProof="0" dirty="0"/>
                  <a:t>Substitute -7 into the function.</a:t>
                </a:r>
              </a:p>
              <a:p>
                <a:endParaRPr lang="en-GB" sz="1200" noProof="0" dirty="0"/>
              </a:p>
              <a:p>
                <a:r>
                  <a:rPr lang="en-GB" sz="1200" noProof="0" dirty="0"/>
                  <a:t> </a:t>
                </a:r>
                <a14:m>
                  <m:oMath xmlns:m="http://schemas.openxmlformats.org/officeDocument/2006/math">
                    <m:r>
                      <a:rPr lang="en-GB" sz="1200" i="1" noProof="0" smtClean="0">
                        <a:latin typeface="Cambria Math" panose="02040503050406030204" pitchFamily="18" charset="0"/>
                      </a:rPr>
                      <m:t>𝑓</m:t>
                    </m:r>
                    <m:d>
                      <m:dPr>
                        <m:ctrlPr>
                          <a:rPr lang="en-GB" sz="1200" i="1" noProof="0" smtClean="0">
                            <a:latin typeface="Cambria Math" panose="02040503050406030204" pitchFamily="18" charset="0"/>
                          </a:rPr>
                        </m:ctrlPr>
                      </m:dPr>
                      <m:e>
                        <m:r>
                          <a:rPr lang="en-GB" sz="1200" b="0" i="1" noProof="0" smtClean="0">
                            <a:latin typeface="Cambria Math" panose="02040503050406030204" pitchFamily="18" charset="0"/>
                          </a:rPr>
                          <m:t>−7</m:t>
                        </m:r>
                      </m:e>
                    </m:d>
                    <m:r>
                      <a:rPr lang="en-GB" sz="1200" b="0" i="1" noProof="0" smtClean="0">
                        <a:latin typeface="Cambria Math" panose="02040503050406030204" pitchFamily="18" charset="0"/>
                      </a:rPr>
                      <m:t>=</m:t>
                    </m:r>
                  </m:oMath>
                </a14:m>
                <a:endParaRPr lang="en-GB" sz="1200" noProof="0" dirty="0"/>
              </a:p>
            </p:txBody>
          </p:sp>
        </mc:Choice>
        <mc:Fallback xmlns="">
          <p:sp>
            <p:nvSpPr>
              <p:cNvPr id="46" name="TextBox 45">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2443692" y="633979"/>
                <a:ext cx="2155809" cy="1938992"/>
              </a:xfrm>
              <a:prstGeom prst="rect">
                <a:avLst/>
              </a:prstGeom>
              <a:blipFill>
                <a:blip r:embed="rId3"/>
                <a:stretch>
                  <a:fillRect l="-2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780CA423-62E4-4D9E-A61F-19419774D88E}"/>
                  </a:ext>
                </a:extLst>
              </p:cNvPr>
              <p:cNvSpPr txBox="1"/>
              <p:nvPr/>
            </p:nvSpPr>
            <p:spPr>
              <a:xfrm>
                <a:off x="4656347" y="633979"/>
                <a:ext cx="2155809" cy="249299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−2</m:t>
                      </m:r>
                    </m:oMath>
                  </m:oMathPara>
                </a14:m>
                <a:endParaRPr lang="en-GB" sz="1200" noProof="0" dirty="0"/>
              </a:p>
              <a:p>
                <a:pPr algn="ctr"/>
                <a:endParaRPr lang="en-GB" sz="1200" noProof="0" dirty="0"/>
              </a:p>
              <a:p>
                <a:pPr algn="ctr"/>
                <a:r>
                  <a:rPr lang="en-GB" sz="1200" noProof="0" dirty="0"/>
                  <a:t>Find:</a:t>
                </a:r>
              </a:p>
              <a:p>
                <a:pPr algn="ctr"/>
                <a:endParaRPr lang="en-GB" sz="1200" noProof="0" dirty="0"/>
              </a:p>
              <a:p>
                <a:r>
                  <a:rPr lang="en-GB" sz="1200" b="0" noProof="0" dirty="0"/>
                  <a:t> </a:t>
                </a:r>
                <a14:m>
                  <m:oMath xmlns:m="http://schemas.openxmlformats.org/officeDocument/2006/math">
                    <m:r>
                      <a:rPr lang="en-GB" sz="1200" b="0" i="1" noProof="0" smtClean="0">
                        <a:latin typeface="Cambria Math" panose="02040503050406030204" pitchFamily="18" charset="0"/>
                      </a:rPr>
                      <m:t>𝑓</m:t>
                    </m:r>
                    <m:r>
                      <a:rPr lang="en-GB" sz="1200" b="0" i="1" noProof="0" smtClean="0">
                        <a:latin typeface="Cambria Math" panose="02040503050406030204" pitchFamily="18" charset="0"/>
                      </a:rPr>
                      <m:t>(8)</m:t>
                    </m:r>
                  </m:oMath>
                </a14:m>
                <a:endParaRPr lang="en-GB" sz="1200" noProof="0" dirty="0"/>
              </a:p>
              <a:p>
                <a:endParaRPr lang="en-GB" sz="1200" noProof="0" dirty="0"/>
              </a:p>
              <a:p>
                <a:endParaRPr lang="en-GB" sz="1200" noProof="0" dirty="0"/>
              </a:p>
              <a:p>
                <a:endParaRPr lang="en-GB" sz="1200" noProof="0" dirty="0"/>
              </a:p>
              <a:p>
                <a:endParaRPr lang="en-GB" sz="1200" noProof="0" dirty="0"/>
              </a:p>
              <a:p>
                <a:r>
                  <a:rPr lang="en-GB" sz="1200" noProof="0" dirty="0"/>
                  <a:t> </a:t>
                </a:r>
                <a14:m>
                  <m:oMath xmlns:m="http://schemas.openxmlformats.org/officeDocument/2006/math">
                    <m:r>
                      <a:rPr lang="en-GB" sz="1200" i="1" noProof="0" smtClean="0">
                        <a:latin typeface="Cambria Math" panose="02040503050406030204" pitchFamily="18" charset="0"/>
                      </a:rPr>
                      <m:t>𝑓</m:t>
                    </m:r>
                    <m:d>
                      <m:dPr>
                        <m:ctrlPr>
                          <a:rPr lang="en-GB" sz="1200" i="1" noProof="0" smtClean="0">
                            <a:latin typeface="Cambria Math" panose="02040503050406030204" pitchFamily="18" charset="0"/>
                          </a:rPr>
                        </m:ctrlPr>
                      </m:dPr>
                      <m:e>
                        <m:r>
                          <a:rPr lang="en-GB" sz="1200" b="0" i="1" noProof="0" smtClean="0">
                            <a:latin typeface="Cambria Math" panose="02040503050406030204" pitchFamily="18" charset="0"/>
                          </a:rPr>
                          <m:t>8</m:t>
                        </m:r>
                      </m:e>
                    </m:d>
                    <m:r>
                      <a:rPr lang="en-GB" sz="1200" i="1" noProof="0" smtClean="0">
                        <a:latin typeface="Cambria Math" panose="02040503050406030204" pitchFamily="18" charset="0"/>
                      </a:rPr>
                      <m:t>=</m:t>
                    </m:r>
                  </m:oMath>
                </a14:m>
                <a:endParaRPr lang="en-GB" sz="1200" noProof="0" dirty="0"/>
              </a:p>
              <a:p>
                <a:endParaRPr lang="en-GB" sz="1200" noProof="0" dirty="0"/>
              </a:p>
              <a:p>
                <a:endParaRPr lang="en-GB" sz="1200" noProof="0" dirty="0"/>
              </a:p>
              <a:p>
                <a:endParaRPr lang="en-GB" sz="1200" noProof="0" dirty="0"/>
              </a:p>
            </p:txBody>
          </p:sp>
        </mc:Choice>
        <mc:Fallback xmlns="">
          <p:sp>
            <p:nvSpPr>
              <p:cNvPr id="47" name="TextBox 46">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4656347" y="633979"/>
                <a:ext cx="2155809" cy="2492990"/>
              </a:xfrm>
              <a:prstGeom prst="rect">
                <a:avLst/>
              </a:prstGeom>
              <a:blipFill>
                <a:blip r:embed="rId4"/>
                <a:stretch>
                  <a:fillRect/>
                </a:stretch>
              </a:blipFill>
            </p:spPr>
            <p:txBody>
              <a:bodyPr/>
              <a:lstStyle/>
              <a:p>
                <a:r>
                  <a:rPr lang="en-US">
                    <a:noFill/>
                  </a:rPr>
                  <a:t> </a:t>
                </a:r>
              </a:p>
            </p:txBody>
          </p:sp>
        </mc:Fallback>
      </mc:AlternateContent>
      <p:sp>
        <p:nvSpPr>
          <p:cNvPr id="48" name="Rectangle 47">
            <a:extLst>
              <a:ext uri="{FF2B5EF4-FFF2-40B4-BE49-F238E27FC236}">
                <a16:creationId xmlns:a16="http://schemas.microsoft.com/office/drawing/2014/main" id="{633BAC49-01FC-4129-977D-EFE27505AFDD}"/>
              </a:ext>
            </a:extLst>
          </p:cNvPr>
          <p:cNvSpPr/>
          <p:nvPr/>
        </p:nvSpPr>
        <p:spPr>
          <a:xfrm>
            <a:off x="3145518" y="2263847"/>
            <a:ext cx="1152641" cy="40676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49" name="Rectangle 48">
            <a:extLst>
              <a:ext uri="{FF2B5EF4-FFF2-40B4-BE49-F238E27FC236}">
                <a16:creationId xmlns:a16="http://schemas.microsoft.com/office/drawing/2014/main" id="{633BAC49-01FC-4129-977D-EFE27505AFDD}"/>
              </a:ext>
            </a:extLst>
          </p:cNvPr>
          <p:cNvSpPr/>
          <p:nvPr/>
        </p:nvSpPr>
        <p:spPr>
          <a:xfrm>
            <a:off x="3145518" y="2708656"/>
            <a:ext cx="1152641" cy="40676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50" name="Rectangle 49">
            <a:extLst>
              <a:ext uri="{FF2B5EF4-FFF2-40B4-BE49-F238E27FC236}">
                <a16:creationId xmlns:a16="http://schemas.microsoft.com/office/drawing/2014/main" id="{633BAC49-01FC-4129-977D-EFE27505AFDD}"/>
              </a:ext>
            </a:extLst>
          </p:cNvPr>
          <p:cNvSpPr/>
          <p:nvPr/>
        </p:nvSpPr>
        <p:spPr>
          <a:xfrm>
            <a:off x="5406364" y="2188068"/>
            <a:ext cx="1152641" cy="40676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51" name="Rectangle 50">
            <a:extLst>
              <a:ext uri="{FF2B5EF4-FFF2-40B4-BE49-F238E27FC236}">
                <a16:creationId xmlns:a16="http://schemas.microsoft.com/office/drawing/2014/main" id="{633BAC49-01FC-4129-977D-EFE27505AFDD}"/>
              </a:ext>
            </a:extLst>
          </p:cNvPr>
          <p:cNvSpPr/>
          <p:nvPr/>
        </p:nvSpPr>
        <p:spPr>
          <a:xfrm>
            <a:off x="5406364" y="2632877"/>
            <a:ext cx="1152641" cy="40676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mc:AlternateContent xmlns:mc="http://schemas.openxmlformats.org/markup-compatibility/2006" xmlns:a14="http://schemas.microsoft.com/office/drawing/2010/main">
        <mc:Choice Requires="a14">
          <p:sp>
            <p:nvSpPr>
              <p:cNvPr id="54" name="Rectangle 53"/>
              <p:cNvSpPr/>
              <p:nvPr/>
            </p:nvSpPr>
            <p:spPr>
              <a:xfrm>
                <a:off x="52861" y="3425523"/>
                <a:ext cx="2974819" cy="3633174"/>
              </a:xfrm>
              <a:prstGeom prst="rect">
                <a:avLst/>
              </a:prstGeom>
            </p:spPr>
            <p:txBody>
              <a:bodyPr wrap="square">
                <a:spAutoFit/>
              </a:bodyPr>
              <a:lstStyle/>
              <a:p>
                <a:r>
                  <a:rPr lang="en-GB" sz="1200" b="1" noProof="0" dirty="0">
                    <a:latin typeface="Calibri" panose="020F0502020204030204" pitchFamily="34" charset="0"/>
                    <a:cs typeface="Calibri" panose="020F0502020204030204" pitchFamily="34" charset="0"/>
                  </a:rPr>
                  <a:t>1.      </a:t>
                </a:r>
                <a:r>
                  <a:rPr lang="en-GB" sz="1200" noProof="0" dirty="0">
                    <a:latin typeface="Calibri" panose="020F0502020204030204" pitchFamily="34" charset="0"/>
                    <a:cs typeface="Calibri" panose="020F0502020204030204" pitchFamily="34" charset="0"/>
                  </a:rPr>
                  <a:t>f(</a:t>
                </a:r>
                <a:r>
                  <a:rPr lang="en-GB" sz="1200" i="1" noProof="0" dirty="0">
                    <a:latin typeface="Calibri" panose="020F0502020204030204" pitchFamily="34" charset="0"/>
                    <a:cs typeface="Calibri" panose="020F0502020204030204" pitchFamily="34" charset="0"/>
                  </a:rPr>
                  <a:t>x</a:t>
                </a:r>
                <a:r>
                  <a:rPr lang="en-GB" sz="1200" noProof="0" dirty="0">
                    <a:latin typeface="Calibri" panose="020F0502020204030204" pitchFamily="34" charset="0"/>
                    <a:cs typeface="Calibri" panose="020F0502020204030204" pitchFamily="34" charset="0"/>
                  </a:rPr>
                  <a:t>) = 2</a:t>
                </a:r>
                <a:r>
                  <a:rPr lang="en-GB" sz="1200" i="1" noProof="0" dirty="0">
                    <a:latin typeface="Calibri" panose="020F0502020204030204" pitchFamily="34" charset="0"/>
                    <a:cs typeface="Calibri" panose="020F0502020204030204" pitchFamily="34" charset="0"/>
                  </a:rPr>
                  <a:t>x</a:t>
                </a:r>
                <a:r>
                  <a:rPr lang="en-GB" sz="1200" baseline="30000" noProof="0" dirty="0">
                    <a:latin typeface="Calibri" panose="020F0502020204030204" pitchFamily="34" charset="0"/>
                    <a:cs typeface="Calibri" panose="020F0502020204030204" pitchFamily="34" charset="0"/>
                  </a:rPr>
                  <a:t>2</a:t>
                </a:r>
                <a:r>
                  <a:rPr lang="en-GB" sz="1200" noProof="0" dirty="0">
                    <a:latin typeface="Calibri" panose="020F0502020204030204" pitchFamily="34" charset="0"/>
                    <a:cs typeface="Calibri" panose="020F0502020204030204" pitchFamily="34" charset="0"/>
                  </a:rPr>
                  <a:t> + 7 Find the value of each of these</a:t>
                </a:r>
              </a:p>
              <a:p>
                <a:pPr marL="228600" indent="-228600">
                  <a:buAutoNum type="arabicPeriod"/>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𝑓</m:t>
                    </m:r>
                    <m:d>
                      <m:dPr>
                        <m:ctrlPr>
                          <a:rPr lang="en-GB" sz="1200" b="0" i="1" noProof="0" smtClean="0">
                            <a:latin typeface="Cambria Math" panose="02040503050406030204" pitchFamily="18" charset="0"/>
                            <a:cs typeface="Calibri" panose="020F0502020204030204" pitchFamily="34" charset="0"/>
                          </a:rPr>
                        </m:ctrlPr>
                      </m:dPr>
                      <m:e>
                        <m:r>
                          <a:rPr lang="en-GB" sz="1200" b="0" i="1" noProof="0" smtClean="0">
                            <a:latin typeface="Cambria Math" panose="02040503050406030204" pitchFamily="18" charset="0"/>
                            <a:cs typeface="Calibri" panose="020F0502020204030204" pitchFamily="34" charset="0"/>
                          </a:rPr>
                          <m:t>3</m:t>
                        </m:r>
                      </m:e>
                    </m:d>
                  </m:oMath>
                </a14:m>
                <a:endParaRPr lang="en-GB" sz="1200" b="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𝑓</m:t>
                    </m:r>
                    <m:d>
                      <m:dPr>
                        <m:ctrlPr>
                          <a:rPr lang="en-GB" sz="1200" b="0" i="1" noProof="0" smtClean="0">
                            <a:latin typeface="Cambria Math" panose="02040503050406030204" pitchFamily="18" charset="0"/>
                            <a:cs typeface="Calibri" panose="020F0502020204030204" pitchFamily="34" charset="0"/>
                          </a:rPr>
                        </m:ctrlPr>
                      </m:dPr>
                      <m:e>
                        <m:r>
                          <a:rPr lang="en-GB" sz="1200" b="0" i="1" noProof="0" smtClean="0">
                            <a:latin typeface="Cambria Math" panose="02040503050406030204" pitchFamily="18" charset="0"/>
                            <a:cs typeface="Calibri" panose="020F0502020204030204" pitchFamily="34" charset="0"/>
                          </a:rPr>
                          <m:t>11</m:t>
                        </m:r>
                      </m:e>
                    </m:d>
                  </m:oMath>
                </a14:m>
                <a:endParaRPr lang="en-GB" sz="1200" b="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𝑓</m:t>
                    </m:r>
                    <m:d>
                      <m:dPr>
                        <m:ctrlPr>
                          <a:rPr lang="en-GB" sz="1200" b="0" i="1" noProof="0" smtClean="0">
                            <a:latin typeface="Cambria Math" panose="02040503050406030204" pitchFamily="18" charset="0"/>
                            <a:cs typeface="Calibri" panose="020F0502020204030204" pitchFamily="34" charset="0"/>
                          </a:rPr>
                        </m:ctrlPr>
                      </m:dPr>
                      <m:e>
                        <m:r>
                          <a:rPr lang="en-GB" sz="1200" b="0" i="1" noProof="0" smtClean="0">
                            <a:latin typeface="Cambria Math" panose="02040503050406030204" pitchFamily="18" charset="0"/>
                            <a:cs typeface="Calibri" panose="020F0502020204030204" pitchFamily="34" charset="0"/>
                          </a:rPr>
                          <m:t>−2</m:t>
                        </m:r>
                      </m:e>
                    </m:d>
                  </m:oMath>
                </a14:m>
                <a:endParaRPr lang="en-GB" sz="1200" b="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𝑓</m:t>
                    </m:r>
                    <m:d>
                      <m:dPr>
                        <m:ctrlPr>
                          <a:rPr lang="en-GB" sz="1200" b="0" i="1" noProof="0" smtClean="0">
                            <a:latin typeface="Cambria Math" panose="02040503050406030204" pitchFamily="18" charset="0"/>
                            <a:cs typeface="Calibri" panose="020F0502020204030204" pitchFamily="34" charset="0"/>
                          </a:rPr>
                        </m:ctrlPr>
                      </m:dPr>
                      <m:e>
                        <m:r>
                          <a:rPr lang="en-GB" sz="1200" b="0" i="1" noProof="0" smtClean="0">
                            <a:latin typeface="Cambria Math" panose="02040503050406030204" pitchFamily="18" charset="0"/>
                            <a:cs typeface="Calibri" panose="020F0502020204030204" pitchFamily="34" charset="0"/>
                          </a:rPr>
                          <m:t>30</m:t>
                        </m:r>
                      </m:e>
                    </m:d>
                  </m:oMath>
                </a14:m>
                <a:endParaRPr lang="en-GB" sz="1200" b="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𝑓</m:t>
                    </m:r>
                    <m:d>
                      <m:dPr>
                        <m:ctrlPr>
                          <a:rPr lang="en-GB" sz="1200" b="0" i="1" noProof="0" smtClean="0">
                            <a:latin typeface="Cambria Math" panose="02040503050406030204" pitchFamily="18" charset="0"/>
                            <a:cs typeface="Calibri" panose="020F0502020204030204" pitchFamily="34" charset="0"/>
                          </a:rPr>
                        </m:ctrlPr>
                      </m:dPr>
                      <m:e>
                        <m:r>
                          <a:rPr lang="en-GB" sz="1200" b="0" i="1" noProof="0" smtClean="0">
                            <a:latin typeface="Cambria Math" panose="02040503050406030204" pitchFamily="18" charset="0"/>
                            <a:cs typeface="Calibri" panose="020F0502020204030204" pitchFamily="34" charset="0"/>
                          </a:rPr>
                          <m:t>−30</m:t>
                        </m:r>
                      </m:e>
                    </m:d>
                  </m:oMath>
                </a14:m>
                <a:endParaRPr lang="en-GB" sz="1200" b="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𝑓</m:t>
                    </m:r>
                    <m:d>
                      <m:dPr>
                        <m:ctrlPr>
                          <a:rPr lang="en-GB" sz="1200" b="0" i="1" noProof="0" smtClean="0">
                            <a:latin typeface="Cambria Math" panose="02040503050406030204" pitchFamily="18" charset="0"/>
                            <a:cs typeface="Calibri" panose="020F0502020204030204" pitchFamily="34" charset="0"/>
                          </a:rPr>
                        </m:ctrlPr>
                      </m:dPr>
                      <m:e>
                        <m:rad>
                          <m:radPr>
                            <m:degHide m:val="on"/>
                            <m:ctrlPr>
                              <a:rPr lang="en-GB" sz="1200" b="0" i="1" noProof="0" smtClean="0">
                                <a:latin typeface="Cambria Math" panose="02040503050406030204" pitchFamily="18" charset="0"/>
                                <a:ea typeface="Cambria Math" panose="02040503050406030204" pitchFamily="18" charset="0"/>
                                <a:cs typeface="Calibri" panose="020F0502020204030204" pitchFamily="34" charset="0"/>
                              </a:rPr>
                            </m:ctrlPr>
                          </m:radPr>
                          <m:deg/>
                          <m:e>
                            <m:r>
                              <a:rPr lang="en-GB" sz="1200" b="0" i="1" noProof="0" smtClean="0">
                                <a:latin typeface="Cambria Math" panose="02040503050406030204" pitchFamily="18" charset="0"/>
                                <a:ea typeface="Cambria Math" panose="02040503050406030204" pitchFamily="18" charset="0"/>
                                <a:cs typeface="Calibri" panose="020F0502020204030204" pitchFamily="34" charset="0"/>
                              </a:rPr>
                              <m:t>3</m:t>
                            </m:r>
                          </m:e>
                        </m:rad>
                      </m:e>
                    </m:d>
                  </m:oMath>
                </a14:m>
                <a:endParaRPr lang="en-GB" sz="1200" noProof="0" dirty="0">
                  <a:latin typeface="Calibri" panose="020F0502020204030204" pitchFamily="34" charset="0"/>
                  <a:cs typeface="Calibri" panose="020F0502020204030204" pitchFamily="34" charset="0"/>
                </a:endParaRPr>
              </a:p>
            </p:txBody>
          </p:sp>
        </mc:Choice>
        <mc:Fallback xmlns="">
          <p:sp>
            <p:nvSpPr>
              <p:cNvPr id="54" name="Rectangle 53"/>
              <p:cNvSpPr>
                <a:spLocks noRot="1" noChangeAspect="1" noMove="1" noResize="1" noEditPoints="1" noAdjustHandles="1" noChangeArrowheads="1" noChangeShapeType="1" noTextEdit="1"/>
              </p:cNvSpPr>
              <p:nvPr/>
            </p:nvSpPr>
            <p:spPr>
              <a:xfrm>
                <a:off x="52861" y="3425523"/>
                <a:ext cx="2974819" cy="3633174"/>
              </a:xfrm>
              <a:prstGeom prst="rect">
                <a:avLst/>
              </a:prstGeom>
              <a:blipFill>
                <a:blip r:embed="rId5"/>
                <a:stretch>
                  <a:fillRect l="-205" t="-168" r="-6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Rectangle 59"/>
              <p:cNvSpPr/>
              <p:nvPr/>
            </p:nvSpPr>
            <p:spPr>
              <a:xfrm>
                <a:off x="3520710" y="3425523"/>
                <a:ext cx="2974819" cy="3673954"/>
              </a:xfrm>
              <a:prstGeom prst="rect">
                <a:avLst/>
              </a:prstGeom>
            </p:spPr>
            <p:txBody>
              <a:bodyPr wrap="square">
                <a:spAutoFit/>
              </a:bodyPr>
              <a:lstStyle/>
              <a:p>
                <a:r>
                  <a:rPr lang="en-GB" sz="1200" b="1" noProof="0" dirty="0">
                    <a:latin typeface="Calibri" panose="020F0502020204030204" pitchFamily="34" charset="0"/>
                    <a:cs typeface="Calibri" panose="020F0502020204030204" pitchFamily="34" charset="0"/>
                  </a:rPr>
                  <a:t>2.     </a:t>
                </a:r>
                <a:r>
                  <a:rPr lang="en-GB" sz="1200" noProof="0" dirty="0">
                    <a:latin typeface="Calibri" panose="020F0502020204030204" pitchFamily="34" charset="0"/>
                    <a:cs typeface="Calibri" panose="020F0502020204030204" pitchFamily="34" charset="0"/>
                  </a:rPr>
                  <a:t>g(</a:t>
                </a:r>
                <a:r>
                  <a:rPr lang="en-GB" sz="1200" i="1" noProof="0" dirty="0">
                    <a:latin typeface="Calibri" panose="020F0502020204030204" pitchFamily="34" charset="0"/>
                    <a:cs typeface="Calibri" panose="020F0502020204030204" pitchFamily="34" charset="0"/>
                  </a:rPr>
                  <a:t>x</a:t>
                </a:r>
                <a:r>
                  <a:rPr lang="en-GB" sz="1200" noProof="0" dirty="0">
                    <a:latin typeface="Calibri" panose="020F0502020204030204" pitchFamily="34" charset="0"/>
                    <a:cs typeface="Calibri" panose="020F0502020204030204" pitchFamily="34" charset="0"/>
                  </a:rPr>
                  <a:t>) = 25 - </a:t>
                </a:r>
                <a:r>
                  <a:rPr lang="en-GB" sz="1200" i="1" noProof="0" dirty="0">
                    <a:latin typeface="Calibri" panose="020F0502020204030204" pitchFamily="34" charset="0"/>
                    <a:cs typeface="Calibri" panose="020F0502020204030204" pitchFamily="34" charset="0"/>
                  </a:rPr>
                  <a:t>x</a:t>
                </a:r>
                <a:r>
                  <a:rPr lang="en-GB" sz="1200" baseline="30000" noProof="0" dirty="0">
                    <a:latin typeface="Calibri" panose="020F0502020204030204" pitchFamily="34" charset="0"/>
                    <a:cs typeface="Calibri" panose="020F0502020204030204" pitchFamily="34" charset="0"/>
                  </a:rPr>
                  <a:t>2</a:t>
                </a:r>
                <a:r>
                  <a:rPr lang="en-GB" sz="1200" noProof="0" dirty="0">
                    <a:latin typeface="Calibri" panose="020F0502020204030204" pitchFamily="34" charset="0"/>
                    <a:cs typeface="Calibri" panose="020F0502020204030204" pitchFamily="34" charset="0"/>
                  </a:rPr>
                  <a:t>  Find the value of each of these</a:t>
                </a:r>
              </a:p>
              <a:p>
                <a:pPr marL="228600" indent="-228600">
                  <a:buAutoNum type="arabicPeriod"/>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𝑔</m:t>
                    </m:r>
                    <m:d>
                      <m:dPr>
                        <m:ctrlPr>
                          <a:rPr lang="en-GB" sz="1200" b="0" i="1" noProof="0" smtClean="0">
                            <a:latin typeface="Cambria Math" panose="02040503050406030204" pitchFamily="18" charset="0"/>
                            <a:cs typeface="Calibri" panose="020F0502020204030204" pitchFamily="34" charset="0"/>
                          </a:rPr>
                        </m:ctrlPr>
                      </m:dPr>
                      <m:e>
                        <m:r>
                          <a:rPr lang="en-GB" sz="1200" b="0" i="1" noProof="0" smtClean="0">
                            <a:latin typeface="Cambria Math" panose="02040503050406030204" pitchFamily="18" charset="0"/>
                            <a:cs typeface="Calibri" panose="020F0502020204030204" pitchFamily="34" charset="0"/>
                          </a:rPr>
                          <m:t>4</m:t>
                        </m:r>
                      </m:e>
                    </m:d>
                  </m:oMath>
                </a14:m>
                <a:endParaRPr lang="en-GB" sz="1200" b="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𝑔</m:t>
                    </m:r>
                    <m:d>
                      <m:dPr>
                        <m:ctrlPr>
                          <a:rPr lang="en-GB" sz="1200" b="0" i="1" noProof="0" smtClean="0">
                            <a:latin typeface="Cambria Math" panose="02040503050406030204" pitchFamily="18" charset="0"/>
                            <a:cs typeface="Calibri" panose="020F0502020204030204" pitchFamily="34" charset="0"/>
                          </a:rPr>
                        </m:ctrlPr>
                      </m:dPr>
                      <m:e>
                        <m:r>
                          <a:rPr lang="en-GB" sz="1200" b="0" i="1" noProof="0" smtClean="0">
                            <a:latin typeface="Cambria Math" panose="02040503050406030204" pitchFamily="18" charset="0"/>
                            <a:cs typeface="Calibri" panose="020F0502020204030204" pitchFamily="34" charset="0"/>
                          </a:rPr>
                          <m:t>−8</m:t>
                        </m:r>
                      </m:e>
                    </m:d>
                  </m:oMath>
                </a14:m>
                <a:endParaRPr lang="en-GB" sz="1200" b="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𝑔</m:t>
                    </m:r>
                    <m:d>
                      <m:dPr>
                        <m:ctrlPr>
                          <a:rPr lang="en-GB" sz="1200" b="0" i="1" noProof="0" smtClean="0">
                            <a:latin typeface="Cambria Math" panose="02040503050406030204" pitchFamily="18" charset="0"/>
                            <a:cs typeface="Calibri" panose="020F0502020204030204" pitchFamily="34" charset="0"/>
                          </a:rPr>
                        </m:ctrlPr>
                      </m:dPr>
                      <m:e>
                        <m:r>
                          <a:rPr lang="en-GB" sz="1200" b="0" i="1" noProof="0" smtClean="0">
                            <a:latin typeface="Cambria Math" panose="02040503050406030204" pitchFamily="18" charset="0"/>
                            <a:cs typeface="Calibri" panose="020F0502020204030204" pitchFamily="34" charset="0"/>
                          </a:rPr>
                          <m:t>9</m:t>
                        </m:r>
                      </m:e>
                    </m:d>
                  </m:oMath>
                </a14:m>
                <a:endParaRPr lang="en-GB" sz="1200" b="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𝑔</m:t>
                    </m:r>
                    <m:d>
                      <m:dPr>
                        <m:ctrlPr>
                          <a:rPr lang="en-GB" sz="1200" b="0" i="1" noProof="0" smtClean="0">
                            <a:latin typeface="Cambria Math" panose="02040503050406030204" pitchFamily="18" charset="0"/>
                            <a:cs typeface="Calibri" panose="020F0502020204030204" pitchFamily="34" charset="0"/>
                          </a:rPr>
                        </m:ctrlPr>
                      </m:dPr>
                      <m:e>
                        <m:r>
                          <a:rPr lang="en-GB" sz="1200" b="0" i="1" noProof="0" smtClean="0">
                            <a:latin typeface="Cambria Math" panose="02040503050406030204" pitchFamily="18" charset="0"/>
                            <a:cs typeface="Calibri" panose="020F0502020204030204" pitchFamily="34" charset="0"/>
                          </a:rPr>
                          <m:t>−9</m:t>
                        </m:r>
                      </m:e>
                    </m:d>
                  </m:oMath>
                </a14:m>
                <a:endParaRPr lang="en-GB" sz="1200" b="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𝑔</m:t>
                    </m:r>
                    <m:d>
                      <m:dPr>
                        <m:ctrlPr>
                          <a:rPr lang="en-GB" sz="1200" b="0" i="1" noProof="0" smtClean="0">
                            <a:latin typeface="Cambria Math" panose="02040503050406030204" pitchFamily="18" charset="0"/>
                            <a:cs typeface="Calibri" panose="020F0502020204030204" pitchFamily="34" charset="0"/>
                          </a:rPr>
                        </m:ctrlPr>
                      </m:dPr>
                      <m:e>
                        <m:rad>
                          <m:radPr>
                            <m:degHide m:val="on"/>
                            <m:ctrlPr>
                              <a:rPr lang="en-GB" sz="1200" b="0" i="1" noProof="0" smtClean="0">
                                <a:latin typeface="Cambria Math" panose="02040503050406030204" pitchFamily="18" charset="0"/>
                                <a:ea typeface="Cambria Math" panose="02040503050406030204" pitchFamily="18" charset="0"/>
                                <a:cs typeface="Calibri" panose="020F0502020204030204" pitchFamily="34" charset="0"/>
                              </a:rPr>
                            </m:ctrlPr>
                          </m:radPr>
                          <m:deg/>
                          <m:e>
                            <m:r>
                              <a:rPr lang="en-GB" sz="1200" b="0" i="1" noProof="0" smtClean="0">
                                <a:latin typeface="Cambria Math" panose="02040503050406030204" pitchFamily="18" charset="0"/>
                                <a:ea typeface="Cambria Math" panose="02040503050406030204" pitchFamily="18" charset="0"/>
                                <a:cs typeface="Calibri" panose="020F0502020204030204" pitchFamily="34" charset="0"/>
                              </a:rPr>
                              <m:t>13</m:t>
                            </m:r>
                          </m:e>
                        </m:rad>
                      </m:e>
                    </m:d>
                    <m:r>
                      <a:rPr lang="en-GB" sz="1200" b="0" i="1" noProof="0" smtClean="0">
                        <a:latin typeface="Cambria Math" panose="02040503050406030204" pitchFamily="18" charset="0"/>
                        <a:cs typeface="Calibri" panose="020F0502020204030204" pitchFamily="34" charset="0"/>
                      </a:rPr>
                      <m:t> </m:t>
                    </m:r>
                  </m:oMath>
                </a14:m>
                <a:endParaRPr lang="en-GB" sz="1200" b="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𝑔</m:t>
                    </m:r>
                    <m:d>
                      <m:dPr>
                        <m:ctrlPr>
                          <a:rPr lang="en-GB" sz="1200" b="0" i="1" noProof="0" smtClean="0">
                            <a:latin typeface="Cambria Math" panose="02040503050406030204" pitchFamily="18" charset="0"/>
                            <a:cs typeface="Calibri" panose="020F0502020204030204" pitchFamily="34" charset="0"/>
                          </a:rPr>
                        </m:ctrlPr>
                      </m:dPr>
                      <m:e>
                        <m:r>
                          <a:rPr lang="en-GB" sz="1200" b="0" i="1" noProof="0" smtClean="0">
                            <a:latin typeface="Cambria Math" panose="02040503050406030204" pitchFamily="18" charset="0"/>
                            <a:ea typeface="Cambria Math" panose="02040503050406030204" pitchFamily="18" charset="0"/>
                            <a:cs typeface="Calibri" panose="020F0502020204030204" pitchFamily="34" charset="0"/>
                          </a:rPr>
                          <m:t>−0.4</m:t>
                        </m:r>
                      </m:e>
                    </m:d>
                  </m:oMath>
                </a14:m>
                <a:endParaRPr lang="en-GB" sz="1200" noProof="0" dirty="0">
                  <a:latin typeface="Calibri" panose="020F0502020204030204" pitchFamily="34" charset="0"/>
                  <a:cs typeface="Calibri" panose="020F0502020204030204" pitchFamily="34" charset="0"/>
                </a:endParaRPr>
              </a:p>
            </p:txBody>
          </p:sp>
        </mc:Choice>
        <mc:Fallback xmlns="">
          <p:sp>
            <p:nvSpPr>
              <p:cNvPr id="60" name="Rectangle 59"/>
              <p:cNvSpPr>
                <a:spLocks noRot="1" noChangeAspect="1" noMove="1" noResize="1" noEditPoints="1" noAdjustHandles="1" noChangeArrowheads="1" noChangeShapeType="1" noTextEdit="1"/>
              </p:cNvSpPr>
              <p:nvPr/>
            </p:nvSpPr>
            <p:spPr>
              <a:xfrm>
                <a:off x="3520710" y="3425523"/>
                <a:ext cx="2974819" cy="3673954"/>
              </a:xfrm>
              <a:prstGeom prst="rect">
                <a:avLst/>
              </a:prstGeom>
              <a:blipFill>
                <a:blip r:embed="rId6"/>
                <a:stretch>
                  <a:fillRect l="-205" t="-166" r="-4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Rectangle 60"/>
              <p:cNvSpPr/>
              <p:nvPr/>
            </p:nvSpPr>
            <p:spPr>
              <a:xfrm>
                <a:off x="52861" y="7640637"/>
                <a:ext cx="2974819" cy="1961563"/>
              </a:xfrm>
              <a:prstGeom prst="rect">
                <a:avLst/>
              </a:prstGeom>
            </p:spPr>
            <p:txBody>
              <a:bodyPr wrap="square">
                <a:spAutoFit/>
              </a:bodyPr>
              <a:lstStyle/>
              <a:p>
                <a:r>
                  <a:rPr lang="en-GB" sz="1200" b="1" noProof="0" dirty="0">
                    <a:latin typeface="Calibri" panose="020F0502020204030204" pitchFamily="34" charset="0"/>
                    <a:cs typeface="Calibri" panose="020F0502020204030204" pitchFamily="34" charset="0"/>
                  </a:rPr>
                  <a:t>3.     </a:t>
                </a:r>
                <a:r>
                  <a:rPr lang="en-GB" sz="1200" noProof="0" dirty="0">
                    <a:latin typeface="Calibri" panose="020F0502020204030204" pitchFamily="34" charset="0"/>
                    <a:cs typeface="Calibri" panose="020F0502020204030204" pitchFamily="34" charset="0"/>
                  </a:rPr>
                  <a:t>f(</a:t>
                </a:r>
                <a:r>
                  <a:rPr lang="en-GB" sz="1200" i="1" noProof="0" dirty="0">
                    <a:latin typeface="Calibri" panose="020F0502020204030204" pitchFamily="34" charset="0"/>
                    <a:cs typeface="Calibri" panose="020F0502020204030204" pitchFamily="34" charset="0"/>
                  </a:rPr>
                  <a:t>x</a:t>
                </a:r>
                <a:r>
                  <a:rPr lang="en-GB" sz="1200" noProof="0" dirty="0">
                    <a:latin typeface="Calibri" panose="020F0502020204030204" pitchFamily="34" charset="0"/>
                    <a:cs typeface="Calibri" panose="020F0502020204030204" pitchFamily="34" charset="0"/>
                  </a:rPr>
                  <a:t>) = </a:t>
                </a:r>
                <a14:m>
                  <m:oMath xmlns:m="http://schemas.openxmlformats.org/officeDocument/2006/math">
                    <m:r>
                      <a:rPr lang="en-GB" sz="120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i="1" baseline="30000"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 +3</m:t>
                    </m:r>
                    <m:r>
                      <a:rPr lang="en-GB" sz="1200" i="1" noProof="0" smtClean="0">
                        <a:latin typeface="Cambria Math" panose="02040503050406030204" pitchFamily="18" charset="0"/>
                        <a:cs typeface="Calibri" panose="020F0502020204030204" pitchFamily="34" charset="0"/>
                      </a:rPr>
                      <m:t>𝑥</m:t>
                    </m:r>
                  </m:oMath>
                </a14:m>
                <a:r>
                  <a:rPr lang="en-GB" sz="1200" noProof="0" dirty="0">
                    <a:latin typeface="Calibri" panose="020F0502020204030204" pitchFamily="34" charset="0"/>
                    <a:cs typeface="Calibri" panose="020F0502020204030204" pitchFamily="34" charset="0"/>
                  </a:rPr>
                  <a:t> Find the value of each of these</a:t>
                </a:r>
              </a:p>
              <a:p>
                <a:pPr marL="228600" indent="-228600">
                  <a:buAutoNum type="arabicPeriod"/>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𝑓</m:t>
                    </m:r>
                    <m:d>
                      <m:dPr>
                        <m:ctrlPr>
                          <a:rPr lang="en-GB" sz="1200" b="0" i="1" noProof="0" smtClean="0">
                            <a:latin typeface="Cambria Math" panose="02040503050406030204" pitchFamily="18" charset="0"/>
                            <a:cs typeface="Calibri" panose="020F0502020204030204" pitchFamily="34" charset="0"/>
                          </a:rPr>
                        </m:ctrlPr>
                      </m:dPr>
                      <m:e>
                        <m:r>
                          <a:rPr lang="en-GB" sz="1200" b="0" i="1" noProof="0" smtClean="0">
                            <a:latin typeface="Cambria Math" panose="02040503050406030204" pitchFamily="18" charset="0"/>
                            <a:cs typeface="Calibri" panose="020F0502020204030204" pitchFamily="34" charset="0"/>
                          </a:rPr>
                          <m:t>−6</m:t>
                        </m:r>
                      </m:e>
                    </m:d>
                  </m:oMath>
                </a14:m>
                <a:endParaRPr lang="en-GB" sz="1200" b="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𝑓</m:t>
                    </m:r>
                    <m:d>
                      <m:dPr>
                        <m:ctrlPr>
                          <a:rPr lang="en-GB" sz="1200" b="0" i="1" noProof="0" smtClean="0">
                            <a:latin typeface="Cambria Math" panose="02040503050406030204" pitchFamily="18" charset="0"/>
                            <a:cs typeface="Calibri" panose="020F0502020204030204" pitchFamily="34" charset="0"/>
                          </a:rPr>
                        </m:ctrlPr>
                      </m:dPr>
                      <m:e>
                        <m:r>
                          <a:rPr lang="en-GB" sz="1200" b="0" i="1" noProof="0" smtClean="0">
                            <a:latin typeface="Cambria Math" panose="02040503050406030204" pitchFamily="18" charset="0"/>
                            <a:cs typeface="Calibri" panose="020F0502020204030204" pitchFamily="34" charset="0"/>
                          </a:rPr>
                          <m:t>4</m:t>
                        </m:r>
                      </m:e>
                    </m:d>
                  </m:oMath>
                </a14:m>
                <a:endParaRPr lang="en-GB" sz="1200" b="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p:txBody>
          </p:sp>
        </mc:Choice>
        <mc:Fallback xmlns="">
          <p:sp>
            <p:nvSpPr>
              <p:cNvPr id="61" name="Rectangle 60"/>
              <p:cNvSpPr>
                <a:spLocks noRot="1" noChangeAspect="1" noMove="1" noResize="1" noEditPoints="1" noAdjustHandles="1" noChangeArrowheads="1" noChangeShapeType="1" noTextEdit="1"/>
              </p:cNvSpPr>
              <p:nvPr/>
            </p:nvSpPr>
            <p:spPr>
              <a:xfrm>
                <a:off x="52861" y="7640637"/>
                <a:ext cx="2974819" cy="1961563"/>
              </a:xfrm>
              <a:prstGeom prst="rect">
                <a:avLst/>
              </a:prstGeom>
              <a:blipFill>
                <a:blip r:embed="rId7"/>
                <a:stretch>
                  <a:fillRect l="-205" r="-2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Rectangle 61"/>
              <p:cNvSpPr/>
              <p:nvPr/>
            </p:nvSpPr>
            <p:spPr>
              <a:xfrm>
                <a:off x="3411449" y="7659881"/>
                <a:ext cx="2974819" cy="1961563"/>
              </a:xfrm>
              <a:prstGeom prst="rect">
                <a:avLst/>
              </a:prstGeom>
            </p:spPr>
            <p:txBody>
              <a:bodyPr wrap="square">
                <a:spAutoFit/>
              </a:bodyPr>
              <a:lstStyle/>
              <a:p>
                <a:r>
                  <a:rPr lang="en-GB" sz="1200" b="1" noProof="0" dirty="0">
                    <a:latin typeface="Calibri" panose="020F0502020204030204" pitchFamily="34" charset="0"/>
                    <a:cs typeface="Calibri" panose="020F0502020204030204" pitchFamily="34" charset="0"/>
                  </a:rPr>
                  <a:t>4.     </a:t>
                </a:r>
                <a:r>
                  <a:rPr lang="en-GB" sz="1200" noProof="0" dirty="0">
                    <a:latin typeface="Calibri" panose="020F0502020204030204" pitchFamily="34" charset="0"/>
                    <a:cs typeface="Calibri" panose="020F0502020204030204" pitchFamily="34" charset="0"/>
                  </a:rPr>
                  <a:t>g(</a:t>
                </a:r>
                <a:r>
                  <a:rPr lang="en-GB" sz="1200" i="1" noProof="0" dirty="0">
                    <a:latin typeface="Calibri" panose="020F0502020204030204" pitchFamily="34" charset="0"/>
                    <a:cs typeface="Calibri" panose="020F0502020204030204" pitchFamily="34" charset="0"/>
                  </a:rPr>
                  <a:t>x</a:t>
                </a:r>
                <a:r>
                  <a:rPr lang="en-GB" sz="1200" noProof="0" dirty="0">
                    <a:latin typeface="Calibri" panose="020F0502020204030204" pitchFamily="34" charset="0"/>
                    <a:cs typeface="Calibri" panose="020F0502020204030204" pitchFamily="34" charset="0"/>
                  </a:rPr>
                  <a:t>) = </a:t>
                </a:r>
                <a14:m>
                  <m:oMath xmlns:m="http://schemas.openxmlformats.org/officeDocument/2006/math">
                    <m:r>
                      <a:rPr lang="en-GB" sz="1200" i="1" noProof="0" smtClean="0">
                        <a:latin typeface="Cambria Math" panose="02040503050406030204" pitchFamily="18" charset="0"/>
                        <a:cs typeface="Calibri" panose="020F0502020204030204" pitchFamily="34" charset="0"/>
                      </a:rPr>
                      <m:t>𝑥</m:t>
                    </m:r>
                    <m:r>
                      <a:rPr lang="en-GB" sz="1200" i="1" baseline="30000"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 +3</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−7</m:t>
                    </m:r>
                  </m:oMath>
                </a14:m>
                <a:r>
                  <a:rPr lang="en-GB" sz="1200" noProof="0" dirty="0">
                    <a:latin typeface="Calibri" panose="020F0502020204030204" pitchFamily="34" charset="0"/>
                    <a:cs typeface="Calibri" panose="020F0502020204030204" pitchFamily="34" charset="0"/>
                  </a:rPr>
                  <a:t> Find the value of each of these</a:t>
                </a:r>
              </a:p>
              <a:p>
                <a:pPr marL="228600" indent="-228600">
                  <a:buAutoNum type="arabicPeriod"/>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𝑔</m:t>
                    </m:r>
                    <m:d>
                      <m:dPr>
                        <m:ctrlPr>
                          <a:rPr lang="en-GB" sz="1200" b="0" i="1" noProof="0" smtClean="0">
                            <a:latin typeface="Cambria Math" panose="02040503050406030204" pitchFamily="18" charset="0"/>
                            <a:cs typeface="Calibri" panose="020F0502020204030204" pitchFamily="34" charset="0"/>
                          </a:rPr>
                        </m:ctrlPr>
                      </m:dPr>
                      <m:e>
                        <m:r>
                          <a:rPr lang="en-GB" sz="1200" b="0" i="1" noProof="0" smtClean="0">
                            <a:latin typeface="Cambria Math" panose="02040503050406030204" pitchFamily="18" charset="0"/>
                            <a:cs typeface="Calibri" panose="020F0502020204030204" pitchFamily="34" charset="0"/>
                          </a:rPr>
                          <m:t>3</m:t>
                        </m:r>
                      </m:e>
                    </m:d>
                  </m:oMath>
                </a14:m>
                <a:endParaRPr lang="en-GB" sz="1200" b="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𝑔</m:t>
                    </m:r>
                    <m:d>
                      <m:dPr>
                        <m:ctrlPr>
                          <a:rPr lang="en-GB" sz="1200" b="0" i="1" noProof="0" smtClean="0">
                            <a:latin typeface="Cambria Math" panose="02040503050406030204" pitchFamily="18" charset="0"/>
                            <a:cs typeface="Calibri" panose="020F0502020204030204" pitchFamily="34" charset="0"/>
                          </a:rPr>
                        </m:ctrlPr>
                      </m:dPr>
                      <m:e>
                        <m:r>
                          <a:rPr lang="en-GB" sz="1200" b="0" i="1" noProof="0" smtClean="0">
                            <a:latin typeface="Cambria Math" panose="02040503050406030204" pitchFamily="18" charset="0"/>
                            <a:cs typeface="Calibri" panose="020F0502020204030204" pitchFamily="34" charset="0"/>
                          </a:rPr>
                          <m:t>−4</m:t>
                        </m:r>
                      </m:e>
                    </m:d>
                  </m:oMath>
                </a14:m>
                <a:endParaRPr lang="en-GB" sz="1200" b="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p:txBody>
          </p:sp>
        </mc:Choice>
        <mc:Fallback xmlns="">
          <p:sp>
            <p:nvSpPr>
              <p:cNvPr id="62" name="Rectangle 61"/>
              <p:cNvSpPr>
                <a:spLocks noRot="1" noChangeAspect="1" noMove="1" noResize="1" noEditPoints="1" noAdjustHandles="1" noChangeArrowheads="1" noChangeShapeType="1" noTextEdit="1"/>
              </p:cNvSpPr>
              <p:nvPr/>
            </p:nvSpPr>
            <p:spPr>
              <a:xfrm>
                <a:off x="3411449" y="7659881"/>
                <a:ext cx="2974819" cy="1961563"/>
              </a:xfrm>
              <a:prstGeom prst="rect">
                <a:avLst/>
              </a:prstGeom>
              <a:blipFill>
                <a:blip r:embed="rId8"/>
                <a:stretch>
                  <a:fillRect l="-205" t="-312"/>
                </a:stretch>
              </a:blipFill>
            </p:spPr>
            <p:txBody>
              <a:bodyPr/>
              <a:lstStyle/>
              <a:p>
                <a:r>
                  <a:rPr lang="en-US">
                    <a:noFill/>
                  </a:rPr>
                  <a:t> </a:t>
                </a:r>
              </a:p>
            </p:txBody>
          </p:sp>
        </mc:Fallback>
      </mc:AlternateContent>
      <p:sp>
        <p:nvSpPr>
          <p:cNvPr id="63" name="Rectangle 62">
            <a:extLst>
              <a:ext uri="{FF2B5EF4-FFF2-40B4-BE49-F238E27FC236}">
                <a16:creationId xmlns:a16="http://schemas.microsoft.com/office/drawing/2014/main" id="{633BAC49-01FC-4129-977D-EFE27505AFDD}"/>
              </a:ext>
            </a:extLst>
          </p:cNvPr>
          <p:cNvSpPr/>
          <p:nvPr/>
        </p:nvSpPr>
        <p:spPr>
          <a:xfrm>
            <a:off x="880827" y="4040218"/>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64" name="Rectangle 63">
            <a:extLst>
              <a:ext uri="{FF2B5EF4-FFF2-40B4-BE49-F238E27FC236}">
                <a16:creationId xmlns:a16="http://schemas.microsoft.com/office/drawing/2014/main" id="{633BAC49-01FC-4129-977D-EFE27505AFDD}"/>
              </a:ext>
            </a:extLst>
          </p:cNvPr>
          <p:cNvSpPr/>
          <p:nvPr/>
        </p:nvSpPr>
        <p:spPr>
          <a:xfrm>
            <a:off x="880827" y="4546759"/>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67" name="Rectangle 66">
            <a:extLst>
              <a:ext uri="{FF2B5EF4-FFF2-40B4-BE49-F238E27FC236}">
                <a16:creationId xmlns:a16="http://schemas.microsoft.com/office/drawing/2014/main" id="{633BAC49-01FC-4129-977D-EFE27505AFDD}"/>
              </a:ext>
            </a:extLst>
          </p:cNvPr>
          <p:cNvSpPr/>
          <p:nvPr/>
        </p:nvSpPr>
        <p:spPr>
          <a:xfrm>
            <a:off x="880827" y="5105171"/>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68" name="Rectangle 67">
            <a:extLst>
              <a:ext uri="{FF2B5EF4-FFF2-40B4-BE49-F238E27FC236}">
                <a16:creationId xmlns:a16="http://schemas.microsoft.com/office/drawing/2014/main" id="{633BAC49-01FC-4129-977D-EFE27505AFDD}"/>
              </a:ext>
            </a:extLst>
          </p:cNvPr>
          <p:cNvSpPr/>
          <p:nvPr/>
        </p:nvSpPr>
        <p:spPr>
          <a:xfrm>
            <a:off x="880827" y="5611712"/>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69" name="Rectangle 68">
            <a:extLst>
              <a:ext uri="{FF2B5EF4-FFF2-40B4-BE49-F238E27FC236}">
                <a16:creationId xmlns:a16="http://schemas.microsoft.com/office/drawing/2014/main" id="{633BAC49-01FC-4129-977D-EFE27505AFDD}"/>
              </a:ext>
            </a:extLst>
          </p:cNvPr>
          <p:cNvSpPr/>
          <p:nvPr/>
        </p:nvSpPr>
        <p:spPr>
          <a:xfrm>
            <a:off x="880827" y="6162558"/>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70" name="Rectangle 69">
            <a:extLst>
              <a:ext uri="{FF2B5EF4-FFF2-40B4-BE49-F238E27FC236}">
                <a16:creationId xmlns:a16="http://schemas.microsoft.com/office/drawing/2014/main" id="{633BAC49-01FC-4129-977D-EFE27505AFDD}"/>
              </a:ext>
            </a:extLst>
          </p:cNvPr>
          <p:cNvSpPr/>
          <p:nvPr/>
        </p:nvSpPr>
        <p:spPr>
          <a:xfrm>
            <a:off x="880827" y="6669099"/>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71" name="Rectangle 70">
            <a:extLst>
              <a:ext uri="{FF2B5EF4-FFF2-40B4-BE49-F238E27FC236}">
                <a16:creationId xmlns:a16="http://schemas.microsoft.com/office/drawing/2014/main" id="{633BAC49-01FC-4129-977D-EFE27505AFDD}"/>
              </a:ext>
            </a:extLst>
          </p:cNvPr>
          <p:cNvSpPr/>
          <p:nvPr/>
        </p:nvSpPr>
        <p:spPr>
          <a:xfrm>
            <a:off x="4417188" y="4031778"/>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72" name="Rectangle 71">
            <a:extLst>
              <a:ext uri="{FF2B5EF4-FFF2-40B4-BE49-F238E27FC236}">
                <a16:creationId xmlns:a16="http://schemas.microsoft.com/office/drawing/2014/main" id="{633BAC49-01FC-4129-977D-EFE27505AFDD}"/>
              </a:ext>
            </a:extLst>
          </p:cNvPr>
          <p:cNvSpPr/>
          <p:nvPr/>
        </p:nvSpPr>
        <p:spPr>
          <a:xfrm>
            <a:off x="4417188" y="4538319"/>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73" name="Rectangle 72">
            <a:extLst>
              <a:ext uri="{FF2B5EF4-FFF2-40B4-BE49-F238E27FC236}">
                <a16:creationId xmlns:a16="http://schemas.microsoft.com/office/drawing/2014/main" id="{633BAC49-01FC-4129-977D-EFE27505AFDD}"/>
              </a:ext>
            </a:extLst>
          </p:cNvPr>
          <p:cNvSpPr/>
          <p:nvPr/>
        </p:nvSpPr>
        <p:spPr>
          <a:xfrm>
            <a:off x="4417188" y="5096731"/>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74" name="Rectangle 73">
            <a:extLst>
              <a:ext uri="{FF2B5EF4-FFF2-40B4-BE49-F238E27FC236}">
                <a16:creationId xmlns:a16="http://schemas.microsoft.com/office/drawing/2014/main" id="{633BAC49-01FC-4129-977D-EFE27505AFDD}"/>
              </a:ext>
            </a:extLst>
          </p:cNvPr>
          <p:cNvSpPr/>
          <p:nvPr/>
        </p:nvSpPr>
        <p:spPr>
          <a:xfrm>
            <a:off x="4417188" y="5603272"/>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75" name="Rectangle 74">
            <a:extLst>
              <a:ext uri="{FF2B5EF4-FFF2-40B4-BE49-F238E27FC236}">
                <a16:creationId xmlns:a16="http://schemas.microsoft.com/office/drawing/2014/main" id="{633BAC49-01FC-4129-977D-EFE27505AFDD}"/>
              </a:ext>
            </a:extLst>
          </p:cNvPr>
          <p:cNvSpPr/>
          <p:nvPr/>
        </p:nvSpPr>
        <p:spPr>
          <a:xfrm>
            <a:off x="4417188" y="6154118"/>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76" name="Rectangle 75">
            <a:extLst>
              <a:ext uri="{FF2B5EF4-FFF2-40B4-BE49-F238E27FC236}">
                <a16:creationId xmlns:a16="http://schemas.microsoft.com/office/drawing/2014/main" id="{633BAC49-01FC-4129-977D-EFE27505AFDD}"/>
              </a:ext>
            </a:extLst>
          </p:cNvPr>
          <p:cNvSpPr/>
          <p:nvPr/>
        </p:nvSpPr>
        <p:spPr>
          <a:xfrm>
            <a:off x="4417188" y="6660659"/>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77" name="Rectangle 76">
            <a:extLst>
              <a:ext uri="{FF2B5EF4-FFF2-40B4-BE49-F238E27FC236}">
                <a16:creationId xmlns:a16="http://schemas.microsoft.com/office/drawing/2014/main" id="{633BAC49-01FC-4129-977D-EFE27505AFDD}"/>
              </a:ext>
            </a:extLst>
          </p:cNvPr>
          <p:cNvSpPr/>
          <p:nvPr/>
        </p:nvSpPr>
        <p:spPr>
          <a:xfrm>
            <a:off x="880827" y="8154294"/>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78" name="Rectangle 77">
            <a:extLst>
              <a:ext uri="{FF2B5EF4-FFF2-40B4-BE49-F238E27FC236}">
                <a16:creationId xmlns:a16="http://schemas.microsoft.com/office/drawing/2014/main" id="{633BAC49-01FC-4129-977D-EFE27505AFDD}"/>
              </a:ext>
            </a:extLst>
          </p:cNvPr>
          <p:cNvSpPr/>
          <p:nvPr/>
        </p:nvSpPr>
        <p:spPr>
          <a:xfrm>
            <a:off x="880827" y="8660835"/>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79" name="Rectangle 78">
            <a:extLst>
              <a:ext uri="{FF2B5EF4-FFF2-40B4-BE49-F238E27FC236}">
                <a16:creationId xmlns:a16="http://schemas.microsoft.com/office/drawing/2014/main" id="{633BAC49-01FC-4129-977D-EFE27505AFDD}"/>
              </a:ext>
            </a:extLst>
          </p:cNvPr>
          <p:cNvSpPr/>
          <p:nvPr/>
        </p:nvSpPr>
        <p:spPr>
          <a:xfrm>
            <a:off x="4367311" y="8154294"/>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80" name="Rectangle 79">
            <a:extLst>
              <a:ext uri="{FF2B5EF4-FFF2-40B4-BE49-F238E27FC236}">
                <a16:creationId xmlns:a16="http://schemas.microsoft.com/office/drawing/2014/main" id="{633BAC49-01FC-4129-977D-EFE27505AFDD}"/>
              </a:ext>
            </a:extLst>
          </p:cNvPr>
          <p:cNvSpPr/>
          <p:nvPr/>
        </p:nvSpPr>
        <p:spPr>
          <a:xfrm>
            <a:off x="4367311" y="8660835"/>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85" name="Rectangle 84">
            <a:extLst>
              <a:ext uri="{FF2B5EF4-FFF2-40B4-BE49-F238E27FC236}">
                <a16:creationId xmlns:a16="http://schemas.microsoft.com/office/drawing/2014/main" id="{1A1DBEA9-D546-4594-90FE-D6EBF9792C2E}"/>
              </a:ext>
            </a:extLst>
          </p:cNvPr>
          <p:cNvSpPr/>
          <p:nvPr/>
        </p:nvSpPr>
        <p:spPr>
          <a:xfrm>
            <a:off x="55563" y="3441191"/>
            <a:ext cx="3321161" cy="377823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6" name="Rectangle 85">
            <a:extLst>
              <a:ext uri="{FF2B5EF4-FFF2-40B4-BE49-F238E27FC236}">
                <a16:creationId xmlns:a16="http://schemas.microsoft.com/office/drawing/2014/main" id="{1A1DBEA9-D546-4594-90FE-D6EBF9792C2E}"/>
              </a:ext>
            </a:extLst>
          </p:cNvPr>
          <p:cNvSpPr/>
          <p:nvPr/>
        </p:nvSpPr>
        <p:spPr>
          <a:xfrm>
            <a:off x="3452860" y="3441191"/>
            <a:ext cx="3321161" cy="377823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7" name="Rectangle 86">
            <a:extLst>
              <a:ext uri="{FF2B5EF4-FFF2-40B4-BE49-F238E27FC236}">
                <a16:creationId xmlns:a16="http://schemas.microsoft.com/office/drawing/2014/main" id="{1A1DBEA9-D546-4594-90FE-D6EBF9792C2E}"/>
              </a:ext>
            </a:extLst>
          </p:cNvPr>
          <p:cNvSpPr/>
          <p:nvPr/>
        </p:nvSpPr>
        <p:spPr>
          <a:xfrm>
            <a:off x="52861" y="7539929"/>
            <a:ext cx="3323863" cy="17381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8" name="Rectangle 87">
            <a:extLst>
              <a:ext uri="{FF2B5EF4-FFF2-40B4-BE49-F238E27FC236}">
                <a16:creationId xmlns:a16="http://schemas.microsoft.com/office/drawing/2014/main" id="{1A1DBEA9-D546-4594-90FE-D6EBF9792C2E}"/>
              </a:ext>
            </a:extLst>
          </p:cNvPr>
          <p:cNvSpPr/>
          <p:nvPr/>
        </p:nvSpPr>
        <p:spPr>
          <a:xfrm>
            <a:off x="3439536" y="7539929"/>
            <a:ext cx="3323863" cy="17381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Slide Number Placeholder 8"/>
          <p:cNvSpPr>
            <a:spLocks noGrp="1"/>
          </p:cNvSpPr>
          <p:nvPr>
            <p:ph type="sldNum" sz="quarter" idx="12"/>
          </p:nvPr>
        </p:nvSpPr>
        <p:spPr>
          <a:xfrm>
            <a:off x="5264020" y="9416827"/>
            <a:ext cx="1543050" cy="527403"/>
          </a:xfrm>
        </p:spPr>
        <p:txBody>
          <a:bodyPr/>
          <a:lstStyle/>
          <a:p>
            <a:fld id="{9BD3B4A0-BFF9-422C-B253-48BA94BE2F5B}" type="slidenum">
              <a:rPr lang="en-GB" noProof="0" smtClean="0"/>
              <a:t>2</a:t>
            </a:fld>
            <a:endParaRPr lang="en-GB" noProof="0" dirty="0"/>
          </a:p>
        </p:txBody>
      </p:sp>
      <p:sp>
        <p:nvSpPr>
          <p:cNvPr id="53" name="TextBox 52">
            <a:extLst>
              <a:ext uri="{FF2B5EF4-FFF2-40B4-BE49-F238E27FC236}">
                <a16:creationId xmlns:a16="http://schemas.microsoft.com/office/drawing/2014/main" id="{C3C65E48-8C3D-6849-AD77-7AD8678AD8DA}"/>
              </a:ext>
            </a:extLst>
          </p:cNvPr>
          <p:cNvSpPr txBox="1"/>
          <p:nvPr/>
        </p:nvSpPr>
        <p:spPr>
          <a:xfrm>
            <a:off x="52861" y="3206115"/>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
        <p:nvSpPr>
          <p:cNvPr id="10" name="TextBox 9">
            <a:extLst>
              <a:ext uri="{FF2B5EF4-FFF2-40B4-BE49-F238E27FC236}">
                <a16:creationId xmlns:a16="http://schemas.microsoft.com/office/drawing/2014/main" id="{BE7BF82F-A545-D87F-2A9F-B0D7B4A3EA85}"/>
              </a:ext>
            </a:extLst>
          </p:cNvPr>
          <p:cNvSpPr txBox="1"/>
          <p:nvPr/>
        </p:nvSpPr>
        <p:spPr>
          <a:xfrm>
            <a:off x="-21493" y="-17960"/>
            <a:ext cx="1904112" cy="276999"/>
          </a:xfrm>
          <a:prstGeom prst="rect">
            <a:avLst/>
          </a:prstGeom>
          <a:solidFill>
            <a:srgbClr val="0070C0"/>
          </a:solidFill>
        </p:spPr>
        <p:txBody>
          <a:bodyPr wrap="none" rtlCol="0" anchor="ctr">
            <a:spAutoFit/>
          </a:bodyPr>
          <a:lstStyle/>
          <a:p>
            <a:pPr algn="r"/>
            <a:r>
              <a:rPr lang="en-GB" sz="1200" b="1" noProof="0" dirty="0">
                <a:solidFill>
                  <a:schemeClr val="bg1"/>
                </a:solidFill>
              </a:rPr>
              <a:t>Substituting into Functions</a:t>
            </a:r>
          </a:p>
        </p:txBody>
      </p:sp>
    </p:spTree>
    <p:extLst>
      <p:ext uri="{BB962C8B-B14F-4D97-AF65-F5344CB8AC3E}">
        <p14:creationId xmlns:p14="http://schemas.microsoft.com/office/powerpoint/2010/main" val="1859692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22441" y="9541603"/>
            <a:ext cx="1543050" cy="527403"/>
          </a:xfrm>
        </p:spPr>
        <p:txBody>
          <a:bodyPr/>
          <a:lstStyle/>
          <a:p>
            <a:fld id="{9BD3B4A0-BFF9-422C-B253-48BA94BE2F5B}" type="slidenum">
              <a:rPr lang="en-GB" noProof="0" smtClean="0"/>
              <a:t>3</a:t>
            </a:fld>
            <a:endParaRPr lang="en-GB" noProof="0" dirty="0"/>
          </a:p>
        </p:txBody>
      </p:sp>
      <p:sp>
        <p:nvSpPr>
          <p:cNvPr id="3" name="TextBox 2">
            <a:extLst>
              <a:ext uri="{FF2B5EF4-FFF2-40B4-BE49-F238E27FC236}">
                <a16:creationId xmlns:a16="http://schemas.microsoft.com/office/drawing/2014/main" id="{1B91975E-B426-4910-919C-E3C5554DC081}"/>
              </a:ext>
            </a:extLst>
          </p:cNvPr>
          <p:cNvSpPr txBox="1"/>
          <p:nvPr/>
        </p:nvSpPr>
        <p:spPr>
          <a:xfrm>
            <a:off x="0" y="14169"/>
            <a:ext cx="1459054" cy="276999"/>
          </a:xfrm>
          <a:prstGeom prst="rect">
            <a:avLst/>
          </a:prstGeom>
          <a:solidFill>
            <a:srgbClr val="0070C0"/>
          </a:solidFill>
        </p:spPr>
        <p:txBody>
          <a:bodyPr wrap="none" rtlCol="0" anchor="ctr">
            <a:spAutoFit/>
          </a:bodyPr>
          <a:lstStyle/>
          <a:p>
            <a:pPr algn="ctr"/>
            <a:r>
              <a:rPr lang="en-GB" sz="1200" b="1" noProof="0" dirty="0">
                <a:solidFill>
                  <a:schemeClr val="bg1"/>
                </a:solidFill>
              </a:rPr>
              <a:t>FINDING THE INPUT</a:t>
            </a:r>
          </a:p>
        </p:txBody>
      </p:sp>
      <p:sp>
        <p:nvSpPr>
          <p:cNvPr id="7" name="TextBox 6">
            <a:extLst>
              <a:ext uri="{FF2B5EF4-FFF2-40B4-BE49-F238E27FC236}">
                <a16:creationId xmlns:a16="http://schemas.microsoft.com/office/drawing/2014/main" id="{EA4FD2D9-8D23-4ADE-B70E-F386FDED2BED}"/>
              </a:ext>
            </a:extLst>
          </p:cNvPr>
          <p:cNvSpPr txBox="1"/>
          <p:nvPr/>
        </p:nvSpPr>
        <p:spPr>
          <a:xfrm>
            <a:off x="5009050" y="409778"/>
            <a:ext cx="1463542" cy="276999"/>
          </a:xfrm>
          <a:prstGeom prst="rect">
            <a:avLst/>
          </a:prstGeom>
          <a:noFill/>
          <a:ln>
            <a:noFill/>
          </a:ln>
        </p:spPr>
        <p:txBody>
          <a:bodyPr wrap="none" rtlCol="0">
            <a:spAutoFit/>
          </a:bodyPr>
          <a:lstStyle/>
          <a:p>
            <a:r>
              <a:rPr lang="en-GB" sz="1200" b="1" i="1" noProof="0" dirty="0">
                <a:solidFill>
                  <a:srgbClr val="00B050"/>
                </a:solidFill>
              </a:rPr>
              <a:t>Example 6- You do…</a:t>
            </a:r>
          </a:p>
        </p:txBody>
      </p:sp>
      <p:sp>
        <p:nvSpPr>
          <p:cNvPr id="8" name="TextBox 7">
            <a:extLst>
              <a:ext uri="{FF2B5EF4-FFF2-40B4-BE49-F238E27FC236}">
                <a16:creationId xmlns:a16="http://schemas.microsoft.com/office/drawing/2014/main" id="{08E67FA9-518E-48EE-9C3C-DC43DA12711A}"/>
              </a:ext>
            </a:extLst>
          </p:cNvPr>
          <p:cNvSpPr txBox="1"/>
          <p:nvPr/>
        </p:nvSpPr>
        <p:spPr>
          <a:xfrm>
            <a:off x="3051274" y="198309"/>
            <a:ext cx="1475789" cy="276999"/>
          </a:xfrm>
          <a:prstGeom prst="rect">
            <a:avLst/>
          </a:prstGeom>
          <a:noFill/>
          <a:ln>
            <a:noFill/>
          </a:ln>
        </p:spPr>
        <p:txBody>
          <a:bodyPr wrap="none" rtlCol="0">
            <a:spAutoFit/>
          </a:bodyPr>
          <a:lstStyle/>
          <a:p>
            <a:r>
              <a:rPr lang="en-GB" sz="1200" b="1" i="1" noProof="0" dirty="0">
                <a:solidFill>
                  <a:schemeClr val="accent2"/>
                </a:solidFill>
              </a:rPr>
              <a:t>Example 5 - We do…</a:t>
            </a:r>
          </a:p>
        </p:txBody>
      </p:sp>
      <p:sp>
        <p:nvSpPr>
          <p:cNvPr id="9" name="TextBox 8">
            <a:extLst>
              <a:ext uri="{FF2B5EF4-FFF2-40B4-BE49-F238E27FC236}">
                <a16:creationId xmlns:a16="http://schemas.microsoft.com/office/drawing/2014/main" id="{0C5FDE3F-DC2A-468E-BF61-F69BF8BB2775}"/>
              </a:ext>
            </a:extLst>
          </p:cNvPr>
          <p:cNvSpPr txBox="1"/>
          <p:nvPr/>
        </p:nvSpPr>
        <p:spPr>
          <a:xfrm>
            <a:off x="1457117" y="217350"/>
            <a:ext cx="1273234" cy="276999"/>
          </a:xfrm>
          <a:prstGeom prst="rect">
            <a:avLst/>
          </a:prstGeom>
          <a:noFill/>
          <a:ln>
            <a:noFill/>
          </a:ln>
        </p:spPr>
        <p:txBody>
          <a:bodyPr wrap="none" rtlCol="0">
            <a:spAutoFit/>
          </a:bodyPr>
          <a:lstStyle/>
          <a:p>
            <a:r>
              <a:rPr lang="en-GB" sz="1200" b="1" i="1" noProof="0" dirty="0">
                <a:solidFill>
                  <a:srgbClr val="FF0000"/>
                </a:solidFill>
              </a:rPr>
              <a:t>Example 4- I do…</a:t>
            </a:r>
          </a:p>
        </p:txBody>
      </p:sp>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985473452"/>
                  </p:ext>
                </p:extLst>
              </p:nvPr>
            </p:nvGraphicFramePr>
            <p:xfrm>
              <a:off x="109404" y="481750"/>
              <a:ext cx="6639192" cy="3003286"/>
            </p:xfrm>
            <a:graphic>
              <a:graphicData uri="http://schemas.openxmlformats.org/drawingml/2006/table">
                <a:tbl>
                  <a:tblPr firstRow="1" bandRow="1">
                    <a:tableStyleId>{5C22544A-7EE6-4342-B048-85BDC9FD1C3A}</a:tableStyleId>
                  </a:tblPr>
                  <a:tblGrid>
                    <a:gridCol w="898539">
                      <a:extLst>
                        <a:ext uri="{9D8B030D-6E8A-4147-A177-3AD203B41FA5}">
                          <a16:colId xmlns:a16="http://schemas.microsoft.com/office/drawing/2014/main" val="1568142362"/>
                        </a:ext>
                      </a:extLst>
                    </a:gridCol>
                    <a:gridCol w="1828800">
                      <a:extLst>
                        <a:ext uri="{9D8B030D-6E8A-4147-A177-3AD203B41FA5}">
                          <a16:colId xmlns:a16="http://schemas.microsoft.com/office/drawing/2014/main" val="3551711160"/>
                        </a:ext>
                      </a:extLst>
                    </a:gridCol>
                    <a:gridCol w="1961321">
                      <a:extLst>
                        <a:ext uri="{9D8B030D-6E8A-4147-A177-3AD203B41FA5}">
                          <a16:colId xmlns:a16="http://schemas.microsoft.com/office/drawing/2014/main" val="772331842"/>
                        </a:ext>
                      </a:extLst>
                    </a:gridCol>
                    <a:gridCol w="1950532">
                      <a:extLst>
                        <a:ext uri="{9D8B030D-6E8A-4147-A177-3AD203B41FA5}">
                          <a16:colId xmlns:a16="http://schemas.microsoft.com/office/drawing/2014/main" val="1506195925"/>
                        </a:ext>
                      </a:extLst>
                    </a:gridCol>
                  </a:tblGrid>
                  <a:tr h="748135">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Given that </a:t>
                          </a:r>
                          <a14:m>
                            <m:oMath xmlns:m="http://schemas.openxmlformats.org/officeDocument/2006/math">
                              <m:r>
                                <a:rPr lang="en-GB" sz="1200" b="0" i="1" noProof="0" smtClean="0">
                                  <a:solidFill>
                                    <a:schemeClr val="tx1"/>
                                  </a:solidFill>
                                  <a:latin typeface="Cambria Math" panose="02040503050406030204" pitchFamily="18" charset="0"/>
                                </a:rPr>
                                <m:t>𝑓</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=6</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+1</m:t>
                              </m:r>
                            </m:oMath>
                          </a14:m>
                          <a:endParaRPr lang="en-GB" sz="1200" b="0" noProof="0" dirty="0">
                            <a:solidFill>
                              <a:schemeClr val="tx1"/>
                            </a:solidFill>
                          </a:endParaRPr>
                        </a:p>
                        <a:p>
                          <a:pPr algn="ctr"/>
                          <a:r>
                            <a:rPr lang="en-GB" sz="1200" b="0" noProof="0" dirty="0">
                              <a:solidFill>
                                <a:schemeClr val="tx1"/>
                              </a:solidFill>
                            </a:rPr>
                            <a:t>Find the value</a:t>
                          </a:r>
                          <a:r>
                            <a:rPr lang="en-GB" sz="1200" b="0" baseline="0" noProof="0" dirty="0">
                              <a:solidFill>
                                <a:schemeClr val="tx1"/>
                              </a:solidFill>
                            </a:rPr>
                            <a:t> of </a:t>
                          </a:r>
                          <a14:m>
                            <m:oMath xmlns:m="http://schemas.openxmlformats.org/officeDocument/2006/math">
                              <m:r>
                                <a:rPr lang="en-GB" sz="1200" b="0" i="1" baseline="0" noProof="0" smtClean="0">
                                  <a:solidFill>
                                    <a:schemeClr val="tx1"/>
                                  </a:solidFill>
                                  <a:latin typeface="Cambria Math" panose="02040503050406030204" pitchFamily="18" charset="0"/>
                                </a:rPr>
                                <m:t>𝑥</m:t>
                              </m:r>
                            </m:oMath>
                          </a14:m>
                          <a:r>
                            <a:rPr lang="en-GB" sz="1200" b="0" noProof="0" dirty="0">
                              <a:solidFill>
                                <a:schemeClr val="tx1"/>
                              </a:solidFill>
                            </a:rPr>
                            <a:t> when </a:t>
                          </a:r>
                          <a14:m>
                            <m:oMath xmlns:m="http://schemas.openxmlformats.org/officeDocument/2006/math">
                              <m:r>
                                <a:rPr lang="en-GB" sz="1200" b="0" i="1" noProof="0" smtClean="0">
                                  <a:solidFill>
                                    <a:schemeClr val="tx1"/>
                                  </a:solidFill>
                                  <a:latin typeface="Cambria Math" panose="02040503050406030204" pitchFamily="18" charset="0"/>
                                </a:rPr>
                                <m:t>𝑓</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=7</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Given that </a:t>
                          </a:r>
                          <a14:m>
                            <m:oMath xmlns:m="http://schemas.openxmlformats.org/officeDocument/2006/math">
                              <m:r>
                                <a:rPr lang="en-GB" sz="1200" b="0" i="1" noProof="0" smtClean="0">
                                  <a:solidFill>
                                    <a:schemeClr val="tx1"/>
                                  </a:solidFill>
                                  <a:latin typeface="Cambria Math" panose="02040503050406030204" pitchFamily="18" charset="0"/>
                                </a:rPr>
                                <m:t>𝑓</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=10</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+3</m:t>
                              </m:r>
                            </m:oMath>
                          </a14:m>
                          <a:endParaRPr lang="en-GB" sz="1200" b="0" noProof="0" dirty="0">
                            <a:solidFill>
                              <a:schemeClr val="tx1"/>
                            </a:solidFill>
                          </a:endParaRPr>
                        </a:p>
                        <a:p>
                          <a:pPr algn="ctr"/>
                          <a:r>
                            <a:rPr lang="en-GB" sz="1200" b="0" noProof="0" dirty="0">
                              <a:solidFill>
                                <a:schemeClr val="tx1"/>
                              </a:solidFill>
                            </a:rPr>
                            <a:t>Find the value</a:t>
                          </a:r>
                          <a:r>
                            <a:rPr lang="en-GB" sz="1200" b="0" baseline="0" noProof="0" dirty="0">
                              <a:solidFill>
                                <a:schemeClr val="tx1"/>
                              </a:solidFill>
                            </a:rPr>
                            <a:t> of </a:t>
                          </a:r>
                          <a14:m>
                            <m:oMath xmlns:m="http://schemas.openxmlformats.org/officeDocument/2006/math">
                              <m:r>
                                <a:rPr lang="en-GB" sz="1200" b="0" i="1" baseline="0" noProof="0" smtClean="0">
                                  <a:solidFill>
                                    <a:schemeClr val="tx1"/>
                                  </a:solidFill>
                                  <a:latin typeface="Cambria Math" panose="02040503050406030204" pitchFamily="18" charset="0"/>
                                </a:rPr>
                                <m:t>𝑥</m:t>
                              </m:r>
                            </m:oMath>
                          </a14:m>
                          <a:r>
                            <a:rPr lang="en-GB" sz="1200" b="0" noProof="0" dirty="0">
                              <a:solidFill>
                                <a:schemeClr val="tx1"/>
                              </a:solidFill>
                            </a:rPr>
                            <a:t> when </a:t>
                          </a:r>
                          <a14:m>
                            <m:oMath xmlns:m="http://schemas.openxmlformats.org/officeDocument/2006/math">
                              <m:r>
                                <a:rPr lang="en-GB" sz="1200" b="0" i="1" noProof="0" smtClean="0">
                                  <a:solidFill>
                                    <a:schemeClr val="tx1"/>
                                  </a:solidFill>
                                  <a:latin typeface="Cambria Math" panose="02040503050406030204" pitchFamily="18" charset="0"/>
                                </a:rPr>
                                <m:t>𝑓</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=7</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Given that </a:t>
                          </a:r>
                          <a14:m>
                            <m:oMath xmlns:m="http://schemas.openxmlformats.org/officeDocument/2006/math">
                              <m:r>
                                <a:rPr lang="en-GB" sz="1200" b="0" i="1" noProof="0" smtClean="0">
                                  <a:solidFill>
                                    <a:schemeClr val="tx1"/>
                                  </a:solidFill>
                                  <a:latin typeface="Cambria Math" panose="02040503050406030204" pitchFamily="18" charset="0"/>
                                </a:rPr>
                                <m:t>𝑓</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=8</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+5</m:t>
                              </m:r>
                            </m:oMath>
                          </a14:m>
                          <a:endParaRPr lang="en-GB" sz="1200" b="0" noProof="0" dirty="0">
                            <a:solidFill>
                              <a:schemeClr val="tx1"/>
                            </a:solidFill>
                          </a:endParaRPr>
                        </a:p>
                        <a:p>
                          <a:pPr algn="ctr"/>
                          <a:r>
                            <a:rPr lang="en-GB" sz="1200" b="0" noProof="0" dirty="0">
                              <a:solidFill>
                                <a:schemeClr val="tx1"/>
                              </a:solidFill>
                            </a:rPr>
                            <a:t>Find the value</a:t>
                          </a:r>
                          <a:r>
                            <a:rPr lang="en-GB" sz="1200" b="0" baseline="0" noProof="0" dirty="0">
                              <a:solidFill>
                                <a:schemeClr val="tx1"/>
                              </a:solidFill>
                            </a:rPr>
                            <a:t> of </a:t>
                          </a:r>
                          <a14:m>
                            <m:oMath xmlns:m="http://schemas.openxmlformats.org/officeDocument/2006/math">
                              <m:r>
                                <a:rPr lang="en-GB" sz="1200" b="0" i="1" baseline="0" noProof="0" smtClean="0">
                                  <a:solidFill>
                                    <a:schemeClr val="tx1"/>
                                  </a:solidFill>
                                  <a:latin typeface="Cambria Math" panose="02040503050406030204" pitchFamily="18" charset="0"/>
                                </a:rPr>
                                <m:t>𝑥</m:t>
                              </m:r>
                            </m:oMath>
                          </a14:m>
                          <a:r>
                            <a:rPr lang="en-GB" sz="1200" b="0" noProof="0" dirty="0">
                              <a:solidFill>
                                <a:schemeClr val="tx1"/>
                              </a:solidFill>
                            </a:rPr>
                            <a:t> when </a:t>
                          </a:r>
                          <a14:m>
                            <m:oMath xmlns:m="http://schemas.openxmlformats.org/officeDocument/2006/math">
                              <m:r>
                                <a:rPr lang="en-GB" sz="1200" b="0" i="1" noProof="0" smtClean="0">
                                  <a:solidFill>
                                    <a:schemeClr val="tx1"/>
                                  </a:solidFill>
                                  <a:latin typeface="Cambria Math" panose="02040503050406030204" pitchFamily="18" charset="0"/>
                                </a:rPr>
                                <m:t>𝑓</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=7</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050952">
                    <a:tc>
                      <a:txBody>
                        <a:bodyPr/>
                        <a:lstStyle/>
                        <a:p>
                          <a:r>
                            <a:rPr lang="en-GB" sz="1060" noProof="0" dirty="0">
                              <a:solidFill>
                                <a:schemeClr val="tx1"/>
                              </a:solidFill>
                            </a:rPr>
                            <a:t>1) Set the function and the output equal and set up an equation.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194447">
                    <a:tc>
                      <a:txBody>
                        <a:bodyPr/>
                        <a:lstStyle/>
                        <a:p>
                          <a:r>
                            <a:rPr lang="en-GB" sz="1060" noProof="0" dirty="0">
                              <a:solidFill>
                                <a:schemeClr val="tx1"/>
                              </a:solidFill>
                            </a:rPr>
                            <a:t>2) Solve for the input.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985473452"/>
                  </p:ext>
                </p:extLst>
              </p:nvPr>
            </p:nvGraphicFramePr>
            <p:xfrm>
              <a:off x="109404" y="481750"/>
              <a:ext cx="6639192" cy="3003286"/>
            </p:xfrm>
            <a:graphic>
              <a:graphicData uri="http://schemas.openxmlformats.org/drawingml/2006/table">
                <a:tbl>
                  <a:tblPr firstRow="1" bandRow="1">
                    <a:tableStyleId>{5C22544A-7EE6-4342-B048-85BDC9FD1C3A}</a:tableStyleId>
                  </a:tblPr>
                  <a:tblGrid>
                    <a:gridCol w="898539">
                      <a:extLst>
                        <a:ext uri="{9D8B030D-6E8A-4147-A177-3AD203B41FA5}">
                          <a16:colId xmlns:a16="http://schemas.microsoft.com/office/drawing/2014/main" val="1568142362"/>
                        </a:ext>
                      </a:extLst>
                    </a:gridCol>
                    <a:gridCol w="1828800">
                      <a:extLst>
                        <a:ext uri="{9D8B030D-6E8A-4147-A177-3AD203B41FA5}">
                          <a16:colId xmlns:a16="http://schemas.microsoft.com/office/drawing/2014/main" val="3551711160"/>
                        </a:ext>
                      </a:extLst>
                    </a:gridCol>
                    <a:gridCol w="1961321">
                      <a:extLst>
                        <a:ext uri="{9D8B030D-6E8A-4147-A177-3AD203B41FA5}">
                          <a16:colId xmlns:a16="http://schemas.microsoft.com/office/drawing/2014/main" val="772331842"/>
                        </a:ext>
                      </a:extLst>
                    </a:gridCol>
                    <a:gridCol w="1950532">
                      <a:extLst>
                        <a:ext uri="{9D8B030D-6E8A-4147-A177-3AD203B41FA5}">
                          <a16:colId xmlns:a16="http://schemas.microsoft.com/office/drawing/2014/main" val="1506195925"/>
                        </a:ext>
                      </a:extLst>
                    </a:gridCol>
                  </a:tblGrid>
                  <a:tr h="748135">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9667" t="-1626" r="-215000" b="-30243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39441" t="-1626" r="-100311" b="-30243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40187" t="-1626" r="-623" b="-302439"/>
                          </a:stretch>
                        </a:blipFill>
                      </a:tcPr>
                    </a:tc>
                    <a:extLst>
                      <a:ext uri="{0D108BD9-81ED-4DB2-BD59-A6C34878D82A}">
                        <a16:rowId xmlns:a16="http://schemas.microsoft.com/office/drawing/2014/main" val="2357201933"/>
                      </a:ext>
                    </a:extLst>
                  </a:tr>
                  <a:tr h="1060704">
                    <a:tc>
                      <a:txBody>
                        <a:bodyPr/>
                        <a:lstStyle/>
                        <a:p>
                          <a:r>
                            <a:rPr lang="en-GB" sz="1060" noProof="0">
                              <a:solidFill>
                                <a:schemeClr val="tx1"/>
                              </a:solidFill>
                            </a:rPr>
                            <a:t>1) Set the function and the output equal and set up an equation.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194447">
                    <a:tc>
                      <a:txBody>
                        <a:bodyPr/>
                        <a:lstStyle/>
                        <a:p>
                          <a:r>
                            <a:rPr lang="en-GB" sz="1060" noProof="0">
                              <a:solidFill>
                                <a:schemeClr val="tx1"/>
                              </a:solidFill>
                            </a:rPr>
                            <a:t>2) Solve for the input.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mc:Fallback>
      </mc:AlternateContent>
      <mc:AlternateContent xmlns:mc="http://schemas.openxmlformats.org/markup-compatibility/2006" xmlns:a14="http://schemas.microsoft.com/office/drawing/2010/main">
        <mc:Choice Requires="a14">
          <p:sp>
            <p:nvSpPr>
              <p:cNvPr id="14" name="Rectangle 13"/>
              <p:cNvSpPr/>
              <p:nvPr/>
            </p:nvSpPr>
            <p:spPr>
              <a:xfrm>
                <a:off x="1457117" y="3579663"/>
                <a:ext cx="4756762" cy="276999"/>
              </a:xfrm>
              <a:prstGeom prst="rect">
                <a:avLst/>
              </a:prstGeom>
            </p:spPr>
            <p:txBody>
              <a:bodyPr wrap="square">
                <a:spAutoFit/>
              </a:bodyPr>
              <a:lstStyle/>
              <a:p>
                <a:r>
                  <a:rPr lang="en-GB" sz="1200" noProof="0" dirty="0"/>
                  <a:t>5) Given that </a:t>
                </a:r>
                <a14:m>
                  <m:oMath xmlns:m="http://schemas.openxmlformats.org/officeDocument/2006/math">
                    <m:r>
                      <a:rPr lang="en-GB" sz="1200" i="1" noProof="0" smtClean="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𝑥</m:t>
                        </m:r>
                      </m:e>
                    </m:d>
                    <m:r>
                      <a:rPr lang="en-GB" sz="1200" i="1" noProof="0" smtClean="0">
                        <a:latin typeface="Cambria Math" panose="02040503050406030204" pitchFamily="18" charset="0"/>
                      </a:rPr>
                      <m:t>=6</m:t>
                    </m:r>
                    <m:r>
                      <a:rPr lang="en-GB" sz="1200" i="1" noProof="0" smtClean="0">
                        <a:latin typeface="Cambria Math" panose="02040503050406030204" pitchFamily="18" charset="0"/>
                      </a:rPr>
                      <m:t>𝑥</m:t>
                    </m:r>
                    <m:r>
                      <a:rPr lang="en-GB" sz="1200" i="1" noProof="0" smtClean="0">
                        <a:latin typeface="Cambria Math" panose="02040503050406030204" pitchFamily="18" charset="0"/>
                      </a:rPr>
                      <m:t>+1</m:t>
                    </m:r>
                    <m:r>
                      <a:rPr lang="en-GB" sz="1200" b="0" i="0" noProof="0" smtClean="0">
                        <a:latin typeface="Cambria Math" panose="02040503050406030204" pitchFamily="18" charset="0"/>
                      </a:rPr>
                      <m:t>,</m:t>
                    </m:r>
                  </m:oMath>
                </a14:m>
                <a:r>
                  <a:rPr lang="en-GB" sz="1200" noProof="0" dirty="0"/>
                  <a:t> find the value of </a:t>
                </a:r>
                <a14:m>
                  <m:oMath xmlns:m="http://schemas.openxmlformats.org/officeDocument/2006/math">
                    <m:r>
                      <a:rPr lang="en-GB" sz="1200" i="1" noProof="0" smtClean="0">
                        <a:latin typeface="Cambria Math" panose="02040503050406030204" pitchFamily="18" charset="0"/>
                      </a:rPr>
                      <m:t>𝑥</m:t>
                    </m:r>
                  </m:oMath>
                </a14:m>
                <a:r>
                  <a:rPr lang="en-GB" sz="1200" noProof="0" dirty="0"/>
                  <a:t> when:</a:t>
                </a:r>
              </a:p>
            </p:txBody>
          </p:sp>
        </mc:Choice>
        <mc:Fallback xmlns="">
          <p:sp>
            <p:nvSpPr>
              <p:cNvPr id="14" name="Rectangle 13"/>
              <p:cNvSpPr>
                <a:spLocks noRot="1" noChangeAspect="1" noMove="1" noResize="1" noEditPoints="1" noAdjustHandles="1" noChangeArrowheads="1" noChangeShapeType="1" noTextEdit="1"/>
              </p:cNvSpPr>
              <p:nvPr/>
            </p:nvSpPr>
            <p:spPr>
              <a:xfrm>
                <a:off x="1457117" y="3579663"/>
                <a:ext cx="4756762" cy="276999"/>
              </a:xfrm>
              <a:prstGeom prst="rect">
                <a:avLst/>
              </a:prstGeom>
              <a:blipFill>
                <a:blip r:embed="rId3"/>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121861" y="3863337"/>
                <a:ext cx="995977" cy="276999"/>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𝑎</m:t>
                      </m:r>
                      <m:r>
                        <a:rPr lang="en-GB" sz="1200" b="0" i="1" noProof="0" smtClean="0">
                          <a:latin typeface="Cambria Math" panose="02040503050406030204" pitchFamily="18" charset="0"/>
                        </a:rPr>
                        <m:t>) </m:t>
                      </m:r>
                      <m:r>
                        <a:rPr lang="en-GB" sz="1200" i="1" noProof="0" smtClean="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𝑥</m:t>
                          </m:r>
                        </m:e>
                      </m:d>
                      <m:r>
                        <a:rPr lang="en-GB" sz="1200" i="1" noProof="0" smtClean="0">
                          <a:latin typeface="Cambria Math" panose="02040503050406030204" pitchFamily="18" charset="0"/>
                        </a:rPr>
                        <m:t>=</m:t>
                      </m:r>
                      <m:r>
                        <a:rPr lang="en-GB" sz="1200" b="0" i="1" noProof="0" smtClean="0">
                          <a:latin typeface="Cambria Math" panose="02040503050406030204" pitchFamily="18" charset="0"/>
                        </a:rPr>
                        <m:t>1</m:t>
                      </m:r>
                    </m:oMath>
                  </m:oMathPara>
                </a14:m>
                <a:endParaRPr lang="en-GB" sz="1200" noProof="0" dirty="0"/>
              </a:p>
            </p:txBody>
          </p:sp>
        </mc:Choice>
        <mc:Fallback xmlns="">
          <p:sp>
            <p:nvSpPr>
              <p:cNvPr id="17" name="Rectangle 16"/>
              <p:cNvSpPr>
                <a:spLocks noRot="1" noChangeAspect="1" noMove="1" noResize="1" noEditPoints="1" noAdjustHandles="1" noChangeArrowheads="1" noChangeShapeType="1" noTextEdit="1"/>
              </p:cNvSpPr>
              <p:nvPr/>
            </p:nvSpPr>
            <p:spPr>
              <a:xfrm>
                <a:off x="121861" y="3863337"/>
                <a:ext cx="995977" cy="276999"/>
              </a:xfrm>
              <a:prstGeom prst="rect">
                <a:avLst/>
              </a:prstGeom>
              <a:blipFill>
                <a:blip r:embed="rId4"/>
                <a:stretch>
                  <a:fillRect b="-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1890278" y="3863335"/>
                <a:ext cx="993990" cy="276999"/>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𝑏</m:t>
                      </m:r>
                      <m:r>
                        <a:rPr lang="en-GB" sz="1200" b="0" i="1" noProof="0" smtClean="0">
                          <a:latin typeface="Cambria Math" panose="02040503050406030204" pitchFamily="18" charset="0"/>
                        </a:rPr>
                        <m:t>) </m:t>
                      </m:r>
                      <m:r>
                        <a:rPr lang="en-GB" sz="1200" i="1" noProof="0" smtClean="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𝑥</m:t>
                          </m:r>
                        </m:e>
                      </m:d>
                      <m:r>
                        <a:rPr lang="en-GB" sz="1200" i="1" noProof="0" smtClean="0">
                          <a:latin typeface="Cambria Math" panose="02040503050406030204" pitchFamily="18" charset="0"/>
                        </a:rPr>
                        <m:t>=</m:t>
                      </m:r>
                      <m:r>
                        <a:rPr lang="en-GB" sz="1200" b="0" i="1" noProof="0" smtClean="0">
                          <a:latin typeface="Cambria Math" panose="02040503050406030204" pitchFamily="18" charset="0"/>
                        </a:rPr>
                        <m:t>4</m:t>
                      </m:r>
                    </m:oMath>
                  </m:oMathPara>
                </a14:m>
                <a:endParaRPr lang="en-GB" sz="1200" noProof="0" dirty="0"/>
              </a:p>
            </p:txBody>
          </p:sp>
        </mc:Choice>
        <mc:Fallback xmlns="">
          <p:sp>
            <p:nvSpPr>
              <p:cNvPr id="18" name="Rectangle 17"/>
              <p:cNvSpPr>
                <a:spLocks noRot="1" noChangeAspect="1" noMove="1" noResize="1" noEditPoints="1" noAdjustHandles="1" noChangeArrowheads="1" noChangeShapeType="1" noTextEdit="1"/>
              </p:cNvSpPr>
              <p:nvPr/>
            </p:nvSpPr>
            <p:spPr>
              <a:xfrm>
                <a:off x="1890278" y="3863335"/>
                <a:ext cx="993990" cy="276999"/>
              </a:xfrm>
              <a:prstGeom prst="rect">
                <a:avLst/>
              </a:prstGeom>
              <a:blipFill>
                <a:blip r:embed="rId5"/>
                <a:stretch>
                  <a:fillRect b="-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3710637" y="3863335"/>
                <a:ext cx="937693" cy="276999"/>
              </a:xfrm>
              <a:prstGeom prst="rect">
                <a:avLst/>
              </a:prstGeom>
            </p:spPr>
            <p:txBody>
              <a:bodyPr wrap="none">
                <a:spAutoFit/>
              </a:bodyPr>
              <a:lstStyle/>
              <a:p>
                <a:pPr algn="ctr"/>
                <a:r>
                  <a:rPr lang="en-GB" sz="1200" b="0" noProof="0" dirty="0"/>
                  <a:t>c</a:t>
                </a:r>
                <a14:m>
                  <m:oMath xmlns:m="http://schemas.openxmlformats.org/officeDocument/2006/math">
                    <m:r>
                      <a:rPr lang="en-GB" sz="1200" b="0" i="1" noProof="0" smtClean="0">
                        <a:latin typeface="Cambria Math" panose="02040503050406030204" pitchFamily="18" charset="0"/>
                      </a:rPr>
                      <m:t>) </m:t>
                    </m:r>
                    <m:r>
                      <a:rPr lang="en-GB" sz="1200" i="1" noProof="0" smtClean="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𝑥</m:t>
                        </m:r>
                      </m:e>
                    </m:d>
                    <m:r>
                      <a:rPr lang="en-GB" sz="1200" i="1" noProof="0" smtClean="0">
                        <a:latin typeface="Cambria Math" panose="02040503050406030204" pitchFamily="18" charset="0"/>
                      </a:rPr>
                      <m:t>=</m:t>
                    </m:r>
                    <m:r>
                      <a:rPr lang="en-GB" sz="1200" b="0" i="1" noProof="0" smtClean="0">
                        <a:latin typeface="Cambria Math" panose="02040503050406030204" pitchFamily="18" charset="0"/>
                      </a:rPr>
                      <m:t>3</m:t>
                    </m:r>
                  </m:oMath>
                </a14:m>
                <a:endParaRPr lang="en-GB" sz="1200" noProof="0" dirty="0"/>
              </a:p>
            </p:txBody>
          </p:sp>
        </mc:Choice>
        <mc:Fallback xmlns="">
          <p:sp>
            <p:nvSpPr>
              <p:cNvPr id="19" name="Rectangle 18"/>
              <p:cNvSpPr>
                <a:spLocks noRot="1" noChangeAspect="1" noMove="1" noResize="1" noEditPoints="1" noAdjustHandles="1" noChangeArrowheads="1" noChangeShapeType="1" noTextEdit="1"/>
              </p:cNvSpPr>
              <p:nvPr/>
            </p:nvSpPr>
            <p:spPr>
              <a:xfrm>
                <a:off x="3710637" y="3863335"/>
                <a:ext cx="937693" cy="276999"/>
              </a:xfrm>
              <a:prstGeom prst="rect">
                <a:avLst/>
              </a:prstGeom>
              <a:blipFill>
                <a:blip r:embed="rId6"/>
                <a:stretch>
                  <a:fillRect l="-649"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5366513" y="3863336"/>
                <a:ext cx="1037079" cy="276999"/>
              </a:xfrm>
              <a:prstGeom prst="rect">
                <a:avLst/>
              </a:prstGeom>
            </p:spPr>
            <p:txBody>
              <a:bodyPr wrap="none">
                <a:spAutoFit/>
              </a:bodyPr>
              <a:lstStyle/>
              <a:p>
                <a:pPr algn="ctr"/>
                <a:r>
                  <a:rPr lang="en-GB" sz="1200" b="0" noProof="0" dirty="0"/>
                  <a:t>d</a:t>
                </a:r>
                <a14:m>
                  <m:oMath xmlns:m="http://schemas.openxmlformats.org/officeDocument/2006/math">
                    <m:r>
                      <a:rPr lang="en-GB" sz="1200" b="0" i="1" noProof="0" smtClean="0">
                        <a:latin typeface="Cambria Math" panose="02040503050406030204" pitchFamily="18" charset="0"/>
                      </a:rPr>
                      <m:t>) </m:t>
                    </m:r>
                    <m:r>
                      <a:rPr lang="en-GB" sz="1200" i="1" noProof="0" smtClean="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𝑥</m:t>
                        </m:r>
                      </m:e>
                    </m:d>
                    <m:r>
                      <a:rPr lang="en-GB" sz="1200" i="1" noProof="0" smtClean="0">
                        <a:latin typeface="Cambria Math" panose="02040503050406030204" pitchFamily="18" charset="0"/>
                      </a:rPr>
                      <m:t>=</m:t>
                    </m:r>
                    <m:r>
                      <a:rPr lang="en-GB" sz="1200" b="0" i="1" noProof="0" smtClean="0">
                        <a:latin typeface="Cambria Math" panose="02040503050406030204" pitchFamily="18" charset="0"/>
                      </a:rPr>
                      <m:t>10</m:t>
                    </m:r>
                  </m:oMath>
                </a14:m>
                <a:endParaRPr lang="en-GB" sz="1200" noProof="0" dirty="0"/>
              </a:p>
            </p:txBody>
          </p:sp>
        </mc:Choice>
        <mc:Fallback xmlns="">
          <p:sp>
            <p:nvSpPr>
              <p:cNvPr id="20" name="Rectangle 19"/>
              <p:cNvSpPr>
                <a:spLocks noRot="1" noChangeAspect="1" noMove="1" noResize="1" noEditPoints="1" noAdjustHandles="1" noChangeArrowheads="1" noChangeShapeType="1" noTextEdit="1"/>
              </p:cNvSpPr>
              <p:nvPr/>
            </p:nvSpPr>
            <p:spPr>
              <a:xfrm>
                <a:off x="5366513" y="3863336"/>
                <a:ext cx="1037079" cy="276999"/>
              </a:xfrm>
              <a:prstGeom prst="rect">
                <a:avLst/>
              </a:prstGeom>
              <a:blipFill>
                <a:blip r:embed="rId7"/>
                <a:stretch>
                  <a:fillRect t="-2222" b="-17778"/>
                </a:stretch>
              </a:blipFill>
            </p:spPr>
            <p:txBody>
              <a:bodyPr/>
              <a:lstStyle/>
              <a:p>
                <a:r>
                  <a:rPr lang="en-US">
                    <a:noFill/>
                  </a:rPr>
                  <a:t> </a:t>
                </a:r>
              </a:p>
            </p:txBody>
          </p:sp>
        </mc:Fallback>
      </mc:AlternateContent>
      <p:sp>
        <p:nvSpPr>
          <p:cNvPr id="21" name="Rectangle 20">
            <a:extLst>
              <a:ext uri="{FF2B5EF4-FFF2-40B4-BE49-F238E27FC236}">
                <a16:creationId xmlns:a16="http://schemas.microsoft.com/office/drawing/2014/main" id="{3C36006B-227E-45B6-ACB0-32FCE0D906FC}"/>
              </a:ext>
            </a:extLst>
          </p:cNvPr>
          <p:cNvSpPr/>
          <p:nvPr/>
        </p:nvSpPr>
        <p:spPr>
          <a:xfrm>
            <a:off x="66623" y="4244471"/>
            <a:ext cx="1623176" cy="25284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2" name="Rectangle 21">
            <a:extLst>
              <a:ext uri="{FF2B5EF4-FFF2-40B4-BE49-F238E27FC236}">
                <a16:creationId xmlns:a16="http://schemas.microsoft.com/office/drawing/2014/main" id="{3C36006B-227E-45B6-ACB0-32FCE0D906FC}"/>
              </a:ext>
            </a:extLst>
          </p:cNvPr>
          <p:cNvSpPr/>
          <p:nvPr/>
        </p:nvSpPr>
        <p:spPr>
          <a:xfrm>
            <a:off x="1746950" y="4247273"/>
            <a:ext cx="1623176" cy="2524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3" name="Rectangle 22">
            <a:extLst>
              <a:ext uri="{FF2B5EF4-FFF2-40B4-BE49-F238E27FC236}">
                <a16:creationId xmlns:a16="http://schemas.microsoft.com/office/drawing/2014/main" id="{3C36006B-227E-45B6-ACB0-32FCE0D906FC}"/>
              </a:ext>
            </a:extLst>
          </p:cNvPr>
          <p:cNvSpPr/>
          <p:nvPr/>
        </p:nvSpPr>
        <p:spPr>
          <a:xfrm>
            <a:off x="3450136" y="4240179"/>
            <a:ext cx="1623176" cy="25284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4" name="Rectangle 23">
            <a:extLst>
              <a:ext uri="{FF2B5EF4-FFF2-40B4-BE49-F238E27FC236}">
                <a16:creationId xmlns:a16="http://schemas.microsoft.com/office/drawing/2014/main" id="{3C36006B-227E-45B6-ACB0-32FCE0D906FC}"/>
              </a:ext>
            </a:extLst>
          </p:cNvPr>
          <p:cNvSpPr/>
          <p:nvPr/>
        </p:nvSpPr>
        <p:spPr>
          <a:xfrm>
            <a:off x="5137877" y="4244714"/>
            <a:ext cx="1623176" cy="25214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25" name="Rectangle 24"/>
              <p:cNvSpPr/>
              <p:nvPr/>
            </p:nvSpPr>
            <p:spPr>
              <a:xfrm>
                <a:off x="68353" y="6798129"/>
                <a:ext cx="1102994" cy="276999"/>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𝑒</m:t>
                      </m:r>
                      <m:r>
                        <a:rPr lang="en-GB" sz="1200" b="0" i="1" noProof="0" smtClean="0">
                          <a:latin typeface="Cambria Math" panose="02040503050406030204" pitchFamily="18" charset="0"/>
                        </a:rPr>
                        <m:t>) </m:t>
                      </m:r>
                      <m:r>
                        <a:rPr lang="en-GB" sz="1200" i="1" noProof="0" smtClean="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𝑥</m:t>
                          </m:r>
                        </m:e>
                      </m:d>
                      <m:r>
                        <a:rPr lang="en-GB" sz="1200" i="1" noProof="0" smtClean="0">
                          <a:latin typeface="Cambria Math" panose="02040503050406030204" pitchFamily="18" charset="0"/>
                        </a:rPr>
                        <m:t>=</m:t>
                      </m:r>
                      <m:r>
                        <a:rPr lang="en-GB" sz="1200" b="0" i="1" noProof="0" smtClean="0">
                          <a:latin typeface="Cambria Math" panose="02040503050406030204" pitchFamily="18" charset="0"/>
                        </a:rPr>
                        <m:t>−3</m:t>
                      </m:r>
                    </m:oMath>
                  </m:oMathPara>
                </a14:m>
                <a:endParaRPr lang="en-GB" sz="1200" noProof="0" dirty="0"/>
              </a:p>
            </p:txBody>
          </p:sp>
        </mc:Choice>
        <mc:Fallback xmlns="">
          <p:sp>
            <p:nvSpPr>
              <p:cNvPr id="25" name="Rectangle 24"/>
              <p:cNvSpPr>
                <a:spLocks noRot="1" noChangeAspect="1" noMove="1" noResize="1" noEditPoints="1" noAdjustHandles="1" noChangeArrowheads="1" noChangeShapeType="1" noTextEdit="1"/>
              </p:cNvSpPr>
              <p:nvPr/>
            </p:nvSpPr>
            <p:spPr>
              <a:xfrm>
                <a:off x="68353" y="6798129"/>
                <a:ext cx="1102994" cy="276999"/>
              </a:xfrm>
              <a:prstGeom prst="rect">
                <a:avLst/>
              </a:prstGeom>
              <a:blipFill>
                <a:blip r:embed="rId8"/>
                <a:stretch>
                  <a:fillRect b="-6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p:cNvSpPr/>
              <p:nvPr/>
            </p:nvSpPr>
            <p:spPr>
              <a:xfrm>
                <a:off x="1831224" y="6798127"/>
                <a:ext cx="1112099" cy="276999"/>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r>
                        <a:rPr lang="en-GB" sz="1200" b="0" i="1" noProof="0" smtClean="0">
                          <a:latin typeface="Cambria Math" panose="02040503050406030204" pitchFamily="18" charset="0"/>
                        </a:rPr>
                        <m:t>) </m:t>
                      </m:r>
                      <m:r>
                        <a:rPr lang="en-GB" sz="1200" i="1" noProof="0" smtClean="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𝑥</m:t>
                          </m:r>
                        </m:e>
                      </m:d>
                      <m:r>
                        <a:rPr lang="en-GB" sz="1200" i="1" noProof="0" smtClean="0">
                          <a:latin typeface="Cambria Math" panose="02040503050406030204" pitchFamily="18" charset="0"/>
                        </a:rPr>
                        <m:t>=</m:t>
                      </m:r>
                      <m:r>
                        <a:rPr lang="en-GB" sz="1200" b="0" i="1" noProof="0" smtClean="0">
                          <a:latin typeface="Cambria Math" panose="02040503050406030204" pitchFamily="18" charset="0"/>
                        </a:rPr>
                        <m:t>−4</m:t>
                      </m:r>
                    </m:oMath>
                  </m:oMathPara>
                </a14:m>
                <a:endParaRPr lang="en-GB" sz="1200" noProof="0" dirty="0"/>
              </a:p>
            </p:txBody>
          </p:sp>
        </mc:Choice>
        <mc:Fallback xmlns="">
          <p:sp>
            <p:nvSpPr>
              <p:cNvPr id="26" name="Rectangle 25"/>
              <p:cNvSpPr>
                <a:spLocks noRot="1" noChangeAspect="1" noMove="1" noResize="1" noEditPoints="1" noAdjustHandles="1" noChangeArrowheads="1" noChangeShapeType="1" noTextEdit="1"/>
              </p:cNvSpPr>
              <p:nvPr/>
            </p:nvSpPr>
            <p:spPr>
              <a:xfrm>
                <a:off x="1831224" y="6798127"/>
                <a:ext cx="1112099" cy="276999"/>
              </a:xfrm>
              <a:prstGeom prst="rect">
                <a:avLst/>
              </a:prstGeom>
              <a:blipFill>
                <a:blip r:embed="rId9"/>
                <a:stretch>
                  <a:fillRect b="-6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p:cNvSpPr/>
              <p:nvPr/>
            </p:nvSpPr>
            <p:spPr>
              <a:xfrm>
                <a:off x="3652929" y="6798127"/>
                <a:ext cx="1053110" cy="276999"/>
              </a:xfrm>
              <a:prstGeom prst="rect">
                <a:avLst/>
              </a:prstGeom>
            </p:spPr>
            <p:txBody>
              <a:bodyPr wrap="none">
                <a:spAutoFit/>
              </a:bodyPr>
              <a:lstStyle/>
              <a:p>
                <a:pPr algn="ctr"/>
                <a:r>
                  <a:rPr lang="en-GB" sz="1200" noProof="0" dirty="0"/>
                  <a:t>g</a:t>
                </a:r>
                <a14:m>
                  <m:oMath xmlns:m="http://schemas.openxmlformats.org/officeDocument/2006/math">
                    <m:r>
                      <a:rPr lang="en-GB" sz="1200" b="0" i="1" noProof="0" smtClean="0">
                        <a:latin typeface="Cambria Math" panose="02040503050406030204" pitchFamily="18" charset="0"/>
                      </a:rPr>
                      <m:t>) </m:t>
                    </m:r>
                    <m:r>
                      <a:rPr lang="en-GB" sz="1200" i="1" noProof="0" smtClean="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𝑥</m:t>
                        </m:r>
                      </m:e>
                    </m:d>
                    <m:r>
                      <a:rPr lang="en-GB" sz="1200" i="1" noProof="0" smtClean="0">
                        <a:latin typeface="Cambria Math" panose="02040503050406030204" pitchFamily="18" charset="0"/>
                      </a:rPr>
                      <m:t>=</m:t>
                    </m:r>
                    <m:r>
                      <a:rPr lang="en-GB" sz="1200" b="0" i="1" noProof="0" smtClean="0">
                        <a:latin typeface="Cambria Math" panose="02040503050406030204" pitchFamily="18" charset="0"/>
                      </a:rPr>
                      <m:t>−2</m:t>
                    </m:r>
                  </m:oMath>
                </a14:m>
                <a:endParaRPr lang="en-GB" sz="1200" noProof="0" dirty="0"/>
              </a:p>
            </p:txBody>
          </p:sp>
        </mc:Choice>
        <mc:Fallback xmlns="">
          <p:sp>
            <p:nvSpPr>
              <p:cNvPr id="27" name="Rectangle 26"/>
              <p:cNvSpPr>
                <a:spLocks noRot="1" noChangeAspect="1" noMove="1" noResize="1" noEditPoints="1" noAdjustHandles="1" noChangeArrowheads="1" noChangeShapeType="1" noTextEdit="1"/>
              </p:cNvSpPr>
              <p:nvPr/>
            </p:nvSpPr>
            <p:spPr>
              <a:xfrm>
                <a:off x="3652929" y="6798127"/>
                <a:ext cx="1053110" cy="276999"/>
              </a:xfrm>
              <a:prstGeom prst="rect">
                <a:avLst/>
              </a:prstGeom>
              <a:blipFill>
                <a:blip r:embed="rId10"/>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p:cNvSpPr/>
              <p:nvPr/>
            </p:nvSpPr>
            <p:spPr>
              <a:xfrm>
                <a:off x="5308805" y="6798128"/>
                <a:ext cx="1152495" cy="276999"/>
              </a:xfrm>
              <a:prstGeom prst="rect">
                <a:avLst/>
              </a:prstGeom>
            </p:spPr>
            <p:txBody>
              <a:bodyPr wrap="none">
                <a:spAutoFit/>
              </a:bodyPr>
              <a:lstStyle/>
              <a:p>
                <a:pPr algn="ctr"/>
                <a:r>
                  <a:rPr lang="en-GB" sz="1200" noProof="0" dirty="0"/>
                  <a:t>h</a:t>
                </a:r>
                <a14:m>
                  <m:oMath xmlns:m="http://schemas.openxmlformats.org/officeDocument/2006/math">
                    <m:r>
                      <a:rPr lang="en-GB" sz="1200" b="0" i="1" noProof="0" smtClean="0">
                        <a:latin typeface="Cambria Math" panose="02040503050406030204" pitchFamily="18" charset="0"/>
                      </a:rPr>
                      <m:t>) </m:t>
                    </m:r>
                    <m:r>
                      <a:rPr lang="en-GB" sz="1200" i="1" noProof="0" smtClean="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𝑥</m:t>
                        </m:r>
                      </m:e>
                    </m:d>
                    <m:r>
                      <a:rPr lang="en-GB" sz="1200" i="1" noProof="0" smtClean="0">
                        <a:latin typeface="Cambria Math" panose="02040503050406030204" pitchFamily="18" charset="0"/>
                      </a:rPr>
                      <m:t>=</m:t>
                    </m:r>
                    <m:r>
                      <a:rPr lang="en-GB" sz="1200" b="0" i="1" noProof="0" smtClean="0">
                        <a:latin typeface="Cambria Math" panose="02040503050406030204" pitchFamily="18" charset="0"/>
                      </a:rPr>
                      <m:t>−10</m:t>
                    </m:r>
                  </m:oMath>
                </a14:m>
                <a:endParaRPr lang="en-GB" sz="1200" noProof="0" dirty="0"/>
              </a:p>
            </p:txBody>
          </p:sp>
        </mc:Choice>
        <mc:Fallback xmlns="">
          <p:sp>
            <p:nvSpPr>
              <p:cNvPr id="28" name="Rectangle 27"/>
              <p:cNvSpPr>
                <a:spLocks noRot="1" noChangeAspect="1" noMove="1" noResize="1" noEditPoints="1" noAdjustHandles="1" noChangeArrowheads="1" noChangeShapeType="1" noTextEdit="1"/>
              </p:cNvSpPr>
              <p:nvPr/>
            </p:nvSpPr>
            <p:spPr>
              <a:xfrm>
                <a:off x="5308805" y="6798128"/>
                <a:ext cx="1152495" cy="276999"/>
              </a:xfrm>
              <a:prstGeom prst="rect">
                <a:avLst/>
              </a:prstGeom>
              <a:blipFill>
                <a:blip r:embed="rId11"/>
                <a:stretch>
                  <a:fillRect b="-15217"/>
                </a:stretch>
              </a:blipFill>
            </p:spPr>
            <p:txBody>
              <a:bodyPr/>
              <a:lstStyle/>
              <a:p>
                <a:r>
                  <a:rPr lang="en-US">
                    <a:noFill/>
                  </a:rPr>
                  <a:t> </a:t>
                </a:r>
              </a:p>
            </p:txBody>
          </p:sp>
        </mc:Fallback>
      </mc:AlternateContent>
      <p:sp>
        <p:nvSpPr>
          <p:cNvPr id="29" name="Rectangle 28">
            <a:extLst>
              <a:ext uri="{FF2B5EF4-FFF2-40B4-BE49-F238E27FC236}">
                <a16:creationId xmlns:a16="http://schemas.microsoft.com/office/drawing/2014/main" id="{3C36006B-227E-45B6-ACB0-32FCE0D906FC}"/>
              </a:ext>
            </a:extLst>
          </p:cNvPr>
          <p:cNvSpPr/>
          <p:nvPr/>
        </p:nvSpPr>
        <p:spPr>
          <a:xfrm>
            <a:off x="66623" y="7179263"/>
            <a:ext cx="1623176" cy="25284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0" name="Rectangle 29">
            <a:extLst>
              <a:ext uri="{FF2B5EF4-FFF2-40B4-BE49-F238E27FC236}">
                <a16:creationId xmlns:a16="http://schemas.microsoft.com/office/drawing/2014/main" id="{3C36006B-227E-45B6-ACB0-32FCE0D906FC}"/>
              </a:ext>
            </a:extLst>
          </p:cNvPr>
          <p:cNvSpPr/>
          <p:nvPr/>
        </p:nvSpPr>
        <p:spPr>
          <a:xfrm>
            <a:off x="1746950" y="7182065"/>
            <a:ext cx="1623176" cy="2524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1" name="Rectangle 30">
            <a:extLst>
              <a:ext uri="{FF2B5EF4-FFF2-40B4-BE49-F238E27FC236}">
                <a16:creationId xmlns:a16="http://schemas.microsoft.com/office/drawing/2014/main" id="{3C36006B-227E-45B6-ACB0-32FCE0D906FC}"/>
              </a:ext>
            </a:extLst>
          </p:cNvPr>
          <p:cNvSpPr/>
          <p:nvPr/>
        </p:nvSpPr>
        <p:spPr>
          <a:xfrm>
            <a:off x="3450136" y="7174971"/>
            <a:ext cx="1623176" cy="25284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2" name="Rectangle 31">
            <a:extLst>
              <a:ext uri="{FF2B5EF4-FFF2-40B4-BE49-F238E27FC236}">
                <a16:creationId xmlns:a16="http://schemas.microsoft.com/office/drawing/2014/main" id="{3C36006B-227E-45B6-ACB0-32FCE0D906FC}"/>
              </a:ext>
            </a:extLst>
          </p:cNvPr>
          <p:cNvSpPr/>
          <p:nvPr/>
        </p:nvSpPr>
        <p:spPr>
          <a:xfrm>
            <a:off x="5137877" y="7179506"/>
            <a:ext cx="1623176" cy="25214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1" name="TextBox 40">
            <a:extLst>
              <a:ext uri="{FF2B5EF4-FFF2-40B4-BE49-F238E27FC236}">
                <a16:creationId xmlns:a16="http://schemas.microsoft.com/office/drawing/2014/main" id="{C3C65E48-8C3D-6849-AD77-7AD8678AD8DA}"/>
              </a:ext>
            </a:extLst>
          </p:cNvPr>
          <p:cNvSpPr txBox="1"/>
          <p:nvPr/>
        </p:nvSpPr>
        <p:spPr>
          <a:xfrm>
            <a:off x="132877" y="3576749"/>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
        <p:nvSpPr>
          <p:cNvPr id="4" name="TextBox 3">
            <a:extLst>
              <a:ext uri="{FF2B5EF4-FFF2-40B4-BE49-F238E27FC236}">
                <a16:creationId xmlns:a16="http://schemas.microsoft.com/office/drawing/2014/main" id="{61D3DB41-CDE3-E5FD-9A7B-877C0E9BDD0D}"/>
              </a:ext>
            </a:extLst>
          </p:cNvPr>
          <p:cNvSpPr txBox="1"/>
          <p:nvPr/>
        </p:nvSpPr>
        <p:spPr>
          <a:xfrm>
            <a:off x="4985511" y="211258"/>
            <a:ext cx="1498808" cy="276999"/>
          </a:xfrm>
          <a:prstGeom prst="rect">
            <a:avLst/>
          </a:prstGeom>
          <a:noFill/>
          <a:ln>
            <a:noFill/>
          </a:ln>
        </p:spPr>
        <p:txBody>
          <a:bodyPr wrap="none" rtlCol="0">
            <a:spAutoFit/>
          </a:bodyPr>
          <a:lstStyle/>
          <a:p>
            <a:r>
              <a:rPr lang="en-GB" sz="1200" b="1" i="1" noProof="0" dirty="0">
                <a:solidFill>
                  <a:srgbClr val="00B050"/>
                </a:solidFill>
              </a:rPr>
              <a:t>Example 6 - You do…</a:t>
            </a:r>
          </a:p>
        </p:txBody>
      </p:sp>
    </p:spTree>
    <p:extLst>
      <p:ext uri="{BB962C8B-B14F-4D97-AF65-F5344CB8AC3E}">
        <p14:creationId xmlns:p14="http://schemas.microsoft.com/office/powerpoint/2010/main" val="1629160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80CA423-62E4-4D9E-A61F-19419774D88E}"/>
                  </a:ext>
                </a:extLst>
              </p:cNvPr>
              <p:cNvSpPr txBox="1"/>
              <p:nvPr/>
            </p:nvSpPr>
            <p:spPr>
              <a:xfrm>
                <a:off x="4709208" y="324069"/>
                <a:ext cx="2155809" cy="2123658"/>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−2</m:t>
                      </m:r>
                    </m:oMath>
                  </m:oMathPara>
                </a14:m>
                <a:endParaRPr lang="en-GB" sz="1200" noProof="0" dirty="0"/>
              </a:p>
              <a:p>
                <a:pPr algn="ctr"/>
                <a:endParaRPr lang="en-GB" sz="1200" noProof="0" dirty="0"/>
              </a:p>
              <a:p>
                <a:pPr algn="ctr"/>
                <a:r>
                  <a:rPr lang="en-GB" sz="1200" noProof="0" dirty="0"/>
                  <a:t>Find:</a:t>
                </a:r>
              </a:p>
              <a:p>
                <a:pPr algn="ctr"/>
                <a:endParaRPr lang="en-GB" sz="1200" noProof="0" dirty="0"/>
              </a:p>
              <a:p>
                <a:r>
                  <a:rPr lang="en-GB" sz="1200" b="0" noProof="0" dirty="0"/>
                  <a:t> </a:t>
                </a:r>
                <a14:m>
                  <m:oMath xmlns:m="http://schemas.openxmlformats.org/officeDocument/2006/math">
                    <m:r>
                      <a:rPr lang="en-GB" sz="1200" b="0" i="0" noProof="0" smtClean="0">
                        <a:latin typeface="Cambria Math" panose="02040503050406030204" pitchFamily="18" charset="0"/>
                      </a:rPr>
                      <m:t>3</m:t>
                    </m:r>
                    <m:r>
                      <a:rPr lang="en-GB" sz="1200" b="0" i="1" noProof="0" smtClean="0">
                        <a:latin typeface="Cambria Math" panose="02040503050406030204" pitchFamily="18" charset="0"/>
                      </a:rPr>
                      <m:t>𝑓</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p:txBody>
          </p:sp>
        </mc:Choice>
        <mc:Fallback xmlns="">
          <p:sp>
            <p:nvSpPr>
              <p:cNvPr id="11" name="TextBox 10">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4709208" y="324069"/>
                <a:ext cx="2155809" cy="2123658"/>
              </a:xfrm>
              <a:prstGeom prst="rect">
                <a:avLst/>
              </a:prstGeom>
              <a:blipFill>
                <a:blip r:embed="rId2"/>
                <a:stretch>
                  <a:fillRect/>
                </a:stretch>
              </a:blipFill>
            </p:spPr>
            <p:txBody>
              <a:bodyPr/>
              <a:lstStyle/>
              <a:p>
                <a:r>
                  <a:rPr lang="en-US">
                    <a:noFill/>
                  </a:rPr>
                  <a:t> </a:t>
                </a:r>
              </a:p>
            </p:txBody>
          </p:sp>
        </mc:Fallback>
      </mc:AlternateContent>
      <p:sp>
        <p:nvSpPr>
          <p:cNvPr id="2" name="Rectangle 1">
            <a:extLst>
              <a:ext uri="{FF2B5EF4-FFF2-40B4-BE49-F238E27FC236}">
                <a16:creationId xmlns:a16="http://schemas.microsoft.com/office/drawing/2014/main" id="{F659B38D-7A78-46E4-B9C9-6312593C5041}"/>
              </a:ext>
            </a:extLst>
          </p:cNvPr>
          <p:cNvSpPr/>
          <p:nvPr/>
        </p:nvSpPr>
        <p:spPr>
          <a:xfrm>
            <a:off x="4673622" y="273621"/>
            <a:ext cx="2089777" cy="1811210"/>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p:txBody>
      </p:sp>
      <p:sp>
        <p:nvSpPr>
          <p:cNvPr id="3" name="TextBox 2">
            <a:extLst>
              <a:ext uri="{FF2B5EF4-FFF2-40B4-BE49-F238E27FC236}">
                <a16:creationId xmlns:a16="http://schemas.microsoft.com/office/drawing/2014/main" id="{EA4FD2D9-8D23-4ADE-B70E-F386FDED2BED}"/>
              </a:ext>
            </a:extLst>
          </p:cNvPr>
          <p:cNvSpPr txBox="1"/>
          <p:nvPr/>
        </p:nvSpPr>
        <p:spPr>
          <a:xfrm>
            <a:off x="4572004" y="989"/>
            <a:ext cx="1463542" cy="276999"/>
          </a:xfrm>
          <a:prstGeom prst="rect">
            <a:avLst/>
          </a:prstGeom>
          <a:noFill/>
          <a:ln>
            <a:noFill/>
          </a:ln>
        </p:spPr>
        <p:txBody>
          <a:bodyPr wrap="none" rtlCol="0">
            <a:spAutoFit/>
          </a:bodyPr>
          <a:lstStyle/>
          <a:p>
            <a:r>
              <a:rPr lang="en-GB" sz="1200" b="1" i="1" noProof="0" dirty="0">
                <a:solidFill>
                  <a:srgbClr val="00B050"/>
                </a:solidFill>
              </a:rPr>
              <a:t>Example 9- You do…</a:t>
            </a:r>
          </a:p>
        </p:txBody>
      </p:sp>
      <p:sp>
        <p:nvSpPr>
          <p:cNvPr id="4" name="Rectangle 3">
            <a:extLst>
              <a:ext uri="{FF2B5EF4-FFF2-40B4-BE49-F238E27FC236}">
                <a16:creationId xmlns:a16="http://schemas.microsoft.com/office/drawing/2014/main" id="{3E9C8B3E-E2B2-49A4-89FE-F9C9137A06D7}"/>
              </a:ext>
            </a:extLst>
          </p:cNvPr>
          <p:cNvSpPr/>
          <p:nvPr/>
        </p:nvSpPr>
        <p:spPr>
          <a:xfrm>
            <a:off x="2448018" y="273621"/>
            <a:ext cx="2151812" cy="1811211"/>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1200" noProof="0" dirty="0">
              <a:solidFill>
                <a:schemeClr val="tx1"/>
              </a:solidFill>
            </a:endParaRPr>
          </a:p>
        </p:txBody>
      </p:sp>
      <p:sp>
        <p:nvSpPr>
          <p:cNvPr id="5" name="TextBox 4">
            <a:extLst>
              <a:ext uri="{FF2B5EF4-FFF2-40B4-BE49-F238E27FC236}">
                <a16:creationId xmlns:a16="http://schemas.microsoft.com/office/drawing/2014/main" id="{08E67FA9-518E-48EE-9C3C-DC43DA12711A}"/>
              </a:ext>
            </a:extLst>
          </p:cNvPr>
          <p:cNvSpPr txBox="1"/>
          <p:nvPr/>
        </p:nvSpPr>
        <p:spPr>
          <a:xfrm>
            <a:off x="2395486" y="0"/>
            <a:ext cx="1475789" cy="276999"/>
          </a:xfrm>
          <a:prstGeom prst="rect">
            <a:avLst/>
          </a:prstGeom>
          <a:noFill/>
          <a:ln>
            <a:noFill/>
          </a:ln>
        </p:spPr>
        <p:txBody>
          <a:bodyPr wrap="none" rtlCol="0">
            <a:spAutoFit/>
          </a:bodyPr>
          <a:lstStyle/>
          <a:p>
            <a:r>
              <a:rPr lang="en-GB" sz="1200" b="1" i="1" noProof="0" dirty="0">
                <a:solidFill>
                  <a:schemeClr val="accent2"/>
                </a:solidFill>
              </a:rPr>
              <a:t>Example 8 - We do…</a:t>
            </a:r>
          </a:p>
        </p:txBody>
      </p:sp>
      <p:sp>
        <p:nvSpPr>
          <p:cNvPr id="6" name="TextBox 5">
            <a:extLst>
              <a:ext uri="{FF2B5EF4-FFF2-40B4-BE49-F238E27FC236}">
                <a16:creationId xmlns:a16="http://schemas.microsoft.com/office/drawing/2014/main" id="{0C5FDE3F-DC2A-468E-BF61-F69BF8BB2775}"/>
              </a:ext>
            </a:extLst>
          </p:cNvPr>
          <p:cNvSpPr txBox="1"/>
          <p:nvPr/>
        </p:nvSpPr>
        <p:spPr>
          <a:xfrm>
            <a:off x="52861" y="15668"/>
            <a:ext cx="1273234" cy="276999"/>
          </a:xfrm>
          <a:prstGeom prst="rect">
            <a:avLst/>
          </a:prstGeom>
          <a:noFill/>
          <a:ln>
            <a:noFill/>
          </a:ln>
        </p:spPr>
        <p:txBody>
          <a:bodyPr wrap="none" rtlCol="0">
            <a:spAutoFit/>
          </a:bodyPr>
          <a:lstStyle/>
          <a:p>
            <a:r>
              <a:rPr lang="en-GB" sz="1200" b="1" i="1" noProof="0" dirty="0">
                <a:solidFill>
                  <a:srgbClr val="FF0000"/>
                </a:solidFill>
              </a:rPr>
              <a:t>Example 7- I do…</a:t>
            </a:r>
          </a:p>
        </p:txBody>
      </p:sp>
      <p:sp>
        <p:nvSpPr>
          <p:cNvPr id="7" name="Rectangle 6">
            <a:extLst>
              <a:ext uri="{FF2B5EF4-FFF2-40B4-BE49-F238E27FC236}">
                <a16:creationId xmlns:a16="http://schemas.microsoft.com/office/drawing/2014/main" id="{88702858-2340-4E05-9D8E-B489EE06713C}"/>
              </a:ext>
            </a:extLst>
          </p:cNvPr>
          <p:cNvSpPr/>
          <p:nvPr/>
        </p:nvSpPr>
        <p:spPr>
          <a:xfrm>
            <a:off x="113093" y="273622"/>
            <a:ext cx="2261133" cy="181121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0B0F0"/>
              </a:solidFill>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80CA423-62E4-4D9E-A61F-19419774D88E}"/>
                  </a:ext>
                </a:extLst>
              </p:cNvPr>
              <p:cNvSpPr txBox="1"/>
              <p:nvPr/>
            </p:nvSpPr>
            <p:spPr>
              <a:xfrm>
                <a:off x="144491" y="294930"/>
                <a:ext cx="2155809" cy="193899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m:oMathPara>
                </a14:m>
                <a:endParaRPr lang="en-GB" sz="1200" noProof="0" dirty="0"/>
              </a:p>
              <a:p>
                <a:pPr algn="ctr"/>
                <a:endParaRPr lang="en-GB" sz="1200" noProof="0" dirty="0"/>
              </a:p>
              <a:p>
                <a:pPr algn="ctr"/>
                <a:r>
                  <a:rPr lang="en-GB" sz="1200" noProof="0" dirty="0"/>
                  <a:t>Find:</a:t>
                </a:r>
              </a:p>
              <a:p>
                <a:pPr algn="ctr"/>
                <a:endParaRPr lang="en-GB" sz="1200" noProof="0" dirty="0"/>
              </a:p>
              <a:p>
                <a:r>
                  <a:rPr lang="en-GB" sz="1200" b="0" noProof="0" dirty="0"/>
                  <a:t> </a:t>
                </a:r>
                <a14:m>
                  <m:oMath xmlns:m="http://schemas.openxmlformats.org/officeDocument/2006/math">
                    <m:r>
                      <a:rPr lang="en-GB" sz="1200" b="0" i="0" noProof="0" smtClean="0">
                        <a:latin typeface="Cambria Math" panose="02040503050406030204" pitchFamily="18" charset="0"/>
                      </a:rPr>
                      <m:t>2</m:t>
                    </m:r>
                    <m:r>
                      <a:rPr lang="en-GB" sz="1200" b="0" i="1" noProof="0" smtClean="0">
                        <a:latin typeface="Cambria Math" panose="02040503050406030204" pitchFamily="18" charset="0"/>
                      </a:rPr>
                      <m:t>𝑓</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p:txBody>
          </p:sp>
        </mc:Choice>
        <mc:Fallback xmlns="">
          <p:sp>
            <p:nvSpPr>
              <p:cNvPr id="8" name="TextBox 7">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144491" y="294930"/>
                <a:ext cx="2155809" cy="193899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80CA423-62E4-4D9E-A61F-19419774D88E}"/>
                  </a:ext>
                </a:extLst>
              </p:cNvPr>
              <p:cNvSpPr txBox="1"/>
              <p:nvPr/>
            </p:nvSpPr>
            <p:spPr>
              <a:xfrm>
                <a:off x="2496553" y="324069"/>
                <a:ext cx="2155809" cy="138499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m:oMathPara>
                </a14:m>
                <a:endParaRPr lang="en-GB" sz="1200" noProof="0" dirty="0"/>
              </a:p>
              <a:p>
                <a:pPr algn="ctr"/>
                <a:endParaRPr lang="en-GB" sz="1200" noProof="0" dirty="0"/>
              </a:p>
              <a:p>
                <a:pPr algn="ctr"/>
                <a:r>
                  <a:rPr lang="en-GB" sz="1200" noProof="0" dirty="0"/>
                  <a:t>Find:</a:t>
                </a:r>
              </a:p>
              <a:p>
                <a:pPr algn="ctr"/>
                <a:endParaRPr lang="en-GB" sz="1200" noProof="0" dirty="0"/>
              </a:p>
              <a:p>
                <a:r>
                  <a:rPr lang="en-GB" sz="1200" b="0" noProof="0" dirty="0"/>
                  <a:t> </a:t>
                </a:r>
                <a14:m>
                  <m:oMath xmlns:m="http://schemas.openxmlformats.org/officeDocument/2006/math">
                    <m:r>
                      <a:rPr lang="en-GB" sz="1200" b="0" i="0" noProof="0" smtClean="0">
                        <a:latin typeface="Cambria Math" panose="02040503050406030204" pitchFamily="18" charset="0"/>
                      </a:rPr>
                      <m:t>3</m:t>
                    </m:r>
                    <m:r>
                      <a:rPr lang="en-GB" sz="1200" b="0" i="1" noProof="0" smtClean="0">
                        <a:latin typeface="Cambria Math" panose="02040503050406030204" pitchFamily="18" charset="0"/>
                      </a:rPr>
                      <m:t>𝑓</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a:p>
                <a:endParaRPr lang="en-GB" sz="1200" noProof="0" dirty="0"/>
              </a:p>
              <a:p>
                <a:endParaRPr lang="en-GB" sz="1200" noProof="0" dirty="0"/>
              </a:p>
            </p:txBody>
          </p:sp>
        </mc:Choice>
        <mc:Fallback xmlns="">
          <p:sp>
            <p:nvSpPr>
              <p:cNvPr id="10" name="TextBox 9">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2496553" y="324069"/>
                <a:ext cx="2155809" cy="138499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80CA423-62E4-4D9E-A61F-19419774D88E}"/>
                  </a:ext>
                </a:extLst>
              </p:cNvPr>
              <p:cNvSpPr txBox="1"/>
              <p:nvPr/>
            </p:nvSpPr>
            <p:spPr>
              <a:xfrm>
                <a:off x="64291" y="2535004"/>
                <a:ext cx="2155809" cy="2123658"/>
              </a:xfrm>
              <a:prstGeom prst="rect">
                <a:avLst/>
              </a:prstGeom>
              <a:noFill/>
            </p:spPr>
            <p:txBody>
              <a:bodyPr wrap="square" rtlCol="0">
                <a:spAutoFit/>
              </a:bodyPr>
              <a:lstStyle/>
              <a:p>
                <a:pPr algn="ctr"/>
                <a:r>
                  <a:rPr lang="en-GB" sz="1200" b="0" noProof="0" dirty="0"/>
                  <a:t>1) </a:t>
                </a:r>
                <a14:m>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+6</m:t>
                    </m:r>
                  </m:oMath>
                </a14:m>
                <a:endParaRPr lang="en-GB" sz="1200" noProof="0" dirty="0"/>
              </a:p>
              <a:p>
                <a:pPr algn="ctr"/>
                <a:endParaRPr lang="en-GB" sz="1200" noProof="0" dirty="0"/>
              </a:p>
              <a:p>
                <a:pPr algn="ctr"/>
                <a:r>
                  <a:rPr lang="en-GB" sz="1200" noProof="0" dirty="0"/>
                  <a:t>Find:</a:t>
                </a:r>
              </a:p>
              <a:p>
                <a:pPr algn="ctr"/>
                <a:endParaRPr lang="en-GB" sz="1200" noProof="0" dirty="0"/>
              </a:p>
              <a:p>
                <a:r>
                  <a:rPr lang="en-GB" sz="1200" b="0" noProof="0" dirty="0"/>
                  <a:t> a) </a:t>
                </a:r>
                <a14:m>
                  <m:oMath xmlns:m="http://schemas.openxmlformats.org/officeDocument/2006/math">
                    <m:r>
                      <a:rPr lang="en-GB" sz="1200" b="0" i="0" noProof="0" smtClean="0">
                        <a:latin typeface="Cambria Math" panose="02040503050406030204" pitchFamily="18" charset="0"/>
                      </a:rPr>
                      <m:t>2</m:t>
                    </m:r>
                    <m:r>
                      <a:rPr lang="en-GB" sz="1200" b="0" i="1" noProof="0" smtClean="0">
                        <a:latin typeface="Cambria Math" panose="02040503050406030204" pitchFamily="18" charset="0"/>
                      </a:rPr>
                      <m:t>𝑓</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a:p>
                <a:endParaRPr lang="en-GB" sz="1200" noProof="0" dirty="0"/>
              </a:p>
              <a:p>
                <a:endParaRPr lang="en-GB" sz="1200" noProof="0" dirty="0"/>
              </a:p>
              <a:p>
                <a:endParaRPr lang="en-GB" sz="1200" noProof="0" dirty="0"/>
              </a:p>
              <a:p>
                <a:r>
                  <a:rPr lang="en-GB" sz="1200" noProof="0" dirty="0"/>
                  <a:t>b) </a:t>
                </a:r>
                <a14:m>
                  <m:oMath xmlns:m="http://schemas.openxmlformats.org/officeDocument/2006/math">
                    <m:r>
                      <a:rPr lang="en-GB" sz="1200" b="0" i="1" noProof="0" smtClean="0">
                        <a:latin typeface="Cambria Math" panose="02040503050406030204" pitchFamily="18" charset="0"/>
                      </a:rPr>
                      <m:t>4</m:t>
                    </m:r>
                    <m:r>
                      <a:rPr lang="en-GB" sz="1200" b="0" i="1" noProof="0" smtClean="0">
                        <a:latin typeface="Cambria Math" panose="02040503050406030204" pitchFamily="18" charset="0"/>
                      </a:rPr>
                      <m:t>𝑓</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a:p>
                <a:endParaRPr lang="en-GB" sz="1200" noProof="0" dirty="0"/>
              </a:p>
              <a:p>
                <a:endParaRPr lang="en-GB" sz="1200" noProof="0" dirty="0"/>
              </a:p>
            </p:txBody>
          </p:sp>
        </mc:Choice>
        <mc:Fallback xmlns="">
          <p:sp>
            <p:nvSpPr>
              <p:cNvPr id="22" name="TextBox 21">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64291" y="2535004"/>
                <a:ext cx="2155809" cy="2123658"/>
              </a:xfrm>
              <a:prstGeom prst="rect">
                <a:avLst/>
              </a:prstGeom>
              <a:blipFill>
                <a:blip r:embed="rId5"/>
                <a:stretch>
                  <a:fillRect l="-2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780CA423-62E4-4D9E-A61F-19419774D88E}"/>
                  </a:ext>
                </a:extLst>
              </p:cNvPr>
              <p:cNvSpPr txBox="1"/>
              <p:nvPr/>
            </p:nvSpPr>
            <p:spPr>
              <a:xfrm>
                <a:off x="3110196" y="2533218"/>
                <a:ext cx="3344883" cy="2123658"/>
              </a:xfrm>
              <a:prstGeom prst="rect">
                <a:avLst/>
              </a:prstGeom>
              <a:noFill/>
            </p:spPr>
            <p:txBody>
              <a:bodyPr wrap="square" rtlCol="0">
                <a:spAutoFit/>
              </a:bodyPr>
              <a:lstStyle/>
              <a:p>
                <a:pPr algn="ctr"/>
                <a:r>
                  <a:rPr lang="en-GB" sz="1200" noProof="0" dirty="0"/>
                  <a:t>2</a:t>
                </a:r>
                <a:r>
                  <a:rPr lang="en-GB" sz="1200" b="0" noProof="0" dirty="0"/>
                  <a:t>) </a:t>
                </a:r>
                <a14:m>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oMath>
                </a14:m>
                <a:endParaRPr lang="en-GB" sz="1200" noProof="0" dirty="0"/>
              </a:p>
              <a:p>
                <a:pPr algn="ctr"/>
                <a:endParaRPr lang="en-GB" sz="1200" noProof="0" dirty="0"/>
              </a:p>
              <a:p>
                <a:pPr algn="ctr"/>
                <a:r>
                  <a:rPr lang="en-GB" sz="1200" noProof="0" dirty="0"/>
                  <a:t>Find:</a:t>
                </a:r>
              </a:p>
              <a:p>
                <a:pPr algn="ctr"/>
                <a:endParaRPr lang="en-GB" sz="1200" noProof="0" dirty="0"/>
              </a:p>
              <a:p>
                <a:r>
                  <a:rPr lang="en-GB" sz="1200" b="0" noProof="0" dirty="0"/>
                  <a:t> a) </a:t>
                </a:r>
                <a14:m>
                  <m:oMath xmlns:m="http://schemas.openxmlformats.org/officeDocument/2006/math">
                    <m:r>
                      <a:rPr lang="en-GB" sz="1200" b="0" i="0" noProof="0" smtClean="0">
                        <a:latin typeface="Cambria Math" panose="02040503050406030204" pitchFamily="18" charset="0"/>
                      </a:rPr>
                      <m:t>2</m:t>
                    </m:r>
                    <m:r>
                      <a:rPr lang="en-GB" sz="1200" b="0" i="1" noProof="0" smtClean="0">
                        <a:latin typeface="Cambria Math" panose="02040503050406030204" pitchFamily="18" charset="0"/>
                      </a:rPr>
                      <m:t>𝑓</m:t>
                    </m:r>
                    <m:r>
                      <a:rPr lang="en-GB" sz="1200" b="0" i="1" noProof="0" smtClean="0">
                        <a:latin typeface="Cambria Math" panose="02040503050406030204" pitchFamily="18" charset="0"/>
                      </a:rPr>
                      <m:t>(1)</m:t>
                    </m:r>
                  </m:oMath>
                </a14:m>
                <a:endParaRPr lang="en-GB" sz="1200" noProof="0" dirty="0"/>
              </a:p>
              <a:p>
                <a:endParaRPr lang="en-GB" sz="1200" noProof="0" dirty="0"/>
              </a:p>
              <a:p>
                <a:endParaRPr lang="en-GB" sz="1200" noProof="0" dirty="0"/>
              </a:p>
              <a:p>
                <a:endParaRPr lang="en-GB" sz="1200" noProof="0" dirty="0"/>
              </a:p>
              <a:p>
                <a:r>
                  <a:rPr lang="en-GB" sz="1200" noProof="0" dirty="0"/>
                  <a:t>b) </a:t>
                </a:r>
                <a14:m>
                  <m:oMath xmlns:m="http://schemas.openxmlformats.org/officeDocument/2006/math">
                    <m:r>
                      <a:rPr lang="en-GB" sz="1200" i="1" noProof="0" smtClean="0">
                        <a:latin typeface="Cambria Math" panose="02040503050406030204" pitchFamily="18" charset="0"/>
                      </a:rPr>
                      <m:t>3</m:t>
                    </m:r>
                    <m:r>
                      <a:rPr lang="en-GB" sz="1200" b="0" i="1" noProof="0" smtClean="0">
                        <a:latin typeface="Cambria Math" panose="02040503050406030204" pitchFamily="18" charset="0"/>
                      </a:rPr>
                      <m:t>𝑓</m:t>
                    </m:r>
                    <m:r>
                      <a:rPr lang="en-GB" sz="1200" b="0" i="1" noProof="0" smtClean="0">
                        <a:latin typeface="Cambria Math" panose="02040503050406030204" pitchFamily="18" charset="0"/>
                      </a:rPr>
                      <m:t>(2)</m:t>
                    </m:r>
                  </m:oMath>
                </a14:m>
                <a:endParaRPr lang="en-GB" sz="1200" noProof="0" dirty="0"/>
              </a:p>
              <a:p>
                <a:endParaRPr lang="en-GB" sz="1200" noProof="0" dirty="0"/>
              </a:p>
              <a:p>
                <a:endParaRPr lang="en-GB" sz="1200" noProof="0" dirty="0"/>
              </a:p>
            </p:txBody>
          </p:sp>
        </mc:Choice>
        <mc:Fallback xmlns="">
          <p:sp>
            <p:nvSpPr>
              <p:cNvPr id="23" name="TextBox 22">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3110196" y="2533218"/>
                <a:ext cx="3344883" cy="2123658"/>
              </a:xfrm>
              <a:prstGeom prst="rect">
                <a:avLst/>
              </a:prstGeom>
              <a:blipFill>
                <a:blip r:embed="rId6"/>
                <a:stretch>
                  <a:fillRect t="-287"/>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1A1DBEA9-D546-4594-90FE-D6EBF9792C2E}"/>
              </a:ext>
            </a:extLst>
          </p:cNvPr>
          <p:cNvSpPr/>
          <p:nvPr/>
        </p:nvSpPr>
        <p:spPr>
          <a:xfrm>
            <a:off x="64291" y="2511113"/>
            <a:ext cx="2907509" cy="21296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9" name="Rectangle 28">
            <a:extLst>
              <a:ext uri="{FF2B5EF4-FFF2-40B4-BE49-F238E27FC236}">
                <a16:creationId xmlns:a16="http://schemas.microsoft.com/office/drawing/2014/main" id="{1A1DBEA9-D546-4594-90FE-D6EBF9792C2E}"/>
              </a:ext>
            </a:extLst>
          </p:cNvPr>
          <p:cNvSpPr/>
          <p:nvPr/>
        </p:nvSpPr>
        <p:spPr>
          <a:xfrm>
            <a:off x="3079058" y="2512378"/>
            <a:ext cx="3695771" cy="21296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0" name="Rectangle 29">
            <a:extLst>
              <a:ext uri="{FF2B5EF4-FFF2-40B4-BE49-F238E27FC236}">
                <a16:creationId xmlns:a16="http://schemas.microsoft.com/office/drawing/2014/main" id="{F659B38D-7A78-46E4-B9C9-6312593C5041}"/>
              </a:ext>
            </a:extLst>
          </p:cNvPr>
          <p:cNvSpPr/>
          <p:nvPr/>
        </p:nvSpPr>
        <p:spPr>
          <a:xfrm>
            <a:off x="4638036" y="4972173"/>
            <a:ext cx="2089777" cy="1811210"/>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p:txBody>
      </p:sp>
      <p:sp>
        <p:nvSpPr>
          <p:cNvPr id="31" name="TextBox 30">
            <a:extLst>
              <a:ext uri="{FF2B5EF4-FFF2-40B4-BE49-F238E27FC236}">
                <a16:creationId xmlns:a16="http://schemas.microsoft.com/office/drawing/2014/main" id="{EA4FD2D9-8D23-4ADE-B70E-F386FDED2BED}"/>
              </a:ext>
            </a:extLst>
          </p:cNvPr>
          <p:cNvSpPr txBox="1"/>
          <p:nvPr/>
        </p:nvSpPr>
        <p:spPr>
          <a:xfrm>
            <a:off x="4536418" y="4699541"/>
            <a:ext cx="1542089" cy="276999"/>
          </a:xfrm>
          <a:prstGeom prst="rect">
            <a:avLst/>
          </a:prstGeom>
          <a:noFill/>
          <a:ln>
            <a:noFill/>
          </a:ln>
        </p:spPr>
        <p:txBody>
          <a:bodyPr wrap="none" rtlCol="0">
            <a:spAutoFit/>
          </a:bodyPr>
          <a:lstStyle/>
          <a:p>
            <a:r>
              <a:rPr lang="en-GB" sz="1200" b="1" i="1" noProof="0" dirty="0">
                <a:solidFill>
                  <a:srgbClr val="00B050"/>
                </a:solidFill>
              </a:rPr>
              <a:t>Example 12- You do…</a:t>
            </a:r>
          </a:p>
        </p:txBody>
      </p:sp>
      <p:sp>
        <p:nvSpPr>
          <p:cNvPr id="32" name="Rectangle 31">
            <a:extLst>
              <a:ext uri="{FF2B5EF4-FFF2-40B4-BE49-F238E27FC236}">
                <a16:creationId xmlns:a16="http://schemas.microsoft.com/office/drawing/2014/main" id="{3E9C8B3E-E2B2-49A4-89FE-F9C9137A06D7}"/>
              </a:ext>
            </a:extLst>
          </p:cNvPr>
          <p:cNvSpPr/>
          <p:nvPr/>
        </p:nvSpPr>
        <p:spPr>
          <a:xfrm>
            <a:off x="2412432" y="4972173"/>
            <a:ext cx="2151812" cy="1811211"/>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1200" noProof="0" dirty="0">
              <a:solidFill>
                <a:schemeClr val="tx1"/>
              </a:solidFill>
            </a:endParaRPr>
          </a:p>
        </p:txBody>
      </p:sp>
      <p:sp>
        <p:nvSpPr>
          <p:cNvPr id="33" name="TextBox 32">
            <a:extLst>
              <a:ext uri="{FF2B5EF4-FFF2-40B4-BE49-F238E27FC236}">
                <a16:creationId xmlns:a16="http://schemas.microsoft.com/office/drawing/2014/main" id="{08E67FA9-518E-48EE-9C3C-DC43DA12711A}"/>
              </a:ext>
            </a:extLst>
          </p:cNvPr>
          <p:cNvSpPr txBox="1"/>
          <p:nvPr/>
        </p:nvSpPr>
        <p:spPr>
          <a:xfrm>
            <a:off x="2359900" y="4698552"/>
            <a:ext cx="1554336" cy="276999"/>
          </a:xfrm>
          <a:prstGeom prst="rect">
            <a:avLst/>
          </a:prstGeom>
          <a:noFill/>
          <a:ln>
            <a:noFill/>
          </a:ln>
        </p:spPr>
        <p:txBody>
          <a:bodyPr wrap="none" rtlCol="0">
            <a:spAutoFit/>
          </a:bodyPr>
          <a:lstStyle/>
          <a:p>
            <a:r>
              <a:rPr lang="en-GB" sz="1200" b="1" i="1" noProof="0" dirty="0">
                <a:solidFill>
                  <a:schemeClr val="accent2"/>
                </a:solidFill>
              </a:rPr>
              <a:t>Example 11 - We do…</a:t>
            </a:r>
          </a:p>
        </p:txBody>
      </p:sp>
      <p:sp>
        <p:nvSpPr>
          <p:cNvPr id="34" name="TextBox 33">
            <a:extLst>
              <a:ext uri="{FF2B5EF4-FFF2-40B4-BE49-F238E27FC236}">
                <a16:creationId xmlns:a16="http://schemas.microsoft.com/office/drawing/2014/main" id="{0C5FDE3F-DC2A-468E-BF61-F69BF8BB2775}"/>
              </a:ext>
            </a:extLst>
          </p:cNvPr>
          <p:cNvSpPr txBox="1"/>
          <p:nvPr/>
        </p:nvSpPr>
        <p:spPr>
          <a:xfrm>
            <a:off x="17275" y="4714220"/>
            <a:ext cx="1351780" cy="276999"/>
          </a:xfrm>
          <a:prstGeom prst="rect">
            <a:avLst/>
          </a:prstGeom>
          <a:noFill/>
          <a:ln>
            <a:noFill/>
          </a:ln>
        </p:spPr>
        <p:txBody>
          <a:bodyPr wrap="none" rtlCol="0">
            <a:spAutoFit/>
          </a:bodyPr>
          <a:lstStyle/>
          <a:p>
            <a:r>
              <a:rPr lang="en-GB" sz="1200" b="1" i="1" noProof="0" dirty="0">
                <a:solidFill>
                  <a:srgbClr val="FF0000"/>
                </a:solidFill>
              </a:rPr>
              <a:t>Example 10- I do…</a:t>
            </a:r>
          </a:p>
        </p:txBody>
      </p:sp>
      <p:sp>
        <p:nvSpPr>
          <p:cNvPr id="35" name="Rectangle 34">
            <a:extLst>
              <a:ext uri="{FF2B5EF4-FFF2-40B4-BE49-F238E27FC236}">
                <a16:creationId xmlns:a16="http://schemas.microsoft.com/office/drawing/2014/main" id="{88702858-2340-4E05-9D8E-B489EE06713C}"/>
              </a:ext>
            </a:extLst>
          </p:cNvPr>
          <p:cNvSpPr/>
          <p:nvPr/>
        </p:nvSpPr>
        <p:spPr>
          <a:xfrm>
            <a:off x="77507" y="4972174"/>
            <a:ext cx="2261133" cy="181121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0B0F0"/>
              </a:solidFill>
            </a:endParaRP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80CA423-62E4-4D9E-A61F-19419774D88E}"/>
                  </a:ext>
                </a:extLst>
              </p:cNvPr>
              <p:cNvSpPr txBox="1"/>
              <p:nvPr/>
            </p:nvSpPr>
            <p:spPr>
              <a:xfrm>
                <a:off x="108905" y="4993482"/>
                <a:ext cx="2155809" cy="193899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m:oMathPara>
                </a14:m>
                <a:endParaRPr lang="en-GB" sz="1200" noProof="0" dirty="0"/>
              </a:p>
              <a:p>
                <a:pPr algn="ctr"/>
                <a:endParaRPr lang="en-GB" sz="1200" noProof="0" dirty="0"/>
              </a:p>
              <a:p>
                <a:pPr algn="ctr"/>
                <a:r>
                  <a:rPr lang="en-GB" sz="1200" noProof="0" dirty="0"/>
                  <a:t>Find:</a:t>
                </a:r>
              </a:p>
              <a:p>
                <a:pPr algn="ctr"/>
                <a:endParaRPr lang="en-GB" sz="1200" noProof="0" dirty="0"/>
              </a:p>
              <a:p>
                <a:r>
                  <a:rPr lang="en-GB" sz="1200" b="0" noProof="0" dirty="0"/>
                  <a:t> </a:t>
                </a:r>
                <a14:m>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e>
                    </m:d>
                  </m:oMath>
                </a14:m>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p:txBody>
          </p:sp>
        </mc:Choice>
        <mc:Fallback xmlns="">
          <p:sp>
            <p:nvSpPr>
              <p:cNvPr id="36" name="TextBox 35">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108905" y="4993482"/>
                <a:ext cx="2155809" cy="193899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80CA423-62E4-4D9E-A61F-19419774D88E}"/>
                  </a:ext>
                </a:extLst>
              </p:cNvPr>
              <p:cNvSpPr txBox="1"/>
              <p:nvPr/>
            </p:nvSpPr>
            <p:spPr>
              <a:xfrm>
                <a:off x="2460967" y="5022621"/>
                <a:ext cx="2155809" cy="138499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m:oMathPara>
                </a14:m>
                <a:endParaRPr lang="en-GB" sz="1200" noProof="0" dirty="0"/>
              </a:p>
              <a:p>
                <a:pPr algn="ctr"/>
                <a:endParaRPr lang="en-GB" sz="1200" noProof="0" dirty="0"/>
              </a:p>
              <a:p>
                <a:pPr algn="ctr"/>
                <a:r>
                  <a:rPr lang="en-GB" sz="1200" noProof="0" dirty="0"/>
                  <a:t>Find:</a:t>
                </a:r>
              </a:p>
              <a:p>
                <a:pPr algn="ctr"/>
                <a:endParaRPr lang="en-GB" sz="1200" noProof="0" dirty="0"/>
              </a:p>
              <a:p>
                <a:r>
                  <a:rPr lang="en-GB" sz="1200" b="0" noProof="0" dirty="0"/>
                  <a:t> </a:t>
                </a:r>
                <a14:m>
                  <m:oMath xmlns:m="http://schemas.openxmlformats.org/officeDocument/2006/math">
                    <m:r>
                      <a:rPr lang="en-GB" sz="1200" b="0" i="1" noProof="0" smtClean="0">
                        <a:latin typeface="Cambria Math" panose="02040503050406030204" pitchFamily="18" charset="0"/>
                      </a:rPr>
                      <m:t>𝑓</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oMath>
                </a14:m>
                <a:endParaRPr lang="en-GB" sz="1200" noProof="0" dirty="0"/>
              </a:p>
              <a:p>
                <a:endParaRPr lang="en-GB" sz="1200" noProof="0" dirty="0"/>
              </a:p>
              <a:p>
                <a:endParaRPr lang="en-GB" sz="1200" noProof="0" dirty="0"/>
              </a:p>
            </p:txBody>
          </p:sp>
        </mc:Choice>
        <mc:Fallback xmlns="">
          <p:sp>
            <p:nvSpPr>
              <p:cNvPr id="37" name="TextBox 36">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2460967" y="5022621"/>
                <a:ext cx="2155809" cy="138499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780CA423-62E4-4D9E-A61F-19419774D88E}"/>
                  </a:ext>
                </a:extLst>
              </p:cNvPr>
              <p:cNvSpPr txBox="1"/>
              <p:nvPr/>
            </p:nvSpPr>
            <p:spPr>
              <a:xfrm>
                <a:off x="4673622" y="5022621"/>
                <a:ext cx="2155809" cy="2123658"/>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−2</m:t>
                      </m:r>
                    </m:oMath>
                  </m:oMathPara>
                </a14:m>
                <a:endParaRPr lang="en-GB" sz="1200" noProof="0" dirty="0"/>
              </a:p>
              <a:p>
                <a:pPr algn="ctr"/>
                <a:endParaRPr lang="en-GB" sz="1200" noProof="0" dirty="0"/>
              </a:p>
              <a:p>
                <a:pPr algn="ctr"/>
                <a:r>
                  <a:rPr lang="en-GB" sz="1200" noProof="0" dirty="0"/>
                  <a:t>Find:</a:t>
                </a:r>
              </a:p>
              <a:p>
                <a:pPr algn="ctr"/>
                <a:endParaRPr lang="en-GB" sz="1200" noProof="0" dirty="0"/>
              </a:p>
              <a:p>
                <a:r>
                  <a:rPr lang="en-GB" sz="1200" b="0" noProof="0" dirty="0"/>
                  <a:t> </a:t>
                </a:r>
                <a14:m>
                  <m:oMath xmlns:m="http://schemas.openxmlformats.org/officeDocument/2006/math">
                    <m:r>
                      <a:rPr lang="en-GB" sz="1200" b="0" i="1" noProof="0" smtClean="0">
                        <a:latin typeface="Cambria Math" panose="02040503050406030204" pitchFamily="18" charset="0"/>
                      </a:rPr>
                      <m:t>𝑓</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+6)</m:t>
                    </m:r>
                  </m:oMath>
                </a14:m>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p:txBody>
          </p:sp>
        </mc:Choice>
        <mc:Fallback xmlns="">
          <p:sp>
            <p:nvSpPr>
              <p:cNvPr id="38" name="TextBox 37">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4673622" y="5022621"/>
                <a:ext cx="2155809" cy="2123658"/>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80CA423-62E4-4D9E-A61F-19419774D88E}"/>
                  </a:ext>
                </a:extLst>
              </p:cNvPr>
              <p:cNvSpPr txBox="1"/>
              <p:nvPr/>
            </p:nvSpPr>
            <p:spPr>
              <a:xfrm>
                <a:off x="95430" y="7238257"/>
                <a:ext cx="2155809" cy="2123658"/>
              </a:xfrm>
              <a:prstGeom prst="rect">
                <a:avLst/>
              </a:prstGeom>
              <a:noFill/>
            </p:spPr>
            <p:txBody>
              <a:bodyPr wrap="square" rtlCol="0">
                <a:spAutoFit/>
              </a:bodyPr>
              <a:lstStyle/>
              <a:p>
                <a:pPr algn="ctr"/>
                <a:r>
                  <a:rPr lang="en-GB" sz="1200" b="0" noProof="0" dirty="0"/>
                  <a:t>1) </a:t>
                </a:r>
                <a14:m>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=5</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m:t>
                    </m:r>
                  </m:oMath>
                </a14:m>
                <a:endParaRPr lang="en-GB" sz="1200" noProof="0" dirty="0"/>
              </a:p>
              <a:p>
                <a:pPr algn="ctr"/>
                <a:endParaRPr lang="en-GB" sz="1200" noProof="0" dirty="0"/>
              </a:p>
              <a:p>
                <a:pPr algn="ctr"/>
                <a:r>
                  <a:rPr lang="en-GB" sz="1200" noProof="0" dirty="0"/>
                  <a:t>Find:</a:t>
                </a:r>
              </a:p>
              <a:p>
                <a:pPr algn="ctr"/>
                <a:endParaRPr lang="en-GB" sz="1200" noProof="0" dirty="0"/>
              </a:p>
              <a:p>
                <a:r>
                  <a:rPr lang="en-GB" sz="1200" b="0" noProof="0" dirty="0"/>
                  <a:t> a) </a:t>
                </a:r>
                <a14:m>
                  <m:oMath xmlns:m="http://schemas.openxmlformats.org/officeDocument/2006/math">
                    <m:r>
                      <a:rPr lang="en-GB" sz="1200" b="0" i="1" noProof="0" smtClean="0">
                        <a:latin typeface="Cambria Math" panose="02040503050406030204" pitchFamily="18" charset="0"/>
                      </a:rPr>
                      <m:t>𝑓</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oMath>
                </a14:m>
                <a:endParaRPr lang="en-GB" sz="1200" noProof="0" dirty="0"/>
              </a:p>
              <a:p>
                <a:endParaRPr lang="en-GB" sz="1200" noProof="0" dirty="0"/>
              </a:p>
              <a:p>
                <a:endParaRPr lang="en-GB" sz="1200" noProof="0" dirty="0"/>
              </a:p>
              <a:p>
                <a:endParaRPr lang="en-GB" sz="1200" noProof="0" dirty="0"/>
              </a:p>
              <a:p>
                <a:r>
                  <a:rPr lang="en-GB" sz="1200" noProof="0" dirty="0"/>
                  <a:t>b) </a:t>
                </a:r>
                <a14:m>
                  <m:oMath xmlns:m="http://schemas.openxmlformats.org/officeDocument/2006/math">
                    <m:r>
                      <a:rPr lang="en-GB" sz="1200" b="0" i="1" noProof="0" smtClean="0">
                        <a:latin typeface="Cambria Math" panose="02040503050406030204" pitchFamily="18" charset="0"/>
                      </a:rPr>
                      <m:t>𝑓</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−4)</m:t>
                    </m:r>
                  </m:oMath>
                </a14:m>
                <a:endParaRPr lang="en-GB" sz="1200" noProof="0" dirty="0"/>
              </a:p>
              <a:p>
                <a:endParaRPr lang="en-GB" sz="1200" noProof="0" dirty="0"/>
              </a:p>
              <a:p>
                <a:endParaRPr lang="en-GB" sz="1200" noProof="0" dirty="0"/>
              </a:p>
            </p:txBody>
          </p:sp>
        </mc:Choice>
        <mc:Fallback xmlns="">
          <p:sp>
            <p:nvSpPr>
              <p:cNvPr id="45" name="TextBox 44">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95430" y="7238257"/>
                <a:ext cx="2155809" cy="2123658"/>
              </a:xfrm>
              <a:prstGeom prst="rect">
                <a:avLst/>
              </a:prstGeom>
              <a:blipFill>
                <a:blip r:embed="rId10"/>
                <a:stretch>
                  <a:fillRect l="-283"/>
                </a:stretch>
              </a:blipFill>
            </p:spPr>
            <p:txBody>
              <a:bodyPr/>
              <a:lstStyle/>
              <a:p>
                <a:r>
                  <a:rPr lang="en-US">
                    <a:noFill/>
                  </a:rPr>
                  <a:t> </a:t>
                </a:r>
              </a:p>
            </p:txBody>
          </p:sp>
        </mc:Fallback>
      </mc:AlternateContent>
      <p:sp>
        <p:nvSpPr>
          <p:cNvPr id="51" name="Rectangle 50">
            <a:extLst>
              <a:ext uri="{FF2B5EF4-FFF2-40B4-BE49-F238E27FC236}">
                <a16:creationId xmlns:a16="http://schemas.microsoft.com/office/drawing/2014/main" id="{1A1DBEA9-D546-4594-90FE-D6EBF9792C2E}"/>
              </a:ext>
            </a:extLst>
          </p:cNvPr>
          <p:cNvSpPr/>
          <p:nvPr/>
        </p:nvSpPr>
        <p:spPr>
          <a:xfrm>
            <a:off x="95430" y="7214366"/>
            <a:ext cx="2907509" cy="21296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2" name="Rectangle 51">
            <a:extLst>
              <a:ext uri="{FF2B5EF4-FFF2-40B4-BE49-F238E27FC236}">
                <a16:creationId xmlns:a16="http://schemas.microsoft.com/office/drawing/2014/main" id="{1A1DBEA9-D546-4594-90FE-D6EBF9792C2E}"/>
              </a:ext>
            </a:extLst>
          </p:cNvPr>
          <p:cNvSpPr/>
          <p:nvPr/>
        </p:nvSpPr>
        <p:spPr>
          <a:xfrm>
            <a:off x="3110197" y="7215631"/>
            <a:ext cx="3695771" cy="21296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80CA423-62E4-4D9E-A61F-19419774D88E}"/>
                  </a:ext>
                </a:extLst>
              </p:cNvPr>
              <p:cNvSpPr txBox="1"/>
              <p:nvPr/>
            </p:nvSpPr>
            <p:spPr>
              <a:xfrm>
                <a:off x="3110196" y="7236815"/>
                <a:ext cx="3344883" cy="2123658"/>
              </a:xfrm>
              <a:prstGeom prst="rect">
                <a:avLst/>
              </a:prstGeom>
              <a:noFill/>
            </p:spPr>
            <p:txBody>
              <a:bodyPr wrap="square" rtlCol="0">
                <a:spAutoFit/>
              </a:bodyPr>
              <a:lstStyle/>
              <a:p>
                <a:pPr algn="ctr"/>
                <a:r>
                  <a:rPr lang="en-GB" sz="1200" noProof="0" dirty="0"/>
                  <a:t>2</a:t>
                </a:r>
                <a:r>
                  <a:rPr lang="en-GB" sz="1200" b="0" noProof="0" dirty="0"/>
                  <a:t>) </a:t>
                </a:r>
                <a14:m>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+5</m:t>
                    </m:r>
                  </m:oMath>
                </a14:m>
                <a:endParaRPr lang="en-GB" sz="1200" noProof="0" dirty="0"/>
              </a:p>
              <a:p>
                <a:pPr algn="ctr"/>
                <a:endParaRPr lang="en-GB" sz="1200" noProof="0" dirty="0"/>
              </a:p>
              <a:p>
                <a:pPr algn="ctr"/>
                <a:r>
                  <a:rPr lang="en-GB" sz="1200" noProof="0" dirty="0"/>
                  <a:t>Find:</a:t>
                </a:r>
              </a:p>
              <a:p>
                <a:pPr algn="ctr"/>
                <a:endParaRPr lang="en-GB" sz="1200" noProof="0" dirty="0"/>
              </a:p>
              <a:p>
                <a:r>
                  <a:rPr lang="en-GB" sz="1200" b="0" noProof="0" dirty="0"/>
                  <a:t> a) </a:t>
                </a:r>
                <a14:m>
                  <m:oMath xmlns:m="http://schemas.openxmlformats.org/officeDocument/2006/math">
                    <m:r>
                      <a:rPr lang="en-GB" sz="1200" b="0" i="1" noProof="0" smtClean="0">
                        <a:latin typeface="Cambria Math" panose="02040503050406030204" pitchFamily="18" charset="0"/>
                      </a:rPr>
                      <m:t>𝑓</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oMath>
                </a14:m>
                <a:endParaRPr lang="en-GB" sz="1200" noProof="0" dirty="0"/>
              </a:p>
              <a:p>
                <a:endParaRPr lang="en-GB" sz="1200" noProof="0" dirty="0"/>
              </a:p>
              <a:p>
                <a:endParaRPr lang="en-GB" sz="1200" noProof="0" dirty="0"/>
              </a:p>
              <a:p>
                <a:endParaRPr lang="en-GB" sz="1200" noProof="0" dirty="0"/>
              </a:p>
              <a:p>
                <a:r>
                  <a:rPr lang="en-GB" sz="1200" noProof="0" dirty="0"/>
                  <a:t>b) </a:t>
                </a:r>
                <a14:m>
                  <m:oMath xmlns:m="http://schemas.openxmlformats.org/officeDocument/2006/math">
                    <m:r>
                      <a:rPr lang="en-GB" sz="1200" b="0" i="1" noProof="0" smtClean="0">
                        <a:latin typeface="Cambria Math" panose="02040503050406030204" pitchFamily="18" charset="0"/>
                      </a:rPr>
                      <m:t>𝑓</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a14:m>
                <a:endParaRPr lang="en-GB" sz="1200" noProof="0" dirty="0"/>
              </a:p>
              <a:p>
                <a:endParaRPr lang="en-GB" sz="1200" noProof="0" dirty="0"/>
              </a:p>
              <a:p>
                <a:endParaRPr lang="en-GB" sz="1200" noProof="0" dirty="0"/>
              </a:p>
            </p:txBody>
          </p:sp>
        </mc:Choice>
        <mc:Fallback xmlns="">
          <p:sp>
            <p:nvSpPr>
              <p:cNvPr id="53" name="TextBox 52">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3110196" y="7236815"/>
                <a:ext cx="3344883" cy="2123658"/>
              </a:xfrm>
              <a:prstGeom prst="rect">
                <a:avLst/>
              </a:prstGeom>
              <a:blipFill>
                <a:blip r:embed="rId11"/>
                <a:stretch>
                  <a:fillRect/>
                </a:stretch>
              </a:blipFill>
            </p:spPr>
            <p:txBody>
              <a:bodyPr/>
              <a:lstStyle/>
              <a:p>
                <a:r>
                  <a:rPr lang="en-US">
                    <a:noFill/>
                  </a:rPr>
                  <a:t> </a:t>
                </a:r>
              </a:p>
            </p:txBody>
          </p:sp>
        </mc:Fallback>
      </mc:AlternateContent>
      <p:sp>
        <p:nvSpPr>
          <p:cNvPr id="9" name="Slide Number Placeholder 8"/>
          <p:cNvSpPr>
            <a:spLocks noGrp="1"/>
          </p:cNvSpPr>
          <p:nvPr>
            <p:ph type="sldNum" sz="quarter" idx="12"/>
          </p:nvPr>
        </p:nvSpPr>
        <p:spPr>
          <a:xfrm>
            <a:off x="5220349" y="9414630"/>
            <a:ext cx="1543050" cy="527403"/>
          </a:xfrm>
        </p:spPr>
        <p:txBody>
          <a:bodyPr/>
          <a:lstStyle/>
          <a:p>
            <a:fld id="{9BD3B4A0-BFF9-422C-B253-48BA94BE2F5B}" type="slidenum">
              <a:rPr lang="en-GB" noProof="0" smtClean="0"/>
              <a:t>4</a:t>
            </a:fld>
            <a:endParaRPr lang="en-GB" noProof="0" dirty="0"/>
          </a:p>
        </p:txBody>
      </p:sp>
      <p:sp>
        <p:nvSpPr>
          <p:cNvPr id="12" name="TextBox 11">
            <a:extLst>
              <a:ext uri="{FF2B5EF4-FFF2-40B4-BE49-F238E27FC236}">
                <a16:creationId xmlns:a16="http://schemas.microsoft.com/office/drawing/2014/main" id="{67E7D196-D611-F4E4-9F9B-B9FE9362DE8D}"/>
              </a:ext>
            </a:extLst>
          </p:cNvPr>
          <p:cNvSpPr txBox="1"/>
          <p:nvPr/>
        </p:nvSpPr>
        <p:spPr>
          <a:xfrm>
            <a:off x="77507" y="2218448"/>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
        <p:nvSpPr>
          <p:cNvPr id="13" name="TextBox 12">
            <a:extLst>
              <a:ext uri="{FF2B5EF4-FFF2-40B4-BE49-F238E27FC236}">
                <a16:creationId xmlns:a16="http://schemas.microsoft.com/office/drawing/2014/main" id="{FE9070BE-B89C-B74E-0D9F-B431B344E6A5}"/>
              </a:ext>
            </a:extLst>
          </p:cNvPr>
          <p:cNvSpPr txBox="1"/>
          <p:nvPr/>
        </p:nvSpPr>
        <p:spPr>
          <a:xfrm>
            <a:off x="108905" y="6892363"/>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Tree>
    <p:extLst>
      <p:ext uri="{BB962C8B-B14F-4D97-AF65-F5344CB8AC3E}">
        <p14:creationId xmlns:p14="http://schemas.microsoft.com/office/powerpoint/2010/main" val="1926886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91975E-B426-4910-919C-E3C5554DC081}"/>
              </a:ext>
            </a:extLst>
          </p:cNvPr>
          <p:cNvSpPr txBox="1"/>
          <p:nvPr/>
        </p:nvSpPr>
        <p:spPr>
          <a:xfrm>
            <a:off x="139614" y="72654"/>
            <a:ext cx="1742400" cy="276999"/>
          </a:xfrm>
          <a:prstGeom prst="rect">
            <a:avLst/>
          </a:prstGeom>
          <a:solidFill>
            <a:srgbClr val="0070C0"/>
          </a:solidFill>
        </p:spPr>
        <p:txBody>
          <a:bodyPr wrap="none" rtlCol="0" anchor="ctr">
            <a:spAutoFit/>
          </a:bodyPr>
          <a:lstStyle/>
          <a:p>
            <a:pPr algn="ctr"/>
            <a:r>
              <a:rPr lang="en-GB" sz="1200" b="1" noProof="0" dirty="0">
                <a:solidFill>
                  <a:schemeClr val="bg1"/>
                </a:solidFill>
              </a:rPr>
              <a:t>COMPOSITE FUNCTIONS</a:t>
            </a:r>
          </a:p>
        </p:txBody>
      </p:sp>
      <p:sp>
        <p:nvSpPr>
          <p:cNvPr id="5" name="TextBox 4">
            <a:extLst>
              <a:ext uri="{FF2B5EF4-FFF2-40B4-BE49-F238E27FC236}">
                <a16:creationId xmlns:a16="http://schemas.microsoft.com/office/drawing/2014/main" id="{EA4FD2D9-8D23-4ADE-B70E-F386FDED2BED}"/>
              </a:ext>
            </a:extLst>
          </p:cNvPr>
          <p:cNvSpPr txBox="1"/>
          <p:nvPr/>
        </p:nvSpPr>
        <p:spPr>
          <a:xfrm>
            <a:off x="5138076" y="1467721"/>
            <a:ext cx="1577355" cy="276999"/>
          </a:xfrm>
          <a:prstGeom prst="rect">
            <a:avLst/>
          </a:prstGeom>
          <a:noFill/>
          <a:ln>
            <a:noFill/>
          </a:ln>
        </p:spPr>
        <p:txBody>
          <a:bodyPr wrap="none" rtlCol="0">
            <a:spAutoFit/>
          </a:bodyPr>
          <a:lstStyle/>
          <a:p>
            <a:r>
              <a:rPr lang="en-GB" sz="1200" b="1" i="1" noProof="0" dirty="0">
                <a:solidFill>
                  <a:srgbClr val="00B050"/>
                </a:solidFill>
              </a:rPr>
              <a:t>Example 15 - You do…</a:t>
            </a:r>
          </a:p>
        </p:txBody>
      </p:sp>
      <p:sp>
        <p:nvSpPr>
          <p:cNvPr id="7" name="TextBox 6">
            <a:extLst>
              <a:ext uri="{FF2B5EF4-FFF2-40B4-BE49-F238E27FC236}">
                <a16:creationId xmlns:a16="http://schemas.microsoft.com/office/drawing/2014/main" id="{08E67FA9-518E-48EE-9C3C-DC43DA12711A}"/>
              </a:ext>
            </a:extLst>
          </p:cNvPr>
          <p:cNvSpPr txBox="1"/>
          <p:nvPr/>
        </p:nvSpPr>
        <p:spPr>
          <a:xfrm>
            <a:off x="3333459" y="1439667"/>
            <a:ext cx="1554336" cy="276999"/>
          </a:xfrm>
          <a:prstGeom prst="rect">
            <a:avLst/>
          </a:prstGeom>
          <a:noFill/>
          <a:ln>
            <a:noFill/>
          </a:ln>
        </p:spPr>
        <p:txBody>
          <a:bodyPr wrap="none" rtlCol="0">
            <a:spAutoFit/>
          </a:bodyPr>
          <a:lstStyle/>
          <a:p>
            <a:r>
              <a:rPr lang="en-GB" sz="1200" b="1" i="1" noProof="0" dirty="0">
                <a:solidFill>
                  <a:schemeClr val="accent2"/>
                </a:solidFill>
              </a:rPr>
              <a:t>Example 14 - We do…</a:t>
            </a:r>
          </a:p>
        </p:txBody>
      </p:sp>
      <p:sp>
        <p:nvSpPr>
          <p:cNvPr id="8" name="TextBox 7">
            <a:extLst>
              <a:ext uri="{FF2B5EF4-FFF2-40B4-BE49-F238E27FC236}">
                <a16:creationId xmlns:a16="http://schemas.microsoft.com/office/drawing/2014/main" id="{0C5FDE3F-DC2A-468E-BF61-F69BF8BB2775}"/>
              </a:ext>
            </a:extLst>
          </p:cNvPr>
          <p:cNvSpPr txBox="1"/>
          <p:nvPr/>
        </p:nvSpPr>
        <p:spPr>
          <a:xfrm>
            <a:off x="1460537" y="1439666"/>
            <a:ext cx="1351780" cy="276999"/>
          </a:xfrm>
          <a:prstGeom prst="rect">
            <a:avLst/>
          </a:prstGeom>
          <a:noFill/>
          <a:ln>
            <a:noFill/>
          </a:ln>
        </p:spPr>
        <p:txBody>
          <a:bodyPr wrap="none" rtlCol="0">
            <a:spAutoFit/>
          </a:bodyPr>
          <a:lstStyle/>
          <a:p>
            <a:r>
              <a:rPr lang="en-GB" sz="1200" b="1" i="1" noProof="0" dirty="0">
                <a:solidFill>
                  <a:srgbClr val="FF0000"/>
                </a:solidFill>
              </a:rPr>
              <a:t>Example 13- I do…</a:t>
            </a:r>
          </a:p>
        </p:txBody>
      </p:sp>
      <p:graphicFrame>
        <p:nvGraphicFramePr>
          <p:cNvPr id="11" name="Table 10"/>
          <p:cNvGraphicFramePr>
            <a:graphicFrameLocks noGrp="1"/>
          </p:cNvGraphicFramePr>
          <p:nvPr>
            <p:extLst>
              <p:ext uri="{D42A27DB-BD31-4B8C-83A1-F6EECF244321}">
                <p14:modId xmlns:p14="http://schemas.microsoft.com/office/powerpoint/2010/main" val="3312792582"/>
              </p:ext>
            </p:extLst>
          </p:nvPr>
        </p:nvGraphicFramePr>
        <p:xfrm>
          <a:off x="139614" y="1721401"/>
          <a:ext cx="6627882" cy="3349052"/>
        </p:xfrm>
        <a:graphic>
          <a:graphicData uri="http://schemas.openxmlformats.org/drawingml/2006/table">
            <a:tbl>
              <a:tblPr firstRow="1" bandRow="1">
                <a:tableStyleId>{5C22544A-7EE6-4342-B048-85BDC9FD1C3A}</a:tableStyleId>
              </a:tblPr>
              <a:tblGrid>
                <a:gridCol w="989845">
                  <a:extLst>
                    <a:ext uri="{9D8B030D-6E8A-4147-A177-3AD203B41FA5}">
                      <a16:colId xmlns:a16="http://schemas.microsoft.com/office/drawing/2014/main" val="1568142362"/>
                    </a:ext>
                  </a:extLst>
                </a:gridCol>
                <a:gridCol w="1820127">
                  <a:extLst>
                    <a:ext uri="{9D8B030D-6E8A-4147-A177-3AD203B41FA5}">
                      <a16:colId xmlns:a16="http://schemas.microsoft.com/office/drawing/2014/main" val="3551711160"/>
                    </a:ext>
                  </a:extLst>
                </a:gridCol>
                <a:gridCol w="1964092">
                  <a:extLst>
                    <a:ext uri="{9D8B030D-6E8A-4147-A177-3AD203B41FA5}">
                      <a16:colId xmlns:a16="http://schemas.microsoft.com/office/drawing/2014/main" val="4019619020"/>
                    </a:ext>
                  </a:extLst>
                </a:gridCol>
                <a:gridCol w="1853818">
                  <a:extLst>
                    <a:ext uri="{9D8B030D-6E8A-4147-A177-3AD203B41FA5}">
                      <a16:colId xmlns:a16="http://schemas.microsoft.com/office/drawing/2014/main" val="4101046862"/>
                    </a:ext>
                  </a:extLst>
                </a:gridCol>
              </a:tblGrid>
              <a:tr h="970904">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62902">
                <a:tc>
                  <a:txBody>
                    <a:bodyPr/>
                    <a:lstStyle/>
                    <a:p>
                      <a:r>
                        <a:rPr lang="en-GB" sz="1060" noProof="0" dirty="0">
                          <a:solidFill>
                            <a:schemeClr val="tx1"/>
                          </a:solidFill>
                        </a:rPr>
                        <a:t>1) Substitute the number into the first function.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415246">
                <a:tc>
                  <a:txBody>
                    <a:bodyPr/>
                    <a:lstStyle/>
                    <a:p>
                      <a:r>
                        <a:rPr lang="en-GB" sz="1060" noProof="0" dirty="0">
                          <a:solidFill>
                            <a:schemeClr val="tx1"/>
                          </a:solidFill>
                        </a:rPr>
                        <a:t>2) Substitute the output</a:t>
                      </a:r>
                      <a:r>
                        <a:rPr lang="en-GB" sz="1060" baseline="0" noProof="0" dirty="0">
                          <a:solidFill>
                            <a:schemeClr val="tx1"/>
                          </a:solidFill>
                        </a:rPr>
                        <a:t> into the second function. </a:t>
                      </a:r>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mc:AlternateContent xmlns:mc="http://schemas.openxmlformats.org/markup-compatibility/2006" xmlns:a14="http://schemas.microsoft.com/office/drawing/2010/main">
        <mc:Choice Requires="a14">
          <p:sp>
            <p:nvSpPr>
              <p:cNvPr id="22" name="TextBox 21"/>
              <p:cNvSpPr txBox="1"/>
              <p:nvPr/>
            </p:nvSpPr>
            <p:spPr>
              <a:xfrm>
                <a:off x="1290255" y="5231381"/>
                <a:ext cx="4377663" cy="276999"/>
              </a:xfrm>
              <a:prstGeom prst="rect">
                <a:avLst/>
              </a:prstGeom>
              <a:noFill/>
            </p:spPr>
            <p:txBody>
              <a:bodyPr wrap="square" rtlCol="0">
                <a:spAutoFit/>
              </a:bodyPr>
              <a:lstStyle/>
              <a:p>
                <a:pPr algn="ctr"/>
                <a:r>
                  <a:rPr lang="en-GB" sz="1200" noProof="0" dirty="0"/>
                  <a:t>7. Given that </a:t>
                </a:r>
                <a14:m>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 </m:t>
                    </m:r>
                  </m:oMath>
                </a14:m>
                <a:r>
                  <a:rPr lang="en-GB" sz="1200" noProof="0" dirty="0"/>
                  <a:t>and </a:t>
                </a:r>
                <a14:m>
                  <m:oMath xmlns:m="http://schemas.openxmlformats.org/officeDocument/2006/math">
                    <m:r>
                      <a:rPr lang="en-GB" sz="1200" b="0" i="1" noProof="0" smtClean="0">
                        <a:latin typeface="Cambria Math" panose="02040503050406030204" pitchFamily="18" charset="0"/>
                      </a:rPr>
                      <m:t>𝑔</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a14:m>
                <a:r>
                  <a:rPr lang="en-GB" sz="1200" noProof="0" dirty="0"/>
                  <a:t>  Find:</a:t>
                </a:r>
              </a:p>
            </p:txBody>
          </p:sp>
        </mc:Choice>
        <mc:Fallback xmlns="">
          <p:sp>
            <p:nvSpPr>
              <p:cNvPr id="22" name="TextBox 21"/>
              <p:cNvSpPr txBox="1">
                <a:spLocks noRot="1" noChangeAspect="1" noMove="1" noResize="1" noEditPoints="1" noAdjustHandles="1" noChangeArrowheads="1" noChangeShapeType="1" noTextEdit="1"/>
              </p:cNvSpPr>
              <p:nvPr/>
            </p:nvSpPr>
            <p:spPr>
              <a:xfrm>
                <a:off x="1290255" y="5231381"/>
                <a:ext cx="4377663" cy="276999"/>
              </a:xfrm>
              <a:prstGeom prst="rect">
                <a:avLst/>
              </a:prstGeom>
              <a:blipFill>
                <a:blip r:embed="rId2"/>
                <a:stretch>
                  <a:fillRect b="-15217"/>
                </a:stretch>
              </a:blipFill>
            </p:spPr>
            <p:txBody>
              <a:bodyPr/>
              <a:lstStyle/>
              <a:p>
                <a:r>
                  <a:rPr lang="en-US">
                    <a:noFill/>
                  </a:rPr>
                  <a:t> </a:t>
                </a:r>
              </a:p>
            </p:txBody>
          </p:sp>
        </mc:Fallback>
      </mc:AlternateContent>
      <p:sp>
        <p:nvSpPr>
          <p:cNvPr id="23" name="Rectangle 22">
            <a:extLst>
              <a:ext uri="{FF2B5EF4-FFF2-40B4-BE49-F238E27FC236}">
                <a16:creationId xmlns:a16="http://schemas.microsoft.com/office/drawing/2014/main" id="{3C36006B-227E-45B6-ACB0-32FCE0D906FC}"/>
              </a:ext>
            </a:extLst>
          </p:cNvPr>
          <p:cNvSpPr/>
          <p:nvPr/>
        </p:nvSpPr>
        <p:spPr>
          <a:xfrm>
            <a:off x="95574" y="5547068"/>
            <a:ext cx="1623176" cy="216456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519CA145-0A55-47EB-B271-6690400B9E6B}"/>
                  </a:ext>
                </a:extLst>
              </p:cNvPr>
              <p:cNvSpPr txBox="1"/>
              <p:nvPr/>
            </p:nvSpPr>
            <p:spPr>
              <a:xfrm>
                <a:off x="114935" y="5562941"/>
                <a:ext cx="735522" cy="276999"/>
              </a:xfrm>
              <a:prstGeom prst="rect">
                <a:avLst/>
              </a:prstGeom>
              <a:noFill/>
            </p:spPr>
            <p:txBody>
              <a:bodyPr wrap="none" rtlCol="0">
                <a:spAutoFit/>
              </a:bodyPr>
              <a:lstStyle/>
              <a:p>
                <a:r>
                  <a:rPr lang="en-GB" sz="1200" noProof="0" dirty="0"/>
                  <a:t>a)</a:t>
                </a:r>
                <a:r>
                  <a:rPr lang="en-GB" sz="1200" i="1" noProof="0" dirty="0"/>
                  <a:t> </a:t>
                </a:r>
                <a14:m>
                  <m:oMath xmlns:m="http://schemas.openxmlformats.org/officeDocument/2006/math">
                    <m:r>
                      <a:rPr lang="en-GB" sz="1200" b="0" i="1" noProof="0" smtClean="0">
                        <a:latin typeface="Cambria Math" panose="02040503050406030204" pitchFamily="18" charset="0"/>
                      </a:rPr>
                      <m:t>𝑓𝑔</m:t>
                    </m:r>
                    <m:r>
                      <a:rPr lang="en-GB" sz="1200" b="0" i="1" noProof="0" smtClean="0">
                        <a:latin typeface="Cambria Math" panose="02040503050406030204" pitchFamily="18" charset="0"/>
                      </a:rPr>
                      <m:t>(3)</m:t>
                    </m:r>
                  </m:oMath>
                </a14:m>
                <a:endParaRPr lang="en-GB" sz="1200" noProof="0" dirty="0"/>
              </a:p>
            </p:txBody>
          </p:sp>
        </mc:Choice>
        <mc:Fallback xmlns="">
          <p:sp>
            <p:nvSpPr>
              <p:cNvPr id="24" name="TextBox 23">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14935" y="5562941"/>
                <a:ext cx="735522" cy="276999"/>
              </a:xfrm>
              <a:prstGeom prst="rect">
                <a:avLst/>
              </a:prstGeom>
              <a:blipFill>
                <a:blip r:embed="rId3"/>
                <a:stretch>
                  <a:fillRect l="-826" t="-2222" b="-17778"/>
                </a:stretch>
              </a:blipFill>
            </p:spPr>
            <p:txBody>
              <a:bodyPr/>
              <a:lstStyle/>
              <a:p>
                <a:r>
                  <a:rPr lang="en-US">
                    <a:noFill/>
                  </a:rPr>
                  <a:t> </a:t>
                </a:r>
              </a:p>
            </p:txBody>
          </p:sp>
        </mc:Fallback>
      </mc:AlternateContent>
      <p:sp>
        <p:nvSpPr>
          <p:cNvPr id="26" name="Rectangle 25">
            <a:extLst>
              <a:ext uri="{FF2B5EF4-FFF2-40B4-BE49-F238E27FC236}">
                <a16:creationId xmlns:a16="http://schemas.microsoft.com/office/drawing/2014/main" id="{3C36006B-227E-45B6-ACB0-32FCE0D906FC}"/>
              </a:ext>
            </a:extLst>
          </p:cNvPr>
          <p:cNvSpPr/>
          <p:nvPr/>
        </p:nvSpPr>
        <p:spPr>
          <a:xfrm>
            <a:off x="1775901" y="5549870"/>
            <a:ext cx="1623176" cy="21622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7" name="Rectangle 26">
            <a:extLst>
              <a:ext uri="{FF2B5EF4-FFF2-40B4-BE49-F238E27FC236}">
                <a16:creationId xmlns:a16="http://schemas.microsoft.com/office/drawing/2014/main" id="{3C36006B-227E-45B6-ACB0-32FCE0D906FC}"/>
              </a:ext>
            </a:extLst>
          </p:cNvPr>
          <p:cNvSpPr/>
          <p:nvPr/>
        </p:nvSpPr>
        <p:spPr>
          <a:xfrm>
            <a:off x="3479087" y="5542775"/>
            <a:ext cx="1623176" cy="216815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8" name="Rectangle 27">
            <a:extLst>
              <a:ext uri="{FF2B5EF4-FFF2-40B4-BE49-F238E27FC236}">
                <a16:creationId xmlns:a16="http://schemas.microsoft.com/office/drawing/2014/main" id="{3C36006B-227E-45B6-ACB0-32FCE0D906FC}"/>
              </a:ext>
            </a:extLst>
          </p:cNvPr>
          <p:cNvSpPr/>
          <p:nvPr/>
        </p:nvSpPr>
        <p:spPr>
          <a:xfrm>
            <a:off x="5166828" y="5547312"/>
            <a:ext cx="1623176" cy="216436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19CA145-0A55-47EB-B271-6690400B9E6B}"/>
                  </a:ext>
                </a:extLst>
              </p:cNvPr>
              <p:cNvSpPr txBox="1"/>
              <p:nvPr/>
            </p:nvSpPr>
            <p:spPr>
              <a:xfrm>
                <a:off x="1756152" y="5547068"/>
                <a:ext cx="741934" cy="276999"/>
              </a:xfrm>
              <a:prstGeom prst="rect">
                <a:avLst/>
              </a:prstGeom>
              <a:noFill/>
            </p:spPr>
            <p:txBody>
              <a:bodyPr wrap="none" rtlCol="0">
                <a:spAutoFit/>
              </a:bodyPr>
              <a:lstStyle/>
              <a:p>
                <a:r>
                  <a:rPr lang="en-GB" sz="1200" noProof="0" dirty="0"/>
                  <a:t>b)</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𝑓𝑔</m:t>
                    </m:r>
                    <m:r>
                      <a:rPr lang="en-GB" sz="1200" b="0" i="1" noProof="0" smtClean="0">
                        <a:latin typeface="Cambria Math" panose="02040503050406030204" pitchFamily="18" charset="0"/>
                        <a:ea typeface="Cambria Math" panose="02040503050406030204" pitchFamily="18" charset="0"/>
                      </a:rPr>
                      <m:t>(4)</m:t>
                    </m:r>
                  </m:oMath>
                </a14:m>
                <a:endParaRPr lang="en-GB" sz="1200" noProof="0" dirty="0"/>
              </a:p>
            </p:txBody>
          </p:sp>
        </mc:Choice>
        <mc:Fallback xmlns="">
          <p:sp>
            <p:nvSpPr>
              <p:cNvPr id="29" name="TextBox 28">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756152" y="5547068"/>
                <a:ext cx="741934" cy="276999"/>
              </a:xfrm>
              <a:prstGeom prst="rect">
                <a:avLst/>
              </a:prstGeom>
              <a:blipFill>
                <a:blip r:embed="rId4"/>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19CA145-0A55-47EB-B271-6690400B9E6B}"/>
                  </a:ext>
                </a:extLst>
              </p:cNvPr>
              <p:cNvSpPr txBox="1"/>
              <p:nvPr/>
            </p:nvSpPr>
            <p:spPr>
              <a:xfrm>
                <a:off x="3433415" y="5538439"/>
                <a:ext cx="729367" cy="276999"/>
              </a:xfrm>
              <a:prstGeom prst="rect">
                <a:avLst/>
              </a:prstGeom>
              <a:noFill/>
            </p:spPr>
            <p:txBody>
              <a:bodyPr wrap="none" rtlCol="0">
                <a:spAutoFit/>
              </a:bodyPr>
              <a:lstStyle/>
              <a:p>
                <a:r>
                  <a:rPr lang="en-GB" sz="1200" noProof="0" dirty="0"/>
                  <a:t>c)</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𝑔𝑓</m:t>
                    </m:r>
                    <m:r>
                      <a:rPr lang="en-GB" sz="1200" b="0" i="1" noProof="0" smtClean="0">
                        <a:latin typeface="Cambria Math" panose="02040503050406030204" pitchFamily="18" charset="0"/>
                        <a:ea typeface="Cambria Math" panose="02040503050406030204" pitchFamily="18" charset="0"/>
                      </a:rPr>
                      <m:t>(2)</m:t>
                    </m:r>
                  </m:oMath>
                </a14:m>
                <a:endParaRPr lang="en-GB" sz="1200" noProof="0" dirty="0"/>
              </a:p>
            </p:txBody>
          </p:sp>
        </mc:Choice>
        <mc:Fallback xmlns="">
          <p:sp>
            <p:nvSpPr>
              <p:cNvPr id="30" name="TextBox 29">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3433415" y="5538439"/>
                <a:ext cx="729367" cy="276999"/>
              </a:xfrm>
              <a:prstGeom prst="rect">
                <a:avLst/>
              </a:prstGeom>
              <a:blipFill>
                <a:blip r:embed="rId5"/>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519CA145-0A55-47EB-B271-6690400B9E6B}"/>
                  </a:ext>
                </a:extLst>
              </p:cNvPr>
              <p:cNvSpPr txBox="1"/>
              <p:nvPr/>
            </p:nvSpPr>
            <p:spPr>
              <a:xfrm>
                <a:off x="5182273" y="5539879"/>
                <a:ext cx="743793" cy="276999"/>
              </a:xfrm>
              <a:prstGeom prst="rect">
                <a:avLst/>
              </a:prstGeom>
              <a:noFill/>
            </p:spPr>
            <p:txBody>
              <a:bodyPr wrap="none" rtlCol="0">
                <a:spAutoFit/>
              </a:bodyPr>
              <a:lstStyle/>
              <a:p>
                <a:r>
                  <a:rPr lang="en-GB" sz="1200" noProof="0" dirty="0"/>
                  <a:t>d)</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𝑔𝑓</m:t>
                    </m:r>
                    <m:r>
                      <a:rPr lang="en-GB" sz="1200" b="0" i="1" noProof="0" smtClean="0">
                        <a:latin typeface="Cambria Math" panose="02040503050406030204" pitchFamily="18" charset="0"/>
                        <a:ea typeface="Cambria Math" panose="02040503050406030204" pitchFamily="18" charset="0"/>
                      </a:rPr>
                      <m:t>(3)</m:t>
                    </m:r>
                  </m:oMath>
                </a14:m>
                <a:endParaRPr lang="en-GB" sz="1200" noProof="0" dirty="0"/>
              </a:p>
            </p:txBody>
          </p:sp>
        </mc:Choice>
        <mc:Fallback xmlns="">
          <p:sp>
            <p:nvSpPr>
              <p:cNvPr id="31" name="TextBox 30">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5182273" y="5539879"/>
                <a:ext cx="743793" cy="276999"/>
              </a:xfrm>
              <a:prstGeom prst="rect">
                <a:avLst/>
              </a:prstGeom>
              <a:blipFill>
                <a:blip r:embed="rId6"/>
                <a:stretch>
                  <a:fillRect t="-2222" b="-17778"/>
                </a:stretch>
              </a:blipFill>
            </p:spPr>
            <p:txBody>
              <a:bodyPr/>
              <a:lstStyle/>
              <a:p>
                <a:r>
                  <a:rPr lang="en-US">
                    <a:noFill/>
                  </a:rPr>
                  <a:t> </a:t>
                </a:r>
              </a:p>
            </p:txBody>
          </p:sp>
        </mc:Fallback>
      </mc:AlternateContent>
      <p:sp>
        <p:nvSpPr>
          <p:cNvPr id="35" name="Slide Number Placeholder 34"/>
          <p:cNvSpPr>
            <a:spLocks noGrp="1"/>
          </p:cNvSpPr>
          <p:nvPr>
            <p:ph type="sldNum" sz="quarter" idx="12"/>
          </p:nvPr>
        </p:nvSpPr>
        <p:spPr>
          <a:xfrm>
            <a:off x="5314950" y="9608253"/>
            <a:ext cx="1543050" cy="527403"/>
          </a:xfrm>
        </p:spPr>
        <p:txBody>
          <a:bodyPr/>
          <a:lstStyle/>
          <a:p>
            <a:fld id="{9BD3B4A0-BFF9-422C-B253-48BA94BE2F5B}" type="slidenum">
              <a:rPr lang="en-GB" noProof="0" smtClean="0"/>
              <a:t>5</a:t>
            </a:fld>
            <a:endParaRPr lang="en-GB" noProof="0"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80CA423-62E4-4D9E-A61F-19419774D88E}"/>
                  </a:ext>
                </a:extLst>
              </p:cNvPr>
              <p:cNvSpPr txBox="1"/>
              <p:nvPr/>
            </p:nvSpPr>
            <p:spPr>
              <a:xfrm>
                <a:off x="1046826" y="1813229"/>
                <a:ext cx="2155809" cy="1015663"/>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oMath>
                  </m:oMathPara>
                </a14:m>
                <a:endParaRPr lang="en-GB" sz="1200" noProof="0" dirty="0"/>
              </a:p>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𝑔</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m:oMathPara>
                </a14:m>
                <a:endParaRPr lang="en-GB" sz="1200" noProof="0" dirty="0"/>
              </a:p>
              <a:p>
                <a:pPr algn="ctr"/>
                <a:endParaRPr lang="en-GB" sz="1200" noProof="0" dirty="0"/>
              </a:p>
              <a:p>
                <a:pPr algn="ctr"/>
                <a:r>
                  <a:rPr lang="en-GB" sz="1200" noProof="0" dirty="0"/>
                  <a:t>Find </a:t>
                </a:r>
                <a14:m>
                  <m:oMath xmlns:m="http://schemas.openxmlformats.org/officeDocument/2006/math">
                    <m:r>
                      <a:rPr lang="en-GB" sz="1200" b="0" i="1" noProof="0" smtClean="0">
                        <a:latin typeface="Cambria Math" panose="02040503050406030204" pitchFamily="18" charset="0"/>
                      </a:rPr>
                      <m:t>𝑓𝑔</m:t>
                    </m:r>
                    <m:r>
                      <a:rPr lang="en-GB" sz="1200" b="0" i="1" noProof="0" smtClean="0">
                        <a:latin typeface="Cambria Math" panose="02040503050406030204" pitchFamily="18" charset="0"/>
                      </a:rPr>
                      <m:t>(2)</m:t>
                    </m:r>
                  </m:oMath>
                </a14:m>
                <a:endParaRPr lang="en-GB" sz="1200" noProof="0" dirty="0"/>
              </a:p>
              <a:p>
                <a:endParaRPr lang="en-GB" sz="1200" noProof="0" dirty="0"/>
              </a:p>
            </p:txBody>
          </p:sp>
        </mc:Choice>
        <mc:Fallback xmlns="">
          <p:sp>
            <p:nvSpPr>
              <p:cNvPr id="36" name="TextBox 35">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1046826" y="1813229"/>
                <a:ext cx="2155809" cy="1015663"/>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80CA423-62E4-4D9E-A61F-19419774D88E}"/>
                  </a:ext>
                </a:extLst>
              </p:cNvPr>
              <p:cNvSpPr txBox="1"/>
              <p:nvPr/>
            </p:nvSpPr>
            <p:spPr>
              <a:xfrm>
                <a:off x="2893731" y="1782686"/>
                <a:ext cx="2155809" cy="1015663"/>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oMath>
                  </m:oMathPara>
                </a14:m>
                <a:endParaRPr lang="en-GB" sz="1200" noProof="0" dirty="0"/>
              </a:p>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𝑔</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m:t>
                      </m:r>
                    </m:oMath>
                  </m:oMathPara>
                </a14:m>
                <a:endParaRPr lang="en-GB" sz="1200" noProof="0" dirty="0"/>
              </a:p>
              <a:p>
                <a:pPr algn="ctr"/>
                <a:endParaRPr lang="en-GB" sz="1200" noProof="0" dirty="0"/>
              </a:p>
              <a:p>
                <a:pPr algn="ctr"/>
                <a:r>
                  <a:rPr lang="en-GB" sz="1200" noProof="0" dirty="0"/>
                  <a:t>Find </a:t>
                </a:r>
                <a14:m>
                  <m:oMath xmlns:m="http://schemas.openxmlformats.org/officeDocument/2006/math">
                    <m:r>
                      <a:rPr lang="en-GB" sz="1200" b="0" i="1" noProof="0" smtClean="0">
                        <a:latin typeface="Cambria Math" panose="02040503050406030204" pitchFamily="18" charset="0"/>
                      </a:rPr>
                      <m:t>𝑓𝑔</m:t>
                    </m:r>
                    <m:r>
                      <a:rPr lang="en-GB" sz="1200" b="0" i="1" noProof="0" smtClean="0">
                        <a:latin typeface="Cambria Math" panose="02040503050406030204" pitchFamily="18" charset="0"/>
                      </a:rPr>
                      <m:t>(2)</m:t>
                    </m:r>
                  </m:oMath>
                </a14:m>
                <a:endParaRPr lang="en-GB" sz="1200" noProof="0" dirty="0"/>
              </a:p>
              <a:p>
                <a:endParaRPr lang="en-GB" sz="1200" noProof="0" dirty="0"/>
              </a:p>
            </p:txBody>
          </p:sp>
        </mc:Choice>
        <mc:Fallback xmlns="">
          <p:sp>
            <p:nvSpPr>
              <p:cNvPr id="37" name="TextBox 36">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2893731" y="1782686"/>
                <a:ext cx="2155809" cy="1015663"/>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780CA423-62E4-4D9E-A61F-19419774D88E}"/>
                  </a:ext>
                </a:extLst>
              </p:cNvPr>
              <p:cNvSpPr txBox="1"/>
              <p:nvPr/>
            </p:nvSpPr>
            <p:spPr>
              <a:xfrm>
                <a:off x="4781599" y="1824906"/>
                <a:ext cx="2155809" cy="1015663"/>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oMath>
                  </m:oMathPara>
                </a14:m>
                <a:endParaRPr lang="en-GB" sz="1200" noProof="0" dirty="0"/>
              </a:p>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𝑔</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oMath>
                  </m:oMathPara>
                </a14:m>
                <a:endParaRPr lang="en-GB" sz="1200" noProof="0" dirty="0"/>
              </a:p>
              <a:p>
                <a:pPr algn="ctr"/>
                <a:endParaRPr lang="en-GB" sz="1200" noProof="0" dirty="0"/>
              </a:p>
              <a:p>
                <a:pPr algn="ctr"/>
                <a:r>
                  <a:rPr lang="en-GB" sz="1200" noProof="0" dirty="0"/>
                  <a:t>Find </a:t>
                </a:r>
                <a14:m>
                  <m:oMath xmlns:m="http://schemas.openxmlformats.org/officeDocument/2006/math">
                    <m:r>
                      <a:rPr lang="en-GB" sz="1200" b="0" i="1" noProof="0" smtClean="0">
                        <a:latin typeface="Cambria Math" panose="02040503050406030204" pitchFamily="18" charset="0"/>
                      </a:rPr>
                      <m:t>𝑓𝑔</m:t>
                    </m:r>
                    <m:r>
                      <a:rPr lang="en-GB" sz="1200" b="0" i="1" noProof="0" smtClean="0">
                        <a:latin typeface="Cambria Math" panose="02040503050406030204" pitchFamily="18" charset="0"/>
                      </a:rPr>
                      <m:t>(3)</m:t>
                    </m:r>
                  </m:oMath>
                </a14:m>
                <a:endParaRPr lang="en-GB" sz="1200" noProof="0" dirty="0"/>
              </a:p>
              <a:p>
                <a:endParaRPr lang="en-GB" sz="1200" noProof="0" dirty="0"/>
              </a:p>
            </p:txBody>
          </p:sp>
        </mc:Choice>
        <mc:Fallback xmlns="">
          <p:sp>
            <p:nvSpPr>
              <p:cNvPr id="38" name="TextBox 37">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4781599" y="1824906"/>
                <a:ext cx="2155809" cy="1015663"/>
              </a:xfrm>
              <a:prstGeom prst="rect">
                <a:avLst/>
              </a:prstGeom>
              <a:blipFill>
                <a:blip r:embed="rId9"/>
                <a:stretch>
                  <a:fillRect/>
                </a:stretch>
              </a:blipFill>
            </p:spPr>
            <p:txBody>
              <a:bodyPr/>
              <a:lstStyle/>
              <a:p>
                <a:r>
                  <a:rPr lang="en-US">
                    <a:noFill/>
                  </a:rPr>
                  <a:t> </a:t>
                </a:r>
              </a:p>
            </p:txBody>
          </p:sp>
        </mc:Fallback>
      </mc:AlternateContent>
      <p:sp>
        <p:nvSpPr>
          <p:cNvPr id="39" name="Rectangle 38">
            <a:extLst>
              <a:ext uri="{FF2B5EF4-FFF2-40B4-BE49-F238E27FC236}">
                <a16:creationId xmlns:a16="http://schemas.microsoft.com/office/drawing/2014/main" id="{3C36006B-227E-45B6-ACB0-32FCE0D906FC}"/>
              </a:ext>
            </a:extLst>
          </p:cNvPr>
          <p:cNvSpPr/>
          <p:nvPr/>
        </p:nvSpPr>
        <p:spPr>
          <a:xfrm>
            <a:off x="80129" y="7819416"/>
            <a:ext cx="1623176" cy="20319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519CA145-0A55-47EB-B271-6690400B9E6B}"/>
                  </a:ext>
                </a:extLst>
              </p:cNvPr>
              <p:cNvSpPr txBox="1"/>
              <p:nvPr/>
            </p:nvSpPr>
            <p:spPr>
              <a:xfrm>
                <a:off x="99490" y="7835289"/>
                <a:ext cx="738728" cy="276999"/>
              </a:xfrm>
              <a:prstGeom prst="rect">
                <a:avLst/>
              </a:prstGeom>
              <a:noFill/>
            </p:spPr>
            <p:txBody>
              <a:bodyPr wrap="none" rtlCol="0">
                <a:spAutoFit/>
              </a:bodyPr>
              <a:lstStyle/>
              <a:p>
                <a:r>
                  <a:rPr lang="en-GB" sz="1200" noProof="0" dirty="0"/>
                  <a:t>e)</a:t>
                </a:r>
                <a:r>
                  <a:rPr lang="en-GB" sz="1200" i="1" noProof="0" dirty="0"/>
                  <a:t> </a:t>
                </a:r>
                <a14:m>
                  <m:oMath xmlns:m="http://schemas.openxmlformats.org/officeDocument/2006/math">
                    <m:r>
                      <a:rPr lang="en-GB" sz="1200" b="0" i="1" noProof="0" smtClean="0">
                        <a:latin typeface="Cambria Math" panose="02040503050406030204" pitchFamily="18" charset="0"/>
                      </a:rPr>
                      <m:t>𝑓𝑔</m:t>
                    </m:r>
                    <m:r>
                      <a:rPr lang="en-GB" sz="1200" b="0" i="1" noProof="0" smtClean="0">
                        <a:latin typeface="Cambria Math" panose="02040503050406030204" pitchFamily="18" charset="0"/>
                      </a:rPr>
                      <m:t>(3)</m:t>
                    </m:r>
                  </m:oMath>
                </a14:m>
                <a:endParaRPr lang="en-GB" sz="1200" noProof="0" dirty="0"/>
              </a:p>
            </p:txBody>
          </p:sp>
        </mc:Choice>
        <mc:Fallback xmlns="">
          <p:sp>
            <p:nvSpPr>
              <p:cNvPr id="40" name="TextBox 39">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99490" y="7835289"/>
                <a:ext cx="738728" cy="276999"/>
              </a:xfrm>
              <a:prstGeom prst="rect">
                <a:avLst/>
              </a:prstGeom>
              <a:blipFill>
                <a:blip r:embed="rId10"/>
                <a:stretch>
                  <a:fillRect b="-15217"/>
                </a:stretch>
              </a:blipFill>
            </p:spPr>
            <p:txBody>
              <a:bodyPr/>
              <a:lstStyle/>
              <a:p>
                <a:r>
                  <a:rPr lang="en-US">
                    <a:noFill/>
                  </a:rPr>
                  <a:t> </a:t>
                </a:r>
              </a:p>
            </p:txBody>
          </p:sp>
        </mc:Fallback>
      </mc:AlternateContent>
      <p:sp>
        <p:nvSpPr>
          <p:cNvPr id="42" name="Rectangle 41">
            <a:extLst>
              <a:ext uri="{FF2B5EF4-FFF2-40B4-BE49-F238E27FC236}">
                <a16:creationId xmlns:a16="http://schemas.microsoft.com/office/drawing/2014/main" id="{3C36006B-227E-45B6-ACB0-32FCE0D906FC}"/>
              </a:ext>
            </a:extLst>
          </p:cNvPr>
          <p:cNvSpPr/>
          <p:nvPr/>
        </p:nvSpPr>
        <p:spPr>
          <a:xfrm>
            <a:off x="1760456" y="7822218"/>
            <a:ext cx="1623176" cy="20297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3" name="Rectangle 42">
            <a:extLst>
              <a:ext uri="{FF2B5EF4-FFF2-40B4-BE49-F238E27FC236}">
                <a16:creationId xmlns:a16="http://schemas.microsoft.com/office/drawing/2014/main" id="{3C36006B-227E-45B6-ACB0-32FCE0D906FC}"/>
              </a:ext>
            </a:extLst>
          </p:cNvPr>
          <p:cNvSpPr/>
          <p:nvPr/>
        </p:nvSpPr>
        <p:spPr>
          <a:xfrm>
            <a:off x="3463642" y="7815124"/>
            <a:ext cx="1623176" cy="20353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4" name="Rectangle 43">
            <a:extLst>
              <a:ext uri="{FF2B5EF4-FFF2-40B4-BE49-F238E27FC236}">
                <a16:creationId xmlns:a16="http://schemas.microsoft.com/office/drawing/2014/main" id="{3C36006B-227E-45B6-ACB0-32FCE0D906FC}"/>
              </a:ext>
            </a:extLst>
          </p:cNvPr>
          <p:cNvSpPr/>
          <p:nvPr/>
        </p:nvSpPr>
        <p:spPr>
          <a:xfrm>
            <a:off x="5151383" y="7819659"/>
            <a:ext cx="1623176" cy="20317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519CA145-0A55-47EB-B271-6690400B9E6B}"/>
                  </a:ext>
                </a:extLst>
              </p:cNvPr>
              <p:cNvSpPr txBox="1"/>
              <p:nvPr/>
            </p:nvSpPr>
            <p:spPr>
              <a:xfrm>
                <a:off x="1740707" y="7819416"/>
                <a:ext cx="702756" cy="276999"/>
              </a:xfrm>
              <a:prstGeom prst="rect">
                <a:avLst/>
              </a:prstGeom>
              <a:noFill/>
            </p:spPr>
            <p:txBody>
              <a:bodyPr wrap="none" rtlCol="0">
                <a:spAutoFit/>
              </a:bodyPr>
              <a:lstStyle/>
              <a:p>
                <a:r>
                  <a:rPr lang="en-GB" sz="1200" noProof="0" dirty="0"/>
                  <a:t>f)</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𝑓𝑓</m:t>
                    </m:r>
                    <m:r>
                      <a:rPr lang="en-GB" sz="1200" b="0" i="1" noProof="0" smtClean="0">
                        <a:latin typeface="Cambria Math" panose="02040503050406030204" pitchFamily="18" charset="0"/>
                        <a:ea typeface="Cambria Math" panose="02040503050406030204" pitchFamily="18" charset="0"/>
                      </a:rPr>
                      <m:t>(2)</m:t>
                    </m:r>
                  </m:oMath>
                </a14:m>
                <a:endParaRPr lang="en-GB" sz="1200" noProof="0" dirty="0"/>
              </a:p>
            </p:txBody>
          </p:sp>
        </mc:Choice>
        <mc:Fallback xmlns="">
          <p:sp>
            <p:nvSpPr>
              <p:cNvPr id="45" name="TextBox 44">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740707" y="7819416"/>
                <a:ext cx="702756" cy="276999"/>
              </a:xfrm>
              <a:prstGeom prst="rect">
                <a:avLst/>
              </a:prstGeom>
              <a:blipFill>
                <a:blip r:embed="rId11"/>
                <a:stretch>
                  <a:fillRect l="-870"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19CA145-0A55-47EB-B271-6690400B9E6B}"/>
                  </a:ext>
                </a:extLst>
              </p:cNvPr>
              <p:cNvSpPr txBox="1"/>
              <p:nvPr/>
            </p:nvSpPr>
            <p:spPr>
              <a:xfrm>
                <a:off x="3417970" y="7810787"/>
                <a:ext cx="743537" cy="276999"/>
              </a:xfrm>
              <a:prstGeom prst="rect">
                <a:avLst/>
              </a:prstGeom>
              <a:noFill/>
            </p:spPr>
            <p:txBody>
              <a:bodyPr wrap="none" rtlCol="0">
                <a:spAutoFit/>
              </a:bodyPr>
              <a:lstStyle/>
              <a:p>
                <a:r>
                  <a:rPr lang="en-GB" sz="1200" noProof="0" dirty="0"/>
                  <a:t>g)</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𝑔𝑔</m:t>
                    </m:r>
                    <m:r>
                      <a:rPr lang="en-GB" sz="1200" b="0" i="1" noProof="0" smtClean="0">
                        <a:latin typeface="Cambria Math" panose="02040503050406030204" pitchFamily="18" charset="0"/>
                        <a:ea typeface="Cambria Math" panose="02040503050406030204" pitchFamily="18" charset="0"/>
                      </a:rPr>
                      <m:t>(2)</m:t>
                    </m:r>
                  </m:oMath>
                </a14:m>
                <a:endParaRPr lang="en-GB" sz="1200" noProof="0" dirty="0"/>
              </a:p>
            </p:txBody>
          </p:sp>
        </mc:Choice>
        <mc:Fallback xmlns="">
          <p:sp>
            <p:nvSpPr>
              <p:cNvPr id="46" name="TextBox 45">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3417970" y="7810787"/>
                <a:ext cx="743537" cy="276999"/>
              </a:xfrm>
              <a:prstGeom prst="rect">
                <a:avLst/>
              </a:prstGeom>
              <a:blipFill>
                <a:blip r:embed="rId12"/>
                <a:stretch>
                  <a:fillRect l="-820"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19CA145-0A55-47EB-B271-6690400B9E6B}"/>
                  </a:ext>
                </a:extLst>
              </p:cNvPr>
              <p:cNvSpPr txBox="1"/>
              <p:nvPr/>
            </p:nvSpPr>
            <p:spPr>
              <a:xfrm>
                <a:off x="5166828" y="7812227"/>
                <a:ext cx="846129" cy="276999"/>
              </a:xfrm>
              <a:prstGeom prst="rect">
                <a:avLst/>
              </a:prstGeom>
              <a:noFill/>
            </p:spPr>
            <p:txBody>
              <a:bodyPr wrap="none" rtlCol="0">
                <a:spAutoFit/>
              </a:bodyPr>
              <a:lstStyle/>
              <a:p>
                <a:r>
                  <a:rPr lang="en-GB" sz="1200" noProof="0" dirty="0"/>
                  <a:t>h)</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𝑔𝑔𝑔</m:t>
                    </m:r>
                    <m:r>
                      <a:rPr lang="en-GB" sz="1200" b="0" i="1" noProof="0" smtClean="0">
                        <a:latin typeface="Cambria Math" panose="02040503050406030204" pitchFamily="18" charset="0"/>
                        <a:ea typeface="Cambria Math" panose="02040503050406030204" pitchFamily="18" charset="0"/>
                      </a:rPr>
                      <m:t>(3)</m:t>
                    </m:r>
                  </m:oMath>
                </a14:m>
                <a:endParaRPr lang="en-GB" sz="1200" noProof="0" dirty="0"/>
              </a:p>
            </p:txBody>
          </p:sp>
        </mc:Choice>
        <mc:Fallback xmlns="">
          <p:sp>
            <p:nvSpPr>
              <p:cNvPr id="47" name="TextBox 46">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5166828" y="7812227"/>
                <a:ext cx="846129" cy="276999"/>
              </a:xfrm>
              <a:prstGeom prst="rect">
                <a:avLst/>
              </a:prstGeom>
              <a:blipFill>
                <a:blip r:embed="rId13"/>
                <a:stretch>
                  <a:fillRect l="-725" t="-2222" b="-17778"/>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C3C65E48-8C3D-6849-AD77-7AD8678AD8DA}"/>
              </a:ext>
            </a:extLst>
          </p:cNvPr>
          <p:cNvSpPr txBox="1"/>
          <p:nvPr/>
        </p:nvSpPr>
        <p:spPr>
          <a:xfrm>
            <a:off x="168614" y="5150639"/>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5C35B4E-1A91-2B79-CB91-26251F248652}"/>
                  </a:ext>
                </a:extLst>
              </p:cNvPr>
              <p:cNvSpPr txBox="1"/>
              <p:nvPr/>
            </p:nvSpPr>
            <p:spPr>
              <a:xfrm>
                <a:off x="139614" y="366976"/>
                <a:ext cx="6603926" cy="1039452"/>
              </a:xfrm>
              <a:prstGeom prst="rect">
                <a:avLst/>
              </a:prstGeom>
              <a:noFill/>
              <a:ln>
                <a:solidFill>
                  <a:schemeClr val="tx1"/>
                </a:solidFill>
              </a:ln>
            </p:spPr>
            <p:txBody>
              <a:bodyPr wrap="square" rtlCol="0">
                <a:spAutoFit/>
              </a:bodyPr>
              <a:lstStyle/>
              <a:p>
                <a:r>
                  <a:rPr lang="en-GB" sz="1200" noProof="0" dirty="0"/>
                  <a:t>A composite function is a combination of two functions where one is substituted into another. The notation for this is as such </a:t>
                </a:r>
                <a14:m>
                  <m:oMath xmlns:m="http://schemas.openxmlformats.org/officeDocument/2006/math">
                    <m:r>
                      <a:rPr lang="en-GB" sz="1200" i="1" noProof="0">
                        <a:latin typeface="Cambria Math" panose="02040503050406030204" pitchFamily="18" charset="0"/>
                      </a:rPr>
                      <m:t>𝑓𝑔</m:t>
                    </m:r>
                    <m:r>
                      <a:rPr lang="en-GB" sz="1200" i="1" noProof="0">
                        <a:latin typeface="Cambria Math" panose="02040503050406030204" pitchFamily="18" charset="0"/>
                      </a:rPr>
                      <m:t>(</m:t>
                    </m:r>
                    <m:r>
                      <a:rPr lang="en-GB" sz="1200" i="1" noProof="0">
                        <a:latin typeface="Cambria Math" panose="02040503050406030204" pitchFamily="18" charset="0"/>
                      </a:rPr>
                      <m:t>𝑥</m:t>
                    </m:r>
                    <m:r>
                      <a:rPr lang="en-GB" sz="1200" i="1" noProof="0">
                        <a:latin typeface="Cambria Math" panose="02040503050406030204" pitchFamily="18" charset="0"/>
                      </a:rPr>
                      <m:t>)</m:t>
                    </m:r>
                  </m:oMath>
                </a14:m>
                <a:r>
                  <a:rPr lang="en-GB" sz="1200" noProof="0" dirty="0"/>
                  <a:t> (</a:t>
                </a:r>
                <a14:m>
                  <m:oMath xmlns:m="http://schemas.openxmlformats.org/officeDocument/2006/math">
                    <m:r>
                      <a:rPr lang="en-GB" sz="1200" i="1" noProof="0">
                        <a:latin typeface="Cambria Math" panose="02040503050406030204" pitchFamily="18" charset="0"/>
                      </a:rPr>
                      <m:t>𝑓</m:t>
                    </m:r>
                  </m:oMath>
                </a14:m>
                <a:r>
                  <a:rPr lang="en-GB" sz="1200" noProof="0" dirty="0"/>
                  <a:t> of </a:t>
                </a:r>
                <a14:m>
                  <m:oMath xmlns:m="http://schemas.openxmlformats.org/officeDocument/2006/math">
                    <m:r>
                      <a:rPr lang="en-GB" sz="1200" i="1" noProof="0">
                        <a:latin typeface="Cambria Math" panose="02040503050406030204" pitchFamily="18" charset="0"/>
                      </a:rPr>
                      <m:t>𝑔</m:t>
                    </m:r>
                  </m:oMath>
                </a14:m>
                <a:r>
                  <a:rPr lang="en-GB" sz="1200" noProof="0" dirty="0"/>
                  <a:t> of</a:t>
                </a:r>
                <a14:m>
                  <m:oMath xmlns:m="http://schemas.openxmlformats.org/officeDocument/2006/math">
                    <m:r>
                      <a:rPr lang="en-GB" sz="1200" i="1" noProof="0">
                        <a:latin typeface="Cambria Math" panose="02040503050406030204" pitchFamily="18" charset="0"/>
                      </a:rPr>
                      <m:t> </m:t>
                    </m:r>
                    <m:r>
                      <a:rPr lang="en-GB" sz="1200" i="1" noProof="0">
                        <a:latin typeface="Cambria Math" panose="02040503050406030204" pitchFamily="18" charset="0"/>
                      </a:rPr>
                      <m:t>𝑥</m:t>
                    </m:r>
                  </m:oMath>
                </a14:m>
                <a:r>
                  <a:rPr lang="en-GB" sz="1200" noProof="0" dirty="0"/>
                  <a:t>). The order in which we find and use composite functions is not commutative, for example</a:t>
                </a:r>
                <a14:m>
                  <m:oMath xmlns:m="http://schemas.openxmlformats.org/officeDocument/2006/math">
                    <m:r>
                      <a:rPr lang="en-GB" sz="1200" i="1" noProof="0">
                        <a:latin typeface="Cambria Math" panose="02040503050406030204" pitchFamily="18" charset="0"/>
                      </a:rPr>
                      <m:t> </m:t>
                    </m:r>
                    <m:r>
                      <a:rPr lang="en-GB" sz="1200" i="1" noProof="0">
                        <a:latin typeface="Cambria Math" panose="02040503050406030204" pitchFamily="18" charset="0"/>
                      </a:rPr>
                      <m:t>𝑓𝑔</m:t>
                    </m:r>
                    <m:d>
                      <m:dPr>
                        <m:ctrlPr>
                          <a:rPr lang="en-GB" sz="1200" i="1" noProof="0" smtClean="0">
                            <a:latin typeface="Cambria Math" panose="02040503050406030204" pitchFamily="18" charset="0"/>
                          </a:rPr>
                        </m:ctrlPr>
                      </m:dPr>
                      <m:e>
                        <m:r>
                          <a:rPr lang="en-GB" sz="1200" i="1" noProof="0">
                            <a:latin typeface="Cambria Math" panose="02040503050406030204" pitchFamily="18" charset="0"/>
                          </a:rPr>
                          <m:t>𝑥</m:t>
                        </m:r>
                      </m:e>
                    </m:d>
                    <m:r>
                      <a:rPr lang="en-GB" sz="1200" i="1" noProof="0">
                        <a:latin typeface="Cambria Math" panose="02040503050406030204" pitchFamily="18" charset="0"/>
                      </a:rPr>
                      <m:t>≠</m:t>
                    </m:r>
                    <m:r>
                      <a:rPr lang="en-GB" sz="1200" i="1" noProof="0">
                        <a:latin typeface="Cambria Math" panose="02040503050406030204" pitchFamily="18" charset="0"/>
                      </a:rPr>
                      <m:t>𝑔𝑓</m:t>
                    </m:r>
                    <m:r>
                      <a:rPr lang="en-GB" sz="1200" i="1" noProof="0">
                        <a:latin typeface="Cambria Math" panose="02040503050406030204" pitchFamily="18" charset="0"/>
                      </a:rPr>
                      <m:t>(</m:t>
                    </m:r>
                    <m:r>
                      <a:rPr lang="en-GB" sz="1200" i="1" noProof="0">
                        <a:latin typeface="Cambria Math" panose="02040503050406030204" pitchFamily="18" charset="0"/>
                      </a:rPr>
                      <m:t>𝑥</m:t>
                    </m:r>
                    <m:r>
                      <a:rPr lang="en-GB" sz="1200" i="1" noProof="0">
                        <a:latin typeface="Cambria Math" panose="02040503050406030204" pitchFamily="18" charset="0"/>
                      </a:rPr>
                      <m:t>)</m:t>
                    </m:r>
                  </m:oMath>
                </a14:m>
                <a:r>
                  <a:rPr lang="en-GB" sz="1200" noProof="0" dirty="0"/>
                  <a:t>. When working with composite we are working from the inside out as is shown in the following example,</a:t>
                </a:r>
                <a14:m>
                  <m:oMath xmlns:m="http://schemas.openxmlformats.org/officeDocument/2006/math">
                    <m:r>
                      <a:rPr lang="en-GB" sz="1200" i="1" noProof="0">
                        <a:latin typeface="Cambria Math" panose="02040503050406030204" pitchFamily="18" charset="0"/>
                      </a:rPr>
                      <m:t> </m:t>
                    </m:r>
                    <m:r>
                      <a:rPr lang="en-GB" sz="1200" i="1" noProof="0">
                        <a:latin typeface="Cambria Math" panose="02040503050406030204" pitchFamily="18" charset="0"/>
                      </a:rPr>
                      <m:t>𝑓𝑔</m:t>
                    </m:r>
                    <m:d>
                      <m:dPr>
                        <m:ctrlPr>
                          <a:rPr lang="en-GB" sz="1200" i="1" noProof="0" smtClean="0">
                            <a:latin typeface="Cambria Math" panose="02040503050406030204" pitchFamily="18" charset="0"/>
                          </a:rPr>
                        </m:ctrlPr>
                      </m:dPr>
                      <m:e>
                        <m:r>
                          <a:rPr lang="en-GB" sz="1200" i="1" noProof="0">
                            <a:latin typeface="Cambria Math" panose="02040503050406030204" pitchFamily="18" charset="0"/>
                          </a:rPr>
                          <m:t>𝑥</m:t>
                        </m:r>
                      </m:e>
                    </m:d>
                    <m:r>
                      <a:rPr lang="en-GB" sz="1200" i="1" noProof="0">
                        <a:latin typeface="Cambria Math" panose="02040503050406030204" pitchFamily="18" charset="0"/>
                      </a:rPr>
                      <m:t>=</m:t>
                    </m:r>
                    <m:r>
                      <a:rPr lang="en-GB" sz="1200" i="1" noProof="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a:latin typeface="Cambria Math" panose="02040503050406030204" pitchFamily="18" charset="0"/>
                          </a:rPr>
                          <m:t>𝑔</m:t>
                        </m:r>
                        <m:d>
                          <m:dPr>
                            <m:ctrlPr>
                              <a:rPr lang="en-GB" sz="1200" i="1" noProof="0" smtClean="0">
                                <a:latin typeface="Cambria Math" panose="02040503050406030204" pitchFamily="18" charset="0"/>
                              </a:rPr>
                            </m:ctrlPr>
                          </m:dPr>
                          <m:e>
                            <m:r>
                              <a:rPr lang="en-GB" sz="1200" i="1" noProof="0">
                                <a:latin typeface="Cambria Math" panose="02040503050406030204" pitchFamily="18" charset="0"/>
                              </a:rPr>
                              <m:t>𝑥</m:t>
                            </m:r>
                          </m:e>
                        </m:d>
                      </m:e>
                    </m:d>
                  </m:oMath>
                </a14:m>
                <a:r>
                  <a:rPr lang="en-GB" sz="1200" noProof="0" dirty="0"/>
                  <a:t>, so we evaluate whatever </a:t>
                </a:r>
                <a14:m>
                  <m:oMath xmlns:m="http://schemas.openxmlformats.org/officeDocument/2006/math">
                    <m:r>
                      <a:rPr lang="en-GB" sz="1200" i="1" noProof="0">
                        <a:latin typeface="Cambria Math" panose="02040503050406030204" pitchFamily="18" charset="0"/>
                      </a:rPr>
                      <m:t>𝑔</m:t>
                    </m:r>
                    <m:r>
                      <a:rPr lang="en-GB" sz="1200" i="1" noProof="0">
                        <a:latin typeface="Cambria Math" panose="02040503050406030204" pitchFamily="18" charset="0"/>
                      </a:rPr>
                      <m:t>(</m:t>
                    </m:r>
                    <m:r>
                      <a:rPr lang="en-GB" sz="1200" i="1" noProof="0">
                        <a:latin typeface="Cambria Math" panose="02040503050406030204" pitchFamily="18" charset="0"/>
                      </a:rPr>
                      <m:t>𝑥</m:t>
                    </m:r>
                    <m:r>
                      <a:rPr lang="en-GB" sz="1200" i="1" noProof="0">
                        <a:latin typeface="Cambria Math" panose="02040503050406030204" pitchFamily="18" charset="0"/>
                      </a:rPr>
                      <m:t>)</m:t>
                    </m:r>
                  </m:oMath>
                </a14:m>
                <a:r>
                  <a:rPr lang="en-GB" sz="1200" noProof="0" dirty="0"/>
                  <a:t> is first then substitute this into </a:t>
                </a:r>
                <a14:m>
                  <m:oMath xmlns:m="http://schemas.openxmlformats.org/officeDocument/2006/math">
                    <m:r>
                      <a:rPr lang="en-GB" sz="1200" i="1" noProof="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a:latin typeface="Cambria Math" panose="02040503050406030204" pitchFamily="18" charset="0"/>
                          </a:rPr>
                          <m:t>𝑥</m:t>
                        </m:r>
                      </m:e>
                    </m:d>
                  </m:oMath>
                </a14:m>
                <a:r>
                  <a:rPr lang="en-GB" sz="1200" noProof="0" dirty="0"/>
                  <a:t> as the new input.</a:t>
                </a:r>
              </a:p>
            </p:txBody>
          </p:sp>
        </mc:Choice>
        <mc:Fallback xmlns="">
          <p:sp>
            <p:nvSpPr>
              <p:cNvPr id="3" name="TextBox 2">
                <a:extLst>
                  <a:ext uri="{FF2B5EF4-FFF2-40B4-BE49-F238E27FC236}">
                    <a16:creationId xmlns:a16="http://schemas.microsoft.com/office/drawing/2014/main" id="{05C35B4E-1A91-2B79-CB91-26251F248652}"/>
                  </a:ext>
                </a:extLst>
              </p:cNvPr>
              <p:cNvSpPr txBox="1">
                <a:spLocks noRot="1" noChangeAspect="1" noMove="1" noResize="1" noEditPoints="1" noAdjustHandles="1" noChangeArrowheads="1" noChangeShapeType="1" noTextEdit="1"/>
              </p:cNvSpPr>
              <p:nvPr/>
            </p:nvSpPr>
            <p:spPr>
              <a:xfrm>
                <a:off x="139614" y="366976"/>
                <a:ext cx="6603926" cy="1039452"/>
              </a:xfrm>
              <a:prstGeom prst="rect">
                <a:avLst/>
              </a:prstGeom>
              <a:blipFill>
                <a:blip r:embed="rId14"/>
                <a:stretch>
                  <a:fillRect r="-184" b="-2890"/>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3777180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62370" y="54004"/>
                <a:ext cx="4965981" cy="276999"/>
              </a:xfrm>
              <a:prstGeom prst="rect">
                <a:avLst/>
              </a:prstGeom>
              <a:noFill/>
            </p:spPr>
            <p:txBody>
              <a:bodyPr wrap="square" rtlCol="0">
                <a:spAutoFit/>
              </a:bodyPr>
              <a:lstStyle/>
              <a:p>
                <a:r>
                  <a:rPr lang="en-GB" sz="1200" noProof="0" dirty="0"/>
                  <a:t>8. Given that </a:t>
                </a:r>
                <a14:m>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 </m:t>
                    </m:r>
                  </m:oMath>
                </a14:m>
                <a:r>
                  <a:rPr lang="en-GB" sz="1200" noProof="0" dirty="0"/>
                  <a:t>and </a:t>
                </a:r>
                <a14:m>
                  <m:oMath xmlns:m="http://schemas.openxmlformats.org/officeDocument/2006/math">
                    <m:r>
                      <a:rPr lang="en-GB" sz="1200" b="0" i="1" noProof="0" smtClean="0">
                        <a:latin typeface="Cambria Math" panose="02040503050406030204" pitchFamily="18" charset="0"/>
                      </a:rPr>
                      <m:t>𝑔</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a14:m>
                <a:r>
                  <a:rPr lang="en-GB" sz="1200" noProof="0" dirty="0"/>
                  <a:t> Find:</a:t>
                </a:r>
              </a:p>
            </p:txBody>
          </p:sp>
        </mc:Choice>
        <mc:Fallback xmlns="">
          <p:sp>
            <p:nvSpPr>
              <p:cNvPr id="2" name="TextBox 1"/>
              <p:cNvSpPr txBox="1">
                <a:spLocks noRot="1" noChangeAspect="1" noMove="1" noResize="1" noEditPoints="1" noAdjustHandles="1" noChangeArrowheads="1" noChangeShapeType="1" noTextEdit="1"/>
              </p:cNvSpPr>
              <p:nvPr/>
            </p:nvSpPr>
            <p:spPr>
              <a:xfrm>
                <a:off x="62370" y="54004"/>
                <a:ext cx="4965981" cy="276999"/>
              </a:xfrm>
              <a:prstGeom prst="rect">
                <a:avLst/>
              </a:prstGeom>
              <a:blipFill>
                <a:blip r:embed="rId2"/>
                <a:stretch>
                  <a:fillRect t="-2222" b="-17778"/>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3C36006B-227E-45B6-ACB0-32FCE0D906FC}"/>
              </a:ext>
            </a:extLst>
          </p:cNvPr>
          <p:cNvSpPr/>
          <p:nvPr/>
        </p:nvSpPr>
        <p:spPr>
          <a:xfrm>
            <a:off x="62370" y="391910"/>
            <a:ext cx="1631215" cy="26933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19CA145-0A55-47EB-B271-6690400B9E6B}"/>
                  </a:ext>
                </a:extLst>
              </p:cNvPr>
              <p:cNvSpPr txBox="1"/>
              <p:nvPr/>
            </p:nvSpPr>
            <p:spPr>
              <a:xfrm>
                <a:off x="81732" y="407783"/>
                <a:ext cx="735522" cy="276999"/>
              </a:xfrm>
              <a:prstGeom prst="rect">
                <a:avLst/>
              </a:prstGeom>
              <a:noFill/>
            </p:spPr>
            <p:txBody>
              <a:bodyPr wrap="none" rtlCol="0">
                <a:spAutoFit/>
              </a:bodyPr>
              <a:lstStyle/>
              <a:p>
                <a:r>
                  <a:rPr lang="en-GB" sz="1200" noProof="0" dirty="0"/>
                  <a:t>a)</a:t>
                </a:r>
                <a:r>
                  <a:rPr lang="en-GB" sz="1200" i="1" noProof="0" dirty="0"/>
                  <a:t> </a:t>
                </a:r>
                <a14:m>
                  <m:oMath xmlns:m="http://schemas.openxmlformats.org/officeDocument/2006/math">
                    <m:r>
                      <a:rPr lang="en-GB" sz="1200" b="0" i="1" noProof="0" smtClean="0">
                        <a:latin typeface="Cambria Math" panose="02040503050406030204" pitchFamily="18" charset="0"/>
                      </a:rPr>
                      <m:t>𝑓𝑔</m:t>
                    </m:r>
                    <m:r>
                      <a:rPr lang="en-GB" sz="1200" b="0" i="1" noProof="0" smtClean="0">
                        <a:latin typeface="Cambria Math" panose="02040503050406030204" pitchFamily="18" charset="0"/>
                      </a:rPr>
                      <m:t>(2)</m:t>
                    </m:r>
                  </m:oMath>
                </a14:m>
                <a:endParaRPr lang="en-GB" sz="1200" noProof="0" dirty="0"/>
              </a:p>
            </p:txBody>
          </p:sp>
        </mc:Choice>
        <mc:Fallback xmlns="">
          <p:sp>
            <p:nvSpPr>
              <p:cNvPr id="4" name="TextBox 3">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81732" y="407783"/>
                <a:ext cx="735522" cy="276999"/>
              </a:xfrm>
              <a:prstGeom prst="rect">
                <a:avLst/>
              </a:prstGeom>
              <a:blipFill>
                <a:blip r:embed="rId3"/>
                <a:stretch>
                  <a:fillRect t="-2222" b="-17778"/>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3C36006B-227E-45B6-ACB0-32FCE0D906FC}"/>
              </a:ext>
            </a:extLst>
          </p:cNvPr>
          <p:cNvSpPr/>
          <p:nvPr/>
        </p:nvSpPr>
        <p:spPr>
          <a:xfrm>
            <a:off x="1742697" y="394712"/>
            <a:ext cx="1631215" cy="268873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Rectangle 6">
            <a:extLst>
              <a:ext uri="{FF2B5EF4-FFF2-40B4-BE49-F238E27FC236}">
                <a16:creationId xmlns:a16="http://schemas.microsoft.com/office/drawing/2014/main" id="{3C36006B-227E-45B6-ACB0-32FCE0D906FC}"/>
              </a:ext>
            </a:extLst>
          </p:cNvPr>
          <p:cNvSpPr/>
          <p:nvPr/>
        </p:nvSpPr>
        <p:spPr>
          <a:xfrm>
            <a:off x="3445883" y="387618"/>
            <a:ext cx="1631215" cy="26933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Rectangle 7">
            <a:extLst>
              <a:ext uri="{FF2B5EF4-FFF2-40B4-BE49-F238E27FC236}">
                <a16:creationId xmlns:a16="http://schemas.microsoft.com/office/drawing/2014/main" id="{3C36006B-227E-45B6-ACB0-32FCE0D906FC}"/>
              </a:ext>
            </a:extLst>
          </p:cNvPr>
          <p:cNvSpPr/>
          <p:nvPr/>
        </p:nvSpPr>
        <p:spPr>
          <a:xfrm>
            <a:off x="5133624" y="392152"/>
            <a:ext cx="1631215" cy="268588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19CA145-0A55-47EB-B271-6690400B9E6B}"/>
                  </a:ext>
                </a:extLst>
              </p:cNvPr>
              <p:cNvSpPr txBox="1"/>
              <p:nvPr/>
            </p:nvSpPr>
            <p:spPr>
              <a:xfrm>
                <a:off x="1722949" y="391910"/>
                <a:ext cx="741934" cy="276999"/>
              </a:xfrm>
              <a:prstGeom prst="rect">
                <a:avLst/>
              </a:prstGeom>
              <a:noFill/>
            </p:spPr>
            <p:txBody>
              <a:bodyPr wrap="none" rtlCol="0">
                <a:spAutoFit/>
              </a:bodyPr>
              <a:lstStyle/>
              <a:p>
                <a:r>
                  <a:rPr lang="en-GB" sz="1200" noProof="0" dirty="0"/>
                  <a:t>b)</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𝑓𝑔</m:t>
                    </m:r>
                    <m:r>
                      <a:rPr lang="en-GB" sz="1200" b="0" i="1" noProof="0" smtClean="0">
                        <a:latin typeface="Cambria Math" panose="02040503050406030204" pitchFamily="18" charset="0"/>
                        <a:ea typeface="Cambria Math" panose="02040503050406030204" pitchFamily="18" charset="0"/>
                      </a:rPr>
                      <m:t>(4)</m:t>
                    </m:r>
                  </m:oMath>
                </a14:m>
                <a:endParaRPr lang="en-GB" sz="1200" noProof="0" dirty="0"/>
              </a:p>
            </p:txBody>
          </p:sp>
        </mc:Choice>
        <mc:Fallback xmlns="">
          <p:sp>
            <p:nvSpPr>
              <p:cNvPr id="9" name="TextBox 8">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722949" y="391910"/>
                <a:ext cx="741934" cy="276999"/>
              </a:xfrm>
              <a:prstGeom prst="rect">
                <a:avLst/>
              </a:prstGeom>
              <a:blipFill>
                <a:blip r:embed="rId4"/>
                <a:stretch>
                  <a:fillRect l="-826"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9CA145-0A55-47EB-B271-6690400B9E6B}"/>
                  </a:ext>
                </a:extLst>
              </p:cNvPr>
              <p:cNvSpPr txBox="1"/>
              <p:nvPr/>
            </p:nvSpPr>
            <p:spPr>
              <a:xfrm>
                <a:off x="3400212" y="383281"/>
                <a:ext cx="729367" cy="276999"/>
              </a:xfrm>
              <a:prstGeom prst="rect">
                <a:avLst/>
              </a:prstGeom>
              <a:noFill/>
            </p:spPr>
            <p:txBody>
              <a:bodyPr wrap="none" rtlCol="0">
                <a:spAutoFit/>
              </a:bodyPr>
              <a:lstStyle/>
              <a:p>
                <a:r>
                  <a:rPr lang="en-GB" sz="1200" noProof="0" dirty="0"/>
                  <a:t>c)</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𝑔𝑓</m:t>
                    </m:r>
                    <m:r>
                      <a:rPr lang="en-GB" sz="1200" b="0" i="1" noProof="0" smtClean="0">
                        <a:latin typeface="Cambria Math" panose="02040503050406030204" pitchFamily="18" charset="0"/>
                        <a:ea typeface="Cambria Math" panose="02040503050406030204" pitchFamily="18" charset="0"/>
                      </a:rPr>
                      <m:t>(2)</m:t>
                    </m:r>
                  </m:oMath>
                </a14:m>
                <a:endParaRPr lang="en-GB" sz="1200" noProof="0" dirty="0"/>
              </a:p>
            </p:txBody>
          </p:sp>
        </mc:Choice>
        <mc:Fallback xmlns="">
          <p:sp>
            <p:nvSpPr>
              <p:cNvPr id="10" name="TextBox 9">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3400212" y="383281"/>
                <a:ext cx="729367" cy="276999"/>
              </a:xfrm>
              <a:prstGeom prst="rect">
                <a:avLst/>
              </a:prstGeom>
              <a:blipFill>
                <a:blip r:embed="rId5"/>
                <a:stretch>
                  <a:fillRect l="-840"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19CA145-0A55-47EB-B271-6690400B9E6B}"/>
                  </a:ext>
                </a:extLst>
              </p:cNvPr>
              <p:cNvSpPr txBox="1"/>
              <p:nvPr/>
            </p:nvSpPr>
            <p:spPr>
              <a:xfrm>
                <a:off x="5149070" y="384722"/>
                <a:ext cx="747477" cy="276999"/>
              </a:xfrm>
              <a:prstGeom prst="rect">
                <a:avLst/>
              </a:prstGeom>
              <a:noFill/>
            </p:spPr>
            <p:txBody>
              <a:bodyPr wrap="square" rtlCol="0">
                <a:spAutoFit/>
              </a:bodyPr>
              <a:lstStyle/>
              <a:p>
                <a:r>
                  <a:rPr lang="en-GB" sz="1200" noProof="0" dirty="0"/>
                  <a:t>d)</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𝑔𝑓</m:t>
                    </m:r>
                    <m:r>
                      <a:rPr lang="en-GB" sz="1200" b="0" i="1" noProof="0" smtClean="0">
                        <a:latin typeface="Cambria Math" panose="02040503050406030204" pitchFamily="18" charset="0"/>
                        <a:ea typeface="Cambria Math" panose="02040503050406030204" pitchFamily="18" charset="0"/>
                      </a:rPr>
                      <m:t>(5)</m:t>
                    </m:r>
                  </m:oMath>
                </a14:m>
                <a:endParaRPr lang="en-GB" sz="1200" noProof="0" dirty="0"/>
              </a:p>
            </p:txBody>
          </p:sp>
        </mc:Choice>
        <mc:Fallback xmlns="">
          <p:sp>
            <p:nvSpPr>
              <p:cNvPr id="11" name="TextBox 10">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5149070" y="384722"/>
                <a:ext cx="747477" cy="276999"/>
              </a:xfrm>
              <a:prstGeom prst="rect">
                <a:avLst/>
              </a:prstGeom>
              <a:blipFill>
                <a:blip r:embed="rId6"/>
                <a:stretch>
                  <a:fillRect l="-820"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3" name="Table 22"/>
              <p:cNvGraphicFramePr>
                <a:graphicFrameLocks noGrp="1"/>
              </p:cNvGraphicFramePr>
              <p:nvPr>
                <p:extLst>
                  <p:ext uri="{D42A27DB-BD31-4B8C-83A1-F6EECF244321}">
                    <p14:modId xmlns:p14="http://schemas.microsoft.com/office/powerpoint/2010/main" val="1725392468"/>
                  </p:ext>
                </p:extLst>
              </p:nvPr>
            </p:nvGraphicFramePr>
            <p:xfrm>
              <a:off x="104328" y="3431342"/>
              <a:ext cx="6683110" cy="3235362"/>
            </p:xfrm>
            <a:graphic>
              <a:graphicData uri="http://schemas.openxmlformats.org/drawingml/2006/table">
                <a:tbl>
                  <a:tblPr firstRow="1" bandRow="1">
                    <a:tableStyleId>{5C22544A-7EE6-4342-B048-85BDC9FD1C3A}</a:tableStyleId>
                  </a:tblPr>
                  <a:tblGrid>
                    <a:gridCol w="1391920">
                      <a:extLst>
                        <a:ext uri="{9D8B030D-6E8A-4147-A177-3AD203B41FA5}">
                          <a16:colId xmlns:a16="http://schemas.microsoft.com/office/drawing/2014/main" val="1568142362"/>
                        </a:ext>
                      </a:extLst>
                    </a:gridCol>
                    <a:gridCol w="1763730">
                      <a:extLst>
                        <a:ext uri="{9D8B030D-6E8A-4147-A177-3AD203B41FA5}">
                          <a16:colId xmlns:a16="http://schemas.microsoft.com/office/drawing/2014/main" val="3551711160"/>
                        </a:ext>
                      </a:extLst>
                    </a:gridCol>
                    <a:gridCol w="1763730">
                      <a:extLst>
                        <a:ext uri="{9D8B030D-6E8A-4147-A177-3AD203B41FA5}">
                          <a16:colId xmlns:a16="http://schemas.microsoft.com/office/drawing/2014/main" val="1149484190"/>
                        </a:ext>
                      </a:extLst>
                    </a:gridCol>
                    <a:gridCol w="1763730">
                      <a:extLst>
                        <a:ext uri="{9D8B030D-6E8A-4147-A177-3AD203B41FA5}">
                          <a16:colId xmlns:a16="http://schemas.microsoft.com/office/drawing/2014/main" val="3262454905"/>
                        </a:ext>
                      </a:extLst>
                    </a:gridCol>
                  </a:tblGrid>
                  <a:tr h="444361">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𝑓</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𝑥</m:t>
                                </m:r>
                              </m:oMath>
                            </m:oMathPara>
                          </a14:m>
                          <a:endParaRPr lang="en-GB" sz="1200" b="0" noProof="0" dirty="0">
                            <a:solidFill>
                              <a:schemeClr val="tx1"/>
                            </a:solidFill>
                          </a:endParaRPr>
                        </a:p>
                        <a:p>
                          <a:pPr algn="ct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𝑔</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+1</m:t>
                                </m:r>
                              </m:oMath>
                            </m:oMathPara>
                          </a14:m>
                          <a:endParaRPr lang="en-GB" sz="1200" b="0" noProof="0" dirty="0">
                            <a:solidFill>
                              <a:schemeClr val="tx1"/>
                            </a:solidFill>
                          </a:endParaRPr>
                        </a:p>
                        <a:p>
                          <a:pPr algn="ctr"/>
                          <a:r>
                            <a:rPr lang="en-GB" sz="1200" b="0" noProof="0" dirty="0">
                              <a:solidFill>
                                <a:schemeClr val="tx1"/>
                              </a:solidFill>
                            </a:rPr>
                            <a:t>Find </a:t>
                          </a:r>
                          <a14:m>
                            <m:oMath xmlns:m="http://schemas.openxmlformats.org/officeDocument/2006/math">
                              <m:r>
                                <a:rPr lang="en-GB" sz="1200" b="0" i="1" noProof="0" smtClean="0">
                                  <a:solidFill>
                                    <a:schemeClr val="tx1"/>
                                  </a:solidFill>
                                  <a:latin typeface="Cambria Math" panose="02040503050406030204" pitchFamily="18" charset="0"/>
                                </a:rPr>
                                <m:t>𝑓𝑔</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𝑓</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=3</m:t>
                                </m:r>
                                <m:r>
                                  <a:rPr lang="en-GB" sz="1200" b="0" i="1" noProof="0" smtClean="0">
                                    <a:solidFill>
                                      <a:schemeClr val="tx1"/>
                                    </a:solidFill>
                                    <a:latin typeface="Cambria Math" panose="02040503050406030204" pitchFamily="18" charset="0"/>
                                  </a:rPr>
                                  <m:t>𝑥</m:t>
                                </m:r>
                              </m:oMath>
                            </m:oMathPara>
                          </a14:m>
                          <a:endParaRPr lang="en-GB" sz="1200" b="0" noProof="0" dirty="0">
                            <a:solidFill>
                              <a:schemeClr val="tx1"/>
                            </a:solidFill>
                          </a:endParaRPr>
                        </a:p>
                        <a:p>
                          <a:pPr algn="ct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𝑔</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+3</m:t>
                                </m:r>
                              </m:oMath>
                            </m:oMathPara>
                          </a14:m>
                          <a:endParaRPr lang="en-GB" sz="1200" b="0" noProof="0" dirty="0">
                            <a:solidFill>
                              <a:schemeClr val="tx1"/>
                            </a:solidFill>
                          </a:endParaRPr>
                        </a:p>
                        <a:p>
                          <a:pPr algn="ctr"/>
                          <a:r>
                            <a:rPr lang="en-GB" sz="1200" b="0" noProof="0" dirty="0">
                              <a:solidFill>
                                <a:schemeClr val="tx1"/>
                              </a:solidFill>
                            </a:rPr>
                            <a:t>Find </a:t>
                          </a:r>
                          <a14:m>
                            <m:oMath xmlns:m="http://schemas.openxmlformats.org/officeDocument/2006/math">
                              <m:r>
                                <a:rPr lang="en-GB" sz="1200" b="0" i="1" noProof="0" smtClean="0">
                                  <a:solidFill>
                                    <a:schemeClr val="tx1"/>
                                  </a:solidFill>
                                  <a:latin typeface="Cambria Math" panose="02040503050406030204" pitchFamily="18" charset="0"/>
                                </a:rPr>
                                <m:t>𝑔𝑓</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𝑓</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=3</m:t>
                                </m:r>
                                <m:r>
                                  <a:rPr lang="en-GB" sz="1200" b="0" i="1" noProof="0" smtClean="0">
                                    <a:solidFill>
                                      <a:schemeClr val="tx1"/>
                                    </a:solidFill>
                                    <a:latin typeface="Cambria Math" panose="02040503050406030204" pitchFamily="18" charset="0"/>
                                  </a:rPr>
                                  <m:t>𝑥</m:t>
                                </m:r>
                              </m:oMath>
                            </m:oMathPara>
                          </a14:m>
                          <a:endParaRPr lang="en-GB" sz="1200" b="0" noProof="0" dirty="0">
                            <a:solidFill>
                              <a:schemeClr val="tx1"/>
                            </a:solidFill>
                          </a:endParaRPr>
                        </a:p>
                        <a:p>
                          <a:pPr algn="ct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𝑔</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m:t>
                                </m:r>
                              </m:oMath>
                            </m:oMathPara>
                          </a14:m>
                          <a:endParaRPr lang="en-GB" sz="1200" b="0" noProof="0" dirty="0">
                            <a:solidFill>
                              <a:schemeClr val="tx1"/>
                            </a:solidFill>
                          </a:endParaRPr>
                        </a:p>
                        <a:p>
                          <a:pPr algn="ctr"/>
                          <a:r>
                            <a:rPr lang="en-GB" sz="1200" b="0" noProof="0" dirty="0">
                              <a:solidFill>
                                <a:schemeClr val="tx1"/>
                              </a:solidFill>
                            </a:rPr>
                            <a:t>Find </a:t>
                          </a:r>
                          <a14:m>
                            <m:oMath xmlns:m="http://schemas.openxmlformats.org/officeDocument/2006/math">
                              <m:r>
                                <a:rPr lang="en-GB" sz="1200" b="0" i="1" noProof="0" smtClean="0">
                                  <a:solidFill>
                                    <a:schemeClr val="tx1"/>
                                  </a:solidFill>
                                  <a:latin typeface="Cambria Math" panose="02040503050406030204" pitchFamily="18" charset="0"/>
                                </a:rPr>
                                <m:t>𝑓𝑔</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050819">
                    <a:tc>
                      <a:txBody>
                        <a:bodyPr/>
                        <a:lstStyle/>
                        <a:p>
                          <a:r>
                            <a:rPr lang="en-GB" sz="1060" noProof="0" dirty="0">
                              <a:solidFill>
                                <a:schemeClr val="tx1"/>
                              </a:solidFill>
                            </a:rPr>
                            <a:t>1) Substitute</a:t>
                          </a:r>
                          <a:r>
                            <a:rPr lang="en-GB" sz="1060" baseline="0" noProof="0" dirty="0">
                              <a:solidFill>
                                <a:schemeClr val="tx1"/>
                              </a:solidFill>
                            </a:rPr>
                            <a:t> one function into the other. </a:t>
                          </a:r>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544463">
                    <a:tc>
                      <a:txBody>
                        <a:bodyPr/>
                        <a:lstStyle/>
                        <a:p>
                          <a:r>
                            <a:rPr lang="en-GB" sz="1060" noProof="0" dirty="0">
                              <a:solidFill>
                                <a:schemeClr val="tx1"/>
                              </a:solidFill>
                            </a:rPr>
                            <a:t>2) Simplify where possible.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mc:Choice>
        <mc:Fallback xmlns="">
          <p:graphicFrame>
            <p:nvGraphicFramePr>
              <p:cNvPr id="23" name="Table 22"/>
              <p:cNvGraphicFramePr>
                <a:graphicFrameLocks noGrp="1"/>
              </p:cNvGraphicFramePr>
              <p:nvPr>
                <p:extLst>
                  <p:ext uri="{D42A27DB-BD31-4B8C-83A1-F6EECF244321}">
                    <p14:modId xmlns:p14="http://schemas.microsoft.com/office/powerpoint/2010/main" val="1725392468"/>
                  </p:ext>
                </p:extLst>
              </p:nvPr>
            </p:nvGraphicFramePr>
            <p:xfrm>
              <a:off x="104328" y="3431342"/>
              <a:ext cx="6683110" cy="3235362"/>
            </p:xfrm>
            <a:graphic>
              <a:graphicData uri="http://schemas.openxmlformats.org/drawingml/2006/table">
                <a:tbl>
                  <a:tblPr firstRow="1" bandRow="1">
                    <a:tableStyleId>{5C22544A-7EE6-4342-B048-85BDC9FD1C3A}</a:tableStyleId>
                  </a:tblPr>
                  <a:tblGrid>
                    <a:gridCol w="1391920">
                      <a:extLst>
                        <a:ext uri="{9D8B030D-6E8A-4147-A177-3AD203B41FA5}">
                          <a16:colId xmlns:a16="http://schemas.microsoft.com/office/drawing/2014/main" val="1568142362"/>
                        </a:ext>
                      </a:extLst>
                    </a:gridCol>
                    <a:gridCol w="1763730">
                      <a:extLst>
                        <a:ext uri="{9D8B030D-6E8A-4147-A177-3AD203B41FA5}">
                          <a16:colId xmlns:a16="http://schemas.microsoft.com/office/drawing/2014/main" val="3551711160"/>
                        </a:ext>
                      </a:extLst>
                    </a:gridCol>
                    <a:gridCol w="1763730">
                      <a:extLst>
                        <a:ext uri="{9D8B030D-6E8A-4147-A177-3AD203B41FA5}">
                          <a16:colId xmlns:a16="http://schemas.microsoft.com/office/drawing/2014/main" val="1149484190"/>
                        </a:ext>
                      </a:extLst>
                    </a:gridCol>
                    <a:gridCol w="1763730">
                      <a:extLst>
                        <a:ext uri="{9D8B030D-6E8A-4147-A177-3AD203B41FA5}">
                          <a16:colId xmlns:a16="http://schemas.microsoft.com/office/drawing/2014/main" val="3262454905"/>
                        </a:ext>
                      </a:extLst>
                    </a:gridCol>
                  </a:tblGrid>
                  <a:tr h="640080">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78966" t="-952" r="-200345" b="-40857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179585" t="-952" r="-101038" b="-40857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278621" t="-952" r="-690" b="-408571"/>
                          </a:stretch>
                        </a:blipFill>
                      </a:tcPr>
                    </a:tc>
                    <a:extLst>
                      <a:ext uri="{0D108BD9-81ED-4DB2-BD59-A6C34878D82A}">
                        <a16:rowId xmlns:a16="http://schemas.microsoft.com/office/drawing/2014/main" val="2357201933"/>
                      </a:ext>
                    </a:extLst>
                  </a:tr>
                  <a:tr h="1050819">
                    <a:tc>
                      <a:txBody>
                        <a:bodyPr/>
                        <a:lstStyle/>
                        <a:p>
                          <a:r>
                            <a:rPr lang="en-GB" sz="1060" noProof="0">
                              <a:solidFill>
                                <a:schemeClr val="tx1"/>
                              </a:solidFill>
                            </a:rPr>
                            <a:t>1) Substitute</a:t>
                          </a:r>
                          <a:r>
                            <a:rPr lang="en-GB" sz="1060" baseline="0" noProof="0">
                              <a:solidFill>
                                <a:schemeClr val="tx1"/>
                              </a:solidFill>
                            </a:rPr>
                            <a:t> one function into the other. </a:t>
                          </a:r>
                          <a:endParaRPr lang="en-GB" sz="106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544463">
                    <a:tc>
                      <a:txBody>
                        <a:bodyPr/>
                        <a:lstStyle/>
                        <a:p>
                          <a:r>
                            <a:rPr lang="en-GB" sz="1060" noProof="0">
                              <a:solidFill>
                                <a:schemeClr val="tx1"/>
                              </a:solidFill>
                            </a:rPr>
                            <a:t>2) Simplify where possible.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mc:Fallback>
      </mc:AlternateContent>
      <p:sp>
        <p:nvSpPr>
          <p:cNvPr id="28" name="Slide Number Placeholder 27"/>
          <p:cNvSpPr>
            <a:spLocks noGrp="1"/>
          </p:cNvSpPr>
          <p:nvPr>
            <p:ph type="sldNum" sz="quarter" idx="12"/>
          </p:nvPr>
        </p:nvSpPr>
        <p:spPr>
          <a:xfrm>
            <a:off x="5337757" y="9595998"/>
            <a:ext cx="1543050" cy="527403"/>
          </a:xfrm>
        </p:spPr>
        <p:txBody>
          <a:bodyPr/>
          <a:lstStyle/>
          <a:p>
            <a:fld id="{9BD3B4A0-BFF9-422C-B253-48BA94BE2F5B}" type="slidenum">
              <a:rPr lang="en-GB" noProof="0" smtClean="0"/>
              <a:t>6</a:t>
            </a:fld>
            <a:endParaRPr lang="en-GB" noProof="0" dirty="0"/>
          </a:p>
        </p:txBody>
      </p:sp>
      <p:sp>
        <p:nvSpPr>
          <p:cNvPr id="29" name="TextBox 28">
            <a:extLst>
              <a:ext uri="{FF2B5EF4-FFF2-40B4-BE49-F238E27FC236}">
                <a16:creationId xmlns:a16="http://schemas.microsoft.com/office/drawing/2014/main" id="{EA4FD2D9-8D23-4ADE-B70E-F386FDED2BED}"/>
              </a:ext>
            </a:extLst>
          </p:cNvPr>
          <p:cNvSpPr txBox="1"/>
          <p:nvPr/>
        </p:nvSpPr>
        <p:spPr>
          <a:xfrm>
            <a:off x="5126782" y="3147303"/>
            <a:ext cx="1577355" cy="276999"/>
          </a:xfrm>
          <a:prstGeom prst="rect">
            <a:avLst/>
          </a:prstGeom>
          <a:noFill/>
          <a:ln>
            <a:noFill/>
          </a:ln>
        </p:spPr>
        <p:txBody>
          <a:bodyPr wrap="none" rtlCol="0">
            <a:spAutoFit/>
          </a:bodyPr>
          <a:lstStyle/>
          <a:p>
            <a:r>
              <a:rPr lang="en-GB" sz="1200" b="1" i="1" noProof="0" dirty="0">
                <a:solidFill>
                  <a:srgbClr val="00B050"/>
                </a:solidFill>
              </a:rPr>
              <a:t>Example 18 - You do…</a:t>
            </a:r>
          </a:p>
        </p:txBody>
      </p:sp>
      <p:sp>
        <p:nvSpPr>
          <p:cNvPr id="30" name="TextBox 29">
            <a:extLst>
              <a:ext uri="{FF2B5EF4-FFF2-40B4-BE49-F238E27FC236}">
                <a16:creationId xmlns:a16="http://schemas.microsoft.com/office/drawing/2014/main" id="{08E67FA9-518E-48EE-9C3C-DC43DA12711A}"/>
              </a:ext>
            </a:extLst>
          </p:cNvPr>
          <p:cNvSpPr txBox="1"/>
          <p:nvPr/>
        </p:nvSpPr>
        <p:spPr>
          <a:xfrm>
            <a:off x="3334770" y="3122257"/>
            <a:ext cx="1554336" cy="276999"/>
          </a:xfrm>
          <a:prstGeom prst="rect">
            <a:avLst/>
          </a:prstGeom>
          <a:noFill/>
          <a:ln>
            <a:noFill/>
          </a:ln>
        </p:spPr>
        <p:txBody>
          <a:bodyPr wrap="none" rtlCol="0">
            <a:spAutoFit/>
          </a:bodyPr>
          <a:lstStyle/>
          <a:p>
            <a:r>
              <a:rPr lang="en-GB" sz="1200" b="1" i="1" noProof="0" dirty="0">
                <a:solidFill>
                  <a:schemeClr val="accent2"/>
                </a:solidFill>
              </a:rPr>
              <a:t>Example 17 - We do…</a:t>
            </a:r>
          </a:p>
        </p:txBody>
      </p:sp>
      <p:sp>
        <p:nvSpPr>
          <p:cNvPr id="31" name="TextBox 30">
            <a:extLst>
              <a:ext uri="{FF2B5EF4-FFF2-40B4-BE49-F238E27FC236}">
                <a16:creationId xmlns:a16="http://schemas.microsoft.com/office/drawing/2014/main" id="{0C5FDE3F-DC2A-468E-BF61-F69BF8BB2775}"/>
              </a:ext>
            </a:extLst>
          </p:cNvPr>
          <p:cNvSpPr txBox="1"/>
          <p:nvPr/>
        </p:nvSpPr>
        <p:spPr>
          <a:xfrm>
            <a:off x="1632261" y="3098239"/>
            <a:ext cx="1351780" cy="276999"/>
          </a:xfrm>
          <a:prstGeom prst="rect">
            <a:avLst/>
          </a:prstGeom>
          <a:noFill/>
          <a:ln>
            <a:noFill/>
          </a:ln>
        </p:spPr>
        <p:txBody>
          <a:bodyPr wrap="none" rtlCol="0">
            <a:spAutoFit/>
          </a:bodyPr>
          <a:lstStyle/>
          <a:p>
            <a:r>
              <a:rPr lang="en-GB" sz="1200" b="1" i="1" noProof="0" dirty="0">
                <a:solidFill>
                  <a:srgbClr val="FF0000"/>
                </a:solidFill>
              </a:rPr>
              <a:t>Example 16- I do…</a:t>
            </a: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519CA145-0A55-47EB-B271-6690400B9E6B}"/>
                  </a:ext>
                </a:extLst>
              </p:cNvPr>
              <p:cNvSpPr txBox="1"/>
              <p:nvPr/>
            </p:nvSpPr>
            <p:spPr>
              <a:xfrm>
                <a:off x="2717757" y="7015707"/>
                <a:ext cx="1083886" cy="430887"/>
              </a:xfrm>
              <a:prstGeom prst="rect">
                <a:avLst/>
              </a:prstGeom>
              <a:noFill/>
            </p:spPr>
            <p:txBody>
              <a:bodyPr wrap="none" rtlCol="0">
                <a:spAutoFit/>
              </a:bodyPr>
              <a:lstStyle/>
              <a:p>
                <a:r>
                  <a:rPr lang="en-GB" sz="1050" noProof="0" dirty="0"/>
                  <a:t>9</a:t>
                </a:r>
                <a:r>
                  <a:rPr lang="en-GB" sz="1050" b="0" noProof="0" dirty="0"/>
                  <a:t>) </a:t>
                </a:r>
                <a14:m>
                  <m:oMath xmlns:m="http://schemas.openxmlformats.org/officeDocument/2006/math">
                    <m:r>
                      <a:rPr lang="en-GB" sz="1050" b="0" i="1" noProof="0" smtClean="0">
                        <a:latin typeface="Cambria Math" panose="02040503050406030204" pitchFamily="18" charset="0"/>
                      </a:rPr>
                      <m:t>𝑓</m:t>
                    </m:r>
                    <m:d>
                      <m:dPr>
                        <m:ctrlPr>
                          <a:rPr lang="en-GB" sz="1050" b="0" i="1" noProof="0" smtClean="0">
                            <a:latin typeface="Cambria Math" panose="02040503050406030204" pitchFamily="18" charset="0"/>
                          </a:rPr>
                        </m:ctrlPr>
                      </m:dPr>
                      <m:e>
                        <m:r>
                          <a:rPr lang="en-GB" sz="1050" b="0" i="1" noProof="0" smtClean="0">
                            <a:latin typeface="Cambria Math" panose="02040503050406030204" pitchFamily="18" charset="0"/>
                          </a:rPr>
                          <m:t>𝑥</m:t>
                        </m:r>
                      </m:e>
                    </m:d>
                    <m:r>
                      <a:rPr lang="en-GB" sz="1050" b="0" i="1" noProof="0" smtClean="0">
                        <a:latin typeface="Cambria Math" panose="02040503050406030204" pitchFamily="18" charset="0"/>
                      </a:rPr>
                      <m:t>=2</m:t>
                    </m:r>
                    <m:r>
                      <a:rPr lang="en-GB" sz="1050" b="0" i="1" noProof="0" smtClean="0">
                        <a:latin typeface="Cambria Math" panose="02040503050406030204" pitchFamily="18" charset="0"/>
                      </a:rPr>
                      <m:t>𝑥</m:t>
                    </m:r>
                  </m:oMath>
                </a14:m>
                <a:endParaRPr lang="en-GB" sz="1050" b="0" i="1" noProof="0" dirty="0"/>
              </a:p>
              <a:p>
                <a:pPr/>
                <a14:m>
                  <m:oMathPara xmlns:m="http://schemas.openxmlformats.org/officeDocument/2006/math">
                    <m:oMathParaPr>
                      <m:jc m:val="centerGroup"/>
                    </m:oMathParaPr>
                    <m:oMath xmlns:m="http://schemas.openxmlformats.org/officeDocument/2006/math">
                      <m:r>
                        <a:rPr lang="en-GB" sz="1050" b="0" i="1" noProof="0" smtClean="0">
                          <a:latin typeface="Cambria Math" panose="02040503050406030204" pitchFamily="18" charset="0"/>
                        </a:rPr>
                        <m:t>𝑔</m:t>
                      </m:r>
                      <m:d>
                        <m:dPr>
                          <m:ctrlPr>
                            <a:rPr lang="en-GB" sz="1050" b="0" i="1" noProof="0" smtClean="0">
                              <a:latin typeface="Cambria Math" panose="02040503050406030204" pitchFamily="18" charset="0"/>
                            </a:rPr>
                          </m:ctrlPr>
                        </m:dPr>
                        <m:e>
                          <m:r>
                            <a:rPr lang="en-GB" sz="1050" b="0" i="1" noProof="0" smtClean="0">
                              <a:latin typeface="Cambria Math" panose="02040503050406030204" pitchFamily="18" charset="0"/>
                            </a:rPr>
                            <m:t>𝑥</m:t>
                          </m:r>
                        </m:e>
                      </m:d>
                      <m:r>
                        <a:rPr lang="en-GB" sz="1050" b="0" i="1" noProof="0" smtClean="0">
                          <a:latin typeface="Cambria Math" panose="02040503050406030204" pitchFamily="18" charset="0"/>
                        </a:rPr>
                        <m:t>=</m:t>
                      </m:r>
                      <m:r>
                        <a:rPr lang="en-GB" sz="1050" b="0" i="1" noProof="0" smtClean="0">
                          <a:latin typeface="Cambria Math" panose="02040503050406030204" pitchFamily="18" charset="0"/>
                        </a:rPr>
                        <m:t>𝑥</m:t>
                      </m:r>
                      <m:r>
                        <a:rPr lang="en-GB" sz="1050" b="0" i="1" noProof="0" smtClean="0">
                          <a:latin typeface="Cambria Math" panose="02040503050406030204" pitchFamily="18" charset="0"/>
                        </a:rPr>
                        <m:t>+1</m:t>
                      </m:r>
                    </m:oMath>
                  </m:oMathPara>
                </a14:m>
                <a:endParaRPr lang="en-GB" sz="1050" noProof="0" dirty="0"/>
              </a:p>
            </p:txBody>
          </p:sp>
        </mc:Choice>
        <mc:Fallback xmlns="">
          <p:sp>
            <p:nvSpPr>
              <p:cNvPr id="37" name="TextBox 36">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2717757" y="7015707"/>
                <a:ext cx="1083886" cy="430887"/>
              </a:xfrm>
              <a:prstGeom prst="rect">
                <a:avLst/>
              </a:prstGeom>
              <a:blipFill>
                <a:blip r:embed="rId8"/>
                <a:stretch>
                  <a:fillRect/>
                </a:stretch>
              </a:blipFill>
            </p:spPr>
            <p:txBody>
              <a:bodyPr/>
              <a:lstStyle/>
              <a:p>
                <a:r>
                  <a:rPr lang="en-US">
                    <a:noFill/>
                  </a:rPr>
                  <a:t> </a:t>
                </a:r>
              </a:p>
            </p:txBody>
          </p:sp>
        </mc:Fallback>
      </mc:AlternateContent>
      <p:sp>
        <p:nvSpPr>
          <p:cNvPr id="38" name="TextBox 37"/>
          <p:cNvSpPr txBox="1"/>
          <p:nvPr/>
        </p:nvSpPr>
        <p:spPr>
          <a:xfrm>
            <a:off x="1721142" y="6835631"/>
            <a:ext cx="3751155" cy="276999"/>
          </a:xfrm>
          <a:prstGeom prst="rect">
            <a:avLst/>
          </a:prstGeom>
          <a:noFill/>
        </p:spPr>
        <p:txBody>
          <a:bodyPr wrap="none" rtlCol="0">
            <a:spAutoFit/>
          </a:bodyPr>
          <a:lstStyle/>
          <a:p>
            <a:pPr algn="ctr"/>
            <a:r>
              <a:rPr lang="en-GB" sz="1200" noProof="0" dirty="0"/>
              <a:t>Find the value of these composite functions algebraically. </a:t>
            </a:r>
          </a:p>
        </p:txBody>
      </p:sp>
      <p:sp>
        <p:nvSpPr>
          <p:cNvPr id="41" name="Rectangle 40">
            <a:extLst>
              <a:ext uri="{FF2B5EF4-FFF2-40B4-BE49-F238E27FC236}">
                <a16:creationId xmlns:a16="http://schemas.microsoft.com/office/drawing/2014/main" id="{3C36006B-227E-45B6-ACB0-32FCE0D906FC}"/>
              </a:ext>
            </a:extLst>
          </p:cNvPr>
          <p:cNvSpPr/>
          <p:nvPr/>
        </p:nvSpPr>
        <p:spPr>
          <a:xfrm>
            <a:off x="9085" y="7394014"/>
            <a:ext cx="1623176" cy="24254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3" name="Rectangle 42">
            <a:extLst>
              <a:ext uri="{FF2B5EF4-FFF2-40B4-BE49-F238E27FC236}">
                <a16:creationId xmlns:a16="http://schemas.microsoft.com/office/drawing/2014/main" id="{3C36006B-227E-45B6-ACB0-32FCE0D906FC}"/>
              </a:ext>
            </a:extLst>
          </p:cNvPr>
          <p:cNvSpPr/>
          <p:nvPr/>
        </p:nvSpPr>
        <p:spPr>
          <a:xfrm>
            <a:off x="1689412" y="7396817"/>
            <a:ext cx="1623176" cy="24213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4" name="Rectangle 43">
            <a:extLst>
              <a:ext uri="{FF2B5EF4-FFF2-40B4-BE49-F238E27FC236}">
                <a16:creationId xmlns:a16="http://schemas.microsoft.com/office/drawing/2014/main" id="{3C36006B-227E-45B6-ACB0-32FCE0D906FC}"/>
              </a:ext>
            </a:extLst>
          </p:cNvPr>
          <p:cNvSpPr/>
          <p:nvPr/>
        </p:nvSpPr>
        <p:spPr>
          <a:xfrm>
            <a:off x="3392598" y="7389722"/>
            <a:ext cx="1623176" cy="24254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5" name="Rectangle 44">
            <a:extLst>
              <a:ext uri="{FF2B5EF4-FFF2-40B4-BE49-F238E27FC236}">
                <a16:creationId xmlns:a16="http://schemas.microsoft.com/office/drawing/2014/main" id="{3C36006B-227E-45B6-ACB0-32FCE0D906FC}"/>
              </a:ext>
            </a:extLst>
          </p:cNvPr>
          <p:cNvSpPr/>
          <p:nvPr/>
        </p:nvSpPr>
        <p:spPr>
          <a:xfrm>
            <a:off x="5080339" y="7394257"/>
            <a:ext cx="1623176" cy="241875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19CA145-0A55-47EB-B271-6690400B9E6B}"/>
                  </a:ext>
                </a:extLst>
              </p:cNvPr>
              <p:cNvSpPr txBox="1"/>
              <p:nvPr/>
            </p:nvSpPr>
            <p:spPr>
              <a:xfrm>
                <a:off x="1669663" y="7394015"/>
                <a:ext cx="745269" cy="276999"/>
              </a:xfrm>
              <a:prstGeom prst="rect">
                <a:avLst/>
              </a:prstGeom>
              <a:noFill/>
            </p:spPr>
            <p:txBody>
              <a:bodyPr wrap="none" rtlCol="0">
                <a:spAutoFit/>
              </a:bodyPr>
              <a:lstStyle/>
              <a:p>
                <a:r>
                  <a:rPr lang="en-GB" sz="1200" noProof="0" dirty="0"/>
                  <a:t>b)</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𝑔𝑓</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46" name="TextBox 45">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669663" y="7394015"/>
                <a:ext cx="745269" cy="276999"/>
              </a:xfrm>
              <a:prstGeom prst="rect">
                <a:avLst/>
              </a:prstGeom>
              <a:blipFill>
                <a:blip r:embed="rId9"/>
                <a:stretch>
                  <a:fillRect l="-820"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19CA145-0A55-47EB-B271-6690400B9E6B}"/>
                  </a:ext>
                </a:extLst>
              </p:cNvPr>
              <p:cNvSpPr txBox="1"/>
              <p:nvPr/>
            </p:nvSpPr>
            <p:spPr>
              <a:xfrm>
                <a:off x="3346926" y="7385386"/>
                <a:ext cx="721223" cy="276999"/>
              </a:xfrm>
              <a:prstGeom prst="rect">
                <a:avLst/>
              </a:prstGeom>
              <a:noFill/>
            </p:spPr>
            <p:txBody>
              <a:bodyPr wrap="none" rtlCol="0">
                <a:spAutoFit/>
              </a:bodyPr>
              <a:lstStyle/>
              <a:p>
                <a:r>
                  <a:rPr lang="en-GB" sz="1200" noProof="0" dirty="0"/>
                  <a:t>c)</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𝑓𝑓</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47" name="TextBox 46">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3346926" y="7385386"/>
                <a:ext cx="721223" cy="276999"/>
              </a:xfrm>
              <a:prstGeom prst="rect">
                <a:avLst/>
              </a:prstGeom>
              <a:blipFill>
                <a:blip r:embed="rId10"/>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519CA145-0A55-47EB-B271-6690400B9E6B}"/>
                  </a:ext>
                </a:extLst>
              </p:cNvPr>
              <p:cNvSpPr txBox="1"/>
              <p:nvPr/>
            </p:nvSpPr>
            <p:spPr>
              <a:xfrm>
                <a:off x="5095784" y="7386826"/>
                <a:ext cx="753027" cy="276999"/>
              </a:xfrm>
              <a:prstGeom prst="rect">
                <a:avLst/>
              </a:prstGeom>
              <a:noFill/>
            </p:spPr>
            <p:txBody>
              <a:bodyPr wrap="none" rtlCol="0">
                <a:spAutoFit/>
              </a:bodyPr>
              <a:lstStyle/>
              <a:p>
                <a:r>
                  <a:rPr lang="en-GB" sz="1200" noProof="0" dirty="0"/>
                  <a:t>d)</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𝑔𝑔</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48" name="TextBox 47">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5095784" y="7386826"/>
                <a:ext cx="753027" cy="276999"/>
              </a:xfrm>
              <a:prstGeom prst="rect">
                <a:avLst/>
              </a:prstGeom>
              <a:blipFill>
                <a:blip r:embed="rId11"/>
                <a:stretch>
                  <a:fillRect l="-813"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519CA145-0A55-47EB-B271-6690400B9E6B}"/>
                  </a:ext>
                </a:extLst>
              </p:cNvPr>
              <p:cNvSpPr txBox="1"/>
              <p:nvPr/>
            </p:nvSpPr>
            <p:spPr>
              <a:xfrm>
                <a:off x="47017" y="7394900"/>
                <a:ext cx="736997" cy="276999"/>
              </a:xfrm>
              <a:prstGeom prst="rect">
                <a:avLst/>
              </a:prstGeom>
              <a:noFill/>
            </p:spPr>
            <p:txBody>
              <a:bodyPr wrap="none" rtlCol="0">
                <a:spAutoFit/>
              </a:bodyPr>
              <a:lstStyle/>
              <a:p>
                <a:r>
                  <a:rPr lang="en-GB" sz="1200" noProof="0" dirty="0"/>
                  <a:t>a)</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𝑓𝑔</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52" name="TextBox 51">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47017" y="7394900"/>
                <a:ext cx="736997" cy="276999"/>
              </a:xfrm>
              <a:prstGeom prst="rect">
                <a:avLst/>
              </a:prstGeom>
              <a:blipFill>
                <a:blip r:embed="rId12"/>
                <a:stretch>
                  <a:fillRect l="-826" b="-15217"/>
                </a:stretch>
              </a:blipFill>
            </p:spPr>
            <p:txBody>
              <a:bodyPr/>
              <a:lstStyle/>
              <a:p>
                <a:r>
                  <a:rPr lang="en-US">
                    <a:noFill/>
                  </a:rPr>
                  <a:t> </a:t>
                </a:r>
              </a:p>
            </p:txBody>
          </p:sp>
        </mc:Fallback>
      </mc:AlternateContent>
      <p:sp>
        <p:nvSpPr>
          <p:cNvPr id="53" name="TextBox 52">
            <a:extLst>
              <a:ext uri="{FF2B5EF4-FFF2-40B4-BE49-F238E27FC236}">
                <a16:creationId xmlns:a16="http://schemas.microsoft.com/office/drawing/2014/main" id="{C3C65E48-8C3D-6849-AD77-7AD8678AD8DA}"/>
              </a:ext>
            </a:extLst>
          </p:cNvPr>
          <p:cNvSpPr txBox="1"/>
          <p:nvPr/>
        </p:nvSpPr>
        <p:spPr>
          <a:xfrm>
            <a:off x="104328" y="6896884"/>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Tree>
    <p:extLst>
      <p:ext uri="{BB962C8B-B14F-4D97-AF65-F5344CB8AC3E}">
        <p14:creationId xmlns:p14="http://schemas.microsoft.com/office/powerpoint/2010/main" val="706008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36006B-227E-45B6-ACB0-32FCE0D906FC}"/>
              </a:ext>
            </a:extLst>
          </p:cNvPr>
          <p:cNvSpPr/>
          <p:nvPr/>
        </p:nvSpPr>
        <p:spPr>
          <a:xfrm>
            <a:off x="80010" y="720116"/>
            <a:ext cx="1623176" cy="24254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19CA145-0A55-47EB-B271-6690400B9E6B}"/>
                  </a:ext>
                </a:extLst>
              </p:cNvPr>
              <p:cNvSpPr txBox="1"/>
              <p:nvPr/>
            </p:nvSpPr>
            <p:spPr>
              <a:xfrm>
                <a:off x="82314" y="289104"/>
                <a:ext cx="1112099" cy="461665"/>
              </a:xfrm>
              <a:prstGeom prst="rect">
                <a:avLst/>
              </a:prstGeom>
              <a:noFill/>
            </p:spPr>
            <p:txBody>
              <a:bodyPr wrap="none" rtlCol="0">
                <a:spAutoFit/>
              </a:bodyPr>
              <a:lstStyle/>
              <a:p>
                <a:r>
                  <a:rPr lang="en-GB" sz="1200" noProof="0" dirty="0"/>
                  <a:t>10</a:t>
                </a:r>
                <a:r>
                  <a:rPr lang="en-GB" sz="1200" b="0" noProof="0" dirty="0"/>
                  <a:t>) </a:t>
                </a:r>
                <a14:m>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oMath>
                </a14:m>
                <a:endParaRPr lang="en-GB" sz="1200" b="0" i="1"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𝑔</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m:oMathPara>
                </a14:m>
                <a:endParaRPr lang="en-GB" sz="1200" noProof="0" dirty="0"/>
              </a:p>
            </p:txBody>
          </p:sp>
        </mc:Choice>
        <mc:Fallback xmlns="">
          <p:sp>
            <p:nvSpPr>
              <p:cNvPr id="3" name="TextBox 2">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82314" y="289104"/>
                <a:ext cx="1112099" cy="461665"/>
              </a:xfrm>
              <a:prstGeom prst="rect">
                <a:avLst/>
              </a:prstGeom>
              <a:blipFill>
                <a:blip r:embed="rId2"/>
                <a:stretch>
                  <a:fillRect l="-549"/>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3C36006B-227E-45B6-ACB0-32FCE0D906FC}"/>
              </a:ext>
            </a:extLst>
          </p:cNvPr>
          <p:cNvSpPr/>
          <p:nvPr/>
        </p:nvSpPr>
        <p:spPr>
          <a:xfrm>
            <a:off x="1760337" y="722919"/>
            <a:ext cx="1623176" cy="24213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 name="Rectangle 5">
            <a:extLst>
              <a:ext uri="{FF2B5EF4-FFF2-40B4-BE49-F238E27FC236}">
                <a16:creationId xmlns:a16="http://schemas.microsoft.com/office/drawing/2014/main" id="{3C36006B-227E-45B6-ACB0-32FCE0D906FC}"/>
              </a:ext>
            </a:extLst>
          </p:cNvPr>
          <p:cNvSpPr/>
          <p:nvPr/>
        </p:nvSpPr>
        <p:spPr>
          <a:xfrm>
            <a:off x="3463523" y="715824"/>
            <a:ext cx="1623176" cy="24254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Rectangle 6">
            <a:extLst>
              <a:ext uri="{FF2B5EF4-FFF2-40B4-BE49-F238E27FC236}">
                <a16:creationId xmlns:a16="http://schemas.microsoft.com/office/drawing/2014/main" id="{3C36006B-227E-45B6-ACB0-32FCE0D906FC}"/>
              </a:ext>
            </a:extLst>
          </p:cNvPr>
          <p:cNvSpPr/>
          <p:nvPr/>
        </p:nvSpPr>
        <p:spPr>
          <a:xfrm>
            <a:off x="5151264" y="720359"/>
            <a:ext cx="1623176" cy="241875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19CA145-0A55-47EB-B271-6690400B9E6B}"/>
                  </a:ext>
                </a:extLst>
              </p:cNvPr>
              <p:cNvSpPr txBox="1"/>
              <p:nvPr/>
            </p:nvSpPr>
            <p:spPr>
              <a:xfrm>
                <a:off x="1740588" y="720117"/>
                <a:ext cx="745269" cy="276999"/>
              </a:xfrm>
              <a:prstGeom prst="rect">
                <a:avLst/>
              </a:prstGeom>
              <a:noFill/>
            </p:spPr>
            <p:txBody>
              <a:bodyPr wrap="none" rtlCol="0">
                <a:spAutoFit/>
              </a:bodyPr>
              <a:lstStyle/>
              <a:p>
                <a:r>
                  <a:rPr lang="en-GB" sz="1200" noProof="0" dirty="0"/>
                  <a:t>b)</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𝑔𝑓</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8" name="TextBox 7">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740588" y="720117"/>
                <a:ext cx="745269" cy="276999"/>
              </a:xfrm>
              <a:prstGeom prst="rect">
                <a:avLst/>
              </a:prstGeom>
              <a:blipFill>
                <a:blip r:embed="rId3"/>
                <a:stretch>
                  <a:fillRect l="-820"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19CA145-0A55-47EB-B271-6690400B9E6B}"/>
                  </a:ext>
                </a:extLst>
              </p:cNvPr>
              <p:cNvSpPr txBox="1"/>
              <p:nvPr/>
            </p:nvSpPr>
            <p:spPr>
              <a:xfrm>
                <a:off x="3417851" y="711488"/>
                <a:ext cx="721223" cy="276999"/>
              </a:xfrm>
              <a:prstGeom prst="rect">
                <a:avLst/>
              </a:prstGeom>
              <a:noFill/>
            </p:spPr>
            <p:txBody>
              <a:bodyPr wrap="none" rtlCol="0">
                <a:spAutoFit/>
              </a:bodyPr>
              <a:lstStyle/>
              <a:p>
                <a:r>
                  <a:rPr lang="en-GB" sz="1200" noProof="0" dirty="0"/>
                  <a:t>c)</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𝑓𝑓</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9" name="TextBox 8">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3417851" y="711488"/>
                <a:ext cx="721223" cy="276999"/>
              </a:xfrm>
              <a:prstGeom prst="rect">
                <a:avLst/>
              </a:prstGeom>
              <a:blipFill>
                <a:blip r:embed="rId4"/>
                <a:stretch>
                  <a:fillRect l="-847"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9CA145-0A55-47EB-B271-6690400B9E6B}"/>
                  </a:ext>
                </a:extLst>
              </p:cNvPr>
              <p:cNvSpPr txBox="1"/>
              <p:nvPr/>
            </p:nvSpPr>
            <p:spPr>
              <a:xfrm>
                <a:off x="5166709" y="712928"/>
                <a:ext cx="753027" cy="276999"/>
              </a:xfrm>
              <a:prstGeom prst="rect">
                <a:avLst/>
              </a:prstGeom>
              <a:noFill/>
            </p:spPr>
            <p:txBody>
              <a:bodyPr wrap="none" rtlCol="0">
                <a:spAutoFit/>
              </a:bodyPr>
              <a:lstStyle/>
              <a:p>
                <a:r>
                  <a:rPr lang="en-GB" sz="1200" noProof="0" dirty="0"/>
                  <a:t>d)</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𝑔𝑔</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10" name="TextBox 9">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5166709" y="712928"/>
                <a:ext cx="753027" cy="276999"/>
              </a:xfrm>
              <a:prstGeom prst="rect">
                <a:avLst/>
              </a:prstGeom>
              <a:blipFill>
                <a:blip r:embed="rId5"/>
                <a:stretch>
                  <a:fillRect l="-813" t="-2222" b="-17778"/>
                </a:stretch>
              </a:blipFill>
            </p:spPr>
            <p:txBody>
              <a:bodyPr/>
              <a:lstStyle/>
              <a:p>
                <a:r>
                  <a:rPr lang="en-US">
                    <a:noFill/>
                  </a:rPr>
                  <a:t> </a:t>
                </a:r>
              </a:p>
            </p:txBody>
          </p:sp>
        </mc:Fallback>
      </mc:AlternateContent>
      <p:sp>
        <p:nvSpPr>
          <p:cNvPr id="15" name="TextBox 14"/>
          <p:cNvSpPr txBox="1"/>
          <p:nvPr/>
        </p:nvSpPr>
        <p:spPr>
          <a:xfrm>
            <a:off x="1737436" y="0"/>
            <a:ext cx="3751155" cy="276999"/>
          </a:xfrm>
          <a:prstGeom prst="rect">
            <a:avLst/>
          </a:prstGeom>
          <a:noFill/>
        </p:spPr>
        <p:txBody>
          <a:bodyPr wrap="none" rtlCol="0">
            <a:spAutoFit/>
          </a:bodyPr>
          <a:lstStyle/>
          <a:p>
            <a:pPr algn="ctr"/>
            <a:r>
              <a:rPr lang="en-GB" sz="1200" noProof="0" dirty="0"/>
              <a:t>Find the value of these composite functions algebraically. </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19CA145-0A55-47EB-B271-6690400B9E6B}"/>
                  </a:ext>
                </a:extLst>
              </p:cNvPr>
              <p:cNvSpPr txBox="1"/>
              <p:nvPr/>
            </p:nvSpPr>
            <p:spPr>
              <a:xfrm>
                <a:off x="117942" y="721002"/>
                <a:ext cx="736997" cy="276999"/>
              </a:xfrm>
              <a:prstGeom prst="rect">
                <a:avLst/>
              </a:prstGeom>
              <a:noFill/>
            </p:spPr>
            <p:txBody>
              <a:bodyPr wrap="none" rtlCol="0">
                <a:spAutoFit/>
              </a:bodyPr>
              <a:lstStyle/>
              <a:p>
                <a:r>
                  <a:rPr lang="en-GB" sz="1200" noProof="0" dirty="0"/>
                  <a:t>a)</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𝑓𝑔</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16" name="TextBox 15">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17942" y="721002"/>
                <a:ext cx="736997" cy="276999"/>
              </a:xfrm>
              <a:prstGeom prst="rect">
                <a:avLst/>
              </a:prstGeom>
              <a:blipFill>
                <a:blip r:embed="rId6"/>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19CA145-0A55-47EB-B271-6690400B9E6B}"/>
                  </a:ext>
                </a:extLst>
              </p:cNvPr>
              <p:cNvSpPr txBox="1"/>
              <p:nvPr/>
            </p:nvSpPr>
            <p:spPr>
              <a:xfrm>
                <a:off x="81848" y="3229076"/>
                <a:ext cx="1195455" cy="461665"/>
              </a:xfrm>
              <a:prstGeom prst="rect">
                <a:avLst/>
              </a:prstGeom>
              <a:noFill/>
            </p:spPr>
            <p:txBody>
              <a:bodyPr wrap="none" rtlCol="0">
                <a:spAutoFit/>
              </a:bodyPr>
              <a:lstStyle/>
              <a:p>
                <a:r>
                  <a:rPr lang="en-GB" sz="1200" noProof="0" dirty="0"/>
                  <a:t>11</a:t>
                </a:r>
                <a:r>
                  <a:rPr lang="en-GB" sz="1200" b="0" noProof="0" dirty="0"/>
                  <a:t>) </a:t>
                </a:r>
                <a14:m>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=5</m:t>
                    </m:r>
                    <m:r>
                      <a:rPr lang="en-GB" sz="1200" b="0" i="1" noProof="0" smtClean="0">
                        <a:latin typeface="Cambria Math" panose="02040503050406030204" pitchFamily="18" charset="0"/>
                      </a:rPr>
                      <m:t>𝑥</m:t>
                    </m:r>
                  </m:oMath>
                </a14:m>
                <a:endParaRPr lang="en-GB" sz="1200" b="0" i="1"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𝑔</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oMath>
                  </m:oMathPara>
                </a14:m>
                <a:endParaRPr lang="en-GB" sz="1200" noProof="0" dirty="0"/>
              </a:p>
            </p:txBody>
          </p:sp>
        </mc:Choice>
        <mc:Fallback xmlns="">
          <p:sp>
            <p:nvSpPr>
              <p:cNvPr id="29" name="TextBox 28">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81848" y="3229076"/>
                <a:ext cx="1195455" cy="461665"/>
              </a:xfrm>
              <a:prstGeom prst="rect">
                <a:avLst/>
              </a:prstGeom>
              <a:blipFill>
                <a:blip r:embed="rId7"/>
                <a:stretch>
                  <a:fillRect t="-1333"/>
                </a:stretch>
              </a:blipFill>
            </p:spPr>
            <p:txBody>
              <a:bodyPr/>
              <a:lstStyle/>
              <a:p>
                <a:r>
                  <a:rPr lang="en-US">
                    <a:noFill/>
                  </a:rPr>
                  <a:t> </a:t>
                </a:r>
              </a:p>
            </p:txBody>
          </p:sp>
        </mc:Fallback>
      </mc:AlternateContent>
      <p:sp>
        <p:nvSpPr>
          <p:cNvPr id="43" name="Rectangle 42">
            <a:extLst>
              <a:ext uri="{FF2B5EF4-FFF2-40B4-BE49-F238E27FC236}">
                <a16:creationId xmlns:a16="http://schemas.microsoft.com/office/drawing/2014/main" id="{3C36006B-227E-45B6-ACB0-32FCE0D906FC}"/>
              </a:ext>
            </a:extLst>
          </p:cNvPr>
          <p:cNvSpPr/>
          <p:nvPr/>
        </p:nvSpPr>
        <p:spPr>
          <a:xfrm>
            <a:off x="95455" y="3774226"/>
            <a:ext cx="1623176" cy="24254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5" name="Rectangle 44">
            <a:extLst>
              <a:ext uri="{FF2B5EF4-FFF2-40B4-BE49-F238E27FC236}">
                <a16:creationId xmlns:a16="http://schemas.microsoft.com/office/drawing/2014/main" id="{3C36006B-227E-45B6-ACB0-32FCE0D906FC}"/>
              </a:ext>
            </a:extLst>
          </p:cNvPr>
          <p:cNvSpPr/>
          <p:nvPr/>
        </p:nvSpPr>
        <p:spPr>
          <a:xfrm>
            <a:off x="1775782" y="3777029"/>
            <a:ext cx="1623176" cy="24213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6" name="Rectangle 45">
            <a:extLst>
              <a:ext uri="{FF2B5EF4-FFF2-40B4-BE49-F238E27FC236}">
                <a16:creationId xmlns:a16="http://schemas.microsoft.com/office/drawing/2014/main" id="{3C36006B-227E-45B6-ACB0-32FCE0D906FC}"/>
              </a:ext>
            </a:extLst>
          </p:cNvPr>
          <p:cNvSpPr/>
          <p:nvPr/>
        </p:nvSpPr>
        <p:spPr>
          <a:xfrm>
            <a:off x="3478968" y="3769934"/>
            <a:ext cx="1623176" cy="24254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7" name="Rectangle 46">
            <a:extLst>
              <a:ext uri="{FF2B5EF4-FFF2-40B4-BE49-F238E27FC236}">
                <a16:creationId xmlns:a16="http://schemas.microsoft.com/office/drawing/2014/main" id="{3C36006B-227E-45B6-ACB0-32FCE0D906FC}"/>
              </a:ext>
            </a:extLst>
          </p:cNvPr>
          <p:cNvSpPr/>
          <p:nvPr/>
        </p:nvSpPr>
        <p:spPr>
          <a:xfrm>
            <a:off x="5166709" y="3774469"/>
            <a:ext cx="1623176" cy="241875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519CA145-0A55-47EB-B271-6690400B9E6B}"/>
                  </a:ext>
                </a:extLst>
              </p:cNvPr>
              <p:cNvSpPr txBox="1"/>
              <p:nvPr/>
            </p:nvSpPr>
            <p:spPr>
              <a:xfrm>
                <a:off x="1756033" y="3774227"/>
                <a:ext cx="713850" cy="276999"/>
              </a:xfrm>
              <a:prstGeom prst="rect">
                <a:avLst/>
              </a:prstGeom>
              <a:noFill/>
            </p:spPr>
            <p:txBody>
              <a:bodyPr wrap="none" rtlCol="0">
                <a:spAutoFit/>
              </a:bodyPr>
              <a:lstStyle/>
              <a:p>
                <a:r>
                  <a:rPr lang="en-GB" sz="1200" noProof="0" dirty="0"/>
                  <a:t>f)</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𝑔𝑓</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48" name="TextBox 47">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756033" y="3774227"/>
                <a:ext cx="713850" cy="276999"/>
              </a:xfrm>
              <a:prstGeom prst="rect">
                <a:avLst/>
              </a:prstGeom>
              <a:blipFill>
                <a:blip r:embed="rId8"/>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519CA145-0A55-47EB-B271-6690400B9E6B}"/>
                  </a:ext>
                </a:extLst>
              </p:cNvPr>
              <p:cNvSpPr txBox="1"/>
              <p:nvPr/>
            </p:nvSpPr>
            <p:spPr>
              <a:xfrm>
                <a:off x="3433296" y="3765598"/>
                <a:ext cx="727635" cy="276999"/>
              </a:xfrm>
              <a:prstGeom prst="rect">
                <a:avLst/>
              </a:prstGeom>
              <a:noFill/>
            </p:spPr>
            <p:txBody>
              <a:bodyPr wrap="none" rtlCol="0">
                <a:spAutoFit/>
              </a:bodyPr>
              <a:lstStyle/>
              <a:p>
                <a:r>
                  <a:rPr lang="en-GB" sz="1200" noProof="0" dirty="0"/>
                  <a:t>g)</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𝑓𝑓</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49" name="TextBox 48">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3433296" y="3765598"/>
                <a:ext cx="727635" cy="276999"/>
              </a:xfrm>
              <a:prstGeom prst="rect">
                <a:avLst/>
              </a:prstGeom>
              <a:blipFill>
                <a:blip r:embed="rId9"/>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519CA145-0A55-47EB-B271-6690400B9E6B}"/>
                  </a:ext>
                </a:extLst>
              </p:cNvPr>
              <p:cNvSpPr txBox="1"/>
              <p:nvPr/>
            </p:nvSpPr>
            <p:spPr>
              <a:xfrm>
                <a:off x="5182154" y="3767038"/>
                <a:ext cx="753027" cy="276999"/>
              </a:xfrm>
              <a:prstGeom prst="rect">
                <a:avLst/>
              </a:prstGeom>
              <a:noFill/>
            </p:spPr>
            <p:txBody>
              <a:bodyPr wrap="none" rtlCol="0">
                <a:spAutoFit/>
              </a:bodyPr>
              <a:lstStyle/>
              <a:p>
                <a:r>
                  <a:rPr lang="en-GB" sz="1200" noProof="0" dirty="0"/>
                  <a:t>h)</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𝑔𝑔</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50" name="TextBox 49">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5182154" y="3767038"/>
                <a:ext cx="753027" cy="276999"/>
              </a:xfrm>
              <a:prstGeom prst="rect">
                <a:avLst/>
              </a:prstGeom>
              <a:blipFill>
                <a:blip r:embed="rId10"/>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519CA145-0A55-47EB-B271-6690400B9E6B}"/>
                  </a:ext>
                </a:extLst>
              </p:cNvPr>
              <p:cNvSpPr txBox="1"/>
              <p:nvPr/>
            </p:nvSpPr>
            <p:spPr>
              <a:xfrm>
                <a:off x="133387" y="3775112"/>
                <a:ext cx="740203" cy="276999"/>
              </a:xfrm>
              <a:prstGeom prst="rect">
                <a:avLst/>
              </a:prstGeom>
              <a:noFill/>
            </p:spPr>
            <p:txBody>
              <a:bodyPr wrap="none" rtlCol="0">
                <a:spAutoFit/>
              </a:bodyPr>
              <a:lstStyle/>
              <a:p>
                <a:r>
                  <a:rPr lang="en-GB" sz="1200" noProof="0" dirty="0"/>
                  <a:t>e)</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𝑓𝑔</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54" name="TextBox 53">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33387" y="3775112"/>
                <a:ext cx="740203" cy="276999"/>
              </a:xfrm>
              <a:prstGeom prst="rect">
                <a:avLst/>
              </a:prstGeom>
              <a:blipFill>
                <a:blip r:embed="rId11"/>
                <a:stretch>
                  <a:fillRect l="-826"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519CA145-0A55-47EB-B271-6690400B9E6B}"/>
                  </a:ext>
                </a:extLst>
              </p:cNvPr>
              <p:cNvSpPr txBox="1"/>
              <p:nvPr/>
            </p:nvSpPr>
            <p:spPr>
              <a:xfrm>
                <a:off x="68952" y="6336534"/>
                <a:ext cx="1195455" cy="461665"/>
              </a:xfrm>
              <a:prstGeom prst="rect">
                <a:avLst/>
              </a:prstGeom>
              <a:noFill/>
            </p:spPr>
            <p:txBody>
              <a:bodyPr wrap="none" rtlCol="0">
                <a:spAutoFit/>
              </a:bodyPr>
              <a:lstStyle/>
              <a:p>
                <a:r>
                  <a:rPr lang="en-GB" sz="1200" noProof="0" dirty="0"/>
                  <a:t>12</a:t>
                </a:r>
                <a:r>
                  <a:rPr lang="en-GB" sz="1200" b="0" noProof="0" dirty="0"/>
                  <a:t>) </a:t>
                </a:r>
                <a14:m>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oMath>
                </a14:m>
                <a:endParaRPr lang="en-GB" sz="1200" b="0" i="1"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𝑔</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m:t>
                      </m:r>
                    </m:oMath>
                  </m:oMathPara>
                </a14:m>
                <a:endParaRPr lang="en-GB" sz="1200" noProof="0" dirty="0"/>
              </a:p>
            </p:txBody>
          </p:sp>
        </mc:Choice>
        <mc:Fallback xmlns="">
          <p:sp>
            <p:nvSpPr>
              <p:cNvPr id="55" name="TextBox 54">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68952" y="6336534"/>
                <a:ext cx="1195455" cy="461665"/>
              </a:xfrm>
              <a:prstGeom prst="rect">
                <a:avLst/>
              </a:prstGeom>
              <a:blipFill>
                <a:blip r:embed="rId12"/>
                <a:stretch>
                  <a:fillRect/>
                </a:stretch>
              </a:blipFill>
            </p:spPr>
            <p:txBody>
              <a:bodyPr/>
              <a:lstStyle/>
              <a:p>
                <a:r>
                  <a:rPr lang="en-US">
                    <a:noFill/>
                  </a:rPr>
                  <a:t> </a:t>
                </a:r>
              </a:p>
            </p:txBody>
          </p:sp>
        </mc:Fallback>
      </mc:AlternateContent>
      <p:sp>
        <p:nvSpPr>
          <p:cNvPr id="56" name="Rectangle 55">
            <a:extLst>
              <a:ext uri="{FF2B5EF4-FFF2-40B4-BE49-F238E27FC236}">
                <a16:creationId xmlns:a16="http://schemas.microsoft.com/office/drawing/2014/main" id="{3C36006B-227E-45B6-ACB0-32FCE0D906FC}"/>
              </a:ext>
            </a:extLst>
          </p:cNvPr>
          <p:cNvSpPr/>
          <p:nvPr/>
        </p:nvSpPr>
        <p:spPr>
          <a:xfrm>
            <a:off x="110900" y="6935031"/>
            <a:ext cx="1623176" cy="24254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8" name="Rectangle 57">
            <a:extLst>
              <a:ext uri="{FF2B5EF4-FFF2-40B4-BE49-F238E27FC236}">
                <a16:creationId xmlns:a16="http://schemas.microsoft.com/office/drawing/2014/main" id="{3C36006B-227E-45B6-ACB0-32FCE0D906FC}"/>
              </a:ext>
            </a:extLst>
          </p:cNvPr>
          <p:cNvSpPr/>
          <p:nvPr/>
        </p:nvSpPr>
        <p:spPr>
          <a:xfrm>
            <a:off x="1791227" y="6937834"/>
            <a:ext cx="1623176" cy="24213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9" name="Rectangle 58">
            <a:extLst>
              <a:ext uri="{FF2B5EF4-FFF2-40B4-BE49-F238E27FC236}">
                <a16:creationId xmlns:a16="http://schemas.microsoft.com/office/drawing/2014/main" id="{3C36006B-227E-45B6-ACB0-32FCE0D906FC}"/>
              </a:ext>
            </a:extLst>
          </p:cNvPr>
          <p:cNvSpPr/>
          <p:nvPr/>
        </p:nvSpPr>
        <p:spPr>
          <a:xfrm>
            <a:off x="3494413" y="6930739"/>
            <a:ext cx="1623176" cy="24254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0" name="Rectangle 59">
            <a:extLst>
              <a:ext uri="{FF2B5EF4-FFF2-40B4-BE49-F238E27FC236}">
                <a16:creationId xmlns:a16="http://schemas.microsoft.com/office/drawing/2014/main" id="{3C36006B-227E-45B6-ACB0-32FCE0D906FC}"/>
              </a:ext>
            </a:extLst>
          </p:cNvPr>
          <p:cNvSpPr/>
          <p:nvPr/>
        </p:nvSpPr>
        <p:spPr>
          <a:xfrm>
            <a:off x="5182154" y="6935274"/>
            <a:ext cx="1623176" cy="241875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519CA145-0A55-47EB-B271-6690400B9E6B}"/>
                  </a:ext>
                </a:extLst>
              </p:cNvPr>
              <p:cNvSpPr txBox="1"/>
              <p:nvPr/>
            </p:nvSpPr>
            <p:spPr>
              <a:xfrm>
                <a:off x="1771478" y="6935032"/>
                <a:ext cx="701987" cy="276999"/>
              </a:xfrm>
              <a:prstGeom prst="rect">
                <a:avLst/>
              </a:prstGeom>
              <a:noFill/>
            </p:spPr>
            <p:txBody>
              <a:bodyPr wrap="none" rtlCol="0">
                <a:spAutoFit/>
              </a:bodyPr>
              <a:lstStyle/>
              <a:p>
                <a:r>
                  <a:rPr lang="en-GB" sz="1200" noProof="0" dirty="0"/>
                  <a:t>j)</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𝑔𝑓</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61" name="TextBox 60">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771478" y="6935032"/>
                <a:ext cx="701987" cy="276999"/>
              </a:xfrm>
              <a:prstGeom prst="rect">
                <a:avLst/>
              </a:prstGeom>
              <a:blipFill>
                <a:blip r:embed="rId13"/>
                <a:stretch>
                  <a:fillRect l="-870"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519CA145-0A55-47EB-B271-6690400B9E6B}"/>
                  </a:ext>
                </a:extLst>
              </p:cNvPr>
              <p:cNvSpPr txBox="1"/>
              <p:nvPr/>
            </p:nvSpPr>
            <p:spPr>
              <a:xfrm>
                <a:off x="3448741" y="6926403"/>
                <a:ext cx="726033" cy="276999"/>
              </a:xfrm>
              <a:prstGeom prst="rect">
                <a:avLst/>
              </a:prstGeom>
              <a:noFill/>
            </p:spPr>
            <p:txBody>
              <a:bodyPr wrap="none" rtlCol="0">
                <a:spAutoFit/>
              </a:bodyPr>
              <a:lstStyle/>
              <a:p>
                <a:r>
                  <a:rPr lang="en-GB" sz="1200" noProof="0" dirty="0"/>
                  <a:t>k)</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𝑓𝑓</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62" name="TextBox 61">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3448741" y="6926403"/>
                <a:ext cx="726033" cy="276999"/>
              </a:xfrm>
              <a:prstGeom prst="rect">
                <a:avLst/>
              </a:prstGeom>
              <a:blipFill>
                <a:blip r:embed="rId14"/>
                <a:stretch>
                  <a:fillRect l="-840"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519CA145-0A55-47EB-B271-6690400B9E6B}"/>
                  </a:ext>
                </a:extLst>
              </p:cNvPr>
              <p:cNvSpPr txBox="1"/>
              <p:nvPr/>
            </p:nvSpPr>
            <p:spPr>
              <a:xfrm>
                <a:off x="5197599" y="6927843"/>
                <a:ext cx="708143" cy="276999"/>
              </a:xfrm>
              <a:prstGeom prst="rect">
                <a:avLst/>
              </a:prstGeom>
              <a:noFill/>
            </p:spPr>
            <p:txBody>
              <a:bodyPr wrap="none" rtlCol="0">
                <a:spAutoFit/>
              </a:bodyPr>
              <a:lstStyle/>
              <a:p>
                <a:r>
                  <a:rPr lang="en-GB" sz="1200" noProof="0" dirty="0"/>
                  <a:t>l)</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𝑔𝑔</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63" name="TextBox 62">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5197599" y="6927843"/>
                <a:ext cx="708143" cy="276999"/>
              </a:xfrm>
              <a:prstGeom prst="rect">
                <a:avLst/>
              </a:prstGeom>
              <a:blipFill>
                <a:blip r:embed="rId15"/>
                <a:stretch>
                  <a:fillRect l="-862"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519CA145-0A55-47EB-B271-6690400B9E6B}"/>
                  </a:ext>
                </a:extLst>
              </p:cNvPr>
              <p:cNvSpPr txBox="1"/>
              <p:nvPr/>
            </p:nvSpPr>
            <p:spPr>
              <a:xfrm>
                <a:off x="148832" y="6935917"/>
                <a:ext cx="698525" cy="276999"/>
              </a:xfrm>
              <a:prstGeom prst="rect">
                <a:avLst/>
              </a:prstGeom>
              <a:noFill/>
            </p:spPr>
            <p:txBody>
              <a:bodyPr wrap="none" rtlCol="0">
                <a:spAutoFit/>
              </a:bodyPr>
              <a:lstStyle/>
              <a:p>
                <a:r>
                  <a:rPr lang="en-GB" sz="1200" noProof="0" dirty="0" err="1"/>
                  <a:t>i</a:t>
                </a:r>
                <a:r>
                  <a:rPr lang="en-GB" sz="1200" noProof="0" dirty="0"/>
                  <a:t>)</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𝑓𝑔</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67" name="TextBox 66">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48832" y="6935917"/>
                <a:ext cx="698525" cy="276999"/>
              </a:xfrm>
              <a:prstGeom prst="rect">
                <a:avLst/>
              </a:prstGeom>
              <a:blipFill>
                <a:blip r:embed="rId16"/>
                <a:stretch>
                  <a:fillRect t="-2222" b="-17778"/>
                </a:stretch>
              </a:blipFill>
            </p:spPr>
            <p:txBody>
              <a:bodyPr/>
              <a:lstStyle/>
              <a:p>
                <a:r>
                  <a:rPr lang="en-US">
                    <a:noFill/>
                  </a:rPr>
                  <a:t> </a:t>
                </a:r>
              </a:p>
            </p:txBody>
          </p:sp>
        </mc:Fallback>
      </mc:AlternateContent>
      <p:sp>
        <p:nvSpPr>
          <p:cNvPr id="68" name="Slide Number Placeholder 67"/>
          <p:cNvSpPr>
            <a:spLocks noGrp="1"/>
          </p:cNvSpPr>
          <p:nvPr>
            <p:ph type="sldNum" sz="quarter" idx="12"/>
          </p:nvPr>
        </p:nvSpPr>
        <p:spPr>
          <a:xfrm>
            <a:off x="5182154" y="9378597"/>
            <a:ext cx="1543050" cy="527403"/>
          </a:xfrm>
        </p:spPr>
        <p:txBody>
          <a:bodyPr/>
          <a:lstStyle/>
          <a:p>
            <a:fld id="{9BD3B4A0-BFF9-422C-B253-48BA94BE2F5B}" type="slidenum">
              <a:rPr lang="en-GB" noProof="0" smtClean="0"/>
              <a:t>7</a:t>
            </a:fld>
            <a:endParaRPr lang="en-GB" noProof="0" dirty="0"/>
          </a:p>
        </p:txBody>
      </p:sp>
      <p:sp>
        <p:nvSpPr>
          <p:cNvPr id="69" name="TextBox 68">
            <a:extLst>
              <a:ext uri="{FF2B5EF4-FFF2-40B4-BE49-F238E27FC236}">
                <a16:creationId xmlns:a16="http://schemas.microsoft.com/office/drawing/2014/main" id="{C3C65E48-8C3D-6849-AD77-7AD8678AD8DA}"/>
              </a:ext>
            </a:extLst>
          </p:cNvPr>
          <p:cNvSpPr txBox="1"/>
          <p:nvPr/>
        </p:nvSpPr>
        <p:spPr>
          <a:xfrm>
            <a:off x="39316" y="64336"/>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Tree>
    <p:extLst>
      <p:ext uri="{BB962C8B-B14F-4D97-AF65-F5344CB8AC3E}">
        <p14:creationId xmlns:p14="http://schemas.microsoft.com/office/powerpoint/2010/main" val="2905413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19CA145-0A55-47EB-B271-6690400B9E6B}"/>
                  </a:ext>
                </a:extLst>
              </p:cNvPr>
              <p:cNvSpPr txBox="1"/>
              <p:nvPr/>
            </p:nvSpPr>
            <p:spPr>
              <a:xfrm>
                <a:off x="185788" y="48544"/>
                <a:ext cx="1359155" cy="646331"/>
              </a:xfrm>
              <a:prstGeom prst="rect">
                <a:avLst/>
              </a:prstGeom>
              <a:noFill/>
            </p:spPr>
            <p:txBody>
              <a:bodyPr wrap="none" rtlCol="0">
                <a:spAutoFit/>
              </a:bodyPr>
              <a:lstStyle/>
              <a:p>
                <a:r>
                  <a:rPr lang="en-GB" sz="1200" noProof="0" dirty="0"/>
                  <a:t>13</a:t>
                </a:r>
                <a:r>
                  <a:rPr lang="en-GB" sz="1200" b="0" noProof="0" dirty="0"/>
                  <a:t>) </a:t>
                </a:r>
                <a14:m>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3</m:t>
                        </m:r>
                      </m:sup>
                    </m:sSup>
                    <m:r>
                      <a:rPr lang="en-GB" sz="1200" b="0" i="1" noProof="0" smtClean="0">
                        <a:latin typeface="Cambria Math" panose="02040503050406030204" pitchFamily="18" charset="0"/>
                      </a:rPr>
                      <m:t>−6</m:t>
                    </m:r>
                  </m:oMath>
                </a14:m>
                <a:endParaRPr lang="en-GB" sz="1200" b="0" i="1"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𝑔</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=4</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e>
                      </m:d>
                    </m:oMath>
                  </m:oMathPara>
                </a14:m>
                <a:endParaRPr lang="en-GB" sz="1200" b="0"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h</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oMath>
                  </m:oMathPara>
                </a14:m>
                <a:endParaRPr lang="en-GB" sz="1200" noProof="0" dirty="0"/>
              </a:p>
            </p:txBody>
          </p:sp>
        </mc:Choice>
        <mc:Fallback xmlns="">
          <p:sp>
            <p:nvSpPr>
              <p:cNvPr id="3" name="TextBox 2">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85788" y="48544"/>
                <a:ext cx="1359155" cy="646331"/>
              </a:xfrm>
              <a:prstGeom prst="rect">
                <a:avLst/>
              </a:prstGeom>
              <a:blipFill>
                <a:blip r:embed="rId2"/>
                <a:stretch>
                  <a:fillRect/>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3C36006B-227E-45B6-ACB0-32FCE0D906FC}"/>
              </a:ext>
            </a:extLst>
          </p:cNvPr>
          <p:cNvSpPr/>
          <p:nvPr/>
        </p:nvSpPr>
        <p:spPr>
          <a:xfrm>
            <a:off x="68580" y="737502"/>
            <a:ext cx="1623176" cy="32215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 name="Rectangle 5">
            <a:extLst>
              <a:ext uri="{FF2B5EF4-FFF2-40B4-BE49-F238E27FC236}">
                <a16:creationId xmlns:a16="http://schemas.microsoft.com/office/drawing/2014/main" id="{3C36006B-227E-45B6-ACB0-32FCE0D906FC}"/>
              </a:ext>
            </a:extLst>
          </p:cNvPr>
          <p:cNvSpPr/>
          <p:nvPr/>
        </p:nvSpPr>
        <p:spPr>
          <a:xfrm>
            <a:off x="1748907" y="740306"/>
            <a:ext cx="1623176" cy="32160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Rectangle 6">
            <a:extLst>
              <a:ext uri="{FF2B5EF4-FFF2-40B4-BE49-F238E27FC236}">
                <a16:creationId xmlns:a16="http://schemas.microsoft.com/office/drawing/2014/main" id="{3C36006B-227E-45B6-ACB0-32FCE0D906FC}"/>
              </a:ext>
            </a:extLst>
          </p:cNvPr>
          <p:cNvSpPr/>
          <p:nvPr/>
        </p:nvSpPr>
        <p:spPr>
          <a:xfrm>
            <a:off x="3452093" y="733210"/>
            <a:ext cx="1623176" cy="32215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Rectangle 7">
            <a:extLst>
              <a:ext uri="{FF2B5EF4-FFF2-40B4-BE49-F238E27FC236}">
                <a16:creationId xmlns:a16="http://schemas.microsoft.com/office/drawing/2014/main" id="{3C36006B-227E-45B6-ACB0-32FCE0D906FC}"/>
              </a:ext>
            </a:extLst>
          </p:cNvPr>
          <p:cNvSpPr/>
          <p:nvPr/>
        </p:nvSpPr>
        <p:spPr>
          <a:xfrm>
            <a:off x="5139834" y="737746"/>
            <a:ext cx="1623176" cy="321263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19CA145-0A55-47EB-B271-6690400B9E6B}"/>
                  </a:ext>
                </a:extLst>
              </p:cNvPr>
              <p:cNvSpPr txBox="1"/>
              <p:nvPr/>
            </p:nvSpPr>
            <p:spPr>
              <a:xfrm>
                <a:off x="1729158" y="737504"/>
                <a:ext cx="743409" cy="276999"/>
              </a:xfrm>
              <a:prstGeom prst="rect">
                <a:avLst/>
              </a:prstGeom>
              <a:noFill/>
            </p:spPr>
            <p:txBody>
              <a:bodyPr wrap="none" rtlCol="0">
                <a:spAutoFit/>
              </a:bodyPr>
              <a:lstStyle/>
              <a:p>
                <a:r>
                  <a:rPr lang="en-GB" sz="1200" noProof="0" dirty="0"/>
                  <a:t>n)</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h𝑔</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9" name="TextBox 8">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729158" y="737504"/>
                <a:ext cx="743409" cy="276999"/>
              </a:xfrm>
              <a:prstGeom prst="rect">
                <a:avLst/>
              </a:prstGeom>
              <a:blipFill>
                <a:blip r:embed="rId3"/>
                <a:stretch>
                  <a:fillRect l="-820"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9CA145-0A55-47EB-B271-6690400B9E6B}"/>
                  </a:ext>
                </a:extLst>
              </p:cNvPr>
              <p:cNvSpPr txBox="1"/>
              <p:nvPr/>
            </p:nvSpPr>
            <p:spPr>
              <a:xfrm>
                <a:off x="3406421" y="728875"/>
                <a:ext cx="735394" cy="276999"/>
              </a:xfrm>
              <a:prstGeom prst="rect">
                <a:avLst/>
              </a:prstGeom>
              <a:noFill/>
            </p:spPr>
            <p:txBody>
              <a:bodyPr wrap="none" rtlCol="0">
                <a:spAutoFit/>
              </a:bodyPr>
              <a:lstStyle/>
              <a:p>
                <a:r>
                  <a:rPr lang="en-GB" sz="1200" noProof="0" dirty="0"/>
                  <a:t>o)</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𝑓h</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10" name="TextBox 9">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3406421" y="728875"/>
                <a:ext cx="735394" cy="276999"/>
              </a:xfrm>
              <a:prstGeom prst="rect">
                <a:avLst/>
              </a:prstGeom>
              <a:blipFill>
                <a:blip r:embed="rId4"/>
                <a:stretch>
                  <a:fillRect l="-833"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19CA145-0A55-47EB-B271-6690400B9E6B}"/>
                  </a:ext>
                </a:extLst>
              </p:cNvPr>
              <p:cNvSpPr txBox="1"/>
              <p:nvPr/>
            </p:nvSpPr>
            <p:spPr>
              <a:xfrm>
                <a:off x="5155279" y="730315"/>
                <a:ext cx="753027" cy="276999"/>
              </a:xfrm>
              <a:prstGeom prst="rect">
                <a:avLst/>
              </a:prstGeom>
              <a:noFill/>
            </p:spPr>
            <p:txBody>
              <a:bodyPr wrap="none" rtlCol="0">
                <a:spAutoFit/>
              </a:bodyPr>
              <a:lstStyle/>
              <a:p>
                <a:r>
                  <a:rPr lang="en-GB" sz="1200" noProof="0" dirty="0"/>
                  <a:t>p)</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𝑔𝑔</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11" name="TextBox 10">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5155279" y="730315"/>
                <a:ext cx="753027" cy="276999"/>
              </a:xfrm>
              <a:prstGeom prst="rect">
                <a:avLst/>
              </a:prstGeom>
              <a:blipFill>
                <a:blip r:embed="rId5"/>
                <a:stretch>
                  <a:fillRect l="-813"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19CA145-0A55-47EB-B271-6690400B9E6B}"/>
                  </a:ext>
                </a:extLst>
              </p:cNvPr>
              <p:cNvSpPr txBox="1"/>
              <p:nvPr/>
            </p:nvSpPr>
            <p:spPr>
              <a:xfrm>
                <a:off x="106512" y="738389"/>
                <a:ext cx="788549" cy="276999"/>
              </a:xfrm>
              <a:prstGeom prst="rect">
                <a:avLst/>
              </a:prstGeom>
              <a:noFill/>
            </p:spPr>
            <p:txBody>
              <a:bodyPr wrap="none" rtlCol="0">
                <a:spAutoFit/>
              </a:bodyPr>
              <a:lstStyle/>
              <a:p>
                <a:r>
                  <a:rPr lang="en-GB" sz="1200" noProof="0" dirty="0"/>
                  <a:t>m)</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𝑔𝑓</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15" name="TextBox 14">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06512" y="738389"/>
                <a:ext cx="788549" cy="276999"/>
              </a:xfrm>
              <a:prstGeom prst="rect">
                <a:avLst/>
              </a:prstGeom>
              <a:blipFill>
                <a:blip r:embed="rId6"/>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979583" y="4027261"/>
                <a:ext cx="3689895" cy="623889"/>
              </a:xfrm>
              <a:prstGeom prst="rect">
                <a:avLst/>
              </a:prstGeom>
              <a:noFill/>
            </p:spPr>
            <p:txBody>
              <a:bodyPr wrap="square" rtlCol="0">
                <a:spAutoFit/>
              </a:bodyPr>
              <a:lstStyle/>
              <a:p>
                <a:pPr algn="ctr"/>
                <a:r>
                  <a:rPr lang="en-GB" sz="1200" noProof="0" dirty="0"/>
                  <a:t>14</a:t>
                </a:r>
                <a:r>
                  <a:rPr lang="en-GB" sz="1200" b="0" noProof="0" dirty="0"/>
                  <a:t>) </a:t>
                </a:r>
                <a14:m>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a14:m>
                <a:br>
                  <a:rPr lang="en-GB" sz="1200" b="0" i="1" noProof="0" dirty="0">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𝑔</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𝑥</m:t>
                          </m:r>
                        </m:den>
                      </m:f>
                    </m:oMath>
                  </m:oMathPara>
                </a14:m>
                <a:endParaRPr lang="en-GB" sz="1200" noProof="0" dirty="0"/>
              </a:p>
            </p:txBody>
          </p:sp>
        </mc:Choice>
        <mc:Fallback xmlns="">
          <p:sp>
            <p:nvSpPr>
              <p:cNvPr id="17" name="TextBox 16"/>
              <p:cNvSpPr txBox="1">
                <a:spLocks noRot="1" noChangeAspect="1" noMove="1" noResize="1" noEditPoints="1" noAdjustHandles="1" noChangeArrowheads="1" noChangeShapeType="1" noTextEdit="1"/>
              </p:cNvSpPr>
              <p:nvPr/>
            </p:nvSpPr>
            <p:spPr>
              <a:xfrm>
                <a:off x="-979583" y="4027261"/>
                <a:ext cx="3689895" cy="623889"/>
              </a:xfrm>
              <a:prstGeom prst="rect">
                <a:avLst/>
              </a:prstGeom>
              <a:blipFill>
                <a:blip r:embed="rId8"/>
                <a:stretch>
                  <a:fillRect/>
                </a:stretch>
              </a:blipFill>
            </p:spPr>
            <p:txBody>
              <a:bodyPr/>
              <a:lstStyle/>
              <a:p>
                <a:r>
                  <a:rPr lang="en-US">
                    <a:noFill/>
                  </a:rPr>
                  <a:t> </a:t>
                </a:r>
              </a:p>
            </p:txBody>
          </p:sp>
        </mc:Fallback>
      </mc:AlternateContent>
      <p:sp>
        <p:nvSpPr>
          <p:cNvPr id="18" name="Rectangle 17">
            <a:extLst>
              <a:ext uri="{FF2B5EF4-FFF2-40B4-BE49-F238E27FC236}">
                <a16:creationId xmlns:a16="http://schemas.microsoft.com/office/drawing/2014/main" id="{3C36006B-227E-45B6-ACB0-32FCE0D906FC}"/>
              </a:ext>
            </a:extLst>
          </p:cNvPr>
          <p:cNvSpPr/>
          <p:nvPr/>
        </p:nvSpPr>
        <p:spPr>
          <a:xfrm>
            <a:off x="84025" y="4690657"/>
            <a:ext cx="1623176" cy="24254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0" name="Rectangle 19">
            <a:extLst>
              <a:ext uri="{FF2B5EF4-FFF2-40B4-BE49-F238E27FC236}">
                <a16:creationId xmlns:a16="http://schemas.microsoft.com/office/drawing/2014/main" id="{3C36006B-227E-45B6-ACB0-32FCE0D906FC}"/>
              </a:ext>
            </a:extLst>
          </p:cNvPr>
          <p:cNvSpPr/>
          <p:nvPr/>
        </p:nvSpPr>
        <p:spPr>
          <a:xfrm>
            <a:off x="1764352" y="4693460"/>
            <a:ext cx="1623176" cy="24213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1" name="Rectangle 20">
            <a:extLst>
              <a:ext uri="{FF2B5EF4-FFF2-40B4-BE49-F238E27FC236}">
                <a16:creationId xmlns:a16="http://schemas.microsoft.com/office/drawing/2014/main" id="{3C36006B-227E-45B6-ACB0-32FCE0D906FC}"/>
              </a:ext>
            </a:extLst>
          </p:cNvPr>
          <p:cNvSpPr/>
          <p:nvPr/>
        </p:nvSpPr>
        <p:spPr>
          <a:xfrm>
            <a:off x="3467538" y="4686365"/>
            <a:ext cx="1623176" cy="24254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2" name="Rectangle 21">
            <a:extLst>
              <a:ext uri="{FF2B5EF4-FFF2-40B4-BE49-F238E27FC236}">
                <a16:creationId xmlns:a16="http://schemas.microsoft.com/office/drawing/2014/main" id="{3C36006B-227E-45B6-ACB0-32FCE0D906FC}"/>
              </a:ext>
            </a:extLst>
          </p:cNvPr>
          <p:cNvSpPr/>
          <p:nvPr/>
        </p:nvSpPr>
        <p:spPr>
          <a:xfrm>
            <a:off x="5155279" y="4690900"/>
            <a:ext cx="1623176" cy="241875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19CA145-0A55-47EB-B271-6690400B9E6B}"/>
                  </a:ext>
                </a:extLst>
              </p:cNvPr>
              <p:cNvSpPr txBox="1"/>
              <p:nvPr/>
            </p:nvSpPr>
            <p:spPr>
              <a:xfrm>
                <a:off x="1744603" y="4690658"/>
                <a:ext cx="718017" cy="276999"/>
              </a:xfrm>
              <a:prstGeom prst="rect">
                <a:avLst/>
              </a:prstGeom>
              <a:noFill/>
            </p:spPr>
            <p:txBody>
              <a:bodyPr wrap="none" rtlCol="0">
                <a:spAutoFit/>
              </a:bodyPr>
              <a:lstStyle/>
              <a:p>
                <a:r>
                  <a:rPr lang="en-GB" sz="1200" noProof="0" dirty="0"/>
                  <a:t>r)</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𝑔𝑓</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23" name="TextBox 22">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744603" y="4690658"/>
                <a:ext cx="718017" cy="276999"/>
              </a:xfrm>
              <a:prstGeom prst="rect">
                <a:avLst/>
              </a:prstGeom>
              <a:blipFill>
                <a:blip r:embed="rId9"/>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519CA145-0A55-47EB-B271-6690400B9E6B}"/>
                  </a:ext>
                </a:extLst>
              </p:cNvPr>
              <p:cNvSpPr txBox="1"/>
              <p:nvPr/>
            </p:nvSpPr>
            <p:spPr>
              <a:xfrm>
                <a:off x="3421866" y="4682029"/>
                <a:ext cx="716415" cy="276999"/>
              </a:xfrm>
              <a:prstGeom prst="rect">
                <a:avLst/>
              </a:prstGeom>
              <a:noFill/>
            </p:spPr>
            <p:txBody>
              <a:bodyPr wrap="none" rtlCol="0">
                <a:spAutoFit/>
              </a:bodyPr>
              <a:lstStyle/>
              <a:p>
                <a:r>
                  <a:rPr lang="en-GB" sz="1200" noProof="0" dirty="0"/>
                  <a:t>s)</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𝑓𝑓</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24" name="TextBox 23">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3421866" y="4682029"/>
                <a:ext cx="716415" cy="276999"/>
              </a:xfrm>
              <a:prstGeom prst="rect">
                <a:avLst/>
              </a:prstGeom>
              <a:blipFill>
                <a:blip r:embed="rId10"/>
                <a:stretch>
                  <a:fillRect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519CA145-0A55-47EB-B271-6690400B9E6B}"/>
                  </a:ext>
                </a:extLst>
              </p:cNvPr>
              <p:cNvSpPr txBox="1"/>
              <p:nvPr/>
            </p:nvSpPr>
            <p:spPr>
              <a:xfrm>
                <a:off x="5170724" y="4683469"/>
                <a:ext cx="724173" cy="276999"/>
              </a:xfrm>
              <a:prstGeom prst="rect">
                <a:avLst/>
              </a:prstGeom>
              <a:noFill/>
            </p:spPr>
            <p:txBody>
              <a:bodyPr wrap="none" rtlCol="0">
                <a:spAutoFit/>
              </a:bodyPr>
              <a:lstStyle/>
              <a:p>
                <a:r>
                  <a:rPr lang="en-GB" sz="1200" noProof="0" dirty="0"/>
                  <a:t>t)</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𝑔𝑔</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25" name="TextBox 24">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5170724" y="4683469"/>
                <a:ext cx="724173" cy="276999"/>
              </a:xfrm>
              <a:prstGeom prst="rect">
                <a:avLst/>
              </a:prstGeom>
              <a:blipFill>
                <a:blip r:embed="rId11"/>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19CA145-0A55-47EB-B271-6690400B9E6B}"/>
                  </a:ext>
                </a:extLst>
              </p:cNvPr>
              <p:cNvSpPr txBox="1"/>
              <p:nvPr/>
            </p:nvSpPr>
            <p:spPr>
              <a:xfrm>
                <a:off x="121957" y="4691543"/>
                <a:ext cx="743409" cy="276999"/>
              </a:xfrm>
              <a:prstGeom prst="rect">
                <a:avLst/>
              </a:prstGeom>
              <a:noFill/>
            </p:spPr>
            <p:txBody>
              <a:bodyPr wrap="none" rtlCol="0">
                <a:spAutoFit/>
              </a:bodyPr>
              <a:lstStyle/>
              <a:p>
                <a:r>
                  <a:rPr lang="en-GB" sz="1200" noProof="0" dirty="0"/>
                  <a:t>q)</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𝑓𝑔</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29" name="TextBox 28">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21957" y="4691543"/>
                <a:ext cx="743409" cy="276999"/>
              </a:xfrm>
              <a:prstGeom prst="rect">
                <a:avLst/>
              </a:prstGeom>
              <a:blipFill>
                <a:blip r:embed="rId12"/>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p:cNvSpPr/>
              <p:nvPr/>
            </p:nvSpPr>
            <p:spPr>
              <a:xfrm>
                <a:off x="49852" y="7243262"/>
                <a:ext cx="3429000" cy="461665"/>
              </a:xfrm>
              <a:prstGeom prst="rect">
                <a:avLst/>
              </a:prstGeom>
            </p:spPr>
            <p:txBody>
              <a:bodyPr>
                <a:spAutoFit/>
              </a:bodyPr>
              <a:lstStyle/>
              <a:p>
                <a:r>
                  <a:rPr lang="en-GB" sz="1200" noProof="0" dirty="0"/>
                  <a:t>15) Let </a:t>
                </a:r>
                <a14:m>
                  <m:oMath xmlns:m="http://schemas.openxmlformats.org/officeDocument/2006/math">
                    <m:r>
                      <a:rPr lang="en-GB" sz="1200" i="1" noProof="0">
                        <a:latin typeface="Cambria Math" panose="02040503050406030204" pitchFamily="18" charset="0"/>
                      </a:rPr>
                      <m:t>𝑓</m:t>
                    </m:r>
                    <m:d>
                      <m:dPr>
                        <m:ctrlPr>
                          <a:rPr lang="en-GB" sz="1200" i="1" noProof="0">
                            <a:latin typeface="Cambria Math" panose="02040503050406030204" pitchFamily="18" charset="0"/>
                          </a:rPr>
                        </m:ctrlPr>
                      </m:dPr>
                      <m:e>
                        <m:r>
                          <a:rPr lang="en-GB" sz="1200" i="1" noProof="0">
                            <a:latin typeface="Cambria Math" panose="02040503050406030204" pitchFamily="18" charset="0"/>
                          </a:rPr>
                          <m:t>𝑥</m:t>
                        </m:r>
                      </m:e>
                    </m:d>
                    <m:r>
                      <a:rPr lang="en-GB" sz="1200" i="1" noProof="0">
                        <a:latin typeface="Cambria Math" panose="02040503050406030204" pitchFamily="18" charset="0"/>
                      </a:rPr>
                      <m:t>=</m:t>
                    </m:r>
                    <m:r>
                      <a:rPr lang="en-GB" sz="1200" i="1" noProof="0">
                        <a:latin typeface="Cambria Math" panose="02040503050406030204" pitchFamily="18" charset="0"/>
                      </a:rPr>
                      <m:t>𝑥</m:t>
                    </m:r>
                    <m:r>
                      <a:rPr lang="en-GB" sz="1200" i="1" noProof="0">
                        <a:latin typeface="Cambria Math" panose="02040503050406030204" pitchFamily="18" charset="0"/>
                      </a:rPr>
                      <m:t>+1</m:t>
                    </m:r>
                  </m:oMath>
                </a14:m>
                <a:r>
                  <a:rPr lang="en-GB" sz="1200" noProof="0" dirty="0"/>
                  <a:t> and </a:t>
                </a:r>
                <a14:m>
                  <m:oMath xmlns:m="http://schemas.openxmlformats.org/officeDocument/2006/math">
                    <m:r>
                      <a:rPr lang="en-GB" sz="1200" i="1" noProof="0">
                        <a:latin typeface="Cambria Math" panose="02040503050406030204" pitchFamily="18" charset="0"/>
                      </a:rPr>
                      <m:t>𝑔</m:t>
                    </m:r>
                    <m:d>
                      <m:dPr>
                        <m:ctrlPr>
                          <a:rPr lang="en-GB" sz="1200" i="1" noProof="0">
                            <a:latin typeface="Cambria Math" panose="02040503050406030204" pitchFamily="18" charset="0"/>
                          </a:rPr>
                        </m:ctrlPr>
                      </m:dPr>
                      <m:e>
                        <m:r>
                          <a:rPr lang="en-GB" sz="1200" i="1" noProof="0">
                            <a:latin typeface="Cambria Math" panose="02040503050406030204" pitchFamily="18" charset="0"/>
                          </a:rPr>
                          <m:t>𝑥</m:t>
                        </m:r>
                      </m:e>
                    </m:d>
                    <m:r>
                      <a:rPr lang="en-GB" sz="1200" i="1" noProof="0">
                        <a:latin typeface="Cambria Math" panose="02040503050406030204" pitchFamily="18" charset="0"/>
                      </a:rPr>
                      <m:t>=</m:t>
                    </m:r>
                    <m:sSup>
                      <m:sSupPr>
                        <m:ctrlPr>
                          <a:rPr lang="en-GB" sz="1200" i="1" noProof="0">
                            <a:latin typeface="Cambria Math" panose="02040503050406030204" pitchFamily="18" charset="0"/>
                          </a:rPr>
                        </m:ctrlPr>
                      </m:sSupPr>
                      <m:e>
                        <m:r>
                          <a:rPr lang="en-GB" sz="1200" i="1" noProof="0">
                            <a:latin typeface="Cambria Math" panose="02040503050406030204" pitchFamily="18" charset="0"/>
                          </a:rPr>
                          <m:t>𝑥</m:t>
                        </m:r>
                      </m:e>
                      <m:sup>
                        <m:r>
                          <a:rPr lang="en-GB" sz="1200" i="1" noProof="0">
                            <a:latin typeface="Cambria Math" panose="02040503050406030204" pitchFamily="18" charset="0"/>
                          </a:rPr>
                          <m:t>2</m:t>
                        </m:r>
                      </m:sup>
                    </m:sSup>
                    <m:r>
                      <a:rPr lang="en-GB" sz="1200" i="1" noProof="0">
                        <a:latin typeface="Cambria Math" panose="02040503050406030204" pitchFamily="18" charset="0"/>
                      </a:rPr>
                      <m:t>+1</m:t>
                    </m:r>
                  </m:oMath>
                </a14:m>
                <a:r>
                  <a:rPr lang="en-GB" sz="1200" noProof="0" dirty="0"/>
                  <a:t>.</a:t>
                </a:r>
              </a:p>
              <a:p>
                <a:r>
                  <a:rPr lang="en-GB" sz="1200" noProof="0" dirty="0"/>
                  <a:t>If </a:t>
                </a:r>
                <a14:m>
                  <m:oMath xmlns:m="http://schemas.openxmlformats.org/officeDocument/2006/math">
                    <m:r>
                      <a:rPr lang="en-GB" sz="1200" i="1" noProof="0">
                        <a:latin typeface="Cambria Math" panose="02040503050406030204" pitchFamily="18" charset="0"/>
                      </a:rPr>
                      <m:t>𝑔𝑓</m:t>
                    </m:r>
                    <m:d>
                      <m:dPr>
                        <m:ctrlPr>
                          <a:rPr lang="en-GB" sz="1200" i="1" noProof="0">
                            <a:latin typeface="Cambria Math" panose="02040503050406030204" pitchFamily="18" charset="0"/>
                          </a:rPr>
                        </m:ctrlPr>
                      </m:dPr>
                      <m:e>
                        <m:r>
                          <a:rPr lang="en-GB" sz="1200" i="1" noProof="0">
                            <a:latin typeface="Cambria Math" panose="02040503050406030204" pitchFamily="18" charset="0"/>
                          </a:rPr>
                          <m:t>𝑥</m:t>
                        </m:r>
                      </m:e>
                    </m:d>
                    <m:r>
                      <a:rPr lang="en-GB" sz="1200" i="1" noProof="0">
                        <a:latin typeface="Cambria Math" panose="02040503050406030204" pitchFamily="18" charset="0"/>
                      </a:rPr>
                      <m:t>=17</m:t>
                    </m:r>
                  </m:oMath>
                </a14:m>
                <a:r>
                  <a:rPr lang="en-GB" sz="1200" noProof="0" dirty="0"/>
                  <a:t>, determine the possible values of </a:t>
                </a:r>
                <a14:m>
                  <m:oMath xmlns:m="http://schemas.openxmlformats.org/officeDocument/2006/math">
                    <m:r>
                      <a:rPr lang="en-GB" sz="1200" i="1" noProof="0">
                        <a:latin typeface="Cambria Math" panose="02040503050406030204" pitchFamily="18" charset="0"/>
                      </a:rPr>
                      <m:t>𝑥</m:t>
                    </m:r>
                  </m:oMath>
                </a14:m>
                <a:endParaRPr lang="en-GB" sz="1200" noProof="0" dirty="0"/>
              </a:p>
            </p:txBody>
          </p:sp>
        </mc:Choice>
        <mc:Fallback xmlns="">
          <p:sp>
            <p:nvSpPr>
              <p:cNvPr id="30" name="Rectangle 29"/>
              <p:cNvSpPr>
                <a:spLocks noRot="1" noChangeAspect="1" noMove="1" noResize="1" noEditPoints="1" noAdjustHandles="1" noChangeArrowheads="1" noChangeShapeType="1" noTextEdit="1"/>
              </p:cNvSpPr>
              <p:nvPr/>
            </p:nvSpPr>
            <p:spPr>
              <a:xfrm>
                <a:off x="49852" y="7243262"/>
                <a:ext cx="3429000" cy="461665"/>
              </a:xfrm>
              <a:prstGeom prst="rect">
                <a:avLst/>
              </a:prstGeom>
              <a:blipFill>
                <a:blip r:embed="rId13"/>
                <a:stretch>
                  <a:fillRect b="-9211"/>
                </a:stretch>
              </a:blipFill>
            </p:spPr>
            <p:txBody>
              <a:bodyPr/>
              <a:lstStyle/>
              <a:p>
                <a:r>
                  <a:rPr lang="en-US">
                    <a:noFill/>
                  </a:rPr>
                  <a:t> </a:t>
                </a:r>
              </a:p>
            </p:txBody>
          </p:sp>
        </mc:Fallback>
      </mc:AlternateContent>
      <p:sp>
        <p:nvSpPr>
          <p:cNvPr id="31" name="Rectangle 30">
            <a:extLst>
              <a:ext uri="{FF2B5EF4-FFF2-40B4-BE49-F238E27FC236}">
                <a16:creationId xmlns:a16="http://schemas.microsoft.com/office/drawing/2014/main" id="{3C36006B-227E-45B6-ACB0-32FCE0D906FC}"/>
              </a:ext>
            </a:extLst>
          </p:cNvPr>
          <p:cNvSpPr/>
          <p:nvPr/>
        </p:nvSpPr>
        <p:spPr>
          <a:xfrm>
            <a:off x="78334" y="7704927"/>
            <a:ext cx="6684675" cy="18618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4" name="Slide Number Placeholder 33"/>
          <p:cNvSpPr>
            <a:spLocks noGrp="1"/>
          </p:cNvSpPr>
          <p:nvPr>
            <p:ph type="sldNum" sz="quarter" idx="12"/>
          </p:nvPr>
        </p:nvSpPr>
        <p:spPr>
          <a:xfrm>
            <a:off x="5248441" y="9529656"/>
            <a:ext cx="1543050" cy="527403"/>
          </a:xfrm>
        </p:spPr>
        <p:txBody>
          <a:bodyPr/>
          <a:lstStyle/>
          <a:p>
            <a:fld id="{9BD3B4A0-BFF9-422C-B253-48BA94BE2F5B}" type="slidenum">
              <a:rPr lang="en-GB" noProof="0" smtClean="0"/>
              <a:t>8</a:t>
            </a:fld>
            <a:endParaRPr lang="en-GB" noProof="0" dirty="0"/>
          </a:p>
        </p:txBody>
      </p:sp>
    </p:spTree>
    <p:extLst>
      <p:ext uri="{BB962C8B-B14F-4D97-AF65-F5344CB8AC3E}">
        <p14:creationId xmlns:p14="http://schemas.microsoft.com/office/powerpoint/2010/main" val="2324741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91975E-B426-4910-919C-E3C5554DC081}"/>
              </a:ext>
            </a:extLst>
          </p:cNvPr>
          <p:cNvSpPr txBox="1"/>
          <p:nvPr/>
        </p:nvSpPr>
        <p:spPr>
          <a:xfrm>
            <a:off x="-4414" y="-15170"/>
            <a:ext cx="1512850" cy="276999"/>
          </a:xfrm>
          <a:prstGeom prst="rect">
            <a:avLst/>
          </a:prstGeom>
          <a:solidFill>
            <a:srgbClr val="0070C0"/>
          </a:solidFill>
        </p:spPr>
        <p:txBody>
          <a:bodyPr wrap="none" rtlCol="0" anchor="ctr">
            <a:spAutoFit/>
          </a:bodyPr>
          <a:lstStyle/>
          <a:p>
            <a:pPr algn="ctr"/>
            <a:r>
              <a:rPr lang="en-GB" sz="1200" b="1" noProof="0" dirty="0">
                <a:solidFill>
                  <a:schemeClr val="bg1"/>
                </a:solidFill>
              </a:rPr>
              <a:t>INVERSE FUNCTIONS</a:t>
            </a:r>
          </a:p>
        </p:txBody>
      </p:sp>
      <p:sp>
        <p:nvSpPr>
          <p:cNvPr id="4" name="TextBox 3">
            <a:extLst>
              <a:ext uri="{FF2B5EF4-FFF2-40B4-BE49-F238E27FC236}">
                <a16:creationId xmlns:a16="http://schemas.microsoft.com/office/drawing/2014/main" id="{EA4FD2D9-8D23-4ADE-B70E-F386FDED2BED}"/>
              </a:ext>
            </a:extLst>
          </p:cNvPr>
          <p:cNvSpPr txBox="1"/>
          <p:nvPr/>
        </p:nvSpPr>
        <p:spPr>
          <a:xfrm>
            <a:off x="5022995" y="2784397"/>
            <a:ext cx="1542089" cy="276999"/>
          </a:xfrm>
          <a:prstGeom prst="rect">
            <a:avLst/>
          </a:prstGeom>
          <a:noFill/>
          <a:ln>
            <a:noFill/>
          </a:ln>
        </p:spPr>
        <p:txBody>
          <a:bodyPr wrap="none" rtlCol="0">
            <a:spAutoFit/>
          </a:bodyPr>
          <a:lstStyle/>
          <a:p>
            <a:r>
              <a:rPr lang="en-GB" sz="1200" b="1" i="1" noProof="0" dirty="0">
                <a:solidFill>
                  <a:srgbClr val="00B050"/>
                </a:solidFill>
              </a:rPr>
              <a:t>Example 21- You do…</a:t>
            </a:r>
          </a:p>
        </p:txBody>
      </p:sp>
      <p:sp>
        <p:nvSpPr>
          <p:cNvPr id="6" name="TextBox 5">
            <a:extLst>
              <a:ext uri="{FF2B5EF4-FFF2-40B4-BE49-F238E27FC236}">
                <a16:creationId xmlns:a16="http://schemas.microsoft.com/office/drawing/2014/main" id="{08E67FA9-518E-48EE-9C3C-DC43DA12711A}"/>
              </a:ext>
            </a:extLst>
          </p:cNvPr>
          <p:cNvSpPr txBox="1"/>
          <p:nvPr/>
        </p:nvSpPr>
        <p:spPr>
          <a:xfrm>
            <a:off x="3077676" y="2793245"/>
            <a:ext cx="1554336" cy="276999"/>
          </a:xfrm>
          <a:prstGeom prst="rect">
            <a:avLst/>
          </a:prstGeom>
          <a:noFill/>
          <a:ln>
            <a:noFill/>
          </a:ln>
        </p:spPr>
        <p:txBody>
          <a:bodyPr wrap="none" rtlCol="0">
            <a:spAutoFit/>
          </a:bodyPr>
          <a:lstStyle/>
          <a:p>
            <a:r>
              <a:rPr lang="en-GB" sz="1200" b="1" i="1" noProof="0" dirty="0">
                <a:solidFill>
                  <a:schemeClr val="accent2"/>
                </a:solidFill>
              </a:rPr>
              <a:t>Example 20 - We do…</a:t>
            </a:r>
          </a:p>
        </p:txBody>
      </p:sp>
      <p:sp>
        <p:nvSpPr>
          <p:cNvPr id="7" name="TextBox 6">
            <a:extLst>
              <a:ext uri="{FF2B5EF4-FFF2-40B4-BE49-F238E27FC236}">
                <a16:creationId xmlns:a16="http://schemas.microsoft.com/office/drawing/2014/main" id="{0C5FDE3F-DC2A-468E-BF61-F69BF8BB2775}"/>
              </a:ext>
            </a:extLst>
          </p:cNvPr>
          <p:cNvSpPr txBox="1"/>
          <p:nvPr/>
        </p:nvSpPr>
        <p:spPr>
          <a:xfrm>
            <a:off x="1233973" y="2797745"/>
            <a:ext cx="1351780" cy="276999"/>
          </a:xfrm>
          <a:prstGeom prst="rect">
            <a:avLst/>
          </a:prstGeom>
          <a:noFill/>
          <a:ln>
            <a:noFill/>
          </a:ln>
        </p:spPr>
        <p:txBody>
          <a:bodyPr wrap="none" rtlCol="0">
            <a:spAutoFit/>
          </a:bodyPr>
          <a:lstStyle/>
          <a:p>
            <a:r>
              <a:rPr lang="en-GB" sz="1200" b="1" i="1" noProof="0" dirty="0">
                <a:solidFill>
                  <a:srgbClr val="FF0000"/>
                </a:solidFill>
              </a:rPr>
              <a:t>Example 19- I do…</a:t>
            </a:r>
          </a:p>
        </p:txBody>
      </p:sp>
      <mc:AlternateContent xmlns:mc="http://schemas.openxmlformats.org/markup-compatibility/2006" xmlns:a14="http://schemas.microsoft.com/office/drawing/2010/main">
        <mc:Choice Requires="a14">
          <p:graphicFrame>
            <p:nvGraphicFramePr>
              <p:cNvPr id="15" name="Table 14"/>
              <p:cNvGraphicFramePr>
                <a:graphicFrameLocks noGrp="1"/>
              </p:cNvGraphicFramePr>
              <p:nvPr>
                <p:extLst>
                  <p:ext uri="{D42A27DB-BD31-4B8C-83A1-F6EECF244321}">
                    <p14:modId xmlns:p14="http://schemas.microsoft.com/office/powerpoint/2010/main" val="2292741174"/>
                  </p:ext>
                </p:extLst>
              </p:nvPr>
            </p:nvGraphicFramePr>
            <p:xfrm>
              <a:off x="135806" y="3076686"/>
              <a:ext cx="6639192" cy="3487060"/>
            </p:xfrm>
            <a:graphic>
              <a:graphicData uri="http://schemas.openxmlformats.org/drawingml/2006/table">
                <a:tbl>
                  <a:tblPr firstRow="1" bandRow="1">
                    <a:tableStyleId>{5C22544A-7EE6-4342-B048-85BDC9FD1C3A}</a:tableStyleId>
                  </a:tblPr>
                  <a:tblGrid>
                    <a:gridCol w="898539">
                      <a:extLst>
                        <a:ext uri="{9D8B030D-6E8A-4147-A177-3AD203B41FA5}">
                          <a16:colId xmlns:a16="http://schemas.microsoft.com/office/drawing/2014/main" val="1568142362"/>
                        </a:ext>
                      </a:extLst>
                    </a:gridCol>
                    <a:gridCol w="1828800">
                      <a:extLst>
                        <a:ext uri="{9D8B030D-6E8A-4147-A177-3AD203B41FA5}">
                          <a16:colId xmlns:a16="http://schemas.microsoft.com/office/drawing/2014/main" val="3551711160"/>
                        </a:ext>
                      </a:extLst>
                    </a:gridCol>
                    <a:gridCol w="1961321">
                      <a:extLst>
                        <a:ext uri="{9D8B030D-6E8A-4147-A177-3AD203B41FA5}">
                          <a16:colId xmlns:a16="http://schemas.microsoft.com/office/drawing/2014/main" val="772331842"/>
                        </a:ext>
                      </a:extLst>
                    </a:gridCol>
                    <a:gridCol w="1950532">
                      <a:extLst>
                        <a:ext uri="{9D8B030D-6E8A-4147-A177-3AD203B41FA5}">
                          <a16:colId xmlns:a16="http://schemas.microsoft.com/office/drawing/2014/main" val="1506195925"/>
                        </a:ext>
                      </a:extLst>
                    </a:gridCol>
                  </a:tblGrid>
                  <a:tr h="549120">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94080">
                    <a:tc>
                      <a:txBody>
                        <a:bodyPr/>
                        <a:lstStyle/>
                        <a:p>
                          <a:r>
                            <a:rPr lang="en-GB" sz="1060" noProof="0" dirty="0">
                              <a:solidFill>
                                <a:schemeClr val="tx1"/>
                              </a:solidFill>
                            </a:rPr>
                            <a:t>1) Write as </a:t>
                          </a:r>
                          <a14:m>
                            <m:oMath xmlns:m="http://schemas.openxmlformats.org/officeDocument/2006/math">
                              <m:r>
                                <a:rPr lang="en-GB" sz="1060" b="0" i="1" noProof="0" smtClean="0">
                                  <a:solidFill>
                                    <a:schemeClr val="tx1"/>
                                  </a:solidFill>
                                  <a:latin typeface="Cambria Math" panose="02040503050406030204" pitchFamily="18" charset="0"/>
                                </a:rPr>
                                <m:t>𝑓</m:t>
                              </m:r>
                              <m:d>
                                <m:dPr>
                                  <m:ctrlPr>
                                    <a:rPr lang="en-GB" sz="1060" b="0" i="1" noProof="0" smtClean="0">
                                      <a:solidFill>
                                        <a:schemeClr val="tx1"/>
                                      </a:solidFill>
                                      <a:latin typeface="Cambria Math" panose="02040503050406030204" pitchFamily="18" charset="0"/>
                                    </a:rPr>
                                  </m:ctrlPr>
                                </m:dPr>
                                <m:e>
                                  <m:r>
                                    <a:rPr lang="en-GB" sz="1060" b="0" i="1" noProof="0" smtClean="0">
                                      <a:solidFill>
                                        <a:schemeClr val="tx1"/>
                                      </a:solidFill>
                                      <a:latin typeface="Cambria Math" panose="02040503050406030204" pitchFamily="18" charset="0"/>
                                    </a:rPr>
                                    <m:t>𝑥</m:t>
                                  </m:r>
                                </m:e>
                              </m:d>
                            </m:oMath>
                          </a14:m>
                          <a:r>
                            <a:rPr lang="en-GB" sz="1060" noProof="0" dirty="0">
                              <a:solidFill>
                                <a:schemeClr val="tx1"/>
                              </a:solidFill>
                            </a:rPr>
                            <a:t> as </a:t>
                          </a:r>
                          <a14:m>
                            <m:oMath xmlns:m="http://schemas.openxmlformats.org/officeDocument/2006/math">
                              <m:r>
                                <a:rPr lang="en-GB" sz="1060" b="0" i="1" noProof="0" smtClean="0">
                                  <a:solidFill>
                                    <a:schemeClr val="tx1"/>
                                  </a:solidFill>
                                  <a:latin typeface="Cambria Math" panose="02040503050406030204" pitchFamily="18" charset="0"/>
                                </a:rPr>
                                <m:t>𝑦</m:t>
                              </m:r>
                            </m:oMath>
                          </a14:m>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021930">
                    <a:tc>
                      <a:txBody>
                        <a:bodyPr/>
                        <a:lstStyle/>
                        <a:p>
                          <a:r>
                            <a:rPr lang="en-GB" sz="1060" noProof="0" dirty="0">
                              <a:solidFill>
                                <a:schemeClr val="tx1"/>
                              </a:solidFill>
                            </a:rPr>
                            <a:t>2) Change to</a:t>
                          </a:r>
                          <a:r>
                            <a:rPr lang="en-GB" sz="1060" baseline="0" noProof="0" dirty="0">
                              <a:solidFill>
                                <a:schemeClr val="tx1"/>
                              </a:solidFill>
                            </a:rPr>
                            <a:t> make </a:t>
                          </a:r>
                          <a14:m>
                            <m:oMath xmlns:m="http://schemas.openxmlformats.org/officeDocument/2006/math">
                              <m:r>
                                <a:rPr lang="en-GB" sz="1060" b="0" i="1" baseline="0" noProof="0" smtClean="0">
                                  <a:solidFill>
                                    <a:schemeClr val="tx1"/>
                                  </a:solidFill>
                                  <a:latin typeface="Cambria Math" panose="02040503050406030204" pitchFamily="18" charset="0"/>
                                </a:rPr>
                                <m:t>𝑥</m:t>
                              </m:r>
                            </m:oMath>
                          </a14:m>
                          <a:r>
                            <a:rPr lang="en-GB" sz="1060" noProof="0" dirty="0">
                              <a:solidFill>
                                <a:schemeClr val="tx1"/>
                              </a:solidFill>
                            </a:rPr>
                            <a:t> the subject.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1021930">
                    <a:tc>
                      <a:txBody>
                        <a:bodyPr/>
                        <a:lstStyle/>
                        <a:p>
                          <a:r>
                            <a:rPr lang="en-GB" sz="1060" noProof="0" dirty="0">
                              <a:solidFill>
                                <a:schemeClr val="tx1"/>
                              </a:solidFill>
                            </a:rPr>
                            <a:t>3) Swap the variables to write</a:t>
                          </a:r>
                          <a:r>
                            <a:rPr lang="en-GB" sz="1060" baseline="0" noProof="0" dirty="0">
                              <a:solidFill>
                                <a:schemeClr val="tx1"/>
                              </a:solidFill>
                            </a:rPr>
                            <a:t> as </a:t>
                          </a:r>
                          <a14:m>
                            <m:oMath xmlns:m="http://schemas.openxmlformats.org/officeDocument/2006/math">
                              <m:sSup>
                                <m:sSupPr>
                                  <m:ctrlPr>
                                    <a:rPr lang="en-GB" sz="1060" b="0" i="1" baseline="0" noProof="0" smtClean="0">
                                      <a:solidFill>
                                        <a:schemeClr val="tx1"/>
                                      </a:solidFill>
                                      <a:latin typeface="Cambria Math" panose="02040503050406030204" pitchFamily="18" charset="0"/>
                                    </a:rPr>
                                  </m:ctrlPr>
                                </m:sSupPr>
                                <m:e>
                                  <m:r>
                                    <a:rPr lang="en-GB" sz="1060" b="0" i="1" baseline="0" noProof="0" smtClean="0">
                                      <a:solidFill>
                                        <a:schemeClr val="tx1"/>
                                      </a:solidFill>
                                      <a:latin typeface="Cambria Math" panose="02040503050406030204" pitchFamily="18" charset="0"/>
                                    </a:rPr>
                                    <m:t>𝑓</m:t>
                                  </m:r>
                                </m:e>
                                <m:sup>
                                  <m:r>
                                    <a:rPr lang="en-GB" sz="1060" b="0" i="1" baseline="0" noProof="0" smtClean="0">
                                      <a:solidFill>
                                        <a:schemeClr val="tx1"/>
                                      </a:solidFill>
                                      <a:latin typeface="Cambria Math" panose="02040503050406030204" pitchFamily="18" charset="0"/>
                                    </a:rPr>
                                    <m:t>−1</m:t>
                                  </m:r>
                                </m:sup>
                              </m:sSup>
                              <m:r>
                                <a:rPr lang="en-GB" sz="1060" b="0" i="1" baseline="0" noProof="0" smtClean="0">
                                  <a:solidFill>
                                    <a:schemeClr val="tx1"/>
                                  </a:solidFill>
                                  <a:latin typeface="Cambria Math" panose="02040503050406030204" pitchFamily="18" charset="0"/>
                                </a:rPr>
                                <m:t>(</m:t>
                              </m:r>
                              <m:r>
                                <a:rPr lang="en-GB" sz="1060" b="0" i="1" baseline="0" noProof="0" smtClean="0">
                                  <a:solidFill>
                                    <a:schemeClr val="tx1"/>
                                  </a:solidFill>
                                  <a:latin typeface="Cambria Math" panose="02040503050406030204" pitchFamily="18" charset="0"/>
                                </a:rPr>
                                <m:t>𝑥</m:t>
                              </m:r>
                              <m:r>
                                <a:rPr lang="en-GB" sz="1060" b="0" i="1" baseline="0" noProof="0" smtClean="0">
                                  <a:solidFill>
                                    <a:schemeClr val="tx1"/>
                                  </a:solidFill>
                                  <a:latin typeface="Cambria Math" panose="02040503050406030204" pitchFamily="18" charset="0"/>
                                </a:rPr>
                                <m:t>)</m:t>
                              </m:r>
                            </m:oMath>
                          </a14:m>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44271317"/>
                      </a:ext>
                    </a:extLst>
                  </a:tr>
                </a:tbl>
              </a:graphicData>
            </a:graphic>
          </p:graphicFrame>
        </mc:Choice>
        <mc:Fallback xmlns="">
          <p:graphicFrame>
            <p:nvGraphicFramePr>
              <p:cNvPr id="15" name="Table 14"/>
              <p:cNvGraphicFramePr>
                <a:graphicFrameLocks noGrp="1"/>
              </p:cNvGraphicFramePr>
              <p:nvPr>
                <p:extLst>
                  <p:ext uri="{D42A27DB-BD31-4B8C-83A1-F6EECF244321}">
                    <p14:modId xmlns:p14="http://schemas.microsoft.com/office/powerpoint/2010/main" val="2292741174"/>
                  </p:ext>
                </p:extLst>
              </p:nvPr>
            </p:nvGraphicFramePr>
            <p:xfrm>
              <a:off x="135806" y="3076686"/>
              <a:ext cx="6639192" cy="3487060"/>
            </p:xfrm>
            <a:graphic>
              <a:graphicData uri="http://schemas.openxmlformats.org/drawingml/2006/table">
                <a:tbl>
                  <a:tblPr firstRow="1" bandRow="1">
                    <a:tableStyleId>{5C22544A-7EE6-4342-B048-85BDC9FD1C3A}</a:tableStyleId>
                  </a:tblPr>
                  <a:tblGrid>
                    <a:gridCol w="898539">
                      <a:extLst>
                        <a:ext uri="{9D8B030D-6E8A-4147-A177-3AD203B41FA5}">
                          <a16:colId xmlns:a16="http://schemas.microsoft.com/office/drawing/2014/main" val="1568142362"/>
                        </a:ext>
                      </a:extLst>
                    </a:gridCol>
                    <a:gridCol w="1828800">
                      <a:extLst>
                        <a:ext uri="{9D8B030D-6E8A-4147-A177-3AD203B41FA5}">
                          <a16:colId xmlns:a16="http://schemas.microsoft.com/office/drawing/2014/main" val="3551711160"/>
                        </a:ext>
                      </a:extLst>
                    </a:gridCol>
                    <a:gridCol w="1961321">
                      <a:extLst>
                        <a:ext uri="{9D8B030D-6E8A-4147-A177-3AD203B41FA5}">
                          <a16:colId xmlns:a16="http://schemas.microsoft.com/office/drawing/2014/main" val="772331842"/>
                        </a:ext>
                      </a:extLst>
                    </a:gridCol>
                    <a:gridCol w="1950532">
                      <a:extLst>
                        <a:ext uri="{9D8B030D-6E8A-4147-A177-3AD203B41FA5}">
                          <a16:colId xmlns:a16="http://schemas.microsoft.com/office/drawing/2014/main" val="1506195925"/>
                        </a:ext>
                      </a:extLst>
                    </a:gridCol>
                  </a:tblGrid>
                  <a:tr h="549120">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940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76" t="-61905" r="-637838" b="-229932"/>
                          </a:stretch>
                        </a:blip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02193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76" t="-141667" r="-637838" b="-101190"/>
                          </a:stretch>
                        </a:blip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102193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76" t="-241667" r="-637838" b="-1190"/>
                          </a:stretch>
                        </a:blip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44271317"/>
                      </a:ext>
                    </a:extLst>
                  </a:tr>
                </a:tbl>
              </a:graphicData>
            </a:graphic>
          </p:graphicFrame>
        </mc:Fallback>
      </mc:AlternateContent>
      <mc:AlternateContent xmlns:mc="http://schemas.openxmlformats.org/markup-compatibility/2006" xmlns:a14="http://schemas.microsoft.com/office/drawing/2010/main">
        <mc:Choice Requires="a14">
          <p:sp>
            <p:nvSpPr>
              <p:cNvPr id="10" name="TextBox 9"/>
              <p:cNvSpPr txBox="1"/>
              <p:nvPr/>
            </p:nvSpPr>
            <p:spPr>
              <a:xfrm>
                <a:off x="1970297" y="6765687"/>
                <a:ext cx="4077142" cy="276999"/>
              </a:xfrm>
              <a:prstGeom prst="rect">
                <a:avLst/>
              </a:prstGeom>
              <a:noFill/>
            </p:spPr>
            <p:txBody>
              <a:bodyPr wrap="none" rtlCol="0">
                <a:spAutoFit/>
              </a:bodyPr>
              <a:lstStyle/>
              <a:p>
                <a:r>
                  <a:rPr lang="en-GB" sz="1200" noProof="0" dirty="0"/>
                  <a:t>6. Find the inverse functions </a:t>
                </a:r>
                <a14:m>
                  <m:oMath xmlns:m="http://schemas.openxmlformats.org/officeDocument/2006/math">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𝑓</m:t>
                        </m:r>
                      </m:e>
                      <m:sup>
                        <m:r>
                          <a:rPr lang="en-GB" sz="1200" b="0" i="1" noProof="0" smtClean="0">
                            <a:latin typeface="Cambria Math" panose="02040503050406030204" pitchFamily="18" charset="0"/>
                          </a:rPr>
                          <m:t>−1</m:t>
                        </m:r>
                      </m:sup>
                    </m:sSup>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of the following functions</a:t>
                </a:r>
              </a:p>
            </p:txBody>
          </p:sp>
        </mc:Choice>
        <mc:Fallback xmlns="">
          <p:sp>
            <p:nvSpPr>
              <p:cNvPr id="10" name="TextBox 9"/>
              <p:cNvSpPr txBox="1">
                <a:spLocks noRot="1" noChangeAspect="1" noMove="1" noResize="1" noEditPoints="1" noAdjustHandles="1" noChangeArrowheads="1" noChangeShapeType="1" noTextEdit="1"/>
              </p:cNvSpPr>
              <p:nvPr/>
            </p:nvSpPr>
            <p:spPr>
              <a:xfrm>
                <a:off x="1970297" y="6765687"/>
                <a:ext cx="4077142" cy="276999"/>
              </a:xfrm>
              <a:prstGeom prst="rect">
                <a:avLst/>
              </a:prstGeom>
              <a:blipFill>
                <a:blip r:embed="rId3"/>
                <a:stretch>
                  <a:fillRect b="-20000"/>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3C36006B-227E-45B6-ACB0-32FCE0D906FC}"/>
              </a:ext>
            </a:extLst>
          </p:cNvPr>
          <p:cNvSpPr/>
          <p:nvPr/>
        </p:nvSpPr>
        <p:spPr>
          <a:xfrm>
            <a:off x="71889" y="7151477"/>
            <a:ext cx="1623176" cy="25284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19CA145-0A55-47EB-B271-6690400B9E6B}"/>
                  </a:ext>
                </a:extLst>
              </p:cNvPr>
              <p:cNvSpPr txBox="1"/>
              <p:nvPr/>
            </p:nvSpPr>
            <p:spPr>
              <a:xfrm>
                <a:off x="91250" y="7167351"/>
                <a:ext cx="1016112" cy="276999"/>
              </a:xfrm>
              <a:prstGeom prst="rect">
                <a:avLst/>
              </a:prstGeom>
              <a:noFill/>
            </p:spPr>
            <p:txBody>
              <a:bodyPr wrap="none" rtlCol="0">
                <a:spAutoFit/>
              </a:bodyPr>
              <a:lstStyle/>
              <a:p>
                <a:r>
                  <a:rPr lang="en-GB" sz="1200" noProof="0" dirty="0"/>
                  <a:t>a)</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=4</m:t>
                    </m:r>
                    <m:r>
                      <a:rPr lang="en-GB" sz="1200" b="0" i="1" noProof="0" smtClean="0">
                        <a:latin typeface="Cambria Math" panose="02040503050406030204" pitchFamily="18" charset="0"/>
                        <a:ea typeface="Cambria Math" panose="02040503050406030204" pitchFamily="18" charset="0"/>
                      </a:rPr>
                      <m:t>𝑥</m:t>
                    </m:r>
                  </m:oMath>
                </a14:m>
                <a:endParaRPr lang="en-GB" sz="1200" noProof="0" dirty="0"/>
              </a:p>
            </p:txBody>
          </p:sp>
        </mc:Choice>
        <mc:Fallback xmlns="">
          <p:sp>
            <p:nvSpPr>
              <p:cNvPr id="23" name="TextBox 22">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91250" y="7167351"/>
                <a:ext cx="1016112" cy="276999"/>
              </a:xfrm>
              <a:prstGeom prst="rect">
                <a:avLst/>
              </a:prstGeom>
              <a:blipFill>
                <a:blip r:embed="rId4"/>
                <a:stretch>
                  <a:fillRect l="-599" t="-2222" b="-17778"/>
                </a:stretch>
              </a:blipFill>
            </p:spPr>
            <p:txBody>
              <a:bodyPr/>
              <a:lstStyle/>
              <a:p>
                <a:r>
                  <a:rPr lang="en-US">
                    <a:noFill/>
                  </a:rPr>
                  <a:t> </a:t>
                </a:r>
              </a:p>
            </p:txBody>
          </p:sp>
        </mc:Fallback>
      </mc:AlternateContent>
      <p:sp>
        <p:nvSpPr>
          <p:cNvPr id="37" name="Rectangle 36">
            <a:extLst>
              <a:ext uri="{FF2B5EF4-FFF2-40B4-BE49-F238E27FC236}">
                <a16:creationId xmlns:a16="http://schemas.microsoft.com/office/drawing/2014/main" id="{3C36006B-227E-45B6-ACB0-32FCE0D906FC}"/>
              </a:ext>
            </a:extLst>
          </p:cNvPr>
          <p:cNvSpPr/>
          <p:nvPr/>
        </p:nvSpPr>
        <p:spPr>
          <a:xfrm>
            <a:off x="1752216" y="7154279"/>
            <a:ext cx="1623176" cy="2524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8" name="Rectangle 37">
            <a:extLst>
              <a:ext uri="{FF2B5EF4-FFF2-40B4-BE49-F238E27FC236}">
                <a16:creationId xmlns:a16="http://schemas.microsoft.com/office/drawing/2014/main" id="{3C36006B-227E-45B6-ACB0-32FCE0D906FC}"/>
              </a:ext>
            </a:extLst>
          </p:cNvPr>
          <p:cNvSpPr/>
          <p:nvPr/>
        </p:nvSpPr>
        <p:spPr>
          <a:xfrm>
            <a:off x="3455402" y="7147185"/>
            <a:ext cx="1623176" cy="25284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9" name="Rectangle 38">
            <a:extLst>
              <a:ext uri="{FF2B5EF4-FFF2-40B4-BE49-F238E27FC236}">
                <a16:creationId xmlns:a16="http://schemas.microsoft.com/office/drawing/2014/main" id="{3C36006B-227E-45B6-ACB0-32FCE0D906FC}"/>
              </a:ext>
            </a:extLst>
          </p:cNvPr>
          <p:cNvSpPr/>
          <p:nvPr/>
        </p:nvSpPr>
        <p:spPr>
          <a:xfrm>
            <a:off x="5143143" y="7151720"/>
            <a:ext cx="1623176" cy="25214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519CA145-0A55-47EB-B271-6690400B9E6B}"/>
                  </a:ext>
                </a:extLst>
              </p:cNvPr>
              <p:cNvSpPr txBox="1"/>
              <p:nvPr/>
            </p:nvSpPr>
            <p:spPr>
              <a:xfrm>
                <a:off x="1732467" y="7151478"/>
                <a:ext cx="1022524" cy="276999"/>
              </a:xfrm>
              <a:prstGeom prst="rect">
                <a:avLst/>
              </a:prstGeom>
              <a:noFill/>
            </p:spPr>
            <p:txBody>
              <a:bodyPr wrap="none" rtlCol="0">
                <a:spAutoFit/>
              </a:bodyPr>
              <a:lstStyle/>
              <a:p>
                <a:r>
                  <a:rPr lang="en-GB" sz="1200" noProof="0" dirty="0"/>
                  <a:t>b)</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=5</m:t>
                    </m:r>
                    <m:r>
                      <a:rPr lang="en-GB" sz="1200" b="0" i="1" noProof="0" smtClean="0">
                        <a:latin typeface="Cambria Math" panose="02040503050406030204" pitchFamily="18" charset="0"/>
                        <a:ea typeface="Cambria Math" panose="02040503050406030204" pitchFamily="18" charset="0"/>
                      </a:rPr>
                      <m:t>𝑥</m:t>
                    </m:r>
                  </m:oMath>
                </a14:m>
                <a:endParaRPr lang="en-GB" sz="1200" noProof="0" dirty="0"/>
              </a:p>
            </p:txBody>
          </p:sp>
        </mc:Choice>
        <mc:Fallback xmlns="">
          <p:sp>
            <p:nvSpPr>
              <p:cNvPr id="40" name="TextBox 39">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732467" y="7151478"/>
                <a:ext cx="1022524" cy="276999"/>
              </a:xfrm>
              <a:prstGeom prst="rect">
                <a:avLst/>
              </a:prstGeom>
              <a:blipFill>
                <a:blip r:embed="rId5"/>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519CA145-0A55-47EB-B271-6690400B9E6B}"/>
                  </a:ext>
                </a:extLst>
              </p:cNvPr>
              <p:cNvSpPr txBox="1"/>
              <p:nvPr/>
            </p:nvSpPr>
            <p:spPr>
              <a:xfrm>
                <a:off x="3409730" y="7142849"/>
                <a:ext cx="1191865" cy="276999"/>
              </a:xfrm>
              <a:prstGeom prst="rect">
                <a:avLst/>
              </a:prstGeom>
              <a:noFill/>
            </p:spPr>
            <p:txBody>
              <a:bodyPr wrap="none" rtlCol="0">
                <a:spAutoFit/>
              </a:bodyPr>
              <a:lstStyle/>
              <a:p>
                <a:r>
                  <a:rPr lang="en-GB" sz="1200" noProof="0" dirty="0"/>
                  <a:t>c)</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+7</m:t>
                    </m:r>
                  </m:oMath>
                </a14:m>
                <a:endParaRPr lang="en-GB" sz="1200" noProof="0" dirty="0"/>
              </a:p>
            </p:txBody>
          </p:sp>
        </mc:Choice>
        <mc:Fallback xmlns="">
          <p:sp>
            <p:nvSpPr>
              <p:cNvPr id="41" name="TextBox 40">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3409730" y="7142849"/>
                <a:ext cx="1191865" cy="276999"/>
              </a:xfrm>
              <a:prstGeom prst="rect">
                <a:avLst/>
              </a:prstGeom>
              <a:blipFill>
                <a:blip r:embed="rId6"/>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19CA145-0A55-47EB-B271-6690400B9E6B}"/>
                  </a:ext>
                </a:extLst>
              </p:cNvPr>
              <p:cNvSpPr txBox="1"/>
              <p:nvPr/>
            </p:nvSpPr>
            <p:spPr>
              <a:xfrm>
                <a:off x="5158588" y="7144289"/>
                <a:ext cx="1291251" cy="276999"/>
              </a:xfrm>
              <a:prstGeom prst="rect">
                <a:avLst/>
              </a:prstGeom>
              <a:noFill/>
            </p:spPr>
            <p:txBody>
              <a:bodyPr wrap="none" rtlCol="0">
                <a:spAutoFit/>
              </a:bodyPr>
              <a:lstStyle/>
              <a:p>
                <a:r>
                  <a:rPr lang="en-GB" sz="1200" noProof="0" dirty="0"/>
                  <a:t>d)</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=7</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+2</m:t>
                    </m:r>
                  </m:oMath>
                </a14:m>
                <a:endParaRPr lang="en-GB" sz="1200" noProof="0" dirty="0"/>
              </a:p>
            </p:txBody>
          </p:sp>
        </mc:Choice>
        <mc:Fallback xmlns="">
          <p:sp>
            <p:nvSpPr>
              <p:cNvPr id="42" name="TextBox 41">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5158588" y="7144289"/>
                <a:ext cx="1291251" cy="276999"/>
              </a:xfrm>
              <a:prstGeom prst="rect">
                <a:avLst/>
              </a:prstGeom>
              <a:blipFill>
                <a:blip r:embed="rId7"/>
                <a:stretch>
                  <a:fillRect t="-2222" b="-17778"/>
                </a:stretch>
              </a:blipFill>
            </p:spPr>
            <p:txBody>
              <a:bodyPr/>
              <a:lstStyle/>
              <a:p>
                <a:r>
                  <a:rPr lang="en-US">
                    <a:noFill/>
                  </a:rPr>
                  <a:t> </a:t>
                </a:r>
              </a:p>
            </p:txBody>
          </p:sp>
        </mc:Fallback>
      </mc:AlternateContent>
      <p:sp>
        <p:nvSpPr>
          <p:cNvPr id="11" name="Slide Number Placeholder 10"/>
          <p:cNvSpPr>
            <a:spLocks noGrp="1"/>
          </p:cNvSpPr>
          <p:nvPr>
            <p:ph type="sldNum" sz="quarter" idx="12"/>
          </p:nvPr>
        </p:nvSpPr>
        <p:spPr>
          <a:xfrm>
            <a:off x="5314950" y="9536057"/>
            <a:ext cx="1543050" cy="527403"/>
          </a:xfrm>
        </p:spPr>
        <p:txBody>
          <a:bodyPr/>
          <a:lstStyle/>
          <a:p>
            <a:fld id="{9BD3B4A0-BFF9-422C-B253-48BA94BE2F5B}" type="slidenum">
              <a:rPr lang="en-GB" noProof="0" smtClean="0"/>
              <a:t>9</a:t>
            </a:fld>
            <a:endParaRPr lang="en-GB" noProof="0" dirty="0"/>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80CA423-62E4-4D9E-A61F-19419774D88E}"/>
                  </a:ext>
                </a:extLst>
              </p:cNvPr>
              <p:cNvSpPr txBox="1"/>
              <p:nvPr/>
            </p:nvSpPr>
            <p:spPr>
              <a:xfrm>
                <a:off x="790690" y="3124509"/>
                <a:ext cx="2155809" cy="64633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oMath>
                  </m:oMathPara>
                </a14:m>
                <a:endParaRPr lang="en-GB" sz="1200" noProof="0" dirty="0"/>
              </a:p>
              <a:p>
                <a:pPr algn="ctr"/>
                <a:r>
                  <a:rPr lang="en-GB" sz="1200" noProof="0" dirty="0"/>
                  <a:t>Find </a:t>
                </a:r>
                <a14:m>
                  <m:oMath xmlns:m="http://schemas.openxmlformats.org/officeDocument/2006/math">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𝑓</m:t>
                        </m:r>
                      </m:e>
                      <m:sup>
                        <m:r>
                          <a:rPr lang="en-GB" sz="1200" b="0" i="1" noProof="0" smtClean="0">
                            <a:latin typeface="Cambria Math" panose="02040503050406030204" pitchFamily="18" charset="0"/>
                          </a:rPr>
                          <m:t>−1</m:t>
                        </m:r>
                      </m:sup>
                    </m:sSup>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oMath>
                </a14:m>
                <a:endParaRPr lang="en-GB" sz="1200" noProof="0" dirty="0"/>
              </a:p>
              <a:p>
                <a:endParaRPr lang="en-GB" sz="1200" noProof="0" dirty="0"/>
              </a:p>
            </p:txBody>
          </p:sp>
        </mc:Choice>
        <mc:Fallback xmlns="">
          <p:sp>
            <p:nvSpPr>
              <p:cNvPr id="45" name="TextBox 44">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790690" y="3124509"/>
                <a:ext cx="2155809" cy="646331"/>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780CA423-62E4-4D9E-A61F-19419774D88E}"/>
                  </a:ext>
                </a:extLst>
              </p:cNvPr>
              <p:cNvSpPr txBox="1"/>
              <p:nvPr/>
            </p:nvSpPr>
            <p:spPr>
              <a:xfrm>
                <a:off x="2776940" y="3142546"/>
                <a:ext cx="2155809" cy="589264"/>
              </a:xfrm>
              <a:prstGeom prst="rect">
                <a:avLst/>
              </a:prstGeom>
              <a:noFill/>
            </p:spPr>
            <p:txBody>
              <a:bodyPr wrap="square" rtlCol="0">
                <a:spAutoFit/>
              </a:bodyPr>
              <a:lstStyle/>
              <a:p>
                <a:pPr algn="ctr"/>
                <a14:m>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f>
                      <m:fPr>
                        <m:ctrlPr>
                          <a:rPr lang="en-GB" i="1" noProof="0" smtClean="0">
                            <a:latin typeface="Cambria Math" panose="02040503050406030204" pitchFamily="18" charset="0"/>
                          </a:rPr>
                        </m:ctrlPr>
                      </m:fPr>
                      <m:num>
                        <m:r>
                          <a:rPr lang="en-GB" i="1" noProof="0">
                            <a:latin typeface="Cambria Math" panose="02040503050406030204" pitchFamily="18" charset="0"/>
                          </a:rPr>
                          <m:t>𝑥</m:t>
                        </m:r>
                        <m:r>
                          <a:rPr lang="en-GB" i="1" noProof="0">
                            <a:latin typeface="Cambria Math" panose="02040503050406030204" pitchFamily="18" charset="0"/>
                          </a:rPr>
                          <m:t>−3</m:t>
                        </m:r>
                      </m:num>
                      <m:den>
                        <m:r>
                          <a:rPr lang="en-GB" i="1" noProof="0">
                            <a:latin typeface="Cambria Math" panose="02040503050406030204" pitchFamily="18" charset="0"/>
                          </a:rPr>
                          <m:t>2−</m:t>
                        </m:r>
                        <m:r>
                          <a:rPr lang="en-GB" i="1" noProof="0">
                            <a:latin typeface="Cambria Math" panose="02040503050406030204" pitchFamily="18" charset="0"/>
                          </a:rPr>
                          <m:t>𝑥</m:t>
                        </m:r>
                      </m:den>
                    </m:f>
                  </m:oMath>
                </a14:m>
                <a:r>
                  <a:rPr lang="en-GB" sz="1200" noProof="0" dirty="0"/>
                  <a:t>, find </a:t>
                </a:r>
                <a14:m>
                  <m:oMath xmlns:m="http://schemas.openxmlformats.org/officeDocument/2006/math">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𝑓</m:t>
                        </m:r>
                      </m:e>
                      <m:sup>
                        <m:r>
                          <a:rPr lang="en-GB" sz="1200" b="0" i="1" noProof="0" smtClean="0">
                            <a:latin typeface="Cambria Math" panose="02040503050406030204" pitchFamily="18" charset="0"/>
                          </a:rPr>
                          <m:t>−1</m:t>
                        </m:r>
                      </m:sup>
                    </m:sSup>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oMath>
                </a14:m>
                <a:endParaRPr lang="en-GB" sz="1200" noProof="0" dirty="0"/>
              </a:p>
              <a:p>
                <a:endParaRPr lang="en-GB" sz="1200" noProof="0" dirty="0"/>
              </a:p>
            </p:txBody>
          </p:sp>
        </mc:Choice>
        <mc:Fallback xmlns="">
          <p:sp>
            <p:nvSpPr>
              <p:cNvPr id="59" name="TextBox 58">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2776940" y="3142546"/>
                <a:ext cx="2155809" cy="589264"/>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80CA423-62E4-4D9E-A61F-19419774D88E}"/>
                  </a:ext>
                </a:extLst>
              </p:cNvPr>
              <p:cNvSpPr txBox="1"/>
              <p:nvPr/>
            </p:nvSpPr>
            <p:spPr>
              <a:xfrm>
                <a:off x="4716136" y="3132310"/>
                <a:ext cx="2155809" cy="64633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oMath>
                  </m:oMathPara>
                </a14:m>
                <a:endParaRPr lang="en-GB" sz="1200" noProof="0" dirty="0"/>
              </a:p>
              <a:p>
                <a:pPr algn="ctr"/>
                <a:r>
                  <a:rPr lang="en-GB" sz="1200" noProof="0" dirty="0"/>
                  <a:t>Find </a:t>
                </a:r>
                <a14:m>
                  <m:oMath xmlns:m="http://schemas.openxmlformats.org/officeDocument/2006/math">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𝑓</m:t>
                        </m:r>
                      </m:e>
                      <m:sup>
                        <m:r>
                          <a:rPr lang="en-GB" sz="1200" b="0" i="1" noProof="0" smtClean="0">
                            <a:latin typeface="Cambria Math" panose="02040503050406030204" pitchFamily="18" charset="0"/>
                          </a:rPr>
                          <m:t>−1</m:t>
                        </m:r>
                      </m:sup>
                    </m:sSup>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oMath>
                </a14:m>
                <a:endParaRPr lang="en-GB" sz="1200" noProof="0" dirty="0"/>
              </a:p>
              <a:p>
                <a:endParaRPr lang="en-GB" sz="1200" noProof="0" dirty="0"/>
              </a:p>
            </p:txBody>
          </p:sp>
        </mc:Choice>
        <mc:Fallback xmlns="">
          <p:sp>
            <p:nvSpPr>
              <p:cNvPr id="60" name="TextBox 59">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4716136" y="3132310"/>
                <a:ext cx="2155809" cy="646331"/>
              </a:xfrm>
              <a:prstGeom prst="rect">
                <a:avLst/>
              </a:prstGeom>
              <a:blipFill>
                <a:blip r:embed="rId10"/>
                <a:stretch>
                  <a:fillRect/>
                </a:stretch>
              </a:blipFill>
            </p:spPr>
            <p:txBody>
              <a:bodyPr/>
              <a:lstStyle/>
              <a:p>
                <a:r>
                  <a:rPr lang="en-US">
                    <a:noFill/>
                  </a:rPr>
                  <a:t> </a:t>
                </a:r>
              </a:p>
            </p:txBody>
          </p:sp>
        </mc:Fallback>
      </mc:AlternateContent>
      <p:sp>
        <p:nvSpPr>
          <p:cNvPr id="62" name="TextBox 61">
            <a:extLst>
              <a:ext uri="{FF2B5EF4-FFF2-40B4-BE49-F238E27FC236}">
                <a16:creationId xmlns:a16="http://schemas.microsoft.com/office/drawing/2014/main" id="{C3C65E48-8C3D-6849-AD77-7AD8678AD8DA}"/>
              </a:ext>
            </a:extLst>
          </p:cNvPr>
          <p:cNvSpPr txBox="1"/>
          <p:nvPr/>
        </p:nvSpPr>
        <p:spPr>
          <a:xfrm>
            <a:off x="103456" y="6741892"/>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BF663EA-14AC-FAA9-3F73-DAD14C5B687F}"/>
                  </a:ext>
                </a:extLst>
              </p:cNvPr>
              <p:cNvSpPr txBox="1"/>
              <p:nvPr/>
            </p:nvSpPr>
            <p:spPr>
              <a:xfrm>
                <a:off x="91250" y="327689"/>
                <a:ext cx="6675069" cy="2505494"/>
              </a:xfrm>
              <a:prstGeom prst="rect">
                <a:avLst/>
              </a:prstGeom>
              <a:noFill/>
              <a:ln>
                <a:solidFill>
                  <a:schemeClr val="tx1"/>
                </a:solidFill>
              </a:ln>
            </p:spPr>
            <p:txBody>
              <a:bodyPr wrap="square" rtlCol="0">
                <a:spAutoFit/>
              </a:bodyPr>
              <a:lstStyle/>
              <a:p>
                <a:r>
                  <a:rPr lang="en-GB" sz="1200" noProof="0" dirty="0"/>
                  <a:t>An inverse function performs the inverse operations of the function that was initially given. It is essentially the same as when we placed outputs into our functions machine at the beginning of this topic. The formal notation for the inverse function is</a:t>
                </a:r>
                <a14:m>
                  <m:oMath xmlns:m="http://schemas.openxmlformats.org/officeDocument/2006/math">
                    <m:r>
                      <a:rPr lang="en-GB" sz="1200" i="1" noProof="0">
                        <a:latin typeface="Cambria Math" panose="02040503050406030204" pitchFamily="18" charset="0"/>
                      </a:rPr>
                      <m:t>  </m:t>
                    </m:r>
                    <m:sSup>
                      <m:sSupPr>
                        <m:ctrlPr>
                          <a:rPr lang="en-GB" sz="1200" i="1" noProof="0" smtClean="0">
                            <a:latin typeface="Cambria Math" panose="02040503050406030204" pitchFamily="18" charset="0"/>
                          </a:rPr>
                        </m:ctrlPr>
                      </m:sSupPr>
                      <m:e>
                        <m:r>
                          <a:rPr lang="en-GB" sz="1200" i="1" noProof="0">
                            <a:latin typeface="Cambria Math" panose="02040503050406030204" pitchFamily="18" charset="0"/>
                          </a:rPr>
                          <m:t>𝑓</m:t>
                        </m:r>
                      </m:e>
                      <m:sup>
                        <m:r>
                          <a:rPr lang="en-GB" sz="1200" i="1" noProof="0">
                            <a:latin typeface="Cambria Math" panose="02040503050406030204" pitchFamily="18" charset="0"/>
                          </a:rPr>
                          <m:t>−1</m:t>
                        </m:r>
                      </m:sup>
                    </m:sSup>
                    <m:r>
                      <a:rPr lang="en-GB" sz="1200" i="1" noProof="0">
                        <a:latin typeface="Cambria Math" panose="02040503050406030204" pitchFamily="18" charset="0"/>
                      </a:rPr>
                      <m:t>(</m:t>
                    </m:r>
                    <m:r>
                      <a:rPr lang="en-GB" sz="1200" i="1" noProof="0">
                        <a:latin typeface="Cambria Math" panose="02040503050406030204" pitchFamily="18" charset="0"/>
                      </a:rPr>
                      <m:t>𝑥</m:t>
                    </m:r>
                    <m:r>
                      <a:rPr lang="en-GB" sz="1200" i="1" noProof="0">
                        <a:latin typeface="Cambria Math" panose="02040503050406030204" pitchFamily="18" charset="0"/>
                      </a:rPr>
                      <m:t>)</m:t>
                    </m:r>
                  </m:oMath>
                </a14:m>
                <a:r>
                  <a:rPr lang="en-GB" sz="1200" noProof="0" dirty="0"/>
                  <a:t>, where the </a:t>
                </a:r>
                <a14:m>
                  <m:oMath xmlns:m="http://schemas.openxmlformats.org/officeDocument/2006/math">
                    <m:r>
                      <a:rPr lang="en-GB" sz="1200" i="1" noProof="0">
                        <a:latin typeface="Cambria Math" panose="02040503050406030204" pitchFamily="18" charset="0"/>
                      </a:rPr>
                      <m:t>−1</m:t>
                    </m:r>
                  </m:oMath>
                </a14:m>
                <a:r>
                  <a:rPr lang="en-GB" sz="1200" noProof="0" dirty="0"/>
                  <a:t> does not act as an index, it simply refers to the inverse of the function. </a:t>
                </a:r>
              </a:p>
              <a:p>
                <a:endParaRPr lang="en-GB" sz="1200" noProof="0" dirty="0"/>
              </a:p>
              <a:p>
                <a:r>
                  <a:rPr lang="en-GB" sz="1200" noProof="0" dirty="0"/>
                  <a:t>Note if you found the composite function of </a:t>
                </a:r>
                <a14:m>
                  <m:oMath xmlns:m="http://schemas.openxmlformats.org/officeDocument/2006/math">
                    <m:r>
                      <a:rPr lang="en-GB" sz="1200" i="1" noProof="0">
                        <a:latin typeface="Cambria Math" panose="02040503050406030204" pitchFamily="18" charset="0"/>
                      </a:rPr>
                      <m:t>𝑓</m:t>
                    </m:r>
                    <m:sSup>
                      <m:sSupPr>
                        <m:ctrlPr>
                          <a:rPr lang="en-GB" sz="1200" i="1" noProof="0" smtClean="0">
                            <a:latin typeface="Cambria Math" panose="02040503050406030204" pitchFamily="18" charset="0"/>
                          </a:rPr>
                        </m:ctrlPr>
                      </m:sSupPr>
                      <m:e>
                        <m:r>
                          <a:rPr lang="en-GB" sz="1200" i="1" noProof="0">
                            <a:latin typeface="Cambria Math" panose="02040503050406030204" pitchFamily="18" charset="0"/>
                          </a:rPr>
                          <m:t>𝑓</m:t>
                        </m:r>
                      </m:e>
                      <m:sup>
                        <m:r>
                          <a:rPr lang="en-GB" sz="1200" i="1" noProof="0">
                            <a:latin typeface="Cambria Math" panose="02040503050406030204" pitchFamily="18" charset="0"/>
                          </a:rPr>
                          <m:t>−1</m:t>
                        </m:r>
                      </m:sup>
                    </m:sSup>
                    <m:r>
                      <a:rPr lang="en-GB" sz="1200" i="1" noProof="0">
                        <a:latin typeface="Cambria Math" panose="02040503050406030204" pitchFamily="18" charset="0"/>
                      </a:rPr>
                      <m:t>(</m:t>
                    </m:r>
                    <m:r>
                      <a:rPr lang="en-GB" sz="1200" i="1" noProof="0">
                        <a:latin typeface="Cambria Math" panose="02040503050406030204" pitchFamily="18" charset="0"/>
                      </a:rPr>
                      <m:t>𝑥</m:t>
                    </m:r>
                    <m:r>
                      <a:rPr lang="en-GB" sz="1200" i="1" noProof="0">
                        <a:latin typeface="Cambria Math" panose="02040503050406030204" pitchFamily="18" charset="0"/>
                      </a:rPr>
                      <m:t>)</m:t>
                    </m:r>
                  </m:oMath>
                </a14:m>
                <a:r>
                  <a:rPr lang="en-GB" sz="1200" noProof="0" dirty="0"/>
                  <a:t> or </a:t>
                </a:r>
                <a14:m>
                  <m:oMath xmlns:m="http://schemas.openxmlformats.org/officeDocument/2006/math">
                    <m:sSup>
                      <m:sSupPr>
                        <m:ctrlPr>
                          <a:rPr lang="en-GB" sz="1200" i="1" noProof="0" smtClean="0">
                            <a:latin typeface="Cambria Math" panose="02040503050406030204" pitchFamily="18" charset="0"/>
                          </a:rPr>
                        </m:ctrlPr>
                      </m:sSupPr>
                      <m:e>
                        <m:r>
                          <a:rPr lang="en-GB" sz="1200" i="1" noProof="0">
                            <a:latin typeface="Cambria Math" panose="02040503050406030204" pitchFamily="18" charset="0"/>
                          </a:rPr>
                          <m:t>𝑓</m:t>
                        </m:r>
                      </m:e>
                      <m:sup>
                        <m:r>
                          <a:rPr lang="en-GB" sz="1200" i="1" noProof="0">
                            <a:latin typeface="Cambria Math" panose="02040503050406030204" pitchFamily="18" charset="0"/>
                          </a:rPr>
                          <m:t>−1</m:t>
                        </m:r>
                      </m:sup>
                    </m:sSup>
                    <m:r>
                      <a:rPr lang="en-GB" sz="1200" i="1" noProof="0">
                        <a:latin typeface="Cambria Math" panose="02040503050406030204" pitchFamily="18" charset="0"/>
                      </a:rPr>
                      <m:t>𝑓</m:t>
                    </m:r>
                    <m:r>
                      <a:rPr lang="en-GB" sz="1200" i="1" noProof="0">
                        <a:latin typeface="Cambria Math" panose="02040503050406030204" pitchFamily="18" charset="0"/>
                      </a:rPr>
                      <m:t>(</m:t>
                    </m:r>
                    <m:r>
                      <a:rPr lang="en-GB" sz="1200" i="1" noProof="0">
                        <a:latin typeface="Cambria Math" panose="02040503050406030204" pitchFamily="18" charset="0"/>
                      </a:rPr>
                      <m:t>𝑥</m:t>
                    </m:r>
                    <m:r>
                      <a:rPr lang="en-GB" sz="1200" i="1" noProof="0">
                        <a:latin typeface="Cambria Math" panose="02040503050406030204" pitchFamily="18" charset="0"/>
                      </a:rPr>
                      <m:t>)</m:t>
                    </m:r>
                  </m:oMath>
                </a14:m>
                <a:r>
                  <a:rPr lang="en-GB" sz="1200" noProof="0" dirty="0"/>
                  <a:t>the answer will always be</a:t>
                </a:r>
                <a14:m>
                  <m:oMath xmlns:m="http://schemas.openxmlformats.org/officeDocument/2006/math">
                    <m:r>
                      <a:rPr lang="en-GB" sz="1200" i="1" noProof="0">
                        <a:latin typeface="Cambria Math" panose="02040503050406030204" pitchFamily="18" charset="0"/>
                      </a:rPr>
                      <m:t> </m:t>
                    </m:r>
                    <m:r>
                      <a:rPr lang="en-GB" sz="1200" i="1" noProof="0">
                        <a:latin typeface="Cambria Math" panose="02040503050406030204" pitchFamily="18" charset="0"/>
                      </a:rPr>
                      <m:t>𝑥</m:t>
                    </m:r>
                  </m:oMath>
                </a14:m>
                <a:r>
                  <a:rPr lang="en-GB" sz="1200" noProof="0" dirty="0"/>
                  <a:t>. This is because you are finding the function and then its inverse (or vice versa), so undoing the function you have just evaluated and ending up where you started.</a:t>
                </a:r>
              </a:p>
              <a:p>
                <a:endParaRPr lang="en-GB" sz="1200" noProof="0" dirty="0"/>
              </a:p>
              <a:p>
                <a:r>
                  <a:rPr lang="en-GB" sz="1200" noProof="0" dirty="0"/>
                  <a:t>To find the inverse of a function,</a:t>
                </a:r>
                <a14:m>
                  <m:oMath xmlns:m="http://schemas.openxmlformats.org/officeDocument/2006/math">
                    <m:r>
                      <a:rPr lang="en-GB" sz="1200" i="1" noProof="0">
                        <a:latin typeface="Cambria Math" panose="02040503050406030204" pitchFamily="18" charset="0"/>
                      </a:rPr>
                      <m:t> </m:t>
                    </m:r>
                    <m:r>
                      <a:rPr lang="en-GB" sz="1200" i="1" noProof="0">
                        <a:latin typeface="Cambria Math" panose="02040503050406030204" pitchFamily="18" charset="0"/>
                      </a:rPr>
                      <m:t>𝑓</m:t>
                    </m:r>
                    <m:r>
                      <a:rPr lang="en-GB" sz="1200" i="1" noProof="0">
                        <a:latin typeface="Cambria Math" panose="02040503050406030204" pitchFamily="18" charset="0"/>
                      </a:rPr>
                      <m:t>(</m:t>
                    </m:r>
                    <m:r>
                      <a:rPr lang="en-GB" sz="1200" i="1" noProof="0">
                        <a:latin typeface="Cambria Math" panose="02040503050406030204" pitchFamily="18" charset="0"/>
                      </a:rPr>
                      <m:t>𝑥</m:t>
                    </m:r>
                    <m:r>
                      <a:rPr lang="en-GB" sz="1200" i="1" noProof="0">
                        <a:latin typeface="Cambria Math" panose="02040503050406030204" pitchFamily="18" charset="0"/>
                      </a:rPr>
                      <m:t>)</m:t>
                    </m:r>
                  </m:oMath>
                </a14:m>
                <a:r>
                  <a:rPr lang="en-GB" sz="1200" noProof="0" dirty="0"/>
                  <a:t>, we do this in three steps:</a:t>
                </a:r>
              </a:p>
              <a:p>
                <a:pPr marL="171450" lvl="0" indent="-171450">
                  <a:buFont typeface="Arial" panose="020B0604020202020204" pitchFamily="34" charset="0"/>
                  <a:buChar char="•"/>
                </a:pPr>
                <a:r>
                  <a:rPr lang="en-GB" sz="1200" noProof="0" dirty="0"/>
                  <a:t>Replace </a:t>
                </a:r>
                <a14:m>
                  <m:oMath xmlns:m="http://schemas.openxmlformats.org/officeDocument/2006/math">
                    <m:r>
                      <a:rPr lang="en-GB" sz="1200" i="1" noProof="0">
                        <a:latin typeface="Cambria Math" panose="02040503050406030204" pitchFamily="18" charset="0"/>
                      </a:rPr>
                      <m:t>𝑓</m:t>
                    </m:r>
                    <m:r>
                      <a:rPr lang="en-GB" sz="1200" i="1" noProof="0">
                        <a:latin typeface="Cambria Math" panose="02040503050406030204" pitchFamily="18" charset="0"/>
                      </a:rPr>
                      <m:t>(</m:t>
                    </m:r>
                    <m:r>
                      <a:rPr lang="en-GB" sz="1200" i="1" noProof="0">
                        <a:latin typeface="Cambria Math" panose="02040503050406030204" pitchFamily="18" charset="0"/>
                      </a:rPr>
                      <m:t>𝑥</m:t>
                    </m:r>
                    <m:r>
                      <a:rPr lang="en-GB" sz="1200" i="1" noProof="0">
                        <a:latin typeface="Cambria Math" panose="02040503050406030204" pitchFamily="18" charset="0"/>
                      </a:rPr>
                      <m:t>)</m:t>
                    </m:r>
                  </m:oMath>
                </a14:m>
                <a:r>
                  <a:rPr lang="en-GB" sz="1200" noProof="0" dirty="0"/>
                  <a:t> with </a:t>
                </a:r>
                <a14:m>
                  <m:oMath xmlns:m="http://schemas.openxmlformats.org/officeDocument/2006/math">
                    <m:r>
                      <a:rPr lang="en-GB" sz="1200" i="1" noProof="0">
                        <a:latin typeface="Cambria Math" panose="02040503050406030204" pitchFamily="18" charset="0"/>
                      </a:rPr>
                      <m:t>𝑦</m:t>
                    </m:r>
                  </m:oMath>
                </a14:m>
                <a:r>
                  <a:rPr lang="en-GB" sz="1200" noProof="0" dirty="0"/>
                  <a:t>, so you have an equation</a:t>
                </a:r>
              </a:p>
              <a:p>
                <a:pPr marL="171450" lvl="0" indent="-171450">
                  <a:buFont typeface="Arial" panose="020B0604020202020204" pitchFamily="34" charset="0"/>
                  <a:buChar char="•"/>
                </a:pPr>
                <a:r>
                  <a:rPr lang="en-GB" sz="1200" noProof="0" dirty="0"/>
                  <a:t>Then rearrange the equation to make </a:t>
                </a:r>
                <a14:m>
                  <m:oMath xmlns:m="http://schemas.openxmlformats.org/officeDocument/2006/math">
                    <m:r>
                      <a:rPr lang="en-GB" sz="1200" i="1" noProof="0">
                        <a:latin typeface="Cambria Math" panose="02040503050406030204" pitchFamily="18" charset="0"/>
                      </a:rPr>
                      <m:t>𝑥</m:t>
                    </m:r>
                  </m:oMath>
                </a14:m>
                <a:r>
                  <a:rPr lang="en-GB" sz="1200" noProof="0" dirty="0"/>
                  <a:t> the subject,</a:t>
                </a:r>
              </a:p>
              <a:p>
                <a:pPr marL="171450" lvl="0" indent="-171450">
                  <a:buFont typeface="Arial" panose="020B0604020202020204" pitchFamily="34" charset="0"/>
                  <a:buChar char="•"/>
                </a:pPr>
                <a:r>
                  <a:rPr lang="en-GB" sz="1200" noProof="0" dirty="0"/>
                  <a:t>Then rewrite the equation as </a:t>
                </a:r>
                <a14:m>
                  <m:oMath xmlns:m="http://schemas.openxmlformats.org/officeDocument/2006/math">
                    <m:sSup>
                      <m:sSupPr>
                        <m:ctrlPr>
                          <a:rPr lang="en-GB" sz="1200" i="1" noProof="0" smtClean="0">
                            <a:latin typeface="Cambria Math" panose="02040503050406030204" pitchFamily="18" charset="0"/>
                          </a:rPr>
                        </m:ctrlPr>
                      </m:sSupPr>
                      <m:e>
                        <m:r>
                          <a:rPr lang="en-GB" sz="1200" i="1" noProof="0">
                            <a:latin typeface="Cambria Math" panose="02040503050406030204" pitchFamily="18" charset="0"/>
                          </a:rPr>
                          <m:t>𝑓</m:t>
                        </m:r>
                      </m:e>
                      <m:sup>
                        <m:r>
                          <a:rPr lang="en-GB" sz="1200" i="1" noProof="0">
                            <a:latin typeface="Cambria Math" panose="02040503050406030204" pitchFamily="18" charset="0"/>
                          </a:rPr>
                          <m:t>−1</m:t>
                        </m:r>
                      </m:sup>
                    </m:sSup>
                    <m:d>
                      <m:dPr>
                        <m:ctrlPr>
                          <a:rPr lang="en-GB" sz="1200" i="1" noProof="0" smtClean="0">
                            <a:latin typeface="Cambria Math" panose="02040503050406030204" pitchFamily="18" charset="0"/>
                          </a:rPr>
                        </m:ctrlPr>
                      </m:dPr>
                      <m:e>
                        <m:r>
                          <a:rPr lang="en-GB" sz="1200" i="1" noProof="0">
                            <a:latin typeface="Cambria Math" panose="02040503050406030204" pitchFamily="18" charset="0"/>
                          </a:rPr>
                          <m:t>𝑥</m:t>
                        </m:r>
                      </m:e>
                    </m:d>
                    <m:r>
                      <a:rPr lang="en-GB" sz="1200" i="1" noProof="0">
                        <a:latin typeface="Cambria Math" panose="02040503050406030204" pitchFamily="18" charset="0"/>
                      </a:rPr>
                      <m:t>=</m:t>
                    </m:r>
                  </m:oMath>
                </a14:m>
                <a:r>
                  <a:rPr lang="en-GB" sz="1200" noProof="0" dirty="0"/>
                  <a:t> and swap the </a:t>
                </a:r>
                <a14:m>
                  <m:oMath xmlns:m="http://schemas.openxmlformats.org/officeDocument/2006/math">
                    <m:r>
                      <a:rPr lang="en-GB" sz="1200" i="1" noProof="0">
                        <a:latin typeface="Cambria Math" panose="02040503050406030204" pitchFamily="18" charset="0"/>
                      </a:rPr>
                      <m:t>𝑥</m:t>
                    </m:r>
                  </m:oMath>
                </a14:m>
                <a:r>
                  <a:rPr lang="en-GB" sz="1200" noProof="0" dirty="0"/>
                  <a:t>s &amp; </a:t>
                </a:r>
                <a14:m>
                  <m:oMath xmlns:m="http://schemas.openxmlformats.org/officeDocument/2006/math">
                    <m:r>
                      <a:rPr lang="en-GB" sz="1200" i="1" noProof="0">
                        <a:latin typeface="Cambria Math" panose="02040503050406030204" pitchFamily="18" charset="0"/>
                      </a:rPr>
                      <m:t>𝑦</m:t>
                    </m:r>
                  </m:oMath>
                </a14:m>
                <a:r>
                  <a:rPr lang="en-GB" sz="1200" noProof="0" dirty="0"/>
                  <a:t>s.</a:t>
                </a:r>
              </a:p>
            </p:txBody>
          </p:sp>
        </mc:Choice>
        <mc:Fallback xmlns="">
          <p:sp>
            <p:nvSpPr>
              <p:cNvPr id="3" name="TextBox 2">
                <a:extLst>
                  <a:ext uri="{FF2B5EF4-FFF2-40B4-BE49-F238E27FC236}">
                    <a16:creationId xmlns:a16="http://schemas.microsoft.com/office/drawing/2014/main" id="{6BF663EA-14AC-FAA9-3F73-DAD14C5B687F}"/>
                  </a:ext>
                </a:extLst>
              </p:cNvPr>
              <p:cNvSpPr txBox="1">
                <a:spLocks noRot="1" noChangeAspect="1" noMove="1" noResize="1" noEditPoints="1" noAdjustHandles="1" noChangeArrowheads="1" noChangeShapeType="1" noTextEdit="1"/>
              </p:cNvSpPr>
              <p:nvPr/>
            </p:nvSpPr>
            <p:spPr>
              <a:xfrm>
                <a:off x="91250" y="327689"/>
                <a:ext cx="6675069" cy="2505494"/>
              </a:xfrm>
              <a:prstGeom prst="rect">
                <a:avLst/>
              </a:prstGeom>
              <a:blipFill>
                <a:blip r:embed="rId11"/>
                <a:stretch>
                  <a:fillRect b="-484"/>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1337681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C36006B-227E-45B6-ACB0-32FCE0D906FC}"/>
              </a:ext>
            </a:extLst>
          </p:cNvPr>
          <p:cNvSpPr/>
          <p:nvPr/>
        </p:nvSpPr>
        <p:spPr>
          <a:xfrm>
            <a:off x="88241" y="11187"/>
            <a:ext cx="1623176" cy="2368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19CA145-0A55-47EB-B271-6690400B9E6B}"/>
                  </a:ext>
                </a:extLst>
              </p:cNvPr>
              <p:cNvSpPr txBox="1"/>
              <p:nvPr/>
            </p:nvSpPr>
            <p:spPr>
              <a:xfrm>
                <a:off x="68580" y="11188"/>
                <a:ext cx="1161408" cy="276999"/>
              </a:xfrm>
              <a:prstGeom prst="rect">
                <a:avLst/>
              </a:prstGeom>
              <a:noFill/>
            </p:spPr>
            <p:txBody>
              <a:bodyPr wrap="none" rtlCol="0">
                <a:spAutoFit/>
              </a:bodyPr>
              <a:lstStyle/>
              <a:p>
                <a:r>
                  <a:rPr lang="en-GB" sz="1200" noProof="0" dirty="0" err="1"/>
                  <a:t>i</a:t>
                </a:r>
                <a:r>
                  <a:rPr lang="en-GB" sz="1200" noProof="0" dirty="0"/>
                  <a:t>)</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+5</m:t>
                    </m:r>
                  </m:oMath>
                </a14:m>
                <a:endParaRPr lang="en-GB" sz="1200" noProof="0" dirty="0"/>
              </a:p>
            </p:txBody>
          </p:sp>
        </mc:Choice>
        <mc:Fallback xmlns="">
          <p:sp>
            <p:nvSpPr>
              <p:cNvPr id="19" name="TextBox 18">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68580" y="11188"/>
                <a:ext cx="1161408" cy="276999"/>
              </a:xfrm>
              <a:prstGeom prst="rect">
                <a:avLst/>
              </a:prstGeom>
              <a:blipFill>
                <a:blip r:embed="rId2"/>
                <a:stretch>
                  <a:fillRect t="-2222" b="-17778"/>
                </a:stretch>
              </a:blipFill>
            </p:spPr>
            <p:txBody>
              <a:bodyPr/>
              <a:lstStyle/>
              <a:p>
                <a:r>
                  <a:rPr lang="en-US">
                    <a:noFill/>
                  </a:rPr>
                  <a:t> </a:t>
                </a:r>
              </a:p>
            </p:txBody>
          </p:sp>
        </mc:Fallback>
      </mc:AlternateContent>
      <p:sp>
        <p:nvSpPr>
          <p:cNvPr id="20" name="Rectangle 19">
            <a:extLst>
              <a:ext uri="{FF2B5EF4-FFF2-40B4-BE49-F238E27FC236}">
                <a16:creationId xmlns:a16="http://schemas.microsoft.com/office/drawing/2014/main" id="{3C36006B-227E-45B6-ACB0-32FCE0D906FC}"/>
              </a:ext>
            </a:extLst>
          </p:cNvPr>
          <p:cNvSpPr/>
          <p:nvPr/>
        </p:nvSpPr>
        <p:spPr>
          <a:xfrm>
            <a:off x="1768568" y="13989"/>
            <a:ext cx="1623176" cy="236484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1" name="Rectangle 20">
            <a:extLst>
              <a:ext uri="{FF2B5EF4-FFF2-40B4-BE49-F238E27FC236}">
                <a16:creationId xmlns:a16="http://schemas.microsoft.com/office/drawing/2014/main" id="{3C36006B-227E-45B6-ACB0-32FCE0D906FC}"/>
              </a:ext>
            </a:extLst>
          </p:cNvPr>
          <p:cNvSpPr/>
          <p:nvPr/>
        </p:nvSpPr>
        <p:spPr>
          <a:xfrm>
            <a:off x="3471754" y="22136"/>
            <a:ext cx="1623176" cy="2353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2" name="Rectangle 21">
            <a:extLst>
              <a:ext uri="{FF2B5EF4-FFF2-40B4-BE49-F238E27FC236}">
                <a16:creationId xmlns:a16="http://schemas.microsoft.com/office/drawing/2014/main" id="{3C36006B-227E-45B6-ACB0-32FCE0D906FC}"/>
              </a:ext>
            </a:extLst>
          </p:cNvPr>
          <p:cNvSpPr/>
          <p:nvPr/>
        </p:nvSpPr>
        <p:spPr>
          <a:xfrm>
            <a:off x="5159495" y="11430"/>
            <a:ext cx="1623176" cy="23623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19CA145-0A55-47EB-B271-6690400B9E6B}"/>
                  </a:ext>
                </a:extLst>
              </p:cNvPr>
              <p:cNvSpPr txBox="1"/>
              <p:nvPr/>
            </p:nvSpPr>
            <p:spPr>
              <a:xfrm>
                <a:off x="1748819" y="11188"/>
                <a:ext cx="1163011" cy="276999"/>
              </a:xfrm>
              <a:prstGeom prst="rect">
                <a:avLst/>
              </a:prstGeom>
              <a:noFill/>
            </p:spPr>
            <p:txBody>
              <a:bodyPr wrap="none" rtlCol="0">
                <a:spAutoFit/>
              </a:bodyPr>
              <a:lstStyle/>
              <a:p>
                <a:r>
                  <a:rPr lang="en-GB" sz="1200" noProof="0" dirty="0"/>
                  <a:t>j)</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−1</m:t>
                    </m:r>
                  </m:oMath>
                </a14:m>
                <a:endParaRPr lang="en-GB" sz="1200" noProof="0" dirty="0"/>
              </a:p>
            </p:txBody>
          </p:sp>
        </mc:Choice>
        <mc:Fallback xmlns="">
          <p:sp>
            <p:nvSpPr>
              <p:cNvPr id="23" name="TextBox 22">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748819" y="11188"/>
                <a:ext cx="1163011" cy="276999"/>
              </a:xfrm>
              <a:prstGeom prst="rect">
                <a:avLst/>
              </a:prstGeom>
              <a:blipFill>
                <a:blip r:embed="rId3"/>
                <a:stretch>
                  <a:fillRect l="-524"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519CA145-0A55-47EB-B271-6690400B9E6B}"/>
                  </a:ext>
                </a:extLst>
              </p:cNvPr>
              <p:cNvSpPr txBox="1"/>
              <p:nvPr/>
            </p:nvSpPr>
            <p:spPr>
              <a:xfrm>
                <a:off x="3426082" y="2559"/>
                <a:ext cx="1196674" cy="276999"/>
              </a:xfrm>
              <a:prstGeom prst="rect">
                <a:avLst/>
              </a:prstGeom>
              <a:noFill/>
            </p:spPr>
            <p:txBody>
              <a:bodyPr wrap="none" rtlCol="0">
                <a:spAutoFit/>
              </a:bodyPr>
              <a:lstStyle/>
              <a:p>
                <a:r>
                  <a:rPr lang="en-GB" sz="1200" noProof="0" dirty="0"/>
                  <a:t>k)</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−2</m:t>
                    </m:r>
                  </m:oMath>
                </a14:m>
                <a:endParaRPr lang="en-GB" sz="1200" noProof="0" dirty="0"/>
              </a:p>
            </p:txBody>
          </p:sp>
        </mc:Choice>
        <mc:Fallback xmlns="">
          <p:sp>
            <p:nvSpPr>
              <p:cNvPr id="24" name="TextBox 23">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3426082" y="2559"/>
                <a:ext cx="1196674" cy="276999"/>
              </a:xfrm>
              <a:prstGeom prst="rect">
                <a:avLst/>
              </a:prstGeom>
              <a:blipFill>
                <a:blip r:embed="rId4"/>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519CA145-0A55-47EB-B271-6690400B9E6B}"/>
                  </a:ext>
                </a:extLst>
              </p:cNvPr>
              <p:cNvSpPr txBox="1"/>
              <p:nvPr/>
            </p:nvSpPr>
            <p:spPr>
              <a:xfrm>
                <a:off x="5174940" y="3999"/>
                <a:ext cx="1161408" cy="276999"/>
              </a:xfrm>
              <a:prstGeom prst="rect">
                <a:avLst/>
              </a:prstGeom>
              <a:noFill/>
            </p:spPr>
            <p:txBody>
              <a:bodyPr wrap="none" rtlCol="0">
                <a:spAutoFit/>
              </a:bodyPr>
              <a:lstStyle/>
              <a:p>
                <a:r>
                  <a:rPr lang="en-GB" sz="1200" noProof="0" dirty="0"/>
                  <a:t>l)</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−3</m:t>
                    </m:r>
                  </m:oMath>
                </a14:m>
                <a:endParaRPr lang="en-GB" sz="1200" noProof="0" dirty="0"/>
              </a:p>
            </p:txBody>
          </p:sp>
        </mc:Choice>
        <mc:Fallback xmlns="">
          <p:sp>
            <p:nvSpPr>
              <p:cNvPr id="25" name="TextBox 24">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5174940" y="3999"/>
                <a:ext cx="1161408" cy="276999"/>
              </a:xfrm>
              <a:prstGeom prst="rect">
                <a:avLst/>
              </a:prstGeom>
              <a:blipFill>
                <a:blip r:embed="rId5"/>
                <a:stretch>
                  <a:fillRect l="-526" t="-2222" b="-17778"/>
                </a:stretch>
              </a:blipFill>
            </p:spPr>
            <p:txBody>
              <a:bodyPr/>
              <a:lstStyle/>
              <a:p>
                <a:r>
                  <a:rPr lang="en-US">
                    <a:noFill/>
                  </a:rPr>
                  <a:t> </a:t>
                </a:r>
              </a:p>
            </p:txBody>
          </p:sp>
        </mc:Fallback>
      </mc:AlternateContent>
      <p:sp>
        <p:nvSpPr>
          <p:cNvPr id="31" name="Rectangle 30">
            <a:extLst>
              <a:ext uri="{FF2B5EF4-FFF2-40B4-BE49-F238E27FC236}">
                <a16:creationId xmlns:a16="http://schemas.microsoft.com/office/drawing/2014/main" id="{3C36006B-227E-45B6-ACB0-32FCE0D906FC}"/>
              </a:ext>
            </a:extLst>
          </p:cNvPr>
          <p:cNvSpPr/>
          <p:nvPr/>
        </p:nvSpPr>
        <p:spPr>
          <a:xfrm>
            <a:off x="88241" y="2433354"/>
            <a:ext cx="1623176" cy="2368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519CA145-0A55-47EB-B271-6690400B9E6B}"/>
                  </a:ext>
                </a:extLst>
              </p:cNvPr>
              <p:cNvSpPr txBox="1"/>
              <p:nvPr/>
            </p:nvSpPr>
            <p:spPr>
              <a:xfrm>
                <a:off x="68580" y="2433355"/>
                <a:ext cx="1334533" cy="276999"/>
              </a:xfrm>
              <a:prstGeom prst="rect">
                <a:avLst/>
              </a:prstGeom>
              <a:noFill/>
            </p:spPr>
            <p:txBody>
              <a:bodyPr wrap="none" rtlCol="0">
                <a:spAutoFit/>
              </a:bodyPr>
              <a:lstStyle/>
              <a:p>
                <a:r>
                  <a:rPr lang="en-GB" sz="1200" noProof="0" dirty="0"/>
                  <a:t>m)</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=4</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−5</m:t>
                    </m:r>
                  </m:oMath>
                </a14:m>
                <a:endParaRPr lang="en-GB" sz="1200" noProof="0" dirty="0"/>
              </a:p>
            </p:txBody>
          </p:sp>
        </mc:Choice>
        <mc:Fallback xmlns="">
          <p:sp>
            <p:nvSpPr>
              <p:cNvPr id="32" name="TextBox 31">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68580" y="2433355"/>
                <a:ext cx="1334533" cy="276999"/>
              </a:xfrm>
              <a:prstGeom prst="rect">
                <a:avLst/>
              </a:prstGeom>
              <a:blipFill>
                <a:blip r:embed="rId6"/>
                <a:stretch>
                  <a:fillRect b="-15217"/>
                </a:stretch>
              </a:blipFill>
            </p:spPr>
            <p:txBody>
              <a:bodyPr/>
              <a:lstStyle/>
              <a:p>
                <a:r>
                  <a:rPr lang="en-US">
                    <a:noFill/>
                  </a:rPr>
                  <a:t> </a:t>
                </a:r>
              </a:p>
            </p:txBody>
          </p:sp>
        </mc:Fallback>
      </mc:AlternateContent>
      <p:sp>
        <p:nvSpPr>
          <p:cNvPr id="33" name="Rectangle 32">
            <a:extLst>
              <a:ext uri="{FF2B5EF4-FFF2-40B4-BE49-F238E27FC236}">
                <a16:creationId xmlns:a16="http://schemas.microsoft.com/office/drawing/2014/main" id="{3C36006B-227E-45B6-ACB0-32FCE0D906FC}"/>
              </a:ext>
            </a:extLst>
          </p:cNvPr>
          <p:cNvSpPr/>
          <p:nvPr/>
        </p:nvSpPr>
        <p:spPr>
          <a:xfrm>
            <a:off x="1768568" y="2436156"/>
            <a:ext cx="1623176" cy="236484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4" name="Rectangle 33">
            <a:extLst>
              <a:ext uri="{FF2B5EF4-FFF2-40B4-BE49-F238E27FC236}">
                <a16:creationId xmlns:a16="http://schemas.microsoft.com/office/drawing/2014/main" id="{3C36006B-227E-45B6-ACB0-32FCE0D906FC}"/>
              </a:ext>
            </a:extLst>
          </p:cNvPr>
          <p:cNvSpPr/>
          <p:nvPr/>
        </p:nvSpPr>
        <p:spPr>
          <a:xfrm>
            <a:off x="3471754" y="2429062"/>
            <a:ext cx="1623176" cy="2368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5" name="Rectangle 34">
            <a:extLst>
              <a:ext uri="{FF2B5EF4-FFF2-40B4-BE49-F238E27FC236}">
                <a16:creationId xmlns:a16="http://schemas.microsoft.com/office/drawing/2014/main" id="{3C36006B-227E-45B6-ACB0-32FCE0D906FC}"/>
              </a:ext>
            </a:extLst>
          </p:cNvPr>
          <p:cNvSpPr/>
          <p:nvPr/>
        </p:nvSpPr>
        <p:spPr>
          <a:xfrm>
            <a:off x="5159495" y="2433597"/>
            <a:ext cx="1623176" cy="23623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19CA145-0A55-47EB-B271-6690400B9E6B}"/>
                  </a:ext>
                </a:extLst>
              </p:cNvPr>
              <p:cNvSpPr txBox="1"/>
              <p:nvPr/>
            </p:nvSpPr>
            <p:spPr>
              <a:xfrm>
                <a:off x="1748819" y="2433355"/>
                <a:ext cx="1282210" cy="276999"/>
              </a:xfrm>
              <a:prstGeom prst="rect">
                <a:avLst/>
              </a:prstGeom>
              <a:noFill/>
            </p:spPr>
            <p:txBody>
              <a:bodyPr wrap="none" rtlCol="0">
                <a:spAutoFit/>
              </a:bodyPr>
              <a:lstStyle/>
              <a:p>
                <a:r>
                  <a:rPr lang="en-GB" sz="1200" noProof="0" dirty="0"/>
                  <a:t>n)</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m:t>
                    </m:r>
                    <m:sSup>
                      <m:sSupPr>
                        <m:ctrlPr>
                          <a:rPr lang="en-GB" sz="1200" b="0" i="1" noProof="0" smtClean="0">
                            <a:latin typeface="Cambria Math" panose="02040503050406030204" pitchFamily="18" charset="0"/>
                            <a:ea typeface="Cambria Math" panose="02040503050406030204" pitchFamily="18" charset="0"/>
                          </a:rPr>
                        </m:ctrlPr>
                      </m:sSupPr>
                      <m:e>
                        <m:r>
                          <a:rPr lang="en-GB" sz="1200" b="0" i="1" noProof="0" smtClean="0">
                            <a:latin typeface="Cambria Math" panose="02040503050406030204" pitchFamily="18" charset="0"/>
                            <a:ea typeface="Cambria Math" panose="02040503050406030204" pitchFamily="18" charset="0"/>
                          </a:rPr>
                          <m:t>𝑥</m:t>
                        </m:r>
                      </m:e>
                      <m:sup>
                        <m:r>
                          <a:rPr lang="en-GB" sz="1200" b="0" i="1" noProof="0" smtClean="0">
                            <a:latin typeface="Cambria Math" panose="02040503050406030204" pitchFamily="18" charset="0"/>
                            <a:ea typeface="Cambria Math" panose="02040503050406030204" pitchFamily="18" charset="0"/>
                          </a:rPr>
                          <m:t>3</m:t>
                        </m:r>
                      </m:sup>
                    </m:sSup>
                    <m:r>
                      <a:rPr lang="en-GB" sz="1200" b="0" i="1" noProof="0" smtClean="0">
                        <a:latin typeface="Cambria Math" panose="02040503050406030204" pitchFamily="18" charset="0"/>
                        <a:ea typeface="Cambria Math" panose="02040503050406030204" pitchFamily="18" charset="0"/>
                      </a:rPr>
                      <m:t>+2</m:t>
                    </m:r>
                  </m:oMath>
                </a14:m>
                <a:endParaRPr lang="en-GB" sz="1200" noProof="0" dirty="0"/>
              </a:p>
            </p:txBody>
          </p:sp>
        </mc:Choice>
        <mc:Fallback xmlns="">
          <p:sp>
            <p:nvSpPr>
              <p:cNvPr id="36" name="TextBox 35">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748819" y="2433355"/>
                <a:ext cx="1282210" cy="276999"/>
              </a:xfrm>
              <a:prstGeom prst="rect">
                <a:avLst/>
              </a:prstGeom>
              <a:blipFill>
                <a:blip r:embed="rId7"/>
                <a:stretch>
                  <a:fillRect l="-476"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519CA145-0A55-47EB-B271-6690400B9E6B}"/>
                  </a:ext>
                </a:extLst>
              </p:cNvPr>
              <p:cNvSpPr txBox="1"/>
              <p:nvPr/>
            </p:nvSpPr>
            <p:spPr>
              <a:xfrm>
                <a:off x="3426082" y="2424726"/>
                <a:ext cx="1068947" cy="354521"/>
              </a:xfrm>
              <a:prstGeom prst="rect">
                <a:avLst/>
              </a:prstGeom>
              <a:noFill/>
            </p:spPr>
            <p:txBody>
              <a:bodyPr wrap="none" rtlCol="0">
                <a:spAutoFit/>
              </a:bodyPr>
              <a:lstStyle/>
              <a:p>
                <a:r>
                  <a:rPr lang="en-GB" sz="1200" noProof="0" dirty="0"/>
                  <a:t>o)</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m:t>
                    </m:r>
                    <m:f>
                      <m:fPr>
                        <m:ctrlPr>
                          <a:rPr lang="en-GB" sz="1200" b="0" i="1" noProof="0" smtClean="0">
                            <a:latin typeface="Cambria Math" panose="02040503050406030204" pitchFamily="18" charset="0"/>
                            <a:ea typeface="Cambria Math" panose="02040503050406030204" pitchFamily="18" charset="0"/>
                          </a:rPr>
                        </m:ctrlPr>
                      </m:fPr>
                      <m:num>
                        <m:r>
                          <a:rPr lang="en-GB" sz="1200" b="0" i="1" noProof="0" smtClean="0">
                            <a:latin typeface="Cambria Math" panose="02040503050406030204" pitchFamily="18" charset="0"/>
                            <a:ea typeface="Cambria Math" panose="02040503050406030204" pitchFamily="18" charset="0"/>
                          </a:rPr>
                          <m:t>10</m:t>
                        </m:r>
                      </m:num>
                      <m:den>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+1</m:t>
                        </m:r>
                      </m:den>
                    </m:f>
                  </m:oMath>
                </a14:m>
                <a:endParaRPr lang="en-GB" sz="1200" noProof="0" dirty="0"/>
              </a:p>
            </p:txBody>
          </p:sp>
        </mc:Choice>
        <mc:Fallback xmlns="">
          <p:sp>
            <p:nvSpPr>
              <p:cNvPr id="37" name="TextBox 36">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3426082" y="2424726"/>
                <a:ext cx="1068947" cy="354521"/>
              </a:xfrm>
              <a:prstGeom prst="rect">
                <a:avLst/>
              </a:prstGeom>
              <a:blipFill>
                <a:blip r:embed="rId8"/>
                <a:stretch>
                  <a:fillRect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519CA145-0A55-47EB-B271-6690400B9E6B}"/>
                  </a:ext>
                </a:extLst>
              </p:cNvPr>
              <p:cNvSpPr txBox="1"/>
              <p:nvPr/>
            </p:nvSpPr>
            <p:spPr>
              <a:xfrm>
                <a:off x="5174940" y="2426166"/>
                <a:ext cx="1376211" cy="276999"/>
              </a:xfrm>
              <a:prstGeom prst="rect">
                <a:avLst/>
              </a:prstGeom>
              <a:noFill/>
            </p:spPr>
            <p:txBody>
              <a:bodyPr wrap="none" rtlCol="0">
                <a:spAutoFit/>
              </a:bodyPr>
              <a:lstStyle/>
              <a:p>
                <a:r>
                  <a:rPr lang="en-GB" sz="1200" noProof="0" dirty="0"/>
                  <a:t>p)</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=10−2</m:t>
                    </m:r>
                    <m:r>
                      <a:rPr lang="en-GB" sz="1200" b="0" i="1" noProof="0" smtClean="0">
                        <a:latin typeface="Cambria Math" panose="02040503050406030204" pitchFamily="18" charset="0"/>
                        <a:ea typeface="Cambria Math" panose="02040503050406030204" pitchFamily="18" charset="0"/>
                      </a:rPr>
                      <m:t>𝑥</m:t>
                    </m:r>
                  </m:oMath>
                </a14:m>
                <a:endParaRPr lang="en-GB" sz="1200" noProof="0" dirty="0"/>
              </a:p>
            </p:txBody>
          </p:sp>
        </mc:Choice>
        <mc:Fallback xmlns="">
          <p:sp>
            <p:nvSpPr>
              <p:cNvPr id="38" name="TextBox 37">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5174940" y="2426166"/>
                <a:ext cx="1376211" cy="276999"/>
              </a:xfrm>
              <a:prstGeom prst="rect">
                <a:avLst/>
              </a:prstGeom>
              <a:blipFill>
                <a:blip r:embed="rId9"/>
                <a:stretch>
                  <a:fillRect l="-442" t="-2222" b="-17778"/>
                </a:stretch>
              </a:blipFill>
            </p:spPr>
            <p:txBody>
              <a:bodyPr/>
              <a:lstStyle/>
              <a:p>
                <a:r>
                  <a:rPr lang="en-US">
                    <a:noFill/>
                  </a:rPr>
                  <a:t> </a:t>
                </a:r>
              </a:p>
            </p:txBody>
          </p:sp>
        </mc:Fallback>
      </mc:AlternateContent>
      <p:sp>
        <p:nvSpPr>
          <p:cNvPr id="43" name="Rectangle 42">
            <a:extLst>
              <a:ext uri="{FF2B5EF4-FFF2-40B4-BE49-F238E27FC236}">
                <a16:creationId xmlns:a16="http://schemas.microsoft.com/office/drawing/2014/main" id="{3C36006B-227E-45B6-ACB0-32FCE0D906FC}"/>
              </a:ext>
            </a:extLst>
          </p:cNvPr>
          <p:cNvSpPr/>
          <p:nvPr/>
        </p:nvSpPr>
        <p:spPr>
          <a:xfrm>
            <a:off x="88241" y="4877251"/>
            <a:ext cx="1623176" cy="2368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519CA145-0A55-47EB-B271-6690400B9E6B}"/>
                  </a:ext>
                </a:extLst>
              </p:cNvPr>
              <p:cNvSpPr txBox="1"/>
              <p:nvPr/>
            </p:nvSpPr>
            <p:spPr>
              <a:xfrm>
                <a:off x="68580" y="4877252"/>
                <a:ext cx="1067343" cy="352469"/>
              </a:xfrm>
              <a:prstGeom prst="rect">
                <a:avLst/>
              </a:prstGeom>
              <a:noFill/>
            </p:spPr>
            <p:txBody>
              <a:bodyPr wrap="none" rtlCol="0">
                <a:spAutoFit/>
              </a:bodyPr>
              <a:lstStyle/>
              <a:p>
                <a:r>
                  <a:rPr lang="en-GB" sz="1200" noProof="0" dirty="0"/>
                  <a:t>q)</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m:t>
                    </m:r>
                    <m:f>
                      <m:fPr>
                        <m:ctrlPr>
                          <a:rPr lang="en-GB" sz="1200" b="0" i="1" noProof="0" smtClean="0">
                            <a:latin typeface="Cambria Math" panose="02040503050406030204" pitchFamily="18" charset="0"/>
                            <a:ea typeface="Cambria Math" panose="02040503050406030204" pitchFamily="18" charset="0"/>
                          </a:rPr>
                        </m:ctrlPr>
                      </m:fPr>
                      <m:num>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−7</m:t>
                        </m:r>
                      </m:num>
                      <m:den>
                        <m:r>
                          <a:rPr lang="en-GB" sz="1200" b="0" i="1" noProof="0" smtClean="0">
                            <a:latin typeface="Cambria Math" panose="02040503050406030204" pitchFamily="18" charset="0"/>
                            <a:ea typeface="Cambria Math" panose="02040503050406030204" pitchFamily="18" charset="0"/>
                          </a:rPr>
                          <m:t>6</m:t>
                        </m:r>
                      </m:den>
                    </m:f>
                  </m:oMath>
                </a14:m>
                <a:endParaRPr lang="en-GB" sz="1200" noProof="0" dirty="0"/>
              </a:p>
            </p:txBody>
          </p:sp>
        </mc:Choice>
        <mc:Fallback xmlns="">
          <p:sp>
            <p:nvSpPr>
              <p:cNvPr id="44" name="TextBox 43">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68580" y="4877252"/>
                <a:ext cx="1067343" cy="352469"/>
              </a:xfrm>
              <a:prstGeom prst="rect">
                <a:avLst/>
              </a:prstGeom>
              <a:blipFill>
                <a:blip r:embed="rId10"/>
                <a:stretch>
                  <a:fillRect b="-3448"/>
                </a:stretch>
              </a:blipFill>
            </p:spPr>
            <p:txBody>
              <a:bodyPr/>
              <a:lstStyle/>
              <a:p>
                <a:r>
                  <a:rPr lang="en-US">
                    <a:noFill/>
                  </a:rPr>
                  <a:t> </a:t>
                </a:r>
              </a:p>
            </p:txBody>
          </p:sp>
        </mc:Fallback>
      </mc:AlternateContent>
      <p:sp>
        <p:nvSpPr>
          <p:cNvPr id="45" name="Rectangle 44">
            <a:extLst>
              <a:ext uri="{FF2B5EF4-FFF2-40B4-BE49-F238E27FC236}">
                <a16:creationId xmlns:a16="http://schemas.microsoft.com/office/drawing/2014/main" id="{3C36006B-227E-45B6-ACB0-32FCE0D906FC}"/>
              </a:ext>
            </a:extLst>
          </p:cNvPr>
          <p:cNvSpPr/>
          <p:nvPr/>
        </p:nvSpPr>
        <p:spPr>
          <a:xfrm>
            <a:off x="1768568" y="4880053"/>
            <a:ext cx="1623176" cy="236484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6" name="Rectangle 45">
            <a:extLst>
              <a:ext uri="{FF2B5EF4-FFF2-40B4-BE49-F238E27FC236}">
                <a16:creationId xmlns:a16="http://schemas.microsoft.com/office/drawing/2014/main" id="{3C36006B-227E-45B6-ACB0-32FCE0D906FC}"/>
              </a:ext>
            </a:extLst>
          </p:cNvPr>
          <p:cNvSpPr/>
          <p:nvPr/>
        </p:nvSpPr>
        <p:spPr>
          <a:xfrm>
            <a:off x="3471754" y="4872959"/>
            <a:ext cx="1623176" cy="2368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7" name="Rectangle 46">
            <a:extLst>
              <a:ext uri="{FF2B5EF4-FFF2-40B4-BE49-F238E27FC236}">
                <a16:creationId xmlns:a16="http://schemas.microsoft.com/office/drawing/2014/main" id="{3C36006B-227E-45B6-ACB0-32FCE0D906FC}"/>
              </a:ext>
            </a:extLst>
          </p:cNvPr>
          <p:cNvSpPr/>
          <p:nvPr/>
        </p:nvSpPr>
        <p:spPr>
          <a:xfrm>
            <a:off x="5159495" y="4877494"/>
            <a:ext cx="1623176" cy="23623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519CA145-0A55-47EB-B271-6690400B9E6B}"/>
                  </a:ext>
                </a:extLst>
              </p:cNvPr>
              <p:cNvSpPr txBox="1"/>
              <p:nvPr/>
            </p:nvSpPr>
            <p:spPr>
              <a:xfrm>
                <a:off x="1748819" y="4877252"/>
                <a:ext cx="1161344" cy="354521"/>
              </a:xfrm>
              <a:prstGeom prst="rect">
                <a:avLst/>
              </a:prstGeom>
              <a:noFill/>
            </p:spPr>
            <p:txBody>
              <a:bodyPr wrap="none" rtlCol="0">
                <a:spAutoFit/>
              </a:bodyPr>
              <a:lstStyle/>
              <a:p>
                <a:r>
                  <a:rPr lang="en-GB" sz="1200" noProof="0" dirty="0"/>
                  <a:t>r)</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m:t>
                    </m:r>
                    <m:f>
                      <m:fPr>
                        <m:ctrlPr>
                          <a:rPr lang="en-GB" sz="1200" b="0" i="1" noProof="0" smtClean="0">
                            <a:latin typeface="Cambria Math" panose="02040503050406030204" pitchFamily="18" charset="0"/>
                            <a:ea typeface="Cambria Math" panose="02040503050406030204" pitchFamily="18" charset="0"/>
                          </a:rPr>
                        </m:ctrlPr>
                      </m:fPr>
                      <m:num>
                        <m:r>
                          <a:rPr lang="en-GB" sz="1200" b="0" i="1" noProof="0" smtClean="0">
                            <a:latin typeface="Cambria Math" panose="02040503050406030204" pitchFamily="18" charset="0"/>
                            <a:ea typeface="Cambria Math" panose="02040503050406030204" pitchFamily="18" charset="0"/>
                          </a:rPr>
                          <m:t>3</m:t>
                        </m:r>
                      </m:num>
                      <m:den>
                        <m:r>
                          <a:rPr lang="en-GB" sz="1200" b="0" i="1" noProof="0" smtClean="0">
                            <a:latin typeface="Cambria Math" panose="02040503050406030204" pitchFamily="18" charset="0"/>
                            <a:ea typeface="Cambria Math" panose="02040503050406030204" pitchFamily="18" charset="0"/>
                          </a:rPr>
                          <m:t>𝑥</m:t>
                        </m:r>
                      </m:den>
                    </m:f>
                    <m:r>
                      <a:rPr lang="en-GB" sz="1200" b="0" i="1" noProof="0" smtClean="0">
                        <a:latin typeface="Cambria Math" panose="02040503050406030204" pitchFamily="18" charset="0"/>
                        <a:ea typeface="Cambria Math" panose="02040503050406030204" pitchFamily="18" charset="0"/>
                      </a:rPr>
                      <m:t>+5</m:t>
                    </m:r>
                  </m:oMath>
                </a14:m>
                <a:endParaRPr lang="en-GB" sz="1200" noProof="0" dirty="0"/>
              </a:p>
            </p:txBody>
          </p:sp>
        </mc:Choice>
        <mc:Fallback xmlns="">
          <p:sp>
            <p:nvSpPr>
              <p:cNvPr id="48" name="TextBox 47">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748819" y="4877252"/>
                <a:ext cx="1161344" cy="354521"/>
              </a:xfrm>
              <a:prstGeom prst="rect">
                <a:avLst/>
              </a:prstGeom>
              <a:blipFill>
                <a:blip r:embed="rId11"/>
                <a:stretch>
                  <a:fillRect l="-526"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519CA145-0A55-47EB-B271-6690400B9E6B}"/>
                  </a:ext>
                </a:extLst>
              </p:cNvPr>
              <p:cNvSpPr txBox="1"/>
              <p:nvPr/>
            </p:nvSpPr>
            <p:spPr>
              <a:xfrm>
                <a:off x="3426082" y="4868623"/>
                <a:ext cx="1113831" cy="354649"/>
              </a:xfrm>
              <a:prstGeom prst="rect">
                <a:avLst/>
              </a:prstGeom>
              <a:noFill/>
            </p:spPr>
            <p:txBody>
              <a:bodyPr wrap="none" rtlCol="0">
                <a:spAutoFit/>
              </a:bodyPr>
              <a:lstStyle/>
              <a:p>
                <a:r>
                  <a:rPr lang="en-GB" sz="1200" noProof="0" dirty="0"/>
                  <a:t>s)</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m:t>
                    </m:r>
                    <m:f>
                      <m:fPr>
                        <m:ctrlPr>
                          <a:rPr lang="en-GB" sz="1200" b="0" i="1" noProof="0" smtClean="0">
                            <a:latin typeface="Cambria Math" panose="02040503050406030204" pitchFamily="18" charset="0"/>
                            <a:ea typeface="Cambria Math" panose="02040503050406030204" pitchFamily="18" charset="0"/>
                          </a:rPr>
                        </m:ctrlPr>
                      </m:fPr>
                      <m:num>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+2</m:t>
                        </m:r>
                      </m:num>
                      <m:den>
                        <m:r>
                          <a:rPr lang="en-GB" sz="1200" b="0" i="1" noProof="0" smtClean="0">
                            <a:latin typeface="Cambria Math" panose="02040503050406030204" pitchFamily="18" charset="0"/>
                            <a:ea typeface="Cambria Math" panose="02040503050406030204" pitchFamily="18" charset="0"/>
                          </a:rPr>
                          <m:t>3</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−5</m:t>
                        </m:r>
                      </m:den>
                    </m:f>
                  </m:oMath>
                </a14:m>
                <a:endParaRPr lang="en-GB" sz="1200" noProof="0" dirty="0"/>
              </a:p>
            </p:txBody>
          </p:sp>
        </mc:Choice>
        <mc:Fallback xmlns="">
          <p:sp>
            <p:nvSpPr>
              <p:cNvPr id="49" name="TextBox 48">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3426082" y="4868623"/>
                <a:ext cx="1113831" cy="354649"/>
              </a:xfrm>
              <a:prstGeom prst="rect">
                <a:avLst/>
              </a:prstGeom>
              <a:blipFill>
                <a:blip r:embed="rId12"/>
                <a:stretch>
                  <a:fillRect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519CA145-0A55-47EB-B271-6690400B9E6B}"/>
                  </a:ext>
                </a:extLst>
              </p:cNvPr>
              <p:cNvSpPr txBox="1"/>
              <p:nvPr/>
            </p:nvSpPr>
            <p:spPr>
              <a:xfrm>
                <a:off x="5174940" y="4870063"/>
                <a:ext cx="1104213" cy="354649"/>
              </a:xfrm>
              <a:prstGeom prst="rect">
                <a:avLst/>
              </a:prstGeom>
              <a:noFill/>
            </p:spPr>
            <p:txBody>
              <a:bodyPr wrap="none" rtlCol="0">
                <a:spAutoFit/>
              </a:bodyPr>
              <a:lstStyle/>
              <a:p>
                <a:r>
                  <a:rPr lang="en-GB" sz="1200" noProof="0" dirty="0"/>
                  <a:t>t)</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i="1" noProof="0" smtClean="0">
                        <a:latin typeface="Cambria Math" panose="02040503050406030204" pitchFamily="18" charset="0"/>
                        <a:ea typeface="Cambria Math" panose="02040503050406030204" pitchFamily="18" charset="0"/>
                      </a:rPr>
                      <m:t>=</m:t>
                    </m:r>
                    <m:f>
                      <m:fPr>
                        <m:ctrlPr>
                          <a:rPr lang="en-GB" sz="1200" i="1" noProof="0" smtClean="0">
                            <a:latin typeface="Cambria Math" panose="02040503050406030204" pitchFamily="18" charset="0"/>
                            <a:ea typeface="Cambria Math" panose="02040503050406030204" pitchFamily="18" charset="0"/>
                          </a:rPr>
                        </m:ctrlPr>
                      </m:fPr>
                      <m:num>
                        <m:r>
                          <a:rPr lang="en-GB" sz="1200" b="0" i="1" noProof="0" smtClean="0">
                            <a:latin typeface="Cambria Math" panose="02040503050406030204" pitchFamily="18" charset="0"/>
                            <a:ea typeface="Cambria Math" panose="02040503050406030204" pitchFamily="18" charset="0"/>
                          </a:rPr>
                          <m:t>3</m:t>
                        </m:r>
                        <m:r>
                          <a:rPr lang="en-GB" sz="1200" i="1" noProof="0" smtClean="0">
                            <a:latin typeface="Cambria Math" panose="02040503050406030204" pitchFamily="18" charset="0"/>
                            <a:ea typeface="Cambria Math" panose="02040503050406030204" pitchFamily="18" charset="0"/>
                          </a:rPr>
                          <m:t>𝑥</m:t>
                        </m:r>
                        <m:r>
                          <a:rPr lang="en-GB" sz="1200" i="1" noProof="0" smtClean="0">
                            <a:latin typeface="Cambria Math" panose="02040503050406030204" pitchFamily="18" charset="0"/>
                            <a:ea typeface="Cambria Math" panose="02040503050406030204" pitchFamily="18" charset="0"/>
                          </a:rPr>
                          <m:t>+8</m:t>
                        </m:r>
                      </m:num>
                      <m:den>
                        <m:r>
                          <a:rPr lang="en-GB" sz="1200" b="0" i="1" noProof="0" smtClean="0">
                            <a:latin typeface="Cambria Math" panose="02040503050406030204" pitchFamily="18" charset="0"/>
                            <a:ea typeface="Cambria Math" panose="02040503050406030204" pitchFamily="18" charset="0"/>
                          </a:rPr>
                          <m:t>4</m:t>
                        </m:r>
                        <m:r>
                          <a:rPr lang="en-GB" sz="1200" i="1" noProof="0" smtClean="0">
                            <a:latin typeface="Cambria Math" panose="02040503050406030204" pitchFamily="18" charset="0"/>
                            <a:ea typeface="Cambria Math" panose="02040503050406030204" pitchFamily="18" charset="0"/>
                          </a:rPr>
                          <m:t>𝑥</m:t>
                        </m:r>
                        <m:r>
                          <a:rPr lang="en-GB" sz="1200" i="1" noProof="0" smtClean="0">
                            <a:latin typeface="Cambria Math" panose="02040503050406030204" pitchFamily="18" charset="0"/>
                            <a:ea typeface="Cambria Math" panose="02040503050406030204" pitchFamily="18" charset="0"/>
                          </a:rPr>
                          <m:t>−3</m:t>
                        </m:r>
                      </m:den>
                    </m:f>
                  </m:oMath>
                </a14:m>
                <a:endParaRPr lang="en-GB" sz="1200" noProof="0" dirty="0"/>
              </a:p>
            </p:txBody>
          </p:sp>
        </mc:Choice>
        <mc:Fallback xmlns="">
          <p:sp>
            <p:nvSpPr>
              <p:cNvPr id="50" name="TextBox 49">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5174940" y="4870063"/>
                <a:ext cx="1104213" cy="354649"/>
              </a:xfrm>
              <a:prstGeom prst="rect">
                <a:avLst/>
              </a:prstGeom>
              <a:blipFill>
                <a:blip r:embed="rId13"/>
                <a:stretch>
                  <a:fillRect l="-552" b="-3448"/>
                </a:stretch>
              </a:blipFill>
            </p:spPr>
            <p:txBody>
              <a:bodyPr/>
              <a:lstStyle/>
              <a:p>
                <a:r>
                  <a:rPr lang="en-US">
                    <a:noFill/>
                  </a:rPr>
                  <a:t> </a:t>
                </a:r>
              </a:p>
            </p:txBody>
          </p:sp>
        </mc:Fallback>
      </mc:AlternateContent>
      <p:sp>
        <p:nvSpPr>
          <p:cNvPr id="56" name="Rectangle 55">
            <a:extLst>
              <a:ext uri="{FF2B5EF4-FFF2-40B4-BE49-F238E27FC236}">
                <a16:creationId xmlns:a16="http://schemas.microsoft.com/office/drawing/2014/main" id="{3C36006B-227E-45B6-ACB0-32FCE0D906FC}"/>
              </a:ext>
            </a:extLst>
          </p:cNvPr>
          <p:cNvSpPr/>
          <p:nvPr/>
        </p:nvSpPr>
        <p:spPr>
          <a:xfrm>
            <a:off x="88269" y="7327714"/>
            <a:ext cx="6694401" cy="23992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519CA145-0A55-47EB-B271-6690400B9E6B}"/>
                  </a:ext>
                </a:extLst>
              </p:cNvPr>
              <p:cNvSpPr txBox="1"/>
              <p:nvPr/>
            </p:nvSpPr>
            <p:spPr>
              <a:xfrm>
                <a:off x="88241" y="7334163"/>
                <a:ext cx="3254865" cy="358368"/>
              </a:xfrm>
              <a:prstGeom prst="rect">
                <a:avLst/>
              </a:prstGeom>
              <a:noFill/>
            </p:spPr>
            <p:txBody>
              <a:bodyPr wrap="none" rtlCol="0">
                <a:spAutoFit/>
              </a:bodyPr>
              <a:lstStyle/>
              <a:p>
                <a:r>
                  <a:rPr lang="en-GB" sz="1200" noProof="0" dirty="0"/>
                  <a:t>u)</a:t>
                </a:r>
                <a:r>
                  <a:rPr lang="en-GB" sz="1200" i="1" noProof="0" dirty="0"/>
                  <a:t> </a:t>
                </a:r>
                <a:r>
                  <a:rPr lang="en-GB" sz="1200" noProof="0" dirty="0"/>
                  <a:t>Prove that if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i="1" noProof="0" smtClean="0">
                        <a:latin typeface="Cambria Math" panose="02040503050406030204" pitchFamily="18" charset="0"/>
                        <a:ea typeface="Cambria Math" panose="02040503050406030204" pitchFamily="18" charset="0"/>
                      </a:rPr>
                      <m:t>=</m:t>
                    </m:r>
                    <m:f>
                      <m:fPr>
                        <m:ctrlPr>
                          <a:rPr lang="en-GB" sz="1200" i="1" noProof="0" smtClean="0">
                            <a:latin typeface="Cambria Math" panose="02040503050406030204" pitchFamily="18" charset="0"/>
                            <a:ea typeface="Cambria Math" panose="02040503050406030204" pitchFamily="18" charset="0"/>
                          </a:rPr>
                        </m:ctrlPr>
                      </m:fPr>
                      <m:num>
                        <m:r>
                          <a:rPr lang="en-GB" sz="1200" b="0" i="1" noProof="0" smtClean="0">
                            <a:latin typeface="Cambria Math" panose="02040503050406030204" pitchFamily="18" charset="0"/>
                            <a:ea typeface="Cambria Math" panose="02040503050406030204" pitchFamily="18" charset="0"/>
                          </a:rPr>
                          <m:t>𝑎</m:t>
                        </m:r>
                        <m:r>
                          <a:rPr lang="en-GB" sz="1200" i="1" noProof="0" smtClean="0">
                            <a:latin typeface="Cambria Math" panose="02040503050406030204" pitchFamily="18" charset="0"/>
                            <a:ea typeface="Cambria Math" panose="02040503050406030204" pitchFamily="18" charset="0"/>
                          </a:rPr>
                          <m:t>𝑥</m:t>
                        </m:r>
                        <m:r>
                          <a:rPr lang="en-GB" sz="120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𝑏</m:t>
                        </m:r>
                      </m:num>
                      <m:den>
                        <m:r>
                          <a:rPr lang="en-GB" sz="1200" b="0" i="1" noProof="0" smtClean="0">
                            <a:latin typeface="Cambria Math" panose="02040503050406030204" pitchFamily="18" charset="0"/>
                            <a:ea typeface="Cambria Math" panose="02040503050406030204" pitchFamily="18" charset="0"/>
                          </a:rPr>
                          <m:t>𝑐</m:t>
                        </m:r>
                        <m:r>
                          <a:rPr lang="en-GB" sz="1200" i="1" noProof="0" smtClean="0">
                            <a:latin typeface="Cambria Math" panose="02040503050406030204" pitchFamily="18" charset="0"/>
                            <a:ea typeface="Cambria Math" panose="02040503050406030204" pitchFamily="18" charset="0"/>
                          </a:rPr>
                          <m:t>𝑥</m:t>
                        </m:r>
                        <m:r>
                          <a:rPr lang="en-GB" sz="120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𝑎</m:t>
                        </m:r>
                      </m:den>
                    </m:f>
                  </m:oMath>
                </a14:m>
                <a:r>
                  <a:rPr lang="en-GB" sz="1200" noProof="0" dirty="0"/>
                  <a:t> then </a:t>
                </a:r>
                <a14:m>
                  <m:oMath xmlns:m="http://schemas.openxmlformats.org/officeDocument/2006/math">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𝑓</m:t>
                        </m:r>
                      </m:e>
                      <m:sup>
                        <m:r>
                          <a:rPr lang="en-GB" sz="1200" b="0" i="1" noProof="0" smtClean="0">
                            <a:latin typeface="Cambria Math" panose="02040503050406030204" pitchFamily="18" charset="0"/>
                          </a:rPr>
                          <m:t>−1</m:t>
                        </m:r>
                      </m:sup>
                    </m:sSup>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𝑎𝑥</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𝑏</m:t>
                        </m:r>
                      </m:num>
                      <m:den>
                        <m:r>
                          <a:rPr lang="en-GB" sz="1200" b="0" i="1" noProof="0" smtClean="0">
                            <a:latin typeface="Cambria Math" panose="02040503050406030204" pitchFamily="18" charset="0"/>
                          </a:rPr>
                          <m:t>𝑐𝑥</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𝑎</m:t>
                        </m:r>
                      </m:den>
                    </m:f>
                  </m:oMath>
                </a14:m>
                <a:endParaRPr lang="en-GB" sz="1200" noProof="0" dirty="0"/>
              </a:p>
            </p:txBody>
          </p:sp>
        </mc:Choice>
        <mc:Fallback xmlns="">
          <p:sp>
            <p:nvSpPr>
              <p:cNvPr id="57" name="TextBox 56">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88241" y="7334163"/>
                <a:ext cx="3254865" cy="358368"/>
              </a:xfrm>
              <a:prstGeom prst="rect">
                <a:avLst/>
              </a:prstGeom>
              <a:blipFill>
                <a:blip r:embed="rId15"/>
                <a:stretch>
                  <a:fillRect b="-1695"/>
                </a:stretch>
              </a:blipFill>
            </p:spPr>
            <p:txBody>
              <a:bodyPr/>
              <a:lstStyle/>
              <a:p>
                <a:r>
                  <a:rPr lang="en-US">
                    <a:noFill/>
                  </a:rPr>
                  <a:t> </a:t>
                </a:r>
              </a:p>
            </p:txBody>
          </p:sp>
        </mc:Fallback>
      </mc:AlternateContent>
      <p:sp>
        <p:nvSpPr>
          <p:cNvPr id="7" name="Slide Number Placeholder 6"/>
          <p:cNvSpPr>
            <a:spLocks noGrp="1"/>
          </p:cNvSpPr>
          <p:nvPr>
            <p:ph type="sldNum" sz="quarter" idx="12"/>
          </p:nvPr>
        </p:nvSpPr>
        <p:spPr>
          <a:xfrm>
            <a:off x="5314950" y="9578370"/>
            <a:ext cx="1543050" cy="527403"/>
          </a:xfrm>
        </p:spPr>
        <p:txBody>
          <a:bodyPr/>
          <a:lstStyle/>
          <a:p>
            <a:fld id="{9BD3B4A0-BFF9-422C-B253-48BA94BE2F5B}" type="slidenum">
              <a:rPr lang="en-GB" noProof="0" smtClean="0"/>
              <a:t>10</a:t>
            </a:fld>
            <a:endParaRPr lang="en-GB" noProof="0" dirty="0"/>
          </a:p>
        </p:txBody>
      </p:sp>
    </p:spTree>
    <p:extLst>
      <p:ext uri="{BB962C8B-B14F-4D97-AF65-F5344CB8AC3E}">
        <p14:creationId xmlns:p14="http://schemas.microsoft.com/office/powerpoint/2010/main" val="2141734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070826" y="9530997"/>
            <a:ext cx="1805291" cy="527403"/>
          </a:xfrm>
        </p:spPr>
        <p:txBody>
          <a:bodyPr/>
          <a:lstStyle/>
          <a:p>
            <a:fld id="{9BD3B4A0-BFF9-422C-B253-48BA94BE2F5B}" type="slidenum">
              <a:rPr lang="en-GB" noProof="0" smtClean="0"/>
              <a:t>11</a:t>
            </a:fld>
            <a:endParaRPr lang="en-GB" noProof="0" dirty="0"/>
          </a:p>
        </p:txBody>
      </p:sp>
      <p:sp>
        <p:nvSpPr>
          <p:cNvPr id="3" name="TextBox 2">
            <a:extLst>
              <a:ext uri="{FF2B5EF4-FFF2-40B4-BE49-F238E27FC236}">
                <a16:creationId xmlns:a16="http://schemas.microsoft.com/office/drawing/2014/main" id="{1B91975E-B426-4910-919C-E3C5554DC081}"/>
              </a:ext>
            </a:extLst>
          </p:cNvPr>
          <p:cNvSpPr txBox="1"/>
          <p:nvPr/>
        </p:nvSpPr>
        <p:spPr>
          <a:xfrm>
            <a:off x="0" y="20984"/>
            <a:ext cx="3507948" cy="276999"/>
          </a:xfrm>
          <a:prstGeom prst="rect">
            <a:avLst/>
          </a:prstGeom>
          <a:solidFill>
            <a:srgbClr val="0070C0"/>
          </a:solidFill>
        </p:spPr>
        <p:txBody>
          <a:bodyPr wrap="none" rtlCol="0" anchor="ctr">
            <a:spAutoFit/>
          </a:bodyPr>
          <a:lstStyle/>
          <a:p>
            <a:pPr algn="ctr"/>
            <a:r>
              <a:rPr lang="en-GB" sz="1200" b="1" noProof="0" dirty="0">
                <a:solidFill>
                  <a:schemeClr val="bg1"/>
                </a:solidFill>
              </a:rPr>
              <a:t>SOLVING QUADRATIC EQUATIONS WITH FUNCTIONS</a:t>
            </a:r>
          </a:p>
        </p:txBody>
      </p:sp>
      <p:sp>
        <p:nvSpPr>
          <p:cNvPr id="7" name="TextBox 6">
            <a:extLst>
              <a:ext uri="{FF2B5EF4-FFF2-40B4-BE49-F238E27FC236}">
                <a16:creationId xmlns:a16="http://schemas.microsoft.com/office/drawing/2014/main" id="{EA4FD2D9-8D23-4ADE-B70E-F386FDED2BED}"/>
              </a:ext>
            </a:extLst>
          </p:cNvPr>
          <p:cNvSpPr txBox="1"/>
          <p:nvPr/>
        </p:nvSpPr>
        <p:spPr>
          <a:xfrm>
            <a:off x="5009050" y="478358"/>
            <a:ext cx="1542089" cy="276999"/>
          </a:xfrm>
          <a:prstGeom prst="rect">
            <a:avLst/>
          </a:prstGeom>
          <a:noFill/>
          <a:ln>
            <a:noFill/>
          </a:ln>
        </p:spPr>
        <p:txBody>
          <a:bodyPr wrap="none" rtlCol="0">
            <a:spAutoFit/>
          </a:bodyPr>
          <a:lstStyle/>
          <a:p>
            <a:r>
              <a:rPr lang="en-GB" sz="1200" b="1" i="1" noProof="0" dirty="0">
                <a:solidFill>
                  <a:srgbClr val="00B050"/>
                </a:solidFill>
              </a:rPr>
              <a:t>Example 24- You do…</a:t>
            </a:r>
          </a:p>
        </p:txBody>
      </p:sp>
      <p:sp>
        <p:nvSpPr>
          <p:cNvPr id="8" name="TextBox 7">
            <a:extLst>
              <a:ext uri="{FF2B5EF4-FFF2-40B4-BE49-F238E27FC236}">
                <a16:creationId xmlns:a16="http://schemas.microsoft.com/office/drawing/2014/main" id="{08E67FA9-518E-48EE-9C3C-DC43DA12711A}"/>
              </a:ext>
            </a:extLst>
          </p:cNvPr>
          <p:cNvSpPr txBox="1"/>
          <p:nvPr/>
        </p:nvSpPr>
        <p:spPr>
          <a:xfrm>
            <a:off x="3063731" y="487206"/>
            <a:ext cx="1554336" cy="276999"/>
          </a:xfrm>
          <a:prstGeom prst="rect">
            <a:avLst/>
          </a:prstGeom>
          <a:noFill/>
          <a:ln>
            <a:noFill/>
          </a:ln>
        </p:spPr>
        <p:txBody>
          <a:bodyPr wrap="none" rtlCol="0">
            <a:spAutoFit/>
          </a:bodyPr>
          <a:lstStyle/>
          <a:p>
            <a:r>
              <a:rPr lang="en-GB" sz="1200" b="1" i="1" noProof="0" dirty="0">
                <a:solidFill>
                  <a:schemeClr val="accent2"/>
                </a:solidFill>
              </a:rPr>
              <a:t>Example 23 - We do…</a:t>
            </a:r>
          </a:p>
        </p:txBody>
      </p:sp>
      <p:sp>
        <p:nvSpPr>
          <p:cNvPr id="9" name="TextBox 8">
            <a:extLst>
              <a:ext uri="{FF2B5EF4-FFF2-40B4-BE49-F238E27FC236}">
                <a16:creationId xmlns:a16="http://schemas.microsoft.com/office/drawing/2014/main" id="{0C5FDE3F-DC2A-468E-BF61-F69BF8BB2775}"/>
              </a:ext>
            </a:extLst>
          </p:cNvPr>
          <p:cNvSpPr txBox="1"/>
          <p:nvPr/>
        </p:nvSpPr>
        <p:spPr>
          <a:xfrm>
            <a:off x="1220028" y="491706"/>
            <a:ext cx="1387046" cy="276999"/>
          </a:xfrm>
          <a:prstGeom prst="rect">
            <a:avLst/>
          </a:prstGeom>
          <a:noFill/>
          <a:ln>
            <a:noFill/>
          </a:ln>
        </p:spPr>
        <p:txBody>
          <a:bodyPr wrap="none" rtlCol="0">
            <a:spAutoFit/>
          </a:bodyPr>
          <a:lstStyle/>
          <a:p>
            <a:r>
              <a:rPr lang="en-GB" sz="1200" b="1" i="1" noProof="0" dirty="0">
                <a:solidFill>
                  <a:srgbClr val="FF0000"/>
                </a:solidFill>
              </a:rPr>
              <a:t>Example 22 - I do…</a:t>
            </a:r>
          </a:p>
        </p:txBody>
      </p:sp>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3004736039"/>
                  </p:ext>
                </p:extLst>
              </p:nvPr>
            </p:nvGraphicFramePr>
            <p:xfrm>
              <a:off x="121861" y="770647"/>
              <a:ext cx="6639192" cy="4273794"/>
            </p:xfrm>
            <a:graphic>
              <a:graphicData uri="http://schemas.openxmlformats.org/drawingml/2006/table">
                <a:tbl>
                  <a:tblPr firstRow="1" bandRow="1">
                    <a:tableStyleId>{5C22544A-7EE6-4342-B048-85BDC9FD1C3A}</a:tableStyleId>
                  </a:tblPr>
                  <a:tblGrid>
                    <a:gridCol w="898539">
                      <a:extLst>
                        <a:ext uri="{9D8B030D-6E8A-4147-A177-3AD203B41FA5}">
                          <a16:colId xmlns:a16="http://schemas.microsoft.com/office/drawing/2014/main" val="1568142362"/>
                        </a:ext>
                      </a:extLst>
                    </a:gridCol>
                    <a:gridCol w="1828800">
                      <a:extLst>
                        <a:ext uri="{9D8B030D-6E8A-4147-A177-3AD203B41FA5}">
                          <a16:colId xmlns:a16="http://schemas.microsoft.com/office/drawing/2014/main" val="3551711160"/>
                        </a:ext>
                      </a:extLst>
                    </a:gridCol>
                    <a:gridCol w="1961321">
                      <a:extLst>
                        <a:ext uri="{9D8B030D-6E8A-4147-A177-3AD203B41FA5}">
                          <a16:colId xmlns:a16="http://schemas.microsoft.com/office/drawing/2014/main" val="772331842"/>
                        </a:ext>
                      </a:extLst>
                    </a:gridCol>
                    <a:gridCol w="1950532">
                      <a:extLst>
                        <a:ext uri="{9D8B030D-6E8A-4147-A177-3AD203B41FA5}">
                          <a16:colId xmlns:a16="http://schemas.microsoft.com/office/drawing/2014/main" val="1506195925"/>
                        </a:ext>
                      </a:extLst>
                    </a:gridCol>
                  </a:tblGrid>
                  <a:tr h="826403">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Given that </a:t>
                          </a:r>
                        </a:p>
                        <a:p>
                          <a:pPr algn="ct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𝑓</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m:t>
                                </m:r>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b="0" i="1" noProof="0" smtClean="0">
                                        <a:solidFill>
                                          <a:schemeClr val="tx1"/>
                                        </a:solidFill>
                                        <a:latin typeface="Cambria Math" panose="02040503050406030204" pitchFamily="18" charset="0"/>
                                      </a:rPr>
                                      <m:t>2</m:t>
                                    </m:r>
                                  </m:sup>
                                </m:sSup>
                                <m:r>
                                  <a:rPr lang="en-GB" sz="1200" b="0" i="1" noProof="0" smtClean="0">
                                    <a:solidFill>
                                      <a:schemeClr val="tx1"/>
                                    </a:solidFill>
                                    <a:latin typeface="Cambria Math" panose="02040503050406030204" pitchFamily="18" charset="0"/>
                                  </a:rPr>
                                  <m:t>+4</m:t>
                                </m:r>
                                <m:r>
                                  <a:rPr lang="en-GB" sz="1200" b="0" i="1" noProof="0" smtClean="0">
                                    <a:solidFill>
                                      <a:schemeClr val="tx1"/>
                                    </a:solidFill>
                                    <a:latin typeface="Cambria Math" panose="02040503050406030204" pitchFamily="18" charset="0"/>
                                  </a:rPr>
                                  <m:t>𝑥</m:t>
                                </m:r>
                              </m:oMath>
                            </m:oMathPara>
                          </a14:m>
                          <a:endParaRPr lang="en-GB" sz="1200" b="0" noProof="0" dirty="0">
                            <a:solidFill>
                              <a:schemeClr val="tx1"/>
                            </a:solidFill>
                          </a:endParaRPr>
                        </a:p>
                        <a:p>
                          <a:pPr algn="ctr"/>
                          <a:endParaRPr lang="en-GB" sz="1200" b="0" noProof="0" dirty="0">
                            <a:solidFill>
                              <a:schemeClr val="tx1"/>
                            </a:solidFill>
                          </a:endParaRPr>
                        </a:p>
                        <a:p>
                          <a:pPr algn="ctr"/>
                          <a:r>
                            <a:rPr lang="en-GB" sz="1200" b="0" noProof="0" dirty="0">
                              <a:solidFill>
                                <a:schemeClr val="tx1"/>
                              </a:solidFill>
                            </a:rPr>
                            <a:t>Solve</a:t>
                          </a:r>
                          <a:r>
                            <a:rPr lang="en-GB" sz="1200" b="0" baseline="0" noProof="0" dirty="0">
                              <a:solidFill>
                                <a:schemeClr val="tx1"/>
                              </a:solidFill>
                            </a:rPr>
                            <a:t> </a:t>
                          </a:r>
                          <a14:m>
                            <m:oMath xmlns:m="http://schemas.openxmlformats.org/officeDocument/2006/math">
                              <m:r>
                                <a:rPr lang="en-GB" sz="1200" b="0" i="1" baseline="0" noProof="0" smtClean="0">
                                  <a:solidFill>
                                    <a:schemeClr val="tx1"/>
                                  </a:solidFill>
                                  <a:latin typeface="Cambria Math" panose="02040503050406030204" pitchFamily="18" charset="0"/>
                                </a:rPr>
                                <m:t>𝑓</m:t>
                              </m:r>
                              <m:d>
                                <m:dPr>
                                  <m:ctrlPr>
                                    <a:rPr lang="en-GB" sz="1200" b="0" i="1" baseline="0" noProof="0" smtClean="0">
                                      <a:solidFill>
                                        <a:schemeClr val="tx1"/>
                                      </a:solidFill>
                                      <a:latin typeface="Cambria Math" panose="02040503050406030204" pitchFamily="18" charset="0"/>
                                    </a:rPr>
                                  </m:ctrlPr>
                                </m:dPr>
                                <m:e>
                                  <m:r>
                                    <a:rPr lang="en-GB" sz="1200" b="0" i="1" baseline="0" noProof="0" smtClean="0">
                                      <a:solidFill>
                                        <a:schemeClr val="tx1"/>
                                      </a:solidFill>
                                      <a:latin typeface="Cambria Math" panose="02040503050406030204" pitchFamily="18" charset="0"/>
                                    </a:rPr>
                                    <m:t>𝑥</m:t>
                                  </m:r>
                                </m:e>
                              </m:d>
                              <m:r>
                                <a:rPr lang="en-GB" sz="1200" b="0" i="1" baseline="0" noProof="0" smtClean="0">
                                  <a:solidFill>
                                    <a:schemeClr val="tx1"/>
                                  </a:solidFill>
                                  <a:latin typeface="Cambria Math" panose="02040503050406030204" pitchFamily="18" charset="0"/>
                                </a:rPr>
                                <m:t>=−3</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Given that </a:t>
                          </a:r>
                          <a14:m>
                            <m:oMath xmlns:m="http://schemas.openxmlformats.org/officeDocument/2006/math">
                              <m:r>
                                <a:rPr lang="en-GB" sz="1200" b="0" i="1" noProof="0" smtClean="0">
                                  <a:solidFill>
                                    <a:schemeClr val="tx1"/>
                                  </a:solidFill>
                                  <a:latin typeface="Cambria Math" panose="02040503050406030204" pitchFamily="18" charset="0"/>
                                </a:rPr>
                                <m:t>𝑓</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m:t>
                              </m:r>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b="0" i="1" noProof="0" smtClean="0">
                                      <a:solidFill>
                                        <a:schemeClr val="tx1"/>
                                      </a:solidFill>
                                      <a:latin typeface="Cambria Math" panose="02040503050406030204" pitchFamily="18" charset="0"/>
                                    </a:rPr>
                                    <m:t>2</m:t>
                                  </m:r>
                                </m:sup>
                              </m:sSup>
                              <m:r>
                                <a:rPr lang="en-GB" sz="1200" b="0" i="1" noProof="0" smtClean="0">
                                  <a:solidFill>
                                    <a:schemeClr val="tx1"/>
                                  </a:solidFill>
                                  <a:latin typeface="Cambria Math" panose="02040503050406030204" pitchFamily="18" charset="0"/>
                                </a:rPr>
                                <m:t>+4</m:t>
                              </m:r>
                              <m:r>
                                <a:rPr lang="en-GB" sz="1200" b="0" i="1" noProof="0" smtClean="0">
                                  <a:solidFill>
                                    <a:schemeClr val="tx1"/>
                                  </a:solidFill>
                                  <a:latin typeface="Cambria Math" panose="02040503050406030204" pitchFamily="18" charset="0"/>
                                </a:rPr>
                                <m:t>𝑥</m:t>
                              </m:r>
                            </m:oMath>
                          </a14:m>
                          <a:endParaRPr lang="en-GB" sz="1200" b="0" noProof="0" dirty="0">
                            <a:solidFill>
                              <a:schemeClr val="tx1"/>
                            </a:solidFill>
                          </a:endParaRPr>
                        </a:p>
                        <a:p>
                          <a:pPr algn="ctr"/>
                          <a:endParaRPr lang="en-GB" sz="1200" b="0" i="0" noProof="0" dirty="0">
                            <a:solidFill>
                              <a:schemeClr val="tx1"/>
                            </a:solidFill>
                            <a:latin typeface="+mn-lt"/>
                          </a:endParaRPr>
                        </a:p>
                        <a:p>
                          <a:pPr algn="ctr"/>
                          <a:r>
                            <a:rPr lang="en-GB" sz="1200" b="0" i="0" noProof="0" dirty="0">
                              <a:solidFill>
                                <a:schemeClr val="tx1"/>
                              </a:solidFill>
                              <a:latin typeface="+mn-lt"/>
                            </a:rPr>
                            <a:t>Solve</a:t>
                          </a:r>
                          <a:r>
                            <a:rPr lang="en-GB" sz="1200" b="0" i="0" baseline="0" noProof="0" dirty="0">
                              <a:solidFill>
                                <a:schemeClr val="tx1"/>
                              </a:solidFill>
                              <a:latin typeface="+mn-lt"/>
                            </a:rPr>
                            <a:t> </a:t>
                          </a:r>
                          <a14:m>
                            <m:oMath xmlns:m="http://schemas.openxmlformats.org/officeDocument/2006/math">
                              <m:r>
                                <a:rPr lang="en-GB" sz="1200" b="0" i="1" noProof="0" smtClean="0">
                                  <a:solidFill>
                                    <a:schemeClr val="tx1"/>
                                  </a:solidFill>
                                  <a:latin typeface="Cambria Math" panose="02040503050406030204" pitchFamily="18" charset="0"/>
                                </a:rPr>
                                <m:t>𝑓</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Given that </a:t>
                          </a:r>
                          <a14:m>
                            <m:oMath xmlns:m="http://schemas.openxmlformats.org/officeDocument/2006/math">
                              <m:r>
                                <a:rPr lang="en-GB" sz="1200" b="0" i="1" noProof="0" smtClean="0">
                                  <a:solidFill>
                                    <a:schemeClr val="tx1"/>
                                  </a:solidFill>
                                  <a:latin typeface="Cambria Math" panose="02040503050406030204" pitchFamily="18" charset="0"/>
                                </a:rPr>
                                <m:t>𝑓</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m:t>
                              </m:r>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b="0" i="1" noProof="0" smtClean="0">
                                      <a:solidFill>
                                        <a:schemeClr val="tx1"/>
                                      </a:solidFill>
                                      <a:latin typeface="Cambria Math" panose="02040503050406030204" pitchFamily="18" charset="0"/>
                                    </a:rPr>
                                    <m:t>2</m:t>
                                  </m:r>
                                </m:sup>
                              </m:sSup>
                              <m:r>
                                <a:rPr lang="en-GB" sz="1200" b="0" i="1" noProof="0" smtClean="0">
                                  <a:solidFill>
                                    <a:schemeClr val="tx1"/>
                                  </a:solidFill>
                                  <a:latin typeface="Cambria Math" panose="02040503050406030204" pitchFamily="18" charset="0"/>
                                </a:rPr>
                                <m:t>+7</m:t>
                              </m:r>
                              <m:r>
                                <a:rPr lang="en-GB" sz="1200" b="0" i="1" noProof="0" smtClean="0">
                                  <a:solidFill>
                                    <a:schemeClr val="tx1"/>
                                  </a:solidFill>
                                  <a:latin typeface="Cambria Math" panose="02040503050406030204" pitchFamily="18" charset="0"/>
                                </a:rPr>
                                <m:t>𝑥</m:t>
                              </m:r>
                            </m:oMath>
                          </a14:m>
                          <a:endParaRPr lang="en-GB" sz="1200" b="0" noProof="0" dirty="0">
                            <a:solidFill>
                              <a:schemeClr val="tx1"/>
                            </a:solidFill>
                          </a:endParaRPr>
                        </a:p>
                        <a:p>
                          <a:pPr algn="ctr"/>
                          <a:endParaRPr lang="en-GB" sz="1200" b="0" noProof="0" dirty="0">
                            <a:solidFill>
                              <a:schemeClr val="tx1"/>
                            </a:solidFill>
                          </a:endParaRPr>
                        </a:p>
                        <a:p>
                          <a:pPr algn="ctr"/>
                          <a:r>
                            <a:rPr lang="en-GB" sz="1200" b="0" noProof="0" dirty="0">
                              <a:solidFill>
                                <a:schemeClr val="tx1"/>
                              </a:solidFill>
                            </a:rPr>
                            <a:t>S</a:t>
                          </a:r>
                          <a14:m>
                            <m:oMath xmlns:m="http://schemas.openxmlformats.org/officeDocument/2006/math">
                              <m:r>
                                <m:rPr>
                                  <m:sty m:val="p"/>
                                </m:rPr>
                                <a:rPr lang="en-GB" sz="1200" b="0" i="0" noProof="0" smtClean="0">
                                  <a:solidFill>
                                    <a:schemeClr val="tx1"/>
                                  </a:solidFill>
                                  <a:latin typeface="Cambria Math" panose="02040503050406030204" pitchFamily="18" charset="0"/>
                                </a:rPr>
                                <m:t>olve</m:t>
                              </m:r>
                              <m:r>
                                <a:rPr lang="en-GB" sz="1200" b="0" i="0"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𝑓</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=−12</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053257">
                    <a:tc>
                      <a:txBody>
                        <a:bodyPr/>
                        <a:lstStyle/>
                        <a:p>
                          <a:r>
                            <a:rPr lang="en-GB" sz="1060" noProof="0" dirty="0">
                              <a:solidFill>
                                <a:schemeClr val="tx1"/>
                              </a:solidFill>
                            </a:rPr>
                            <a:t>1) Set the function and the output equal to each</a:t>
                          </a:r>
                          <a:r>
                            <a:rPr lang="en-GB" sz="1060" baseline="0" noProof="0" dirty="0">
                              <a:solidFill>
                                <a:schemeClr val="tx1"/>
                              </a:solidFill>
                            </a:rPr>
                            <a:t> </a:t>
                          </a:r>
                          <a:r>
                            <a:rPr lang="en-GB" sz="1060" noProof="0" dirty="0">
                              <a:solidFill>
                                <a:schemeClr val="tx1"/>
                              </a:solidFill>
                            </a:rPr>
                            <a:t>other.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197067">
                    <a:tc>
                      <a:txBody>
                        <a:bodyPr/>
                        <a:lstStyle/>
                        <a:p>
                          <a:r>
                            <a:rPr lang="en-GB" sz="1060" noProof="0" dirty="0">
                              <a:solidFill>
                                <a:schemeClr val="tx1"/>
                              </a:solidFill>
                            </a:rPr>
                            <a:t>2)Rearrange</a:t>
                          </a:r>
                          <a:r>
                            <a:rPr lang="en-GB" sz="1060" baseline="0" noProof="0" dirty="0">
                              <a:solidFill>
                                <a:schemeClr val="tx1"/>
                              </a:solidFill>
                            </a:rPr>
                            <a:t> into the form </a:t>
                          </a:r>
                        </a:p>
                        <a:p>
                          <a:pPr/>
                          <a14:m>
                            <m:oMathPara xmlns:m="http://schemas.openxmlformats.org/officeDocument/2006/math">
                              <m:oMathParaPr>
                                <m:jc m:val="centerGroup"/>
                              </m:oMathParaPr>
                              <m:oMath xmlns:m="http://schemas.openxmlformats.org/officeDocument/2006/math">
                                <m:r>
                                  <a:rPr lang="en-GB" sz="700" b="0" i="1" baseline="0" noProof="0" smtClean="0">
                                    <a:solidFill>
                                      <a:schemeClr val="tx1"/>
                                    </a:solidFill>
                                    <a:latin typeface="Cambria Math" panose="02040503050406030204" pitchFamily="18" charset="0"/>
                                  </a:rPr>
                                  <m:t>𝑎</m:t>
                                </m:r>
                                <m:sSup>
                                  <m:sSupPr>
                                    <m:ctrlPr>
                                      <a:rPr lang="en-GB" sz="700" b="0" i="1" baseline="0" noProof="0" smtClean="0">
                                        <a:solidFill>
                                          <a:schemeClr val="tx1"/>
                                        </a:solidFill>
                                        <a:latin typeface="Cambria Math" panose="02040503050406030204" pitchFamily="18" charset="0"/>
                                      </a:rPr>
                                    </m:ctrlPr>
                                  </m:sSupPr>
                                  <m:e>
                                    <m:r>
                                      <a:rPr lang="en-GB" sz="700" b="0" i="1" baseline="0" noProof="0" smtClean="0">
                                        <a:solidFill>
                                          <a:schemeClr val="tx1"/>
                                        </a:solidFill>
                                        <a:latin typeface="Cambria Math" panose="02040503050406030204" pitchFamily="18" charset="0"/>
                                      </a:rPr>
                                      <m:t>𝑥</m:t>
                                    </m:r>
                                  </m:e>
                                  <m:sup>
                                    <m:r>
                                      <a:rPr lang="en-GB" sz="700" b="0" i="1" baseline="0" noProof="0" smtClean="0">
                                        <a:solidFill>
                                          <a:schemeClr val="tx1"/>
                                        </a:solidFill>
                                        <a:latin typeface="Cambria Math" panose="02040503050406030204" pitchFamily="18" charset="0"/>
                                      </a:rPr>
                                      <m:t>2</m:t>
                                    </m:r>
                                  </m:sup>
                                </m:sSup>
                                <m:r>
                                  <a:rPr lang="en-GB" sz="700" b="0" i="1" baseline="0" noProof="0" smtClean="0">
                                    <a:solidFill>
                                      <a:schemeClr val="tx1"/>
                                    </a:solidFill>
                                    <a:latin typeface="Cambria Math" panose="02040503050406030204" pitchFamily="18" charset="0"/>
                                  </a:rPr>
                                  <m:t>+</m:t>
                                </m:r>
                                <m:r>
                                  <a:rPr lang="en-GB" sz="700" b="0" i="1" baseline="0" noProof="0" smtClean="0">
                                    <a:solidFill>
                                      <a:schemeClr val="tx1"/>
                                    </a:solidFill>
                                    <a:latin typeface="Cambria Math" panose="02040503050406030204" pitchFamily="18" charset="0"/>
                                  </a:rPr>
                                  <m:t>𝑏𝑥</m:t>
                                </m:r>
                                <m:r>
                                  <a:rPr lang="en-GB" sz="700" b="0" i="1" baseline="0" noProof="0" smtClean="0">
                                    <a:solidFill>
                                      <a:schemeClr val="tx1"/>
                                    </a:solidFill>
                                    <a:latin typeface="Cambria Math" panose="02040503050406030204" pitchFamily="18" charset="0"/>
                                  </a:rPr>
                                  <m:t>+</m:t>
                                </m:r>
                                <m:r>
                                  <a:rPr lang="en-GB" sz="700" b="0" i="1" baseline="0" noProof="0" smtClean="0">
                                    <a:solidFill>
                                      <a:schemeClr val="tx1"/>
                                    </a:solidFill>
                                    <a:latin typeface="Cambria Math" panose="02040503050406030204" pitchFamily="18" charset="0"/>
                                  </a:rPr>
                                  <m:t>𝑐</m:t>
                                </m:r>
                                <m:r>
                                  <a:rPr lang="en-GB" sz="700" b="0" i="1" baseline="0" noProof="0" smtClean="0">
                                    <a:solidFill>
                                      <a:schemeClr val="tx1"/>
                                    </a:solidFill>
                                    <a:latin typeface="Cambria Math" panose="02040503050406030204" pitchFamily="18" charset="0"/>
                                  </a:rPr>
                                  <m:t>=0</m:t>
                                </m:r>
                              </m:oMath>
                            </m:oMathPara>
                          </a14:m>
                          <a:endParaRPr lang="en-GB" sz="105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1197067">
                    <a:tc>
                      <a:txBody>
                        <a:bodyPr/>
                        <a:lstStyle/>
                        <a:p>
                          <a:r>
                            <a:rPr lang="en-GB" sz="1050" noProof="0" dirty="0">
                              <a:solidFill>
                                <a:schemeClr val="tx1"/>
                              </a:solidFill>
                            </a:rPr>
                            <a:t>3) Solve the quadratic equation.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80276359"/>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3004736039"/>
                  </p:ext>
                </p:extLst>
              </p:nvPr>
            </p:nvGraphicFramePr>
            <p:xfrm>
              <a:off x="121861" y="770647"/>
              <a:ext cx="6639192" cy="4273794"/>
            </p:xfrm>
            <a:graphic>
              <a:graphicData uri="http://schemas.openxmlformats.org/drawingml/2006/table">
                <a:tbl>
                  <a:tblPr firstRow="1" bandRow="1">
                    <a:tableStyleId>{5C22544A-7EE6-4342-B048-85BDC9FD1C3A}</a:tableStyleId>
                  </a:tblPr>
                  <a:tblGrid>
                    <a:gridCol w="898539">
                      <a:extLst>
                        <a:ext uri="{9D8B030D-6E8A-4147-A177-3AD203B41FA5}">
                          <a16:colId xmlns:a16="http://schemas.microsoft.com/office/drawing/2014/main" val="1568142362"/>
                        </a:ext>
                      </a:extLst>
                    </a:gridCol>
                    <a:gridCol w="1828800">
                      <a:extLst>
                        <a:ext uri="{9D8B030D-6E8A-4147-A177-3AD203B41FA5}">
                          <a16:colId xmlns:a16="http://schemas.microsoft.com/office/drawing/2014/main" val="3551711160"/>
                        </a:ext>
                      </a:extLst>
                    </a:gridCol>
                    <a:gridCol w="1961321">
                      <a:extLst>
                        <a:ext uri="{9D8B030D-6E8A-4147-A177-3AD203B41FA5}">
                          <a16:colId xmlns:a16="http://schemas.microsoft.com/office/drawing/2014/main" val="772331842"/>
                        </a:ext>
                      </a:extLst>
                    </a:gridCol>
                    <a:gridCol w="1950532">
                      <a:extLst>
                        <a:ext uri="{9D8B030D-6E8A-4147-A177-3AD203B41FA5}">
                          <a16:colId xmlns:a16="http://schemas.microsoft.com/office/drawing/2014/main" val="1506195925"/>
                        </a:ext>
                      </a:extLst>
                    </a:gridCol>
                  </a:tblGrid>
                  <a:tr h="826403">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9667" t="-735" r="-215000" b="-41764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39441" t="-735" r="-100311" b="-41764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40187" t="-735" r="-623" b="-417647"/>
                          </a:stretch>
                        </a:blipFill>
                      </a:tcPr>
                    </a:tc>
                    <a:extLst>
                      <a:ext uri="{0D108BD9-81ED-4DB2-BD59-A6C34878D82A}">
                        <a16:rowId xmlns:a16="http://schemas.microsoft.com/office/drawing/2014/main" val="2357201933"/>
                      </a:ext>
                    </a:extLst>
                  </a:tr>
                  <a:tr h="1053257">
                    <a:tc>
                      <a:txBody>
                        <a:bodyPr/>
                        <a:lstStyle/>
                        <a:p>
                          <a:r>
                            <a:rPr lang="en-GB" sz="1060" noProof="0">
                              <a:solidFill>
                                <a:schemeClr val="tx1"/>
                              </a:solidFill>
                            </a:rPr>
                            <a:t>1) Set the function and the output equal to each</a:t>
                          </a:r>
                          <a:r>
                            <a:rPr lang="en-GB" sz="1060" baseline="0" noProof="0">
                              <a:solidFill>
                                <a:schemeClr val="tx1"/>
                              </a:solidFill>
                            </a:rPr>
                            <a:t> </a:t>
                          </a:r>
                          <a:r>
                            <a:rPr lang="en-GB" sz="1060" noProof="0">
                              <a:solidFill>
                                <a:schemeClr val="tx1"/>
                              </a:solidFill>
                            </a:rPr>
                            <a:t>other.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197067">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76" t="-158163" r="-638514" b="-101531"/>
                          </a:stretch>
                        </a:blip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1197067">
                    <a:tc>
                      <a:txBody>
                        <a:bodyPr/>
                        <a:lstStyle/>
                        <a:p>
                          <a:r>
                            <a:rPr lang="en-GB" sz="1050" noProof="0">
                              <a:solidFill>
                                <a:schemeClr val="tx1"/>
                              </a:solidFill>
                            </a:rPr>
                            <a:t>3) Solve the quadratic equation.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80276359"/>
                      </a:ext>
                    </a:extLst>
                  </a:tr>
                </a:tbl>
              </a:graphicData>
            </a:graphic>
          </p:graphicFrame>
        </mc:Fallback>
      </mc:AlternateContent>
      <p:sp>
        <p:nvSpPr>
          <p:cNvPr id="13" name="Rectangle 12"/>
          <p:cNvSpPr/>
          <p:nvPr/>
        </p:nvSpPr>
        <p:spPr>
          <a:xfrm>
            <a:off x="1529589" y="5233664"/>
            <a:ext cx="3823735" cy="276999"/>
          </a:xfrm>
          <a:prstGeom prst="rect">
            <a:avLst/>
          </a:prstGeom>
        </p:spPr>
        <p:txBody>
          <a:bodyPr wrap="square">
            <a:spAutoFit/>
          </a:bodyPr>
          <a:lstStyle/>
          <a:p>
            <a:pPr algn="ctr"/>
            <a:r>
              <a:rPr lang="en-GB" sz="1200" noProof="0" dirty="0"/>
              <a:t>16) Solve each quadratic equation from the function. </a:t>
            </a:r>
          </a:p>
        </p:txBody>
      </p:sp>
      <p:sp>
        <p:nvSpPr>
          <p:cNvPr id="14" name="Rectangle 13">
            <a:extLst>
              <a:ext uri="{FF2B5EF4-FFF2-40B4-BE49-F238E27FC236}">
                <a16:creationId xmlns:a16="http://schemas.microsoft.com/office/drawing/2014/main" id="{3C36006B-227E-45B6-ACB0-32FCE0D906FC}"/>
              </a:ext>
            </a:extLst>
          </p:cNvPr>
          <p:cNvSpPr/>
          <p:nvPr/>
        </p:nvSpPr>
        <p:spPr>
          <a:xfrm>
            <a:off x="103499" y="5728842"/>
            <a:ext cx="2091772" cy="39256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Rectangle 15">
            <a:extLst>
              <a:ext uri="{FF2B5EF4-FFF2-40B4-BE49-F238E27FC236}">
                <a16:creationId xmlns:a16="http://schemas.microsoft.com/office/drawing/2014/main" id="{3C36006B-227E-45B6-ACB0-32FCE0D906FC}"/>
              </a:ext>
            </a:extLst>
          </p:cNvPr>
          <p:cNvSpPr/>
          <p:nvPr/>
        </p:nvSpPr>
        <p:spPr>
          <a:xfrm>
            <a:off x="2376006" y="5732201"/>
            <a:ext cx="2049135" cy="39189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Rectangle 16">
            <a:extLst>
              <a:ext uri="{FF2B5EF4-FFF2-40B4-BE49-F238E27FC236}">
                <a16:creationId xmlns:a16="http://schemas.microsoft.com/office/drawing/2014/main" id="{3C36006B-227E-45B6-ACB0-32FCE0D906FC}"/>
              </a:ext>
            </a:extLst>
          </p:cNvPr>
          <p:cNvSpPr/>
          <p:nvPr/>
        </p:nvSpPr>
        <p:spPr>
          <a:xfrm>
            <a:off x="4624233" y="5728842"/>
            <a:ext cx="2044245" cy="39256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 name="TextBox 17">
            <a:extLst>
              <a:ext uri="{FF2B5EF4-FFF2-40B4-BE49-F238E27FC236}">
                <a16:creationId xmlns:a16="http://schemas.microsoft.com/office/drawing/2014/main" id="{519CA145-0A55-47EB-B271-6690400B9E6B}"/>
              </a:ext>
            </a:extLst>
          </p:cNvPr>
          <p:cNvSpPr txBox="1"/>
          <p:nvPr/>
        </p:nvSpPr>
        <p:spPr>
          <a:xfrm>
            <a:off x="2322655" y="5730292"/>
            <a:ext cx="311304" cy="276999"/>
          </a:xfrm>
          <a:prstGeom prst="rect">
            <a:avLst/>
          </a:prstGeom>
          <a:noFill/>
        </p:spPr>
        <p:txBody>
          <a:bodyPr wrap="none" rtlCol="0">
            <a:spAutoFit/>
          </a:bodyPr>
          <a:lstStyle/>
          <a:p>
            <a:r>
              <a:rPr lang="en-GB" sz="1200" noProof="0" dirty="0"/>
              <a:t>b)</a:t>
            </a:r>
          </a:p>
        </p:txBody>
      </p:sp>
      <p:sp>
        <p:nvSpPr>
          <p:cNvPr id="19" name="TextBox 18">
            <a:extLst>
              <a:ext uri="{FF2B5EF4-FFF2-40B4-BE49-F238E27FC236}">
                <a16:creationId xmlns:a16="http://schemas.microsoft.com/office/drawing/2014/main" id="{519CA145-0A55-47EB-B271-6690400B9E6B}"/>
              </a:ext>
            </a:extLst>
          </p:cNvPr>
          <p:cNvSpPr txBox="1"/>
          <p:nvPr/>
        </p:nvSpPr>
        <p:spPr>
          <a:xfrm>
            <a:off x="4648438" y="5744871"/>
            <a:ext cx="296876" cy="276999"/>
          </a:xfrm>
          <a:prstGeom prst="rect">
            <a:avLst/>
          </a:prstGeom>
          <a:noFill/>
        </p:spPr>
        <p:txBody>
          <a:bodyPr wrap="none" rtlCol="0">
            <a:spAutoFit/>
          </a:bodyPr>
          <a:lstStyle/>
          <a:p>
            <a:r>
              <a:rPr lang="en-GB" sz="1200" noProof="0" dirty="0"/>
              <a:t>c)</a:t>
            </a:r>
          </a:p>
        </p:txBody>
      </p:sp>
      <p:sp>
        <p:nvSpPr>
          <p:cNvPr id="22" name="TextBox 21">
            <a:extLst>
              <a:ext uri="{FF2B5EF4-FFF2-40B4-BE49-F238E27FC236}">
                <a16:creationId xmlns:a16="http://schemas.microsoft.com/office/drawing/2014/main" id="{519CA145-0A55-47EB-B271-6690400B9E6B}"/>
              </a:ext>
            </a:extLst>
          </p:cNvPr>
          <p:cNvSpPr txBox="1"/>
          <p:nvPr/>
        </p:nvSpPr>
        <p:spPr>
          <a:xfrm>
            <a:off x="51185" y="5730292"/>
            <a:ext cx="340158" cy="276999"/>
          </a:xfrm>
          <a:prstGeom prst="rect">
            <a:avLst/>
          </a:prstGeom>
          <a:noFill/>
        </p:spPr>
        <p:txBody>
          <a:bodyPr wrap="none" rtlCol="0">
            <a:spAutoFit/>
          </a:bodyPr>
          <a:lstStyle/>
          <a:p>
            <a:r>
              <a:rPr lang="en-GB" sz="1200" noProof="0" dirty="0"/>
              <a:t>a) </a:t>
            </a:r>
          </a:p>
        </p:txBody>
      </p:sp>
      <p:grpSp>
        <p:nvGrpSpPr>
          <p:cNvPr id="23" name="Group 22"/>
          <p:cNvGrpSpPr/>
          <p:nvPr/>
        </p:nvGrpSpPr>
        <p:grpSpPr>
          <a:xfrm>
            <a:off x="451930" y="9253998"/>
            <a:ext cx="1601234" cy="276999"/>
            <a:chOff x="503980" y="4722851"/>
            <a:chExt cx="1601234" cy="276999"/>
          </a:xfrm>
        </p:grpSpPr>
        <mc:AlternateContent xmlns:mc="http://schemas.openxmlformats.org/markup-compatibility/2006" xmlns:a14="http://schemas.microsoft.com/office/drawing/2010/main">
          <mc:Choice Requires="a14">
            <p:sp>
              <p:nvSpPr>
                <p:cNvPr id="24" name="TextBox 23"/>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24" name="TextBox 23"/>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3"/>
                  <a:stretch>
                    <a:fillRect b="-17778"/>
                  </a:stretch>
                </a:blipFill>
              </p:spPr>
              <p:txBody>
                <a:bodyPr/>
                <a:lstStyle/>
                <a:p>
                  <a:r>
                    <a:rPr lang="en-US">
                      <a:noFill/>
                    </a:rPr>
                    <a:t> </a:t>
                  </a:r>
                </a:p>
              </p:txBody>
            </p:sp>
          </mc:Fallback>
        </mc:AlternateContent>
        <p:cxnSp>
          <p:nvCxnSpPr>
            <p:cNvPr id="25" name="Straight Connector 24"/>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27" name="Group 26"/>
          <p:cNvGrpSpPr/>
          <p:nvPr/>
        </p:nvGrpSpPr>
        <p:grpSpPr>
          <a:xfrm>
            <a:off x="2700157" y="9253998"/>
            <a:ext cx="1601234" cy="276999"/>
            <a:chOff x="503980" y="4722851"/>
            <a:chExt cx="1601234" cy="276999"/>
          </a:xfrm>
        </p:grpSpPr>
        <mc:AlternateContent xmlns:mc="http://schemas.openxmlformats.org/markup-compatibility/2006" xmlns:a14="http://schemas.microsoft.com/office/drawing/2010/main">
          <mc:Choice Requires="a14">
            <p:sp>
              <p:nvSpPr>
                <p:cNvPr id="28" name="TextBox 27"/>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28" name="TextBox 27"/>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3"/>
                  <a:stretch>
                    <a:fillRect b="-17778"/>
                  </a:stretch>
                </a:blipFill>
              </p:spPr>
              <p:txBody>
                <a:bodyPr/>
                <a:lstStyle/>
                <a:p>
                  <a:r>
                    <a:rPr lang="en-US">
                      <a:noFill/>
                    </a:rPr>
                    <a:t> </a:t>
                  </a:r>
                </a:p>
              </p:txBody>
            </p:sp>
          </mc:Fallback>
        </mc:AlternateContent>
        <p:cxnSp>
          <p:nvCxnSpPr>
            <p:cNvPr id="29" name="Straight Connector 28"/>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30" name="Straight Connector 29"/>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31" name="Group 30"/>
          <p:cNvGrpSpPr/>
          <p:nvPr/>
        </p:nvGrpSpPr>
        <p:grpSpPr>
          <a:xfrm>
            <a:off x="4887667" y="9288446"/>
            <a:ext cx="1601234" cy="276999"/>
            <a:chOff x="503980" y="4722851"/>
            <a:chExt cx="1601234" cy="276999"/>
          </a:xfrm>
        </p:grpSpPr>
        <mc:AlternateContent xmlns:mc="http://schemas.openxmlformats.org/markup-compatibility/2006" xmlns:a14="http://schemas.microsoft.com/office/drawing/2010/main">
          <mc:Choice Requires="a14">
            <p:sp>
              <p:nvSpPr>
                <p:cNvPr id="32" name="TextBox 31"/>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32" name="TextBox 31"/>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4"/>
                  <a:stretch>
                    <a:fillRect t="-2222" b="-17778"/>
                  </a:stretch>
                </a:blipFill>
              </p:spPr>
              <p:txBody>
                <a:bodyPr/>
                <a:lstStyle/>
                <a:p>
                  <a:r>
                    <a:rPr lang="en-US">
                      <a:noFill/>
                    </a:rPr>
                    <a:t> </a:t>
                  </a:r>
                </a:p>
              </p:txBody>
            </p:sp>
          </mc:Fallback>
        </mc:AlternateContent>
        <p:cxnSp>
          <p:nvCxnSpPr>
            <p:cNvPr id="33" name="Straight Connector 32"/>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34" name="Straight Connector 33"/>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pic>
        <p:nvPicPr>
          <p:cNvPr id="35" name="Picture 34"/>
          <p:cNvPicPr>
            <a:picLocks noChangeAspect="1"/>
          </p:cNvPicPr>
          <p:nvPr/>
        </p:nvPicPr>
        <p:blipFill>
          <a:blip r:embed="rId5"/>
          <a:stretch>
            <a:fillRect/>
          </a:stretch>
        </p:blipFill>
        <p:spPr>
          <a:xfrm>
            <a:off x="315475" y="5744871"/>
            <a:ext cx="1527757" cy="1043346"/>
          </a:xfrm>
          <a:prstGeom prst="rect">
            <a:avLst/>
          </a:prstGeom>
        </p:spPr>
      </p:pic>
      <p:pic>
        <p:nvPicPr>
          <p:cNvPr id="36" name="Picture 35"/>
          <p:cNvPicPr>
            <a:picLocks noChangeAspect="1"/>
          </p:cNvPicPr>
          <p:nvPr/>
        </p:nvPicPr>
        <p:blipFill>
          <a:blip r:embed="rId6"/>
          <a:stretch>
            <a:fillRect/>
          </a:stretch>
        </p:blipFill>
        <p:spPr>
          <a:xfrm>
            <a:off x="2571808" y="5801265"/>
            <a:ext cx="1363788" cy="986952"/>
          </a:xfrm>
          <a:prstGeom prst="rect">
            <a:avLst/>
          </a:prstGeom>
        </p:spPr>
      </p:pic>
      <p:pic>
        <p:nvPicPr>
          <p:cNvPr id="37" name="Picture 36"/>
          <p:cNvPicPr>
            <a:picLocks noChangeAspect="1"/>
          </p:cNvPicPr>
          <p:nvPr/>
        </p:nvPicPr>
        <p:blipFill>
          <a:blip r:embed="rId7"/>
          <a:stretch>
            <a:fillRect/>
          </a:stretch>
        </p:blipFill>
        <p:spPr>
          <a:xfrm>
            <a:off x="4887667" y="5825177"/>
            <a:ext cx="1382141" cy="963040"/>
          </a:xfrm>
          <a:prstGeom prst="rect">
            <a:avLst/>
          </a:prstGeom>
        </p:spPr>
      </p:pic>
      <p:sp>
        <p:nvSpPr>
          <p:cNvPr id="39" name="TextBox 38">
            <a:extLst>
              <a:ext uri="{FF2B5EF4-FFF2-40B4-BE49-F238E27FC236}">
                <a16:creationId xmlns:a16="http://schemas.microsoft.com/office/drawing/2014/main" id="{C3C65E48-8C3D-6849-AD77-7AD8678AD8DA}"/>
              </a:ext>
            </a:extLst>
          </p:cNvPr>
          <p:cNvSpPr txBox="1"/>
          <p:nvPr/>
        </p:nvSpPr>
        <p:spPr>
          <a:xfrm>
            <a:off x="121861" y="5077519"/>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Tree>
    <p:extLst>
      <p:ext uri="{BB962C8B-B14F-4D97-AF65-F5344CB8AC3E}">
        <p14:creationId xmlns:p14="http://schemas.microsoft.com/office/powerpoint/2010/main" val="4174300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282516" y="9485047"/>
            <a:ext cx="1543050" cy="527403"/>
          </a:xfrm>
        </p:spPr>
        <p:txBody>
          <a:bodyPr/>
          <a:lstStyle/>
          <a:p>
            <a:fld id="{9BD3B4A0-BFF9-422C-B253-48BA94BE2F5B}" type="slidenum">
              <a:rPr lang="en-GB" noProof="0" smtClean="0"/>
              <a:t>12</a:t>
            </a:fld>
            <a:endParaRPr lang="en-GB" noProof="0" dirty="0"/>
          </a:p>
        </p:txBody>
      </p:sp>
      <p:sp>
        <p:nvSpPr>
          <p:cNvPr id="9" name="Rectangle 8">
            <a:extLst>
              <a:ext uri="{FF2B5EF4-FFF2-40B4-BE49-F238E27FC236}">
                <a16:creationId xmlns:a16="http://schemas.microsoft.com/office/drawing/2014/main" id="{3C36006B-227E-45B6-ACB0-32FCE0D906FC}"/>
              </a:ext>
            </a:extLst>
          </p:cNvPr>
          <p:cNvSpPr/>
          <p:nvPr/>
        </p:nvSpPr>
        <p:spPr>
          <a:xfrm>
            <a:off x="156508" y="136424"/>
            <a:ext cx="2091772" cy="44013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 name="Rectangle 9">
            <a:extLst>
              <a:ext uri="{FF2B5EF4-FFF2-40B4-BE49-F238E27FC236}">
                <a16:creationId xmlns:a16="http://schemas.microsoft.com/office/drawing/2014/main" id="{3C36006B-227E-45B6-ACB0-32FCE0D906FC}"/>
              </a:ext>
            </a:extLst>
          </p:cNvPr>
          <p:cNvSpPr/>
          <p:nvPr/>
        </p:nvSpPr>
        <p:spPr>
          <a:xfrm>
            <a:off x="2429015" y="139783"/>
            <a:ext cx="2049135" cy="439385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Rectangle 10">
            <a:extLst>
              <a:ext uri="{FF2B5EF4-FFF2-40B4-BE49-F238E27FC236}">
                <a16:creationId xmlns:a16="http://schemas.microsoft.com/office/drawing/2014/main" id="{3C36006B-227E-45B6-ACB0-32FCE0D906FC}"/>
              </a:ext>
            </a:extLst>
          </p:cNvPr>
          <p:cNvSpPr/>
          <p:nvPr/>
        </p:nvSpPr>
        <p:spPr>
          <a:xfrm>
            <a:off x="4677242" y="136424"/>
            <a:ext cx="2044245" cy="44013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 name="TextBox 11">
            <a:extLst>
              <a:ext uri="{FF2B5EF4-FFF2-40B4-BE49-F238E27FC236}">
                <a16:creationId xmlns:a16="http://schemas.microsoft.com/office/drawing/2014/main" id="{519CA145-0A55-47EB-B271-6690400B9E6B}"/>
              </a:ext>
            </a:extLst>
          </p:cNvPr>
          <p:cNvSpPr txBox="1"/>
          <p:nvPr/>
        </p:nvSpPr>
        <p:spPr>
          <a:xfrm>
            <a:off x="2375664" y="137874"/>
            <a:ext cx="308098" cy="276999"/>
          </a:xfrm>
          <a:prstGeom prst="rect">
            <a:avLst/>
          </a:prstGeom>
          <a:noFill/>
        </p:spPr>
        <p:txBody>
          <a:bodyPr wrap="none" rtlCol="0">
            <a:spAutoFit/>
          </a:bodyPr>
          <a:lstStyle/>
          <a:p>
            <a:r>
              <a:rPr lang="en-GB" sz="1200" noProof="0" dirty="0"/>
              <a:t>e)</a:t>
            </a:r>
          </a:p>
        </p:txBody>
      </p:sp>
      <p:sp>
        <p:nvSpPr>
          <p:cNvPr id="13" name="TextBox 12">
            <a:extLst>
              <a:ext uri="{FF2B5EF4-FFF2-40B4-BE49-F238E27FC236}">
                <a16:creationId xmlns:a16="http://schemas.microsoft.com/office/drawing/2014/main" id="{519CA145-0A55-47EB-B271-6690400B9E6B}"/>
              </a:ext>
            </a:extLst>
          </p:cNvPr>
          <p:cNvSpPr txBox="1"/>
          <p:nvPr/>
        </p:nvSpPr>
        <p:spPr>
          <a:xfrm>
            <a:off x="4701447" y="152453"/>
            <a:ext cx="279885" cy="276999"/>
          </a:xfrm>
          <a:prstGeom prst="rect">
            <a:avLst/>
          </a:prstGeom>
          <a:noFill/>
        </p:spPr>
        <p:txBody>
          <a:bodyPr wrap="none" rtlCol="0">
            <a:spAutoFit/>
          </a:bodyPr>
          <a:lstStyle/>
          <a:p>
            <a:r>
              <a:rPr lang="en-GB" sz="1200" noProof="0" dirty="0"/>
              <a:t>f)</a:t>
            </a:r>
          </a:p>
        </p:txBody>
      </p:sp>
      <p:sp>
        <p:nvSpPr>
          <p:cNvPr id="14" name="TextBox 13">
            <a:extLst>
              <a:ext uri="{FF2B5EF4-FFF2-40B4-BE49-F238E27FC236}">
                <a16:creationId xmlns:a16="http://schemas.microsoft.com/office/drawing/2014/main" id="{519CA145-0A55-47EB-B271-6690400B9E6B}"/>
              </a:ext>
            </a:extLst>
          </p:cNvPr>
          <p:cNvSpPr txBox="1"/>
          <p:nvPr/>
        </p:nvSpPr>
        <p:spPr>
          <a:xfrm>
            <a:off x="104194" y="137874"/>
            <a:ext cx="346570" cy="276999"/>
          </a:xfrm>
          <a:prstGeom prst="rect">
            <a:avLst/>
          </a:prstGeom>
          <a:noFill/>
        </p:spPr>
        <p:txBody>
          <a:bodyPr wrap="none" rtlCol="0">
            <a:spAutoFit/>
          </a:bodyPr>
          <a:lstStyle/>
          <a:p>
            <a:r>
              <a:rPr lang="en-GB" sz="1200" noProof="0" dirty="0"/>
              <a:t>d) </a:t>
            </a:r>
          </a:p>
        </p:txBody>
      </p:sp>
      <p:grpSp>
        <p:nvGrpSpPr>
          <p:cNvPr id="15" name="Group 14"/>
          <p:cNvGrpSpPr/>
          <p:nvPr/>
        </p:nvGrpSpPr>
        <p:grpSpPr>
          <a:xfrm>
            <a:off x="504939" y="4072398"/>
            <a:ext cx="1601234" cy="276999"/>
            <a:chOff x="503980" y="4722851"/>
            <a:chExt cx="1601234" cy="276999"/>
          </a:xfrm>
        </p:grpSpPr>
        <mc:AlternateContent xmlns:mc="http://schemas.openxmlformats.org/markup-compatibility/2006" xmlns:a14="http://schemas.microsoft.com/office/drawing/2010/main">
          <mc:Choice Requires="a14">
            <p:sp>
              <p:nvSpPr>
                <p:cNvPr id="16" name="TextBox 15"/>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16" name="TextBox 15"/>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2"/>
                  <a:stretch>
                    <a:fillRect b="-17778"/>
                  </a:stretch>
                </a:blipFill>
              </p:spPr>
              <p:txBody>
                <a:bodyPr/>
                <a:lstStyle/>
                <a:p>
                  <a:r>
                    <a:rPr lang="en-US">
                      <a:noFill/>
                    </a:rPr>
                    <a:t> </a:t>
                  </a:r>
                </a:p>
              </p:txBody>
            </p:sp>
          </mc:Fallback>
        </mc:AlternateContent>
        <p:cxnSp>
          <p:nvCxnSpPr>
            <p:cNvPr id="17" name="Straight Connector 16"/>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19" name="Group 18"/>
          <p:cNvGrpSpPr/>
          <p:nvPr/>
        </p:nvGrpSpPr>
        <p:grpSpPr>
          <a:xfrm>
            <a:off x="2753166" y="4072398"/>
            <a:ext cx="1601234" cy="276999"/>
            <a:chOff x="503980" y="4722851"/>
            <a:chExt cx="1601234" cy="276999"/>
          </a:xfrm>
        </p:grpSpPr>
        <mc:AlternateContent xmlns:mc="http://schemas.openxmlformats.org/markup-compatibility/2006" xmlns:a14="http://schemas.microsoft.com/office/drawing/2010/main">
          <mc:Choice Requires="a14">
            <p:sp>
              <p:nvSpPr>
                <p:cNvPr id="20" name="TextBox 19"/>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20" name="TextBox 19"/>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3"/>
                  <a:stretch>
                    <a:fillRect b="-17778"/>
                  </a:stretch>
                </a:blipFill>
              </p:spPr>
              <p:txBody>
                <a:bodyPr/>
                <a:lstStyle/>
                <a:p>
                  <a:r>
                    <a:rPr lang="en-US">
                      <a:noFill/>
                    </a:rPr>
                    <a:t> </a:t>
                  </a:r>
                </a:p>
              </p:txBody>
            </p:sp>
          </mc:Fallback>
        </mc:AlternateContent>
        <p:cxnSp>
          <p:nvCxnSpPr>
            <p:cNvPr id="21" name="Straight Connector 20"/>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23" name="Group 22"/>
          <p:cNvGrpSpPr/>
          <p:nvPr/>
        </p:nvGrpSpPr>
        <p:grpSpPr>
          <a:xfrm>
            <a:off x="4940676" y="4106846"/>
            <a:ext cx="1601234" cy="276999"/>
            <a:chOff x="503980" y="4722851"/>
            <a:chExt cx="1601234" cy="276999"/>
          </a:xfrm>
        </p:grpSpPr>
        <mc:AlternateContent xmlns:mc="http://schemas.openxmlformats.org/markup-compatibility/2006" xmlns:a14="http://schemas.microsoft.com/office/drawing/2010/main">
          <mc:Choice Requires="a14">
            <p:sp>
              <p:nvSpPr>
                <p:cNvPr id="24" name="TextBox 23"/>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24" name="TextBox 23"/>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4"/>
                  <a:stretch>
                    <a:fillRect t="-2222" b="-17778"/>
                  </a:stretch>
                </a:blipFill>
              </p:spPr>
              <p:txBody>
                <a:bodyPr/>
                <a:lstStyle/>
                <a:p>
                  <a:r>
                    <a:rPr lang="en-US">
                      <a:noFill/>
                    </a:rPr>
                    <a:t> </a:t>
                  </a:r>
                </a:p>
              </p:txBody>
            </p:sp>
          </mc:Fallback>
        </mc:AlternateContent>
        <p:cxnSp>
          <p:nvCxnSpPr>
            <p:cNvPr id="25" name="Straight Connector 24"/>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pic>
        <p:nvPicPr>
          <p:cNvPr id="30" name="Picture 29"/>
          <p:cNvPicPr>
            <a:picLocks noChangeAspect="1"/>
          </p:cNvPicPr>
          <p:nvPr/>
        </p:nvPicPr>
        <p:blipFill>
          <a:blip r:embed="rId5"/>
          <a:stretch>
            <a:fillRect/>
          </a:stretch>
        </p:blipFill>
        <p:spPr>
          <a:xfrm>
            <a:off x="345129" y="192117"/>
            <a:ext cx="908050" cy="717850"/>
          </a:xfrm>
          <a:prstGeom prst="rect">
            <a:avLst/>
          </a:prstGeom>
        </p:spPr>
      </p:pic>
      <p:pic>
        <p:nvPicPr>
          <p:cNvPr id="31" name="Picture 30"/>
          <p:cNvPicPr>
            <a:picLocks noChangeAspect="1"/>
          </p:cNvPicPr>
          <p:nvPr/>
        </p:nvPicPr>
        <p:blipFill>
          <a:blip r:embed="rId6"/>
          <a:stretch>
            <a:fillRect/>
          </a:stretch>
        </p:blipFill>
        <p:spPr>
          <a:xfrm>
            <a:off x="2677354" y="289537"/>
            <a:ext cx="1002481" cy="660170"/>
          </a:xfrm>
          <a:prstGeom prst="rect">
            <a:avLst/>
          </a:prstGeom>
        </p:spPr>
      </p:pic>
      <p:pic>
        <p:nvPicPr>
          <p:cNvPr id="32" name="Picture 31"/>
          <p:cNvPicPr>
            <a:picLocks noChangeAspect="1"/>
          </p:cNvPicPr>
          <p:nvPr/>
        </p:nvPicPr>
        <p:blipFill>
          <a:blip r:embed="rId7"/>
          <a:stretch>
            <a:fillRect/>
          </a:stretch>
        </p:blipFill>
        <p:spPr>
          <a:xfrm>
            <a:off x="4940676" y="216567"/>
            <a:ext cx="1014312" cy="693400"/>
          </a:xfrm>
          <a:prstGeom prst="rect">
            <a:avLst/>
          </a:prstGeom>
        </p:spPr>
      </p:pic>
      <p:pic>
        <p:nvPicPr>
          <p:cNvPr id="33" name="Picture 32"/>
          <p:cNvPicPr>
            <a:picLocks noChangeAspect="1"/>
          </p:cNvPicPr>
          <p:nvPr/>
        </p:nvPicPr>
        <p:blipFill>
          <a:blip r:embed="rId8"/>
          <a:stretch>
            <a:fillRect/>
          </a:stretch>
        </p:blipFill>
        <p:spPr>
          <a:xfrm>
            <a:off x="399225" y="4742559"/>
            <a:ext cx="1071766" cy="710496"/>
          </a:xfrm>
          <a:prstGeom prst="rect">
            <a:avLst/>
          </a:prstGeom>
        </p:spPr>
      </p:pic>
      <p:pic>
        <p:nvPicPr>
          <p:cNvPr id="34" name="Picture 33"/>
          <p:cNvPicPr>
            <a:picLocks noChangeAspect="1"/>
          </p:cNvPicPr>
          <p:nvPr/>
        </p:nvPicPr>
        <p:blipFill rotWithShape="1">
          <a:blip r:embed="rId9"/>
          <a:srcRect l="2672" t="4851"/>
          <a:stretch/>
        </p:blipFill>
        <p:spPr>
          <a:xfrm>
            <a:off x="2677354" y="4784192"/>
            <a:ext cx="1048203" cy="705933"/>
          </a:xfrm>
          <a:prstGeom prst="rect">
            <a:avLst/>
          </a:prstGeom>
        </p:spPr>
      </p:pic>
      <p:pic>
        <p:nvPicPr>
          <p:cNvPr id="35" name="Picture 34"/>
          <p:cNvPicPr>
            <a:picLocks noChangeAspect="1"/>
          </p:cNvPicPr>
          <p:nvPr/>
        </p:nvPicPr>
        <p:blipFill>
          <a:blip r:embed="rId10"/>
          <a:stretch>
            <a:fillRect/>
          </a:stretch>
        </p:blipFill>
        <p:spPr>
          <a:xfrm>
            <a:off x="4772470" y="4711520"/>
            <a:ext cx="1071739" cy="805353"/>
          </a:xfrm>
          <a:prstGeom prst="rect">
            <a:avLst/>
          </a:prstGeom>
        </p:spPr>
      </p:pic>
      <p:sp>
        <p:nvSpPr>
          <p:cNvPr id="36" name="Rectangle 35">
            <a:extLst>
              <a:ext uri="{FF2B5EF4-FFF2-40B4-BE49-F238E27FC236}">
                <a16:creationId xmlns:a16="http://schemas.microsoft.com/office/drawing/2014/main" id="{3C36006B-227E-45B6-ACB0-32FCE0D906FC}"/>
              </a:ext>
            </a:extLst>
          </p:cNvPr>
          <p:cNvSpPr/>
          <p:nvPr/>
        </p:nvSpPr>
        <p:spPr>
          <a:xfrm>
            <a:off x="158108" y="4711520"/>
            <a:ext cx="2091772" cy="49089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7" name="Rectangle 36">
            <a:extLst>
              <a:ext uri="{FF2B5EF4-FFF2-40B4-BE49-F238E27FC236}">
                <a16:creationId xmlns:a16="http://schemas.microsoft.com/office/drawing/2014/main" id="{3C36006B-227E-45B6-ACB0-32FCE0D906FC}"/>
              </a:ext>
            </a:extLst>
          </p:cNvPr>
          <p:cNvSpPr/>
          <p:nvPr/>
        </p:nvSpPr>
        <p:spPr>
          <a:xfrm>
            <a:off x="2430615" y="4714879"/>
            <a:ext cx="2049135" cy="490057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8" name="Rectangle 37">
            <a:extLst>
              <a:ext uri="{FF2B5EF4-FFF2-40B4-BE49-F238E27FC236}">
                <a16:creationId xmlns:a16="http://schemas.microsoft.com/office/drawing/2014/main" id="{3C36006B-227E-45B6-ACB0-32FCE0D906FC}"/>
              </a:ext>
            </a:extLst>
          </p:cNvPr>
          <p:cNvSpPr/>
          <p:nvPr/>
        </p:nvSpPr>
        <p:spPr>
          <a:xfrm>
            <a:off x="4678842" y="4711520"/>
            <a:ext cx="2044245" cy="49089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9" name="TextBox 38">
            <a:extLst>
              <a:ext uri="{FF2B5EF4-FFF2-40B4-BE49-F238E27FC236}">
                <a16:creationId xmlns:a16="http://schemas.microsoft.com/office/drawing/2014/main" id="{519CA145-0A55-47EB-B271-6690400B9E6B}"/>
              </a:ext>
            </a:extLst>
          </p:cNvPr>
          <p:cNvSpPr txBox="1"/>
          <p:nvPr/>
        </p:nvSpPr>
        <p:spPr>
          <a:xfrm>
            <a:off x="2377264" y="4712970"/>
            <a:ext cx="311304" cy="276999"/>
          </a:xfrm>
          <a:prstGeom prst="rect">
            <a:avLst/>
          </a:prstGeom>
          <a:noFill/>
        </p:spPr>
        <p:txBody>
          <a:bodyPr wrap="none" rtlCol="0">
            <a:spAutoFit/>
          </a:bodyPr>
          <a:lstStyle/>
          <a:p>
            <a:r>
              <a:rPr lang="en-GB" sz="1200" noProof="0" dirty="0"/>
              <a:t>h)</a:t>
            </a:r>
          </a:p>
        </p:txBody>
      </p:sp>
      <p:sp>
        <p:nvSpPr>
          <p:cNvPr id="40" name="TextBox 39">
            <a:extLst>
              <a:ext uri="{FF2B5EF4-FFF2-40B4-BE49-F238E27FC236}">
                <a16:creationId xmlns:a16="http://schemas.microsoft.com/office/drawing/2014/main" id="{519CA145-0A55-47EB-B271-6690400B9E6B}"/>
              </a:ext>
            </a:extLst>
          </p:cNvPr>
          <p:cNvSpPr txBox="1"/>
          <p:nvPr/>
        </p:nvSpPr>
        <p:spPr>
          <a:xfrm>
            <a:off x="4703047" y="4727549"/>
            <a:ext cx="266420" cy="276999"/>
          </a:xfrm>
          <a:prstGeom prst="rect">
            <a:avLst/>
          </a:prstGeom>
          <a:noFill/>
        </p:spPr>
        <p:txBody>
          <a:bodyPr wrap="none" rtlCol="0">
            <a:spAutoFit/>
          </a:bodyPr>
          <a:lstStyle/>
          <a:p>
            <a:r>
              <a:rPr lang="en-GB" sz="1200" noProof="0" dirty="0" err="1"/>
              <a:t>i</a:t>
            </a:r>
            <a:r>
              <a:rPr lang="en-GB" sz="1200" noProof="0" dirty="0"/>
              <a:t>)</a:t>
            </a:r>
          </a:p>
        </p:txBody>
      </p:sp>
      <p:sp>
        <p:nvSpPr>
          <p:cNvPr id="41" name="TextBox 40">
            <a:extLst>
              <a:ext uri="{FF2B5EF4-FFF2-40B4-BE49-F238E27FC236}">
                <a16:creationId xmlns:a16="http://schemas.microsoft.com/office/drawing/2014/main" id="{519CA145-0A55-47EB-B271-6690400B9E6B}"/>
              </a:ext>
            </a:extLst>
          </p:cNvPr>
          <p:cNvSpPr txBox="1"/>
          <p:nvPr/>
        </p:nvSpPr>
        <p:spPr>
          <a:xfrm>
            <a:off x="105794" y="4712970"/>
            <a:ext cx="338554" cy="276999"/>
          </a:xfrm>
          <a:prstGeom prst="rect">
            <a:avLst/>
          </a:prstGeom>
          <a:noFill/>
        </p:spPr>
        <p:txBody>
          <a:bodyPr wrap="none" rtlCol="0">
            <a:spAutoFit/>
          </a:bodyPr>
          <a:lstStyle/>
          <a:p>
            <a:r>
              <a:rPr lang="en-GB" sz="1200" noProof="0" dirty="0"/>
              <a:t>g) </a:t>
            </a:r>
          </a:p>
        </p:txBody>
      </p:sp>
      <p:grpSp>
        <p:nvGrpSpPr>
          <p:cNvPr id="42" name="Group 41"/>
          <p:cNvGrpSpPr/>
          <p:nvPr/>
        </p:nvGrpSpPr>
        <p:grpSpPr>
          <a:xfrm>
            <a:off x="501910" y="9256876"/>
            <a:ext cx="1601234" cy="276999"/>
            <a:chOff x="503980" y="4722851"/>
            <a:chExt cx="1601234" cy="276999"/>
          </a:xfrm>
        </p:grpSpPr>
        <mc:AlternateContent xmlns:mc="http://schemas.openxmlformats.org/markup-compatibility/2006" xmlns:a14="http://schemas.microsoft.com/office/drawing/2010/main">
          <mc:Choice Requires="a14">
            <p:sp>
              <p:nvSpPr>
                <p:cNvPr id="43" name="TextBox 42"/>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43" name="TextBox 42"/>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11"/>
                  <a:stretch>
                    <a:fillRect t="-2222" b="-17778"/>
                  </a:stretch>
                </a:blipFill>
              </p:spPr>
              <p:txBody>
                <a:bodyPr/>
                <a:lstStyle/>
                <a:p>
                  <a:r>
                    <a:rPr lang="en-US">
                      <a:noFill/>
                    </a:rPr>
                    <a:t> </a:t>
                  </a:r>
                </a:p>
              </p:txBody>
            </p:sp>
          </mc:Fallback>
        </mc:AlternateContent>
        <p:cxnSp>
          <p:nvCxnSpPr>
            <p:cNvPr id="44" name="Straight Connector 43"/>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45" name="Straight Connector 44"/>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46" name="Group 45"/>
          <p:cNvGrpSpPr/>
          <p:nvPr/>
        </p:nvGrpSpPr>
        <p:grpSpPr>
          <a:xfrm>
            <a:off x="2730291" y="9257347"/>
            <a:ext cx="1601234" cy="276999"/>
            <a:chOff x="503980" y="4722851"/>
            <a:chExt cx="1601234" cy="276999"/>
          </a:xfrm>
        </p:grpSpPr>
        <mc:AlternateContent xmlns:mc="http://schemas.openxmlformats.org/markup-compatibility/2006" xmlns:a14="http://schemas.microsoft.com/office/drawing/2010/main">
          <mc:Choice Requires="a14">
            <p:sp>
              <p:nvSpPr>
                <p:cNvPr id="47" name="TextBox 46"/>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47" name="TextBox 46"/>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11"/>
                  <a:stretch>
                    <a:fillRect t="-2222" b="-17778"/>
                  </a:stretch>
                </a:blipFill>
              </p:spPr>
              <p:txBody>
                <a:bodyPr/>
                <a:lstStyle/>
                <a:p>
                  <a:r>
                    <a:rPr lang="en-US">
                      <a:noFill/>
                    </a:rPr>
                    <a:t> </a:t>
                  </a:r>
                </a:p>
              </p:txBody>
            </p:sp>
          </mc:Fallback>
        </mc:AlternateContent>
        <p:cxnSp>
          <p:nvCxnSpPr>
            <p:cNvPr id="48" name="Straight Connector 47"/>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49" name="Straight Connector 48"/>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50" name="Group 49"/>
          <p:cNvGrpSpPr/>
          <p:nvPr/>
        </p:nvGrpSpPr>
        <p:grpSpPr>
          <a:xfrm>
            <a:off x="4951807" y="9211918"/>
            <a:ext cx="1601234" cy="276999"/>
            <a:chOff x="503980" y="4722851"/>
            <a:chExt cx="1601234" cy="276999"/>
          </a:xfrm>
        </p:grpSpPr>
        <mc:AlternateContent xmlns:mc="http://schemas.openxmlformats.org/markup-compatibility/2006" xmlns:a14="http://schemas.microsoft.com/office/drawing/2010/main">
          <mc:Choice Requires="a14">
            <p:sp>
              <p:nvSpPr>
                <p:cNvPr id="51" name="TextBox 50"/>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51" name="TextBox 50"/>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2"/>
                  <a:stretch>
                    <a:fillRect b="-15217"/>
                  </a:stretch>
                </a:blipFill>
              </p:spPr>
              <p:txBody>
                <a:bodyPr/>
                <a:lstStyle/>
                <a:p>
                  <a:r>
                    <a:rPr lang="en-US">
                      <a:noFill/>
                    </a:rPr>
                    <a:t> </a:t>
                  </a:r>
                </a:p>
              </p:txBody>
            </p:sp>
          </mc:Fallback>
        </mc:AlternateContent>
        <p:cxnSp>
          <p:nvCxnSpPr>
            <p:cNvPr id="52" name="Straight Connector 51"/>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53" name="Straight Connector 52"/>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294313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5D8BF-18DA-6C7D-2886-234F6230750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841519-FAFF-0AC6-418A-C898695BAF8E}"/>
              </a:ext>
            </a:extLst>
          </p:cNvPr>
          <p:cNvSpPr>
            <a:spLocks noGrp="1"/>
          </p:cNvSpPr>
          <p:nvPr>
            <p:ph type="sldNum" sz="quarter" idx="12"/>
          </p:nvPr>
        </p:nvSpPr>
        <p:spPr/>
        <p:txBody>
          <a:bodyPr/>
          <a:lstStyle/>
          <a:p>
            <a:fld id="{9BD3B4A0-BFF9-422C-B253-48BA94BE2F5B}" type="slidenum">
              <a:rPr lang="en-GB" noProof="0" smtClean="0"/>
              <a:t>13</a:t>
            </a:fld>
            <a:endParaRPr lang="en-GB" noProof="0" dirty="0"/>
          </a:p>
        </p:txBody>
      </p:sp>
      <p:sp>
        <p:nvSpPr>
          <p:cNvPr id="3" name="TextBox 2">
            <a:extLst>
              <a:ext uri="{FF2B5EF4-FFF2-40B4-BE49-F238E27FC236}">
                <a16:creationId xmlns:a16="http://schemas.microsoft.com/office/drawing/2014/main" id="{44B09F49-23A7-0ED6-805A-51477EA2B930}"/>
              </a:ext>
            </a:extLst>
          </p:cNvPr>
          <p:cNvSpPr txBox="1"/>
          <p:nvPr/>
        </p:nvSpPr>
        <p:spPr>
          <a:xfrm>
            <a:off x="0" y="-25400"/>
            <a:ext cx="1294200" cy="276999"/>
          </a:xfrm>
          <a:prstGeom prst="rect">
            <a:avLst/>
          </a:prstGeom>
          <a:solidFill>
            <a:srgbClr val="0070C0"/>
          </a:solidFill>
        </p:spPr>
        <p:txBody>
          <a:bodyPr wrap="none" rtlCol="0" anchor="ctr">
            <a:spAutoFit/>
          </a:bodyPr>
          <a:lstStyle/>
          <a:p>
            <a:pPr algn="r"/>
            <a:r>
              <a:rPr lang="en-GB" sz="1200" b="1" noProof="0" dirty="0">
                <a:solidFill>
                  <a:schemeClr val="bg1"/>
                </a:solidFill>
              </a:rPr>
              <a:t>GCSE QUESTIONS</a:t>
            </a:r>
          </a:p>
        </p:txBody>
      </p:sp>
      <p:pic>
        <p:nvPicPr>
          <p:cNvPr id="7" name="Picture 6" descr="A white sheet with black text and black numbers&#10;&#10;AI-generated content may be incorrect.">
            <a:extLst>
              <a:ext uri="{FF2B5EF4-FFF2-40B4-BE49-F238E27FC236}">
                <a16:creationId xmlns:a16="http://schemas.microsoft.com/office/drawing/2014/main" id="{167085CC-B03F-CA7D-7FE8-D5D534E840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1599"/>
            <a:ext cx="5423179" cy="3329420"/>
          </a:xfrm>
          <a:prstGeom prst="rect">
            <a:avLst/>
          </a:prstGeom>
        </p:spPr>
      </p:pic>
      <p:pic>
        <p:nvPicPr>
          <p:cNvPr id="9" name="Picture 8" descr="A close-up of a questionnaire&#10;&#10;AI-generated content may be incorrect.">
            <a:extLst>
              <a:ext uri="{FF2B5EF4-FFF2-40B4-BE49-F238E27FC236}">
                <a16:creationId xmlns:a16="http://schemas.microsoft.com/office/drawing/2014/main" id="{9F6E1059-63C2-374C-93DF-49B0C9BC7F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3619121"/>
            <a:ext cx="5207000" cy="3511981"/>
          </a:xfrm>
          <a:prstGeom prst="rect">
            <a:avLst/>
          </a:prstGeom>
        </p:spPr>
      </p:pic>
      <p:pic>
        <p:nvPicPr>
          <p:cNvPr id="11" name="Picture 10" descr="A graphing of a mathematical equation&#10;&#10;AI-generated content may be incorrect.">
            <a:extLst>
              <a:ext uri="{FF2B5EF4-FFF2-40B4-BE49-F238E27FC236}">
                <a16:creationId xmlns:a16="http://schemas.microsoft.com/office/drawing/2014/main" id="{D0110DB8-79A7-4261-20DB-C3EE0FC37D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9701" y="7169204"/>
            <a:ext cx="5067300" cy="2637125"/>
          </a:xfrm>
          <a:prstGeom prst="rect">
            <a:avLst/>
          </a:prstGeom>
        </p:spPr>
      </p:pic>
      <p:cxnSp>
        <p:nvCxnSpPr>
          <p:cNvPr id="13" name="Straight Connector 12">
            <a:extLst>
              <a:ext uri="{FF2B5EF4-FFF2-40B4-BE49-F238E27FC236}">
                <a16:creationId xmlns:a16="http://schemas.microsoft.com/office/drawing/2014/main" id="{B596D434-D7BF-21FB-EA7D-0A1CFB0DF302}"/>
              </a:ext>
            </a:extLst>
          </p:cNvPr>
          <p:cNvCxnSpPr/>
          <p:nvPr/>
        </p:nvCxnSpPr>
        <p:spPr>
          <a:xfrm>
            <a:off x="0" y="3619121"/>
            <a:ext cx="685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2589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A3FD83-73AA-60D6-25A6-087351205E6E}"/>
              </a:ext>
            </a:extLst>
          </p:cNvPr>
          <p:cNvSpPr>
            <a:spLocks noGrp="1"/>
          </p:cNvSpPr>
          <p:nvPr>
            <p:ph type="sldNum" sz="quarter" idx="12"/>
          </p:nvPr>
        </p:nvSpPr>
        <p:spPr/>
        <p:txBody>
          <a:bodyPr/>
          <a:lstStyle/>
          <a:p>
            <a:fld id="{9BD3B4A0-BFF9-422C-B253-48BA94BE2F5B}" type="slidenum">
              <a:rPr lang="en-GB" noProof="0" smtClean="0"/>
              <a:t>14</a:t>
            </a:fld>
            <a:endParaRPr lang="en-GB" noProof="0" dirty="0"/>
          </a:p>
        </p:txBody>
      </p:sp>
      <p:pic>
        <p:nvPicPr>
          <p:cNvPr id="4" name="Picture 3" descr="A white paper with black text&#10;&#10;AI-generated content may be incorrect.">
            <a:extLst>
              <a:ext uri="{FF2B5EF4-FFF2-40B4-BE49-F238E27FC236}">
                <a16:creationId xmlns:a16="http://schemas.microsoft.com/office/drawing/2014/main" id="{C29B4050-F7B5-2448-838E-F2394AC7E0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129760" cy="2717800"/>
          </a:xfrm>
          <a:prstGeom prst="rect">
            <a:avLst/>
          </a:prstGeom>
        </p:spPr>
      </p:pic>
      <p:pic>
        <p:nvPicPr>
          <p:cNvPr id="6" name="Picture 5" descr="A white background with black lines&#10;&#10;AI-generated content may be incorrect.">
            <a:extLst>
              <a:ext uri="{FF2B5EF4-FFF2-40B4-BE49-F238E27FC236}">
                <a16:creationId xmlns:a16="http://schemas.microsoft.com/office/drawing/2014/main" id="{357ED945-92F7-2E30-DA83-9938E02C7D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570906"/>
            <a:ext cx="4934910" cy="3296493"/>
          </a:xfrm>
          <a:prstGeom prst="rect">
            <a:avLst/>
          </a:prstGeom>
        </p:spPr>
      </p:pic>
      <p:pic>
        <p:nvPicPr>
          <p:cNvPr id="8" name="Picture 7" descr="A white sheet with black text&#10;&#10;AI-generated content may be incorrect.">
            <a:extLst>
              <a:ext uri="{FF2B5EF4-FFF2-40B4-BE49-F238E27FC236}">
                <a16:creationId xmlns:a16="http://schemas.microsoft.com/office/drawing/2014/main" id="{41B63DD5-CA29-9E62-0395-7C066E71DB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1521" y="6070510"/>
            <a:ext cx="5019106" cy="3733890"/>
          </a:xfrm>
          <a:prstGeom prst="rect">
            <a:avLst/>
          </a:prstGeom>
        </p:spPr>
      </p:pic>
      <p:cxnSp>
        <p:nvCxnSpPr>
          <p:cNvPr id="9" name="Straight Connector 8">
            <a:extLst>
              <a:ext uri="{FF2B5EF4-FFF2-40B4-BE49-F238E27FC236}">
                <a16:creationId xmlns:a16="http://schemas.microsoft.com/office/drawing/2014/main" id="{AAECBC92-8FF7-2B6A-B259-00CD234EFAB4}"/>
              </a:ext>
            </a:extLst>
          </p:cNvPr>
          <p:cNvCxnSpPr/>
          <p:nvPr/>
        </p:nvCxnSpPr>
        <p:spPr>
          <a:xfrm>
            <a:off x="0" y="5867399"/>
            <a:ext cx="685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38727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997915C-FA14-D7E9-7C4F-FB75BED55975}"/>
              </a:ext>
            </a:extLst>
          </p:cNvPr>
          <p:cNvSpPr>
            <a:spLocks noGrp="1"/>
          </p:cNvSpPr>
          <p:nvPr>
            <p:ph type="sldNum" sz="quarter" idx="12"/>
          </p:nvPr>
        </p:nvSpPr>
        <p:spPr/>
        <p:txBody>
          <a:bodyPr/>
          <a:lstStyle/>
          <a:p>
            <a:fld id="{9BD3B4A0-BFF9-422C-B253-48BA94BE2F5B}" type="slidenum">
              <a:rPr lang="en-GB" noProof="0" smtClean="0"/>
              <a:t>15</a:t>
            </a:fld>
            <a:endParaRPr lang="en-GB" noProof="0" dirty="0"/>
          </a:p>
        </p:txBody>
      </p:sp>
      <p:pic>
        <p:nvPicPr>
          <p:cNvPr id="4" name="Picture 3" descr="A white sheet with black text&#10;&#10;AI-generated content may be incorrect.">
            <a:extLst>
              <a:ext uri="{FF2B5EF4-FFF2-40B4-BE49-F238E27FC236}">
                <a16:creationId xmlns:a16="http://schemas.microsoft.com/office/drawing/2014/main" id="{15933E0B-A7CA-9577-B5B8-9111485B25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66" y="0"/>
            <a:ext cx="5800569" cy="4229100"/>
          </a:xfrm>
          <a:prstGeom prst="rect">
            <a:avLst/>
          </a:prstGeom>
        </p:spPr>
      </p:pic>
      <p:pic>
        <p:nvPicPr>
          <p:cNvPr id="6" name="Picture 5" descr="A white sheet with black text&#10;&#10;AI-generated content may be incorrect.">
            <a:extLst>
              <a:ext uri="{FF2B5EF4-FFF2-40B4-BE49-F238E27FC236}">
                <a16:creationId xmlns:a16="http://schemas.microsoft.com/office/drawing/2014/main" id="{E31903B7-2771-F1AD-BAF9-9A757B1C50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379147"/>
            <a:ext cx="5800569" cy="5220512"/>
          </a:xfrm>
          <a:prstGeom prst="rect">
            <a:avLst/>
          </a:prstGeom>
        </p:spPr>
      </p:pic>
      <p:cxnSp>
        <p:nvCxnSpPr>
          <p:cNvPr id="7" name="Straight Connector 6">
            <a:extLst>
              <a:ext uri="{FF2B5EF4-FFF2-40B4-BE49-F238E27FC236}">
                <a16:creationId xmlns:a16="http://schemas.microsoft.com/office/drawing/2014/main" id="{F534111A-B322-5F38-B1FF-4523177CB01B}"/>
              </a:ext>
            </a:extLst>
          </p:cNvPr>
          <p:cNvCxnSpPr/>
          <p:nvPr/>
        </p:nvCxnSpPr>
        <p:spPr>
          <a:xfrm>
            <a:off x="0" y="4379147"/>
            <a:ext cx="685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69217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1B4F43E-7364-1FE8-D7FA-7AFC9DC93D9E}"/>
              </a:ext>
            </a:extLst>
          </p:cNvPr>
          <p:cNvSpPr>
            <a:spLocks noGrp="1"/>
          </p:cNvSpPr>
          <p:nvPr>
            <p:ph type="sldNum" sz="quarter" idx="12"/>
          </p:nvPr>
        </p:nvSpPr>
        <p:spPr/>
        <p:txBody>
          <a:bodyPr/>
          <a:lstStyle/>
          <a:p>
            <a:fld id="{9BD3B4A0-BFF9-422C-B253-48BA94BE2F5B}" type="slidenum">
              <a:rPr lang="en-GB" noProof="0" smtClean="0"/>
              <a:t>16</a:t>
            </a:fld>
            <a:endParaRPr lang="en-GB" noProof="0" dirty="0"/>
          </a:p>
        </p:txBody>
      </p:sp>
      <p:pic>
        <p:nvPicPr>
          <p:cNvPr id="4" name="Picture 3" descr="A white paper with black text&#10;&#10;AI-generated content may be incorrect.">
            <a:extLst>
              <a:ext uri="{FF2B5EF4-FFF2-40B4-BE49-F238E27FC236}">
                <a16:creationId xmlns:a16="http://schemas.microsoft.com/office/drawing/2014/main" id="{54E01A05-F162-F39D-63F6-B4484112DE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384800" cy="4624982"/>
          </a:xfrm>
          <a:prstGeom prst="rect">
            <a:avLst/>
          </a:prstGeom>
        </p:spPr>
      </p:pic>
      <p:pic>
        <p:nvPicPr>
          <p:cNvPr id="6" name="Picture 5" descr="A white sheet with black text&#10;&#10;AI-generated content may be incorrect.">
            <a:extLst>
              <a:ext uri="{FF2B5EF4-FFF2-40B4-BE49-F238E27FC236}">
                <a16:creationId xmlns:a16="http://schemas.microsoft.com/office/drawing/2014/main" id="{6DDCA63B-E860-5EFD-C2BF-3C1393C6CD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77262"/>
            <a:ext cx="5851356" cy="4873138"/>
          </a:xfrm>
          <a:prstGeom prst="rect">
            <a:avLst/>
          </a:prstGeom>
        </p:spPr>
      </p:pic>
      <p:cxnSp>
        <p:nvCxnSpPr>
          <p:cNvPr id="7" name="Straight Connector 6">
            <a:extLst>
              <a:ext uri="{FF2B5EF4-FFF2-40B4-BE49-F238E27FC236}">
                <a16:creationId xmlns:a16="http://schemas.microsoft.com/office/drawing/2014/main" id="{EFAA3483-BF42-4786-FB7E-FEF453CF8DB4}"/>
              </a:ext>
            </a:extLst>
          </p:cNvPr>
          <p:cNvCxnSpPr/>
          <p:nvPr/>
        </p:nvCxnSpPr>
        <p:spPr>
          <a:xfrm>
            <a:off x="0" y="4624982"/>
            <a:ext cx="685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24676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paper with black lines and numbers&#10;&#10;AI-generated content may be incorrect.">
            <a:extLst>
              <a:ext uri="{FF2B5EF4-FFF2-40B4-BE49-F238E27FC236}">
                <a16:creationId xmlns:a16="http://schemas.microsoft.com/office/drawing/2014/main" id="{F8F07509-A6AA-1E2E-C60B-DD8DE809F9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47181"/>
            <a:ext cx="5194300" cy="5391553"/>
          </a:xfrm>
          <a:prstGeom prst="rect">
            <a:avLst/>
          </a:prstGeom>
        </p:spPr>
      </p:pic>
      <p:sp>
        <p:nvSpPr>
          <p:cNvPr id="2" name="Slide Number Placeholder 1">
            <a:extLst>
              <a:ext uri="{FF2B5EF4-FFF2-40B4-BE49-F238E27FC236}">
                <a16:creationId xmlns:a16="http://schemas.microsoft.com/office/drawing/2014/main" id="{72AD3106-3D4B-18D1-5A09-3D3114541EB0}"/>
              </a:ext>
            </a:extLst>
          </p:cNvPr>
          <p:cNvSpPr>
            <a:spLocks noGrp="1"/>
          </p:cNvSpPr>
          <p:nvPr>
            <p:ph type="sldNum" sz="quarter" idx="12"/>
          </p:nvPr>
        </p:nvSpPr>
        <p:spPr/>
        <p:txBody>
          <a:bodyPr/>
          <a:lstStyle/>
          <a:p>
            <a:fld id="{9BD3B4A0-BFF9-422C-B253-48BA94BE2F5B}" type="slidenum">
              <a:rPr lang="en-GB" noProof="0" smtClean="0"/>
              <a:t>17</a:t>
            </a:fld>
            <a:endParaRPr lang="en-GB" noProof="0" dirty="0"/>
          </a:p>
        </p:txBody>
      </p:sp>
      <p:pic>
        <p:nvPicPr>
          <p:cNvPr id="4" name="Picture 3" descr="A group of math equations&#10;&#10;AI-generated content may be incorrect.">
            <a:extLst>
              <a:ext uri="{FF2B5EF4-FFF2-40B4-BE49-F238E27FC236}">
                <a16:creationId xmlns:a16="http://schemas.microsoft.com/office/drawing/2014/main" id="{1CDF0C61-43CD-F841-2314-94BB32DB9A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5619083" cy="4305300"/>
          </a:xfrm>
          <a:prstGeom prst="rect">
            <a:avLst/>
          </a:prstGeom>
        </p:spPr>
      </p:pic>
      <p:cxnSp>
        <p:nvCxnSpPr>
          <p:cNvPr id="5" name="Straight Connector 4">
            <a:extLst>
              <a:ext uri="{FF2B5EF4-FFF2-40B4-BE49-F238E27FC236}">
                <a16:creationId xmlns:a16="http://schemas.microsoft.com/office/drawing/2014/main" id="{9C4009F7-9819-4EDE-571D-7805AB66AED7}"/>
              </a:ext>
            </a:extLst>
          </p:cNvPr>
          <p:cNvCxnSpPr/>
          <p:nvPr/>
        </p:nvCxnSpPr>
        <p:spPr>
          <a:xfrm>
            <a:off x="0" y="4447182"/>
            <a:ext cx="685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664132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AAB6388F5B3DD48A4F5524A84895604" ma:contentTypeVersion="15" ma:contentTypeDescription="Create a new document." ma:contentTypeScope="" ma:versionID="c36092110cefcca6e5858c535339940c">
  <xsd:schema xmlns:xsd="http://www.w3.org/2001/XMLSchema" xmlns:xs="http://www.w3.org/2001/XMLSchema" xmlns:p="http://schemas.microsoft.com/office/2006/metadata/properties" xmlns:ns2="e30b71df-48f4-4db7-95c3-a9033c265cb9" xmlns:ns3="608ebbb4-e88b-4c99-b506-21d9362781c6" targetNamespace="http://schemas.microsoft.com/office/2006/metadata/properties" ma:root="true" ma:fieldsID="3c7dc145ce5e2630103f335797796874" ns2:_="" ns3:_="">
    <xsd:import namespace="e30b71df-48f4-4db7-95c3-a9033c265cb9"/>
    <xsd:import namespace="608ebbb4-e88b-4c99-b506-21d9362781c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3:SharedWithUsers" minOccurs="0"/>
                <xsd:element ref="ns3:SharedWithDetails" minOccurs="0"/>
                <xsd:element ref="ns2:MediaServiceObjectDetectorVersions" minOccurs="0"/>
                <xsd:element ref="ns2:MediaServiceSearchProperties"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0b71df-48f4-4db7-95c3-a9033c265c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8ebbb4-e88b-4c99-b506-21d9362781c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75341F5-807F-4D4C-8745-52968C7970F3}"/>
</file>

<file path=customXml/itemProps2.xml><?xml version="1.0" encoding="utf-8"?>
<ds:datastoreItem xmlns:ds="http://schemas.openxmlformats.org/officeDocument/2006/customXml" ds:itemID="{C053D74A-5336-454B-8D4D-7A76286864F0}">
  <ds:schemaRefs>
    <ds:schemaRef ds:uri="http://schemas.microsoft.com/sharepoint/v3/contenttype/forms"/>
  </ds:schemaRefs>
</ds:datastoreItem>
</file>

<file path=customXml/itemProps3.xml><?xml version="1.0" encoding="utf-8"?>
<ds:datastoreItem xmlns:ds="http://schemas.openxmlformats.org/officeDocument/2006/customXml" ds:itemID="{00F551DF-02B3-45E2-A83E-993D28DAF02D}">
  <ds:schemaRefs>
    <ds:schemaRef ds:uri="608ebbb4-e88b-4c99-b506-21d9362781c6"/>
    <ds:schemaRef ds:uri="e30b71df-48f4-4db7-95c3-a9033c265cb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2222</Words>
  <Application>Microsoft Office PowerPoint</Application>
  <PresentationFormat>A4 Paper (210x297 mm)</PresentationFormat>
  <Paragraphs>444</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Marcus Lindley (Staff, Astrea Academy Sheffield)</dc:creator>
  <cp:lastModifiedBy>Adam Brown (Astrea Central)</cp:lastModifiedBy>
  <cp:revision>10</cp:revision>
  <cp:lastPrinted>2023-02-02T08:32:36Z</cp:lastPrinted>
  <dcterms:created xsi:type="dcterms:W3CDTF">2022-06-06T15:50:05Z</dcterms:created>
  <dcterms:modified xsi:type="dcterms:W3CDTF">2025-08-06T14:26:56Z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0x010100CAAB6388F5B3DD48A4F5524A84895604</vt:lpwstr>
  </property>
  <property fmtid="{D5CDD505-2E9C-101B-9397-08002B2CF9AE}" pid="3" name="xd_ProgID">
    <vt:lpwstr/>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Staff_x0020_Category">
    <vt:lpwstr/>
  </property>
  <property fmtid="{D5CDD505-2E9C-101B-9397-08002B2CF9AE}" pid="11" name="Staff Category">
    <vt:lpwstr/>
  </property>
  <property fmtid="{D5CDD505-2E9C-101B-9397-08002B2CF9AE}" pid="12" name="xd_Signature">
    <vt:bool>false</vt:bool>
  </property>
  <property fmtid="{D5CDD505-2E9C-101B-9397-08002B2CF9AE}" pid="13" name="Order">
    <vt:r8>351600</vt:r8>
  </property>
</Properties>
</file>