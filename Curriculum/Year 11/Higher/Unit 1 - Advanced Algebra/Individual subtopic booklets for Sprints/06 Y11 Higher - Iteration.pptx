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sldIdLst>
    <p:sldId id="296" r:id="rId5"/>
    <p:sldId id="347" r:id="rId6"/>
    <p:sldId id="303" r:id="rId7"/>
    <p:sldId id="2719" r:id="rId8"/>
    <p:sldId id="2723" r:id="rId9"/>
    <p:sldId id="2724" r:id="rId10"/>
    <p:sldId id="348" r:id="rId11"/>
    <p:sldId id="355" r:id="rId12"/>
    <p:sldId id="379" r:id="rId13"/>
    <p:sldId id="353" r:id="rId14"/>
    <p:sldId id="349" r:id="rId15"/>
    <p:sldId id="378" r:id="rId16"/>
    <p:sldId id="2720" r:id="rId17"/>
    <p:sldId id="350" r:id="rId18"/>
    <p:sldId id="377" r:id="rId19"/>
    <p:sldId id="2721" r:id="rId20"/>
    <p:sldId id="2722" r:id="rId21"/>
    <p:sldId id="2725" r:id="rId22"/>
    <p:sldId id="2726" r:id="rId23"/>
    <p:sldId id="2727" r:id="rId24"/>
  </p:sldIdLst>
  <p:sldSz cx="6858000" cy="9906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8" autoAdjust="0"/>
    <p:restoredTop sz="94660"/>
  </p:normalViewPr>
  <p:slideViewPr>
    <p:cSldViewPr snapToGrid="0">
      <p:cViewPr varScale="1">
        <p:scale>
          <a:sx n="77" d="100"/>
          <a:sy n="77" d="100"/>
        </p:scale>
        <p:origin x="32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Brown (Astrea Central)" userId="e4577f1c-a0ea-4eef-9851-9bdbe8619e58" providerId="ADAL" clId="{E596E54A-817A-4EBB-AF2C-5B110CE37E13}"/>
    <pc:docChg chg="delSld">
      <pc:chgData name="Adam Brown (Astrea Central)" userId="e4577f1c-a0ea-4eef-9851-9bdbe8619e58" providerId="ADAL" clId="{E596E54A-817A-4EBB-AF2C-5B110CE37E13}" dt="2025-08-06T14:28:13.053" v="1" actId="47"/>
      <pc:docMkLst>
        <pc:docMk/>
      </pc:docMkLst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420724009" sldId="257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1005434100" sldId="258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171837948" sldId="264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1580091344" sldId="265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414722630" sldId="266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3426703939" sldId="267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937638385" sldId="268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931845994" sldId="269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57951128" sldId="277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917533864" sldId="286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1859692058" sldId="287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1926886564" sldId="288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1337681295" sldId="289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141734747" sldId="290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3777180378" sldId="291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706008046" sldId="292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905413640" sldId="293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324741368" sldId="294"/>
        </pc:sldMkLst>
      </pc:sldChg>
      <pc:sldChg chg="del">
        <pc:chgData name="Adam Brown (Astrea Central)" userId="e4577f1c-a0ea-4eef-9851-9bdbe8619e58" providerId="ADAL" clId="{E596E54A-817A-4EBB-AF2C-5B110CE37E13}" dt="2025-08-06T14:28:13.053" v="1" actId="47"/>
        <pc:sldMkLst>
          <pc:docMk/>
          <pc:sldMk cId="4216146809" sldId="313"/>
        </pc:sldMkLst>
      </pc:sldChg>
      <pc:sldChg chg="del">
        <pc:chgData name="Adam Brown (Astrea Central)" userId="e4577f1c-a0ea-4eef-9851-9bdbe8619e58" providerId="ADAL" clId="{E596E54A-817A-4EBB-AF2C-5B110CE37E13}" dt="2025-08-06T14:28:13.053" v="1" actId="47"/>
        <pc:sldMkLst>
          <pc:docMk/>
          <pc:sldMk cId="1844880138" sldId="314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826102320" sldId="322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304709194" sldId="323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969948017" sldId="324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4032890790" sldId="325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502521823" sldId="326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3767051523" sldId="327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4281584568" sldId="328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219975397" sldId="329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599370368" sldId="330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962353856" sldId="331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1908346100" sldId="334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3525067124" sldId="335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724810248" sldId="336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1629160325" sldId="344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4174300119" sldId="345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329431369" sldId="346"/>
        </pc:sldMkLst>
      </pc:sldChg>
      <pc:sldChg chg="del">
        <pc:chgData name="Adam Brown (Astrea Central)" userId="e4577f1c-a0ea-4eef-9851-9bdbe8619e58" providerId="ADAL" clId="{E596E54A-817A-4EBB-AF2C-5B110CE37E13}" dt="2025-08-06T14:28:13.053" v="1" actId="47"/>
        <pc:sldMkLst>
          <pc:docMk/>
          <pc:sldMk cId="3479034719" sldId="356"/>
        </pc:sldMkLst>
      </pc:sldChg>
      <pc:sldChg chg="del">
        <pc:chgData name="Adam Brown (Astrea Central)" userId="e4577f1c-a0ea-4eef-9851-9bdbe8619e58" providerId="ADAL" clId="{E596E54A-817A-4EBB-AF2C-5B110CE37E13}" dt="2025-08-06T14:28:13.053" v="1" actId="47"/>
        <pc:sldMkLst>
          <pc:docMk/>
          <pc:sldMk cId="900685508" sldId="357"/>
        </pc:sldMkLst>
      </pc:sldChg>
      <pc:sldChg chg="del">
        <pc:chgData name="Adam Brown (Astrea Central)" userId="e4577f1c-a0ea-4eef-9851-9bdbe8619e58" providerId="ADAL" clId="{E596E54A-817A-4EBB-AF2C-5B110CE37E13}" dt="2025-08-06T14:28:13.053" v="1" actId="47"/>
        <pc:sldMkLst>
          <pc:docMk/>
          <pc:sldMk cId="3657856763" sldId="358"/>
        </pc:sldMkLst>
      </pc:sldChg>
      <pc:sldChg chg="del">
        <pc:chgData name="Adam Brown (Astrea Central)" userId="e4577f1c-a0ea-4eef-9851-9bdbe8619e58" providerId="ADAL" clId="{E596E54A-817A-4EBB-AF2C-5B110CE37E13}" dt="2025-08-06T14:28:13.053" v="1" actId="47"/>
        <pc:sldMkLst>
          <pc:docMk/>
          <pc:sldMk cId="1784817808" sldId="372"/>
        </pc:sldMkLst>
      </pc:sldChg>
      <pc:sldChg chg="del">
        <pc:chgData name="Adam Brown (Astrea Central)" userId="e4577f1c-a0ea-4eef-9851-9bdbe8619e58" providerId="ADAL" clId="{E596E54A-817A-4EBB-AF2C-5B110CE37E13}" dt="2025-08-06T14:28:13.053" v="1" actId="47"/>
        <pc:sldMkLst>
          <pc:docMk/>
          <pc:sldMk cId="1919084134" sldId="373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4144469883" sldId="374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1627169086" sldId="375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3692886486" sldId="376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933153135" sldId="2728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1290489478" sldId="2729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759071522" sldId="2750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1546075972" sldId="2751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3552589205" sldId="2752"/>
        </pc:sldMkLst>
      </pc:sldChg>
      <pc:sldChg chg="del">
        <pc:chgData name="Adam Brown (Astrea Central)" userId="e4577f1c-a0ea-4eef-9851-9bdbe8619e58" providerId="ADAL" clId="{E596E54A-817A-4EBB-AF2C-5B110CE37E13}" dt="2025-08-06T14:28:13.053" v="1" actId="47"/>
        <pc:sldMkLst>
          <pc:docMk/>
          <pc:sldMk cId="2566927058" sldId="2753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1389947671" sldId="2759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290734628" sldId="2760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1729915234" sldId="2761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3135394857" sldId="2762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000600415" sldId="2763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547779968" sldId="2764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649580854" sldId="2765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109098751" sldId="2766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673872755" sldId="2767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4276921759" sldId="2768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4072467659" sldId="2769"/>
        </pc:sldMkLst>
      </pc:sldChg>
      <pc:sldChg chg="del">
        <pc:chgData name="Adam Brown (Astrea Central)" userId="e4577f1c-a0ea-4eef-9851-9bdbe8619e58" providerId="ADAL" clId="{E596E54A-817A-4EBB-AF2C-5B110CE37E13}" dt="2025-08-06T14:27:54.457" v="0" actId="47"/>
        <pc:sldMkLst>
          <pc:docMk/>
          <pc:sldMk cId="2116641321" sldId="2770"/>
        </pc:sldMkLst>
      </pc:sldChg>
      <pc:sldChg chg="del">
        <pc:chgData name="Adam Brown (Astrea Central)" userId="e4577f1c-a0ea-4eef-9851-9bdbe8619e58" providerId="ADAL" clId="{E596E54A-817A-4EBB-AF2C-5B110CE37E13}" dt="2025-08-06T14:28:13.053" v="1" actId="47"/>
        <pc:sldMkLst>
          <pc:docMk/>
          <pc:sldMk cId="3503684853" sldId="2771"/>
        </pc:sldMkLst>
      </pc:sldChg>
      <pc:sldChg chg="del">
        <pc:chgData name="Adam Brown (Astrea Central)" userId="e4577f1c-a0ea-4eef-9851-9bdbe8619e58" providerId="ADAL" clId="{E596E54A-817A-4EBB-AF2C-5B110CE37E13}" dt="2025-08-06T14:28:13.053" v="1" actId="47"/>
        <pc:sldMkLst>
          <pc:docMk/>
          <pc:sldMk cId="2628843454" sldId="2772"/>
        </pc:sldMkLst>
      </pc:sldChg>
      <pc:sldChg chg="del">
        <pc:chgData name="Adam Brown (Astrea Central)" userId="e4577f1c-a0ea-4eef-9851-9bdbe8619e58" providerId="ADAL" clId="{E596E54A-817A-4EBB-AF2C-5B110CE37E13}" dt="2025-08-06T14:28:13.053" v="1" actId="47"/>
        <pc:sldMkLst>
          <pc:docMk/>
          <pc:sldMk cId="3901821836" sldId="2773"/>
        </pc:sldMkLst>
      </pc:sldChg>
      <pc:sldChg chg="del">
        <pc:chgData name="Adam Brown (Astrea Central)" userId="e4577f1c-a0ea-4eef-9851-9bdbe8619e58" providerId="ADAL" clId="{E596E54A-817A-4EBB-AF2C-5B110CE37E13}" dt="2025-08-06T14:28:13.053" v="1" actId="47"/>
        <pc:sldMkLst>
          <pc:docMk/>
          <pc:sldMk cId="1180888511" sldId="27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87872-9236-460B-BC2A-E44A8AC6C1EB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AC23A-D8C2-4808-8C51-A2299E24B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72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68538" y="1243013"/>
            <a:ext cx="2320925" cy="335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4A783-C653-C444-A1FE-7D3BC73388DB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151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45BB-F530-4C6B-ABAE-E32F8A251980}" type="datetime1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69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DB0C-8CB1-4E4B-A7D2-72D1E989F74F}" type="datetime1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73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B7CF-AD3A-412E-A236-AD334123F5DC}" type="datetime1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24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8CF75-DE73-4975-8438-DCC60FF5A9C7}" type="datetime1">
              <a:rPr lang="en-GB" smtClean="0"/>
              <a:t>06/08/2025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25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33DA-9DCC-4C1C-BE87-1B843446F1E2}" type="datetime1">
              <a:rPr lang="en-GB" smtClean="0"/>
              <a:t>06/08/2025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26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6B931-B1B4-4301-9FA3-4AC76251F969}" type="datetime1">
              <a:rPr lang="en-GB" smtClean="0"/>
              <a:t>06/08/2025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73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B317-EAB0-4C19-A195-2782EA19078C}" type="datetime1">
              <a:rPr lang="en-GB" smtClean="0"/>
              <a:t>06/08/2025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90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F5A2-2F3B-430C-BD43-6D2323C7CD6A}" type="datetime1">
              <a:rPr lang="en-GB" smtClean="0"/>
              <a:t>06/08/2025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42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AD09F-1297-4193-9BA9-680759B76EE0}" type="datetime1">
              <a:rPr lang="en-GB" smtClean="0"/>
              <a:t>06/08/2025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88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873-3A83-4840-BD06-EB3A5B53B6DA}" type="datetime1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27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7EED6-F9AB-4871-A4A9-4EB7B43E5F99}" type="datetime1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89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18337-BCAC-4A6B-9508-65A0DEBA7F58}" type="datetime1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756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3.png"/><Relationship Id="rId7" Type="http://schemas.openxmlformats.org/officeDocument/2006/relationships/image" Target="../media/image86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6.png"/><Relationship Id="rId5" Type="http://schemas.openxmlformats.org/officeDocument/2006/relationships/image" Target="../media/image865.png"/><Relationship Id="rId4" Type="http://schemas.openxmlformats.org/officeDocument/2006/relationships/image" Target="../media/image86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4.png"/><Relationship Id="rId13" Type="http://schemas.openxmlformats.org/officeDocument/2006/relationships/image" Target="../media/image879.png"/><Relationship Id="rId3" Type="http://schemas.openxmlformats.org/officeDocument/2006/relationships/image" Target="../media/image869.png"/><Relationship Id="rId7" Type="http://schemas.openxmlformats.org/officeDocument/2006/relationships/image" Target="../media/image873.png"/><Relationship Id="rId12" Type="http://schemas.openxmlformats.org/officeDocument/2006/relationships/image" Target="../media/image878.png"/><Relationship Id="rId17" Type="http://schemas.openxmlformats.org/officeDocument/2006/relationships/image" Target="../media/image883.png"/><Relationship Id="rId2" Type="http://schemas.openxmlformats.org/officeDocument/2006/relationships/image" Target="../media/image868.png"/><Relationship Id="rId16" Type="http://schemas.openxmlformats.org/officeDocument/2006/relationships/image" Target="../media/image8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2.png"/><Relationship Id="rId11" Type="http://schemas.openxmlformats.org/officeDocument/2006/relationships/image" Target="../media/image877.png"/><Relationship Id="rId5" Type="http://schemas.openxmlformats.org/officeDocument/2006/relationships/image" Target="../media/image871.png"/><Relationship Id="rId15" Type="http://schemas.openxmlformats.org/officeDocument/2006/relationships/image" Target="../media/image881.png"/><Relationship Id="rId10" Type="http://schemas.openxmlformats.org/officeDocument/2006/relationships/image" Target="../media/image876.png"/><Relationship Id="rId4" Type="http://schemas.openxmlformats.org/officeDocument/2006/relationships/image" Target="../media/image870.png"/><Relationship Id="rId9" Type="http://schemas.openxmlformats.org/officeDocument/2006/relationships/image" Target="../media/image875.png"/><Relationship Id="rId14" Type="http://schemas.openxmlformats.org/officeDocument/2006/relationships/image" Target="../media/image88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0.png"/><Relationship Id="rId3" Type="http://schemas.openxmlformats.org/officeDocument/2006/relationships/image" Target="../media/image885.png"/><Relationship Id="rId7" Type="http://schemas.openxmlformats.org/officeDocument/2006/relationships/image" Target="../media/image889.png"/><Relationship Id="rId2" Type="http://schemas.openxmlformats.org/officeDocument/2006/relationships/image" Target="../media/image8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8.png"/><Relationship Id="rId5" Type="http://schemas.openxmlformats.org/officeDocument/2006/relationships/image" Target="../media/image887.png"/><Relationship Id="rId10" Type="http://schemas.openxmlformats.org/officeDocument/2006/relationships/image" Target="../media/image892.png"/><Relationship Id="rId4" Type="http://schemas.openxmlformats.org/officeDocument/2006/relationships/image" Target="../media/image886.png"/><Relationship Id="rId9" Type="http://schemas.openxmlformats.org/officeDocument/2006/relationships/image" Target="../media/image89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9.png"/><Relationship Id="rId3" Type="http://schemas.openxmlformats.org/officeDocument/2006/relationships/image" Target="../media/image904.png"/><Relationship Id="rId7" Type="http://schemas.openxmlformats.org/officeDocument/2006/relationships/image" Target="../media/image908.png"/><Relationship Id="rId2" Type="http://schemas.openxmlformats.org/officeDocument/2006/relationships/image" Target="../media/image9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7.png"/><Relationship Id="rId5" Type="http://schemas.openxmlformats.org/officeDocument/2006/relationships/image" Target="../media/image906.png"/><Relationship Id="rId4" Type="http://schemas.openxmlformats.org/officeDocument/2006/relationships/image" Target="../media/image90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2.png"/><Relationship Id="rId2" Type="http://schemas.openxmlformats.org/officeDocument/2006/relationships/image" Target="../media/image9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5.png"/><Relationship Id="rId2" Type="http://schemas.openxmlformats.org/officeDocument/2006/relationships/image" Target="../media/image9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7.png"/><Relationship Id="rId4" Type="http://schemas.openxmlformats.org/officeDocument/2006/relationships/image" Target="../media/image9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F1A3AF-9DF9-429F-95F4-AB8E1E426D51}"/>
              </a:ext>
            </a:extLst>
          </p:cNvPr>
          <p:cNvSpPr/>
          <p:nvPr/>
        </p:nvSpPr>
        <p:spPr>
          <a:xfrm>
            <a:off x="102618" y="317360"/>
            <a:ext cx="6690631" cy="12114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54F5C1-D21B-4CDE-B4FD-998FDBB2B0D6}"/>
              </a:ext>
            </a:extLst>
          </p:cNvPr>
          <p:cNvSpPr/>
          <p:nvPr/>
        </p:nvSpPr>
        <p:spPr>
          <a:xfrm>
            <a:off x="-9365" y="6061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prstClr val="white"/>
                </a:solidFill>
              </a:rPr>
              <a:t>Subtopic 6a – Iteration</a:t>
            </a:r>
            <a:endParaRPr lang="en-GB" b="1" noProof="0" dirty="0">
              <a:solidFill>
                <a:prstClr val="white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C5D410-9446-41B2-BEF5-E64D48C58308}"/>
              </a:ext>
            </a:extLst>
          </p:cNvPr>
          <p:cNvSpPr txBox="1"/>
          <p:nvPr/>
        </p:nvSpPr>
        <p:spPr>
          <a:xfrm>
            <a:off x="265577" y="780711"/>
            <a:ext cx="2647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noProof="0" dirty="0"/>
              <a:t>Objectives: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8F4060-A0FD-C84C-8A22-502E16E49D73}"/>
              </a:ext>
            </a:extLst>
          </p:cNvPr>
          <p:cNvSpPr txBox="1"/>
          <p:nvPr/>
        </p:nvSpPr>
        <p:spPr>
          <a:xfrm>
            <a:off x="904873" y="415516"/>
            <a:ext cx="499104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LEARNING OUTCOME:  To use iterative process to solve equations.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176BCB-F2F4-854D-9A37-B7D4A0081FB0}"/>
              </a:ext>
            </a:extLst>
          </p:cNvPr>
          <p:cNvSpPr txBox="1"/>
          <p:nvPr/>
        </p:nvSpPr>
        <p:spPr>
          <a:xfrm>
            <a:off x="840920" y="1065117"/>
            <a:ext cx="3888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  <a:defRPr/>
            </a:pPr>
            <a:r>
              <a:rPr lang="en-GB" sz="1200" noProof="0" dirty="0"/>
              <a:t>To be able to substitute using a calculator.</a:t>
            </a:r>
          </a:p>
          <a:p>
            <a:pPr marL="228600" indent="-228600">
              <a:buFont typeface="+mj-lt"/>
              <a:buAutoNum type="arabicPeriod"/>
              <a:defRPr/>
            </a:pPr>
            <a:r>
              <a:rPr lang="en-GB" sz="1200" noProof="0" dirty="0"/>
              <a:t>To be able to use iteration to solve equations. </a:t>
            </a:r>
          </a:p>
          <a:p>
            <a:pPr marL="228600" indent="-228600">
              <a:buFont typeface="+mj-lt"/>
              <a:buAutoNum type="arabicPeriod"/>
              <a:defRPr/>
            </a:pPr>
            <a:endParaRPr lang="en-GB" sz="1200" noProof="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E260F4-7858-F54C-9B2A-3736C7864E2E}"/>
              </a:ext>
            </a:extLst>
          </p:cNvPr>
          <p:cNvSpPr txBox="1"/>
          <p:nvPr/>
        </p:nvSpPr>
        <p:spPr>
          <a:xfrm>
            <a:off x="5557718" y="882433"/>
            <a:ext cx="1235531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u="sng" noProof="0" dirty="0"/>
              <a:t>Keywords:</a:t>
            </a:r>
          </a:p>
          <a:p>
            <a:pPr marL="171450" indent="-171450">
              <a:buFontTx/>
              <a:buChar char="-"/>
            </a:pPr>
            <a:r>
              <a:rPr lang="en-GB" sz="1200" noProof="0" dirty="0"/>
              <a:t>Sequence</a:t>
            </a:r>
          </a:p>
          <a:p>
            <a:pPr marL="171450" indent="-171450">
              <a:buFontTx/>
              <a:buChar char="-"/>
            </a:pPr>
            <a:r>
              <a:rPr lang="en-GB" sz="1200" noProof="0" dirty="0"/>
              <a:t>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0" name="Table 4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6239255"/>
                  </p:ext>
                </p:extLst>
              </p:nvPr>
            </p:nvGraphicFramePr>
            <p:xfrm>
              <a:off x="130331" y="5560678"/>
              <a:ext cx="6662919" cy="4335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1410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70889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70890">
                      <a:extLst>
                        <a:ext uri="{9D8B030D-6E8A-4147-A177-3AD203B41FA5}">
                          <a16:colId xmlns:a16="http://schemas.microsoft.com/office/drawing/2014/main" val="772331842"/>
                        </a:ext>
                      </a:extLst>
                    </a:gridCol>
                    <a:gridCol w="1769730">
                      <a:extLst>
                        <a:ext uri="{9D8B030D-6E8A-4147-A177-3AD203B41FA5}">
                          <a16:colId xmlns:a16="http://schemas.microsoft.com/office/drawing/2014/main" val="1506195925"/>
                        </a:ext>
                      </a:extLst>
                    </a:gridCol>
                  </a:tblGrid>
                  <a:tr h="1776988">
                    <a:tc>
                      <a:txBody>
                        <a:bodyPr/>
                        <a:lstStyle/>
                        <a:p>
                          <a:r>
                            <a:rPr lang="en-GB" sz="1100" b="1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A sequence is generated using the following term-to-term formula.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is the first term.</a:t>
                          </a: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=3,  </m:t>
                                </m:r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Find the first 3 terms in the sequence.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A sequence is generated using the following term-to-term formula.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is the first term.</a:t>
                          </a: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=3,  </m:t>
                                </m:r>
                              </m:oMath>
                            </m:oMathPara>
                          </a14:m>
                          <a:endParaRPr lang="en-GB" sz="1200" b="0" i="1" noProof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Find the first 3 terms in the sequence.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A sequence is generated using the following term-to-term formula.</a:t>
                          </a: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is the first term.</a:t>
                          </a: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=3,  </m:t>
                                </m:r>
                              </m:oMath>
                            </m:oMathPara>
                          </a14:m>
                          <a:endParaRPr lang="en-GB" sz="1200" b="0" i="1" noProof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+10</m:t>
                                </m:r>
                              </m:oMath>
                            </m:oMathPara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Find the first 3 terms in the sequence.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673660">
                    <a:tc>
                      <a:txBody>
                        <a:bodyPr/>
                        <a:lstStyle/>
                        <a:p>
                          <a:r>
                            <a:rPr lang="en-GB" sz="1200" noProof="0" dirty="0"/>
                            <a:t>Write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200" noProof="0" dirty="0"/>
                            <a:t> into your calculator and click equals.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761566">
                    <a:tc>
                      <a:txBody>
                        <a:bodyPr/>
                        <a:lstStyle/>
                        <a:p>
                          <a:r>
                            <a:rPr lang="en-GB" sz="1200" noProof="0" dirty="0"/>
                            <a:t>Type</a:t>
                          </a:r>
                          <a:r>
                            <a:rPr lang="en-GB" sz="1200" baseline="0" noProof="0" dirty="0"/>
                            <a:t> out the formula and substitute ANS 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GB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  <a:tr h="918627">
                    <a:tc>
                      <a:txBody>
                        <a:bodyPr/>
                        <a:lstStyle/>
                        <a:p>
                          <a:r>
                            <a:rPr lang="en-GB" sz="1200" noProof="0" dirty="0"/>
                            <a:t>Click</a:t>
                          </a:r>
                          <a:r>
                            <a:rPr lang="en-GB" sz="1200" baseline="0" noProof="0" dirty="0"/>
                            <a:t> equals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GB" sz="1200" noProof="0" dirty="0"/>
                            <a:t> times,</a:t>
                          </a:r>
                          <a:r>
                            <a:rPr lang="en-GB" sz="1200" baseline="0" noProof="0" dirty="0"/>
                            <a:t> writing each output down</a:t>
                          </a:r>
                          <a:endParaRPr lang="en-GB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276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0" name="Table 4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6239255"/>
                  </p:ext>
                </p:extLst>
              </p:nvPr>
            </p:nvGraphicFramePr>
            <p:xfrm>
              <a:off x="130331" y="5560678"/>
              <a:ext cx="6662919" cy="4335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1410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70889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770890">
                      <a:extLst>
                        <a:ext uri="{9D8B030D-6E8A-4147-A177-3AD203B41FA5}">
                          <a16:colId xmlns:a16="http://schemas.microsoft.com/office/drawing/2014/main" val="772331842"/>
                        </a:ext>
                      </a:extLst>
                    </a:gridCol>
                    <a:gridCol w="1769730">
                      <a:extLst>
                        <a:ext uri="{9D8B030D-6E8A-4147-A177-3AD203B41FA5}">
                          <a16:colId xmlns:a16="http://schemas.microsoft.com/office/drawing/2014/main" val="1506195925"/>
                        </a:ext>
                      </a:extLst>
                    </a:gridCol>
                  </a:tblGrid>
                  <a:tr h="1920240">
                    <a:tc>
                      <a:txBody>
                        <a:bodyPr/>
                        <a:lstStyle/>
                        <a:p>
                          <a:r>
                            <a:rPr lang="en-GB" sz="11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6632" t="-317" r="-20034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241" t="-317" r="-101034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6289" t="-317" r="-687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6736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0" t="-284685" r="-393694" b="-259459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0" t="-316296" r="-393694" b="-113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  <a:tr h="9186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0" t="-372185" r="-393694" b="-132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2763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EA4FD2D9-8D23-4ADE-B70E-F386FDED2BED}"/>
              </a:ext>
            </a:extLst>
          </p:cNvPr>
          <p:cNvSpPr txBox="1"/>
          <p:nvPr/>
        </p:nvSpPr>
        <p:spPr>
          <a:xfrm>
            <a:off x="5277958" y="5288095"/>
            <a:ext cx="149880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noProof="0" dirty="0">
                <a:solidFill>
                  <a:srgbClr val="00B050"/>
                </a:solidFill>
              </a:rPr>
              <a:t>Example 3 - You do…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E67FA9-518E-48EE-9C3C-DC43DA12711A}"/>
              </a:ext>
            </a:extLst>
          </p:cNvPr>
          <p:cNvSpPr txBox="1"/>
          <p:nvPr/>
        </p:nvSpPr>
        <p:spPr>
          <a:xfrm>
            <a:off x="3253777" y="5303414"/>
            <a:ext cx="147578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noProof="0" dirty="0">
                <a:solidFill>
                  <a:schemeClr val="accent2"/>
                </a:solidFill>
              </a:rPr>
              <a:t>Example 2 - We do…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5FDE3F-DC2A-468E-BF61-F69BF8BB2775}"/>
              </a:ext>
            </a:extLst>
          </p:cNvPr>
          <p:cNvSpPr txBox="1"/>
          <p:nvPr/>
        </p:nvSpPr>
        <p:spPr>
          <a:xfrm>
            <a:off x="1521032" y="5318768"/>
            <a:ext cx="127323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noProof="0" dirty="0">
                <a:solidFill>
                  <a:srgbClr val="FF0000"/>
                </a:solidFill>
              </a:rPr>
              <a:t>Example 1- I do…</a:t>
            </a:r>
          </a:p>
        </p:txBody>
      </p:sp>
      <p:sp>
        <p:nvSpPr>
          <p:cNvPr id="21" name="Slide Number Placeholder 16"/>
          <p:cNvSpPr txBox="1">
            <a:spLocks/>
          </p:cNvSpPr>
          <p:nvPr/>
        </p:nvSpPr>
        <p:spPr>
          <a:xfrm>
            <a:off x="5403586" y="950162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D3B4A0-BFF9-422C-B253-48BA94BE2F5B}" type="slidenum">
              <a:rPr lang="en-GB" noProof="0" smtClean="0"/>
              <a:pPr/>
              <a:t>1</a:t>
            </a:fld>
            <a:endParaRPr lang="en-GB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E7EDCC2-ABAA-434F-8C0E-6C3A1F76BAE7}"/>
              </a:ext>
            </a:extLst>
          </p:cNvPr>
          <p:cNvCxnSpPr/>
          <p:nvPr/>
        </p:nvCxnSpPr>
        <p:spPr>
          <a:xfrm flipV="1">
            <a:off x="7999084" y="3774497"/>
            <a:ext cx="5541513" cy="2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44403" y="2014149"/>
            <a:ext cx="6654033" cy="21643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7150774" y="3117850"/>
            <a:ext cx="66992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cxnSpLocks/>
            <a:stCxn id="23" idx="2"/>
            <a:endCxn id="23" idx="0"/>
          </p:cNvCxnSpPr>
          <p:nvPr/>
        </p:nvCxnSpPr>
        <p:spPr>
          <a:xfrm flipV="1">
            <a:off x="10471420" y="2014149"/>
            <a:ext cx="0" cy="21643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62158" y="2004771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Definition</a:t>
            </a:r>
          </a:p>
          <a:p>
            <a:endParaRPr lang="en-GB" sz="1200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12686209" y="1972385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Characteristics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7305" y="3101909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Examples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4722" y="3077528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Non - Examples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2937" y="2245828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Repetition of a mathematical or computational procedure applied to the result of a previous application,</a:t>
            </a:r>
            <a:endParaRPr lang="en-GB" sz="600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9896552" y="2974904"/>
            <a:ext cx="98963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7177305" y="3321106"/>
                <a:ext cx="1984005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sz="1200" noProof="0" dirty="0"/>
              </a:p>
              <a:p>
                <a:r>
                  <a:rPr lang="en-GB" sz="1200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+2=5</m:t>
                    </m:r>
                  </m:oMath>
                </a14:m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305" y="3321106"/>
                <a:ext cx="1984005" cy="830997"/>
              </a:xfrm>
              <a:prstGeom prst="rect">
                <a:avLst/>
              </a:prstGeom>
              <a:blipFill>
                <a:blip r:embed="rId4"/>
                <a:stretch>
                  <a:fillRect b="-5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0536883" y="2188605"/>
                <a:ext cx="32303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noProof="0" dirty="0"/>
                  <a:t>Successive terms are written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1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100" b="0" i="1" noProof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GB" sz="600" noProof="0" dirty="0"/>
              </a:p>
              <a:p>
                <a:endParaRPr lang="en-GB" sz="600" noProof="0" dirty="0"/>
              </a:p>
              <a:p>
                <a:r>
                  <a:rPr lang="en-GB" sz="1100" noProof="0" dirty="0"/>
                  <a:t>Iteration can be used to show that an equation can have a solution between two values.  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6883" y="2188605"/>
                <a:ext cx="3230335" cy="707886"/>
              </a:xfrm>
              <a:prstGeom prst="rect">
                <a:avLst/>
              </a:prstGeom>
              <a:blipFill>
                <a:blip r:embed="rId5"/>
                <a:stretch>
                  <a:fillRect b="-2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10469191" y="3228772"/>
                <a:ext cx="3351318" cy="8558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sz="1200" noProof="0" dirty="0"/>
              </a:p>
              <a:p>
                <a:r>
                  <a:rPr lang="en-GB" sz="1200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GB" sz="1200" b="0" i="1" noProof="0" dirty="0">
                  <a:latin typeface="Cambria Math" panose="02040503050406030204" pitchFamily="18" charset="0"/>
                </a:endParaRPr>
              </a:p>
              <a:p>
                <a:r>
                  <a:rPr lang="en-GB" sz="1200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GB" sz="1200" noProof="0" dirty="0"/>
              </a:p>
              <a:p>
                <a:r>
                  <a:rPr lang="en-GB" sz="1200" noProof="0" dirty="0"/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+2=5</m:t>
                    </m:r>
                  </m:oMath>
                </a14:m>
                <a:r>
                  <a:rPr lang="en-GB" sz="1200" noProof="0" dirty="0"/>
                  <a:t>   (why is this wrong?) </a:t>
                </a: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9191" y="3228772"/>
                <a:ext cx="3351318" cy="855808"/>
              </a:xfrm>
              <a:prstGeom prst="rect">
                <a:avLst/>
              </a:prstGeom>
              <a:blipFill>
                <a:blip r:embed="rId6"/>
                <a:stretch>
                  <a:fillRect b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366615-D975-E65A-846E-8364DAEA8DFA}"/>
                  </a:ext>
                </a:extLst>
              </p:cNvPr>
              <p:cNvSpPr txBox="1"/>
              <p:nvPr/>
            </p:nvSpPr>
            <p:spPr>
              <a:xfrm>
                <a:off x="95044" y="1560553"/>
                <a:ext cx="6698205" cy="378565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200" b="1" noProof="0" dirty="0"/>
                  <a:t>Recurrence Relations/Iterative Sequences</a:t>
                </a:r>
              </a:p>
              <a:p>
                <a:r>
                  <a:rPr lang="en-GB" sz="1200" noProof="0" dirty="0"/>
                  <a:t>A recurrence relation is a way of defining a sequence that uses the previous term(s) in a sequence to find the next term in the sequence. They can also be defined as iterative methods which means a process that repeats.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The sequence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4, 7, 10, 13, 16</m:t>
                    </m:r>
                  </m:oMath>
                </a14:m>
                <a:endParaRPr lang="en-GB" sz="1200" noProof="0" dirty="0"/>
              </a:p>
              <a:p>
                <a:r>
                  <a:rPr lang="en-GB" sz="1200" noProof="0" dirty="0"/>
                  <a:t>Has a nth term rule that can be written as: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However, we could write this differently as a recurrence relation, each time to get from one term to the next term all we do is </a:t>
                </a:r>
                <a14:m>
                  <m:oMath xmlns:m="http://schemas.openxmlformats.org/officeDocument/2006/math">
                    <m:r>
                      <a:rPr lang="en-GB" sz="1200" i="1" noProof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sz="1200" noProof="0" dirty="0"/>
                  <a:t>. Each time we do a calculation we call this an iteration. We write this as: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+3,</m:t>
                    </m:r>
                  </m:oMath>
                </a14:m>
                <a:r>
                  <a:rPr lang="en-GB" sz="1200" noProof="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200" noProof="0" dirty="0"/>
                  <a:t>.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Therefore: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2−1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+3=</m:t>
                    </m:r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+3=4+3=7</m:t>
                    </m:r>
                  </m:oMath>
                </a14:m>
                <a:r>
                  <a:rPr lang="en-GB" sz="1200" noProof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+3=7+3=10</m:t>
                    </m:r>
                  </m:oMath>
                </a14:m>
                <a:r>
                  <a:rPr lang="en-GB" sz="1200" noProof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=______+3=                  </m:t>
                    </m:r>
                  </m:oMath>
                </a14:m>
                <a:r>
                  <a:rPr lang="en-GB" sz="1200" noProof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200" noProof="0" dirty="0"/>
                  <a:t> 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Using a recurrence relation is easier to use for the first few terms of more complicated sequences but is </a:t>
                </a:r>
              </a:p>
              <a:p>
                <a:r>
                  <a:rPr lang="en-GB" sz="1200" noProof="0" dirty="0"/>
                  <a:t>inefficient to find higher terms in the sequence as they require lots of iterations.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366615-D975-E65A-846E-8364DAEA8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44" y="1560553"/>
                <a:ext cx="6698205" cy="3785652"/>
              </a:xfrm>
              <a:prstGeom prst="rect">
                <a:avLst/>
              </a:prstGeom>
              <a:blipFill>
                <a:blip r:embed="rId7"/>
                <a:stretch>
                  <a:fillRect r="-455" b="-1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32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58790" y="9567985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2</a:t>
            </a:fld>
            <a:endParaRPr lang="en-GB" noProof="0" dirty="0"/>
          </a:p>
        </p:txBody>
      </p:sp>
      <p:sp>
        <p:nvSpPr>
          <p:cNvPr id="5" name="Rectangle 4"/>
          <p:cNvSpPr/>
          <p:nvPr/>
        </p:nvSpPr>
        <p:spPr>
          <a:xfrm>
            <a:off x="1619185" y="85916"/>
            <a:ext cx="382373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noProof="0" dirty="0"/>
              <a:t>1) Find the first 4 terms in each iterative sequence.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9202" y="454075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/>
                  <a:t>a)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=3,  </m:t>
                    </m:r>
                  </m:oMath>
                </a14:m>
                <a:endParaRPr lang="en-GB" sz="1200" i="1" noProof="0" dirty="0">
                  <a:latin typeface="Cambria Math" panose="02040503050406030204" pitchFamily="18" charset="0"/>
                </a:endParaRPr>
              </a:p>
              <a:p>
                <a:pPr lvl="0" defTabSz="685800">
                  <a:defRPr/>
                </a:pPr>
                <a:r>
                  <a:rPr lang="en-GB" sz="1200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2" y="454075"/>
                <a:ext cx="342900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999110" y="448813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/>
                  <a:t>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en-GB" sz="1200" i="1" noProof="0" dirty="0">
                  <a:latin typeface="Cambria Math" panose="02040503050406030204" pitchFamily="18" charset="0"/>
                </a:endParaRPr>
              </a:p>
              <a:p>
                <a:pPr lvl="0" defTabSz="685800">
                  <a:defRPr/>
                </a:pPr>
                <a:r>
                  <a:rPr lang="en-GB" sz="1200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+9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110" y="448813"/>
                <a:ext cx="3429000" cy="461665"/>
              </a:xfrm>
              <a:prstGeom prst="rect">
                <a:avLst/>
              </a:prstGeom>
              <a:blipFill>
                <a:blip r:embed="rId3"/>
                <a:stretch>
                  <a:fillRect l="-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546133" y="460675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/>
                  <a:t>c)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en-GB" sz="1200" i="1" noProof="0" dirty="0">
                  <a:latin typeface="Cambria Math" panose="02040503050406030204" pitchFamily="18" charset="0"/>
                </a:endParaRPr>
              </a:p>
              <a:p>
                <a:pPr lvl="0" defTabSz="685800">
                  <a:defRPr/>
                </a:pPr>
                <a:r>
                  <a:rPr lang="en-GB" sz="1200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GB" sz="1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+9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133" y="460675"/>
                <a:ext cx="3429000" cy="461665"/>
              </a:xfrm>
              <a:prstGeom prst="rect">
                <a:avLst/>
              </a:prstGeom>
              <a:blipFill>
                <a:blip r:embed="rId4"/>
                <a:stretch>
                  <a:fillRect l="-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260633" y="456466"/>
                <a:ext cx="3429000" cy="47949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/>
                  <a:t>d)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en-GB" sz="1200" i="1" noProof="0" dirty="0">
                  <a:latin typeface="Cambria Math" panose="02040503050406030204" pitchFamily="18" charset="0"/>
                </a:endParaRPr>
              </a:p>
              <a:p>
                <a:pPr lvl="0" defTabSz="685800">
                  <a:defRPr/>
                </a:pPr>
                <a:r>
                  <a:rPr lang="en-GB" sz="1200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200" i="1" noProof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1200" i="1" noProof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2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200" i="1" noProof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12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 +2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633" y="456466"/>
                <a:ext cx="3429000" cy="479490"/>
              </a:xfrm>
              <a:prstGeom prst="rect">
                <a:avLst/>
              </a:prstGeom>
              <a:blipFill>
                <a:blip r:embed="rId5"/>
                <a:stretch>
                  <a:fillRect l="-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-11139" y="1032329"/>
                <a:ext cx="526939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39" y="1032329"/>
                <a:ext cx="52693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-14601" y="1394071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601" y="1394071"/>
                <a:ext cx="53053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-13790" y="1819004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790" y="1819004"/>
                <a:ext cx="53053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-14730" y="2232745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730" y="2232745"/>
                <a:ext cx="530530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515800" y="1055837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515799" y="1441329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515798" y="1821797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515798" y="2217287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638939" y="1004139"/>
                <a:ext cx="526939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939" y="1004139"/>
                <a:ext cx="526939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635477" y="1365881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477" y="1365881"/>
                <a:ext cx="53053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636288" y="1790814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288" y="1790814"/>
                <a:ext cx="530530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635348" y="2204555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348" y="2204555"/>
                <a:ext cx="530530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2165878" y="1027647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2165877" y="1413139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2165876" y="1793607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2165876" y="2189097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3300338" y="975949"/>
                <a:ext cx="526939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338" y="975949"/>
                <a:ext cx="52693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3296876" y="1337691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876" y="1337691"/>
                <a:ext cx="53053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3297687" y="1762624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687" y="1762624"/>
                <a:ext cx="53053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3296747" y="2176365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747" y="2176365"/>
                <a:ext cx="53053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3796797" y="999457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3796796" y="1384949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3796795" y="1765417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3796795" y="2160907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4984358" y="942818"/>
                <a:ext cx="526939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358" y="942818"/>
                <a:ext cx="526939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4980896" y="1304560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896" y="1304560"/>
                <a:ext cx="53053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4981707" y="1729493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707" y="1729493"/>
                <a:ext cx="530530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4980767" y="2143234"/>
                <a:ext cx="53053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767" y="2143234"/>
                <a:ext cx="530530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5511297" y="966326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5511296" y="1351818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5511295" y="1732286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92E0BBA-34A9-4C81-A2D7-FF86A3257726}"/>
              </a:ext>
            </a:extLst>
          </p:cNvPr>
          <p:cNvSpPr/>
          <p:nvPr/>
        </p:nvSpPr>
        <p:spPr>
          <a:xfrm>
            <a:off x="5511295" y="2127776"/>
            <a:ext cx="1008839" cy="26426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C36006B-227E-45B6-ACB0-32FCE0D906FC}"/>
              </a:ext>
            </a:extLst>
          </p:cNvPr>
          <p:cNvSpPr/>
          <p:nvPr/>
        </p:nvSpPr>
        <p:spPr>
          <a:xfrm>
            <a:off x="55521" y="493038"/>
            <a:ext cx="1582779" cy="22806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36006B-227E-45B6-ACB0-32FCE0D906FC}"/>
              </a:ext>
            </a:extLst>
          </p:cNvPr>
          <p:cNvSpPr/>
          <p:nvPr/>
        </p:nvSpPr>
        <p:spPr>
          <a:xfrm>
            <a:off x="1714371" y="485392"/>
            <a:ext cx="1582779" cy="22806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C36006B-227E-45B6-ACB0-32FCE0D906FC}"/>
              </a:ext>
            </a:extLst>
          </p:cNvPr>
          <p:cNvSpPr/>
          <p:nvPr/>
        </p:nvSpPr>
        <p:spPr>
          <a:xfrm>
            <a:off x="3384962" y="485392"/>
            <a:ext cx="1582779" cy="22806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C36006B-227E-45B6-ACB0-32FCE0D906FC}"/>
              </a:ext>
            </a:extLst>
          </p:cNvPr>
          <p:cNvSpPr/>
          <p:nvPr/>
        </p:nvSpPr>
        <p:spPr>
          <a:xfrm>
            <a:off x="5039028" y="493038"/>
            <a:ext cx="1665426" cy="22806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91975E-B426-4910-919C-E3C5554DC081}"/>
              </a:ext>
            </a:extLst>
          </p:cNvPr>
          <p:cNvSpPr txBox="1"/>
          <p:nvPr/>
        </p:nvSpPr>
        <p:spPr>
          <a:xfrm>
            <a:off x="46153" y="2547684"/>
            <a:ext cx="2790187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GB" sz="1200" b="1" noProof="0" dirty="0">
                <a:solidFill>
                  <a:schemeClr val="bg1"/>
                </a:solidFill>
              </a:rPr>
              <a:t>APPLICATIONS OF ITERATIVE SEQUENCES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3193436"/>
                  </p:ext>
                </p:extLst>
              </p:nvPr>
            </p:nvGraphicFramePr>
            <p:xfrm>
              <a:off x="65470" y="5318021"/>
              <a:ext cx="6638984" cy="43010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9746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59746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59746">
                      <a:extLst>
                        <a:ext uri="{9D8B030D-6E8A-4147-A177-3AD203B41FA5}">
                          <a16:colId xmlns:a16="http://schemas.microsoft.com/office/drawing/2014/main" val="772331842"/>
                        </a:ext>
                      </a:extLst>
                    </a:gridCol>
                    <a:gridCol w="1659746">
                      <a:extLst>
                        <a:ext uri="{9D8B030D-6E8A-4147-A177-3AD203B41FA5}">
                          <a16:colId xmlns:a16="http://schemas.microsoft.com/office/drawing/2014/main" val="1506195925"/>
                        </a:ext>
                      </a:extLst>
                    </a:gridCol>
                  </a:tblGrid>
                  <a:tr h="1562039">
                    <a:tc>
                      <a:txBody>
                        <a:bodyPr/>
                        <a:lstStyle/>
                        <a:p>
                          <a:r>
                            <a:rPr lang="en-GB" sz="1100" b="1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The number of slugs in a garden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days from now is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, where </a:t>
                          </a: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=100</m:t>
                                </m:r>
                              </m:oMath>
                            </m:oMathPara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1.06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Work out the number of slugs in the garden 3 days from now.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The number of ants in a garden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days from now is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, where </a:t>
                          </a: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=120</m:t>
                                </m:r>
                              </m:oMath>
                            </m:oMathPara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1.06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Work out the number of ants in the garden 7 days from now.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The number of flies in a garden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days from now is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, where </a:t>
                          </a: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=1200</m:t>
                                </m:r>
                              </m:oMath>
                            </m:oMathPara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1.07</m:t>
                                    </m:r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Work out the number of flies in the garden 5 days from now.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786277">
                    <a:tc>
                      <a:txBody>
                        <a:bodyPr/>
                        <a:lstStyle/>
                        <a:p>
                          <a:r>
                            <a:rPr lang="en-GB" sz="1200" noProof="0" dirty="0"/>
                            <a:t>Write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200" noProof="0" dirty="0"/>
                            <a:t> into your calculator and click equals.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786277">
                    <a:tc>
                      <a:txBody>
                        <a:bodyPr/>
                        <a:lstStyle/>
                        <a:p>
                          <a:r>
                            <a:rPr lang="en-GB" sz="1200" noProof="0" dirty="0"/>
                            <a:t>Type</a:t>
                          </a:r>
                          <a:r>
                            <a:rPr lang="en-GB" sz="1200" baseline="0" noProof="0" dirty="0"/>
                            <a:t> out the series and substitute ANS 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GB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  <a:tr h="991092">
                    <a:tc>
                      <a:txBody>
                        <a:bodyPr/>
                        <a:lstStyle/>
                        <a:p>
                          <a:r>
                            <a:rPr lang="en-GB" sz="1200" noProof="0" dirty="0"/>
                            <a:t>Click</a:t>
                          </a:r>
                          <a:r>
                            <a:rPr lang="en-GB" sz="1200" baseline="0" noProof="0" dirty="0"/>
                            <a:t> equals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GB" sz="1200" noProof="0" dirty="0"/>
                            <a:t> times (for the amount of terms needed).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276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3193436"/>
                  </p:ext>
                </p:extLst>
              </p:nvPr>
            </p:nvGraphicFramePr>
            <p:xfrm>
              <a:off x="65470" y="5318021"/>
              <a:ext cx="6638984" cy="43010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9746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659746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59746">
                      <a:extLst>
                        <a:ext uri="{9D8B030D-6E8A-4147-A177-3AD203B41FA5}">
                          <a16:colId xmlns:a16="http://schemas.microsoft.com/office/drawing/2014/main" val="772331842"/>
                        </a:ext>
                      </a:extLst>
                    </a:gridCol>
                    <a:gridCol w="1659746">
                      <a:extLst>
                        <a:ext uri="{9D8B030D-6E8A-4147-A177-3AD203B41FA5}">
                          <a16:colId xmlns:a16="http://schemas.microsoft.com/office/drawing/2014/main" val="1506195925"/>
                        </a:ext>
                      </a:extLst>
                    </a:gridCol>
                  </a:tblGrid>
                  <a:tr h="1737360">
                    <a:tc>
                      <a:txBody>
                        <a:bodyPr/>
                        <a:lstStyle/>
                        <a:p>
                          <a:r>
                            <a:rPr lang="en-GB" sz="11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6"/>
                          <a:stretch>
                            <a:fillRect l="-100735" t="-351" r="-201103" b="-1487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6"/>
                          <a:stretch>
                            <a:fillRect l="-200000" t="-351" r="-100366" b="-1487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6"/>
                          <a:stretch>
                            <a:fillRect l="-301103" t="-351" r="-735" b="-1487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7862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6"/>
                          <a:stretch>
                            <a:fillRect l="-366" t="-221705" r="-300000" b="-228682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7862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6"/>
                          <a:stretch>
                            <a:fillRect l="-366" t="-321705" r="-300000" b="-128682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  <a:tr h="9910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6"/>
                          <a:stretch>
                            <a:fillRect l="-366" t="-333742" r="-300000" b="-184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2763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EA4FD2D9-8D23-4ADE-B70E-F386FDED2BED}"/>
              </a:ext>
            </a:extLst>
          </p:cNvPr>
          <p:cNvSpPr txBox="1"/>
          <p:nvPr/>
        </p:nvSpPr>
        <p:spPr>
          <a:xfrm>
            <a:off x="5258994" y="4999344"/>
            <a:ext cx="149880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noProof="0" dirty="0">
                <a:solidFill>
                  <a:srgbClr val="00B050"/>
                </a:solidFill>
              </a:rPr>
              <a:t>Example 6 - You do…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E67FA9-518E-48EE-9C3C-DC43DA12711A}"/>
              </a:ext>
            </a:extLst>
          </p:cNvPr>
          <p:cNvSpPr txBox="1"/>
          <p:nvPr/>
        </p:nvSpPr>
        <p:spPr>
          <a:xfrm>
            <a:off x="3498836" y="5015504"/>
            <a:ext cx="147578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noProof="0" dirty="0">
                <a:solidFill>
                  <a:schemeClr val="accent2"/>
                </a:solidFill>
              </a:rPr>
              <a:t>Example 5 - We do…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5FDE3F-DC2A-468E-BF61-F69BF8BB2775}"/>
              </a:ext>
            </a:extLst>
          </p:cNvPr>
          <p:cNvSpPr txBox="1"/>
          <p:nvPr/>
        </p:nvSpPr>
        <p:spPr>
          <a:xfrm>
            <a:off x="1766091" y="5030858"/>
            <a:ext cx="127323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noProof="0" dirty="0">
                <a:solidFill>
                  <a:srgbClr val="FF0000"/>
                </a:solidFill>
              </a:rPr>
              <a:t>Example 4- I do…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C65E48-8C3D-6849-AD77-7AD8678AD8DA}"/>
              </a:ext>
            </a:extLst>
          </p:cNvPr>
          <p:cNvSpPr txBox="1"/>
          <p:nvPr/>
        </p:nvSpPr>
        <p:spPr>
          <a:xfrm>
            <a:off x="49202" y="80901"/>
            <a:ext cx="1757790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INDEPENDENT</a:t>
            </a:r>
            <a:r>
              <a:rPr lang="en-GB" sz="1050" b="1" noProof="0" dirty="0">
                <a:solidFill>
                  <a:schemeClr val="bg1"/>
                </a:solidFill>
              </a:rPr>
              <a:t> </a:t>
            </a:r>
            <a:r>
              <a:rPr lang="en-GB" sz="1200" b="1" noProof="0" dirty="0">
                <a:solidFill>
                  <a:schemeClr val="bg1"/>
                </a:solidFill>
              </a:rPr>
              <a:t>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348B3C-1307-8609-4FC1-C49681C29240}"/>
                  </a:ext>
                </a:extLst>
              </p:cNvPr>
              <p:cNvSpPr txBox="1"/>
              <p:nvPr/>
            </p:nvSpPr>
            <p:spPr>
              <a:xfrm>
                <a:off x="46153" y="2824683"/>
                <a:ext cx="6638984" cy="212365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Recurrence relations can also be shown in contextual examples. You have already seen some basic examples of this using compound interest but have never formalised the concept into a recurrence relation.</a:t>
                </a:r>
              </a:p>
              <a:p>
                <a:r>
                  <a:rPr lang="en-GB" sz="1200" b="1" noProof="0" dirty="0"/>
                  <a:t>Example:</a:t>
                </a:r>
                <a:r>
                  <a:rPr lang="en-GB" sz="1200" noProof="0" dirty="0"/>
                  <a:t> Money is placed into a bank with an interest rate of </a:t>
                </a:r>
                <a14:m>
                  <m:oMath xmlns:m="http://schemas.openxmlformats.org/officeDocument/2006/math">
                    <m:r>
                      <a:rPr lang="en-GB" sz="1200" i="1" noProof="0">
                        <a:latin typeface="Cambria Math" panose="02040503050406030204" pitchFamily="18" charset="0"/>
                      </a:rPr>
                      <m:t>3.5%</m:t>
                    </m:r>
                  </m:oMath>
                </a14:m>
                <a:r>
                  <a:rPr lang="en-GB" sz="1200" noProof="0" dirty="0"/>
                  <a:t> per annum. Create a recurrence relation for this situation:</a:t>
                </a:r>
              </a:p>
              <a:p>
                <a:endParaRPr lang="en-GB" sz="1200" noProof="0" dirty="0"/>
              </a:p>
              <a:p>
                <a:endParaRPr lang="en-GB" sz="1200" b="1" noProof="0" dirty="0"/>
              </a:p>
              <a:p>
                <a:r>
                  <a:rPr lang="en-GB" sz="1200" b="1" noProof="0" dirty="0"/>
                  <a:t>Example:</a:t>
                </a:r>
                <a:r>
                  <a:rPr lang="en-GB" sz="1200" noProof="0" dirty="0"/>
                  <a:t> £40,000 is placed into a bank account paying interest of </a:t>
                </a:r>
                <a14:m>
                  <m:oMath xmlns:m="http://schemas.openxmlformats.org/officeDocument/2006/math">
                    <m:r>
                      <a:rPr lang="en-GB" sz="1200" i="1" noProof="0">
                        <a:latin typeface="Cambria Math" panose="02040503050406030204" pitchFamily="18" charset="0"/>
                      </a:rPr>
                      <m:t>1.1%</m:t>
                    </m:r>
                  </m:oMath>
                </a14:m>
                <a:r>
                  <a:rPr lang="en-GB" sz="1200" noProof="0" dirty="0"/>
                  <a:t> per month, at the end of every month </a:t>
                </a:r>
                <a14:m>
                  <m:oMath xmlns:m="http://schemas.openxmlformats.org/officeDocument/2006/math">
                    <m:r>
                      <a:rPr lang="en-GB" sz="1200" i="1" noProof="0">
                        <a:latin typeface="Cambria Math" panose="02040503050406030204" pitchFamily="18" charset="0"/>
                      </a:rPr>
                      <m:t>£200</m:t>
                    </m:r>
                  </m:oMath>
                </a14:m>
                <a:r>
                  <a:rPr lang="en-GB" sz="1200" noProof="0" dirty="0"/>
                  <a:t> is deposited into the account. Create a recurrence relation for this situation:</a:t>
                </a:r>
              </a:p>
              <a:p>
                <a:endParaRPr lang="en-GB" sz="1200" noProof="0" dirty="0"/>
              </a:p>
              <a:p>
                <a:endParaRPr lang="en-GB" sz="1200" noProof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348B3C-1307-8609-4FC1-C49681C29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3" y="2824683"/>
                <a:ext cx="6638984" cy="212365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520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02FFCF-9E6C-2292-1B6B-415DB964C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286976"/>
              </p:ext>
            </p:extLst>
          </p:nvPr>
        </p:nvGraphicFramePr>
        <p:xfrm>
          <a:off x="35066" y="375207"/>
          <a:ext cx="6822933" cy="9317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311">
                  <a:extLst>
                    <a:ext uri="{9D8B030D-6E8A-4147-A177-3AD203B41FA5}">
                      <a16:colId xmlns:a16="http://schemas.microsoft.com/office/drawing/2014/main" val="2403647501"/>
                    </a:ext>
                  </a:extLst>
                </a:gridCol>
                <a:gridCol w="2274311">
                  <a:extLst>
                    <a:ext uri="{9D8B030D-6E8A-4147-A177-3AD203B41FA5}">
                      <a16:colId xmlns:a16="http://schemas.microsoft.com/office/drawing/2014/main" val="2569993703"/>
                    </a:ext>
                  </a:extLst>
                </a:gridCol>
                <a:gridCol w="2274311">
                  <a:extLst>
                    <a:ext uri="{9D8B030D-6E8A-4147-A177-3AD203B41FA5}">
                      <a16:colId xmlns:a16="http://schemas.microsoft.com/office/drawing/2014/main" val="948008697"/>
                    </a:ext>
                  </a:extLst>
                </a:gridCol>
              </a:tblGrid>
              <a:tr h="3105811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427644"/>
                  </a:ext>
                </a:extLst>
              </a:tr>
              <a:tr h="3105811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119093"/>
                  </a:ext>
                </a:extLst>
              </a:tr>
              <a:tr h="3105811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911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/>
              <p:nvPr/>
            </p:nvSpPr>
            <p:spPr>
              <a:xfrm>
                <a:off x="107872" y="392502"/>
                <a:ext cx="215580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a) The number of slugs in a garden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200" noProof="0" dirty="0"/>
                  <a:t> days from now is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/>
                  <a:t>, where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GB" sz="12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1.16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Work out the number of slugs in the garden 3 days from now.</a:t>
                </a:r>
              </a:p>
              <a:p>
                <a:endParaRPr lang="en-GB" sz="1200" noProof="0" dirty="0"/>
              </a:p>
              <a:p>
                <a:endParaRPr lang="en-GB" sz="1200" noProof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72" y="392502"/>
                <a:ext cx="2155809" cy="1938992"/>
              </a:xfrm>
              <a:prstGeom prst="rect">
                <a:avLst/>
              </a:prstGeom>
              <a:blipFill>
                <a:blip r:embed="rId2"/>
                <a:stretch>
                  <a:fillRect l="-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/>
              <p:nvPr/>
            </p:nvSpPr>
            <p:spPr>
              <a:xfrm>
                <a:off x="2357469" y="392502"/>
                <a:ext cx="215580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b) The number of rabbits in a field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200" noProof="0" dirty="0"/>
                  <a:t> days from now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200" noProof="0" dirty="0"/>
                  <a:t>, where </a:t>
                </a:r>
              </a:p>
              <a:p>
                <a:endParaRPr lang="en-GB" sz="12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=220</m:t>
                      </m:r>
                    </m:oMath>
                  </m:oMathPara>
                </a14:m>
                <a:endParaRPr lang="en-GB" sz="12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1.15(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−20)</m:t>
                      </m:r>
                    </m:oMath>
                  </m:oMathPara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Work out the number of rabbits in the field 5 days from now. </a:t>
                </a:r>
              </a:p>
              <a:p>
                <a:endParaRPr lang="en-GB" sz="1200" noProof="0" dirty="0"/>
              </a:p>
              <a:p>
                <a:endParaRPr lang="en-GB" sz="1200" noProof="0" dirty="0"/>
              </a:p>
              <a:p>
                <a:endParaRPr lang="en-GB" sz="1200" noProof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469" y="392502"/>
                <a:ext cx="2155809" cy="2308324"/>
              </a:xfrm>
              <a:prstGeom prst="rect">
                <a:avLst/>
              </a:prstGeom>
              <a:blipFill>
                <a:blip r:embed="rId3"/>
                <a:stretch>
                  <a:fillRect l="-283" r="-1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/>
              <p:nvPr/>
            </p:nvSpPr>
            <p:spPr>
              <a:xfrm>
                <a:off x="4607067" y="392502"/>
                <a:ext cx="2155809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c) The number of people living in a town 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200" noProof="0" dirty="0"/>
                  <a:t> years from now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200" noProof="0" dirty="0"/>
                  <a:t>, where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=55000</m:t>
                      </m:r>
                    </m:oMath>
                  </m:oMathPara>
                </a14:m>
                <a:endParaRPr lang="en-GB" sz="12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1.03(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−800)</m:t>
                      </m:r>
                    </m:oMath>
                  </m:oMathPara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Work out the number people in the town, 3 years from now. </a:t>
                </a:r>
              </a:p>
              <a:p>
                <a:endParaRPr lang="en-GB" sz="1200" noProof="0" dirty="0"/>
              </a:p>
              <a:p>
                <a:endParaRPr lang="en-GB" sz="1200" noProof="0" dirty="0"/>
              </a:p>
              <a:p>
                <a:endParaRPr lang="en-GB" sz="1200" noProof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067" y="392502"/>
                <a:ext cx="2155809" cy="2123658"/>
              </a:xfrm>
              <a:prstGeom prst="rect">
                <a:avLst/>
              </a:prstGeom>
              <a:blipFill>
                <a:blip r:embed="rId4"/>
                <a:stretch>
                  <a:fillRect l="-283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>
          <a:xfrm>
            <a:off x="5314950" y="9551027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3</a:t>
            </a:fld>
            <a:endParaRPr lang="en-GB" noProof="0" dirty="0"/>
          </a:p>
        </p:txBody>
      </p:sp>
      <p:sp>
        <p:nvSpPr>
          <p:cNvPr id="28" name="Rectangle 27"/>
          <p:cNvSpPr/>
          <p:nvPr/>
        </p:nvSpPr>
        <p:spPr>
          <a:xfrm>
            <a:off x="1827047" y="98208"/>
            <a:ext cx="382373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noProof="0" dirty="0"/>
              <a:t>2) Use iteration to find the solution of each problem.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/>
              <p:nvPr/>
            </p:nvSpPr>
            <p:spPr>
              <a:xfrm>
                <a:off x="107872" y="3541994"/>
                <a:ext cx="215580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d) The number of slugs in a garden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200" noProof="0" dirty="0"/>
                  <a:t> days from now is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/>
                  <a:t>, where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en-GB" sz="12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1.07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Work out the number of slugs in the garden 6 days from now.</a:t>
                </a:r>
              </a:p>
              <a:p>
                <a:endParaRPr lang="en-GB" sz="1200" noProof="0" dirty="0"/>
              </a:p>
              <a:p>
                <a:endParaRPr lang="en-GB" sz="1200" noProof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72" y="3541994"/>
                <a:ext cx="2155809" cy="1938992"/>
              </a:xfrm>
              <a:prstGeom prst="rect">
                <a:avLst/>
              </a:prstGeom>
              <a:blipFill>
                <a:blip r:embed="rId5"/>
                <a:stretch>
                  <a:fillRect l="-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/>
              <p:nvPr/>
            </p:nvSpPr>
            <p:spPr>
              <a:xfrm>
                <a:off x="2357469" y="3541994"/>
                <a:ext cx="215580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e) The number of rabbits in a field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200" noProof="0" dirty="0"/>
                  <a:t> days from now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200" noProof="0" dirty="0"/>
                  <a:t>, where </a:t>
                </a:r>
              </a:p>
              <a:p>
                <a:endParaRPr lang="en-GB" sz="12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=520</m:t>
                      </m:r>
                    </m:oMath>
                  </m:oMathPara>
                </a14:m>
                <a:endParaRPr lang="en-GB" sz="12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1.14(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−10)</m:t>
                      </m:r>
                    </m:oMath>
                  </m:oMathPara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Work out the number of rabbits in the field 7 days from now. </a:t>
                </a:r>
              </a:p>
              <a:p>
                <a:endParaRPr lang="en-GB" sz="1200" noProof="0" dirty="0"/>
              </a:p>
              <a:p>
                <a:endParaRPr lang="en-GB" sz="1200" noProof="0" dirty="0"/>
              </a:p>
              <a:p>
                <a:endParaRPr lang="en-GB" sz="1200" noProof="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469" y="3541994"/>
                <a:ext cx="2155809" cy="2308324"/>
              </a:xfrm>
              <a:prstGeom prst="rect">
                <a:avLst/>
              </a:prstGeom>
              <a:blipFill>
                <a:blip r:embed="rId6"/>
                <a:stretch>
                  <a:fillRect l="-283" r="-1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/>
              <p:nvPr/>
            </p:nvSpPr>
            <p:spPr>
              <a:xfrm>
                <a:off x="4607067" y="3573366"/>
                <a:ext cx="2155809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f) The number of people living in a town 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200" noProof="0" dirty="0"/>
                  <a:t> years from now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200" noProof="0" dirty="0"/>
                  <a:t>, where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=40000</m:t>
                      </m:r>
                    </m:oMath>
                  </m:oMathPara>
                </a14:m>
                <a:endParaRPr lang="en-GB" sz="12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1.08(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−800)</m:t>
                      </m:r>
                    </m:oMath>
                  </m:oMathPara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Work out the number people in the town 5 years from now. </a:t>
                </a:r>
              </a:p>
              <a:p>
                <a:endParaRPr lang="en-GB" sz="1200" noProof="0" dirty="0"/>
              </a:p>
              <a:p>
                <a:endParaRPr lang="en-GB" sz="1200" noProof="0" dirty="0"/>
              </a:p>
              <a:p>
                <a:endParaRPr lang="en-GB" sz="1200" noProof="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067" y="3573366"/>
                <a:ext cx="2155809" cy="2123658"/>
              </a:xfrm>
              <a:prstGeom prst="rect">
                <a:avLst/>
              </a:prstGeom>
              <a:blipFill>
                <a:blip r:embed="rId7"/>
                <a:stretch>
                  <a:fillRect l="-283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/>
              <p:nvPr/>
            </p:nvSpPr>
            <p:spPr>
              <a:xfrm>
                <a:off x="91152" y="6517520"/>
                <a:ext cx="2155809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g) The number of slugs in a garden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200" noProof="0" dirty="0"/>
                  <a:t> days from now is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noProof="0" dirty="0"/>
                  <a:t>, where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GB" sz="12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1.16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Work out the number of slugs in the garden 13 days from now.</a:t>
                </a:r>
              </a:p>
              <a:p>
                <a:endParaRPr lang="en-GB" sz="1200" noProof="0" dirty="0"/>
              </a:p>
              <a:p>
                <a:endParaRPr lang="en-GB" sz="1200" noProof="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2" y="6517520"/>
                <a:ext cx="2155809" cy="2123658"/>
              </a:xfrm>
              <a:prstGeom prst="rect">
                <a:avLst/>
              </a:prstGeom>
              <a:blipFill>
                <a:blip r:embed="rId8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/>
              <p:nvPr/>
            </p:nvSpPr>
            <p:spPr>
              <a:xfrm>
                <a:off x="2340749" y="6517520"/>
                <a:ext cx="215580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h) The number of rabbits in a field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200" noProof="0" dirty="0"/>
                  <a:t> days from now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200" noProof="0" dirty="0"/>
                  <a:t>, where </a:t>
                </a:r>
              </a:p>
              <a:p>
                <a:endParaRPr lang="en-GB" sz="12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=220</m:t>
                      </m:r>
                    </m:oMath>
                  </m:oMathPara>
                </a14:m>
                <a:endParaRPr lang="en-GB" sz="12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1.15(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−20)</m:t>
                      </m:r>
                    </m:oMath>
                  </m:oMathPara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Work out the number of rabbits in the field 18 days from now. </a:t>
                </a:r>
              </a:p>
              <a:p>
                <a:endParaRPr lang="en-GB" sz="1200" noProof="0" dirty="0"/>
              </a:p>
              <a:p>
                <a:endParaRPr lang="en-GB" sz="1200" noProof="0" dirty="0"/>
              </a:p>
              <a:p>
                <a:endParaRPr lang="en-GB" sz="1200" noProof="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749" y="6517520"/>
                <a:ext cx="2155809" cy="2308324"/>
              </a:xfrm>
              <a:prstGeom prst="rect">
                <a:avLst/>
              </a:prstGeom>
              <a:blipFill>
                <a:blip r:embed="rId9"/>
                <a:stretch>
                  <a:fillRect l="-282" r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/>
              <p:nvPr/>
            </p:nvSpPr>
            <p:spPr>
              <a:xfrm>
                <a:off x="4590347" y="6548892"/>
                <a:ext cx="2155809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 err="1"/>
                  <a:t>i</a:t>
                </a:r>
                <a:r>
                  <a:rPr lang="en-GB" sz="1200" noProof="0" dirty="0"/>
                  <a:t>) The number of people living in a town 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200" noProof="0" dirty="0"/>
                  <a:t> years from now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200" noProof="0" dirty="0"/>
                  <a:t>, where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=55000</m:t>
                      </m:r>
                    </m:oMath>
                  </m:oMathPara>
                </a14:m>
                <a:endParaRPr lang="en-GB" sz="12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1.03(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−800)</m:t>
                      </m:r>
                    </m:oMath>
                  </m:oMathPara>
                </a14:m>
                <a:endParaRPr lang="en-GB" sz="120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Work out the number people in the town 14 years from now. </a:t>
                </a:r>
              </a:p>
              <a:p>
                <a:endParaRPr lang="en-GB" sz="1200" noProof="0" dirty="0"/>
              </a:p>
              <a:p>
                <a:endParaRPr lang="en-GB" sz="1200" noProof="0" dirty="0"/>
              </a:p>
              <a:p>
                <a:endParaRPr lang="en-GB" sz="1200" noProof="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80CA423-62E4-4D9E-A61F-19419774D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347" y="6548892"/>
                <a:ext cx="2155809" cy="2123658"/>
              </a:xfrm>
              <a:prstGeom prst="rect">
                <a:avLst/>
              </a:prstGeom>
              <a:blipFill>
                <a:blip r:embed="rId10"/>
                <a:stretch>
                  <a:fillRect r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C3C65E48-8C3D-6849-AD77-7AD8678AD8DA}"/>
              </a:ext>
            </a:extLst>
          </p:cNvPr>
          <p:cNvSpPr txBox="1"/>
          <p:nvPr/>
        </p:nvSpPr>
        <p:spPr>
          <a:xfrm>
            <a:off x="64449" y="43893"/>
            <a:ext cx="1762598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2815565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BA3FF3-5EA8-8A9C-5623-C8F37634D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975183"/>
              </p:ext>
            </p:extLst>
          </p:nvPr>
        </p:nvGraphicFramePr>
        <p:xfrm>
          <a:off x="109507" y="6382546"/>
          <a:ext cx="6617864" cy="3464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8932">
                  <a:extLst>
                    <a:ext uri="{9D8B030D-6E8A-4147-A177-3AD203B41FA5}">
                      <a16:colId xmlns:a16="http://schemas.microsoft.com/office/drawing/2014/main" val="3318441731"/>
                    </a:ext>
                  </a:extLst>
                </a:gridCol>
                <a:gridCol w="3308932">
                  <a:extLst>
                    <a:ext uri="{9D8B030D-6E8A-4147-A177-3AD203B41FA5}">
                      <a16:colId xmlns:a16="http://schemas.microsoft.com/office/drawing/2014/main" val="84521316"/>
                    </a:ext>
                  </a:extLst>
                </a:gridCol>
              </a:tblGrid>
              <a:tr h="3464754">
                <a:tc>
                  <a:txBody>
                    <a:bodyPr/>
                    <a:lstStyle/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the start of year </a:t>
                      </a:r>
                      <a:r>
                        <a:rPr lang="en-GB" sz="1200" b="0" i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the number of animals in a population is </a:t>
                      </a:r>
                      <a:r>
                        <a:rPr lang="en-GB" sz="1200" b="0" i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GB" sz="1200" b="0" i="1" kern="1200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en-GB" sz="12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the start of the following year, the number of animals in the population is </a:t>
                      </a:r>
                      <a:r>
                        <a:rPr lang="en-GB" sz="1200" b="0" i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GB" sz="1200" b="0" i="1" kern="1200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200" b="0" kern="1200" baseline="-250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+ 1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where</a:t>
                      </a:r>
                    </a:p>
                    <a:p>
                      <a:r>
                        <a:rPr lang="en-GB" sz="1200" b="0" i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GB" sz="1200" b="0" i="1" kern="1200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200" b="0" kern="1200" baseline="-250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+ 1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GB" sz="1200" b="0" i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kP</a:t>
                      </a:r>
                      <a:r>
                        <a:rPr lang="en-GB" sz="1200" b="0" i="1" kern="1200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en-GB" sz="12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the start of 2017 the number of animals in the population was 8000</a:t>
                      </a:r>
                      <a:b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the start of 2020 the number of animals in the population was 4913</a:t>
                      </a:r>
                    </a:p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the value of the constant </a:t>
                      </a:r>
                      <a:r>
                        <a:rPr lang="en-GB" sz="1200" b="0" i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hot air balloon is descending. </a:t>
                      </a:r>
                      <a:b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height of the balloon </a:t>
                      </a:r>
                      <a:r>
                        <a:rPr lang="en-GB" sz="1200" b="0" i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minutes after it starts to descend is </a:t>
                      </a:r>
                      <a:r>
                        <a:rPr lang="en-GB" sz="1200" b="0" i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GB" sz="1200" b="0" i="1" kern="1200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metres.</a:t>
                      </a:r>
                    </a:p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height of the balloon (</a:t>
                      </a:r>
                      <a:r>
                        <a:rPr lang="en-GB" sz="1200" b="0" i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+1) minutes after it starts to descend, </a:t>
                      </a:r>
                      <a:r>
                        <a:rPr lang="en-GB" sz="1200" b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GB" sz="1200" b="0" i="1" kern="1200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200" b="0" kern="1200" baseline="-250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+ 1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metres, is given by</a:t>
                      </a:r>
                    </a:p>
                    <a:p>
                      <a:r>
                        <a:rPr lang="en-GB" sz="1200" b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GB" sz="1200" b="0" i="1" kern="1200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200" b="0" kern="1200" baseline="-250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+ 1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GB" sz="1200" b="0" i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× </a:t>
                      </a:r>
                      <a:r>
                        <a:rPr lang="en-GB" sz="1200" b="0" i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GB" sz="1200" b="0" i="1" kern="1200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+ 50 where </a:t>
                      </a:r>
                      <a:r>
                        <a:rPr lang="en-GB" sz="1200" b="0" i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is a constant.</a:t>
                      </a:r>
                    </a:p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balloon starts to descend from a height of 1500 metres at 09 15 </a:t>
                      </a:r>
                      <a:b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09 16 the height of the balloon is 1400 metres.</a:t>
                      </a:r>
                    </a:p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 out the height of the balloon at 09 20</a:t>
                      </a:r>
                    </a:p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69557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A96340-DD15-D71F-4DE9-BEE8D3D09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8229" y="9551125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4</a:t>
            </a:fld>
            <a:endParaRPr lang="en-GB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381F39-BE4B-615E-B017-E67D395F7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673897"/>
              </p:ext>
            </p:extLst>
          </p:nvPr>
        </p:nvGraphicFramePr>
        <p:xfrm>
          <a:off x="109508" y="354875"/>
          <a:ext cx="6617863" cy="5889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453">
                  <a:extLst>
                    <a:ext uri="{9D8B030D-6E8A-4147-A177-3AD203B41FA5}">
                      <a16:colId xmlns:a16="http://schemas.microsoft.com/office/drawing/2014/main" val="1568142362"/>
                    </a:ext>
                  </a:extLst>
                </a:gridCol>
                <a:gridCol w="2510324">
                  <a:extLst>
                    <a:ext uri="{9D8B030D-6E8A-4147-A177-3AD203B41FA5}">
                      <a16:colId xmlns:a16="http://schemas.microsoft.com/office/drawing/2014/main" val="3551711160"/>
                    </a:ext>
                  </a:extLst>
                </a:gridCol>
                <a:gridCol w="2577086">
                  <a:extLst>
                    <a:ext uri="{9D8B030D-6E8A-4147-A177-3AD203B41FA5}">
                      <a16:colId xmlns:a16="http://schemas.microsoft.com/office/drawing/2014/main" val="1506195925"/>
                    </a:ext>
                  </a:extLst>
                </a:gridCol>
              </a:tblGrid>
              <a:tr h="2867698">
                <a:tc>
                  <a:txBody>
                    <a:bodyPr/>
                    <a:lstStyle/>
                    <a:p>
                      <a:r>
                        <a:rPr lang="en-GB" sz="1100" b="1" noProof="0" dirty="0">
                          <a:solidFill>
                            <a:schemeClr val="tx1"/>
                          </a:solidFill>
                        </a:rPr>
                        <a:t>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time t = 0 hours a tank is full of water.</a:t>
                      </a:r>
                    </a:p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Water leaks from the tank. </a:t>
                      </a:r>
                      <a:b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the end of every hour there is 2% less water in the tank than at the start of the hour.</a:t>
                      </a:r>
                    </a:p>
                    <a:p>
                      <a:endParaRPr lang="en-GB" sz="12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volume of water, in litres, in the tank at time </a:t>
                      </a:r>
                      <a:r>
                        <a:rPr lang="en-GB" sz="1200" b="0" i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hours is </a:t>
                      </a:r>
                      <a:r>
                        <a:rPr lang="en-GB" sz="1200" b="0" i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GB" sz="1200" b="0" i="1" kern="1200" baseline="-250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  <a:p>
                      <a:endParaRPr lang="en-GB" sz="12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Given that</a:t>
                      </a:r>
                    </a:p>
                    <a:p>
                      <a:r>
                        <a:rPr lang="en-GB" sz="1200" b="0" i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GB" sz="1200" b="0" kern="1200" baseline="-250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2000 </a:t>
                      </a:r>
                    </a:p>
                    <a:p>
                      <a:r>
                        <a:rPr lang="en-GB" sz="1200" b="0" i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GB" sz="1200" b="0" i="1" kern="1200" baseline="-250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GB" sz="1200" b="0" kern="1200" baseline="-250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GB" sz="1200" b="0" i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kV</a:t>
                      </a:r>
                      <a:r>
                        <a:rPr lang="en-GB" sz="1200" b="0" i="1" kern="1200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en-GB" sz="12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 down the value of </a:t>
                      </a:r>
                      <a:r>
                        <a:rPr lang="en-GB" sz="1200" b="0" i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l"/>
                      <a:endParaRPr lang="en-GB" sz="12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the start of year </a:t>
                      </a:r>
                      <a:r>
                        <a:rPr lang="en-GB" sz="1200" b="0" i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the number of animals in a population is </a:t>
                      </a:r>
                      <a:r>
                        <a:rPr lang="en-GB" sz="1200" b="0" i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GB" sz="1200" b="0" i="1" kern="1200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en-GB" sz="1200" b="0" i="1" kern="1200" baseline="-250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12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the start of the following year, the number of animals in the population is </a:t>
                      </a:r>
                      <a:r>
                        <a:rPr lang="en-GB" sz="1200" b="0" i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GB" sz="1200" b="0" i="1" kern="1200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200" b="0" kern="1200" baseline="-250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+ 1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where</a:t>
                      </a:r>
                    </a:p>
                    <a:p>
                      <a:r>
                        <a:rPr lang="en-GB" sz="1200" b="0" i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GB" sz="1200" b="0" i="1" kern="1200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200" b="0" kern="1200" baseline="-250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+ 1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GB" sz="1200" b="0" i="1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kP</a:t>
                      </a:r>
                      <a:r>
                        <a:rPr lang="en-GB" sz="1200" b="0" i="1" kern="1200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en-GB" sz="1200" b="0" i="1" kern="1200" baseline="-250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12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the start of 2017 the number of animals in the population was 4000 </a:t>
                      </a:r>
                    </a:p>
                    <a:p>
                      <a:b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the start of 2019 the number of animals in the population was 3610</a:t>
                      </a:r>
                    </a:p>
                    <a:p>
                      <a:endParaRPr lang="en-GB" sz="12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the value of the constant </a:t>
                      </a:r>
                      <a:r>
                        <a:rPr lang="en-GB" sz="1200" b="0" i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n-GB" sz="12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12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201933"/>
                  </a:ext>
                </a:extLst>
              </a:tr>
              <a:tr h="1080582">
                <a:tc>
                  <a:txBody>
                    <a:bodyPr/>
                    <a:lstStyle/>
                    <a:p>
                      <a:r>
                        <a:rPr lang="en-GB" sz="1200" noProof="0" dirty="0">
                          <a:solidFill>
                            <a:schemeClr val="tx1"/>
                          </a:solidFill>
                        </a:rPr>
                        <a:t>Consider the relationship between this period’s key numbers and the next period’s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endParaRPr lang="en-GB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endParaRPr lang="en-GB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625240"/>
                  </a:ext>
                </a:extLst>
              </a:tr>
              <a:tr h="858616">
                <a:tc>
                  <a:txBody>
                    <a:bodyPr/>
                    <a:lstStyle/>
                    <a:p>
                      <a:r>
                        <a:rPr lang="en-GB" sz="1200" noProof="0" dirty="0">
                          <a:solidFill>
                            <a:schemeClr val="tx1"/>
                          </a:solidFill>
                        </a:rPr>
                        <a:t>Work out any relevant multipliers (&gt;1 if growing and &lt;1 if depreciating)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818243"/>
                  </a:ext>
                </a:extLst>
              </a:tr>
              <a:tr h="1082275">
                <a:tc>
                  <a:txBody>
                    <a:bodyPr/>
                    <a:lstStyle/>
                    <a:p>
                      <a:r>
                        <a:rPr lang="en-GB" sz="1200" noProof="0" dirty="0">
                          <a:solidFill>
                            <a:schemeClr val="tx1"/>
                          </a:solidFill>
                        </a:rPr>
                        <a:t>Write as a recurrence relationship if required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7635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BE88C25-E436-B2A9-9B5F-A4C158C9887E}"/>
              </a:ext>
            </a:extLst>
          </p:cNvPr>
          <p:cNvSpPr txBox="1"/>
          <p:nvPr/>
        </p:nvSpPr>
        <p:spPr>
          <a:xfrm>
            <a:off x="4307175" y="58700"/>
            <a:ext cx="139724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noProof="0" dirty="0">
                <a:solidFill>
                  <a:schemeClr val="accent2"/>
                </a:solidFill>
              </a:rPr>
              <a:t>Example  - We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AB34D-7C14-924F-CF80-7E6E33271A21}"/>
              </a:ext>
            </a:extLst>
          </p:cNvPr>
          <p:cNvSpPr txBox="1"/>
          <p:nvPr/>
        </p:nvSpPr>
        <p:spPr>
          <a:xfrm>
            <a:off x="1979946" y="77876"/>
            <a:ext cx="119468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noProof="0" dirty="0">
                <a:solidFill>
                  <a:srgbClr val="FF0000"/>
                </a:solidFill>
              </a:rPr>
              <a:t>Example - I do…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364AB-5B32-511E-6D1B-16454ED1C62A}"/>
              </a:ext>
            </a:extLst>
          </p:cNvPr>
          <p:cNvSpPr txBox="1"/>
          <p:nvPr/>
        </p:nvSpPr>
        <p:spPr>
          <a:xfrm>
            <a:off x="109507" y="6105546"/>
            <a:ext cx="1762598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2538578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012B19-B0A5-A338-14C8-5FC84FCE2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40036" y="9365299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5</a:t>
            </a:fld>
            <a:endParaRPr lang="en-GB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D9F25B-4F6B-81FF-8ABD-BF7F9A1778FD}"/>
              </a:ext>
            </a:extLst>
          </p:cNvPr>
          <p:cNvSpPr txBox="1"/>
          <p:nvPr/>
        </p:nvSpPr>
        <p:spPr>
          <a:xfrm>
            <a:off x="0" y="0"/>
            <a:ext cx="1294200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GCSE QUESTIONS</a:t>
            </a: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5DFBDB2F-875D-3918-CBD7-1DFC5D08C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49" y="276999"/>
            <a:ext cx="6115878" cy="25631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D56AB1-3404-32D7-AD43-9BCDFC54D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0" y="2840114"/>
            <a:ext cx="5853881" cy="3425143"/>
          </a:xfrm>
          <a:prstGeom prst="rect">
            <a:avLst/>
          </a:prstGeom>
        </p:spPr>
      </p:pic>
      <p:pic>
        <p:nvPicPr>
          <p:cNvPr id="8" name="Picture 7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88E8AC89-5504-4DE4-2B9F-507A716315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0" y="6485751"/>
            <a:ext cx="6115878" cy="328393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584CF4-C3F5-5DA4-EEEE-EADCDCE1B366}"/>
              </a:ext>
            </a:extLst>
          </p:cNvPr>
          <p:cNvCxnSpPr/>
          <p:nvPr/>
        </p:nvCxnSpPr>
        <p:spPr>
          <a:xfrm>
            <a:off x="0" y="2840114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699CE9-E4A5-8050-90F9-D575936AA593}"/>
              </a:ext>
            </a:extLst>
          </p:cNvPr>
          <p:cNvCxnSpPr/>
          <p:nvPr/>
        </p:nvCxnSpPr>
        <p:spPr>
          <a:xfrm>
            <a:off x="-25149" y="6447682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849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61E8D-F45D-FEF1-5DEB-C57AF88CD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FFF9CD-1B9A-9BB5-3DCF-C148BA4D7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950" y="9443541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6</a:t>
            </a:fld>
            <a:endParaRPr lang="en-GB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E7AB7B-8179-4451-5867-50EDBE37588A}"/>
              </a:ext>
            </a:extLst>
          </p:cNvPr>
          <p:cNvCxnSpPr/>
          <p:nvPr/>
        </p:nvCxnSpPr>
        <p:spPr>
          <a:xfrm>
            <a:off x="0" y="4318437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E536DABE-15F8-B77B-10C5-99B093625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77" y="82494"/>
            <a:ext cx="6612446" cy="3862484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7FB9AB-D67E-F76B-8BEE-9910A9EE2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77" y="4519782"/>
            <a:ext cx="6356400" cy="492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15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547242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7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4601994"/>
                  </p:ext>
                </p:extLst>
              </p:nvPr>
            </p:nvGraphicFramePr>
            <p:xfrm>
              <a:off x="109507" y="1480400"/>
              <a:ext cx="6670594" cy="37202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8036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50423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63076">
                      <a:extLst>
                        <a:ext uri="{9D8B030D-6E8A-4147-A177-3AD203B41FA5}">
                          <a16:colId xmlns:a16="http://schemas.microsoft.com/office/drawing/2014/main" val="772331842"/>
                        </a:ext>
                      </a:extLst>
                    </a:gridCol>
                    <a:gridCol w="1799059">
                      <a:extLst>
                        <a:ext uri="{9D8B030D-6E8A-4147-A177-3AD203B41FA5}">
                          <a16:colId xmlns:a16="http://schemas.microsoft.com/office/drawing/2014/main" val="1506195925"/>
                        </a:ext>
                      </a:extLst>
                    </a:gridCol>
                  </a:tblGrid>
                  <a:tr h="750850">
                    <a:tc>
                      <a:txBody>
                        <a:bodyPr/>
                        <a:lstStyle/>
                        <a:p>
                          <a:r>
                            <a:rPr lang="en-GB" sz="1100" b="1" noProof="0" dirty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Show the equation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rad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oMath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Has a solution between </a:t>
                          </a:r>
                        </a:p>
                        <a:p>
                          <a:pPr algn="ctr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3 and 4.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Show the equation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−1=0</m:t>
                                </m:r>
                              </m:oMath>
                            </m:oMathPara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Has a root between </a:t>
                          </a:r>
                        </a:p>
                        <a:p>
                          <a:pPr algn="ctr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1 and 2. </a:t>
                          </a:r>
                        </a:p>
                        <a:p>
                          <a:pPr algn="ctr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Show the equation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−24=5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Has a solution between </a:t>
                          </a:r>
                        </a:p>
                        <a:p>
                          <a:pPr algn="ctr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3 and 4. </a:t>
                          </a:r>
                        </a:p>
                        <a:p>
                          <a:pPr algn="ctr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519819">
                    <a:tc>
                      <a:txBody>
                        <a:bodyPr/>
                        <a:lstStyle/>
                        <a:p>
                          <a:r>
                            <a:rPr lang="en-GB" sz="1200" noProof="0" dirty="0"/>
                            <a:t>Rearrange to make equal to zero.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63533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 dirty="0"/>
                            <a:t>Evaluate the expression for the two given values – show your working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  <a:tr h="981881">
                    <a:tc>
                      <a:txBody>
                        <a:bodyPr/>
                        <a:lstStyle/>
                        <a:p>
                          <a:r>
                            <a:rPr lang="en-GB" sz="1200" noProof="0" dirty="0"/>
                            <a:t>There</a:t>
                          </a:r>
                          <a:r>
                            <a:rPr lang="en-GB" sz="1200" baseline="0" noProof="0" dirty="0"/>
                            <a:t> should be a positive and negative value – write </a:t>
                          </a:r>
                          <a:r>
                            <a:rPr lang="en-GB" sz="1200" i="1" baseline="0" noProof="0" dirty="0"/>
                            <a:t>“therefore a root in the interval</a:t>
                          </a:r>
                          <a:r>
                            <a:rPr lang="en-GB" sz="1200" baseline="0" noProof="0" dirty="0"/>
                            <a:t>”</a:t>
                          </a:r>
                          <a:endParaRPr lang="en-GB" sz="1200" noProof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276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4601994"/>
                  </p:ext>
                </p:extLst>
              </p:nvPr>
            </p:nvGraphicFramePr>
            <p:xfrm>
              <a:off x="109507" y="1480400"/>
              <a:ext cx="6670594" cy="37202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8036">
                      <a:extLst>
                        <a:ext uri="{9D8B030D-6E8A-4147-A177-3AD203B41FA5}">
                          <a16:colId xmlns:a16="http://schemas.microsoft.com/office/drawing/2014/main" val="1568142362"/>
                        </a:ext>
                      </a:extLst>
                    </a:gridCol>
                    <a:gridCol w="1750423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  <a:gridCol w="1663076">
                      <a:extLst>
                        <a:ext uri="{9D8B030D-6E8A-4147-A177-3AD203B41FA5}">
                          <a16:colId xmlns:a16="http://schemas.microsoft.com/office/drawing/2014/main" val="772331842"/>
                        </a:ext>
                      </a:extLst>
                    </a:gridCol>
                    <a:gridCol w="1799059">
                      <a:extLst>
                        <a:ext uri="{9D8B030D-6E8A-4147-A177-3AD203B41FA5}">
                          <a16:colId xmlns:a16="http://schemas.microsoft.com/office/drawing/2014/main" val="1506195925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r>
                            <a:rPr lang="en-GB" sz="1100" b="1" noProof="0">
                              <a:solidFill>
                                <a:schemeClr val="tx1"/>
                              </a:solidFill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3972" t="-510" r="-198955" b="-2158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3407" t="-510" r="-109158" b="-2158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0608" t="-510" r="-676" b="-2158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519819"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Rearrange to make equal to zero.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10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62524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noProof="0"/>
                            <a:t>Evaluate the expression for the two given values – show your working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0818243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GB" sz="1200" noProof="0"/>
                            <a:t>There</a:t>
                          </a:r>
                          <a:r>
                            <a:rPr lang="en-GB" sz="1200" baseline="0" noProof="0"/>
                            <a:t> should be a positive and negative value – write </a:t>
                          </a:r>
                          <a:r>
                            <a:rPr lang="en-GB" sz="1200" i="1" baseline="0" noProof="0"/>
                            <a:t>“therefore a root in the interval</a:t>
                          </a:r>
                          <a:r>
                            <a:rPr lang="en-GB" sz="1200" baseline="0" noProof="0"/>
                            <a:t>”</a:t>
                          </a:r>
                          <a:endParaRPr lang="en-GB" sz="1200" noProof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2763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A4FD2D9-8D23-4ADE-B70E-F386FDED2BED}"/>
              </a:ext>
            </a:extLst>
          </p:cNvPr>
          <p:cNvSpPr txBox="1"/>
          <p:nvPr/>
        </p:nvSpPr>
        <p:spPr>
          <a:xfrm>
            <a:off x="5148510" y="1142390"/>
            <a:ext cx="149880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noProof="0" dirty="0">
                <a:solidFill>
                  <a:srgbClr val="00B050"/>
                </a:solidFill>
              </a:rPr>
              <a:t>Example 9 - You do…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67FA9-518E-48EE-9C3C-DC43DA12711A}"/>
              </a:ext>
            </a:extLst>
          </p:cNvPr>
          <p:cNvSpPr txBox="1"/>
          <p:nvPr/>
        </p:nvSpPr>
        <p:spPr>
          <a:xfrm>
            <a:off x="3342163" y="1134092"/>
            <a:ext cx="147578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noProof="0" dirty="0">
                <a:solidFill>
                  <a:schemeClr val="accent2"/>
                </a:solidFill>
              </a:rPr>
              <a:t>Example 8 - We do…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5FDE3F-DC2A-468E-BF61-F69BF8BB2775}"/>
              </a:ext>
            </a:extLst>
          </p:cNvPr>
          <p:cNvSpPr txBox="1"/>
          <p:nvPr/>
        </p:nvSpPr>
        <p:spPr>
          <a:xfrm>
            <a:off x="1640675" y="1149138"/>
            <a:ext cx="127323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noProof="0" dirty="0">
                <a:solidFill>
                  <a:srgbClr val="FF0000"/>
                </a:solidFill>
              </a:rPr>
              <a:t>Example 7- I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993" y="5622843"/>
                <a:ext cx="2129742" cy="4637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a) Show that </a:t>
                </a:r>
                <a14:m>
                  <m:oMath xmlns:m="http://schemas.openxmlformats.org/officeDocument/2006/math">
                    <m:r>
                      <a:rPr lang="en-GB" sz="1200" i="1" noProof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noProof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GB" sz="1200" i="1" noProof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rad>
                    <m:r>
                      <a:rPr lang="en-GB" sz="1200" i="1" noProof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−1=0</m:t>
                    </m:r>
                  </m:oMath>
                </a14:m>
                <a:r>
                  <a:rPr lang="en-GB" sz="1200" noProof="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a root between 2.6 and 2.7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" y="5622843"/>
                <a:ext cx="2129742" cy="463717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277292" y="5626902"/>
                <a:ext cx="212974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b) Show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1200" noProof="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a root between 0 and 1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292" y="5626902"/>
                <a:ext cx="2129742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550591" y="5644990"/>
                <a:ext cx="231140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c) Show that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−5=0</m:t>
                    </m:r>
                  </m:oMath>
                </a14:m>
                <a:r>
                  <a:rPr lang="en-GB" sz="1200" noProof="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a root between 1 and 2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591" y="5644990"/>
                <a:ext cx="2311402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-16696" y="7772091"/>
                <a:ext cx="212974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d) Show that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=−1</m:t>
                    </m:r>
                    <m:r>
                      <a:rPr lang="en-GB" sz="1200" i="1" noProof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GB" sz="1200" noProof="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a root between 2 and 3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696" y="7772091"/>
                <a:ext cx="2129742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334501" y="7772090"/>
                <a:ext cx="214761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e) Show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−5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+1=0</m:t>
                    </m:r>
                  </m:oMath>
                </a14:m>
                <a:r>
                  <a:rPr lang="en-GB" sz="1200" noProof="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a root between 1.5 and 2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501" y="7772090"/>
                <a:ext cx="2147618" cy="461665"/>
              </a:xfrm>
              <a:prstGeom prst="rect">
                <a:avLst/>
              </a:prstGeom>
              <a:blipFill>
                <a:blip r:embed="rId7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1438072" y="5295640"/>
            <a:ext cx="19909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noProof="0" dirty="0"/>
              <a:t>3) Use iteration to….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611794" y="7772090"/>
                <a:ext cx="214761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f) Show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i="1" noProof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+5=2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1200" noProof="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a root between -2 and -3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794" y="7772090"/>
                <a:ext cx="2147618" cy="461665"/>
              </a:xfrm>
              <a:prstGeom prst="rect">
                <a:avLst/>
              </a:prstGeom>
              <a:blipFill>
                <a:blip r:embed="rId8"/>
                <a:stretch>
                  <a:fillRect r="-113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C3C65E48-8C3D-6849-AD77-7AD8678AD8DA}"/>
              </a:ext>
            </a:extLst>
          </p:cNvPr>
          <p:cNvSpPr txBox="1"/>
          <p:nvPr/>
        </p:nvSpPr>
        <p:spPr>
          <a:xfrm>
            <a:off x="41418" y="5307181"/>
            <a:ext cx="1560042" cy="253916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050" b="1" noProof="0" dirty="0">
                <a:solidFill>
                  <a:schemeClr val="bg1"/>
                </a:solidFill>
              </a:rPr>
              <a:t>INDEPENDENT 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8A042F-FEA7-FBD7-D2F3-56B9AEFD016E}"/>
              </a:ext>
            </a:extLst>
          </p:cNvPr>
          <p:cNvSpPr txBox="1"/>
          <p:nvPr/>
        </p:nvSpPr>
        <p:spPr>
          <a:xfrm>
            <a:off x="49477" y="283807"/>
            <a:ext cx="673062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noProof="0" dirty="0"/>
              <a:t>Iteration is a way of </a:t>
            </a:r>
            <a:r>
              <a:rPr lang="en-GB" sz="1200" b="1" noProof="0" dirty="0"/>
              <a:t>estimating solutions</a:t>
            </a:r>
            <a:r>
              <a:rPr lang="en-GB" sz="1200" noProof="0" dirty="0"/>
              <a:t> to difficult equations – if you study A-level maths you will learn a lot more about it. For now, you need to know that GCSE questions generally follow a predictable pattern in what you are asked to do. First, you will be asked to ‘show there is a solution’ (or ‘root’) in a given interval (i.e. between two numbers). The following examples show how to answer this: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1A6951-60FA-5D55-9CF3-DC9BD7C77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613970"/>
              </p:ext>
            </p:extLst>
          </p:nvPr>
        </p:nvGraphicFramePr>
        <p:xfrm>
          <a:off x="65197" y="5635136"/>
          <a:ext cx="6714903" cy="426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301">
                  <a:extLst>
                    <a:ext uri="{9D8B030D-6E8A-4147-A177-3AD203B41FA5}">
                      <a16:colId xmlns:a16="http://schemas.microsoft.com/office/drawing/2014/main" val="2366988318"/>
                    </a:ext>
                  </a:extLst>
                </a:gridCol>
                <a:gridCol w="2238301">
                  <a:extLst>
                    <a:ext uri="{9D8B030D-6E8A-4147-A177-3AD203B41FA5}">
                      <a16:colId xmlns:a16="http://schemas.microsoft.com/office/drawing/2014/main" val="2314818298"/>
                    </a:ext>
                  </a:extLst>
                </a:gridCol>
                <a:gridCol w="2238301">
                  <a:extLst>
                    <a:ext uri="{9D8B030D-6E8A-4147-A177-3AD203B41FA5}">
                      <a16:colId xmlns:a16="http://schemas.microsoft.com/office/drawing/2014/main" val="3518386951"/>
                    </a:ext>
                  </a:extLst>
                </a:gridCol>
              </a:tblGrid>
              <a:tr h="2132028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773243"/>
                  </a:ext>
                </a:extLst>
              </a:tr>
              <a:tr h="2132028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07811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28BFA82-2F24-3E62-9BFF-AA3C9A1F983B}"/>
              </a:ext>
            </a:extLst>
          </p:cNvPr>
          <p:cNvSpPr/>
          <p:nvPr/>
        </p:nvSpPr>
        <p:spPr>
          <a:xfrm>
            <a:off x="-9365" y="6061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noProof="0" dirty="0">
                <a:solidFill>
                  <a:prstClr val="white"/>
                </a:solidFill>
              </a:rPr>
              <a:t>Subtopic 6b – Using Iteration to Estimate Solutions to Equations</a:t>
            </a:r>
            <a:endParaRPr lang="en-GB" b="1" noProof="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596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378597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8</a:t>
            </a:fld>
            <a:endParaRPr lang="en-GB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91975E-B426-4910-919C-E3C5554DC081}"/>
              </a:ext>
            </a:extLst>
          </p:cNvPr>
          <p:cNvSpPr txBox="1"/>
          <p:nvPr/>
        </p:nvSpPr>
        <p:spPr>
          <a:xfrm>
            <a:off x="0" y="0"/>
            <a:ext cx="2301720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GB" sz="1200" b="1" noProof="0" dirty="0">
                <a:solidFill>
                  <a:schemeClr val="bg1"/>
                </a:solidFill>
              </a:rPr>
              <a:t>ITERATION TO SOLVE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B1B9343-04F6-B009-1350-BFA6F7226C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062264"/>
                  </p:ext>
                </p:extLst>
              </p:nvPr>
            </p:nvGraphicFramePr>
            <p:xfrm>
              <a:off x="164861" y="1371426"/>
              <a:ext cx="6528278" cy="8250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28278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</a:tblGrid>
                  <a:tr h="30950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10-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8161254"/>
                      </a:ext>
                    </a:extLst>
                  </a:tr>
                  <a:tr h="3673762">
                    <a:tc>
                      <a:txBody>
                        <a:bodyPr/>
                        <a:lstStyle/>
                        <a:p>
                          <a:pPr lvl="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The iterative formula </a:t>
                          </a:r>
                        </a:p>
                        <a:p>
                          <a:pPr lvl="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+7</m:t>
                                  </m:r>
                                </m:e>
                              </m:rad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 can be used to find an approximate solution for the equation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−7=0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lvl="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  <a:cs typeface="Times New Roman" panose="02020603050405020304" pitchFamily="18" charset="0"/>
                          </a:endParaRPr>
                        </a:p>
                        <a:p>
                          <a: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Using the iteration formula three times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 and</a:t>
                          </a: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 = 4 to f</a:t>
                          </a: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+mn-cs"/>
                            </a:rPr>
                            <a:t>ind an estimate for the solution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  <a:cs typeface="+mn-cs"/>
                            </a:rPr>
                            <a:t> to 2 decimal places.</a:t>
                          </a: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30472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11 -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975670"/>
                      </a:ext>
                    </a:extLst>
                  </a:tr>
                  <a:tr h="3962781">
                    <a:tc>
                      <a:txBody>
                        <a:bodyPr/>
                        <a:lstStyle/>
                        <a:p>
                          <a:pPr lvl="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The iterative formula </a:t>
                          </a:r>
                        </a:p>
                        <a:p>
                          <a:pPr lvl="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sSubSup>
                                    <m:sSubSupPr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+5</m:t>
                                  </m:r>
                                </m:e>
                              </m:rad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 can be used to find an approximate solution for the equation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−5=0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lvl="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Using the iteration formula four times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 and</a:t>
                          </a: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 = 2 to f</a:t>
                          </a: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+mn-cs"/>
                            </a:rPr>
                            <a:t>ind an estimate for the solution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  <a:cs typeface="+mn-cs"/>
                            </a:rPr>
                            <a:t> to 2 decimal places.</a:t>
                          </a: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94707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B1B9343-04F6-B009-1350-BFA6F7226C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062264"/>
                  </p:ext>
                </p:extLst>
              </p:nvPr>
            </p:nvGraphicFramePr>
            <p:xfrm>
              <a:off x="164861" y="1371426"/>
              <a:ext cx="6528278" cy="8250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28278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</a:tblGrid>
                  <a:tr h="30950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10-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8161254"/>
                      </a:ext>
                    </a:extLst>
                  </a:tr>
                  <a:tr h="36737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" t="-8624" r="-280" b="-1165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30472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11 -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975670"/>
                      </a:ext>
                    </a:extLst>
                  </a:tr>
                  <a:tr h="39627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" t="-108295" r="-280" b="-3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94707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3FDF4D6-3DD0-59B2-B0E1-3DFDA7972F7E}"/>
              </a:ext>
            </a:extLst>
          </p:cNvPr>
          <p:cNvSpPr txBox="1"/>
          <p:nvPr/>
        </p:nvSpPr>
        <p:spPr>
          <a:xfrm>
            <a:off x="164861" y="283807"/>
            <a:ext cx="652827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noProof="0" dirty="0"/>
              <a:t>The next steps to estimating solutions are to: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200" noProof="0" dirty="0"/>
              <a:t>Rearrange the equation to a given form and then…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200" noProof="0" dirty="0"/>
              <a:t>Substitute values into the iteration formula (over and over again)</a:t>
            </a:r>
          </a:p>
          <a:p>
            <a:r>
              <a:rPr lang="en-GB" sz="1200" noProof="0" dirty="0"/>
              <a:t>The second of these is slightly more straightforward so we will practice that before combining with the first part….</a:t>
            </a:r>
          </a:p>
        </p:txBody>
      </p:sp>
    </p:spTree>
    <p:extLst>
      <p:ext uri="{BB962C8B-B14F-4D97-AF65-F5344CB8AC3E}">
        <p14:creationId xmlns:p14="http://schemas.microsoft.com/office/powerpoint/2010/main" val="4096746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6AC284E-41D2-0309-013E-DB984A92F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785880"/>
              </p:ext>
            </p:extLst>
          </p:nvPr>
        </p:nvGraphicFramePr>
        <p:xfrm>
          <a:off x="107668" y="4717957"/>
          <a:ext cx="6573944" cy="4896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972">
                  <a:extLst>
                    <a:ext uri="{9D8B030D-6E8A-4147-A177-3AD203B41FA5}">
                      <a16:colId xmlns:a16="http://schemas.microsoft.com/office/drawing/2014/main" val="627973290"/>
                    </a:ext>
                  </a:extLst>
                </a:gridCol>
                <a:gridCol w="3286972">
                  <a:extLst>
                    <a:ext uri="{9D8B030D-6E8A-4147-A177-3AD203B41FA5}">
                      <a16:colId xmlns:a16="http://schemas.microsoft.com/office/drawing/2014/main" val="2476837939"/>
                    </a:ext>
                  </a:extLst>
                </a:gridCol>
              </a:tblGrid>
              <a:tr h="4896306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95685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AEF00B-9824-A748-BFBD-5BAF68F2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3243" y="9358181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9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50F86F5-3DE0-299D-0D0F-4AB1D47A6C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3473730"/>
                  </p:ext>
                </p:extLst>
              </p:nvPr>
            </p:nvGraphicFramePr>
            <p:xfrm>
              <a:off x="107668" y="117566"/>
              <a:ext cx="6573944" cy="41639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73944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</a:tblGrid>
                  <a:tr h="30235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12 -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8161254"/>
                      </a:ext>
                    </a:extLst>
                  </a:tr>
                  <a:tr h="3861553">
                    <a:tc>
                      <a:txBody>
                        <a:bodyPr/>
                        <a:lstStyle/>
                        <a:p>
                          <a:pPr lvl="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The iterative formula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 can be used to find an approximate solution for the equation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−3=0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  <a:p>
                          <a:pPr lvl="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Using the iteration formula three times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 and</a:t>
                          </a: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 = 1 to f</a:t>
                          </a: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+mn-cs"/>
                            </a:rPr>
                            <a:t>ind an estimate for the solution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  <a:cs typeface="+mn-cs"/>
                            </a:rPr>
                            <a:t> to 2 decimal places.</a:t>
                          </a: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50F86F5-3DE0-299D-0D0F-4AB1D47A6C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3473730"/>
                  </p:ext>
                </p:extLst>
              </p:nvPr>
            </p:nvGraphicFramePr>
            <p:xfrm>
              <a:off x="107668" y="117566"/>
              <a:ext cx="6573944" cy="41639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73944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</a:tblGrid>
                  <a:tr h="30235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12 -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8161254"/>
                      </a:ext>
                    </a:extLst>
                  </a:tr>
                  <a:tr h="3861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" t="-8044" r="-185" b="-3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725BC0F-D454-6544-F970-3F8157E1AB46}"/>
              </a:ext>
            </a:extLst>
          </p:cNvPr>
          <p:cNvSpPr/>
          <p:nvPr/>
        </p:nvSpPr>
        <p:spPr>
          <a:xfrm>
            <a:off x="1712140" y="4377086"/>
            <a:ext cx="51458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noProof="0" dirty="0"/>
              <a:t>4) Use the iterative formulae to find estimates of solutions for each equation.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5DEB70E-B331-8A96-F81F-AA31F970A4F4}"/>
                  </a:ext>
                </a:extLst>
              </p:cNvPr>
              <p:cNvSpPr/>
              <p:nvPr/>
            </p:nvSpPr>
            <p:spPr>
              <a:xfrm>
                <a:off x="107669" y="4739467"/>
                <a:ext cx="3136739" cy="7492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200" noProof="0" dirty="0">
                    <a:cs typeface="Times New Roman" panose="02020603050405020304" pitchFamily="18" charset="0"/>
                  </a:rPr>
                  <a:t>a) 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en-GB" sz="1200" noProof="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, use the iterative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GB" sz="12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num>
                      <m:den>
                        <m:sSubSup>
                          <m:sSubSupPr>
                            <m:ctrlPr>
                              <a:rPr lang="en-GB" sz="1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GB" sz="1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GB" sz="1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GB" sz="12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+2</m:t>
                    </m:r>
                  </m:oMath>
                </a14:m>
                <a:r>
                  <a:rPr lang="en-GB" sz="1200" noProof="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GB" sz="1200" b="1" noProof="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three times </a:t>
                </a:r>
                <a:r>
                  <a:rPr lang="en-GB" sz="1200" noProof="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2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</m:t>
                    </m:r>
                    <m:sSup>
                      <m:sSupPr>
                        <m:ctrlP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=7</m:t>
                    </m:r>
                  </m:oMath>
                </a14:m>
                <a:endParaRPr lang="en-GB" sz="1200" noProof="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5DEB70E-B331-8A96-F81F-AA31F970A4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69" y="4739467"/>
                <a:ext cx="3136739" cy="749244"/>
              </a:xfrm>
              <a:prstGeom prst="rect">
                <a:avLst/>
              </a:prstGeom>
              <a:blipFill>
                <a:blip r:embed="rId3"/>
                <a:stretch>
                  <a:fillRect l="-195" b="-5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9EAD5B-0AFF-9860-2D8A-F2FA8DCEC1FE}"/>
                  </a:ext>
                </a:extLst>
              </p:cNvPr>
              <p:cNvSpPr/>
              <p:nvPr/>
            </p:nvSpPr>
            <p:spPr>
              <a:xfrm>
                <a:off x="3544873" y="4739467"/>
                <a:ext cx="3136739" cy="7666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200" noProof="0" dirty="0">
                    <a:cs typeface="Times New Roman" panose="02020603050405020304" pitchFamily="18" charset="0"/>
                  </a:rPr>
                  <a:t>b) 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1200" b="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1200" noProof="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, use the iterative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GB" sz="12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sSubSup>
                          <m:sSubSupPr>
                            <m:ctrlPr>
                              <a:rPr lang="en-GB" sz="1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GB" sz="1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GB" sz="1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+3</m:t>
                        </m:r>
                      </m:den>
                    </m:f>
                  </m:oMath>
                </a14:m>
                <a:r>
                  <a:rPr lang="en-GB" sz="1200" noProof="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GB" sz="1200" b="1" noProof="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three times </a:t>
                </a:r>
                <a:r>
                  <a:rPr lang="en-GB" sz="1200" noProof="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2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+3</m:t>
                    </m:r>
                    <m:r>
                      <a:rPr lang="en-GB" sz="12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endParaRPr lang="en-GB" sz="1200" noProof="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9EAD5B-0AFF-9860-2D8A-F2FA8DCEC1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873" y="4739467"/>
                <a:ext cx="3136739" cy="766620"/>
              </a:xfrm>
              <a:prstGeom prst="rect">
                <a:avLst/>
              </a:prstGeom>
              <a:blipFill>
                <a:blip r:embed="rId4"/>
                <a:stretch>
                  <a:fillRect l="-195"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FF49EA0-E67F-7D83-C5C7-DF4C7614430E}"/>
              </a:ext>
            </a:extLst>
          </p:cNvPr>
          <p:cNvSpPr txBox="1"/>
          <p:nvPr/>
        </p:nvSpPr>
        <p:spPr>
          <a:xfrm>
            <a:off x="29291" y="4377086"/>
            <a:ext cx="1762598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421593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DED240-653D-46C1-9B7E-33839B555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663435"/>
              </p:ext>
            </p:extLst>
          </p:nvPr>
        </p:nvGraphicFramePr>
        <p:xfrm>
          <a:off x="102373" y="98342"/>
          <a:ext cx="6653254" cy="9528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6627">
                  <a:extLst>
                    <a:ext uri="{9D8B030D-6E8A-4147-A177-3AD203B41FA5}">
                      <a16:colId xmlns:a16="http://schemas.microsoft.com/office/drawing/2014/main" val="1074727312"/>
                    </a:ext>
                  </a:extLst>
                </a:gridCol>
                <a:gridCol w="3326627">
                  <a:extLst>
                    <a:ext uri="{9D8B030D-6E8A-4147-A177-3AD203B41FA5}">
                      <a16:colId xmlns:a16="http://schemas.microsoft.com/office/drawing/2014/main" val="1445554331"/>
                    </a:ext>
                  </a:extLst>
                </a:gridCol>
              </a:tblGrid>
              <a:tr h="4764492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8494"/>
                  </a:ext>
                </a:extLst>
              </a:tr>
              <a:tr h="4764492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779601"/>
                  </a:ext>
                </a:extLst>
              </a:tr>
            </a:tbl>
          </a:graphicData>
        </a:graphic>
      </p:graphicFrame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>
          <a:xfrm>
            <a:off x="5314950" y="9523641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10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69897" y="98342"/>
                <a:ext cx="3233060" cy="7486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200" noProof="0" dirty="0">
                    <a:cs typeface="Times New Roman" panose="02020603050405020304" pitchFamily="18" charset="0"/>
                  </a:rPr>
                  <a:t>c) 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GB" sz="1200" noProof="0" dirty="0">
                    <a:cs typeface="Times New Roman" panose="02020603050405020304" pitchFamily="18" charset="0"/>
                  </a:rPr>
                  <a:t>, use the iterative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GB" sz="1200" i="1" noProof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GB" sz="1200" i="1" noProof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i="1" noProof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GB" sz="1200" i="1" noProof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1200" b="1" noProof="0" dirty="0">
                    <a:cs typeface="Times New Roman" panose="02020603050405020304" pitchFamily="18" charset="0"/>
                  </a:rPr>
                  <a:t>  twice, </a:t>
                </a:r>
                <a:r>
                  <a:rPr lang="en-GB" sz="1200" noProof="0" dirty="0">
                    <a:cs typeface="Times New Roman" panose="02020603050405020304" pitchFamily="18" charset="0"/>
                  </a:rPr>
                  <a:t>to find an estimate for the solution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GB" sz="1200" noProof="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97" y="98342"/>
                <a:ext cx="3233060" cy="748666"/>
              </a:xfrm>
              <a:prstGeom prst="rect">
                <a:avLst/>
              </a:prstGeom>
              <a:blipFill>
                <a:blip r:embed="rId2"/>
                <a:stretch>
                  <a:fillRect l="-189" b="-5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3522567" y="98342"/>
                <a:ext cx="3233060" cy="8699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200" noProof="0" dirty="0">
                    <a:cs typeface="Times New Roman" panose="02020603050405020304" pitchFamily="18" charset="0"/>
                  </a:rPr>
                  <a:t>d) 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4.5</m:t>
                    </m:r>
                  </m:oMath>
                </a14:m>
                <a:r>
                  <a:rPr lang="en-GB" sz="1200" noProof="0" dirty="0">
                    <a:cs typeface="Times New Roman" panose="02020603050405020304" pitchFamily="18" charset="0"/>
                  </a:rPr>
                  <a:t>, use the iterative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ad>
                      <m:ra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a:rPr lang="en-GB" sz="1200" b="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30+10</m:t>
                        </m:r>
                        <m:sSub>
                          <m:sSubPr>
                            <m:ctrlPr>
                              <a:rPr lang="en-GB" sz="12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en-GB" sz="1200" noProof="0" dirty="0">
                    <a:cs typeface="Times New Roman" panose="02020603050405020304" pitchFamily="18" charset="0"/>
                  </a:rPr>
                  <a:t>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=30</m:t>
                    </m:r>
                  </m:oMath>
                </a14:m>
                <a:r>
                  <a:rPr lang="en-GB" sz="1200" noProof="0" dirty="0">
                    <a:cs typeface="Times New Roman" panose="02020603050405020304" pitchFamily="18" charset="0"/>
                  </a:rPr>
                  <a:t> to 2 decimal places. </a:t>
                </a: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567" y="98342"/>
                <a:ext cx="3233060" cy="869982"/>
              </a:xfrm>
              <a:prstGeom prst="rect">
                <a:avLst/>
              </a:prstGeom>
              <a:blipFill>
                <a:blip r:embed="rId3"/>
                <a:stretch>
                  <a:fillRect l="-189" b="-4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69897" y="4923186"/>
                <a:ext cx="3226436" cy="8699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200" noProof="0" dirty="0">
                    <a:cs typeface="Times New Roman" panose="02020603050405020304" pitchFamily="18" charset="0"/>
                  </a:rPr>
                  <a:t>e) 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2.5</m:t>
                    </m:r>
                  </m:oMath>
                </a14:m>
                <a:r>
                  <a:rPr lang="en-GB" sz="1200" noProof="0" dirty="0">
                    <a:cs typeface="Times New Roman" panose="02020603050405020304" pitchFamily="18" charset="0"/>
                  </a:rPr>
                  <a:t>, use the iterative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a:rPr lang="en-GB" sz="1200" b="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sSub>
                          <m:sSubPr>
                            <m:ctrlPr>
                              <a:rPr lang="en-GB" sz="12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+4</m:t>
                        </m:r>
                      </m:e>
                    </m:rad>
                  </m:oMath>
                </a14:m>
                <a:r>
                  <a:rPr lang="en-GB" sz="1200" b="1" noProof="0" dirty="0">
                    <a:cs typeface="Times New Roman" panose="02020603050405020304" pitchFamily="18" charset="0"/>
                  </a:rPr>
                  <a:t>  </a:t>
                </a:r>
                <a:r>
                  <a:rPr lang="en-GB" sz="1200" noProof="0" dirty="0">
                    <a:cs typeface="Times New Roman" panose="02020603050405020304" pitchFamily="18" charset="0"/>
                  </a:rPr>
                  <a:t>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+4=0</m:t>
                    </m:r>
                  </m:oMath>
                </a14:m>
                <a:r>
                  <a:rPr lang="en-GB" sz="1200" noProof="0" dirty="0">
                    <a:cs typeface="Times New Roman" panose="02020603050405020304" pitchFamily="18" charset="0"/>
                  </a:rPr>
                  <a:t> to 2 decimal places. </a:t>
                </a: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97" y="4923186"/>
                <a:ext cx="3226436" cy="869982"/>
              </a:xfrm>
              <a:prstGeom prst="rect">
                <a:avLst/>
              </a:prstGeom>
              <a:blipFill>
                <a:blip r:embed="rId4"/>
                <a:stretch>
                  <a:fillRect l="-189" t="-704" r="-189"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522567" y="4923186"/>
                <a:ext cx="3233060" cy="9308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200" noProof="0" dirty="0">
                    <a:cs typeface="Times New Roman" panose="02020603050405020304" pitchFamily="18" charset="0"/>
                  </a:rPr>
                  <a:t>f) Starting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</m:t>
                    </m:r>
                  </m:oMath>
                </a14:m>
                <a:r>
                  <a:rPr lang="en-GB" sz="1200" noProof="0" dirty="0">
                    <a:cs typeface="Times New Roman" panose="02020603050405020304" pitchFamily="18" charset="0"/>
                  </a:rPr>
                  <a:t>, use the iterative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1+</m:t>
                    </m:r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num>
                      <m:den>
                        <m:sSub>
                          <m:sSubPr>
                            <m:ctrlPr>
                              <a:rPr lang="en-GB" sz="12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den>
                    </m:f>
                    <m:r>
                      <a:rPr lang="en-GB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1200" noProof="0" dirty="0">
                    <a:cs typeface="Times New Roman" panose="02020603050405020304" pitchFamily="18" charset="0"/>
                  </a:rPr>
                  <a:t>to find an estimate for the solution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−8=30</m:t>
                    </m:r>
                  </m:oMath>
                </a14:m>
                <a:r>
                  <a:rPr lang="en-GB" sz="1200" noProof="0" dirty="0">
                    <a:cs typeface="Times New Roman" panose="02020603050405020304" pitchFamily="18" charset="0"/>
                  </a:rPr>
                  <a:t> to 1 decimal place. </a:t>
                </a: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567" y="4923186"/>
                <a:ext cx="3233060" cy="930896"/>
              </a:xfrm>
              <a:prstGeom prst="rect">
                <a:avLst/>
              </a:prstGeom>
              <a:blipFill>
                <a:blip r:embed="rId5"/>
                <a:stretch>
                  <a:fillRect l="-189" t="-658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930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ACD16A4-BBCA-60A1-46E5-B0B2B65932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4587057"/>
                  </p:ext>
                </p:extLst>
              </p:nvPr>
            </p:nvGraphicFramePr>
            <p:xfrm>
              <a:off x="179295" y="1214112"/>
              <a:ext cx="6548076" cy="85968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48076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</a:tblGrid>
                  <a:tr h="27012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13 -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8161254"/>
                      </a:ext>
                    </a:extLst>
                  </a:tr>
                  <a:tr h="4043166">
                    <a:tc>
                      <a:txBody>
                        <a:bodyPr/>
                        <a:lstStyle/>
                        <a:p>
                          <a:pPr marL="228600" indent="-228600" algn="l">
                            <a:buAutoNum type="alphaLcParenR"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Show the equation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−1=2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can be rearranged to give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200" b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1+2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</m:oMath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b) Starting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with the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0=1.5</m:t>
                                  </m:r>
                                </m:sub>
                              </m:sSub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use the iteration formula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200" b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1+2</m:t>
                                  </m:r>
                                  <m:sSub>
                                    <m:sSubPr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rad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 five</a:t>
                          </a: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times to find an estimate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for the solution of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−1=2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tha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t is between 1 and 2.</a:t>
                          </a: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Round your final answer to 3 decimal places. </a:t>
                          </a: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32620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14 -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975670"/>
                      </a:ext>
                    </a:extLst>
                  </a:tr>
                  <a:tr h="3827211">
                    <a:tc>
                      <a:txBody>
                        <a:bodyPr/>
                        <a:lstStyle/>
                        <a:p>
                          <a:pPr marL="228600" indent="-228600" algn="l">
                            <a:buAutoNum type="alphaLcParenR"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Show the equation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−24=5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can be rearranged to give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200" b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24+5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</m:oMath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 algn="l">
                            <a:buNone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b) Starting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with the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0=3.5</m:t>
                                  </m:r>
                                </m:sub>
                              </m:sSub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use the iteration formula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200" b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24+25</m:t>
                                  </m:r>
                                  <m:sSub>
                                    <m:sSubPr>
                                      <m:ctrlP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1200" b="0" i="1" noProof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rad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five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times to find an estimate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for the solution of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baseline="0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−24=5</m:t>
                              </m:r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Round your final answer to 3 decimal places. </a:t>
                          </a: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94707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ACD16A4-BBCA-60A1-46E5-B0B2B65932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4587057"/>
                  </p:ext>
                </p:extLst>
              </p:nvPr>
            </p:nvGraphicFramePr>
            <p:xfrm>
              <a:off x="179295" y="1214112"/>
              <a:ext cx="6548076" cy="85968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48076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13 -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8161254"/>
                      </a:ext>
                    </a:extLst>
                  </a:tr>
                  <a:tr h="4169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" t="-6725" r="-18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32620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14 - We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975670"/>
                      </a:ext>
                    </a:extLst>
                  </a:tr>
                  <a:tr h="38272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" t="-124841" r="-186" b="-3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94707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547242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11</a:t>
            </a:fld>
            <a:endParaRPr lang="en-GB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91975E-B426-4910-919C-E3C5554DC081}"/>
              </a:ext>
            </a:extLst>
          </p:cNvPr>
          <p:cNvSpPr txBox="1"/>
          <p:nvPr/>
        </p:nvSpPr>
        <p:spPr>
          <a:xfrm>
            <a:off x="179295" y="0"/>
            <a:ext cx="2301720" cy="276999"/>
          </a:xfrm>
          <a:prstGeom prst="rect">
            <a:avLst/>
          </a:prstGeom>
          <a:solidFill>
            <a:srgbClr val="0070C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200" b="1" noProof="0" dirty="0">
                <a:solidFill>
                  <a:schemeClr val="bg1"/>
                </a:solidFill>
              </a:rPr>
              <a:t>ITERATION TO SOLVE EQUATIONS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8721F-0090-2F3C-4AAF-D24D4DF75832}"/>
              </a:ext>
            </a:extLst>
          </p:cNvPr>
          <p:cNvSpPr txBox="1"/>
          <p:nvPr/>
        </p:nvSpPr>
        <p:spPr>
          <a:xfrm>
            <a:off x="164861" y="283807"/>
            <a:ext cx="656251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noProof="0" dirty="0"/>
              <a:t>We now combine our skills of iteration with our prior knowledge of rearranging/changing the subject. This is an unusual step, but you are always given a part (a) and told ‘what to aim for’ and sometimes you need to try some trial and error before you accurately rearrange as asked. The examples below show this.</a:t>
            </a:r>
          </a:p>
        </p:txBody>
      </p:sp>
    </p:spTree>
    <p:extLst>
      <p:ext uri="{BB962C8B-B14F-4D97-AF65-F5344CB8AC3E}">
        <p14:creationId xmlns:p14="http://schemas.microsoft.com/office/powerpoint/2010/main" val="3186429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913B32-27AB-5B67-CEB6-E8928430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950" y="9181397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12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6C24484-F851-3E7A-A244-7988E52570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9236917"/>
                  </p:ext>
                </p:extLst>
              </p:nvPr>
            </p:nvGraphicFramePr>
            <p:xfrm>
              <a:off x="201706" y="197200"/>
              <a:ext cx="6525665" cy="951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25665">
                      <a:extLst>
                        <a:ext uri="{9D8B030D-6E8A-4147-A177-3AD203B41FA5}">
                          <a16:colId xmlns:a16="http://schemas.microsoft.com/office/drawing/2014/main" val="1643623833"/>
                        </a:ext>
                      </a:extLst>
                    </a:gridCol>
                  </a:tblGrid>
                  <a:tr h="502918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15 -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7410588"/>
                      </a:ext>
                    </a:extLst>
                  </a:tr>
                  <a:tr h="90086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a) Show that the equation 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−19=0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can be arranged to give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ctrlP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200" b="0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+19</m:t>
                                  </m:r>
                                </m:e>
                              </m:rad>
                            </m:oMath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b) Starting with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1200" b="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, use the iteration formula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GB" sz="1200" b="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ctrlP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200" b="0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sSub>
                                    <m:sSubPr>
                                      <m:ctrlPr>
                                        <a:rPr lang="en-GB" sz="1200" b="0" i="1" noProof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200" b="0" i="1" noProof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1200" b="0" i="1" noProof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+19</m:t>
                                  </m:r>
                                </m:e>
                              </m:rad>
                            </m:oMath>
                          </a14:m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four times to find an approximate solution to</a:t>
                          </a: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b="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−19=0</m:t>
                              </m:r>
                            </m:oMath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Round your answer to 3 decimal places.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c) Substitute your answer to part (b) into the original equation, and comment on the accuracy of the estimated solution.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29635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6C24484-F851-3E7A-A244-7988E52570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9236917"/>
                  </p:ext>
                </p:extLst>
              </p:nvPr>
            </p:nvGraphicFramePr>
            <p:xfrm>
              <a:off x="201706" y="197200"/>
              <a:ext cx="6525665" cy="951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25665">
                      <a:extLst>
                        <a:ext uri="{9D8B030D-6E8A-4147-A177-3AD203B41FA5}">
                          <a16:colId xmlns:a16="http://schemas.microsoft.com/office/drawing/2014/main" val="1643623833"/>
                        </a:ext>
                      </a:extLst>
                    </a:gridCol>
                  </a:tblGrid>
                  <a:tr h="502918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15 -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7410588"/>
                      </a:ext>
                    </a:extLst>
                  </a:tr>
                  <a:tr h="90086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" t="-5683" r="-187" b="-1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29635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8274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D9F31-C121-8E8C-D724-3EF8815F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75FE38-4DC8-97E2-786C-B1D03034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950" y="9547242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13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005F112-78B3-BC6C-26D1-D507507EA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878077"/>
                  </p:ext>
                </p:extLst>
              </p:nvPr>
            </p:nvGraphicFramePr>
            <p:xfrm>
              <a:off x="154962" y="47528"/>
              <a:ext cx="6548076" cy="98109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48076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</a:tblGrid>
                  <a:tr h="31301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</a:rPr>
                            <a:t>Example 16-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8161254"/>
                      </a:ext>
                    </a:extLst>
                  </a:tr>
                  <a:tr h="4685086">
                    <a:tc>
                      <a:txBody>
                        <a:bodyPr/>
                        <a:lstStyle/>
                        <a:p>
                          <a:pPr marL="342900" indent="-342900" algn="l">
                            <a:buAutoNum type="alphaLcParenR"/>
                          </a:pPr>
                          <a:r>
                            <a:rPr lang="en-GB" sz="1350" kern="1200" noProof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Show that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350" i="1" kern="1200" noProof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350" i="1" kern="1200" noProof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en-GB" sz="1350" i="1" kern="1200" noProof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lang="en-GB" sz="1350" i="1" kern="1200" noProof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−1=0</m:t>
                              </m:r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can be rearranged to make </a:t>
                          </a:r>
                          <a14:m>
                            <m:oMath xmlns:m="http://schemas.openxmlformats.org/officeDocument/2006/math">
                              <m:r>
                                <a:rPr lang="en-GB" sz="1350" i="1" kern="1200" noProof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lang="en-GB" sz="1350" i="1" kern="1200" noProof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350" i="1" kern="1200" noProof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1+</m:t>
                                  </m:r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den>
                              </m:f>
                            </m:oMath>
                          </a14:m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r>
                            <a:rPr lang="en-GB" sz="1350" kern="1200" noProof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Use the iterative formula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350" i="1" kern="1200" noProof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GB" sz="1350" i="1" kern="1200" noProof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en-GB" sz="1350" i="1" kern="1200" noProof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1350" i="1" kern="1200" noProof="0" smtClean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350" i="1" kern="1200" noProof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1+</m:t>
                                      </m:r>
                                      <m:r>
                                        <a:rPr lang="en-GB" sz="1350" i="1" kern="1200" noProof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1350" i="1" kern="1200" noProof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three times, starting with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350" i="1" kern="1200" noProof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1350" i="1" kern="1200" noProof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=0.5, </m:t>
                              </m:r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to find an approximation to this solution.</a:t>
                          </a: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c) Explain in words what your answer to part (b) represents.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377998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17 -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975670"/>
                      </a:ext>
                    </a:extLst>
                  </a:tr>
                  <a:tr h="4434844">
                    <a:tc>
                      <a:txBody>
                        <a:bodyPr/>
                        <a:lstStyle/>
                        <a:p>
                          <a:pPr marL="228600" indent="-228600" algn="l">
                            <a:buAutoNum type="alphaLcParenR"/>
                          </a:pPr>
                          <a:r>
                            <a:rPr lang="en-GB" sz="1350" kern="1200" noProof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Show that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350" i="1" kern="1200" noProof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350" i="1" kern="1200" noProof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1350" i="1" kern="1200" noProof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350" i="1" kern="1200" noProof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−2=0</m:t>
                              </m:r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can be rearranged to make </a:t>
                          </a:r>
                          <a14:m>
                            <m:oMath xmlns:m="http://schemas.openxmlformats.org/officeDocument/2006/math">
                              <m:r>
                                <a:rPr lang="en-GB" sz="1350" i="1" kern="1200" noProof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lang="en-GB" sz="1350" i="1" kern="1200" noProof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350" i="1" kern="1200" noProof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GB" sz="1350" i="1" kern="1200" noProof="0" smtClean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350" i="1" kern="1200" noProof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GB" sz="1350" i="1" kern="1200" noProof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  <m:r>
                                        <a:rPr lang="en-GB" sz="1350" i="1" kern="1200" noProof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−1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indent="0" algn="l">
                            <a:buNone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28600" indent="-228600" algn="l">
                            <a:buAutoNum type="alphaLcParenR"/>
                          </a:pPr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b)</a:t>
                          </a:r>
                          <a:r>
                            <a:rPr lang="en-GB" sz="1350" kern="1200" noProof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Use the iterative formula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350" i="1" kern="1200" noProof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GB" sz="1350" i="1" kern="1200" noProof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350" i="1" kern="1200" noProof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GB" sz="1350" i="1" kern="1200" noProof="0" smtClean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350" i="1" kern="1200" noProof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1350" i="1" kern="1200" noProof="0" smtClean="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350" i="1" kern="1200" noProof="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1350" i="1" kern="1200" noProof="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GB" sz="1350" i="1" kern="1200" noProof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− 1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three times, starting with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350" i="1" kern="1200" noProof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350" i="1" kern="1200" noProof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1350" i="1" kern="1200" noProof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=1.9, </m:t>
                              </m:r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to find an approximation to this solution.</a:t>
                          </a:r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baseline="0" noProof="0" dirty="0">
                              <a:solidFill>
                                <a:schemeClr val="tx1"/>
                              </a:solidFill>
                            </a:rPr>
                            <a:t>c) Explain in words what your answer to part (b) represents.</a:t>
                          </a:r>
                        </a:p>
                        <a:p>
                          <a:pPr algn="l"/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94707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005F112-78B3-BC6C-26D1-D507507EA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878077"/>
                  </p:ext>
                </p:extLst>
              </p:nvPr>
            </p:nvGraphicFramePr>
            <p:xfrm>
              <a:off x="154962" y="47528"/>
              <a:ext cx="6548076" cy="98109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48076">
                      <a:extLst>
                        <a:ext uri="{9D8B030D-6E8A-4147-A177-3AD203B41FA5}">
                          <a16:colId xmlns:a16="http://schemas.microsoft.com/office/drawing/2014/main" val="3551711160"/>
                        </a:ext>
                      </a:extLst>
                    </a:gridCol>
                  </a:tblGrid>
                  <a:tr h="31301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</a:rPr>
                            <a:t>Example 16-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8161254"/>
                      </a:ext>
                    </a:extLst>
                  </a:tr>
                  <a:tr h="46850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" t="-6753" r="-186" b="-1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01933"/>
                      </a:ext>
                    </a:extLst>
                  </a:tr>
                  <a:tr h="377998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17 - You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975670"/>
                      </a:ext>
                    </a:extLst>
                  </a:tr>
                  <a:tr h="44348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3" t="-121429" r="-186" b="-2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94707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13454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145659" y="9500756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14</a:t>
            </a:fld>
            <a:endParaRPr lang="en-GB" noProof="0" dirty="0"/>
          </a:p>
        </p:txBody>
      </p:sp>
      <p:sp>
        <p:nvSpPr>
          <p:cNvPr id="5" name="Rectangle 4"/>
          <p:cNvSpPr/>
          <p:nvPr/>
        </p:nvSpPr>
        <p:spPr>
          <a:xfrm>
            <a:off x="1740204" y="0"/>
            <a:ext cx="39818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noProof="0" dirty="0"/>
              <a:t>4) Use iteration to find the roots in each equation.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C65E48-8C3D-6849-AD77-7AD8678AD8DA}"/>
              </a:ext>
            </a:extLst>
          </p:cNvPr>
          <p:cNvSpPr txBox="1"/>
          <p:nvPr/>
        </p:nvSpPr>
        <p:spPr>
          <a:xfrm>
            <a:off x="169291" y="21476"/>
            <a:ext cx="1762598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6AB869A-B5A5-AA11-AE0E-BED68A4A3A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598415"/>
                  </p:ext>
                </p:extLst>
              </p:nvPr>
            </p:nvGraphicFramePr>
            <p:xfrm>
              <a:off x="169291" y="386942"/>
              <a:ext cx="6520754" cy="911649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20754">
                      <a:extLst>
                        <a:ext uri="{9D8B030D-6E8A-4147-A177-3AD203B41FA5}">
                          <a16:colId xmlns:a16="http://schemas.microsoft.com/office/drawing/2014/main" val="1982671282"/>
                        </a:ext>
                      </a:extLst>
                    </a:gridCol>
                  </a:tblGrid>
                  <a:tr h="4558247">
                    <a:tc>
                      <a:txBody>
                        <a:bodyPr/>
                        <a:lstStyle/>
                        <a:p>
                          <a:r>
                            <a:rPr lang="en-GB" sz="1200" noProof="0" dirty="0" err="1"/>
                            <a:t>i</a:t>
                          </a:r>
                          <a:r>
                            <a:rPr lang="en-GB" sz="1200" noProof="0" dirty="0"/>
                            <a:t>)</a:t>
                          </a:r>
                        </a:p>
                        <a:p>
                          <a:r>
                            <a:rPr lang="en-GB" sz="1200" noProof="0" dirty="0"/>
                            <a:t>(a)  Show that the equation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³ + 2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 = 1 </m:t>
                              </m:r>
                            </m:oMath>
                          </a14:m>
                          <a:r>
                            <a:rPr lang="en-GB" sz="1200" noProof="0" dirty="0"/>
                            <a:t>can be rearranged to give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r>
                            <a:rPr lang="en-GB" sz="1200" noProof="0" dirty="0"/>
                            <a:t>(b) Starting with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GB" sz="1200" noProof="0" dirty="0"/>
                            <a:t> , use the iteration formula</a:t>
                          </a:r>
                        </a:p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GB" sz="1200" noProof="0" dirty="0"/>
                            <a:t>   twice to find an estimate for the solution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³ + 2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 = 1</m:t>
                              </m:r>
                            </m:oMath>
                          </a14:m>
                          <a:r>
                            <a:rPr lang="en-GB" sz="1200" noProof="0" dirty="0"/>
                            <a:t> to 2 decimal places. </a:t>
                          </a:r>
                        </a:p>
                        <a:p>
                          <a:endParaRPr lang="en-GB" sz="1200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5076447"/>
                      </a:ext>
                    </a:extLst>
                  </a:tr>
                  <a:tr h="4558247">
                    <a:tc>
                      <a:txBody>
                        <a:bodyPr/>
                        <a:lstStyle/>
                        <a:p>
                          <a:r>
                            <a:rPr lang="en-GB" sz="1200" noProof="0" dirty="0"/>
                            <a:t>ii)</a:t>
                          </a:r>
                        </a:p>
                        <a:p>
                          <a:r>
                            <a:rPr lang="en-GB" sz="1200" noProof="0" dirty="0"/>
                            <a:t>(a)  Show that the equation </a:t>
                          </a:r>
                        </a:p>
                        <a:p>
                          <a:pPr algn="ctr"/>
                          <a:r>
                            <a:rPr lang="en-GB" sz="1200" noProof="0" dirty="0"/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³ = −11 </m:t>
                              </m:r>
                            </m:oMath>
                          </a14:m>
                          <a:r>
                            <a:rPr lang="en-GB" sz="1200" noProof="0" dirty="0"/>
                            <a:t>can be rearranged to give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200" b="0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+11</m:t>
                                  </m:r>
                                </m:e>
                              </m:rad>
                            </m:oMath>
                          </a14:m>
                          <a:endParaRPr lang="en-GB" sz="1200" noProof="0" dirty="0"/>
                        </a:p>
                        <a:p>
                          <a:pPr marL="228600" indent="-228600">
                            <a:buAutoNum type="alphaLcParenBoth"/>
                          </a:pPr>
                          <a:endParaRPr lang="en-GB" sz="1200" noProof="0" dirty="0"/>
                        </a:p>
                        <a:p>
                          <a:pPr marL="228600" indent="-228600">
                            <a:buAutoNum type="alphaLcParenBoth"/>
                          </a:pPr>
                          <a:endParaRPr lang="en-GB" sz="1200" noProof="0" dirty="0"/>
                        </a:p>
                        <a:p>
                          <a:pPr marL="228600" indent="-228600">
                            <a:buAutoNum type="alphaLcParenBoth"/>
                          </a:pPr>
                          <a:endParaRPr lang="en-GB" sz="1200" noProof="0" dirty="0"/>
                        </a:p>
                        <a:p>
                          <a:pPr marL="228600" indent="-228600">
                            <a:buAutoNum type="alphaLcParenBoth"/>
                          </a:pPr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r>
                            <a:rPr lang="en-GB" sz="1200" noProof="0" dirty="0"/>
                            <a:t>(b) Starting with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GB" sz="1200" noProof="0" dirty="0"/>
                            <a:t>  , use the iteration formula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200" b="0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  <m:sSub>
                                    <m:sSubPr>
                                      <m:ctrlPr>
                                        <a:rPr lang="en-GB" sz="12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200" i="1" noProof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1200" i="1" noProof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+11</m:t>
                                  </m:r>
                                </m:e>
                              </m:rad>
                            </m:oMath>
                          </a14:m>
                          <a:r>
                            <a:rPr lang="en-GB" sz="1200" noProof="0" dirty="0"/>
                            <a:t> three times to find an estimate for the solution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³ = −11</m:t>
                              </m:r>
                            </m:oMath>
                          </a14:m>
                          <a:r>
                            <a:rPr lang="en-GB" sz="1200" noProof="0" dirty="0"/>
                            <a:t> to 2 decimal places. </a:t>
                          </a:r>
                        </a:p>
                        <a:p>
                          <a:endParaRPr lang="en-GB" sz="1200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36369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6AB869A-B5A5-AA11-AE0E-BED68A4A3A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598415"/>
                  </p:ext>
                </p:extLst>
              </p:nvPr>
            </p:nvGraphicFramePr>
            <p:xfrm>
              <a:off x="169291" y="386942"/>
              <a:ext cx="6520754" cy="911649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20754">
                      <a:extLst>
                        <a:ext uri="{9D8B030D-6E8A-4147-A177-3AD203B41FA5}">
                          <a16:colId xmlns:a16="http://schemas.microsoft.com/office/drawing/2014/main" val="1982671282"/>
                        </a:ext>
                      </a:extLst>
                    </a:gridCol>
                  </a:tblGrid>
                  <a:tr h="45582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" t="-134" r="-187" b="-1004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5076447"/>
                      </a:ext>
                    </a:extLst>
                  </a:tr>
                  <a:tr h="45582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" t="-100134" r="-187" b="-4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36369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56237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A238D72E-F97C-B3AA-48AF-49A0C6C6FC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5626920"/>
                  </p:ext>
                </p:extLst>
              </p:nvPr>
            </p:nvGraphicFramePr>
            <p:xfrm>
              <a:off x="168623" y="394753"/>
              <a:ext cx="6520754" cy="911649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20754">
                      <a:extLst>
                        <a:ext uri="{9D8B030D-6E8A-4147-A177-3AD203B41FA5}">
                          <a16:colId xmlns:a16="http://schemas.microsoft.com/office/drawing/2014/main" val="1982671282"/>
                        </a:ext>
                      </a:extLst>
                    </a:gridCol>
                  </a:tblGrid>
                  <a:tr h="4558247">
                    <a:tc>
                      <a:txBody>
                        <a:bodyPr/>
                        <a:lstStyle/>
                        <a:p>
                          <a:r>
                            <a:rPr lang="en-GB" sz="1200" noProof="0" dirty="0"/>
                            <a:t>iii)</a:t>
                          </a:r>
                        </a:p>
                        <a:p>
                          <a:r>
                            <a:rPr lang="en-GB" sz="1200" noProof="0" dirty="0"/>
                            <a:t>(a)  Show that the equation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³ + 5 = 2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noProof="0" dirty="0"/>
                            <a:t>can be rearranged to give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200" b="0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−5</m:t>
                                  </m:r>
                                </m:e>
                              </m:rad>
                            </m:oMath>
                          </a14:m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r>
                            <a:rPr lang="en-GB" sz="1200" noProof="0" dirty="0"/>
                            <a:t>(b) Starting with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−2.5</m:t>
                              </m:r>
                            </m:oMath>
                          </a14:m>
                          <a:r>
                            <a:rPr lang="en-GB" sz="1200" noProof="0" dirty="0"/>
                            <a:t> , use the iteration formula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ctrlPr>
                                      <a:rPr lang="en-GB" sz="120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GB" sz="1200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GB" sz="120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GB" sz="12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200" i="1" noProof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sz="1200" i="1" noProof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GB" sz="120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200" noProof="0" dirty="0"/>
                        </a:p>
                        <a:p>
                          <a:r>
                            <a:rPr lang="en-GB" sz="1200" noProof="0" dirty="0"/>
                            <a:t>Six times to find an estimate for the solution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³ + 5 = 2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noProof="0" dirty="0"/>
                            <a:t>to 2 decimal places. </a:t>
                          </a:r>
                        </a:p>
                        <a:p>
                          <a:endParaRPr lang="en-GB" sz="1200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5076447"/>
                      </a:ext>
                    </a:extLst>
                  </a:tr>
                  <a:tr h="4558247">
                    <a:tc>
                      <a:txBody>
                        <a:bodyPr/>
                        <a:lstStyle/>
                        <a:p>
                          <a:r>
                            <a:rPr lang="en-GB" sz="1200" noProof="0" dirty="0"/>
                            <a:t>iv)</a:t>
                          </a:r>
                        </a:p>
                        <a:p>
                          <a:r>
                            <a:rPr lang="en-GB" sz="1200" noProof="0" dirty="0"/>
                            <a:t>(a)  Show that the equation</a:t>
                          </a:r>
                          <a:r>
                            <a:rPr lang="en-GB" sz="1200" baseline="0" noProof="0" dirty="0"/>
                            <a:t> </a:t>
                          </a:r>
                          <a:r>
                            <a:rPr lang="en-GB" sz="1200" noProof="0" dirty="0"/>
                            <a:t>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³ =4 </m:t>
                              </m:r>
                            </m:oMath>
                          </a14:m>
                          <a:r>
                            <a:rPr lang="en-GB" sz="1200" noProof="0" dirty="0"/>
                            <a:t>can be rearranged to give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ctrlP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200" b="0" i="0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g>
                                <m:e>
                                  <m:r>
                                    <a:rPr lang="en-GB" sz="12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4−</m:t>
                                  </m:r>
                                  <m:sSup>
                                    <m:sSupPr>
                                      <m:ctrlP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rad>
                            </m:oMath>
                          </a14:m>
                          <a:endParaRPr lang="en-GB" sz="1200" noProof="0" dirty="0"/>
                        </a:p>
                        <a:p>
                          <a:pPr marL="228600" indent="-228600">
                            <a:buAutoNum type="alphaLcParenBoth"/>
                          </a:pPr>
                          <a:endParaRPr lang="en-GB" sz="1200" noProof="0" dirty="0"/>
                        </a:p>
                        <a:p>
                          <a:pPr marL="228600" indent="-228600">
                            <a:buAutoNum type="alphaLcParenBoth"/>
                          </a:pPr>
                          <a:endParaRPr lang="en-GB" sz="1200" noProof="0" dirty="0"/>
                        </a:p>
                        <a:p>
                          <a:pPr marL="228600" indent="-228600">
                            <a:buAutoNum type="alphaLcParenBoth"/>
                          </a:pPr>
                          <a:endParaRPr lang="en-GB" sz="1200" noProof="0" dirty="0"/>
                        </a:p>
                        <a:p>
                          <a:pPr marL="228600" indent="-228600">
                            <a:buAutoNum type="alphaLcParenBoth"/>
                          </a:pPr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r>
                            <a:rPr lang="en-GB" sz="1200" noProof="0" dirty="0"/>
                            <a:t>(b) Starting with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1200" b="0" i="1" noProof="0" smtClean="0">
                                  <a:latin typeface="Cambria Math" panose="02040503050406030204" pitchFamily="18" charset="0"/>
                                </a:rPr>
                                <m:t>1.2</m:t>
                              </m:r>
                            </m:oMath>
                          </a14:m>
                          <a:r>
                            <a:rPr lang="en-GB" sz="1200" noProof="0" dirty="0"/>
                            <a:t> , use the iteration formula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ctrlPr>
                                    <a:rPr lang="en-GB" sz="120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200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g>
                                <m:e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4−</m:t>
                                  </m:r>
                                  <m:sSubSup>
                                    <m:sSubSupPr>
                                      <m:ctrlPr>
                                        <a:rPr lang="en-GB" sz="120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GB" sz="12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e>
                              </m:rad>
                            </m:oMath>
                          </a14:m>
                          <a:r>
                            <a:rPr lang="en-GB" sz="1200" noProof="0" dirty="0"/>
                            <a:t> six times to find an estimate for the solution of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p>
                                <m:sSupPr>
                                  <m:ctrlP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200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1200" i="1" noProof="0" smtClean="0"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</m:oMath>
                          </a14:m>
                          <a:r>
                            <a:rPr lang="en-GB" sz="1200" noProof="0" dirty="0"/>
                            <a:t> to 2 decimal places. </a:t>
                          </a:r>
                        </a:p>
                        <a:p>
                          <a:endParaRPr lang="en-GB" sz="1200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36369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A238D72E-F97C-B3AA-48AF-49A0C6C6FC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5626920"/>
                  </p:ext>
                </p:extLst>
              </p:nvPr>
            </p:nvGraphicFramePr>
            <p:xfrm>
              <a:off x="168623" y="394753"/>
              <a:ext cx="6520754" cy="911649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20754">
                      <a:extLst>
                        <a:ext uri="{9D8B030D-6E8A-4147-A177-3AD203B41FA5}">
                          <a16:colId xmlns:a16="http://schemas.microsoft.com/office/drawing/2014/main" val="1982671282"/>
                        </a:ext>
                      </a:extLst>
                    </a:gridCol>
                  </a:tblGrid>
                  <a:tr h="45582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" t="-134" r="-187" b="-1001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5076447"/>
                      </a:ext>
                    </a:extLst>
                  </a:tr>
                  <a:tr h="45582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" t="-100267" r="-187" b="-2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36369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777939-E317-37FF-DA00-B90DCFE91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92974" y="9432257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15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08847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78740-4812-5494-18BD-52452885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18EA3EE-7D1B-76FF-40DE-ECDF4381FB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3009239"/>
                  </p:ext>
                </p:extLst>
              </p:nvPr>
            </p:nvGraphicFramePr>
            <p:xfrm>
              <a:off x="168623" y="117361"/>
              <a:ext cx="6520754" cy="967127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20754">
                      <a:extLst>
                        <a:ext uri="{9D8B030D-6E8A-4147-A177-3AD203B41FA5}">
                          <a16:colId xmlns:a16="http://schemas.microsoft.com/office/drawing/2014/main" val="1982671282"/>
                        </a:ext>
                      </a:extLst>
                    </a:gridCol>
                  </a:tblGrid>
                  <a:tr h="467071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v.</a:t>
                          </a:r>
                        </a:p>
                        <a:p>
                          <a:pPr marL="342900" indent="-342900">
                            <a:buAutoNum type="alphaLcPeriod"/>
                          </a:pPr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Show that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350" i="1" kern="1200" noProof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350" i="1" kern="1200" noProof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+4</m:t>
                              </m:r>
                              <m:r>
                                <a:rPr lang="en-GB" sz="1350" i="1" kern="1200" noProof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lang="en-GB" sz="1350" i="1" kern="1200" noProof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−29=0</m:t>
                              </m:r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can be written in the form </a:t>
                          </a:r>
                          <a14:m>
                            <m:oMath xmlns:m="http://schemas.openxmlformats.org/officeDocument/2006/math">
                              <m:r>
                                <a:rPr lang="en-GB" sz="1350" i="1" kern="1200" noProof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lang="en-GB" sz="1350" i="1" kern="1200" noProof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350" i="1" kern="1200" noProof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29−4</m:t>
                                  </m:r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</m:rad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b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b. Use the iteration formula </a:t>
                          </a:r>
                          <a:b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</a:b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350" i="1" kern="1200" noProof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GB" sz="1350" i="1" kern="1200" noProof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350" i="1" kern="1200" noProof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29−4</m:t>
                                  </m:r>
                                  <m:sSub>
                                    <m:sSubPr>
                                      <m:ctrlPr>
                                        <a:rPr lang="en-GB" sz="1350" i="1" kern="1200" noProof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350" i="1" kern="1200" noProof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1350" i="1" kern="1200" noProof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rad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to find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350" i="1" kern="1200" noProof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to 3 decimal places. Start with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350" i="1" kern="1200" noProof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1350" i="1" kern="1200" noProof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=0.</m:t>
                              </m:r>
                            </m:oMath>
                          </a14:m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c. Explain what your answer to (b) represents</a:t>
                          </a:r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  <a:p>
                          <a:endParaRPr lang="en-GB" sz="1200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5076447"/>
                      </a:ext>
                    </a:extLst>
                  </a:tr>
                  <a:tr h="4670715">
                    <a:tc>
                      <a:txBody>
                        <a:bodyPr/>
                        <a:lstStyle/>
                        <a:p>
                          <a:r>
                            <a:rPr lang="en-GB" sz="1200" noProof="0" dirty="0"/>
                            <a:t>vi.</a:t>
                          </a:r>
                        </a:p>
                        <a:p>
                          <a:pPr marL="342900" indent="-342900">
                            <a:buAutoNum type="alphaLcPeriod"/>
                          </a:pPr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Show that </a:t>
                          </a:r>
                          <a14:m>
                            <m:oMath xmlns:m="http://schemas.openxmlformats.org/officeDocument/2006/math">
                              <m:r>
                                <a:rPr lang="en-GB" sz="1350" i="1" kern="1200" noProof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lang="en-GB" sz="1350" i="1" kern="1200" noProof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350" i="1" kern="1200" noProof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GB" sz="1350" i="1" kern="1200" noProof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−1=0</m:t>
                              </m:r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has a root between 2.6 and 2.7</a:t>
                          </a: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342900" indent="-342900">
                            <a:buAutoNum type="alphaLcPeriod"/>
                          </a:pPr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 </a:t>
                          </a:r>
                        </a:p>
                        <a:p>
                          <a:pPr lvl="0"/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b. Using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350" i="1" kern="1200" noProof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GB" sz="1350" i="1" kern="1200" noProof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350" i="1" kern="1200" noProof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GB" sz="1350" i="1" kern="1200" noProof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350" i="1" kern="1200" noProof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1350" i="1" kern="1200" noProof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rad>
                              <m:r>
                                <a:rPr lang="en-GB" sz="1350" i="1" kern="1200" noProof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+1</m:t>
                              </m:r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350" i="1" kern="1200" noProof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1350" i="1" kern="1200" noProof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=2.6</m:t>
                              </m:r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find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350" i="1" kern="1200" noProof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350" i="1" kern="1200" noProof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35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to 3 decimal places.</a:t>
                          </a:r>
                        </a:p>
                        <a:p>
                          <a:pPr lvl="0"/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lvl="0"/>
                          <a:endParaRPr lang="en-GB" sz="1350" kern="1200" noProof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GB" sz="1200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36369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18EA3EE-7D1B-76FF-40DE-ECDF4381FB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3009239"/>
                  </p:ext>
                </p:extLst>
              </p:nvPr>
            </p:nvGraphicFramePr>
            <p:xfrm>
              <a:off x="168623" y="117361"/>
              <a:ext cx="6520754" cy="967127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520754">
                      <a:extLst>
                        <a:ext uri="{9D8B030D-6E8A-4147-A177-3AD203B41FA5}">
                          <a16:colId xmlns:a16="http://schemas.microsoft.com/office/drawing/2014/main" val="1982671282"/>
                        </a:ext>
                      </a:extLst>
                    </a:gridCol>
                  </a:tblGrid>
                  <a:tr h="50005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" t="-122" r="-187" b="-935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5076447"/>
                      </a:ext>
                    </a:extLst>
                  </a:tr>
                  <a:tr h="4670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" t="-107311" r="-187" b="-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36369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CCBCA-C706-9898-8852-0A397AAA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92974" y="9432257"/>
            <a:ext cx="1543050" cy="527403"/>
          </a:xfrm>
        </p:spPr>
        <p:txBody>
          <a:bodyPr/>
          <a:lstStyle/>
          <a:p>
            <a:fld id="{9BD3B4A0-BFF9-422C-B253-48BA94BE2F5B}" type="slidenum">
              <a:rPr lang="en-GB" noProof="0" smtClean="0"/>
              <a:t>16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22141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paper with black text and black text&#10;&#10;AI-generated content may be incorrect.">
            <a:extLst>
              <a:ext uri="{FF2B5EF4-FFF2-40B4-BE49-F238E27FC236}">
                <a16:creationId xmlns:a16="http://schemas.microsoft.com/office/drawing/2014/main" id="{B6D80507-C9C3-FF16-A2AA-184BCAC94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733166"/>
            <a:ext cx="5839097" cy="517556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5BC7C6-5AB8-D1BB-7745-D91DE177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noProof="0" smtClean="0"/>
              <a:t>17</a:t>
            </a:fld>
            <a:endParaRPr lang="en-GB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656BD-2EA9-3B65-4DE2-0A7B97E98E2C}"/>
              </a:ext>
            </a:extLst>
          </p:cNvPr>
          <p:cNvSpPr txBox="1"/>
          <p:nvPr/>
        </p:nvSpPr>
        <p:spPr>
          <a:xfrm>
            <a:off x="0" y="0"/>
            <a:ext cx="1294200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GCSE QUESTIONS</a:t>
            </a:r>
          </a:p>
        </p:txBody>
      </p:sp>
      <p:pic>
        <p:nvPicPr>
          <p:cNvPr id="5" name="Picture 4" descr="A white paper with black text and numbers&#10;&#10;AI-generated content may be incorrect.">
            <a:extLst>
              <a:ext uri="{FF2B5EF4-FFF2-40B4-BE49-F238E27FC236}">
                <a16:creationId xmlns:a16="http://schemas.microsoft.com/office/drawing/2014/main" id="{2207A7B0-8881-4946-C131-B499D21EF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76999"/>
            <a:ext cx="5643155" cy="44561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2F712-DAC1-E820-AF61-E31232A9AD9C}"/>
              </a:ext>
            </a:extLst>
          </p:cNvPr>
          <p:cNvCxnSpPr/>
          <p:nvPr/>
        </p:nvCxnSpPr>
        <p:spPr>
          <a:xfrm>
            <a:off x="0" y="4733167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767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325A9-00F1-6F88-8CB5-F4B49E473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5256CB-7ADA-3565-5962-DA00E7C89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noProof="0" smtClean="0"/>
              <a:t>18</a:t>
            </a:fld>
            <a:endParaRPr lang="en-GB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2A630B-9EFD-085F-EB3D-CB304B41EF9A}"/>
              </a:ext>
            </a:extLst>
          </p:cNvPr>
          <p:cNvCxnSpPr/>
          <p:nvPr/>
        </p:nvCxnSpPr>
        <p:spPr>
          <a:xfrm>
            <a:off x="0" y="4733167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 descr="A white paper with black text and black numbers&#10;&#10;AI-generated content may be incorrect.">
            <a:extLst>
              <a:ext uri="{FF2B5EF4-FFF2-40B4-BE49-F238E27FC236}">
                <a16:creationId xmlns:a16="http://schemas.microsoft.com/office/drawing/2014/main" id="{24266CF2-9F58-2087-5022-062D004FE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6766" cy="4522496"/>
          </a:xfrm>
          <a:prstGeom prst="rect">
            <a:avLst/>
          </a:prstGeom>
        </p:spPr>
      </p:pic>
      <p:pic>
        <p:nvPicPr>
          <p:cNvPr id="10" name="Picture 9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D49BACC5-A136-E1BB-F81F-C9925EFC4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34" y="4841327"/>
            <a:ext cx="5779134" cy="434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53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D11A-4BD8-79AA-90D1-32F399FB0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0AF58-CA68-BD94-1326-64649462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noProof="0" smtClean="0"/>
              <a:t>19</a:t>
            </a:fld>
            <a:endParaRPr lang="en-GB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5D7CC8-9BAB-0AC7-3156-39CC7A94BC29}"/>
              </a:ext>
            </a:extLst>
          </p:cNvPr>
          <p:cNvCxnSpPr/>
          <p:nvPr/>
        </p:nvCxnSpPr>
        <p:spPr>
          <a:xfrm>
            <a:off x="0" y="4380470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04FFE3E-E57B-8143-1B7C-C0212D71A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8" y="30538"/>
            <a:ext cx="5713037" cy="4236978"/>
          </a:xfrm>
          <a:prstGeom prst="rect">
            <a:avLst/>
          </a:prstGeom>
        </p:spPr>
      </p:pic>
      <p:pic>
        <p:nvPicPr>
          <p:cNvPr id="8" name="Picture 7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B744FBCE-B16A-F447-8F79-EC8910CFE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9" y="4493424"/>
            <a:ext cx="5830768" cy="516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5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4AE2689D-9D57-F907-38E5-F4298D707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53000"/>
            <a:ext cx="5829691" cy="47558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BB0C3C-0475-E48A-3866-B4FC9101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noProof="0" smtClean="0"/>
              <a:t>20</a:t>
            </a:fld>
            <a:endParaRPr lang="en-GB" noProof="0" dirty="0"/>
          </a:p>
        </p:txBody>
      </p:sp>
      <p:pic>
        <p:nvPicPr>
          <p:cNvPr id="4" name="Picture 3" descr="A white paper with black text and black numbers&#10;&#10;AI-generated content may be incorrect.">
            <a:extLst>
              <a:ext uri="{FF2B5EF4-FFF2-40B4-BE49-F238E27FC236}">
                <a16:creationId xmlns:a16="http://schemas.microsoft.com/office/drawing/2014/main" id="{919AD685-8553-FE26-9902-5CA3010E9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53" y="-1"/>
            <a:ext cx="5532515" cy="495942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08AADD-3221-9E7E-A848-31B862F0A8E9}"/>
              </a:ext>
            </a:extLst>
          </p:cNvPr>
          <p:cNvCxnSpPr/>
          <p:nvPr/>
        </p:nvCxnSpPr>
        <p:spPr>
          <a:xfrm>
            <a:off x="0" y="4953000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788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5" ma:contentTypeDescription="Create a new document." ma:contentTypeScope="" ma:versionID="c36092110cefcca6e5858c535339940c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3c7dc145ce5e2630103f335797796874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3F23A1-12B9-48C8-AEBB-AAC270B315E5}"/>
</file>

<file path=customXml/itemProps2.xml><?xml version="1.0" encoding="utf-8"?>
<ds:datastoreItem xmlns:ds="http://schemas.openxmlformats.org/officeDocument/2006/customXml" ds:itemID="{C053D74A-5336-454B-8D4D-7A76286864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F551DF-02B3-45E2-A83E-993D28DAF02D}">
  <ds:schemaRefs>
    <ds:schemaRef ds:uri="608ebbb4-e88b-4c99-b506-21d9362781c6"/>
    <ds:schemaRef ds:uri="e30b71df-48f4-4db7-95c3-a9033c265cb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3081</Words>
  <Application>Microsoft Office PowerPoint</Application>
  <PresentationFormat>A4 Paper (210x297 mm)</PresentationFormat>
  <Paragraphs>511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Marcus Lindley (Staff, Astrea Academy Sheffield)</dc:creator>
  <cp:lastModifiedBy>Adam Brown (Astrea Central)</cp:lastModifiedBy>
  <cp:revision>10</cp:revision>
  <cp:lastPrinted>2023-02-02T08:32:36Z</cp:lastPrinted>
  <dcterms:created xsi:type="dcterms:W3CDTF">2022-06-06T15:50:05Z</dcterms:created>
  <dcterms:modified xsi:type="dcterms:W3CDTF">2025-08-06T14:28:15Z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  <property fmtid="{D5CDD505-2E9C-101B-9397-08002B2CF9AE}" pid="3" name="xd_ProgID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Staff_x0020_Category">
    <vt:lpwstr/>
  </property>
  <property fmtid="{D5CDD505-2E9C-101B-9397-08002B2CF9AE}" pid="11" name="Staff Category">
    <vt:lpwstr/>
  </property>
  <property fmtid="{D5CDD505-2E9C-101B-9397-08002B2CF9AE}" pid="12" name="xd_Signature">
    <vt:bool>false</vt:bool>
  </property>
  <property fmtid="{D5CDD505-2E9C-101B-9397-08002B2CF9AE}" pid="13" name="Order">
    <vt:r8>351700</vt:r8>
  </property>
</Properties>
</file>