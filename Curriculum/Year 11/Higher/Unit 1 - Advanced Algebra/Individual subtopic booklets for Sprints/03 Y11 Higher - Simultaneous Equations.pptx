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1"/>
  </p:notesMasterIdLst>
  <p:sldIdLst>
    <p:sldId id="260" r:id="rId5"/>
    <p:sldId id="261" r:id="rId6"/>
    <p:sldId id="262" r:id="rId7"/>
    <p:sldId id="2731" r:id="rId8"/>
    <p:sldId id="2732" r:id="rId9"/>
    <p:sldId id="2733" r:id="rId10"/>
    <p:sldId id="2734" r:id="rId11"/>
    <p:sldId id="270" r:id="rId12"/>
    <p:sldId id="272" r:id="rId13"/>
    <p:sldId id="273" r:id="rId14"/>
    <p:sldId id="275" r:id="rId15"/>
    <p:sldId id="2738" r:id="rId16"/>
    <p:sldId id="279" r:id="rId17"/>
    <p:sldId id="280" r:id="rId18"/>
    <p:sldId id="281" r:id="rId19"/>
    <p:sldId id="284" r:id="rId20"/>
    <p:sldId id="285" r:id="rId21"/>
    <p:sldId id="2740" r:id="rId22"/>
    <p:sldId id="2742" r:id="rId23"/>
    <p:sldId id="2743" r:id="rId24"/>
    <p:sldId id="2745" r:id="rId25"/>
    <p:sldId id="2747" r:id="rId26"/>
    <p:sldId id="981" r:id="rId27"/>
    <p:sldId id="982" r:id="rId28"/>
    <p:sldId id="964" r:id="rId29"/>
    <p:sldId id="967" r:id="rId30"/>
    <p:sldId id="963" r:id="rId31"/>
    <p:sldId id="2748" r:id="rId32"/>
    <p:sldId id="2754" r:id="rId33"/>
    <p:sldId id="2755" r:id="rId34"/>
    <p:sldId id="2756" r:id="rId35"/>
    <p:sldId id="952" r:id="rId36"/>
    <p:sldId id="957" r:id="rId37"/>
    <p:sldId id="968" r:id="rId38"/>
    <p:sldId id="971" r:id="rId39"/>
    <p:sldId id="985" r:id="rId40"/>
    <p:sldId id="972" r:id="rId41"/>
    <p:sldId id="987" r:id="rId42"/>
    <p:sldId id="974" r:id="rId43"/>
    <p:sldId id="989" r:id="rId44"/>
    <p:sldId id="990" r:id="rId45"/>
    <p:sldId id="988" r:id="rId46"/>
    <p:sldId id="979" r:id="rId47"/>
    <p:sldId id="2749" r:id="rId48"/>
    <p:sldId id="2757" r:id="rId49"/>
    <p:sldId id="2758" r:id="rId50"/>
  </p:sldIdLst>
  <p:sldSz cx="6858000" cy="9906000" type="A4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98" autoAdjust="0"/>
    <p:restoredTop sz="94660"/>
  </p:normalViewPr>
  <p:slideViewPr>
    <p:cSldViewPr snapToGrid="0">
      <p:cViewPr varScale="1">
        <p:scale>
          <a:sx n="77" d="100"/>
          <a:sy n="77" d="100"/>
        </p:scale>
        <p:origin x="32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Brown (Astrea Central)" userId="e4577f1c-a0ea-4eef-9851-9bdbe8619e58" providerId="ADAL" clId="{887FAAE0-7F1D-4669-B132-5927844A2630}"/>
    <pc:docChg chg="delSld">
      <pc:chgData name="Adam Brown (Astrea Central)" userId="e4577f1c-a0ea-4eef-9851-9bdbe8619e58" providerId="ADAL" clId="{887FAAE0-7F1D-4669-B132-5927844A2630}" dt="2025-08-06T13:26:12.987" v="1" actId="47"/>
      <pc:docMkLst>
        <pc:docMk/>
      </pc:docMkLst>
      <pc:sldChg chg="del">
        <pc:chgData name="Adam Brown (Astrea Central)" userId="e4577f1c-a0ea-4eef-9851-9bdbe8619e58" providerId="ADAL" clId="{887FAAE0-7F1D-4669-B132-5927844A2630}" dt="2025-08-06T13:25:59.172" v="0" actId="47"/>
        <pc:sldMkLst>
          <pc:docMk/>
          <pc:sldMk cId="2420724009" sldId="257"/>
        </pc:sldMkLst>
      </pc:sldChg>
      <pc:sldChg chg="del">
        <pc:chgData name="Adam Brown (Astrea Central)" userId="e4577f1c-a0ea-4eef-9851-9bdbe8619e58" providerId="ADAL" clId="{887FAAE0-7F1D-4669-B132-5927844A2630}" dt="2025-08-06T13:25:59.172" v="0" actId="47"/>
        <pc:sldMkLst>
          <pc:docMk/>
          <pc:sldMk cId="1005434100" sldId="258"/>
        </pc:sldMkLst>
      </pc:sldChg>
      <pc:sldChg chg="del">
        <pc:chgData name="Adam Brown (Astrea Central)" userId="e4577f1c-a0ea-4eef-9851-9bdbe8619e58" providerId="ADAL" clId="{887FAAE0-7F1D-4669-B132-5927844A2630}" dt="2025-08-06T13:26:12.987" v="1" actId="47"/>
        <pc:sldMkLst>
          <pc:docMk/>
          <pc:sldMk cId="314270034" sldId="263"/>
        </pc:sldMkLst>
      </pc:sldChg>
      <pc:sldChg chg="del">
        <pc:chgData name="Adam Brown (Astrea Central)" userId="e4577f1c-a0ea-4eef-9851-9bdbe8619e58" providerId="ADAL" clId="{887FAAE0-7F1D-4669-B132-5927844A2630}" dt="2025-08-06T13:26:12.987" v="1" actId="47"/>
        <pc:sldMkLst>
          <pc:docMk/>
          <pc:sldMk cId="1135025790" sldId="1162"/>
        </pc:sldMkLst>
      </pc:sldChg>
      <pc:sldChg chg="del">
        <pc:chgData name="Adam Brown (Astrea Central)" userId="e4577f1c-a0ea-4eef-9851-9bdbe8619e58" providerId="ADAL" clId="{887FAAE0-7F1D-4669-B132-5927844A2630}" dt="2025-08-06T13:26:12.987" v="1" actId="47"/>
        <pc:sldMkLst>
          <pc:docMk/>
          <pc:sldMk cId="863086105" sldId="1163"/>
        </pc:sldMkLst>
      </pc:sldChg>
      <pc:sldChg chg="del">
        <pc:chgData name="Adam Brown (Astrea Central)" userId="e4577f1c-a0ea-4eef-9851-9bdbe8619e58" providerId="ADAL" clId="{887FAAE0-7F1D-4669-B132-5927844A2630}" dt="2025-08-06T13:26:12.987" v="1" actId="47"/>
        <pc:sldMkLst>
          <pc:docMk/>
          <pc:sldMk cId="1779407553" sldId="1173"/>
        </pc:sldMkLst>
      </pc:sldChg>
      <pc:sldChg chg="del">
        <pc:chgData name="Adam Brown (Astrea Central)" userId="e4577f1c-a0ea-4eef-9851-9bdbe8619e58" providerId="ADAL" clId="{887FAAE0-7F1D-4669-B132-5927844A2630}" dt="2025-08-06T13:26:12.987" v="1" actId="47"/>
        <pc:sldMkLst>
          <pc:docMk/>
          <pc:sldMk cId="271517831" sldId="2696"/>
        </pc:sldMkLst>
      </pc:sldChg>
      <pc:sldChg chg="del">
        <pc:chgData name="Adam Brown (Astrea Central)" userId="e4577f1c-a0ea-4eef-9851-9bdbe8619e58" providerId="ADAL" clId="{887FAAE0-7F1D-4669-B132-5927844A2630}" dt="2025-08-06T13:26:12.987" v="1" actId="47"/>
        <pc:sldMkLst>
          <pc:docMk/>
          <pc:sldMk cId="1380726865" sldId="2698"/>
        </pc:sldMkLst>
      </pc:sldChg>
      <pc:sldChg chg="del">
        <pc:chgData name="Adam Brown (Astrea Central)" userId="e4577f1c-a0ea-4eef-9851-9bdbe8619e58" providerId="ADAL" clId="{887FAAE0-7F1D-4669-B132-5927844A2630}" dt="2025-08-06T13:26:12.987" v="1" actId="47"/>
        <pc:sldMkLst>
          <pc:docMk/>
          <pc:sldMk cId="1343043793" sldId="2700"/>
        </pc:sldMkLst>
      </pc:sldChg>
      <pc:sldChg chg="del">
        <pc:chgData name="Adam Brown (Astrea Central)" userId="e4577f1c-a0ea-4eef-9851-9bdbe8619e58" providerId="ADAL" clId="{887FAAE0-7F1D-4669-B132-5927844A2630}" dt="2025-08-06T13:26:12.987" v="1" actId="47"/>
        <pc:sldMkLst>
          <pc:docMk/>
          <pc:sldMk cId="3301299181" sldId="2701"/>
        </pc:sldMkLst>
      </pc:sldChg>
      <pc:sldChg chg="del">
        <pc:chgData name="Adam Brown (Astrea Central)" userId="e4577f1c-a0ea-4eef-9851-9bdbe8619e58" providerId="ADAL" clId="{887FAAE0-7F1D-4669-B132-5927844A2630}" dt="2025-08-06T13:26:12.987" v="1" actId="47"/>
        <pc:sldMkLst>
          <pc:docMk/>
          <pc:sldMk cId="3757623286" sldId="2702"/>
        </pc:sldMkLst>
      </pc:sldChg>
      <pc:sldChg chg="del">
        <pc:chgData name="Adam Brown (Astrea Central)" userId="e4577f1c-a0ea-4eef-9851-9bdbe8619e58" providerId="ADAL" clId="{887FAAE0-7F1D-4669-B132-5927844A2630}" dt="2025-08-06T13:26:12.987" v="1" actId="47"/>
        <pc:sldMkLst>
          <pc:docMk/>
          <pc:sldMk cId="3911472027" sldId="2704"/>
        </pc:sldMkLst>
      </pc:sldChg>
      <pc:sldChg chg="del">
        <pc:chgData name="Adam Brown (Astrea Central)" userId="e4577f1c-a0ea-4eef-9851-9bdbe8619e58" providerId="ADAL" clId="{887FAAE0-7F1D-4669-B132-5927844A2630}" dt="2025-08-06T13:26:12.987" v="1" actId="47"/>
        <pc:sldMkLst>
          <pc:docMk/>
          <pc:sldMk cId="1845416459" sldId="2705"/>
        </pc:sldMkLst>
      </pc:sldChg>
      <pc:sldChg chg="del">
        <pc:chgData name="Adam Brown (Astrea Central)" userId="e4577f1c-a0ea-4eef-9851-9bdbe8619e58" providerId="ADAL" clId="{887FAAE0-7F1D-4669-B132-5927844A2630}" dt="2025-08-06T13:26:12.987" v="1" actId="47"/>
        <pc:sldMkLst>
          <pc:docMk/>
          <pc:sldMk cId="1886488787" sldId="2706"/>
        </pc:sldMkLst>
      </pc:sldChg>
      <pc:sldChg chg="del">
        <pc:chgData name="Adam Brown (Astrea Central)" userId="e4577f1c-a0ea-4eef-9851-9bdbe8619e58" providerId="ADAL" clId="{887FAAE0-7F1D-4669-B132-5927844A2630}" dt="2025-08-06T13:26:12.987" v="1" actId="47"/>
        <pc:sldMkLst>
          <pc:docMk/>
          <pc:sldMk cId="3400159256" sldId="2707"/>
        </pc:sldMkLst>
      </pc:sldChg>
      <pc:sldChg chg="del">
        <pc:chgData name="Adam Brown (Astrea Central)" userId="e4577f1c-a0ea-4eef-9851-9bdbe8619e58" providerId="ADAL" clId="{887FAAE0-7F1D-4669-B132-5927844A2630}" dt="2025-08-06T13:26:12.987" v="1" actId="47"/>
        <pc:sldMkLst>
          <pc:docMk/>
          <pc:sldMk cId="2664751948" sldId="2709"/>
        </pc:sldMkLst>
      </pc:sldChg>
      <pc:sldChg chg="del">
        <pc:chgData name="Adam Brown (Astrea Central)" userId="e4577f1c-a0ea-4eef-9851-9bdbe8619e58" providerId="ADAL" clId="{887FAAE0-7F1D-4669-B132-5927844A2630}" dt="2025-08-06T13:26:12.987" v="1" actId="47"/>
        <pc:sldMkLst>
          <pc:docMk/>
          <pc:sldMk cId="3722714943" sldId="2711"/>
        </pc:sldMkLst>
      </pc:sldChg>
      <pc:sldChg chg="del">
        <pc:chgData name="Adam Brown (Astrea Central)" userId="e4577f1c-a0ea-4eef-9851-9bdbe8619e58" providerId="ADAL" clId="{887FAAE0-7F1D-4669-B132-5927844A2630}" dt="2025-08-06T13:26:12.987" v="1" actId="47"/>
        <pc:sldMkLst>
          <pc:docMk/>
          <pc:sldMk cId="2752550148" sldId="2714"/>
        </pc:sldMkLst>
      </pc:sldChg>
      <pc:sldChg chg="del">
        <pc:chgData name="Adam Brown (Astrea Central)" userId="e4577f1c-a0ea-4eef-9851-9bdbe8619e58" providerId="ADAL" clId="{887FAAE0-7F1D-4669-B132-5927844A2630}" dt="2025-08-06T13:26:12.987" v="1" actId="47"/>
        <pc:sldMkLst>
          <pc:docMk/>
          <pc:sldMk cId="3615378340" sldId="2715"/>
        </pc:sldMkLst>
      </pc:sldChg>
      <pc:sldChg chg="del">
        <pc:chgData name="Adam Brown (Astrea Central)" userId="e4577f1c-a0ea-4eef-9851-9bdbe8619e58" providerId="ADAL" clId="{887FAAE0-7F1D-4669-B132-5927844A2630}" dt="2025-08-06T13:26:12.987" v="1" actId="47"/>
        <pc:sldMkLst>
          <pc:docMk/>
          <pc:sldMk cId="2217025205" sldId="2716"/>
        </pc:sldMkLst>
      </pc:sldChg>
      <pc:sldChg chg="del">
        <pc:chgData name="Adam Brown (Astrea Central)" userId="e4577f1c-a0ea-4eef-9851-9bdbe8619e58" providerId="ADAL" clId="{887FAAE0-7F1D-4669-B132-5927844A2630}" dt="2025-08-06T13:26:12.987" v="1" actId="47"/>
        <pc:sldMkLst>
          <pc:docMk/>
          <pc:sldMk cId="2572306068" sldId="2717"/>
        </pc:sldMkLst>
      </pc:sldChg>
      <pc:sldChg chg="del">
        <pc:chgData name="Adam Brown (Astrea Central)" userId="e4577f1c-a0ea-4eef-9851-9bdbe8619e58" providerId="ADAL" clId="{887FAAE0-7F1D-4669-B132-5927844A2630}" dt="2025-08-06T13:26:12.987" v="1" actId="47"/>
        <pc:sldMkLst>
          <pc:docMk/>
          <pc:sldMk cId="1685474441" sldId="2718"/>
        </pc:sldMkLst>
      </pc:sldChg>
      <pc:sldChg chg="del">
        <pc:chgData name="Adam Brown (Astrea Central)" userId="e4577f1c-a0ea-4eef-9851-9bdbe8619e58" providerId="ADAL" clId="{887FAAE0-7F1D-4669-B132-5927844A2630}" dt="2025-08-06T13:25:59.172" v="0" actId="47"/>
        <pc:sldMkLst>
          <pc:docMk/>
          <pc:sldMk cId="933153135" sldId="2728"/>
        </pc:sldMkLst>
      </pc:sldChg>
      <pc:sldChg chg="del">
        <pc:chgData name="Adam Brown (Astrea Central)" userId="e4577f1c-a0ea-4eef-9851-9bdbe8619e58" providerId="ADAL" clId="{887FAAE0-7F1D-4669-B132-5927844A2630}" dt="2025-08-06T13:26:12.987" v="1" actId="47"/>
        <pc:sldMkLst>
          <pc:docMk/>
          <pc:sldMk cId="1894790025" sldId="273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887872-9236-460B-BC2A-E44A8AC6C1EB}" type="datetimeFigureOut">
              <a:rPr lang="en-GB" smtClean="0"/>
              <a:t>06/08/2025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9963" y="1241425"/>
            <a:ext cx="23177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5AC23A-D8C2-4808-8C51-A2299E24BA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1726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6459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8123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559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47151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32709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7B8FF-B760-F4C5-C688-B42419855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34416C-EEEA-2BCC-EDA9-47BC08AADC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FCD5A9-6ACD-DE19-764E-8AFE494011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60386-9C34-06D7-DA6B-C45019F6F9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24564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4476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4A783-C653-C444-A1FE-7D3BC73388DB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202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645BB-F530-4C6B-ABAE-E32F8A251980}" type="datetime1">
              <a:rPr lang="en-GB" smtClean="0"/>
              <a:t>06/08/2025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696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EDB0C-8CB1-4E4B-A7D2-72D1E989F74F}" type="datetime1">
              <a:rPr lang="en-GB" smtClean="0"/>
              <a:t>06/08/2025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738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8B7CF-AD3A-412E-A236-AD334123F5DC}" type="datetime1">
              <a:rPr lang="en-GB" smtClean="0"/>
              <a:t>06/08/2025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5247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8CF75-DE73-4975-8438-DCC60FF5A9C7}" type="datetime1">
              <a:rPr lang="en-GB" smtClean="0"/>
              <a:t>06/08/2025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2259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433DA-9DCC-4C1C-BE87-1B843446F1E2}" type="datetime1">
              <a:rPr lang="en-GB" smtClean="0"/>
              <a:t>06/08/2025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0260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6B931-B1B4-4301-9FA3-4AC76251F969}" type="datetime1">
              <a:rPr lang="en-GB" smtClean="0"/>
              <a:t>06/08/2025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0737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EB317-EAB0-4C19-A195-2782EA19078C}" type="datetime1">
              <a:rPr lang="en-GB" smtClean="0"/>
              <a:t>06/08/2025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690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7F5A2-2F3B-430C-BD43-6D2323C7CD6A}" type="datetime1">
              <a:rPr lang="en-GB" smtClean="0"/>
              <a:t>06/08/2025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2427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AD09F-1297-4193-9BA9-680759B76EE0}" type="datetime1">
              <a:rPr lang="en-GB" smtClean="0"/>
              <a:t>06/08/2025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885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7873-3A83-4840-BD06-EB3A5B53B6DA}" type="datetime1">
              <a:rPr lang="en-GB" smtClean="0"/>
              <a:t>06/08/2025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0277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7EED6-F9AB-4871-A4A9-4EB7B43E5F99}" type="datetime1">
              <a:rPr lang="en-GB" smtClean="0"/>
              <a:t>06/08/2025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891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18337-BCAC-4A6B-9508-65A0DEBA7F58}" type="datetime1">
              <a:rPr lang="en-GB" smtClean="0"/>
              <a:t>06/08/2025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D3B4A0-BFF9-422C-B253-48BA94BE2F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9756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8.png"/><Relationship Id="rId13" Type="http://schemas.openxmlformats.org/officeDocument/2006/relationships/image" Target="../media/image253.png"/><Relationship Id="rId3" Type="http://schemas.openxmlformats.org/officeDocument/2006/relationships/image" Target="../media/image243.png"/><Relationship Id="rId7" Type="http://schemas.openxmlformats.org/officeDocument/2006/relationships/image" Target="../media/image247.png"/><Relationship Id="rId12" Type="http://schemas.openxmlformats.org/officeDocument/2006/relationships/image" Target="../media/image252.png"/><Relationship Id="rId2" Type="http://schemas.openxmlformats.org/officeDocument/2006/relationships/image" Target="../media/image2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6.png"/><Relationship Id="rId11" Type="http://schemas.openxmlformats.org/officeDocument/2006/relationships/image" Target="../media/image251.png"/><Relationship Id="rId5" Type="http://schemas.openxmlformats.org/officeDocument/2006/relationships/image" Target="../media/image245.png"/><Relationship Id="rId10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24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png"/><Relationship Id="rId13" Type="http://schemas.openxmlformats.org/officeDocument/2006/relationships/image" Target="../media/image11.png"/><Relationship Id="rId3" Type="http://schemas.openxmlformats.org/officeDocument/2006/relationships/image" Target="../media/image255.png"/><Relationship Id="rId7" Type="http://schemas.openxmlformats.org/officeDocument/2006/relationships/image" Target="../media/image252.png"/><Relationship Id="rId12" Type="http://schemas.openxmlformats.org/officeDocument/2006/relationships/image" Target="../media/image1.png"/><Relationship Id="rId2" Type="http://schemas.openxmlformats.org/officeDocument/2006/relationships/image" Target="../media/image2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7.png"/><Relationship Id="rId11" Type="http://schemas.openxmlformats.org/officeDocument/2006/relationships/image" Target="../media/image253.png"/><Relationship Id="rId5" Type="http://schemas.openxmlformats.org/officeDocument/2006/relationships/image" Target="../media/image257.png"/><Relationship Id="rId10" Type="http://schemas.openxmlformats.org/officeDocument/2006/relationships/image" Target="../media/image248.png"/><Relationship Id="rId4" Type="http://schemas.openxmlformats.org/officeDocument/2006/relationships/image" Target="../media/image256.png"/><Relationship Id="rId9" Type="http://schemas.openxmlformats.org/officeDocument/2006/relationships/image" Target="../media/image25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52.png"/><Relationship Id="rId7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8.png"/><Relationship Id="rId11" Type="http://schemas.openxmlformats.org/officeDocument/2006/relationships/image" Target="../media/image267.png"/><Relationship Id="rId5" Type="http://schemas.openxmlformats.org/officeDocument/2006/relationships/image" Target="../media/image13.png"/><Relationship Id="rId10" Type="http://schemas.openxmlformats.org/officeDocument/2006/relationships/image" Target="../media/image266.png"/><Relationship Id="rId4" Type="http://schemas.openxmlformats.org/officeDocument/2006/relationships/image" Target="../media/image26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75.png"/><Relationship Id="rId3" Type="http://schemas.openxmlformats.org/officeDocument/2006/relationships/image" Target="../media/image269.png"/><Relationship Id="rId7" Type="http://schemas.openxmlformats.org/officeDocument/2006/relationships/image" Target="../media/image253.png"/><Relationship Id="rId12" Type="http://schemas.openxmlformats.org/officeDocument/2006/relationships/image" Target="../media/image274.png"/><Relationship Id="rId2" Type="http://schemas.openxmlformats.org/officeDocument/2006/relationships/image" Target="../media/image2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2.png"/><Relationship Id="rId11" Type="http://schemas.openxmlformats.org/officeDocument/2006/relationships/image" Target="../media/image18.png"/><Relationship Id="rId5" Type="http://schemas.openxmlformats.org/officeDocument/2006/relationships/image" Target="../media/image249.png"/><Relationship Id="rId15" Type="http://schemas.openxmlformats.org/officeDocument/2006/relationships/image" Target="../media/image277.png"/><Relationship Id="rId10" Type="http://schemas.openxmlformats.org/officeDocument/2006/relationships/image" Target="../media/image272.png"/><Relationship Id="rId4" Type="http://schemas.openxmlformats.org/officeDocument/2006/relationships/image" Target="../media/image248.png"/><Relationship Id="rId9" Type="http://schemas.openxmlformats.org/officeDocument/2006/relationships/image" Target="../media/image271.png"/><Relationship Id="rId14" Type="http://schemas.openxmlformats.org/officeDocument/2006/relationships/image" Target="../media/image27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13" Type="http://schemas.openxmlformats.org/officeDocument/2006/relationships/image" Target="../media/image285.png"/><Relationship Id="rId3" Type="http://schemas.openxmlformats.org/officeDocument/2006/relationships/image" Target="../media/image279.png"/><Relationship Id="rId7" Type="http://schemas.openxmlformats.org/officeDocument/2006/relationships/image" Target="../media/image253.png"/><Relationship Id="rId12" Type="http://schemas.openxmlformats.org/officeDocument/2006/relationships/image" Target="../media/image284.png"/><Relationship Id="rId2" Type="http://schemas.openxmlformats.org/officeDocument/2006/relationships/image" Target="../media/image2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2.png"/><Relationship Id="rId11" Type="http://schemas.openxmlformats.org/officeDocument/2006/relationships/image" Target="../media/image283.png"/><Relationship Id="rId5" Type="http://schemas.openxmlformats.org/officeDocument/2006/relationships/image" Target="../media/image249.png"/><Relationship Id="rId15" Type="http://schemas.openxmlformats.org/officeDocument/2006/relationships/image" Target="../media/image20.png"/><Relationship Id="rId10" Type="http://schemas.openxmlformats.org/officeDocument/2006/relationships/image" Target="../media/image282.png"/><Relationship Id="rId4" Type="http://schemas.openxmlformats.org/officeDocument/2006/relationships/image" Target="../media/image248.png"/><Relationship Id="rId9" Type="http://schemas.openxmlformats.org/officeDocument/2006/relationships/image" Target="../media/image281.png"/><Relationship Id="rId1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8.png"/><Relationship Id="rId3" Type="http://schemas.openxmlformats.org/officeDocument/2006/relationships/image" Target="../media/image21.png"/><Relationship Id="rId7" Type="http://schemas.openxmlformats.org/officeDocument/2006/relationships/image" Target="../media/image293.png"/><Relationship Id="rId2" Type="http://schemas.openxmlformats.org/officeDocument/2006/relationships/image" Target="../media/image28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2.png"/><Relationship Id="rId11" Type="http://schemas.openxmlformats.org/officeDocument/2006/relationships/image" Target="../media/image295.png"/><Relationship Id="rId5" Type="http://schemas.openxmlformats.org/officeDocument/2006/relationships/image" Target="../media/image291.png"/><Relationship Id="rId10" Type="http://schemas.openxmlformats.org/officeDocument/2006/relationships/image" Target="../media/image22.png"/><Relationship Id="rId4" Type="http://schemas.openxmlformats.org/officeDocument/2006/relationships/image" Target="../media/image290.png"/><Relationship Id="rId9" Type="http://schemas.openxmlformats.org/officeDocument/2006/relationships/image" Target="../media/image24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1.png"/><Relationship Id="rId13" Type="http://schemas.openxmlformats.org/officeDocument/2006/relationships/image" Target="../media/image306.png"/><Relationship Id="rId18" Type="http://schemas.openxmlformats.org/officeDocument/2006/relationships/image" Target="../media/image311.png"/><Relationship Id="rId3" Type="http://schemas.openxmlformats.org/officeDocument/2006/relationships/image" Target="../media/image296.png"/><Relationship Id="rId21" Type="http://schemas.openxmlformats.org/officeDocument/2006/relationships/image" Target="../media/image314.png"/><Relationship Id="rId7" Type="http://schemas.openxmlformats.org/officeDocument/2006/relationships/image" Target="../media/image300.png"/><Relationship Id="rId12" Type="http://schemas.openxmlformats.org/officeDocument/2006/relationships/image" Target="../media/image305.png"/><Relationship Id="rId17" Type="http://schemas.openxmlformats.org/officeDocument/2006/relationships/image" Target="../media/image3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09.png"/><Relationship Id="rId20" Type="http://schemas.openxmlformats.org/officeDocument/2006/relationships/image" Target="../media/image3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9.png"/><Relationship Id="rId11" Type="http://schemas.openxmlformats.org/officeDocument/2006/relationships/image" Target="../media/image304.png"/><Relationship Id="rId5" Type="http://schemas.openxmlformats.org/officeDocument/2006/relationships/image" Target="../media/image298.png"/><Relationship Id="rId15" Type="http://schemas.openxmlformats.org/officeDocument/2006/relationships/image" Target="../media/image308.png"/><Relationship Id="rId10" Type="http://schemas.openxmlformats.org/officeDocument/2006/relationships/image" Target="../media/image303.png"/><Relationship Id="rId19" Type="http://schemas.openxmlformats.org/officeDocument/2006/relationships/image" Target="../media/image312.png"/><Relationship Id="rId4" Type="http://schemas.openxmlformats.org/officeDocument/2006/relationships/image" Target="../media/image297.png"/><Relationship Id="rId9" Type="http://schemas.openxmlformats.org/officeDocument/2006/relationships/image" Target="../media/image302.png"/><Relationship Id="rId14" Type="http://schemas.openxmlformats.org/officeDocument/2006/relationships/image" Target="../media/image30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png"/><Relationship Id="rId3" Type="http://schemas.openxmlformats.org/officeDocument/2006/relationships/image" Target="../media/image315.png"/><Relationship Id="rId7" Type="http://schemas.openxmlformats.org/officeDocument/2006/relationships/image" Target="../media/image3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8.png"/><Relationship Id="rId11" Type="http://schemas.openxmlformats.org/officeDocument/2006/relationships/image" Target="../media/image323.png"/><Relationship Id="rId5" Type="http://schemas.openxmlformats.org/officeDocument/2006/relationships/image" Target="../media/image317.png"/><Relationship Id="rId10" Type="http://schemas.openxmlformats.org/officeDocument/2006/relationships/image" Target="../media/image322.png"/><Relationship Id="rId4" Type="http://schemas.openxmlformats.org/officeDocument/2006/relationships/image" Target="../media/image316.png"/><Relationship Id="rId9" Type="http://schemas.openxmlformats.org/officeDocument/2006/relationships/image" Target="../media/image3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8.png"/><Relationship Id="rId3" Type="http://schemas.openxmlformats.org/officeDocument/2006/relationships/image" Target="../media/image324.png"/><Relationship Id="rId7" Type="http://schemas.openxmlformats.org/officeDocument/2006/relationships/image" Target="../media/image3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7.png"/><Relationship Id="rId5" Type="http://schemas.openxmlformats.org/officeDocument/2006/relationships/image" Target="../media/image326.png"/><Relationship Id="rId4" Type="http://schemas.openxmlformats.org/officeDocument/2006/relationships/image" Target="../media/image325.png"/><Relationship Id="rId9" Type="http://schemas.openxmlformats.org/officeDocument/2006/relationships/image" Target="../media/image3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9.png"/><Relationship Id="rId7" Type="http://schemas.openxmlformats.org/officeDocument/2006/relationships/image" Target="../media/image3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2.png"/><Relationship Id="rId5" Type="http://schemas.openxmlformats.org/officeDocument/2006/relationships/image" Target="../media/image331.png"/><Relationship Id="rId4" Type="http://schemas.openxmlformats.org/officeDocument/2006/relationships/image" Target="../media/image3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9.png"/><Relationship Id="rId13" Type="http://schemas.openxmlformats.org/officeDocument/2006/relationships/image" Target="../media/image344.png"/><Relationship Id="rId3" Type="http://schemas.openxmlformats.org/officeDocument/2006/relationships/image" Target="../media/image334.png"/><Relationship Id="rId7" Type="http://schemas.openxmlformats.org/officeDocument/2006/relationships/image" Target="../media/image338.png"/><Relationship Id="rId12" Type="http://schemas.openxmlformats.org/officeDocument/2006/relationships/image" Target="../media/image343.png"/><Relationship Id="rId2" Type="http://schemas.openxmlformats.org/officeDocument/2006/relationships/image" Target="../media/image3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7.png"/><Relationship Id="rId11" Type="http://schemas.openxmlformats.org/officeDocument/2006/relationships/image" Target="../media/image342.png"/><Relationship Id="rId5" Type="http://schemas.openxmlformats.org/officeDocument/2006/relationships/image" Target="../media/image336.png"/><Relationship Id="rId15" Type="http://schemas.openxmlformats.org/officeDocument/2006/relationships/image" Target="../media/image346.png"/><Relationship Id="rId10" Type="http://schemas.openxmlformats.org/officeDocument/2006/relationships/image" Target="../media/image341.png"/><Relationship Id="rId4" Type="http://schemas.openxmlformats.org/officeDocument/2006/relationships/image" Target="../media/image335.png"/><Relationship Id="rId9" Type="http://schemas.openxmlformats.org/officeDocument/2006/relationships/image" Target="../media/image340.png"/><Relationship Id="rId14" Type="http://schemas.openxmlformats.org/officeDocument/2006/relationships/image" Target="../media/image34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2.png"/><Relationship Id="rId3" Type="http://schemas.openxmlformats.org/officeDocument/2006/relationships/image" Target="../media/image348.png"/><Relationship Id="rId7" Type="http://schemas.openxmlformats.org/officeDocument/2006/relationships/image" Target="../media/image352.png"/><Relationship Id="rId2" Type="http://schemas.openxmlformats.org/officeDocument/2006/relationships/image" Target="../media/image3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1.png"/><Relationship Id="rId5" Type="http://schemas.openxmlformats.org/officeDocument/2006/relationships/image" Target="../media/image350.png"/><Relationship Id="rId4" Type="http://schemas.openxmlformats.org/officeDocument/2006/relationships/image" Target="../media/image349.png"/><Relationship Id="rId9" Type="http://schemas.openxmlformats.org/officeDocument/2006/relationships/image" Target="../media/image3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6.png"/><Relationship Id="rId4" Type="http://schemas.openxmlformats.org/officeDocument/2006/relationships/image" Target="../media/image35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3.png"/><Relationship Id="rId3" Type="http://schemas.openxmlformats.org/officeDocument/2006/relationships/image" Target="../media/image358.png"/><Relationship Id="rId7" Type="http://schemas.openxmlformats.org/officeDocument/2006/relationships/image" Target="../media/image36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1.png"/><Relationship Id="rId5" Type="http://schemas.openxmlformats.org/officeDocument/2006/relationships/image" Target="../media/image360.png"/><Relationship Id="rId4" Type="http://schemas.openxmlformats.org/officeDocument/2006/relationships/image" Target="../media/image35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4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1.png"/><Relationship Id="rId3" Type="http://schemas.openxmlformats.org/officeDocument/2006/relationships/image" Target="../media/image366.png"/><Relationship Id="rId7" Type="http://schemas.openxmlformats.org/officeDocument/2006/relationships/image" Target="../media/image370.png"/><Relationship Id="rId2" Type="http://schemas.openxmlformats.org/officeDocument/2006/relationships/image" Target="../media/image3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9.png"/><Relationship Id="rId5" Type="http://schemas.openxmlformats.org/officeDocument/2006/relationships/image" Target="../media/image368.png"/><Relationship Id="rId4" Type="http://schemas.openxmlformats.org/officeDocument/2006/relationships/image" Target="../media/image36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3.png"/><Relationship Id="rId2" Type="http://schemas.openxmlformats.org/officeDocument/2006/relationships/image" Target="../media/image3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6.png"/><Relationship Id="rId5" Type="http://schemas.openxmlformats.org/officeDocument/2006/relationships/image" Target="../media/image375.png"/><Relationship Id="rId4" Type="http://schemas.openxmlformats.org/officeDocument/2006/relationships/image" Target="../media/image37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3.png"/><Relationship Id="rId3" Type="http://schemas.openxmlformats.org/officeDocument/2006/relationships/image" Target="../media/image378.png"/><Relationship Id="rId7" Type="http://schemas.openxmlformats.org/officeDocument/2006/relationships/image" Target="../media/image382.png"/><Relationship Id="rId2" Type="http://schemas.openxmlformats.org/officeDocument/2006/relationships/image" Target="../media/image3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1.png"/><Relationship Id="rId5" Type="http://schemas.openxmlformats.org/officeDocument/2006/relationships/image" Target="../media/image380.png"/><Relationship Id="rId4" Type="http://schemas.openxmlformats.org/officeDocument/2006/relationships/image" Target="../media/image379.png"/><Relationship Id="rId9" Type="http://schemas.openxmlformats.org/officeDocument/2006/relationships/image" Target="../media/image37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6.png"/><Relationship Id="rId2" Type="http://schemas.openxmlformats.org/officeDocument/2006/relationships/image" Target="../media/image38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8.png"/><Relationship Id="rId4" Type="http://schemas.openxmlformats.org/officeDocument/2006/relationships/image" Target="../media/image38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6.png"/><Relationship Id="rId3" Type="http://schemas.openxmlformats.org/officeDocument/2006/relationships/image" Target="../media/image390.png"/><Relationship Id="rId7" Type="http://schemas.openxmlformats.org/officeDocument/2006/relationships/image" Target="../media/image394.png"/><Relationship Id="rId2" Type="http://schemas.openxmlformats.org/officeDocument/2006/relationships/image" Target="../media/image3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3.png"/><Relationship Id="rId5" Type="http://schemas.openxmlformats.org/officeDocument/2006/relationships/image" Target="../media/image392.png"/><Relationship Id="rId4" Type="http://schemas.openxmlformats.org/officeDocument/2006/relationships/image" Target="../media/image391.png"/><Relationship Id="rId9" Type="http://schemas.openxmlformats.org/officeDocument/2006/relationships/image" Target="../media/image38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6.png"/><Relationship Id="rId2" Type="http://schemas.openxmlformats.org/officeDocument/2006/relationships/image" Target="../media/image39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3.png"/><Relationship Id="rId5" Type="http://schemas.openxmlformats.org/officeDocument/2006/relationships/image" Target="../media/image376.png"/><Relationship Id="rId4" Type="http://schemas.openxmlformats.org/officeDocument/2006/relationships/image" Target="../media/image39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0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8.png"/><Relationship Id="rId5" Type="http://schemas.openxmlformats.org/officeDocument/2006/relationships/image" Target="../media/image427.png"/><Relationship Id="rId4" Type="http://schemas.openxmlformats.org/officeDocument/2006/relationships/image" Target="../media/image426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3.png"/><Relationship Id="rId3" Type="http://schemas.openxmlformats.org/officeDocument/2006/relationships/image" Target="../media/image430.png"/><Relationship Id="rId7" Type="http://schemas.openxmlformats.org/officeDocument/2006/relationships/image" Target="../media/image383.png"/><Relationship Id="rId2" Type="http://schemas.openxmlformats.org/officeDocument/2006/relationships/image" Target="../media/image4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6.png"/><Relationship Id="rId5" Type="http://schemas.openxmlformats.org/officeDocument/2006/relationships/image" Target="../media/image432.png"/><Relationship Id="rId4" Type="http://schemas.openxmlformats.org/officeDocument/2006/relationships/image" Target="../media/image431.png"/><Relationship Id="rId9" Type="http://schemas.openxmlformats.org/officeDocument/2006/relationships/image" Target="../media/image43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8.png"/><Relationship Id="rId7" Type="http://schemas.openxmlformats.org/officeDocument/2006/relationships/image" Target="../media/image383.png"/><Relationship Id="rId2" Type="http://schemas.openxmlformats.org/officeDocument/2006/relationships/image" Target="../media/image4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6.png"/><Relationship Id="rId5" Type="http://schemas.openxmlformats.org/officeDocument/2006/relationships/image" Target="../media/image440.png"/><Relationship Id="rId4" Type="http://schemas.openxmlformats.org/officeDocument/2006/relationships/image" Target="../media/image43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4.png"/><Relationship Id="rId7" Type="http://schemas.openxmlformats.org/officeDocument/2006/relationships/image" Target="../media/image383.png"/><Relationship Id="rId2" Type="http://schemas.openxmlformats.org/officeDocument/2006/relationships/image" Target="../media/image4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6.png"/><Relationship Id="rId5" Type="http://schemas.openxmlformats.org/officeDocument/2006/relationships/image" Target="../media/image446.png"/><Relationship Id="rId4" Type="http://schemas.openxmlformats.org/officeDocument/2006/relationships/image" Target="../media/image44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image" Target="../media/image44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2.png"/><Relationship Id="rId7" Type="http://schemas.openxmlformats.org/officeDocument/2006/relationships/image" Target="../media/image383.png"/><Relationship Id="rId2" Type="http://schemas.openxmlformats.org/officeDocument/2006/relationships/image" Target="../media/image4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6.png"/><Relationship Id="rId5" Type="http://schemas.openxmlformats.org/officeDocument/2006/relationships/image" Target="../media/image454.png"/><Relationship Id="rId4" Type="http://schemas.openxmlformats.org/officeDocument/2006/relationships/image" Target="../media/image45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6.png"/><Relationship Id="rId2" Type="http://schemas.openxmlformats.org/officeDocument/2006/relationships/image" Target="../media/image45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3.png"/><Relationship Id="rId7" Type="http://schemas.openxmlformats.org/officeDocument/2006/relationships/image" Target="../media/image460.png"/><Relationship Id="rId2" Type="http://schemas.openxmlformats.org/officeDocument/2006/relationships/image" Target="../media/image3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9.png"/><Relationship Id="rId5" Type="http://schemas.openxmlformats.org/officeDocument/2006/relationships/image" Target="../media/image458.png"/><Relationship Id="rId4" Type="http://schemas.openxmlformats.org/officeDocument/2006/relationships/image" Target="../media/image45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3.png"/><Relationship Id="rId7" Type="http://schemas.openxmlformats.org/officeDocument/2006/relationships/image" Target="../media/image464.png"/><Relationship Id="rId2" Type="http://schemas.openxmlformats.org/officeDocument/2006/relationships/image" Target="../media/image3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3.png"/><Relationship Id="rId5" Type="http://schemas.openxmlformats.org/officeDocument/2006/relationships/image" Target="../media/image462.png"/><Relationship Id="rId4" Type="http://schemas.openxmlformats.org/officeDocument/2006/relationships/image" Target="../media/image46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6.png"/><Relationship Id="rId7" Type="http://schemas.openxmlformats.org/officeDocument/2006/relationships/image" Target="../media/image383.png"/><Relationship Id="rId2" Type="http://schemas.openxmlformats.org/officeDocument/2006/relationships/image" Target="../media/image4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6.png"/><Relationship Id="rId5" Type="http://schemas.openxmlformats.org/officeDocument/2006/relationships/image" Target="../media/image468.png"/><Relationship Id="rId4" Type="http://schemas.openxmlformats.org/officeDocument/2006/relationships/image" Target="../media/image467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470.png"/><Relationship Id="rId7" Type="http://schemas.openxmlformats.org/officeDocument/2006/relationships/image" Target="../media/image38.png"/><Relationship Id="rId2" Type="http://schemas.openxmlformats.org/officeDocument/2006/relationships/image" Target="../media/image4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3.png"/><Relationship Id="rId5" Type="http://schemas.openxmlformats.org/officeDocument/2006/relationships/image" Target="../media/image376.png"/><Relationship Id="rId10" Type="http://schemas.openxmlformats.org/officeDocument/2006/relationships/image" Target="../media/image41.png"/><Relationship Id="rId4" Type="http://schemas.openxmlformats.org/officeDocument/2006/relationships/image" Target="../media/image471.png"/><Relationship Id="rId9" Type="http://schemas.openxmlformats.org/officeDocument/2006/relationships/image" Target="../media/image4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380492" y="9581953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noProof="0" smtClean="0"/>
              <a:t>1</a:t>
            </a:fld>
            <a:endParaRPr lang="en-GB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560AD6-3CF0-A34E-9B5F-733AD85673F7}"/>
              </a:ext>
            </a:extLst>
          </p:cNvPr>
          <p:cNvSpPr/>
          <p:nvPr/>
        </p:nvSpPr>
        <p:spPr>
          <a:xfrm>
            <a:off x="113128" y="406971"/>
            <a:ext cx="6647773" cy="19024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5758D2-640B-DA4E-81A5-49FF2457E689}"/>
              </a:ext>
            </a:extLst>
          </p:cNvPr>
          <p:cNvSpPr txBox="1"/>
          <p:nvPr/>
        </p:nvSpPr>
        <p:spPr>
          <a:xfrm>
            <a:off x="69812" y="883818"/>
            <a:ext cx="2237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noProof="0" dirty="0"/>
              <a:t>Objectives: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C824E3-7CEF-6546-88A4-4D0EBF16757A}"/>
              </a:ext>
            </a:extLst>
          </p:cNvPr>
          <p:cNvSpPr txBox="1"/>
          <p:nvPr/>
        </p:nvSpPr>
        <p:spPr>
          <a:xfrm>
            <a:off x="288420" y="1299047"/>
            <a:ext cx="4486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  <a:defRPr/>
            </a:pPr>
            <a:r>
              <a:rPr lang="en-GB" sz="1200" noProof="0" dirty="0"/>
              <a:t>Solve graphical simultaneous equations from a given graph. 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GB" sz="1200" noProof="0" dirty="0"/>
              <a:t>Solve graphical simultaneous equations by plotting one or both lines.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EE3977-CCB5-4846-991E-D705D7E45252}"/>
              </a:ext>
            </a:extLst>
          </p:cNvPr>
          <p:cNvSpPr txBox="1"/>
          <p:nvPr/>
        </p:nvSpPr>
        <p:spPr>
          <a:xfrm>
            <a:off x="226912" y="524735"/>
            <a:ext cx="6411256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b="1" noProof="0" dirty="0"/>
              <a:t>LEARNING OUTCOME: Solve simultaneous equations in two variables by the graphical method</a:t>
            </a:r>
            <a:endParaRPr lang="en-GB" sz="1200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52FFC7-E557-AE4C-8709-C2EEFD934428}"/>
              </a:ext>
            </a:extLst>
          </p:cNvPr>
          <p:cNvSpPr txBox="1"/>
          <p:nvPr/>
        </p:nvSpPr>
        <p:spPr>
          <a:xfrm>
            <a:off x="4774457" y="973661"/>
            <a:ext cx="1874201" cy="12003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b="1" u="sng" noProof="0" dirty="0"/>
              <a:t>Keywords:</a:t>
            </a:r>
            <a:endParaRPr lang="en-GB" sz="1200" noProof="0" dirty="0"/>
          </a:p>
          <a:p>
            <a:pPr marL="285750" indent="-285750">
              <a:buFont typeface=".AppleSystemUIFont" charset="-120"/>
              <a:buChar char="-"/>
            </a:pPr>
            <a:r>
              <a:rPr lang="en-GB" sz="1200" noProof="0" dirty="0"/>
              <a:t>Simultaneous equations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GB" sz="1200" noProof="0" dirty="0"/>
              <a:t>Linear equations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GB" sz="1200" noProof="0" dirty="0"/>
              <a:t>Equivalent equations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GB" sz="1200" noProof="0" dirty="0"/>
              <a:t>Intersection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F25803-561A-2D43-A1CA-783BAAA7D792}"/>
              </a:ext>
            </a:extLst>
          </p:cNvPr>
          <p:cNvSpPr/>
          <p:nvPr/>
        </p:nvSpPr>
        <p:spPr>
          <a:xfrm>
            <a:off x="3540" y="-1"/>
            <a:ext cx="6858000" cy="3196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Subtopic 3a – Solving simultaneous equations graphically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E7EDCC2-ABAA-434F-8C0E-6C3A1F76BAE7}"/>
              </a:ext>
            </a:extLst>
          </p:cNvPr>
          <p:cNvCxnSpPr/>
          <p:nvPr/>
        </p:nvCxnSpPr>
        <p:spPr>
          <a:xfrm flipV="1">
            <a:off x="950054" y="4157391"/>
            <a:ext cx="5541513" cy="2282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33908" y="2397043"/>
            <a:ext cx="6645064" cy="24276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28275" y="3484803"/>
            <a:ext cx="6672688" cy="159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28" idx="2"/>
            <a:endCxn id="28" idx="0"/>
          </p:cNvCxnSpPr>
          <p:nvPr/>
        </p:nvCxnSpPr>
        <p:spPr>
          <a:xfrm flipV="1">
            <a:off x="3456440" y="2397043"/>
            <a:ext cx="0" cy="24276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13128" y="2387665"/>
            <a:ext cx="824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noProof="0" dirty="0"/>
              <a:t>Definition</a:t>
            </a:r>
          </a:p>
          <a:p>
            <a:endParaRPr lang="en-GB" sz="1200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5637179" y="2355279"/>
            <a:ext cx="1112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noProof="0" dirty="0"/>
              <a:t>Characteristics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275" y="3484803"/>
            <a:ext cx="7881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noProof="0" dirty="0"/>
              <a:t>Examples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65692" y="3460422"/>
            <a:ext cx="1172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noProof="0" dirty="0"/>
              <a:t>Non - Examples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907" y="2628722"/>
            <a:ext cx="3230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/>
              <a:t>Two equations that form straight lines that </a:t>
            </a:r>
            <a:r>
              <a:rPr lang="en-GB" sz="1200" b="1" noProof="0" dirty="0"/>
              <a:t>intersect at one point.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08242" y="2557360"/>
            <a:ext cx="3230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/>
              <a:t>Linear simultaneous equations are two straight line equations that have an intersection point (this means they cross on the graph).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70155" y="3340373"/>
            <a:ext cx="336624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noProof="0" dirty="0"/>
              <a:t>Graphical simultaneous equations</a:t>
            </a: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00" y="3810639"/>
            <a:ext cx="1275899" cy="88146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62206" y="3910645"/>
            <a:ext cx="2201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/>
              <a:t>These are simultaneous equations because they </a:t>
            </a:r>
            <a:r>
              <a:rPr lang="en-GB" sz="1200" b="1" noProof="0" dirty="0"/>
              <a:t>intersect</a:t>
            </a:r>
            <a:r>
              <a:rPr lang="en-GB" sz="1200" noProof="0" dirty="0"/>
              <a:t> at a point. </a:t>
            </a:r>
            <a:endParaRPr lang="en-GB" sz="1200" b="1" noProof="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36" y="3845944"/>
            <a:ext cx="1136681" cy="80941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707104" y="3711308"/>
            <a:ext cx="1928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/>
              <a:t>These equations do not intersect, therefore they are not simultaneous. </a:t>
            </a:r>
            <a:endParaRPr lang="en-GB" sz="1200" b="1" noProof="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E92CEED-D091-5C4B-AF95-DCA6005E5DED}"/>
              </a:ext>
            </a:extLst>
          </p:cNvPr>
          <p:cNvSpPr txBox="1"/>
          <p:nvPr/>
        </p:nvSpPr>
        <p:spPr>
          <a:xfrm>
            <a:off x="128275" y="4891486"/>
            <a:ext cx="1316387" cy="253916"/>
          </a:xfrm>
          <a:prstGeom prst="rect">
            <a:avLst/>
          </a:prstGeom>
          <a:solidFill>
            <a:srgbClr val="0070C0"/>
          </a:solidFill>
        </p:spPr>
        <p:txBody>
          <a:bodyPr wrap="none" rtlCol="0" anchor="ctr">
            <a:spAutoFit/>
          </a:bodyPr>
          <a:lstStyle/>
          <a:p>
            <a:pPr algn="r"/>
            <a:r>
              <a:rPr lang="en-GB" sz="1050" b="1" noProof="0" dirty="0">
                <a:solidFill>
                  <a:schemeClr val="bg1"/>
                </a:solidFill>
              </a:rPr>
              <a:t>KNOWLEDGE CHECK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62849" y="4913100"/>
            <a:ext cx="18461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/>
              <a:t>Do these graphs intersect?</a:t>
            </a:r>
          </a:p>
        </p:txBody>
      </p:sp>
      <p:pic>
        <p:nvPicPr>
          <p:cNvPr id="51" name="Picture 50"/>
          <p:cNvPicPr>
            <a:picLocks noChangeAspect="1"/>
          </p:cNvPicPr>
          <p:nvPr/>
        </p:nvPicPr>
        <p:blipFill rotWithShape="1">
          <a:blip r:embed="rId4"/>
          <a:srcRect r="11976" b="16748"/>
          <a:stretch/>
        </p:blipFill>
        <p:spPr>
          <a:xfrm>
            <a:off x="288420" y="5331855"/>
            <a:ext cx="1831325" cy="147072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52" name="TextBox 51"/>
          <p:cNvSpPr txBox="1"/>
          <p:nvPr/>
        </p:nvSpPr>
        <p:spPr>
          <a:xfrm>
            <a:off x="243750" y="6942000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/>
              <a:t>Y               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3333" y="6989035"/>
            <a:ext cx="390832" cy="2764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54" name="Rectangle 53"/>
          <p:cNvSpPr/>
          <p:nvPr/>
        </p:nvSpPr>
        <p:spPr>
          <a:xfrm>
            <a:off x="1553658" y="6988433"/>
            <a:ext cx="390832" cy="2764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55" name="TextBox 54"/>
          <p:cNvSpPr txBox="1"/>
          <p:nvPr/>
        </p:nvSpPr>
        <p:spPr>
          <a:xfrm>
            <a:off x="2575470" y="6967595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/>
              <a:t>Y               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35053" y="7014630"/>
            <a:ext cx="390832" cy="2764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57" name="Rectangle 56"/>
          <p:cNvSpPr/>
          <p:nvPr/>
        </p:nvSpPr>
        <p:spPr>
          <a:xfrm>
            <a:off x="3885378" y="7014028"/>
            <a:ext cx="390832" cy="2764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58" name="TextBox 57"/>
          <p:cNvSpPr txBox="1"/>
          <p:nvPr/>
        </p:nvSpPr>
        <p:spPr>
          <a:xfrm>
            <a:off x="4790827" y="6967595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/>
              <a:t>Y               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50410" y="7014630"/>
            <a:ext cx="390832" cy="2764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60" name="Rectangle 59"/>
          <p:cNvSpPr/>
          <p:nvPr/>
        </p:nvSpPr>
        <p:spPr>
          <a:xfrm>
            <a:off x="6100735" y="7014028"/>
            <a:ext cx="390832" cy="2764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61" name="TextBox 60"/>
          <p:cNvSpPr txBox="1"/>
          <p:nvPr/>
        </p:nvSpPr>
        <p:spPr>
          <a:xfrm>
            <a:off x="243750" y="9315968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/>
              <a:t>Y               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3333" y="9363003"/>
            <a:ext cx="390832" cy="2764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63" name="Rectangle 62"/>
          <p:cNvSpPr/>
          <p:nvPr/>
        </p:nvSpPr>
        <p:spPr>
          <a:xfrm>
            <a:off x="1553658" y="9362401"/>
            <a:ext cx="390832" cy="2764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64" name="TextBox 63"/>
          <p:cNvSpPr txBox="1"/>
          <p:nvPr/>
        </p:nvSpPr>
        <p:spPr>
          <a:xfrm>
            <a:off x="2575470" y="9341563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/>
              <a:t>Y               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35053" y="9388598"/>
            <a:ext cx="390832" cy="2764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66" name="Rectangle 65"/>
          <p:cNvSpPr/>
          <p:nvPr/>
        </p:nvSpPr>
        <p:spPr>
          <a:xfrm>
            <a:off x="3885378" y="9387996"/>
            <a:ext cx="390832" cy="2764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67" name="TextBox 66"/>
          <p:cNvSpPr txBox="1"/>
          <p:nvPr/>
        </p:nvSpPr>
        <p:spPr>
          <a:xfrm>
            <a:off x="4790827" y="9341563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/>
              <a:t>Y               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150410" y="9388598"/>
            <a:ext cx="390832" cy="2764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69" name="Rectangle 68"/>
          <p:cNvSpPr/>
          <p:nvPr/>
        </p:nvSpPr>
        <p:spPr>
          <a:xfrm>
            <a:off x="6100735" y="9387996"/>
            <a:ext cx="390832" cy="2764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70" name="Picture 6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8321" y="5331855"/>
            <a:ext cx="1665740" cy="147072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1" name="Picture 7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420" y="7450749"/>
            <a:ext cx="1827114" cy="169833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2" name="Picture 7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3328" y="5097319"/>
            <a:ext cx="1418239" cy="170526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3" name="Picture 7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108" y="7501939"/>
            <a:ext cx="1616166" cy="169296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4" name="Picture 7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36167" y="7515419"/>
            <a:ext cx="1750780" cy="166600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44988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276789" y="9403131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noProof="0" smtClean="0"/>
              <a:t>2</a:t>
            </a:fld>
            <a:endParaRPr lang="en-GB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D6CC47-5E02-5040-8389-C36B03A95D91}"/>
              </a:ext>
            </a:extLst>
          </p:cNvPr>
          <p:cNvSpPr/>
          <p:nvPr/>
        </p:nvSpPr>
        <p:spPr>
          <a:xfrm>
            <a:off x="122801" y="270389"/>
            <a:ext cx="3265813" cy="92600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12342-8EE7-5749-AAB3-11321C962F00}"/>
              </a:ext>
            </a:extLst>
          </p:cNvPr>
          <p:cNvSpPr txBox="1"/>
          <p:nvPr/>
        </p:nvSpPr>
        <p:spPr>
          <a:xfrm>
            <a:off x="29497" y="0"/>
            <a:ext cx="1212191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100" b="1" i="1" noProof="0" dirty="0">
                <a:solidFill>
                  <a:srgbClr val="FF0000"/>
                </a:solidFill>
              </a:rPr>
              <a:t>Example 1 - I do…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9E1DD0-E9EF-6A40-A2E8-902404649FEC}"/>
              </a:ext>
            </a:extLst>
          </p:cNvPr>
          <p:cNvSpPr/>
          <p:nvPr/>
        </p:nvSpPr>
        <p:spPr>
          <a:xfrm>
            <a:off x="3490902" y="278427"/>
            <a:ext cx="3265813" cy="925350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114F50-871E-7548-B273-2025562F7625}"/>
              </a:ext>
            </a:extLst>
          </p:cNvPr>
          <p:cNvSpPr txBox="1"/>
          <p:nvPr/>
        </p:nvSpPr>
        <p:spPr>
          <a:xfrm>
            <a:off x="3409790" y="53008"/>
            <a:ext cx="1399742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100" b="1" i="1" noProof="0" dirty="0">
                <a:solidFill>
                  <a:schemeClr val="accent2"/>
                </a:solidFill>
              </a:rPr>
              <a:t>Example 2 – We do…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22801" y="314618"/>
                <a:ext cx="3265813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/>
                  <a:t>The graphs of the straight lines with equations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=12 </m:t>
                    </m:r>
                  </m:oMath>
                </a14:m>
                <a:r>
                  <a:rPr lang="en-GB" sz="1200" noProof="0" dirty="0"/>
                  <a:t>and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 –1 </m:t>
                    </m:r>
                  </m:oMath>
                </a14:m>
                <a:r>
                  <a:rPr lang="en-GB" sz="1200" noProof="0" dirty="0"/>
                  <a:t>have been drawn on the grid.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801" y="314618"/>
                <a:ext cx="3265813" cy="646331"/>
              </a:xfrm>
              <a:prstGeom prst="rect">
                <a:avLst/>
              </a:prstGeom>
              <a:blipFill>
                <a:blip r:embed="rId2"/>
                <a:stretch>
                  <a:fillRect t="-943" r="-1119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490901" y="314618"/>
                <a:ext cx="3265813" cy="7224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/>
                  <a:t>The graphs of the straight lines with equations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200" noProof="0" dirty="0"/>
                  <a:t>and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=12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200" noProof="0" dirty="0"/>
                  <a:t>have been drawn on the grid.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901" y="314618"/>
                <a:ext cx="3265813" cy="722442"/>
              </a:xfrm>
              <a:prstGeom prst="rect">
                <a:avLst/>
              </a:prstGeom>
              <a:blipFill>
                <a:blip r:embed="rId3"/>
                <a:stretch>
                  <a:fillRect t="-847" b="-6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733" y="902017"/>
            <a:ext cx="2979947" cy="29384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22799" y="3739959"/>
                <a:ext cx="3265813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/>
                  <a:t>Use the graph to solve the simultaneous equations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=12 </m:t>
                    </m:r>
                  </m:oMath>
                </a14:m>
                <a:r>
                  <a:rPr lang="en-GB" sz="1200" noProof="0" dirty="0"/>
                  <a:t>and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 –1</m:t>
                    </m:r>
                  </m:oMath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99" y="3739959"/>
                <a:ext cx="3265813" cy="646331"/>
              </a:xfrm>
              <a:prstGeom prst="rect">
                <a:avLst/>
              </a:prstGeom>
              <a:blipFill>
                <a:blip r:embed="rId5"/>
                <a:stretch>
                  <a:fillRect t="-943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/>
          <p:cNvCxnSpPr/>
          <p:nvPr/>
        </p:nvCxnSpPr>
        <p:spPr>
          <a:xfrm>
            <a:off x="1574800" y="2794000"/>
            <a:ext cx="5080" cy="57912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767080" y="2804160"/>
            <a:ext cx="820848" cy="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65733" y="4710550"/>
                <a:ext cx="2863547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b="1" noProof="0" dirty="0"/>
                  <a:t>Step 1:</a:t>
                </a:r>
              </a:p>
              <a:p>
                <a:br>
                  <a:rPr lang="en-GB" sz="1200" noProof="0" dirty="0"/>
                </a:br>
                <a:r>
                  <a:rPr lang="en-GB" sz="1200" noProof="0" dirty="0"/>
                  <a:t>Find the </a:t>
                </a:r>
                <a:r>
                  <a:rPr lang="en-GB" sz="1200" b="1" noProof="0" dirty="0"/>
                  <a:t>intersection</a:t>
                </a:r>
                <a:r>
                  <a:rPr lang="en-GB" sz="1200" noProof="0" dirty="0"/>
                  <a:t> point. </a:t>
                </a:r>
              </a:p>
              <a:p>
                <a:endParaRPr lang="en-GB" sz="1200" noProof="0" dirty="0"/>
              </a:p>
              <a:p>
                <a:r>
                  <a:rPr lang="en-GB" sz="1200" b="1" noProof="0" dirty="0"/>
                  <a:t>Step 2:</a:t>
                </a:r>
              </a:p>
              <a:p>
                <a:endParaRPr lang="en-GB" sz="1200" noProof="0" dirty="0"/>
              </a:p>
              <a:p>
                <a:r>
                  <a:rPr lang="en-GB" sz="1200" noProof="0" dirty="0"/>
                  <a:t>Draw a line from the intersection point to the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GB" sz="1200" noProof="0" dirty="0"/>
                  <a:t>axis.</a:t>
                </a:r>
              </a:p>
              <a:p>
                <a:endParaRPr lang="en-GB" sz="1200" noProof="0" dirty="0"/>
              </a:p>
              <a:p>
                <a:r>
                  <a:rPr lang="en-GB" sz="1200" b="1" noProof="0" dirty="0"/>
                  <a:t>Step 3: </a:t>
                </a:r>
              </a:p>
              <a:p>
                <a:endParaRPr lang="en-GB" sz="1200" noProof="0" dirty="0"/>
              </a:p>
              <a:p>
                <a:r>
                  <a:rPr lang="en-GB" sz="1200" noProof="0" dirty="0"/>
                  <a:t>Draw a line from the intersection point to the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noProof="0" dirty="0"/>
                  <a:t>-axis.</a:t>
                </a:r>
              </a:p>
              <a:p>
                <a:endParaRPr lang="en-GB" sz="1200" noProof="0" dirty="0"/>
              </a:p>
              <a:p>
                <a:r>
                  <a:rPr lang="en-GB" sz="1200" b="1" noProof="0" dirty="0"/>
                  <a:t>Step 4:</a:t>
                </a:r>
              </a:p>
              <a:p>
                <a:endParaRPr lang="en-GB" sz="1200" noProof="0" dirty="0"/>
              </a:p>
              <a:p>
                <a:r>
                  <a:rPr lang="en-GB" sz="1200" noProof="0" dirty="0"/>
                  <a:t>Write the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noProof="0" dirty="0"/>
                  <a:t> and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noProof="0" dirty="0"/>
                  <a:t> coordinates as the solution. 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733" y="4710550"/>
                <a:ext cx="2863547" cy="3416320"/>
              </a:xfrm>
              <a:prstGeom prst="rect">
                <a:avLst/>
              </a:prstGeom>
              <a:blipFill>
                <a:blip r:embed="rId6"/>
                <a:stretch>
                  <a:fillRect l="-213" t="-179" b="-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781891" y="4629270"/>
                <a:ext cx="2863547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b="1" noProof="0" dirty="0"/>
                  <a:t>Step 1:</a:t>
                </a:r>
              </a:p>
              <a:p>
                <a:br>
                  <a:rPr lang="en-GB" sz="1200" noProof="0" dirty="0"/>
                </a:br>
                <a:r>
                  <a:rPr lang="en-GB" sz="1200" noProof="0" dirty="0"/>
                  <a:t>Find the </a:t>
                </a:r>
                <a:r>
                  <a:rPr lang="en-GB" sz="1200" b="1" noProof="0" dirty="0"/>
                  <a:t>intersection</a:t>
                </a:r>
                <a:r>
                  <a:rPr lang="en-GB" sz="1200" noProof="0" dirty="0"/>
                  <a:t> point. </a:t>
                </a:r>
              </a:p>
              <a:p>
                <a:endParaRPr lang="en-GB" sz="1200" noProof="0" dirty="0"/>
              </a:p>
              <a:p>
                <a:r>
                  <a:rPr lang="en-GB" sz="1200" b="1" noProof="0" dirty="0"/>
                  <a:t>Step 2:</a:t>
                </a:r>
              </a:p>
              <a:p>
                <a:endParaRPr lang="en-GB" sz="1200" noProof="0" dirty="0"/>
              </a:p>
              <a:p>
                <a:r>
                  <a:rPr lang="en-GB" sz="1200" noProof="0" dirty="0"/>
                  <a:t>Draw a line from the intersection point to the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GB" sz="1200" noProof="0" dirty="0"/>
                  <a:t>axis.</a:t>
                </a:r>
              </a:p>
              <a:p>
                <a:endParaRPr lang="en-GB" sz="1200" noProof="0" dirty="0"/>
              </a:p>
              <a:p>
                <a:r>
                  <a:rPr lang="en-GB" sz="1200" b="1" noProof="0" dirty="0"/>
                  <a:t>Step 3: </a:t>
                </a:r>
              </a:p>
              <a:p>
                <a:endParaRPr lang="en-GB" sz="1200" noProof="0" dirty="0"/>
              </a:p>
              <a:p>
                <a:r>
                  <a:rPr lang="en-GB" sz="1200" noProof="0" dirty="0"/>
                  <a:t>Draw a line from the intersection point to the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noProof="0" dirty="0"/>
                  <a:t>-axis.</a:t>
                </a:r>
              </a:p>
              <a:p>
                <a:endParaRPr lang="en-GB" sz="1200" noProof="0" dirty="0"/>
              </a:p>
              <a:p>
                <a:r>
                  <a:rPr lang="en-GB" sz="1200" b="1" noProof="0" dirty="0"/>
                  <a:t>Step 4:</a:t>
                </a:r>
              </a:p>
              <a:p>
                <a:endParaRPr lang="en-GB" sz="1200" noProof="0" dirty="0"/>
              </a:p>
              <a:p>
                <a:r>
                  <a:rPr lang="en-GB" sz="1200" noProof="0" dirty="0"/>
                  <a:t>Write the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noProof="0" dirty="0"/>
                  <a:t> and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noProof="0" dirty="0"/>
                  <a:t> coordinates as the solution. 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1891" y="4629270"/>
                <a:ext cx="2863547" cy="3416320"/>
              </a:xfrm>
              <a:prstGeom prst="rect">
                <a:avLst/>
              </a:prstGeom>
              <a:blipFill>
                <a:blip r:embed="rId7"/>
                <a:stretch>
                  <a:fillRect b="-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06373" y="8322367"/>
                <a:ext cx="3833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noProof="0" dirty="0"/>
                  <a:t> =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373" y="8322367"/>
                <a:ext cx="383310" cy="276999"/>
              </a:xfrm>
              <a:prstGeom prst="rect">
                <a:avLst/>
              </a:prstGeom>
              <a:blipFill>
                <a:blip r:embed="rId8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16B1ECA1-094F-FE4A-8AFE-E48C67064BBB}"/>
              </a:ext>
            </a:extLst>
          </p:cNvPr>
          <p:cNvSpPr/>
          <p:nvPr/>
        </p:nvSpPr>
        <p:spPr>
          <a:xfrm>
            <a:off x="698339" y="8312580"/>
            <a:ext cx="889589" cy="276858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B1ECA1-094F-FE4A-8AFE-E48C67064BBB}"/>
              </a:ext>
            </a:extLst>
          </p:cNvPr>
          <p:cNvSpPr/>
          <p:nvPr/>
        </p:nvSpPr>
        <p:spPr>
          <a:xfrm>
            <a:off x="698339" y="8686358"/>
            <a:ext cx="889589" cy="276858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06373" y="8686217"/>
                <a:ext cx="38606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noProof="0" dirty="0"/>
                  <a:t> =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373" y="8686217"/>
                <a:ext cx="386068" cy="276999"/>
              </a:xfrm>
              <a:prstGeom prst="rect">
                <a:avLst/>
              </a:prstGeom>
              <a:blipFill>
                <a:blip r:embed="rId9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47027" y="960949"/>
            <a:ext cx="2881387" cy="28938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3409790" y="3685555"/>
                <a:ext cx="3265813" cy="10917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/>
                  <a:t>Use the graph to solve the simultaneous equations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120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+2 </m:t>
                    </m:r>
                  </m:oMath>
                </a14:m>
                <a:r>
                  <a:rPr lang="en-GB" sz="1200" noProof="0" dirty="0"/>
                  <a:t>and </a:t>
                </a:r>
                <a14:m>
                  <m:oMath xmlns:m="http://schemas.openxmlformats.org/officeDocument/2006/math">
                    <m:r>
                      <a:rPr lang="en-GB" sz="1200" noProof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=12 </m:t>
                    </m:r>
                  </m:oMath>
                </a14:m>
                <a:endParaRPr lang="en-GB" sz="1200" noProof="0" dirty="0"/>
              </a:p>
              <a:p>
                <a:pPr algn="ctr"/>
                <a:endParaRPr lang="en-GB" sz="1200" noProof="0" dirty="0"/>
              </a:p>
              <a:p>
                <a:pPr algn="ctr"/>
                <a:endParaRPr lang="en-GB" sz="1200" noProof="0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9790" y="3685555"/>
                <a:ext cx="3265813" cy="1091774"/>
              </a:xfrm>
              <a:prstGeom prst="rect">
                <a:avLst/>
              </a:prstGeom>
              <a:blipFill>
                <a:blip r:embed="rId11"/>
                <a:stretch>
                  <a:fillRect t="-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3586493" y="8325188"/>
                <a:ext cx="3833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noProof="0" dirty="0"/>
                  <a:t> =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6493" y="8325188"/>
                <a:ext cx="383310" cy="276999"/>
              </a:xfrm>
              <a:prstGeom prst="rect">
                <a:avLst/>
              </a:prstGeom>
              <a:blipFill>
                <a:blip r:embed="rId12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16B1ECA1-094F-FE4A-8AFE-E48C67064BBB}"/>
              </a:ext>
            </a:extLst>
          </p:cNvPr>
          <p:cNvSpPr/>
          <p:nvPr/>
        </p:nvSpPr>
        <p:spPr>
          <a:xfrm>
            <a:off x="3978459" y="8315401"/>
            <a:ext cx="889589" cy="276858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6B1ECA1-094F-FE4A-8AFE-E48C67064BBB}"/>
              </a:ext>
            </a:extLst>
          </p:cNvPr>
          <p:cNvSpPr/>
          <p:nvPr/>
        </p:nvSpPr>
        <p:spPr>
          <a:xfrm>
            <a:off x="3978459" y="8689179"/>
            <a:ext cx="889589" cy="276858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586493" y="8689038"/>
                <a:ext cx="38606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noProof="0" dirty="0"/>
                  <a:t> =</a:t>
                </a: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6493" y="8689038"/>
                <a:ext cx="386068" cy="276999"/>
              </a:xfrm>
              <a:prstGeom prst="rect">
                <a:avLst/>
              </a:prstGeom>
              <a:blipFill>
                <a:blip r:embed="rId13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8809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213665" y="9378597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noProof="0" smtClean="0"/>
              <a:t>3</a:t>
            </a:fld>
            <a:endParaRPr lang="en-GB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D6CC47-5E02-5040-8389-C36B03A95D91}"/>
              </a:ext>
            </a:extLst>
          </p:cNvPr>
          <p:cNvSpPr/>
          <p:nvPr/>
        </p:nvSpPr>
        <p:spPr>
          <a:xfrm>
            <a:off x="122801" y="270388"/>
            <a:ext cx="3265813" cy="9275393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12342-8EE7-5749-AAB3-11321C962F00}"/>
              </a:ext>
            </a:extLst>
          </p:cNvPr>
          <p:cNvSpPr txBox="1"/>
          <p:nvPr/>
        </p:nvSpPr>
        <p:spPr>
          <a:xfrm>
            <a:off x="29497" y="0"/>
            <a:ext cx="1396536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100" b="1" i="1" noProof="0" dirty="0">
                <a:solidFill>
                  <a:srgbClr val="00B050"/>
                </a:solidFill>
              </a:rPr>
              <a:t>Example 3 - You do…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9E1DD0-E9EF-6A40-A2E8-902404649FEC}"/>
              </a:ext>
            </a:extLst>
          </p:cNvPr>
          <p:cNvSpPr/>
          <p:nvPr/>
        </p:nvSpPr>
        <p:spPr>
          <a:xfrm>
            <a:off x="3490902" y="278427"/>
            <a:ext cx="3265813" cy="9268786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114F50-871E-7548-B273-2025562F7625}"/>
              </a:ext>
            </a:extLst>
          </p:cNvPr>
          <p:cNvSpPr txBox="1"/>
          <p:nvPr/>
        </p:nvSpPr>
        <p:spPr>
          <a:xfrm>
            <a:off x="3409790" y="11443"/>
            <a:ext cx="1423788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100" b="1" i="1" noProof="0" dirty="0">
                <a:solidFill>
                  <a:srgbClr val="00B050"/>
                </a:solidFill>
              </a:rPr>
              <a:t>Example 4 – You do…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22801" y="314618"/>
                <a:ext cx="3265813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/>
                  <a:t>The graphs of the straight lines with equations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+4 </m:t>
                    </m:r>
                  </m:oMath>
                </a14:m>
                <a:r>
                  <a:rPr lang="en-GB" sz="1200" noProof="0" dirty="0"/>
                  <a:t>and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 –2 </m:t>
                    </m:r>
                  </m:oMath>
                </a14:m>
                <a:r>
                  <a:rPr lang="en-GB" sz="1200" noProof="0" dirty="0"/>
                  <a:t>have been drawn on the grid.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801" y="314618"/>
                <a:ext cx="3265813" cy="646331"/>
              </a:xfrm>
              <a:prstGeom prst="rect">
                <a:avLst/>
              </a:prstGeom>
              <a:blipFill>
                <a:blip r:embed="rId2"/>
                <a:stretch>
                  <a:fillRect t="-943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490901" y="314618"/>
                <a:ext cx="3265813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/>
                  <a:t>The graphs of the straight lines with equations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−9=0 </m:t>
                    </m:r>
                  </m:oMath>
                </a14:m>
                <a:r>
                  <a:rPr lang="en-GB" sz="1200" noProof="0" dirty="0"/>
                  <a:t>and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−3 </m:t>
                    </m:r>
                  </m:oMath>
                </a14:m>
                <a:r>
                  <a:rPr lang="en-GB" sz="1200" noProof="0" dirty="0"/>
                  <a:t>have been drawn on the grid.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901" y="314618"/>
                <a:ext cx="3265813" cy="646331"/>
              </a:xfrm>
              <a:prstGeom prst="rect">
                <a:avLst/>
              </a:prstGeom>
              <a:blipFill>
                <a:blip r:embed="rId3"/>
                <a:stretch>
                  <a:fillRect t="-943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22799" y="3739959"/>
                <a:ext cx="3265813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/>
                  <a:t>Use the graph to solve the simultaneous equations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+4 </m:t>
                    </m:r>
                  </m:oMath>
                </a14:m>
                <a:r>
                  <a:rPr lang="en-GB" sz="1200" noProof="0" dirty="0"/>
                  <a:t>and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 –2</m:t>
                    </m:r>
                  </m:oMath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99" y="3739959"/>
                <a:ext cx="3265813" cy="646331"/>
              </a:xfrm>
              <a:prstGeom prst="rect">
                <a:avLst/>
              </a:prstGeom>
              <a:blipFill>
                <a:blip r:embed="rId4"/>
                <a:stretch>
                  <a:fillRect t="-943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65733" y="4696695"/>
                <a:ext cx="2863547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b="1" noProof="0" dirty="0"/>
                  <a:t>Step 1:</a:t>
                </a:r>
              </a:p>
              <a:p>
                <a:br>
                  <a:rPr lang="en-GB" sz="1200" noProof="0" dirty="0"/>
                </a:br>
                <a:r>
                  <a:rPr lang="en-GB" sz="1200" noProof="0" dirty="0"/>
                  <a:t>Find the </a:t>
                </a:r>
                <a:r>
                  <a:rPr lang="en-GB" sz="1200" b="1" noProof="0" dirty="0"/>
                  <a:t>intersection</a:t>
                </a:r>
                <a:r>
                  <a:rPr lang="en-GB" sz="1200" noProof="0" dirty="0"/>
                  <a:t> point. </a:t>
                </a:r>
              </a:p>
              <a:p>
                <a:endParaRPr lang="en-GB" sz="1200" noProof="0" dirty="0"/>
              </a:p>
              <a:p>
                <a:r>
                  <a:rPr lang="en-GB" sz="1200" b="1" noProof="0" dirty="0"/>
                  <a:t>Step 2:</a:t>
                </a:r>
              </a:p>
              <a:p>
                <a:endParaRPr lang="en-GB" sz="1200" noProof="0" dirty="0"/>
              </a:p>
              <a:p>
                <a:r>
                  <a:rPr lang="en-GB" sz="1200" noProof="0" dirty="0"/>
                  <a:t>Draw a line from the intersection point to the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GB" sz="1200" noProof="0" dirty="0"/>
                  <a:t>axis.</a:t>
                </a:r>
              </a:p>
              <a:p>
                <a:endParaRPr lang="en-GB" sz="1200" noProof="0" dirty="0"/>
              </a:p>
              <a:p>
                <a:r>
                  <a:rPr lang="en-GB" sz="1200" b="1" noProof="0" dirty="0"/>
                  <a:t>Step 3: </a:t>
                </a:r>
              </a:p>
              <a:p>
                <a:endParaRPr lang="en-GB" sz="1200" noProof="0" dirty="0"/>
              </a:p>
              <a:p>
                <a:r>
                  <a:rPr lang="en-GB" sz="1200" noProof="0" dirty="0"/>
                  <a:t>Draw a line from the intersection point to the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noProof="0" dirty="0"/>
                  <a:t>-axis.</a:t>
                </a:r>
              </a:p>
              <a:p>
                <a:endParaRPr lang="en-GB" sz="1200" noProof="0" dirty="0"/>
              </a:p>
              <a:p>
                <a:r>
                  <a:rPr lang="en-GB" sz="1200" b="1" noProof="0" dirty="0"/>
                  <a:t>Step 4:</a:t>
                </a:r>
              </a:p>
              <a:p>
                <a:endParaRPr lang="en-GB" sz="1200" noProof="0" dirty="0"/>
              </a:p>
              <a:p>
                <a:r>
                  <a:rPr lang="en-GB" sz="1200" noProof="0" dirty="0"/>
                  <a:t>Write the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noProof="0" dirty="0"/>
                  <a:t> and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noProof="0" dirty="0"/>
                  <a:t> coordinates as the solution. 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733" y="4696695"/>
                <a:ext cx="2863547" cy="3416320"/>
              </a:xfrm>
              <a:prstGeom prst="rect">
                <a:avLst/>
              </a:prstGeom>
              <a:blipFill>
                <a:blip r:embed="rId5"/>
                <a:stretch>
                  <a:fillRect l="-213" b="-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781891" y="4615415"/>
                <a:ext cx="2863547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b="1" noProof="0" dirty="0"/>
                  <a:t>Step 1:</a:t>
                </a:r>
              </a:p>
              <a:p>
                <a:br>
                  <a:rPr lang="en-GB" sz="1200" noProof="0" dirty="0"/>
                </a:br>
                <a:r>
                  <a:rPr lang="en-GB" sz="1200" noProof="0" dirty="0"/>
                  <a:t>Find the </a:t>
                </a:r>
                <a:r>
                  <a:rPr lang="en-GB" sz="1200" b="1" noProof="0" dirty="0"/>
                  <a:t>intersection</a:t>
                </a:r>
                <a:r>
                  <a:rPr lang="en-GB" sz="1200" noProof="0" dirty="0"/>
                  <a:t> point. </a:t>
                </a:r>
              </a:p>
              <a:p>
                <a:endParaRPr lang="en-GB" sz="1200" noProof="0" dirty="0"/>
              </a:p>
              <a:p>
                <a:r>
                  <a:rPr lang="en-GB" sz="1200" b="1" noProof="0" dirty="0"/>
                  <a:t>Step 2:</a:t>
                </a:r>
              </a:p>
              <a:p>
                <a:endParaRPr lang="en-GB" sz="1200" noProof="0" dirty="0"/>
              </a:p>
              <a:p>
                <a:r>
                  <a:rPr lang="en-GB" sz="1200" noProof="0" dirty="0"/>
                  <a:t>Draw a line from the intersection point to the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GB" sz="1200" noProof="0" dirty="0"/>
                  <a:t>axis.</a:t>
                </a:r>
              </a:p>
              <a:p>
                <a:endParaRPr lang="en-GB" sz="1200" noProof="0" dirty="0"/>
              </a:p>
              <a:p>
                <a:r>
                  <a:rPr lang="en-GB" sz="1200" b="1" noProof="0" dirty="0"/>
                  <a:t>Step 3: </a:t>
                </a:r>
              </a:p>
              <a:p>
                <a:endParaRPr lang="en-GB" sz="1200" noProof="0" dirty="0"/>
              </a:p>
              <a:p>
                <a:r>
                  <a:rPr lang="en-GB" sz="1200" noProof="0" dirty="0"/>
                  <a:t>Draw a line from the intersection point to the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noProof="0" dirty="0"/>
                  <a:t>-axis.</a:t>
                </a:r>
              </a:p>
              <a:p>
                <a:endParaRPr lang="en-GB" sz="1200" noProof="0" dirty="0"/>
              </a:p>
              <a:p>
                <a:r>
                  <a:rPr lang="en-GB" sz="1200" b="1" noProof="0" dirty="0"/>
                  <a:t>Step 4:</a:t>
                </a:r>
              </a:p>
              <a:p>
                <a:endParaRPr lang="en-GB" sz="1200" noProof="0" dirty="0"/>
              </a:p>
              <a:p>
                <a:r>
                  <a:rPr lang="en-GB" sz="1200" noProof="0" dirty="0"/>
                  <a:t>Write the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noProof="0" dirty="0"/>
                  <a:t> and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noProof="0" dirty="0"/>
                  <a:t> coordinates as the solution. 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1891" y="4615415"/>
                <a:ext cx="2863547" cy="3416320"/>
              </a:xfrm>
              <a:prstGeom prst="rect">
                <a:avLst/>
              </a:prstGeom>
              <a:blipFill>
                <a:blip r:embed="rId6"/>
                <a:stretch>
                  <a:fillRect b="-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06373" y="8308512"/>
                <a:ext cx="3833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noProof="0" dirty="0"/>
                  <a:t> =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373" y="8308512"/>
                <a:ext cx="383310" cy="276999"/>
              </a:xfrm>
              <a:prstGeom prst="rect">
                <a:avLst/>
              </a:prstGeom>
              <a:blipFill>
                <a:blip r:embed="rId7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16B1ECA1-094F-FE4A-8AFE-E48C67064BBB}"/>
              </a:ext>
            </a:extLst>
          </p:cNvPr>
          <p:cNvSpPr/>
          <p:nvPr/>
        </p:nvSpPr>
        <p:spPr>
          <a:xfrm>
            <a:off x="698339" y="8298725"/>
            <a:ext cx="889589" cy="276858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B1ECA1-094F-FE4A-8AFE-E48C67064BBB}"/>
              </a:ext>
            </a:extLst>
          </p:cNvPr>
          <p:cNvSpPr/>
          <p:nvPr/>
        </p:nvSpPr>
        <p:spPr>
          <a:xfrm>
            <a:off x="698339" y="8672503"/>
            <a:ext cx="889589" cy="276858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06373" y="8672362"/>
                <a:ext cx="38606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noProof="0" dirty="0"/>
                  <a:t> =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373" y="8672362"/>
                <a:ext cx="386068" cy="276999"/>
              </a:xfrm>
              <a:prstGeom prst="rect">
                <a:avLst/>
              </a:prstGeom>
              <a:blipFill>
                <a:blip r:embed="rId8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3409790" y="3685555"/>
                <a:ext cx="3265813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/>
                  <a:t>Use the graph to solve the simultaneous equations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−9=0 </m:t>
                    </m:r>
                  </m:oMath>
                </a14:m>
                <a:r>
                  <a:rPr lang="en-GB" sz="1200" noProof="0" dirty="0"/>
                  <a:t>and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endParaRPr lang="en-GB" sz="1200" noProof="0" dirty="0"/>
              </a:p>
              <a:p>
                <a:pPr algn="ctr"/>
                <a:endParaRPr lang="en-GB" sz="1200" noProof="0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9790" y="3685555"/>
                <a:ext cx="3265813" cy="830997"/>
              </a:xfrm>
              <a:prstGeom prst="rect">
                <a:avLst/>
              </a:prstGeom>
              <a:blipFill>
                <a:blip r:embed="rId9"/>
                <a:stretch>
                  <a:fillRect t="-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3586493" y="8311333"/>
                <a:ext cx="3833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noProof="0" dirty="0"/>
                  <a:t> =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6493" y="8311333"/>
                <a:ext cx="383310" cy="276999"/>
              </a:xfrm>
              <a:prstGeom prst="rect">
                <a:avLst/>
              </a:prstGeom>
              <a:blipFill>
                <a:blip r:embed="rId10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16B1ECA1-094F-FE4A-8AFE-E48C67064BBB}"/>
              </a:ext>
            </a:extLst>
          </p:cNvPr>
          <p:cNvSpPr/>
          <p:nvPr/>
        </p:nvSpPr>
        <p:spPr>
          <a:xfrm>
            <a:off x="3978459" y="8301546"/>
            <a:ext cx="889589" cy="276858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6B1ECA1-094F-FE4A-8AFE-E48C67064BBB}"/>
              </a:ext>
            </a:extLst>
          </p:cNvPr>
          <p:cNvSpPr/>
          <p:nvPr/>
        </p:nvSpPr>
        <p:spPr>
          <a:xfrm>
            <a:off x="3978459" y="8675324"/>
            <a:ext cx="889589" cy="276858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586493" y="8675183"/>
                <a:ext cx="38606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noProof="0" dirty="0"/>
                  <a:t> =</a:t>
                </a: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6493" y="8675183"/>
                <a:ext cx="386068" cy="276999"/>
              </a:xfrm>
              <a:prstGeom prst="rect">
                <a:avLst/>
              </a:prstGeom>
              <a:blipFill>
                <a:blip r:embed="rId11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5733" y="1146659"/>
            <a:ext cx="3007769" cy="207794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86493" y="1176213"/>
            <a:ext cx="3117255" cy="218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812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342660" y="9533681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noProof="0" smtClean="0"/>
              <a:t>4</a:t>
            </a:fld>
            <a:endParaRPr lang="en-GB" noProof="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170" y="575483"/>
            <a:ext cx="2419558" cy="2303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51490" y="0"/>
            <a:ext cx="31522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/>
              <a:t>1) Solve the simultaneous equations graphically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D6CC47-5E02-5040-8389-C36B03A95D91}"/>
              </a:ext>
            </a:extLst>
          </p:cNvPr>
          <p:cNvSpPr/>
          <p:nvPr/>
        </p:nvSpPr>
        <p:spPr>
          <a:xfrm>
            <a:off x="66915" y="329388"/>
            <a:ext cx="3265813" cy="348419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827607" y="2984982"/>
                <a:ext cx="3833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noProof="0" dirty="0"/>
                  <a:t> =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607" y="2984982"/>
                <a:ext cx="383310" cy="276999"/>
              </a:xfrm>
              <a:prstGeom prst="rect">
                <a:avLst/>
              </a:prstGeom>
              <a:blipFill>
                <a:blip r:embed="rId3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16B1ECA1-094F-FE4A-8AFE-E48C67064BBB}"/>
              </a:ext>
            </a:extLst>
          </p:cNvPr>
          <p:cNvSpPr/>
          <p:nvPr/>
        </p:nvSpPr>
        <p:spPr>
          <a:xfrm>
            <a:off x="2219573" y="2975195"/>
            <a:ext cx="889589" cy="276858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B1ECA1-094F-FE4A-8AFE-E48C67064BBB}"/>
              </a:ext>
            </a:extLst>
          </p:cNvPr>
          <p:cNvSpPr/>
          <p:nvPr/>
        </p:nvSpPr>
        <p:spPr>
          <a:xfrm>
            <a:off x="2219573" y="3348973"/>
            <a:ext cx="889589" cy="276858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827607" y="3348832"/>
                <a:ext cx="38606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noProof="0" dirty="0"/>
                  <a:t> =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607" y="3348832"/>
                <a:ext cx="386068" cy="276999"/>
              </a:xfrm>
              <a:prstGeom prst="rect">
                <a:avLst/>
              </a:prstGeom>
              <a:blipFill>
                <a:blip r:embed="rId4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98D6CC47-5E02-5040-8389-C36B03A95D91}"/>
              </a:ext>
            </a:extLst>
          </p:cNvPr>
          <p:cNvSpPr/>
          <p:nvPr/>
        </p:nvSpPr>
        <p:spPr>
          <a:xfrm>
            <a:off x="3504757" y="329388"/>
            <a:ext cx="3265813" cy="348419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265449" y="2984982"/>
                <a:ext cx="3833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noProof="0" dirty="0"/>
                  <a:t> =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5449" y="2984982"/>
                <a:ext cx="383310" cy="276999"/>
              </a:xfrm>
              <a:prstGeom prst="rect">
                <a:avLst/>
              </a:prstGeom>
              <a:blipFill>
                <a:blip r:embed="rId3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16B1ECA1-094F-FE4A-8AFE-E48C67064BBB}"/>
              </a:ext>
            </a:extLst>
          </p:cNvPr>
          <p:cNvSpPr/>
          <p:nvPr/>
        </p:nvSpPr>
        <p:spPr>
          <a:xfrm>
            <a:off x="5657415" y="2975195"/>
            <a:ext cx="889589" cy="276858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B1ECA1-094F-FE4A-8AFE-E48C67064BBB}"/>
              </a:ext>
            </a:extLst>
          </p:cNvPr>
          <p:cNvSpPr/>
          <p:nvPr/>
        </p:nvSpPr>
        <p:spPr>
          <a:xfrm>
            <a:off x="5657415" y="3348973"/>
            <a:ext cx="889589" cy="276858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265449" y="3348832"/>
                <a:ext cx="38606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noProof="0" dirty="0"/>
                  <a:t> =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5449" y="3348832"/>
                <a:ext cx="386068" cy="276999"/>
              </a:xfrm>
              <a:prstGeom prst="rect">
                <a:avLst/>
              </a:prstGeom>
              <a:blipFill>
                <a:blip r:embed="rId4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8498" y="575483"/>
            <a:ext cx="3086491" cy="223801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0039" y="575483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/>
              <a:t>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7295" y="575482"/>
            <a:ext cx="311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/>
              <a:t>b)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D6CC47-5E02-5040-8389-C36B03A95D91}"/>
              </a:ext>
            </a:extLst>
          </p:cNvPr>
          <p:cNvSpPr/>
          <p:nvPr/>
        </p:nvSpPr>
        <p:spPr>
          <a:xfrm>
            <a:off x="66915" y="3975277"/>
            <a:ext cx="3265813" cy="348740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871851" y="6689864"/>
                <a:ext cx="3833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noProof="0" dirty="0"/>
                  <a:t> =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1851" y="6689864"/>
                <a:ext cx="383310" cy="276999"/>
              </a:xfrm>
              <a:prstGeom prst="rect">
                <a:avLst/>
              </a:prstGeom>
              <a:blipFill>
                <a:blip r:embed="rId6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16B1ECA1-094F-FE4A-8AFE-E48C67064BBB}"/>
              </a:ext>
            </a:extLst>
          </p:cNvPr>
          <p:cNvSpPr/>
          <p:nvPr/>
        </p:nvSpPr>
        <p:spPr>
          <a:xfrm>
            <a:off x="2263817" y="6680077"/>
            <a:ext cx="889589" cy="276858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B1ECA1-094F-FE4A-8AFE-E48C67064BBB}"/>
              </a:ext>
            </a:extLst>
          </p:cNvPr>
          <p:cNvSpPr/>
          <p:nvPr/>
        </p:nvSpPr>
        <p:spPr>
          <a:xfrm>
            <a:off x="2263817" y="7053855"/>
            <a:ext cx="889589" cy="276858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871851" y="7053714"/>
                <a:ext cx="38606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noProof="0" dirty="0"/>
                  <a:t> =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1851" y="7053714"/>
                <a:ext cx="386068" cy="276999"/>
              </a:xfrm>
              <a:prstGeom prst="rect">
                <a:avLst/>
              </a:prstGeom>
              <a:blipFill>
                <a:blip r:embed="rId4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98D6CC47-5E02-5040-8389-C36B03A95D91}"/>
              </a:ext>
            </a:extLst>
          </p:cNvPr>
          <p:cNvSpPr/>
          <p:nvPr/>
        </p:nvSpPr>
        <p:spPr>
          <a:xfrm>
            <a:off x="3504757" y="3975277"/>
            <a:ext cx="3265813" cy="348740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5309693" y="6689864"/>
                <a:ext cx="3833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noProof="0" dirty="0"/>
                  <a:t> =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9693" y="6689864"/>
                <a:ext cx="383310" cy="276999"/>
              </a:xfrm>
              <a:prstGeom prst="rect">
                <a:avLst/>
              </a:prstGeom>
              <a:blipFill>
                <a:blip r:embed="rId6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16B1ECA1-094F-FE4A-8AFE-E48C67064BBB}"/>
              </a:ext>
            </a:extLst>
          </p:cNvPr>
          <p:cNvSpPr/>
          <p:nvPr/>
        </p:nvSpPr>
        <p:spPr>
          <a:xfrm>
            <a:off x="5701659" y="6680077"/>
            <a:ext cx="889589" cy="276858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6B1ECA1-094F-FE4A-8AFE-E48C67064BBB}"/>
              </a:ext>
            </a:extLst>
          </p:cNvPr>
          <p:cNvSpPr/>
          <p:nvPr/>
        </p:nvSpPr>
        <p:spPr>
          <a:xfrm>
            <a:off x="5701659" y="7053855"/>
            <a:ext cx="889589" cy="276858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309693" y="7053714"/>
                <a:ext cx="38606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noProof="0" dirty="0"/>
                  <a:t> =</a:t>
                </a: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9693" y="7053714"/>
                <a:ext cx="386068" cy="276999"/>
              </a:xfrm>
              <a:prstGeom prst="rect">
                <a:avLst/>
              </a:prstGeom>
              <a:blipFill>
                <a:blip r:embed="rId4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230039" y="4093358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/>
              <a:t>c)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7295" y="4132883"/>
            <a:ext cx="3113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/>
              <a:t>d)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7"/>
          <a:srcRect r="7973"/>
          <a:stretch/>
        </p:blipFill>
        <p:spPr>
          <a:xfrm>
            <a:off x="443338" y="4074058"/>
            <a:ext cx="2712818" cy="258593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6995" y="4132883"/>
            <a:ext cx="2326825" cy="2489453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98D6CC47-5E02-5040-8389-C36B03A95D91}"/>
              </a:ext>
            </a:extLst>
          </p:cNvPr>
          <p:cNvSpPr/>
          <p:nvPr/>
        </p:nvSpPr>
        <p:spPr>
          <a:xfrm>
            <a:off x="72321" y="7620290"/>
            <a:ext cx="6698249" cy="205097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rgbClr val="00B0F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41394" y="7666317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/>
              <a:t>e)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926" y="7814018"/>
            <a:ext cx="2240236" cy="17087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5301037" y="8954100"/>
                <a:ext cx="3833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noProof="0" dirty="0"/>
                  <a:t> =</a:t>
                </a: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037" y="8954100"/>
                <a:ext cx="383310" cy="276999"/>
              </a:xfrm>
              <a:prstGeom prst="rect">
                <a:avLst/>
              </a:prstGeom>
              <a:blipFill>
                <a:blip r:embed="rId10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>
            <a:extLst>
              <a:ext uri="{FF2B5EF4-FFF2-40B4-BE49-F238E27FC236}">
                <a16:creationId xmlns:a16="http://schemas.microsoft.com/office/drawing/2014/main" id="{16B1ECA1-094F-FE4A-8AFE-E48C67064BBB}"/>
              </a:ext>
            </a:extLst>
          </p:cNvPr>
          <p:cNvSpPr/>
          <p:nvPr/>
        </p:nvSpPr>
        <p:spPr>
          <a:xfrm>
            <a:off x="5693003" y="8944313"/>
            <a:ext cx="889589" cy="276858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6B1ECA1-094F-FE4A-8AFE-E48C67064BBB}"/>
              </a:ext>
            </a:extLst>
          </p:cNvPr>
          <p:cNvSpPr/>
          <p:nvPr/>
        </p:nvSpPr>
        <p:spPr>
          <a:xfrm>
            <a:off x="5693003" y="9318091"/>
            <a:ext cx="889589" cy="276858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301037" y="9317950"/>
                <a:ext cx="38606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noProof="0" dirty="0"/>
                  <a:t> =</a:t>
                </a: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037" y="9317950"/>
                <a:ext cx="386068" cy="276999"/>
              </a:xfrm>
              <a:prstGeom prst="rect">
                <a:avLst/>
              </a:prstGeom>
              <a:blipFill>
                <a:blip r:embed="rId11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/>
          <p:cNvSpPr txBox="1"/>
          <p:nvPr/>
        </p:nvSpPr>
        <p:spPr>
          <a:xfrm>
            <a:off x="66915" y="33282"/>
            <a:ext cx="1732782" cy="276999"/>
          </a:xfrm>
          <a:prstGeom prst="rect">
            <a:avLst/>
          </a:prstGeom>
          <a:solidFill>
            <a:srgbClr val="0070C0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200" noProof="0" dirty="0">
                <a:solidFill>
                  <a:schemeClr val="bg1"/>
                </a:solidFill>
              </a:rPr>
              <a:t>INDEPENDENT PRACTICE</a:t>
            </a:r>
          </a:p>
        </p:txBody>
      </p:sp>
    </p:spTree>
    <p:extLst>
      <p:ext uri="{BB962C8B-B14F-4D97-AF65-F5344CB8AC3E}">
        <p14:creationId xmlns:p14="http://schemas.microsoft.com/office/powerpoint/2010/main" val="3800818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276789" y="9403131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noProof="0" smtClean="0"/>
              <a:t>5</a:t>
            </a:fld>
            <a:endParaRPr lang="en-GB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D6CC47-5E02-5040-8389-C36B03A95D91}"/>
              </a:ext>
            </a:extLst>
          </p:cNvPr>
          <p:cNvSpPr/>
          <p:nvPr/>
        </p:nvSpPr>
        <p:spPr>
          <a:xfrm>
            <a:off x="122801" y="270389"/>
            <a:ext cx="3265813" cy="92600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12342-8EE7-5749-AAB3-11321C962F00}"/>
              </a:ext>
            </a:extLst>
          </p:cNvPr>
          <p:cNvSpPr txBox="1"/>
          <p:nvPr/>
        </p:nvSpPr>
        <p:spPr>
          <a:xfrm>
            <a:off x="29497" y="0"/>
            <a:ext cx="1212191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100" b="1" i="1" noProof="0" dirty="0">
                <a:solidFill>
                  <a:srgbClr val="FF0000"/>
                </a:solidFill>
              </a:rPr>
              <a:t>Example 5 - I do…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9E1DD0-E9EF-6A40-A2E8-902404649FEC}"/>
              </a:ext>
            </a:extLst>
          </p:cNvPr>
          <p:cNvSpPr/>
          <p:nvPr/>
        </p:nvSpPr>
        <p:spPr>
          <a:xfrm>
            <a:off x="3490902" y="278427"/>
            <a:ext cx="3265813" cy="925350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114F50-871E-7548-B273-2025562F7625}"/>
              </a:ext>
            </a:extLst>
          </p:cNvPr>
          <p:cNvSpPr txBox="1"/>
          <p:nvPr/>
        </p:nvSpPr>
        <p:spPr>
          <a:xfrm>
            <a:off x="3409790" y="53008"/>
            <a:ext cx="1399742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100" b="1" i="1" noProof="0" dirty="0">
                <a:solidFill>
                  <a:schemeClr val="accent2"/>
                </a:solidFill>
              </a:rPr>
              <a:t>Example 6 – We do…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22801" y="314618"/>
                <a:ext cx="326581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/>
                  <a:t>The straight line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sz="1200" noProof="0" dirty="0"/>
                  <a:t> has been drawn on the grid. 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801" y="314618"/>
                <a:ext cx="3265813" cy="461665"/>
              </a:xfrm>
              <a:prstGeom prst="rect">
                <a:avLst/>
              </a:prstGeom>
              <a:blipFill>
                <a:blip r:embed="rId2"/>
                <a:stretch>
                  <a:fillRect t="-1333"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22799" y="3739959"/>
                <a:ext cx="3265813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/>
                  <a:t>a) On the same grid, draw the graph of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99" y="3739959"/>
                <a:ext cx="3265813" cy="276999"/>
              </a:xfrm>
              <a:prstGeom prst="rect">
                <a:avLst/>
              </a:prstGeom>
              <a:blipFill>
                <a:blip r:embed="rId3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06373" y="8322367"/>
                <a:ext cx="3833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noProof="0" dirty="0"/>
                  <a:t> =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373" y="8322367"/>
                <a:ext cx="383310" cy="276999"/>
              </a:xfrm>
              <a:prstGeom prst="rect">
                <a:avLst/>
              </a:prstGeom>
              <a:blipFill>
                <a:blip r:embed="rId4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16B1ECA1-094F-FE4A-8AFE-E48C67064BBB}"/>
              </a:ext>
            </a:extLst>
          </p:cNvPr>
          <p:cNvSpPr/>
          <p:nvPr/>
        </p:nvSpPr>
        <p:spPr>
          <a:xfrm>
            <a:off x="698339" y="8312580"/>
            <a:ext cx="889589" cy="276858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B1ECA1-094F-FE4A-8AFE-E48C67064BBB}"/>
              </a:ext>
            </a:extLst>
          </p:cNvPr>
          <p:cNvSpPr/>
          <p:nvPr/>
        </p:nvSpPr>
        <p:spPr>
          <a:xfrm>
            <a:off x="698339" y="8686358"/>
            <a:ext cx="889589" cy="276858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06373" y="8686217"/>
                <a:ext cx="38606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noProof="0" dirty="0"/>
                  <a:t> =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373" y="8686217"/>
                <a:ext cx="386068" cy="276999"/>
              </a:xfrm>
              <a:prstGeom prst="rect">
                <a:avLst/>
              </a:prstGeom>
              <a:blipFill>
                <a:blip r:embed="rId5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3586493" y="8325188"/>
                <a:ext cx="3833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noProof="0" dirty="0"/>
                  <a:t> =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6493" y="8325188"/>
                <a:ext cx="383310" cy="276999"/>
              </a:xfrm>
              <a:prstGeom prst="rect">
                <a:avLst/>
              </a:prstGeom>
              <a:blipFill>
                <a:blip r:embed="rId6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16B1ECA1-094F-FE4A-8AFE-E48C67064BBB}"/>
              </a:ext>
            </a:extLst>
          </p:cNvPr>
          <p:cNvSpPr/>
          <p:nvPr/>
        </p:nvSpPr>
        <p:spPr>
          <a:xfrm>
            <a:off x="3978459" y="8315401"/>
            <a:ext cx="889589" cy="276858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6B1ECA1-094F-FE4A-8AFE-E48C67064BBB}"/>
              </a:ext>
            </a:extLst>
          </p:cNvPr>
          <p:cNvSpPr/>
          <p:nvPr/>
        </p:nvSpPr>
        <p:spPr>
          <a:xfrm>
            <a:off x="3978459" y="8689179"/>
            <a:ext cx="889589" cy="276858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586493" y="8689038"/>
                <a:ext cx="38606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noProof="0" dirty="0"/>
                  <a:t> =</a:t>
                </a: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6493" y="8689038"/>
                <a:ext cx="386068" cy="276999"/>
              </a:xfrm>
              <a:prstGeom prst="rect">
                <a:avLst/>
              </a:prstGeom>
              <a:blipFill>
                <a:blip r:embed="rId7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8"/>
          <a:srcRect l="64258" t="11379"/>
          <a:stretch/>
        </p:blipFill>
        <p:spPr>
          <a:xfrm>
            <a:off x="209271" y="807804"/>
            <a:ext cx="2283503" cy="29006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113812" y="7093777"/>
                <a:ext cx="3265813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/>
                  <a:t>b) Use the graphs to solve the simultaneous equations </a:t>
                </a:r>
              </a:p>
              <a:p>
                <a:r>
                  <a:rPr lang="en-GB" sz="1200" b="0" noProof="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GB" sz="1200" b="0" noProof="0" dirty="0"/>
              </a:p>
              <a:p>
                <a:r>
                  <a:rPr lang="en-GB" sz="1200" b="0" noProof="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12" y="7093777"/>
                <a:ext cx="3265813" cy="830997"/>
              </a:xfrm>
              <a:prstGeom prst="rect">
                <a:avLst/>
              </a:prstGeom>
              <a:blipFill>
                <a:blip r:embed="rId9"/>
                <a:stretch>
                  <a:fillRect t="-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Table 3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422530"/>
                  </p:ext>
                </p:extLst>
              </p:nvPr>
            </p:nvGraphicFramePr>
            <p:xfrm>
              <a:off x="314565" y="4118430"/>
              <a:ext cx="2882280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0380">
                      <a:extLst>
                        <a:ext uri="{9D8B030D-6E8A-4147-A177-3AD203B41FA5}">
                          <a16:colId xmlns:a16="http://schemas.microsoft.com/office/drawing/2014/main" val="736508480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1273869670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852807214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3747578519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1554752747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28171101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sz="1200" b="1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76286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GB" sz="1200" b="1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74251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Table 3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422530"/>
                  </p:ext>
                </p:extLst>
              </p:nvPr>
            </p:nvGraphicFramePr>
            <p:xfrm>
              <a:off x="314565" y="4118430"/>
              <a:ext cx="2882280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0380">
                      <a:extLst>
                        <a:ext uri="{9D8B030D-6E8A-4147-A177-3AD203B41FA5}">
                          <a16:colId xmlns:a16="http://schemas.microsoft.com/office/drawing/2014/main" val="736508480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1273869670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852807214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3747578519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1554752747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28171101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266" t="-1613" r="-502532" b="-1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76286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266" t="-103279" r="-502532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742513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5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58312" y="1003829"/>
            <a:ext cx="2538484" cy="25034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3554026" y="307793"/>
                <a:ext cx="326581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/>
                  <a:t>The straight line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sz="1200" noProof="0" dirty="0"/>
                  <a:t> has been drawn on the grid</a:t>
                </a: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026" y="307793"/>
                <a:ext cx="3265813" cy="461665"/>
              </a:xfrm>
              <a:prstGeom prst="rect">
                <a:avLst/>
              </a:prstGeom>
              <a:blipFill>
                <a:blip r:embed="rId12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3522464" y="3757958"/>
                <a:ext cx="3265813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/>
                  <a:t>a) On the same grid, draw the graph of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464" y="3757958"/>
                <a:ext cx="3265813" cy="276999"/>
              </a:xfrm>
              <a:prstGeom prst="rect">
                <a:avLst/>
              </a:prstGeom>
              <a:blipFill>
                <a:blip r:embed="rId13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6" name="Table 3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2016065"/>
                  </p:ext>
                </p:extLst>
              </p:nvPr>
            </p:nvGraphicFramePr>
            <p:xfrm>
              <a:off x="3723966" y="4131877"/>
              <a:ext cx="2882280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0380">
                      <a:extLst>
                        <a:ext uri="{9D8B030D-6E8A-4147-A177-3AD203B41FA5}">
                          <a16:colId xmlns:a16="http://schemas.microsoft.com/office/drawing/2014/main" val="736508480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1273869670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852807214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3747578519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1554752747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28171101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sz="1200" b="1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76286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GB" sz="1200" b="1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74251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6" name="Table 3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2016065"/>
                  </p:ext>
                </p:extLst>
              </p:nvPr>
            </p:nvGraphicFramePr>
            <p:xfrm>
              <a:off x="3723966" y="4131877"/>
              <a:ext cx="2882280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0380">
                      <a:extLst>
                        <a:ext uri="{9D8B030D-6E8A-4147-A177-3AD203B41FA5}">
                          <a16:colId xmlns:a16="http://schemas.microsoft.com/office/drawing/2014/main" val="736508480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1273869670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852807214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3747578519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1554752747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28171101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4"/>
                          <a:stretch>
                            <a:fillRect l="-1266" t="-1613" r="-502532" b="-1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76286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4"/>
                          <a:stretch>
                            <a:fillRect l="-1266" t="-103279" r="-502532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742513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3469726" y="7019441"/>
                <a:ext cx="3265813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/>
                  <a:t>b) Use the graphs to solve the simultaneous equations </a:t>
                </a:r>
              </a:p>
              <a:p>
                <a:r>
                  <a:rPr lang="en-GB" sz="1200" b="0" noProof="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GB" sz="1200" b="0" noProof="0" dirty="0"/>
              </a:p>
              <a:p>
                <a:r>
                  <a:rPr lang="en-GB" sz="1200" b="0" noProof="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9726" y="7019441"/>
                <a:ext cx="3265813" cy="83099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2769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213665" y="9378597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noProof="0" smtClean="0"/>
              <a:t>6</a:t>
            </a:fld>
            <a:endParaRPr lang="en-GB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D6CC47-5E02-5040-8389-C36B03A95D91}"/>
              </a:ext>
            </a:extLst>
          </p:cNvPr>
          <p:cNvSpPr/>
          <p:nvPr/>
        </p:nvSpPr>
        <p:spPr>
          <a:xfrm>
            <a:off x="122801" y="270388"/>
            <a:ext cx="3265813" cy="9275393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12342-8EE7-5749-AAB3-11321C962F00}"/>
              </a:ext>
            </a:extLst>
          </p:cNvPr>
          <p:cNvSpPr txBox="1"/>
          <p:nvPr/>
        </p:nvSpPr>
        <p:spPr>
          <a:xfrm>
            <a:off x="29497" y="0"/>
            <a:ext cx="1396536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100" b="1" i="1" noProof="0" dirty="0">
                <a:solidFill>
                  <a:srgbClr val="00B050"/>
                </a:solidFill>
              </a:rPr>
              <a:t>Example 7 - You do…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9E1DD0-E9EF-6A40-A2E8-902404649FEC}"/>
              </a:ext>
            </a:extLst>
          </p:cNvPr>
          <p:cNvSpPr/>
          <p:nvPr/>
        </p:nvSpPr>
        <p:spPr>
          <a:xfrm>
            <a:off x="3490902" y="278427"/>
            <a:ext cx="3265813" cy="9268786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114F50-871E-7548-B273-2025562F7625}"/>
              </a:ext>
            </a:extLst>
          </p:cNvPr>
          <p:cNvSpPr txBox="1"/>
          <p:nvPr/>
        </p:nvSpPr>
        <p:spPr>
          <a:xfrm>
            <a:off x="3409790" y="11443"/>
            <a:ext cx="1423788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100" b="1" i="1" noProof="0" dirty="0">
                <a:solidFill>
                  <a:srgbClr val="00B050"/>
                </a:solidFill>
              </a:rPr>
              <a:t>Example 8 – You do…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122801" y="314618"/>
                <a:ext cx="326581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/>
                  <a:t>The straight line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noProof="0" dirty="0"/>
                  <a:t> has been drawn on the grid.</a:t>
                </a: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801" y="314618"/>
                <a:ext cx="3265813" cy="461665"/>
              </a:xfrm>
              <a:prstGeom prst="rect">
                <a:avLst/>
              </a:prstGeom>
              <a:blipFill>
                <a:blip r:embed="rId2"/>
                <a:stretch>
                  <a:fillRect t="-1333"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122801" y="4110799"/>
                <a:ext cx="326581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28600" indent="-228600" algn="ctr">
                  <a:buAutoNum type="alphaLcParenR"/>
                </a:pPr>
                <a:r>
                  <a:rPr lang="en-GB" sz="1200" noProof="0" dirty="0"/>
                  <a:t>On the same grid, draw the graph of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801" y="4110799"/>
                <a:ext cx="3265813" cy="461665"/>
              </a:xfrm>
              <a:prstGeom prst="rect">
                <a:avLst/>
              </a:prstGeom>
              <a:blipFill>
                <a:blip r:embed="rId3"/>
                <a:stretch>
                  <a:fillRect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306373" y="8322367"/>
                <a:ext cx="3833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noProof="0" dirty="0"/>
                  <a:t> =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373" y="8322367"/>
                <a:ext cx="383310" cy="276999"/>
              </a:xfrm>
              <a:prstGeom prst="rect">
                <a:avLst/>
              </a:prstGeom>
              <a:blipFill>
                <a:blip r:embed="rId4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16B1ECA1-094F-FE4A-8AFE-E48C67064BBB}"/>
              </a:ext>
            </a:extLst>
          </p:cNvPr>
          <p:cNvSpPr/>
          <p:nvPr/>
        </p:nvSpPr>
        <p:spPr>
          <a:xfrm>
            <a:off x="698339" y="8312580"/>
            <a:ext cx="889589" cy="276858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6B1ECA1-094F-FE4A-8AFE-E48C67064BBB}"/>
              </a:ext>
            </a:extLst>
          </p:cNvPr>
          <p:cNvSpPr/>
          <p:nvPr/>
        </p:nvSpPr>
        <p:spPr>
          <a:xfrm>
            <a:off x="698339" y="8686358"/>
            <a:ext cx="889589" cy="276858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306373" y="8686217"/>
                <a:ext cx="38606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noProof="0" dirty="0"/>
                  <a:t> =</a:t>
                </a: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373" y="8686217"/>
                <a:ext cx="386068" cy="276999"/>
              </a:xfrm>
              <a:prstGeom prst="rect">
                <a:avLst/>
              </a:prstGeom>
              <a:blipFill>
                <a:blip r:embed="rId5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3586493" y="8325188"/>
                <a:ext cx="3833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noProof="0" dirty="0"/>
                  <a:t> =</a:t>
                </a: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6493" y="8325188"/>
                <a:ext cx="383310" cy="276999"/>
              </a:xfrm>
              <a:prstGeom prst="rect">
                <a:avLst/>
              </a:prstGeom>
              <a:blipFill>
                <a:blip r:embed="rId6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>
            <a:extLst>
              <a:ext uri="{FF2B5EF4-FFF2-40B4-BE49-F238E27FC236}">
                <a16:creationId xmlns:a16="http://schemas.microsoft.com/office/drawing/2014/main" id="{16B1ECA1-094F-FE4A-8AFE-E48C67064BBB}"/>
              </a:ext>
            </a:extLst>
          </p:cNvPr>
          <p:cNvSpPr/>
          <p:nvPr/>
        </p:nvSpPr>
        <p:spPr>
          <a:xfrm>
            <a:off x="3978459" y="8315401"/>
            <a:ext cx="889589" cy="276858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6B1ECA1-094F-FE4A-8AFE-E48C67064BBB}"/>
              </a:ext>
            </a:extLst>
          </p:cNvPr>
          <p:cNvSpPr/>
          <p:nvPr/>
        </p:nvSpPr>
        <p:spPr>
          <a:xfrm>
            <a:off x="3978459" y="8689179"/>
            <a:ext cx="889589" cy="276858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3586493" y="8689038"/>
                <a:ext cx="38606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noProof="0" dirty="0"/>
                  <a:t> =</a:t>
                </a: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6493" y="8689038"/>
                <a:ext cx="386068" cy="276999"/>
              </a:xfrm>
              <a:prstGeom prst="rect">
                <a:avLst/>
              </a:prstGeom>
              <a:blipFill>
                <a:blip r:embed="rId7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113812" y="7093777"/>
                <a:ext cx="3265813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/>
                  <a:t>b) Use the graphs to solve the simultaneous equations </a:t>
                </a:r>
              </a:p>
              <a:p>
                <a:r>
                  <a:rPr lang="en-GB" sz="1200" b="0" noProof="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sz="1200" b="0" noProof="0" dirty="0"/>
              </a:p>
              <a:p>
                <a:r>
                  <a:rPr lang="en-GB" sz="1200" b="0" noProof="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12" y="7093777"/>
                <a:ext cx="3265813" cy="830997"/>
              </a:xfrm>
              <a:prstGeom prst="rect">
                <a:avLst/>
              </a:prstGeom>
              <a:blipFill>
                <a:blip r:embed="rId8"/>
                <a:stretch>
                  <a:fillRect t="-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0" name="Table 3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0426858"/>
                  </p:ext>
                </p:extLst>
              </p:nvPr>
            </p:nvGraphicFramePr>
            <p:xfrm>
              <a:off x="314566" y="4659315"/>
              <a:ext cx="2882280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0380">
                      <a:extLst>
                        <a:ext uri="{9D8B030D-6E8A-4147-A177-3AD203B41FA5}">
                          <a16:colId xmlns:a16="http://schemas.microsoft.com/office/drawing/2014/main" val="736508480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1273869670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852807214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3747578519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1554752747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28171101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sz="1200" b="1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76286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GB" sz="1200" b="1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74251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0" name="Table 3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0426858"/>
                  </p:ext>
                </p:extLst>
              </p:nvPr>
            </p:nvGraphicFramePr>
            <p:xfrm>
              <a:off x="314566" y="4659315"/>
              <a:ext cx="2882280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0380">
                      <a:extLst>
                        <a:ext uri="{9D8B030D-6E8A-4147-A177-3AD203B41FA5}">
                          <a16:colId xmlns:a16="http://schemas.microsoft.com/office/drawing/2014/main" val="736508480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1273869670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852807214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3747578519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1554752747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28171101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1266" t="-1639" r="-502532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76286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1266" t="-101639" r="-502532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742513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/>
              <p:cNvSpPr/>
              <p:nvPr/>
            </p:nvSpPr>
            <p:spPr>
              <a:xfrm>
                <a:off x="3554026" y="307793"/>
                <a:ext cx="326581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/>
                  <a:t>The straight line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en-GB" sz="1200" noProof="0" dirty="0"/>
                  <a:t> has been drawn on the grid</a:t>
                </a:r>
              </a:p>
            </p:txBody>
          </p:sp>
        </mc:Choice>
        <mc:Fallback xmlns=""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026" y="307793"/>
                <a:ext cx="3265813" cy="461665"/>
              </a:xfrm>
              <a:prstGeom prst="rect">
                <a:avLst/>
              </a:prstGeom>
              <a:blipFill>
                <a:blip r:embed="rId10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3512078" y="3832291"/>
                <a:ext cx="326581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28600" indent="-228600" algn="ctr">
                  <a:buAutoNum type="alphaLcParenR"/>
                </a:pPr>
                <a:r>
                  <a:rPr lang="en-GB" sz="1200" noProof="0" dirty="0"/>
                  <a:t>On the same grid, draw the graph of</a:t>
                </a:r>
              </a:p>
              <a:p>
                <a:pPr algn="ctr"/>
                <a:r>
                  <a:rPr lang="en-GB" sz="1200" noProof="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2078" y="3832291"/>
                <a:ext cx="3265813" cy="461665"/>
              </a:xfrm>
              <a:prstGeom prst="rect">
                <a:avLst/>
              </a:prstGeom>
              <a:blipFill>
                <a:blip r:embed="rId11"/>
                <a:stretch>
                  <a:fillRect t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4" name="Table 4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6265965"/>
                  </p:ext>
                </p:extLst>
              </p:nvPr>
            </p:nvGraphicFramePr>
            <p:xfrm>
              <a:off x="3714230" y="4288475"/>
              <a:ext cx="2882280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0380">
                      <a:extLst>
                        <a:ext uri="{9D8B030D-6E8A-4147-A177-3AD203B41FA5}">
                          <a16:colId xmlns:a16="http://schemas.microsoft.com/office/drawing/2014/main" val="736508480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1273869670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852807214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3747578519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1554752747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28171101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sz="1200" b="1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76286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GB" sz="1200" b="1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74251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4" name="Table 4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6265965"/>
                  </p:ext>
                </p:extLst>
              </p:nvPr>
            </p:nvGraphicFramePr>
            <p:xfrm>
              <a:off x="3714230" y="4288475"/>
              <a:ext cx="2882280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0380">
                      <a:extLst>
                        <a:ext uri="{9D8B030D-6E8A-4147-A177-3AD203B41FA5}">
                          <a16:colId xmlns:a16="http://schemas.microsoft.com/office/drawing/2014/main" val="736508480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1273869670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852807214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3747578519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1554752747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28171101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2"/>
                          <a:stretch>
                            <a:fillRect l="-1266" t="-1613" r="-502532" b="-1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76286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2"/>
                          <a:stretch>
                            <a:fillRect l="-1266" t="-103279" r="-502532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742513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3469726" y="7019441"/>
                <a:ext cx="3265813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/>
                  <a:t>b) Use the graphs to solve the simultaneous equations </a:t>
                </a:r>
              </a:p>
              <a:p>
                <a:r>
                  <a:rPr lang="en-GB" sz="1200" b="0" noProof="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endParaRPr lang="en-GB" sz="1200" b="0" noProof="0" dirty="0"/>
              </a:p>
              <a:p>
                <a:r>
                  <a:rPr lang="en-GB" sz="1200" b="0" noProof="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9726" y="7019441"/>
                <a:ext cx="3265813" cy="83099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00794" y="809588"/>
            <a:ext cx="2446027" cy="289179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9683" y="718515"/>
            <a:ext cx="2219379" cy="3250922"/>
          </a:xfrm>
          <a:prstGeom prst="rect">
            <a:avLst/>
          </a:prstGeom>
        </p:spPr>
      </p:pic>
      <p:cxnSp>
        <p:nvCxnSpPr>
          <p:cNvPr id="26" name="Straight Connector 25"/>
          <p:cNvCxnSpPr/>
          <p:nvPr/>
        </p:nvCxnSpPr>
        <p:spPr>
          <a:xfrm flipH="1">
            <a:off x="1127760" y="1351280"/>
            <a:ext cx="1310640" cy="27595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0446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D5C093-3020-E24D-AB17-0B12D2769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01577" y="9590546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noProof="0" smtClean="0"/>
              <a:t>7</a:t>
            </a:fld>
            <a:endParaRPr lang="en-GB" noProof="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7DE5049-0584-4F4D-82D4-439DFF52C686}"/>
              </a:ext>
            </a:extLst>
          </p:cNvPr>
          <p:cNvSpPr txBox="1"/>
          <p:nvPr/>
        </p:nvSpPr>
        <p:spPr>
          <a:xfrm>
            <a:off x="4088082" y="9492561"/>
            <a:ext cx="15709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noProof="0" dirty="0"/>
              <a:t>Intersection point: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F736B77-4F67-BC46-A05B-715CED30EA6B}"/>
              </a:ext>
            </a:extLst>
          </p:cNvPr>
          <p:cNvSpPr/>
          <p:nvPr/>
        </p:nvSpPr>
        <p:spPr>
          <a:xfrm>
            <a:off x="5847464" y="9462131"/>
            <a:ext cx="844363" cy="3686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,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EC542DB-5F2D-3A43-A9B6-2997C0D181EF}"/>
              </a:ext>
            </a:extLst>
          </p:cNvPr>
          <p:cNvSpPr txBox="1"/>
          <p:nvPr/>
        </p:nvSpPr>
        <p:spPr>
          <a:xfrm>
            <a:off x="4245753" y="4425436"/>
            <a:ext cx="1641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noProof="0" dirty="0"/>
              <a:t>Intersection points: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165A034-344A-9D4C-9239-C3DBEA587F9F}"/>
              </a:ext>
            </a:extLst>
          </p:cNvPr>
          <p:cNvSpPr/>
          <p:nvPr/>
        </p:nvSpPr>
        <p:spPr>
          <a:xfrm>
            <a:off x="5847465" y="4395007"/>
            <a:ext cx="844363" cy="3686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,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10CDB0-5D39-7448-ABDD-102EC30FED6B}"/>
              </a:ext>
            </a:extLst>
          </p:cNvPr>
          <p:cNvSpPr txBox="1"/>
          <p:nvPr/>
        </p:nvSpPr>
        <p:spPr>
          <a:xfrm>
            <a:off x="1730476" y="10351"/>
            <a:ext cx="42206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/>
              <a:t> Solve the simultaneous equations using the graphical method: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-24517" y="5037500"/>
                <a:ext cx="3860800" cy="3785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/>
                  <a:t>3a) The straight line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sz="1200" noProof="0" dirty="0"/>
                  <a:t> has been drawn on the grid.</a:t>
                </a:r>
              </a:p>
              <a:p>
                <a:pPr algn="ctr"/>
                <a:endParaRPr lang="en-GB" sz="1200" noProof="0" dirty="0"/>
              </a:p>
              <a:p>
                <a:pPr algn="ctr"/>
                <a:r>
                  <a:rPr lang="en-GB" sz="1200" noProof="0" dirty="0"/>
                  <a:t>On the same grid draw the graph of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sz="1200" noProof="0" dirty="0"/>
                  <a:t> </a:t>
                </a:r>
              </a:p>
              <a:p>
                <a:pPr algn="ctr"/>
                <a:endParaRPr lang="en-GB" sz="1200" noProof="0" dirty="0"/>
              </a:p>
              <a:p>
                <a:pPr algn="ctr"/>
                <a:endParaRPr lang="en-GB" sz="1200" noProof="0" dirty="0"/>
              </a:p>
              <a:p>
                <a:pPr algn="ctr"/>
                <a:endParaRPr lang="en-GB" sz="1200" noProof="0" dirty="0"/>
              </a:p>
              <a:p>
                <a:pPr algn="ctr"/>
                <a:endParaRPr lang="en-GB" sz="1200" noProof="0" dirty="0"/>
              </a:p>
              <a:p>
                <a:pPr algn="ctr"/>
                <a:endParaRPr lang="en-GB" sz="1200" noProof="0" dirty="0"/>
              </a:p>
              <a:p>
                <a:pPr algn="ctr"/>
                <a:endParaRPr lang="en-GB" sz="1200" noProof="0" dirty="0"/>
              </a:p>
              <a:p>
                <a:pPr algn="ctr"/>
                <a:endParaRPr lang="en-GB" sz="1200" noProof="0" dirty="0"/>
              </a:p>
              <a:p>
                <a:pPr algn="ctr"/>
                <a:endParaRPr lang="en-GB" sz="1200" noProof="0" dirty="0"/>
              </a:p>
              <a:p>
                <a:pPr algn="ctr"/>
                <a:endParaRPr lang="en-GB" sz="1200" noProof="0" dirty="0"/>
              </a:p>
              <a:p>
                <a:pPr algn="ctr"/>
                <a:endParaRPr lang="en-GB" sz="1200" noProof="0" dirty="0"/>
              </a:p>
              <a:p>
                <a:pPr algn="ctr"/>
                <a:endParaRPr lang="en-GB" sz="1200" noProof="0" dirty="0"/>
              </a:p>
              <a:p>
                <a:pPr algn="ctr"/>
                <a:endParaRPr lang="en-GB" sz="1200" noProof="0" dirty="0"/>
              </a:p>
              <a:p>
                <a:pPr algn="ctr"/>
                <a:r>
                  <a:rPr lang="en-GB" sz="1200" noProof="0" dirty="0"/>
                  <a:t>b) use the graph to find the solutions to the simultaneous equations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−1 </m:t>
                    </m:r>
                  </m:oMath>
                </a14:m>
                <a:r>
                  <a:rPr lang="en-GB" sz="1200" noProof="0" dirty="0"/>
                  <a:t>and</a:t>
                </a:r>
              </a:p>
              <a:p>
                <a:pPr algn="ctr"/>
                <a:r>
                  <a:rPr lang="en-GB" sz="1200" noProof="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517" y="5037500"/>
                <a:ext cx="3860800" cy="37856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840" y="5526364"/>
            <a:ext cx="2767554" cy="379913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5" name="Table 4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6307344"/>
                  </p:ext>
                </p:extLst>
              </p:nvPr>
            </p:nvGraphicFramePr>
            <p:xfrm>
              <a:off x="517721" y="6109610"/>
              <a:ext cx="2882280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0380">
                      <a:extLst>
                        <a:ext uri="{9D8B030D-6E8A-4147-A177-3AD203B41FA5}">
                          <a16:colId xmlns:a16="http://schemas.microsoft.com/office/drawing/2014/main" val="736508480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1273869670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852807214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3747578519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1554752747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28171101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sz="1200" b="1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76286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GB" sz="1200" b="1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74251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5" name="Table 4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6307344"/>
                  </p:ext>
                </p:extLst>
              </p:nvPr>
            </p:nvGraphicFramePr>
            <p:xfrm>
              <a:off x="517721" y="6109610"/>
              <a:ext cx="2882280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0380">
                      <a:extLst>
                        <a:ext uri="{9D8B030D-6E8A-4147-A177-3AD203B41FA5}">
                          <a16:colId xmlns:a16="http://schemas.microsoft.com/office/drawing/2014/main" val="736508480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1273869670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852807214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3747578519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1554752747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28171101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66" t="-1639" r="-502532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76286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66" t="-101639" r="-502532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742513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2563241" y="8684653"/>
                <a:ext cx="3833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noProof="0" dirty="0"/>
                  <a:t> =</a:t>
                </a: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241" y="8684653"/>
                <a:ext cx="383310" cy="276999"/>
              </a:xfrm>
              <a:prstGeom prst="rect">
                <a:avLst/>
              </a:prstGeom>
              <a:blipFill>
                <a:blip r:embed="rId5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>
            <a:extLst>
              <a:ext uri="{FF2B5EF4-FFF2-40B4-BE49-F238E27FC236}">
                <a16:creationId xmlns:a16="http://schemas.microsoft.com/office/drawing/2014/main" id="{16B1ECA1-094F-FE4A-8AFE-E48C67064BBB}"/>
              </a:ext>
            </a:extLst>
          </p:cNvPr>
          <p:cNvSpPr/>
          <p:nvPr/>
        </p:nvSpPr>
        <p:spPr>
          <a:xfrm>
            <a:off x="2955207" y="8674866"/>
            <a:ext cx="889589" cy="276858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6B1ECA1-094F-FE4A-8AFE-E48C67064BBB}"/>
              </a:ext>
            </a:extLst>
          </p:cNvPr>
          <p:cNvSpPr/>
          <p:nvPr/>
        </p:nvSpPr>
        <p:spPr>
          <a:xfrm>
            <a:off x="2955207" y="9048644"/>
            <a:ext cx="889589" cy="276858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2563241" y="9048503"/>
                <a:ext cx="38606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noProof="0" dirty="0"/>
                  <a:t> =</a:t>
                </a: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241" y="9048503"/>
                <a:ext cx="386068" cy="276999"/>
              </a:xfrm>
              <a:prstGeom prst="rect">
                <a:avLst/>
              </a:prstGeom>
              <a:blipFill>
                <a:blip r:embed="rId6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-24517" y="383039"/>
                <a:ext cx="3860800" cy="34163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200" noProof="0" dirty="0"/>
                  <a:t>2a) The straight line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noProof="0" dirty="0"/>
                  <a:t> has been drawn on the grid.</a:t>
                </a:r>
              </a:p>
              <a:p>
                <a:pPr algn="ctr"/>
                <a:endParaRPr lang="en-GB" sz="1200" noProof="0" dirty="0"/>
              </a:p>
              <a:p>
                <a:pPr algn="ctr"/>
                <a:r>
                  <a:rPr lang="en-GB" sz="1200" noProof="0" dirty="0"/>
                  <a:t>On the same grid draw the graph of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sz="1200" noProof="0" dirty="0"/>
                  <a:t> </a:t>
                </a:r>
              </a:p>
              <a:p>
                <a:pPr algn="ctr"/>
                <a:endParaRPr lang="en-GB" sz="1200" noProof="0" dirty="0"/>
              </a:p>
              <a:p>
                <a:pPr algn="ctr"/>
                <a:endParaRPr lang="en-GB" sz="1200" noProof="0" dirty="0"/>
              </a:p>
              <a:p>
                <a:pPr algn="ctr"/>
                <a:endParaRPr lang="en-GB" sz="1200" noProof="0" dirty="0"/>
              </a:p>
              <a:p>
                <a:pPr algn="ctr"/>
                <a:endParaRPr lang="en-GB" sz="1200" noProof="0" dirty="0"/>
              </a:p>
              <a:p>
                <a:pPr algn="ctr"/>
                <a:endParaRPr lang="en-GB" sz="1200" noProof="0" dirty="0"/>
              </a:p>
              <a:p>
                <a:pPr algn="ctr"/>
                <a:endParaRPr lang="en-GB" sz="1200" noProof="0" dirty="0"/>
              </a:p>
              <a:p>
                <a:pPr algn="ctr"/>
                <a:endParaRPr lang="en-GB" sz="1200" noProof="0" dirty="0"/>
              </a:p>
              <a:p>
                <a:pPr algn="ctr"/>
                <a:endParaRPr lang="en-GB" sz="1200" noProof="0" dirty="0"/>
              </a:p>
              <a:p>
                <a:pPr algn="ctr"/>
                <a:endParaRPr lang="en-GB" sz="1200" noProof="0" dirty="0"/>
              </a:p>
              <a:p>
                <a:pPr algn="ctr"/>
                <a:endParaRPr lang="en-GB" sz="1200" noProof="0" dirty="0"/>
              </a:p>
              <a:p>
                <a:pPr algn="ctr"/>
                <a:endParaRPr lang="en-GB" sz="1200" noProof="0" dirty="0"/>
              </a:p>
              <a:p>
                <a:pPr algn="ctr"/>
                <a:r>
                  <a:rPr lang="en-GB" sz="1200" noProof="0" dirty="0"/>
                  <a:t>b) use the graph to find the solutions to the simultaneous equations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200" noProof="0" dirty="0"/>
                  <a:t>and</a:t>
                </a:r>
              </a:p>
              <a:p>
                <a:pPr algn="ctr"/>
                <a:r>
                  <a:rPr lang="en-GB" sz="1200" noProof="0" dirty="0"/>
                  <a:t>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517" y="383039"/>
                <a:ext cx="3860800" cy="3416320"/>
              </a:xfrm>
              <a:prstGeom prst="rect">
                <a:avLst/>
              </a:prstGeom>
              <a:blipFill>
                <a:blip r:embed="rId7"/>
                <a:stretch>
                  <a:fillRect t="-1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2501826" y="4127936"/>
                <a:ext cx="38331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noProof="0" dirty="0"/>
                  <a:t> =</a:t>
                </a:r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826" y="4127936"/>
                <a:ext cx="383310" cy="276999"/>
              </a:xfrm>
              <a:prstGeom prst="rect">
                <a:avLst/>
              </a:prstGeom>
              <a:blipFill>
                <a:blip r:embed="rId8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ectangle 55">
            <a:extLst>
              <a:ext uri="{FF2B5EF4-FFF2-40B4-BE49-F238E27FC236}">
                <a16:creationId xmlns:a16="http://schemas.microsoft.com/office/drawing/2014/main" id="{16B1ECA1-094F-FE4A-8AFE-E48C67064BBB}"/>
              </a:ext>
            </a:extLst>
          </p:cNvPr>
          <p:cNvSpPr/>
          <p:nvPr/>
        </p:nvSpPr>
        <p:spPr>
          <a:xfrm>
            <a:off x="2893792" y="4118149"/>
            <a:ext cx="889589" cy="276858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6B1ECA1-094F-FE4A-8AFE-E48C67064BBB}"/>
              </a:ext>
            </a:extLst>
          </p:cNvPr>
          <p:cNvSpPr/>
          <p:nvPr/>
        </p:nvSpPr>
        <p:spPr>
          <a:xfrm>
            <a:off x="2893792" y="4491927"/>
            <a:ext cx="889589" cy="276858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2501826" y="4491786"/>
                <a:ext cx="38606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noProof="0" dirty="0"/>
                  <a:t> =</a:t>
                </a:r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826" y="4491786"/>
                <a:ext cx="386068" cy="276999"/>
              </a:xfrm>
              <a:prstGeom prst="rect">
                <a:avLst/>
              </a:prstGeom>
              <a:blipFill>
                <a:blip r:embed="rId9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31868" y="476694"/>
            <a:ext cx="2759960" cy="354393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9" name="Table 5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78225179"/>
                  </p:ext>
                </p:extLst>
              </p:nvPr>
            </p:nvGraphicFramePr>
            <p:xfrm>
              <a:off x="403328" y="1506982"/>
              <a:ext cx="2882280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0380">
                      <a:extLst>
                        <a:ext uri="{9D8B030D-6E8A-4147-A177-3AD203B41FA5}">
                          <a16:colId xmlns:a16="http://schemas.microsoft.com/office/drawing/2014/main" val="736508480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1273869670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852807214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3747578519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1554752747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28171101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sz="1200" b="1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76286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1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GB" sz="1200" b="1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74251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9" name="Table 5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78225179"/>
                  </p:ext>
                </p:extLst>
              </p:nvPr>
            </p:nvGraphicFramePr>
            <p:xfrm>
              <a:off x="403328" y="1506982"/>
              <a:ext cx="2882280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0380">
                      <a:extLst>
                        <a:ext uri="{9D8B030D-6E8A-4147-A177-3AD203B41FA5}">
                          <a16:colId xmlns:a16="http://schemas.microsoft.com/office/drawing/2014/main" val="736508480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1273869670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852807214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3747578519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1554752747"/>
                        </a:ext>
                      </a:extLst>
                    </a:gridCol>
                    <a:gridCol w="480380">
                      <a:extLst>
                        <a:ext uri="{9D8B030D-6E8A-4147-A177-3AD203B41FA5}">
                          <a16:colId xmlns:a16="http://schemas.microsoft.com/office/drawing/2014/main" val="28171101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266" t="-1639" r="-502532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-2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00" b="0" noProof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76286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266" t="-101639" r="-502532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1200" b="0" noProof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742513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3" name="TextBox 22"/>
          <p:cNvSpPr txBox="1"/>
          <p:nvPr/>
        </p:nvSpPr>
        <p:spPr>
          <a:xfrm>
            <a:off x="0" y="10352"/>
            <a:ext cx="1732782" cy="276999"/>
          </a:xfrm>
          <a:prstGeom prst="rect">
            <a:avLst/>
          </a:prstGeom>
          <a:solidFill>
            <a:srgbClr val="0070C0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200" noProof="0" dirty="0">
                <a:solidFill>
                  <a:schemeClr val="bg1"/>
                </a:solidFill>
              </a:rPr>
              <a:t>INDEPENDENT PRACTICE</a:t>
            </a:r>
          </a:p>
        </p:txBody>
      </p:sp>
    </p:spTree>
    <p:extLst>
      <p:ext uri="{BB962C8B-B14F-4D97-AF65-F5344CB8AC3E}">
        <p14:creationId xmlns:p14="http://schemas.microsoft.com/office/powerpoint/2010/main" val="2556719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47FDB3-F1CA-1048-A732-E957245FF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9292" y="9579067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noProof="0" smtClean="0"/>
              <a:t>8</a:t>
            </a:fld>
            <a:endParaRPr lang="en-GB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22C3A5-83FD-F348-A13A-41990BFFB455}"/>
              </a:ext>
            </a:extLst>
          </p:cNvPr>
          <p:cNvSpPr/>
          <p:nvPr/>
        </p:nvSpPr>
        <p:spPr>
          <a:xfrm>
            <a:off x="105113" y="335811"/>
            <a:ext cx="6647773" cy="15283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ysClr val="windowText" lastClr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CABFFF-8CCA-3F46-BB1D-2812F1283950}"/>
              </a:ext>
            </a:extLst>
          </p:cNvPr>
          <p:cNvSpPr txBox="1"/>
          <p:nvPr/>
        </p:nvSpPr>
        <p:spPr>
          <a:xfrm>
            <a:off x="128776" y="614196"/>
            <a:ext cx="1181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noProof="0" dirty="0"/>
              <a:t>Objectives: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4C4B23-45C4-754A-8432-EA2D2C31880A}"/>
              </a:ext>
            </a:extLst>
          </p:cNvPr>
          <p:cNvSpPr txBox="1"/>
          <p:nvPr/>
        </p:nvSpPr>
        <p:spPr>
          <a:xfrm>
            <a:off x="175119" y="890884"/>
            <a:ext cx="47557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  <a:defRPr/>
            </a:pPr>
            <a:r>
              <a:rPr lang="en-GB" sz="1200" noProof="0" dirty="0"/>
              <a:t>To be able to eliminate variables by adding or subtracting equations. 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GB" sz="1200" noProof="0" dirty="0"/>
              <a:t>To solve an equation with two variables by substituting a known variable. 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GB" sz="1200" noProof="0" dirty="0"/>
              <a:t>Solve simultaneous equations using the elimination method</a:t>
            </a:r>
          </a:p>
          <a:p>
            <a:pPr>
              <a:defRPr/>
            </a:pPr>
            <a:endParaRPr lang="en-GB" sz="12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074EF1-46DA-6944-95B7-7A2E909591E4}"/>
              </a:ext>
            </a:extLst>
          </p:cNvPr>
          <p:cNvSpPr txBox="1"/>
          <p:nvPr/>
        </p:nvSpPr>
        <p:spPr>
          <a:xfrm>
            <a:off x="208273" y="367823"/>
            <a:ext cx="6411256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b="1" noProof="0" dirty="0"/>
              <a:t>LEARNING OUTCOME: To recap solving simultaneous equations using the elimination method</a:t>
            </a:r>
            <a:endParaRPr lang="en-GB" sz="1200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4D762C-2D73-394D-9E02-268791A669F2}"/>
              </a:ext>
            </a:extLst>
          </p:cNvPr>
          <p:cNvSpPr txBox="1"/>
          <p:nvPr/>
        </p:nvSpPr>
        <p:spPr>
          <a:xfrm>
            <a:off x="4893447" y="791347"/>
            <a:ext cx="1741179" cy="101566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000" b="1" u="sng" noProof="0" dirty="0"/>
              <a:t>Keywords:</a:t>
            </a:r>
            <a:endParaRPr lang="en-GB" sz="1000" noProof="0" dirty="0"/>
          </a:p>
          <a:p>
            <a:pPr marL="285750" indent="-285750">
              <a:buFont typeface=".AppleSystemUIFont" charset="-120"/>
              <a:buChar char="-"/>
            </a:pPr>
            <a:r>
              <a:rPr lang="en-GB" sz="1000" noProof="0" dirty="0"/>
              <a:t>Simultaneous equations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GB" sz="1000" noProof="0" dirty="0"/>
              <a:t>Linear equations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GB" sz="1000" noProof="0" dirty="0"/>
              <a:t>Equivalent equations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GB" sz="1000" noProof="0" dirty="0"/>
              <a:t>Intersection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GB" sz="1000" noProof="0" dirty="0"/>
              <a:t>Elimination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FE7EC4-5E01-5842-B2D3-567D0C78E897}"/>
              </a:ext>
            </a:extLst>
          </p:cNvPr>
          <p:cNvSpPr/>
          <p:nvPr/>
        </p:nvSpPr>
        <p:spPr>
          <a:xfrm>
            <a:off x="0" y="-68"/>
            <a:ext cx="6858000" cy="28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Subtopic 3b – Recap: Simultaneous equations - Elimination </a:t>
            </a:r>
            <a:r>
              <a:rPr lang="en-GB" sz="1400" noProof="0" dirty="0"/>
              <a:t> </a:t>
            </a:r>
            <a:endParaRPr lang="en-GB" sz="1600" b="1" noProof="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E7EDCC2-ABAA-434F-8C0E-6C3A1F76BAE7}"/>
              </a:ext>
            </a:extLst>
          </p:cNvPr>
          <p:cNvCxnSpPr/>
          <p:nvPr/>
        </p:nvCxnSpPr>
        <p:spPr>
          <a:xfrm flipV="1">
            <a:off x="940175" y="3794205"/>
            <a:ext cx="5541513" cy="2282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24029" y="2033857"/>
            <a:ext cx="6645064" cy="24276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18396" y="3121617"/>
            <a:ext cx="6672688" cy="159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25" idx="2"/>
            <a:endCxn id="25" idx="0"/>
          </p:cNvCxnSpPr>
          <p:nvPr/>
        </p:nvCxnSpPr>
        <p:spPr>
          <a:xfrm flipV="1">
            <a:off x="3446561" y="2033857"/>
            <a:ext cx="0" cy="24276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3249" y="2024479"/>
            <a:ext cx="824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noProof="0" dirty="0"/>
              <a:t>Definition</a:t>
            </a:r>
          </a:p>
          <a:p>
            <a:endParaRPr lang="en-GB" sz="1200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5627300" y="1992093"/>
            <a:ext cx="1112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noProof="0" dirty="0"/>
              <a:t>Characteristics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396" y="3121617"/>
            <a:ext cx="7881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noProof="0" dirty="0"/>
              <a:t>Examples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55813" y="3097236"/>
            <a:ext cx="1172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noProof="0" dirty="0"/>
              <a:t>Non - Examples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4028" y="2265536"/>
            <a:ext cx="3230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/>
              <a:t>A method to eliminate one of the variables in a pair of simultaneous equations to solve for both equations. </a:t>
            </a:r>
            <a:endParaRPr lang="en-GB" sz="1200" b="1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3498363" y="2194174"/>
            <a:ext cx="3230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/>
              <a:t>You must </a:t>
            </a:r>
            <a:r>
              <a:rPr lang="en-GB" sz="1200" b="1" noProof="0" dirty="0"/>
              <a:t>equate</a:t>
            </a:r>
            <a:r>
              <a:rPr lang="en-GB" sz="1200" noProof="0" dirty="0"/>
              <a:t> the variables for the elimination method to work. 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03160" y="2963126"/>
            <a:ext cx="205043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noProof="0" dirty="0"/>
              <a:t>Elimination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1" name="Table 4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6382198"/>
                  </p:ext>
                </p:extLst>
              </p:nvPr>
            </p:nvGraphicFramePr>
            <p:xfrm>
              <a:off x="137968" y="4630721"/>
              <a:ext cx="6614917" cy="18453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80112">
                      <a:extLst>
                        <a:ext uri="{9D8B030D-6E8A-4147-A177-3AD203B41FA5}">
                          <a16:colId xmlns:a16="http://schemas.microsoft.com/office/drawing/2014/main" val="2943938818"/>
                        </a:ext>
                      </a:extLst>
                    </a:gridCol>
                    <a:gridCol w="2208039">
                      <a:extLst>
                        <a:ext uri="{9D8B030D-6E8A-4147-A177-3AD203B41FA5}">
                          <a16:colId xmlns:a16="http://schemas.microsoft.com/office/drawing/2014/main" val="4207345459"/>
                        </a:ext>
                      </a:extLst>
                    </a:gridCol>
                    <a:gridCol w="2126766">
                      <a:extLst>
                        <a:ext uri="{9D8B030D-6E8A-4147-A177-3AD203B41FA5}">
                          <a16:colId xmlns:a16="http://schemas.microsoft.com/office/drawing/2014/main" val="592218920"/>
                        </a:ext>
                      </a:extLst>
                    </a:gridCol>
                  </a:tblGrid>
                  <a:tr h="290828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  <a:cs typeface="Calibri" panose="020F0502020204030204" pitchFamily="34" charset="0"/>
                            </a:rPr>
                            <a:t>Example 1 -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Example 2 – We</a:t>
                          </a:r>
                          <a:r>
                            <a:rPr lang="en-GB" sz="1200" b="1" i="1" baseline="0" noProof="0" dirty="0">
                              <a:solidFill>
                                <a:schemeClr val="accent2"/>
                              </a:solidFill>
                            </a:rPr>
                            <a:t> </a:t>
                          </a: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Example 3 – You</a:t>
                          </a:r>
                          <a:r>
                            <a:rPr lang="en-GB" sz="1200" b="1" i="1" baseline="0" noProof="0" dirty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53781998"/>
                      </a:ext>
                    </a:extLst>
                  </a:tr>
                  <a:tr h="290828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Subtract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equation 2 from equation 1. 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3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=10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(1)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=5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(2)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Subtract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equation 2 from equation 1. 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5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=9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(1)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3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=5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(2)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 dirty="0">
                            <a:solidFill>
                              <a:schemeClr val="accent2"/>
                            </a:solidFill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Subtract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equation 2 from equation 1. 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7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+5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=10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(1)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3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+5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=5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(2)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 dirty="0">
                            <a:solidFill>
                              <a:srgbClr val="00B050"/>
                            </a:solidFill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72658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1" name="Table 4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6382198"/>
                  </p:ext>
                </p:extLst>
              </p:nvPr>
            </p:nvGraphicFramePr>
            <p:xfrm>
              <a:off x="137968" y="4630721"/>
              <a:ext cx="6614917" cy="18453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80112">
                      <a:extLst>
                        <a:ext uri="{9D8B030D-6E8A-4147-A177-3AD203B41FA5}">
                          <a16:colId xmlns:a16="http://schemas.microsoft.com/office/drawing/2014/main" val="2943938818"/>
                        </a:ext>
                      </a:extLst>
                    </a:gridCol>
                    <a:gridCol w="2208039">
                      <a:extLst>
                        <a:ext uri="{9D8B030D-6E8A-4147-A177-3AD203B41FA5}">
                          <a16:colId xmlns:a16="http://schemas.microsoft.com/office/drawing/2014/main" val="4207345459"/>
                        </a:ext>
                      </a:extLst>
                    </a:gridCol>
                    <a:gridCol w="2126766">
                      <a:extLst>
                        <a:ext uri="{9D8B030D-6E8A-4147-A177-3AD203B41FA5}">
                          <a16:colId xmlns:a16="http://schemas.microsoft.com/office/drawing/2014/main" val="592218920"/>
                        </a:ext>
                      </a:extLst>
                    </a:gridCol>
                  </a:tblGrid>
                  <a:tr h="290828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  <a:cs typeface="Calibri" panose="020F0502020204030204" pitchFamily="34" charset="0"/>
                            </a:rPr>
                            <a:t>Example 1 -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2 – We</a:t>
                          </a:r>
                          <a:r>
                            <a:rPr lang="en-GB" sz="1200" b="1" i="1" baseline="0" noProof="0">
                              <a:solidFill>
                                <a:schemeClr val="accent2"/>
                              </a:solidFill>
                            </a:rPr>
                            <a:t> </a:t>
                          </a: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3 – You</a:t>
                          </a:r>
                          <a:r>
                            <a:rPr lang="en-GB" sz="1200" b="1" i="1" baseline="0" noProof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53781998"/>
                      </a:ext>
                    </a:extLst>
                  </a:tr>
                  <a:tr h="1554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67" t="-19141" r="-190909" b="-7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306" t="-19141" r="-96694" b="-7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1461" t="-19141" r="-573" b="-7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7265822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42" name="Straight Connector 41"/>
          <p:cNvCxnSpPr/>
          <p:nvPr/>
        </p:nvCxnSpPr>
        <p:spPr>
          <a:xfrm>
            <a:off x="632460" y="5935980"/>
            <a:ext cx="132207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2837328" y="5935980"/>
            <a:ext cx="132207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5062368" y="5935980"/>
            <a:ext cx="132207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C10CDB0-5D39-7448-ABDD-102EC30FED6B}"/>
              </a:ext>
            </a:extLst>
          </p:cNvPr>
          <p:cNvSpPr txBox="1"/>
          <p:nvPr/>
        </p:nvSpPr>
        <p:spPr>
          <a:xfrm>
            <a:off x="2235112" y="6667071"/>
            <a:ext cx="26441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/>
              <a:t> 1) subtract equation 2 from equation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/>
              <p:cNvSpPr/>
              <p:nvPr/>
            </p:nvSpPr>
            <p:spPr>
              <a:xfrm>
                <a:off x="118396" y="7174904"/>
                <a:ext cx="138728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1)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=10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=5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</p:txBody>
          </p:sp>
        </mc:Choice>
        <mc:Fallback xmlns=""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96" y="7174904"/>
                <a:ext cx="1387282" cy="461665"/>
              </a:xfrm>
              <a:prstGeom prst="rect">
                <a:avLst/>
              </a:prstGeom>
              <a:blipFill>
                <a:blip r:embed="rId4"/>
                <a:stretch>
                  <a:fillRect t="-1316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>
                <a:off x="1805453" y="7174904"/>
                <a:ext cx="149503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2)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 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8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=10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=5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5453" y="7174904"/>
                <a:ext cx="1495034" cy="461665"/>
              </a:xfrm>
              <a:prstGeom prst="rect">
                <a:avLst/>
              </a:prstGeom>
              <a:blipFill>
                <a:blip r:embed="rId5"/>
                <a:stretch>
                  <a:fillRect t="-1316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3494690" y="7174903"/>
                <a:ext cx="161512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3)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=10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=5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4690" y="7174903"/>
                <a:ext cx="1615124" cy="461665"/>
              </a:xfrm>
              <a:prstGeom prst="rect">
                <a:avLst/>
              </a:prstGeom>
              <a:blipFill>
                <a:blip r:embed="rId6"/>
                <a:stretch>
                  <a:fillRect t="-1316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/>
              <p:cNvSpPr/>
              <p:nvPr/>
            </p:nvSpPr>
            <p:spPr>
              <a:xfrm>
                <a:off x="5220999" y="7195714"/>
                <a:ext cx="153188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4)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0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=10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4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=5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</p:txBody>
          </p:sp>
        </mc:Choice>
        <mc:Fallback xmlns="">
          <p:sp>
            <p:nvSpPr>
              <p:cNvPr id="51" name="Rectangle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999" y="7195714"/>
                <a:ext cx="1531886" cy="461665"/>
              </a:xfrm>
              <a:prstGeom prst="rect">
                <a:avLst/>
              </a:prstGeom>
              <a:blipFill>
                <a:blip r:embed="rId7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Connector 51"/>
          <p:cNvCxnSpPr/>
          <p:nvPr/>
        </p:nvCxnSpPr>
        <p:spPr>
          <a:xfrm>
            <a:off x="354113" y="7636568"/>
            <a:ext cx="1072707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2089081" y="7636568"/>
            <a:ext cx="1072707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3768408" y="7636568"/>
            <a:ext cx="1072707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5503376" y="7636568"/>
            <a:ext cx="1072707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/>
              <p:cNvSpPr/>
              <p:nvPr/>
            </p:nvSpPr>
            <p:spPr>
              <a:xfrm>
                <a:off x="134603" y="8423199"/>
                <a:ext cx="159080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5)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  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+4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=10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=5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</p:txBody>
          </p:sp>
        </mc:Choice>
        <mc:Fallback xmlns="">
          <p:sp>
            <p:nvSpPr>
              <p:cNvPr id="57" name="Rectangle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03" y="8423199"/>
                <a:ext cx="1590801" cy="461665"/>
              </a:xfrm>
              <a:prstGeom prst="rect">
                <a:avLst/>
              </a:prstGeom>
              <a:blipFill>
                <a:blip r:embed="rId8"/>
                <a:stretch>
                  <a:fillRect t="-1333"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/>
              <p:cNvSpPr/>
              <p:nvPr/>
            </p:nvSpPr>
            <p:spPr>
              <a:xfrm>
                <a:off x="1821661" y="8423199"/>
                <a:ext cx="162490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6)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 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=10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=5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</p:txBody>
          </p:sp>
        </mc:Choice>
        <mc:Fallback xmlns="">
          <p:sp>
            <p:nvSpPr>
              <p:cNvPr id="58" name="Rectangle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1661" y="8423199"/>
                <a:ext cx="1624900" cy="461665"/>
              </a:xfrm>
              <a:prstGeom prst="rect">
                <a:avLst/>
              </a:prstGeom>
              <a:blipFill>
                <a:blip r:embed="rId9"/>
                <a:stretch>
                  <a:fillRect t="-1333"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/>
              <p:cNvSpPr/>
              <p:nvPr/>
            </p:nvSpPr>
            <p:spPr>
              <a:xfrm>
                <a:off x="3510898" y="8423198"/>
                <a:ext cx="161512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7)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7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=10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(1)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7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=5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</p:txBody>
          </p:sp>
        </mc:Choice>
        <mc:Fallback xmlns="">
          <p:sp>
            <p:nvSpPr>
              <p:cNvPr id="59" name="Rectangle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0898" y="8423198"/>
                <a:ext cx="1615124" cy="461665"/>
              </a:xfrm>
              <a:prstGeom prst="rect">
                <a:avLst/>
              </a:prstGeom>
              <a:blipFill>
                <a:blip r:embed="rId10"/>
                <a:stretch>
                  <a:fillRect t="-1333"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/>
              <p:cNvSpPr/>
              <p:nvPr/>
            </p:nvSpPr>
            <p:spPr>
              <a:xfrm>
                <a:off x="5237207" y="8444009"/>
                <a:ext cx="153188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8)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0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+7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=10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</m:t>
                    </m:r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0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=5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</p:txBody>
          </p:sp>
        </mc:Choice>
        <mc:Fallback xmlns="">
          <p:sp>
            <p:nvSpPr>
              <p:cNvPr id="60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207" y="8444009"/>
                <a:ext cx="1531886" cy="461665"/>
              </a:xfrm>
              <a:prstGeom prst="rect">
                <a:avLst/>
              </a:prstGeom>
              <a:blipFill>
                <a:blip r:embed="rId11"/>
                <a:stretch>
                  <a:fillRect r="-398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Connector 60"/>
          <p:cNvCxnSpPr/>
          <p:nvPr/>
        </p:nvCxnSpPr>
        <p:spPr>
          <a:xfrm>
            <a:off x="370321" y="8884863"/>
            <a:ext cx="1072707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2105289" y="8884863"/>
            <a:ext cx="1072707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3784616" y="8884863"/>
            <a:ext cx="1072707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5519584" y="8884863"/>
            <a:ext cx="1072707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97278" y="3460997"/>
                <a:ext cx="987899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  5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=11</m:t>
                      </m:r>
                    </m:oMath>
                  </m:oMathPara>
                </a14:m>
                <a:endParaRPr lang="en-GB" sz="1200" b="0" i="1" noProof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GB" sz="1200" noProof="0" dirty="0"/>
              </a:p>
              <a:p>
                <a:r>
                  <a:rPr lang="en-GB" sz="1200" noProof="0" dirty="0"/>
                  <a:t>   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         =2</m:t>
                    </m:r>
                  </m:oMath>
                </a14:m>
                <a:endParaRPr lang="en-GB" sz="1200" noProof="0" dirty="0"/>
              </a:p>
              <a:p>
                <a:r>
                  <a:rPr lang="en-GB" sz="1200" noProof="0" dirty="0"/>
                  <a:t>  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78" y="3460997"/>
                <a:ext cx="987899" cy="73866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/>
          <p:cNvCxnSpPr/>
          <p:nvPr/>
        </p:nvCxnSpPr>
        <p:spPr>
          <a:xfrm>
            <a:off x="191167" y="3830329"/>
            <a:ext cx="8299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945476" y="3504018"/>
                <a:ext cx="35939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1400" noProof="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476" y="3504018"/>
                <a:ext cx="359393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520957" y="3487089"/>
                <a:ext cx="1161407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5</m:t>
                      </m:r>
                      <m:d>
                        <m:dPr>
                          <m:ctrlP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=11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0957" y="3487089"/>
                <a:ext cx="1161407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/>
              <p:cNvSpPr/>
              <p:nvPr/>
            </p:nvSpPr>
            <p:spPr>
              <a:xfrm>
                <a:off x="1652586" y="3696406"/>
                <a:ext cx="1033681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10+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=11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65" name="Rectangle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586" y="3696406"/>
                <a:ext cx="1033681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/>
              <p:cNvSpPr/>
              <p:nvPr/>
            </p:nvSpPr>
            <p:spPr>
              <a:xfrm>
                <a:off x="2013293" y="4064220"/>
                <a:ext cx="595035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66" name="Rectangle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3293" y="4064220"/>
                <a:ext cx="595035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/>
              <p:cNvSpPr/>
              <p:nvPr/>
            </p:nvSpPr>
            <p:spPr>
              <a:xfrm>
                <a:off x="1568970" y="3886494"/>
                <a:ext cx="479618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0" i="1" noProof="0" smtClean="0">
                          <a:latin typeface="Cambria Math" panose="02040503050406030204" pitchFamily="18" charset="0"/>
                        </a:rPr>
                        <m:t>−10</m:t>
                      </m:r>
                    </m:oMath>
                  </m:oMathPara>
                </a14:m>
                <a:endParaRPr lang="en-GB" sz="1050" noProof="0" dirty="0"/>
              </a:p>
            </p:txBody>
          </p:sp>
        </mc:Choice>
        <mc:Fallback xmlns="">
          <p:sp>
            <p:nvSpPr>
              <p:cNvPr id="67" name="Rectangle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8970" y="3886494"/>
                <a:ext cx="479618" cy="2616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/>
              <p:cNvSpPr/>
              <p:nvPr/>
            </p:nvSpPr>
            <p:spPr>
              <a:xfrm>
                <a:off x="2206325" y="3891280"/>
                <a:ext cx="479618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0" i="1" noProof="0" smtClean="0">
                          <a:latin typeface="Cambria Math" panose="02040503050406030204" pitchFamily="18" charset="0"/>
                        </a:rPr>
                        <m:t>−10</m:t>
                      </m:r>
                    </m:oMath>
                  </m:oMathPara>
                </a14:m>
                <a:endParaRPr lang="en-GB" sz="1050" noProof="0" dirty="0"/>
              </a:p>
            </p:txBody>
          </p:sp>
        </mc:Choice>
        <mc:Fallback xmlns="">
          <p:sp>
            <p:nvSpPr>
              <p:cNvPr id="68" name="Rectangle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6325" y="3891280"/>
                <a:ext cx="479618" cy="2616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3520728" y="3496564"/>
                <a:ext cx="1041247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  5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=11</m:t>
                      </m:r>
                    </m:oMath>
                  </m:oMathPara>
                </a14:m>
                <a:endParaRPr lang="en-GB" sz="1200" b="0" i="1" noProof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GB" sz="1200" noProof="0" dirty="0"/>
              </a:p>
              <a:p>
                <a:r>
                  <a:rPr lang="en-GB" sz="1200" noProof="0" dirty="0"/>
                  <a:t>   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0728" y="3496564"/>
                <a:ext cx="1041247" cy="553998"/>
              </a:xfrm>
              <a:prstGeom prst="rect">
                <a:avLst/>
              </a:prstGeom>
              <a:blipFill>
                <a:blip r:embed="rId19"/>
                <a:stretch>
                  <a:fillRect r="-5294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Straight Connector 69"/>
          <p:cNvCxnSpPr/>
          <p:nvPr/>
        </p:nvCxnSpPr>
        <p:spPr>
          <a:xfrm>
            <a:off x="3614617" y="3865896"/>
            <a:ext cx="8299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4368926" y="3539585"/>
                <a:ext cx="3593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sz="1400" noProof="0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926" y="3539585"/>
                <a:ext cx="359394" cy="30777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5260715" y="3532726"/>
                <a:ext cx="99988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  5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=11</m:t>
                      </m:r>
                    </m:oMath>
                  </m:oMathPara>
                </a14:m>
                <a:endParaRPr lang="en-GB" sz="1200" b="0" i="1" noProof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GB" sz="1200" noProof="0" dirty="0"/>
              </a:p>
              <a:p>
                <a:r>
                  <a:rPr lang="en-GB" sz="1200" noProof="0" dirty="0"/>
                  <a:t>   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       =2</m:t>
                    </m:r>
                  </m:oMath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0715" y="3532726"/>
                <a:ext cx="999889" cy="553998"/>
              </a:xfrm>
              <a:prstGeom prst="rect">
                <a:avLst/>
              </a:prstGeom>
              <a:blipFill>
                <a:blip r:embed="rId21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Straight Connector 84"/>
          <p:cNvCxnSpPr/>
          <p:nvPr/>
        </p:nvCxnSpPr>
        <p:spPr>
          <a:xfrm>
            <a:off x="5354604" y="3902058"/>
            <a:ext cx="8299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6108913" y="3575747"/>
                <a:ext cx="3593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1400" noProof="0" dirty="0"/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8913" y="3575747"/>
                <a:ext cx="359394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/>
          <p:cNvSpPr txBox="1"/>
          <p:nvPr/>
        </p:nvSpPr>
        <p:spPr>
          <a:xfrm>
            <a:off x="114070" y="6739331"/>
            <a:ext cx="1732782" cy="276999"/>
          </a:xfrm>
          <a:prstGeom prst="rect">
            <a:avLst/>
          </a:prstGeom>
          <a:solidFill>
            <a:srgbClr val="0070C0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200" noProof="0" dirty="0">
                <a:solidFill>
                  <a:schemeClr val="bg1"/>
                </a:solidFill>
              </a:rPr>
              <a:t>INDEPENDENT PRACTICE</a:t>
            </a:r>
          </a:p>
        </p:txBody>
      </p:sp>
    </p:spTree>
    <p:extLst>
      <p:ext uri="{BB962C8B-B14F-4D97-AF65-F5344CB8AC3E}">
        <p14:creationId xmlns:p14="http://schemas.microsoft.com/office/powerpoint/2010/main" val="814084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397664" y="9549002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noProof="0" smtClean="0"/>
              <a:t>9</a:t>
            </a:fld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0669644"/>
                  </p:ext>
                </p:extLst>
              </p:nvPr>
            </p:nvGraphicFramePr>
            <p:xfrm>
              <a:off x="110259" y="114140"/>
              <a:ext cx="6609852" cy="41225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0476">
                      <a:extLst>
                        <a:ext uri="{9D8B030D-6E8A-4147-A177-3AD203B41FA5}">
                          <a16:colId xmlns:a16="http://schemas.microsoft.com/office/drawing/2014/main" val="4222859584"/>
                        </a:ext>
                      </a:extLst>
                    </a:gridCol>
                    <a:gridCol w="1772578">
                      <a:extLst>
                        <a:ext uri="{9D8B030D-6E8A-4147-A177-3AD203B41FA5}">
                          <a16:colId xmlns:a16="http://schemas.microsoft.com/office/drawing/2014/main" val="2943938818"/>
                        </a:ext>
                      </a:extLst>
                    </a:gridCol>
                    <a:gridCol w="1778669">
                      <a:extLst>
                        <a:ext uri="{9D8B030D-6E8A-4147-A177-3AD203B41FA5}">
                          <a16:colId xmlns:a16="http://schemas.microsoft.com/office/drawing/2014/main" val="4207345459"/>
                        </a:ext>
                      </a:extLst>
                    </a:gridCol>
                    <a:gridCol w="1658129">
                      <a:extLst>
                        <a:ext uri="{9D8B030D-6E8A-4147-A177-3AD203B41FA5}">
                          <a16:colId xmlns:a16="http://schemas.microsoft.com/office/drawing/2014/main" val="592218920"/>
                        </a:ext>
                      </a:extLst>
                    </a:gridCol>
                  </a:tblGrid>
                  <a:tr h="305391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  <a:cs typeface="Calibri" panose="020F0502020204030204" pitchFamily="34" charset="0"/>
                            </a:rPr>
                            <a:t>Example 7 -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Example 8 – We</a:t>
                          </a:r>
                          <a:r>
                            <a:rPr lang="en-GB" sz="1200" b="1" i="1" baseline="0" noProof="0" dirty="0">
                              <a:solidFill>
                                <a:schemeClr val="accent2"/>
                              </a:solidFill>
                            </a:rPr>
                            <a:t> </a:t>
                          </a: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Example 9 – You</a:t>
                          </a:r>
                          <a:r>
                            <a:rPr lang="en-GB" sz="1200" b="1" i="1" baseline="0" noProof="0" dirty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53781998"/>
                      </a:ext>
                    </a:extLst>
                  </a:tr>
                  <a:tr h="85474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1) Label the equations 1 and 2.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4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Solve the simultaneous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equations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=4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(1)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=3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(2)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4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Solve the simultaneous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equations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3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=9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(1)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=8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(2)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4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Solve the simultaneous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equations. 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4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+5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=24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(1)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3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+5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=23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(2)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7265822"/>
                      </a:ext>
                    </a:extLst>
                  </a:tr>
                  <a:tr h="85474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2) If the signs are the same for the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variables that match </a:t>
                          </a: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subtract.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9068173"/>
                      </a:ext>
                    </a:extLst>
                  </a:tr>
                  <a:tr h="1538531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3) Substitute the value of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into one of the equations to find the other values.</a:t>
                          </a: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2978753"/>
                      </a:ext>
                    </a:extLst>
                  </a:tr>
                  <a:tr h="569177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4) Write the solutions.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4148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0669644"/>
                  </p:ext>
                </p:extLst>
              </p:nvPr>
            </p:nvGraphicFramePr>
            <p:xfrm>
              <a:off x="110259" y="114140"/>
              <a:ext cx="6609852" cy="41225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0476">
                      <a:extLst>
                        <a:ext uri="{9D8B030D-6E8A-4147-A177-3AD203B41FA5}">
                          <a16:colId xmlns:a16="http://schemas.microsoft.com/office/drawing/2014/main" val="4222859584"/>
                        </a:ext>
                      </a:extLst>
                    </a:gridCol>
                    <a:gridCol w="1772578">
                      <a:extLst>
                        <a:ext uri="{9D8B030D-6E8A-4147-A177-3AD203B41FA5}">
                          <a16:colId xmlns:a16="http://schemas.microsoft.com/office/drawing/2014/main" val="2943938818"/>
                        </a:ext>
                      </a:extLst>
                    </a:gridCol>
                    <a:gridCol w="1778669">
                      <a:extLst>
                        <a:ext uri="{9D8B030D-6E8A-4147-A177-3AD203B41FA5}">
                          <a16:colId xmlns:a16="http://schemas.microsoft.com/office/drawing/2014/main" val="4207345459"/>
                        </a:ext>
                      </a:extLst>
                    </a:gridCol>
                    <a:gridCol w="1658129">
                      <a:extLst>
                        <a:ext uri="{9D8B030D-6E8A-4147-A177-3AD203B41FA5}">
                          <a16:colId xmlns:a16="http://schemas.microsoft.com/office/drawing/2014/main" val="592218920"/>
                        </a:ext>
                      </a:extLst>
                    </a:gridCol>
                  </a:tblGrid>
                  <a:tr h="305391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  <a:cs typeface="Calibri" panose="020F0502020204030204" pitchFamily="34" charset="0"/>
                            </a:rPr>
                            <a:t>Example 7 -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8 – We</a:t>
                          </a:r>
                          <a:r>
                            <a:rPr lang="en-GB" sz="1200" b="1" i="1" baseline="0" noProof="0">
                              <a:solidFill>
                                <a:schemeClr val="accent2"/>
                              </a:solidFill>
                            </a:rPr>
                            <a:t> </a:t>
                          </a: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9 – You</a:t>
                          </a:r>
                          <a:r>
                            <a:rPr lang="en-GB" sz="1200" b="1" i="1" baseline="0" noProof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53781998"/>
                      </a:ext>
                    </a:extLst>
                  </a:tr>
                  <a:tr h="85474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1) Label the equations 1 and 2.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9381" t="-8134" r="-194502" b="-478"/>
                          </a:stretch>
                        </a:blipFill>
                      </a:tcPr>
                    </a:tc>
                    <a:tc row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8767" t="-8134" r="-93836" b="-478"/>
                          </a:stretch>
                        </a:blipFill>
                      </a:tcPr>
                    </a:tc>
                    <a:tc row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265" t="-8134" r="-735" b="-4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7265822"/>
                      </a:ext>
                    </a:extLst>
                  </a:tr>
                  <a:tr h="85474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2) If the signs are the same for the</a:t>
                          </a:r>
                          <a:r>
                            <a:rPr lang="en-GB" sz="1200" b="0" i="0" baseline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variables that match </a:t>
                          </a: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subtract.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9068173"/>
                      </a:ext>
                    </a:extLst>
                  </a:tr>
                  <a:tr h="15385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5" t="-131225" r="-372609" b="-37945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2978753"/>
                      </a:ext>
                    </a:extLst>
                  </a:tr>
                  <a:tr h="569177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4) Write the solutions.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4148007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4" name="Straight Connector 3"/>
          <p:cNvCxnSpPr/>
          <p:nvPr/>
        </p:nvCxnSpPr>
        <p:spPr>
          <a:xfrm>
            <a:off x="1884844" y="1460443"/>
            <a:ext cx="107270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606964" y="1460443"/>
            <a:ext cx="107270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5397664" y="1460443"/>
            <a:ext cx="107270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C10CDB0-5D39-7448-ABDD-102EC30FED6B}"/>
              </a:ext>
            </a:extLst>
          </p:cNvPr>
          <p:cNvSpPr txBox="1"/>
          <p:nvPr/>
        </p:nvSpPr>
        <p:spPr>
          <a:xfrm>
            <a:off x="1863865" y="4329553"/>
            <a:ext cx="35897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/>
              <a:t> 3) Solve the simultaneous equations using elimination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08810" y="4730244"/>
                <a:ext cx="3429000" cy="46166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a)   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=5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(1)</a:t>
                </a:r>
              </a:p>
              <a:p>
                <a:pPr lvl="0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=4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  <a:endParaRPr lang="en-GB" sz="1200" noProof="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810" y="4730244"/>
                <a:ext cx="3429000" cy="461665"/>
              </a:xfrm>
              <a:prstGeom prst="rect">
                <a:avLst/>
              </a:prstGeom>
              <a:blipFill>
                <a:blip r:embed="rId4"/>
                <a:stretch>
                  <a:fillRect l="-178" t="-1316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>
          <a:xfrm>
            <a:off x="655046" y="5191909"/>
            <a:ext cx="107270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561561" y="4749186"/>
                <a:ext cx="3429000" cy="46166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b)   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=4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(1)</a:t>
                </a:r>
              </a:p>
              <a:p>
                <a:pPr lvl="0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=3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  <a:endParaRPr lang="en-GB" sz="1200" noProof="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561" y="4749186"/>
                <a:ext cx="3429000" cy="461665"/>
              </a:xfrm>
              <a:prstGeom prst="rect">
                <a:avLst/>
              </a:prstGeom>
              <a:blipFill>
                <a:blip r:embed="rId5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/>
          <p:cNvCxnSpPr/>
          <p:nvPr/>
        </p:nvCxnSpPr>
        <p:spPr>
          <a:xfrm>
            <a:off x="2881362" y="5210851"/>
            <a:ext cx="107270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843463" y="4723554"/>
                <a:ext cx="3429000" cy="46166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c)   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=8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(1)</a:t>
                </a:r>
              </a:p>
              <a:p>
                <a:pPr lvl="0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=6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  <a:endParaRPr lang="en-GB" sz="1200" noProof="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3463" y="4723554"/>
                <a:ext cx="3429000" cy="461665"/>
              </a:xfrm>
              <a:prstGeom prst="rect">
                <a:avLst/>
              </a:prstGeom>
              <a:blipFill>
                <a:blip r:embed="rId6"/>
                <a:stretch>
                  <a:fillRect l="-178" t="-1316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/>
          <p:cNvCxnSpPr/>
          <p:nvPr/>
        </p:nvCxnSpPr>
        <p:spPr>
          <a:xfrm>
            <a:off x="5218533" y="5185790"/>
            <a:ext cx="107270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647954" y="4693073"/>
            <a:ext cx="2072157" cy="251894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0" name="Rectangle 19"/>
          <p:cNvSpPr/>
          <p:nvPr/>
        </p:nvSpPr>
        <p:spPr>
          <a:xfrm>
            <a:off x="2381638" y="4700434"/>
            <a:ext cx="2072157" cy="251894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1" name="Rectangle 20"/>
          <p:cNvSpPr/>
          <p:nvPr/>
        </p:nvSpPr>
        <p:spPr>
          <a:xfrm>
            <a:off x="116795" y="4693073"/>
            <a:ext cx="2072157" cy="251894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285950" y="7290059"/>
                <a:ext cx="3429000" cy="46166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d)   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=29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(1)</a:t>
                </a:r>
              </a:p>
              <a:p>
                <a:pPr lvl="0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=24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  <a:endParaRPr lang="en-GB" sz="1200" noProof="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950" y="7290059"/>
                <a:ext cx="3429000" cy="461665"/>
              </a:xfrm>
              <a:prstGeom prst="rect">
                <a:avLst/>
              </a:prstGeom>
              <a:blipFill>
                <a:blip r:embed="rId7"/>
                <a:stretch>
                  <a:fillRect l="-178" t="-1316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/>
          <p:cNvCxnSpPr/>
          <p:nvPr/>
        </p:nvCxnSpPr>
        <p:spPr>
          <a:xfrm>
            <a:off x="632186" y="7751724"/>
            <a:ext cx="107270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2538701" y="7309001"/>
                <a:ext cx="3429000" cy="46166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e)  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4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=33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(1)</a:t>
                </a:r>
              </a:p>
              <a:p>
                <a:pPr lvl="0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=30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  <a:endParaRPr lang="en-GB" sz="1200" noProof="0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8701" y="7309001"/>
                <a:ext cx="3429000" cy="461665"/>
              </a:xfrm>
              <a:prstGeom prst="rect">
                <a:avLst/>
              </a:prstGeom>
              <a:blipFill>
                <a:blip r:embed="rId8"/>
                <a:stretch>
                  <a:fillRect t="-1316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/>
          <p:cNvCxnSpPr/>
          <p:nvPr/>
        </p:nvCxnSpPr>
        <p:spPr>
          <a:xfrm>
            <a:off x="2858502" y="7770666"/>
            <a:ext cx="107270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4843463" y="7268129"/>
                <a:ext cx="3429000" cy="46166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f)   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+4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=60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(1)</a:t>
                </a:r>
              </a:p>
              <a:p>
                <a:pPr lvl="0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4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+4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=56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  <a:endParaRPr lang="en-GB" sz="1200" noProof="0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3463" y="7268129"/>
                <a:ext cx="3429000" cy="461665"/>
              </a:xfrm>
              <a:prstGeom prst="rect">
                <a:avLst/>
              </a:prstGeom>
              <a:blipFill>
                <a:blip r:embed="rId9"/>
                <a:stretch>
                  <a:fillRect l="-178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/>
          <p:cNvCxnSpPr/>
          <p:nvPr/>
        </p:nvCxnSpPr>
        <p:spPr>
          <a:xfrm>
            <a:off x="5195673" y="7745605"/>
            <a:ext cx="107270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4647954" y="7260508"/>
            <a:ext cx="2072157" cy="2508331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9" name="Rectangle 28"/>
          <p:cNvSpPr/>
          <p:nvPr/>
        </p:nvSpPr>
        <p:spPr>
          <a:xfrm>
            <a:off x="2381638" y="7267869"/>
            <a:ext cx="2072157" cy="2508331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0" name="Rectangle 29"/>
          <p:cNvSpPr/>
          <p:nvPr/>
        </p:nvSpPr>
        <p:spPr>
          <a:xfrm>
            <a:off x="116795" y="7260508"/>
            <a:ext cx="2072157" cy="2508331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grpSp>
        <p:nvGrpSpPr>
          <p:cNvPr id="15" name="Group 14"/>
          <p:cNvGrpSpPr/>
          <p:nvPr/>
        </p:nvGrpSpPr>
        <p:grpSpPr>
          <a:xfrm>
            <a:off x="834771" y="6575155"/>
            <a:ext cx="1312183" cy="646331"/>
            <a:chOff x="834771" y="6575155"/>
            <a:chExt cx="1312183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834771" y="6575155"/>
                  <a:ext cx="48705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200" b="0" noProof="0" dirty="0"/>
                </a:p>
                <a:p>
                  <a:endParaRPr lang="en-GB" sz="1200" b="0" noProof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200" noProof="0" dirty="0"/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771" y="6575155"/>
                  <a:ext cx="487056" cy="64633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Rectangle 31"/>
            <p:cNvSpPr/>
            <p:nvPr/>
          </p:nvSpPr>
          <p:spPr>
            <a:xfrm>
              <a:off x="1285620" y="6620437"/>
              <a:ext cx="861334" cy="265295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285620" y="6923162"/>
              <a:ext cx="861334" cy="265295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3095602" y="6582516"/>
            <a:ext cx="1312183" cy="646331"/>
            <a:chOff x="834771" y="6575155"/>
            <a:chExt cx="1312183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/>
                <p:cNvSpPr txBox="1"/>
                <p:nvPr/>
              </p:nvSpPr>
              <p:spPr>
                <a:xfrm>
                  <a:off x="834771" y="6575155"/>
                  <a:ext cx="48705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200" b="0" noProof="0" dirty="0"/>
                </a:p>
                <a:p>
                  <a:endParaRPr lang="en-GB" sz="1200" b="0" noProof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200" noProof="0" dirty="0"/>
                </a:p>
              </p:txBody>
            </p:sp>
          </mc:Choice>
          <mc:Fallback xmlns="">
            <p:sp>
              <p:nvSpPr>
                <p:cNvPr id="47" name="TextBox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771" y="6575155"/>
                  <a:ext cx="487056" cy="64633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Rectangle 47"/>
            <p:cNvSpPr/>
            <p:nvPr/>
          </p:nvSpPr>
          <p:spPr>
            <a:xfrm>
              <a:off x="1285620" y="6620437"/>
              <a:ext cx="861334" cy="265295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285620" y="6923162"/>
              <a:ext cx="861334" cy="265295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5374265" y="6576986"/>
            <a:ext cx="1312183" cy="646331"/>
            <a:chOff x="834771" y="6575155"/>
            <a:chExt cx="1312183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/>
                <p:cNvSpPr txBox="1"/>
                <p:nvPr/>
              </p:nvSpPr>
              <p:spPr>
                <a:xfrm>
                  <a:off x="834771" y="6575155"/>
                  <a:ext cx="48705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200" b="0" noProof="0" dirty="0"/>
                </a:p>
                <a:p>
                  <a:endParaRPr lang="en-GB" sz="1200" b="0" noProof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200" noProof="0" dirty="0"/>
                </a:p>
              </p:txBody>
            </p:sp>
          </mc:Choice>
          <mc:Fallback xmlns="">
            <p:sp>
              <p:nvSpPr>
                <p:cNvPr id="51" name="TextBox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771" y="6575155"/>
                  <a:ext cx="487056" cy="64633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Rectangle 51"/>
            <p:cNvSpPr/>
            <p:nvPr/>
          </p:nvSpPr>
          <p:spPr>
            <a:xfrm>
              <a:off x="1285620" y="6620437"/>
              <a:ext cx="861334" cy="265295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285620" y="6923162"/>
              <a:ext cx="861334" cy="265295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829286" y="9122508"/>
            <a:ext cx="1312183" cy="646331"/>
            <a:chOff x="834771" y="6575155"/>
            <a:chExt cx="1312183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/>
                <p:cNvSpPr txBox="1"/>
                <p:nvPr/>
              </p:nvSpPr>
              <p:spPr>
                <a:xfrm>
                  <a:off x="834771" y="6575155"/>
                  <a:ext cx="48705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200" b="0" noProof="0" dirty="0"/>
                </a:p>
                <a:p>
                  <a:endParaRPr lang="en-GB" sz="1200" b="0" noProof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200" noProof="0" dirty="0"/>
                </a:p>
              </p:txBody>
            </p:sp>
          </mc:Choice>
          <mc:Fallback xmlns="">
            <p:sp>
              <p:nvSpPr>
                <p:cNvPr id="55" name="TextBox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771" y="6575155"/>
                  <a:ext cx="487056" cy="64633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Rectangle 55"/>
            <p:cNvSpPr/>
            <p:nvPr/>
          </p:nvSpPr>
          <p:spPr>
            <a:xfrm>
              <a:off x="1285620" y="6620437"/>
              <a:ext cx="861334" cy="265295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1285620" y="6923162"/>
              <a:ext cx="861334" cy="265295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3102152" y="9139340"/>
            <a:ext cx="1312183" cy="646331"/>
            <a:chOff x="834771" y="6575155"/>
            <a:chExt cx="1312183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/>
                <p:cNvSpPr txBox="1"/>
                <p:nvPr/>
              </p:nvSpPr>
              <p:spPr>
                <a:xfrm>
                  <a:off x="834771" y="6575155"/>
                  <a:ext cx="48705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200" b="0" noProof="0" dirty="0"/>
                </a:p>
                <a:p>
                  <a:endParaRPr lang="en-GB" sz="1200" b="0" noProof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200" noProof="0" dirty="0"/>
                </a:p>
              </p:txBody>
            </p:sp>
          </mc:Choice>
          <mc:Fallback xmlns="">
            <p:sp>
              <p:nvSpPr>
                <p:cNvPr id="59" name="TextBox 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771" y="6575155"/>
                  <a:ext cx="487056" cy="64633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Rectangle 59"/>
            <p:cNvSpPr/>
            <p:nvPr/>
          </p:nvSpPr>
          <p:spPr>
            <a:xfrm>
              <a:off x="1285620" y="6620437"/>
              <a:ext cx="861334" cy="265295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1285620" y="6923162"/>
              <a:ext cx="861334" cy="265295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5358204" y="9122508"/>
            <a:ext cx="1312183" cy="646331"/>
            <a:chOff x="834771" y="6575155"/>
            <a:chExt cx="1312183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/>
                <p:cNvSpPr txBox="1"/>
                <p:nvPr/>
              </p:nvSpPr>
              <p:spPr>
                <a:xfrm>
                  <a:off x="834771" y="6575155"/>
                  <a:ext cx="48705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200" b="0" noProof="0" dirty="0"/>
                </a:p>
                <a:p>
                  <a:endParaRPr lang="en-GB" sz="1200" b="0" noProof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200" noProof="0" dirty="0"/>
                </a:p>
              </p:txBody>
            </p:sp>
          </mc:Choice>
          <mc:Fallback xmlns="">
            <p:sp>
              <p:nvSpPr>
                <p:cNvPr id="63" name="TextBox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771" y="6575155"/>
                  <a:ext cx="487056" cy="64633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" name="Rectangle 63"/>
            <p:cNvSpPr/>
            <p:nvPr/>
          </p:nvSpPr>
          <p:spPr>
            <a:xfrm>
              <a:off x="1285620" y="6620437"/>
              <a:ext cx="861334" cy="265295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285620" y="6923162"/>
              <a:ext cx="861334" cy="265295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sp>
        <p:nvSpPr>
          <p:cNvPr id="66" name="TextBox 65"/>
          <p:cNvSpPr txBox="1"/>
          <p:nvPr/>
        </p:nvSpPr>
        <p:spPr>
          <a:xfrm>
            <a:off x="116795" y="4282001"/>
            <a:ext cx="1732782" cy="276999"/>
          </a:xfrm>
          <a:prstGeom prst="rect">
            <a:avLst/>
          </a:prstGeom>
          <a:solidFill>
            <a:srgbClr val="0070C0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200" noProof="0" dirty="0">
                <a:solidFill>
                  <a:schemeClr val="bg1"/>
                </a:solidFill>
              </a:rPr>
              <a:t>INDEPENDENT PRACTICE</a:t>
            </a:r>
          </a:p>
        </p:txBody>
      </p:sp>
    </p:spTree>
    <p:extLst>
      <p:ext uri="{BB962C8B-B14F-4D97-AF65-F5344CB8AC3E}">
        <p14:creationId xmlns:p14="http://schemas.microsoft.com/office/powerpoint/2010/main" val="4023999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397664" y="9549002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noProof="0" smtClean="0"/>
              <a:t>10</a:t>
            </a:fld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2710382"/>
                  </p:ext>
                </p:extLst>
              </p:nvPr>
            </p:nvGraphicFramePr>
            <p:xfrm>
              <a:off x="110259" y="114140"/>
              <a:ext cx="6609852" cy="45257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0476">
                      <a:extLst>
                        <a:ext uri="{9D8B030D-6E8A-4147-A177-3AD203B41FA5}">
                          <a16:colId xmlns:a16="http://schemas.microsoft.com/office/drawing/2014/main" val="4222859584"/>
                        </a:ext>
                      </a:extLst>
                    </a:gridCol>
                    <a:gridCol w="1772578">
                      <a:extLst>
                        <a:ext uri="{9D8B030D-6E8A-4147-A177-3AD203B41FA5}">
                          <a16:colId xmlns:a16="http://schemas.microsoft.com/office/drawing/2014/main" val="2943938818"/>
                        </a:ext>
                      </a:extLst>
                    </a:gridCol>
                    <a:gridCol w="1778669">
                      <a:extLst>
                        <a:ext uri="{9D8B030D-6E8A-4147-A177-3AD203B41FA5}">
                          <a16:colId xmlns:a16="http://schemas.microsoft.com/office/drawing/2014/main" val="4207345459"/>
                        </a:ext>
                      </a:extLst>
                    </a:gridCol>
                    <a:gridCol w="1658129">
                      <a:extLst>
                        <a:ext uri="{9D8B030D-6E8A-4147-A177-3AD203B41FA5}">
                          <a16:colId xmlns:a16="http://schemas.microsoft.com/office/drawing/2014/main" val="592218920"/>
                        </a:ext>
                      </a:extLst>
                    </a:gridCol>
                  </a:tblGrid>
                  <a:tr h="304282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  <a:cs typeface="Calibri" panose="020F0502020204030204" pitchFamily="34" charset="0"/>
                            </a:rPr>
                            <a:t>Example 10 -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Example 11 – We</a:t>
                          </a:r>
                          <a:r>
                            <a:rPr lang="en-GB" sz="1200" b="1" i="1" baseline="0" noProof="0" dirty="0">
                              <a:solidFill>
                                <a:schemeClr val="accent2"/>
                              </a:solidFill>
                            </a:rPr>
                            <a:t> </a:t>
                          </a: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Example 12 – You</a:t>
                          </a:r>
                          <a:r>
                            <a:rPr lang="en-GB" sz="1200" b="1" i="1" baseline="0" noProof="0" dirty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53781998"/>
                      </a:ext>
                    </a:extLst>
                  </a:tr>
                  <a:tr h="760876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1) Label the equations 1 and 2.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5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Solve the simultaneous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equations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 4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=6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(1)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=4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(2)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5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Solve the simultaneous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equations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 dirty="0">
                            <a:solidFill>
                              <a:schemeClr val="accent2"/>
                            </a:solidFill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6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+5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=27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(1)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+5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=19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(2)</a:t>
                          </a:r>
                          <a:endParaRPr lang="en-GB" sz="1200" b="1" i="1" noProof="0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5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Solve the simultaneous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equations. 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5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=11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(1)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=8</m:t>
                              </m:r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(2)</a:t>
                          </a: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7265822"/>
                      </a:ext>
                    </a:extLst>
                  </a:tr>
                  <a:tr h="760876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2) If the signs are the same for the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variables that match </a:t>
                          </a: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subtract.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9068173"/>
                      </a:ext>
                    </a:extLst>
                  </a:tr>
                  <a:tr h="760876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3) Solve to find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one variable. </a:t>
                          </a: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8547888"/>
                      </a:ext>
                    </a:extLst>
                  </a:tr>
                  <a:tr h="1369576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4) Substitute the value of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into one of the equations to find the other values.</a:t>
                          </a: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2978753"/>
                      </a:ext>
                    </a:extLst>
                  </a:tr>
                  <a:tr h="507137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5) Write the solutions.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4148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2710382"/>
                  </p:ext>
                </p:extLst>
              </p:nvPr>
            </p:nvGraphicFramePr>
            <p:xfrm>
              <a:off x="110259" y="114140"/>
              <a:ext cx="6609852" cy="45257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0476">
                      <a:extLst>
                        <a:ext uri="{9D8B030D-6E8A-4147-A177-3AD203B41FA5}">
                          <a16:colId xmlns:a16="http://schemas.microsoft.com/office/drawing/2014/main" val="4222859584"/>
                        </a:ext>
                      </a:extLst>
                    </a:gridCol>
                    <a:gridCol w="1772578">
                      <a:extLst>
                        <a:ext uri="{9D8B030D-6E8A-4147-A177-3AD203B41FA5}">
                          <a16:colId xmlns:a16="http://schemas.microsoft.com/office/drawing/2014/main" val="2943938818"/>
                        </a:ext>
                      </a:extLst>
                    </a:gridCol>
                    <a:gridCol w="1778669">
                      <a:extLst>
                        <a:ext uri="{9D8B030D-6E8A-4147-A177-3AD203B41FA5}">
                          <a16:colId xmlns:a16="http://schemas.microsoft.com/office/drawing/2014/main" val="4207345459"/>
                        </a:ext>
                      </a:extLst>
                    </a:gridCol>
                    <a:gridCol w="1658129">
                      <a:extLst>
                        <a:ext uri="{9D8B030D-6E8A-4147-A177-3AD203B41FA5}">
                          <a16:colId xmlns:a16="http://schemas.microsoft.com/office/drawing/2014/main" val="592218920"/>
                        </a:ext>
                      </a:extLst>
                    </a:gridCol>
                  </a:tblGrid>
                  <a:tr h="304282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  <a:cs typeface="Calibri" panose="020F0502020204030204" pitchFamily="34" charset="0"/>
                            </a:rPr>
                            <a:t>Example 10 -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11 – We</a:t>
                          </a:r>
                          <a:r>
                            <a:rPr lang="en-GB" sz="1200" b="1" i="1" baseline="0" noProof="0">
                              <a:solidFill>
                                <a:schemeClr val="accent2"/>
                              </a:solidFill>
                            </a:rPr>
                            <a:t> </a:t>
                          </a: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12 – You</a:t>
                          </a:r>
                          <a:r>
                            <a:rPr lang="en-GB" sz="1200" b="1" i="1" baseline="0" noProof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53781998"/>
                      </a:ext>
                    </a:extLst>
                  </a:tr>
                  <a:tr h="760876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1) Label the equations 1 and 2.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5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9381" t="-7349" r="-194502" b="-288"/>
                          </a:stretch>
                        </a:blipFill>
                      </a:tcPr>
                    </a:tc>
                    <a:tc rowSpan="5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8767" t="-7349" r="-93836" b="-288"/>
                          </a:stretch>
                        </a:blipFill>
                      </a:tcPr>
                    </a:tc>
                    <a:tc rowSpan="5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265" t="-7349" r="-735" b="-2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7265822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2) If the signs are the same for the</a:t>
                          </a:r>
                          <a:r>
                            <a:rPr lang="en-GB" sz="1200" b="0" i="0" baseline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variables that match </a:t>
                          </a: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subtract.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9068173"/>
                      </a:ext>
                    </a:extLst>
                  </a:tr>
                  <a:tr h="760876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3) Solve to find</a:t>
                          </a:r>
                          <a:r>
                            <a:rPr lang="en-GB" sz="1200" b="0" i="0" baseline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one variable. </a:t>
                          </a:r>
                          <a:endParaRPr lang="en-GB" sz="1200" b="0" i="0" noProof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8547888"/>
                      </a:ext>
                    </a:extLst>
                  </a:tr>
                  <a:tr h="13695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5" t="-192920" r="-372609" b="-37611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2978753"/>
                      </a:ext>
                    </a:extLst>
                  </a:tr>
                  <a:tr h="507137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5) Write the solutions.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4148007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4" name="Straight Connector 3"/>
          <p:cNvCxnSpPr/>
          <p:nvPr/>
        </p:nvCxnSpPr>
        <p:spPr>
          <a:xfrm>
            <a:off x="1884844" y="1460443"/>
            <a:ext cx="107270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606964" y="1460443"/>
            <a:ext cx="107270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5397664" y="1460443"/>
            <a:ext cx="107270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C10CDB0-5D39-7448-ABDD-102EC30FED6B}"/>
              </a:ext>
            </a:extLst>
          </p:cNvPr>
          <p:cNvSpPr txBox="1"/>
          <p:nvPr/>
        </p:nvSpPr>
        <p:spPr>
          <a:xfrm>
            <a:off x="2025511" y="4631311"/>
            <a:ext cx="35897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/>
              <a:t> 4) Solve the simultaneous equations using elimination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08810" y="5268668"/>
                <a:ext cx="3429000" cy="46166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a)   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=6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(1)</a:t>
                </a:r>
              </a:p>
              <a:p>
                <a:pPr lvl="0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=4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  <a:endParaRPr lang="en-GB" sz="1200" noProof="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810" y="5268668"/>
                <a:ext cx="3429000" cy="461665"/>
              </a:xfrm>
              <a:prstGeom prst="rect">
                <a:avLst/>
              </a:prstGeom>
              <a:blipFill>
                <a:blip r:embed="rId4"/>
                <a:stretch>
                  <a:fillRect l="-178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>
          <a:xfrm>
            <a:off x="655046" y="5730333"/>
            <a:ext cx="107270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693641" y="5287610"/>
                <a:ext cx="3429000" cy="46166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b)   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=13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(1)</a:t>
                </a:r>
              </a:p>
              <a:p>
                <a:pPr lvl="0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9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  (2)</a:t>
                </a:r>
                <a:endParaRPr lang="en-GB" sz="1200" noProof="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3641" y="5287610"/>
                <a:ext cx="3429000" cy="461665"/>
              </a:xfrm>
              <a:prstGeom prst="rect">
                <a:avLst/>
              </a:prstGeom>
              <a:blipFill>
                <a:blip r:embed="rId5"/>
                <a:stretch>
                  <a:fillRect l="-178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/>
          <p:cNvCxnSpPr/>
          <p:nvPr/>
        </p:nvCxnSpPr>
        <p:spPr>
          <a:xfrm>
            <a:off x="3013442" y="5749275"/>
            <a:ext cx="107270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5005611" y="5281158"/>
                <a:ext cx="3429000" cy="46166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c)   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4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=19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(1)</a:t>
                </a:r>
              </a:p>
              <a:p>
                <a:pPr lvl="0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=7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  (2)</a:t>
                </a:r>
                <a:endParaRPr lang="en-GB" sz="1200" noProof="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611" y="5281158"/>
                <a:ext cx="3429000" cy="461665"/>
              </a:xfrm>
              <a:prstGeom prst="rect">
                <a:avLst/>
              </a:prstGeom>
              <a:blipFill>
                <a:blip r:embed="rId6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/>
          <p:cNvCxnSpPr/>
          <p:nvPr/>
        </p:nvCxnSpPr>
        <p:spPr>
          <a:xfrm>
            <a:off x="5218533" y="5724214"/>
            <a:ext cx="107270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647954" y="5231497"/>
            <a:ext cx="2072157" cy="431750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0" name="Rectangle 19"/>
          <p:cNvSpPr/>
          <p:nvPr/>
        </p:nvSpPr>
        <p:spPr>
          <a:xfrm>
            <a:off x="2381638" y="5238858"/>
            <a:ext cx="2072157" cy="431750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1" name="Rectangle 20"/>
          <p:cNvSpPr/>
          <p:nvPr/>
        </p:nvSpPr>
        <p:spPr>
          <a:xfrm>
            <a:off x="116795" y="5231497"/>
            <a:ext cx="2072157" cy="431750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grpSp>
        <p:nvGrpSpPr>
          <p:cNvPr id="25" name="Group 24"/>
          <p:cNvGrpSpPr/>
          <p:nvPr/>
        </p:nvGrpSpPr>
        <p:grpSpPr>
          <a:xfrm>
            <a:off x="806794" y="8847746"/>
            <a:ext cx="1312183" cy="646331"/>
            <a:chOff x="834771" y="6575155"/>
            <a:chExt cx="1312183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834771" y="6575155"/>
                  <a:ext cx="48705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200" b="0" noProof="0" dirty="0"/>
                </a:p>
                <a:p>
                  <a:endParaRPr lang="en-GB" sz="1200" b="0" noProof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200" noProof="0" dirty="0"/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771" y="6575155"/>
                  <a:ext cx="487056" cy="6463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Rectangle 26"/>
            <p:cNvSpPr/>
            <p:nvPr/>
          </p:nvSpPr>
          <p:spPr>
            <a:xfrm>
              <a:off x="1285620" y="6620437"/>
              <a:ext cx="861334" cy="265295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285620" y="6923162"/>
              <a:ext cx="861334" cy="265295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081718" y="8847746"/>
            <a:ext cx="1312183" cy="646331"/>
            <a:chOff x="834771" y="6575155"/>
            <a:chExt cx="1312183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834771" y="6575155"/>
                  <a:ext cx="48705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200" b="0" noProof="0" dirty="0"/>
                </a:p>
                <a:p>
                  <a:endParaRPr lang="en-GB" sz="1200" b="0" noProof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200" noProof="0" dirty="0"/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771" y="6575155"/>
                  <a:ext cx="487056" cy="6463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Rectangle 32"/>
            <p:cNvSpPr/>
            <p:nvPr/>
          </p:nvSpPr>
          <p:spPr>
            <a:xfrm>
              <a:off x="1285620" y="6620437"/>
              <a:ext cx="861334" cy="265295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285620" y="6923162"/>
              <a:ext cx="861334" cy="265295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5371684" y="8860546"/>
            <a:ext cx="1312183" cy="646331"/>
            <a:chOff x="834771" y="6575155"/>
            <a:chExt cx="1312183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834771" y="6575155"/>
                  <a:ext cx="48705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200" b="0" noProof="0" dirty="0"/>
                </a:p>
                <a:p>
                  <a:endParaRPr lang="en-GB" sz="1200" b="0" noProof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200" noProof="0" dirty="0"/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771" y="6575155"/>
                  <a:ext cx="487056" cy="6463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Rectangle 40"/>
            <p:cNvSpPr/>
            <p:nvPr/>
          </p:nvSpPr>
          <p:spPr>
            <a:xfrm>
              <a:off x="1285620" y="6620437"/>
              <a:ext cx="861334" cy="265295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285620" y="6923162"/>
              <a:ext cx="861334" cy="265295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110259" y="4640752"/>
            <a:ext cx="1732782" cy="276999"/>
          </a:xfrm>
          <a:prstGeom prst="rect">
            <a:avLst/>
          </a:prstGeom>
          <a:solidFill>
            <a:srgbClr val="0070C0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200" noProof="0" dirty="0">
                <a:solidFill>
                  <a:schemeClr val="bg1"/>
                </a:solidFill>
              </a:rPr>
              <a:t>INDEPENDENT PRACTICE</a:t>
            </a:r>
          </a:p>
        </p:txBody>
      </p:sp>
    </p:spTree>
    <p:extLst>
      <p:ext uri="{BB962C8B-B14F-4D97-AF65-F5344CB8AC3E}">
        <p14:creationId xmlns:p14="http://schemas.microsoft.com/office/powerpoint/2010/main" val="1555687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397664" y="9549002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noProof="0" smtClean="0"/>
              <a:t>11</a:t>
            </a:fld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0270620"/>
                  </p:ext>
                </p:extLst>
              </p:nvPr>
            </p:nvGraphicFramePr>
            <p:xfrm>
              <a:off x="110259" y="114140"/>
              <a:ext cx="6609852" cy="45257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0476">
                      <a:extLst>
                        <a:ext uri="{9D8B030D-6E8A-4147-A177-3AD203B41FA5}">
                          <a16:colId xmlns:a16="http://schemas.microsoft.com/office/drawing/2014/main" val="4222859584"/>
                        </a:ext>
                      </a:extLst>
                    </a:gridCol>
                    <a:gridCol w="1772578">
                      <a:extLst>
                        <a:ext uri="{9D8B030D-6E8A-4147-A177-3AD203B41FA5}">
                          <a16:colId xmlns:a16="http://schemas.microsoft.com/office/drawing/2014/main" val="2943938818"/>
                        </a:ext>
                      </a:extLst>
                    </a:gridCol>
                    <a:gridCol w="1778669">
                      <a:extLst>
                        <a:ext uri="{9D8B030D-6E8A-4147-A177-3AD203B41FA5}">
                          <a16:colId xmlns:a16="http://schemas.microsoft.com/office/drawing/2014/main" val="4207345459"/>
                        </a:ext>
                      </a:extLst>
                    </a:gridCol>
                    <a:gridCol w="1658129">
                      <a:extLst>
                        <a:ext uri="{9D8B030D-6E8A-4147-A177-3AD203B41FA5}">
                          <a16:colId xmlns:a16="http://schemas.microsoft.com/office/drawing/2014/main" val="592218920"/>
                        </a:ext>
                      </a:extLst>
                    </a:gridCol>
                  </a:tblGrid>
                  <a:tr h="304282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  <a:cs typeface="Calibri" panose="020F0502020204030204" pitchFamily="34" charset="0"/>
                            </a:rPr>
                            <a:t>Example 13 -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Example 14 – We</a:t>
                          </a:r>
                          <a:r>
                            <a:rPr lang="en-GB" sz="1200" b="1" i="1" baseline="0" noProof="0" dirty="0">
                              <a:solidFill>
                                <a:schemeClr val="accent2"/>
                              </a:solidFill>
                            </a:rPr>
                            <a:t> </a:t>
                          </a: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Example 15 – You</a:t>
                          </a:r>
                          <a:r>
                            <a:rPr lang="en-GB" sz="1200" b="1" i="1" baseline="0" noProof="0" dirty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53781998"/>
                      </a:ext>
                    </a:extLst>
                  </a:tr>
                  <a:tr h="760876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1) Label the equations 1 and 2.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5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Solve the simultaneous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equations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 4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−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=6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(1)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−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=4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(2)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5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Solve the simultaneous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equations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5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−2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=11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(1)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−2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=8</m:t>
                              </m:r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(2)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5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Solve the simultaneous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equations. 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6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−5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=27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(1)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−5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=19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(2)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7265822"/>
                      </a:ext>
                    </a:extLst>
                  </a:tr>
                  <a:tr h="760876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2) If the signs are the same for the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variables that match </a:t>
                          </a: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subtract.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9068173"/>
                      </a:ext>
                    </a:extLst>
                  </a:tr>
                  <a:tr h="760876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3) Solve to find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one variable. </a:t>
                          </a: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8547888"/>
                      </a:ext>
                    </a:extLst>
                  </a:tr>
                  <a:tr h="1369576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4) Substitute the value of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into one of the equations to find the other variable. </a:t>
                          </a: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2978753"/>
                      </a:ext>
                    </a:extLst>
                  </a:tr>
                  <a:tr h="507137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5) Write the solutions.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4148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0270620"/>
                  </p:ext>
                </p:extLst>
              </p:nvPr>
            </p:nvGraphicFramePr>
            <p:xfrm>
              <a:off x="110259" y="114140"/>
              <a:ext cx="6609852" cy="45257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0476">
                      <a:extLst>
                        <a:ext uri="{9D8B030D-6E8A-4147-A177-3AD203B41FA5}">
                          <a16:colId xmlns:a16="http://schemas.microsoft.com/office/drawing/2014/main" val="4222859584"/>
                        </a:ext>
                      </a:extLst>
                    </a:gridCol>
                    <a:gridCol w="1772578">
                      <a:extLst>
                        <a:ext uri="{9D8B030D-6E8A-4147-A177-3AD203B41FA5}">
                          <a16:colId xmlns:a16="http://schemas.microsoft.com/office/drawing/2014/main" val="2943938818"/>
                        </a:ext>
                      </a:extLst>
                    </a:gridCol>
                    <a:gridCol w="1778669">
                      <a:extLst>
                        <a:ext uri="{9D8B030D-6E8A-4147-A177-3AD203B41FA5}">
                          <a16:colId xmlns:a16="http://schemas.microsoft.com/office/drawing/2014/main" val="4207345459"/>
                        </a:ext>
                      </a:extLst>
                    </a:gridCol>
                    <a:gridCol w="1658129">
                      <a:extLst>
                        <a:ext uri="{9D8B030D-6E8A-4147-A177-3AD203B41FA5}">
                          <a16:colId xmlns:a16="http://schemas.microsoft.com/office/drawing/2014/main" val="592218920"/>
                        </a:ext>
                      </a:extLst>
                    </a:gridCol>
                  </a:tblGrid>
                  <a:tr h="304282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  <a:cs typeface="Calibri" panose="020F0502020204030204" pitchFamily="34" charset="0"/>
                            </a:rPr>
                            <a:t>Example 13 -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14 – We</a:t>
                          </a:r>
                          <a:r>
                            <a:rPr lang="en-GB" sz="1200" b="1" i="1" baseline="0" noProof="0">
                              <a:solidFill>
                                <a:schemeClr val="accent2"/>
                              </a:solidFill>
                            </a:rPr>
                            <a:t> </a:t>
                          </a: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15 – You</a:t>
                          </a:r>
                          <a:r>
                            <a:rPr lang="en-GB" sz="1200" b="1" i="1" baseline="0" noProof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53781998"/>
                      </a:ext>
                    </a:extLst>
                  </a:tr>
                  <a:tr h="760876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1) Label the equations 1 and 2.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5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9381" t="-7349" r="-194502" b="-288"/>
                          </a:stretch>
                        </a:blipFill>
                      </a:tcPr>
                    </a:tc>
                    <a:tc rowSpan="5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8767" t="-7349" r="-93836" b="-288"/>
                          </a:stretch>
                        </a:blipFill>
                      </a:tcPr>
                    </a:tc>
                    <a:tc rowSpan="5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265" t="-7349" r="-735" b="-2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7265822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2) If the signs are the same for the</a:t>
                          </a:r>
                          <a:r>
                            <a:rPr lang="en-GB" sz="1200" b="0" i="0" baseline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variables that match </a:t>
                          </a: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subtract.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9068173"/>
                      </a:ext>
                    </a:extLst>
                  </a:tr>
                  <a:tr h="760876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3) Solve to find</a:t>
                          </a:r>
                          <a:r>
                            <a:rPr lang="en-GB" sz="1200" b="0" i="0" baseline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one variable. </a:t>
                          </a:r>
                          <a:endParaRPr lang="en-GB" sz="1200" b="0" i="0" noProof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8547888"/>
                      </a:ext>
                    </a:extLst>
                  </a:tr>
                  <a:tr h="13695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5" t="-192920" r="-372609" b="-37611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2978753"/>
                      </a:ext>
                    </a:extLst>
                  </a:tr>
                  <a:tr h="507137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5) Write the solutions.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4148007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4" name="Straight Connector 3"/>
          <p:cNvCxnSpPr/>
          <p:nvPr/>
        </p:nvCxnSpPr>
        <p:spPr>
          <a:xfrm>
            <a:off x="1884844" y="1460443"/>
            <a:ext cx="107270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606964" y="1460443"/>
            <a:ext cx="107270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5397664" y="1460443"/>
            <a:ext cx="107270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C10CDB0-5D39-7448-ABDD-102EC30FED6B}"/>
              </a:ext>
            </a:extLst>
          </p:cNvPr>
          <p:cNvSpPr txBox="1"/>
          <p:nvPr/>
        </p:nvSpPr>
        <p:spPr>
          <a:xfrm>
            <a:off x="1807963" y="4935556"/>
            <a:ext cx="35897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/>
              <a:t> 5) Solve the simultaneous equations using elimination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08810" y="5268668"/>
                <a:ext cx="3429000" cy="46166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a)   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=6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(1)</a:t>
                </a:r>
              </a:p>
              <a:p>
                <a:pPr lvl="0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=4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  <a:endParaRPr lang="en-GB" sz="1200" noProof="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810" y="5268668"/>
                <a:ext cx="3429000" cy="461665"/>
              </a:xfrm>
              <a:prstGeom prst="rect">
                <a:avLst/>
              </a:prstGeom>
              <a:blipFill>
                <a:blip r:embed="rId4"/>
                <a:stretch>
                  <a:fillRect l="-178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>
          <a:xfrm>
            <a:off x="655046" y="5730333"/>
            <a:ext cx="107270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693641" y="5287610"/>
                <a:ext cx="3429000" cy="46166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b)   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=13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(1)</a:t>
                </a:r>
              </a:p>
              <a:p>
                <a:pPr lvl="0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9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  (2)</a:t>
                </a:r>
                <a:endParaRPr lang="en-GB" sz="1200" noProof="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3641" y="5287610"/>
                <a:ext cx="3429000" cy="461665"/>
              </a:xfrm>
              <a:prstGeom prst="rect">
                <a:avLst/>
              </a:prstGeom>
              <a:blipFill>
                <a:blip r:embed="rId5"/>
                <a:stretch>
                  <a:fillRect l="-178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/>
          <p:cNvCxnSpPr/>
          <p:nvPr/>
        </p:nvCxnSpPr>
        <p:spPr>
          <a:xfrm>
            <a:off x="3013442" y="5749275"/>
            <a:ext cx="107270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5005611" y="5281158"/>
                <a:ext cx="3429000" cy="46166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c)   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4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=19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(1)</a:t>
                </a:r>
              </a:p>
              <a:p>
                <a:pPr lvl="0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=7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  (2)</a:t>
                </a:r>
                <a:endParaRPr lang="en-GB" sz="1200" noProof="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611" y="5281158"/>
                <a:ext cx="3429000" cy="461665"/>
              </a:xfrm>
              <a:prstGeom prst="rect">
                <a:avLst/>
              </a:prstGeom>
              <a:blipFill>
                <a:blip r:embed="rId6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/>
          <p:cNvCxnSpPr/>
          <p:nvPr/>
        </p:nvCxnSpPr>
        <p:spPr>
          <a:xfrm>
            <a:off x="5218533" y="5724214"/>
            <a:ext cx="107270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647954" y="5231497"/>
            <a:ext cx="2072157" cy="431750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0" name="Rectangle 19"/>
          <p:cNvSpPr/>
          <p:nvPr/>
        </p:nvSpPr>
        <p:spPr>
          <a:xfrm>
            <a:off x="2381638" y="5238858"/>
            <a:ext cx="2072157" cy="431750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1" name="Rectangle 20"/>
          <p:cNvSpPr/>
          <p:nvPr/>
        </p:nvSpPr>
        <p:spPr>
          <a:xfrm>
            <a:off x="116795" y="5231497"/>
            <a:ext cx="2072157" cy="431750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grpSp>
        <p:nvGrpSpPr>
          <p:cNvPr id="24" name="Group 23"/>
          <p:cNvGrpSpPr/>
          <p:nvPr/>
        </p:nvGrpSpPr>
        <p:grpSpPr>
          <a:xfrm>
            <a:off x="781677" y="8815390"/>
            <a:ext cx="1312183" cy="646331"/>
            <a:chOff x="834771" y="6575155"/>
            <a:chExt cx="1312183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834771" y="6575155"/>
                  <a:ext cx="48705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200" b="0" noProof="0" dirty="0"/>
                </a:p>
                <a:p>
                  <a:endParaRPr lang="en-GB" sz="1200" b="0" noProof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200" noProof="0" dirty="0"/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771" y="6575155"/>
                  <a:ext cx="487056" cy="6463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Rectangle 25"/>
            <p:cNvSpPr/>
            <p:nvPr/>
          </p:nvSpPr>
          <p:spPr>
            <a:xfrm>
              <a:off x="1285620" y="6620437"/>
              <a:ext cx="861334" cy="265295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285620" y="6923162"/>
              <a:ext cx="861334" cy="265295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3084717" y="8815391"/>
            <a:ext cx="1312183" cy="646331"/>
            <a:chOff x="834771" y="6575155"/>
            <a:chExt cx="1312183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834771" y="6575155"/>
                  <a:ext cx="48705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200" b="0" noProof="0" dirty="0"/>
                </a:p>
                <a:p>
                  <a:endParaRPr lang="en-GB" sz="1200" b="0" noProof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200" noProof="0" dirty="0"/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771" y="6575155"/>
                  <a:ext cx="487056" cy="6463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Rectangle 29"/>
            <p:cNvSpPr/>
            <p:nvPr/>
          </p:nvSpPr>
          <p:spPr>
            <a:xfrm>
              <a:off x="1285620" y="6620437"/>
              <a:ext cx="861334" cy="265295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285620" y="6923162"/>
              <a:ext cx="861334" cy="265295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374683" y="8884063"/>
            <a:ext cx="1312183" cy="646331"/>
            <a:chOff x="834771" y="6575155"/>
            <a:chExt cx="1312183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834771" y="6575155"/>
                  <a:ext cx="48705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200" b="0" noProof="0" dirty="0"/>
                </a:p>
                <a:p>
                  <a:endParaRPr lang="en-GB" sz="1200" b="0" noProof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200" noProof="0" dirty="0"/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771" y="6575155"/>
                  <a:ext cx="487056" cy="6463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Rectangle 39"/>
            <p:cNvSpPr/>
            <p:nvPr/>
          </p:nvSpPr>
          <p:spPr>
            <a:xfrm>
              <a:off x="1285620" y="6620437"/>
              <a:ext cx="861334" cy="265295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285620" y="6923162"/>
              <a:ext cx="861334" cy="265295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116795" y="4662898"/>
            <a:ext cx="1732782" cy="276999"/>
          </a:xfrm>
          <a:prstGeom prst="rect">
            <a:avLst/>
          </a:prstGeom>
          <a:solidFill>
            <a:srgbClr val="0070C0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200" noProof="0" dirty="0">
                <a:solidFill>
                  <a:schemeClr val="bg1"/>
                </a:solidFill>
              </a:rPr>
              <a:t>INDEPENDENT PRACTICE</a:t>
            </a:r>
          </a:p>
        </p:txBody>
      </p:sp>
    </p:spTree>
    <p:extLst>
      <p:ext uri="{BB962C8B-B14F-4D97-AF65-F5344CB8AC3E}">
        <p14:creationId xmlns:p14="http://schemas.microsoft.com/office/powerpoint/2010/main" val="488137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314950" y="9378597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noProof="0" smtClean="0"/>
              <a:t>12</a:t>
            </a:fld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0028373"/>
                  </p:ext>
                </p:extLst>
              </p:nvPr>
            </p:nvGraphicFramePr>
            <p:xfrm>
              <a:off x="105684" y="182287"/>
              <a:ext cx="6614917" cy="24212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80112">
                      <a:extLst>
                        <a:ext uri="{9D8B030D-6E8A-4147-A177-3AD203B41FA5}">
                          <a16:colId xmlns:a16="http://schemas.microsoft.com/office/drawing/2014/main" val="2943938818"/>
                        </a:ext>
                      </a:extLst>
                    </a:gridCol>
                    <a:gridCol w="2208039">
                      <a:extLst>
                        <a:ext uri="{9D8B030D-6E8A-4147-A177-3AD203B41FA5}">
                          <a16:colId xmlns:a16="http://schemas.microsoft.com/office/drawing/2014/main" val="4207345459"/>
                        </a:ext>
                      </a:extLst>
                    </a:gridCol>
                    <a:gridCol w="2126766">
                      <a:extLst>
                        <a:ext uri="{9D8B030D-6E8A-4147-A177-3AD203B41FA5}">
                          <a16:colId xmlns:a16="http://schemas.microsoft.com/office/drawing/2014/main" val="592218920"/>
                        </a:ext>
                      </a:extLst>
                    </a:gridCol>
                  </a:tblGrid>
                  <a:tr h="381593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  <a:cs typeface="Calibri" panose="020F0502020204030204" pitchFamily="34" charset="0"/>
                            </a:rPr>
                            <a:t>Example 16 -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Example 17 – We</a:t>
                          </a:r>
                          <a:r>
                            <a:rPr lang="en-GB" sz="1200" b="1" i="1" baseline="0" noProof="0" dirty="0">
                              <a:solidFill>
                                <a:schemeClr val="accent2"/>
                              </a:solidFill>
                            </a:rPr>
                            <a:t> </a:t>
                          </a: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Example 18 – You</a:t>
                          </a:r>
                          <a:r>
                            <a:rPr lang="en-GB" sz="1200" b="1" i="1" baseline="0" noProof="0" dirty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53781998"/>
                      </a:ext>
                    </a:extLst>
                  </a:tr>
                  <a:tr h="2039622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Add the equations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together to eliminate the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’s 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=7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(1)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−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=2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(2)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Add the equations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together to eliminate the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’s 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3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=16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(1)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−2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=4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(2)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Add the equations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together to eliminate the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’s 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</a:t>
                          </a:r>
                          <a:endParaRPr lang="en-GB" sz="1200" b="1" i="1" noProof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4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−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=31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(1)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3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=18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(2)</a:t>
                          </a:r>
                          <a:endParaRPr lang="en-GB" sz="1200" b="1" i="1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72658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0028373"/>
                  </p:ext>
                </p:extLst>
              </p:nvPr>
            </p:nvGraphicFramePr>
            <p:xfrm>
              <a:off x="105684" y="182287"/>
              <a:ext cx="6614917" cy="24212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80112">
                      <a:extLst>
                        <a:ext uri="{9D8B030D-6E8A-4147-A177-3AD203B41FA5}">
                          <a16:colId xmlns:a16="http://schemas.microsoft.com/office/drawing/2014/main" val="2943938818"/>
                        </a:ext>
                      </a:extLst>
                    </a:gridCol>
                    <a:gridCol w="2208039">
                      <a:extLst>
                        <a:ext uri="{9D8B030D-6E8A-4147-A177-3AD203B41FA5}">
                          <a16:colId xmlns:a16="http://schemas.microsoft.com/office/drawing/2014/main" val="4207345459"/>
                        </a:ext>
                      </a:extLst>
                    </a:gridCol>
                    <a:gridCol w="2126766">
                      <a:extLst>
                        <a:ext uri="{9D8B030D-6E8A-4147-A177-3AD203B41FA5}">
                          <a16:colId xmlns:a16="http://schemas.microsoft.com/office/drawing/2014/main" val="592218920"/>
                        </a:ext>
                      </a:extLst>
                    </a:gridCol>
                  </a:tblGrid>
                  <a:tr h="381593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  <a:cs typeface="Calibri" panose="020F0502020204030204" pitchFamily="34" charset="0"/>
                            </a:rPr>
                            <a:t>Example 16 -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17 – We</a:t>
                          </a:r>
                          <a:r>
                            <a:rPr lang="en-GB" sz="1200" b="1" i="1" baseline="0" noProof="0">
                              <a:solidFill>
                                <a:schemeClr val="accent2"/>
                              </a:solidFill>
                            </a:rPr>
                            <a:t> </a:t>
                          </a: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18 – You</a:t>
                          </a:r>
                          <a:r>
                            <a:rPr lang="en-GB" sz="1200" b="1" i="1" baseline="0" noProof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53781998"/>
                      </a:ext>
                    </a:extLst>
                  </a:tr>
                  <a:tr h="20396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7" t="-19048" r="-190909" b="-5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3306" t="-19048" r="-96694" b="-5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1461" t="-19048" r="-573" b="-5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726582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10CDB0-5D39-7448-ABDD-102EC30FED6B}"/>
                  </a:ext>
                </a:extLst>
              </p:cNvPr>
              <p:cNvSpPr txBox="1"/>
              <p:nvPr/>
            </p:nvSpPr>
            <p:spPr>
              <a:xfrm>
                <a:off x="1835753" y="2682090"/>
                <a:ext cx="338400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noProof="0" dirty="0"/>
                  <a:t> 6) </a:t>
                </a:r>
                <a:r>
                  <a:rPr lang="en-GB" sz="1200" noProof="0" dirty="0">
                    <a:cs typeface="Calibri" panose="020F0502020204030204" pitchFamily="34" charset="0"/>
                  </a:rPr>
                  <a:t>Add the equations together to eliminate the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’s </a:t>
                </a:r>
              </a:p>
              <a:p>
                <a:endParaRPr lang="en-GB" sz="1200" noProof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10CDB0-5D39-7448-ABDD-102EC30FE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753" y="2682090"/>
                <a:ext cx="3384004" cy="461665"/>
              </a:xfrm>
              <a:prstGeom prst="rect">
                <a:avLst/>
              </a:prstGeom>
              <a:blipFill>
                <a:blip r:embed="rId3"/>
                <a:stretch>
                  <a:fillRect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02972" y="3260506"/>
                <a:ext cx="138728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a)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=4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  0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(2)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2" y="3260506"/>
                <a:ext cx="1387282" cy="461665"/>
              </a:xfrm>
              <a:prstGeom prst="rect">
                <a:avLst/>
              </a:prstGeom>
              <a:blipFill>
                <a:blip r:embed="rId4"/>
                <a:stretch>
                  <a:fillRect t="-1316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790029" y="3260506"/>
                <a:ext cx="149503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b)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 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8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=8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 5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=5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029" y="3260506"/>
                <a:ext cx="1495034" cy="461665"/>
              </a:xfrm>
              <a:prstGeom prst="rect">
                <a:avLst/>
              </a:prstGeom>
              <a:blipFill>
                <a:blip r:embed="rId5"/>
                <a:stretch>
                  <a:fillRect t="-1316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3479266" y="3260505"/>
                <a:ext cx="161512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c)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=3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=5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9266" y="3260505"/>
                <a:ext cx="1615124" cy="461665"/>
              </a:xfrm>
              <a:prstGeom prst="rect">
                <a:avLst/>
              </a:prstGeom>
              <a:blipFill>
                <a:blip r:embed="rId6"/>
                <a:stretch>
                  <a:fillRect t="-1316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5205575" y="3281316"/>
                <a:ext cx="153188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d)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0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=8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4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=6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5575" y="3281316"/>
                <a:ext cx="1531886" cy="461665"/>
              </a:xfrm>
              <a:prstGeom prst="rect">
                <a:avLst/>
              </a:prstGeom>
              <a:blipFill>
                <a:blip r:embed="rId7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/>
          <p:cNvCxnSpPr/>
          <p:nvPr/>
        </p:nvCxnSpPr>
        <p:spPr>
          <a:xfrm>
            <a:off x="338689" y="3722170"/>
            <a:ext cx="1072707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073657" y="3722170"/>
            <a:ext cx="1072707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752984" y="3722170"/>
            <a:ext cx="1072707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487952" y="3722170"/>
            <a:ext cx="1072707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102971" y="5478669"/>
                <a:ext cx="159080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e)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  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=4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=8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1" y="5478669"/>
                <a:ext cx="1590801" cy="461665"/>
              </a:xfrm>
              <a:prstGeom prst="rect">
                <a:avLst/>
              </a:prstGeom>
              <a:blipFill>
                <a:blip r:embed="rId8"/>
                <a:stretch>
                  <a:fillRect t="-1333"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1790029" y="5478669"/>
                <a:ext cx="162490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f)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4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=14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 5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=13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029" y="5478669"/>
                <a:ext cx="1624900" cy="461665"/>
              </a:xfrm>
              <a:prstGeom prst="rect">
                <a:avLst/>
              </a:prstGeom>
              <a:blipFill>
                <a:blip r:embed="rId9"/>
                <a:stretch>
                  <a:fillRect t="-1333"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3479266" y="5478668"/>
                <a:ext cx="161512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g)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8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=28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(1)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 7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=17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9266" y="5478668"/>
                <a:ext cx="1615124" cy="461665"/>
              </a:xfrm>
              <a:prstGeom prst="rect">
                <a:avLst/>
              </a:prstGeom>
              <a:blipFill>
                <a:blip r:embed="rId10"/>
                <a:stretch>
                  <a:fillRect t="-1333"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5205575" y="5499479"/>
                <a:ext cx="153188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h)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8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+7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=23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</m:t>
                    </m:r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0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−7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=13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5575" y="5499479"/>
                <a:ext cx="1531886" cy="461665"/>
              </a:xfrm>
              <a:prstGeom prst="rect">
                <a:avLst/>
              </a:prstGeom>
              <a:blipFill>
                <a:blip r:embed="rId11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/>
          <p:cNvCxnSpPr/>
          <p:nvPr/>
        </p:nvCxnSpPr>
        <p:spPr>
          <a:xfrm>
            <a:off x="338689" y="5940333"/>
            <a:ext cx="1072707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073657" y="5940333"/>
            <a:ext cx="1072707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3752984" y="5940333"/>
            <a:ext cx="1072707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5487952" y="5940333"/>
            <a:ext cx="1072707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35763" y="1745431"/>
            <a:ext cx="107270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2962058" y="1745431"/>
            <a:ext cx="107270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5154657" y="1745431"/>
            <a:ext cx="107270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693313" y="1332750"/>
            <a:ext cx="511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/>
              <a:t>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32566" y="1321766"/>
            <a:ext cx="511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/>
              <a:t>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7287" y="1312580"/>
            <a:ext cx="511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noProof="0" dirty="0"/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102971" y="7633005"/>
                <a:ext cx="159080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 err="1">
                    <a:cs typeface="Calibri" panose="020F0502020204030204" pitchFamily="34" charset="0"/>
                  </a:rPr>
                  <a:t>i</a:t>
                </a:r>
                <a:r>
                  <a:rPr lang="en-GB" sz="1200" noProof="0" dirty="0">
                    <a:cs typeface="Calibri" panose="020F0502020204030204" pitchFamily="34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  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4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=−5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 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+4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=11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71" y="7633005"/>
                <a:ext cx="1590801" cy="461665"/>
              </a:xfrm>
              <a:prstGeom prst="rect">
                <a:avLst/>
              </a:prstGeom>
              <a:blipFill>
                <a:blip r:embed="rId12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1790028" y="7633005"/>
                <a:ext cx="168923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j)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−8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=−11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+8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=21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028" y="7633005"/>
                <a:ext cx="1689237" cy="461665"/>
              </a:xfrm>
              <a:prstGeom prst="rect">
                <a:avLst/>
              </a:prstGeom>
              <a:blipFill>
                <a:blip r:embed="rId13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3479266" y="7633004"/>
                <a:ext cx="161512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k)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7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+9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=−5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(1)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   7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−9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=−23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9266" y="7633004"/>
                <a:ext cx="1615124" cy="461665"/>
              </a:xfrm>
              <a:prstGeom prst="rect">
                <a:avLst/>
              </a:prstGeom>
              <a:blipFill>
                <a:blip r:embed="rId14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5035296" y="7653815"/>
                <a:ext cx="184458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l)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0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+10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=−50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 </m:t>
                    </m:r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</m:t>
                    </m:r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0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−10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=−70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296" y="7653815"/>
                <a:ext cx="1844588" cy="461665"/>
              </a:xfrm>
              <a:prstGeom prst="rect">
                <a:avLst/>
              </a:prstGeom>
              <a:blipFill>
                <a:blip r:embed="rId15"/>
                <a:stretch>
                  <a:fillRect t="-1333"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/>
          <p:cNvCxnSpPr/>
          <p:nvPr/>
        </p:nvCxnSpPr>
        <p:spPr>
          <a:xfrm>
            <a:off x="338689" y="8094669"/>
            <a:ext cx="1072707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2073657" y="8094669"/>
            <a:ext cx="1072707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3752984" y="8094669"/>
            <a:ext cx="1072707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5487952" y="8094669"/>
            <a:ext cx="1072707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2971" y="2682091"/>
            <a:ext cx="1732782" cy="276999"/>
          </a:xfrm>
          <a:prstGeom prst="rect">
            <a:avLst/>
          </a:prstGeom>
          <a:solidFill>
            <a:srgbClr val="0070C0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200" noProof="0" dirty="0">
                <a:solidFill>
                  <a:schemeClr val="bg1"/>
                </a:solidFill>
              </a:rPr>
              <a:t>INDEPENDENT PRACTICE</a:t>
            </a:r>
          </a:p>
        </p:txBody>
      </p:sp>
    </p:spTree>
    <p:extLst>
      <p:ext uri="{BB962C8B-B14F-4D97-AF65-F5344CB8AC3E}">
        <p14:creationId xmlns:p14="http://schemas.microsoft.com/office/powerpoint/2010/main" val="3087637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276641" y="9562837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noProof="0" smtClean="0"/>
              <a:t>13</a:t>
            </a:fld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22665" y="170194"/>
                <a:ext cx="3429000" cy="46166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d)   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=22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(1)</a:t>
                </a:r>
              </a:p>
              <a:p>
                <a:pPr lvl="0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=8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  <a:endParaRPr lang="en-GB" sz="1200" noProof="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665" y="170194"/>
                <a:ext cx="3429000" cy="461665"/>
              </a:xfrm>
              <a:prstGeom prst="rect">
                <a:avLst/>
              </a:prstGeom>
              <a:blipFill>
                <a:blip r:embed="rId2"/>
                <a:stretch>
                  <a:fillRect l="-178" t="-1316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/>
          <p:cNvCxnSpPr/>
          <p:nvPr/>
        </p:nvCxnSpPr>
        <p:spPr>
          <a:xfrm>
            <a:off x="668901" y="631859"/>
            <a:ext cx="107270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707496" y="189136"/>
                <a:ext cx="3429000" cy="46166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e)   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=22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(1)</a:t>
                </a:r>
              </a:p>
              <a:p>
                <a:pPr lvl="0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20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  <a:endParaRPr lang="en-GB" sz="1200" noProof="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7496" y="189136"/>
                <a:ext cx="3429000" cy="461665"/>
              </a:xfrm>
              <a:prstGeom prst="rect">
                <a:avLst/>
              </a:prstGeom>
              <a:blipFill>
                <a:blip r:embed="rId3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/>
          <p:cNvCxnSpPr/>
          <p:nvPr/>
        </p:nvCxnSpPr>
        <p:spPr>
          <a:xfrm>
            <a:off x="3027297" y="650801"/>
            <a:ext cx="107270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019466" y="182684"/>
                <a:ext cx="3429000" cy="46166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f)   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4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=50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(1)</a:t>
                </a:r>
              </a:p>
              <a:p>
                <a:pPr lvl="0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=−2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  <a:endParaRPr lang="en-GB" sz="1200" noProof="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9466" y="182684"/>
                <a:ext cx="3429000" cy="461665"/>
              </a:xfrm>
              <a:prstGeom prst="rect">
                <a:avLst/>
              </a:prstGeom>
              <a:blipFill>
                <a:blip r:embed="rId4"/>
                <a:stretch>
                  <a:fillRect t="-1316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/>
          <p:cNvCxnSpPr/>
          <p:nvPr/>
        </p:nvCxnSpPr>
        <p:spPr>
          <a:xfrm>
            <a:off x="5232388" y="625740"/>
            <a:ext cx="107270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661809" y="133023"/>
            <a:ext cx="2072157" cy="454245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0" name="Rectangle 9"/>
          <p:cNvSpPr/>
          <p:nvPr/>
        </p:nvSpPr>
        <p:spPr>
          <a:xfrm>
            <a:off x="2395493" y="140384"/>
            <a:ext cx="2072157" cy="454245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1" name="Rectangle 10"/>
          <p:cNvSpPr/>
          <p:nvPr/>
        </p:nvSpPr>
        <p:spPr>
          <a:xfrm>
            <a:off x="130650" y="133023"/>
            <a:ext cx="2072157" cy="454245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322665" y="4924303"/>
                <a:ext cx="3429000" cy="46166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g)   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=23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(1)</a:t>
                </a:r>
              </a:p>
              <a:p>
                <a:pPr lvl="0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=−2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  <a:endParaRPr lang="en-GB" sz="1200" noProof="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665" y="4924303"/>
                <a:ext cx="3429000" cy="461665"/>
              </a:xfrm>
              <a:prstGeom prst="rect">
                <a:avLst/>
              </a:prstGeom>
              <a:blipFill>
                <a:blip r:embed="rId5"/>
                <a:stretch>
                  <a:fillRect l="-178" t="-1316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/>
          <p:cNvCxnSpPr/>
          <p:nvPr/>
        </p:nvCxnSpPr>
        <p:spPr>
          <a:xfrm>
            <a:off x="668901" y="5385968"/>
            <a:ext cx="107270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2707496" y="4943245"/>
                <a:ext cx="3429000" cy="46166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h)   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=0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(1)</a:t>
                </a:r>
              </a:p>
              <a:p>
                <a:pPr lvl="0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24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  <a:endParaRPr lang="en-GB" sz="1200" noProof="0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7496" y="4943245"/>
                <a:ext cx="3429000" cy="461665"/>
              </a:xfrm>
              <a:prstGeom prst="rect">
                <a:avLst/>
              </a:prstGeom>
              <a:blipFill>
                <a:blip r:embed="rId6"/>
                <a:stretch>
                  <a:fillRect t="-1316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/>
          <p:cNvCxnSpPr/>
          <p:nvPr/>
        </p:nvCxnSpPr>
        <p:spPr>
          <a:xfrm>
            <a:off x="3027297" y="5404910"/>
            <a:ext cx="107270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5019466" y="4936793"/>
                <a:ext cx="3429000" cy="46166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 defTabSz="685800">
                  <a:defRPr/>
                </a:pPr>
                <a:r>
                  <a:rPr lang="en-GB" sz="1200" noProof="0" dirty="0" err="1">
                    <a:cs typeface="Calibri" panose="020F0502020204030204" pitchFamily="34" charset="0"/>
                  </a:rPr>
                  <a:t>i</a:t>
                </a:r>
                <a:r>
                  <a:rPr lang="en-GB" sz="1200" noProof="0" dirty="0">
                    <a:cs typeface="Calibri" panose="020F0502020204030204" pitchFamily="34" charset="0"/>
                  </a:rPr>
                  <a:t>)   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4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+4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=44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   (1)</a:t>
                </a:r>
              </a:p>
              <a:p>
                <a:pPr lvl="0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−4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=−24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  <a:endParaRPr lang="en-GB" sz="1200" noProof="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9466" y="4936793"/>
                <a:ext cx="3429000" cy="461665"/>
              </a:xfrm>
              <a:prstGeom prst="rect">
                <a:avLst/>
              </a:prstGeom>
              <a:blipFill>
                <a:blip r:embed="rId7"/>
                <a:stretch>
                  <a:fillRect t="-1316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/>
          <p:cNvCxnSpPr/>
          <p:nvPr/>
        </p:nvCxnSpPr>
        <p:spPr>
          <a:xfrm>
            <a:off x="5232388" y="5379849"/>
            <a:ext cx="107270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661809" y="4887132"/>
            <a:ext cx="2072157" cy="467899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5" name="Rectangle 24"/>
          <p:cNvSpPr/>
          <p:nvPr/>
        </p:nvSpPr>
        <p:spPr>
          <a:xfrm>
            <a:off x="2395493" y="4894493"/>
            <a:ext cx="2072157" cy="467899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6" name="Rectangle 25"/>
          <p:cNvSpPr/>
          <p:nvPr/>
        </p:nvSpPr>
        <p:spPr>
          <a:xfrm>
            <a:off x="130650" y="4887132"/>
            <a:ext cx="2072157" cy="4678998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grpSp>
        <p:nvGrpSpPr>
          <p:cNvPr id="27" name="Group 26"/>
          <p:cNvGrpSpPr/>
          <p:nvPr/>
        </p:nvGrpSpPr>
        <p:grpSpPr>
          <a:xfrm>
            <a:off x="818075" y="8856371"/>
            <a:ext cx="1312183" cy="646331"/>
            <a:chOff x="834771" y="6575155"/>
            <a:chExt cx="1312183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834771" y="6575155"/>
                  <a:ext cx="48705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200" b="0" noProof="0" dirty="0"/>
                </a:p>
                <a:p>
                  <a:endParaRPr lang="en-GB" sz="1200" b="0" noProof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200" noProof="0" dirty="0"/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771" y="6575155"/>
                  <a:ext cx="487056" cy="6463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Rectangle 28"/>
            <p:cNvSpPr/>
            <p:nvPr/>
          </p:nvSpPr>
          <p:spPr>
            <a:xfrm>
              <a:off x="1285620" y="6620437"/>
              <a:ext cx="861334" cy="265295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285620" y="6923162"/>
              <a:ext cx="861334" cy="265295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818075" y="3939902"/>
            <a:ext cx="1312183" cy="646331"/>
            <a:chOff x="834771" y="6575155"/>
            <a:chExt cx="1312183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834771" y="6575155"/>
                  <a:ext cx="48705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200" b="0" noProof="0" dirty="0"/>
                </a:p>
                <a:p>
                  <a:endParaRPr lang="en-GB" sz="1200" b="0" noProof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200" noProof="0" dirty="0"/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771" y="6575155"/>
                  <a:ext cx="487056" cy="6463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Rectangle 32"/>
            <p:cNvSpPr/>
            <p:nvPr/>
          </p:nvSpPr>
          <p:spPr>
            <a:xfrm>
              <a:off x="1285620" y="6620437"/>
              <a:ext cx="861334" cy="265295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285620" y="6923162"/>
              <a:ext cx="861334" cy="265295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3075071" y="8823342"/>
            <a:ext cx="1312183" cy="646331"/>
            <a:chOff x="834771" y="6575155"/>
            <a:chExt cx="1312183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834771" y="6575155"/>
                  <a:ext cx="48705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200" b="0" noProof="0" dirty="0"/>
                </a:p>
                <a:p>
                  <a:endParaRPr lang="en-GB" sz="1200" b="0" noProof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200" noProof="0" dirty="0"/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771" y="6575155"/>
                  <a:ext cx="487056" cy="6463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Rectangle 44"/>
            <p:cNvSpPr/>
            <p:nvPr/>
          </p:nvSpPr>
          <p:spPr>
            <a:xfrm>
              <a:off x="1285620" y="6620437"/>
              <a:ext cx="861334" cy="265295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1285620" y="6923162"/>
              <a:ext cx="861334" cy="265295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3075071" y="3906873"/>
            <a:ext cx="1312183" cy="646331"/>
            <a:chOff x="834771" y="6575155"/>
            <a:chExt cx="1312183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/>
                <p:cNvSpPr txBox="1"/>
                <p:nvPr/>
              </p:nvSpPr>
              <p:spPr>
                <a:xfrm>
                  <a:off x="834771" y="6575155"/>
                  <a:ext cx="48705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200" b="0" noProof="0" dirty="0"/>
                </a:p>
                <a:p>
                  <a:endParaRPr lang="en-GB" sz="1200" b="0" noProof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200" noProof="0" dirty="0"/>
                </a:p>
              </p:txBody>
            </p:sp>
          </mc:Choice>
          <mc:Fallback xmlns="">
            <p:sp>
              <p:nvSpPr>
                <p:cNvPr id="48" name="TextBox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771" y="6575155"/>
                  <a:ext cx="487056" cy="6463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Rectangle 48"/>
            <p:cNvSpPr/>
            <p:nvPr/>
          </p:nvSpPr>
          <p:spPr>
            <a:xfrm>
              <a:off x="1285620" y="6620437"/>
              <a:ext cx="861334" cy="265295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285620" y="6923162"/>
              <a:ext cx="861334" cy="265295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5330591" y="8863982"/>
            <a:ext cx="1312183" cy="646331"/>
            <a:chOff x="834771" y="6575155"/>
            <a:chExt cx="1312183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834771" y="6575155"/>
                  <a:ext cx="48705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200" b="0" noProof="0" dirty="0"/>
                </a:p>
                <a:p>
                  <a:endParaRPr lang="en-GB" sz="1200" b="0" noProof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200" noProof="0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771" y="6575155"/>
                  <a:ext cx="487056" cy="6463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Rectangle 52"/>
            <p:cNvSpPr/>
            <p:nvPr/>
          </p:nvSpPr>
          <p:spPr>
            <a:xfrm>
              <a:off x="1285620" y="6620437"/>
              <a:ext cx="861334" cy="265295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1285620" y="6923162"/>
              <a:ext cx="861334" cy="265295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5330591" y="3947513"/>
            <a:ext cx="1312183" cy="646331"/>
            <a:chOff x="834771" y="6575155"/>
            <a:chExt cx="1312183" cy="6463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/>
                <p:cNvSpPr txBox="1"/>
                <p:nvPr/>
              </p:nvSpPr>
              <p:spPr>
                <a:xfrm>
                  <a:off x="834771" y="6575155"/>
                  <a:ext cx="48705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200" b="0" noProof="0" dirty="0"/>
                </a:p>
                <a:p>
                  <a:endParaRPr lang="en-GB" sz="1200" b="0" noProof="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1200" noProof="0" dirty="0"/>
                </a:p>
              </p:txBody>
            </p:sp>
          </mc:Choice>
          <mc:Fallback xmlns="">
            <p:sp>
              <p:nvSpPr>
                <p:cNvPr id="56" name="TextBox 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771" y="6575155"/>
                  <a:ext cx="487056" cy="6463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Rectangle 56"/>
            <p:cNvSpPr/>
            <p:nvPr/>
          </p:nvSpPr>
          <p:spPr>
            <a:xfrm>
              <a:off x="1285620" y="6620437"/>
              <a:ext cx="861334" cy="265295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1285620" y="6923162"/>
              <a:ext cx="861334" cy="265295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889196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314950" y="9554540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noProof="0" smtClean="0"/>
              <a:t>14</a:t>
            </a:fld>
            <a:endParaRPr lang="en-GB" noProof="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b="1217"/>
          <a:stretch/>
        </p:blipFill>
        <p:spPr>
          <a:xfrm>
            <a:off x="901389" y="510342"/>
            <a:ext cx="5485124" cy="40616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EF3093-B674-E649-837C-B0B24CC3DABA}"/>
              </a:ext>
            </a:extLst>
          </p:cNvPr>
          <p:cNvSpPr txBox="1"/>
          <p:nvPr/>
        </p:nvSpPr>
        <p:spPr>
          <a:xfrm>
            <a:off x="1780220" y="18053"/>
            <a:ext cx="46812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noProof="0" dirty="0"/>
              <a:t>8. </a:t>
            </a:r>
            <a:r>
              <a:rPr lang="en-GB" sz="1200" noProof="0" dirty="0"/>
              <a:t>To solve these equations should we add or subtract?</a:t>
            </a:r>
          </a:p>
          <a:p>
            <a:r>
              <a:rPr lang="en-GB" sz="1200" noProof="0" dirty="0"/>
              <a:t>                                   Circle either the + or 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2913" y="562807"/>
            <a:ext cx="336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/>
              <a:t>1.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913" y="1240987"/>
            <a:ext cx="336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/>
              <a:t>2.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2913" y="1984879"/>
            <a:ext cx="336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/>
              <a:t>3.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2913" y="2714182"/>
            <a:ext cx="336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/>
              <a:t>4.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2913" y="3392362"/>
            <a:ext cx="336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/>
              <a:t>5.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2913" y="4053572"/>
            <a:ext cx="336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/>
              <a:t>6.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8973" y="600907"/>
            <a:ext cx="336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/>
              <a:t>7.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8973" y="1279087"/>
            <a:ext cx="336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/>
              <a:t>8.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8973" y="2022979"/>
            <a:ext cx="336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/>
              <a:t>9.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8973" y="2752282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/>
              <a:t>10.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8973" y="3430462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/>
              <a:t>11.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8973" y="4091672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/>
              <a:t>12.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EF3093-B674-E649-837C-B0B24CC3DABA}"/>
              </a:ext>
            </a:extLst>
          </p:cNvPr>
          <p:cNvSpPr txBox="1"/>
          <p:nvPr/>
        </p:nvSpPr>
        <p:spPr>
          <a:xfrm>
            <a:off x="161535" y="4963902"/>
            <a:ext cx="4681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noProof="0" dirty="0"/>
              <a:t>9. </a:t>
            </a:r>
            <a:r>
              <a:rPr lang="en-GB" sz="1200" noProof="0" dirty="0"/>
              <a:t>Solve the simultaneous equations 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A74B160-5B02-4C48-99A7-824D9A97CEFF}"/>
              </a:ext>
            </a:extLst>
          </p:cNvPr>
          <p:cNvGrpSpPr/>
          <p:nvPr/>
        </p:nvGrpSpPr>
        <p:grpSpPr>
          <a:xfrm>
            <a:off x="154925" y="5750874"/>
            <a:ext cx="6640114" cy="3943433"/>
            <a:chOff x="108943" y="5610829"/>
            <a:chExt cx="6640114" cy="4231996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92DD765-E844-E940-B820-D9AB89E44BDD}"/>
                </a:ext>
              </a:extLst>
            </p:cNvPr>
            <p:cNvGrpSpPr/>
            <p:nvPr/>
          </p:nvGrpSpPr>
          <p:grpSpPr>
            <a:xfrm>
              <a:off x="4648070" y="5610829"/>
              <a:ext cx="2100987" cy="4231996"/>
              <a:chOff x="4648070" y="5610829"/>
              <a:chExt cx="2100987" cy="4231996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6A932C7-0D66-6F4F-ACF8-9C1044300135}"/>
                  </a:ext>
                </a:extLst>
              </p:cNvPr>
              <p:cNvSpPr/>
              <p:nvPr/>
            </p:nvSpPr>
            <p:spPr>
              <a:xfrm>
                <a:off x="4648070" y="5610829"/>
                <a:ext cx="2100987" cy="423199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F748D38F-A205-B647-8F1A-363C7DDEBAC8}"/>
                  </a:ext>
                </a:extLst>
              </p:cNvPr>
              <p:cNvSpPr/>
              <p:nvPr/>
            </p:nvSpPr>
            <p:spPr>
              <a:xfrm>
                <a:off x="5578582" y="9470625"/>
                <a:ext cx="338673" cy="304529"/>
              </a:xfrm>
              <a:prstGeom prst="rect">
                <a:avLst/>
              </a:prstGeom>
              <a:noFill/>
              <a:ln w="12700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10E20F5-A6F6-5744-8B3A-4DB83F626FAD}"/>
                  </a:ext>
                </a:extLst>
              </p:cNvPr>
              <p:cNvSpPr/>
              <p:nvPr/>
            </p:nvSpPr>
            <p:spPr>
              <a:xfrm>
                <a:off x="6365605" y="9467507"/>
                <a:ext cx="338673" cy="304529"/>
              </a:xfrm>
              <a:prstGeom prst="rect">
                <a:avLst/>
              </a:prstGeom>
              <a:noFill/>
              <a:ln w="12700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AFB6A626-0E7E-4F47-ADD0-722879094D93}"/>
                  </a:ext>
                </a:extLst>
              </p:cNvPr>
              <p:cNvSpPr/>
              <p:nvPr/>
            </p:nvSpPr>
            <p:spPr>
              <a:xfrm>
                <a:off x="5091347" y="9427659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:r>
                  <a:rPr lang="en-GB" sz="1400" noProof="0" dirty="0">
                    <a:solidFill>
                      <a:prstClr val="black"/>
                    </a:solidFill>
                  </a:rPr>
                  <a:t>x  =            , y  =     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DD4C58C-33E2-F246-ACF2-174993DB9E31}"/>
                </a:ext>
              </a:extLst>
            </p:cNvPr>
            <p:cNvGrpSpPr/>
            <p:nvPr/>
          </p:nvGrpSpPr>
          <p:grpSpPr>
            <a:xfrm>
              <a:off x="2377377" y="5610829"/>
              <a:ext cx="2100987" cy="4231996"/>
              <a:chOff x="4648070" y="5610829"/>
              <a:chExt cx="2100987" cy="4231996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3CAC693-D261-AA4B-8EFC-76AB51BE15F9}"/>
                  </a:ext>
                </a:extLst>
              </p:cNvPr>
              <p:cNvSpPr/>
              <p:nvPr/>
            </p:nvSpPr>
            <p:spPr>
              <a:xfrm>
                <a:off x="4648070" y="5610829"/>
                <a:ext cx="2100987" cy="423199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9C21303C-1F61-F84C-B7D4-7E99E98E6431}"/>
                  </a:ext>
                </a:extLst>
              </p:cNvPr>
              <p:cNvSpPr/>
              <p:nvPr/>
            </p:nvSpPr>
            <p:spPr>
              <a:xfrm>
                <a:off x="5578582" y="9470625"/>
                <a:ext cx="338673" cy="304529"/>
              </a:xfrm>
              <a:prstGeom prst="rect">
                <a:avLst/>
              </a:prstGeom>
              <a:noFill/>
              <a:ln w="12700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1BFF5896-CBE5-1D4A-893A-656A7FA39E5B}"/>
                  </a:ext>
                </a:extLst>
              </p:cNvPr>
              <p:cNvSpPr/>
              <p:nvPr/>
            </p:nvSpPr>
            <p:spPr>
              <a:xfrm>
                <a:off x="6365605" y="9467507"/>
                <a:ext cx="338673" cy="304529"/>
              </a:xfrm>
              <a:prstGeom prst="rect">
                <a:avLst/>
              </a:prstGeom>
              <a:noFill/>
              <a:ln w="12700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AAAD1136-DC91-B443-AA94-E9A6B2B97ED6}"/>
                  </a:ext>
                </a:extLst>
              </p:cNvPr>
              <p:cNvSpPr/>
              <p:nvPr/>
            </p:nvSpPr>
            <p:spPr>
              <a:xfrm>
                <a:off x="5091347" y="9427659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:r>
                  <a:rPr lang="en-GB" sz="1400" noProof="0" dirty="0">
                    <a:solidFill>
                      <a:prstClr val="black"/>
                    </a:solidFill>
                  </a:rPr>
                  <a:t>x  =            , y  =     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1B5E8F10-6840-1247-934C-D16CE60535D2}"/>
                </a:ext>
              </a:extLst>
            </p:cNvPr>
            <p:cNvGrpSpPr/>
            <p:nvPr/>
          </p:nvGrpSpPr>
          <p:grpSpPr>
            <a:xfrm>
              <a:off x="108943" y="5610829"/>
              <a:ext cx="2100987" cy="4231996"/>
              <a:chOff x="4648070" y="5610829"/>
              <a:chExt cx="2100987" cy="4231996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509F580-4B0D-2547-9135-F2FB935463F7}"/>
                  </a:ext>
                </a:extLst>
              </p:cNvPr>
              <p:cNvSpPr/>
              <p:nvPr/>
            </p:nvSpPr>
            <p:spPr>
              <a:xfrm>
                <a:off x="4648070" y="5610829"/>
                <a:ext cx="2100987" cy="423199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5A993F24-F55E-F344-B5EC-DCAD2CF4F141}"/>
                  </a:ext>
                </a:extLst>
              </p:cNvPr>
              <p:cNvSpPr/>
              <p:nvPr/>
            </p:nvSpPr>
            <p:spPr>
              <a:xfrm>
                <a:off x="5578582" y="9470625"/>
                <a:ext cx="338673" cy="304529"/>
              </a:xfrm>
              <a:prstGeom prst="rect">
                <a:avLst/>
              </a:prstGeom>
              <a:noFill/>
              <a:ln w="12700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DCC9324-2528-A44E-A5A1-AB1BDAF2E3C9}"/>
                  </a:ext>
                </a:extLst>
              </p:cNvPr>
              <p:cNvSpPr/>
              <p:nvPr/>
            </p:nvSpPr>
            <p:spPr>
              <a:xfrm>
                <a:off x="6365605" y="9467507"/>
                <a:ext cx="338673" cy="304529"/>
              </a:xfrm>
              <a:prstGeom prst="rect">
                <a:avLst/>
              </a:prstGeom>
              <a:noFill/>
              <a:ln w="12700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A3CDB55-2BC4-DA4A-ADAA-91F2F9F11C36}"/>
                  </a:ext>
                </a:extLst>
              </p:cNvPr>
              <p:cNvSpPr/>
              <p:nvPr/>
            </p:nvSpPr>
            <p:spPr>
              <a:xfrm>
                <a:off x="5091347" y="9427659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:r>
                  <a:rPr lang="en-GB" sz="1400" noProof="0" dirty="0">
                    <a:solidFill>
                      <a:prstClr val="black"/>
                    </a:solidFill>
                  </a:rPr>
                  <a:t>x  =            , y  =     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/>
              <p:cNvSpPr/>
              <p:nvPr/>
            </p:nvSpPr>
            <p:spPr>
              <a:xfrm>
                <a:off x="347149" y="5223246"/>
                <a:ext cx="171653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defTabSz="457200">
                  <a:defRPr/>
                </a:pPr>
                <a:r>
                  <a:rPr lang="en-GB" sz="1200" kern="50" noProof="0" dirty="0">
                    <a:solidFill>
                      <a:prstClr val="black"/>
                    </a:solidFill>
                    <a:ea typeface="Bitstream Vera Sans"/>
                    <a:cs typeface="Bitstream Vera Sans"/>
                  </a:rPr>
                  <a:t>a) </a:t>
                </a:r>
                <a14:m>
                  <m:oMath xmlns:m="http://schemas.openxmlformats.org/officeDocument/2006/math">
                    <m:r>
                      <a:rPr lang="en-GB" sz="1200" i="1" kern="50" noProof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Bitstream Vera Sans"/>
                        <a:cs typeface="Bitstream Vera Sans"/>
                      </a:rPr>
                      <m:t>2</m:t>
                    </m:r>
                    <m:r>
                      <a:rPr lang="en-GB" sz="1200" i="1" kern="50" noProof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Bitstream Vera Sans"/>
                        <a:cs typeface="Bitstream Vera Sans"/>
                      </a:rPr>
                      <m:t>𝑥</m:t>
                    </m:r>
                    <m:r>
                      <a:rPr lang="en-GB" sz="1200" i="1" kern="50" noProof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Bitstream Vera Sans"/>
                        <a:cs typeface="Bitstream Vera Sans"/>
                      </a:rPr>
                      <m:t>+3</m:t>
                    </m:r>
                    <m:r>
                      <a:rPr lang="en-GB" sz="1200" i="1" kern="50" noProof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Bitstream Vera Sans"/>
                        <a:cs typeface="Bitstream Vera Sans"/>
                      </a:rPr>
                      <m:t>𝑦</m:t>
                    </m:r>
                    <m:r>
                      <a:rPr lang="en-GB" sz="1200" i="1" kern="50" noProof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Bitstream Vera Sans"/>
                        <a:cs typeface="Bitstream Vera Sans"/>
                      </a:rPr>
                      <m:t>=18</m:t>
                    </m:r>
                  </m:oMath>
                </a14:m>
                <a:endParaRPr lang="en-GB" sz="1200" kern="50" noProof="0" dirty="0">
                  <a:solidFill>
                    <a:prstClr val="black"/>
                  </a:solidFill>
                  <a:latin typeface="Tinos"/>
                  <a:ea typeface="Bitstream Vera Sans"/>
                  <a:cs typeface="Bitstream Vera Sans"/>
                </a:endParaRPr>
              </a:p>
              <a:p>
                <a:pPr lvl="0" defTabSz="457200">
                  <a:defRPr/>
                </a:pPr>
                <a:r>
                  <a:rPr lang="en-GB" sz="1200" kern="50" noProof="0" dirty="0">
                    <a:solidFill>
                      <a:prstClr val="black"/>
                    </a:solidFill>
                    <a:ea typeface="Bitstream Vera Sans"/>
                    <a:cs typeface="Bitstream Vera Sans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b="0" i="0" kern="50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Bitstream Vera Sans"/>
                        <a:cs typeface="Bitstream Vera Sans"/>
                      </a:rPr>
                      <m:t>    </m:t>
                    </m:r>
                    <m:r>
                      <a:rPr lang="en-GB" sz="1200" i="1" kern="50" noProof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Bitstream Vera Sans"/>
                        <a:cs typeface="Bitstream Vera Sans"/>
                      </a:rPr>
                      <m:t>6</m:t>
                    </m:r>
                    <m:r>
                      <a:rPr lang="en-GB" sz="1200" i="1" kern="50" noProof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Bitstream Vera Sans"/>
                        <a:cs typeface="Bitstream Vera Sans"/>
                      </a:rPr>
                      <m:t>𝑥</m:t>
                    </m:r>
                    <m:r>
                      <a:rPr lang="en-GB" sz="1200" i="1" kern="50" noProof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Bitstream Vera Sans"/>
                        <a:cs typeface="Bitstream Vera Sans"/>
                      </a:rPr>
                      <m:t>+3</m:t>
                    </m:r>
                    <m:r>
                      <a:rPr lang="en-GB" sz="1200" i="1" kern="50" noProof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Bitstream Vera Sans"/>
                        <a:cs typeface="Bitstream Vera Sans"/>
                      </a:rPr>
                      <m:t>𝑦</m:t>
                    </m:r>
                    <m:r>
                      <a:rPr lang="en-GB" sz="1200" i="1" kern="50" noProof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Bitstream Vera Sans"/>
                        <a:cs typeface="Bitstream Vera Sans"/>
                      </a:rPr>
                      <m:t>=30</m:t>
                    </m:r>
                  </m:oMath>
                </a14:m>
                <a:endParaRPr lang="en-GB" sz="1200" kern="50" noProof="0" dirty="0">
                  <a:solidFill>
                    <a:prstClr val="black"/>
                  </a:solidFill>
                  <a:latin typeface="Tinos"/>
                  <a:ea typeface="Bitstream Vera Sans"/>
                  <a:cs typeface="Bitstream Vera Sans"/>
                </a:endParaRPr>
              </a:p>
            </p:txBody>
          </p:sp>
        </mc:Choice>
        <mc:Fallback xmlns=""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149" y="5223246"/>
                <a:ext cx="1716538" cy="461665"/>
              </a:xfrm>
              <a:prstGeom prst="rect">
                <a:avLst/>
              </a:prstGeom>
              <a:blipFill>
                <a:blip r:embed="rId3"/>
                <a:stretch>
                  <a:fillRect l="-355" t="-1316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/>
              <p:cNvSpPr/>
              <p:nvPr/>
            </p:nvSpPr>
            <p:spPr>
              <a:xfrm>
                <a:off x="5017083" y="5262655"/>
                <a:ext cx="139450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defTabSz="457200">
                  <a:defRPr/>
                </a:pPr>
                <a:r>
                  <a:rPr lang="en-GB" sz="1200" kern="50" noProof="0" dirty="0">
                    <a:solidFill>
                      <a:prstClr val="black"/>
                    </a:solidFill>
                    <a:ea typeface="Bitstream Vera Sans"/>
                    <a:cs typeface="Bitstream Vera Sans"/>
                  </a:rPr>
                  <a:t>c) </a:t>
                </a:r>
                <a14:m>
                  <m:oMath xmlns:m="http://schemas.openxmlformats.org/officeDocument/2006/math">
                    <m:r>
                      <a:rPr lang="en-GB" sz="1200" i="1" kern="50" noProof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Bitstream Vera Sans"/>
                        <a:cs typeface="Bitstream Vera Sans"/>
                      </a:rPr>
                      <m:t>2</m:t>
                    </m:r>
                    <m:r>
                      <a:rPr lang="en-GB" sz="1200" i="1" kern="50" noProof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Bitstream Vera Sans"/>
                        <a:cs typeface="Bitstream Vera Sans"/>
                      </a:rPr>
                      <m:t>𝑥</m:t>
                    </m:r>
                    <m:r>
                      <a:rPr lang="en-GB" sz="1200" i="1" kern="50" noProof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Bitstream Vera Sans"/>
                        <a:cs typeface="Bitstream Vera Sans"/>
                      </a:rPr>
                      <m:t>+3</m:t>
                    </m:r>
                    <m:r>
                      <a:rPr lang="en-GB" sz="1200" i="1" kern="50" noProof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Bitstream Vera Sans"/>
                        <a:cs typeface="Bitstream Vera Sans"/>
                      </a:rPr>
                      <m:t>𝑦</m:t>
                    </m:r>
                    <m:r>
                      <a:rPr lang="en-GB" sz="1200" i="1" kern="50" noProof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Bitstream Vera Sans"/>
                        <a:cs typeface="Bitstream Vera Sans"/>
                      </a:rPr>
                      <m:t>=18</m:t>
                    </m:r>
                  </m:oMath>
                </a14:m>
                <a:endParaRPr lang="en-GB" sz="1200" kern="50" noProof="0" dirty="0">
                  <a:solidFill>
                    <a:prstClr val="black"/>
                  </a:solidFill>
                  <a:latin typeface="Tinos"/>
                  <a:ea typeface="Bitstream Vera Sans"/>
                  <a:cs typeface="Bitstream Vera Sans"/>
                </a:endParaRPr>
              </a:p>
              <a:p>
                <a:pPr lvl="0" defTabSz="457200">
                  <a:defRPr/>
                </a:pPr>
                <a:r>
                  <a:rPr lang="en-GB" sz="1200" kern="50" noProof="0" dirty="0">
                    <a:solidFill>
                      <a:prstClr val="black"/>
                    </a:solidFill>
                    <a:ea typeface="Bitstream Vera Sans"/>
                    <a:cs typeface="Bitstream Vera Sans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b="0" i="0" kern="50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Bitstream Vera Sans"/>
                        <a:cs typeface="Bitstream Vera Sans"/>
                      </a:rPr>
                      <m:t>    </m:t>
                    </m:r>
                    <m:r>
                      <a:rPr lang="en-GB" sz="1200" i="1" kern="50" noProof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Bitstream Vera Sans"/>
                        <a:cs typeface="Bitstream Vera Sans"/>
                      </a:rPr>
                      <m:t>6</m:t>
                    </m:r>
                    <m:r>
                      <a:rPr lang="en-GB" sz="1200" i="1" kern="50" noProof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Bitstream Vera Sans"/>
                        <a:cs typeface="Bitstream Vera Sans"/>
                      </a:rPr>
                      <m:t>𝑥</m:t>
                    </m:r>
                    <m:r>
                      <a:rPr lang="en-GB" sz="1200" i="1" kern="50" noProof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Bitstream Vera Sans"/>
                        <a:cs typeface="Bitstream Vera Sans"/>
                      </a:rPr>
                      <m:t>−3</m:t>
                    </m:r>
                    <m:r>
                      <a:rPr lang="en-GB" sz="1200" i="1" kern="50" noProof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Bitstream Vera Sans"/>
                        <a:cs typeface="Bitstream Vera Sans"/>
                      </a:rPr>
                      <m:t>𝑦</m:t>
                    </m:r>
                    <m:r>
                      <a:rPr lang="en-GB" sz="1200" i="1" kern="50" noProof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Bitstream Vera Sans"/>
                        <a:cs typeface="Bitstream Vera Sans"/>
                      </a:rPr>
                      <m:t>=30</m:t>
                    </m:r>
                  </m:oMath>
                </a14:m>
                <a:endParaRPr lang="en-GB" sz="1200" kern="50" noProof="0" dirty="0">
                  <a:solidFill>
                    <a:prstClr val="black"/>
                  </a:solidFill>
                  <a:latin typeface="Tinos"/>
                  <a:ea typeface="Bitstream Vera Sans"/>
                  <a:cs typeface="Bitstream Vera Sans"/>
                </a:endParaRPr>
              </a:p>
            </p:txBody>
          </p:sp>
        </mc:Choice>
        <mc:Fallback xmlns=""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7083" y="5262655"/>
                <a:ext cx="1394504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2749810" y="5283609"/>
                <a:ext cx="144808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defTabSz="457200">
                  <a:defRPr/>
                </a:pPr>
                <a:r>
                  <a:rPr lang="en-GB" sz="1200" kern="50" noProof="0" dirty="0">
                    <a:solidFill>
                      <a:prstClr val="black"/>
                    </a:solidFill>
                    <a:ea typeface="Bitstream Vera Sans"/>
                    <a:cs typeface="Bitstream Vera Sans"/>
                  </a:rPr>
                  <a:t>b) </a:t>
                </a:r>
                <a14:m>
                  <m:oMath xmlns:m="http://schemas.openxmlformats.org/officeDocument/2006/math">
                    <m:r>
                      <a:rPr lang="en-GB" sz="1200" i="1" kern="50" noProof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Bitstream Vera Sans"/>
                        <a:cs typeface="Bitstream Vera Sans"/>
                      </a:rPr>
                      <m:t>2</m:t>
                    </m:r>
                    <m:r>
                      <a:rPr lang="en-GB" sz="1200" i="1" kern="50" noProof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Bitstream Vera Sans"/>
                        <a:cs typeface="Bitstream Vera Sans"/>
                      </a:rPr>
                      <m:t>𝑥</m:t>
                    </m:r>
                    <m:r>
                      <a:rPr lang="en-GB" sz="1200" i="1" kern="50" noProof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Bitstream Vera Sans"/>
                        <a:cs typeface="Bitstream Vera Sans"/>
                      </a:rPr>
                      <m:t>+</m:t>
                    </m:r>
                    <m:r>
                      <a:rPr lang="en-GB" sz="1200" i="1" kern="50" noProof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Bitstream Vera Sans"/>
                        <a:cs typeface="Bitstream Vera Sans"/>
                      </a:rPr>
                      <m:t>𝑦</m:t>
                    </m:r>
                    <m:r>
                      <a:rPr lang="en-GB" sz="1200" i="1" kern="50" noProof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Bitstream Vera Sans"/>
                        <a:cs typeface="Bitstream Vera Sans"/>
                      </a:rPr>
                      <m:t>=18</m:t>
                    </m:r>
                  </m:oMath>
                </a14:m>
                <a:endParaRPr lang="en-GB" sz="1200" kern="50" noProof="0" dirty="0">
                  <a:solidFill>
                    <a:prstClr val="black"/>
                  </a:solidFill>
                  <a:latin typeface="Tinos"/>
                  <a:ea typeface="Bitstream Vera Sans"/>
                  <a:cs typeface="Bitstream Vera Sans"/>
                </a:endParaRPr>
              </a:p>
              <a:p>
                <a:pPr lvl="0" defTabSz="457200">
                  <a:defRPr/>
                </a:pPr>
                <a:r>
                  <a:rPr lang="en-GB" sz="1200" kern="50" noProof="0" dirty="0">
                    <a:solidFill>
                      <a:prstClr val="black"/>
                    </a:solidFill>
                    <a:ea typeface="Bitstream Vera Sans"/>
                    <a:cs typeface="Bitstream Vera Sans"/>
                  </a:rPr>
                  <a:t> </a:t>
                </a:r>
                <a14:m>
                  <m:oMath xmlns:m="http://schemas.openxmlformats.org/officeDocument/2006/math">
                    <m:r>
                      <a:rPr lang="en-GB" sz="1200" b="0" i="0" kern="50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Bitstream Vera Sans"/>
                        <a:cs typeface="Bitstream Vera Sans"/>
                      </a:rPr>
                      <m:t>   </m:t>
                    </m:r>
                    <m:r>
                      <a:rPr lang="en-GB" sz="1200" i="1" kern="50" noProof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Bitstream Vera Sans"/>
                        <a:cs typeface="Bitstream Vera Sans"/>
                      </a:rPr>
                      <m:t>6</m:t>
                    </m:r>
                    <m:r>
                      <a:rPr lang="en-GB" sz="1200" i="1" kern="50" noProof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Bitstream Vera Sans"/>
                        <a:cs typeface="Bitstream Vera Sans"/>
                      </a:rPr>
                      <m:t>𝑥</m:t>
                    </m:r>
                    <m:r>
                      <a:rPr lang="en-GB" sz="1200" i="1" kern="50" noProof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Bitstream Vera Sans"/>
                        <a:cs typeface="Bitstream Vera Sans"/>
                      </a:rPr>
                      <m:t>−</m:t>
                    </m:r>
                    <m:r>
                      <a:rPr lang="en-GB" sz="1200" i="1" kern="50" noProof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Bitstream Vera Sans"/>
                        <a:cs typeface="Bitstream Vera Sans"/>
                      </a:rPr>
                      <m:t>𝑦</m:t>
                    </m:r>
                    <m:r>
                      <a:rPr lang="en-GB" sz="1200" i="1" kern="50" noProof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Bitstream Vera Sans"/>
                        <a:cs typeface="Bitstream Vera Sans"/>
                      </a:rPr>
                      <m:t>=30</m:t>
                    </m:r>
                  </m:oMath>
                </a14:m>
                <a:endParaRPr lang="en-GB" sz="1200" kern="50" noProof="0" dirty="0">
                  <a:solidFill>
                    <a:prstClr val="black"/>
                  </a:solidFill>
                  <a:latin typeface="Tinos"/>
                  <a:ea typeface="Bitstream Vera Sans"/>
                  <a:cs typeface="Bitstream Vera Sans"/>
                </a:endParaRPr>
              </a:p>
            </p:txBody>
          </p:sp>
        </mc:Choice>
        <mc:Fallback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9810" y="5283609"/>
                <a:ext cx="1448084" cy="461665"/>
              </a:xfrm>
              <a:prstGeom prst="rect">
                <a:avLst/>
              </a:prstGeom>
              <a:blipFill>
                <a:blip r:embed="rId5"/>
                <a:stretch>
                  <a:fillRect t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/>
          <p:cNvSpPr txBox="1"/>
          <p:nvPr/>
        </p:nvSpPr>
        <p:spPr>
          <a:xfrm>
            <a:off x="0" y="68092"/>
            <a:ext cx="1732782" cy="276999"/>
          </a:xfrm>
          <a:prstGeom prst="rect">
            <a:avLst/>
          </a:prstGeom>
          <a:solidFill>
            <a:srgbClr val="0070C0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200" noProof="0" dirty="0">
                <a:solidFill>
                  <a:schemeClr val="bg1"/>
                </a:solidFill>
              </a:rPr>
              <a:t>INDEPENDENT PRACTICE</a:t>
            </a:r>
          </a:p>
        </p:txBody>
      </p:sp>
    </p:spTree>
    <p:extLst>
      <p:ext uri="{BB962C8B-B14F-4D97-AF65-F5344CB8AC3E}">
        <p14:creationId xmlns:p14="http://schemas.microsoft.com/office/powerpoint/2010/main" val="2672236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364981" y="9597557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noProof="0" smtClean="0"/>
              <a:t>15</a:t>
            </a:fld>
            <a:endParaRPr lang="en-GB" noProof="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2981" y="1026534"/>
            <a:ext cx="6848475" cy="52482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1E1B865-6250-244A-BE59-D26CDF9C89BD}"/>
                  </a:ext>
                </a:extLst>
              </p:cNvPr>
              <p:cNvSpPr txBox="1"/>
              <p:nvPr/>
            </p:nvSpPr>
            <p:spPr>
              <a:xfrm>
                <a:off x="4847725" y="303936"/>
                <a:ext cx="95019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noProof="0" dirty="0"/>
                  <a:t>2</a:t>
                </a:r>
                <a14:m>
                  <m:oMath xmlns:m="http://schemas.openxmlformats.org/officeDocument/2006/math">
                    <m:r>
                      <a:rPr lang="en-GB" sz="1200" i="1" noProof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 noProof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200" i="1" noProof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i="1" noProof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br>
                  <a:rPr lang="en-GB" sz="1200" noProof="0" dirty="0"/>
                </a:br>
                <a14:m>
                  <m:oMath xmlns:m="http://schemas.openxmlformats.org/officeDocument/2006/math">
                    <m:r>
                      <a:rPr lang="en-GB" sz="1200" i="1" noProof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1200" i="1" noProof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 noProof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200" i="1" noProof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i="1" noProof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GB" sz="1200" noProof="0" dirty="0">
                    <a:effectLst/>
                  </a:rPr>
                  <a:t> </a:t>
                </a:r>
                <a:endParaRPr lang="en-GB" sz="1200" noProof="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1E1B865-6250-244A-BE59-D26CDF9C8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725" y="303936"/>
                <a:ext cx="950197" cy="461665"/>
              </a:xfrm>
              <a:prstGeom prst="rect">
                <a:avLst/>
              </a:prstGeom>
              <a:blipFill>
                <a:blip r:embed="rId3"/>
                <a:stretch>
                  <a:fillRect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BDC339EB-B487-6C4E-AF4F-D7E88EE63021}"/>
              </a:ext>
            </a:extLst>
          </p:cNvPr>
          <p:cNvSpPr/>
          <p:nvPr/>
        </p:nvSpPr>
        <p:spPr>
          <a:xfrm>
            <a:off x="4658861" y="751016"/>
            <a:ext cx="2100987" cy="423199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5589373" y="4610812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6376396" y="4607694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C357ECC-A710-0A49-95CD-DEF7B6D6DED8}"/>
              </a:ext>
            </a:extLst>
          </p:cNvPr>
          <p:cNvSpPr/>
          <p:nvPr/>
        </p:nvSpPr>
        <p:spPr>
          <a:xfrm>
            <a:off x="5102138" y="4567846"/>
            <a:ext cx="13818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400" noProof="0" dirty="0"/>
          </a:p>
          <a:p>
            <a:pPr lvl="0" algn="ctr"/>
            <a:r>
              <a:rPr lang="en-GB" sz="1400" noProof="0" dirty="0">
                <a:solidFill>
                  <a:prstClr val="black"/>
                </a:solidFill>
              </a:rPr>
              <a:t>x  =            , y  =     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8ADBF54-9A02-6E46-8CC7-FADDEC4F4C8B}"/>
              </a:ext>
            </a:extLst>
          </p:cNvPr>
          <p:cNvGrpSpPr/>
          <p:nvPr/>
        </p:nvGrpSpPr>
        <p:grpSpPr>
          <a:xfrm>
            <a:off x="2388168" y="751016"/>
            <a:ext cx="2100987" cy="4231996"/>
            <a:chOff x="4648070" y="5610829"/>
            <a:chExt cx="2100987" cy="4231996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9DD636A-D808-EB45-9F0E-62EFBD26276E}"/>
                </a:ext>
              </a:extLst>
            </p:cNvPr>
            <p:cNvSpPr/>
            <p:nvPr/>
          </p:nvSpPr>
          <p:spPr>
            <a:xfrm>
              <a:off x="4648070" y="5610829"/>
              <a:ext cx="2100987" cy="423199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3185CCF-E601-BC45-BD80-920AA9B7C2C2}"/>
                </a:ext>
              </a:extLst>
            </p:cNvPr>
            <p:cNvSpPr/>
            <p:nvPr/>
          </p:nvSpPr>
          <p:spPr>
            <a:xfrm>
              <a:off x="5578582" y="9470625"/>
              <a:ext cx="338673" cy="304529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 noProof="0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2E9C1E0F-15A1-FF4B-8677-58332FBA0285}"/>
                </a:ext>
              </a:extLst>
            </p:cNvPr>
            <p:cNvSpPr/>
            <p:nvPr/>
          </p:nvSpPr>
          <p:spPr>
            <a:xfrm>
              <a:off x="6365605" y="9467507"/>
              <a:ext cx="338673" cy="304529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 noProof="0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0A58EC38-711B-A447-B1DE-C606D2A19D11}"/>
                </a:ext>
              </a:extLst>
            </p:cNvPr>
            <p:cNvSpPr/>
            <p:nvPr/>
          </p:nvSpPr>
          <p:spPr>
            <a:xfrm>
              <a:off x="5091347" y="9427659"/>
              <a:ext cx="138188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GB" sz="400" noProof="0" dirty="0"/>
            </a:p>
            <a:p>
              <a:pPr lvl="0" algn="ctr"/>
              <a:r>
                <a:rPr lang="en-GB" sz="1400" noProof="0" dirty="0">
                  <a:solidFill>
                    <a:prstClr val="black"/>
                  </a:solidFill>
                </a:rPr>
                <a:t>x  =            , y  =     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C8B0841-3BE2-B841-942A-5BAF0717ADF5}"/>
              </a:ext>
            </a:extLst>
          </p:cNvPr>
          <p:cNvGrpSpPr/>
          <p:nvPr/>
        </p:nvGrpSpPr>
        <p:grpSpPr>
          <a:xfrm>
            <a:off x="119734" y="751016"/>
            <a:ext cx="2100987" cy="4231996"/>
            <a:chOff x="4648070" y="5610829"/>
            <a:chExt cx="2100987" cy="4231996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594047B-870B-F246-810C-FF50C3A462B0}"/>
                </a:ext>
              </a:extLst>
            </p:cNvPr>
            <p:cNvSpPr/>
            <p:nvPr/>
          </p:nvSpPr>
          <p:spPr>
            <a:xfrm>
              <a:off x="4648070" y="5610829"/>
              <a:ext cx="2100987" cy="423199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F2A8D70-204D-2545-9F12-FD471607F0C4}"/>
                </a:ext>
              </a:extLst>
            </p:cNvPr>
            <p:cNvSpPr/>
            <p:nvPr/>
          </p:nvSpPr>
          <p:spPr>
            <a:xfrm>
              <a:off x="5578582" y="9470625"/>
              <a:ext cx="338673" cy="304529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 noProof="0" dirty="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10EE1A5-6F43-534D-BE51-3DE1BDD4326C}"/>
                </a:ext>
              </a:extLst>
            </p:cNvPr>
            <p:cNvSpPr/>
            <p:nvPr/>
          </p:nvSpPr>
          <p:spPr>
            <a:xfrm>
              <a:off x="6365605" y="9467507"/>
              <a:ext cx="338673" cy="304529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 noProof="0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5F9ACF4-E0F9-6E43-B8F2-9B6B35CCCBC8}"/>
                </a:ext>
              </a:extLst>
            </p:cNvPr>
            <p:cNvSpPr/>
            <p:nvPr/>
          </p:nvSpPr>
          <p:spPr>
            <a:xfrm>
              <a:off x="5091347" y="9427659"/>
              <a:ext cx="138188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GB" sz="400" noProof="0" dirty="0"/>
            </a:p>
            <a:p>
              <a:pPr lvl="0" algn="ctr"/>
              <a:r>
                <a:rPr lang="en-GB" sz="1400" noProof="0" dirty="0">
                  <a:solidFill>
                    <a:prstClr val="black"/>
                  </a:solidFill>
                </a:rPr>
                <a:t>x  =            , y  =     </a:t>
              </a: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FF575F3D-64C7-9D4F-8838-4EAEECC85817}"/>
              </a:ext>
            </a:extLst>
          </p:cNvPr>
          <p:cNvSpPr txBox="1"/>
          <p:nvPr/>
        </p:nvSpPr>
        <p:spPr>
          <a:xfrm>
            <a:off x="3192" y="289351"/>
            <a:ext cx="3882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noProof="0" dirty="0"/>
              <a:t>(d)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3732322-D00B-544E-AD26-35BD38C02835}"/>
              </a:ext>
            </a:extLst>
          </p:cNvPr>
          <p:cNvSpPr txBox="1"/>
          <p:nvPr/>
        </p:nvSpPr>
        <p:spPr>
          <a:xfrm>
            <a:off x="2259172" y="283763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noProof="0" dirty="0"/>
              <a:t>(e)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CA6ACC3-CD5B-8C47-AD1E-3E0C9061C8ED}"/>
              </a:ext>
            </a:extLst>
          </p:cNvPr>
          <p:cNvSpPr txBox="1"/>
          <p:nvPr/>
        </p:nvSpPr>
        <p:spPr>
          <a:xfrm>
            <a:off x="4523168" y="292060"/>
            <a:ext cx="350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noProof="0" dirty="0"/>
              <a:t>(f)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A44E6D6-1EB8-5D43-8972-774C12459E29}"/>
                  </a:ext>
                </a:extLst>
              </p:cNvPr>
              <p:cNvSpPr txBox="1"/>
              <p:nvPr/>
            </p:nvSpPr>
            <p:spPr>
              <a:xfrm>
                <a:off x="378614" y="289351"/>
                <a:ext cx="10351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  <m:oMath xmlns:m="http://schemas.openxmlformats.org/officeDocument/2006/math">
                      <m:r>
                        <a:rPr lang="en-GB" sz="1200" i="1" noProof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i="1" noProof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i="1" noProof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i="1" noProof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i="1" noProof="0">
                          <a:latin typeface="Cambria Math" panose="02040503050406030204" pitchFamily="18" charset="0"/>
                        </a:rPr>
                        <m:t>=13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A44E6D6-1EB8-5D43-8972-774C12459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614" y="289351"/>
                <a:ext cx="103515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2B5DDDF-05E4-BA43-982D-F957385D7968}"/>
                  </a:ext>
                </a:extLst>
              </p:cNvPr>
              <p:cNvSpPr txBox="1"/>
              <p:nvPr/>
            </p:nvSpPr>
            <p:spPr>
              <a:xfrm>
                <a:off x="2566048" y="310158"/>
                <a:ext cx="10351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noProof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i="1" noProof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200" i="1" noProof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i="1" noProof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br>
                  <a:rPr lang="en-GB" sz="1200" noProof="0" dirty="0"/>
                </a:br>
                <a14:m>
                  <m:oMath xmlns:m="http://schemas.openxmlformats.org/officeDocument/2006/math">
                    <m:r>
                      <a:rPr lang="en-GB" sz="1200" i="1" noProof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1200" i="1" noProof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 noProof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200" i="1" noProof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i="1" noProof="0">
                        <a:latin typeface="Cambria Math" panose="02040503050406030204" pitchFamily="18" charset="0"/>
                      </a:rPr>
                      <m:t>=11</m:t>
                    </m:r>
                  </m:oMath>
                </a14:m>
                <a:r>
                  <a:rPr lang="en-GB" sz="1200" noProof="0" dirty="0">
                    <a:effectLst/>
                  </a:rPr>
                  <a:t> </a:t>
                </a:r>
                <a:endParaRPr lang="en-GB" sz="1200" noProof="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2B5DDDF-05E4-BA43-982D-F957385D7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048" y="310158"/>
                <a:ext cx="103515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7840AC3-9800-C642-8CAE-BD2A39323EA0}"/>
                  </a:ext>
                </a:extLst>
              </p:cNvPr>
              <p:cNvSpPr txBox="1"/>
              <p:nvPr/>
            </p:nvSpPr>
            <p:spPr>
              <a:xfrm>
                <a:off x="2556583" y="4986083"/>
                <a:ext cx="11201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=15</m:t>
                      </m:r>
                    </m:oMath>
                  </m:oMathPara>
                </a14:m>
                <a:endParaRPr lang="en-GB" sz="1200" i="1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noProof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i="1" noProof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sz="1200" i="1" noProof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i="1" noProof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7840AC3-9800-C642-8CAE-BD2A39323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6583" y="4986083"/>
                <a:ext cx="1120115" cy="461665"/>
              </a:xfrm>
              <a:prstGeom prst="rect">
                <a:avLst/>
              </a:prstGeom>
              <a:blipFill>
                <a:blip r:embed="rId6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0B492874-0A4E-4344-8619-664399249948}"/>
              </a:ext>
            </a:extLst>
          </p:cNvPr>
          <p:cNvGrpSpPr/>
          <p:nvPr/>
        </p:nvGrpSpPr>
        <p:grpSpPr>
          <a:xfrm>
            <a:off x="108943" y="5547924"/>
            <a:ext cx="6640114" cy="4231996"/>
            <a:chOff x="108943" y="5610829"/>
            <a:chExt cx="6640114" cy="4231996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9710C32B-00F9-AC44-A9EF-66AFC185953B}"/>
                </a:ext>
              </a:extLst>
            </p:cNvPr>
            <p:cNvGrpSpPr/>
            <p:nvPr/>
          </p:nvGrpSpPr>
          <p:grpSpPr>
            <a:xfrm>
              <a:off x="4648070" y="5610829"/>
              <a:ext cx="2100987" cy="4231996"/>
              <a:chOff x="4648070" y="5610829"/>
              <a:chExt cx="2100987" cy="4231996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997DBA28-4865-4645-A9EB-65380BA6E5E9}"/>
                  </a:ext>
                </a:extLst>
              </p:cNvPr>
              <p:cNvSpPr/>
              <p:nvPr/>
            </p:nvSpPr>
            <p:spPr>
              <a:xfrm>
                <a:off x="4648070" y="5610829"/>
                <a:ext cx="2100987" cy="423199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D9124FA7-CDDC-974B-92F2-094E43780177}"/>
                  </a:ext>
                </a:extLst>
              </p:cNvPr>
              <p:cNvSpPr/>
              <p:nvPr/>
            </p:nvSpPr>
            <p:spPr>
              <a:xfrm>
                <a:off x="5578582" y="9470625"/>
                <a:ext cx="338673" cy="304529"/>
              </a:xfrm>
              <a:prstGeom prst="rect">
                <a:avLst/>
              </a:prstGeom>
              <a:noFill/>
              <a:ln w="12700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/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22537131-F089-F54D-96D2-B569CC8161D9}"/>
                  </a:ext>
                </a:extLst>
              </p:cNvPr>
              <p:cNvSpPr/>
              <p:nvPr/>
            </p:nvSpPr>
            <p:spPr>
              <a:xfrm>
                <a:off x="6365605" y="9467507"/>
                <a:ext cx="338673" cy="304529"/>
              </a:xfrm>
              <a:prstGeom prst="rect">
                <a:avLst/>
              </a:prstGeom>
              <a:noFill/>
              <a:ln w="12700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11BBA2C4-40A6-6942-8C1B-D69DA1D59F4A}"/>
                  </a:ext>
                </a:extLst>
              </p:cNvPr>
              <p:cNvSpPr/>
              <p:nvPr/>
            </p:nvSpPr>
            <p:spPr>
              <a:xfrm>
                <a:off x="5091347" y="9427659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:r>
                  <a:rPr lang="en-GB" sz="1400" noProof="0" dirty="0">
                    <a:solidFill>
                      <a:prstClr val="black"/>
                    </a:solidFill>
                  </a:rPr>
                  <a:t>x  =            , y  =     </a:t>
                </a: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632A11E4-44A9-BD41-9308-05DA6A21F73F}"/>
                </a:ext>
              </a:extLst>
            </p:cNvPr>
            <p:cNvGrpSpPr/>
            <p:nvPr/>
          </p:nvGrpSpPr>
          <p:grpSpPr>
            <a:xfrm>
              <a:off x="2377377" y="5610829"/>
              <a:ext cx="2100987" cy="4231996"/>
              <a:chOff x="4648070" y="5610829"/>
              <a:chExt cx="2100987" cy="4231996"/>
            </a:xfrm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A8AC9E28-6195-CA4B-954C-B746439F29F7}"/>
                  </a:ext>
                </a:extLst>
              </p:cNvPr>
              <p:cNvSpPr/>
              <p:nvPr/>
            </p:nvSpPr>
            <p:spPr>
              <a:xfrm>
                <a:off x="4648070" y="5610829"/>
                <a:ext cx="2100987" cy="423199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246EDF39-343B-784A-BC45-1C42EA9AA0F0}"/>
                  </a:ext>
                </a:extLst>
              </p:cNvPr>
              <p:cNvSpPr/>
              <p:nvPr/>
            </p:nvSpPr>
            <p:spPr>
              <a:xfrm>
                <a:off x="5578582" y="9470625"/>
                <a:ext cx="338673" cy="304529"/>
              </a:xfrm>
              <a:prstGeom prst="rect">
                <a:avLst/>
              </a:prstGeom>
              <a:noFill/>
              <a:ln w="12700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BD1D76DB-5C5E-CF45-B896-5C2F2A1E5C05}"/>
                  </a:ext>
                </a:extLst>
              </p:cNvPr>
              <p:cNvSpPr/>
              <p:nvPr/>
            </p:nvSpPr>
            <p:spPr>
              <a:xfrm>
                <a:off x="6365605" y="9467507"/>
                <a:ext cx="338673" cy="304529"/>
              </a:xfrm>
              <a:prstGeom prst="rect">
                <a:avLst/>
              </a:prstGeom>
              <a:noFill/>
              <a:ln w="12700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29DBB73E-5C8D-1448-8908-B36E5512E683}"/>
                  </a:ext>
                </a:extLst>
              </p:cNvPr>
              <p:cNvSpPr/>
              <p:nvPr/>
            </p:nvSpPr>
            <p:spPr>
              <a:xfrm>
                <a:off x="5091347" y="9427659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:r>
                  <a:rPr lang="en-GB" sz="1400" noProof="0" dirty="0">
                    <a:solidFill>
                      <a:prstClr val="black"/>
                    </a:solidFill>
                  </a:rPr>
                  <a:t>x  =            , y  =     </a:t>
                </a:r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24DBAB02-91B3-8848-AADE-9AE7E5EA9CC7}"/>
                </a:ext>
              </a:extLst>
            </p:cNvPr>
            <p:cNvGrpSpPr/>
            <p:nvPr/>
          </p:nvGrpSpPr>
          <p:grpSpPr>
            <a:xfrm>
              <a:off x="108943" y="5610829"/>
              <a:ext cx="2100987" cy="4231996"/>
              <a:chOff x="4648070" y="5610829"/>
              <a:chExt cx="2100987" cy="4231996"/>
            </a:xfrm>
          </p:grpSpPr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C585EC8E-DF35-E140-A351-143B43098446}"/>
                  </a:ext>
                </a:extLst>
              </p:cNvPr>
              <p:cNvSpPr/>
              <p:nvPr/>
            </p:nvSpPr>
            <p:spPr>
              <a:xfrm>
                <a:off x="4648070" y="5610829"/>
                <a:ext cx="2100987" cy="423199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A6D88990-7EF4-574A-8235-4BC89F08A77E}"/>
                  </a:ext>
                </a:extLst>
              </p:cNvPr>
              <p:cNvSpPr/>
              <p:nvPr/>
            </p:nvSpPr>
            <p:spPr>
              <a:xfrm>
                <a:off x="5578582" y="9470625"/>
                <a:ext cx="338673" cy="304529"/>
              </a:xfrm>
              <a:prstGeom prst="rect">
                <a:avLst/>
              </a:prstGeom>
              <a:noFill/>
              <a:ln w="12700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F7646A3C-D33A-CA44-BC41-C4CA0F68FBF6}"/>
                  </a:ext>
                </a:extLst>
              </p:cNvPr>
              <p:cNvSpPr/>
              <p:nvPr/>
            </p:nvSpPr>
            <p:spPr>
              <a:xfrm>
                <a:off x="6365605" y="9467507"/>
                <a:ext cx="338673" cy="304529"/>
              </a:xfrm>
              <a:prstGeom prst="rect">
                <a:avLst/>
              </a:prstGeom>
              <a:noFill/>
              <a:ln w="12700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400" noProof="0" dirty="0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D0512EF8-9F8C-F442-A10C-4EE72212E2F5}"/>
                  </a:ext>
                </a:extLst>
              </p:cNvPr>
              <p:cNvSpPr/>
              <p:nvPr/>
            </p:nvSpPr>
            <p:spPr>
              <a:xfrm>
                <a:off x="5091347" y="9427659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:r>
                  <a:rPr lang="en-GB" sz="1400" noProof="0" dirty="0">
                    <a:solidFill>
                      <a:prstClr val="black"/>
                    </a:solidFill>
                  </a:rPr>
                  <a:t>x  =            , y  =     </a:t>
                </a:r>
              </a:p>
            </p:txBody>
          </p:sp>
        </p:grp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597FB771-0021-FC43-AC4F-80F8358A3FCF}"/>
              </a:ext>
            </a:extLst>
          </p:cNvPr>
          <p:cNvSpPr txBox="1"/>
          <p:nvPr/>
        </p:nvSpPr>
        <p:spPr>
          <a:xfrm>
            <a:off x="-7599" y="4972595"/>
            <a:ext cx="3795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noProof="0" dirty="0"/>
              <a:t>(g)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136CCE7-1E48-904C-8C28-2D0F333844C2}"/>
              </a:ext>
            </a:extLst>
          </p:cNvPr>
          <p:cNvSpPr txBox="1"/>
          <p:nvPr/>
        </p:nvSpPr>
        <p:spPr>
          <a:xfrm>
            <a:off x="2248381" y="4967007"/>
            <a:ext cx="3882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noProof="0" dirty="0"/>
              <a:t>(h)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40D706E-60A1-D14B-B25E-BB5C92B8E45E}"/>
              </a:ext>
            </a:extLst>
          </p:cNvPr>
          <p:cNvSpPr txBox="1"/>
          <p:nvPr/>
        </p:nvSpPr>
        <p:spPr>
          <a:xfrm>
            <a:off x="4512377" y="4975304"/>
            <a:ext cx="335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noProof="0" dirty="0"/>
              <a:t>(</a:t>
            </a:r>
            <a:r>
              <a:rPr lang="en-GB" sz="1400" noProof="0" dirty="0" err="1"/>
              <a:t>i</a:t>
            </a:r>
            <a:r>
              <a:rPr lang="en-GB" sz="1400" noProof="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BF35CAC8-4DC5-364E-B9AE-3CA89999D03C}"/>
                  </a:ext>
                </a:extLst>
              </p:cNvPr>
              <p:cNvSpPr txBox="1"/>
              <p:nvPr/>
            </p:nvSpPr>
            <p:spPr>
              <a:xfrm>
                <a:off x="256193" y="4995501"/>
                <a:ext cx="10351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 sz="1200" i="1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noProof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i="1" noProof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1200" i="1" noProof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i="1" noProof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BF35CAC8-4DC5-364E-B9AE-3CA89999D0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93" y="4995501"/>
                <a:ext cx="1035155" cy="461665"/>
              </a:xfrm>
              <a:prstGeom prst="rect">
                <a:avLst/>
              </a:prstGeom>
              <a:blipFill>
                <a:blip r:embed="rId7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A32E949-AF3C-884D-ABAD-BC6B5A21E8B7}"/>
                  </a:ext>
                </a:extLst>
              </p:cNvPr>
              <p:cNvSpPr txBox="1"/>
              <p:nvPr/>
            </p:nvSpPr>
            <p:spPr>
              <a:xfrm>
                <a:off x="4785758" y="5015060"/>
                <a:ext cx="11201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en-GB" sz="1200" i="1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noProof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i="1" noProof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sz="1200" i="1" noProof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i="1" noProof="0"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A32E949-AF3C-884D-ABAD-BC6B5A21E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758" y="5015060"/>
                <a:ext cx="1120115" cy="461665"/>
              </a:xfrm>
              <a:prstGeom prst="rect">
                <a:avLst/>
              </a:prstGeom>
              <a:blipFill>
                <a:blip r:embed="rId8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/>
          <p:cNvSpPr txBox="1"/>
          <p:nvPr/>
        </p:nvSpPr>
        <p:spPr>
          <a:xfrm>
            <a:off x="-7599" y="-8009"/>
            <a:ext cx="1732782" cy="276999"/>
          </a:xfrm>
          <a:prstGeom prst="rect">
            <a:avLst/>
          </a:prstGeom>
          <a:solidFill>
            <a:srgbClr val="0070C0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200" noProof="0" dirty="0">
                <a:solidFill>
                  <a:schemeClr val="bg1"/>
                </a:solidFill>
              </a:rPr>
              <a:t>INDEPENDENT PRACTICE</a:t>
            </a:r>
          </a:p>
        </p:txBody>
      </p:sp>
    </p:spTree>
    <p:extLst>
      <p:ext uri="{BB962C8B-B14F-4D97-AF65-F5344CB8AC3E}">
        <p14:creationId xmlns:p14="http://schemas.microsoft.com/office/powerpoint/2010/main" val="1868544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47FDB3-F1CA-1048-A732-E957245FF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9292" y="9579067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noProof="0" smtClean="0"/>
              <a:t>16</a:t>
            </a:fld>
            <a:endParaRPr lang="en-GB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22C3A5-83FD-F348-A13A-41990BFFB455}"/>
              </a:ext>
            </a:extLst>
          </p:cNvPr>
          <p:cNvSpPr/>
          <p:nvPr/>
        </p:nvSpPr>
        <p:spPr>
          <a:xfrm>
            <a:off x="105113" y="335811"/>
            <a:ext cx="6647773" cy="15283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ysClr val="windowText" lastClr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CABFFF-8CCA-3F46-BB1D-2812F1283950}"/>
              </a:ext>
            </a:extLst>
          </p:cNvPr>
          <p:cNvSpPr txBox="1"/>
          <p:nvPr/>
        </p:nvSpPr>
        <p:spPr>
          <a:xfrm>
            <a:off x="150921" y="736008"/>
            <a:ext cx="1181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noProof="0" dirty="0"/>
              <a:t>Objectives: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4C4B23-45C4-754A-8432-EA2D2C31880A}"/>
              </a:ext>
            </a:extLst>
          </p:cNvPr>
          <p:cNvSpPr txBox="1"/>
          <p:nvPr/>
        </p:nvSpPr>
        <p:spPr>
          <a:xfrm>
            <a:off x="154731" y="1150074"/>
            <a:ext cx="44860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  <a:defRPr/>
            </a:pPr>
            <a:r>
              <a:rPr lang="en-GB" sz="1200" noProof="0" dirty="0"/>
              <a:t>Finding the LCM between two numbers.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GB" sz="1200" noProof="0" dirty="0"/>
              <a:t>Solving simultaneous equations by adjusting one equation.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GB" sz="1200" noProof="0" dirty="0"/>
              <a:t>Solving simultaneous equations by adjusting both equations. </a:t>
            </a:r>
          </a:p>
          <a:p>
            <a:pPr>
              <a:defRPr/>
            </a:pPr>
            <a:endParaRPr lang="en-GB" sz="12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074EF1-46DA-6944-95B7-7A2E909591E4}"/>
              </a:ext>
            </a:extLst>
          </p:cNvPr>
          <p:cNvSpPr txBox="1"/>
          <p:nvPr/>
        </p:nvSpPr>
        <p:spPr>
          <a:xfrm>
            <a:off x="223370" y="407430"/>
            <a:ext cx="6411256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b="1" noProof="0" dirty="0"/>
              <a:t>LEARNING OUTCOME: To solve simultaneous equations using the elimination method</a:t>
            </a:r>
            <a:endParaRPr lang="en-GB" sz="1200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4D762C-2D73-394D-9E02-268791A669F2}"/>
              </a:ext>
            </a:extLst>
          </p:cNvPr>
          <p:cNvSpPr txBox="1"/>
          <p:nvPr/>
        </p:nvSpPr>
        <p:spPr>
          <a:xfrm>
            <a:off x="4893447" y="791347"/>
            <a:ext cx="1741179" cy="101566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000" b="1" u="sng" noProof="0" dirty="0"/>
              <a:t>Keywords:</a:t>
            </a:r>
            <a:endParaRPr lang="en-GB" sz="1000" noProof="0" dirty="0"/>
          </a:p>
          <a:p>
            <a:pPr marL="285750" indent="-285750">
              <a:buFont typeface=".AppleSystemUIFont" charset="-120"/>
              <a:buChar char="-"/>
            </a:pPr>
            <a:r>
              <a:rPr lang="en-GB" sz="1000" noProof="0" dirty="0"/>
              <a:t>Simultaneous equations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GB" sz="1000" noProof="0" dirty="0"/>
              <a:t>Linear equations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GB" sz="1000" noProof="0" dirty="0"/>
              <a:t>Equivalent equations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GB" sz="1000" noProof="0" dirty="0"/>
              <a:t>Intersection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GB" sz="1000" noProof="0" dirty="0"/>
              <a:t>Elimination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FE7EC4-5E01-5842-B2D3-567D0C78E897}"/>
              </a:ext>
            </a:extLst>
          </p:cNvPr>
          <p:cNvSpPr/>
          <p:nvPr/>
        </p:nvSpPr>
        <p:spPr>
          <a:xfrm>
            <a:off x="0" y="-68"/>
            <a:ext cx="6858000" cy="28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noProof="0" dirty="0"/>
              <a:t>Solving simultaneous equations by adjusting one or both equations </a:t>
            </a:r>
            <a:endParaRPr lang="en-GB" sz="1600" b="1" noProof="0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E7EDCC2-ABAA-434F-8C0E-6C3A1F76BAE7}"/>
              </a:ext>
            </a:extLst>
          </p:cNvPr>
          <p:cNvCxnSpPr/>
          <p:nvPr/>
        </p:nvCxnSpPr>
        <p:spPr>
          <a:xfrm flipV="1">
            <a:off x="942039" y="3731417"/>
            <a:ext cx="5541513" cy="2282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125893" y="1971069"/>
            <a:ext cx="6645064" cy="24276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66" name="Straight Connector 65"/>
          <p:cNvCxnSpPr/>
          <p:nvPr/>
        </p:nvCxnSpPr>
        <p:spPr>
          <a:xfrm>
            <a:off x="120260" y="3058829"/>
            <a:ext cx="6672688" cy="159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65" idx="2"/>
            <a:endCxn id="65" idx="0"/>
          </p:cNvCxnSpPr>
          <p:nvPr/>
        </p:nvCxnSpPr>
        <p:spPr>
          <a:xfrm flipV="1">
            <a:off x="3448425" y="1971069"/>
            <a:ext cx="0" cy="24276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05113" y="1961691"/>
            <a:ext cx="824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noProof="0" dirty="0"/>
              <a:t>Definition</a:t>
            </a:r>
          </a:p>
          <a:p>
            <a:endParaRPr lang="en-GB" sz="1200" noProof="0" dirty="0"/>
          </a:p>
        </p:txBody>
      </p:sp>
      <p:sp>
        <p:nvSpPr>
          <p:cNvPr id="69" name="TextBox 68"/>
          <p:cNvSpPr txBox="1"/>
          <p:nvPr/>
        </p:nvSpPr>
        <p:spPr>
          <a:xfrm>
            <a:off x="5629164" y="1929305"/>
            <a:ext cx="1112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noProof="0" dirty="0"/>
              <a:t>Characteristics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0260" y="3058829"/>
            <a:ext cx="7881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noProof="0" dirty="0"/>
              <a:t>Examples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57677" y="3034448"/>
            <a:ext cx="1172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noProof="0" dirty="0"/>
              <a:t>Non - Examples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5892" y="2202748"/>
            <a:ext cx="3230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/>
              <a:t>Two equations that form straight lines that </a:t>
            </a:r>
            <a:r>
              <a:rPr lang="en-GB" sz="1200" b="1" noProof="0" dirty="0"/>
              <a:t>intersect at one point.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500227" y="2131386"/>
            <a:ext cx="3230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/>
              <a:t>Linear simultaneous equations are two straight line equations that have an intersection point (this means they cross on the graph).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2746" y="2889648"/>
            <a:ext cx="243496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noProof="0" dirty="0"/>
              <a:t>Simultaneous Equations</a:t>
            </a: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85" y="3384665"/>
            <a:ext cx="1275899" cy="88146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1454191" y="3484671"/>
            <a:ext cx="2201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/>
              <a:t>These are simultaneous equations because they </a:t>
            </a:r>
            <a:r>
              <a:rPr lang="en-GB" sz="1200" b="1" noProof="0" dirty="0"/>
              <a:t>intersect</a:t>
            </a:r>
            <a:r>
              <a:rPr lang="en-GB" sz="1200" noProof="0" dirty="0"/>
              <a:t> at a point. </a:t>
            </a:r>
            <a:endParaRPr lang="en-GB" sz="1200" b="1" noProof="0" dirty="0"/>
          </a:p>
        </p:txBody>
      </p:sp>
      <p:pic>
        <p:nvPicPr>
          <p:cNvPr id="77" name="Picture 7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3421" y="3419970"/>
            <a:ext cx="1136681" cy="80941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4699089" y="3285334"/>
            <a:ext cx="1928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/>
              <a:t>These equations do not intersect, therefore they are not simultaneous. </a:t>
            </a:r>
            <a:endParaRPr lang="en-GB" sz="1200" b="1" noProof="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A127D5F-D90C-7A4B-B2A7-9600D90C40CC}"/>
              </a:ext>
            </a:extLst>
          </p:cNvPr>
          <p:cNvSpPr txBox="1"/>
          <p:nvPr/>
        </p:nvSpPr>
        <p:spPr>
          <a:xfrm>
            <a:off x="120260" y="4480955"/>
            <a:ext cx="1041632" cy="276999"/>
          </a:xfrm>
          <a:prstGeom prst="rect">
            <a:avLst/>
          </a:prstGeom>
          <a:solidFill>
            <a:srgbClr val="0070C0"/>
          </a:solidFill>
        </p:spPr>
        <p:txBody>
          <a:bodyPr wrap="none" rtlCol="0" anchor="ctr">
            <a:spAutoFit/>
          </a:bodyPr>
          <a:lstStyle/>
          <a:p>
            <a:pPr algn="r"/>
            <a:r>
              <a:rPr lang="en-GB" sz="1200" b="1" noProof="0" dirty="0">
                <a:solidFill>
                  <a:schemeClr val="bg1"/>
                </a:solidFill>
              </a:rPr>
              <a:t>SKILLS CHECK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676188" y="4500781"/>
            <a:ext cx="37944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noProof="0" dirty="0"/>
              <a:t>1) Find the lowest common multiple of these numbers</a:t>
            </a:r>
            <a:endParaRPr lang="en-GB" sz="1200" b="1" noProof="0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594047B-870B-F246-810C-FF50C3A462B0}"/>
              </a:ext>
            </a:extLst>
          </p:cNvPr>
          <p:cNvSpPr/>
          <p:nvPr/>
        </p:nvSpPr>
        <p:spPr>
          <a:xfrm>
            <a:off x="160533" y="5105898"/>
            <a:ext cx="1144953" cy="12902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594047B-870B-F246-810C-FF50C3A462B0}"/>
              </a:ext>
            </a:extLst>
          </p:cNvPr>
          <p:cNvSpPr/>
          <p:nvPr/>
        </p:nvSpPr>
        <p:spPr>
          <a:xfrm>
            <a:off x="1509611" y="5103564"/>
            <a:ext cx="1144953" cy="12902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594047B-870B-F246-810C-FF50C3A462B0}"/>
              </a:ext>
            </a:extLst>
          </p:cNvPr>
          <p:cNvSpPr/>
          <p:nvPr/>
        </p:nvSpPr>
        <p:spPr>
          <a:xfrm>
            <a:off x="2858689" y="5103563"/>
            <a:ext cx="1144953" cy="12902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594047B-870B-F246-810C-FF50C3A462B0}"/>
              </a:ext>
            </a:extLst>
          </p:cNvPr>
          <p:cNvSpPr/>
          <p:nvPr/>
        </p:nvSpPr>
        <p:spPr>
          <a:xfrm>
            <a:off x="4182032" y="5103562"/>
            <a:ext cx="1144953" cy="12902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594047B-870B-F246-810C-FF50C3A462B0}"/>
              </a:ext>
            </a:extLst>
          </p:cNvPr>
          <p:cNvSpPr/>
          <p:nvPr/>
        </p:nvSpPr>
        <p:spPr>
          <a:xfrm>
            <a:off x="5556845" y="5106181"/>
            <a:ext cx="1144953" cy="12902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1" name="Table 9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5867783"/>
                  </p:ext>
                </p:extLst>
              </p:nvPr>
            </p:nvGraphicFramePr>
            <p:xfrm>
              <a:off x="158543" y="6486329"/>
              <a:ext cx="6543255" cy="32864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86365">
                      <a:extLst>
                        <a:ext uri="{9D8B030D-6E8A-4147-A177-3AD203B41FA5}">
                          <a16:colId xmlns:a16="http://schemas.microsoft.com/office/drawing/2014/main" val="4222859584"/>
                        </a:ext>
                      </a:extLst>
                    </a:gridCol>
                    <a:gridCol w="1754718">
                      <a:extLst>
                        <a:ext uri="{9D8B030D-6E8A-4147-A177-3AD203B41FA5}">
                          <a16:colId xmlns:a16="http://schemas.microsoft.com/office/drawing/2014/main" val="2943938818"/>
                        </a:ext>
                      </a:extLst>
                    </a:gridCol>
                    <a:gridCol w="1760749">
                      <a:extLst>
                        <a:ext uri="{9D8B030D-6E8A-4147-A177-3AD203B41FA5}">
                          <a16:colId xmlns:a16="http://schemas.microsoft.com/office/drawing/2014/main" val="4207345459"/>
                        </a:ext>
                      </a:extLst>
                    </a:gridCol>
                    <a:gridCol w="1641423">
                      <a:extLst>
                        <a:ext uri="{9D8B030D-6E8A-4147-A177-3AD203B41FA5}">
                          <a16:colId xmlns:a16="http://schemas.microsoft.com/office/drawing/2014/main" val="592218920"/>
                        </a:ext>
                      </a:extLst>
                    </a:gridCol>
                  </a:tblGrid>
                  <a:tr h="264781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  <a:cs typeface="Calibri" panose="020F0502020204030204" pitchFamily="34" charset="0"/>
                            </a:rPr>
                            <a:t>Example 1 -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Example 2 – We</a:t>
                          </a:r>
                          <a:r>
                            <a:rPr lang="en-GB" sz="1200" b="1" i="1" baseline="0" noProof="0" dirty="0">
                              <a:solidFill>
                                <a:schemeClr val="accent2"/>
                              </a:solidFill>
                            </a:rPr>
                            <a:t> </a:t>
                          </a: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Example 3 – You</a:t>
                          </a:r>
                          <a:r>
                            <a:rPr lang="en-GB" sz="1200" b="1" i="1" baseline="0" noProof="0" dirty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53781998"/>
                      </a:ext>
                    </a:extLst>
                  </a:tr>
                  <a:tr h="1325145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1) Find the LCM of the variables.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</a:t>
                          </a: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Adjust one of the equations to make the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𝑠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the same. 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=7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 (1)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−3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=10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(2)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Adjust one of the equations to make the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𝑠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the same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3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+4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=16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(1)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=4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  (2)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Adjust one of the equations to make the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GB" sz="1200" b="0" i="1" noProof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𝑠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the same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4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−21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=31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(1)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3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+7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=18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   (2)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7265822"/>
                      </a:ext>
                    </a:extLst>
                  </a:tr>
                  <a:tr h="1687021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2)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Multiply one of the equations to make the variables the same. </a:t>
                          </a: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90681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1" name="Table 9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5867783"/>
                  </p:ext>
                </p:extLst>
              </p:nvPr>
            </p:nvGraphicFramePr>
            <p:xfrm>
              <a:off x="158543" y="6486329"/>
              <a:ext cx="6543255" cy="32864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86365">
                      <a:extLst>
                        <a:ext uri="{9D8B030D-6E8A-4147-A177-3AD203B41FA5}">
                          <a16:colId xmlns:a16="http://schemas.microsoft.com/office/drawing/2014/main" val="4222859584"/>
                        </a:ext>
                      </a:extLst>
                    </a:gridCol>
                    <a:gridCol w="1754718">
                      <a:extLst>
                        <a:ext uri="{9D8B030D-6E8A-4147-A177-3AD203B41FA5}">
                          <a16:colId xmlns:a16="http://schemas.microsoft.com/office/drawing/2014/main" val="2943938818"/>
                        </a:ext>
                      </a:extLst>
                    </a:gridCol>
                    <a:gridCol w="1760749">
                      <a:extLst>
                        <a:ext uri="{9D8B030D-6E8A-4147-A177-3AD203B41FA5}">
                          <a16:colId xmlns:a16="http://schemas.microsoft.com/office/drawing/2014/main" val="4207345459"/>
                        </a:ext>
                      </a:extLst>
                    </a:gridCol>
                    <a:gridCol w="1641423">
                      <a:extLst>
                        <a:ext uri="{9D8B030D-6E8A-4147-A177-3AD203B41FA5}">
                          <a16:colId xmlns:a16="http://schemas.microsoft.com/office/drawing/2014/main" val="592218920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  <a:cs typeface="Calibri" panose="020F0502020204030204" pitchFamily="34" charset="0"/>
                            </a:rPr>
                            <a:t>Example 1 -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2 – We</a:t>
                          </a:r>
                          <a:r>
                            <a:rPr lang="en-GB" sz="1200" b="1" i="1" baseline="0" noProof="0">
                              <a:solidFill>
                                <a:schemeClr val="accent2"/>
                              </a:solidFill>
                            </a:rPr>
                            <a:t> </a:t>
                          </a: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3 – You</a:t>
                          </a:r>
                          <a:r>
                            <a:rPr lang="en-GB" sz="1200" b="1" i="1" baseline="0" noProof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53781998"/>
                      </a:ext>
                    </a:extLst>
                  </a:tr>
                  <a:tr h="1325145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1) Find the LCM of the variables.</a:t>
                          </a:r>
                          <a:r>
                            <a:rPr lang="en-GB" sz="1200" b="0" i="0" baseline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</a:t>
                          </a:r>
                          <a:endParaRPr lang="en-GB" sz="1200" b="0" i="0" noProof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9861" t="-9495" r="-194444" b="-404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79239" t="-9495" r="-93772" b="-404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000" t="-9495" r="-743" b="-4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7265822"/>
                      </a:ext>
                    </a:extLst>
                  </a:tr>
                  <a:tr h="1687021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2)</a:t>
                          </a:r>
                          <a:r>
                            <a:rPr lang="en-GB" sz="1200" b="0" i="0" baseline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Multiply one of the equations to make the variables the same. </a:t>
                          </a:r>
                          <a:endParaRPr lang="en-GB" sz="1200" b="0" i="0" noProof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906817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7" name="TextBox 36"/>
          <p:cNvSpPr txBox="1"/>
          <p:nvPr/>
        </p:nvSpPr>
        <p:spPr>
          <a:xfrm>
            <a:off x="55420" y="4819914"/>
            <a:ext cx="1023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noProof="0" dirty="0"/>
              <a:t>a) 3 and 9</a:t>
            </a:r>
            <a:endParaRPr lang="en-GB" sz="1200" b="1" noProof="0" dirty="0"/>
          </a:p>
        </p:txBody>
      </p:sp>
      <p:sp>
        <p:nvSpPr>
          <p:cNvPr id="38" name="TextBox 37"/>
          <p:cNvSpPr txBox="1"/>
          <p:nvPr/>
        </p:nvSpPr>
        <p:spPr>
          <a:xfrm>
            <a:off x="1509611" y="4815380"/>
            <a:ext cx="1023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noProof="0" dirty="0"/>
              <a:t>b) 4 and 12</a:t>
            </a:r>
            <a:endParaRPr lang="en-GB" sz="1200" b="1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2818240" y="4821625"/>
            <a:ext cx="1023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noProof="0" dirty="0"/>
              <a:t>c) 10 and 30</a:t>
            </a:r>
            <a:endParaRPr lang="en-GB" sz="1200" b="1" noProof="0" dirty="0"/>
          </a:p>
        </p:txBody>
      </p:sp>
      <p:sp>
        <p:nvSpPr>
          <p:cNvPr id="40" name="TextBox 39"/>
          <p:cNvSpPr txBox="1"/>
          <p:nvPr/>
        </p:nvSpPr>
        <p:spPr>
          <a:xfrm>
            <a:off x="4215668" y="4815379"/>
            <a:ext cx="1023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noProof="0" dirty="0"/>
              <a:t>d) 7 and 28</a:t>
            </a:r>
            <a:endParaRPr lang="en-GB" sz="1200" b="1" noProof="0" dirty="0"/>
          </a:p>
        </p:txBody>
      </p:sp>
      <p:sp>
        <p:nvSpPr>
          <p:cNvPr id="41" name="TextBox 40"/>
          <p:cNvSpPr txBox="1"/>
          <p:nvPr/>
        </p:nvSpPr>
        <p:spPr>
          <a:xfrm>
            <a:off x="5581060" y="4800776"/>
            <a:ext cx="1023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noProof="0" dirty="0"/>
              <a:t>e) 21 and 42</a:t>
            </a:r>
            <a:endParaRPr lang="en-GB" sz="1200" b="1" noProof="0" dirty="0"/>
          </a:p>
        </p:txBody>
      </p:sp>
    </p:spTree>
    <p:extLst>
      <p:ext uri="{BB962C8B-B14F-4D97-AF65-F5344CB8AC3E}">
        <p14:creationId xmlns:p14="http://schemas.microsoft.com/office/powerpoint/2010/main" val="39710283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314950" y="9600873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noProof="0" smtClean="0"/>
              <a:t>17</a:t>
            </a:fld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5855728"/>
                  </p:ext>
                </p:extLst>
              </p:nvPr>
            </p:nvGraphicFramePr>
            <p:xfrm>
              <a:off x="110259" y="391231"/>
              <a:ext cx="6609852" cy="486832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0476">
                      <a:extLst>
                        <a:ext uri="{9D8B030D-6E8A-4147-A177-3AD203B41FA5}">
                          <a16:colId xmlns:a16="http://schemas.microsoft.com/office/drawing/2014/main" val="4222859584"/>
                        </a:ext>
                      </a:extLst>
                    </a:gridCol>
                    <a:gridCol w="1772578">
                      <a:extLst>
                        <a:ext uri="{9D8B030D-6E8A-4147-A177-3AD203B41FA5}">
                          <a16:colId xmlns:a16="http://schemas.microsoft.com/office/drawing/2014/main" val="2943938818"/>
                        </a:ext>
                      </a:extLst>
                    </a:gridCol>
                    <a:gridCol w="1778669">
                      <a:extLst>
                        <a:ext uri="{9D8B030D-6E8A-4147-A177-3AD203B41FA5}">
                          <a16:colId xmlns:a16="http://schemas.microsoft.com/office/drawing/2014/main" val="4207345459"/>
                        </a:ext>
                      </a:extLst>
                    </a:gridCol>
                    <a:gridCol w="1658129">
                      <a:extLst>
                        <a:ext uri="{9D8B030D-6E8A-4147-A177-3AD203B41FA5}">
                          <a16:colId xmlns:a16="http://schemas.microsoft.com/office/drawing/2014/main" val="592218920"/>
                        </a:ext>
                      </a:extLst>
                    </a:gridCol>
                  </a:tblGrid>
                  <a:tr h="251784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  <a:cs typeface="Calibri" panose="020F0502020204030204" pitchFamily="34" charset="0"/>
                            </a:rPr>
                            <a:t>Example 4 -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Example 5 – We</a:t>
                          </a:r>
                          <a:r>
                            <a:rPr lang="en-GB" sz="1200" b="1" i="1" baseline="0" noProof="0" dirty="0">
                              <a:solidFill>
                                <a:schemeClr val="accent2"/>
                              </a:solidFill>
                            </a:rPr>
                            <a:t> </a:t>
                          </a: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Example 6 – You</a:t>
                          </a:r>
                          <a:r>
                            <a:rPr lang="en-GB" sz="1200" b="1" i="1" baseline="0" noProof="0" dirty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53781998"/>
                      </a:ext>
                    </a:extLst>
                  </a:tr>
                  <a:tr h="595619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1) Label the equations 1 and 2.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Solve the simultaneous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equations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=17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 (1)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3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=29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(2)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Solve the simultaneous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equations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3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=19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(1)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6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+3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=42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(2)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Solve the simultaneous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equations. 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4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=11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(1)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+3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=11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(2)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7265822"/>
                      </a:ext>
                    </a:extLst>
                  </a:tr>
                  <a:tr h="756451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2) Find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the LCM and adjust one of the equations.</a:t>
                          </a: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1007270"/>
                      </a:ext>
                    </a:extLst>
                  </a:tr>
                  <a:tr h="756451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3) If the signs are </a:t>
                          </a: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the same,</a:t>
                          </a:r>
                          <a:r>
                            <a:rPr lang="en-GB" sz="1200" b="1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subtract. If different, add. </a:t>
                          </a: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9068173"/>
                      </a:ext>
                    </a:extLst>
                  </a:tr>
                  <a:tr h="756451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4) Solve to find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one variable. </a:t>
                          </a: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7515573"/>
                      </a:ext>
                    </a:extLst>
                  </a:tr>
                  <a:tr h="1188709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5) Substitute the value of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into one of the equations to find the other values.</a:t>
                          </a: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2978753"/>
                      </a:ext>
                    </a:extLst>
                  </a:tr>
                  <a:tr h="540322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6) Write the solutions.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4148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5855728"/>
                  </p:ext>
                </p:extLst>
              </p:nvPr>
            </p:nvGraphicFramePr>
            <p:xfrm>
              <a:off x="110259" y="391231"/>
              <a:ext cx="6609852" cy="486832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0476">
                      <a:extLst>
                        <a:ext uri="{9D8B030D-6E8A-4147-A177-3AD203B41FA5}">
                          <a16:colId xmlns:a16="http://schemas.microsoft.com/office/drawing/2014/main" val="4222859584"/>
                        </a:ext>
                      </a:extLst>
                    </a:gridCol>
                    <a:gridCol w="1772578">
                      <a:extLst>
                        <a:ext uri="{9D8B030D-6E8A-4147-A177-3AD203B41FA5}">
                          <a16:colId xmlns:a16="http://schemas.microsoft.com/office/drawing/2014/main" val="2943938818"/>
                        </a:ext>
                      </a:extLst>
                    </a:gridCol>
                    <a:gridCol w="1778669">
                      <a:extLst>
                        <a:ext uri="{9D8B030D-6E8A-4147-A177-3AD203B41FA5}">
                          <a16:colId xmlns:a16="http://schemas.microsoft.com/office/drawing/2014/main" val="4207345459"/>
                        </a:ext>
                      </a:extLst>
                    </a:gridCol>
                    <a:gridCol w="1658129">
                      <a:extLst>
                        <a:ext uri="{9D8B030D-6E8A-4147-A177-3AD203B41FA5}">
                          <a16:colId xmlns:a16="http://schemas.microsoft.com/office/drawing/2014/main" val="592218920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  <a:cs typeface="Calibri" panose="020F0502020204030204" pitchFamily="34" charset="0"/>
                            </a:rPr>
                            <a:t>Example 4 -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5 – We</a:t>
                          </a:r>
                          <a:r>
                            <a:rPr lang="en-GB" sz="1200" b="1" i="1" baseline="0" noProof="0">
                              <a:solidFill>
                                <a:schemeClr val="accent2"/>
                              </a:solidFill>
                            </a:rPr>
                            <a:t> </a:t>
                          </a: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6 – You</a:t>
                          </a:r>
                          <a:r>
                            <a:rPr lang="en-GB" sz="1200" b="1" i="1" baseline="0" noProof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53781998"/>
                      </a:ext>
                    </a:extLst>
                  </a:tr>
                  <a:tr h="595619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1) Label the equations 1 and 2.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6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9381" t="-6101" r="-194502" b="-265"/>
                          </a:stretch>
                        </a:blipFill>
                      </a:tcPr>
                    </a:tc>
                    <a:tc rowSpan="6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8767" t="-6101" r="-93836" b="-265"/>
                          </a:stretch>
                        </a:blipFill>
                      </a:tcPr>
                    </a:tc>
                    <a:tc rowSpan="6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65" t="-6101" r="-735" b="-2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7265822"/>
                      </a:ext>
                    </a:extLst>
                  </a:tr>
                  <a:tr h="756451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2) Find</a:t>
                          </a:r>
                          <a:r>
                            <a:rPr lang="en-GB" sz="1200" b="0" i="0" baseline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the LCM and adjust one of the equations.</a:t>
                          </a:r>
                          <a:endParaRPr lang="en-GB" sz="1200" b="0" i="0" noProof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1007270"/>
                      </a:ext>
                    </a:extLst>
                  </a:tr>
                  <a:tr h="756451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3) If the signs are </a:t>
                          </a: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the same,</a:t>
                          </a:r>
                          <a:r>
                            <a:rPr lang="en-GB" sz="1200" b="1" i="0" baseline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subtract. If different, add. </a:t>
                          </a:r>
                          <a:endParaRPr lang="en-GB" sz="1200" b="0" i="0" noProof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9068173"/>
                      </a:ext>
                    </a:extLst>
                  </a:tr>
                  <a:tr h="756451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4) Solve to find</a:t>
                          </a:r>
                          <a:r>
                            <a:rPr lang="en-GB" sz="1200" b="0" i="0" baseline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one variable. </a:t>
                          </a:r>
                          <a:endParaRPr lang="en-GB" sz="1200" b="0" i="0" noProof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7515573"/>
                      </a:ext>
                    </a:extLst>
                  </a:tr>
                  <a:tr h="11887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35" t="-264615" r="-372609" b="-4666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2978753"/>
                      </a:ext>
                    </a:extLst>
                  </a:tr>
                  <a:tr h="540322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6) Write the solutions.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41480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A127D5F-D90C-7A4B-B2A7-9600D90C40CC}"/>
              </a:ext>
            </a:extLst>
          </p:cNvPr>
          <p:cNvSpPr txBox="1"/>
          <p:nvPr/>
        </p:nvSpPr>
        <p:spPr>
          <a:xfrm>
            <a:off x="0" y="97"/>
            <a:ext cx="1681935" cy="276999"/>
          </a:xfrm>
          <a:prstGeom prst="rect">
            <a:avLst/>
          </a:prstGeom>
          <a:solidFill>
            <a:srgbClr val="0070C0"/>
          </a:solidFill>
        </p:spPr>
        <p:txBody>
          <a:bodyPr wrap="none" rtlCol="0" anchor="ctr">
            <a:spAutoFit/>
          </a:bodyPr>
          <a:lstStyle/>
          <a:p>
            <a:pPr algn="r"/>
            <a:r>
              <a:rPr lang="en-GB" sz="1200" b="1" noProof="0" dirty="0">
                <a:solidFill>
                  <a:schemeClr val="bg1"/>
                </a:solidFill>
              </a:rPr>
              <a:t>Adjusting one equation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10CDB0-5D39-7448-ABDD-102EC30FED6B}"/>
              </a:ext>
            </a:extLst>
          </p:cNvPr>
          <p:cNvSpPr txBox="1"/>
          <p:nvPr/>
        </p:nvSpPr>
        <p:spPr>
          <a:xfrm>
            <a:off x="1926406" y="5318652"/>
            <a:ext cx="35897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/>
              <a:t> 2) Solve the simultaneous equations using elimination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4307" y="5718693"/>
                <a:ext cx="141461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a)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=5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=9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  <a:p>
                <a:r>
                  <a:rPr lang="en-GB" sz="1200" noProof="0" dirty="0"/>
                  <a:t>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07" y="5718693"/>
                <a:ext cx="1414618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427819" y="5718692"/>
                <a:ext cx="155613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b)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=12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+4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=22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  <a:p>
                <a:r>
                  <a:rPr lang="en-GB" sz="1200" noProof="0" dirty="0"/>
                  <a:t>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7819" y="5718692"/>
                <a:ext cx="1556132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781495" y="5718692"/>
                <a:ext cx="150323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c)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=28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+6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=51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  <a:p>
                <a:r>
                  <a:rPr lang="en-GB" sz="1200" noProof="0" dirty="0"/>
                  <a:t> 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1495" y="5718692"/>
                <a:ext cx="1503233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110260" y="6241774"/>
            <a:ext cx="2119082" cy="35184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2" name="Rectangle 11"/>
          <p:cNvSpPr/>
          <p:nvPr/>
        </p:nvSpPr>
        <p:spPr>
          <a:xfrm>
            <a:off x="2295295" y="6241774"/>
            <a:ext cx="2249238" cy="35184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3" name="Rectangle 12"/>
          <p:cNvSpPr/>
          <p:nvPr/>
        </p:nvSpPr>
        <p:spPr>
          <a:xfrm>
            <a:off x="4585692" y="6241774"/>
            <a:ext cx="2134419" cy="35184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1031761" y="9382355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1818784" y="9379237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381000" y="9339389"/>
                <a:ext cx="1837366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9339389"/>
                <a:ext cx="1837366" cy="369332"/>
              </a:xfrm>
              <a:prstGeom prst="rect">
                <a:avLst/>
              </a:prstGeom>
              <a:blipFill>
                <a:blip r:embed="rId6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3100335" y="9378245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3990835" y="9379972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5367566" y="9381363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6154589" y="9378245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94805" y="5335165"/>
            <a:ext cx="1732782" cy="276999"/>
          </a:xfrm>
          <a:prstGeom prst="rect">
            <a:avLst/>
          </a:prstGeom>
          <a:solidFill>
            <a:srgbClr val="0070C0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200" noProof="0" dirty="0">
                <a:solidFill>
                  <a:schemeClr val="bg1"/>
                </a:solidFill>
              </a:rPr>
              <a:t>INDEPENDENT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2421508" y="9339389"/>
                <a:ext cx="1837366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1508" y="9339389"/>
                <a:ext cx="1837366" cy="369332"/>
              </a:xfrm>
              <a:prstGeom prst="rect">
                <a:avLst/>
              </a:prstGeom>
              <a:blipFill>
                <a:blip r:embed="rId7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4668093" y="9313442"/>
                <a:ext cx="1837366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8093" y="9313442"/>
                <a:ext cx="1837366" cy="369332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3324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314950" y="9528813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noProof="0" smtClean="0"/>
              <a:t>18</a:t>
            </a:fld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0671281"/>
                  </p:ext>
                </p:extLst>
              </p:nvPr>
            </p:nvGraphicFramePr>
            <p:xfrm>
              <a:off x="110259" y="114140"/>
              <a:ext cx="6609852" cy="486832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0476">
                      <a:extLst>
                        <a:ext uri="{9D8B030D-6E8A-4147-A177-3AD203B41FA5}">
                          <a16:colId xmlns:a16="http://schemas.microsoft.com/office/drawing/2014/main" val="4222859584"/>
                        </a:ext>
                      </a:extLst>
                    </a:gridCol>
                    <a:gridCol w="1772578">
                      <a:extLst>
                        <a:ext uri="{9D8B030D-6E8A-4147-A177-3AD203B41FA5}">
                          <a16:colId xmlns:a16="http://schemas.microsoft.com/office/drawing/2014/main" val="2943938818"/>
                        </a:ext>
                      </a:extLst>
                    </a:gridCol>
                    <a:gridCol w="1778669">
                      <a:extLst>
                        <a:ext uri="{9D8B030D-6E8A-4147-A177-3AD203B41FA5}">
                          <a16:colId xmlns:a16="http://schemas.microsoft.com/office/drawing/2014/main" val="4207345459"/>
                        </a:ext>
                      </a:extLst>
                    </a:gridCol>
                    <a:gridCol w="1658129">
                      <a:extLst>
                        <a:ext uri="{9D8B030D-6E8A-4147-A177-3AD203B41FA5}">
                          <a16:colId xmlns:a16="http://schemas.microsoft.com/office/drawing/2014/main" val="592218920"/>
                        </a:ext>
                      </a:extLst>
                    </a:gridCol>
                  </a:tblGrid>
                  <a:tr h="251784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  <a:cs typeface="Calibri" panose="020F0502020204030204" pitchFamily="34" charset="0"/>
                            </a:rPr>
                            <a:t>Example 7 -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Example 8 – We</a:t>
                          </a:r>
                          <a:r>
                            <a:rPr lang="en-GB" sz="1200" b="1" i="1" baseline="0" noProof="0" dirty="0">
                              <a:solidFill>
                                <a:schemeClr val="accent2"/>
                              </a:solidFill>
                            </a:rPr>
                            <a:t> </a:t>
                          </a: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Example 9 – You</a:t>
                          </a:r>
                          <a:r>
                            <a:rPr lang="en-GB" sz="1200" b="1" i="1" baseline="0" noProof="0" dirty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53781998"/>
                      </a:ext>
                    </a:extLst>
                  </a:tr>
                  <a:tr h="595619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1) Label the equations 1 and 2.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Solve the simultaneous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equations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=5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 (1)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3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−2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=−3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(2)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Solve the simultaneous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equations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3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−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=11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(1)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6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+3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=27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(2)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Solve the simultaneous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equations. 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4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=22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(1)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−3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=−1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(2)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7265822"/>
                      </a:ext>
                    </a:extLst>
                  </a:tr>
                  <a:tr h="756451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2) Find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the LCM and adjust one of the equations.</a:t>
                          </a: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1007270"/>
                      </a:ext>
                    </a:extLst>
                  </a:tr>
                  <a:tr h="756451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3) If the signs are </a:t>
                          </a: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the same,</a:t>
                          </a:r>
                          <a:r>
                            <a:rPr lang="en-GB" sz="1200" b="1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subtract. If different, add. </a:t>
                          </a: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9068173"/>
                      </a:ext>
                    </a:extLst>
                  </a:tr>
                  <a:tr h="756451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4) Solve to find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one variable. </a:t>
                          </a: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7515573"/>
                      </a:ext>
                    </a:extLst>
                  </a:tr>
                  <a:tr h="1188709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5) Substitute the value of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into one of the equations to find the other values.</a:t>
                          </a: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2978753"/>
                      </a:ext>
                    </a:extLst>
                  </a:tr>
                  <a:tr h="540322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6) Write the solutions.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4148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0671281"/>
                  </p:ext>
                </p:extLst>
              </p:nvPr>
            </p:nvGraphicFramePr>
            <p:xfrm>
              <a:off x="110259" y="114140"/>
              <a:ext cx="6609852" cy="486832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0476">
                      <a:extLst>
                        <a:ext uri="{9D8B030D-6E8A-4147-A177-3AD203B41FA5}">
                          <a16:colId xmlns:a16="http://schemas.microsoft.com/office/drawing/2014/main" val="4222859584"/>
                        </a:ext>
                      </a:extLst>
                    </a:gridCol>
                    <a:gridCol w="1772578">
                      <a:extLst>
                        <a:ext uri="{9D8B030D-6E8A-4147-A177-3AD203B41FA5}">
                          <a16:colId xmlns:a16="http://schemas.microsoft.com/office/drawing/2014/main" val="2943938818"/>
                        </a:ext>
                      </a:extLst>
                    </a:gridCol>
                    <a:gridCol w="1778669">
                      <a:extLst>
                        <a:ext uri="{9D8B030D-6E8A-4147-A177-3AD203B41FA5}">
                          <a16:colId xmlns:a16="http://schemas.microsoft.com/office/drawing/2014/main" val="4207345459"/>
                        </a:ext>
                      </a:extLst>
                    </a:gridCol>
                    <a:gridCol w="1658129">
                      <a:extLst>
                        <a:ext uri="{9D8B030D-6E8A-4147-A177-3AD203B41FA5}">
                          <a16:colId xmlns:a16="http://schemas.microsoft.com/office/drawing/2014/main" val="592218920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  <a:cs typeface="Calibri" panose="020F0502020204030204" pitchFamily="34" charset="0"/>
                            </a:rPr>
                            <a:t>Example 7 -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8 – We</a:t>
                          </a:r>
                          <a:r>
                            <a:rPr lang="en-GB" sz="1200" b="1" i="1" baseline="0" noProof="0">
                              <a:solidFill>
                                <a:schemeClr val="accent2"/>
                              </a:solidFill>
                            </a:rPr>
                            <a:t> </a:t>
                          </a: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9 – You</a:t>
                          </a:r>
                          <a:r>
                            <a:rPr lang="en-GB" sz="1200" b="1" i="1" baseline="0" noProof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53781998"/>
                      </a:ext>
                    </a:extLst>
                  </a:tr>
                  <a:tr h="595619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1) Label the equations 1 and 2.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6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9381" t="-6093" r="-194502" b="-265"/>
                          </a:stretch>
                        </a:blipFill>
                      </a:tcPr>
                    </a:tc>
                    <a:tc rowSpan="6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8767" t="-6093" r="-93836" b="-265"/>
                          </a:stretch>
                        </a:blipFill>
                      </a:tcPr>
                    </a:tc>
                    <a:tc rowSpan="6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65" t="-6093" r="-735" b="-2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7265822"/>
                      </a:ext>
                    </a:extLst>
                  </a:tr>
                  <a:tr h="756451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2) Find</a:t>
                          </a:r>
                          <a:r>
                            <a:rPr lang="en-GB" sz="1200" b="0" i="0" baseline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the LCM and adjust one of the equations.</a:t>
                          </a:r>
                          <a:endParaRPr lang="en-GB" sz="1200" b="0" i="0" noProof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1007270"/>
                      </a:ext>
                    </a:extLst>
                  </a:tr>
                  <a:tr h="756451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3) If the signs are </a:t>
                          </a: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the same,</a:t>
                          </a:r>
                          <a:r>
                            <a:rPr lang="en-GB" sz="1200" b="1" i="0" baseline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subtract. If different, add. </a:t>
                          </a:r>
                          <a:endParaRPr lang="en-GB" sz="1200" b="0" i="0" noProof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9068173"/>
                      </a:ext>
                    </a:extLst>
                  </a:tr>
                  <a:tr h="756451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4) Solve to find</a:t>
                          </a:r>
                          <a:r>
                            <a:rPr lang="en-GB" sz="1200" b="0" i="0" baseline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one variable. </a:t>
                          </a:r>
                          <a:endParaRPr lang="en-GB" sz="1200" b="0" i="0" noProof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7515573"/>
                      </a:ext>
                    </a:extLst>
                  </a:tr>
                  <a:tr h="11887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35" t="-265128" r="-372609" b="-4666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2978753"/>
                      </a:ext>
                    </a:extLst>
                  </a:tr>
                  <a:tr h="540322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6) Write the solutions.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41480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C10CDB0-5D39-7448-ABDD-102EC30FED6B}"/>
              </a:ext>
            </a:extLst>
          </p:cNvPr>
          <p:cNvSpPr txBox="1"/>
          <p:nvPr/>
        </p:nvSpPr>
        <p:spPr>
          <a:xfrm>
            <a:off x="1791720" y="5050373"/>
            <a:ext cx="35897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/>
              <a:t> 3) Solve the simultaneous equations using elimination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858645" y="5468917"/>
                <a:ext cx="141461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c)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=−1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=9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  <a:p>
                <a:r>
                  <a:rPr lang="en-GB" sz="1200" noProof="0" dirty="0"/>
                  <a:t> 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8645" y="5468917"/>
                <a:ext cx="1414618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10259" y="5403149"/>
                <a:ext cx="155613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a)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=6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+4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=16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  <a:p>
                <a:r>
                  <a:rPr lang="en-GB" sz="1200" noProof="0" dirty="0"/>
                  <a:t>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59" y="5403149"/>
                <a:ext cx="1556132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488595" y="5414491"/>
                <a:ext cx="150323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b)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=16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−6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=3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  <a:p>
                <a:r>
                  <a:rPr lang="en-GB" sz="1200" noProof="0" dirty="0"/>
                  <a:t>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595" y="5414491"/>
                <a:ext cx="1503233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124115" y="5928961"/>
            <a:ext cx="2119082" cy="37969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1" name="Rectangle 10"/>
          <p:cNvSpPr/>
          <p:nvPr/>
        </p:nvSpPr>
        <p:spPr>
          <a:xfrm>
            <a:off x="2309150" y="5928961"/>
            <a:ext cx="2097801" cy="37969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2" name="Rectangle 11"/>
          <p:cNvSpPr/>
          <p:nvPr/>
        </p:nvSpPr>
        <p:spPr>
          <a:xfrm>
            <a:off x="4498067" y="5928961"/>
            <a:ext cx="2097801" cy="37969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1045616" y="9346636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1832639" y="9343518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558381" y="9303670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381" y="9303670"/>
                <a:ext cx="1381880" cy="369332"/>
              </a:xfrm>
              <a:prstGeom prst="rect">
                <a:avLst/>
              </a:prstGeom>
              <a:blipFill>
                <a:blip r:embed="rId6"/>
                <a:stretch>
                  <a:fillRect r="-1283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3217667" y="9347371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4004690" y="9344253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2730432" y="9304405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0432" y="9304405"/>
                <a:ext cx="1381880" cy="369332"/>
              </a:xfrm>
              <a:prstGeom prst="rect">
                <a:avLst/>
              </a:prstGeom>
              <a:blipFill>
                <a:blip r:embed="rId6"/>
                <a:stretch>
                  <a:fillRect r="-12335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5381421" y="9345644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6168444" y="9342526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4894186" y="9302678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186" y="9302678"/>
                <a:ext cx="1381880" cy="369332"/>
              </a:xfrm>
              <a:prstGeom prst="rect">
                <a:avLst/>
              </a:prstGeom>
              <a:blipFill>
                <a:blip r:embed="rId6"/>
                <a:stretch>
                  <a:fillRect r="-12335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110259" y="5054306"/>
            <a:ext cx="1732782" cy="276999"/>
          </a:xfrm>
          <a:prstGeom prst="rect">
            <a:avLst/>
          </a:prstGeom>
          <a:solidFill>
            <a:srgbClr val="0070C0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200" noProof="0" dirty="0">
                <a:solidFill>
                  <a:schemeClr val="bg1"/>
                </a:solidFill>
              </a:rPr>
              <a:t>INDEPENDENT PRACTICE</a:t>
            </a:r>
          </a:p>
        </p:txBody>
      </p:sp>
    </p:spTree>
    <p:extLst>
      <p:ext uri="{BB962C8B-B14F-4D97-AF65-F5344CB8AC3E}">
        <p14:creationId xmlns:p14="http://schemas.microsoft.com/office/powerpoint/2010/main" val="10830409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314950" y="9546237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noProof="0" smtClean="0"/>
              <a:t>19</a:t>
            </a:fld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28337" y="455278"/>
                <a:ext cx="150323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a)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+8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43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=18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  <a:p>
                <a:r>
                  <a:rPr lang="en-GB" sz="1200" noProof="0" dirty="0"/>
                  <a:t>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37" y="455278"/>
                <a:ext cx="1503233" cy="646331"/>
              </a:xfrm>
              <a:prstGeom prst="rect">
                <a:avLst/>
              </a:prstGeom>
              <a:blipFill>
                <a:blip r:embed="rId2"/>
                <a:stretch>
                  <a:fillRect t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560388" y="455277"/>
                <a:ext cx="154766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b)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=33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−9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=63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  <a:p>
                <a:r>
                  <a:rPr lang="en-GB" sz="1200" noProof="0" dirty="0"/>
                  <a:t>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388" y="455277"/>
                <a:ext cx="1547668" cy="646331"/>
              </a:xfrm>
              <a:prstGeom prst="rect">
                <a:avLst/>
              </a:prstGeom>
              <a:blipFill>
                <a:blip r:embed="rId3"/>
                <a:stretch>
                  <a:fillRect t="-943" r="-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887390" y="455277"/>
                <a:ext cx="154811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c)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4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=−2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4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=−10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  <a:p>
                <a:r>
                  <a:rPr lang="en-GB" sz="1200" noProof="0" dirty="0"/>
                  <a:t>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7390" y="455277"/>
                <a:ext cx="1548117" cy="646331"/>
              </a:xfrm>
              <a:prstGeom prst="rect">
                <a:avLst/>
              </a:prstGeom>
              <a:blipFill>
                <a:blip r:embed="rId4"/>
                <a:stretch>
                  <a:fillRect t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238597" y="978359"/>
            <a:ext cx="2119082" cy="40091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Rectangle 6"/>
          <p:cNvSpPr/>
          <p:nvPr/>
        </p:nvSpPr>
        <p:spPr>
          <a:xfrm>
            <a:off x="2423632" y="978359"/>
            <a:ext cx="2097801" cy="40091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8" name="Rectangle 7"/>
          <p:cNvSpPr/>
          <p:nvPr/>
        </p:nvSpPr>
        <p:spPr>
          <a:xfrm>
            <a:off x="4612549" y="978359"/>
            <a:ext cx="2097801" cy="40091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2140" y="5014024"/>
                <a:ext cx="164750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d)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8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+4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=−28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−12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30 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(2)</a:t>
                </a:r>
              </a:p>
              <a:p>
                <a:r>
                  <a:rPr lang="en-GB" sz="1200" noProof="0" dirty="0"/>
                  <a:t>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0" y="5014024"/>
                <a:ext cx="1647502" cy="646331"/>
              </a:xfrm>
              <a:prstGeom prst="rect">
                <a:avLst/>
              </a:prstGeom>
              <a:blipFill>
                <a:blip r:embed="rId5"/>
                <a:stretch>
                  <a:fillRect t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489614" y="5014023"/>
                <a:ext cx="164109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e)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1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−4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=82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−9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=12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  <a:p>
                <a:r>
                  <a:rPr lang="en-GB" sz="1200" noProof="0" dirty="0"/>
                  <a:t> 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9614" y="5014023"/>
                <a:ext cx="1641090" cy="646331"/>
              </a:xfrm>
              <a:prstGeom prst="rect">
                <a:avLst/>
              </a:prstGeom>
              <a:blipFill>
                <a:blip r:embed="rId6"/>
                <a:stretch>
                  <a:fillRect t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813636" y="5014023"/>
                <a:ext cx="164750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f)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=9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  </m:t>
                    </m:r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+11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=−9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  <a:p>
                <a:r>
                  <a:rPr lang="en-GB" sz="1200" noProof="0" dirty="0"/>
                  <a:t> 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3636" y="5014023"/>
                <a:ext cx="1647502" cy="646331"/>
              </a:xfrm>
              <a:prstGeom prst="rect">
                <a:avLst/>
              </a:prstGeom>
              <a:blipFill>
                <a:blip r:embed="rId7"/>
                <a:stretch>
                  <a:fillRect t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214534" y="5537104"/>
            <a:ext cx="2119082" cy="42033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3" name="Rectangle 12"/>
          <p:cNvSpPr/>
          <p:nvPr/>
        </p:nvSpPr>
        <p:spPr>
          <a:xfrm>
            <a:off x="2399569" y="5537104"/>
            <a:ext cx="2097801" cy="42033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4" name="Rectangle 13"/>
          <p:cNvSpPr/>
          <p:nvPr/>
        </p:nvSpPr>
        <p:spPr>
          <a:xfrm>
            <a:off x="4588486" y="5537104"/>
            <a:ext cx="2097801" cy="42033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1141656" y="4606013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1928679" y="4602895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654421" y="4563047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21" y="4563047"/>
                <a:ext cx="1381880" cy="369332"/>
              </a:xfrm>
              <a:prstGeom prst="rect">
                <a:avLst/>
              </a:prstGeom>
              <a:blipFill>
                <a:blip r:embed="rId8"/>
                <a:stretch>
                  <a:fillRect r="-12335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3313707" y="4606748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4100730" y="4603630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2826472" y="4563782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6472" y="4563782"/>
                <a:ext cx="1381880" cy="369332"/>
              </a:xfrm>
              <a:prstGeom prst="rect">
                <a:avLst/>
              </a:prstGeom>
              <a:blipFill>
                <a:blip r:embed="rId8"/>
                <a:stretch>
                  <a:fillRect r="-12832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5477461" y="4605021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6264484" y="4601903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4990226" y="4562055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226" y="4562055"/>
                <a:ext cx="1381880" cy="369332"/>
              </a:xfrm>
              <a:prstGeom prst="rect">
                <a:avLst/>
              </a:prstGeom>
              <a:blipFill>
                <a:blip r:embed="rId9"/>
                <a:stretch>
                  <a:fillRect r="-1283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1141656" y="9297308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1928679" y="9294190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654421" y="9254342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21" y="9254342"/>
                <a:ext cx="1381880" cy="369332"/>
              </a:xfrm>
              <a:prstGeom prst="rect">
                <a:avLst/>
              </a:prstGeom>
              <a:blipFill>
                <a:blip r:embed="rId9"/>
                <a:stretch>
                  <a:fillRect r="-12335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3313707" y="9298043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4100730" y="9294925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2826472" y="9255077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6472" y="9255077"/>
                <a:ext cx="1381880" cy="369332"/>
              </a:xfrm>
              <a:prstGeom prst="rect">
                <a:avLst/>
              </a:prstGeom>
              <a:blipFill>
                <a:blip r:embed="rId9"/>
                <a:stretch>
                  <a:fillRect r="-1283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5477461" y="9296316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6264484" y="9293198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4990226" y="9253350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226" y="9253350"/>
                <a:ext cx="1381880" cy="369332"/>
              </a:xfrm>
              <a:prstGeom prst="rect">
                <a:avLst/>
              </a:prstGeom>
              <a:blipFill>
                <a:blip r:embed="rId8"/>
                <a:stretch>
                  <a:fillRect r="-12832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/>
          <p:cNvSpPr txBox="1"/>
          <p:nvPr/>
        </p:nvSpPr>
        <p:spPr>
          <a:xfrm>
            <a:off x="214534" y="62404"/>
            <a:ext cx="1245469" cy="276999"/>
          </a:xfrm>
          <a:prstGeom prst="rect">
            <a:avLst/>
          </a:prstGeom>
          <a:solidFill>
            <a:srgbClr val="0070C0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1200" noProof="0" dirty="0">
                <a:solidFill>
                  <a:schemeClr val="bg1"/>
                </a:solidFill>
              </a:rPr>
              <a:t>MIXED PRACTICE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10CDB0-5D39-7448-ABDD-102EC30FED6B}"/>
              </a:ext>
            </a:extLst>
          </p:cNvPr>
          <p:cNvSpPr txBox="1"/>
          <p:nvPr/>
        </p:nvSpPr>
        <p:spPr>
          <a:xfrm>
            <a:off x="1631570" y="50522"/>
            <a:ext cx="35897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/>
              <a:t>4) Solve the simultaneous equations using elimination</a:t>
            </a:r>
          </a:p>
        </p:txBody>
      </p:sp>
    </p:spTree>
    <p:extLst>
      <p:ext uri="{BB962C8B-B14F-4D97-AF65-F5344CB8AC3E}">
        <p14:creationId xmlns:p14="http://schemas.microsoft.com/office/powerpoint/2010/main" val="28743148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9643019"/>
                  </p:ext>
                </p:extLst>
              </p:nvPr>
            </p:nvGraphicFramePr>
            <p:xfrm>
              <a:off x="124074" y="268888"/>
              <a:ext cx="6609852" cy="487562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85900">
                      <a:extLst>
                        <a:ext uri="{9D8B030D-6E8A-4147-A177-3AD203B41FA5}">
                          <a16:colId xmlns:a16="http://schemas.microsoft.com/office/drawing/2014/main" val="4222859584"/>
                        </a:ext>
                      </a:extLst>
                    </a:gridCol>
                    <a:gridCol w="1687154">
                      <a:extLst>
                        <a:ext uri="{9D8B030D-6E8A-4147-A177-3AD203B41FA5}">
                          <a16:colId xmlns:a16="http://schemas.microsoft.com/office/drawing/2014/main" val="2943938818"/>
                        </a:ext>
                      </a:extLst>
                    </a:gridCol>
                    <a:gridCol w="1778669">
                      <a:extLst>
                        <a:ext uri="{9D8B030D-6E8A-4147-A177-3AD203B41FA5}">
                          <a16:colId xmlns:a16="http://schemas.microsoft.com/office/drawing/2014/main" val="4207345459"/>
                        </a:ext>
                      </a:extLst>
                    </a:gridCol>
                    <a:gridCol w="1658129">
                      <a:extLst>
                        <a:ext uri="{9D8B030D-6E8A-4147-A177-3AD203B41FA5}">
                          <a16:colId xmlns:a16="http://schemas.microsoft.com/office/drawing/2014/main" val="592218920"/>
                        </a:ext>
                      </a:extLst>
                    </a:gridCol>
                  </a:tblGrid>
                  <a:tr h="247908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  <a:cs typeface="Calibri" panose="020F0502020204030204" pitchFamily="34" charset="0"/>
                            </a:rPr>
                            <a:t>Example 10 -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Example 11 – We</a:t>
                          </a:r>
                          <a:r>
                            <a:rPr lang="en-GB" sz="1200" b="1" i="1" baseline="0" noProof="0" dirty="0">
                              <a:solidFill>
                                <a:schemeClr val="accent2"/>
                              </a:solidFill>
                            </a:rPr>
                            <a:t> </a:t>
                          </a: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Example 12 – You</a:t>
                          </a:r>
                          <a:r>
                            <a:rPr lang="en-GB" sz="1200" b="1" i="1" baseline="0" noProof="0" dirty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53781998"/>
                      </a:ext>
                    </a:extLst>
                  </a:tr>
                  <a:tr h="596566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1) Label the equations 1 and 2.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Solve the simultaneous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equations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4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=8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 (1)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3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+3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=9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(2)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Solve the simultaneous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equations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3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+2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=13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(1)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GB" sz="1200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6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−5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=8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(2)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Solve the simultaneous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equations. 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4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+3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=29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(1)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+5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=20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(2)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7265822"/>
                      </a:ext>
                    </a:extLst>
                  </a:tr>
                  <a:tr h="757654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2) Find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the LCM and adjust </a:t>
                          </a:r>
                          <a:r>
                            <a:rPr lang="en-GB" sz="1200" b="1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both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of the equations.</a:t>
                          </a: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1007270"/>
                      </a:ext>
                    </a:extLst>
                  </a:tr>
                  <a:tr h="757654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3) If the signs are </a:t>
                          </a: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the same,</a:t>
                          </a:r>
                          <a:r>
                            <a:rPr lang="en-GB" sz="1200" b="1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subtract. If different, add. </a:t>
                          </a: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9068173"/>
                      </a:ext>
                    </a:extLst>
                  </a:tr>
                  <a:tr h="757654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4) Solve to find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one variable. </a:t>
                          </a: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7515573"/>
                      </a:ext>
                    </a:extLst>
                  </a:tr>
                  <a:tr h="1190598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5) Substitute the value of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or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baseline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into one of the equations to find the other values.</a:t>
                          </a: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2978753"/>
                      </a:ext>
                    </a:extLst>
                  </a:tr>
                  <a:tr h="54118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6) Write the solutions.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4148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9643019"/>
                  </p:ext>
                </p:extLst>
              </p:nvPr>
            </p:nvGraphicFramePr>
            <p:xfrm>
              <a:off x="124074" y="268888"/>
              <a:ext cx="6609852" cy="487562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85900">
                      <a:extLst>
                        <a:ext uri="{9D8B030D-6E8A-4147-A177-3AD203B41FA5}">
                          <a16:colId xmlns:a16="http://schemas.microsoft.com/office/drawing/2014/main" val="4222859584"/>
                        </a:ext>
                      </a:extLst>
                    </a:gridCol>
                    <a:gridCol w="1687154">
                      <a:extLst>
                        <a:ext uri="{9D8B030D-6E8A-4147-A177-3AD203B41FA5}">
                          <a16:colId xmlns:a16="http://schemas.microsoft.com/office/drawing/2014/main" val="2943938818"/>
                        </a:ext>
                      </a:extLst>
                    </a:gridCol>
                    <a:gridCol w="1778669">
                      <a:extLst>
                        <a:ext uri="{9D8B030D-6E8A-4147-A177-3AD203B41FA5}">
                          <a16:colId xmlns:a16="http://schemas.microsoft.com/office/drawing/2014/main" val="4207345459"/>
                        </a:ext>
                      </a:extLst>
                    </a:gridCol>
                    <a:gridCol w="1658129">
                      <a:extLst>
                        <a:ext uri="{9D8B030D-6E8A-4147-A177-3AD203B41FA5}">
                          <a16:colId xmlns:a16="http://schemas.microsoft.com/office/drawing/2014/main" val="592218920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  <a:cs typeface="Calibri" panose="020F0502020204030204" pitchFamily="34" charset="0"/>
                            </a:rPr>
                            <a:t>Example 10 -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11 – We</a:t>
                          </a:r>
                          <a:r>
                            <a:rPr lang="en-GB" sz="1200" b="1" i="1" baseline="0" noProof="0">
                              <a:solidFill>
                                <a:schemeClr val="accent2"/>
                              </a:solidFill>
                            </a:rPr>
                            <a:t> </a:t>
                          </a: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12 – You</a:t>
                          </a:r>
                          <a:r>
                            <a:rPr lang="en-GB" sz="1200" b="1" i="1" baseline="0" noProof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53781998"/>
                      </a:ext>
                    </a:extLst>
                  </a:tr>
                  <a:tr h="596566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1) Label the equations 1 and 2.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6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8448" t="-6093" r="-204332" b="-265"/>
                          </a:stretch>
                        </a:blipFill>
                      </a:tcPr>
                    </a:tc>
                    <a:tc rowSpan="6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8767" t="-6093" r="-93836" b="-265"/>
                          </a:stretch>
                        </a:blipFill>
                      </a:tcPr>
                    </a:tc>
                    <a:tc rowSpan="6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265" t="-6093" r="-735" b="-2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7265822"/>
                      </a:ext>
                    </a:extLst>
                  </a:tr>
                  <a:tr h="757654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2) Find</a:t>
                          </a:r>
                          <a:r>
                            <a:rPr lang="en-GB" sz="1200" b="0" i="0" baseline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the LCM and adjust </a:t>
                          </a:r>
                          <a:r>
                            <a:rPr lang="en-GB" sz="1200" b="1" i="0" baseline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both</a:t>
                          </a:r>
                          <a:r>
                            <a:rPr lang="en-GB" sz="1200" b="0" i="0" baseline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of the equations.</a:t>
                          </a:r>
                          <a:endParaRPr lang="en-GB" sz="1200" b="0" i="0" noProof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1007270"/>
                      </a:ext>
                    </a:extLst>
                  </a:tr>
                  <a:tr h="757654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3) If the signs are </a:t>
                          </a: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the same,</a:t>
                          </a:r>
                          <a:r>
                            <a:rPr lang="en-GB" sz="1200" b="1" i="0" baseline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subtract. If different, add. </a:t>
                          </a:r>
                          <a:endParaRPr lang="en-GB" sz="1200" b="0" i="0" noProof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9068173"/>
                      </a:ext>
                    </a:extLst>
                  </a:tr>
                  <a:tr h="757654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4) Solve to find</a:t>
                          </a:r>
                          <a:r>
                            <a:rPr lang="en-GB" sz="1200" b="0" i="0" baseline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one variable. </a:t>
                          </a:r>
                          <a:endParaRPr lang="en-GB" sz="1200" b="0" i="0" noProof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7515573"/>
                      </a:ext>
                    </a:extLst>
                  </a:tr>
                  <a:tr h="119059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10" t="-265128" r="-345492" b="-4666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2978753"/>
                      </a:ext>
                    </a:extLst>
                  </a:tr>
                  <a:tr h="54118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6) Write the solutions.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41480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1A127D5F-D90C-7A4B-B2A7-9600D90C40CC}"/>
              </a:ext>
            </a:extLst>
          </p:cNvPr>
          <p:cNvSpPr txBox="1"/>
          <p:nvPr/>
        </p:nvSpPr>
        <p:spPr>
          <a:xfrm>
            <a:off x="0" y="-8111"/>
            <a:ext cx="1802161" cy="276999"/>
          </a:xfrm>
          <a:prstGeom prst="rect">
            <a:avLst/>
          </a:prstGeom>
          <a:solidFill>
            <a:srgbClr val="0070C0"/>
          </a:solidFill>
        </p:spPr>
        <p:txBody>
          <a:bodyPr wrap="none" rtlCol="0" anchor="ctr">
            <a:spAutoFit/>
          </a:bodyPr>
          <a:lstStyle/>
          <a:p>
            <a:pPr algn="r"/>
            <a:r>
              <a:rPr lang="en-GB" sz="1200" b="1" noProof="0" dirty="0">
                <a:solidFill>
                  <a:schemeClr val="bg1"/>
                </a:solidFill>
              </a:rPr>
              <a:t>Adjusting both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3DCEA55-C9C6-4630-92E1-BFB4B4A7F1A8}"/>
                  </a:ext>
                </a:extLst>
              </p:cNvPr>
              <p:cNvSpPr txBox="1"/>
              <p:nvPr/>
            </p:nvSpPr>
            <p:spPr>
              <a:xfrm>
                <a:off x="121148" y="5535287"/>
                <a:ext cx="150323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a)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=14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=19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  <a:p>
                <a:r>
                  <a:rPr lang="en-GB" sz="1200" noProof="0" dirty="0"/>
                  <a:t>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3DCEA55-C9C6-4630-92E1-BFB4B4A7F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48" y="5535287"/>
                <a:ext cx="1503233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4B71FF7-60D7-908C-D239-EDA2D9094AF9}"/>
                  </a:ext>
                </a:extLst>
              </p:cNvPr>
              <p:cNvSpPr txBox="1"/>
              <p:nvPr/>
            </p:nvSpPr>
            <p:spPr>
              <a:xfrm>
                <a:off x="2433551" y="5535286"/>
                <a:ext cx="178696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b)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   </m:t>
                    </m:r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7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=−22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  <a:p>
                <a:r>
                  <a:rPr lang="en-GB" sz="1200" noProof="0" dirty="0"/>
                  <a:t>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4B71FF7-60D7-908C-D239-EDA2D9094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3551" y="5535286"/>
                <a:ext cx="1786964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BAC7C4C-E94F-31E5-64FB-8B1785F95F67}"/>
                  </a:ext>
                </a:extLst>
              </p:cNvPr>
              <p:cNvSpPr txBox="1"/>
              <p:nvPr/>
            </p:nvSpPr>
            <p:spPr>
              <a:xfrm>
                <a:off x="4901842" y="5535286"/>
                <a:ext cx="150483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c)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=−4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+4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   4 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  <a:p>
                <a:r>
                  <a:rPr lang="en-GB" sz="1200" noProof="0" dirty="0"/>
                  <a:t>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BAC7C4C-E94F-31E5-64FB-8B1785F95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842" y="5535286"/>
                <a:ext cx="1504836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C957A2D3-9F92-4369-6969-5A8D1B9A7904}"/>
              </a:ext>
            </a:extLst>
          </p:cNvPr>
          <p:cNvSpPr/>
          <p:nvPr/>
        </p:nvSpPr>
        <p:spPr>
          <a:xfrm>
            <a:off x="228823" y="5955538"/>
            <a:ext cx="2119082" cy="38107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C02574C-85A1-1AF5-C4C0-B299EF246971}"/>
              </a:ext>
            </a:extLst>
          </p:cNvPr>
          <p:cNvSpPr/>
          <p:nvPr/>
        </p:nvSpPr>
        <p:spPr>
          <a:xfrm>
            <a:off x="2413858" y="5955538"/>
            <a:ext cx="2097801" cy="38107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1587905-6A9F-B64A-16AB-DAD74AAC0BD1}"/>
              </a:ext>
            </a:extLst>
          </p:cNvPr>
          <p:cNvSpPr/>
          <p:nvPr/>
        </p:nvSpPr>
        <p:spPr>
          <a:xfrm>
            <a:off x="4602775" y="5955538"/>
            <a:ext cx="2097801" cy="38107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4992582-05DB-8825-CF50-9CB94832FEEE}"/>
              </a:ext>
            </a:extLst>
          </p:cNvPr>
          <p:cNvSpPr txBox="1"/>
          <p:nvPr/>
        </p:nvSpPr>
        <p:spPr>
          <a:xfrm>
            <a:off x="-151447" y="5144514"/>
            <a:ext cx="46203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noProof="0" dirty="0"/>
              <a:t>6) Solve the simultaneous equations by adjusting both equations</a:t>
            </a:r>
            <a:endParaRPr lang="en-GB" sz="1200" b="1" noProof="0" dirty="0"/>
          </a:p>
        </p:txBody>
      </p:sp>
    </p:spTree>
    <p:extLst>
      <p:ext uri="{BB962C8B-B14F-4D97-AF65-F5344CB8AC3E}">
        <p14:creationId xmlns:p14="http://schemas.microsoft.com/office/powerpoint/2010/main" val="6237543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236106" y="9512954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noProof="0" smtClean="0"/>
              <a:t>21</a:t>
            </a:fld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30922" y="348088"/>
                <a:ext cx="150323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g)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+8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=31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=31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  <a:p>
                <a:r>
                  <a:rPr lang="en-GB" sz="1200" noProof="0" dirty="0"/>
                  <a:t>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22" y="348088"/>
                <a:ext cx="1503233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500232" y="348087"/>
                <a:ext cx="167315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h)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7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−15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=2.5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=5.5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  <a:p>
                <a:r>
                  <a:rPr lang="en-GB" sz="1200" noProof="0" dirty="0"/>
                  <a:t>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232" y="348087"/>
                <a:ext cx="1673151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926845" y="348087"/>
                <a:ext cx="147437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 err="1"/>
                  <a:t>i</a:t>
                </a:r>
                <a:r>
                  <a:rPr lang="en-GB" sz="1200" noProof="0" dirty="0"/>
                  <a:t>) </a:t>
                </a:r>
                <a14:m>
                  <m:oMath xmlns:m="http://schemas.openxmlformats.org/officeDocument/2006/math"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=53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+5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=72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  <a:p>
                <a:r>
                  <a:rPr lang="en-GB" sz="1200" noProof="0" dirty="0"/>
                  <a:t>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6845" y="348087"/>
                <a:ext cx="1474378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238597" y="768339"/>
            <a:ext cx="2119082" cy="40091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Rectangle 6"/>
          <p:cNvSpPr/>
          <p:nvPr/>
        </p:nvSpPr>
        <p:spPr>
          <a:xfrm>
            <a:off x="2423632" y="768339"/>
            <a:ext cx="2097801" cy="40091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8" name="Rectangle 7"/>
          <p:cNvSpPr/>
          <p:nvPr/>
        </p:nvSpPr>
        <p:spPr>
          <a:xfrm>
            <a:off x="4612549" y="768339"/>
            <a:ext cx="2097801" cy="40091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9848" y="4846384"/>
                <a:ext cx="153208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j)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=18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+4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54 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(2)</a:t>
                </a:r>
              </a:p>
              <a:p>
                <a:r>
                  <a:rPr lang="en-GB" sz="1200" noProof="0" dirty="0"/>
                  <a:t>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48" y="4846384"/>
                <a:ext cx="1532086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500835" y="4846383"/>
                <a:ext cx="161864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k)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+8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=8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9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=−63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  <a:p>
                <a:r>
                  <a:rPr lang="en-GB" sz="1200" noProof="0" dirty="0"/>
                  <a:t> 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835" y="4846383"/>
                <a:ext cx="1618649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885769" y="4846383"/>
                <a:ext cx="150323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l)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−4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=4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5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=24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  <a:p>
                <a:r>
                  <a:rPr lang="en-GB" sz="1200" noProof="0" dirty="0"/>
                  <a:t> 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5769" y="4846383"/>
                <a:ext cx="1503233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214534" y="5369464"/>
            <a:ext cx="2119082" cy="42033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3" name="Rectangle 12"/>
          <p:cNvSpPr/>
          <p:nvPr/>
        </p:nvSpPr>
        <p:spPr>
          <a:xfrm>
            <a:off x="2399569" y="5369464"/>
            <a:ext cx="2097801" cy="42033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4" name="Rectangle 13"/>
          <p:cNvSpPr/>
          <p:nvPr/>
        </p:nvSpPr>
        <p:spPr>
          <a:xfrm>
            <a:off x="4588486" y="5369464"/>
            <a:ext cx="2097801" cy="42033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1141656" y="4395993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1928679" y="4392875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654421" y="4353027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21" y="4353027"/>
                <a:ext cx="1381880" cy="369332"/>
              </a:xfrm>
              <a:prstGeom prst="rect">
                <a:avLst/>
              </a:prstGeom>
              <a:blipFill>
                <a:blip r:embed="rId8"/>
                <a:stretch>
                  <a:fillRect r="-12335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3313707" y="4396728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4100730" y="4393610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2826472" y="4353762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6472" y="4353762"/>
                <a:ext cx="1381880" cy="369332"/>
              </a:xfrm>
              <a:prstGeom prst="rect">
                <a:avLst/>
              </a:prstGeom>
              <a:blipFill>
                <a:blip r:embed="rId8"/>
                <a:stretch>
                  <a:fillRect r="-1283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5477461" y="4395001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6264484" y="4391883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4990226" y="4352035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226" y="4352035"/>
                <a:ext cx="1381880" cy="369332"/>
              </a:xfrm>
              <a:prstGeom prst="rect">
                <a:avLst/>
              </a:prstGeom>
              <a:blipFill>
                <a:blip r:embed="rId9"/>
                <a:stretch>
                  <a:fillRect r="-12832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1141656" y="9129668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1928679" y="9126550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654421" y="9086702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21" y="9086702"/>
                <a:ext cx="1381880" cy="369332"/>
              </a:xfrm>
              <a:prstGeom prst="rect">
                <a:avLst/>
              </a:prstGeom>
              <a:blipFill>
                <a:blip r:embed="rId9"/>
                <a:stretch>
                  <a:fillRect r="-12335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3313707" y="9130403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4100730" y="9127285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2826472" y="9087437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6472" y="9087437"/>
                <a:ext cx="1381880" cy="369332"/>
              </a:xfrm>
              <a:prstGeom prst="rect">
                <a:avLst/>
              </a:prstGeom>
              <a:blipFill>
                <a:blip r:embed="rId9"/>
                <a:stretch>
                  <a:fillRect r="-12832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5477461" y="9128676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6264484" y="9125558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4990226" y="9085710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226" y="9085710"/>
                <a:ext cx="1381880" cy="369332"/>
              </a:xfrm>
              <a:prstGeom prst="rect">
                <a:avLst/>
              </a:prstGeom>
              <a:blipFill>
                <a:blip r:embed="rId8"/>
                <a:stretch>
                  <a:fillRect r="-1283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36050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314950" y="9597712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noProof="0" smtClean="0"/>
              <a:t>22</a:t>
            </a:fld>
            <a:endParaRPr lang="en-GB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173402" y="2171"/>
            <a:ext cx="56427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/>
              <a:t>3) Solve the simultaneous equations by rearranging and then using elimination. </a:t>
            </a:r>
            <a:endParaRPr lang="en-GB" sz="1200" b="1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3402" y="463837"/>
                <a:ext cx="141827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a)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=10−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=17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  <a:p>
                <a:r>
                  <a:rPr lang="en-GB" sz="1200" noProof="0" dirty="0"/>
                  <a:t>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02" y="463837"/>
                <a:ext cx="1418273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627093" y="463836"/>
                <a:ext cx="14194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b)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−4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+3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=12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  <a:p>
                <a:r>
                  <a:rPr lang="en-GB" sz="1200" noProof="0" dirty="0"/>
                  <a:t> 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093" y="463836"/>
                <a:ext cx="1419428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918830" y="463836"/>
                <a:ext cx="149040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c) </a:t>
                </a:r>
                <a14:m>
                  <m:oMath xmlns:m="http://schemas.openxmlformats.org/officeDocument/2006/math">
                    <m:r>
                      <a:rPr lang="en-GB" sz="12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+6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=4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 (1)</a:t>
                </a: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=12+2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(2)</a:t>
                </a:r>
              </a:p>
              <a:p>
                <a:r>
                  <a:rPr lang="en-GB" sz="1200" noProof="0" dirty="0"/>
                  <a:t>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8830" y="463836"/>
                <a:ext cx="1490409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238597" y="884088"/>
            <a:ext cx="2119082" cy="40091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0" name="Rectangle 9"/>
          <p:cNvSpPr/>
          <p:nvPr/>
        </p:nvSpPr>
        <p:spPr>
          <a:xfrm>
            <a:off x="2423632" y="884088"/>
            <a:ext cx="2097801" cy="40091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1" name="Rectangle 10"/>
          <p:cNvSpPr/>
          <p:nvPr/>
        </p:nvSpPr>
        <p:spPr>
          <a:xfrm>
            <a:off x="4612549" y="884088"/>
            <a:ext cx="2097801" cy="40091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1141656" y="4511742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1928679" y="4508624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654421" y="4468776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21" y="4468776"/>
                <a:ext cx="1381880" cy="369332"/>
              </a:xfrm>
              <a:prstGeom prst="rect">
                <a:avLst/>
              </a:prstGeom>
              <a:blipFill>
                <a:blip r:embed="rId5"/>
                <a:stretch>
                  <a:fillRect r="-12335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3313707" y="4512477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4100730" y="4509359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2826472" y="4469511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6472" y="4469511"/>
                <a:ext cx="1381880" cy="369332"/>
              </a:xfrm>
              <a:prstGeom prst="rect">
                <a:avLst/>
              </a:prstGeom>
              <a:blipFill>
                <a:blip r:embed="rId5"/>
                <a:stretch>
                  <a:fillRect r="-1283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5477461" y="4510750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6264484" y="4507632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4990226" y="4467784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226" y="4467784"/>
                <a:ext cx="1381880" cy="369332"/>
              </a:xfrm>
              <a:prstGeom prst="rect">
                <a:avLst/>
              </a:prstGeom>
              <a:blipFill>
                <a:blip r:embed="rId6"/>
                <a:stretch>
                  <a:fillRect r="-12832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/>
          <p:cNvSpPr/>
          <p:nvPr/>
        </p:nvSpPr>
        <p:spPr>
          <a:xfrm>
            <a:off x="265116" y="5104618"/>
            <a:ext cx="644523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noProof="0" dirty="0"/>
              <a:t>4) Two cats and a dog cost £91. </a:t>
            </a:r>
          </a:p>
          <a:p>
            <a:r>
              <a:rPr lang="en-GB" sz="1200" noProof="0" dirty="0"/>
              <a:t>Three cats and two dogs cost £159. </a:t>
            </a:r>
          </a:p>
          <a:p>
            <a:r>
              <a:rPr lang="en-GB" sz="1200" noProof="0" dirty="0"/>
              <a:t>How much does a cat cost?</a:t>
            </a:r>
          </a:p>
          <a:p>
            <a:endParaRPr lang="en-GB" sz="1200" noProof="0" dirty="0"/>
          </a:p>
          <a:p>
            <a:r>
              <a:rPr lang="en-GB" sz="1200" noProof="0" dirty="0"/>
              <a:t>Hint: </a:t>
            </a:r>
            <a:r>
              <a:rPr lang="en-GB" sz="1200" b="1" noProof="0" dirty="0"/>
              <a:t>form equations 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852" y="6331679"/>
            <a:ext cx="6463498" cy="3222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236730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B4B8C-D767-A01A-F07C-8EDE95B60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0BF0F6-3D48-2343-D677-C94438461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9292" y="9579067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noProof="0" smtClean="0"/>
              <a:t>23</a:t>
            </a:fld>
            <a:endParaRPr lang="en-GB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5DCC9F-22C1-D312-DAFF-00E9D4831B6A}"/>
              </a:ext>
            </a:extLst>
          </p:cNvPr>
          <p:cNvSpPr/>
          <p:nvPr/>
        </p:nvSpPr>
        <p:spPr>
          <a:xfrm>
            <a:off x="105113" y="335811"/>
            <a:ext cx="6647773" cy="15283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ysClr val="windowText" lastClr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C44D76-0056-E470-CD4A-E34116E23B42}"/>
              </a:ext>
            </a:extLst>
          </p:cNvPr>
          <p:cNvSpPr txBox="1"/>
          <p:nvPr/>
        </p:nvSpPr>
        <p:spPr>
          <a:xfrm>
            <a:off x="150921" y="693673"/>
            <a:ext cx="11814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noProof="0" dirty="0"/>
              <a:t>Objectives: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E9C25A-2183-2DDB-452E-EDAF7513B25A}"/>
              </a:ext>
            </a:extLst>
          </p:cNvPr>
          <p:cNvSpPr txBox="1"/>
          <p:nvPr/>
        </p:nvSpPr>
        <p:spPr>
          <a:xfrm>
            <a:off x="159388" y="860257"/>
            <a:ext cx="44860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  <a:defRPr/>
            </a:pPr>
            <a:r>
              <a:rPr lang="en-GB" sz="1200" noProof="0" dirty="0"/>
              <a:t>To recognise simultaneous equations in worded problems.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GB" sz="1200" noProof="0" dirty="0"/>
              <a:t>To be able to write worded problems as two coherent simultaneous equations, and solve these.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GB" sz="1200" noProof="0" dirty="0"/>
              <a:t>To be able to interpret the answers to worded simultaneous equations problems.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A7656B-8A4A-D907-3378-DB336988E47E}"/>
              </a:ext>
            </a:extLst>
          </p:cNvPr>
          <p:cNvSpPr txBox="1"/>
          <p:nvPr/>
        </p:nvSpPr>
        <p:spPr>
          <a:xfrm>
            <a:off x="223370" y="407430"/>
            <a:ext cx="6411256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b="1" noProof="0" dirty="0"/>
              <a:t>LEARNING OUTCOME: To solve simultaneous equations in worded problems</a:t>
            </a:r>
            <a:endParaRPr lang="en-GB" sz="1200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2FA265-3F16-6EA5-E7A5-87688C1D58A0}"/>
              </a:ext>
            </a:extLst>
          </p:cNvPr>
          <p:cNvSpPr txBox="1"/>
          <p:nvPr/>
        </p:nvSpPr>
        <p:spPr>
          <a:xfrm>
            <a:off x="4893447" y="791347"/>
            <a:ext cx="1741179" cy="70788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000" b="1" u="sng" noProof="0" dirty="0"/>
              <a:t>Keywords:</a:t>
            </a:r>
            <a:endParaRPr lang="en-GB" sz="1000" noProof="0" dirty="0"/>
          </a:p>
          <a:p>
            <a:pPr marL="285750" indent="-285750">
              <a:buFont typeface=".AppleSystemUIFont" charset="-120"/>
              <a:buChar char="-"/>
            </a:pPr>
            <a:r>
              <a:rPr lang="en-GB" sz="1000" noProof="0" dirty="0"/>
              <a:t>Simultaneous equations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GB" sz="1000" noProof="0" dirty="0"/>
              <a:t>Linear equations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GB" sz="1000" noProof="0" dirty="0"/>
              <a:t>Equivalent equations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F0CEF3-0D78-7362-7A07-67E0943115EB}"/>
              </a:ext>
            </a:extLst>
          </p:cNvPr>
          <p:cNvSpPr/>
          <p:nvPr/>
        </p:nvSpPr>
        <p:spPr>
          <a:xfrm>
            <a:off x="0" y="-68"/>
            <a:ext cx="6858000" cy="28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Subtopic 3c – Simultaneous equations – Worded Problems </a:t>
            </a:r>
            <a:endParaRPr lang="en-GB" sz="1600" b="1" noProof="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753C4A0-EC87-9CB6-E089-9796FE653913}"/>
              </a:ext>
            </a:extLst>
          </p:cNvPr>
          <p:cNvCxnSpPr/>
          <p:nvPr/>
        </p:nvCxnSpPr>
        <p:spPr>
          <a:xfrm flipV="1">
            <a:off x="942039" y="3731417"/>
            <a:ext cx="5541513" cy="2282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98E9C4C0-8BDB-CC79-B6E5-20333C0BF0B7}"/>
              </a:ext>
            </a:extLst>
          </p:cNvPr>
          <p:cNvSpPr/>
          <p:nvPr/>
        </p:nvSpPr>
        <p:spPr>
          <a:xfrm>
            <a:off x="125893" y="1971069"/>
            <a:ext cx="6645064" cy="24276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A68364D-43C6-2E30-0C06-B16706F7C983}"/>
              </a:ext>
            </a:extLst>
          </p:cNvPr>
          <p:cNvCxnSpPr/>
          <p:nvPr/>
        </p:nvCxnSpPr>
        <p:spPr>
          <a:xfrm>
            <a:off x="120260" y="3058829"/>
            <a:ext cx="6672688" cy="159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2997670-7852-6F1F-3912-CA494CD39CF4}"/>
              </a:ext>
            </a:extLst>
          </p:cNvPr>
          <p:cNvCxnSpPr>
            <a:stCxn id="24" idx="2"/>
            <a:endCxn id="24" idx="0"/>
          </p:cNvCxnSpPr>
          <p:nvPr/>
        </p:nvCxnSpPr>
        <p:spPr>
          <a:xfrm flipV="1">
            <a:off x="3448425" y="1971069"/>
            <a:ext cx="0" cy="24276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F2B14B9-8002-B8E2-729D-F9DB9D324531}"/>
              </a:ext>
            </a:extLst>
          </p:cNvPr>
          <p:cNvSpPr txBox="1"/>
          <p:nvPr/>
        </p:nvSpPr>
        <p:spPr>
          <a:xfrm>
            <a:off x="105113" y="1961691"/>
            <a:ext cx="824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noProof="0" dirty="0"/>
              <a:t>Definition</a:t>
            </a:r>
          </a:p>
          <a:p>
            <a:endParaRPr lang="en-GB" sz="1200" noProof="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1D328C-2F2F-AFA8-0876-D30E17D0C27E}"/>
              </a:ext>
            </a:extLst>
          </p:cNvPr>
          <p:cNvSpPr txBox="1"/>
          <p:nvPr/>
        </p:nvSpPr>
        <p:spPr>
          <a:xfrm>
            <a:off x="5629164" y="1929305"/>
            <a:ext cx="1112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noProof="0" dirty="0"/>
              <a:t>Characteristics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766C1F-0F8C-C396-C4F9-9F797DB97752}"/>
              </a:ext>
            </a:extLst>
          </p:cNvPr>
          <p:cNvSpPr txBox="1"/>
          <p:nvPr/>
        </p:nvSpPr>
        <p:spPr>
          <a:xfrm>
            <a:off x="120260" y="3058829"/>
            <a:ext cx="7881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noProof="0" dirty="0"/>
              <a:t>Examples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AC09CD3-95BF-1912-9F8A-85A0A4B67F21}"/>
              </a:ext>
            </a:extLst>
          </p:cNvPr>
          <p:cNvSpPr txBox="1"/>
          <p:nvPr/>
        </p:nvSpPr>
        <p:spPr>
          <a:xfrm>
            <a:off x="5557677" y="3034448"/>
            <a:ext cx="1172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noProof="0" dirty="0"/>
              <a:t>Non - Examples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36D1BD-8BBA-5795-0C12-F27AFE5A20E1}"/>
              </a:ext>
            </a:extLst>
          </p:cNvPr>
          <p:cNvSpPr txBox="1"/>
          <p:nvPr/>
        </p:nvSpPr>
        <p:spPr>
          <a:xfrm>
            <a:off x="125892" y="2202748"/>
            <a:ext cx="3230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/>
              <a:t>Two equations that form straight lines that </a:t>
            </a:r>
            <a:r>
              <a:rPr lang="en-GB" sz="1200" b="1" noProof="0" dirty="0"/>
              <a:t>intersect at one point.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1666C1-85D1-46E5-D579-E153E3C3C054}"/>
              </a:ext>
            </a:extLst>
          </p:cNvPr>
          <p:cNvSpPr txBox="1"/>
          <p:nvPr/>
        </p:nvSpPr>
        <p:spPr>
          <a:xfrm>
            <a:off x="3500227" y="2131386"/>
            <a:ext cx="3230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/>
              <a:t>Linear simultaneous equations are two straight line equations that have an intersection point (this means they cross on the graph).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D902C3-FBD4-4281-8FA6-3A7182EAD047}"/>
              </a:ext>
            </a:extLst>
          </p:cNvPr>
          <p:cNvSpPr txBox="1"/>
          <p:nvPr/>
        </p:nvSpPr>
        <p:spPr>
          <a:xfrm>
            <a:off x="2282746" y="2889648"/>
            <a:ext cx="244156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noProof="0" dirty="0"/>
              <a:t>Simultaneous equations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601BFE51-2626-BA62-23FE-31BF5784C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85" y="3384665"/>
            <a:ext cx="1275899" cy="881468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FA4E8F09-022E-AAB6-1458-8DDAFB82451F}"/>
              </a:ext>
            </a:extLst>
          </p:cNvPr>
          <p:cNvSpPr txBox="1"/>
          <p:nvPr/>
        </p:nvSpPr>
        <p:spPr>
          <a:xfrm>
            <a:off x="1454191" y="3484671"/>
            <a:ext cx="2201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/>
              <a:t>These are simultaneous equations because they </a:t>
            </a:r>
            <a:r>
              <a:rPr lang="en-GB" sz="1200" b="1" noProof="0" dirty="0"/>
              <a:t>intersect</a:t>
            </a:r>
            <a:r>
              <a:rPr lang="en-GB" sz="1200" noProof="0" dirty="0"/>
              <a:t> at a point. </a:t>
            </a:r>
            <a:endParaRPr lang="en-GB" sz="1200" b="1" noProof="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AA2609C3-D217-7587-ED28-67630197C5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3421" y="3419970"/>
            <a:ext cx="1136681" cy="80941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D605B48-4F8E-0C98-3367-FA4063C7E6A5}"/>
              </a:ext>
            </a:extLst>
          </p:cNvPr>
          <p:cNvSpPr txBox="1"/>
          <p:nvPr/>
        </p:nvSpPr>
        <p:spPr>
          <a:xfrm>
            <a:off x="4699089" y="3285334"/>
            <a:ext cx="1928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/>
              <a:t>These equations do not intersect, therefore they are not simultaneous. </a:t>
            </a:r>
            <a:endParaRPr lang="en-GB" sz="1200" b="1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01C98C-5393-39B6-DF2E-768A51C9F079}"/>
              </a:ext>
            </a:extLst>
          </p:cNvPr>
          <p:cNvSpPr txBox="1"/>
          <p:nvPr/>
        </p:nvSpPr>
        <p:spPr>
          <a:xfrm>
            <a:off x="213460" y="5263665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noProof="0" dirty="0">
                <a:solidFill>
                  <a:srgbClr val="FF0000"/>
                </a:solidFill>
              </a:rPr>
              <a:t>Example 1 - I do…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C92662-0EED-E8C7-DCE1-984402AD2E85}"/>
              </a:ext>
            </a:extLst>
          </p:cNvPr>
          <p:cNvSpPr/>
          <p:nvPr/>
        </p:nvSpPr>
        <p:spPr>
          <a:xfrm>
            <a:off x="253486" y="5492081"/>
            <a:ext cx="6305550" cy="42819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noProof="0" dirty="0">
                <a:solidFill>
                  <a:schemeClr val="tx1"/>
                </a:solidFill>
              </a:rPr>
              <a:t>David buys 2 scones and 2 coffees in a shop and the cost is £18. </a:t>
            </a:r>
          </a:p>
          <a:p>
            <a:pPr marL="0" marR="0" lvl="0" indent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noProof="0" dirty="0">
                <a:solidFill>
                  <a:schemeClr val="tx1"/>
                </a:solidFill>
              </a:rPr>
              <a:t>Eliza buys 3 scones and 2 coffees in the same shop and they cost £22. </a:t>
            </a:r>
          </a:p>
          <a:p>
            <a:pPr marL="0" marR="0" lvl="0" indent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noProof="0" dirty="0">
                <a:solidFill>
                  <a:schemeClr val="tx1"/>
                </a:solidFill>
              </a:rPr>
              <a:t>Find the cost of each scone and each coffee.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800" b="0" i="0" baseline="0" noProof="0" dirty="0">
              <a:solidFill>
                <a:schemeClr val="tx1"/>
              </a:solidFill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DADCC2-49BB-46A5-DE7D-B4B3BC710A82}"/>
              </a:ext>
            </a:extLst>
          </p:cNvPr>
          <p:cNvSpPr txBox="1"/>
          <p:nvPr/>
        </p:nvSpPr>
        <p:spPr>
          <a:xfrm>
            <a:off x="161941" y="4462128"/>
            <a:ext cx="66132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1200" b="1" i="0" u="sng" baseline="0" noProof="0" dirty="0">
                <a:solidFill>
                  <a:schemeClr val="tx1"/>
                </a:solidFill>
                <a:cs typeface="Calibri" panose="020F0502020204030204" pitchFamily="34" charset="0"/>
              </a:rPr>
              <a:t>Key steps</a:t>
            </a:r>
          </a:p>
          <a:p>
            <a:pPr marL="228600" marR="0" lvl="0" indent="-2286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GB" sz="1200" b="0" i="0" baseline="0" noProof="0" dirty="0">
                <a:solidFill>
                  <a:schemeClr val="tx1"/>
                </a:solidFill>
                <a:cs typeface="Calibri" panose="020F0502020204030204" pitchFamily="34" charset="0"/>
              </a:rPr>
              <a:t>Convert each sentence to an equation.</a:t>
            </a:r>
          </a:p>
          <a:p>
            <a:pPr marL="228600" indent="-228600" defTabSz="685800">
              <a:buFontTx/>
              <a:buAutoNum type="arabicParenR"/>
              <a:defRPr/>
            </a:pPr>
            <a:r>
              <a:rPr lang="en-GB" sz="1200" b="0" i="0" baseline="0" noProof="0" dirty="0">
                <a:solidFill>
                  <a:schemeClr val="tx1"/>
                </a:solidFill>
                <a:cs typeface="Calibri" panose="020F0502020204030204" pitchFamily="34" charset="0"/>
              </a:rPr>
              <a:t>Solve the simultaneous equations.</a:t>
            </a:r>
            <a:endParaRPr lang="en-GB" sz="1200" b="0" i="0" noProof="0" dirty="0">
              <a:solidFill>
                <a:schemeClr val="tx1"/>
              </a:solidFill>
              <a:cs typeface="Calibri" panose="020F0502020204030204" pitchFamily="34" charset="0"/>
            </a:endParaRPr>
          </a:p>
          <a:p>
            <a:pPr marL="228600" marR="0" lvl="0" indent="-2286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GB" sz="1200" noProof="0" dirty="0">
                <a:cs typeface="Calibri" panose="020F0502020204030204" pitchFamily="34" charset="0"/>
              </a:rPr>
              <a:t>Answer the question.</a:t>
            </a:r>
            <a:endParaRPr lang="en-GB" sz="1200" b="0" i="0" baseline="0" noProof="0" dirty="0">
              <a:solidFill>
                <a:schemeClr val="tx1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9193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DA5BBB-8CAF-E173-2B51-73C381C67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80348" y="9402779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noProof="0" smtClean="0"/>
              <a:t>24</a:t>
            </a:fld>
            <a:endParaRPr lang="en-GB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541F87-1199-EFAD-84DD-BEE9EDF115B5}"/>
              </a:ext>
            </a:extLst>
          </p:cNvPr>
          <p:cNvSpPr txBox="1"/>
          <p:nvPr/>
        </p:nvSpPr>
        <p:spPr>
          <a:xfrm>
            <a:off x="170768" y="26969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noProof="0" dirty="0">
                <a:solidFill>
                  <a:schemeClr val="accent2"/>
                </a:solidFill>
              </a:rPr>
              <a:t>Example 2 – We do…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BA3912-059C-3F5B-AF40-91489BDB7591}"/>
              </a:ext>
            </a:extLst>
          </p:cNvPr>
          <p:cNvSpPr/>
          <p:nvPr/>
        </p:nvSpPr>
        <p:spPr>
          <a:xfrm>
            <a:off x="253486" y="281262"/>
            <a:ext cx="6305550" cy="42819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baseline="0" noProof="0" dirty="0">
                <a:solidFill>
                  <a:schemeClr val="tx1"/>
                </a:solidFill>
                <a:cs typeface="Calibri" panose="020F0502020204030204" pitchFamily="34" charset="0"/>
              </a:rPr>
              <a:t>The cost of buying a coffee and a tea in a café is £4.</a:t>
            </a:r>
          </a:p>
          <a:p>
            <a:pPr marL="0" marR="0" lvl="0" indent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baseline="0" noProof="0" dirty="0">
                <a:solidFill>
                  <a:schemeClr val="tx1"/>
                </a:solidFill>
                <a:cs typeface="Calibri" panose="020F0502020204030204" pitchFamily="34" charset="0"/>
              </a:rPr>
              <a:t>The cost of buying a coffee and three teas in a café is £7. </a:t>
            </a:r>
          </a:p>
          <a:p>
            <a:pPr marL="0" marR="0" lvl="0" indent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baseline="0" noProof="0" dirty="0">
                <a:solidFill>
                  <a:schemeClr val="tx1"/>
                </a:solidFill>
                <a:cs typeface="Calibri" panose="020F0502020204030204" pitchFamily="34" charset="0"/>
              </a:rPr>
              <a:t>Work out the cost of buying 2 coffees and the cost of buying 3 teas.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B259B7-DC20-5F48-9037-9009EBA85BFE}"/>
              </a:ext>
            </a:extLst>
          </p:cNvPr>
          <p:cNvSpPr txBox="1"/>
          <p:nvPr/>
        </p:nvSpPr>
        <p:spPr>
          <a:xfrm>
            <a:off x="172594" y="4774139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i="1" noProof="0" dirty="0">
                <a:solidFill>
                  <a:srgbClr val="00B050"/>
                </a:solidFill>
              </a:rPr>
              <a:t>Example 3 – You do…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91C95C-37EA-D98D-52A9-180E73CCE34A}"/>
              </a:ext>
            </a:extLst>
          </p:cNvPr>
          <p:cNvSpPr/>
          <p:nvPr/>
        </p:nvSpPr>
        <p:spPr>
          <a:xfrm>
            <a:off x="260756" y="5014455"/>
            <a:ext cx="6305550" cy="43570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baseline="0" noProof="0" dirty="0">
                <a:solidFill>
                  <a:schemeClr val="tx1"/>
                </a:solidFill>
                <a:cs typeface="Calibri" panose="020F0502020204030204" pitchFamily="34" charset="0"/>
              </a:rPr>
              <a:t>Five adult tickets and three child tickets for a movie cost £58. </a:t>
            </a:r>
          </a:p>
          <a:p>
            <a:pPr marL="0" marR="0" lvl="0" indent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baseline="0" noProof="0" dirty="0">
                <a:solidFill>
                  <a:schemeClr val="tx1"/>
                </a:solidFill>
                <a:cs typeface="Calibri" panose="020F0502020204030204" pitchFamily="34" charset="0"/>
              </a:rPr>
              <a:t>Two adult tickets and eight child tickets for a movie cost £47.</a:t>
            </a:r>
          </a:p>
          <a:p>
            <a:pPr marL="0" marR="0" lvl="0" indent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baseline="0" noProof="0" dirty="0">
                <a:solidFill>
                  <a:schemeClr val="tx1"/>
                </a:solidFill>
                <a:cs typeface="Calibri" panose="020F0502020204030204" pitchFamily="34" charset="0"/>
              </a:rPr>
              <a:t>Find the cost of each type of ticket. </a:t>
            </a:r>
          </a:p>
        </p:txBody>
      </p:sp>
    </p:spTree>
    <p:extLst>
      <p:ext uri="{BB962C8B-B14F-4D97-AF65-F5344CB8AC3E}">
        <p14:creationId xmlns:p14="http://schemas.microsoft.com/office/powerpoint/2010/main" val="25990614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314950" y="9469935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noProof="0" smtClean="0"/>
              <a:t>25</a:t>
            </a:fld>
            <a:endParaRPr lang="en-GB" noProof="0" dirty="0"/>
          </a:p>
        </p:txBody>
      </p:sp>
      <p:sp>
        <p:nvSpPr>
          <p:cNvPr id="10" name="Rectangle 9"/>
          <p:cNvSpPr/>
          <p:nvPr/>
        </p:nvSpPr>
        <p:spPr>
          <a:xfrm>
            <a:off x="238597" y="344133"/>
            <a:ext cx="6364560" cy="3025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u="sng" noProof="0" dirty="0">
              <a:solidFill>
                <a:schemeClr val="tx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38597" y="3488296"/>
            <a:ext cx="6364560" cy="3025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u="sng" noProof="0" dirty="0"/>
          </a:p>
        </p:txBody>
      </p:sp>
      <p:sp>
        <p:nvSpPr>
          <p:cNvPr id="39" name="Rectangle 38"/>
          <p:cNvSpPr/>
          <p:nvPr/>
        </p:nvSpPr>
        <p:spPr>
          <a:xfrm>
            <a:off x="238597" y="6632458"/>
            <a:ext cx="6364560" cy="3025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u="sng" noProof="0" dirty="0"/>
          </a:p>
        </p:txBody>
      </p:sp>
      <p:sp>
        <p:nvSpPr>
          <p:cNvPr id="40" name="TextBox 39"/>
          <p:cNvSpPr txBox="1"/>
          <p:nvPr/>
        </p:nvSpPr>
        <p:spPr>
          <a:xfrm>
            <a:off x="238597" y="3488295"/>
            <a:ext cx="6364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/>
              <a:t>b) A plumber charges a price for each hour, £h, and a fixed charge, £c.</a:t>
            </a:r>
          </a:p>
          <a:p>
            <a:r>
              <a:rPr lang="en-GB" sz="1200" noProof="0" dirty="0"/>
              <a:t> A 5 hour job costs £155 in total. </a:t>
            </a:r>
          </a:p>
          <a:p>
            <a:r>
              <a:rPr lang="en-GB" sz="1200" noProof="0" dirty="0"/>
              <a:t>A 8 hour job costs £230 in total. </a:t>
            </a:r>
          </a:p>
          <a:p>
            <a:r>
              <a:rPr lang="en-GB" sz="1200" noProof="0" dirty="0"/>
              <a:t>How much would a job that lasts 2 hours cost?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4843" y="365547"/>
            <a:ext cx="6364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/>
              <a:t>a) Sweets are sold in small packs and in big packs. </a:t>
            </a:r>
          </a:p>
          <a:p>
            <a:r>
              <a:rPr lang="en-GB" sz="1200" noProof="0" dirty="0"/>
              <a:t>There is a total of 175 sweets in 4 small packs and 3 big packs. </a:t>
            </a:r>
          </a:p>
          <a:p>
            <a:r>
              <a:rPr lang="en-GB" sz="1200" noProof="0" dirty="0"/>
              <a:t>There is a total of 154 sweets in 5 small packs and 2 big packs. </a:t>
            </a:r>
          </a:p>
          <a:p>
            <a:r>
              <a:rPr lang="en-GB" sz="1200" noProof="0" dirty="0"/>
              <a:t>Work out the number of sweets in each small pack and in each big pack.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4BDC87-2474-C0D7-36D6-8707D0D18156}"/>
              </a:ext>
            </a:extLst>
          </p:cNvPr>
          <p:cNvSpPr txBox="1"/>
          <p:nvPr/>
        </p:nvSpPr>
        <p:spPr>
          <a:xfrm>
            <a:off x="397094" y="47342"/>
            <a:ext cx="46203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noProof="0" dirty="0"/>
              <a:t>1. Solve the following</a:t>
            </a:r>
            <a:endParaRPr lang="en-GB" sz="1200" b="1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537245-F832-3A2B-D2B9-1E076DC876AD}"/>
              </a:ext>
            </a:extLst>
          </p:cNvPr>
          <p:cNvSpPr txBox="1"/>
          <p:nvPr/>
        </p:nvSpPr>
        <p:spPr>
          <a:xfrm>
            <a:off x="167299" y="27551"/>
            <a:ext cx="1762598" cy="276999"/>
          </a:xfrm>
          <a:prstGeom prst="rect">
            <a:avLst/>
          </a:prstGeom>
          <a:solidFill>
            <a:srgbClr val="0070C0"/>
          </a:solidFill>
        </p:spPr>
        <p:txBody>
          <a:bodyPr wrap="none" rtlCol="0" anchor="ctr">
            <a:spAutoFit/>
          </a:bodyPr>
          <a:lstStyle/>
          <a:p>
            <a:pPr algn="r"/>
            <a:r>
              <a:rPr lang="en-GB" sz="1200" b="1" noProof="0" dirty="0">
                <a:solidFill>
                  <a:schemeClr val="bg1"/>
                </a:solidFill>
              </a:rPr>
              <a:t>INDEPENDENT PRACTICE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DFB90C-18C2-5260-5A5A-FC2C911F0DA5}"/>
              </a:ext>
            </a:extLst>
          </p:cNvPr>
          <p:cNvSpPr txBox="1"/>
          <p:nvPr/>
        </p:nvSpPr>
        <p:spPr>
          <a:xfrm>
            <a:off x="213583" y="6632458"/>
            <a:ext cx="63645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noProof="0" dirty="0"/>
              <a:t>c) The sum of Rosemary’s age and Hannah’s age is 102 years. </a:t>
            </a:r>
          </a:p>
          <a:p>
            <a:r>
              <a:rPr lang="en-GB" sz="1200" noProof="0" dirty="0"/>
              <a:t>The difference between Rosemary’s age and Hannah’s age is 52 years. </a:t>
            </a:r>
          </a:p>
          <a:p>
            <a:r>
              <a:rPr lang="en-GB" sz="1200" noProof="0" dirty="0"/>
              <a:t>Rosemary is older than Hannah. </a:t>
            </a:r>
          </a:p>
          <a:p>
            <a:r>
              <a:rPr lang="en-GB" sz="1200" noProof="0" dirty="0"/>
              <a:t>Find the age of each woman by using simultaneous equations. </a:t>
            </a:r>
          </a:p>
        </p:txBody>
      </p:sp>
    </p:spTree>
    <p:extLst>
      <p:ext uri="{BB962C8B-B14F-4D97-AF65-F5344CB8AC3E}">
        <p14:creationId xmlns:p14="http://schemas.microsoft.com/office/powerpoint/2010/main" val="36511281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314950" y="9469935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noProof="0" smtClean="0"/>
              <a:t>26</a:t>
            </a:fld>
            <a:endParaRPr lang="en-GB" noProof="0" dirty="0"/>
          </a:p>
        </p:txBody>
      </p:sp>
      <p:sp>
        <p:nvSpPr>
          <p:cNvPr id="37" name="TextBox 36"/>
          <p:cNvSpPr txBox="1"/>
          <p:nvPr/>
        </p:nvSpPr>
        <p:spPr>
          <a:xfrm>
            <a:off x="0" y="10292"/>
            <a:ext cx="46203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/>
              <a:t>3. Solve the following 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8597" y="344133"/>
            <a:ext cx="6364560" cy="3025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u="sng" noProof="0" dirty="0">
              <a:solidFill>
                <a:schemeClr val="tx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38597" y="3488296"/>
            <a:ext cx="6364560" cy="3025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u="sng" noProof="0" dirty="0"/>
          </a:p>
        </p:txBody>
      </p:sp>
      <p:sp>
        <p:nvSpPr>
          <p:cNvPr id="39" name="Rectangle 38"/>
          <p:cNvSpPr/>
          <p:nvPr/>
        </p:nvSpPr>
        <p:spPr>
          <a:xfrm>
            <a:off x="238597" y="6632458"/>
            <a:ext cx="6364560" cy="3025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u="sng" noProof="0" dirty="0"/>
          </a:p>
        </p:txBody>
      </p:sp>
      <p:sp>
        <p:nvSpPr>
          <p:cNvPr id="41" name="TextBox 40"/>
          <p:cNvSpPr txBox="1"/>
          <p:nvPr/>
        </p:nvSpPr>
        <p:spPr>
          <a:xfrm>
            <a:off x="238597" y="6636589"/>
            <a:ext cx="6364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/>
              <a:t>c) </a:t>
            </a:r>
            <a:r>
              <a:rPr lang="en-GB" sz="1200" noProof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Five bags of bark and four trays of pansies cost £24.50. </a:t>
            </a:r>
            <a:br>
              <a:rPr lang="en-GB" sz="1200" noProof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200" noProof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One bag of bark and five trays of pansies cost £12.25. </a:t>
            </a:r>
            <a:br>
              <a:rPr lang="en-GB" sz="1200" noProof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200" noProof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Camilla wants six bags of bark and eight trays of pansies. </a:t>
            </a:r>
            <a:br>
              <a:rPr lang="en-GB" sz="1200" noProof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200" noProof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She has £30. </a:t>
            </a:r>
            <a:br>
              <a:rPr lang="en-GB" sz="1200" noProof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200" noProof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Will she have enough money?</a:t>
            </a:r>
          </a:p>
          <a:p>
            <a:r>
              <a:rPr lang="en-GB" sz="1200" noProof="0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2FF1CD-CF65-6016-79F9-DFCAD6D16FC6}"/>
              </a:ext>
            </a:extLst>
          </p:cNvPr>
          <p:cNvSpPr txBox="1"/>
          <p:nvPr/>
        </p:nvSpPr>
        <p:spPr>
          <a:xfrm>
            <a:off x="238597" y="344132"/>
            <a:ext cx="48678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1200" noProof="0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a)</a:t>
            </a:r>
            <a:r>
              <a:rPr lang="en-GB" sz="1200" i="0" noProof="0" dirty="0">
                <a:solidFill>
                  <a:srgbClr val="000000"/>
                </a:solidFill>
                <a:effectLst/>
                <a:latin typeface="+mj-lt"/>
                <a:cs typeface="Calibri" panose="020F0502020204030204" pitchFamily="34" charset="0"/>
              </a:rPr>
              <a:t>  Four sacks of potatoes and two sacks of carrots weigh 188 lb.</a:t>
            </a:r>
          </a:p>
          <a:p>
            <a:pPr marL="177800" indent="-177800" algn="l"/>
            <a:r>
              <a:rPr lang="en-GB" sz="1200" i="0" noProof="0" dirty="0">
                <a:solidFill>
                  <a:srgbClr val="000000"/>
                </a:solidFill>
                <a:effectLst/>
                <a:latin typeface="+mj-lt"/>
                <a:cs typeface="Calibri" panose="020F0502020204030204" pitchFamily="34" charset="0"/>
              </a:rPr>
              <a:t>	Five sacks of potatoes and one sack of carrots weigh 202 lb.</a:t>
            </a:r>
          </a:p>
          <a:p>
            <a:pPr marL="177800" indent="-177800" algn="l"/>
            <a:r>
              <a:rPr lang="en-GB" sz="1200" i="0" noProof="0" dirty="0">
                <a:solidFill>
                  <a:srgbClr val="000000"/>
                </a:solidFill>
                <a:effectLst/>
                <a:latin typeface="+mj-lt"/>
                <a:cs typeface="Calibri" panose="020F0502020204030204" pitchFamily="34" charset="0"/>
              </a:rPr>
              <a:t>	Baz buys seven sacks of potatoes and eight sacks of carrots.</a:t>
            </a:r>
          </a:p>
          <a:p>
            <a:pPr marL="177800" indent="-177800" algn="l"/>
            <a:r>
              <a:rPr lang="en-GB" sz="1200" i="0" noProof="0" dirty="0">
                <a:solidFill>
                  <a:srgbClr val="000000"/>
                </a:solidFill>
                <a:effectLst/>
                <a:latin typeface="+mj-lt"/>
                <a:cs typeface="Calibri" panose="020F0502020204030204" pitchFamily="34" charset="0"/>
              </a:rPr>
              <a:t>	Will he be able to carry them in his trailer, which can safely carry 450 lb?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A8B24A-0DC5-A49D-E15D-E0B712855434}"/>
              </a:ext>
            </a:extLst>
          </p:cNvPr>
          <p:cNvSpPr txBox="1"/>
          <p:nvPr/>
        </p:nvSpPr>
        <p:spPr>
          <a:xfrm>
            <a:off x="231469" y="3509768"/>
            <a:ext cx="6088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77800"/>
            <a:r>
              <a:rPr lang="en-GB" sz="1200" noProof="0" dirty="0"/>
              <a:t>b) </a:t>
            </a:r>
            <a:r>
              <a:rPr lang="en-GB" sz="1200" b="0" i="0" noProof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 this sequence, the next term is found by multiplying the previous term by </a:t>
            </a:r>
            <a:r>
              <a:rPr lang="en-GB" sz="1200" b="0" i="1" noProof="0" dirty="0">
                <a:solidFill>
                  <a:srgbClr val="000000"/>
                </a:solidFill>
                <a:effectLst/>
                <a:latin typeface="Times" pitchFamily="2" charset="0"/>
              </a:rPr>
              <a:t>a</a:t>
            </a:r>
            <a:r>
              <a:rPr lang="en-GB" sz="1200" b="0" i="0" noProof="0" dirty="0">
                <a:solidFill>
                  <a:srgbClr val="000000"/>
                </a:solidFill>
                <a:effectLst/>
                <a:latin typeface="Times" pitchFamily="2" charset="0"/>
              </a:rPr>
              <a:t> </a:t>
            </a:r>
            <a:r>
              <a:rPr lang="en-GB" sz="1200" b="0" i="0" noProof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and then adding </a:t>
            </a:r>
            <a:r>
              <a:rPr lang="en-GB" sz="1200" b="0" i="1" noProof="0" dirty="0">
                <a:solidFill>
                  <a:srgbClr val="000000"/>
                </a:solidFill>
                <a:effectLst/>
                <a:latin typeface="Times" pitchFamily="2" charset="0"/>
              </a:rPr>
              <a:t>b</a:t>
            </a:r>
            <a:r>
              <a:rPr lang="en-GB" sz="1200" b="0" i="0" noProof="0" dirty="0">
                <a:solidFill>
                  <a:srgbClr val="000000"/>
                </a:solidFill>
                <a:effectLst/>
                <a:latin typeface="Times" pitchFamily="2" charset="0"/>
              </a:rPr>
              <a:t>, </a:t>
            </a:r>
            <a:r>
              <a:rPr lang="en-GB" sz="1200" b="0" i="0" noProof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lang="en-GB" sz="1200" b="0" i="0" noProof="0" dirty="0">
                <a:solidFill>
                  <a:srgbClr val="000000"/>
                </a:solidFill>
                <a:effectLst/>
                <a:latin typeface="Times" pitchFamily="2" charset="0"/>
              </a:rPr>
              <a:t> </a:t>
            </a:r>
            <a:r>
              <a:rPr lang="en-GB" sz="1200" b="0" i="1" noProof="0" dirty="0">
                <a:solidFill>
                  <a:srgbClr val="000000"/>
                </a:solidFill>
                <a:effectLst/>
                <a:latin typeface="Times" pitchFamily="2" charset="0"/>
              </a:rPr>
              <a:t>a</a:t>
            </a:r>
            <a:r>
              <a:rPr lang="en-GB" sz="1200" b="0" i="0" noProof="0" dirty="0">
                <a:solidFill>
                  <a:srgbClr val="000000"/>
                </a:solidFill>
                <a:effectLst/>
                <a:latin typeface="Times" pitchFamily="2" charset="0"/>
              </a:rPr>
              <a:t> </a:t>
            </a:r>
            <a:r>
              <a:rPr lang="en-GB" sz="1200" b="0" i="0" noProof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GB" sz="1200" b="0" i="0" noProof="0" dirty="0">
                <a:solidFill>
                  <a:srgbClr val="000000"/>
                </a:solidFill>
                <a:effectLst/>
                <a:latin typeface="Times" pitchFamily="2" charset="0"/>
              </a:rPr>
              <a:t> </a:t>
            </a:r>
            <a:r>
              <a:rPr lang="en-GB" sz="1200" b="0" i="1" noProof="0" dirty="0">
                <a:solidFill>
                  <a:srgbClr val="000000"/>
                </a:solidFill>
                <a:effectLst/>
                <a:latin typeface="Times" pitchFamily="2" charset="0"/>
              </a:rPr>
              <a:t>b</a:t>
            </a:r>
            <a:r>
              <a:rPr lang="en-GB" sz="1200" b="0" i="0" noProof="0" dirty="0">
                <a:solidFill>
                  <a:srgbClr val="000000"/>
                </a:solidFill>
                <a:effectLst/>
                <a:latin typeface="Times" pitchFamily="2" charset="0"/>
              </a:rPr>
              <a:t> </a:t>
            </a:r>
            <a:r>
              <a:rPr lang="en-GB" sz="1200" b="0" i="0" noProof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are positive whole numbers.</a:t>
            </a:r>
            <a:endParaRPr lang="en-GB" sz="12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2EF014-3F57-BDF1-FCAC-40B94A90B2CD}"/>
              </a:ext>
            </a:extLst>
          </p:cNvPr>
          <p:cNvSpPr txBox="1"/>
          <p:nvPr/>
        </p:nvSpPr>
        <p:spPr>
          <a:xfrm>
            <a:off x="1058115" y="3940655"/>
            <a:ext cx="51710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noProof="0" dirty="0">
                <a:solidFill>
                  <a:srgbClr val="000000"/>
                </a:solidFill>
                <a:effectLst/>
              </a:rPr>
              <a:t>3	14	47	…	…</a:t>
            </a:r>
            <a:endParaRPr lang="en-GB" sz="1400" noProof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E62E0A-9987-AB65-E0FB-693E2E07835A}"/>
              </a:ext>
            </a:extLst>
          </p:cNvPr>
          <p:cNvSpPr txBox="1"/>
          <p:nvPr/>
        </p:nvSpPr>
        <p:spPr>
          <a:xfrm>
            <a:off x="286699" y="4922029"/>
            <a:ext cx="30825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buFont typeface="+mj-lt"/>
              <a:buAutoNum type="alphaLcParenR" startAt="2"/>
            </a:pPr>
            <a:r>
              <a:rPr lang="en-GB" sz="1200" b="0" i="0" noProof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Solve the equations to work out </a:t>
            </a:r>
            <a:r>
              <a:rPr lang="en-GB" sz="1200" b="0" i="1" noProof="0" dirty="0">
                <a:solidFill>
                  <a:srgbClr val="000000"/>
                </a:solidFill>
                <a:effectLst/>
                <a:latin typeface="Times" pitchFamily="2" charset="0"/>
              </a:rPr>
              <a:t>a</a:t>
            </a:r>
            <a:r>
              <a:rPr lang="en-GB" sz="1200" b="0" i="0" noProof="0" dirty="0">
                <a:solidFill>
                  <a:srgbClr val="000000"/>
                </a:solidFill>
                <a:effectLst/>
                <a:latin typeface="Times" pitchFamily="2" charset="0"/>
              </a:rPr>
              <a:t> </a:t>
            </a:r>
            <a:r>
              <a:rPr lang="en-GB" sz="1200" b="0" i="0" noProof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GB" sz="1200" b="0" i="0" noProof="0" dirty="0">
                <a:solidFill>
                  <a:srgbClr val="000000"/>
                </a:solidFill>
                <a:effectLst/>
                <a:latin typeface="Times" pitchFamily="2" charset="0"/>
              </a:rPr>
              <a:t> </a:t>
            </a:r>
            <a:r>
              <a:rPr lang="en-GB" sz="1200" b="0" i="1" noProof="0" dirty="0">
                <a:solidFill>
                  <a:srgbClr val="000000"/>
                </a:solidFill>
                <a:effectLst/>
                <a:latin typeface="Times" pitchFamily="2" charset="0"/>
              </a:rPr>
              <a:t>b</a:t>
            </a:r>
            <a:r>
              <a:rPr lang="en-GB" sz="1200" b="0" i="0" noProof="0" dirty="0">
                <a:solidFill>
                  <a:srgbClr val="000000"/>
                </a:solidFill>
                <a:effectLst/>
                <a:latin typeface="Times" pitchFamily="2" charset="0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B107AE-B227-DE97-202C-0BBACE11E559}"/>
              </a:ext>
            </a:extLst>
          </p:cNvPr>
          <p:cNvSpPr txBox="1"/>
          <p:nvPr/>
        </p:nvSpPr>
        <p:spPr>
          <a:xfrm>
            <a:off x="310746" y="4224729"/>
            <a:ext cx="43096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0" i="0" noProof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 equation that links the first and second terms is </a:t>
            </a:r>
            <a:r>
              <a:rPr lang="en-GB" sz="1200" b="0" i="0" noProof="0" dirty="0">
                <a:solidFill>
                  <a:srgbClr val="000000"/>
                </a:solidFill>
                <a:effectLst/>
                <a:latin typeface="Times" pitchFamily="2" charset="0"/>
              </a:rPr>
              <a:t>3</a:t>
            </a:r>
            <a:r>
              <a:rPr lang="en-GB" sz="1200" b="0" i="1" noProof="0" dirty="0">
                <a:solidFill>
                  <a:srgbClr val="000000"/>
                </a:solidFill>
                <a:effectLst/>
                <a:latin typeface="Times" pitchFamily="2" charset="0"/>
              </a:rPr>
              <a:t>a</a:t>
            </a:r>
            <a:r>
              <a:rPr lang="en-GB" sz="1200" b="0" i="0" noProof="0" dirty="0">
                <a:solidFill>
                  <a:srgbClr val="000000"/>
                </a:solidFill>
                <a:effectLst/>
                <a:latin typeface="Times" pitchFamily="2" charset="0"/>
              </a:rPr>
              <a:t> + </a:t>
            </a:r>
            <a:r>
              <a:rPr lang="en-GB" sz="1200" b="0" i="1" noProof="0" dirty="0">
                <a:solidFill>
                  <a:srgbClr val="000000"/>
                </a:solidFill>
                <a:effectLst/>
                <a:latin typeface="Times" pitchFamily="2" charset="0"/>
              </a:rPr>
              <a:t>b</a:t>
            </a:r>
            <a:r>
              <a:rPr lang="en-GB" sz="1200" b="0" i="0" noProof="0" dirty="0">
                <a:solidFill>
                  <a:srgbClr val="000000"/>
                </a:solidFill>
                <a:effectLst/>
                <a:latin typeface="Times" pitchFamily="2" charset="0"/>
              </a:rPr>
              <a:t> = 14.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A7C861-0920-F829-0606-4413B758B04D}"/>
              </a:ext>
            </a:extLst>
          </p:cNvPr>
          <p:cNvSpPr txBox="1"/>
          <p:nvPr/>
        </p:nvSpPr>
        <p:spPr>
          <a:xfrm>
            <a:off x="268569" y="4519729"/>
            <a:ext cx="27328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Set up another equation in </a:t>
            </a:r>
            <a:r>
              <a:rPr kumimoji="0" lang="en-GB" sz="1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itchFamily="2" charset="0"/>
                <a:ea typeface="+mn-ea"/>
                <a:cs typeface="+mn-cs"/>
              </a:rPr>
              <a:t>a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itchFamily="2" charset="0"/>
                <a:ea typeface="+mn-ea"/>
                <a:cs typeface="+mn-cs"/>
              </a:rPr>
              <a:t> 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and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itchFamily="2" charset="0"/>
                <a:ea typeface="+mn-ea"/>
                <a:cs typeface="+mn-cs"/>
              </a:rPr>
              <a:t> </a:t>
            </a:r>
            <a:r>
              <a:rPr kumimoji="0" lang="en-GB" sz="1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itchFamily="2" charset="0"/>
                <a:ea typeface="+mn-ea"/>
                <a:cs typeface="+mn-cs"/>
              </a:rPr>
              <a:t>b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itchFamily="2" charset="0"/>
                <a:ea typeface="+mn-ea"/>
                <a:cs typeface="+mn-cs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690D2B-3AD3-EDCE-4671-AF41CB47F2F4}"/>
              </a:ext>
            </a:extLst>
          </p:cNvPr>
          <p:cNvSpPr txBox="1"/>
          <p:nvPr/>
        </p:nvSpPr>
        <p:spPr>
          <a:xfrm>
            <a:off x="268569" y="5707616"/>
            <a:ext cx="33995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 startAt="3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Work out the next two terms in the sequence.</a:t>
            </a:r>
          </a:p>
        </p:txBody>
      </p:sp>
    </p:spTree>
    <p:extLst>
      <p:ext uri="{BB962C8B-B14F-4D97-AF65-F5344CB8AC3E}">
        <p14:creationId xmlns:p14="http://schemas.microsoft.com/office/powerpoint/2010/main" val="29620156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D9CC-7119-45EC-A96C-D8C0660F3AAB}" type="slidenum">
              <a:rPr lang="en-GB" noProof="0" smtClean="0"/>
              <a:t>27</a:t>
            </a:fld>
            <a:endParaRPr lang="en-GB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39717"/>
            <a:ext cx="46203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/>
              <a:t>4. Solve the following </a:t>
            </a:r>
          </a:p>
        </p:txBody>
      </p:sp>
      <p:sp>
        <p:nvSpPr>
          <p:cNvPr id="6" name="Rectangle 5"/>
          <p:cNvSpPr/>
          <p:nvPr/>
        </p:nvSpPr>
        <p:spPr>
          <a:xfrm>
            <a:off x="125863" y="341923"/>
            <a:ext cx="6364560" cy="31255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u="sng" noProof="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25863" y="3726134"/>
            <a:ext cx="6364560" cy="2835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u="sng" noProof="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5863" y="6820036"/>
            <a:ext cx="6364560" cy="2835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u="sng" noProof="0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8389" y="335980"/>
            <a:ext cx="636456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lphaLcParenR"/>
            </a:pPr>
            <a:r>
              <a:rPr lang="en-GB" sz="1200" noProof="0" dirty="0"/>
              <a:t>Albie is training for a marathon.</a:t>
            </a:r>
          </a:p>
          <a:p>
            <a:r>
              <a:rPr lang="en-GB" sz="1200" noProof="0" dirty="0"/>
              <a:t>He jogs either route A or route B. </a:t>
            </a:r>
          </a:p>
          <a:p>
            <a:endParaRPr lang="en-GB" sz="1200" noProof="0" dirty="0"/>
          </a:p>
          <a:p>
            <a:r>
              <a:rPr lang="en-GB" sz="1200" noProof="0" dirty="0"/>
              <a:t>During April, he jogs route A nine times and route B five times.</a:t>
            </a:r>
          </a:p>
          <a:p>
            <a:r>
              <a:rPr lang="en-GB" sz="1200" noProof="0" dirty="0"/>
              <a:t>Route B is 8 miles longer than route A.</a:t>
            </a:r>
          </a:p>
          <a:p>
            <a:r>
              <a:rPr lang="en-GB" sz="1200" noProof="0" dirty="0"/>
              <a:t>In total, he jogs 89 miles in April. </a:t>
            </a:r>
          </a:p>
          <a:p>
            <a:endParaRPr lang="en-GB" sz="1200" noProof="0" dirty="0"/>
          </a:p>
          <a:p>
            <a:r>
              <a:rPr lang="en-GB" sz="1200" noProof="0" dirty="0"/>
              <a:t>In May, he will start jogging route C. </a:t>
            </a:r>
          </a:p>
          <a:p>
            <a:r>
              <a:rPr lang="en-GB" sz="1200" noProof="0" dirty="0"/>
              <a:t>Route C is 20% longer than route B. </a:t>
            </a:r>
          </a:p>
          <a:p>
            <a:endParaRPr lang="en-GB" sz="1200" noProof="0" dirty="0"/>
          </a:p>
          <a:p>
            <a:r>
              <a:rPr lang="en-GB" sz="1200" noProof="0" dirty="0"/>
              <a:t>Work out the length of route C.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389" y="3751341"/>
            <a:ext cx="636456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/>
              <a:t>b) Shown below is parallelogram.</a:t>
            </a:r>
          </a:p>
          <a:p>
            <a:r>
              <a:rPr lang="en-GB" sz="1200" noProof="0" dirty="0"/>
              <a:t>Each side is measured in centimetres. </a:t>
            </a:r>
          </a:p>
          <a:p>
            <a:endParaRPr lang="en-GB" sz="1200" noProof="0" dirty="0"/>
          </a:p>
          <a:p>
            <a:endParaRPr lang="en-GB" sz="1200" noProof="0" dirty="0"/>
          </a:p>
          <a:p>
            <a:endParaRPr lang="en-GB" sz="1200" noProof="0" dirty="0"/>
          </a:p>
          <a:p>
            <a:endParaRPr lang="en-GB" sz="1200" noProof="0" dirty="0"/>
          </a:p>
          <a:p>
            <a:endParaRPr lang="en-GB" sz="1200" noProof="0" dirty="0"/>
          </a:p>
          <a:p>
            <a:endParaRPr lang="en-GB" sz="1200" noProof="0" dirty="0"/>
          </a:p>
          <a:p>
            <a:endParaRPr lang="en-GB" sz="1200" noProof="0" dirty="0"/>
          </a:p>
          <a:p>
            <a:endParaRPr lang="en-GB" sz="1200" noProof="0" dirty="0"/>
          </a:p>
          <a:p>
            <a:r>
              <a:rPr lang="en-GB" sz="1200" noProof="0" dirty="0"/>
              <a:t>Work out the perimeter of the parallelogram.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38389" y="6837005"/>
                <a:ext cx="636456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noProof="0" dirty="0"/>
                  <a:t>c) Solve the simultaneous equations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=13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1200" b="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=−2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1200" b="0" noProof="0" dirty="0"/>
              </a:p>
              <a:p>
                <a:endParaRPr lang="en-GB" sz="1200" noProof="0" dirty="0"/>
              </a:p>
              <a:p>
                <a:r>
                  <a:rPr lang="en-GB" sz="1200" noProof="0" dirty="0"/>
                  <a:t>Where c is a constant</a:t>
                </a:r>
              </a:p>
              <a:p>
                <a:r>
                  <a:rPr lang="en-GB" sz="1200" noProof="0" dirty="0"/>
                  <a:t>Give your answer in terms of c. 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89" y="6837005"/>
                <a:ext cx="6364560" cy="1200329"/>
              </a:xfrm>
              <a:prstGeom prst="rect">
                <a:avLst/>
              </a:prstGeom>
              <a:blipFill>
                <a:blip r:embed="rId2"/>
                <a:stretch>
                  <a:fillRect l="-96" t="-510"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75" y="4292925"/>
            <a:ext cx="2416921" cy="1201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531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520D49-CD6E-8C2E-3A7C-E4DD29E69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noProof="0" smtClean="0"/>
              <a:t>28</a:t>
            </a:fld>
            <a:endParaRPr lang="en-GB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37C9FA-933A-5FBB-AE4C-8B18BE06E0CC}"/>
              </a:ext>
            </a:extLst>
          </p:cNvPr>
          <p:cNvSpPr txBox="1"/>
          <p:nvPr/>
        </p:nvSpPr>
        <p:spPr>
          <a:xfrm>
            <a:off x="0" y="-25400"/>
            <a:ext cx="1294200" cy="276999"/>
          </a:xfrm>
          <a:prstGeom prst="rect">
            <a:avLst/>
          </a:prstGeom>
          <a:solidFill>
            <a:srgbClr val="0070C0"/>
          </a:solidFill>
        </p:spPr>
        <p:txBody>
          <a:bodyPr wrap="none" rtlCol="0" anchor="ctr">
            <a:spAutoFit/>
          </a:bodyPr>
          <a:lstStyle/>
          <a:p>
            <a:pPr algn="r"/>
            <a:r>
              <a:rPr lang="en-GB" sz="1200" b="1" noProof="0" dirty="0">
                <a:solidFill>
                  <a:schemeClr val="bg1"/>
                </a:solidFill>
              </a:rPr>
              <a:t>GCSE QUESTIONS</a:t>
            </a:r>
          </a:p>
        </p:txBody>
      </p:sp>
      <p:pic>
        <p:nvPicPr>
          <p:cNvPr id="5" name="Picture 4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18D904F1-74D9-C0DD-6089-F71FA0AA9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1599"/>
            <a:ext cx="5854699" cy="300586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8A349B-C77A-7ED8-4DB4-6B9514B4F230}"/>
              </a:ext>
            </a:extLst>
          </p:cNvPr>
          <p:cNvCxnSpPr/>
          <p:nvPr/>
        </p:nvCxnSpPr>
        <p:spPr>
          <a:xfrm>
            <a:off x="0" y="3397595"/>
            <a:ext cx="685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8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5B47FEB2-6596-840A-A6E0-CEB620D237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58694"/>
            <a:ext cx="6370014" cy="316422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319EFF2-E14C-594B-864E-AB1D48100F47}"/>
              </a:ext>
            </a:extLst>
          </p:cNvPr>
          <p:cNvCxnSpPr/>
          <p:nvPr/>
        </p:nvCxnSpPr>
        <p:spPr>
          <a:xfrm>
            <a:off x="-11112" y="6653370"/>
            <a:ext cx="685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11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F80B0B5D-0E7C-4CA6-7C2A-4C22496D31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8840"/>
            <a:ext cx="6386513" cy="304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8915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F8EDE-FF4B-8840-4708-98709719E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4F2D95-6E93-35B6-7D43-7CC972B2A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noProof="0" smtClean="0"/>
              <a:t>29</a:t>
            </a:fld>
            <a:endParaRPr lang="en-GB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9C43610-8BDE-DAB1-D7D6-C88594F2E055}"/>
              </a:ext>
            </a:extLst>
          </p:cNvPr>
          <p:cNvCxnSpPr/>
          <p:nvPr/>
        </p:nvCxnSpPr>
        <p:spPr>
          <a:xfrm>
            <a:off x="-11112" y="3058818"/>
            <a:ext cx="685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5" descr="A close-up of a receipt&#10;&#10;AI-generated content may be incorrect.">
            <a:extLst>
              <a:ext uri="{FF2B5EF4-FFF2-40B4-BE49-F238E27FC236}">
                <a16:creationId xmlns:a16="http://schemas.microsoft.com/office/drawing/2014/main" id="{C86FD45A-4AD7-B646-4C97-01312721F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112" y="1"/>
            <a:ext cx="6488112" cy="3039422"/>
          </a:xfrm>
          <a:prstGeom prst="rect">
            <a:avLst/>
          </a:prstGeom>
        </p:spPr>
      </p:pic>
      <p:pic>
        <p:nvPicPr>
          <p:cNvPr id="11" name="Picture 10" descr="A graph of a function&#10;&#10;AI-generated content may be incorrect.">
            <a:extLst>
              <a:ext uri="{FF2B5EF4-FFF2-40B4-BE49-F238E27FC236}">
                <a16:creationId xmlns:a16="http://schemas.microsoft.com/office/drawing/2014/main" id="{CDE9F5BC-F2F2-388A-5742-9CE34C7310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18" y="3193958"/>
            <a:ext cx="5734182" cy="3921898"/>
          </a:xfrm>
          <a:prstGeom prst="rect">
            <a:avLst/>
          </a:prstGeom>
        </p:spPr>
      </p:pic>
      <p:pic>
        <p:nvPicPr>
          <p:cNvPr id="14" name="Picture 13" descr="A white paper with black text and numbers&#10;&#10;AI-generated content may be incorrect.">
            <a:extLst>
              <a:ext uri="{FF2B5EF4-FFF2-40B4-BE49-F238E27FC236}">
                <a16:creationId xmlns:a16="http://schemas.microsoft.com/office/drawing/2014/main" id="{6E01F697-058B-4FE7-019D-9F31D318E4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919" y="7423094"/>
            <a:ext cx="5423179" cy="217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9268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AC887-1478-5D9F-E184-6B82ECE6E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F6CDBB-4C7B-69A4-05CB-90AA2A28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noProof="0" smtClean="0"/>
              <a:t>30</a:t>
            </a:fld>
            <a:endParaRPr lang="en-GB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1A4055-3CFC-58E5-5999-2DF9621DFD4F}"/>
              </a:ext>
            </a:extLst>
          </p:cNvPr>
          <p:cNvCxnSpPr/>
          <p:nvPr/>
        </p:nvCxnSpPr>
        <p:spPr>
          <a:xfrm>
            <a:off x="0" y="2936105"/>
            <a:ext cx="685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Picture 3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74A693D6-52FC-C1D8-18CF-CB5D08B475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-1"/>
            <a:ext cx="5956300" cy="2936106"/>
          </a:xfrm>
          <a:prstGeom prst="rect">
            <a:avLst/>
          </a:prstGeom>
        </p:spPr>
      </p:pic>
      <p:pic>
        <p:nvPicPr>
          <p:cNvPr id="8" name="Picture 7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966984CF-8600-549D-70B1-7850766DBC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2975087"/>
            <a:ext cx="6174499" cy="2906073"/>
          </a:xfrm>
          <a:prstGeom prst="rect">
            <a:avLst/>
          </a:prstGeom>
        </p:spPr>
      </p:pic>
      <p:pic>
        <p:nvPicPr>
          <p:cNvPr id="10" name="Picture 9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CAF8FCB9-B691-BB9B-13AF-9DA5D4E985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5936066"/>
            <a:ext cx="6272213" cy="342792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BE0A1C1-DD18-7800-F3C9-744DA473EFA1}"/>
              </a:ext>
            </a:extLst>
          </p:cNvPr>
          <p:cNvCxnSpPr/>
          <p:nvPr/>
        </p:nvCxnSpPr>
        <p:spPr>
          <a:xfrm>
            <a:off x="0" y="5881161"/>
            <a:ext cx="685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4693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32E896-0BD1-FF8B-4A98-83EFB87E0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noProof="0" smtClean="0"/>
              <a:t>31</a:t>
            </a:fld>
            <a:endParaRPr lang="en-GB" noProof="0" dirty="0"/>
          </a:p>
        </p:txBody>
      </p:sp>
      <p:pic>
        <p:nvPicPr>
          <p:cNvPr id="4" name="Picture 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9F19DE1-3FD7-F7BD-54F0-0654571B1F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307254" cy="29464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8BE54C3-8EAB-B796-8B1D-686DEC4B4FF2}"/>
              </a:ext>
            </a:extLst>
          </p:cNvPr>
          <p:cNvCxnSpPr/>
          <p:nvPr/>
        </p:nvCxnSpPr>
        <p:spPr>
          <a:xfrm>
            <a:off x="0" y="2936105"/>
            <a:ext cx="685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 descr="A graph of x and y in a grid&#10;&#10;AI-generated content may be incorrect.">
            <a:extLst>
              <a:ext uri="{FF2B5EF4-FFF2-40B4-BE49-F238E27FC236}">
                <a16:creationId xmlns:a16="http://schemas.microsoft.com/office/drawing/2014/main" id="{C96F316E-D1DC-6ED8-E44A-84C1B76131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59100"/>
            <a:ext cx="5399141" cy="4114800"/>
          </a:xfrm>
          <a:prstGeom prst="rect">
            <a:avLst/>
          </a:prstGeom>
        </p:spPr>
      </p:pic>
      <p:pic>
        <p:nvPicPr>
          <p:cNvPr id="9" name="Picture 8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A3D776F8-A0C1-4B4B-CE41-6504361E16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519" y="7251699"/>
            <a:ext cx="6386961" cy="2362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9453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47FDB3-F1CA-1048-A732-E957245FF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9292" y="9579067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noProof="0" smtClean="0"/>
              <a:t>32</a:t>
            </a:fld>
            <a:endParaRPr lang="en-GB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22C3A5-83FD-F348-A13A-41990BFFB455}"/>
              </a:ext>
            </a:extLst>
          </p:cNvPr>
          <p:cNvSpPr/>
          <p:nvPr/>
        </p:nvSpPr>
        <p:spPr>
          <a:xfrm>
            <a:off x="105113" y="335811"/>
            <a:ext cx="6647773" cy="15283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ysClr val="windowText" lastClr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CABFFF-8CCA-3F46-BB1D-2812F1283950}"/>
              </a:ext>
            </a:extLst>
          </p:cNvPr>
          <p:cNvSpPr txBox="1"/>
          <p:nvPr/>
        </p:nvSpPr>
        <p:spPr>
          <a:xfrm>
            <a:off x="150921" y="736008"/>
            <a:ext cx="1181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noProof="0" dirty="0"/>
              <a:t>Objectives: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4C4B23-45C4-754A-8432-EA2D2C31880A}"/>
              </a:ext>
            </a:extLst>
          </p:cNvPr>
          <p:cNvSpPr txBox="1"/>
          <p:nvPr/>
        </p:nvSpPr>
        <p:spPr>
          <a:xfrm>
            <a:off x="154731" y="1150074"/>
            <a:ext cx="44860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  <a:defRPr/>
            </a:pPr>
            <a:r>
              <a:rPr lang="en-GB" sz="1200" noProof="0" dirty="0"/>
              <a:t>Solving simultaneous equations by substitution.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GB" sz="1200" noProof="0" dirty="0"/>
              <a:t>Solving simultaneous equations by adjusting and then substituting. </a:t>
            </a:r>
          </a:p>
          <a:p>
            <a:pPr>
              <a:defRPr/>
            </a:pPr>
            <a:endParaRPr lang="en-GB" sz="12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074EF1-46DA-6944-95B7-7A2E909591E4}"/>
              </a:ext>
            </a:extLst>
          </p:cNvPr>
          <p:cNvSpPr txBox="1"/>
          <p:nvPr/>
        </p:nvSpPr>
        <p:spPr>
          <a:xfrm>
            <a:off x="223370" y="407430"/>
            <a:ext cx="6411256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b="1" noProof="0" dirty="0"/>
              <a:t>LEARNING OUTCOME: To solve simultaneous equations using the substitution method</a:t>
            </a:r>
            <a:endParaRPr lang="en-GB" sz="1200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4D762C-2D73-394D-9E02-268791A669F2}"/>
              </a:ext>
            </a:extLst>
          </p:cNvPr>
          <p:cNvSpPr txBox="1"/>
          <p:nvPr/>
        </p:nvSpPr>
        <p:spPr>
          <a:xfrm>
            <a:off x="4893447" y="791347"/>
            <a:ext cx="1741179" cy="101566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000" b="1" u="sng" noProof="0" dirty="0"/>
              <a:t>Keywords:</a:t>
            </a:r>
            <a:endParaRPr lang="en-GB" sz="1000" noProof="0" dirty="0"/>
          </a:p>
          <a:p>
            <a:pPr marL="285750" indent="-285750">
              <a:buFont typeface=".AppleSystemUIFont" charset="-120"/>
              <a:buChar char="-"/>
            </a:pPr>
            <a:r>
              <a:rPr lang="en-GB" sz="1000" noProof="0" dirty="0"/>
              <a:t>Simultaneous equations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GB" sz="1000" noProof="0" dirty="0"/>
              <a:t>Linear equations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GB" sz="1000" noProof="0" dirty="0"/>
              <a:t>Equivalent equations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GB" sz="1000" noProof="0" dirty="0"/>
              <a:t>Intersection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GB" sz="1000" noProof="0" dirty="0"/>
              <a:t>Elimination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FE7EC4-5E01-5842-B2D3-567D0C78E897}"/>
              </a:ext>
            </a:extLst>
          </p:cNvPr>
          <p:cNvSpPr/>
          <p:nvPr/>
        </p:nvSpPr>
        <p:spPr>
          <a:xfrm>
            <a:off x="27604" y="63332"/>
            <a:ext cx="6858000" cy="28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noProof="0" dirty="0"/>
              <a:t>Subtopic 3d – Solving Simultaneous Equations by Substitution</a:t>
            </a:r>
            <a:endParaRPr lang="en-GB" sz="1600" b="1" noProof="0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E7EDCC2-ABAA-434F-8C0E-6C3A1F76BAE7}"/>
              </a:ext>
            </a:extLst>
          </p:cNvPr>
          <p:cNvCxnSpPr/>
          <p:nvPr/>
        </p:nvCxnSpPr>
        <p:spPr>
          <a:xfrm flipV="1">
            <a:off x="942039" y="3731417"/>
            <a:ext cx="5541513" cy="2282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125893" y="1971069"/>
            <a:ext cx="6645064" cy="24276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66" name="Straight Connector 65"/>
          <p:cNvCxnSpPr/>
          <p:nvPr/>
        </p:nvCxnSpPr>
        <p:spPr>
          <a:xfrm>
            <a:off x="120260" y="3058829"/>
            <a:ext cx="6672688" cy="159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65" idx="2"/>
            <a:endCxn id="65" idx="0"/>
          </p:cNvCxnSpPr>
          <p:nvPr/>
        </p:nvCxnSpPr>
        <p:spPr>
          <a:xfrm flipV="1">
            <a:off x="3448425" y="1971069"/>
            <a:ext cx="0" cy="24276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05113" y="1961691"/>
            <a:ext cx="824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noProof="0" dirty="0"/>
              <a:t>Definition</a:t>
            </a:r>
          </a:p>
          <a:p>
            <a:endParaRPr lang="en-GB" sz="1200" noProof="0" dirty="0"/>
          </a:p>
        </p:txBody>
      </p:sp>
      <p:sp>
        <p:nvSpPr>
          <p:cNvPr id="69" name="TextBox 68"/>
          <p:cNvSpPr txBox="1"/>
          <p:nvPr/>
        </p:nvSpPr>
        <p:spPr>
          <a:xfrm>
            <a:off x="5629164" y="1929305"/>
            <a:ext cx="1112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noProof="0" dirty="0"/>
              <a:t>Characteristics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0260" y="3058829"/>
            <a:ext cx="7881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noProof="0" dirty="0"/>
              <a:t>Examples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57677" y="3034448"/>
            <a:ext cx="1172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noProof="0" dirty="0"/>
              <a:t>Non - Examples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5892" y="2202748"/>
            <a:ext cx="3230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/>
              <a:t>One equation is substituted into the other. This equation will often need to be expanded before it can be solved.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2746" y="2889648"/>
            <a:ext cx="211615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noProof="0" dirty="0"/>
              <a:t>Substitution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3429034" y="3251551"/>
                <a:ext cx="334192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noProof="0" dirty="0"/>
                  <a:t>For these equations you would use the elimination method to solve simultaneously.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=17</m:t>
                      </m:r>
                    </m:oMath>
                  </m:oMathPara>
                </a14:m>
                <a:endParaRPr lang="en-GB" sz="1200" b="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34" y="3251551"/>
                <a:ext cx="3341923" cy="830997"/>
              </a:xfrm>
              <a:prstGeom prst="rect">
                <a:avLst/>
              </a:prstGeom>
              <a:blipFill>
                <a:blip r:embed="rId3"/>
                <a:stretch>
                  <a:fillRect l="-182" r="-3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3448424" y="2183166"/>
                <a:ext cx="323033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noProof="0" dirty="0"/>
                  <a:t>One equation may have x or y as it’s subject.</a:t>
                </a:r>
              </a:p>
              <a:p>
                <a:r>
                  <a:rPr lang="en-GB" sz="1200" noProof="0" dirty="0"/>
                  <a:t>e.g.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=17 </m:t>
                    </m:r>
                  </m:oMath>
                </a14:m>
                <a:r>
                  <a:rPr lang="en-GB" sz="1200" noProof="0" dirty="0"/>
                  <a:t>and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8424" y="2183166"/>
                <a:ext cx="3230335" cy="461665"/>
              </a:xfrm>
              <a:prstGeom prst="rect">
                <a:avLst/>
              </a:prstGeom>
              <a:blipFill>
                <a:blip r:embed="rId4"/>
                <a:stretch>
                  <a:fillRect l="-1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139200" y="3280964"/>
                <a:ext cx="323033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noProof="0" dirty="0"/>
                  <a:t>Solve simultaneously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sz="1200" b="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=14</m:t>
                      </m:r>
                    </m:oMath>
                  </m:oMathPara>
                </a14:m>
                <a:endParaRPr lang="en-GB" sz="1200" noProof="0" dirty="0"/>
              </a:p>
              <a:p>
                <a:r>
                  <a:rPr lang="en-GB" sz="1200" noProof="0" dirty="0"/>
                  <a:t>Substitute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sz="1200" noProof="0" dirty="0"/>
                  <a:t> for y into second equation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+3</m:t>
                      </m:r>
                      <m:d>
                        <m:dPr>
                          <m:ctrlP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=14</m:t>
                      </m:r>
                    </m:oMath>
                  </m:oMathPara>
                </a14:m>
                <a:endParaRPr lang="en-GB" sz="1200" b="0" noProof="0" dirty="0"/>
              </a:p>
              <a:p>
                <a:r>
                  <a:rPr lang="en-GB" sz="1200" noProof="0" dirty="0"/>
                  <a:t>Expand and solve for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noProof="0" dirty="0"/>
                  <a:t>, before finding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00" y="3280964"/>
                <a:ext cx="3230335" cy="1200329"/>
              </a:xfrm>
              <a:prstGeom prst="rect">
                <a:avLst/>
              </a:prstGeom>
              <a:blipFill>
                <a:blip r:embed="rId5"/>
                <a:stretch>
                  <a:fillRect l="-189" b="-3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9" name="Table 5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6385707"/>
                  </p:ext>
                </p:extLst>
              </p:nvPr>
            </p:nvGraphicFramePr>
            <p:xfrm>
              <a:off x="153291" y="4600070"/>
              <a:ext cx="6609852" cy="522704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0476">
                      <a:extLst>
                        <a:ext uri="{9D8B030D-6E8A-4147-A177-3AD203B41FA5}">
                          <a16:colId xmlns:a16="http://schemas.microsoft.com/office/drawing/2014/main" val="4222859584"/>
                        </a:ext>
                      </a:extLst>
                    </a:gridCol>
                    <a:gridCol w="1772578">
                      <a:extLst>
                        <a:ext uri="{9D8B030D-6E8A-4147-A177-3AD203B41FA5}">
                          <a16:colId xmlns:a16="http://schemas.microsoft.com/office/drawing/2014/main" val="2943938818"/>
                        </a:ext>
                      </a:extLst>
                    </a:gridCol>
                    <a:gridCol w="1778669">
                      <a:extLst>
                        <a:ext uri="{9D8B030D-6E8A-4147-A177-3AD203B41FA5}">
                          <a16:colId xmlns:a16="http://schemas.microsoft.com/office/drawing/2014/main" val="4207345459"/>
                        </a:ext>
                      </a:extLst>
                    </a:gridCol>
                    <a:gridCol w="1658129">
                      <a:extLst>
                        <a:ext uri="{9D8B030D-6E8A-4147-A177-3AD203B41FA5}">
                          <a16:colId xmlns:a16="http://schemas.microsoft.com/office/drawing/2014/main" val="592218920"/>
                        </a:ext>
                      </a:extLst>
                    </a:gridCol>
                  </a:tblGrid>
                  <a:tr h="251784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  <a:cs typeface="Calibri" panose="020F0502020204030204" pitchFamily="34" charset="0"/>
                            </a:rPr>
                            <a:t>Example 1 -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Example 2 – We</a:t>
                          </a:r>
                          <a:r>
                            <a:rPr lang="en-GB" sz="1200" b="1" i="1" baseline="0" noProof="0" dirty="0">
                              <a:solidFill>
                                <a:schemeClr val="accent2"/>
                              </a:solidFill>
                            </a:rPr>
                            <a:t> </a:t>
                          </a: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Example 93– You</a:t>
                          </a:r>
                          <a:r>
                            <a:rPr lang="en-GB" sz="1200" b="1" i="1" baseline="0" noProof="0" dirty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53781998"/>
                      </a:ext>
                    </a:extLst>
                  </a:tr>
                  <a:tr h="595619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1) Label the equations 1 and 2.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Solve the simultaneous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equations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𝑦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=2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5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−3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𝑦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=11</m:t>
                                </m:r>
                              </m:oMath>
                            </m:oMathPara>
                          </a14:m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Solve the simultaneous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equations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5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+2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𝑦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=43</m:t>
                                </m:r>
                              </m:oMath>
                            </m:oMathPara>
                          </a14:m>
                          <a:endParaRPr lang="en-GB" sz="1200" b="0" i="1" baseline="0" noProof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=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𝑦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−4</m:t>
                                </m:r>
                              </m:oMath>
                            </m:oMathPara>
                          </a14:m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noProof="0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Solve the simultaneous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equations. 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4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+3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𝑦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=88</m:t>
                                </m:r>
                              </m:oMath>
                            </m:oMathPara>
                          </a14:m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𝑦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=2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+6</m:t>
                                </m:r>
                              </m:oMath>
                            </m:oMathPara>
                          </a14:m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  </a:t>
                          </a:r>
                          <a:endParaRPr lang="en-GB" sz="1200" b="1" i="1" noProof="0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7265822"/>
                      </a:ext>
                    </a:extLst>
                  </a:tr>
                  <a:tr h="756451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2)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Substitute isolated variable into equation 2.</a:t>
                          </a: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1007270"/>
                      </a:ext>
                    </a:extLst>
                  </a:tr>
                  <a:tr h="756451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3) Expand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9068173"/>
                      </a:ext>
                    </a:extLst>
                  </a:tr>
                  <a:tr h="756451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4) Simplify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7515573"/>
                      </a:ext>
                    </a:extLst>
                  </a:tr>
                  <a:tr h="716149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5)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Solve</a:t>
                          </a: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2978753"/>
                      </a:ext>
                    </a:extLst>
                  </a:tr>
                  <a:tr h="540322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6)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Substitute known variable to find the unknown variable.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4148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9" name="Table 5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6385707"/>
                  </p:ext>
                </p:extLst>
              </p:nvPr>
            </p:nvGraphicFramePr>
            <p:xfrm>
              <a:off x="153291" y="4600070"/>
              <a:ext cx="6609852" cy="522704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0476">
                      <a:extLst>
                        <a:ext uri="{9D8B030D-6E8A-4147-A177-3AD203B41FA5}">
                          <a16:colId xmlns:a16="http://schemas.microsoft.com/office/drawing/2014/main" val="4222859584"/>
                        </a:ext>
                      </a:extLst>
                    </a:gridCol>
                    <a:gridCol w="1772578">
                      <a:extLst>
                        <a:ext uri="{9D8B030D-6E8A-4147-A177-3AD203B41FA5}">
                          <a16:colId xmlns:a16="http://schemas.microsoft.com/office/drawing/2014/main" val="2943938818"/>
                        </a:ext>
                      </a:extLst>
                    </a:gridCol>
                    <a:gridCol w="1778669">
                      <a:extLst>
                        <a:ext uri="{9D8B030D-6E8A-4147-A177-3AD203B41FA5}">
                          <a16:colId xmlns:a16="http://schemas.microsoft.com/office/drawing/2014/main" val="4207345459"/>
                        </a:ext>
                      </a:extLst>
                    </a:gridCol>
                    <a:gridCol w="1658129">
                      <a:extLst>
                        <a:ext uri="{9D8B030D-6E8A-4147-A177-3AD203B41FA5}">
                          <a16:colId xmlns:a16="http://schemas.microsoft.com/office/drawing/2014/main" val="592218920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  <a:cs typeface="Calibri" panose="020F0502020204030204" pitchFamily="34" charset="0"/>
                            </a:rPr>
                            <a:t>Example 1 -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2 – We</a:t>
                          </a:r>
                          <a:r>
                            <a:rPr lang="en-GB" sz="1200" b="1" i="1" baseline="0" noProof="0">
                              <a:solidFill>
                                <a:schemeClr val="accent2"/>
                              </a:solidFill>
                            </a:rPr>
                            <a:t> </a:t>
                          </a: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93– You</a:t>
                          </a:r>
                          <a:r>
                            <a:rPr lang="en-GB" sz="1200" b="1" i="1" baseline="0" noProof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53781998"/>
                      </a:ext>
                    </a:extLst>
                  </a:tr>
                  <a:tr h="595619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1) Label the equations 1 and 2.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6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79381" t="-5651" r="-194502" b="-246"/>
                          </a:stretch>
                        </a:blipFill>
                      </a:tcPr>
                    </a:tc>
                    <a:tc rowSpan="6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78767" t="-5651" r="-93836" b="-246"/>
                          </a:stretch>
                        </a:blipFill>
                      </a:tcPr>
                    </a:tc>
                    <a:tc rowSpan="6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99265" t="-5651" r="-735" b="-2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7265822"/>
                      </a:ext>
                    </a:extLst>
                  </a:tr>
                  <a:tr h="756451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2)</a:t>
                          </a:r>
                          <a:r>
                            <a:rPr lang="en-GB" sz="1200" b="0" i="0" baseline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Substitute isolated variable into equation 2.</a:t>
                          </a:r>
                          <a:endParaRPr lang="en-GB" sz="1200" b="0" i="0" noProof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1007270"/>
                      </a:ext>
                    </a:extLst>
                  </a:tr>
                  <a:tr h="756451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3) Expand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9068173"/>
                      </a:ext>
                    </a:extLst>
                  </a:tr>
                  <a:tr h="756451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4) Simplify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7515573"/>
                      </a:ext>
                    </a:extLst>
                  </a:tr>
                  <a:tr h="716149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5)</a:t>
                          </a:r>
                          <a:r>
                            <a:rPr lang="en-GB" sz="1200" b="0" i="0" baseline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Solve</a:t>
                          </a:r>
                          <a:endParaRPr lang="en-GB" sz="1200" b="0" i="0" noProof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2978753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6)</a:t>
                          </a:r>
                          <a:r>
                            <a:rPr lang="en-GB" sz="1200" b="0" i="0" baseline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Substitute known variable to find the unknown variable.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noProof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chemeClr val="accent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1" i="1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41480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631089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314950" y="9469935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noProof="0" smtClean="0"/>
              <a:t>33</a:t>
            </a:fld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44120" y="348088"/>
                <a:ext cx="107683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a)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=2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endParaRPr lang="en-GB" sz="1200" noProof="0" dirty="0">
                  <a:cs typeface="Calibri" panose="020F0502020204030204" pitchFamily="34" charset="0"/>
                </a:endParaRP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=6</m:t>
                    </m:r>
                  </m:oMath>
                </a14:m>
                <a:r>
                  <a:rPr lang="en-GB" sz="1200" noProof="0" dirty="0">
                    <a:cs typeface="Calibri" panose="020F0502020204030204" pitchFamily="34" charset="0"/>
                  </a:rPr>
                  <a:t> </a:t>
                </a:r>
              </a:p>
              <a:p>
                <a:r>
                  <a:rPr lang="en-GB" sz="1200" noProof="0" dirty="0"/>
                  <a:t> 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120" y="348088"/>
                <a:ext cx="1076833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807208" y="348087"/>
                <a:ext cx="10592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b)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+2</m:t>
                    </m:r>
                  </m:oMath>
                </a14:m>
                <a:br>
                  <a:rPr lang="en-GB" sz="1200" noProof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=11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208" y="348087"/>
                <a:ext cx="105920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238597" y="768339"/>
            <a:ext cx="2119082" cy="40091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1" name="Rectangle 10"/>
          <p:cNvSpPr/>
          <p:nvPr/>
        </p:nvSpPr>
        <p:spPr>
          <a:xfrm>
            <a:off x="2423632" y="768339"/>
            <a:ext cx="2097801" cy="40091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2" name="Rectangle 11"/>
          <p:cNvSpPr/>
          <p:nvPr/>
        </p:nvSpPr>
        <p:spPr>
          <a:xfrm>
            <a:off x="4612549" y="768339"/>
            <a:ext cx="2097801" cy="40091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792584" y="4846383"/>
                <a:ext cx="103515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=3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𝑥</m:t>
                      </m:r>
                    </m:oMath>
                  </m:oMathPara>
                </a14:m>
                <a:endParaRPr lang="en-GB" sz="1200" b="0" noProof="0" dirty="0">
                  <a:cs typeface="Calibri" panose="020F0502020204030204" pitchFamily="34" charset="0"/>
                </a:endParaRPr>
              </a:p>
              <a:p>
                <a:pPr lvl="0" algn="ctr" defTabSz="6858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+2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=14</m:t>
                      </m:r>
                    </m:oMath>
                  </m:oMathPara>
                </a14:m>
                <a:endParaRPr lang="en-GB" sz="1200" noProof="0" dirty="0">
                  <a:cs typeface="Calibri" panose="020F0502020204030204" pitchFamily="34" charset="0"/>
                </a:endParaRPr>
              </a:p>
              <a:p>
                <a:r>
                  <a:rPr lang="en-GB" sz="1200" noProof="0" dirty="0"/>
                  <a:t> 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2584" y="4846383"/>
                <a:ext cx="1035155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116665" y="4846383"/>
                <a:ext cx="104143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f)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GB" sz="1200" b="0" noProof="0" dirty="0"/>
              </a:p>
              <a:p>
                <a:pPr lvl="0" algn="ctr" defTabSz="6858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−1=2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𝑥</m:t>
                      </m:r>
                    </m:oMath>
                  </m:oMathPara>
                </a14:m>
                <a:endParaRPr lang="en-GB" sz="1200" noProof="0" dirty="0">
                  <a:cs typeface="Calibri" panose="020F0502020204030204" pitchFamily="34" charset="0"/>
                </a:endParaRPr>
              </a:p>
              <a:p>
                <a:r>
                  <a:rPr lang="en-GB" sz="1200" noProof="0" dirty="0"/>
                  <a:t> 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6665" y="4846383"/>
                <a:ext cx="1041439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214534" y="5369464"/>
            <a:ext cx="2119082" cy="42033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7" name="Rectangle 16"/>
          <p:cNvSpPr/>
          <p:nvPr/>
        </p:nvSpPr>
        <p:spPr>
          <a:xfrm>
            <a:off x="2399569" y="5369464"/>
            <a:ext cx="2097801" cy="42033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8" name="Rectangle 17"/>
          <p:cNvSpPr/>
          <p:nvPr/>
        </p:nvSpPr>
        <p:spPr>
          <a:xfrm>
            <a:off x="4588486" y="5369464"/>
            <a:ext cx="2097801" cy="42033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1141656" y="4395993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1928679" y="4392875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654421" y="4353027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21" y="4353027"/>
                <a:ext cx="1381880" cy="369332"/>
              </a:xfrm>
              <a:prstGeom prst="rect">
                <a:avLst/>
              </a:prstGeom>
              <a:blipFill>
                <a:blip r:embed="rId6"/>
                <a:stretch>
                  <a:fillRect r="-12335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3313707" y="4396728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4100730" y="4393610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2826472" y="4353762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6472" y="4353762"/>
                <a:ext cx="1381880" cy="369332"/>
              </a:xfrm>
              <a:prstGeom prst="rect">
                <a:avLst/>
              </a:prstGeom>
              <a:blipFill>
                <a:blip r:embed="rId6"/>
                <a:stretch>
                  <a:fillRect r="-1283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5477461" y="4395001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6264484" y="4391883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4990226" y="4352035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226" y="4352035"/>
                <a:ext cx="1381880" cy="369332"/>
              </a:xfrm>
              <a:prstGeom prst="rect">
                <a:avLst/>
              </a:prstGeom>
              <a:blipFill>
                <a:blip r:embed="rId7"/>
                <a:stretch>
                  <a:fillRect r="-12832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1141656" y="9129668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1928679" y="9126550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654421" y="9086702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21" y="9086702"/>
                <a:ext cx="1381880" cy="369332"/>
              </a:xfrm>
              <a:prstGeom prst="rect">
                <a:avLst/>
              </a:prstGeom>
              <a:blipFill>
                <a:blip r:embed="rId7"/>
                <a:stretch>
                  <a:fillRect r="-12335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3313707" y="9130403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4100730" y="9127285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2826472" y="9087437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6472" y="9087437"/>
                <a:ext cx="1381880" cy="369332"/>
              </a:xfrm>
              <a:prstGeom prst="rect">
                <a:avLst/>
              </a:prstGeom>
              <a:blipFill>
                <a:blip r:embed="rId7"/>
                <a:stretch>
                  <a:fillRect r="-12832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5477461" y="9128676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6264484" y="9125558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4990226" y="9085710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226" y="9085710"/>
                <a:ext cx="1381880" cy="369332"/>
              </a:xfrm>
              <a:prstGeom prst="rect">
                <a:avLst/>
              </a:prstGeom>
              <a:blipFill>
                <a:blip r:embed="rId6"/>
                <a:stretch>
                  <a:fillRect r="-1283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/>
          <p:cNvSpPr txBox="1"/>
          <p:nvPr/>
        </p:nvSpPr>
        <p:spPr>
          <a:xfrm>
            <a:off x="1345361" y="56195"/>
            <a:ext cx="46203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noProof="0" dirty="0"/>
              <a:t>1. Solve the simultaneous equations by substitution</a:t>
            </a:r>
            <a:endParaRPr lang="en-GB" sz="1200" b="1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125456" y="348087"/>
                <a:ext cx="107715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c)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GB" sz="1200" b="0" noProof="0" dirty="0"/>
              </a:p>
              <a:p>
                <a:pPr lvl="0" algn="ctr" defTabSz="6858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+2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=15</m:t>
                      </m:r>
                    </m:oMath>
                  </m:oMathPara>
                </a14:m>
                <a:endParaRPr lang="en-GB" sz="1200" noProof="0" dirty="0">
                  <a:cs typeface="Calibri" panose="020F0502020204030204" pitchFamily="34" charset="0"/>
                </a:endParaRPr>
              </a:p>
              <a:p>
                <a:r>
                  <a:rPr lang="en-GB" sz="1200" noProof="0" dirty="0"/>
                  <a:t>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456" y="348087"/>
                <a:ext cx="1077154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67949" y="4897697"/>
                <a:ext cx="11201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d)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1200" b="0" noProof="0" dirty="0"/>
              </a:p>
              <a:p>
                <a:pPr lvl="0" algn="ctr" defTabSz="6858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=60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49" y="4897697"/>
                <a:ext cx="1120115" cy="461665"/>
              </a:xfrm>
              <a:prstGeom prst="rect">
                <a:avLst/>
              </a:prstGeom>
              <a:blipFill>
                <a:blip r:embed="rId9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7D8BDC2-7AEC-8BEF-065A-7B5B0BF266DB}"/>
              </a:ext>
            </a:extLst>
          </p:cNvPr>
          <p:cNvSpPr txBox="1"/>
          <p:nvPr/>
        </p:nvSpPr>
        <p:spPr>
          <a:xfrm>
            <a:off x="141898" y="61419"/>
            <a:ext cx="1762598" cy="276999"/>
          </a:xfrm>
          <a:prstGeom prst="rect">
            <a:avLst/>
          </a:prstGeom>
          <a:solidFill>
            <a:srgbClr val="0070C0"/>
          </a:solidFill>
        </p:spPr>
        <p:txBody>
          <a:bodyPr wrap="none" rtlCol="0" anchor="ctr">
            <a:spAutoFit/>
          </a:bodyPr>
          <a:lstStyle/>
          <a:p>
            <a:pPr algn="r"/>
            <a:r>
              <a:rPr lang="en-GB" sz="1200" b="1" noProof="0" dirty="0">
                <a:solidFill>
                  <a:schemeClr val="bg1"/>
                </a:solidFill>
              </a:rPr>
              <a:t>INDEPENDENT PRACTICE</a:t>
            </a:r>
          </a:p>
        </p:txBody>
      </p:sp>
    </p:spTree>
    <p:extLst>
      <p:ext uri="{BB962C8B-B14F-4D97-AF65-F5344CB8AC3E}">
        <p14:creationId xmlns:p14="http://schemas.microsoft.com/office/powerpoint/2010/main" val="25874647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47FDB3-F1CA-1048-A732-E957245FF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99292" y="9579067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noProof="0" smtClean="0"/>
              <a:t>34</a:t>
            </a:fld>
            <a:endParaRPr lang="en-GB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22C3A5-83FD-F348-A13A-41990BFFB455}"/>
              </a:ext>
            </a:extLst>
          </p:cNvPr>
          <p:cNvSpPr/>
          <p:nvPr/>
        </p:nvSpPr>
        <p:spPr>
          <a:xfrm>
            <a:off x="105113" y="335811"/>
            <a:ext cx="6647773" cy="15283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ysClr val="windowText" lastClr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CABFFF-8CCA-3F46-BB1D-2812F1283950}"/>
              </a:ext>
            </a:extLst>
          </p:cNvPr>
          <p:cNvSpPr txBox="1"/>
          <p:nvPr/>
        </p:nvSpPr>
        <p:spPr>
          <a:xfrm>
            <a:off x="150921" y="736008"/>
            <a:ext cx="1181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noProof="0" dirty="0"/>
              <a:t>Objectives: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4C4B23-45C4-754A-8432-EA2D2C31880A}"/>
              </a:ext>
            </a:extLst>
          </p:cNvPr>
          <p:cNvSpPr txBox="1"/>
          <p:nvPr/>
        </p:nvSpPr>
        <p:spPr>
          <a:xfrm>
            <a:off x="154731" y="1150074"/>
            <a:ext cx="44860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  <a:defRPr/>
            </a:pPr>
            <a:r>
              <a:rPr lang="en-GB" sz="1200" noProof="0" dirty="0"/>
              <a:t>Finding the LCM between two numbers.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GB" sz="1200" noProof="0" dirty="0"/>
              <a:t>Solving simultaneous equations by adjusting one equation.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GB" sz="1200" noProof="0" dirty="0"/>
              <a:t>Solving simultaneous equations by adjusting both equations. </a:t>
            </a:r>
          </a:p>
          <a:p>
            <a:pPr>
              <a:defRPr/>
            </a:pPr>
            <a:endParaRPr lang="en-GB" sz="12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074EF1-46DA-6944-95B7-7A2E909591E4}"/>
              </a:ext>
            </a:extLst>
          </p:cNvPr>
          <p:cNvSpPr txBox="1"/>
          <p:nvPr/>
        </p:nvSpPr>
        <p:spPr>
          <a:xfrm>
            <a:off x="223370" y="407430"/>
            <a:ext cx="6411256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b="1" noProof="0" dirty="0"/>
              <a:t>LEARNING OUTCOME: To solve simultaneous equations using the substitution method</a:t>
            </a:r>
            <a:endParaRPr lang="en-GB" sz="1200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4D762C-2D73-394D-9E02-268791A669F2}"/>
              </a:ext>
            </a:extLst>
          </p:cNvPr>
          <p:cNvSpPr txBox="1"/>
          <p:nvPr/>
        </p:nvSpPr>
        <p:spPr>
          <a:xfrm>
            <a:off x="4893447" y="791347"/>
            <a:ext cx="1741179" cy="101566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000" b="1" u="sng" noProof="0" dirty="0"/>
              <a:t>Keywords:</a:t>
            </a:r>
            <a:endParaRPr lang="en-GB" sz="1000" noProof="0" dirty="0"/>
          </a:p>
          <a:p>
            <a:pPr marL="285750" indent="-285750">
              <a:buFont typeface=".AppleSystemUIFont" charset="-120"/>
              <a:buChar char="-"/>
            </a:pPr>
            <a:r>
              <a:rPr lang="en-GB" sz="1000" noProof="0" dirty="0"/>
              <a:t>Simultaneous equations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GB" sz="1000" noProof="0" dirty="0"/>
              <a:t>Linear equations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GB" sz="1000" noProof="0" dirty="0"/>
              <a:t>Equivalent equations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GB" sz="1000" noProof="0" dirty="0"/>
              <a:t>Intersection</a:t>
            </a:r>
          </a:p>
          <a:p>
            <a:pPr marL="285750" indent="-285750">
              <a:buFont typeface=".AppleSystemUIFont" charset="-120"/>
              <a:buChar char="-"/>
            </a:pPr>
            <a:r>
              <a:rPr lang="en-GB" sz="1000" noProof="0" dirty="0"/>
              <a:t>Elimination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FE7EC4-5E01-5842-B2D3-567D0C78E897}"/>
              </a:ext>
            </a:extLst>
          </p:cNvPr>
          <p:cNvSpPr/>
          <p:nvPr/>
        </p:nvSpPr>
        <p:spPr>
          <a:xfrm>
            <a:off x="0" y="-68"/>
            <a:ext cx="6858000" cy="288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Subtopic 3e – Quadratic simultaneous equations </a:t>
            </a:r>
            <a:endParaRPr lang="en-GB" b="1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5CA215D-761E-3A5E-7898-A14D2EC82DE7}"/>
                  </a:ext>
                </a:extLst>
              </p:cNvPr>
              <p:cNvSpPr txBox="1"/>
              <p:nvPr/>
            </p:nvSpPr>
            <p:spPr>
              <a:xfrm>
                <a:off x="105113" y="2056583"/>
                <a:ext cx="6636044" cy="83099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200" noProof="0" dirty="0"/>
                  <a:t>When solving simultaneous equations that involve a quadratic the elimination method will not be sufficient. Therefore, we need to use a substitution method. We will look to substitute a linear equation into the quadratic. As one equation is a quadratic you can receive two sets of answers to these equations. (i.e. 2 values for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200" noProof="0" dirty="0"/>
                  <a:t>and 2 values for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200" noProof="0" dirty="0"/>
                  <a:t>). It is important that you give these solutions as pairs.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5CA215D-761E-3A5E-7898-A14D2EC82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13" y="2056583"/>
                <a:ext cx="6636044" cy="830997"/>
              </a:xfrm>
              <a:prstGeom prst="rect">
                <a:avLst/>
              </a:prstGeom>
              <a:blipFill>
                <a:blip r:embed="rId3"/>
                <a:stretch>
                  <a:fillRect b="-359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DBFDA473-25A8-B2E9-4BBE-C7A0EF19E9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6524471"/>
                  </p:ext>
                </p:extLst>
              </p:nvPr>
            </p:nvGraphicFramePr>
            <p:xfrm>
              <a:off x="105113" y="3032923"/>
              <a:ext cx="6647773" cy="6766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42538">
                      <a:extLst>
                        <a:ext uri="{9D8B030D-6E8A-4147-A177-3AD203B41FA5}">
                          <a16:colId xmlns:a16="http://schemas.microsoft.com/office/drawing/2014/main" val="4222859584"/>
                        </a:ext>
                      </a:extLst>
                    </a:gridCol>
                    <a:gridCol w="1873510">
                      <a:extLst>
                        <a:ext uri="{9D8B030D-6E8A-4147-A177-3AD203B41FA5}">
                          <a16:colId xmlns:a16="http://schemas.microsoft.com/office/drawing/2014/main" val="2943938818"/>
                        </a:ext>
                      </a:extLst>
                    </a:gridCol>
                    <a:gridCol w="1813213">
                      <a:extLst>
                        <a:ext uri="{9D8B030D-6E8A-4147-A177-3AD203B41FA5}">
                          <a16:colId xmlns:a16="http://schemas.microsoft.com/office/drawing/2014/main" val="4207345459"/>
                        </a:ext>
                      </a:extLst>
                    </a:gridCol>
                    <a:gridCol w="1918512">
                      <a:extLst>
                        <a:ext uri="{9D8B030D-6E8A-4147-A177-3AD203B41FA5}">
                          <a16:colId xmlns:a16="http://schemas.microsoft.com/office/drawing/2014/main" val="592218920"/>
                        </a:ext>
                      </a:extLst>
                    </a:gridCol>
                  </a:tblGrid>
                  <a:tr h="221749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  <a:cs typeface="Calibri" panose="020F0502020204030204" pitchFamily="34" charset="0"/>
                            </a:rPr>
                            <a:t>Example 1 -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Example 2 – We</a:t>
                          </a:r>
                          <a:r>
                            <a:rPr lang="en-GB" sz="1200" b="1" i="1" baseline="0" noProof="0" dirty="0">
                              <a:solidFill>
                                <a:schemeClr val="accent2"/>
                              </a:solidFill>
                            </a:rPr>
                            <a:t> </a:t>
                          </a: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Example 3 – You</a:t>
                          </a:r>
                          <a:r>
                            <a:rPr lang="en-GB" sz="1200" b="1" i="1" baseline="0" noProof="0" dirty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53781998"/>
                      </a:ext>
                    </a:extLst>
                  </a:tr>
                  <a:tr h="665248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1) Set each equation equal to each other.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5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Solve the simultaneous equations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𝑦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+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𝑦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=2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5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Solve the simultaneous equations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𝑦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+7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𝑦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=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5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Solve the simultaneous equations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𝑦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𝑦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=2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+5</m:t>
                                </m:r>
                              </m:oMath>
                            </m:oMathPara>
                          </a14:m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7265822"/>
                      </a:ext>
                    </a:extLst>
                  </a:tr>
                  <a:tr h="543714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2)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Rearrange to = 0</a:t>
                          </a: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1007270"/>
                      </a:ext>
                    </a:extLst>
                  </a:tr>
                  <a:tr h="960914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3) Solve by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either:</a:t>
                          </a: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a) Factorising</a:t>
                          </a:r>
                          <a:b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</a:b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b) Quadratic Formula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8761373"/>
                      </a:ext>
                    </a:extLst>
                  </a:tr>
                  <a:tr h="517415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4) Substitute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values to find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</m:oMath>
                          </a14:m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7296716"/>
                      </a:ext>
                    </a:extLst>
                  </a:tr>
                  <a:tr h="1376463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5) Write solutions in pairs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6872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DBFDA473-25A8-B2E9-4BBE-C7A0EF19E9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6524471"/>
                  </p:ext>
                </p:extLst>
              </p:nvPr>
            </p:nvGraphicFramePr>
            <p:xfrm>
              <a:off x="105113" y="3032923"/>
              <a:ext cx="6647773" cy="6766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42538">
                      <a:extLst>
                        <a:ext uri="{9D8B030D-6E8A-4147-A177-3AD203B41FA5}">
                          <a16:colId xmlns:a16="http://schemas.microsoft.com/office/drawing/2014/main" val="4222859584"/>
                        </a:ext>
                      </a:extLst>
                    </a:gridCol>
                    <a:gridCol w="1873510">
                      <a:extLst>
                        <a:ext uri="{9D8B030D-6E8A-4147-A177-3AD203B41FA5}">
                          <a16:colId xmlns:a16="http://schemas.microsoft.com/office/drawing/2014/main" val="2943938818"/>
                        </a:ext>
                      </a:extLst>
                    </a:gridCol>
                    <a:gridCol w="1813213">
                      <a:extLst>
                        <a:ext uri="{9D8B030D-6E8A-4147-A177-3AD203B41FA5}">
                          <a16:colId xmlns:a16="http://schemas.microsoft.com/office/drawing/2014/main" val="4207345459"/>
                        </a:ext>
                      </a:extLst>
                    </a:gridCol>
                    <a:gridCol w="1918512">
                      <a:extLst>
                        <a:ext uri="{9D8B030D-6E8A-4147-A177-3AD203B41FA5}">
                          <a16:colId xmlns:a16="http://schemas.microsoft.com/office/drawing/2014/main" val="592218920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  <a:cs typeface="Calibri" panose="020F0502020204030204" pitchFamily="34" charset="0"/>
                            </a:rPr>
                            <a:t>Example 1 -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2 – We</a:t>
                          </a:r>
                          <a:r>
                            <a:rPr lang="en-GB" sz="1200" b="1" i="1" baseline="0" noProof="0">
                              <a:solidFill>
                                <a:schemeClr val="accent2"/>
                              </a:solidFill>
                            </a:rPr>
                            <a:t> </a:t>
                          </a: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3 – You</a:t>
                          </a:r>
                          <a:r>
                            <a:rPr lang="en-GB" sz="1200" b="1" i="1" baseline="0" noProof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53781998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baseline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1) Set each equation equal to each other.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5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5844" t="-4315" r="-199351" b="-188"/>
                          </a:stretch>
                        </a:blipFill>
                      </a:tcPr>
                    </a:tc>
                    <a:tc rowSpan="5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1616" t="-4315" r="-106734" b="-188"/>
                          </a:stretch>
                        </a:blipFill>
                      </a:tcPr>
                    </a:tc>
                    <a:tc rowSpan="5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6667" t="-4315" r="-635" b="-1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7265822"/>
                      </a:ext>
                    </a:extLst>
                  </a:tr>
                  <a:tr h="543714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2)</a:t>
                          </a:r>
                          <a:r>
                            <a:rPr lang="en-GB" sz="1200" b="0" i="0" baseline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Rearrange to = 0</a:t>
                          </a:r>
                          <a:endParaRPr lang="en-GB" sz="1200" b="0" i="0" noProof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1007270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3) Solve by</a:t>
                          </a:r>
                          <a:r>
                            <a:rPr lang="en-GB" sz="1200" b="0" i="0" baseline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either:</a:t>
                          </a:r>
                          <a:endParaRPr lang="en-GB" sz="1200" b="0" i="0" noProof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a) Factorising</a:t>
                          </a:r>
                          <a:b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</a:br>
                          <a:endParaRPr lang="en-GB" sz="1200" b="0" i="0" noProof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b) Quadratic Formula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876137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443810" r="-539181" b="-517143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7296716"/>
                      </a:ext>
                    </a:extLst>
                  </a:tr>
                  <a:tr h="3296766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5) Write solutions in pairs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6872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5613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32397" y="348088"/>
                <a:ext cx="150028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a)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sSup>
                      <m:sSup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en-GB" sz="1200" b="0" i="1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+5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−2</m:t>
                    </m:r>
                  </m:oMath>
                </a14:m>
                <a:endParaRPr lang="en-GB" sz="1200" noProof="0" dirty="0">
                  <a:cs typeface="Calibri" panose="020F0502020204030204" pitchFamily="34" charset="0"/>
                </a:endParaRPr>
              </a:p>
              <a:p>
                <a:pPr lvl="0" algn="ctr" defTabSz="685800">
                  <a:defRPr/>
                </a:pPr>
                <a:r>
                  <a:rPr lang="en-GB" sz="1200" noProof="0" dirty="0">
                    <a:cs typeface="Calibri" panose="020F0502020204030204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+3</m:t>
                    </m:r>
                  </m:oMath>
                </a14:m>
                <a:endParaRPr lang="en-GB" sz="1200" noProof="0" dirty="0">
                  <a:cs typeface="Calibri" panose="020F0502020204030204" pitchFamily="34" charset="0"/>
                </a:endParaRPr>
              </a:p>
              <a:p>
                <a:r>
                  <a:rPr lang="en-GB" sz="1200" noProof="0" dirty="0"/>
                  <a:t> 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397" y="348088"/>
                <a:ext cx="1500283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568036" y="348088"/>
                <a:ext cx="149028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b)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sSup>
                      <m:sSup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en-GB" sz="1200" b="0" i="1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−9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−3</m:t>
                    </m:r>
                  </m:oMath>
                </a14:m>
                <a:br>
                  <a:rPr lang="en-GB" sz="1200" noProof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8036" y="348088"/>
                <a:ext cx="1490281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238596" y="768339"/>
            <a:ext cx="3158773" cy="40091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1" name="Rectangle 10"/>
          <p:cNvSpPr/>
          <p:nvPr/>
        </p:nvSpPr>
        <p:spPr>
          <a:xfrm>
            <a:off x="3541610" y="768340"/>
            <a:ext cx="3111891" cy="40091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51627" y="4846384"/>
                <a:ext cx="14085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c)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endParaRPr lang="en-GB" sz="1200" b="0" noProof="0" dirty="0"/>
              </a:p>
              <a:p>
                <a:pPr lvl="0" algn="ctr" defTabSz="6858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627" y="4846384"/>
                <a:ext cx="1408527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549118" y="4846384"/>
                <a:ext cx="147482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d)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y</m:t>
                    </m:r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sSup>
                      <m:sSup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en-GB" sz="1200" b="0" i="1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−3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−2</m:t>
                    </m:r>
                  </m:oMath>
                </a14:m>
                <a:endParaRPr lang="en-GB" sz="1200" b="0" noProof="0" dirty="0">
                  <a:cs typeface="Calibri" panose="020F0502020204030204" pitchFamily="34" charset="0"/>
                </a:endParaRPr>
              </a:p>
              <a:p>
                <a:pPr lvl="0" algn="ctr" defTabSz="6858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−8</m:t>
                      </m:r>
                    </m:oMath>
                  </m:oMathPara>
                </a14:m>
                <a:endParaRPr lang="en-GB" sz="1200" noProof="0" dirty="0">
                  <a:cs typeface="Calibri" panose="020F0502020204030204" pitchFamily="34" charset="0"/>
                </a:endParaRPr>
              </a:p>
              <a:p>
                <a:r>
                  <a:rPr lang="en-GB" sz="1200" noProof="0" dirty="0"/>
                  <a:t> 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118" y="4846384"/>
                <a:ext cx="1474827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214533" y="5369464"/>
            <a:ext cx="3158773" cy="42033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7" name="Rectangle 16"/>
          <p:cNvSpPr/>
          <p:nvPr/>
        </p:nvSpPr>
        <p:spPr>
          <a:xfrm>
            <a:off x="3543418" y="5369465"/>
            <a:ext cx="3086019" cy="42033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1141656" y="4395993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1928679" y="4392875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654421" y="4353027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21" y="4353027"/>
                <a:ext cx="1381880" cy="369332"/>
              </a:xfrm>
              <a:prstGeom prst="rect">
                <a:avLst/>
              </a:prstGeom>
              <a:blipFill>
                <a:blip r:embed="rId6"/>
                <a:stretch>
                  <a:fillRect r="-12335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5445774" y="4396729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6232797" y="4393611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4958539" y="4353763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8539" y="4353763"/>
                <a:ext cx="1381880" cy="369332"/>
              </a:xfrm>
              <a:prstGeom prst="rect">
                <a:avLst/>
              </a:prstGeom>
              <a:blipFill>
                <a:blip r:embed="rId6"/>
                <a:stretch>
                  <a:fillRect r="-12335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1141656" y="9129668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1928679" y="9126550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654421" y="9086702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21" y="9086702"/>
                <a:ext cx="1381880" cy="369332"/>
              </a:xfrm>
              <a:prstGeom prst="rect">
                <a:avLst/>
              </a:prstGeom>
              <a:blipFill>
                <a:blip r:embed="rId7"/>
                <a:stretch>
                  <a:fillRect r="-12335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5445774" y="9130404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6232797" y="9127286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4958539" y="9087438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8539" y="9087438"/>
                <a:ext cx="1381880" cy="369332"/>
              </a:xfrm>
              <a:prstGeom prst="rect">
                <a:avLst/>
              </a:prstGeom>
              <a:blipFill>
                <a:blip r:embed="rId7"/>
                <a:stretch>
                  <a:fillRect r="-12335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/>
          <p:cNvSpPr txBox="1"/>
          <p:nvPr/>
        </p:nvSpPr>
        <p:spPr>
          <a:xfrm>
            <a:off x="1041075" y="72731"/>
            <a:ext cx="46203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noProof="0" dirty="0"/>
              <a:t>2. Solve the quadratic simultaneous equations.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1143744" y="3984723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1930767" y="3981605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656509" y="3941757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09" y="3941757"/>
                <a:ext cx="1381880" cy="369332"/>
              </a:xfrm>
              <a:prstGeom prst="rect">
                <a:avLst/>
              </a:prstGeom>
              <a:blipFill>
                <a:blip r:embed="rId7"/>
                <a:stretch>
                  <a:fillRect r="-12832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5455335" y="3997250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6242358" y="3994132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4968100" y="3954284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8100" y="3954284"/>
                <a:ext cx="1381880" cy="369332"/>
              </a:xfrm>
              <a:prstGeom prst="rect">
                <a:avLst/>
              </a:prstGeom>
              <a:blipFill>
                <a:blip r:embed="rId7"/>
                <a:stretch>
                  <a:fillRect r="-12335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1131218" y="8744603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1918241" y="8741485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643983" y="8701637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983" y="8701637"/>
                <a:ext cx="1381880" cy="369332"/>
              </a:xfrm>
              <a:prstGeom prst="rect">
                <a:avLst/>
              </a:prstGeom>
              <a:blipFill>
                <a:blip r:embed="rId6"/>
                <a:stretch>
                  <a:fillRect r="-1283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5455335" y="8732078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6242358" y="8728960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4968100" y="8689112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8100" y="8689112"/>
                <a:ext cx="1381880" cy="369332"/>
              </a:xfrm>
              <a:prstGeom prst="rect">
                <a:avLst/>
              </a:prstGeom>
              <a:blipFill>
                <a:blip r:embed="rId6"/>
                <a:stretch>
                  <a:fillRect r="-12335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4220102-6E9E-F450-65E8-5C8471A98DB1}"/>
              </a:ext>
            </a:extLst>
          </p:cNvPr>
          <p:cNvSpPr txBox="1"/>
          <p:nvPr/>
        </p:nvSpPr>
        <p:spPr>
          <a:xfrm>
            <a:off x="231424" y="87624"/>
            <a:ext cx="1545616" cy="253916"/>
          </a:xfrm>
          <a:prstGeom prst="rect">
            <a:avLst/>
          </a:prstGeom>
          <a:solidFill>
            <a:srgbClr val="0070C0"/>
          </a:solidFill>
        </p:spPr>
        <p:txBody>
          <a:bodyPr wrap="none" lIns="91440" tIns="45720" rIns="91440" bIns="45720" rtlCol="0" anchor="ctr">
            <a:spAutoFit/>
          </a:bodyPr>
          <a:lstStyle/>
          <a:p>
            <a:r>
              <a:rPr lang="en-GB" sz="1050" b="1" noProof="0" dirty="0">
                <a:solidFill>
                  <a:schemeClr val="bg1"/>
                </a:solidFill>
              </a:rPr>
              <a:t>INDEPENDENT PRACTICE</a:t>
            </a:r>
          </a:p>
        </p:txBody>
      </p:sp>
      <p:sp>
        <p:nvSpPr>
          <p:cNvPr id="59" name="Slide Number Placeholder 1">
            <a:extLst>
              <a:ext uri="{FF2B5EF4-FFF2-40B4-BE49-F238E27FC236}">
                <a16:creationId xmlns:a16="http://schemas.microsoft.com/office/drawing/2014/main" id="{0EAE6094-2C07-4569-583A-4BD139825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48693" y="9378597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noProof="0" smtClean="0"/>
              <a:t>35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562249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E1CE4-B867-1DA3-A998-80E504733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20ECDD-DAC3-FECC-5F4A-65B7E7E786EC}"/>
                  </a:ext>
                </a:extLst>
              </p:cNvPr>
              <p:cNvSpPr txBox="1"/>
              <p:nvPr/>
            </p:nvSpPr>
            <p:spPr>
              <a:xfrm>
                <a:off x="130377" y="68688"/>
                <a:ext cx="150432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e)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−5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endParaRPr lang="en-GB" sz="1200" b="0" noProof="0" dirty="0"/>
              </a:p>
              <a:p>
                <a:pPr lvl="0" algn="ctr" defTabSz="6858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=−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+3</m:t>
                      </m:r>
                    </m:oMath>
                  </m:oMathPara>
                </a14:m>
                <a:endParaRPr lang="en-GB" sz="1200" noProof="0" dirty="0">
                  <a:cs typeface="Calibri" panose="020F0502020204030204" pitchFamily="34" charset="0"/>
                </a:endParaRPr>
              </a:p>
              <a:p>
                <a:r>
                  <a:rPr lang="en-GB" sz="1200" noProof="0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20ECDD-DAC3-FECC-5F4A-65B7E7E786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77" y="68688"/>
                <a:ext cx="1504323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3AF764-9CCD-0DF1-B243-8C43DCEE3E0D}"/>
                  </a:ext>
                </a:extLst>
              </p:cNvPr>
              <p:cNvSpPr txBox="1"/>
              <p:nvPr/>
            </p:nvSpPr>
            <p:spPr>
              <a:xfrm>
                <a:off x="3794989" y="68688"/>
                <a:ext cx="10363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f) </a:t>
                </a: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20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endParaRPr lang="en-GB" sz="1200" noProof="0" dirty="0"/>
              </a:p>
              <a:p>
                <a:pPr lvl="0" algn="ctr" defTabSz="6858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noProof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𝑦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𝑥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−3</m:t>
                      </m:r>
                    </m:oMath>
                  </m:oMathPara>
                </a14:m>
                <a:endParaRPr lang="en-GB" sz="1200" noProof="0" dirty="0"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3AF764-9CCD-0DF1-B243-8C43DCEE3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4989" y="68688"/>
                <a:ext cx="1036374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F24E726F-89FD-7AC4-49A7-8A1071F9FCCE}"/>
              </a:ext>
            </a:extLst>
          </p:cNvPr>
          <p:cNvSpPr/>
          <p:nvPr/>
        </p:nvSpPr>
        <p:spPr>
          <a:xfrm>
            <a:off x="238596" y="574166"/>
            <a:ext cx="3158773" cy="42033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05B11F-994D-A19B-7814-735AE0D99CDB}"/>
              </a:ext>
            </a:extLst>
          </p:cNvPr>
          <p:cNvSpPr/>
          <p:nvPr/>
        </p:nvSpPr>
        <p:spPr>
          <a:xfrm>
            <a:off x="3541610" y="574167"/>
            <a:ext cx="3111891" cy="42033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91B2089-C469-A21E-BFBF-0D70BB7EC58D}"/>
                  </a:ext>
                </a:extLst>
              </p:cNvPr>
              <p:cNvSpPr txBox="1"/>
              <p:nvPr/>
            </p:nvSpPr>
            <p:spPr>
              <a:xfrm>
                <a:off x="148422" y="4846384"/>
                <a:ext cx="14149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g)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GB" sz="1200" b="0" noProof="0" dirty="0"/>
              </a:p>
              <a:p>
                <a:pPr algn="ctr" defTabSz="6858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−7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91B2089-C469-A21E-BFBF-0D70BB7EC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22" y="4846384"/>
                <a:ext cx="141493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B3D7E51-DB0E-0C26-B253-7B6496FFA0EF}"/>
                  </a:ext>
                </a:extLst>
              </p:cNvPr>
              <p:cNvSpPr txBox="1"/>
              <p:nvPr/>
            </p:nvSpPr>
            <p:spPr>
              <a:xfrm>
                <a:off x="3489805" y="4846384"/>
                <a:ext cx="159345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h)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y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20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endParaRPr lang="en-GB" sz="1200" noProof="0" dirty="0"/>
              </a:p>
              <a:p>
                <a:pPr algn="ctr" defTabSz="6858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20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GB" sz="1200" noProof="0" dirty="0"/>
              </a:p>
              <a:p>
                <a:endParaRPr lang="en-GB" sz="1200" noProof="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B3D7E51-DB0E-0C26-B253-7B6496FFA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805" y="4846384"/>
                <a:ext cx="159345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F0217630-67C5-A5E3-1DAA-5505D4027557}"/>
              </a:ext>
            </a:extLst>
          </p:cNvPr>
          <p:cNvSpPr/>
          <p:nvPr/>
        </p:nvSpPr>
        <p:spPr>
          <a:xfrm>
            <a:off x="214533" y="5369464"/>
            <a:ext cx="3158773" cy="42033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6EDC9A-1107-9FE0-A5DF-C67482AE242B}"/>
              </a:ext>
            </a:extLst>
          </p:cNvPr>
          <p:cNvSpPr/>
          <p:nvPr/>
        </p:nvSpPr>
        <p:spPr>
          <a:xfrm>
            <a:off x="3543418" y="5369465"/>
            <a:ext cx="3086019" cy="42033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6615EB-CFBB-9CEF-BA80-043BD0830E20}"/>
              </a:ext>
            </a:extLst>
          </p:cNvPr>
          <p:cNvSpPr/>
          <p:nvPr/>
        </p:nvSpPr>
        <p:spPr>
          <a:xfrm>
            <a:off x="1141656" y="4395993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C38E98-380C-28A0-07E5-73F784BCAC0E}"/>
              </a:ext>
            </a:extLst>
          </p:cNvPr>
          <p:cNvSpPr/>
          <p:nvPr/>
        </p:nvSpPr>
        <p:spPr>
          <a:xfrm>
            <a:off x="1928679" y="4392875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BA090F4-04A2-2AA7-4E3D-A3674017D2E9}"/>
                  </a:ext>
                </a:extLst>
              </p:cNvPr>
              <p:cNvSpPr/>
              <p:nvPr/>
            </p:nvSpPr>
            <p:spPr>
              <a:xfrm>
                <a:off x="654421" y="4353027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BA090F4-04A2-2AA7-4E3D-A3674017D2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21" y="4353027"/>
                <a:ext cx="1381880" cy="369332"/>
              </a:xfrm>
              <a:prstGeom prst="rect">
                <a:avLst/>
              </a:prstGeom>
              <a:blipFill>
                <a:blip r:embed="rId6"/>
                <a:stretch>
                  <a:fillRect r="-12335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7B9D6132-75E2-F339-FC98-DF4ADD97C5BA}"/>
              </a:ext>
            </a:extLst>
          </p:cNvPr>
          <p:cNvSpPr/>
          <p:nvPr/>
        </p:nvSpPr>
        <p:spPr>
          <a:xfrm>
            <a:off x="5445774" y="4396729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4FD16F-FD40-9D29-53E7-ABD05DCAFF72}"/>
              </a:ext>
            </a:extLst>
          </p:cNvPr>
          <p:cNvSpPr/>
          <p:nvPr/>
        </p:nvSpPr>
        <p:spPr>
          <a:xfrm>
            <a:off x="6232797" y="4393611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1E7652F-353F-A273-A03C-A316D528183A}"/>
                  </a:ext>
                </a:extLst>
              </p:cNvPr>
              <p:cNvSpPr/>
              <p:nvPr/>
            </p:nvSpPr>
            <p:spPr>
              <a:xfrm>
                <a:off x="4958539" y="4353763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1E7652F-353F-A273-A03C-A316D52818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8539" y="4353763"/>
                <a:ext cx="1381880" cy="369332"/>
              </a:xfrm>
              <a:prstGeom prst="rect">
                <a:avLst/>
              </a:prstGeom>
              <a:blipFill>
                <a:blip r:embed="rId6"/>
                <a:stretch>
                  <a:fillRect r="-12335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213BF5E5-EA20-D5E5-A9FB-D36E01399539}"/>
              </a:ext>
            </a:extLst>
          </p:cNvPr>
          <p:cNvSpPr/>
          <p:nvPr/>
        </p:nvSpPr>
        <p:spPr>
          <a:xfrm>
            <a:off x="1141656" y="9129668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12A9997-1ACE-A1A6-C4C6-B7CF030825F7}"/>
              </a:ext>
            </a:extLst>
          </p:cNvPr>
          <p:cNvSpPr/>
          <p:nvPr/>
        </p:nvSpPr>
        <p:spPr>
          <a:xfrm>
            <a:off x="1928679" y="9126550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333E37ED-7F84-A216-86F1-E211E9F8D4B9}"/>
                  </a:ext>
                </a:extLst>
              </p:cNvPr>
              <p:cNvSpPr/>
              <p:nvPr/>
            </p:nvSpPr>
            <p:spPr>
              <a:xfrm>
                <a:off x="654421" y="9086702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333E37ED-7F84-A216-86F1-E211E9F8D4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21" y="9086702"/>
                <a:ext cx="1381880" cy="369332"/>
              </a:xfrm>
              <a:prstGeom prst="rect">
                <a:avLst/>
              </a:prstGeom>
              <a:blipFill>
                <a:blip r:embed="rId7"/>
                <a:stretch>
                  <a:fillRect r="-12335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E5EF8AD4-C53E-90A5-FC68-877DF5CF18A3}"/>
              </a:ext>
            </a:extLst>
          </p:cNvPr>
          <p:cNvSpPr/>
          <p:nvPr/>
        </p:nvSpPr>
        <p:spPr>
          <a:xfrm>
            <a:off x="5445774" y="9130404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FCB264A-F710-D8E4-0595-11F451BB2EAD}"/>
              </a:ext>
            </a:extLst>
          </p:cNvPr>
          <p:cNvSpPr/>
          <p:nvPr/>
        </p:nvSpPr>
        <p:spPr>
          <a:xfrm>
            <a:off x="6232797" y="9127286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283A7E8-8ECA-11EC-B1DE-65D47931C3DF}"/>
                  </a:ext>
                </a:extLst>
              </p:cNvPr>
              <p:cNvSpPr/>
              <p:nvPr/>
            </p:nvSpPr>
            <p:spPr>
              <a:xfrm>
                <a:off x="4958539" y="9087438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283A7E8-8ECA-11EC-B1DE-65D47931C3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8539" y="9087438"/>
                <a:ext cx="1381880" cy="369332"/>
              </a:xfrm>
              <a:prstGeom prst="rect">
                <a:avLst/>
              </a:prstGeom>
              <a:blipFill>
                <a:blip r:embed="rId7"/>
                <a:stretch>
                  <a:fillRect r="-12335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E2B6A91A-7FBE-A041-ED28-9446FBC5509C}"/>
              </a:ext>
            </a:extLst>
          </p:cNvPr>
          <p:cNvSpPr/>
          <p:nvPr/>
        </p:nvSpPr>
        <p:spPr>
          <a:xfrm>
            <a:off x="1143744" y="3984723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322C8EC-2814-E79A-B90E-1AD44F38EB11}"/>
              </a:ext>
            </a:extLst>
          </p:cNvPr>
          <p:cNvSpPr/>
          <p:nvPr/>
        </p:nvSpPr>
        <p:spPr>
          <a:xfrm>
            <a:off x="1930767" y="3981605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5E30D14B-6DD6-96FD-EFFE-81EA56C6D39A}"/>
                  </a:ext>
                </a:extLst>
              </p:cNvPr>
              <p:cNvSpPr/>
              <p:nvPr/>
            </p:nvSpPr>
            <p:spPr>
              <a:xfrm>
                <a:off x="656509" y="3941757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5E30D14B-6DD6-96FD-EFFE-81EA56C6D3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09" y="3941757"/>
                <a:ext cx="1381880" cy="369332"/>
              </a:xfrm>
              <a:prstGeom prst="rect">
                <a:avLst/>
              </a:prstGeom>
              <a:blipFill>
                <a:blip r:embed="rId7"/>
                <a:stretch>
                  <a:fillRect r="-12832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D2626B70-6A52-CB53-9731-91A56990E0C9}"/>
              </a:ext>
            </a:extLst>
          </p:cNvPr>
          <p:cNvSpPr/>
          <p:nvPr/>
        </p:nvSpPr>
        <p:spPr>
          <a:xfrm>
            <a:off x="5455335" y="3997250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7E8BF8C-6429-D6B8-9646-0AD37C844C60}"/>
              </a:ext>
            </a:extLst>
          </p:cNvPr>
          <p:cNvSpPr/>
          <p:nvPr/>
        </p:nvSpPr>
        <p:spPr>
          <a:xfrm>
            <a:off x="6242358" y="3994132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3D5DDC26-ED51-F8F4-3266-78C35ADC290B}"/>
                  </a:ext>
                </a:extLst>
              </p:cNvPr>
              <p:cNvSpPr/>
              <p:nvPr/>
            </p:nvSpPr>
            <p:spPr>
              <a:xfrm>
                <a:off x="4968100" y="3954284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3D5DDC26-ED51-F8F4-3266-78C35ADC29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8100" y="3954284"/>
                <a:ext cx="1381880" cy="369332"/>
              </a:xfrm>
              <a:prstGeom prst="rect">
                <a:avLst/>
              </a:prstGeom>
              <a:blipFill>
                <a:blip r:embed="rId7"/>
                <a:stretch>
                  <a:fillRect r="-12335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>
            <a:extLst>
              <a:ext uri="{FF2B5EF4-FFF2-40B4-BE49-F238E27FC236}">
                <a16:creationId xmlns:a16="http://schemas.microsoft.com/office/drawing/2014/main" id="{3A9EAB1C-DE99-026A-6EEE-8B22AB4DB622}"/>
              </a:ext>
            </a:extLst>
          </p:cNvPr>
          <p:cNvSpPr/>
          <p:nvPr/>
        </p:nvSpPr>
        <p:spPr>
          <a:xfrm>
            <a:off x="1131218" y="8744603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6CD9442-D0AB-1A5B-7437-A86B62FFF243}"/>
              </a:ext>
            </a:extLst>
          </p:cNvPr>
          <p:cNvSpPr/>
          <p:nvPr/>
        </p:nvSpPr>
        <p:spPr>
          <a:xfrm>
            <a:off x="1918241" y="8741485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1E99DB25-5026-DD82-6DAE-BF110FCA6049}"/>
                  </a:ext>
                </a:extLst>
              </p:cNvPr>
              <p:cNvSpPr/>
              <p:nvPr/>
            </p:nvSpPr>
            <p:spPr>
              <a:xfrm>
                <a:off x="643983" y="8701637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1E99DB25-5026-DD82-6DAE-BF110FCA60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983" y="8701637"/>
                <a:ext cx="1381880" cy="369332"/>
              </a:xfrm>
              <a:prstGeom prst="rect">
                <a:avLst/>
              </a:prstGeom>
              <a:blipFill>
                <a:blip r:embed="rId6"/>
                <a:stretch>
                  <a:fillRect r="-1283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>
            <a:extLst>
              <a:ext uri="{FF2B5EF4-FFF2-40B4-BE49-F238E27FC236}">
                <a16:creationId xmlns:a16="http://schemas.microsoft.com/office/drawing/2014/main" id="{C3FB211A-CE17-C4B7-CAEE-C1DC9C8B23B0}"/>
              </a:ext>
            </a:extLst>
          </p:cNvPr>
          <p:cNvSpPr/>
          <p:nvPr/>
        </p:nvSpPr>
        <p:spPr>
          <a:xfrm>
            <a:off x="5455335" y="8732078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0057005-2FD5-2575-059B-CE12C44224DF}"/>
              </a:ext>
            </a:extLst>
          </p:cNvPr>
          <p:cNvSpPr/>
          <p:nvPr/>
        </p:nvSpPr>
        <p:spPr>
          <a:xfrm>
            <a:off x="6242358" y="8728960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F066AEDA-D0D2-521B-FF8E-7483B467CC6D}"/>
                  </a:ext>
                </a:extLst>
              </p:cNvPr>
              <p:cNvSpPr/>
              <p:nvPr/>
            </p:nvSpPr>
            <p:spPr>
              <a:xfrm>
                <a:off x="4968100" y="8689112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F066AEDA-D0D2-521B-FF8E-7483B467CC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8100" y="8689112"/>
                <a:ext cx="1381880" cy="369332"/>
              </a:xfrm>
              <a:prstGeom prst="rect">
                <a:avLst/>
              </a:prstGeom>
              <a:blipFill>
                <a:blip r:embed="rId6"/>
                <a:stretch>
                  <a:fillRect r="-12335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394A2B-9B09-2062-63D6-BB3C1766E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48693" y="9378597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noProof="0" smtClean="0"/>
              <a:t>36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6966581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248693" y="9378597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noProof="0" smtClean="0"/>
              <a:t>37</a:t>
            </a:fld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1816002"/>
                  </p:ext>
                </p:extLst>
              </p:nvPr>
            </p:nvGraphicFramePr>
            <p:xfrm>
              <a:off x="153291" y="1600243"/>
              <a:ext cx="6586709" cy="7863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2709">
                      <a:extLst>
                        <a:ext uri="{9D8B030D-6E8A-4147-A177-3AD203B41FA5}">
                          <a16:colId xmlns:a16="http://schemas.microsoft.com/office/drawing/2014/main" val="4222859584"/>
                        </a:ext>
                      </a:extLst>
                    </a:gridCol>
                    <a:gridCol w="1908000">
                      <a:extLst>
                        <a:ext uri="{9D8B030D-6E8A-4147-A177-3AD203B41FA5}">
                          <a16:colId xmlns:a16="http://schemas.microsoft.com/office/drawing/2014/main" val="2943938818"/>
                        </a:ext>
                      </a:extLst>
                    </a:gridCol>
                    <a:gridCol w="1908000">
                      <a:extLst>
                        <a:ext uri="{9D8B030D-6E8A-4147-A177-3AD203B41FA5}">
                          <a16:colId xmlns:a16="http://schemas.microsoft.com/office/drawing/2014/main" val="4207345459"/>
                        </a:ext>
                      </a:extLst>
                    </a:gridCol>
                    <a:gridCol w="1908000">
                      <a:extLst>
                        <a:ext uri="{9D8B030D-6E8A-4147-A177-3AD203B41FA5}">
                          <a16:colId xmlns:a16="http://schemas.microsoft.com/office/drawing/2014/main" val="592218920"/>
                        </a:ext>
                      </a:extLst>
                    </a:gridCol>
                  </a:tblGrid>
                  <a:tr h="263423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  <a:cs typeface="Calibri" panose="020F0502020204030204" pitchFamily="34" charset="0"/>
                            </a:rPr>
                            <a:t>Example 4 -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Example 5 – We</a:t>
                          </a:r>
                          <a:r>
                            <a:rPr lang="en-GB" sz="1200" b="1" i="1" baseline="0" noProof="0" dirty="0">
                              <a:solidFill>
                                <a:schemeClr val="accent2"/>
                              </a:solidFill>
                            </a:rPr>
                            <a:t> </a:t>
                          </a: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Example 6 – You</a:t>
                          </a:r>
                          <a:r>
                            <a:rPr lang="en-GB" sz="1200" b="1" i="1" baseline="0" noProof="0" dirty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53781998"/>
                      </a:ext>
                    </a:extLst>
                  </a:tr>
                  <a:tr h="614654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1) Substitute linear equation into quadratic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Solve the simultaneous equations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=9</m:t>
                                </m:r>
                              </m:oMath>
                            </m:oMathPara>
                          </a14:m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𝑦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=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+3</m:t>
                                </m:r>
                              </m:oMath>
                            </m:oMathPara>
                          </a14:m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Solve the simultaneous equations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GB" sz="1200" b="0" i="1" baseline="0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=20</m:t>
                                </m:r>
                              </m:oMath>
                            </m:oMathPara>
                          </a14:m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=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𝑦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1" baseline="0" noProof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Solve the simultaneous equations</a:t>
                          </a:r>
                        </a:p>
                        <a:p>
                          <a:pPr lvl="0" algn="ctr" defTabSz="685800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200" b="0" i="1" noProof="0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GB" sz="1200" b="0" i="1" noProof="0" smtClean="0"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200" b="0" i="1" noProof="0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=17</m:t>
                                </m:r>
                              </m:oMath>
                            </m:oMathPara>
                          </a14:m>
                          <a:endParaRPr lang="en-GB" sz="1200" b="0" noProof="0" dirty="0">
                            <a:cs typeface="Calibri" panose="020F0502020204030204" pitchFamily="34" charset="0"/>
                          </a:endParaRPr>
                        </a:p>
                        <a:p>
                          <a:pPr lvl="0" algn="ctr" defTabSz="685800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noProof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200" b="0" i="1" noProof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200" b="0" i="1" noProof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sz="1200" b="0" i="1" noProof="0" smtClean="0"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</m:oMath>
                            </m:oMathPara>
                          </a14:m>
                          <a:endParaRPr lang="en-GB" sz="1200" noProof="0" dirty="0"/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7265822"/>
                      </a:ext>
                    </a:extLst>
                  </a:tr>
                  <a:tr h="673192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2)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Expand and Simplify</a:t>
                          </a: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1007270"/>
                      </a:ext>
                    </a:extLst>
                  </a:tr>
                  <a:tr h="673192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3) Rearrange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to = 0</a:t>
                          </a: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4996011"/>
                      </a:ext>
                    </a:extLst>
                  </a:tr>
                  <a:tr h="1346384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3) Solve by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either:</a:t>
                          </a: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a) Factorising</a:t>
                          </a:r>
                          <a:b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</a:b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b) Quadratic Formula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8761373"/>
                      </a:ext>
                    </a:extLst>
                  </a:tr>
                  <a:tr h="673192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4) Substitute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values to find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</m:oMath>
                          </a14:m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7296716"/>
                      </a:ext>
                    </a:extLst>
                  </a:tr>
                  <a:tr h="673192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5) Write solutions in pairs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6872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1816002"/>
                  </p:ext>
                </p:extLst>
              </p:nvPr>
            </p:nvGraphicFramePr>
            <p:xfrm>
              <a:off x="153291" y="1600243"/>
              <a:ext cx="6586709" cy="7863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62709">
                      <a:extLst>
                        <a:ext uri="{9D8B030D-6E8A-4147-A177-3AD203B41FA5}">
                          <a16:colId xmlns:a16="http://schemas.microsoft.com/office/drawing/2014/main" val="4222859584"/>
                        </a:ext>
                      </a:extLst>
                    </a:gridCol>
                    <a:gridCol w="1908000">
                      <a:extLst>
                        <a:ext uri="{9D8B030D-6E8A-4147-A177-3AD203B41FA5}">
                          <a16:colId xmlns:a16="http://schemas.microsoft.com/office/drawing/2014/main" val="2943938818"/>
                        </a:ext>
                      </a:extLst>
                    </a:gridCol>
                    <a:gridCol w="1908000">
                      <a:extLst>
                        <a:ext uri="{9D8B030D-6E8A-4147-A177-3AD203B41FA5}">
                          <a16:colId xmlns:a16="http://schemas.microsoft.com/office/drawing/2014/main" val="4207345459"/>
                        </a:ext>
                      </a:extLst>
                    </a:gridCol>
                    <a:gridCol w="1908000">
                      <a:extLst>
                        <a:ext uri="{9D8B030D-6E8A-4147-A177-3AD203B41FA5}">
                          <a16:colId xmlns:a16="http://schemas.microsoft.com/office/drawing/2014/main" val="592218920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  <a:cs typeface="Calibri" panose="020F0502020204030204" pitchFamily="34" charset="0"/>
                            </a:rPr>
                            <a:t>Example 4 -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5 – We</a:t>
                          </a:r>
                          <a:r>
                            <a:rPr lang="en-GB" sz="1200" b="1" i="1" baseline="0" noProof="0">
                              <a:solidFill>
                                <a:schemeClr val="accent2"/>
                              </a:solidFill>
                            </a:rPr>
                            <a:t> </a:t>
                          </a: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6 – You</a:t>
                          </a:r>
                          <a:r>
                            <a:rPr lang="en-GB" sz="1200" b="1" i="1" baseline="0" noProof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53781998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baseline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1) Substitute linear equation into quadratic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6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5687" t="-3692" r="-200639" b="-161"/>
                          </a:stretch>
                        </a:blipFill>
                      </a:tcPr>
                    </a:tc>
                    <a:tc rowSpan="6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687" t="-3692" r="-100639" b="-161"/>
                          </a:stretch>
                        </a:blipFill>
                      </a:tcPr>
                    </a:tc>
                    <a:tc rowSpan="6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45687" t="-3692" r="-639" b="-1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7265822"/>
                      </a:ext>
                    </a:extLst>
                  </a:tr>
                  <a:tr h="673192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2)</a:t>
                          </a:r>
                          <a:r>
                            <a:rPr lang="en-GB" sz="1200" b="0" i="0" baseline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Expand and Simplify</a:t>
                          </a:r>
                          <a:endParaRPr lang="en-GB" sz="1200" b="0" i="0" noProof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1007270"/>
                      </a:ext>
                    </a:extLst>
                  </a:tr>
                  <a:tr h="673192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3) Rearrange</a:t>
                          </a:r>
                          <a:r>
                            <a:rPr lang="en-GB" sz="1200" b="0" i="0" baseline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to = 0</a:t>
                          </a:r>
                          <a:endParaRPr lang="en-GB" sz="1200" b="0" i="0" noProof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4996011"/>
                      </a:ext>
                    </a:extLst>
                  </a:tr>
                  <a:tr h="155448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3) Solve by</a:t>
                          </a:r>
                          <a:r>
                            <a:rPr lang="en-GB" sz="1200" b="0" i="0" baseline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either:</a:t>
                          </a:r>
                          <a:endParaRPr lang="en-GB" sz="1200" b="0" i="0" noProof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a) Factorising</a:t>
                          </a:r>
                          <a:b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</a:br>
                          <a:endParaRPr lang="en-GB" sz="1200" b="0" i="0" noProof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b) Quadratic Formula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8761373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04" t="-527206" r="-662676" b="-324265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7296716"/>
                      </a:ext>
                    </a:extLst>
                  </a:tr>
                  <a:tr h="2676976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5) Write solutions in pairs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6872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1A127D5F-D90C-7A4B-B2A7-9600D90C40CC}"/>
              </a:ext>
            </a:extLst>
          </p:cNvPr>
          <p:cNvSpPr txBox="1"/>
          <p:nvPr/>
        </p:nvSpPr>
        <p:spPr>
          <a:xfrm>
            <a:off x="153291" y="77425"/>
            <a:ext cx="1478995" cy="276999"/>
          </a:xfrm>
          <a:prstGeom prst="rect">
            <a:avLst/>
          </a:prstGeom>
          <a:solidFill>
            <a:srgbClr val="0070C0"/>
          </a:solidFill>
        </p:spPr>
        <p:txBody>
          <a:bodyPr wrap="none" rtlCol="0" anchor="ctr">
            <a:spAutoFit/>
          </a:bodyPr>
          <a:lstStyle/>
          <a:p>
            <a:pPr algn="r"/>
            <a:r>
              <a:rPr lang="en-GB" sz="1200" b="1" noProof="0" dirty="0">
                <a:solidFill>
                  <a:schemeClr val="bg1"/>
                </a:solidFill>
              </a:rPr>
              <a:t>KNOWLEDGE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45065"/>
            <a:ext cx="49823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noProof="0" dirty="0"/>
              <a:t>Expand the following: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4942298"/>
                  </p:ext>
                </p:extLst>
              </p:nvPr>
            </p:nvGraphicFramePr>
            <p:xfrm>
              <a:off x="153291" y="443324"/>
              <a:ext cx="6609852" cy="914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03284">
                      <a:extLst>
                        <a:ext uri="{9D8B030D-6E8A-4147-A177-3AD203B41FA5}">
                          <a16:colId xmlns:a16="http://schemas.microsoft.com/office/drawing/2014/main" val="203348690"/>
                        </a:ext>
                      </a:extLst>
                    </a:gridCol>
                    <a:gridCol w="2203284">
                      <a:extLst>
                        <a:ext uri="{9D8B030D-6E8A-4147-A177-3AD203B41FA5}">
                          <a16:colId xmlns:a16="http://schemas.microsoft.com/office/drawing/2014/main" val="3850439623"/>
                        </a:ext>
                      </a:extLst>
                    </a:gridCol>
                    <a:gridCol w="2203284">
                      <a:extLst>
                        <a:ext uri="{9D8B030D-6E8A-4147-A177-3AD203B41FA5}">
                          <a16:colId xmlns:a16="http://schemas.microsoft.com/office/drawing/2014/main" val="176256724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noProof="0" dirty="0"/>
                            <a:t>a)</a:t>
                          </a:r>
                          <a:r>
                            <a:rPr lang="en-GB" baseline="0" noProof="0" dirty="0"/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i="1" baseline="0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baseline="0" noProof="0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b="0" i="1" baseline="0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baseline="0" noProof="0" smtClean="0">
                                      <a:latin typeface="Cambria Math" panose="02040503050406030204" pitchFamily="18" charset="0"/>
                                    </a:rPr>
                                    <m:t>+1)</m:t>
                                  </m:r>
                                </m:e>
                                <m:sup>
                                  <m:r>
                                    <a:rPr lang="en-GB" b="0" i="1" baseline="0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noProof="0" dirty="0"/>
                        </a:p>
                        <a:p>
                          <a:pPr algn="l"/>
                          <a:endParaRPr lang="en-GB" noProof="0" dirty="0"/>
                        </a:p>
                        <a:p>
                          <a:pPr algn="l"/>
                          <a:endParaRPr lang="en-GB" noProof="0" dirty="0"/>
                        </a:p>
                        <a:p>
                          <a:pPr algn="l"/>
                          <a:endParaRPr lang="en-GB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noProof="0" dirty="0"/>
                            <a:t>b)</a:t>
                          </a:r>
                          <a:r>
                            <a:rPr lang="en-GB" baseline="0" noProof="0" dirty="0"/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i="1" baseline="0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baseline="0" noProof="0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b="0" i="1" baseline="0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baseline="0" noProof="0" smtClean="0">
                                      <a:latin typeface="Cambria Math" panose="02040503050406030204" pitchFamily="18" charset="0"/>
                                    </a:rPr>
                                    <m:t>−1)</m:t>
                                  </m:r>
                                </m:e>
                                <m:sup>
                                  <m:r>
                                    <a:rPr lang="en-GB" b="0" i="1" baseline="0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noProof="0" dirty="0"/>
                            <a:t>c)</a:t>
                          </a:r>
                          <a:r>
                            <a:rPr lang="en-GB" baseline="0" noProof="0" dirty="0"/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GB" i="1" baseline="0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baseline="0" noProof="0" smtClean="0">
                                      <a:latin typeface="Cambria Math" panose="02040503050406030204" pitchFamily="18" charset="0"/>
                                    </a:rPr>
                                    <m:t>(2</m:t>
                                  </m:r>
                                  <m:r>
                                    <a:rPr lang="en-GB" b="0" i="1" baseline="0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baseline="0" noProof="0" smtClean="0">
                                      <a:latin typeface="Cambria Math" panose="02040503050406030204" pitchFamily="18" charset="0"/>
                                    </a:rPr>
                                    <m:t>−3)</m:t>
                                  </m:r>
                                </m:e>
                                <m:sup>
                                  <m:r>
                                    <a:rPr lang="en-GB" b="0" i="1" baseline="0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GB" noProof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64704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4942298"/>
                  </p:ext>
                </p:extLst>
              </p:nvPr>
            </p:nvGraphicFramePr>
            <p:xfrm>
              <a:off x="153291" y="443324"/>
              <a:ext cx="6609852" cy="914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03284">
                      <a:extLst>
                        <a:ext uri="{9D8B030D-6E8A-4147-A177-3AD203B41FA5}">
                          <a16:colId xmlns:a16="http://schemas.microsoft.com/office/drawing/2014/main" val="203348690"/>
                        </a:ext>
                      </a:extLst>
                    </a:gridCol>
                    <a:gridCol w="2203284">
                      <a:extLst>
                        <a:ext uri="{9D8B030D-6E8A-4147-A177-3AD203B41FA5}">
                          <a16:colId xmlns:a16="http://schemas.microsoft.com/office/drawing/2014/main" val="3850439623"/>
                        </a:ext>
                      </a:extLst>
                    </a:gridCol>
                    <a:gridCol w="2203284">
                      <a:extLst>
                        <a:ext uri="{9D8B030D-6E8A-4147-A177-3AD203B41FA5}">
                          <a16:colId xmlns:a16="http://schemas.microsoft.com/office/drawing/2014/main" val="1762567242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76" t="-662" r="-200276" b="-13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554" t="-662" r="-100831" b="-13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662" r="-552" b="-13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64704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317220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11D50-34DC-CDD1-C342-1D5C3AAFA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67F611-48CB-A1EC-EACB-B6AA40E75735}"/>
                  </a:ext>
                </a:extLst>
              </p:cNvPr>
              <p:cNvSpPr txBox="1"/>
              <p:nvPr/>
            </p:nvSpPr>
            <p:spPr>
              <a:xfrm>
                <a:off x="231590" y="348088"/>
                <a:ext cx="130189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a)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120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endParaRPr lang="en-GB" sz="1200" noProof="0" dirty="0"/>
              </a:p>
              <a:p>
                <a:pPr lvl="0" algn="ctr" defTabSz="6858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GB" sz="1200" noProof="0" dirty="0"/>
              </a:p>
              <a:p>
                <a:r>
                  <a:rPr lang="en-GB" sz="1200" noProof="0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67F611-48CB-A1EC-EACB-B6AA40E75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90" y="348088"/>
                <a:ext cx="1301895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9305F03-B00B-C27F-30CD-1BFAAC365C87}"/>
                  </a:ext>
                </a:extLst>
              </p:cNvPr>
              <p:cNvSpPr txBox="1"/>
              <p:nvPr/>
            </p:nvSpPr>
            <p:spPr>
              <a:xfrm>
                <a:off x="3740776" y="348088"/>
                <a:ext cx="114480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b)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en-GB" sz="1200" i="1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sSup>
                      <m:sSupPr>
                        <m:ctrlPr>
                          <a:rPr lang="en-GB" sz="1200" i="1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p>
                        <m:r>
                          <a:rPr lang="en-GB" sz="1200" i="1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en-GB" sz="120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=4</m:t>
                    </m:r>
                  </m:oMath>
                </a14:m>
                <a:endParaRPr lang="en-GB" sz="1200" noProof="0" dirty="0">
                  <a:cs typeface="Calibri" panose="020F0502020204030204" pitchFamily="34" charset="0"/>
                </a:endParaRPr>
              </a:p>
              <a:p>
                <a:pPr lvl="0" algn="ctr" defTabSz="6858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noProof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𝑥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𝑦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−2</m:t>
                      </m:r>
                    </m:oMath>
                  </m:oMathPara>
                </a14:m>
                <a:endParaRPr lang="en-GB" sz="1200" noProof="0" dirty="0"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9305F03-B00B-C27F-30CD-1BFAAC365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0776" y="348088"/>
                <a:ext cx="1144801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F7E7743F-3403-DBA8-9F26-F0A6B89D0061}"/>
              </a:ext>
            </a:extLst>
          </p:cNvPr>
          <p:cNvSpPr/>
          <p:nvPr/>
        </p:nvSpPr>
        <p:spPr>
          <a:xfrm>
            <a:off x="238596" y="768339"/>
            <a:ext cx="3158773" cy="40091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F5BEF6-427F-8A8C-16D9-0E683995E72A}"/>
              </a:ext>
            </a:extLst>
          </p:cNvPr>
          <p:cNvSpPr/>
          <p:nvPr/>
        </p:nvSpPr>
        <p:spPr>
          <a:xfrm>
            <a:off x="3541610" y="768340"/>
            <a:ext cx="3111891" cy="40091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6CE93F-56BC-9B4A-14A4-EEA55EA9ED2E}"/>
                  </a:ext>
                </a:extLst>
              </p:cNvPr>
              <p:cNvSpPr txBox="1"/>
              <p:nvPr/>
            </p:nvSpPr>
            <p:spPr>
              <a:xfrm>
                <a:off x="230591" y="4846384"/>
                <a:ext cx="12505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c)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120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GB" sz="1200" noProof="0" dirty="0"/>
              </a:p>
              <a:p>
                <a:pPr lvl="0" algn="ctr" defTabSz="6858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6CE93F-56BC-9B4A-14A4-EEA55EA9E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591" y="4846384"/>
                <a:ext cx="125059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D211F80-E17E-0383-6372-CD35BD8DE954}"/>
                  </a:ext>
                </a:extLst>
              </p:cNvPr>
              <p:cNvSpPr txBox="1"/>
              <p:nvPr/>
            </p:nvSpPr>
            <p:spPr>
              <a:xfrm>
                <a:off x="3671651" y="4846384"/>
                <a:ext cx="12297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d)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120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endParaRPr lang="en-GB" sz="1200" noProof="0" dirty="0"/>
              </a:p>
              <a:p>
                <a:pPr lvl="0" algn="ctr" defTabSz="685800">
                  <a:defRPr/>
                </a:pPr>
                <a14:m>
                  <m:oMath xmlns:m="http://schemas.openxmlformats.org/officeDocument/2006/math"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GB" sz="1200" noProof="0" dirty="0"/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D211F80-E17E-0383-6372-CD35BD8DE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651" y="4846384"/>
                <a:ext cx="122976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1B36D56F-7EEE-ED9B-9BB5-9C9F81D613D7}"/>
              </a:ext>
            </a:extLst>
          </p:cNvPr>
          <p:cNvSpPr/>
          <p:nvPr/>
        </p:nvSpPr>
        <p:spPr>
          <a:xfrm>
            <a:off x="214533" y="5369464"/>
            <a:ext cx="3158773" cy="42033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459931-83F2-3FE2-E4DF-FA9E72B7FDF8}"/>
              </a:ext>
            </a:extLst>
          </p:cNvPr>
          <p:cNvSpPr/>
          <p:nvPr/>
        </p:nvSpPr>
        <p:spPr>
          <a:xfrm>
            <a:off x="3543418" y="5369465"/>
            <a:ext cx="3086019" cy="42033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695026-BB31-D006-443F-6D60DE99DBB2}"/>
              </a:ext>
            </a:extLst>
          </p:cNvPr>
          <p:cNvSpPr/>
          <p:nvPr/>
        </p:nvSpPr>
        <p:spPr>
          <a:xfrm>
            <a:off x="1141656" y="4395993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FC1F3E-002D-5A75-A97B-7219B1C23847}"/>
              </a:ext>
            </a:extLst>
          </p:cNvPr>
          <p:cNvSpPr/>
          <p:nvPr/>
        </p:nvSpPr>
        <p:spPr>
          <a:xfrm>
            <a:off x="1928679" y="4392875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A29CCAB-62C1-3875-AA26-4C7898106019}"/>
                  </a:ext>
                </a:extLst>
              </p:cNvPr>
              <p:cNvSpPr/>
              <p:nvPr/>
            </p:nvSpPr>
            <p:spPr>
              <a:xfrm>
                <a:off x="654421" y="4353027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A29CCAB-62C1-3875-AA26-4C78981060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21" y="4353027"/>
                <a:ext cx="1381880" cy="369332"/>
              </a:xfrm>
              <a:prstGeom prst="rect">
                <a:avLst/>
              </a:prstGeom>
              <a:blipFill>
                <a:blip r:embed="rId6"/>
                <a:stretch>
                  <a:fillRect r="-12335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C87BB643-1F79-5A5B-6B72-36B276000342}"/>
              </a:ext>
            </a:extLst>
          </p:cNvPr>
          <p:cNvSpPr/>
          <p:nvPr/>
        </p:nvSpPr>
        <p:spPr>
          <a:xfrm>
            <a:off x="5445774" y="4396729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F7F32E9-57A0-012C-3313-7E18F482FB47}"/>
              </a:ext>
            </a:extLst>
          </p:cNvPr>
          <p:cNvSpPr/>
          <p:nvPr/>
        </p:nvSpPr>
        <p:spPr>
          <a:xfrm>
            <a:off x="6232797" y="4393611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8E5D9037-79E5-FB45-E804-CB10F66A3A8E}"/>
                  </a:ext>
                </a:extLst>
              </p:cNvPr>
              <p:cNvSpPr/>
              <p:nvPr/>
            </p:nvSpPr>
            <p:spPr>
              <a:xfrm>
                <a:off x="4958539" y="4353763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8E5D9037-79E5-FB45-E804-CB10F66A3A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8539" y="4353763"/>
                <a:ext cx="1381880" cy="369332"/>
              </a:xfrm>
              <a:prstGeom prst="rect">
                <a:avLst/>
              </a:prstGeom>
              <a:blipFill>
                <a:blip r:embed="rId6"/>
                <a:stretch>
                  <a:fillRect r="-12335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38B2E7A7-EFA0-F137-110C-5FF20A0F7556}"/>
              </a:ext>
            </a:extLst>
          </p:cNvPr>
          <p:cNvSpPr/>
          <p:nvPr/>
        </p:nvSpPr>
        <p:spPr>
          <a:xfrm>
            <a:off x="1141656" y="9129668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1BF2A0B-238E-EDE5-D87A-888E6538B58F}"/>
              </a:ext>
            </a:extLst>
          </p:cNvPr>
          <p:cNvSpPr/>
          <p:nvPr/>
        </p:nvSpPr>
        <p:spPr>
          <a:xfrm>
            <a:off x="1928679" y="9126550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6E8B24B-99C7-99E0-8678-58A078A265D1}"/>
                  </a:ext>
                </a:extLst>
              </p:cNvPr>
              <p:cNvSpPr/>
              <p:nvPr/>
            </p:nvSpPr>
            <p:spPr>
              <a:xfrm>
                <a:off x="654421" y="9086702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6E8B24B-99C7-99E0-8678-58A078A265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21" y="9086702"/>
                <a:ext cx="1381880" cy="369332"/>
              </a:xfrm>
              <a:prstGeom prst="rect">
                <a:avLst/>
              </a:prstGeom>
              <a:blipFill>
                <a:blip r:embed="rId7"/>
                <a:stretch>
                  <a:fillRect r="-12335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386D2696-76D3-A421-3576-13CF2ECE9B97}"/>
              </a:ext>
            </a:extLst>
          </p:cNvPr>
          <p:cNvSpPr/>
          <p:nvPr/>
        </p:nvSpPr>
        <p:spPr>
          <a:xfrm>
            <a:off x="5445774" y="9130404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64913D4-BAC4-F889-E99C-750AD9A6B144}"/>
              </a:ext>
            </a:extLst>
          </p:cNvPr>
          <p:cNvSpPr/>
          <p:nvPr/>
        </p:nvSpPr>
        <p:spPr>
          <a:xfrm>
            <a:off x="6232797" y="9127286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680D925-C85A-D213-3548-BCD69AA653D0}"/>
                  </a:ext>
                </a:extLst>
              </p:cNvPr>
              <p:cNvSpPr/>
              <p:nvPr/>
            </p:nvSpPr>
            <p:spPr>
              <a:xfrm>
                <a:off x="4958539" y="9087438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680D925-C85A-D213-3548-BCD69AA653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8539" y="9087438"/>
                <a:ext cx="1381880" cy="369332"/>
              </a:xfrm>
              <a:prstGeom prst="rect">
                <a:avLst/>
              </a:prstGeom>
              <a:blipFill>
                <a:blip r:embed="rId7"/>
                <a:stretch>
                  <a:fillRect r="-12335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2B459F56-4A1A-1767-DE06-A589213BB44C}"/>
              </a:ext>
            </a:extLst>
          </p:cNvPr>
          <p:cNvSpPr txBox="1"/>
          <p:nvPr/>
        </p:nvSpPr>
        <p:spPr>
          <a:xfrm>
            <a:off x="1041075" y="72731"/>
            <a:ext cx="46203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noProof="0" dirty="0"/>
              <a:t>3. Solve the quadratic simultaneous equations.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A552737-B0E1-12A5-1541-84DE643F46B3}"/>
              </a:ext>
            </a:extLst>
          </p:cNvPr>
          <p:cNvSpPr/>
          <p:nvPr/>
        </p:nvSpPr>
        <p:spPr>
          <a:xfrm>
            <a:off x="1143744" y="3984723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2325D79-E6EA-9887-DD5D-880511AC5BB0}"/>
              </a:ext>
            </a:extLst>
          </p:cNvPr>
          <p:cNvSpPr/>
          <p:nvPr/>
        </p:nvSpPr>
        <p:spPr>
          <a:xfrm>
            <a:off x="1930767" y="3981605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413604F-21B0-8AA2-7283-0BC44FA51EE7}"/>
                  </a:ext>
                </a:extLst>
              </p:cNvPr>
              <p:cNvSpPr/>
              <p:nvPr/>
            </p:nvSpPr>
            <p:spPr>
              <a:xfrm>
                <a:off x="656509" y="3941757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413604F-21B0-8AA2-7283-0BC44FA51E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09" y="3941757"/>
                <a:ext cx="1381880" cy="369332"/>
              </a:xfrm>
              <a:prstGeom prst="rect">
                <a:avLst/>
              </a:prstGeom>
              <a:blipFill>
                <a:blip r:embed="rId7"/>
                <a:stretch>
                  <a:fillRect r="-12832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2DDB9053-D465-AE1F-E98C-A186B50054E4}"/>
              </a:ext>
            </a:extLst>
          </p:cNvPr>
          <p:cNvSpPr/>
          <p:nvPr/>
        </p:nvSpPr>
        <p:spPr>
          <a:xfrm>
            <a:off x="5455335" y="3997250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D684AAD-3676-6A06-7752-9C3F861F57D0}"/>
              </a:ext>
            </a:extLst>
          </p:cNvPr>
          <p:cNvSpPr/>
          <p:nvPr/>
        </p:nvSpPr>
        <p:spPr>
          <a:xfrm>
            <a:off x="6242358" y="3994132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3165D1C8-0B91-1E9B-28ED-8D29C7D507A6}"/>
                  </a:ext>
                </a:extLst>
              </p:cNvPr>
              <p:cNvSpPr/>
              <p:nvPr/>
            </p:nvSpPr>
            <p:spPr>
              <a:xfrm>
                <a:off x="4968100" y="3954284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3165D1C8-0B91-1E9B-28ED-8D29C7D507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8100" y="3954284"/>
                <a:ext cx="1381880" cy="369332"/>
              </a:xfrm>
              <a:prstGeom prst="rect">
                <a:avLst/>
              </a:prstGeom>
              <a:blipFill>
                <a:blip r:embed="rId7"/>
                <a:stretch>
                  <a:fillRect r="-12335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>
            <a:extLst>
              <a:ext uri="{FF2B5EF4-FFF2-40B4-BE49-F238E27FC236}">
                <a16:creationId xmlns:a16="http://schemas.microsoft.com/office/drawing/2014/main" id="{10F4087B-F672-6A67-D3C2-4B6EB30FAB5A}"/>
              </a:ext>
            </a:extLst>
          </p:cNvPr>
          <p:cNvSpPr/>
          <p:nvPr/>
        </p:nvSpPr>
        <p:spPr>
          <a:xfrm>
            <a:off x="1131218" y="8744603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635DB0C-49E6-57D1-5A69-8AE78A47F9FA}"/>
              </a:ext>
            </a:extLst>
          </p:cNvPr>
          <p:cNvSpPr/>
          <p:nvPr/>
        </p:nvSpPr>
        <p:spPr>
          <a:xfrm>
            <a:off x="1918241" y="8741485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55CD6E64-02A1-2B7A-72B5-56323B82CAF4}"/>
                  </a:ext>
                </a:extLst>
              </p:cNvPr>
              <p:cNvSpPr/>
              <p:nvPr/>
            </p:nvSpPr>
            <p:spPr>
              <a:xfrm>
                <a:off x="643983" y="8701637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55CD6E64-02A1-2B7A-72B5-56323B82CA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983" y="8701637"/>
                <a:ext cx="1381880" cy="369332"/>
              </a:xfrm>
              <a:prstGeom prst="rect">
                <a:avLst/>
              </a:prstGeom>
              <a:blipFill>
                <a:blip r:embed="rId6"/>
                <a:stretch>
                  <a:fillRect r="-1283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>
            <a:extLst>
              <a:ext uri="{FF2B5EF4-FFF2-40B4-BE49-F238E27FC236}">
                <a16:creationId xmlns:a16="http://schemas.microsoft.com/office/drawing/2014/main" id="{5509B9B8-08CE-8EEC-A61B-B97B80854F34}"/>
              </a:ext>
            </a:extLst>
          </p:cNvPr>
          <p:cNvSpPr/>
          <p:nvPr/>
        </p:nvSpPr>
        <p:spPr>
          <a:xfrm>
            <a:off x="5455335" y="8732078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8C67B73-A7AE-3A70-022F-16E0FBF9C91A}"/>
              </a:ext>
            </a:extLst>
          </p:cNvPr>
          <p:cNvSpPr/>
          <p:nvPr/>
        </p:nvSpPr>
        <p:spPr>
          <a:xfrm>
            <a:off x="6242358" y="8728960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1FF22E6F-26AC-DD5D-83B5-C7F6C1D5C1E2}"/>
                  </a:ext>
                </a:extLst>
              </p:cNvPr>
              <p:cNvSpPr/>
              <p:nvPr/>
            </p:nvSpPr>
            <p:spPr>
              <a:xfrm>
                <a:off x="4968100" y="8689112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1FF22E6F-26AC-DD5D-83B5-C7F6C1D5C1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8100" y="8689112"/>
                <a:ext cx="1381880" cy="369332"/>
              </a:xfrm>
              <a:prstGeom prst="rect">
                <a:avLst/>
              </a:prstGeom>
              <a:blipFill>
                <a:blip r:embed="rId6"/>
                <a:stretch>
                  <a:fillRect r="-12335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0CA3193-ABE2-D300-09FE-4A0EF4BC678D}"/>
              </a:ext>
            </a:extLst>
          </p:cNvPr>
          <p:cNvSpPr txBox="1"/>
          <p:nvPr/>
        </p:nvSpPr>
        <p:spPr>
          <a:xfrm>
            <a:off x="231424" y="87624"/>
            <a:ext cx="1560042" cy="253916"/>
          </a:xfrm>
          <a:prstGeom prst="rect">
            <a:avLst/>
          </a:prstGeom>
          <a:solidFill>
            <a:srgbClr val="0070C0"/>
          </a:solidFill>
        </p:spPr>
        <p:txBody>
          <a:bodyPr wrap="none" lIns="91440" tIns="45720" rIns="91440" bIns="45720" rtlCol="0" anchor="ctr">
            <a:spAutoFit/>
          </a:bodyPr>
          <a:lstStyle/>
          <a:p>
            <a:r>
              <a:rPr lang="en-GB" sz="1050" b="1" noProof="0" dirty="0">
                <a:solidFill>
                  <a:schemeClr val="bg1"/>
                </a:solidFill>
              </a:rPr>
              <a:t>INDEPENDENT PRACTICE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29E87F-525D-F08F-CE1F-1174C90B0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48693" y="9378597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noProof="0" smtClean="0"/>
              <a:t>38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287239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248693" y="9465681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noProof="0" smtClean="0"/>
              <a:t>39</a:t>
            </a:fld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8792548"/>
                  </p:ext>
                </p:extLst>
              </p:nvPr>
            </p:nvGraphicFramePr>
            <p:xfrm>
              <a:off x="153291" y="1600243"/>
              <a:ext cx="6644766" cy="800864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0766">
                      <a:extLst>
                        <a:ext uri="{9D8B030D-6E8A-4147-A177-3AD203B41FA5}">
                          <a16:colId xmlns:a16="http://schemas.microsoft.com/office/drawing/2014/main" val="4222859584"/>
                        </a:ext>
                      </a:extLst>
                    </a:gridCol>
                    <a:gridCol w="1908000">
                      <a:extLst>
                        <a:ext uri="{9D8B030D-6E8A-4147-A177-3AD203B41FA5}">
                          <a16:colId xmlns:a16="http://schemas.microsoft.com/office/drawing/2014/main" val="2943938818"/>
                        </a:ext>
                      </a:extLst>
                    </a:gridCol>
                    <a:gridCol w="1908000">
                      <a:extLst>
                        <a:ext uri="{9D8B030D-6E8A-4147-A177-3AD203B41FA5}">
                          <a16:colId xmlns:a16="http://schemas.microsoft.com/office/drawing/2014/main" val="4207345459"/>
                        </a:ext>
                      </a:extLst>
                    </a:gridCol>
                    <a:gridCol w="1908000">
                      <a:extLst>
                        <a:ext uri="{9D8B030D-6E8A-4147-A177-3AD203B41FA5}">
                          <a16:colId xmlns:a16="http://schemas.microsoft.com/office/drawing/2014/main" val="592218920"/>
                        </a:ext>
                      </a:extLst>
                    </a:gridCol>
                  </a:tblGrid>
                  <a:tr h="255329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FF0000"/>
                              </a:solidFill>
                              <a:cs typeface="Calibri" panose="020F0502020204030204" pitchFamily="34" charset="0"/>
                            </a:rPr>
                            <a:t>Example 7 -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Example 8 – We</a:t>
                          </a:r>
                          <a:r>
                            <a:rPr lang="en-GB" sz="1200" b="1" i="1" baseline="0" noProof="0" dirty="0">
                              <a:solidFill>
                                <a:schemeClr val="accent2"/>
                              </a:solidFill>
                            </a:rPr>
                            <a:t> </a:t>
                          </a:r>
                          <a:r>
                            <a:rPr lang="en-GB" sz="1200" b="1" i="1" noProof="0" dirty="0">
                              <a:solidFill>
                                <a:schemeClr val="accent2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Example 9 – You</a:t>
                          </a:r>
                          <a:r>
                            <a:rPr lang="en-GB" sz="1200" b="1" i="1" baseline="0" noProof="0" dirty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  <a:r>
                            <a:rPr lang="en-GB" sz="1200" b="1" i="1" noProof="0" dirty="0">
                              <a:solidFill>
                                <a:srgbClr val="00B050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53781998"/>
                      </a:ext>
                    </a:extLst>
                  </a:tr>
                  <a:tr h="1106426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1) Substitute isolated equation into the quadratic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Solve the simultaneous equations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𝑥𝑦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𝑦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=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Solve the simultaneous equations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𝑥𝑦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𝑦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=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Solve the simultaneous equations</a:t>
                          </a: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𝑥𝑦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=12</m:t>
                                </m:r>
                              </m:oMath>
                            </m:oMathPara>
                          </a14:m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𝑦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=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  <m:r>
                                  <a:rPr lang="en-GB" sz="1200" b="0" i="1" baseline="0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GB" sz="1200" b="0" i="0" baseline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7265822"/>
                      </a:ext>
                    </a:extLst>
                  </a:tr>
                  <a:tr h="598632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2)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Expand and Simplify</a:t>
                          </a: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1007270"/>
                      </a:ext>
                    </a:extLst>
                  </a:tr>
                  <a:tr h="598632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3) Rearrange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to = 0</a:t>
                          </a: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4996011"/>
                      </a:ext>
                    </a:extLst>
                  </a:tr>
                  <a:tr h="1446865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3) Solve by</a:t>
                          </a:r>
                          <a:r>
                            <a:rPr lang="en-GB" sz="1200" b="0" i="0" baseline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either:</a:t>
                          </a: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a) Factorising</a:t>
                          </a:r>
                          <a:b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</a:br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b) Quadratic Formula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8761373"/>
                      </a:ext>
                    </a:extLst>
                  </a:tr>
                  <a:tr h="765987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4) Substitute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values to find </a:t>
                          </a:r>
                          <a14:m>
                            <m:oMath xmlns:m="http://schemas.openxmlformats.org/officeDocument/2006/math">
                              <m:r>
                                <a:rPr lang="en-GB" sz="12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𝑦</m:t>
                              </m:r>
                            </m:oMath>
                          </a14:m>
                          <a:endParaRPr lang="en-GB" sz="1200" b="0" i="0" noProof="0" dirty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7296716"/>
                      </a:ext>
                    </a:extLst>
                  </a:tr>
                  <a:tr h="2888001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 dirty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5) Write solutions in pairs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6872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8792548"/>
                  </p:ext>
                </p:extLst>
              </p:nvPr>
            </p:nvGraphicFramePr>
            <p:xfrm>
              <a:off x="153291" y="1600243"/>
              <a:ext cx="6644766" cy="800864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0766">
                      <a:extLst>
                        <a:ext uri="{9D8B030D-6E8A-4147-A177-3AD203B41FA5}">
                          <a16:colId xmlns:a16="http://schemas.microsoft.com/office/drawing/2014/main" val="4222859584"/>
                        </a:ext>
                      </a:extLst>
                    </a:gridCol>
                    <a:gridCol w="1908000">
                      <a:extLst>
                        <a:ext uri="{9D8B030D-6E8A-4147-A177-3AD203B41FA5}">
                          <a16:colId xmlns:a16="http://schemas.microsoft.com/office/drawing/2014/main" val="2943938818"/>
                        </a:ext>
                      </a:extLst>
                    </a:gridCol>
                    <a:gridCol w="1908000">
                      <a:extLst>
                        <a:ext uri="{9D8B030D-6E8A-4147-A177-3AD203B41FA5}">
                          <a16:colId xmlns:a16="http://schemas.microsoft.com/office/drawing/2014/main" val="4207345459"/>
                        </a:ext>
                      </a:extLst>
                    </a:gridCol>
                    <a:gridCol w="1908000">
                      <a:extLst>
                        <a:ext uri="{9D8B030D-6E8A-4147-A177-3AD203B41FA5}">
                          <a16:colId xmlns:a16="http://schemas.microsoft.com/office/drawing/2014/main" val="592218920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Steps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FF0000"/>
                              </a:solidFill>
                              <a:cs typeface="Calibri" panose="020F0502020204030204" pitchFamily="34" charset="0"/>
                            </a:rPr>
                            <a:t>Example 7 - I 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Example 8 – We</a:t>
                          </a:r>
                          <a:r>
                            <a:rPr lang="en-GB" sz="1200" b="1" i="1" baseline="0" noProof="0">
                              <a:solidFill>
                                <a:schemeClr val="accent2"/>
                              </a:solidFill>
                            </a:rPr>
                            <a:t> </a:t>
                          </a:r>
                          <a:r>
                            <a:rPr lang="en-GB" sz="1200" b="1" i="1" noProof="0">
                              <a:solidFill>
                                <a:schemeClr val="accent2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Example 9 – You</a:t>
                          </a:r>
                          <a:r>
                            <a:rPr lang="en-GB" sz="1200" b="1" i="1" baseline="0" noProof="0">
                              <a:solidFill>
                                <a:srgbClr val="00B050"/>
                              </a:solidFill>
                            </a:rPr>
                            <a:t> </a:t>
                          </a:r>
                          <a:r>
                            <a:rPr lang="en-GB" sz="1200" b="1" i="1" noProof="0">
                              <a:solidFill>
                                <a:srgbClr val="00B050"/>
                              </a:solidFill>
                            </a:rPr>
                            <a:t>do…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53781998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baseline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1) Substitute isolated equation into the quadratic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6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8562" t="-3622" r="-200958" b="-157"/>
                          </a:stretch>
                        </a:blipFill>
                      </a:tcPr>
                    </a:tc>
                    <a:tc rowSpan="6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8089" t="-3622" r="-100318" b="-157"/>
                          </a:stretch>
                        </a:blipFill>
                      </a:tcPr>
                    </a:tc>
                    <a:tc rowSpan="6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48882" t="-3622" r="-639" b="-1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726582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2)</a:t>
                          </a:r>
                          <a:r>
                            <a:rPr lang="en-GB" sz="1200" b="0" i="0" baseline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Expand and Simplify</a:t>
                          </a:r>
                          <a:endParaRPr lang="en-GB" sz="1200" b="0" i="0" noProof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8100727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3) Rearrange</a:t>
                          </a:r>
                          <a:r>
                            <a:rPr lang="en-GB" sz="1200" b="0" i="0" baseline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to = 0</a:t>
                          </a:r>
                          <a:endParaRPr lang="en-GB" sz="1200" b="0" i="0" noProof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4996011"/>
                      </a:ext>
                    </a:extLst>
                  </a:tr>
                  <a:tr h="1554480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3) Solve by</a:t>
                          </a:r>
                          <a:r>
                            <a:rPr lang="en-GB" sz="1200" b="0" i="0" baseline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 either:</a:t>
                          </a:r>
                          <a:endParaRPr lang="en-GB" sz="1200" b="0" i="0" noProof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a) Factorising</a:t>
                          </a:r>
                          <a:b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</a:br>
                          <a:endParaRPr lang="en-GB" sz="1200" b="0" i="0" noProof="0">
                            <a:solidFill>
                              <a:schemeClr val="tx1"/>
                            </a:solidFill>
                            <a:cs typeface="Calibri" panose="020F0502020204030204" pitchFamily="34" charset="0"/>
                          </a:endParaRP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b) Quadratic Formula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8761373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62" t="-523704" r="-623841" b="-352593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7296716"/>
                      </a:ext>
                    </a:extLst>
                  </a:tr>
                  <a:tr h="2888001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b="0" i="0" noProof="0">
                              <a:solidFill>
                                <a:schemeClr val="tx1"/>
                              </a:solidFill>
                              <a:cs typeface="Calibri" panose="020F0502020204030204" pitchFamily="34" charset="0"/>
                            </a:rPr>
                            <a:t>5) Write solutions in pairs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6872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1A127D5F-D90C-7A4B-B2A7-9600D90C40CC}"/>
              </a:ext>
            </a:extLst>
          </p:cNvPr>
          <p:cNvSpPr txBox="1"/>
          <p:nvPr/>
        </p:nvSpPr>
        <p:spPr>
          <a:xfrm>
            <a:off x="148418" y="65950"/>
            <a:ext cx="1478996" cy="276999"/>
          </a:xfrm>
          <a:prstGeom prst="rect">
            <a:avLst/>
          </a:prstGeom>
          <a:solidFill>
            <a:srgbClr val="0070C0"/>
          </a:solidFill>
        </p:spPr>
        <p:txBody>
          <a:bodyPr wrap="none" rtlCol="0" anchor="ctr">
            <a:spAutoFit/>
          </a:bodyPr>
          <a:lstStyle/>
          <a:p>
            <a:pPr algn="r"/>
            <a:r>
              <a:rPr lang="en-GB" sz="1200" b="1" noProof="0" dirty="0">
                <a:solidFill>
                  <a:schemeClr val="bg1"/>
                </a:solidFill>
              </a:rPr>
              <a:t>KNOWLEDGE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90168"/>
            <a:ext cx="49823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noProof="0" dirty="0"/>
              <a:t>Expand the following: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9418485"/>
                  </p:ext>
                </p:extLst>
              </p:nvPr>
            </p:nvGraphicFramePr>
            <p:xfrm>
              <a:off x="153291" y="443324"/>
              <a:ext cx="6609852" cy="914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03284">
                      <a:extLst>
                        <a:ext uri="{9D8B030D-6E8A-4147-A177-3AD203B41FA5}">
                          <a16:colId xmlns:a16="http://schemas.microsoft.com/office/drawing/2014/main" val="203348690"/>
                        </a:ext>
                      </a:extLst>
                    </a:gridCol>
                    <a:gridCol w="2203284">
                      <a:extLst>
                        <a:ext uri="{9D8B030D-6E8A-4147-A177-3AD203B41FA5}">
                          <a16:colId xmlns:a16="http://schemas.microsoft.com/office/drawing/2014/main" val="3850439623"/>
                        </a:ext>
                      </a:extLst>
                    </a:gridCol>
                    <a:gridCol w="2203284">
                      <a:extLst>
                        <a:ext uri="{9D8B030D-6E8A-4147-A177-3AD203B41FA5}">
                          <a16:colId xmlns:a16="http://schemas.microsoft.com/office/drawing/2014/main" val="176256724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GB" noProof="0" dirty="0"/>
                            <a:t>a)</a:t>
                          </a:r>
                          <a:r>
                            <a:rPr lang="en-GB" baseline="0" noProof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b="0" i="1" baseline="0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baseline="0" noProof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b="0" i="1" baseline="0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baseline="0" noProof="0" smtClean="0"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oMath>
                          </a14:m>
                          <a:endParaRPr lang="en-GB" noProof="0" dirty="0"/>
                        </a:p>
                        <a:p>
                          <a:pPr algn="l"/>
                          <a:endParaRPr lang="en-GB" noProof="0" dirty="0"/>
                        </a:p>
                        <a:p>
                          <a:pPr algn="l"/>
                          <a:endParaRPr lang="en-GB" noProof="0" dirty="0"/>
                        </a:p>
                        <a:p>
                          <a:pPr algn="l"/>
                          <a:endParaRPr lang="en-GB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noProof="0" dirty="0"/>
                            <a:t>b)</a:t>
                          </a:r>
                          <a:r>
                            <a:rPr lang="en-GB" baseline="0" noProof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b="0" i="1" baseline="0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baseline="0" noProof="0" smtClean="0"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en-GB" b="0" i="1" baseline="0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baseline="0" noProof="0" smtClean="0"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oMath>
                          </a14:m>
                          <a:endParaRPr lang="en-GB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noProof="0" dirty="0"/>
                            <a:t>c)</a:t>
                          </a:r>
                          <a:r>
                            <a:rPr lang="en-GB" baseline="0" noProof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GB" b="0" i="0" baseline="0" noProof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GB" b="0" i="1" baseline="0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baseline="0" noProof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b="0" i="1" baseline="0" noProof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baseline="0" noProof="0" smtClean="0"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oMath>
                          </a14:m>
                          <a:endParaRPr lang="en-GB" noProof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364704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9418485"/>
                  </p:ext>
                </p:extLst>
              </p:nvPr>
            </p:nvGraphicFramePr>
            <p:xfrm>
              <a:off x="153291" y="443324"/>
              <a:ext cx="6609852" cy="9144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03284">
                      <a:extLst>
                        <a:ext uri="{9D8B030D-6E8A-4147-A177-3AD203B41FA5}">
                          <a16:colId xmlns:a16="http://schemas.microsoft.com/office/drawing/2014/main" val="203348690"/>
                        </a:ext>
                      </a:extLst>
                    </a:gridCol>
                    <a:gridCol w="2203284">
                      <a:extLst>
                        <a:ext uri="{9D8B030D-6E8A-4147-A177-3AD203B41FA5}">
                          <a16:colId xmlns:a16="http://schemas.microsoft.com/office/drawing/2014/main" val="3850439623"/>
                        </a:ext>
                      </a:extLst>
                    </a:gridCol>
                    <a:gridCol w="2203284">
                      <a:extLst>
                        <a:ext uri="{9D8B030D-6E8A-4147-A177-3AD203B41FA5}">
                          <a16:colId xmlns:a16="http://schemas.microsoft.com/office/drawing/2014/main" val="1762567242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76" t="-662" r="-200276" b="-13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554" t="-662" r="-100831" b="-13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662" r="-552" b="-13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64704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63565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AE9CB-E565-6D86-35BB-69426F7D4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67F83B9-DDA9-B65D-6940-331D615D7E26}"/>
              </a:ext>
            </a:extLst>
          </p:cNvPr>
          <p:cNvSpPr/>
          <p:nvPr/>
        </p:nvSpPr>
        <p:spPr>
          <a:xfrm>
            <a:off x="238596" y="768339"/>
            <a:ext cx="3158773" cy="40091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DD6441-0AEC-5912-8829-5675B3223333}"/>
              </a:ext>
            </a:extLst>
          </p:cNvPr>
          <p:cNvSpPr/>
          <p:nvPr/>
        </p:nvSpPr>
        <p:spPr>
          <a:xfrm>
            <a:off x="3541610" y="768340"/>
            <a:ext cx="3111891" cy="40091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0CF276-72AD-F983-61F6-005834D876B2}"/>
              </a:ext>
            </a:extLst>
          </p:cNvPr>
          <p:cNvSpPr/>
          <p:nvPr/>
        </p:nvSpPr>
        <p:spPr>
          <a:xfrm>
            <a:off x="214533" y="5369464"/>
            <a:ext cx="3158773" cy="42033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BBA0F9-39DF-E86B-67EE-70C356A10863}"/>
              </a:ext>
            </a:extLst>
          </p:cNvPr>
          <p:cNvSpPr/>
          <p:nvPr/>
        </p:nvSpPr>
        <p:spPr>
          <a:xfrm>
            <a:off x="3543418" y="5369465"/>
            <a:ext cx="3086019" cy="42033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D37FFB3-B3CC-CAEF-375D-55F5F3AE59EA}"/>
              </a:ext>
            </a:extLst>
          </p:cNvPr>
          <p:cNvSpPr/>
          <p:nvPr/>
        </p:nvSpPr>
        <p:spPr>
          <a:xfrm>
            <a:off x="1141656" y="4395993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144924-AE93-91A9-EB64-80575377FA42}"/>
              </a:ext>
            </a:extLst>
          </p:cNvPr>
          <p:cNvSpPr/>
          <p:nvPr/>
        </p:nvSpPr>
        <p:spPr>
          <a:xfrm>
            <a:off x="1928679" y="4392875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5E62133-5A4F-E111-4C1C-74A9097747BF}"/>
                  </a:ext>
                </a:extLst>
              </p:cNvPr>
              <p:cNvSpPr/>
              <p:nvPr/>
            </p:nvSpPr>
            <p:spPr>
              <a:xfrm>
                <a:off x="654421" y="4353027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5E62133-5A4F-E111-4C1C-74A9097747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21" y="4353027"/>
                <a:ext cx="1381880" cy="369332"/>
              </a:xfrm>
              <a:prstGeom prst="rect">
                <a:avLst/>
              </a:prstGeom>
              <a:blipFill>
                <a:blip r:embed="rId2"/>
                <a:stretch>
                  <a:fillRect r="-12335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D5CA899B-5185-B098-5A63-DE9CC95EF0DF}"/>
              </a:ext>
            </a:extLst>
          </p:cNvPr>
          <p:cNvSpPr/>
          <p:nvPr/>
        </p:nvSpPr>
        <p:spPr>
          <a:xfrm>
            <a:off x="5445774" y="4396729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DB0399-0C12-A8AA-CA80-9AB98FC0CF89}"/>
              </a:ext>
            </a:extLst>
          </p:cNvPr>
          <p:cNvSpPr/>
          <p:nvPr/>
        </p:nvSpPr>
        <p:spPr>
          <a:xfrm>
            <a:off x="6232797" y="4393611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BF6F3EC-149B-7279-7AC9-744A75C91A22}"/>
                  </a:ext>
                </a:extLst>
              </p:cNvPr>
              <p:cNvSpPr/>
              <p:nvPr/>
            </p:nvSpPr>
            <p:spPr>
              <a:xfrm>
                <a:off x="4958539" y="4353763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BF6F3EC-149B-7279-7AC9-744A75C91A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8539" y="4353763"/>
                <a:ext cx="1381880" cy="369332"/>
              </a:xfrm>
              <a:prstGeom prst="rect">
                <a:avLst/>
              </a:prstGeom>
              <a:blipFill>
                <a:blip r:embed="rId2"/>
                <a:stretch>
                  <a:fillRect r="-12335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E5EA5DC7-A4A1-CF3C-7E9B-9E49FD90378C}"/>
              </a:ext>
            </a:extLst>
          </p:cNvPr>
          <p:cNvSpPr/>
          <p:nvPr/>
        </p:nvSpPr>
        <p:spPr>
          <a:xfrm>
            <a:off x="1141656" y="9129668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155AF3A-DE7C-AC95-4F17-84C3E5732E2B}"/>
              </a:ext>
            </a:extLst>
          </p:cNvPr>
          <p:cNvSpPr/>
          <p:nvPr/>
        </p:nvSpPr>
        <p:spPr>
          <a:xfrm>
            <a:off x="1928679" y="9126550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A7EF4D44-6BF9-D0A3-C88A-6A3AEA600DB5}"/>
                  </a:ext>
                </a:extLst>
              </p:cNvPr>
              <p:cNvSpPr/>
              <p:nvPr/>
            </p:nvSpPr>
            <p:spPr>
              <a:xfrm>
                <a:off x="654421" y="9086702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A7EF4D44-6BF9-D0A3-C88A-6A3AEA600D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21" y="9086702"/>
                <a:ext cx="1381880" cy="369332"/>
              </a:xfrm>
              <a:prstGeom prst="rect">
                <a:avLst/>
              </a:prstGeom>
              <a:blipFill>
                <a:blip r:embed="rId3"/>
                <a:stretch>
                  <a:fillRect r="-12335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167F7318-2CED-0EE0-48CF-249ECB9DFC8E}"/>
              </a:ext>
            </a:extLst>
          </p:cNvPr>
          <p:cNvSpPr/>
          <p:nvPr/>
        </p:nvSpPr>
        <p:spPr>
          <a:xfrm>
            <a:off x="5445774" y="9130404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93DA1C5-6D5F-941D-D4E9-5DDCB89B2752}"/>
              </a:ext>
            </a:extLst>
          </p:cNvPr>
          <p:cNvSpPr/>
          <p:nvPr/>
        </p:nvSpPr>
        <p:spPr>
          <a:xfrm>
            <a:off x="6232797" y="9127286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DF0DC5C9-3856-7601-203E-BE95293EBCAC}"/>
                  </a:ext>
                </a:extLst>
              </p:cNvPr>
              <p:cNvSpPr/>
              <p:nvPr/>
            </p:nvSpPr>
            <p:spPr>
              <a:xfrm>
                <a:off x="4958539" y="9087438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DF0DC5C9-3856-7601-203E-BE95293EBC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8539" y="9087438"/>
                <a:ext cx="1381880" cy="369332"/>
              </a:xfrm>
              <a:prstGeom prst="rect">
                <a:avLst/>
              </a:prstGeom>
              <a:blipFill>
                <a:blip r:embed="rId3"/>
                <a:stretch>
                  <a:fillRect r="-12335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7C9AEDDA-6F90-DF4B-75BC-FA9BE4F69ADD}"/>
              </a:ext>
            </a:extLst>
          </p:cNvPr>
          <p:cNvSpPr txBox="1"/>
          <p:nvPr/>
        </p:nvSpPr>
        <p:spPr>
          <a:xfrm>
            <a:off x="1041075" y="72731"/>
            <a:ext cx="46203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noProof="0" dirty="0"/>
              <a:t>4. Solve the quadratic simultaneous equations.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646CAEF-D8A2-3114-68CF-9F39F03323E3}"/>
              </a:ext>
            </a:extLst>
          </p:cNvPr>
          <p:cNvSpPr/>
          <p:nvPr/>
        </p:nvSpPr>
        <p:spPr>
          <a:xfrm>
            <a:off x="1143744" y="3984723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AEC1A05-E5C6-D1F0-7858-400DA05A307B}"/>
              </a:ext>
            </a:extLst>
          </p:cNvPr>
          <p:cNvSpPr/>
          <p:nvPr/>
        </p:nvSpPr>
        <p:spPr>
          <a:xfrm>
            <a:off x="1930767" y="3981605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149F6023-FD9C-685E-0571-3B9168E1C3F2}"/>
                  </a:ext>
                </a:extLst>
              </p:cNvPr>
              <p:cNvSpPr/>
              <p:nvPr/>
            </p:nvSpPr>
            <p:spPr>
              <a:xfrm>
                <a:off x="656509" y="3941757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149F6023-FD9C-685E-0571-3B9168E1C3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09" y="3941757"/>
                <a:ext cx="1381880" cy="369332"/>
              </a:xfrm>
              <a:prstGeom prst="rect">
                <a:avLst/>
              </a:prstGeom>
              <a:blipFill>
                <a:blip r:embed="rId3"/>
                <a:stretch>
                  <a:fillRect r="-12832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5A5EB3DA-A241-ACB0-770C-046A651CF2E4}"/>
              </a:ext>
            </a:extLst>
          </p:cNvPr>
          <p:cNvSpPr/>
          <p:nvPr/>
        </p:nvSpPr>
        <p:spPr>
          <a:xfrm>
            <a:off x="5455335" y="3997250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3F03823-5725-1B54-E687-DB759BF10F47}"/>
              </a:ext>
            </a:extLst>
          </p:cNvPr>
          <p:cNvSpPr/>
          <p:nvPr/>
        </p:nvSpPr>
        <p:spPr>
          <a:xfrm>
            <a:off x="6242358" y="3994132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8149BA3D-9FD5-DC88-53C9-4A3345A29286}"/>
                  </a:ext>
                </a:extLst>
              </p:cNvPr>
              <p:cNvSpPr/>
              <p:nvPr/>
            </p:nvSpPr>
            <p:spPr>
              <a:xfrm>
                <a:off x="4968100" y="3954284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8149BA3D-9FD5-DC88-53C9-4A3345A292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8100" y="3954284"/>
                <a:ext cx="1381880" cy="369332"/>
              </a:xfrm>
              <a:prstGeom prst="rect">
                <a:avLst/>
              </a:prstGeom>
              <a:blipFill>
                <a:blip r:embed="rId3"/>
                <a:stretch>
                  <a:fillRect r="-12335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>
            <a:extLst>
              <a:ext uri="{FF2B5EF4-FFF2-40B4-BE49-F238E27FC236}">
                <a16:creationId xmlns:a16="http://schemas.microsoft.com/office/drawing/2014/main" id="{0CF02E3F-36DE-BE59-A0B9-3901AF644C6A}"/>
              </a:ext>
            </a:extLst>
          </p:cNvPr>
          <p:cNvSpPr/>
          <p:nvPr/>
        </p:nvSpPr>
        <p:spPr>
          <a:xfrm>
            <a:off x="1131218" y="8744603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549FEB3-3611-9ADE-3749-5E7CCA6C712A}"/>
              </a:ext>
            </a:extLst>
          </p:cNvPr>
          <p:cNvSpPr/>
          <p:nvPr/>
        </p:nvSpPr>
        <p:spPr>
          <a:xfrm>
            <a:off x="1918241" y="8741485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6BB725CA-9874-7836-61B9-10B762A6F0B1}"/>
                  </a:ext>
                </a:extLst>
              </p:cNvPr>
              <p:cNvSpPr/>
              <p:nvPr/>
            </p:nvSpPr>
            <p:spPr>
              <a:xfrm>
                <a:off x="643983" y="8701637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6BB725CA-9874-7836-61B9-10B762A6F0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983" y="8701637"/>
                <a:ext cx="1381880" cy="369332"/>
              </a:xfrm>
              <a:prstGeom prst="rect">
                <a:avLst/>
              </a:prstGeom>
              <a:blipFill>
                <a:blip r:embed="rId2"/>
                <a:stretch>
                  <a:fillRect r="-1283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>
            <a:extLst>
              <a:ext uri="{FF2B5EF4-FFF2-40B4-BE49-F238E27FC236}">
                <a16:creationId xmlns:a16="http://schemas.microsoft.com/office/drawing/2014/main" id="{0A6A1A5B-52BF-43A6-0631-24064444742D}"/>
              </a:ext>
            </a:extLst>
          </p:cNvPr>
          <p:cNvSpPr/>
          <p:nvPr/>
        </p:nvSpPr>
        <p:spPr>
          <a:xfrm>
            <a:off x="5455335" y="8732078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873B71A-7F34-EA5B-C977-8E55014FE828}"/>
              </a:ext>
            </a:extLst>
          </p:cNvPr>
          <p:cNvSpPr/>
          <p:nvPr/>
        </p:nvSpPr>
        <p:spPr>
          <a:xfrm>
            <a:off x="6242358" y="8728960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EED9F65E-35E9-C97F-1B91-49F6691AA091}"/>
                  </a:ext>
                </a:extLst>
              </p:cNvPr>
              <p:cNvSpPr/>
              <p:nvPr/>
            </p:nvSpPr>
            <p:spPr>
              <a:xfrm>
                <a:off x="4968100" y="8689112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EED9F65E-35E9-C97F-1B91-49F6691AA0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8100" y="8689112"/>
                <a:ext cx="1381880" cy="369332"/>
              </a:xfrm>
              <a:prstGeom prst="rect">
                <a:avLst/>
              </a:prstGeom>
              <a:blipFill>
                <a:blip r:embed="rId2"/>
                <a:stretch>
                  <a:fillRect r="-12335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8DF853E-BFB1-32F3-6C9A-EB0470A3332E}"/>
              </a:ext>
            </a:extLst>
          </p:cNvPr>
          <p:cNvSpPr txBox="1"/>
          <p:nvPr/>
        </p:nvSpPr>
        <p:spPr>
          <a:xfrm>
            <a:off x="231424" y="87624"/>
            <a:ext cx="1560042" cy="253916"/>
          </a:xfrm>
          <a:prstGeom prst="rect">
            <a:avLst/>
          </a:prstGeom>
          <a:solidFill>
            <a:srgbClr val="0070C0"/>
          </a:solidFill>
        </p:spPr>
        <p:txBody>
          <a:bodyPr wrap="none" lIns="91440" tIns="45720" rIns="91440" bIns="45720" rtlCol="0" anchor="ctr">
            <a:spAutoFit/>
          </a:bodyPr>
          <a:lstStyle/>
          <a:p>
            <a:r>
              <a:rPr lang="en-GB" sz="1050" b="1" noProof="0" dirty="0">
                <a:solidFill>
                  <a:schemeClr val="bg1"/>
                </a:solidFill>
              </a:rPr>
              <a:t>INDEPENDENT PRACTICE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73B0AF-EE02-3DC8-727A-A69D42064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48693" y="9378597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noProof="0" smtClean="0"/>
              <a:t>40</a:t>
            </a:fld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67983" y="340723"/>
                <a:ext cx="8912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a)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endParaRPr lang="en-GB" sz="1200" b="0" noProof="0" dirty="0"/>
              </a:p>
              <a:p>
                <a:pPr lvl="0" algn="ctr" defTabSz="6858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83" y="340723"/>
                <a:ext cx="891206" cy="461665"/>
              </a:xfrm>
              <a:prstGeom prst="rect">
                <a:avLst/>
              </a:prstGeom>
              <a:blipFill>
                <a:blip r:embed="rId4"/>
                <a:stretch>
                  <a:fillRect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506020" y="340722"/>
                <a:ext cx="89441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b)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endParaRPr lang="en-GB" sz="1200" b="0" noProof="0" dirty="0">
                  <a:cs typeface="Calibri" panose="020F0502020204030204" pitchFamily="34" charset="0"/>
                </a:endParaRPr>
              </a:p>
              <a:p>
                <a:pPr lvl="0" algn="ctr" defTabSz="6858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6020" y="340722"/>
                <a:ext cx="894412" cy="461665"/>
              </a:xfrm>
              <a:prstGeom prst="rect">
                <a:avLst/>
              </a:prstGeom>
              <a:blipFill>
                <a:blip r:embed="rId5"/>
                <a:stretch>
                  <a:fillRect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55259" y="4820096"/>
                <a:ext cx="88639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c)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endParaRPr lang="en-GB" sz="1200" b="0" noProof="0" dirty="0"/>
              </a:p>
              <a:p>
                <a:pPr lvl="0" algn="ctr" defTabSz="6858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+4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59" y="4820096"/>
                <a:ext cx="886397" cy="461665"/>
              </a:xfrm>
              <a:prstGeom prst="rect">
                <a:avLst/>
              </a:prstGeom>
              <a:blipFill>
                <a:blip r:embed="rId6"/>
                <a:stretch>
                  <a:fillRect t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3541610" y="4889105"/>
                <a:ext cx="95019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d)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endParaRPr lang="en-GB" sz="1200" b="0" noProof="0" dirty="0"/>
              </a:p>
              <a:p>
                <a:pPr lvl="0" algn="ctr" defTabSz="6858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GB" sz="1200" b="0" noProof="0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1610" y="4889105"/>
                <a:ext cx="950197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40281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DF8DA-7172-2870-0836-EC3BA636C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9909485-46B2-9233-442D-1C64580321E5}"/>
              </a:ext>
            </a:extLst>
          </p:cNvPr>
          <p:cNvSpPr/>
          <p:nvPr/>
        </p:nvSpPr>
        <p:spPr>
          <a:xfrm>
            <a:off x="238596" y="574166"/>
            <a:ext cx="3158773" cy="42033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FCEA66-4056-69B3-D671-30AA3D91681B}"/>
              </a:ext>
            </a:extLst>
          </p:cNvPr>
          <p:cNvSpPr/>
          <p:nvPr/>
        </p:nvSpPr>
        <p:spPr>
          <a:xfrm>
            <a:off x="3541610" y="574167"/>
            <a:ext cx="3111891" cy="42033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4F1F7B-717D-8C61-8D35-99062B3F40D8}"/>
              </a:ext>
            </a:extLst>
          </p:cNvPr>
          <p:cNvSpPr/>
          <p:nvPr/>
        </p:nvSpPr>
        <p:spPr>
          <a:xfrm>
            <a:off x="214533" y="5369464"/>
            <a:ext cx="3158773" cy="42033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3EA5B1-D044-0C79-6F18-29F75DF962BC}"/>
              </a:ext>
            </a:extLst>
          </p:cNvPr>
          <p:cNvSpPr/>
          <p:nvPr/>
        </p:nvSpPr>
        <p:spPr>
          <a:xfrm>
            <a:off x="3543418" y="5369465"/>
            <a:ext cx="3086019" cy="42033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4A63CB-61CF-D593-7247-6F0FD184CFF9}"/>
              </a:ext>
            </a:extLst>
          </p:cNvPr>
          <p:cNvSpPr/>
          <p:nvPr/>
        </p:nvSpPr>
        <p:spPr>
          <a:xfrm>
            <a:off x="1141656" y="4395993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0CCDE8-B32E-0D24-27EB-0D934C93CE2E}"/>
              </a:ext>
            </a:extLst>
          </p:cNvPr>
          <p:cNvSpPr/>
          <p:nvPr/>
        </p:nvSpPr>
        <p:spPr>
          <a:xfrm>
            <a:off x="1928679" y="4392875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AF794A66-8A20-4DE5-E15E-897CFC46D6C3}"/>
                  </a:ext>
                </a:extLst>
              </p:cNvPr>
              <p:cNvSpPr/>
              <p:nvPr/>
            </p:nvSpPr>
            <p:spPr>
              <a:xfrm>
                <a:off x="654421" y="4353027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AF794A66-8A20-4DE5-E15E-897CFC46D6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21" y="4353027"/>
                <a:ext cx="1381880" cy="369332"/>
              </a:xfrm>
              <a:prstGeom prst="rect">
                <a:avLst/>
              </a:prstGeom>
              <a:blipFill>
                <a:blip r:embed="rId2"/>
                <a:stretch>
                  <a:fillRect r="-12335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796F8A53-A35A-8E24-8188-CB65C0EF7BE5}"/>
              </a:ext>
            </a:extLst>
          </p:cNvPr>
          <p:cNvSpPr/>
          <p:nvPr/>
        </p:nvSpPr>
        <p:spPr>
          <a:xfrm>
            <a:off x="5445774" y="4396729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EEF05E-AF73-D95D-DD68-00D86C296F09}"/>
              </a:ext>
            </a:extLst>
          </p:cNvPr>
          <p:cNvSpPr/>
          <p:nvPr/>
        </p:nvSpPr>
        <p:spPr>
          <a:xfrm>
            <a:off x="6232797" y="4393611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8AB4BBE8-653C-F905-122E-6591C2056EFA}"/>
                  </a:ext>
                </a:extLst>
              </p:cNvPr>
              <p:cNvSpPr/>
              <p:nvPr/>
            </p:nvSpPr>
            <p:spPr>
              <a:xfrm>
                <a:off x="4958539" y="4353763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8AB4BBE8-653C-F905-122E-6591C2056E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8539" y="4353763"/>
                <a:ext cx="1381880" cy="369332"/>
              </a:xfrm>
              <a:prstGeom prst="rect">
                <a:avLst/>
              </a:prstGeom>
              <a:blipFill>
                <a:blip r:embed="rId2"/>
                <a:stretch>
                  <a:fillRect r="-12335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A8908DFF-A4AA-C424-A10B-D690C854D8EE}"/>
              </a:ext>
            </a:extLst>
          </p:cNvPr>
          <p:cNvSpPr/>
          <p:nvPr/>
        </p:nvSpPr>
        <p:spPr>
          <a:xfrm>
            <a:off x="1141656" y="9129668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3468ED3-3535-89B8-E23D-B7CE60551D15}"/>
              </a:ext>
            </a:extLst>
          </p:cNvPr>
          <p:cNvSpPr/>
          <p:nvPr/>
        </p:nvSpPr>
        <p:spPr>
          <a:xfrm>
            <a:off x="1928679" y="9126550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EC73212-F8F8-DD65-E014-8F0BD25DC111}"/>
                  </a:ext>
                </a:extLst>
              </p:cNvPr>
              <p:cNvSpPr/>
              <p:nvPr/>
            </p:nvSpPr>
            <p:spPr>
              <a:xfrm>
                <a:off x="654421" y="9086702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EC73212-F8F8-DD65-E014-8F0BD25DC1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21" y="9086702"/>
                <a:ext cx="1381880" cy="369332"/>
              </a:xfrm>
              <a:prstGeom prst="rect">
                <a:avLst/>
              </a:prstGeom>
              <a:blipFill>
                <a:blip r:embed="rId3"/>
                <a:stretch>
                  <a:fillRect r="-12335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DE386EC6-F7EE-DCC0-10FB-5775EC5133EF}"/>
              </a:ext>
            </a:extLst>
          </p:cNvPr>
          <p:cNvSpPr/>
          <p:nvPr/>
        </p:nvSpPr>
        <p:spPr>
          <a:xfrm>
            <a:off x="5445774" y="9130404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8F39C9A-7D57-1A93-E0EC-FD896FA3AE54}"/>
              </a:ext>
            </a:extLst>
          </p:cNvPr>
          <p:cNvSpPr/>
          <p:nvPr/>
        </p:nvSpPr>
        <p:spPr>
          <a:xfrm>
            <a:off x="6232797" y="9127286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5530A2D-D4D8-E70B-1DCD-F8A38A8814AF}"/>
                  </a:ext>
                </a:extLst>
              </p:cNvPr>
              <p:cNvSpPr/>
              <p:nvPr/>
            </p:nvSpPr>
            <p:spPr>
              <a:xfrm>
                <a:off x="4958539" y="9087438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5530A2D-D4D8-E70B-1DCD-F8A38A8814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8539" y="9087438"/>
                <a:ext cx="1381880" cy="369332"/>
              </a:xfrm>
              <a:prstGeom prst="rect">
                <a:avLst/>
              </a:prstGeom>
              <a:blipFill>
                <a:blip r:embed="rId3"/>
                <a:stretch>
                  <a:fillRect r="-12335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DD14BE83-B27F-6C6F-F2FA-D9A36BEABD39}"/>
              </a:ext>
            </a:extLst>
          </p:cNvPr>
          <p:cNvSpPr/>
          <p:nvPr/>
        </p:nvSpPr>
        <p:spPr>
          <a:xfrm>
            <a:off x="1143744" y="3984723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FEC21A9-6A0E-7323-0B68-9C306A958B6B}"/>
              </a:ext>
            </a:extLst>
          </p:cNvPr>
          <p:cNvSpPr/>
          <p:nvPr/>
        </p:nvSpPr>
        <p:spPr>
          <a:xfrm>
            <a:off x="1930767" y="3981605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27CAEEA-F5E6-2E97-0706-539F95B5FC6F}"/>
                  </a:ext>
                </a:extLst>
              </p:cNvPr>
              <p:cNvSpPr/>
              <p:nvPr/>
            </p:nvSpPr>
            <p:spPr>
              <a:xfrm>
                <a:off x="656509" y="3941757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27CAEEA-F5E6-2E97-0706-539F95B5FC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09" y="3941757"/>
                <a:ext cx="1381880" cy="369332"/>
              </a:xfrm>
              <a:prstGeom prst="rect">
                <a:avLst/>
              </a:prstGeom>
              <a:blipFill>
                <a:blip r:embed="rId3"/>
                <a:stretch>
                  <a:fillRect r="-12832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589E3B4F-8815-61DF-E7C3-5C8007C62241}"/>
              </a:ext>
            </a:extLst>
          </p:cNvPr>
          <p:cNvSpPr/>
          <p:nvPr/>
        </p:nvSpPr>
        <p:spPr>
          <a:xfrm>
            <a:off x="5455335" y="3997250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3DD2624-3CFE-F61D-7667-E89D19BE4C8F}"/>
              </a:ext>
            </a:extLst>
          </p:cNvPr>
          <p:cNvSpPr/>
          <p:nvPr/>
        </p:nvSpPr>
        <p:spPr>
          <a:xfrm>
            <a:off x="6242358" y="3994132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6D8F0AF7-1271-070E-A10E-2CC845D9B83C}"/>
                  </a:ext>
                </a:extLst>
              </p:cNvPr>
              <p:cNvSpPr/>
              <p:nvPr/>
            </p:nvSpPr>
            <p:spPr>
              <a:xfrm>
                <a:off x="4968100" y="3954284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6D8F0AF7-1271-070E-A10E-2CC845D9B8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8100" y="3954284"/>
                <a:ext cx="1381880" cy="369332"/>
              </a:xfrm>
              <a:prstGeom prst="rect">
                <a:avLst/>
              </a:prstGeom>
              <a:blipFill>
                <a:blip r:embed="rId3"/>
                <a:stretch>
                  <a:fillRect r="-12335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>
            <a:extLst>
              <a:ext uri="{FF2B5EF4-FFF2-40B4-BE49-F238E27FC236}">
                <a16:creationId xmlns:a16="http://schemas.microsoft.com/office/drawing/2014/main" id="{5595F79F-61E1-4D59-38FD-003A5053BAA2}"/>
              </a:ext>
            </a:extLst>
          </p:cNvPr>
          <p:cNvSpPr/>
          <p:nvPr/>
        </p:nvSpPr>
        <p:spPr>
          <a:xfrm>
            <a:off x="1131218" y="8744603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0B49EAD-9B1E-A091-4315-2D476B71D691}"/>
              </a:ext>
            </a:extLst>
          </p:cNvPr>
          <p:cNvSpPr/>
          <p:nvPr/>
        </p:nvSpPr>
        <p:spPr>
          <a:xfrm>
            <a:off x="1918241" y="8741485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A9C764C-A6A5-2A07-F060-5875B09F4535}"/>
                  </a:ext>
                </a:extLst>
              </p:cNvPr>
              <p:cNvSpPr/>
              <p:nvPr/>
            </p:nvSpPr>
            <p:spPr>
              <a:xfrm>
                <a:off x="643983" y="8701637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A9C764C-A6A5-2A07-F060-5875B09F45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983" y="8701637"/>
                <a:ext cx="1381880" cy="369332"/>
              </a:xfrm>
              <a:prstGeom prst="rect">
                <a:avLst/>
              </a:prstGeom>
              <a:blipFill>
                <a:blip r:embed="rId2"/>
                <a:stretch>
                  <a:fillRect r="-1283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>
            <a:extLst>
              <a:ext uri="{FF2B5EF4-FFF2-40B4-BE49-F238E27FC236}">
                <a16:creationId xmlns:a16="http://schemas.microsoft.com/office/drawing/2014/main" id="{484354B6-13F3-CDEB-35C8-AF65370693F5}"/>
              </a:ext>
            </a:extLst>
          </p:cNvPr>
          <p:cNvSpPr/>
          <p:nvPr/>
        </p:nvSpPr>
        <p:spPr>
          <a:xfrm>
            <a:off x="5455335" y="8732078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5BF7E23-02F0-4911-070F-BCE2E6051F26}"/>
              </a:ext>
            </a:extLst>
          </p:cNvPr>
          <p:cNvSpPr/>
          <p:nvPr/>
        </p:nvSpPr>
        <p:spPr>
          <a:xfrm>
            <a:off x="6242358" y="8728960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1D525C5A-8154-D016-F6AA-2340774DBB49}"/>
                  </a:ext>
                </a:extLst>
              </p:cNvPr>
              <p:cNvSpPr/>
              <p:nvPr/>
            </p:nvSpPr>
            <p:spPr>
              <a:xfrm>
                <a:off x="4968100" y="8689112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1D525C5A-8154-D016-F6AA-2340774DBB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8100" y="8689112"/>
                <a:ext cx="1381880" cy="369332"/>
              </a:xfrm>
              <a:prstGeom prst="rect">
                <a:avLst/>
              </a:prstGeom>
              <a:blipFill>
                <a:blip r:embed="rId2"/>
                <a:stretch>
                  <a:fillRect r="-12335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D479D7-417F-07F5-FFBD-A8ACE1148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48693" y="9393111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noProof="0" smtClean="0"/>
              <a:t>41</a:t>
            </a:fld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1918241" y="81987"/>
                <a:ext cx="11858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a)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   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=24</m:t>
                    </m:r>
                  </m:oMath>
                </a14:m>
                <a:endParaRPr lang="en-GB" sz="1200" b="0" noProof="0" dirty="0">
                  <a:cs typeface="Calibri" panose="020F0502020204030204" pitchFamily="34" charset="0"/>
                </a:endParaRPr>
              </a:p>
              <a:p>
                <a:pPr lvl="0" algn="ctr" defTabSz="6858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8241" y="81987"/>
                <a:ext cx="1185837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3634809" y="98525"/>
                <a:ext cx="12318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b) 	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endParaRPr lang="en-GB" sz="1200" b="0" noProof="0" dirty="0"/>
              </a:p>
              <a:p>
                <a:pPr lvl="0" algn="ctr" defTabSz="6858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        2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GB" sz="1200" b="0" noProof="0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4809" y="98525"/>
                <a:ext cx="1231876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7532" y="4818805"/>
                <a:ext cx="12323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c)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endParaRPr lang="en-GB" sz="1200" b="0" noProof="0" dirty="0"/>
              </a:p>
              <a:p>
                <a:pPr lvl="0" algn="ctr" defTabSz="685800">
                  <a:defRPr/>
                </a:pPr>
                <a:r>
                  <a:rPr lang="en-GB" sz="1200" b="0" noProof="0" dirty="0"/>
                  <a:t>        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−5</m:t>
                    </m:r>
                  </m:oMath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2" y="4818805"/>
                <a:ext cx="1232325" cy="461665"/>
              </a:xfrm>
              <a:prstGeom prst="rect">
                <a:avLst/>
              </a:prstGeom>
              <a:blipFill>
                <a:blip r:embed="rId6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41610" y="4846384"/>
                <a:ext cx="9733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d)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endParaRPr lang="en-GB" sz="1200" b="0" noProof="0" dirty="0">
                  <a:cs typeface="Calibri" panose="020F0502020204030204" pitchFamily="34" charset="0"/>
                </a:endParaRPr>
              </a:p>
              <a:p>
                <a:pPr lvl="0" algn="ctr" defTabSz="6858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1610" y="4846384"/>
                <a:ext cx="973344" cy="461665"/>
              </a:xfrm>
              <a:prstGeom prst="rect">
                <a:avLst/>
              </a:prstGeom>
              <a:blipFill>
                <a:blip r:embed="rId7"/>
                <a:stretch>
                  <a:fillRect l="-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E95E2EA-00C9-311F-1D1F-731EB66C379A}"/>
              </a:ext>
            </a:extLst>
          </p:cNvPr>
          <p:cNvSpPr txBox="1"/>
          <p:nvPr/>
        </p:nvSpPr>
        <p:spPr>
          <a:xfrm>
            <a:off x="231424" y="87624"/>
            <a:ext cx="1130438" cy="253916"/>
          </a:xfrm>
          <a:prstGeom prst="rect">
            <a:avLst/>
          </a:prstGeom>
          <a:solidFill>
            <a:srgbClr val="0070C0"/>
          </a:solidFill>
        </p:spPr>
        <p:txBody>
          <a:bodyPr wrap="none" lIns="91440" tIns="45720" rIns="91440" bIns="45720" rtlCol="0" anchor="ctr">
            <a:spAutoFit/>
          </a:bodyPr>
          <a:lstStyle/>
          <a:p>
            <a:r>
              <a:rPr lang="en-GB" sz="1050" b="1" noProof="0" dirty="0">
                <a:solidFill>
                  <a:schemeClr val="bg1"/>
                </a:solidFill>
              </a:rPr>
              <a:t>MIXED PRACTICE</a:t>
            </a:r>
          </a:p>
        </p:txBody>
      </p:sp>
    </p:spTree>
    <p:extLst>
      <p:ext uri="{BB962C8B-B14F-4D97-AF65-F5344CB8AC3E}">
        <p14:creationId xmlns:p14="http://schemas.microsoft.com/office/powerpoint/2010/main" val="22190298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D85DE-D963-CCC1-A7FE-9D4EC1ABB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6F4ABD4-7637-9C9F-48CE-89A0D4AAC579}"/>
                  </a:ext>
                </a:extLst>
              </p:cNvPr>
              <p:cNvSpPr txBox="1"/>
              <p:nvPr/>
            </p:nvSpPr>
            <p:spPr>
              <a:xfrm>
                <a:off x="235597" y="68688"/>
                <a:ext cx="12938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e)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sSup>
                      <m:sSup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en-GB" sz="1200" b="0" i="1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sSup>
                      <m:sSup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p>
                        <m:r>
                          <a:rPr lang="en-GB" sz="1200" b="0" i="1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en-GB" sz="1200" b="0" i="1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=25</m:t>
                    </m:r>
                  </m:oMath>
                </a14:m>
                <a:endParaRPr lang="en-GB" sz="1200" b="0" noProof="0" dirty="0">
                  <a:cs typeface="Calibri" panose="020F0502020204030204" pitchFamily="34" charset="0"/>
                </a:endParaRPr>
              </a:p>
              <a:p>
                <a:pPr lvl="0" algn="ctr" defTabSz="6858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6F4ABD4-7637-9C9F-48CE-89A0D4AAC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97" y="68688"/>
                <a:ext cx="1293880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4223AE7-2C5E-C059-9995-EBD49E0BAFEF}"/>
                  </a:ext>
                </a:extLst>
              </p:cNvPr>
              <p:cNvSpPr txBox="1"/>
              <p:nvPr/>
            </p:nvSpPr>
            <p:spPr>
              <a:xfrm>
                <a:off x="3671526" y="68688"/>
                <a:ext cx="12833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f)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120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=17</m:t>
                    </m:r>
                  </m:oMath>
                </a14:m>
                <a:endParaRPr lang="en-GB" sz="1200" noProof="0" dirty="0"/>
              </a:p>
              <a:p>
                <a:pPr lvl="0" algn="ctr" defTabSz="6858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4223AE7-2C5E-C059-9995-EBD49E0BA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526" y="68688"/>
                <a:ext cx="128330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6676D06D-4236-AE10-A29E-1924B13FC4D9}"/>
              </a:ext>
            </a:extLst>
          </p:cNvPr>
          <p:cNvSpPr/>
          <p:nvPr/>
        </p:nvSpPr>
        <p:spPr>
          <a:xfrm>
            <a:off x="238596" y="574166"/>
            <a:ext cx="3158773" cy="42033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8F84F2-6951-2EA1-A73C-F10EF64A94EE}"/>
              </a:ext>
            </a:extLst>
          </p:cNvPr>
          <p:cNvSpPr/>
          <p:nvPr/>
        </p:nvSpPr>
        <p:spPr>
          <a:xfrm>
            <a:off x="3541610" y="574167"/>
            <a:ext cx="3111891" cy="42033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F55696-5718-CB77-2253-C0760CF7DAB5}"/>
                  </a:ext>
                </a:extLst>
              </p:cNvPr>
              <p:cNvSpPr txBox="1"/>
              <p:nvPr/>
            </p:nvSpPr>
            <p:spPr>
              <a:xfrm>
                <a:off x="194332" y="4846384"/>
                <a:ext cx="13231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g)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GB" sz="1200" b="0" noProof="0" dirty="0"/>
              </a:p>
              <a:p>
                <a:pPr algn="ctr" defTabSz="6858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0" noProof="0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0" noProof="0" smtClean="0"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F55696-5718-CB77-2253-C0760CF7D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32" y="4846384"/>
                <a:ext cx="132311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E8A6B0C-37B5-F075-1647-44DD3A9527CC}"/>
                  </a:ext>
                </a:extLst>
              </p:cNvPr>
              <p:cNvSpPr txBox="1"/>
              <p:nvPr/>
            </p:nvSpPr>
            <p:spPr>
              <a:xfrm>
                <a:off x="3618717" y="4846384"/>
                <a:ext cx="133562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h) 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sSup>
                      <m:sSupPr>
                        <m:ctrlPr>
                          <a:rPr lang="en-GB" sz="120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i="1" noProof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0" noProof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GB" sz="1200" b="0" i="0" noProof="0" smtClean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en-GB" sz="1200" b="0" i="0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b="0" i="0" noProof="0" smtClean="0">
                        <a:latin typeface="Cambria Math" panose="02040503050406030204" pitchFamily="18" charset="0"/>
                      </a:rPr>
                      <m:t>=11</m:t>
                    </m:r>
                  </m:oMath>
                </a14:m>
                <a:endParaRPr lang="en-GB" sz="1200" noProof="0" dirty="0"/>
              </a:p>
              <a:p>
                <a:pPr algn="ctr" defTabSz="6858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noProof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=5−2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200" noProof="0" dirty="0"/>
              </a:p>
              <a:p>
                <a:endParaRPr lang="en-GB" sz="1200" noProof="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E8A6B0C-37B5-F075-1647-44DD3A952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8717" y="4846384"/>
                <a:ext cx="1335622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254221EC-44B0-A528-8F86-B3281DD6A676}"/>
              </a:ext>
            </a:extLst>
          </p:cNvPr>
          <p:cNvSpPr/>
          <p:nvPr/>
        </p:nvSpPr>
        <p:spPr>
          <a:xfrm>
            <a:off x="214533" y="5369464"/>
            <a:ext cx="3158773" cy="42033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55CA5E-1647-3B8C-DF56-C019F956CE8A}"/>
              </a:ext>
            </a:extLst>
          </p:cNvPr>
          <p:cNvSpPr/>
          <p:nvPr/>
        </p:nvSpPr>
        <p:spPr>
          <a:xfrm>
            <a:off x="3543418" y="5369465"/>
            <a:ext cx="3086019" cy="42033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4C5F2D-17E6-3873-3D12-FC4727B17F2E}"/>
              </a:ext>
            </a:extLst>
          </p:cNvPr>
          <p:cNvSpPr/>
          <p:nvPr/>
        </p:nvSpPr>
        <p:spPr>
          <a:xfrm>
            <a:off x="1141656" y="4395993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B84042-1FDE-1436-80C9-91E6F8A8DA84}"/>
              </a:ext>
            </a:extLst>
          </p:cNvPr>
          <p:cNvSpPr/>
          <p:nvPr/>
        </p:nvSpPr>
        <p:spPr>
          <a:xfrm>
            <a:off x="1928679" y="4392875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C44AB20-E15F-0935-C41C-680E1B63E1D7}"/>
                  </a:ext>
                </a:extLst>
              </p:cNvPr>
              <p:cNvSpPr/>
              <p:nvPr/>
            </p:nvSpPr>
            <p:spPr>
              <a:xfrm>
                <a:off x="654421" y="4353027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C44AB20-E15F-0935-C41C-680E1B63E1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21" y="4353027"/>
                <a:ext cx="1381880" cy="369332"/>
              </a:xfrm>
              <a:prstGeom prst="rect">
                <a:avLst/>
              </a:prstGeom>
              <a:blipFill>
                <a:blip r:embed="rId6"/>
                <a:stretch>
                  <a:fillRect r="-12335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E425F17F-88D0-609C-9984-01B1ECEC643F}"/>
              </a:ext>
            </a:extLst>
          </p:cNvPr>
          <p:cNvSpPr/>
          <p:nvPr/>
        </p:nvSpPr>
        <p:spPr>
          <a:xfrm>
            <a:off x="5445774" y="4396729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614DB04-491C-BA77-19E2-FB48E53BB640}"/>
              </a:ext>
            </a:extLst>
          </p:cNvPr>
          <p:cNvSpPr/>
          <p:nvPr/>
        </p:nvSpPr>
        <p:spPr>
          <a:xfrm>
            <a:off x="6232797" y="4393611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50BC0A6-FCC6-AE93-D4E1-3278F22AA076}"/>
                  </a:ext>
                </a:extLst>
              </p:cNvPr>
              <p:cNvSpPr/>
              <p:nvPr/>
            </p:nvSpPr>
            <p:spPr>
              <a:xfrm>
                <a:off x="4958539" y="4353763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50BC0A6-FCC6-AE93-D4E1-3278F22AA0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8539" y="4353763"/>
                <a:ext cx="1381880" cy="369332"/>
              </a:xfrm>
              <a:prstGeom prst="rect">
                <a:avLst/>
              </a:prstGeom>
              <a:blipFill>
                <a:blip r:embed="rId6"/>
                <a:stretch>
                  <a:fillRect r="-12335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77971F2C-745B-A476-DDB9-9B8CDB2CB07A}"/>
              </a:ext>
            </a:extLst>
          </p:cNvPr>
          <p:cNvSpPr/>
          <p:nvPr/>
        </p:nvSpPr>
        <p:spPr>
          <a:xfrm>
            <a:off x="1141656" y="9129668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B8F48D-A011-AFB5-3D84-012BEAE4D2D3}"/>
              </a:ext>
            </a:extLst>
          </p:cNvPr>
          <p:cNvSpPr/>
          <p:nvPr/>
        </p:nvSpPr>
        <p:spPr>
          <a:xfrm>
            <a:off x="1928679" y="9126550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2AE0307-1B27-E441-A333-241095A8D64F}"/>
                  </a:ext>
                </a:extLst>
              </p:cNvPr>
              <p:cNvSpPr/>
              <p:nvPr/>
            </p:nvSpPr>
            <p:spPr>
              <a:xfrm>
                <a:off x="654421" y="9086702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2AE0307-1B27-E441-A333-241095A8D6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21" y="9086702"/>
                <a:ext cx="1381880" cy="369332"/>
              </a:xfrm>
              <a:prstGeom prst="rect">
                <a:avLst/>
              </a:prstGeom>
              <a:blipFill>
                <a:blip r:embed="rId7"/>
                <a:stretch>
                  <a:fillRect r="-12335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33A16029-DE1C-AC6E-2BEE-F092AE0AFAC6}"/>
              </a:ext>
            </a:extLst>
          </p:cNvPr>
          <p:cNvSpPr/>
          <p:nvPr/>
        </p:nvSpPr>
        <p:spPr>
          <a:xfrm>
            <a:off x="5445774" y="9130404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5EE7A5D-D2D9-65CD-6E50-D5E368012D4B}"/>
              </a:ext>
            </a:extLst>
          </p:cNvPr>
          <p:cNvSpPr/>
          <p:nvPr/>
        </p:nvSpPr>
        <p:spPr>
          <a:xfrm>
            <a:off x="6232797" y="9127286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BD7EF9B2-5A5C-2A57-97DC-719961974F26}"/>
                  </a:ext>
                </a:extLst>
              </p:cNvPr>
              <p:cNvSpPr/>
              <p:nvPr/>
            </p:nvSpPr>
            <p:spPr>
              <a:xfrm>
                <a:off x="4958539" y="9087438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BD7EF9B2-5A5C-2A57-97DC-719961974F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8539" y="9087438"/>
                <a:ext cx="1381880" cy="369332"/>
              </a:xfrm>
              <a:prstGeom prst="rect">
                <a:avLst/>
              </a:prstGeom>
              <a:blipFill>
                <a:blip r:embed="rId7"/>
                <a:stretch>
                  <a:fillRect r="-12335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145CA155-4E55-F583-6AD9-83FB1CE447D0}"/>
              </a:ext>
            </a:extLst>
          </p:cNvPr>
          <p:cNvSpPr/>
          <p:nvPr/>
        </p:nvSpPr>
        <p:spPr>
          <a:xfrm>
            <a:off x="1143744" y="3984723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F6A8F98-1F5C-9B4A-5CC8-71C50FF61A02}"/>
              </a:ext>
            </a:extLst>
          </p:cNvPr>
          <p:cNvSpPr/>
          <p:nvPr/>
        </p:nvSpPr>
        <p:spPr>
          <a:xfrm>
            <a:off x="1930767" y="3981605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5FF1B74-715D-9BE1-3A91-E968AB828981}"/>
                  </a:ext>
                </a:extLst>
              </p:cNvPr>
              <p:cNvSpPr/>
              <p:nvPr/>
            </p:nvSpPr>
            <p:spPr>
              <a:xfrm>
                <a:off x="656509" y="3941757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5FF1B74-715D-9BE1-3A91-E968AB8289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09" y="3941757"/>
                <a:ext cx="1381880" cy="369332"/>
              </a:xfrm>
              <a:prstGeom prst="rect">
                <a:avLst/>
              </a:prstGeom>
              <a:blipFill>
                <a:blip r:embed="rId7"/>
                <a:stretch>
                  <a:fillRect r="-12832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EB00DE40-E923-A442-15A7-F48C2A746CDE}"/>
              </a:ext>
            </a:extLst>
          </p:cNvPr>
          <p:cNvSpPr/>
          <p:nvPr/>
        </p:nvSpPr>
        <p:spPr>
          <a:xfrm>
            <a:off x="5455335" y="3997250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0CCAED9-2039-F73A-A536-DA6968FE6952}"/>
              </a:ext>
            </a:extLst>
          </p:cNvPr>
          <p:cNvSpPr/>
          <p:nvPr/>
        </p:nvSpPr>
        <p:spPr>
          <a:xfrm>
            <a:off x="6242358" y="3994132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119640B1-58BC-198D-4AA9-26B3E0DAF303}"/>
                  </a:ext>
                </a:extLst>
              </p:cNvPr>
              <p:cNvSpPr/>
              <p:nvPr/>
            </p:nvSpPr>
            <p:spPr>
              <a:xfrm>
                <a:off x="4968100" y="3954284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119640B1-58BC-198D-4AA9-26B3E0DAF3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8100" y="3954284"/>
                <a:ext cx="1381880" cy="369332"/>
              </a:xfrm>
              <a:prstGeom prst="rect">
                <a:avLst/>
              </a:prstGeom>
              <a:blipFill>
                <a:blip r:embed="rId7"/>
                <a:stretch>
                  <a:fillRect r="-12335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>
            <a:extLst>
              <a:ext uri="{FF2B5EF4-FFF2-40B4-BE49-F238E27FC236}">
                <a16:creationId xmlns:a16="http://schemas.microsoft.com/office/drawing/2014/main" id="{076B85F2-FA68-8302-B40F-DB9F4F03DFD6}"/>
              </a:ext>
            </a:extLst>
          </p:cNvPr>
          <p:cNvSpPr/>
          <p:nvPr/>
        </p:nvSpPr>
        <p:spPr>
          <a:xfrm>
            <a:off x="1131218" y="8744603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BB7430D-856D-C38C-BBB0-08FB94C20188}"/>
              </a:ext>
            </a:extLst>
          </p:cNvPr>
          <p:cNvSpPr/>
          <p:nvPr/>
        </p:nvSpPr>
        <p:spPr>
          <a:xfrm>
            <a:off x="1918241" y="8741485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969CEE4D-5771-256E-99FA-16DEB9A22125}"/>
                  </a:ext>
                </a:extLst>
              </p:cNvPr>
              <p:cNvSpPr/>
              <p:nvPr/>
            </p:nvSpPr>
            <p:spPr>
              <a:xfrm>
                <a:off x="643983" y="8701637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969CEE4D-5771-256E-99FA-16DEB9A221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983" y="8701637"/>
                <a:ext cx="1381880" cy="369332"/>
              </a:xfrm>
              <a:prstGeom prst="rect">
                <a:avLst/>
              </a:prstGeom>
              <a:blipFill>
                <a:blip r:embed="rId6"/>
                <a:stretch>
                  <a:fillRect r="-1283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>
            <a:extLst>
              <a:ext uri="{FF2B5EF4-FFF2-40B4-BE49-F238E27FC236}">
                <a16:creationId xmlns:a16="http://schemas.microsoft.com/office/drawing/2014/main" id="{989A04A5-0EF2-94A5-087F-61F973D4C96D}"/>
              </a:ext>
            </a:extLst>
          </p:cNvPr>
          <p:cNvSpPr/>
          <p:nvPr/>
        </p:nvSpPr>
        <p:spPr>
          <a:xfrm>
            <a:off x="5455335" y="8732078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040F4D8-D078-7DC9-DE4F-E0B18D6F2990}"/>
              </a:ext>
            </a:extLst>
          </p:cNvPr>
          <p:cNvSpPr/>
          <p:nvPr/>
        </p:nvSpPr>
        <p:spPr>
          <a:xfrm>
            <a:off x="6242358" y="8728960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B26C3B49-875B-684E-34C1-B00A17569583}"/>
                  </a:ext>
                </a:extLst>
              </p:cNvPr>
              <p:cNvSpPr/>
              <p:nvPr/>
            </p:nvSpPr>
            <p:spPr>
              <a:xfrm>
                <a:off x="4968100" y="8689112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B26C3B49-875B-684E-34C1-B00A175695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8100" y="8689112"/>
                <a:ext cx="1381880" cy="369332"/>
              </a:xfrm>
              <a:prstGeom prst="rect">
                <a:avLst/>
              </a:prstGeom>
              <a:blipFill>
                <a:blip r:embed="rId6"/>
                <a:stretch>
                  <a:fillRect r="-12335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7944EA-52B1-5EBF-8271-AAC33F7D2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48693" y="9393111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noProof="0" smtClean="0"/>
              <a:t>42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2069863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314950" y="9469935"/>
            <a:ext cx="1543050" cy="527403"/>
          </a:xfrm>
        </p:spPr>
        <p:txBody>
          <a:bodyPr/>
          <a:lstStyle/>
          <a:p>
            <a:fld id="{19F1D9CC-7119-45EC-A96C-D8C0660F3AAB}" type="slidenum">
              <a:rPr lang="en-GB" noProof="0" smtClean="0"/>
              <a:t>43</a:t>
            </a:fld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49102" y="206275"/>
                <a:ext cx="985463" cy="6386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a)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GB" sz="1200" b="0" noProof="0" dirty="0"/>
              </a:p>
              <a:p>
                <a:pPr lvl="0" algn="ctr" defTabSz="6858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200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GB" sz="1200" b="0" noProof="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02" y="206275"/>
                <a:ext cx="985463" cy="638636"/>
              </a:xfrm>
              <a:prstGeom prst="rect">
                <a:avLst/>
              </a:prstGeom>
              <a:blipFill>
                <a:blip r:embed="rId2"/>
                <a:stretch>
                  <a:fillRect t="-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935098" y="348087"/>
                <a:ext cx="8034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b) </a:t>
                </a:r>
                <a14:m>
                  <m:oMath xmlns:m="http://schemas.openxmlformats.org/officeDocument/2006/math"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endParaRPr lang="en-GB" sz="1200" b="0" noProof="0" dirty="0">
                  <a:cs typeface="Calibri" panose="020F0502020204030204" pitchFamily="34" charset="0"/>
                </a:endParaRPr>
              </a:p>
              <a:p>
                <a:pPr lvl="0" algn="ctr" defTabSz="6858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5098" y="348087"/>
                <a:ext cx="80342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057171" y="348087"/>
                <a:ext cx="121373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ctr" defTabSz="685800">
                  <a:defRPr/>
                </a:pPr>
                <a:r>
                  <a:rPr lang="en-GB" sz="1200" noProof="0" dirty="0"/>
                  <a:t>c)</a:t>
                </a:r>
                <a14:m>
                  <m:oMath xmlns:m="http://schemas.openxmlformats.org/officeDocument/2006/math">
                    <m:r>
                      <a:rPr lang="en-GB" sz="1200" b="0" i="0" noProof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12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GB" sz="12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200" b="0" i="1" noProof="0" smtClean="0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endParaRPr lang="en-GB" sz="1200" b="0" noProof="0" dirty="0"/>
              </a:p>
              <a:p>
                <a:pPr lvl="0" algn="ctr" defTabSz="6858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noProof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200" noProof="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7171" y="348087"/>
                <a:ext cx="1213730" cy="461665"/>
              </a:xfrm>
              <a:prstGeom prst="rect">
                <a:avLst/>
              </a:prstGeom>
              <a:blipFill>
                <a:blip r:embed="rId4"/>
                <a:stretch>
                  <a:fillRect l="-5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238597" y="889025"/>
            <a:ext cx="2119082" cy="38884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1" name="Rectangle 10"/>
          <p:cNvSpPr/>
          <p:nvPr/>
        </p:nvSpPr>
        <p:spPr>
          <a:xfrm>
            <a:off x="2423632" y="889025"/>
            <a:ext cx="2097801" cy="38884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2" name="Rectangle 11"/>
          <p:cNvSpPr/>
          <p:nvPr/>
        </p:nvSpPr>
        <p:spPr>
          <a:xfrm>
            <a:off x="4612549" y="889025"/>
            <a:ext cx="2097801" cy="38884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1141656" y="4395993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1928679" y="4392875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654421" y="4353027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21" y="4353027"/>
                <a:ext cx="1381880" cy="369332"/>
              </a:xfrm>
              <a:prstGeom prst="rect">
                <a:avLst/>
              </a:prstGeom>
              <a:blipFill>
                <a:blip r:embed="rId5"/>
                <a:stretch>
                  <a:fillRect r="-12335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3313707" y="4396728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4100730" y="4393610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2826472" y="4353762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6472" y="4353762"/>
                <a:ext cx="1381880" cy="369332"/>
              </a:xfrm>
              <a:prstGeom prst="rect">
                <a:avLst/>
              </a:prstGeom>
              <a:blipFill>
                <a:blip r:embed="rId5"/>
                <a:stretch>
                  <a:fillRect r="-1283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5477461" y="4395001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6264484" y="4391883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4990226" y="4352035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226" y="4352035"/>
                <a:ext cx="1381880" cy="369332"/>
              </a:xfrm>
              <a:prstGeom prst="rect">
                <a:avLst/>
              </a:prstGeom>
              <a:blipFill>
                <a:blip r:embed="rId6"/>
                <a:stretch>
                  <a:fillRect r="-12832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/>
          <p:cNvSpPr txBox="1"/>
          <p:nvPr/>
        </p:nvSpPr>
        <p:spPr>
          <a:xfrm>
            <a:off x="-675622" y="5848"/>
            <a:ext cx="46203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noProof="0" dirty="0"/>
              <a:t>5. Solve the quadratic simultaneous equations.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1143744" y="3984723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1930767" y="3981605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656509" y="3941757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09" y="3941757"/>
                <a:ext cx="1381880" cy="369332"/>
              </a:xfrm>
              <a:prstGeom prst="rect">
                <a:avLst/>
              </a:prstGeom>
              <a:blipFill>
                <a:blip r:embed="rId6"/>
                <a:stretch>
                  <a:fillRect r="-12832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3323268" y="3997249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4110291" y="3994131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2836033" y="3954283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033" y="3954283"/>
                <a:ext cx="1381880" cy="369332"/>
              </a:xfrm>
              <a:prstGeom prst="rect">
                <a:avLst/>
              </a:prstGeom>
              <a:blipFill>
                <a:blip r:embed="rId6"/>
                <a:stretch>
                  <a:fillRect r="-12335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EFEA5655-F8B4-E44B-AD11-37BDE174E0E4}"/>
              </a:ext>
            </a:extLst>
          </p:cNvPr>
          <p:cNvSpPr/>
          <p:nvPr/>
        </p:nvSpPr>
        <p:spPr>
          <a:xfrm>
            <a:off x="5477740" y="3997249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B12ABF5-462E-6044-8D21-BD0BF63C4036}"/>
              </a:ext>
            </a:extLst>
          </p:cNvPr>
          <p:cNvSpPr/>
          <p:nvPr/>
        </p:nvSpPr>
        <p:spPr>
          <a:xfrm>
            <a:off x="6264763" y="3994131"/>
            <a:ext cx="338673" cy="3045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/>
              <p:nvPr/>
            </p:nvSpPr>
            <p:spPr>
              <a:xfrm>
                <a:off x="4990505" y="3954283"/>
                <a:ext cx="13818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GB" sz="400" noProof="0" dirty="0"/>
              </a:p>
              <a:p>
                <a:pPr lvl="0" algn="ctr"/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       , 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noProof="0" dirty="0">
                    <a:solidFill>
                      <a:prstClr val="black"/>
                    </a:solidFill>
                  </a:rPr>
                  <a:t>  =     </a:t>
                </a: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AC357ECC-A710-0A49-95CD-DEF7B6D6D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505" y="3954283"/>
                <a:ext cx="1381880" cy="369332"/>
              </a:xfrm>
              <a:prstGeom prst="rect">
                <a:avLst/>
              </a:prstGeom>
              <a:blipFill>
                <a:blip r:embed="rId6"/>
                <a:stretch>
                  <a:fillRect r="-12832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/>
          <p:cNvSpPr txBox="1"/>
          <p:nvPr/>
        </p:nvSpPr>
        <p:spPr>
          <a:xfrm>
            <a:off x="-2236478" y="4859256"/>
            <a:ext cx="54228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noProof="0" dirty="0"/>
              <a:t>6**.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38597" y="4856743"/>
            <a:ext cx="6508329" cy="48429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4699" y="2057158"/>
            <a:ext cx="2097801" cy="22050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60232" y="2735949"/>
            <a:ext cx="2878657" cy="22013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4226" y="2129207"/>
            <a:ext cx="967824" cy="4724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31C8539-221F-175C-AE75-7CA25457486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967" y="4953000"/>
            <a:ext cx="5002513" cy="192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1200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557E9-EC97-34F5-723E-75BA1E7D8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CFB2B1-B5F3-5A1C-825A-0BE949B64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noProof="0" smtClean="0"/>
              <a:t>44</a:t>
            </a:fld>
            <a:endParaRPr lang="en-GB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787514-A73C-8065-6563-5D7DAA255E6E}"/>
              </a:ext>
            </a:extLst>
          </p:cNvPr>
          <p:cNvSpPr txBox="1"/>
          <p:nvPr/>
        </p:nvSpPr>
        <p:spPr>
          <a:xfrm>
            <a:off x="0" y="-25400"/>
            <a:ext cx="1294200" cy="276999"/>
          </a:xfrm>
          <a:prstGeom prst="rect">
            <a:avLst/>
          </a:prstGeom>
          <a:solidFill>
            <a:srgbClr val="0070C0"/>
          </a:solidFill>
        </p:spPr>
        <p:txBody>
          <a:bodyPr wrap="none" rtlCol="0" anchor="ctr">
            <a:spAutoFit/>
          </a:bodyPr>
          <a:lstStyle/>
          <a:p>
            <a:pPr algn="r"/>
            <a:r>
              <a:rPr lang="en-GB" sz="1200" b="1" noProof="0" dirty="0">
                <a:solidFill>
                  <a:schemeClr val="bg1"/>
                </a:solidFill>
              </a:rPr>
              <a:t>GCSE QUESTIONS</a:t>
            </a:r>
          </a:p>
        </p:txBody>
      </p:sp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5D68A1B8-1938-3972-D928-D85049EA95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51600"/>
            <a:ext cx="6435151" cy="45998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97EB695-C523-92F4-0D7C-2E5AB0081B80}"/>
              </a:ext>
            </a:extLst>
          </p:cNvPr>
          <p:cNvCxnSpPr/>
          <p:nvPr/>
        </p:nvCxnSpPr>
        <p:spPr>
          <a:xfrm>
            <a:off x="-1" y="4851400"/>
            <a:ext cx="685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8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7DD8EA46-0763-1D78-0741-6088DFABAF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86" y="4952999"/>
            <a:ext cx="6275923" cy="470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442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A7F2F6-CB63-80A9-0815-F36E051DE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noProof="0" smtClean="0"/>
              <a:t>45</a:t>
            </a:fld>
            <a:endParaRPr lang="en-GB" noProof="0" dirty="0"/>
          </a:p>
        </p:txBody>
      </p:sp>
      <p:pic>
        <p:nvPicPr>
          <p:cNvPr id="4" name="Picture 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5F445AA0-176F-D9BD-9154-16F6A90E09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94" y="0"/>
            <a:ext cx="6609411" cy="43748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EB75F4-F314-1549-4D82-90E8E18AF62A}"/>
              </a:ext>
            </a:extLst>
          </p:cNvPr>
          <p:cNvCxnSpPr/>
          <p:nvPr/>
        </p:nvCxnSpPr>
        <p:spPr>
          <a:xfrm>
            <a:off x="0" y="4425600"/>
            <a:ext cx="685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 descr="A graph paper with a circle and a line&#10;&#10;AI-generated content may be incorrect.">
            <a:extLst>
              <a:ext uri="{FF2B5EF4-FFF2-40B4-BE49-F238E27FC236}">
                <a16:creationId xmlns:a16="http://schemas.microsoft.com/office/drawing/2014/main" id="{A5202CC1-C437-F549-2CBC-EB20975CF8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94" y="4476401"/>
            <a:ext cx="4930306" cy="4070190"/>
          </a:xfrm>
          <a:prstGeom prst="rect">
            <a:avLst/>
          </a:prstGeom>
        </p:spPr>
      </p:pic>
      <p:pic>
        <p:nvPicPr>
          <p:cNvPr id="9" name="Picture 8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141EBCB1-1757-C108-FA24-E57CF274D0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61" y="8368881"/>
            <a:ext cx="6155761" cy="1537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4102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paper with a grid of lines&#10;&#10;AI-generated content may be incorrect.">
            <a:extLst>
              <a:ext uri="{FF2B5EF4-FFF2-40B4-BE49-F238E27FC236}">
                <a16:creationId xmlns:a16="http://schemas.microsoft.com/office/drawing/2014/main" id="{E95A8C88-F4ED-849E-5DD5-65919A2FB9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13" y="3502952"/>
            <a:ext cx="5868987" cy="456554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EBA14C-56D9-994E-D170-BEA6D7687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B4A0-BFF9-422C-B253-48BA94BE2F5B}" type="slidenum">
              <a:rPr lang="en-GB" noProof="0" smtClean="0"/>
              <a:t>46</a:t>
            </a:fld>
            <a:endParaRPr lang="en-GB" noProof="0" dirty="0"/>
          </a:p>
        </p:txBody>
      </p:sp>
      <p:pic>
        <p:nvPicPr>
          <p:cNvPr id="4" name="Picture 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EAB6C643-E05C-5D07-553C-8264EEDFA3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13" y="0"/>
            <a:ext cx="6235700" cy="3502952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6924374-E7D7-732B-EAEE-B815809E1AF0}"/>
              </a:ext>
            </a:extLst>
          </p:cNvPr>
          <p:cNvCxnSpPr/>
          <p:nvPr/>
        </p:nvCxnSpPr>
        <p:spPr>
          <a:xfrm>
            <a:off x="0" y="3502952"/>
            <a:ext cx="685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8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61C57C1D-2534-2541-A1C9-E975A54581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13" y="8155981"/>
            <a:ext cx="6097381" cy="1457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929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AB6388F5B3DD48A4F5524A84895604" ma:contentTypeVersion="14" ma:contentTypeDescription="Create a new document." ma:contentTypeScope="" ma:versionID="d122bacdc6e0e52b1daab86e5e474f38">
  <xsd:schema xmlns:xsd="http://www.w3.org/2001/XMLSchema" xmlns:xs="http://www.w3.org/2001/XMLSchema" xmlns:p="http://schemas.microsoft.com/office/2006/metadata/properties" xmlns:ns2="e30b71df-48f4-4db7-95c3-a9033c265cb9" xmlns:ns3="608ebbb4-e88b-4c99-b506-21d9362781c6" targetNamespace="http://schemas.microsoft.com/office/2006/metadata/properties" ma:root="true" ma:fieldsID="c50e756327527929f9f40a94500ed9ef" ns2:_="" ns3:_="">
    <xsd:import namespace="e30b71df-48f4-4db7-95c3-a9033c265cb9"/>
    <xsd:import namespace="608ebbb4-e88b-4c99-b506-21d9362781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0b71df-48f4-4db7-95c3-a9033c265c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8ebbb4-e88b-4c99-b506-21d9362781c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8993FAD-BC98-4BC4-9AAA-9B0B2AFC55D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30b71df-48f4-4db7-95c3-a9033c265cb9"/>
    <ds:schemaRef ds:uri="608ebbb4-e88b-4c99-b506-21d9362781c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053D74A-5336-454B-8D4D-7A76286864F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F551DF-02B3-45E2-A83E-993D28DAF02D}">
  <ds:schemaRefs>
    <ds:schemaRef ds:uri="608ebbb4-e88b-4c99-b506-21d9362781c6"/>
    <ds:schemaRef ds:uri="e30b71df-48f4-4db7-95c3-a9033c265cb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7100</Words>
  <Application>Microsoft Office PowerPoint</Application>
  <PresentationFormat>A4 Paper (210x297 mm)</PresentationFormat>
  <Paragraphs>1445</Paragraphs>
  <Slides>46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5" baseType="lpstr">
      <vt:lpstr>.AppleSystemUIFont</vt:lpstr>
      <vt:lpstr>Arial</vt:lpstr>
      <vt:lpstr>Bitstream Vera Sans</vt:lpstr>
      <vt:lpstr>Calibri</vt:lpstr>
      <vt:lpstr>Calibri Light</vt:lpstr>
      <vt:lpstr>Cambria Math</vt:lpstr>
      <vt:lpstr>Times</vt:lpstr>
      <vt:lpstr>Tinos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Marcus Lindley (Staff, Astrea Academy Sheffield)</dc:creator>
  <cp:lastModifiedBy>Adam Brown (Astrea Central)</cp:lastModifiedBy>
  <cp:revision>10</cp:revision>
  <cp:lastPrinted>2023-02-02T08:32:36Z</cp:lastPrinted>
  <dcterms:created xsi:type="dcterms:W3CDTF">2022-06-06T15:50:05Z</dcterms:created>
  <dcterms:modified xsi:type="dcterms:W3CDTF">2025-08-06T13:26:29Z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0x010100CAAB6388F5B3DD48A4F5524A84895604</vt:lpwstr>
  </property>
</Properties>
</file>